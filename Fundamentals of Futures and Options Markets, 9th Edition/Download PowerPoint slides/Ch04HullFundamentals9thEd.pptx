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3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8"/>
  </p:notesMasterIdLst>
  <p:handoutMasterIdLst>
    <p:handoutMasterId r:id="rId39"/>
  </p:handoutMasterIdLst>
  <p:sldIdLst>
    <p:sldId id="319" r:id="rId2"/>
    <p:sldId id="342" r:id="rId3"/>
    <p:sldId id="329" r:id="rId4"/>
    <p:sldId id="343" r:id="rId5"/>
    <p:sldId id="344" r:id="rId6"/>
    <p:sldId id="331" r:id="rId7"/>
    <p:sldId id="345" r:id="rId8"/>
    <p:sldId id="346" r:id="rId9"/>
    <p:sldId id="332" r:id="rId10"/>
    <p:sldId id="320" r:id="rId11"/>
    <p:sldId id="333" r:id="rId12"/>
    <p:sldId id="321" r:id="rId13"/>
    <p:sldId id="322" r:id="rId14"/>
    <p:sldId id="334" r:id="rId15"/>
    <p:sldId id="298" r:id="rId16"/>
    <p:sldId id="302" r:id="rId17"/>
    <p:sldId id="299" r:id="rId18"/>
    <p:sldId id="300" r:id="rId19"/>
    <p:sldId id="301" r:id="rId20"/>
    <p:sldId id="335" r:id="rId21"/>
    <p:sldId id="341" r:id="rId22"/>
    <p:sldId id="304" r:id="rId23"/>
    <p:sldId id="305" r:id="rId24"/>
    <p:sldId id="263" r:id="rId25"/>
    <p:sldId id="347" r:id="rId26"/>
    <p:sldId id="257" r:id="rId27"/>
    <p:sldId id="336" r:id="rId28"/>
    <p:sldId id="337" r:id="rId29"/>
    <p:sldId id="261" r:id="rId30"/>
    <p:sldId id="309" r:id="rId31"/>
    <p:sldId id="338" r:id="rId32"/>
    <p:sldId id="325" r:id="rId33"/>
    <p:sldId id="323" r:id="rId34"/>
    <p:sldId id="265" r:id="rId35"/>
    <p:sldId id="339" r:id="rId36"/>
    <p:sldId id="340" r:id="rId37"/>
  </p:sldIdLst>
  <p:sldSz cx="9144000" cy="6858000" type="letter"/>
  <p:notesSz cx="6858000" cy="9207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6" autoAdjust="0"/>
    <p:restoredTop sz="94639" autoAdjust="0"/>
  </p:normalViewPr>
  <p:slideViewPr>
    <p:cSldViewPr>
      <p:cViewPr varScale="1">
        <p:scale>
          <a:sx n="122" d="100"/>
          <a:sy n="122" d="100"/>
        </p:scale>
        <p:origin x="121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0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5" d="100"/>
          <a:sy n="45" d="100"/>
        </p:scale>
        <p:origin x="-1296" y="-96"/>
      </p:cViewPr>
      <p:guideLst>
        <p:guide orient="horz" pos="290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633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28052C0-69C0-439B-A2B0-A9A5CBC040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13319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3910123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4DE974-FA1A-40B6-91E5-FF1FA29875A9}" type="slidenum">
              <a:rPr lang="en-US" altLang="en-US" sz="1000" smtClean="0"/>
              <a:pPr>
                <a:spcBef>
                  <a:spcPct val="0"/>
                </a:spcBef>
              </a:pPr>
              <a:t>1</a:t>
            </a:fld>
            <a:endParaRPr lang="en-US" altLang="en-US" sz="1000" smtClean="0"/>
          </a:p>
        </p:txBody>
      </p:sp>
      <p:sp>
        <p:nvSpPr>
          <p:cNvPr id="153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84662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BA9B8D-D5CD-4751-8FC7-C6330D4EE8D1}" type="slidenum">
              <a:rPr lang="en-US" altLang="en-US" sz="1000" smtClean="0"/>
              <a:pPr>
                <a:spcBef>
                  <a:spcPct val="0"/>
                </a:spcBef>
              </a:pPr>
              <a:t>2</a:t>
            </a:fld>
            <a:endParaRPr lang="en-US" altLang="en-US" sz="1000" smtClean="0"/>
          </a:p>
        </p:txBody>
      </p:sp>
      <p:sp>
        <p:nvSpPr>
          <p:cNvPr id="174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050079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D6A36B0-5A42-4433-86BA-C4703E1275F1}" type="slidenum">
              <a:rPr lang="en-US" altLang="en-US" sz="1000" smtClean="0"/>
              <a:pPr>
                <a:spcBef>
                  <a:spcPct val="0"/>
                </a:spcBef>
              </a:pPr>
              <a:t>3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5216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90DB61-617E-433E-A4C9-6DE62F1E7801}" type="slidenum">
              <a:rPr lang="en-US" altLang="en-US" sz="1000" smtClean="0"/>
              <a:pPr>
                <a:spcBef>
                  <a:spcPct val="0"/>
                </a:spcBef>
              </a:pPr>
              <a:t>4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2117295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52F2917-D4A8-437D-BE47-262C62047B3C}" type="slidenum">
              <a:rPr lang="en-US" altLang="en-US" sz="1000" smtClean="0"/>
              <a:pPr>
                <a:spcBef>
                  <a:spcPct val="0"/>
                </a:spcBef>
              </a:pPr>
              <a:t>6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1649449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5FBD78-605A-4B5D-A3A8-CB392632574F}" type="slidenum">
              <a:rPr lang="en-US" altLang="en-US" sz="1000" smtClean="0"/>
              <a:pPr>
                <a:spcBef>
                  <a:spcPct val="0"/>
                </a:spcBef>
              </a:pPr>
              <a:t>9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333618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85AC34-5D0E-4125-9904-672664375C0A}" type="slidenum">
              <a:rPr lang="en-US" altLang="en-US" sz="1000" smtClean="0"/>
              <a:pPr>
                <a:spcBef>
                  <a:spcPct val="0"/>
                </a:spcBef>
              </a:pPr>
              <a:t>10</a:t>
            </a:fld>
            <a:endParaRPr lang="en-US" altLang="en-US" sz="1000" smtClean="0"/>
          </a:p>
        </p:txBody>
      </p:sp>
      <p:sp>
        <p:nvSpPr>
          <p:cNvPr id="3072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7125" y="690563"/>
            <a:ext cx="4603750" cy="3452812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97027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A8F1528-2B5A-4465-9B30-FE7FAFDC30C4}" type="slidenum">
              <a:rPr lang="en-US" altLang="en-US" sz="1000" smtClean="0"/>
              <a:pPr>
                <a:spcBef>
                  <a:spcPct val="0"/>
                </a:spcBef>
              </a:pPr>
              <a:t>11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621889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7921F4F-BDE4-4120-92D2-60B66D6D3FB1}" type="slidenum">
              <a:rPr lang="en-US" altLang="en-US" sz="1000" smtClean="0"/>
              <a:pPr>
                <a:spcBef>
                  <a:spcPct val="0"/>
                </a:spcBef>
              </a:pPr>
              <a:t>12</a:t>
            </a:fld>
            <a:endParaRPr lang="en-US" altLang="en-US" sz="1000" smtClean="0"/>
          </a:p>
        </p:txBody>
      </p:sp>
      <p:sp>
        <p:nvSpPr>
          <p:cNvPr id="3481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7125" y="690563"/>
            <a:ext cx="4603750" cy="3452812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36993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34F1EC-C49C-4481-AABD-92F9E43E3B68}" type="slidenum">
              <a:rPr lang="en-US" altLang="en-US" sz="1000" smtClean="0"/>
              <a:pPr>
                <a:spcBef>
                  <a:spcPct val="0"/>
                </a:spcBef>
              </a:pPr>
              <a:t>13</a:t>
            </a:fld>
            <a:endParaRPr lang="en-US" altLang="en-US" sz="1000" smtClean="0"/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7125" y="690563"/>
            <a:ext cx="4603750" cy="3452812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0049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9AE1A35-D03F-4C42-8AB6-F1CB1B942E22}" type="slidenum">
              <a:rPr lang="en-US" altLang="en-US" sz="1000" smtClean="0"/>
              <a:pPr>
                <a:spcBef>
                  <a:spcPct val="0"/>
                </a:spcBef>
              </a:pPr>
              <a:t>14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17103689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9E85D78-BEF4-4078-8C75-BDEF4A547DC8}" type="slidenum">
              <a:rPr lang="en-US" altLang="en-US" sz="1000" smtClean="0"/>
              <a:pPr>
                <a:spcBef>
                  <a:spcPct val="0"/>
                </a:spcBef>
              </a:pPr>
              <a:t>15</a:t>
            </a:fld>
            <a:endParaRPr lang="en-US" altLang="en-US" sz="1000" smtClean="0"/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74527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5836F18-F085-4A80-8F76-6CB163B61A71}" type="slidenum">
              <a:rPr lang="en-US" altLang="en-US" sz="1000" smtClean="0"/>
              <a:pPr>
                <a:spcBef>
                  <a:spcPct val="0"/>
                </a:spcBef>
              </a:pPr>
              <a:t>16</a:t>
            </a:fld>
            <a:endParaRPr lang="en-US" altLang="en-US" sz="1000" smtClean="0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108332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8AAFA0-9A07-4506-B088-7A231978FFDB}" type="slidenum">
              <a:rPr lang="en-US" altLang="en-US" sz="1000" smtClean="0"/>
              <a:pPr>
                <a:spcBef>
                  <a:spcPct val="0"/>
                </a:spcBef>
              </a:pPr>
              <a:t>17</a:t>
            </a:fld>
            <a:endParaRPr lang="en-US" altLang="en-US" sz="1000" smtClean="0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04997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00C8C4-C91D-4A46-A2AA-A5C0A51C913A}" type="slidenum">
              <a:rPr lang="en-US" altLang="en-US" sz="1000" smtClean="0"/>
              <a:pPr>
                <a:spcBef>
                  <a:spcPct val="0"/>
                </a:spcBef>
              </a:pPr>
              <a:t>18</a:t>
            </a:fld>
            <a:endParaRPr lang="en-US" altLang="en-US" sz="1000" smtClean="0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22457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F17F6A4-F1FF-4DD0-8549-19B136B845DB}" type="slidenum">
              <a:rPr lang="en-US" altLang="en-US" sz="1000" smtClean="0"/>
              <a:pPr>
                <a:spcBef>
                  <a:spcPct val="0"/>
                </a:spcBef>
              </a:pPr>
              <a:t>19</a:t>
            </a:fld>
            <a:endParaRPr lang="en-US" altLang="en-US" sz="1000" smtClean="0"/>
          </a:p>
        </p:txBody>
      </p:sp>
      <p:sp>
        <p:nvSpPr>
          <p:cNvPr id="49155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915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11179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C2E2E3-E9D2-4C42-8B4A-A79F221DF3F6}" type="slidenum">
              <a:rPr lang="en-US" altLang="en-US" sz="1000" smtClean="0"/>
              <a:pPr>
                <a:spcBef>
                  <a:spcPct val="0"/>
                </a:spcBef>
              </a:pPr>
              <a:t>20</a:t>
            </a:fld>
            <a:endParaRPr lang="en-US" altLang="en-US" sz="1000" smtClean="0"/>
          </a:p>
        </p:txBody>
      </p:sp>
      <p:sp>
        <p:nvSpPr>
          <p:cNvPr id="51203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51204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290200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84387DB-E28E-4424-922C-B2A9570EA72D}" type="slidenum">
              <a:rPr lang="en-US" altLang="en-US" sz="1000" smtClean="0"/>
              <a:pPr>
                <a:spcBef>
                  <a:spcPct val="0"/>
                </a:spcBef>
              </a:pPr>
              <a:t>21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4293217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7AE9419-497D-4EF4-8F1D-B6C288625D88}" type="slidenum">
              <a:rPr lang="en-US" altLang="en-US" sz="1000" smtClean="0"/>
              <a:pPr>
                <a:spcBef>
                  <a:spcPct val="0"/>
                </a:spcBef>
              </a:pPr>
              <a:t>22</a:t>
            </a:fld>
            <a:endParaRPr lang="en-US" altLang="en-US" sz="1000" smtClean="0"/>
          </a:p>
        </p:txBody>
      </p:sp>
      <p:sp>
        <p:nvSpPr>
          <p:cNvPr id="5529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237563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5DE8F36-8235-473C-92D9-DDD4F61340F0}" type="slidenum">
              <a:rPr lang="en-US" altLang="en-US" sz="1000" smtClean="0"/>
              <a:pPr>
                <a:spcBef>
                  <a:spcPct val="0"/>
                </a:spcBef>
              </a:pPr>
              <a:t>23</a:t>
            </a:fld>
            <a:endParaRPr lang="en-US" altLang="en-US" sz="1000" smtClean="0"/>
          </a:p>
        </p:txBody>
      </p:sp>
      <p:sp>
        <p:nvSpPr>
          <p:cNvPr id="5734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96603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3995D3-3867-47D8-9F91-20F8DFE3034A}" type="slidenum">
              <a:rPr lang="en-US" altLang="en-US" sz="1000" smtClean="0"/>
              <a:pPr>
                <a:spcBef>
                  <a:spcPct val="0"/>
                </a:spcBef>
              </a:pPr>
              <a:t>24</a:t>
            </a:fld>
            <a:endParaRPr lang="en-US" altLang="en-US" sz="1000" smtClean="0"/>
          </a:p>
        </p:txBody>
      </p:sp>
      <p:sp>
        <p:nvSpPr>
          <p:cNvPr id="593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48674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9DD7FB-0D07-406E-A0E7-05A31DCC4321}" type="slidenum">
              <a:rPr lang="en-US" altLang="en-US" sz="1000" smtClean="0"/>
              <a:pPr>
                <a:spcBef>
                  <a:spcPct val="0"/>
                </a:spcBef>
              </a:pPr>
              <a:t>26</a:t>
            </a:fld>
            <a:endParaRPr lang="en-US" altLang="en-US" sz="1000" smtClean="0"/>
          </a:p>
        </p:txBody>
      </p:sp>
      <p:sp>
        <p:nvSpPr>
          <p:cNvPr id="624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285555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AAB9E2-1870-4E56-BA4B-B04CBF166D08}" type="slidenum">
              <a:rPr lang="en-US" altLang="en-US" sz="1000" smtClean="0"/>
              <a:pPr>
                <a:spcBef>
                  <a:spcPct val="0"/>
                </a:spcBef>
              </a:pPr>
              <a:t>27</a:t>
            </a:fld>
            <a:endParaRPr lang="en-US" altLang="en-US" sz="1000" smtClean="0"/>
          </a:p>
        </p:txBody>
      </p:sp>
      <p:sp>
        <p:nvSpPr>
          <p:cNvPr id="6451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033771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653407E-3CD9-4C26-8224-27B78B6F95CC}" type="slidenum">
              <a:rPr lang="en-US" altLang="en-US" sz="1000" smtClean="0"/>
              <a:pPr>
                <a:spcBef>
                  <a:spcPct val="0"/>
                </a:spcBef>
              </a:pPr>
              <a:t>28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3185092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FD5B6E-565D-4FFA-BF4D-77631C6E81DD}" type="slidenum">
              <a:rPr lang="en-US" altLang="en-US" sz="1000" smtClean="0"/>
              <a:pPr>
                <a:spcBef>
                  <a:spcPct val="0"/>
                </a:spcBef>
              </a:pPr>
              <a:t>29</a:t>
            </a:fld>
            <a:endParaRPr lang="en-US" altLang="en-US" sz="1000" smtClean="0"/>
          </a:p>
        </p:txBody>
      </p:sp>
      <p:sp>
        <p:nvSpPr>
          <p:cNvPr id="686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5261871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AB018F-C0D9-4DF2-845C-F66921BE30A5}" type="slidenum">
              <a:rPr lang="en-US" altLang="en-US" sz="1000" smtClean="0"/>
              <a:pPr>
                <a:spcBef>
                  <a:spcPct val="0"/>
                </a:spcBef>
              </a:pPr>
              <a:t>30</a:t>
            </a:fld>
            <a:endParaRPr lang="en-US" altLang="en-US" sz="1000" smtClean="0"/>
          </a:p>
        </p:txBody>
      </p:sp>
      <p:sp>
        <p:nvSpPr>
          <p:cNvPr id="706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898971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D05ACC-3501-4004-B5CD-9060F6903410}" type="slidenum">
              <a:rPr lang="en-US" altLang="en-US" sz="1000" smtClean="0"/>
              <a:pPr>
                <a:spcBef>
                  <a:spcPct val="0"/>
                </a:spcBef>
              </a:pPr>
              <a:t>31</a:t>
            </a:fld>
            <a:endParaRPr lang="en-US" altLang="en-US" sz="1000" smtClean="0"/>
          </a:p>
        </p:txBody>
      </p:sp>
      <p:sp>
        <p:nvSpPr>
          <p:cNvPr id="727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9984638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8BFDD43-B6FA-4B8F-84E6-DBF4D6C67343}" type="slidenum">
              <a:rPr lang="en-US" altLang="en-US" sz="1000" smtClean="0"/>
              <a:pPr>
                <a:spcBef>
                  <a:spcPct val="0"/>
                </a:spcBef>
              </a:pPr>
              <a:t>32</a:t>
            </a:fld>
            <a:endParaRPr lang="en-US" altLang="en-US" sz="1000" smtClean="0"/>
          </a:p>
        </p:txBody>
      </p:sp>
      <p:sp>
        <p:nvSpPr>
          <p:cNvPr id="7475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3329244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AACFB8-7EE1-4C68-8B5C-AB09C7CC889C}" type="slidenum">
              <a:rPr lang="en-US" altLang="en-US" sz="1000" smtClean="0"/>
              <a:pPr>
                <a:spcBef>
                  <a:spcPct val="0"/>
                </a:spcBef>
              </a:pPr>
              <a:t>33</a:t>
            </a:fld>
            <a:endParaRPr lang="en-US" altLang="en-US" sz="1000" smtClean="0"/>
          </a:p>
        </p:txBody>
      </p:sp>
      <p:sp>
        <p:nvSpPr>
          <p:cNvPr id="7680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42318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C23CAE-2701-4532-B044-37888EAB247C}" type="slidenum">
              <a:rPr lang="en-US" altLang="en-US" sz="1000" smtClean="0"/>
              <a:pPr>
                <a:spcBef>
                  <a:spcPct val="0"/>
                </a:spcBef>
              </a:pPr>
              <a:t>34</a:t>
            </a:fld>
            <a:endParaRPr lang="en-US" altLang="en-US" sz="1000" smtClean="0"/>
          </a:p>
        </p:txBody>
      </p:sp>
      <p:sp>
        <p:nvSpPr>
          <p:cNvPr id="78851" name="Rectangle 1026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7885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1662669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4F44F06-8D74-4F25-AD92-FBBF5D050725}" type="slidenum">
              <a:rPr lang="en-US" altLang="en-US" sz="1000" smtClean="0"/>
              <a:pPr>
                <a:spcBef>
                  <a:spcPct val="0"/>
                </a:spcBef>
              </a:pPr>
              <a:t>35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275129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5E1392A-8132-4EC5-BB06-0C645CCD3528}" type="slidenum">
              <a:rPr lang="en-US" altLang="en-US" sz="1000" smtClean="0"/>
              <a:pPr>
                <a:spcBef>
                  <a:spcPct val="0"/>
                </a:spcBef>
              </a:pPr>
              <a:t>36</a:t>
            </a:fld>
            <a:endParaRPr lang="en-US" altLang="en-US" sz="1000" smtClean="0"/>
          </a:p>
        </p:txBody>
      </p:sp>
    </p:spTree>
    <p:extLst>
      <p:ext uri="{BB962C8B-B14F-4D97-AF65-F5344CB8AC3E}">
        <p14:creationId xmlns:p14="http://schemas.microsoft.com/office/powerpoint/2010/main" val="2017368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34B85D-99EA-408B-95D6-0A3CAE2325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5114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2902F-0AE1-4EA5-A026-AB370BFAC3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33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D27965-AC96-4F7E-AC7B-3A7E5A6F8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66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6AA21-ECE4-4535-A609-B90F6CA8BB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648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BBE7DF-291F-4064-9873-5F21B0AC5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86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68D1A-454B-49CA-9915-DD80980BE5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465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563FE-63E8-4EE4-A001-99FACD4B06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6124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30B3D9-51EB-44EB-A277-D149404D3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105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B72D3-D460-4179-8BEE-059B6FB9DA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70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90E1A-2E4F-4E2C-8BB5-4F7D037917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641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2E5A1B-66EB-4E11-9DFC-887C222586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591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54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4, Copyright © John C. Hull 2016</a:t>
            </a:r>
            <a:endParaRPr lang="en-US" altLang="en-US"/>
          </a:p>
        </p:txBody>
      </p:sp>
      <p:sp>
        <p:nvSpPr>
          <p:cNvPr id="1054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pPr>
              <a:defRPr/>
            </a:pPr>
            <a:fld id="{1D1AB4B5-D1C7-40C5-A155-450FF67E77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891463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1433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Interest Rates</a:t>
            </a:r>
          </a:p>
        </p:txBody>
      </p:sp>
      <p:sp>
        <p:nvSpPr>
          <p:cNvPr id="1434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4</a:t>
            </a: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B61596-C431-40CE-80F1-F9D105CE018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Types of Rates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1547813" y="2209800"/>
            <a:ext cx="7138987" cy="392112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Treasury rate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LIBOR 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Fed funds rate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Repo rate 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78870D-C77E-464F-A88A-09FEA10013C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Treasury Rates</a:t>
            </a:r>
            <a:endParaRPr lang="en-US" altLang="en-US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Rates on instruments issued by a government in its own currency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1843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FC3CFD-4DED-4811-B805-7C1233B03B3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LIBOR</a:t>
            </a:r>
            <a:endParaRPr lang="en-US" altLang="en-US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611188" y="1557338"/>
            <a:ext cx="7772400" cy="4357687"/>
          </a:xfrm>
        </p:spPr>
        <p:txBody>
          <a:bodyPr/>
          <a:lstStyle/>
          <a:p>
            <a:pPr eaLnBrk="1" hangingPunct="1">
              <a:defRPr/>
            </a:pPr>
            <a:r>
              <a:rPr lang="en-CA" altLang="en-US" sz="2800" dirty="0" smtClean="0">
                <a:cs typeface="Arial" charset="0"/>
              </a:rPr>
              <a:t>LIBOR is the rate of interest at which a AA bank can borrow money on an unsecured basis from another bank </a:t>
            </a:r>
          </a:p>
          <a:p>
            <a:pPr eaLnBrk="1" hangingPunct="1">
              <a:defRPr/>
            </a:pPr>
            <a:r>
              <a:rPr lang="en-CA" altLang="en-US" sz="2800" dirty="0" smtClean="0">
                <a:cs typeface="Arial" charset="0"/>
              </a:rPr>
              <a:t>For 10 currencies and maturities ranging from 1 day to 12 months it is calculated daily by the British Bankers Association from submissions from a number of major banks</a:t>
            </a:r>
          </a:p>
          <a:p>
            <a:pPr eaLnBrk="1" hangingPunct="1">
              <a:defRPr/>
            </a:pPr>
            <a:r>
              <a:rPr lang="en-CA" altLang="en-US" sz="2800" dirty="0" smtClean="0">
                <a:cs typeface="Arial" charset="0"/>
              </a:rPr>
              <a:t>There have been some suggestions that banks manipulated LIBOR during certain periods. Why would they do this?</a:t>
            </a:r>
          </a:p>
          <a:p>
            <a:pPr marL="0" indent="0" eaLnBrk="1" hangingPunct="1">
              <a:buFontTx/>
              <a:buNone/>
              <a:defRPr/>
            </a:pPr>
            <a:r>
              <a:rPr lang="en-CA" altLang="en-US" dirty="0" smtClean="0">
                <a:cs typeface="Arial" charset="0"/>
              </a:rPr>
              <a:t>	</a:t>
            </a:r>
            <a:endParaRPr lang="en-US" altLang="en-US" dirty="0" smtClean="0">
              <a:cs typeface="Arial" charset="0"/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8E1715-0F65-44D0-88B4-948B949525A2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The U.S. Fed Funds Rate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68313" y="1628775"/>
            <a:ext cx="8229600" cy="4411663"/>
          </a:xfrm>
        </p:spPr>
        <p:txBody>
          <a:bodyPr/>
          <a:lstStyle/>
          <a:p>
            <a:r>
              <a:rPr lang="en-CA" altLang="en-US" sz="2800" smtClean="0">
                <a:cs typeface="Arial" panose="020B0604020202020204" pitchFamily="34" charset="0"/>
              </a:rPr>
              <a:t>Unsecured interbank overnight rate of interest </a:t>
            </a:r>
          </a:p>
          <a:p>
            <a:r>
              <a:rPr lang="en-CA" altLang="en-US" sz="2800" smtClean="0">
                <a:cs typeface="Arial" panose="020B0604020202020204" pitchFamily="34" charset="0"/>
              </a:rPr>
              <a:t>Allows banks to adjust the cash (i.e., reserves) on deposit with the Federal Reserve at the end of each day</a:t>
            </a:r>
          </a:p>
          <a:p>
            <a:r>
              <a:rPr lang="en-CA" altLang="en-US" sz="2800" smtClean="0">
                <a:cs typeface="Arial" panose="020B0604020202020204" pitchFamily="34" charset="0"/>
              </a:rPr>
              <a:t>The effective fed funds rate is the average rate on brokered transactions</a:t>
            </a:r>
          </a:p>
          <a:p>
            <a:r>
              <a:rPr lang="en-CA" altLang="en-US" sz="2800" smtClean="0">
                <a:cs typeface="Arial" panose="020B0604020202020204" pitchFamily="34" charset="0"/>
              </a:rPr>
              <a:t>The central bank may intervene with its own transactions to raise or lower the rate</a:t>
            </a:r>
          </a:p>
          <a:p>
            <a:r>
              <a:rPr lang="en-CA" altLang="en-US" sz="2800" smtClean="0">
                <a:cs typeface="Arial" panose="020B0604020202020204" pitchFamily="34" charset="0"/>
              </a:rPr>
              <a:t>Similar arrangements in other countries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2F8084-096E-4B00-A750-6FD475DE3E28}" type="slidenum">
              <a:rPr lang="en-US" altLang="en-US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468313" y="-171450"/>
            <a:ext cx="7543800" cy="1295400"/>
          </a:xfrm>
        </p:spPr>
        <p:txBody>
          <a:bodyPr/>
          <a:lstStyle/>
          <a:p>
            <a:pPr eaLnBrk="1" hangingPunct="1"/>
            <a:r>
              <a:rPr lang="en-CA" altLang="en-US" smtClean="0"/>
              <a:t>Repo Rates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sz="2800" dirty="0" smtClean="0"/>
              <a:t>Repurchase agreement is an agreement where a financial institution that owns securities agrees to sell them today for </a:t>
            </a:r>
            <a:r>
              <a:rPr lang="en-CA" sz="2800" i="1" dirty="0" smtClean="0">
                <a:latin typeface="+mj-lt"/>
              </a:rPr>
              <a:t>X</a:t>
            </a:r>
            <a:r>
              <a:rPr lang="en-CA" sz="2800" dirty="0" smtClean="0"/>
              <a:t> and buy them bank in the future for a slightly higher price, </a:t>
            </a:r>
            <a:r>
              <a:rPr lang="en-CA" sz="2800" i="1" dirty="0" smtClean="0">
                <a:latin typeface="+mj-lt"/>
              </a:rPr>
              <a:t>Y</a:t>
            </a:r>
          </a:p>
          <a:p>
            <a:pPr eaLnBrk="1" hangingPunct="1">
              <a:defRPr/>
            </a:pPr>
            <a:r>
              <a:rPr lang="en-CA" sz="2800" dirty="0" smtClean="0"/>
              <a:t>The financial institution obtains a loan.</a:t>
            </a:r>
          </a:p>
          <a:p>
            <a:pPr eaLnBrk="1" hangingPunct="1">
              <a:defRPr/>
            </a:pPr>
            <a:r>
              <a:rPr lang="en-CA" sz="2800" dirty="0" smtClean="0"/>
              <a:t>The rate of interest is calculated from the difference between </a:t>
            </a:r>
            <a:r>
              <a:rPr lang="en-CA" sz="2800" i="1" dirty="0" smtClean="0">
                <a:latin typeface="+mj-lt"/>
              </a:rPr>
              <a:t>X</a:t>
            </a:r>
            <a:r>
              <a:rPr lang="en-CA" sz="2800" dirty="0" smtClean="0"/>
              <a:t> and </a:t>
            </a:r>
            <a:r>
              <a:rPr lang="en-CA" sz="2800" i="1" dirty="0" smtClean="0">
                <a:latin typeface="+mj-lt"/>
              </a:rPr>
              <a:t>Y</a:t>
            </a:r>
            <a:r>
              <a:rPr lang="en-CA" sz="2800" dirty="0" smtClean="0"/>
              <a:t> and is known as the repo rate  </a:t>
            </a:r>
            <a:endParaRPr lang="en-US" sz="2800" dirty="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D54D4FF-3AEE-40ED-A135-040FD23591A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LIBOR swaps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Most common swap is where LIBOR is exchanged for a fixed rate (discussed in Chapter 7)</a:t>
            </a:r>
          </a:p>
          <a:p>
            <a:r>
              <a:rPr lang="en-CA" altLang="en-US" smtClean="0"/>
              <a:t>The swap rate where the 3 month LIBOR is exchanged for fixed has the same risk as a series of continually refreshed 3 month loans to AA-rated banks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43BE3F-C16F-4776-88A7-BCBD4641F4D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OIS rate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38150" y="1616075"/>
            <a:ext cx="8229600" cy="4411663"/>
          </a:xfrm>
        </p:spPr>
        <p:txBody>
          <a:bodyPr/>
          <a:lstStyle/>
          <a:p>
            <a:r>
              <a:rPr lang="en-CA" altLang="en-US" sz="2800" smtClean="0"/>
              <a:t>An overnight indexed swap is swap where a fixed rate for a period (e.g. 3 months) is exchanged for the geometric average of overnight rates.</a:t>
            </a:r>
          </a:p>
          <a:p>
            <a:r>
              <a:rPr lang="en-CA" altLang="en-US" sz="2800" smtClean="0"/>
              <a:t>For maturities up to one year there is a single exchange</a:t>
            </a:r>
          </a:p>
          <a:p>
            <a:r>
              <a:rPr lang="en-CA" altLang="en-US" sz="2800" smtClean="0"/>
              <a:t>For maturities beyond one year there are periodic exchanges, e.g. every quarter</a:t>
            </a:r>
          </a:p>
          <a:p>
            <a:r>
              <a:rPr lang="en-CA" altLang="en-US" sz="2800" smtClean="0"/>
              <a:t>The OIS rate is a continually refreshed overnight rate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3A9113-0CE3-49B1-91AA-D123E0F07DA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250825" y="260350"/>
            <a:ext cx="7772400" cy="990600"/>
          </a:xfrm>
        </p:spPr>
        <p:txBody>
          <a:bodyPr/>
          <a:lstStyle/>
          <a:p>
            <a:pPr eaLnBrk="1" hangingPunct="1"/>
            <a:r>
              <a:rPr lang="en-CA" altLang="en-US" smtClean="0"/>
              <a:t>The Risk-Free Rate</a:t>
            </a:r>
            <a:endParaRPr lang="en-US" altLang="en-US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23850" y="1268413"/>
            <a:ext cx="8424863" cy="4586287"/>
          </a:xfrm>
        </p:spPr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The Treasury rate is considered to be artificially low because</a:t>
            </a:r>
          </a:p>
          <a:p>
            <a:pPr lvl="1" eaLnBrk="1" hangingPunct="1"/>
            <a:r>
              <a:rPr lang="en-CA" altLang="en-US" sz="2400" smtClean="0">
                <a:cs typeface="Arial" panose="020B0604020202020204" pitchFamily="34" charset="0"/>
              </a:rPr>
              <a:t>Banks are not required to keep capital for Treasury instruments</a:t>
            </a:r>
          </a:p>
          <a:p>
            <a:pPr lvl="1" eaLnBrk="1" hangingPunct="1"/>
            <a:r>
              <a:rPr lang="en-CA" altLang="en-US" sz="2400" smtClean="0">
                <a:cs typeface="Arial" panose="020B0604020202020204" pitchFamily="34" charset="0"/>
              </a:rPr>
              <a:t>Treasury instruments are given favorable tax treatment in the US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OIS rates are now used as a proxy for risk-free rates</a:t>
            </a:r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13E344-E693-4BFC-8467-9E7712D6F61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1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Measuring Interest Rates</a:t>
            </a:r>
          </a:p>
        </p:txBody>
      </p:sp>
      <p:sp>
        <p:nvSpPr>
          <p:cNvPr id="29702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5800" y="1412875"/>
            <a:ext cx="6894513" cy="4071938"/>
          </a:xfrm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The compounding frequency used for an interest rate is the unit of measurement</a:t>
            </a:r>
          </a:p>
          <a:p>
            <a:pPr eaLnBrk="1" hangingPunct="1"/>
            <a:r>
              <a:rPr lang="en-US" altLang="en-US" smtClean="0"/>
              <a:t>The difference between quarterly and annual compounding is analogous to the difference between miles and kilometers</a:t>
            </a:r>
          </a:p>
        </p:txBody>
      </p:sp>
      <p:sp>
        <p:nvSpPr>
          <p:cNvPr id="2970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FCF811-2E34-46C2-BE05-C0023425A24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250825" y="549275"/>
            <a:ext cx="7772400" cy="898525"/>
          </a:xfrm>
        </p:spPr>
        <p:txBody>
          <a:bodyPr/>
          <a:lstStyle/>
          <a:p>
            <a:pPr eaLnBrk="1" hangingPunct="1"/>
            <a:r>
              <a:rPr lang="en-CA" altLang="en-US" smtClean="0"/>
              <a:t>Impact of Compounding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700213"/>
            <a:ext cx="8077200" cy="4281487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en-CA" dirty="0" smtClean="0"/>
              <a:t>	</a:t>
            </a:r>
            <a:r>
              <a:rPr lang="en-CA" sz="2400" dirty="0" smtClean="0"/>
              <a:t>When we compound </a:t>
            </a:r>
            <a:r>
              <a:rPr lang="en-CA" sz="2400" i="1" dirty="0" smtClean="0">
                <a:latin typeface="+mj-lt"/>
              </a:rPr>
              <a:t>m</a:t>
            </a:r>
            <a:r>
              <a:rPr lang="en-CA" sz="2400" dirty="0" smtClean="0"/>
              <a:t> times per year at rate </a:t>
            </a:r>
            <a:r>
              <a:rPr lang="en-CA" sz="2400" i="1" dirty="0" smtClean="0">
                <a:latin typeface="+mj-lt"/>
              </a:rPr>
              <a:t>R </a:t>
            </a:r>
            <a:r>
              <a:rPr lang="en-CA" sz="2400" dirty="0" smtClean="0">
                <a:latin typeface="+mj-lt"/>
              </a:rPr>
              <a:t> </a:t>
            </a:r>
            <a:r>
              <a:rPr lang="en-CA" sz="2400" dirty="0" smtClean="0"/>
              <a:t>an amount</a:t>
            </a:r>
            <a:r>
              <a:rPr lang="en-CA" sz="2400" i="1" dirty="0" smtClean="0">
                <a:latin typeface="+mj-lt"/>
              </a:rPr>
              <a:t> A </a:t>
            </a:r>
            <a:r>
              <a:rPr lang="en-CA" sz="2400" dirty="0" smtClean="0"/>
              <a:t>grows to </a:t>
            </a:r>
            <a:r>
              <a:rPr lang="en-CA" sz="2400" i="1" dirty="0" smtClean="0">
                <a:latin typeface="+mj-lt"/>
              </a:rPr>
              <a:t>A</a:t>
            </a:r>
            <a:r>
              <a:rPr lang="en-CA" sz="2400" dirty="0" smtClean="0">
                <a:latin typeface="+mj-lt"/>
              </a:rPr>
              <a:t>(1+</a:t>
            </a:r>
            <a:r>
              <a:rPr lang="en-CA" sz="2400" i="1" dirty="0" smtClean="0">
                <a:latin typeface="+mj-lt"/>
              </a:rPr>
              <a:t>R</a:t>
            </a:r>
            <a:r>
              <a:rPr lang="en-CA" sz="2400" dirty="0" smtClean="0">
                <a:latin typeface="+mj-lt"/>
              </a:rPr>
              <a:t>/</a:t>
            </a:r>
            <a:r>
              <a:rPr lang="en-CA" sz="2400" i="1" dirty="0" smtClean="0">
                <a:latin typeface="+mj-lt"/>
              </a:rPr>
              <a:t>m</a:t>
            </a:r>
            <a:r>
              <a:rPr lang="en-CA" sz="2400" dirty="0" smtClean="0">
                <a:latin typeface="+mj-lt"/>
              </a:rPr>
              <a:t>)</a:t>
            </a:r>
            <a:r>
              <a:rPr lang="en-CA" sz="2400" i="1" baseline="30000" dirty="0" smtClean="0">
                <a:latin typeface="+mj-lt"/>
              </a:rPr>
              <a:t>m</a:t>
            </a:r>
            <a:r>
              <a:rPr lang="en-CA" sz="2400" i="1" dirty="0" smtClean="0">
                <a:latin typeface="+mj-lt"/>
              </a:rPr>
              <a:t>  </a:t>
            </a:r>
            <a:r>
              <a:rPr lang="en-CA" sz="2400" dirty="0" smtClean="0"/>
              <a:t>in one year</a:t>
            </a:r>
            <a:endParaRPr lang="en-US" sz="2400" i="1" dirty="0"/>
          </a:p>
        </p:txBody>
      </p:sp>
      <p:sp>
        <p:nvSpPr>
          <p:cNvPr id="317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9FE65B-85AC-4C61-B3C1-03254E72E94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87450" y="2997200"/>
          <a:ext cx="670560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657600"/>
              </a:tblGrid>
              <a:tr h="218440">
                <a:tc>
                  <a:txBody>
                    <a:bodyPr/>
                    <a:lstStyle/>
                    <a:p>
                      <a:r>
                        <a:rPr lang="en-CA" i="1" dirty="0" smtClean="0"/>
                        <a:t>Compounding frequency</a:t>
                      </a:r>
                      <a:endParaRPr lang="en-US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i="1" dirty="0" smtClean="0"/>
                        <a:t>Value of $100 in one year at 10%</a:t>
                      </a:r>
                      <a:endParaRPr lang="en-US" i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Annual (m=1)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110.00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err="1" smtClean="0"/>
                        <a:t>Semiannual</a:t>
                      </a:r>
                      <a:r>
                        <a:rPr lang="en-CA" dirty="0" smtClean="0"/>
                        <a:t> (m=2)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Quarterly (m=4)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110.38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Monthly (m=12)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110.47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Weekly</a:t>
                      </a:r>
                      <a:r>
                        <a:rPr lang="en-CA" baseline="0" dirty="0" smtClean="0"/>
                        <a:t> (m=52)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110.51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 smtClean="0"/>
                        <a:t>Daily (m=365)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110.52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797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Continuous Compounding</a:t>
            </a:r>
            <a:br>
              <a:rPr lang="en-US" altLang="en-US" smtClean="0"/>
            </a:br>
            <a:r>
              <a:rPr lang="en-US" altLang="en-US" sz="2200" smtClean="0"/>
              <a:t>(Pages 86-87)</a:t>
            </a:r>
            <a:endParaRPr lang="en-US" altLang="en-US" smtClean="0"/>
          </a:p>
        </p:txBody>
      </p:sp>
      <p:sp>
        <p:nvSpPr>
          <p:cNvPr id="33798" name="Rectangle 5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488" tIns="44450" rIns="90488" bIns="44450"/>
          <a:lstStyle/>
          <a:p>
            <a:pPr eaLnBrk="1" hangingPunct="1"/>
            <a:r>
              <a:rPr lang="en-US" altLang="en-US" sz="2800" smtClean="0"/>
              <a:t>In the limit as we compound more and more frequently we obtain continuously compounded interest rates</a:t>
            </a:r>
          </a:p>
          <a:p>
            <a:pPr eaLnBrk="1" hangingPunct="1"/>
            <a:r>
              <a:rPr lang="en-US" altLang="en-US" sz="2800" smtClean="0"/>
              <a:t>$100 grows to $</a:t>
            </a:r>
            <a:r>
              <a:rPr lang="en-US" altLang="en-US" sz="2800" smtClean="0">
                <a:latin typeface="Times New Roman" panose="02020603050405020304" pitchFamily="18" charset="0"/>
              </a:rPr>
              <a:t>100e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RT</a:t>
            </a:r>
            <a:r>
              <a:rPr lang="en-US" altLang="en-US" sz="2800" baseline="30000" smtClean="0"/>
              <a:t> </a:t>
            </a:r>
            <a:r>
              <a:rPr lang="en-US" altLang="en-US" sz="2800" smtClean="0"/>
              <a:t>when invested at a continuously compounded rate</a:t>
            </a:r>
            <a:r>
              <a:rPr lang="en-US" altLang="en-US" sz="2800" i="1" smtClean="0"/>
              <a:t>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R</a:t>
            </a:r>
            <a:r>
              <a:rPr lang="en-US" altLang="en-US" sz="2800" i="1" smtClean="0"/>
              <a:t> </a:t>
            </a:r>
            <a:r>
              <a:rPr lang="en-US" altLang="en-US" sz="2800" smtClean="0"/>
              <a:t>for time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T</a:t>
            </a:r>
            <a:endParaRPr lang="en-US" altLang="en-US" sz="2800" smtClean="0"/>
          </a:p>
          <a:p>
            <a:pPr eaLnBrk="1" hangingPunct="1"/>
            <a:r>
              <a:rPr lang="en-US" altLang="en-US" sz="2800" smtClean="0"/>
              <a:t>$100 received at time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T</a:t>
            </a:r>
            <a:r>
              <a:rPr lang="en-US" altLang="en-US" sz="2800" smtClean="0">
                <a:latin typeface="Times New Roman" panose="02020603050405020304" pitchFamily="18" charset="0"/>
              </a:rPr>
              <a:t> </a:t>
            </a:r>
            <a:r>
              <a:rPr lang="en-US" altLang="en-US" sz="2800" smtClean="0"/>
              <a:t>discounts to $</a:t>
            </a:r>
            <a:r>
              <a:rPr lang="en-US" altLang="en-US" sz="2800" smtClean="0">
                <a:latin typeface="Times New Roman" panose="02020603050405020304" pitchFamily="18" charset="0"/>
              </a:rPr>
              <a:t>100e</a:t>
            </a:r>
            <a:r>
              <a:rPr lang="en-US" altLang="en-US" sz="2800" baseline="30000" smtClean="0">
                <a:latin typeface="Times New Roman" panose="02020603050405020304" pitchFamily="18" charset="0"/>
              </a:rPr>
              <a:t>-</a:t>
            </a:r>
            <a:r>
              <a:rPr lang="en-US" altLang="en-US" sz="2800" i="1" baseline="30000" smtClean="0">
                <a:latin typeface="Times New Roman" panose="02020603050405020304" pitchFamily="18" charset="0"/>
              </a:rPr>
              <a:t>RT</a:t>
            </a:r>
            <a:r>
              <a:rPr lang="en-US" altLang="en-US" sz="2800" baseline="30000" smtClean="0"/>
              <a:t> </a:t>
            </a:r>
            <a:r>
              <a:rPr lang="en-US" altLang="en-US" sz="2800" smtClean="0"/>
              <a:t>at time zero when the continuously compounded discount rate is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R</a:t>
            </a:r>
            <a:endParaRPr lang="en-US" altLang="en-US" sz="2800" i="1" smtClean="0"/>
          </a:p>
        </p:txBody>
      </p:sp>
      <p:sp>
        <p:nvSpPr>
          <p:cNvPr id="3379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F19375-9CBC-4802-B1B7-8845B8D9B6D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35843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5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488" tIns="44450" rIns="90488" bIns="44450" anchor="ctr"/>
          <a:lstStyle/>
          <a:p>
            <a:pPr eaLnBrk="1" hangingPunct="1"/>
            <a:r>
              <a:rPr lang="en-US" altLang="en-US" smtClean="0"/>
              <a:t>Conversion Formulas</a:t>
            </a:r>
            <a:br>
              <a:rPr lang="en-US" altLang="en-US" smtClean="0"/>
            </a:br>
            <a:r>
              <a:rPr lang="en-US" altLang="en-US" sz="2200" smtClean="0"/>
              <a:t>(Page 87)</a:t>
            </a:r>
            <a:endParaRPr lang="en-US" altLang="en-US" smtClean="0"/>
          </a:p>
        </p:txBody>
      </p:sp>
      <p:sp>
        <p:nvSpPr>
          <p:cNvPr id="358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411662"/>
          </a:xfrm>
          <a:noFill/>
        </p:spPr>
        <p:txBody>
          <a:bodyPr lIns="90488" tIns="44450" rIns="90488" bIns="44450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Define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c </a:t>
            </a:r>
            <a:r>
              <a:rPr lang="en-US" altLang="en-US" smtClean="0"/>
              <a:t>: continuously compounded rate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 smtClean="0">
                <a:latin typeface="Times New Roman" panose="02020603050405020304" pitchFamily="18" charset="0"/>
              </a:rPr>
              <a:t>R</a:t>
            </a:r>
            <a:r>
              <a:rPr lang="en-US" altLang="en-US" i="1" baseline="-25000" smtClean="0">
                <a:latin typeface="Times New Roman" panose="02020603050405020304" pitchFamily="18" charset="0"/>
              </a:rPr>
              <a:t>m</a:t>
            </a:r>
            <a:r>
              <a:rPr lang="en-US" altLang="en-US" smtClean="0"/>
              <a:t>: same rate with compounding </a:t>
            </a:r>
            <a:r>
              <a:rPr lang="en-US" altLang="en-US" i="1" smtClean="0"/>
              <a:t>m</a:t>
            </a:r>
            <a:r>
              <a:rPr lang="en-US" altLang="en-US" smtClean="0"/>
              <a:t> times per year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aphicFrame>
        <p:nvGraphicFramePr>
          <p:cNvPr id="35847" name="Object 6"/>
          <p:cNvGraphicFramePr>
            <a:graphicFrameLocks noChangeAspect="1"/>
          </p:cNvGraphicFramePr>
          <p:nvPr/>
        </p:nvGraphicFramePr>
        <p:xfrm>
          <a:off x="2143125" y="3857625"/>
          <a:ext cx="4408488" cy="209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9" name="Equation" r:id="rId4" imgW="1091726" imgH="622030" progId="Equation.3">
                  <p:embed/>
                </p:oleObj>
              </mc:Choice>
              <mc:Fallback>
                <p:oleObj name="Equation" r:id="rId4" imgW="1091726" imgH="62203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3857625"/>
                        <a:ext cx="4408488" cy="209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DF25BE-1E92-443B-B15C-C7F83A19C84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Examples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628775"/>
            <a:ext cx="7772400" cy="4281488"/>
          </a:xfrm>
        </p:spPr>
        <p:txBody>
          <a:bodyPr/>
          <a:lstStyle/>
          <a:p>
            <a:pPr eaLnBrk="1" hangingPunct="1">
              <a:defRPr/>
            </a:pPr>
            <a:r>
              <a:rPr lang="en-CA" sz="2800" dirty="0" smtClean="0"/>
              <a:t>10% with </a:t>
            </a:r>
            <a:r>
              <a:rPr lang="en-CA" sz="2800" dirty="0" err="1" smtClean="0"/>
              <a:t>semiannual</a:t>
            </a:r>
            <a:r>
              <a:rPr lang="en-CA" sz="2800" dirty="0" smtClean="0"/>
              <a:t> compounding is equivalent to 2ln(1.05)=9.758% with continuous compounding</a:t>
            </a:r>
          </a:p>
          <a:p>
            <a:pPr eaLnBrk="1" hangingPunct="1">
              <a:defRPr/>
            </a:pPr>
            <a:r>
              <a:rPr lang="en-CA" sz="2800" dirty="0" smtClean="0"/>
              <a:t>8% with continuous compounding is equivalent to 4(</a:t>
            </a:r>
            <a:r>
              <a:rPr lang="en-CA" sz="2800" i="1" dirty="0" smtClean="0">
                <a:latin typeface="+mj-lt"/>
              </a:rPr>
              <a:t>e</a:t>
            </a:r>
            <a:r>
              <a:rPr lang="en-CA" sz="2800" baseline="30000" dirty="0" smtClean="0"/>
              <a:t>0.08/4</a:t>
            </a:r>
            <a:r>
              <a:rPr lang="en-CA" sz="2800" dirty="0" smtClean="0"/>
              <a:t> -1)=8.08% with quarterly compounding</a:t>
            </a:r>
          </a:p>
          <a:p>
            <a:pPr eaLnBrk="1" hangingPunct="1">
              <a:defRPr/>
            </a:pPr>
            <a:r>
              <a:rPr lang="en-CA" sz="2800" dirty="0" smtClean="0"/>
              <a:t>Rates used in option pricing are usually expressed with continuous compounding</a:t>
            </a:r>
            <a:endParaRPr lang="en-US" sz="2800" dirty="0"/>
          </a:p>
        </p:txBody>
      </p:sp>
      <p:sp>
        <p:nvSpPr>
          <p:cNvPr id="378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4946F0-AD7E-4726-9503-EC17A5F1F1A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Zero Rates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   </a:t>
            </a:r>
            <a:r>
              <a:rPr lang="en-US" altLang="en-US" smtClean="0"/>
              <a:t>A zero rate (or spot rate), for maturity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r>
              <a:rPr lang="en-US" altLang="en-US" smtClean="0"/>
              <a:t> is the rate of interest earned on an investment that provides a payoff only at time </a:t>
            </a:r>
            <a:r>
              <a:rPr lang="en-US" altLang="en-US" i="1" smtClean="0">
                <a:latin typeface="Times New Roman" panose="02020603050405020304" pitchFamily="18" charset="0"/>
              </a:rPr>
              <a:t>T</a:t>
            </a:r>
            <a:endParaRPr lang="en-US" altLang="en-US" i="1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i="1" smtClean="0"/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C27A89-4854-4571-A6C6-F4CE9F68A2E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Example </a:t>
            </a:r>
            <a:r>
              <a:rPr lang="en-US" altLang="en-US" sz="2200" smtClean="0"/>
              <a:t>(Table 4.2, page 88)</a:t>
            </a:r>
            <a:endParaRPr lang="en-US" altLang="en-US" smtClean="0"/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</a:t>
            </a:r>
          </a:p>
        </p:txBody>
      </p:sp>
      <p:sp>
        <p:nvSpPr>
          <p:cNvPr id="419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7A3F96-B19A-4CA1-A217-FA9FB2BDC07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0" y="2438400"/>
          <a:ext cx="6096000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48000"/>
                <a:gridCol w="3048000"/>
              </a:tblGrid>
              <a:tr h="147320">
                <a:tc>
                  <a:txBody>
                    <a:bodyPr/>
                    <a:lstStyle/>
                    <a:p>
                      <a:r>
                        <a:rPr lang="en-CA" dirty="0" smtClean="0"/>
                        <a:t>Maturity (years)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 smtClean="0"/>
                        <a:t>Zero rate (cont. comp.</a:t>
                      </a:r>
                      <a:endParaRPr lang="en-US" dirty="0"/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0.5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5.8</a:t>
                      </a:r>
                      <a:endParaRPr lang="en-US" dirty="0"/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6.4</a:t>
                      </a:r>
                      <a:endParaRPr lang="en-US" dirty="0"/>
                    </a:p>
                  </a:txBody>
                  <a:tcPr/>
                </a:tc>
              </a:tr>
              <a:tr h="14732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Bond Pricing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To calculate the cash price of a bond we discount each cash flow at the appropriate zero rate</a:t>
            </a:r>
          </a:p>
          <a:p>
            <a:pPr eaLnBrk="1" hangingPunct="1"/>
            <a:r>
              <a:rPr lang="en-US" altLang="en-US" sz="2800" smtClean="0"/>
              <a:t>In our example, the theoretical price of a two-year bond providing a 6% coupon semiannually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 smtClean="0"/>
          </a:p>
        </p:txBody>
      </p:sp>
      <p:graphicFrame>
        <p:nvGraphicFramePr>
          <p:cNvPr id="44037" name="Object 4"/>
          <p:cNvGraphicFramePr>
            <a:graphicFrameLocks/>
          </p:cNvGraphicFramePr>
          <p:nvPr/>
        </p:nvGraphicFramePr>
        <p:xfrm>
          <a:off x="1714500" y="4572000"/>
          <a:ext cx="5091113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9" name="Equation" r:id="rId4" imgW="1943100" imgH="419100" progId="Equation.3">
                  <p:embed/>
                </p:oleObj>
              </mc:Choice>
              <mc:Fallback>
                <p:oleObj name="Equation" r:id="rId4" imgW="1943100" imgH="4191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4572000"/>
                        <a:ext cx="5091113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170F22B-AD00-49F2-A1DC-4583FDF9A19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295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Bond Yield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The bond yield is the discount rate that makes the present value of the cash flows on the bond equal to the market price of the bond</a:t>
            </a:r>
          </a:p>
          <a:p>
            <a:pPr eaLnBrk="1" hangingPunct="1"/>
            <a:r>
              <a:rPr lang="en-US" altLang="en-US" sz="2800" smtClean="0"/>
              <a:t>Suppose that the market price of the bond in our example equals its theoretical price of 98.39</a:t>
            </a:r>
          </a:p>
          <a:p>
            <a:pPr eaLnBrk="1" hangingPunct="1"/>
            <a:r>
              <a:rPr lang="en-US" altLang="en-US" sz="2800" smtClean="0"/>
              <a:t>The bond yield is given by solving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    to get </a:t>
            </a:r>
            <a:r>
              <a:rPr lang="en-US" altLang="en-US" sz="2800" i="1" smtClean="0">
                <a:latin typeface="Times New Roman" panose="02020603050405020304" pitchFamily="18" charset="0"/>
              </a:rPr>
              <a:t>y </a:t>
            </a:r>
            <a:r>
              <a:rPr lang="en-US" altLang="en-US" sz="2800" smtClean="0"/>
              <a:t>= 0.0676 or 6.76% (cont. comp.)</a:t>
            </a:r>
          </a:p>
        </p:txBody>
      </p:sp>
      <p:graphicFrame>
        <p:nvGraphicFramePr>
          <p:cNvPr id="46085" name="Object 4"/>
          <p:cNvGraphicFramePr>
            <a:graphicFrameLocks/>
          </p:cNvGraphicFramePr>
          <p:nvPr/>
        </p:nvGraphicFramePr>
        <p:xfrm>
          <a:off x="990600" y="5029200"/>
          <a:ext cx="708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7" name="Equation" r:id="rId4" imgW="2882900" imgH="190500" progId="Equation.2">
                  <p:embed/>
                </p:oleObj>
              </mc:Choice>
              <mc:Fallback>
                <p:oleObj name="Equation" r:id="rId4" imgW="2882900" imgH="19050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5029200"/>
                        <a:ext cx="7086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D8E636-79AF-47B3-86DA-928FCB620D5A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1219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Par Yield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558088" cy="4267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z="2800" smtClean="0"/>
              <a:t>The par yield for a certain maturity is the coupon rate that causes the bond price to equal its face value.</a:t>
            </a:r>
          </a:p>
          <a:p>
            <a:pPr eaLnBrk="1" hangingPunct="1"/>
            <a:r>
              <a:rPr lang="en-US" altLang="en-US" sz="2800" smtClean="0"/>
              <a:t>In our example we solve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</p:txBody>
      </p:sp>
      <p:graphicFrame>
        <p:nvGraphicFramePr>
          <p:cNvPr id="48133" name="Object 4"/>
          <p:cNvGraphicFramePr>
            <a:graphicFrameLocks/>
          </p:cNvGraphicFramePr>
          <p:nvPr/>
        </p:nvGraphicFramePr>
        <p:xfrm>
          <a:off x="1476375" y="3513138"/>
          <a:ext cx="4822825" cy="2468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Equation" r:id="rId4" imgW="2108200" imgH="1066800" progId="Equation.3">
                  <p:embed/>
                </p:oleObj>
              </mc:Choice>
              <mc:Fallback>
                <p:oleObj name="Equation" r:id="rId4" imgW="2108200" imgH="10668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13138"/>
                        <a:ext cx="4822825" cy="2468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539724-EB9D-4487-B4E6-541FB65E042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549275"/>
            <a:ext cx="7772400" cy="685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Par Yield continued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412875"/>
            <a:ext cx="7772400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cs typeface="Arial" charset="0"/>
              </a:rPr>
              <a:t>   </a:t>
            </a:r>
            <a:r>
              <a:rPr lang="en-US" sz="2800" dirty="0" smtClean="0">
                <a:cs typeface="Arial" charset="0"/>
              </a:rPr>
              <a:t>In general if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m</a:t>
            </a:r>
            <a:r>
              <a:rPr lang="en-US" sz="2800" i="1" dirty="0" smtClean="0">
                <a:cs typeface="Arial" charset="0"/>
              </a:rPr>
              <a:t> </a:t>
            </a:r>
            <a:r>
              <a:rPr lang="en-US" sz="2800" dirty="0" smtClean="0">
                <a:cs typeface="Arial" charset="0"/>
              </a:rPr>
              <a:t>is the number of coupon payments per year,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d</a:t>
            </a:r>
            <a:r>
              <a:rPr lang="en-US" sz="2800" dirty="0" smtClean="0">
                <a:cs typeface="Arial" charset="0"/>
              </a:rPr>
              <a:t> is the present value of $1 received at maturity and </a:t>
            </a:r>
            <a:r>
              <a:rPr lang="en-US" sz="2800" i="1" dirty="0" smtClean="0">
                <a:latin typeface="Times New Roman" pitchFamily="18" charset="0"/>
                <a:cs typeface="Arial" charset="0"/>
              </a:rPr>
              <a:t>A</a:t>
            </a:r>
            <a:r>
              <a:rPr lang="en-US" sz="2800" dirty="0" smtClean="0">
                <a:cs typeface="Arial" charset="0"/>
              </a:rPr>
              <a:t> is the present value of an annuity of $1 on each coupon date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CA" sz="2800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CA" sz="2800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CA" sz="2800" dirty="0" smtClean="0">
                <a:cs typeface="Arial" charset="0"/>
              </a:rPr>
              <a:t>	(in our example, </a:t>
            </a:r>
            <a:r>
              <a:rPr lang="en-CA" sz="2800" i="1" dirty="0" smtClean="0">
                <a:latin typeface="+mj-lt"/>
                <a:cs typeface="Arial" charset="0"/>
              </a:rPr>
              <a:t>m</a:t>
            </a:r>
            <a:r>
              <a:rPr lang="en-CA" sz="2800" i="1" dirty="0" smtClean="0">
                <a:cs typeface="Arial" charset="0"/>
              </a:rPr>
              <a:t> </a:t>
            </a:r>
            <a:r>
              <a:rPr lang="en-CA" sz="2800" dirty="0" smtClean="0">
                <a:cs typeface="Arial" charset="0"/>
              </a:rPr>
              <a:t>= 2, </a:t>
            </a:r>
            <a:r>
              <a:rPr lang="en-CA" sz="2800" i="1" dirty="0" smtClean="0">
                <a:latin typeface="+mj-lt"/>
                <a:cs typeface="Arial" charset="0"/>
              </a:rPr>
              <a:t>d </a:t>
            </a:r>
            <a:r>
              <a:rPr lang="en-CA" sz="2800" dirty="0" smtClean="0">
                <a:cs typeface="Arial" charset="0"/>
              </a:rPr>
              <a:t>= 0.87284, and </a:t>
            </a:r>
            <a:r>
              <a:rPr lang="en-CA" sz="2800" i="1" dirty="0" smtClean="0">
                <a:latin typeface="+mj-lt"/>
                <a:cs typeface="Arial" charset="0"/>
              </a:rPr>
              <a:t>A </a:t>
            </a:r>
            <a:r>
              <a:rPr lang="en-CA" sz="2800" dirty="0" smtClean="0">
                <a:cs typeface="Arial" charset="0"/>
              </a:rPr>
              <a:t>= 3.70027)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sz="2800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CA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CA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CA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cs typeface="Arial" charset="0"/>
            </a:endParaRPr>
          </a:p>
        </p:txBody>
      </p:sp>
      <p:sp>
        <p:nvSpPr>
          <p:cNvPr id="501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501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0A9831-A080-45A3-8C47-851590FAC21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 smtClean="0"/>
          </a:p>
        </p:txBody>
      </p:sp>
      <p:graphicFrame>
        <p:nvGraphicFramePr>
          <p:cNvPr id="50182" name="Object 4"/>
          <p:cNvGraphicFramePr>
            <a:graphicFrameLocks/>
          </p:cNvGraphicFramePr>
          <p:nvPr/>
        </p:nvGraphicFramePr>
        <p:xfrm>
          <a:off x="3200400" y="3962400"/>
          <a:ext cx="29606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Equation" r:id="rId4" imgW="1143000" imgH="368300" progId="Equation.3">
                  <p:embed/>
                </p:oleObj>
              </mc:Choice>
              <mc:Fallback>
                <p:oleObj name="Equation" r:id="rId4" imgW="1143000" imgH="3683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962400"/>
                        <a:ext cx="29606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Data to Determine Treasury Zero Curve </a:t>
            </a:r>
            <a:r>
              <a:rPr lang="en-CA" altLang="en-US" sz="2400" smtClean="0"/>
              <a:t>(Table 4.3, page 90)</a:t>
            </a:r>
            <a:endParaRPr lang="en-US" altLang="en-US" sz="2400" smtClean="0"/>
          </a:p>
        </p:txBody>
      </p:sp>
      <p:sp>
        <p:nvSpPr>
          <p:cNvPr id="5222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535054-29E0-4CFC-A718-8A78CB872E74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00113" y="1916113"/>
          <a:ext cx="6629400" cy="25209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7350"/>
                <a:gridCol w="1657350"/>
                <a:gridCol w="1657350"/>
                <a:gridCol w="1657350"/>
              </a:tblGrid>
              <a:tr h="646976"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Bond</a:t>
                      </a:r>
                      <a:r>
                        <a:rPr lang="en-CA" sz="1800" baseline="0" dirty="0" smtClean="0"/>
                        <a:t> </a:t>
                      </a:r>
                      <a:r>
                        <a:rPr lang="en-CA" sz="1800" dirty="0" smtClean="0"/>
                        <a:t>Principal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Time to Maturity (yrs)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Coupon  per year ($)</a:t>
                      </a:r>
                      <a:r>
                        <a:rPr lang="en-CA" sz="1800" baseline="30000" dirty="0" smtClean="0"/>
                        <a:t>*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CA" sz="1800" dirty="0" smtClean="0"/>
                        <a:t>Bond price ($)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479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0.25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97.5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479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0.50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94.9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479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90.0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479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1.50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8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96.0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4795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2.00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12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101.6</a:t>
                      </a:r>
                      <a:endParaRPr lang="en-US" sz="1800" dirty="0"/>
                    </a:p>
                  </a:txBody>
                  <a:tcPr marT="45733" marB="45733"/>
                </a:tc>
              </a:tr>
            </a:tbl>
          </a:graphicData>
        </a:graphic>
      </p:graphicFrame>
      <p:sp>
        <p:nvSpPr>
          <p:cNvPr id="52266" name="TextBox 5"/>
          <p:cNvSpPr txBox="1">
            <a:spLocks noChangeArrowheads="1"/>
          </p:cNvSpPr>
          <p:nvPr/>
        </p:nvSpPr>
        <p:spPr bwMode="auto">
          <a:xfrm>
            <a:off x="1143000" y="5013325"/>
            <a:ext cx="5638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 baseline="30000"/>
              <a:t>* </a:t>
            </a:r>
            <a:r>
              <a:rPr lang="en-CA" altLang="en-US" sz="1800"/>
              <a:t>Half the stated coupon is paid each year</a:t>
            </a:r>
            <a:endParaRPr lang="en-US" altLang="en-US" sz="1800" baseline="30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Bootstrap Method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An amount 2.5 can be earned on 97.5 during 3 months.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The 3-month rate is 4 times 2.5/97.5 or 10.256% with quarterly compounding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This is 10.127% with continuous compounding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smtClean="0"/>
              <a:t>Similarly the 6 month and 1 year rates are 10.469% and 10.536% with continuous compounding </a:t>
            </a:r>
            <a:r>
              <a:rPr lang="en-US" altLang="en-US" smtClean="0"/>
              <a:t>                                        </a:t>
            </a:r>
          </a:p>
        </p:txBody>
      </p:sp>
      <p:sp>
        <p:nvSpPr>
          <p:cNvPr id="542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9C2C96-CFF3-4340-8C66-E4F9189BC98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 Bootstrap Method continued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To calculate the 1.5 year rate we solve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to get </a:t>
            </a:r>
            <a:r>
              <a:rPr lang="en-US" altLang="en-US" i="1" smtClean="0">
                <a:latin typeface="Times New Roman" panose="02020603050405020304" pitchFamily="18" charset="0"/>
              </a:rPr>
              <a:t>R </a:t>
            </a:r>
            <a:r>
              <a:rPr lang="en-US" altLang="en-US" smtClean="0"/>
              <a:t>= 0.10681 or 10.681%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Similarly the two-year rate is 10.808%</a:t>
            </a:r>
          </a:p>
        </p:txBody>
      </p:sp>
      <p:graphicFrame>
        <p:nvGraphicFramePr>
          <p:cNvPr id="56325" name="Object 4"/>
          <p:cNvGraphicFramePr>
            <a:graphicFrameLocks/>
          </p:cNvGraphicFramePr>
          <p:nvPr/>
        </p:nvGraphicFramePr>
        <p:xfrm>
          <a:off x="765175" y="2801938"/>
          <a:ext cx="738505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4" imgW="2565400" imgH="203200" progId="Equation.3">
                  <p:embed/>
                </p:oleObj>
              </mc:Choice>
              <mc:Fallback>
                <p:oleObj name="Equation" r:id="rId4" imgW="2565400" imgH="2032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2801938"/>
                        <a:ext cx="738505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88682D-1894-4E13-9163-AC6306315811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Zero Curve Calculated from the Data </a:t>
            </a:r>
            <a:r>
              <a:rPr lang="en-US" altLang="en-US" sz="2200" smtClean="0"/>
              <a:t>(Figure 4.1, page 91)</a:t>
            </a:r>
            <a:endParaRPr lang="en-US" altLang="en-US" smtClean="0"/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</a:t>
            </a:r>
          </a:p>
        </p:txBody>
      </p:sp>
      <p:graphicFrame>
        <p:nvGraphicFramePr>
          <p:cNvPr id="58373" name="Object 4"/>
          <p:cNvGraphicFramePr>
            <a:graphicFrameLocks/>
          </p:cNvGraphicFramePr>
          <p:nvPr/>
        </p:nvGraphicFramePr>
        <p:xfrm>
          <a:off x="838200" y="1905000"/>
          <a:ext cx="80010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2" name="Chart" r:id="rId4" imgW="9573031" imgH="7363307" progId="Excel.Chart.8">
                  <p:embed followColorScheme="full"/>
                </p:oleObj>
              </mc:Choice>
              <mc:Fallback>
                <p:oleObj name="Chart" r:id="rId4" imgW="9573031" imgH="7363307" progId="Excel.Chart.8">
                  <p:embed followColorScheme="full"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05000"/>
                        <a:ext cx="8001000" cy="434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Rectangle 5"/>
          <p:cNvSpPr>
            <a:spLocks noChangeArrowheads="1"/>
          </p:cNvSpPr>
          <p:nvPr/>
        </p:nvSpPr>
        <p:spPr bwMode="auto">
          <a:xfrm>
            <a:off x="1524000" y="2209800"/>
            <a:ext cx="1447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Zero     Rate (%)</a:t>
            </a:r>
          </a:p>
        </p:txBody>
      </p:sp>
      <p:sp>
        <p:nvSpPr>
          <p:cNvPr id="58375" name="Rectangle 6"/>
          <p:cNvSpPr>
            <a:spLocks noChangeArrowheads="1"/>
          </p:cNvSpPr>
          <p:nvPr/>
        </p:nvSpPr>
        <p:spPr bwMode="auto">
          <a:xfrm>
            <a:off x="5249863" y="5181600"/>
            <a:ext cx="2179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Maturity (yrs)</a:t>
            </a:r>
          </a:p>
        </p:txBody>
      </p:sp>
      <p:sp>
        <p:nvSpPr>
          <p:cNvPr id="58376" name="Rectangle 7"/>
          <p:cNvSpPr>
            <a:spLocks noChangeArrowheads="1"/>
          </p:cNvSpPr>
          <p:nvPr/>
        </p:nvSpPr>
        <p:spPr bwMode="auto">
          <a:xfrm>
            <a:off x="1752600" y="44196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10.127</a:t>
            </a:r>
          </a:p>
        </p:txBody>
      </p:sp>
      <p:sp>
        <p:nvSpPr>
          <p:cNvPr id="58377" name="Rectangle 8"/>
          <p:cNvSpPr>
            <a:spLocks noChangeArrowheads="1"/>
          </p:cNvSpPr>
          <p:nvPr/>
        </p:nvSpPr>
        <p:spPr bwMode="auto">
          <a:xfrm>
            <a:off x="2438400" y="4038600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10.469</a:t>
            </a:r>
          </a:p>
        </p:txBody>
      </p:sp>
      <p:sp>
        <p:nvSpPr>
          <p:cNvPr id="58378" name="Rectangle 9"/>
          <p:cNvSpPr>
            <a:spLocks noChangeArrowheads="1"/>
          </p:cNvSpPr>
          <p:nvPr/>
        </p:nvSpPr>
        <p:spPr bwMode="auto">
          <a:xfrm>
            <a:off x="3657600" y="403860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10.536</a:t>
            </a:r>
          </a:p>
        </p:txBody>
      </p:sp>
      <p:sp>
        <p:nvSpPr>
          <p:cNvPr id="58379" name="Rectangle 10"/>
          <p:cNvSpPr>
            <a:spLocks noChangeArrowheads="1"/>
          </p:cNvSpPr>
          <p:nvPr/>
        </p:nvSpPr>
        <p:spPr bwMode="auto">
          <a:xfrm>
            <a:off x="4814888" y="3810000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10.681</a:t>
            </a:r>
          </a:p>
        </p:txBody>
      </p:sp>
      <p:sp>
        <p:nvSpPr>
          <p:cNvPr id="58380" name="Rectangle 11"/>
          <p:cNvSpPr>
            <a:spLocks noChangeArrowheads="1"/>
          </p:cNvSpPr>
          <p:nvPr/>
        </p:nvSpPr>
        <p:spPr bwMode="auto">
          <a:xfrm>
            <a:off x="5830888" y="3733800"/>
            <a:ext cx="10271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10.808</a:t>
            </a:r>
          </a:p>
        </p:txBody>
      </p:sp>
      <p:sp>
        <p:nvSpPr>
          <p:cNvPr id="58381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653353-722F-49E5-BEB5-61206AB8AED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mtClean="0"/>
              <a:t>Application to OIS Rates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smtClean="0"/>
              <a:t>OIS rates out to 1 year are zero rates</a:t>
            </a:r>
          </a:p>
          <a:p>
            <a:r>
              <a:rPr lang="en-CA" altLang="en-US" smtClean="0"/>
              <a:t>OIS rates beyond one year are par yields, </a:t>
            </a:r>
          </a:p>
        </p:txBody>
      </p:sp>
      <p:sp>
        <p:nvSpPr>
          <p:cNvPr id="604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8F4092-DF00-4D78-BBD3-6553DD59063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6144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71500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Forward Rates</a:t>
            </a:r>
          </a:p>
        </p:txBody>
      </p:sp>
      <p:sp>
        <p:nvSpPr>
          <p:cNvPr id="6144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4213" y="1719263"/>
            <a:ext cx="7534275" cy="4411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smtClean="0"/>
              <a:t>   The forward rate is the future zero rate implied by today’s term structure of interest rates</a:t>
            </a:r>
          </a:p>
        </p:txBody>
      </p:sp>
      <p:sp>
        <p:nvSpPr>
          <p:cNvPr id="614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819F9F-311B-40AC-9071-21AEE0B098C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Formula for Forward Rates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Suppose that the zero rates for time periods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2400" i="1" smtClean="0">
                <a:cs typeface="Arial" panose="020B0604020202020204" pitchFamily="34" charset="0"/>
              </a:rPr>
              <a:t> </a:t>
            </a:r>
            <a:r>
              <a:rPr lang="en-US" altLang="en-US" sz="2400" smtClean="0">
                <a:cs typeface="Arial" panose="020B0604020202020204" pitchFamily="34" charset="0"/>
              </a:rPr>
              <a:t>and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2400" i="1" smtClean="0">
                <a:cs typeface="Arial" panose="020B0604020202020204" pitchFamily="34" charset="0"/>
              </a:rPr>
              <a:t> </a:t>
            </a:r>
            <a:r>
              <a:rPr lang="en-US" altLang="en-US" sz="2400" smtClean="0">
                <a:cs typeface="Arial" panose="020B0604020202020204" pitchFamily="34" charset="0"/>
              </a:rPr>
              <a:t>are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2400" smtClean="0">
                <a:cs typeface="Arial" panose="020B0604020202020204" pitchFamily="34" charset="0"/>
              </a:rPr>
              <a:t> and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R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2400" smtClean="0">
                <a:cs typeface="Arial" panose="020B0604020202020204" pitchFamily="34" charset="0"/>
              </a:rPr>
              <a:t> with both rates continuously compounded.</a:t>
            </a:r>
          </a:p>
          <a:p>
            <a:pPr eaLnBrk="1" hangingPunct="1"/>
            <a:r>
              <a:rPr lang="en-US" altLang="en-US" sz="2400" smtClean="0">
                <a:cs typeface="Arial" panose="020B0604020202020204" pitchFamily="34" charset="0"/>
              </a:rPr>
              <a:t>The forward rate for the period between times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US" altLang="en-US" sz="2400" smtClean="0">
                <a:cs typeface="Arial" panose="020B0604020202020204" pitchFamily="34" charset="0"/>
              </a:rPr>
              <a:t> and </a:t>
            </a:r>
            <a:r>
              <a:rPr lang="en-US" altLang="en-US" sz="2400" i="1" smtClean="0">
                <a:latin typeface="Times New Roman" panose="02020603050405020304" pitchFamily="18" charset="0"/>
                <a:cs typeface="Arial" panose="020B0604020202020204" pitchFamily="34" charset="0"/>
              </a:rPr>
              <a:t>T</a:t>
            </a:r>
            <a:r>
              <a:rPr lang="en-US" altLang="en-US" sz="2400" i="1" baseline="-25000" smtClean="0">
                <a:latin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n-US" altLang="en-US" sz="2400" smtClean="0">
                <a:cs typeface="Arial" panose="020B0604020202020204" pitchFamily="34" charset="0"/>
              </a:rPr>
              <a:t> is</a:t>
            </a:r>
          </a:p>
          <a:p>
            <a:pPr eaLnBrk="1" hangingPunct="1">
              <a:buFontTx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z="2400" smtClean="0">
                <a:cs typeface="Arial" panose="020B0604020202020204" pitchFamily="34" charset="0"/>
              </a:rPr>
              <a:t>This formula is only approximately true when rates are not expressed with continuous compounding</a:t>
            </a:r>
            <a:endParaRPr lang="en-US" altLang="en-US" sz="2400" smtClean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634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634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ED7E4F-292B-4243-8259-705B4B976D1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800" smtClean="0"/>
          </a:p>
        </p:txBody>
      </p:sp>
      <p:graphicFrame>
        <p:nvGraphicFramePr>
          <p:cNvPr id="63494" name="Object 5"/>
          <p:cNvGraphicFramePr>
            <a:graphicFrameLocks/>
          </p:cNvGraphicFramePr>
          <p:nvPr/>
        </p:nvGraphicFramePr>
        <p:xfrm>
          <a:off x="2700338" y="3429000"/>
          <a:ext cx="2057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5" name="Equation" r:id="rId4" imgW="6502400" imgH="3670710" progId="Equation.2">
                  <p:embed/>
                </p:oleObj>
              </mc:Choice>
              <mc:Fallback>
                <p:oleObj name="Equation" r:id="rId4" imgW="6502400" imgH="3670710" progId="Equation.2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429000"/>
                        <a:ext cx="20574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Application of the Formula</a:t>
            </a:r>
            <a:endParaRPr lang="en-US" altLang="en-US" smtClean="0"/>
          </a:p>
        </p:txBody>
      </p:sp>
      <p:sp>
        <p:nvSpPr>
          <p:cNvPr id="6553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6178AA-36CA-4829-9D3C-E6B0DE41E51D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80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2438400"/>
          <a:ext cx="6096000" cy="276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/>
                <a:gridCol w="2362200"/>
                <a:gridCol w="2362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Year  (</a:t>
                      </a:r>
                      <a:r>
                        <a:rPr lang="en-CA" i="1" dirty="0" smtClean="0">
                          <a:latin typeface="+mj-lt"/>
                        </a:rPr>
                        <a:t>n</a:t>
                      </a:r>
                      <a:r>
                        <a:rPr lang="en-CA" dirty="0" smtClean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Zero rate for</a:t>
                      </a:r>
                      <a:r>
                        <a:rPr lang="en-CA" baseline="0" dirty="0" smtClean="0"/>
                        <a:t> </a:t>
                      </a:r>
                      <a:r>
                        <a:rPr lang="en-CA" baseline="0" dirty="0" smtClean="0">
                          <a:latin typeface="+mj-lt"/>
                        </a:rPr>
                        <a:t>n</a:t>
                      </a:r>
                      <a:r>
                        <a:rPr lang="en-CA" baseline="0" dirty="0" smtClean="0"/>
                        <a:t>-year investment </a:t>
                      </a:r>
                    </a:p>
                    <a:p>
                      <a:pPr algn="ctr"/>
                      <a:r>
                        <a:rPr lang="en-CA" baseline="0" dirty="0" smtClean="0"/>
                        <a:t>(% per annum)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Forward rate for </a:t>
                      </a:r>
                      <a:r>
                        <a:rPr lang="en-CA" dirty="0" smtClean="0">
                          <a:latin typeface="+mj-lt"/>
                        </a:rPr>
                        <a:t>n</a:t>
                      </a:r>
                      <a:r>
                        <a:rPr lang="en-CA" dirty="0" smtClean="0"/>
                        <a:t>th year</a:t>
                      </a:r>
                    </a:p>
                    <a:p>
                      <a:pPr algn="ctr"/>
                      <a:r>
                        <a:rPr lang="en-CA" dirty="0" smtClean="0"/>
                        <a:t>(% per annum)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4.6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5.8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5.5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6.5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Upward vs Downward Sloping</a:t>
            </a:r>
            <a:br>
              <a:rPr lang="en-US" altLang="en-US" smtClean="0"/>
            </a:br>
            <a:r>
              <a:rPr lang="en-US" altLang="en-US" smtClean="0"/>
              <a:t>Yield Curve 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4525" y="2255838"/>
            <a:ext cx="7772400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For an upward sloping yield curve: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Fwd Rate &gt; Zero Rate &gt; Par Yield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For a downward sloping yield curve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Par Yield &gt; Zero Rate &gt; Fwd Rate</a:t>
            </a:r>
          </a:p>
        </p:txBody>
      </p:sp>
      <p:sp>
        <p:nvSpPr>
          <p:cNvPr id="675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3C7B47-3C2B-4FEF-9F27-CCF6BB4BCAB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Forward Rate Agreement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forward rate agreement (FRA) is an OTC agreement that a certain LIBOR rate will apply to a certain principal during a certain future time period</a:t>
            </a:r>
          </a:p>
        </p:txBody>
      </p:sp>
      <p:sp>
        <p:nvSpPr>
          <p:cNvPr id="696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185643D-5621-4206-9988-0A7D837E7C5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Forward Rate Agreement: Key Results 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773238"/>
            <a:ext cx="8001000" cy="40386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An FRA is equivalent to an agreement where interest at a predetermined rate,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sz="2400" i="1" baseline="-25000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sz="2400" dirty="0" smtClean="0">
                <a:cs typeface="Arial" charset="0"/>
              </a:rPr>
              <a:t> is exchanged for interest at the LIBOR rate</a:t>
            </a:r>
          </a:p>
          <a:p>
            <a:pPr eaLnBrk="1" hangingPunct="1">
              <a:defRPr/>
            </a:pPr>
            <a:r>
              <a:rPr lang="en-US" sz="2400" dirty="0" smtClean="0">
                <a:cs typeface="Arial" charset="0"/>
              </a:rPr>
              <a:t>An FRA can be valued by assuming that the forward LIBOR interest rate, </a:t>
            </a:r>
            <a:r>
              <a:rPr lang="en-US" sz="2400" i="1" dirty="0" smtClean="0">
                <a:latin typeface="+mj-lt"/>
                <a:cs typeface="Arial" charset="0"/>
              </a:rPr>
              <a:t>R</a:t>
            </a:r>
            <a:r>
              <a:rPr lang="en-US" sz="2400" i="1" baseline="-25000" dirty="0" smtClean="0">
                <a:latin typeface="+mj-lt"/>
                <a:cs typeface="Arial" charset="0"/>
              </a:rPr>
              <a:t>F</a:t>
            </a:r>
            <a:r>
              <a:rPr lang="en-US" sz="2400" dirty="0" smtClean="0">
                <a:cs typeface="Arial" charset="0"/>
              </a:rPr>
              <a:t> , is certain to be realized</a:t>
            </a:r>
          </a:p>
          <a:p>
            <a:pPr eaLnBrk="1" hangingPunct="1">
              <a:defRPr/>
            </a:pPr>
            <a:r>
              <a:rPr lang="en-CA" sz="2400" dirty="0" smtClean="0">
                <a:cs typeface="Arial" charset="0"/>
              </a:rPr>
              <a:t>This means that the value of an FRA is the present value of the difference between the interest that would be paid at interest rate </a:t>
            </a:r>
            <a:r>
              <a:rPr lang="en-CA" sz="2400" i="1" dirty="0" smtClean="0">
                <a:latin typeface="+mj-lt"/>
                <a:cs typeface="Arial" charset="0"/>
              </a:rPr>
              <a:t>R</a:t>
            </a:r>
            <a:r>
              <a:rPr lang="en-CA" sz="2400" i="1" baseline="-25000" dirty="0" smtClean="0">
                <a:latin typeface="+mj-lt"/>
                <a:cs typeface="Arial" charset="0"/>
              </a:rPr>
              <a:t>F</a:t>
            </a:r>
            <a:r>
              <a:rPr lang="en-CA" sz="2400" dirty="0" smtClean="0">
                <a:cs typeface="Arial" charset="0"/>
              </a:rPr>
              <a:t> and the interest that would be paid at rate </a:t>
            </a:r>
            <a:r>
              <a:rPr lang="en-CA" sz="2400" i="1" dirty="0" smtClean="0">
                <a:latin typeface="+mj-lt"/>
                <a:cs typeface="Arial" charset="0"/>
              </a:rPr>
              <a:t>R</a:t>
            </a:r>
            <a:r>
              <a:rPr lang="en-CA" sz="2400" i="1" baseline="-25000" dirty="0" smtClean="0">
                <a:latin typeface="+mj-lt"/>
                <a:cs typeface="Arial" charset="0"/>
              </a:rPr>
              <a:t>K</a:t>
            </a:r>
            <a:endParaRPr lang="en-US" sz="2400" i="1" dirty="0" smtClean="0">
              <a:latin typeface="+mj-lt"/>
              <a:cs typeface="Arial" charset="0"/>
            </a:endParaRPr>
          </a:p>
        </p:txBody>
      </p:sp>
      <p:sp>
        <p:nvSpPr>
          <p:cNvPr id="716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>
              <a:cs typeface="Arial" panose="020B0604020202020204" pitchFamily="34" charset="0"/>
            </a:endParaRPr>
          </a:p>
        </p:txBody>
      </p:sp>
      <p:sp>
        <p:nvSpPr>
          <p:cNvPr id="716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783F41C-E671-43AE-89C4-1682AD0620D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FRA Example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A company has agreed that it will receive 4% on $100 million for 3 months starting in 3 years</a:t>
            </a:r>
          </a:p>
          <a:p>
            <a:pPr eaLnBrk="1" hangingPunct="1"/>
            <a:r>
              <a:rPr lang="en-US" altLang="en-US" sz="2800" smtClean="0"/>
              <a:t>The forward rate for the period between 3 and 3.25 years is 3%</a:t>
            </a:r>
          </a:p>
          <a:p>
            <a:pPr eaLnBrk="1" hangingPunct="1"/>
            <a:r>
              <a:rPr lang="en-US" altLang="en-US" sz="2800" smtClean="0"/>
              <a:t>The value of the contract to the company is +$250,000 discounted from time 3.25 years to time zero at the OIS rate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737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7F94D9-C6D2-4854-A31C-C3806D9787C9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FRA Example Continued</a:t>
            </a:r>
            <a:endParaRPr lang="en-US" altLang="en-US" sz="2400" smtClean="0"/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Suppose rate proves to be 4.5%  (with quarterly compounding </a:t>
            </a:r>
          </a:p>
          <a:p>
            <a:pPr eaLnBrk="1" hangingPunct="1"/>
            <a:r>
              <a:rPr lang="en-US" altLang="en-US" sz="2800" smtClean="0"/>
              <a:t>The payoff is </a:t>
            </a:r>
            <a:r>
              <a:rPr lang="en-US" altLang="en-US" sz="2800" smtClean="0">
                <a:cs typeface="Arial" panose="020B0604020202020204" pitchFamily="34" charset="0"/>
              </a:rPr>
              <a:t>–</a:t>
            </a:r>
            <a:r>
              <a:rPr lang="en-US" altLang="en-US" sz="2800" smtClean="0"/>
              <a:t>$125,000 at the 3.25 year point</a:t>
            </a:r>
          </a:p>
          <a:p>
            <a:pPr eaLnBrk="1" hangingPunct="1"/>
            <a:r>
              <a:rPr lang="en-CA" altLang="en-US" sz="2800" smtClean="0"/>
              <a:t>Often the FRA is settled at tiem 3 years for the present value of the known cash flow at time 3.25 years. </a:t>
            </a:r>
            <a:endParaRPr lang="en-US" altLang="en-US" sz="2800" smtClean="0"/>
          </a:p>
        </p:txBody>
      </p:sp>
      <p:sp>
        <p:nvSpPr>
          <p:cNvPr id="757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2B4A29F-21D3-4D97-8BF4-614A5FBBF86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800" smtClean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i="0" smtClean="0"/>
          </a:p>
        </p:txBody>
      </p:sp>
      <p:sp>
        <p:nvSpPr>
          <p:cNvPr id="77827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Theories of the Term Structure</a:t>
            </a:r>
            <a:br>
              <a:rPr lang="en-US" altLang="en-US" smtClean="0"/>
            </a:br>
            <a:r>
              <a:rPr lang="en-US" altLang="en-US" sz="2200" smtClean="0"/>
              <a:t>Pages 97-98</a:t>
            </a:r>
            <a:endParaRPr lang="en-US" altLang="en-US" smtClean="0"/>
          </a:p>
        </p:txBody>
      </p:sp>
      <p:sp>
        <p:nvSpPr>
          <p:cNvPr id="7782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81000" y="1052513"/>
            <a:ext cx="8077200" cy="2905125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mtClean="0"/>
          </a:p>
          <a:p>
            <a:pPr eaLnBrk="1" hangingPunct="1"/>
            <a:r>
              <a:rPr lang="en-US" altLang="en-US" smtClean="0"/>
              <a:t>Expectations Theory: forward rates equal expected future zero rates	</a:t>
            </a:r>
          </a:p>
          <a:p>
            <a:pPr eaLnBrk="1" hangingPunct="1"/>
            <a:r>
              <a:rPr lang="en-US" altLang="en-US" smtClean="0"/>
              <a:t>Market Segmentation: short, medium and long rates determined independently of each other</a:t>
            </a:r>
          </a:p>
          <a:p>
            <a:pPr eaLnBrk="1" hangingPunct="1"/>
            <a:r>
              <a:rPr lang="en-US" altLang="en-US" smtClean="0"/>
              <a:t>Liquidity Preference Theory: forward rates higher than expected future zero rates</a:t>
            </a:r>
          </a:p>
        </p:txBody>
      </p:sp>
      <p:sp>
        <p:nvSpPr>
          <p:cNvPr id="778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0CFDF3-B465-4A4F-8609-0DF92A79D91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800" smtClean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Liquidity Preference Theory</a:t>
            </a:r>
            <a:endParaRPr lang="en-US" altLang="en-US" smtClean="0"/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Suppose that the outlook for rates is flat and you have been offered the following choices</a:t>
            </a:r>
          </a:p>
          <a:p>
            <a:pPr eaLnBrk="1" hangingPunct="1"/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endParaRPr lang="en-CA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What would you choose as a depositor? What for your mortgage?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798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798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1B437C-45B2-4D45-B8A5-6F634EDC42D6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800" smtClean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76375" y="3500438"/>
          <a:ext cx="6096000" cy="11128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Maturity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Deposit rate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Mortgage rate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1 year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3%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6%</a:t>
                      </a:r>
                      <a:endParaRPr lang="en-US" sz="1800" dirty="0"/>
                    </a:p>
                  </a:txBody>
                  <a:tcPr marT="45733" marB="45733"/>
                </a:tc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5 year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3%</a:t>
                      </a:r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 smtClean="0"/>
                        <a:t>6%</a:t>
                      </a:r>
                      <a:endParaRPr lang="en-US" sz="1800" dirty="0"/>
                    </a:p>
                  </a:txBody>
                  <a:tcPr marT="45733" marB="45733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Liquidity Preference Theory </a:t>
            </a:r>
            <a:r>
              <a:rPr lang="en-CA" altLang="en-US" sz="2700" smtClean="0"/>
              <a:t>cont</a:t>
            </a:r>
            <a:endParaRPr lang="en-US" altLang="en-US" sz="2700" smtClean="0"/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To match the maturities of borrowers and lenders a bank has to increase long rates above expected future short rates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In our example the bank might offer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CA" altLang="en-US" smtClean="0">
              <a:cs typeface="Arial" panose="020B0604020202020204" pitchFamily="34" charset="0"/>
            </a:endParaRP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819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 smtClean="0"/>
              <a:t>Fundamentals of Futures and Options Markets, 9th Ed, Ch 4, Copyright © John C. Hull 2016</a:t>
            </a:r>
            <a:endParaRPr lang="en-US" altLang="en-US" sz="1400" smtClean="0"/>
          </a:p>
        </p:txBody>
      </p:sp>
      <p:sp>
        <p:nvSpPr>
          <p:cNvPr id="819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0E5739F-6A0B-4902-ACB0-DF8393654CC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80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4191000"/>
          <a:ext cx="640080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3600"/>
                <a:gridCol w="2133600"/>
                <a:gridCol w="2133600"/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Maturity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Deposit 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Mortgage rate</a:t>
                      </a:r>
                      <a:endParaRPr lang="en-US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1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3%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6%</a:t>
                      </a:r>
                      <a:endParaRPr lang="en-US" dirty="0"/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5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4%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smtClean="0"/>
                        <a:t>7%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8D2257A-CE2D-4788-919B-C336EDC6855B}"/>
</file>

<file path=customXml/itemProps2.xml><?xml version="1.0" encoding="utf-8"?>
<ds:datastoreItem xmlns:ds="http://schemas.openxmlformats.org/officeDocument/2006/customXml" ds:itemID="{F9E38911-D375-4B18-8C10-34476E89B247}"/>
</file>

<file path=customXml/itemProps3.xml><?xml version="1.0" encoding="utf-8"?>
<ds:datastoreItem xmlns:ds="http://schemas.openxmlformats.org/officeDocument/2006/customXml" ds:itemID="{0EEAAC64-1A2B-4C93-915A-0F2B7EF28028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235</TotalTime>
  <Pages>18</Pages>
  <Words>2270</Words>
  <Application>Microsoft Office PowerPoint</Application>
  <PresentationFormat>Letter Paper (8.5x11 in)</PresentationFormat>
  <Paragraphs>340</Paragraphs>
  <Slides>36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Times New Roman</vt:lpstr>
      <vt:lpstr>Wingdings</vt:lpstr>
      <vt:lpstr>Wingdings 2</vt:lpstr>
      <vt:lpstr>1_Network</vt:lpstr>
      <vt:lpstr>Microsoft Equation 3.0</vt:lpstr>
      <vt:lpstr>Equation</vt:lpstr>
      <vt:lpstr>Microsoft Excel Chart</vt:lpstr>
      <vt:lpstr>Interest Rates</vt:lpstr>
      <vt:lpstr>Types of Rates</vt:lpstr>
      <vt:lpstr>Treasury Rates</vt:lpstr>
      <vt:lpstr>LIBOR</vt:lpstr>
      <vt:lpstr>The U.S. Fed Funds Rate</vt:lpstr>
      <vt:lpstr>Repo Rates</vt:lpstr>
      <vt:lpstr>LIBOR swaps</vt:lpstr>
      <vt:lpstr>OIS rate</vt:lpstr>
      <vt:lpstr>The Risk-Free Rate</vt:lpstr>
      <vt:lpstr>Measuring Interest Rates</vt:lpstr>
      <vt:lpstr>Impact of Compounding</vt:lpstr>
      <vt:lpstr>Continuous Compounding (Pages 86-87)</vt:lpstr>
      <vt:lpstr>Conversion Formulas (Page 87)</vt:lpstr>
      <vt:lpstr>Examples</vt:lpstr>
      <vt:lpstr>Zero Rates</vt:lpstr>
      <vt:lpstr>Example (Table 4.2, page 88)</vt:lpstr>
      <vt:lpstr>Bond Pricing</vt:lpstr>
      <vt:lpstr>Bond Yield</vt:lpstr>
      <vt:lpstr>Par Yield</vt:lpstr>
      <vt:lpstr>Par Yield continued</vt:lpstr>
      <vt:lpstr>Data to Determine Treasury Zero Curve (Table 4.3, page 90)</vt:lpstr>
      <vt:lpstr>The Bootstrap Method</vt:lpstr>
      <vt:lpstr>The Bootstrap Method continued</vt:lpstr>
      <vt:lpstr>Zero Curve Calculated from the Data (Figure 4.1, page 91)</vt:lpstr>
      <vt:lpstr>Application to OIS Rates</vt:lpstr>
      <vt:lpstr>Forward Rates</vt:lpstr>
      <vt:lpstr>Formula for Forward Rates</vt:lpstr>
      <vt:lpstr>Application of the Formula</vt:lpstr>
      <vt:lpstr>Upward vs Downward Sloping Yield Curve </vt:lpstr>
      <vt:lpstr>Forward Rate Agreement</vt:lpstr>
      <vt:lpstr>Forward Rate Agreement: Key Results  </vt:lpstr>
      <vt:lpstr>FRA Example</vt:lpstr>
      <vt:lpstr>FRA Example Continued</vt:lpstr>
      <vt:lpstr>Theories of the Term Structure Pages 97-98</vt:lpstr>
      <vt:lpstr>Liquidity Preference Theory</vt:lpstr>
      <vt:lpstr>Liquidity Preference Theory cont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Rates</dc:title>
  <dc:subject>Fundamentals of Futures and Options Markets, 7E</dc:subject>
  <dc:creator>John C. Hull</dc:creator>
  <cp:keywords>Chapter 4</cp:keywords>
  <dc:description>Copyright 2016 by John C. Hull.
All rights reserved. Published 2016.</dc:description>
  <cp:lastModifiedBy>John Hull</cp:lastModifiedBy>
  <cp:revision>61</cp:revision>
  <cp:lastPrinted>1999-07-13T17:49:14Z</cp:lastPrinted>
  <dcterms:created xsi:type="dcterms:W3CDTF">1997-05-25T01:13:38Z</dcterms:created>
  <dcterms:modified xsi:type="dcterms:W3CDTF">2016-01-20T20:59:02Z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