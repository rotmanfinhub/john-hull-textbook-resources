
<file path=[Content_Types].xml><?xml version="1.0" encoding="utf-8"?>
<Types xmlns="http://schemas.openxmlformats.org/package/2006/content-types">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2.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xml" ContentType="application/vnd.openxmlformats-officedocument.presentationml.slide+xml"/>
  <Override PartName="/ppt/slides/slide32.xml" ContentType="application/vnd.openxmlformats-officedocument.presentationml.slide+xml"/>
  <Override PartName="/ppt/slides/slide30.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31.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2.xml" ContentType="application/vnd.openxmlformats-officedocument.presentationml.slide+xml"/>
  <Override PartName="/ppt/slides/slide27.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11.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18.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0" r:id="rId1"/>
  </p:sldMasterIdLst>
  <p:notesMasterIdLst>
    <p:notesMasterId r:id="rId40"/>
  </p:notesMasterIdLst>
  <p:handoutMasterIdLst>
    <p:handoutMasterId r:id="rId41"/>
  </p:handoutMasterIdLst>
  <p:sldIdLst>
    <p:sldId id="281" r:id="rId2"/>
    <p:sldId id="257" r:id="rId3"/>
    <p:sldId id="294" r:id="rId4"/>
    <p:sldId id="259" r:id="rId5"/>
    <p:sldId id="260" r:id="rId6"/>
    <p:sldId id="317" r:id="rId7"/>
    <p:sldId id="261" r:id="rId8"/>
    <p:sldId id="313" r:id="rId9"/>
    <p:sldId id="314" r:id="rId10"/>
    <p:sldId id="316" r:id="rId11"/>
    <p:sldId id="315" r:id="rId12"/>
    <p:sldId id="283" r:id="rId13"/>
    <p:sldId id="295" r:id="rId14"/>
    <p:sldId id="296" r:id="rId15"/>
    <p:sldId id="265" r:id="rId16"/>
    <p:sldId id="266" r:id="rId17"/>
    <p:sldId id="318" r:id="rId18"/>
    <p:sldId id="268" r:id="rId19"/>
    <p:sldId id="298" r:id="rId20"/>
    <p:sldId id="319" r:id="rId21"/>
    <p:sldId id="320" r:id="rId22"/>
    <p:sldId id="321" r:id="rId23"/>
    <p:sldId id="322" r:id="rId24"/>
    <p:sldId id="272" r:id="rId25"/>
    <p:sldId id="273" r:id="rId26"/>
    <p:sldId id="303" r:id="rId27"/>
    <p:sldId id="275" r:id="rId28"/>
    <p:sldId id="304" r:id="rId29"/>
    <p:sldId id="277" r:id="rId30"/>
    <p:sldId id="291" r:id="rId31"/>
    <p:sldId id="292" r:id="rId32"/>
    <p:sldId id="293" r:id="rId33"/>
    <p:sldId id="311" r:id="rId34"/>
    <p:sldId id="278" r:id="rId35"/>
    <p:sldId id="305" r:id="rId36"/>
    <p:sldId id="312" r:id="rId37"/>
    <p:sldId id="286" r:id="rId38"/>
    <p:sldId id="287" r:id="rId39"/>
  </p:sldIdLst>
  <p:sldSz cx="9144000" cy="6858000" type="letter"/>
  <p:notesSz cx="6858000" cy="92075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0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5" autoAdjust="0"/>
    <p:restoredTop sz="94681" autoAdjust="0"/>
  </p:normalViewPr>
  <p:slideViewPr>
    <p:cSldViewPr>
      <p:cViewPr varScale="1">
        <p:scale>
          <a:sx n="77" d="100"/>
          <a:sy n="77" d="100"/>
        </p:scale>
        <p:origin x="111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3" d="100"/>
          <a:sy n="43" d="100"/>
        </p:scale>
        <p:origin x="-1476" y="-84"/>
      </p:cViewPr>
      <p:guideLst>
        <p:guide orient="horz" pos="290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48"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24917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60375"/>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defTabSz="762000" eaLnBrk="0" hangingPunct="0">
              <a:defRPr sz="1000" i="1">
                <a:latin typeface="Times New Roman" pitchFamily="18" charset="0"/>
              </a:defRPr>
            </a:lvl1pPr>
          </a:lstStyle>
          <a:p>
            <a:pPr>
              <a:defRPr/>
            </a:pPr>
            <a:endParaRPr lang="en-US"/>
          </a:p>
        </p:txBody>
      </p:sp>
      <p:sp>
        <p:nvSpPr>
          <p:cNvPr id="2051" name="Rectangle 3"/>
          <p:cNvSpPr>
            <a:spLocks noGrp="1" noChangeArrowheads="1"/>
          </p:cNvSpPr>
          <p:nvPr>
            <p:ph type="dt" idx="1"/>
          </p:nvPr>
        </p:nvSpPr>
        <p:spPr bwMode="auto">
          <a:xfrm>
            <a:off x="3886200" y="0"/>
            <a:ext cx="2971800" cy="460375"/>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gn="r" defTabSz="762000" eaLnBrk="0" hangingPunct="0">
              <a:defRPr sz="1000" i="1">
                <a:latin typeface="Times New Roman" pitchFamily="18" charset="0"/>
              </a:defRPr>
            </a:lvl1pPr>
          </a:lstStyle>
          <a:p>
            <a:pPr>
              <a:defRPr/>
            </a:pPr>
            <a:endParaRPr lang="en-US"/>
          </a:p>
        </p:txBody>
      </p:sp>
      <p:sp>
        <p:nvSpPr>
          <p:cNvPr id="2052" name="Rectangle 4"/>
          <p:cNvSpPr>
            <a:spLocks noGrp="1" noChangeArrowheads="1"/>
          </p:cNvSpPr>
          <p:nvPr>
            <p:ph type="ftr" sz="quarter" idx="4"/>
          </p:nvPr>
        </p:nvSpPr>
        <p:spPr bwMode="auto">
          <a:xfrm>
            <a:off x="0" y="8747125"/>
            <a:ext cx="2971800" cy="460375"/>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defTabSz="762000" eaLnBrk="0" hangingPunct="0">
              <a:defRPr sz="1000" i="1">
                <a:latin typeface="Times New Roman" pitchFamily="18" charset="0"/>
              </a:defRPr>
            </a:lvl1pPr>
          </a:lstStyle>
          <a:p>
            <a:pPr>
              <a:defRPr/>
            </a:pPr>
            <a:endParaRPr lang="en-US"/>
          </a:p>
        </p:txBody>
      </p:sp>
      <p:sp>
        <p:nvSpPr>
          <p:cNvPr id="2053" name="Rectangle 5"/>
          <p:cNvSpPr>
            <a:spLocks noGrp="1" noChangeArrowheads="1"/>
          </p:cNvSpPr>
          <p:nvPr>
            <p:ph type="sldNum" sz="quarter" idx="5"/>
          </p:nvPr>
        </p:nvSpPr>
        <p:spPr bwMode="auto">
          <a:xfrm>
            <a:off x="3886200" y="8747125"/>
            <a:ext cx="2971800" cy="460375"/>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gn="r" defTabSz="762000">
              <a:defRPr sz="1000" i="1" smtClean="0">
                <a:latin typeface="Times New Roman" panose="02020603050405020304" pitchFamily="18" charset="0"/>
              </a:defRPr>
            </a:lvl1pPr>
          </a:lstStyle>
          <a:p>
            <a:pPr>
              <a:defRPr/>
            </a:pPr>
            <a:fld id="{9E0DDD9F-3D61-4772-8B0A-7142CDA55369}" type="slidenum">
              <a:rPr lang="en-US" altLang="en-US"/>
              <a:pPr>
                <a:defRPr/>
              </a:pPr>
              <a:t>‹#›</a:t>
            </a:fld>
            <a:endParaRPr lang="en-US" altLang="en-US"/>
          </a:p>
        </p:txBody>
      </p:sp>
      <p:sp>
        <p:nvSpPr>
          <p:cNvPr id="2054" name="Rectangle 6"/>
          <p:cNvSpPr>
            <a:spLocks noGrp="1" noChangeArrowheads="1"/>
          </p:cNvSpPr>
          <p:nvPr>
            <p:ph type="body" sz="quarter" idx="3"/>
          </p:nvPr>
        </p:nvSpPr>
        <p:spPr bwMode="auto">
          <a:xfrm>
            <a:off x="914400" y="4373563"/>
            <a:ext cx="5029200" cy="4143375"/>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noProof="0" smtClean="0"/>
              <a:t>Click to edit Master notes styles</a:t>
            </a:r>
          </a:p>
          <a:p>
            <a:pPr lvl="0"/>
            <a:r>
              <a:rPr lang="en-US" noProof="0" smtClean="0"/>
              <a:t>Second Level</a:t>
            </a:r>
          </a:p>
          <a:p>
            <a:pPr lvl="0"/>
            <a:r>
              <a:rPr lang="en-US" noProof="0" smtClean="0"/>
              <a:t>Third Level</a:t>
            </a:r>
          </a:p>
          <a:p>
            <a:pPr lvl="0"/>
            <a:r>
              <a:rPr lang="en-US" noProof="0" smtClean="0"/>
              <a:t>Fourth Level</a:t>
            </a:r>
          </a:p>
          <a:p>
            <a:pPr lvl="0"/>
            <a:r>
              <a:rPr lang="en-US" noProof="0" smtClean="0"/>
              <a:t>Fifth Level</a:t>
            </a:r>
          </a:p>
        </p:txBody>
      </p:sp>
      <p:sp>
        <p:nvSpPr>
          <p:cNvPr id="14343" name="Rectangle 7"/>
          <p:cNvSpPr>
            <a:spLocks noChangeArrowheads="1" noTextEdit="1"/>
          </p:cNvSpPr>
          <p:nvPr>
            <p:ph type="sldImg" idx="2"/>
          </p:nvPr>
        </p:nvSpPr>
        <p:spPr bwMode="auto">
          <a:xfrm>
            <a:off x="1127125" y="692150"/>
            <a:ext cx="4603750" cy="34496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18028238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noTextEdit="1"/>
          </p:cNvSpPr>
          <p:nvPr>
            <p:ph type="sldImg"/>
          </p:nvPr>
        </p:nvSpPr>
        <p:spPr>
          <a:xfrm>
            <a:off x="1128713" y="692150"/>
            <a:ext cx="4600575" cy="3449638"/>
          </a:xfrm>
          <a:ln/>
        </p:spPr>
      </p:sp>
      <p:sp>
        <p:nvSpPr>
          <p:cNvPr id="163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645430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noTextEdit="1"/>
          </p:cNvSpPr>
          <p:nvPr>
            <p:ph type="sldImg"/>
          </p:nvPr>
        </p:nvSpPr>
        <p:spPr>
          <a:xfrm>
            <a:off x="1128713" y="692150"/>
            <a:ext cx="4600575" cy="3449638"/>
          </a:xfrm>
          <a:ln cap="flat"/>
        </p:spPr>
      </p:sp>
      <p:sp>
        <p:nvSpPr>
          <p:cNvPr id="184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4152243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noTextEdit="1"/>
          </p:cNvSpPr>
          <p:nvPr>
            <p:ph type="sldImg"/>
          </p:nvPr>
        </p:nvSpPr>
        <p:spPr>
          <a:xfrm>
            <a:off x="1130300" y="692150"/>
            <a:ext cx="4597400" cy="3449638"/>
          </a:xfrm>
          <a:ln cap="flat"/>
        </p:spPr>
      </p:sp>
      <p:sp>
        <p:nvSpPr>
          <p:cNvPr id="204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CA" altLang="en-US" sz="2400" smtClean="0"/>
          </a:p>
        </p:txBody>
      </p:sp>
    </p:spTree>
    <p:extLst>
      <p:ext uri="{BB962C8B-B14F-4D97-AF65-F5344CB8AC3E}">
        <p14:creationId xmlns:p14="http://schemas.microsoft.com/office/powerpoint/2010/main" val="13444879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noTextEdit="1"/>
          </p:cNvSpPr>
          <p:nvPr>
            <p:ph type="sldImg"/>
          </p:nvPr>
        </p:nvSpPr>
        <p:spPr>
          <a:xfrm>
            <a:off x="1128713" y="692150"/>
            <a:ext cx="4600575" cy="3449638"/>
          </a:xfrm>
          <a:ln cap="flat"/>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1111290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
        <p:nvSpPr>
          <p:cNvPr id="24579" name="Rectangle 3"/>
          <p:cNvSpPr>
            <a:spLocks noChangeArrowheads="1" noTextEdit="1"/>
          </p:cNvSpPr>
          <p:nvPr>
            <p:ph type="sldImg"/>
          </p:nvPr>
        </p:nvSpPr>
        <p:spPr>
          <a:xfrm>
            <a:off x="1128713" y="692150"/>
            <a:ext cx="4600575" cy="3449638"/>
          </a:xfrm>
          <a:ln cap="flat"/>
        </p:spPr>
      </p:sp>
    </p:spTree>
    <p:extLst>
      <p:ext uri="{BB962C8B-B14F-4D97-AF65-F5344CB8AC3E}">
        <p14:creationId xmlns:p14="http://schemas.microsoft.com/office/powerpoint/2010/main" val="17853630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noTextEdit="1"/>
          </p:cNvSpPr>
          <p:nvPr>
            <p:ph type="sldImg"/>
          </p:nvPr>
        </p:nvSpPr>
        <p:spPr>
          <a:xfrm>
            <a:off x="1128713" y="692150"/>
            <a:ext cx="4600575" cy="3449638"/>
          </a:xfrm>
          <a:ln cap="flat"/>
        </p:spPr>
      </p:sp>
      <p:sp>
        <p:nvSpPr>
          <p:cNvPr id="276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1280565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ChangeArrowheads="1" noTextEdit="1"/>
          </p:cNvSpPr>
          <p:nvPr>
            <p:ph type="sldImg"/>
          </p:nvPr>
        </p:nvSpPr>
        <p:spPr>
          <a:xfrm>
            <a:off x="1128713" y="692150"/>
            <a:ext cx="4600575" cy="3449638"/>
          </a:xfrm>
          <a:ln/>
        </p:spPr>
      </p:sp>
      <p:sp>
        <p:nvSpPr>
          <p:cNvPr id="337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314877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xfrm>
            <a:off x="1128713" y="692150"/>
            <a:ext cx="4600575" cy="3449638"/>
          </a:xfrm>
          <a:ln/>
        </p:spPr>
      </p:sp>
      <p:sp>
        <p:nvSpPr>
          <p:cNvPr id="358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58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7AA3E98-9D7C-4E59-A46B-D89E72CB5BF4}" type="slidenum">
              <a:rPr lang="en-US" altLang="en-US" sz="1000"/>
              <a:pPr>
                <a:spcBef>
                  <a:spcPct val="0"/>
                </a:spcBef>
              </a:pPr>
              <a:t>13</a:t>
            </a:fld>
            <a:endParaRPr lang="en-US" altLang="en-US" sz="1000"/>
          </a:p>
        </p:txBody>
      </p:sp>
    </p:spTree>
    <p:extLst>
      <p:ext uri="{BB962C8B-B14F-4D97-AF65-F5344CB8AC3E}">
        <p14:creationId xmlns:p14="http://schemas.microsoft.com/office/powerpoint/2010/main" val="3218673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xfrm>
            <a:off x="1128713" y="692150"/>
            <a:ext cx="4600575" cy="3449638"/>
          </a:xfrm>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7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3467FEF-2FCE-462D-967C-A182C04E1A37}" type="slidenum">
              <a:rPr lang="en-US" altLang="en-US" sz="1000"/>
              <a:pPr>
                <a:spcBef>
                  <a:spcPct val="0"/>
                </a:spcBef>
              </a:pPr>
              <a:t>14</a:t>
            </a:fld>
            <a:endParaRPr lang="en-US" altLang="en-US" sz="1000"/>
          </a:p>
        </p:txBody>
      </p:sp>
    </p:spTree>
    <p:extLst>
      <p:ext uri="{BB962C8B-B14F-4D97-AF65-F5344CB8AC3E}">
        <p14:creationId xmlns:p14="http://schemas.microsoft.com/office/powerpoint/2010/main" val="9851647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
        <p:nvSpPr>
          <p:cNvPr id="39939" name="Rectangle 3"/>
          <p:cNvSpPr>
            <a:spLocks noChangeArrowheads="1" noTextEdit="1"/>
          </p:cNvSpPr>
          <p:nvPr>
            <p:ph type="sldImg"/>
          </p:nvPr>
        </p:nvSpPr>
        <p:spPr>
          <a:xfrm>
            <a:off x="1128713" y="692150"/>
            <a:ext cx="4600575" cy="3449638"/>
          </a:xfrm>
          <a:ln cap="flat"/>
        </p:spPr>
      </p:sp>
    </p:spTree>
    <p:extLst>
      <p:ext uri="{BB962C8B-B14F-4D97-AF65-F5344CB8AC3E}">
        <p14:creationId xmlns:p14="http://schemas.microsoft.com/office/powerpoint/2010/main" val="24446645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noTextEdit="1"/>
          </p:cNvSpPr>
          <p:nvPr>
            <p:ph type="sldImg"/>
          </p:nvPr>
        </p:nvSpPr>
        <p:spPr>
          <a:xfrm>
            <a:off x="1128713" y="692150"/>
            <a:ext cx="4600575" cy="3449638"/>
          </a:xfrm>
          <a:ln cap="flat"/>
        </p:spPr>
      </p:sp>
      <p:sp>
        <p:nvSpPr>
          <p:cNvPr id="419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31760758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noTextEdit="1"/>
          </p:cNvSpPr>
          <p:nvPr>
            <p:ph type="sldImg"/>
          </p:nvPr>
        </p:nvSpPr>
        <p:spPr>
          <a:xfrm>
            <a:off x="1128713" y="692150"/>
            <a:ext cx="4600575" cy="3449638"/>
          </a:xfrm>
          <a:ln cap="flat"/>
        </p:spPr>
      </p:sp>
      <p:sp>
        <p:nvSpPr>
          <p:cNvPr id="450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27422499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ChangeArrowheads="1" noTextEdit="1"/>
          </p:cNvSpPr>
          <p:nvPr>
            <p:ph type="sldImg"/>
          </p:nvPr>
        </p:nvSpPr>
        <p:spPr>
          <a:xfrm>
            <a:off x="1130300" y="692150"/>
            <a:ext cx="4597400" cy="3449638"/>
          </a:xfrm>
          <a:ln cap="flat"/>
        </p:spPr>
      </p:sp>
      <p:sp>
        <p:nvSpPr>
          <p:cNvPr id="471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CA" altLang="en-US" sz="2400" smtClean="0"/>
          </a:p>
        </p:txBody>
      </p:sp>
    </p:spTree>
    <p:extLst>
      <p:ext uri="{BB962C8B-B14F-4D97-AF65-F5344CB8AC3E}">
        <p14:creationId xmlns:p14="http://schemas.microsoft.com/office/powerpoint/2010/main" val="10708145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ChangeArrowheads="1" noTextEdit="1"/>
          </p:cNvSpPr>
          <p:nvPr>
            <p:ph type="sldImg"/>
          </p:nvPr>
        </p:nvSpPr>
        <p:spPr>
          <a:xfrm>
            <a:off x="1128713" y="692150"/>
            <a:ext cx="4600575" cy="3449638"/>
          </a:xfrm>
          <a:ln cap="flat"/>
        </p:spPr>
      </p:sp>
      <p:sp>
        <p:nvSpPr>
          <p:cNvPr id="532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28142349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ChangeArrowheads="1" noTextEdit="1"/>
          </p:cNvSpPr>
          <p:nvPr>
            <p:ph type="sldImg"/>
          </p:nvPr>
        </p:nvSpPr>
        <p:spPr>
          <a:xfrm>
            <a:off x="1128713" y="692150"/>
            <a:ext cx="4600575" cy="3449638"/>
          </a:xfrm>
          <a:ln cap="flat"/>
        </p:spPr>
      </p:sp>
      <p:sp>
        <p:nvSpPr>
          <p:cNvPr id="552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22807805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ChangeArrowheads="1" noTextEdit="1"/>
          </p:cNvSpPr>
          <p:nvPr>
            <p:ph type="sldImg"/>
          </p:nvPr>
        </p:nvSpPr>
        <p:spPr>
          <a:xfrm>
            <a:off x="1130300" y="692150"/>
            <a:ext cx="4597400" cy="3449638"/>
          </a:xfrm>
          <a:ln cap="flat"/>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CA" altLang="en-US" sz="2400" smtClean="0"/>
          </a:p>
        </p:txBody>
      </p:sp>
    </p:spTree>
    <p:extLst>
      <p:ext uri="{BB962C8B-B14F-4D97-AF65-F5344CB8AC3E}">
        <p14:creationId xmlns:p14="http://schemas.microsoft.com/office/powerpoint/2010/main" val="17940871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ChangeArrowheads="1" noTextEdit="1"/>
          </p:cNvSpPr>
          <p:nvPr>
            <p:ph type="sldImg"/>
          </p:nvPr>
        </p:nvSpPr>
        <p:spPr>
          <a:xfrm>
            <a:off x="1128713" y="692150"/>
            <a:ext cx="4600575" cy="3449638"/>
          </a:xfrm>
          <a:ln cap="flat"/>
        </p:spPr>
      </p:sp>
      <p:sp>
        <p:nvSpPr>
          <p:cNvPr id="593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16384380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xfrm>
            <a:off x="1128713" y="692150"/>
            <a:ext cx="4600575" cy="3449638"/>
          </a:xfrm>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614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09A6742-3908-4E8B-A80C-31CBFBF850B5}" type="slidenum">
              <a:rPr lang="en-US" altLang="en-US" sz="1000"/>
              <a:pPr>
                <a:spcBef>
                  <a:spcPct val="0"/>
                </a:spcBef>
              </a:pPr>
              <a:t>28</a:t>
            </a:fld>
            <a:endParaRPr lang="en-US" altLang="en-US" sz="1000"/>
          </a:p>
        </p:txBody>
      </p:sp>
    </p:spTree>
    <p:extLst>
      <p:ext uri="{BB962C8B-B14F-4D97-AF65-F5344CB8AC3E}">
        <p14:creationId xmlns:p14="http://schemas.microsoft.com/office/powerpoint/2010/main" val="21034244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ChangeArrowheads="1" noTextEdit="1"/>
          </p:cNvSpPr>
          <p:nvPr>
            <p:ph type="sldImg"/>
          </p:nvPr>
        </p:nvSpPr>
        <p:spPr>
          <a:xfrm>
            <a:off x="1128713" y="692150"/>
            <a:ext cx="4600575" cy="3449638"/>
          </a:xfrm>
          <a:ln cap="flat"/>
        </p:spPr>
      </p:sp>
      <p:sp>
        <p:nvSpPr>
          <p:cNvPr id="634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35058130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xfrm>
            <a:off x="1128713" y="692150"/>
            <a:ext cx="4600575" cy="3449638"/>
          </a:xfrm>
          <a:ln/>
        </p:spPr>
      </p:sp>
      <p:sp>
        <p:nvSpPr>
          <p:cNvPr id="655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655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9196769-0E21-43D6-853E-71EFA861E5CD}" type="slidenum">
              <a:rPr lang="en-US" altLang="en-US" sz="1000"/>
              <a:pPr>
                <a:spcBef>
                  <a:spcPct val="0"/>
                </a:spcBef>
              </a:pPr>
              <a:t>30</a:t>
            </a:fld>
            <a:endParaRPr lang="en-US" altLang="en-US" sz="1000"/>
          </a:p>
        </p:txBody>
      </p:sp>
    </p:spTree>
    <p:extLst>
      <p:ext uri="{BB962C8B-B14F-4D97-AF65-F5344CB8AC3E}">
        <p14:creationId xmlns:p14="http://schemas.microsoft.com/office/powerpoint/2010/main" val="9213931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xfrm>
            <a:off x="1128713" y="692150"/>
            <a:ext cx="4600575" cy="3449638"/>
          </a:xfrm>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9B37523-BAEF-4378-BBBD-FC5AFF5DFF9E}" type="slidenum">
              <a:rPr lang="en-US" altLang="en-US" sz="1000"/>
              <a:pPr>
                <a:spcBef>
                  <a:spcPct val="0"/>
                </a:spcBef>
              </a:pPr>
              <a:t>31</a:t>
            </a:fld>
            <a:endParaRPr lang="en-US" altLang="en-US" sz="1000"/>
          </a:p>
        </p:txBody>
      </p:sp>
    </p:spTree>
    <p:extLst>
      <p:ext uri="{BB962C8B-B14F-4D97-AF65-F5344CB8AC3E}">
        <p14:creationId xmlns:p14="http://schemas.microsoft.com/office/powerpoint/2010/main" val="14310889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xfrm>
            <a:off x="1128713" y="692150"/>
            <a:ext cx="4600575" cy="3449638"/>
          </a:xfrm>
          <a:ln/>
        </p:spPr>
      </p:sp>
      <p:sp>
        <p:nvSpPr>
          <p:cNvPr id="696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696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C0EF112-06C5-4AC8-8CF6-817A3E06EFD6}" type="slidenum">
              <a:rPr lang="en-US" altLang="en-US" sz="1000"/>
              <a:pPr>
                <a:spcBef>
                  <a:spcPct val="0"/>
                </a:spcBef>
              </a:pPr>
              <a:t>32</a:t>
            </a:fld>
            <a:endParaRPr lang="en-US" altLang="en-US" sz="1000"/>
          </a:p>
        </p:txBody>
      </p:sp>
    </p:spTree>
    <p:extLst>
      <p:ext uri="{BB962C8B-B14F-4D97-AF65-F5344CB8AC3E}">
        <p14:creationId xmlns:p14="http://schemas.microsoft.com/office/powerpoint/2010/main" val="13276916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ChangeArrowheads="1" noTextEdit="1"/>
          </p:cNvSpPr>
          <p:nvPr>
            <p:ph type="sldImg"/>
          </p:nvPr>
        </p:nvSpPr>
        <p:spPr>
          <a:xfrm>
            <a:off x="1128713" y="692150"/>
            <a:ext cx="4600575" cy="3449638"/>
          </a:xfrm>
          <a:ln cap="flat"/>
        </p:spPr>
      </p:sp>
      <p:sp>
        <p:nvSpPr>
          <p:cNvPr id="727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32402085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ChangeArrowheads="1" noTextEdit="1"/>
          </p:cNvSpPr>
          <p:nvPr>
            <p:ph type="sldImg"/>
          </p:nvPr>
        </p:nvSpPr>
        <p:spPr>
          <a:xfrm>
            <a:off x="1130300" y="692150"/>
            <a:ext cx="4597400" cy="3449638"/>
          </a:xfrm>
          <a:ln cap="flat"/>
        </p:spPr>
      </p:sp>
      <p:sp>
        <p:nvSpPr>
          <p:cNvPr id="747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CA" altLang="en-US" sz="2400" smtClean="0"/>
          </a:p>
        </p:txBody>
      </p:sp>
    </p:spTree>
    <p:extLst>
      <p:ext uri="{BB962C8B-B14F-4D97-AF65-F5344CB8AC3E}">
        <p14:creationId xmlns:p14="http://schemas.microsoft.com/office/powerpoint/2010/main" val="9196620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ChangeArrowheads="1" noTextEdit="1"/>
          </p:cNvSpPr>
          <p:nvPr>
            <p:ph type="sldImg"/>
          </p:nvPr>
        </p:nvSpPr>
        <p:spPr>
          <a:xfrm>
            <a:off x="1128713" y="692150"/>
            <a:ext cx="4600575" cy="3449638"/>
          </a:xfrm>
          <a:ln/>
        </p:spPr>
      </p:sp>
      <p:sp>
        <p:nvSpPr>
          <p:cNvPr id="778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4730648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ChangeArrowheads="1" noTextEdit="1"/>
          </p:cNvSpPr>
          <p:nvPr>
            <p:ph type="sldImg"/>
          </p:nvPr>
        </p:nvSpPr>
        <p:spPr>
          <a:xfrm>
            <a:off x="1128713" y="692150"/>
            <a:ext cx="4600575" cy="3449638"/>
          </a:xfrm>
          <a:ln/>
        </p:spPr>
      </p:sp>
      <p:sp>
        <p:nvSpPr>
          <p:cNvPr id="798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1065535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7" name="Oval 10"/>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8" name="Oval 11"/>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9" name="Oval 12"/>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 name="Oval 13"/>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1" name="Oval 14"/>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2" name="Oval 15"/>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3" name="Oval 16"/>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4" name="Oval 17"/>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5" name="Oval 18"/>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6" name="Oval 19"/>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7" name="Oval 20"/>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8" name="Oval 21"/>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9" name="Oval 22"/>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20" name="Oval 23"/>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21" name="Oval 24"/>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22" name="Oval 25"/>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23" name="Oval 26"/>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24" name="Oval 27"/>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25" name="Oval 28"/>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26" name="Oval 29"/>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27" name="Oval 30"/>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28" name="Oval 31"/>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29" name="Oval 32"/>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30" name="Oval 33"/>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31" name="Oval 34"/>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32" name="Oval 35"/>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33" name="Oval 36"/>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34" name="Oval 37"/>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35" name="Oval 38"/>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36" name="Oval 39"/>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07" name="Rectangle 3"/>
          <p:cNvSpPr>
            <a:spLocks noGrp="1" noChangeArrowheads="1"/>
          </p:cNvSpPr>
          <p:nvPr>
            <p:ph type="ctrTitle"/>
          </p:nvPr>
        </p:nvSpPr>
        <p:spPr>
          <a:xfrm>
            <a:off x="315913" y="466725"/>
            <a:ext cx="6781800" cy="2133600"/>
          </a:xfrm>
        </p:spPr>
        <p:txBody>
          <a:bodyPr/>
          <a:lstStyle>
            <a:lvl1pPr algn="r">
              <a:defRPr sz="4800"/>
            </a:lvl1pPr>
          </a:lstStyle>
          <a:p>
            <a:r>
              <a:rPr lang="en-US" altLang="en-US"/>
              <a:t>Click to edit Master title style</a:t>
            </a:r>
          </a:p>
        </p:txBody>
      </p:sp>
      <p:sp>
        <p:nvSpPr>
          <p:cNvPr id="72708"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400"/>
            </a:lvl1pPr>
          </a:lstStyle>
          <a:p>
            <a:r>
              <a:rPr lang="en-US" altLang="en-US"/>
              <a:t>Click to edit Master subtitle style</a:t>
            </a:r>
          </a:p>
        </p:txBody>
      </p:sp>
      <p:sp>
        <p:nvSpPr>
          <p:cNvPr id="38" name="Rectangle 5"/>
          <p:cNvSpPr>
            <a:spLocks noGrp="1" noChangeArrowheads="1"/>
          </p:cNvSpPr>
          <p:nvPr>
            <p:ph type="dt" sz="half" idx="10"/>
          </p:nvPr>
        </p:nvSpPr>
        <p:spPr/>
        <p:txBody>
          <a:bodyPr/>
          <a:lstStyle>
            <a:lvl1pPr>
              <a:defRPr/>
            </a:lvl1pPr>
          </a:lstStyle>
          <a:p>
            <a:pPr>
              <a:defRPr/>
            </a:pPr>
            <a:endParaRPr lang="en-US" altLang="en-US"/>
          </a:p>
        </p:txBody>
      </p:sp>
      <p:sp>
        <p:nvSpPr>
          <p:cNvPr id="39" name="Rectangle 6"/>
          <p:cNvSpPr>
            <a:spLocks noGrp="1" noChangeArrowheads="1"/>
          </p:cNvSpPr>
          <p:nvPr>
            <p:ph type="ftr" sz="quarter" idx="11"/>
          </p:nvPr>
        </p:nvSpPr>
        <p:spPr>
          <a:xfrm>
            <a:off x="323850" y="6248400"/>
            <a:ext cx="7272338" cy="457200"/>
          </a:xfrm>
        </p:spPr>
        <p:txBody>
          <a:bodyPr/>
          <a:lstStyle>
            <a:lvl1pPr>
              <a:defRPr smtClean="0"/>
            </a:lvl1pPr>
          </a:lstStyle>
          <a:p>
            <a:pPr>
              <a:defRPr/>
            </a:pPr>
            <a:r>
              <a:rPr lang="en-US" altLang="en-US"/>
              <a:t>Options, Futures, and Other Derivatives, 9th Ed, Ch 7, Copyright © John C. Hull 2016</a:t>
            </a:r>
            <a:endParaRPr lang="en-US" altLang="en-US" i="0"/>
          </a:p>
        </p:txBody>
      </p:sp>
      <p:sp>
        <p:nvSpPr>
          <p:cNvPr id="40" name="Rectangle 7"/>
          <p:cNvSpPr>
            <a:spLocks noGrp="1" noChangeArrowheads="1"/>
          </p:cNvSpPr>
          <p:nvPr>
            <p:ph type="sldNum" sz="quarter" idx="12"/>
          </p:nvPr>
        </p:nvSpPr>
        <p:spPr>
          <a:xfrm>
            <a:off x="6553200" y="6237288"/>
            <a:ext cx="2133600" cy="468312"/>
          </a:xfrm>
        </p:spPr>
        <p:txBody>
          <a:bodyPr/>
          <a:lstStyle>
            <a:lvl1pPr>
              <a:defRPr smtClean="0"/>
            </a:lvl1pPr>
          </a:lstStyle>
          <a:p>
            <a:pPr>
              <a:defRPr/>
            </a:pPr>
            <a:fld id="{2863C8D7-02E6-4272-874C-11AA223959B3}" type="slidenum">
              <a:rPr lang="en-US" altLang="en-US"/>
              <a:pPr>
                <a:defRPr/>
              </a:pPr>
              <a:t>‹#›</a:t>
            </a:fld>
            <a:endParaRPr lang="en-US" altLang="en-US"/>
          </a:p>
        </p:txBody>
      </p:sp>
    </p:spTree>
    <p:extLst>
      <p:ext uri="{BB962C8B-B14F-4D97-AF65-F5344CB8AC3E}">
        <p14:creationId xmlns:p14="http://schemas.microsoft.com/office/powerpoint/2010/main" val="3128293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smtClean="0"/>
            </a:lvl1pPr>
          </a:lstStyle>
          <a:p>
            <a:pPr>
              <a:defRPr/>
            </a:pPr>
            <a:r>
              <a:rPr lang="en-US" altLang="en-US"/>
              <a:t>Options, Futures, and Other Derivatives, 9th Ed, Ch 7, Copyright © John C. Hull 2016</a:t>
            </a:r>
            <a:endParaRPr lang="en-US" altLang="en-US" i="0"/>
          </a:p>
        </p:txBody>
      </p:sp>
      <p:sp>
        <p:nvSpPr>
          <p:cNvPr id="6" name="Slide Number Placeholder 5"/>
          <p:cNvSpPr>
            <a:spLocks noGrp="1"/>
          </p:cNvSpPr>
          <p:nvPr>
            <p:ph type="sldNum" sz="quarter" idx="12"/>
          </p:nvPr>
        </p:nvSpPr>
        <p:spPr/>
        <p:txBody>
          <a:bodyPr/>
          <a:lstStyle>
            <a:lvl1pPr>
              <a:defRPr smtClean="0"/>
            </a:lvl1pPr>
          </a:lstStyle>
          <a:p>
            <a:pPr>
              <a:defRPr/>
            </a:pPr>
            <a:fld id="{B279D880-1821-47EF-A47D-DFD410122695}" type="slidenum">
              <a:rPr lang="en-US" altLang="en-US"/>
              <a:pPr>
                <a:defRPr/>
              </a:pPr>
              <a:t>‹#›</a:t>
            </a:fld>
            <a:endParaRPr lang="en-US" altLang="en-US"/>
          </a:p>
        </p:txBody>
      </p:sp>
    </p:spTree>
    <p:extLst>
      <p:ext uri="{BB962C8B-B14F-4D97-AF65-F5344CB8AC3E}">
        <p14:creationId xmlns:p14="http://schemas.microsoft.com/office/powerpoint/2010/main" val="641159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smtClean="0"/>
            </a:lvl1pPr>
          </a:lstStyle>
          <a:p>
            <a:pPr>
              <a:defRPr/>
            </a:pPr>
            <a:r>
              <a:rPr lang="en-US" altLang="en-US"/>
              <a:t>Options, Futures, and Other Derivatives, 9th Ed, Ch 7, Copyright © John C. Hull 2016</a:t>
            </a:r>
            <a:endParaRPr lang="en-US" altLang="en-US" i="0"/>
          </a:p>
        </p:txBody>
      </p:sp>
      <p:sp>
        <p:nvSpPr>
          <p:cNvPr id="6" name="Slide Number Placeholder 5"/>
          <p:cNvSpPr>
            <a:spLocks noGrp="1"/>
          </p:cNvSpPr>
          <p:nvPr>
            <p:ph type="sldNum" sz="quarter" idx="12"/>
          </p:nvPr>
        </p:nvSpPr>
        <p:spPr/>
        <p:txBody>
          <a:bodyPr/>
          <a:lstStyle>
            <a:lvl1pPr>
              <a:defRPr smtClean="0"/>
            </a:lvl1pPr>
          </a:lstStyle>
          <a:p>
            <a:pPr>
              <a:defRPr/>
            </a:pPr>
            <a:fld id="{C8007485-0160-4E3C-A0B7-7D6A82D77445}" type="slidenum">
              <a:rPr lang="en-US" altLang="en-US"/>
              <a:pPr>
                <a:defRPr/>
              </a:pPr>
              <a:t>‹#›</a:t>
            </a:fld>
            <a:endParaRPr lang="en-US" altLang="en-US"/>
          </a:p>
        </p:txBody>
      </p:sp>
    </p:spTree>
    <p:extLst>
      <p:ext uri="{BB962C8B-B14F-4D97-AF65-F5344CB8AC3E}">
        <p14:creationId xmlns:p14="http://schemas.microsoft.com/office/powerpoint/2010/main" val="133135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smtClean="0"/>
            </a:lvl1pPr>
          </a:lstStyle>
          <a:p>
            <a:pPr>
              <a:defRPr/>
            </a:pPr>
            <a:r>
              <a:rPr lang="en-US" altLang="en-US"/>
              <a:t>Options, Futures, and Other Derivatives, 9th Ed, Ch 7, Copyright © John C. Hull 2016</a:t>
            </a:r>
            <a:endParaRPr lang="en-US" altLang="en-US" i="0"/>
          </a:p>
        </p:txBody>
      </p:sp>
      <p:sp>
        <p:nvSpPr>
          <p:cNvPr id="7" name="Slide Number Placeholder 6"/>
          <p:cNvSpPr>
            <a:spLocks noGrp="1"/>
          </p:cNvSpPr>
          <p:nvPr>
            <p:ph type="sldNum" sz="quarter" idx="12"/>
          </p:nvPr>
        </p:nvSpPr>
        <p:spPr/>
        <p:txBody>
          <a:bodyPr/>
          <a:lstStyle>
            <a:lvl1pPr>
              <a:defRPr smtClean="0"/>
            </a:lvl1pPr>
          </a:lstStyle>
          <a:p>
            <a:pPr>
              <a:defRPr/>
            </a:pPr>
            <a:fld id="{0A0FD4D2-268D-4916-A7C8-A4A1259BB4B0}" type="slidenum">
              <a:rPr lang="en-US" altLang="en-US"/>
              <a:pPr>
                <a:defRPr/>
              </a:pPr>
              <a:t>‹#›</a:t>
            </a:fld>
            <a:endParaRPr lang="en-US" altLang="en-US"/>
          </a:p>
        </p:txBody>
      </p:sp>
    </p:spTree>
    <p:extLst>
      <p:ext uri="{BB962C8B-B14F-4D97-AF65-F5344CB8AC3E}">
        <p14:creationId xmlns:p14="http://schemas.microsoft.com/office/powerpoint/2010/main" val="1413520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pPr>
              <a:defRPr/>
            </a:pPr>
            <a:endParaRPr lang="en-US" altLang="en-US"/>
          </a:p>
        </p:txBody>
      </p:sp>
      <p:sp>
        <p:nvSpPr>
          <p:cNvPr id="8" name="Footer Placeholder 7"/>
          <p:cNvSpPr>
            <a:spLocks noGrp="1"/>
          </p:cNvSpPr>
          <p:nvPr>
            <p:ph type="ftr" sz="quarter" idx="11"/>
          </p:nvPr>
        </p:nvSpPr>
        <p:spPr/>
        <p:txBody>
          <a:bodyPr/>
          <a:lstStyle>
            <a:lvl1pPr>
              <a:defRPr smtClean="0"/>
            </a:lvl1pPr>
          </a:lstStyle>
          <a:p>
            <a:pPr>
              <a:defRPr/>
            </a:pPr>
            <a:r>
              <a:rPr lang="en-US" altLang="en-US"/>
              <a:t>Options, Futures, and Other Derivatives, 9th Ed, Ch 7, Copyright © John C. Hull 2016</a:t>
            </a:r>
            <a:endParaRPr lang="en-US" altLang="en-US" i="0"/>
          </a:p>
        </p:txBody>
      </p:sp>
      <p:sp>
        <p:nvSpPr>
          <p:cNvPr id="9" name="Slide Number Placeholder 8"/>
          <p:cNvSpPr>
            <a:spLocks noGrp="1"/>
          </p:cNvSpPr>
          <p:nvPr>
            <p:ph type="sldNum" sz="quarter" idx="12"/>
          </p:nvPr>
        </p:nvSpPr>
        <p:spPr/>
        <p:txBody>
          <a:bodyPr/>
          <a:lstStyle>
            <a:lvl1pPr>
              <a:defRPr smtClean="0"/>
            </a:lvl1pPr>
          </a:lstStyle>
          <a:p>
            <a:pPr>
              <a:defRPr/>
            </a:pPr>
            <a:fld id="{0F131806-AEEC-48CC-8864-897F2368C934}" type="slidenum">
              <a:rPr lang="en-US" altLang="en-US"/>
              <a:pPr>
                <a:defRPr/>
              </a:pPr>
              <a:t>‹#›</a:t>
            </a:fld>
            <a:endParaRPr lang="en-US" altLang="en-US"/>
          </a:p>
        </p:txBody>
      </p:sp>
    </p:spTree>
    <p:extLst>
      <p:ext uri="{BB962C8B-B14F-4D97-AF65-F5344CB8AC3E}">
        <p14:creationId xmlns:p14="http://schemas.microsoft.com/office/powerpoint/2010/main" val="1311334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pPr>
              <a:defRPr/>
            </a:pPr>
            <a:endParaRPr lang="en-US" altLang="en-US"/>
          </a:p>
        </p:txBody>
      </p:sp>
      <p:sp>
        <p:nvSpPr>
          <p:cNvPr id="4" name="Footer Placeholder 3"/>
          <p:cNvSpPr>
            <a:spLocks noGrp="1"/>
          </p:cNvSpPr>
          <p:nvPr>
            <p:ph type="ftr" sz="quarter" idx="11"/>
          </p:nvPr>
        </p:nvSpPr>
        <p:spPr/>
        <p:txBody>
          <a:bodyPr/>
          <a:lstStyle>
            <a:lvl1pPr>
              <a:defRPr smtClean="0"/>
            </a:lvl1pPr>
          </a:lstStyle>
          <a:p>
            <a:pPr>
              <a:defRPr/>
            </a:pPr>
            <a:r>
              <a:rPr lang="en-US" altLang="en-US"/>
              <a:t>Options, Futures, and Other Derivatives, 9th Ed, Ch 7, Copyright © John C. Hull 2016</a:t>
            </a:r>
            <a:endParaRPr lang="en-US" altLang="en-US" i="0"/>
          </a:p>
        </p:txBody>
      </p:sp>
      <p:sp>
        <p:nvSpPr>
          <p:cNvPr id="5" name="Slide Number Placeholder 4"/>
          <p:cNvSpPr>
            <a:spLocks noGrp="1"/>
          </p:cNvSpPr>
          <p:nvPr>
            <p:ph type="sldNum" sz="quarter" idx="12"/>
          </p:nvPr>
        </p:nvSpPr>
        <p:spPr/>
        <p:txBody>
          <a:bodyPr/>
          <a:lstStyle>
            <a:lvl1pPr>
              <a:defRPr smtClean="0"/>
            </a:lvl1pPr>
          </a:lstStyle>
          <a:p>
            <a:pPr>
              <a:defRPr/>
            </a:pPr>
            <a:fld id="{22CA72A1-CDC7-48E0-A975-2B9E53CE00D3}" type="slidenum">
              <a:rPr lang="en-US" altLang="en-US"/>
              <a:pPr>
                <a:defRPr/>
              </a:pPr>
              <a:t>‹#›</a:t>
            </a:fld>
            <a:endParaRPr lang="en-US" altLang="en-US"/>
          </a:p>
        </p:txBody>
      </p:sp>
    </p:spTree>
    <p:extLst>
      <p:ext uri="{BB962C8B-B14F-4D97-AF65-F5344CB8AC3E}">
        <p14:creationId xmlns:p14="http://schemas.microsoft.com/office/powerpoint/2010/main" val="908053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endParaRPr lang="en-US" altLang="en-US"/>
          </a:p>
        </p:txBody>
      </p:sp>
      <p:sp>
        <p:nvSpPr>
          <p:cNvPr id="3" name="Footer Placeholder 2"/>
          <p:cNvSpPr>
            <a:spLocks noGrp="1"/>
          </p:cNvSpPr>
          <p:nvPr>
            <p:ph type="ftr" sz="quarter" idx="11"/>
          </p:nvPr>
        </p:nvSpPr>
        <p:spPr/>
        <p:txBody>
          <a:bodyPr/>
          <a:lstStyle>
            <a:lvl1pPr>
              <a:defRPr smtClean="0"/>
            </a:lvl1pPr>
          </a:lstStyle>
          <a:p>
            <a:pPr>
              <a:defRPr/>
            </a:pPr>
            <a:r>
              <a:rPr lang="en-US" altLang="en-US"/>
              <a:t>Options, Futures, and Other Derivatives, 9th Ed, Ch 7, Copyright © John C. Hull 2016</a:t>
            </a:r>
            <a:endParaRPr lang="en-US" altLang="en-US" i="0"/>
          </a:p>
        </p:txBody>
      </p:sp>
      <p:sp>
        <p:nvSpPr>
          <p:cNvPr id="4" name="Slide Number Placeholder 3"/>
          <p:cNvSpPr>
            <a:spLocks noGrp="1"/>
          </p:cNvSpPr>
          <p:nvPr>
            <p:ph type="sldNum" sz="quarter" idx="12"/>
          </p:nvPr>
        </p:nvSpPr>
        <p:spPr/>
        <p:txBody>
          <a:bodyPr/>
          <a:lstStyle>
            <a:lvl1pPr>
              <a:defRPr smtClean="0"/>
            </a:lvl1pPr>
          </a:lstStyle>
          <a:p>
            <a:pPr>
              <a:defRPr/>
            </a:pPr>
            <a:fld id="{9CF66308-5E30-4DBF-B1D1-C7686376E9CE}" type="slidenum">
              <a:rPr lang="en-US" altLang="en-US"/>
              <a:pPr>
                <a:defRPr/>
              </a:pPr>
              <a:t>‹#›</a:t>
            </a:fld>
            <a:endParaRPr lang="en-US" altLang="en-US"/>
          </a:p>
        </p:txBody>
      </p:sp>
    </p:spTree>
    <p:extLst>
      <p:ext uri="{BB962C8B-B14F-4D97-AF65-F5344CB8AC3E}">
        <p14:creationId xmlns:p14="http://schemas.microsoft.com/office/powerpoint/2010/main" val="1088307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smtClean="0"/>
            </a:lvl1pPr>
          </a:lstStyle>
          <a:p>
            <a:pPr>
              <a:defRPr/>
            </a:pPr>
            <a:r>
              <a:rPr lang="en-US" altLang="en-US"/>
              <a:t>Options, Futures, and Other Derivatives, 9th Ed, Ch 7, Copyright © John C. Hull 2016</a:t>
            </a:r>
            <a:endParaRPr lang="en-US" altLang="en-US" i="0"/>
          </a:p>
        </p:txBody>
      </p:sp>
      <p:sp>
        <p:nvSpPr>
          <p:cNvPr id="7" name="Slide Number Placeholder 6"/>
          <p:cNvSpPr>
            <a:spLocks noGrp="1"/>
          </p:cNvSpPr>
          <p:nvPr>
            <p:ph type="sldNum" sz="quarter" idx="12"/>
          </p:nvPr>
        </p:nvSpPr>
        <p:spPr/>
        <p:txBody>
          <a:bodyPr/>
          <a:lstStyle>
            <a:lvl1pPr>
              <a:defRPr smtClean="0"/>
            </a:lvl1pPr>
          </a:lstStyle>
          <a:p>
            <a:pPr>
              <a:defRPr/>
            </a:pPr>
            <a:fld id="{35093D9D-243B-440F-9F21-C9128C6CB081}" type="slidenum">
              <a:rPr lang="en-US" altLang="en-US"/>
              <a:pPr>
                <a:defRPr/>
              </a:pPr>
              <a:t>‹#›</a:t>
            </a:fld>
            <a:endParaRPr lang="en-US" altLang="en-US"/>
          </a:p>
        </p:txBody>
      </p:sp>
    </p:spTree>
    <p:extLst>
      <p:ext uri="{BB962C8B-B14F-4D97-AF65-F5344CB8AC3E}">
        <p14:creationId xmlns:p14="http://schemas.microsoft.com/office/powerpoint/2010/main" val="3423797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smtClean="0"/>
            </a:lvl1pPr>
          </a:lstStyle>
          <a:p>
            <a:pPr>
              <a:defRPr/>
            </a:pPr>
            <a:r>
              <a:rPr lang="en-US" altLang="en-US"/>
              <a:t>Options, Futures, and Other Derivatives, 9th Ed, Ch 7, Copyright © John C. Hull 2016</a:t>
            </a:r>
            <a:endParaRPr lang="en-US" altLang="en-US" i="0"/>
          </a:p>
        </p:txBody>
      </p:sp>
      <p:sp>
        <p:nvSpPr>
          <p:cNvPr id="7" name="Slide Number Placeholder 6"/>
          <p:cNvSpPr>
            <a:spLocks noGrp="1"/>
          </p:cNvSpPr>
          <p:nvPr>
            <p:ph type="sldNum" sz="quarter" idx="12"/>
          </p:nvPr>
        </p:nvSpPr>
        <p:spPr/>
        <p:txBody>
          <a:bodyPr/>
          <a:lstStyle>
            <a:lvl1pPr>
              <a:defRPr smtClean="0"/>
            </a:lvl1pPr>
          </a:lstStyle>
          <a:p>
            <a:pPr>
              <a:defRPr/>
            </a:pPr>
            <a:fld id="{A6CC9E67-64BC-446D-B521-A80A11B1720D}" type="slidenum">
              <a:rPr lang="en-US" altLang="en-US"/>
              <a:pPr>
                <a:defRPr/>
              </a:pPr>
              <a:t>‹#›</a:t>
            </a:fld>
            <a:endParaRPr lang="en-US" altLang="en-US"/>
          </a:p>
        </p:txBody>
      </p:sp>
    </p:spTree>
    <p:extLst>
      <p:ext uri="{BB962C8B-B14F-4D97-AF65-F5344CB8AC3E}">
        <p14:creationId xmlns:p14="http://schemas.microsoft.com/office/powerpoint/2010/main" val="531980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smtClean="0"/>
            </a:lvl1pPr>
          </a:lstStyle>
          <a:p>
            <a:pPr>
              <a:defRPr/>
            </a:pPr>
            <a:r>
              <a:rPr lang="en-US" altLang="en-US"/>
              <a:t>Options, Futures, and Other Derivatives, 9th Ed, Ch 7, Copyright © John C. Hull 2016</a:t>
            </a:r>
            <a:endParaRPr lang="en-US" altLang="en-US" i="0"/>
          </a:p>
        </p:txBody>
      </p:sp>
      <p:sp>
        <p:nvSpPr>
          <p:cNvPr id="6" name="Slide Number Placeholder 5"/>
          <p:cNvSpPr>
            <a:spLocks noGrp="1"/>
          </p:cNvSpPr>
          <p:nvPr>
            <p:ph type="sldNum" sz="quarter" idx="12"/>
          </p:nvPr>
        </p:nvSpPr>
        <p:spPr/>
        <p:txBody>
          <a:bodyPr/>
          <a:lstStyle>
            <a:lvl1pPr>
              <a:defRPr smtClean="0"/>
            </a:lvl1pPr>
          </a:lstStyle>
          <a:p>
            <a:pPr>
              <a:defRPr/>
            </a:pPr>
            <a:fld id="{6439CBC3-161F-4BC6-88E4-8573D5ABD4C9}" type="slidenum">
              <a:rPr lang="en-US" altLang="en-US"/>
              <a:pPr>
                <a:defRPr/>
              </a:pPr>
              <a:t>‹#›</a:t>
            </a:fld>
            <a:endParaRPr lang="en-US" altLang="en-US"/>
          </a:p>
        </p:txBody>
      </p:sp>
    </p:spTree>
    <p:extLst>
      <p:ext uri="{BB962C8B-B14F-4D97-AF65-F5344CB8AC3E}">
        <p14:creationId xmlns:p14="http://schemas.microsoft.com/office/powerpoint/2010/main" val="40568428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smtClean="0"/>
            </a:lvl1pPr>
          </a:lstStyle>
          <a:p>
            <a:pPr>
              <a:defRPr/>
            </a:pPr>
            <a:r>
              <a:rPr lang="en-US" altLang="en-US"/>
              <a:t>Options, Futures, and Other Derivatives, 9th Ed, Ch 7, Copyright © John C. Hull 2016</a:t>
            </a:r>
            <a:endParaRPr lang="en-US" altLang="en-US" i="0"/>
          </a:p>
        </p:txBody>
      </p:sp>
      <p:sp>
        <p:nvSpPr>
          <p:cNvPr id="6" name="Slide Number Placeholder 5"/>
          <p:cNvSpPr>
            <a:spLocks noGrp="1"/>
          </p:cNvSpPr>
          <p:nvPr>
            <p:ph type="sldNum" sz="quarter" idx="12"/>
          </p:nvPr>
        </p:nvSpPr>
        <p:spPr/>
        <p:txBody>
          <a:bodyPr/>
          <a:lstStyle>
            <a:lvl1pPr>
              <a:defRPr smtClean="0"/>
            </a:lvl1pPr>
          </a:lstStyle>
          <a:p>
            <a:pPr>
              <a:defRPr/>
            </a:pPr>
            <a:fld id="{AE73D632-1568-4259-84D1-67246985CB9C}" type="slidenum">
              <a:rPr lang="en-US" altLang="en-US"/>
              <a:pPr>
                <a:defRPr/>
              </a:pPr>
              <a:t>‹#›</a:t>
            </a:fld>
            <a:endParaRPr lang="en-US" altLang="en-US"/>
          </a:p>
        </p:txBody>
      </p:sp>
    </p:spTree>
    <p:extLst>
      <p:ext uri="{BB962C8B-B14F-4D97-AF65-F5344CB8AC3E}">
        <p14:creationId xmlns:p14="http://schemas.microsoft.com/office/powerpoint/2010/main" val="36554369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719263"/>
            <a:ext cx="8229600" cy="4411662"/>
          </a:xfrm>
        </p:spPr>
        <p:txBody>
          <a:bodyPr/>
          <a:lstStyle/>
          <a:p>
            <a:pPr lvl="0"/>
            <a:endParaRPr lang="en-US" noProof="0" smtClean="0"/>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smtClean="0"/>
            </a:lvl1pPr>
          </a:lstStyle>
          <a:p>
            <a:pPr>
              <a:defRPr/>
            </a:pPr>
            <a:r>
              <a:rPr lang="en-US" altLang="en-US"/>
              <a:t>Options, Futures, and Other Derivatives, 9th Ed, Ch 7, Copyright © John C. Hull 2016</a:t>
            </a:r>
            <a:endParaRPr lang="en-US" altLang="en-US" i="0"/>
          </a:p>
        </p:txBody>
      </p:sp>
      <p:sp>
        <p:nvSpPr>
          <p:cNvPr id="6" name="Slide Number Placeholder 5"/>
          <p:cNvSpPr>
            <a:spLocks noGrp="1"/>
          </p:cNvSpPr>
          <p:nvPr>
            <p:ph type="sldNum" sz="quarter" idx="12"/>
          </p:nvPr>
        </p:nvSpPr>
        <p:spPr/>
        <p:txBody>
          <a:bodyPr/>
          <a:lstStyle>
            <a:lvl1pPr>
              <a:defRPr smtClean="0"/>
            </a:lvl1pPr>
          </a:lstStyle>
          <a:p>
            <a:pPr>
              <a:defRPr/>
            </a:pPr>
            <a:fld id="{852BCA4C-F770-4E24-BD3A-5FB95B6B0FCB}" type="slidenum">
              <a:rPr lang="en-US" altLang="en-US"/>
              <a:pPr>
                <a:defRPr/>
              </a:pPr>
              <a:t>‹#›</a:t>
            </a:fld>
            <a:endParaRPr lang="en-US" altLang="en-US"/>
          </a:p>
        </p:txBody>
      </p:sp>
    </p:spTree>
    <p:extLst>
      <p:ext uri="{BB962C8B-B14F-4D97-AF65-F5344CB8AC3E}">
        <p14:creationId xmlns:p14="http://schemas.microsoft.com/office/powerpoint/2010/main" val="4183169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1028"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71685"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latin typeface="Arial" charset="0"/>
              </a:defRPr>
            </a:lvl1pPr>
          </a:lstStyle>
          <a:p>
            <a:pPr>
              <a:defRPr/>
            </a:pPr>
            <a:endParaRPr lang="en-US" altLang="en-US"/>
          </a:p>
        </p:txBody>
      </p:sp>
      <p:sp>
        <p:nvSpPr>
          <p:cNvPr id="71686" name="Rectangle 6"/>
          <p:cNvSpPr>
            <a:spLocks noGrp="1" noChangeArrowheads="1"/>
          </p:cNvSpPr>
          <p:nvPr>
            <p:ph type="ftr" sz="quarter" idx="3"/>
          </p:nvPr>
        </p:nvSpPr>
        <p:spPr bwMode="auto">
          <a:xfrm>
            <a:off x="250825" y="6248400"/>
            <a:ext cx="7561263"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i="1" smtClean="0">
                <a:latin typeface="Arial" charset="0"/>
              </a:defRPr>
            </a:lvl1pPr>
          </a:lstStyle>
          <a:p>
            <a:pPr>
              <a:defRPr/>
            </a:pPr>
            <a:r>
              <a:rPr lang="en-US" altLang="en-US"/>
              <a:t>Options, Futures, and Other Derivatives, 9th Ed, Ch 7, Copyright © John C. Hull 2016</a:t>
            </a:r>
            <a:endParaRPr lang="en-US" altLang="en-US"/>
          </a:p>
        </p:txBody>
      </p:sp>
      <p:sp>
        <p:nvSpPr>
          <p:cNvPr id="71687"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b="1" smtClean="0"/>
            </a:lvl1pPr>
          </a:lstStyle>
          <a:p>
            <a:pPr>
              <a:defRPr/>
            </a:pPr>
            <a:r>
              <a:rPr lang="en-US" altLang="en-US"/>
              <a:t>7.</a:t>
            </a:r>
            <a:fld id="{B58BA2A1-E63E-44FE-9D36-B1B1C7771BB6}" type="slidenum">
              <a:rPr lang="en-US" altLang="en-US"/>
              <a:pPr>
                <a:defRPr/>
              </a:pPr>
              <a:t>‹#›</a:t>
            </a:fld>
            <a:endParaRPr lang="en-US" altLang="en-US"/>
          </a:p>
        </p:txBody>
      </p:sp>
      <p:grpSp>
        <p:nvGrpSpPr>
          <p:cNvPr id="1032" name="Group 8"/>
          <p:cNvGrpSpPr>
            <a:grpSpLocks/>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34" name="Oval 10"/>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35" name="Oval 11"/>
            <p:cNvSpPr>
              <a:spLocks noChangeArrowheads="1"/>
            </p:cNvSpPr>
            <p:nvPr/>
          </p:nvSpPr>
          <p:spPr bwMode="auto">
            <a:xfrm>
              <a:off x="5360" y="960"/>
              <a:ext cx="76"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36" name="Oval 12"/>
            <p:cNvSpPr>
              <a:spLocks noChangeArrowheads="1"/>
            </p:cNvSpPr>
            <p:nvPr/>
          </p:nvSpPr>
          <p:spPr bwMode="auto">
            <a:xfrm>
              <a:off x="5136" y="1072"/>
              <a:ext cx="80"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37" name="Oval 13"/>
            <p:cNvSpPr>
              <a:spLocks noChangeArrowheads="1"/>
            </p:cNvSpPr>
            <p:nvPr/>
          </p:nvSpPr>
          <p:spPr bwMode="auto">
            <a:xfrm>
              <a:off x="5248" y="1072"/>
              <a:ext cx="79"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38" name="Oval 14"/>
            <p:cNvSpPr>
              <a:spLocks noChangeArrowheads="1"/>
            </p:cNvSpPr>
            <p:nvPr/>
          </p:nvSpPr>
          <p:spPr bwMode="auto">
            <a:xfrm>
              <a:off x="5360" y="1072"/>
              <a:ext cx="76"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39" name="Oval 15"/>
            <p:cNvSpPr>
              <a:spLocks noChangeArrowheads="1"/>
            </p:cNvSpPr>
            <p:nvPr/>
          </p:nvSpPr>
          <p:spPr bwMode="auto">
            <a:xfrm>
              <a:off x="5472" y="1072"/>
              <a:ext cx="73" cy="7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40" name="Oval 16"/>
            <p:cNvSpPr>
              <a:spLocks noChangeArrowheads="1"/>
            </p:cNvSpPr>
            <p:nvPr/>
          </p:nvSpPr>
          <p:spPr bwMode="auto">
            <a:xfrm>
              <a:off x="5136" y="1184"/>
              <a:ext cx="80"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41" name="Oval 17"/>
            <p:cNvSpPr>
              <a:spLocks noChangeArrowheads="1"/>
            </p:cNvSpPr>
            <p:nvPr/>
          </p:nvSpPr>
          <p:spPr bwMode="auto">
            <a:xfrm>
              <a:off x="5248" y="1184"/>
              <a:ext cx="79"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42" name="Oval 18"/>
            <p:cNvSpPr>
              <a:spLocks noChangeArrowheads="1"/>
            </p:cNvSpPr>
            <p:nvPr/>
          </p:nvSpPr>
          <p:spPr bwMode="auto">
            <a:xfrm>
              <a:off x="5360" y="1184"/>
              <a:ext cx="76"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43" name="Oval 19"/>
            <p:cNvSpPr>
              <a:spLocks noChangeArrowheads="1"/>
            </p:cNvSpPr>
            <p:nvPr/>
          </p:nvSpPr>
          <p:spPr bwMode="auto">
            <a:xfrm>
              <a:off x="5472" y="1184"/>
              <a:ext cx="73"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44" name="Oval 20"/>
            <p:cNvSpPr>
              <a:spLocks noChangeArrowheads="1"/>
            </p:cNvSpPr>
            <p:nvPr/>
          </p:nvSpPr>
          <p:spPr bwMode="auto">
            <a:xfrm>
              <a:off x="5584" y="1184"/>
              <a:ext cx="80" cy="7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45" name="Oval 21"/>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46" name="Oval 22"/>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47" name="Oval 23"/>
            <p:cNvSpPr>
              <a:spLocks noChangeArrowheads="1"/>
            </p:cNvSpPr>
            <p:nvPr/>
          </p:nvSpPr>
          <p:spPr bwMode="auto">
            <a:xfrm>
              <a:off x="5360" y="1296"/>
              <a:ext cx="76"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48" name="Oval 24"/>
            <p:cNvSpPr>
              <a:spLocks noChangeArrowheads="1"/>
            </p:cNvSpPr>
            <p:nvPr/>
          </p:nvSpPr>
          <p:spPr bwMode="auto">
            <a:xfrm>
              <a:off x="5472" y="1296"/>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49" name="Oval 25"/>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50" name="Oval 26"/>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51" name="Oval 27"/>
            <p:cNvSpPr>
              <a:spLocks noChangeArrowheads="1"/>
            </p:cNvSpPr>
            <p:nvPr/>
          </p:nvSpPr>
          <p:spPr bwMode="auto">
            <a:xfrm>
              <a:off x="5360"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52" name="Oval 28"/>
            <p:cNvSpPr>
              <a:spLocks noChangeArrowheads="1"/>
            </p:cNvSpPr>
            <p:nvPr/>
          </p:nvSpPr>
          <p:spPr bwMode="auto">
            <a:xfrm>
              <a:off x="5472" y="1408"/>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53" name="Oval 29"/>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54" name="Oval 30"/>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55" name="Oval 31"/>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56" name="Oval 32"/>
            <p:cNvSpPr>
              <a:spLocks noChangeArrowheads="1"/>
            </p:cNvSpPr>
            <p:nvPr/>
          </p:nvSpPr>
          <p:spPr bwMode="auto">
            <a:xfrm>
              <a:off x="5360" y="1520"/>
              <a:ext cx="76"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57" name="Oval 33"/>
            <p:cNvSpPr>
              <a:spLocks noChangeArrowheads="1"/>
            </p:cNvSpPr>
            <p:nvPr/>
          </p:nvSpPr>
          <p:spPr bwMode="auto">
            <a:xfrm>
              <a:off x="5472" y="1520"/>
              <a:ext cx="73"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58" name="Oval 34"/>
            <p:cNvSpPr>
              <a:spLocks noChangeArrowheads="1"/>
            </p:cNvSpPr>
            <p:nvPr/>
          </p:nvSpPr>
          <p:spPr bwMode="auto">
            <a:xfrm>
              <a:off x="5136" y="1632"/>
              <a:ext cx="80"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59" name="Oval 35"/>
            <p:cNvSpPr>
              <a:spLocks noChangeArrowheads="1"/>
            </p:cNvSpPr>
            <p:nvPr/>
          </p:nvSpPr>
          <p:spPr bwMode="auto">
            <a:xfrm>
              <a:off x="5248" y="1632"/>
              <a:ext cx="79"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60" name="Oval 36"/>
            <p:cNvSpPr>
              <a:spLocks noChangeArrowheads="1"/>
            </p:cNvSpPr>
            <p:nvPr/>
          </p:nvSpPr>
          <p:spPr bwMode="auto">
            <a:xfrm>
              <a:off x="5360" y="1632"/>
              <a:ext cx="76"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61" name="Oval 37"/>
            <p:cNvSpPr>
              <a:spLocks noChangeArrowheads="1"/>
            </p:cNvSpPr>
            <p:nvPr/>
          </p:nvSpPr>
          <p:spPr bwMode="auto">
            <a:xfrm>
              <a:off x="5472" y="1632"/>
              <a:ext cx="73"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62" name="Oval 38"/>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63" name="Oval 39"/>
            <p:cNvSpPr>
              <a:spLocks noChangeArrowheads="1"/>
            </p:cNvSpPr>
            <p:nvPr/>
          </p:nvSpPr>
          <p:spPr bwMode="auto">
            <a:xfrm>
              <a:off x="5472" y="1744"/>
              <a:ext cx="73"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grpSp>
    </p:spTree>
  </p:cSld>
  <p:clrMap bg1="lt1" tx1="dk1" bg2="lt2" tx2="dk2" accent1="accent1" accent2="accent2" accent3="accent3" accent4="accent4" accent5="accent5" accent6="accent6" hlink="hlink" folHlink="folHlink"/>
  <p:sldLayoutIdLst>
    <p:sldLayoutId id="2147483915" r:id="rId1"/>
    <p:sldLayoutId id="2147483916" r:id="rId2"/>
    <p:sldLayoutId id="2147483917" r:id="rId3"/>
    <p:sldLayoutId id="2147483918" r:id="rId4"/>
    <p:sldLayoutId id="2147483919" r:id="rId5"/>
    <p:sldLayoutId id="2147483920" r:id="rId6"/>
    <p:sldLayoutId id="2147483921" r:id="rId7"/>
    <p:sldLayoutId id="2147483922" r:id="rId8"/>
    <p:sldLayoutId id="2147483923" r:id="rId9"/>
    <p:sldLayoutId id="2147483924" r:id="rId10"/>
    <p:sldLayoutId id="2147483925" r:id="rId11"/>
    <p:sldLayoutId id="2147483926" r:id="rId12"/>
  </p:sldLayoutIdLst>
  <p:timing>
    <p:tnLst>
      <p:par>
        <p:cTn id="1" dur="indefinite" restart="never" nodeType="tmRoot"/>
      </p:par>
    </p:tnLst>
  </p:timing>
  <p:hf hd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Times New Roman" pitchFamily="18" charset="0"/>
        </a:defRPr>
      </a:lvl2pPr>
      <a:lvl3pPr algn="l" rtl="0" eaLnBrk="0" fontAlgn="base" hangingPunct="0">
        <a:spcBef>
          <a:spcPct val="0"/>
        </a:spcBef>
        <a:spcAft>
          <a:spcPct val="0"/>
        </a:spcAft>
        <a:defRPr sz="3900" b="1">
          <a:solidFill>
            <a:schemeClr val="tx2"/>
          </a:solidFill>
          <a:latin typeface="Times New Roman" pitchFamily="18" charset="0"/>
        </a:defRPr>
      </a:lvl3pPr>
      <a:lvl4pPr algn="l" rtl="0" eaLnBrk="0" fontAlgn="base" hangingPunct="0">
        <a:spcBef>
          <a:spcPct val="0"/>
        </a:spcBef>
        <a:spcAft>
          <a:spcPct val="0"/>
        </a:spcAft>
        <a:defRPr sz="3900" b="1">
          <a:solidFill>
            <a:schemeClr val="tx2"/>
          </a:solidFill>
          <a:latin typeface="Times New Roman" pitchFamily="18" charset="0"/>
        </a:defRPr>
      </a:lvl4pPr>
      <a:lvl5pPr algn="l" rtl="0" eaLnBrk="0" fontAlgn="base" hangingPunct="0">
        <a:spcBef>
          <a:spcPct val="0"/>
        </a:spcBef>
        <a:spcAft>
          <a:spcPct val="0"/>
        </a:spcAft>
        <a:defRPr sz="3900" b="1">
          <a:solidFill>
            <a:schemeClr val="tx2"/>
          </a:solidFill>
          <a:latin typeface="Times New Roman" pitchFamily="18" charset="0"/>
        </a:defRPr>
      </a:lvl5pPr>
      <a:lvl6pPr marL="457200" algn="l" rtl="0" fontAlgn="base">
        <a:spcBef>
          <a:spcPct val="0"/>
        </a:spcBef>
        <a:spcAft>
          <a:spcPct val="0"/>
        </a:spcAft>
        <a:defRPr sz="3900" b="1">
          <a:solidFill>
            <a:schemeClr val="tx2"/>
          </a:solidFill>
          <a:latin typeface="Times New Roman" pitchFamily="18" charset="0"/>
        </a:defRPr>
      </a:lvl6pPr>
      <a:lvl7pPr marL="914400" algn="l" rtl="0" fontAlgn="base">
        <a:spcBef>
          <a:spcPct val="0"/>
        </a:spcBef>
        <a:spcAft>
          <a:spcPct val="0"/>
        </a:spcAft>
        <a:defRPr sz="3900" b="1">
          <a:solidFill>
            <a:schemeClr val="tx2"/>
          </a:solidFill>
          <a:latin typeface="Times New Roman" pitchFamily="18" charset="0"/>
        </a:defRPr>
      </a:lvl7pPr>
      <a:lvl8pPr marL="1371600" algn="l" rtl="0" fontAlgn="base">
        <a:spcBef>
          <a:spcPct val="0"/>
        </a:spcBef>
        <a:spcAft>
          <a:spcPct val="0"/>
        </a:spcAft>
        <a:defRPr sz="3900" b="1">
          <a:solidFill>
            <a:schemeClr val="tx2"/>
          </a:solidFill>
          <a:latin typeface="Times New Roman" pitchFamily="18" charset="0"/>
        </a:defRPr>
      </a:lvl8pPr>
      <a:lvl9pPr marL="1828800" algn="l" rtl="0" fontAlgn="base">
        <a:spcBef>
          <a:spcPct val="0"/>
        </a:spcBef>
        <a:spcAft>
          <a:spcPct val="0"/>
        </a:spcAft>
        <a:defRPr sz="3900" b="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2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8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4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6"/>
          <p:cNvSpPr>
            <a:spLocks noGrp="1" noChangeArrowheads="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9th Ed, Ch 7, Copyright © John C. Hull 2016</a:t>
            </a:r>
            <a:endParaRPr lang="en-US" altLang="en-US" sz="1400" i="0"/>
          </a:p>
        </p:txBody>
      </p:sp>
      <p:sp>
        <p:nvSpPr>
          <p:cNvPr id="15363" name="Rectangle 4"/>
          <p:cNvSpPr>
            <a:spLocks noGrp="1" noChangeArrowheads="1"/>
          </p:cNvSpPr>
          <p:nvPr>
            <p:ph type="ctrTitle"/>
          </p:nvPr>
        </p:nvSpPr>
        <p:spPr>
          <a:xfrm>
            <a:off x="838200" y="498475"/>
            <a:ext cx="6781800" cy="2133600"/>
          </a:xfrm>
        </p:spPr>
        <p:txBody>
          <a:bodyPr/>
          <a:lstStyle/>
          <a:p>
            <a:pPr eaLnBrk="1" hangingPunct="1"/>
            <a:r>
              <a:rPr lang="en-US" altLang="en-US" smtClean="0"/>
              <a:t>Swaps</a:t>
            </a:r>
          </a:p>
        </p:txBody>
      </p:sp>
      <p:sp>
        <p:nvSpPr>
          <p:cNvPr id="15364" name="Rectangle 5"/>
          <p:cNvSpPr>
            <a:spLocks noGrp="1" noChangeArrowheads="1"/>
          </p:cNvSpPr>
          <p:nvPr>
            <p:ph type="subTitle" idx="1"/>
          </p:nvPr>
        </p:nvSpPr>
        <p:spPr>
          <a:xfrm>
            <a:off x="849313" y="3082925"/>
            <a:ext cx="6248400" cy="2362200"/>
          </a:xfrm>
        </p:spPr>
        <p:txBody>
          <a:bodyPr/>
          <a:lstStyle/>
          <a:p>
            <a:pPr eaLnBrk="1" hangingPunct="1"/>
            <a:r>
              <a:rPr lang="en-US" altLang="en-US" smtClean="0"/>
              <a:t>Chapter 7</a:t>
            </a:r>
          </a:p>
        </p:txBody>
      </p:sp>
      <p:sp>
        <p:nvSpPr>
          <p:cNvPr id="1536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830D02F-E1F5-4C08-B4FD-073FB27000B9}" type="slidenum">
              <a:rPr lang="en-US" altLang="en-US" sz="1800"/>
              <a:pPr>
                <a:spcBef>
                  <a:spcPct val="0"/>
                </a:spcBef>
                <a:buClrTx/>
                <a:buSzTx/>
                <a:buFontTx/>
                <a:buNone/>
              </a:pPr>
              <a:t>1</a:t>
            </a:fld>
            <a:endParaRPr lang="en-US" altLang="en-US" sz="180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9th Ed, Ch 7, Copyright © John C. Hull 2016</a:t>
            </a:r>
            <a:endParaRPr lang="en-US" altLang="en-US" sz="1400" i="0"/>
          </a:p>
        </p:txBody>
      </p:sp>
      <p:sp>
        <p:nvSpPr>
          <p:cNvPr id="17411" name="Rectangle 2"/>
          <p:cNvSpPr>
            <a:spLocks noGrp="1" noChangeArrowheads="1"/>
          </p:cNvSpPr>
          <p:nvPr>
            <p:ph type="title"/>
          </p:nvPr>
        </p:nvSpPr>
        <p:spPr>
          <a:noFill/>
        </p:spPr>
        <p:txBody>
          <a:bodyPr lIns="92075" tIns="46038" rIns="92075" bIns="46038" anchor="ctr"/>
          <a:lstStyle/>
          <a:p>
            <a:pPr eaLnBrk="1" hangingPunct="1"/>
            <a:r>
              <a:rPr lang="en-US" altLang="en-US" smtClean="0"/>
              <a:t>Nature of Swaps</a:t>
            </a:r>
          </a:p>
        </p:txBody>
      </p:sp>
      <p:sp>
        <p:nvSpPr>
          <p:cNvPr id="17412" name="Rectangle 3"/>
          <p:cNvSpPr>
            <a:spLocks noGrp="1" noChangeArrowheads="1"/>
          </p:cNvSpPr>
          <p:nvPr>
            <p:ph type="body" idx="1"/>
          </p:nvPr>
        </p:nvSpPr>
        <p:spPr>
          <a:xfrm>
            <a:off x="1143000" y="1925638"/>
            <a:ext cx="7196138" cy="4106862"/>
          </a:xfrm>
          <a:noFill/>
        </p:spPr>
        <p:txBody>
          <a:bodyPr lIns="92075" tIns="46038" rIns="92075" bIns="46038"/>
          <a:lstStyle/>
          <a:p>
            <a:pPr eaLnBrk="1" hangingPunct="1">
              <a:buFont typeface="Wingdings" panose="05000000000000000000" pitchFamily="2" charset="2"/>
              <a:buNone/>
            </a:pPr>
            <a:endParaRPr lang="en-US" altLang="en-US" smtClean="0"/>
          </a:p>
          <a:p>
            <a:pPr eaLnBrk="1" hangingPunct="1">
              <a:buFont typeface="Wingdings" panose="05000000000000000000" pitchFamily="2" charset="2"/>
              <a:buNone/>
            </a:pPr>
            <a:r>
              <a:rPr lang="en-US" altLang="en-US" smtClean="0"/>
              <a:t>	A swap is an agreement to exchange cash flows at specified future times according to certain specified rules</a:t>
            </a:r>
          </a:p>
        </p:txBody>
      </p:sp>
      <p:sp>
        <p:nvSpPr>
          <p:cNvPr id="1741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A4A40C9C-00AD-4E31-BFBB-D6F454C3699D}" type="slidenum">
              <a:rPr lang="en-US" altLang="en-US" sz="1800"/>
              <a:pPr>
                <a:spcBef>
                  <a:spcPct val="0"/>
                </a:spcBef>
                <a:buClrTx/>
                <a:buSzTx/>
                <a:buFontTx/>
                <a:buNone/>
              </a:pPr>
              <a:t>2</a:t>
            </a:fld>
            <a:endParaRPr lang="en-US" altLang="en-US" sz="180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23850" y="0"/>
            <a:ext cx="7924800" cy="1836738"/>
          </a:xfrm>
        </p:spPr>
        <p:txBody>
          <a:bodyPr lIns="92075" tIns="46038" rIns="92075" bIns="46038"/>
          <a:lstStyle/>
          <a:p>
            <a:pPr eaLnBrk="1" hangingPunct="1"/>
            <a:r>
              <a:rPr lang="en-US" altLang="en-US" sz="3500" smtClean="0"/>
              <a:t>An Example of a “Plain Vanilla” Interest Rate Swap</a:t>
            </a:r>
          </a:p>
        </p:txBody>
      </p:sp>
      <p:sp>
        <p:nvSpPr>
          <p:cNvPr id="19459" name="Rectangle 3"/>
          <p:cNvSpPr>
            <a:spLocks noGrp="1" noChangeArrowheads="1"/>
          </p:cNvSpPr>
          <p:nvPr>
            <p:ph idx="1"/>
          </p:nvPr>
        </p:nvSpPr>
        <p:spPr>
          <a:xfrm>
            <a:off x="827088" y="2060575"/>
            <a:ext cx="7583487" cy="3829050"/>
          </a:xfrm>
        </p:spPr>
        <p:txBody>
          <a:bodyPr lIns="92075" tIns="46038" rIns="92075" bIns="46038"/>
          <a:lstStyle/>
          <a:p>
            <a:pPr eaLnBrk="1" hangingPunct="1"/>
            <a:r>
              <a:rPr lang="en-US" altLang="en-US" dirty="0" smtClean="0">
                <a:cs typeface="Arial" panose="020B0604020202020204" pitchFamily="34" charset="0"/>
              </a:rPr>
              <a:t>An agreement by Apple to receive 6-month LIBOR &amp; pay a fixed rate of </a:t>
            </a:r>
            <a:r>
              <a:rPr lang="en-US" altLang="en-US" dirty="0" smtClean="0">
                <a:cs typeface="Arial" panose="020B0604020202020204" pitchFamily="34" charset="0"/>
              </a:rPr>
              <a:t>3% </a:t>
            </a:r>
            <a:r>
              <a:rPr lang="en-US" altLang="en-US" dirty="0" smtClean="0">
                <a:cs typeface="Arial" panose="020B0604020202020204" pitchFamily="34" charset="0"/>
              </a:rPr>
              <a:t>per annum every 6 months for 3 years on a notional principal of $100 million</a:t>
            </a:r>
          </a:p>
          <a:p>
            <a:pPr eaLnBrk="1" hangingPunct="1"/>
            <a:r>
              <a:rPr lang="en-US" altLang="en-US" dirty="0" smtClean="0">
                <a:cs typeface="Arial" panose="020B0604020202020204" pitchFamily="34" charset="0"/>
              </a:rPr>
              <a:t>Next slide illustrates cash flows that could occur (Day count conventions are not considered)</a:t>
            </a:r>
          </a:p>
        </p:txBody>
      </p:sp>
      <p:sp>
        <p:nvSpPr>
          <p:cNvPr id="1946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9th Ed, Ch 7, Copyright © John C. Hull 2016</a:t>
            </a:r>
            <a:endParaRPr lang="en-US" altLang="en-US" sz="1400">
              <a:cs typeface="Arial" panose="020B0604020202020204" pitchFamily="34" charset="0"/>
            </a:endParaRPr>
          </a:p>
        </p:txBody>
      </p:sp>
      <p:sp>
        <p:nvSpPr>
          <p:cNvPr id="1946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B70A4D7-BC67-4D3E-8D15-DBFB35746289}" type="slidenum">
              <a:rPr lang="en-US" altLang="en-US" sz="1800"/>
              <a:pPr>
                <a:spcBef>
                  <a:spcPct val="0"/>
                </a:spcBef>
                <a:buClrTx/>
                <a:buSzTx/>
                <a:buFontTx/>
                <a:buNone/>
              </a:pPr>
              <a:t>3</a:t>
            </a:fld>
            <a:endParaRPr lang="en-US" altLang="en-US" sz="180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9th Ed, Ch 7, Copyright © John C. Hull 2016</a:t>
            </a:r>
            <a:endParaRPr lang="en-US" altLang="en-US" sz="1400" i="0"/>
          </a:p>
        </p:txBody>
      </p:sp>
      <p:grpSp>
        <p:nvGrpSpPr>
          <p:cNvPr id="21507" name="Group 57"/>
          <p:cNvGrpSpPr>
            <a:grpSpLocks/>
          </p:cNvGrpSpPr>
          <p:nvPr/>
        </p:nvGrpSpPr>
        <p:grpSpPr bwMode="auto">
          <a:xfrm>
            <a:off x="1006475" y="1277938"/>
            <a:ext cx="7078663" cy="4740275"/>
            <a:chOff x="671" y="765"/>
            <a:chExt cx="4459" cy="2986"/>
          </a:xfrm>
        </p:grpSpPr>
        <p:sp>
          <p:nvSpPr>
            <p:cNvPr id="21510" name="Rectangle 2"/>
            <p:cNvSpPr>
              <a:spLocks noChangeArrowheads="1"/>
            </p:cNvSpPr>
            <p:nvPr/>
          </p:nvSpPr>
          <p:spPr bwMode="auto">
            <a:xfrm>
              <a:off x="671" y="765"/>
              <a:ext cx="18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1511" name="Line 3"/>
            <p:cNvSpPr>
              <a:spLocks noChangeShapeType="1"/>
            </p:cNvSpPr>
            <p:nvPr/>
          </p:nvSpPr>
          <p:spPr bwMode="auto">
            <a:xfrm>
              <a:off x="2441" y="2083"/>
              <a:ext cx="400" cy="128"/>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1512" name="Line 4"/>
            <p:cNvSpPr>
              <a:spLocks noChangeShapeType="1"/>
            </p:cNvSpPr>
            <p:nvPr/>
          </p:nvSpPr>
          <p:spPr bwMode="auto">
            <a:xfrm>
              <a:off x="2441" y="2335"/>
              <a:ext cx="400" cy="128"/>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1513" name="Line 5"/>
            <p:cNvSpPr>
              <a:spLocks noChangeShapeType="1"/>
            </p:cNvSpPr>
            <p:nvPr/>
          </p:nvSpPr>
          <p:spPr bwMode="auto">
            <a:xfrm>
              <a:off x="2441" y="2603"/>
              <a:ext cx="400" cy="128"/>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1514" name="Line 6"/>
            <p:cNvSpPr>
              <a:spLocks noChangeShapeType="1"/>
            </p:cNvSpPr>
            <p:nvPr/>
          </p:nvSpPr>
          <p:spPr bwMode="auto">
            <a:xfrm>
              <a:off x="2441" y="2871"/>
              <a:ext cx="400" cy="128"/>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1515" name="Line 7"/>
            <p:cNvSpPr>
              <a:spLocks noChangeShapeType="1"/>
            </p:cNvSpPr>
            <p:nvPr/>
          </p:nvSpPr>
          <p:spPr bwMode="auto">
            <a:xfrm>
              <a:off x="2441" y="3139"/>
              <a:ext cx="400" cy="128"/>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1516" name="Line 8"/>
            <p:cNvSpPr>
              <a:spLocks noChangeShapeType="1"/>
            </p:cNvSpPr>
            <p:nvPr/>
          </p:nvSpPr>
          <p:spPr bwMode="auto">
            <a:xfrm>
              <a:off x="2441" y="3399"/>
              <a:ext cx="400" cy="128"/>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1517" name="Line 9"/>
            <p:cNvSpPr>
              <a:spLocks noChangeShapeType="1"/>
            </p:cNvSpPr>
            <p:nvPr/>
          </p:nvSpPr>
          <p:spPr bwMode="auto">
            <a:xfrm>
              <a:off x="769" y="1072"/>
              <a:ext cx="4321"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18" name="Rectangle 10"/>
            <p:cNvSpPr>
              <a:spLocks noChangeArrowheads="1"/>
            </p:cNvSpPr>
            <p:nvPr/>
          </p:nvSpPr>
          <p:spPr bwMode="auto">
            <a:xfrm>
              <a:off x="769" y="1072"/>
              <a:ext cx="4315" cy="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1519" name="Line 11"/>
            <p:cNvSpPr>
              <a:spLocks noChangeShapeType="1"/>
            </p:cNvSpPr>
            <p:nvPr/>
          </p:nvSpPr>
          <p:spPr bwMode="auto">
            <a:xfrm>
              <a:off x="769" y="1869"/>
              <a:ext cx="4321"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20" name="Rectangle 12"/>
            <p:cNvSpPr>
              <a:spLocks noChangeArrowheads="1"/>
            </p:cNvSpPr>
            <p:nvPr/>
          </p:nvSpPr>
          <p:spPr bwMode="auto">
            <a:xfrm>
              <a:off x="769" y="1869"/>
              <a:ext cx="4315" cy="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1521" name="Line 13"/>
            <p:cNvSpPr>
              <a:spLocks noChangeShapeType="1"/>
            </p:cNvSpPr>
            <p:nvPr/>
          </p:nvSpPr>
          <p:spPr bwMode="auto">
            <a:xfrm>
              <a:off x="769" y="3727"/>
              <a:ext cx="4321"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22" name="Rectangle 14"/>
            <p:cNvSpPr>
              <a:spLocks noChangeArrowheads="1"/>
            </p:cNvSpPr>
            <p:nvPr/>
          </p:nvSpPr>
          <p:spPr bwMode="auto">
            <a:xfrm>
              <a:off x="769" y="3727"/>
              <a:ext cx="4315" cy="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1523" name="Rectangle 15"/>
            <p:cNvSpPr>
              <a:spLocks noChangeArrowheads="1"/>
            </p:cNvSpPr>
            <p:nvPr/>
          </p:nvSpPr>
          <p:spPr bwMode="auto">
            <a:xfrm>
              <a:off x="2631" y="1110"/>
              <a:ext cx="232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---------Millions of Dollars---------</a:t>
              </a:r>
            </a:p>
          </p:txBody>
        </p:sp>
        <p:sp>
          <p:nvSpPr>
            <p:cNvPr id="21524" name="Rectangle 16"/>
            <p:cNvSpPr>
              <a:spLocks noChangeArrowheads="1"/>
            </p:cNvSpPr>
            <p:nvPr/>
          </p:nvSpPr>
          <p:spPr bwMode="auto">
            <a:xfrm>
              <a:off x="1959" y="1376"/>
              <a:ext cx="5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LIBOR</a:t>
              </a:r>
            </a:p>
          </p:txBody>
        </p:sp>
        <p:sp>
          <p:nvSpPr>
            <p:cNvPr id="21525" name="Rectangle 17"/>
            <p:cNvSpPr>
              <a:spLocks noChangeArrowheads="1"/>
            </p:cNvSpPr>
            <p:nvPr/>
          </p:nvSpPr>
          <p:spPr bwMode="auto">
            <a:xfrm>
              <a:off x="2597" y="1376"/>
              <a:ext cx="96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i="1">
                  <a:solidFill>
                    <a:srgbClr val="000000"/>
                  </a:solidFill>
                </a:rPr>
                <a:t>FLOATING </a:t>
              </a:r>
            </a:p>
          </p:txBody>
        </p:sp>
        <p:sp>
          <p:nvSpPr>
            <p:cNvPr id="21526" name="Rectangle 18"/>
            <p:cNvSpPr>
              <a:spLocks noChangeArrowheads="1"/>
            </p:cNvSpPr>
            <p:nvPr/>
          </p:nvSpPr>
          <p:spPr bwMode="auto">
            <a:xfrm>
              <a:off x="3556" y="1376"/>
              <a:ext cx="6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i="1">
                  <a:solidFill>
                    <a:srgbClr val="000000"/>
                  </a:solidFill>
                </a:rPr>
                <a:t>FIXED </a:t>
              </a:r>
            </a:p>
          </p:txBody>
        </p:sp>
        <p:sp>
          <p:nvSpPr>
            <p:cNvPr id="21527" name="Rectangle 19"/>
            <p:cNvSpPr>
              <a:spLocks noChangeArrowheads="1"/>
            </p:cNvSpPr>
            <p:nvPr/>
          </p:nvSpPr>
          <p:spPr bwMode="auto">
            <a:xfrm>
              <a:off x="4504" y="1376"/>
              <a:ext cx="3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Net</a:t>
              </a:r>
            </a:p>
          </p:txBody>
        </p:sp>
        <p:sp>
          <p:nvSpPr>
            <p:cNvPr id="21528" name="Rectangle 20"/>
            <p:cNvSpPr>
              <a:spLocks noChangeArrowheads="1"/>
            </p:cNvSpPr>
            <p:nvPr/>
          </p:nvSpPr>
          <p:spPr bwMode="auto">
            <a:xfrm>
              <a:off x="1083" y="1641"/>
              <a:ext cx="45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Date</a:t>
              </a:r>
            </a:p>
          </p:txBody>
        </p:sp>
        <p:sp>
          <p:nvSpPr>
            <p:cNvPr id="21529" name="Rectangle 21"/>
            <p:cNvSpPr>
              <a:spLocks noChangeArrowheads="1"/>
            </p:cNvSpPr>
            <p:nvPr/>
          </p:nvSpPr>
          <p:spPr bwMode="auto">
            <a:xfrm>
              <a:off x="2031" y="1641"/>
              <a:ext cx="45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Rate</a:t>
              </a:r>
            </a:p>
          </p:txBody>
        </p:sp>
        <p:sp>
          <p:nvSpPr>
            <p:cNvPr id="21530" name="Rectangle 22"/>
            <p:cNvSpPr>
              <a:spLocks noChangeArrowheads="1"/>
            </p:cNvSpPr>
            <p:nvPr/>
          </p:nvSpPr>
          <p:spPr bwMode="auto">
            <a:xfrm>
              <a:off x="2640" y="1641"/>
              <a:ext cx="8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Cash Flow</a:t>
              </a:r>
            </a:p>
          </p:txBody>
        </p:sp>
        <p:sp>
          <p:nvSpPr>
            <p:cNvPr id="21531" name="Rectangle 23"/>
            <p:cNvSpPr>
              <a:spLocks noChangeArrowheads="1"/>
            </p:cNvSpPr>
            <p:nvPr/>
          </p:nvSpPr>
          <p:spPr bwMode="auto">
            <a:xfrm>
              <a:off x="3448" y="1641"/>
              <a:ext cx="8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Cash Flow</a:t>
              </a:r>
            </a:p>
          </p:txBody>
        </p:sp>
        <p:sp>
          <p:nvSpPr>
            <p:cNvPr id="21532" name="Rectangle 24"/>
            <p:cNvSpPr>
              <a:spLocks noChangeArrowheads="1"/>
            </p:cNvSpPr>
            <p:nvPr/>
          </p:nvSpPr>
          <p:spPr bwMode="auto">
            <a:xfrm>
              <a:off x="4258" y="1641"/>
              <a:ext cx="8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Cash Flow</a:t>
              </a:r>
            </a:p>
          </p:txBody>
        </p:sp>
        <p:sp>
          <p:nvSpPr>
            <p:cNvPr id="21533" name="Rectangle 25"/>
            <p:cNvSpPr>
              <a:spLocks noChangeArrowheads="1"/>
            </p:cNvSpPr>
            <p:nvPr/>
          </p:nvSpPr>
          <p:spPr bwMode="auto">
            <a:xfrm>
              <a:off x="837" y="1907"/>
              <a:ext cx="101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Mar. 8, 2016</a:t>
              </a:r>
            </a:p>
          </p:txBody>
        </p:sp>
        <p:sp>
          <p:nvSpPr>
            <p:cNvPr id="21534" name="Rectangle 26"/>
            <p:cNvSpPr>
              <a:spLocks noChangeArrowheads="1"/>
            </p:cNvSpPr>
            <p:nvPr/>
          </p:nvSpPr>
          <p:spPr bwMode="auto">
            <a:xfrm>
              <a:off x="1995" y="1907"/>
              <a:ext cx="48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dirty="0" smtClean="0">
                  <a:solidFill>
                    <a:srgbClr val="000000"/>
                  </a:solidFill>
                </a:rPr>
                <a:t>2.2</a:t>
              </a:r>
              <a:r>
                <a:rPr lang="en-US" altLang="en-US" sz="2000" dirty="0">
                  <a:solidFill>
                    <a:srgbClr val="000000"/>
                  </a:solidFill>
                </a:rPr>
                <a:t>%</a:t>
              </a:r>
            </a:p>
          </p:txBody>
        </p:sp>
        <p:sp>
          <p:nvSpPr>
            <p:cNvPr id="21535" name="Rectangle 27"/>
            <p:cNvSpPr>
              <a:spLocks noChangeArrowheads="1"/>
            </p:cNvSpPr>
            <p:nvPr/>
          </p:nvSpPr>
          <p:spPr bwMode="auto">
            <a:xfrm>
              <a:off x="759" y="2172"/>
              <a:ext cx="107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Sept. 8, 2016</a:t>
              </a:r>
            </a:p>
          </p:txBody>
        </p:sp>
        <p:sp>
          <p:nvSpPr>
            <p:cNvPr id="21536" name="Rectangle 28"/>
            <p:cNvSpPr>
              <a:spLocks noChangeArrowheads="1"/>
            </p:cNvSpPr>
            <p:nvPr/>
          </p:nvSpPr>
          <p:spPr bwMode="auto">
            <a:xfrm>
              <a:off x="1995" y="2172"/>
              <a:ext cx="48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dirty="0" smtClean="0">
                  <a:solidFill>
                    <a:srgbClr val="000000"/>
                  </a:solidFill>
                </a:rPr>
                <a:t>2.8</a:t>
              </a:r>
              <a:r>
                <a:rPr lang="en-US" altLang="en-US" sz="2000" dirty="0">
                  <a:solidFill>
                    <a:srgbClr val="000000"/>
                  </a:solidFill>
                </a:rPr>
                <a:t>%</a:t>
              </a:r>
            </a:p>
          </p:txBody>
        </p:sp>
        <p:sp>
          <p:nvSpPr>
            <p:cNvPr id="21537" name="Rectangle 29"/>
            <p:cNvSpPr>
              <a:spLocks noChangeArrowheads="1"/>
            </p:cNvSpPr>
            <p:nvPr/>
          </p:nvSpPr>
          <p:spPr bwMode="auto">
            <a:xfrm>
              <a:off x="2775" y="2172"/>
              <a:ext cx="52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dirty="0" smtClean="0">
                  <a:solidFill>
                    <a:srgbClr val="000000"/>
                  </a:solidFill>
                </a:rPr>
                <a:t>+1.10</a:t>
              </a:r>
              <a:endParaRPr lang="en-US" altLang="en-US" sz="2000" dirty="0">
                <a:solidFill>
                  <a:srgbClr val="000000"/>
                </a:solidFill>
              </a:endParaRPr>
            </a:p>
          </p:txBody>
        </p:sp>
        <p:sp>
          <p:nvSpPr>
            <p:cNvPr id="21538" name="Rectangle 30"/>
            <p:cNvSpPr>
              <a:spLocks noChangeArrowheads="1"/>
            </p:cNvSpPr>
            <p:nvPr/>
          </p:nvSpPr>
          <p:spPr bwMode="auto">
            <a:xfrm>
              <a:off x="3574" y="2172"/>
              <a:ext cx="52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dirty="0" smtClean="0"/>
                <a:t>–</a:t>
              </a:r>
              <a:r>
                <a:rPr lang="en-US" altLang="en-US" sz="2000" dirty="0" smtClean="0">
                  <a:solidFill>
                    <a:srgbClr val="000000"/>
                  </a:solidFill>
                </a:rPr>
                <a:t>1.50</a:t>
              </a:r>
              <a:endParaRPr lang="en-US" altLang="en-US" sz="2000" dirty="0">
                <a:solidFill>
                  <a:srgbClr val="000000"/>
                </a:solidFill>
              </a:endParaRPr>
            </a:p>
          </p:txBody>
        </p:sp>
        <p:sp>
          <p:nvSpPr>
            <p:cNvPr id="21539" name="Rectangle 31"/>
            <p:cNvSpPr>
              <a:spLocks noChangeArrowheads="1"/>
            </p:cNvSpPr>
            <p:nvPr/>
          </p:nvSpPr>
          <p:spPr bwMode="auto">
            <a:xfrm>
              <a:off x="4384" y="2172"/>
              <a:ext cx="5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t>–</a:t>
              </a:r>
              <a:r>
                <a:rPr lang="en-US" altLang="en-US" sz="2000">
                  <a:solidFill>
                    <a:srgbClr val="000000"/>
                  </a:solidFill>
                </a:rPr>
                <a:t>0.40</a:t>
              </a:r>
            </a:p>
          </p:txBody>
        </p:sp>
        <p:sp>
          <p:nvSpPr>
            <p:cNvPr id="21540" name="Rectangle 32"/>
            <p:cNvSpPr>
              <a:spLocks noChangeArrowheads="1"/>
            </p:cNvSpPr>
            <p:nvPr/>
          </p:nvSpPr>
          <p:spPr bwMode="auto">
            <a:xfrm>
              <a:off x="837" y="2437"/>
              <a:ext cx="101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Mar. 8, 2017</a:t>
              </a:r>
            </a:p>
          </p:txBody>
        </p:sp>
        <p:sp>
          <p:nvSpPr>
            <p:cNvPr id="21541" name="Rectangle 33"/>
            <p:cNvSpPr>
              <a:spLocks noChangeArrowheads="1"/>
            </p:cNvSpPr>
            <p:nvPr/>
          </p:nvSpPr>
          <p:spPr bwMode="auto">
            <a:xfrm>
              <a:off x="1995" y="2437"/>
              <a:ext cx="48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dirty="0" smtClean="0">
                  <a:solidFill>
                    <a:srgbClr val="000000"/>
                  </a:solidFill>
                </a:rPr>
                <a:t>3.3</a:t>
              </a:r>
              <a:r>
                <a:rPr lang="en-US" altLang="en-US" sz="2000" dirty="0">
                  <a:solidFill>
                    <a:srgbClr val="000000"/>
                  </a:solidFill>
                </a:rPr>
                <a:t>%</a:t>
              </a:r>
            </a:p>
          </p:txBody>
        </p:sp>
        <p:sp>
          <p:nvSpPr>
            <p:cNvPr id="21542" name="Rectangle 34"/>
            <p:cNvSpPr>
              <a:spLocks noChangeArrowheads="1"/>
            </p:cNvSpPr>
            <p:nvPr/>
          </p:nvSpPr>
          <p:spPr bwMode="auto">
            <a:xfrm>
              <a:off x="2775" y="2437"/>
              <a:ext cx="52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dirty="0" smtClean="0">
                  <a:solidFill>
                    <a:srgbClr val="000000"/>
                  </a:solidFill>
                </a:rPr>
                <a:t>+1.40</a:t>
              </a:r>
              <a:endParaRPr lang="en-US" altLang="en-US" sz="2000" dirty="0">
                <a:solidFill>
                  <a:srgbClr val="000000"/>
                </a:solidFill>
              </a:endParaRPr>
            </a:p>
          </p:txBody>
        </p:sp>
        <p:sp>
          <p:nvSpPr>
            <p:cNvPr id="21543" name="Rectangle 35"/>
            <p:cNvSpPr>
              <a:spLocks noChangeArrowheads="1"/>
            </p:cNvSpPr>
            <p:nvPr/>
          </p:nvSpPr>
          <p:spPr bwMode="auto">
            <a:xfrm>
              <a:off x="3574" y="2437"/>
              <a:ext cx="52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dirty="0" smtClean="0"/>
                <a:t>–</a:t>
              </a:r>
              <a:r>
                <a:rPr lang="en-US" altLang="en-US" sz="2000" dirty="0" smtClean="0">
                  <a:solidFill>
                    <a:srgbClr val="000000"/>
                  </a:solidFill>
                </a:rPr>
                <a:t>1.50</a:t>
              </a:r>
              <a:endParaRPr lang="en-US" altLang="en-US" sz="2000" dirty="0">
                <a:solidFill>
                  <a:srgbClr val="000000"/>
                </a:solidFill>
              </a:endParaRPr>
            </a:p>
          </p:txBody>
        </p:sp>
        <p:sp>
          <p:nvSpPr>
            <p:cNvPr id="21544" name="Rectangle 36"/>
            <p:cNvSpPr>
              <a:spLocks noChangeArrowheads="1"/>
            </p:cNvSpPr>
            <p:nvPr/>
          </p:nvSpPr>
          <p:spPr bwMode="auto">
            <a:xfrm>
              <a:off x="4384" y="2437"/>
              <a:ext cx="5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t>–</a:t>
              </a:r>
              <a:r>
                <a:rPr lang="en-US" altLang="en-US" sz="2000">
                  <a:solidFill>
                    <a:srgbClr val="000000"/>
                  </a:solidFill>
                </a:rPr>
                <a:t>0.10</a:t>
              </a:r>
            </a:p>
          </p:txBody>
        </p:sp>
        <p:sp>
          <p:nvSpPr>
            <p:cNvPr id="21545" name="Rectangle 37"/>
            <p:cNvSpPr>
              <a:spLocks noChangeArrowheads="1"/>
            </p:cNvSpPr>
            <p:nvPr/>
          </p:nvSpPr>
          <p:spPr bwMode="auto">
            <a:xfrm>
              <a:off x="759" y="2703"/>
              <a:ext cx="107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Sept. 8, 2017</a:t>
              </a:r>
            </a:p>
          </p:txBody>
        </p:sp>
        <p:sp>
          <p:nvSpPr>
            <p:cNvPr id="21546" name="Rectangle 38"/>
            <p:cNvSpPr>
              <a:spLocks noChangeArrowheads="1"/>
            </p:cNvSpPr>
            <p:nvPr/>
          </p:nvSpPr>
          <p:spPr bwMode="auto">
            <a:xfrm>
              <a:off x="1995" y="2703"/>
              <a:ext cx="48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dirty="0" smtClean="0">
                  <a:solidFill>
                    <a:srgbClr val="000000"/>
                  </a:solidFill>
                </a:rPr>
                <a:t>3.5</a:t>
              </a:r>
              <a:r>
                <a:rPr lang="en-US" altLang="en-US" sz="2000" dirty="0">
                  <a:solidFill>
                    <a:srgbClr val="000000"/>
                  </a:solidFill>
                </a:rPr>
                <a:t>%</a:t>
              </a:r>
            </a:p>
          </p:txBody>
        </p:sp>
        <p:sp>
          <p:nvSpPr>
            <p:cNvPr id="21547" name="Rectangle 39"/>
            <p:cNvSpPr>
              <a:spLocks noChangeArrowheads="1"/>
            </p:cNvSpPr>
            <p:nvPr/>
          </p:nvSpPr>
          <p:spPr bwMode="auto">
            <a:xfrm>
              <a:off x="2775" y="2703"/>
              <a:ext cx="52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dirty="0" smtClean="0">
                  <a:solidFill>
                    <a:srgbClr val="000000"/>
                  </a:solidFill>
                </a:rPr>
                <a:t>+1.65</a:t>
              </a:r>
              <a:endParaRPr lang="en-US" altLang="en-US" sz="2000" dirty="0">
                <a:solidFill>
                  <a:srgbClr val="000000"/>
                </a:solidFill>
              </a:endParaRPr>
            </a:p>
          </p:txBody>
        </p:sp>
        <p:sp>
          <p:nvSpPr>
            <p:cNvPr id="21548" name="Rectangle 40"/>
            <p:cNvSpPr>
              <a:spLocks noChangeArrowheads="1"/>
            </p:cNvSpPr>
            <p:nvPr/>
          </p:nvSpPr>
          <p:spPr bwMode="auto">
            <a:xfrm>
              <a:off x="3574" y="2703"/>
              <a:ext cx="52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dirty="0" smtClean="0"/>
                <a:t>–</a:t>
              </a:r>
              <a:r>
                <a:rPr lang="en-US" altLang="en-US" sz="2000" dirty="0" smtClean="0">
                  <a:solidFill>
                    <a:srgbClr val="000000"/>
                  </a:solidFill>
                </a:rPr>
                <a:t>1.50</a:t>
              </a:r>
              <a:endParaRPr lang="en-US" altLang="en-US" sz="2000" dirty="0">
                <a:solidFill>
                  <a:srgbClr val="000000"/>
                </a:solidFill>
              </a:endParaRPr>
            </a:p>
          </p:txBody>
        </p:sp>
        <p:sp>
          <p:nvSpPr>
            <p:cNvPr id="21549" name="Rectangle 41"/>
            <p:cNvSpPr>
              <a:spLocks noChangeArrowheads="1"/>
            </p:cNvSpPr>
            <p:nvPr/>
          </p:nvSpPr>
          <p:spPr bwMode="auto">
            <a:xfrm>
              <a:off x="4392" y="2703"/>
              <a:ext cx="52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+0.15</a:t>
              </a:r>
            </a:p>
          </p:txBody>
        </p:sp>
        <p:sp>
          <p:nvSpPr>
            <p:cNvPr id="21550" name="Rectangle 42"/>
            <p:cNvSpPr>
              <a:spLocks noChangeArrowheads="1"/>
            </p:cNvSpPr>
            <p:nvPr/>
          </p:nvSpPr>
          <p:spPr bwMode="auto">
            <a:xfrm>
              <a:off x="837" y="2968"/>
              <a:ext cx="101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Mar. 8, 2018</a:t>
              </a:r>
            </a:p>
          </p:txBody>
        </p:sp>
        <p:sp>
          <p:nvSpPr>
            <p:cNvPr id="21551" name="Rectangle 43"/>
            <p:cNvSpPr>
              <a:spLocks noChangeArrowheads="1"/>
            </p:cNvSpPr>
            <p:nvPr/>
          </p:nvSpPr>
          <p:spPr bwMode="auto">
            <a:xfrm>
              <a:off x="1995" y="2968"/>
              <a:ext cx="48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dirty="0" smtClean="0">
                  <a:solidFill>
                    <a:srgbClr val="000000"/>
                  </a:solidFill>
                </a:rPr>
                <a:t>3.6</a:t>
              </a:r>
              <a:r>
                <a:rPr lang="en-US" altLang="en-US" sz="2000" dirty="0">
                  <a:solidFill>
                    <a:srgbClr val="000000"/>
                  </a:solidFill>
                </a:rPr>
                <a:t>%</a:t>
              </a:r>
            </a:p>
          </p:txBody>
        </p:sp>
        <p:sp>
          <p:nvSpPr>
            <p:cNvPr id="21552" name="Rectangle 44"/>
            <p:cNvSpPr>
              <a:spLocks noChangeArrowheads="1"/>
            </p:cNvSpPr>
            <p:nvPr/>
          </p:nvSpPr>
          <p:spPr bwMode="auto">
            <a:xfrm>
              <a:off x="2775" y="2968"/>
              <a:ext cx="52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dirty="0" smtClean="0">
                  <a:solidFill>
                    <a:srgbClr val="000000"/>
                  </a:solidFill>
                </a:rPr>
                <a:t>+1.75</a:t>
              </a:r>
              <a:endParaRPr lang="en-US" altLang="en-US" sz="2000" dirty="0">
                <a:solidFill>
                  <a:srgbClr val="000000"/>
                </a:solidFill>
              </a:endParaRPr>
            </a:p>
          </p:txBody>
        </p:sp>
        <p:sp>
          <p:nvSpPr>
            <p:cNvPr id="21553" name="Rectangle 45"/>
            <p:cNvSpPr>
              <a:spLocks noChangeArrowheads="1"/>
            </p:cNvSpPr>
            <p:nvPr/>
          </p:nvSpPr>
          <p:spPr bwMode="auto">
            <a:xfrm>
              <a:off x="3574" y="2968"/>
              <a:ext cx="52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dirty="0" smtClean="0"/>
                <a:t>–</a:t>
              </a:r>
              <a:r>
                <a:rPr lang="en-US" altLang="en-US" sz="2000" dirty="0" smtClean="0">
                  <a:solidFill>
                    <a:srgbClr val="000000"/>
                  </a:solidFill>
                </a:rPr>
                <a:t>1.50</a:t>
              </a:r>
              <a:endParaRPr lang="en-US" altLang="en-US" sz="2000" dirty="0">
                <a:solidFill>
                  <a:srgbClr val="000000"/>
                </a:solidFill>
              </a:endParaRPr>
            </a:p>
          </p:txBody>
        </p:sp>
        <p:sp>
          <p:nvSpPr>
            <p:cNvPr id="21554" name="Rectangle 46"/>
            <p:cNvSpPr>
              <a:spLocks noChangeArrowheads="1"/>
            </p:cNvSpPr>
            <p:nvPr/>
          </p:nvSpPr>
          <p:spPr bwMode="auto">
            <a:xfrm>
              <a:off x="4392" y="2968"/>
              <a:ext cx="52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+0.25</a:t>
              </a:r>
            </a:p>
          </p:txBody>
        </p:sp>
        <p:sp>
          <p:nvSpPr>
            <p:cNvPr id="21555" name="Rectangle 47"/>
            <p:cNvSpPr>
              <a:spLocks noChangeArrowheads="1"/>
            </p:cNvSpPr>
            <p:nvPr/>
          </p:nvSpPr>
          <p:spPr bwMode="auto">
            <a:xfrm>
              <a:off x="759" y="3234"/>
              <a:ext cx="107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Sept. 8, 2018</a:t>
              </a:r>
            </a:p>
          </p:txBody>
        </p:sp>
        <p:sp>
          <p:nvSpPr>
            <p:cNvPr id="21556" name="Rectangle 48"/>
            <p:cNvSpPr>
              <a:spLocks noChangeArrowheads="1"/>
            </p:cNvSpPr>
            <p:nvPr/>
          </p:nvSpPr>
          <p:spPr bwMode="auto">
            <a:xfrm>
              <a:off x="1995" y="3234"/>
              <a:ext cx="48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dirty="0" smtClean="0">
                  <a:solidFill>
                    <a:srgbClr val="000000"/>
                  </a:solidFill>
                </a:rPr>
                <a:t>3.9</a:t>
              </a:r>
              <a:r>
                <a:rPr lang="en-US" altLang="en-US" sz="2000" dirty="0">
                  <a:solidFill>
                    <a:srgbClr val="000000"/>
                  </a:solidFill>
                </a:rPr>
                <a:t>%</a:t>
              </a:r>
            </a:p>
          </p:txBody>
        </p:sp>
        <p:sp>
          <p:nvSpPr>
            <p:cNvPr id="21557" name="Rectangle 49"/>
            <p:cNvSpPr>
              <a:spLocks noChangeArrowheads="1"/>
            </p:cNvSpPr>
            <p:nvPr/>
          </p:nvSpPr>
          <p:spPr bwMode="auto">
            <a:xfrm>
              <a:off x="2775" y="3234"/>
              <a:ext cx="52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dirty="0" smtClean="0">
                  <a:solidFill>
                    <a:srgbClr val="000000"/>
                  </a:solidFill>
                </a:rPr>
                <a:t>+1.80</a:t>
              </a:r>
              <a:endParaRPr lang="en-US" altLang="en-US" sz="2000" dirty="0">
                <a:solidFill>
                  <a:srgbClr val="000000"/>
                </a:solidFill>
              </a:endParaRPr>
            </a:p>
          </p:txBody>
        </p:sp>
        <p:sp>
          <p:nvSpPr>
            <p:cNvPr id="21558" name="Rectangle 50"/>
            <p:cNvSpPr>
              <a:spLocks noChangeArrowheads="1"/>
            </p:cNvSpPr>
            <p:nvPr/>
          </p:nvSpPr>
          <p:spPr bwMode="auto">
            <a:xfrm>
              <a:off x="3574" y="3234"/>
              <a:ext cx="52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dirty="0" smtClean="0"/>
                <a:t>–</a:t>
              </a:r>
              <a:r>
                <a:rPr lang="en-US" altLang="en-US" sz="2000" dirty="0" smtClean="0">
                  <a:solidFill>
                    <a:srgbClr val="000000"/>
                  </a:solidFill>
                </a:rPr>
                <a:t>1.50</a:t>
              </a:r>
              <a:endParaRPr lang="en-US" altLang="en-US" sz="2000" dirty="0">
                <a:solidFill>
                  <a:srgbClr val="000000"/>
                </a:solidFill>
              </a:endParaRPr>
            </a:p>
          </p:txBody>
        </p:sp>
        <p:sp>
          <p:nvSpPr>
            <p:cNvPr id="21559" name="Rectangle 51"/>
            <p:cNvSpPr>
              <a:spLocks noChangeArrowheads="1"/>
            </p:cNvSpPr>
            <p:nvPr/>
          </p:nvSpPr>
          <p:spPr bwMode="auto">
            <a:xfrm>
              <a:off x="4392" y="3234"/>
              <a:ext cx="52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+0.30</a:t>
              </a:r>
            </a:p>
          </p:txBody>
        </p:sp>
        <p:sp>
          <p:nvSpPr>
            <p:cNvPr id="21560" name="Rectangle 52"/>
            <p:cNvSpPr>
              <a:spLocks noChangeArrowheads="1"/>
            </p:cNvSpPr>
            <p:nvPr/>
          </p:nvSpPr>
          <p:spPr bwMode="auto">
            <a:xfrm>
              <a:off x="837" y="3499"/>
              <a:ext cx="101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Mar. 8, 2019</a:t>
              </a:r>
            </a:p>
          </p:txBody>
        </p:sp>
        <p:sp>
          <p:nvSpPr>
            <p:cNvPr id="21561" name="Rectangle 53"/>
            <p:cNvSpPr>
              <a:spLocks noChangeArrowheads="1"/>
            </p:cNvSpPr>
            <p:nvPr/>
          </p:nvSpPr>
          <p:spPr bwMode="auto">
            <a:xfrm>
              <a:off x="1995" y="3499"/>
              <a:ext cx="48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dirty="0" smtClean="0">
                  <a:solidFill>
                    <a:srgbClr val="000000"/>
                  </a:solidFill>
                </a:rPr>
                <a:t>3.4</a:t>
              </a:r>
              <a:r>
                <a:rPr lang="en-US" altLang="en-US" sz="2000" dirty="0">
                  <a:solidFill>
                    <a:srgbClr val="000000"/>
                  </a:solidFill>
                </a:rPr>
                <a:t>%</a:t>
              </a:r>
            </a:p>
          </p:txBody>
        </p:sp>
        <p:sp>
          <p:nvSpPr>
            <p:cNvPr id="21562" name="Rectangle 54"/>
            <p:cNvSpPr>
              <a:spLocks noChangeArrowheads="1"/>
            </p:cNvSpPr>
            <p:nvPr/>
          </p:nvSpPr>
          <p:spPr bwMode="auto">
            <a:xfrm>
              <a:off x="2775" y="3499"/>
              <a:ext cx="52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dirty="0" smtClean="0">
                  <a:solidFill>
                    <a:srgbClr val="000000"/>
                  </a:solidFill>
                </a:rPr>
                <a:t>+1.95</a:t>
              </a:r>
              <a:endParaRPr lang="en-US" altLang="en-US" sz="2000" dirty="0">
                <a:solidFill>
                  <a:srgbClr val="000000"/>
                </a:solidFill>
              </a:endParaRPr>
            </a:p>
          </p:txBody>
        </p:sp>
        <p:sp>
          <p:nvSpPr>
            <p:cNvPr id="21563" name="Rectangle 55"/>
            <p:cNvSpPr>
              <a:spLocks noChangeArrowheads="1"/>
            </p:cNvSpPr>
            <p:nvPr/>
          </p:nvSpPr>
          <p:spPr bwMode="auto">
            <a:xfrm>
              <a:off x="3574" y="3499"/>
              <a:ext cx="52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dirty="0" smtClean="0"/>
                <a:t>–</a:t>
              </a:r>
              <a:r>
                <a:rPr lang="en-US" altLang="en-US" sz="2000" dirty="0" smtClean="0">
                  <a:solidFill>
                    <a:srgbClr val="000000"/>
                  </a:solidFill>
                </a:rPr>
                <a:t>1.50</a:t>
              </a:r>
              <a:endParaRPr lang="en-US" altLang="en-US" sz="2000" dirty="0">
                <a:solidFill>
                  <a:srgbClr val="000000"/>
                </a:solidFill>
              </a:endParaRPr>
            </a:p>
          </p:txBody>
        </p:sp>
        <p:sp>
          <p:nvSpPr>
            <p:cNvPr id="21564" name="Rectangle 56"/>
            <p:cNvSpPr>
              <a:spLocks noChangeArrowheads="1"/>
            </p:cNvSpPr>
            <p:nvPr/>
          </p:nvSpPr>
          <p:spPr bwMode="auto">
            <a:xfrm>
              <a:off x="4392" y="3499"/>
              <a:ext cx="52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+0.45</a:t>
              </a:r>
            </a:p>
          </p:txBody>
        </p:sp>
      </p:grpSp>
      <p:sp>
        <p:nvSpPr>
          <p:cNvPr id="21508" name="Rectangle 58"/>
          <p:cNvSpPr>
            <a:spLocks noGrp="1" noChangeArrowheads="1"/>
          </p:cNvSpPr>
          <p:nvPr>
            <p:ph type="title"/>
          </p:nvPr>
        </p:nvSpPr>
        <p:spPr>
          <a:xfrm>
            <a:off x="474663" y="211138"/>
            <a:ext cx="8204200" cy="1011237"/>
          </a:xfrm>
          <a:noFill/>
        </p:spPr>
        <p:txBody>
          <a:bodyPr lIns="92075" tIns="46038" rIns="92075" bIns="46038" anchor="ctr"/>
          <a:lstStyle/>
          <a:p>
            <a:pPr eaLnBrk="1" hangingPunct="1"/>
            <a:r>
              <a:rPr lang="en-US" altLang="en-US" sz="3500" smtClean="0"/>
              <a:t>Cash Flows to Apple</a:t>
            </a:r>
            <a:br>
              <a:rPr lang="en-US" altLang="en-US" sz="3500" smtClean="0"/>
            </a:br>
            <a:r>
              <a:rPr lang="en-US" altLang="en-US" sz="2200" smtClean="0"/>
              <a:t>(See Table 7.1, page 163</a:t>
            </a:r>
            <a:endParaRPr lang="en-US" altLang="en-US" sz="3500" smtClean="0"/>
          </a:p>
        </p:txBody>
      </p:sp>
      <p:sp>
        <p:nvSpPr>
          <p:cNvPr id="21509" name="Slide Number Placeholder 60"/>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D6EA468-405D-42D0-9132-4A4753760BA6}" type="slidenum">
              <a:rPr lang="en-US" altLang="en-US" sz="1800"/>
              <a:pPr>
                <a:spcBef>
                  <a:spcPct val="0"/>
                </a:spcBef>
                <a:buClrTx/>
                <a:buSzTx/>
                <a:buFontTx/>
                <a:buNone/>
              </a:pPr>
              <a:t>4</a:t>
            </a:fld>
            <a:endParaRPr lang="en-US" altLang="en-US" sz="1800"/>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9th Ed, Ch 7, Copyright © John C. Hull 2016</a:t>
            </a:r>
            <a:endParaRPr lang="en-US" altLang="en-US" sz="1400" i="0"/>
          </a:p>
        </p:txBody>
      </p:sp>
      <p:sp>
        <p:nvSpPr>
          <p:cNvPr id="23555" name="Rectangle 2"/>
          <p:cNvSpPr>
            <a:spLocks noGrp="1" noChangeArrowheads="1"/>
          </p:cNvSpPr>
          <p:nvPr>
            <p:ph type="title"/>
          </p:nvPr>
        </p:nvSpPr>
        <p:spPr>
          <a:xfrm>
            <a:off x="685800" y="404813"/>
            <a:ext cx="7054850" cy="1295400"/>
          </a:xfrm>
          <a:noFill/>
        </p:spPr>
        <p:txBody>
          <a:bodyPr lIns="92075" tIns="46038" rIns="92075" bIns="46038" anchor="ctr"/>
          <a:lstStyle/>
          <a:p>
            <a:pPr eaLnBrk="1" hangingPunct="1"/>
            <a:r>
              <a:rPr lang="en-US" altLang="en-US" smtClean="0"/>
              <a:t>Typical Uses of an</a:t>
            </a:r>
            <a:br>
              <a:rPr lang="en-US" altLang="en-US" smtClean="0"/>
            </a:br>
            <a:r>
              <a:rPr lang="en-US" altLang="en-US" smtClean="0"/>
              <a:t>Interest Rate Swap</a:t>
            </a:r>
          </a:p>
        </p:txBody>
      </p:sp>
      <p:sp>
        <p:nvSpPr>
          <p:cNvPr id="23556" name="Rectangle 3"/>
          <p:cNvSpPr>
            <a:spLocks noGrp="1" noChangeArrowheads="1"/>
          </p:cNvSpPr>
          <p:nvPr>
            <p:ph type="body" sz="half" idx="1"/>
          </p:nvPr>
        </p:nvSpPr>
        <p:spPr>
          <a:xfrm>
            <a:off x="827088" y="2328863"/>
            <a:ext cx="7273925" cy="1460500"/>
          </a:xfrm>
          <a:noFill/>
        </p:spPr>
        <p:txBody>
          <a:bodyPr lIns="92075" tIns="46038" rIns="92075" bIns="46038"/>
          <a:lstStyle/>
          <a:p>
            <a:pPr eaLnBrk="1" hangingPunct="1">
              <a:lnSpc>
                <a:spcPct val="80000"/>
              </a:lnSpc>
            </a:pPr>
            <a:r>
              <a:rPr lang="en-US" altLang="en-US" sz="3200" smtClean="0"/>
              <a:t>Converting a liability from</a:t>
            </a:r>
          </a:p>
          <a:p>
            <a:pPr lvl="1" eaLnBrk="1" hangingPunct="1">
              <a:lnSpc>
                <a:spcPct val="80000"/>
              </a:lnSpc>
            </a:pPr>
            <a:r>
              <a:rPr lang="en-US" altLang="en-US" sz="3200" smtClean="0"/>
              <a:t>fixed rate to floating rate </a:t>
            </a:r>
          </a:p>
          <a:p>
            <a:pPr lvl="1" eaLnBrk="1" hangingPunct="1">
              <a:lnSpc>
                <a:spcPct val="80000"/>
              </a:lnSpc>
            </a:pPr>
            <a:r>
              <a:rPr lang="en-US" altLang="en-US" sz="3200" smtClean="0"/>
              <a:t>floating rate to fixed rate </a:t>
            </a:r>
          </a:p>
          <a:p>
            <a:pPr lvl="1" eaLnBrk="1" hangingPunct="1">
              <a:lnSpc>
                <a:spcPct val="80000"/>
              </a:lnSpc>
            </a:pPr>
            <a:endParaRPr lang="en-US" altLang="en-US" sz="3200" smtClean="0"/>
          </a:p>
          <a:p>
            <a:pPr eaLnBrk="1" hangingPunct="1">
              <a:lnSpc>
                <a:spcPct val="80000"/>
              </a:lnSpc>
            </a:pPr>
            <a:r>
              <a:rPr lang="en-US" altLang="en-US" sz="3200" smtClean="0"/>
              <a:t>Converting an investment from </a:t>
            </a:r>
          </a:p>
          <a:p>
            <a:pPr lvl="1" eaLnBrk="1" hangingPunct="1">
              <a:lnSpc>
                <a:spcPct val="80000"/>
              </a:lnSpc>
            </a:pPr>
            <a:r>
              <a:rPr lang="en-US" altLang="en-US" sz="3200" smtClean="0"/>
              <a:t>fixed rate to floating rate</a:t>
            </a:r>
          </a:p>
          <a:p>
            <a:pPr lvl="1" eaLnBrk="1" hangingPunct="1">
              <a:lnSpc>
                <a:spcPct val="80000"/>
              </a:lnSpc>
            </a:pPr>
            <a:r>
              <a:rPr lang="en-US" altLang="en-US" sz="3200" smtClean="0"/>
              <a:t>floating rate to fixed rate </a:t>
            </a:r>
          </a:p>
          <a:p>
            <a:pPr lvl="1" eaLnBrk="1" hangingPunct="1">
              <a:lnSpc>
                <a:spcPct val="80000"/>
              </a:lnSpc>
            </a:pPr>
            <a:endParaRPr lang="en-US" altLang="en-US" sz="3200" smtClean="0"/>
          </a:p>
        </p:txBody>
      </p:sp>
      <p:sp>
        <p:nvSpPr>
          <p:cNvPr id="2355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487CF2E5-54C6-4A80-BE19-06047C2479F4}" type="slidenum">
              <a:rPr lang="en-US" altLang="en-US" sz="1800"/>
              <a:pPr>
                <a:spcBef>
                  <a:spcPct val="0"/>
                </a:spcBef>
                <a:buClrTx/>
                <a:buSzTx/>
                <a:buFontTx/>
                <a:buNone/>
              </a:pPr>
              <a:t>5</a:t>
            </a:fld>
            <a:endParaRPr lang="en-US" altLang="en-US" sz="1800"/>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CA" altLang="en-US" smtClean="0"/>
              <a:t>Interest Rate Swap Between Apple and Citigroup </a:t>
            </a:r>
            <a:r>
              <a:rPr lang="en-CA" altLang="en-US" sz="2400" smtClean="0"/>
              <a:t>(Figure 7.1, page 162)</a:t>
            </a:r>
            <a:endParaRPr lang="en-US" altLang="en-US" sz="2400" smtClean="0"/>
          </a:p>
        </p:txBody>
      </p:sp>
      <p:sp>
        <p:nvSpPr>
          <p:cNvPr id="25603"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Options, Futures, and Other Derivatives, 9th Ed, Ch 7, Copyright © John C. Hull 2016</a:t>
            </a:r>
            <a:endParaRPr lang="en-US" altLang="en-US" i="0"/>
          </a:p>
        </p:txBody>
      </p:sp>
      <p:sp>
        <p:nvSpPr>
          <p:cNvPr id="2560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6B40CDF-EF5A-4EAA-A8AE-902ED947A6C8}" type="slidenum">
              <a:rPr lang="en-US" altLang="en-US"/>
              <a:pPr/>
              <a:t>6</a:t>
            </a:fld>
            <a:endParaRPr lang="en-US" altLang="en-US"/>
          </a:p>
        </p:txBody>
      </p:sp>
      <p:grpSp>
        <p:nvGrpSpPr>
          <p:cNvPr id="25605" name="Group 4"/>
          <p:cNvGrpSpPr>
            <a:grpSpLocks/>
          </p:cNvGrpSpPr>
          <p:nvPr/>
        </p:nvGrpSpPr>
        <p:grpSpPr bwMode="auto">
          <a:xfrm>
            <a:off x="2170113" y="3116263"/>
            <a:ext cx="4562475" cy="1311275"/>
            <a:chOff x="2267744" y="3238339"/>
            <a:chExt cx="4464496" cy="1183780"/>
          </a:xfrm>
        </p:grpSpPr>
        <p:sp>
          <p:nvSpPr>
            <p:cNvPr id="6" name="Rectangle 5"/>
            <p:cNvSpPr/>
            <p:nvPr/>
          </p:nvSpPr>
          <p:spPr>
            <a:xfrm>
              <a:off x="2267744" y="3357290"/>
              <a:ext cx="1295543" cy="914348"/>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a:latin typeface="Times New Roman" panose="02020603050405020304" pitchFamily="18" charset="0"/>
                  <a:cs typeface="Times New Roman" panose="02020603050405020304" pitchFamily="18" charset="0"/>
                </a:rPr>
                <a:t>Citi</a:t>
              </a:r>
              <a:endParaRPr lang="en-CA" sz="2800" dirty="0">
                <a:latin typeface="Times New Roman" panose="02020603050405020304" pitchFamily="18" charset="0"/>
                <a:cs typeface="Times New Roman" panose="02020603050405020304" pitchFamily="18" charset="0"/>
              </a:endParaRPr>
            </a:p>
          </p:txBody>
        </p:sp>
        <p:sp>
          <p:nvSpPr>
            <p:cNvPr id="7" name="Rectangle 6"/>
            <p:cNvSpPr/>
            <p:nvPr/>
          </p:nvSpPr>
          <p:spPr>
            <a:xfrm>
              <a:off x="5169511" y="3357290"/>
              <a:ext cx="1562729" cy="914348"/>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a:latin typeface="Times New Roman" panose="02020603050405020304" pitchFamily="18" charset="0"/>
                  <a:cs typeface="Times New Roman" panose="02020603050405020304" pitchFamily="18" charset="0"/>
                </a:rPr>
                <a:t>Apple</a:t>
              </a:r>
              <a:endParaRPr lang="en-CA" sz="2800" dirty="0">
                <a:latin typeface="Times New Roman" panose="02020603050405020304" pitchFamily="18" charset="0"/>
                <a:cs typeface="Times New Roman" panose="02020603050405020304" pitchFamily="18" charset="0"/>
              </a:endParaRPr>
            </a:p>
          </p:txBody>
        </p:sp>
        <p:cxnSp>
          <p:nvCxnSpPr>
            <p:cNvPr id="8" name="Straight Arrow Connector 7"/>
            <p:cNvCxnSpPr/>
            <p:nvPr/>
          </p:nvCxnSpPr>
          <p:spPr>
            <a:xfrm flipH="1">
              <a:off x="3563287" y="3645353"/>
              <a:ext cx="1606224"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9" name="Straight Arrow Connector 8"/>
            <p:cNvCxnSpPr/>
            <p:nvPr/>
          </p:nvCxnSpPr>
          <p:spPr>
            <a:xfrm>
              <a:off x="3563287" y="4005073"/>
              <a:ext cx="1606224"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5610" name="TextBox 9"/>
            <p:cNvSpPr txBox="1">
              <a:spLocks noChangeArrowheads="1"/>
            </p:cNvSpPr>
            <p:nvPr/>
          </p:nvSpPr>
          <p:spPr bwMode="auto">
            <a:xfrm>
              <a:off x="3995936" y="3238339"/>
              <a:ext cx="864096" cy="417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3.0%</a:t>
              </a:r>
              <a:endParaRPr lang="en-CA" altLang="en-US" sz="2400">
                <a:latin typeface="Times New Roman" panose="02020603050405020304" pitchFamily="18" charset="0"/>
                <a:cs typeface="Times New Roman" panose="02020603050405020304" pitchFamily="18" charset="0"/>
              </a:endParaRPr>
            </a:p>
          </p:txBody>
        </p:sp>
        <p:sp>
          <p:nvSpPr>
            <p:cNvPr id="25611" name="TextBox 10"/>
            <p:cNvSpPr txBox="1">
              <a:spLocks noChangeArrowheads="1"/>
            </p:cNvSpPr>
            <p:nvPr/>
          </p:nvSpPr>
          <p:spPr bwMode="auto">
            <a:xfrm>
              <a:off x="3903715" y="4005064"/>
              <a:ext cx="1137361" cy="417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LIBOR</a:t>
              </a:r>
              <a:endParaRPr lang="en-CA" altLang="en-US" sz="2400">
                <a:latin typeface="Times New Roman" panose="02020603050405020304" pitchFamily="18" charset="0"/>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9th Ed, Ch 7, Copyright © John C. Hull 2016</a:t>
            </a:r>
            <a:endParaRPr lang="en-US" altLang="en-US" sz="1400" i="0"/>
          </a:p>
        </p:txBody>
      </p:sp>
      <p:sp>
        <p:nvSpPr>
          <p:cNvPr id="26627" name="Rectangle 2"/>
          <p:cNvSpPr>
            <a:spLocks noGrp="1" noChangeArrowheads="1"/>
          </p:cNvSpPr>
          <p:nvPr>
            <p:ph type="title"/>
          </p:nvPr>
        </p:nvSpPr>
        <p:spPr>
          <a:xfrm>
            <a:off x="468313" y="549275"/>
            <a:ext cx="7532687" cy="1295400"/>
          </a:xfrm>
          <a:noFill/>
        </p:spPr>
        <p:txBody>
          <a:bodyPr lIns="92075" tIns="46038" rIns="92075" bIns="46038" anchor="ctr"/>
          <a:lstStyle/>
          <a:p>
            <a:pPr eaLnBrk="1" hangingPunct="1"/>
            <a:r>
              <a:rPr lang="en-US" altLang="en-US" smtClean="0"/>
              <a:t>Apple Transforms a Liability from Floating to Fixed</a:t>
            </a:r>
            <a:br>
              <a:rPr lang="en-US" altLang="en-US" smtClean="0"/>
            </a:br>
            <a:r>
              <a:rPr lang="en-US" altLang="en-US" sz="2200" smtClean="0"/>
              <a:t>(Figure 7.2, page 164)</a:t>
            </a:r>
            <a:r>
              <a:rPr lang="en-US" altLang="en-US" smtClean="0"/>
              <a:t/>
            </a:r>
            <a:br>
              <a:rPr lang="en-US" altLang="en-US" smtClean="0"/>
            </a:br>
            <a:endParaRPr lang="en-US" altLang="en-US" smtClean="0"/>
          </a:p>
        </p:txBody>
      </p:sp>
      <p:sp>
        <p:nvSpPr>
          <p:cNvPr id="26628" name="Slide Number Placeholder 1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C9B651A-AF2B-4FA9-81BA-4D8361E27A9B}" type="slidenum">
              <a:rPr lang="en-US" altLang="en-US" sz="1800"/>
              <a:pPr>
                <a:spcBef>
                  <a:spcPct val="0"/>
                </a:spcBef>
                <a:buClrTx/>
                <a:buSzTx/>
                <a:buFontTx/>
                <a:buNone/>
              </a:pPr>
              <a:t>7</a:t>
            </a:fld>
            <a:endParaRPr lang="en-US" altLang="en-US" sz="1800"/>
          </a:p>
        </p:txBody>
      </p:sp>
      <p:grpSp>
        <p:nvGrpSpPr>
          <p:cNvPr id="26629" name="Group 14"/>
          <p:cNvGrpSpPr>
            <a:grpSpLocks/>
          </p:cNvGrpSpPr>
          <p:nvPr/>
        </p:nvGrpSpPr>
        <p:grpSpPr bwMode="auto">
          <a:xfrm>
            <a:off x="1123950" y="2919413"/>
            <a:ext cx="6877050" cy="1330325"/>
            <a:chOff x="2267744" y="3263328"/>
            <a:chExt cx="6610128" cy="1135794"/>
          </a:xfrm>
        </p:grpSpPr>
        <p:sp>
          <p:nvSpPr>
            <p:cNvPr id="16" name="Rectangle 15"/>
            <p:cNvSpPr/>
            <p:nvPr/>
          </p:nvSpPr>
          <p:spPr>
            <a:xfrm>
              <a:off x="2267744" y="3356848"/>
              <a:ext cx="1295476" cy="914870"/>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a:latin typeface="Times New Roman" panose="02020603050405020304" pitchFamily="18" charset="0"/>
                  <a:cs typeface="Times New Roman" panose="02020603050405020304" pitchFamily="18" charset="0"/>
                </a:rPr>
                <a:t>Citi</a:t>
              </a:r>
              <a:endParaRPr lang="en-CA" sz="2800" dirty="0">
                <a:latin typeface="Times New Roman" panose="02020603050405020304" pitchFamily="18" charset="0"/>
                <a:cs typeface="Times New Roman" panose="02020603050405020304" pitchFamily="18" charset="0"/>
              </a:endParaRPr>
            </a:p>
          </p:txBody>
        </p:sp>
        <p:sp>
          <p:nvSpPr>
            <p:cNvPr id="17" name="Rectangle 16"/>
            <p:cNvSpPr/>
            <p:nvPr/>
          </p:nvSpPr>
          <p:spPr>
            <a:xfrm>
              <a:off x="5169975" y="3356848"/>
              <a:ext cx="1562505" cy="914870"/>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a:latin typeface="Times New Roman" panose="02020603050405020304" pitchFamily="18" charset="0"/>
                  <a:cs typeface="Times New Roman" panose="02020603050405020304" pitchFamily="18" charset="0"/>
                </a:rPr>
                <a:t>Apple</a:t>
              </a:r>
              <a:endParaRPr lang="en-CA" sz="2800" dirty="0">
                <a:latin typeface="Times New Roman" panose="02020603050405020304" pitchFamily="18" charset="0"/>
                <a:cs typeface="Times New Roman" panose="02020603050405020304" pitchFamily="18" charset="0"/>
              </a:endParaRPr>
            </a:p>
          </p:txBody>
        </p:sp>
        <p:cxnSp>
          <p:nvCxnSpPr>
            <p:cNvPr id="18" name="Straight Arrow Connector 17"/>
            <p:cNvCxnSpPr/>
            <p:nvPr/>
          </p:nvCxnSpPr>
          <p:spPr>
            <a:xfrm flipH="1">
              <a:off x="3563220" y="3645540"/>
              <a:ext cx="1606755"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Straight Arrow Connector 18"/>
            <p:cNvCxnSpPr/>
            <p:nvPr/>
          </p:nvCxnSpPr>
          <p:spPr>
            <a:xfrm>
              <a:off x="3563220" y="4004711"/>
              <a:ext cx="1606755"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6634" name="TextBox 19"/>
            <p:cNvSpPr txBox="1">
              <a:spLocks noChangeArrowheads="1"/>
            </p:cNvSpPr>
            <p:nvPr/>
          </p:nvSpPr>
          <p:spPr bwMode="auto">
            <a:xfrm>
              <a:off x="4081309" y="3263328"/>
              <a:ext cx="880776" cy="394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3.0%</a:t>
              </a:r>
              <a:endParaRPr lang="en-CA" altLang="en-US" sz="2400">
                <a:latin typeface="Times New Roman" panose="02020603050405020304" pitchFamily="18" charset="0"/>
                <a:cs typeface="Times New Roman" panose="02020603050405020304" pitchFamily="18" charset="0"/>
              </a:endParaRPr>
            </a:p>
          </p:txBody>
        </p:sp>
        <p:sp>
          <p:nvSpPr>
            <p:cNvPr id="26635" name="TextBox 20"/>
            <p:cNvSpPr txBox="1">
              <a:spLocks noChangeArrowheads="1"/>
            </p:cNvSpPr>
            <p:nvPr/>
          </p:nvSpPr>
          <p:spPr bwMode="auto">
            <a:xfrm>
              <a:off x="3903715" y="4005064"/>
              <a:ext cx="1095271" cy="394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LIBOR</a:t>
              </a:r>
              <a:endParaRPr lang="en-CA" altLang="en-US" sz="2400">
                <a:latin typeface="Times New Roman" panose="02020603050405020304" pitchFamily="18" charset="0"/>
                <a:cs typeface="Times New Roman" panose="02020603050405020304" pitchFamily="18" charset="0"/>
              </a:endParaRPr>
            </a:p>
          </p:txBody>
        </p:sp>
        <p:cxnSp>
          <p:nvCxnSpPr>
            <p:cNvPr id="22" name="Straight Arrow Connector 21"/>
            <p:cNvCxnSpPr>
              <a:stCxn id="17" idx="3"/>
            </p:cNvCxnSpPr>
            <p:nvPr/>
          </p:nvCxnSpPr>
          <p:spPr>
            <a:xfrm flipV="1">
              <a:off x="6732480" y="3808184"/>
              <a:ext cx="1756293" cy="542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6637" name="TextBox 22"/>
            <p:cNvSpPr txBox="1">
              <a:spLocks noChangeArrowheads="1"/>
            </p:cNvSpPr>
            <p:nvPr/>
          </p:nvSpPr>
          <p:spPr bwMode="auto">
            <a:xfrm>
              <a:off x="6903023" y="3460358"/>
              <a:ext cx="1974849" cy="394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LIBOR+0.1%</a:t>
              </a:r>
              <a:endParaRPr lang="en-CA" altLang="en-US" sz="2400">
                <a:latin typeface="Times New Roman" panose="02020603050405020304" pitchFamily="18" charset="0"/>
                <a:cs typeface="Times New Roman" panose="02020603050405020304" pitchFamily="18" charset="0"/>
              </a:endParaRPr>
            </a:p>
          </p:txBody>
        </p:sp>
      </p:gr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CA" altLang="en-US" smtClean="0"/>
              <a:t>Interest Rate Swap Between Citigroup and Intel </a:t>
            </a:r>
            <a:r>
              <a:rPr lang="en-CA" altLang="en-US" sz="2400" smtClean="0"/>
              <a:t>(Figure 7.3, page 165)</a:t>
            </a:r>
            <a:endParaRPr lang="en-US" altLang="en-US" sz="2400" smtClean="0"/>
          </a:p>
        </p:txBody>
      </p:sp>
      <p:sp>
        <p:nvSpPr>
          <p:cNvPr id="28675"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Options, Futures, and Other Derivatives, 9th Ed, Ch 7, Copyright © John C. Hull 2016</a:t>
            </a:r>
            <a:endParaRPr lang="en-US" altLang="en-US" i="0"/>
          </a:p>
        </p:txBody>
      </p:sp>
      <p:sp>
        <p:nvSpPr>
          <p:cNvPr id="2867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A8B30CA-CD53-4842-A5D0-C198EC8C82CC}" type="slidenum">
              <a:rPr lang="en-US" altLang="en-US"/>
              <a:pPr/>
              <a:t>8</a:t>
            </a:fld>
            <a:endParaRPr lang="en-US" altLang="en-US"/>
          </a:p>
        </p:txBody>
      </p:sp>
      <p:grpSp>
        <p:nvGrpSpPr>
          <p:cNvPr id="28677" name="Group 4"/>
          <p:cNvGrpSpPr>
            <a:grpSpLocks/>
          </p:cNvGrpSpPr>
          <p:nvPr/>
        </p:nvGrpSpPr>
        <p:grpSpPr bwMode="auto">
          <a:xfrm>
            <a:off x="1403350" y="2420938"/>
            <a:ext cx="5149850" cy="1384300"/>
            <a:chOff x="2267744" y="3172326"/>
            <a:chExt cx="4464496" cy="1371644"/>
          </a:xfrm>
        </p:grpSpPr>
        <p:sp>
          <p:nvSpPr>
            <p:cNvPr id="6" name="Rectangle 5"/>
            <p:cNvSpPr/>
            <p:nvPr/>
          </p:nvSpPr>
          <p:spPr>
            <a:xfrm>
              <a:off x="2267744" y="3356365"/>
              <a:ext cx="1296410" cy="915478"/>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a:latin typeface="Times New Roman" panose="02020603050405020304" pitchFamily="18" charset="0"/>
                  <a:cs typeface="Times New Roman" panose="02020603050405020304" pitchFamily="18" charset="0"/>
                </a:rPr>
                <a:t>Citi</a:t>
              </a:r>
              <a:endParaRPr lang="en-CA" sz="2800" dirty="0">
                <a:latin typeface="Times New Roman" panose="02020603050405020304" pitchFamily="18" charset="0"/>
                <a:cs typeface="Times New Roman" panose="02020603050405020304" pitchFamily="18" charset="0"/>
              </a:endParaRPr>
            </a:p>
          </p:txBody>
        </p:sp>
        <p:sp>
          <p:nvSpPr>
            <p:cNvPr id="7" name="Rectangle 6"/>
            <p:cNvSpPr/>
            <p:nvPr/>
          </p:nvSpPr>
          <p:spPr>
            <a:xfrm>
              <a:off x="5170217" y="3356365"/>
              <a:ext cx="1562023" cy="915478"/>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a:latin typeface="Times New Roman" panose="02020603050405020304" pitchFamily="18" charset="0"/>
                  <a:cs typeface="Times New Roman" panose="02020603050405020304" pitchFamily="18" charset="0"/>
                </a:rPr>
                <a:t>Intel</a:t>
              </a:r>
              <a:endParaRPr lang="en-CA" sz="2800" dirty="0">
                <a:latin typeface="Times New Roman" panose="02020603050405020304" pitchFamily="18" charset="0"/>
                <a:cs typeface="Times New Roman" panose="02020603050405020304" pitchFamily="18" charset="0"/>
              </a:endParaRPr>
            </a:p>
          </p:txBody>
        </p:sp>
        <p:sp>
          <p:nvSpPr>
            <p:cNvPr id="28680" name="TextBox 7"/>
            <p:cNvSpPr txBox="1">
              <a:spLocks noChangeArrowheads="1"/>
            </p:cNvSpPr>
            <p:nvPr/>
          </p:nvSpPr>
          <p:spPr bwMode="auto">
            <a:xfrm>
              <a:off x="3995936" y="3172326"/>
              <a:ext cx="1008112" cy="457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2.97%</a:t>
              </a:r>
              <a:endParaRPr lang="en-CA" altLang="en-US" sz="2400">
                <a:latin typeface="Times New Roman" panose="02020603050405020304" pitchFamily="18" charset="0"/>
                <a:cs typeface="Times New Roman" panose="02020603050405020304" pitchFamily="18" charset="0"/>
              </a:endParaRPr>
            </a:p>
          </p:txBody>
        </p:sp>
        <p:sp>
          <p:nvSpPr>
            <p:cNvPr id="28681" name="TextBox 8"/>
            <p:cNvSpPr txBox="1">
              <a:spLocks noChangeArrowheads="1"/>
            </p:cNvSpPr>
            <p:nvPr/>
          </p:nvSpPr>
          <p:spPr bwMode="auto">
            <a:xfrm>
              <a:off x="3995936" y="4086726"/>
              <a:ext cx="1008112" cy="457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LIBOR</a:t>
              </a:r>
              <a:endParaRPr lang="en-CA" altLang="en-US" sz="2400">
                <a:latin typeface="Times New Roman" panose="02020603050405020304" pitchFamily="18" charset="0"/>
                <a:cs typeface="Times New Roman" panose="02020603050405020304" pitchFamily="18" charset="0"/>
              </a:endParaRPr>
            </a:p>
          </p:txBody>
        </p:sp>
        <p:cxnSp>
          <p:nvCxnSpPr>
            <p:cNvPr id="10" name="Straight Arrow Connector 9"/>
            <p:cNvCxnSpPr/>
            <p:nvPr/>
          </p:nvCxnSpPr>
          <p:spPr>
            <a:xfrm flipH="1">
              <a:off x="3564154" y="4086231"/>
              <a:ext cx="1606063"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1" name="Straight Arrow Connector 10"/>
            <p:cNvCxnSpPr/>
            <p:nvPr/>
          </p:nvCxnSpPr>
          <p:spPr>
            <a:xfrm>
              <a:off x="3564154" y="3541977"/>
              <a:ext cx="1606063"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CA" altLang="en-US" smtClean="0"/>
              <a:t>Intel Transforms a Liability from Fixed to Floating </a:t>
            </a:r>
            <a:r>
              <a:rPr lang="en-CA" altLang="en-US" sz="2400" smtClean="0"/>
              <a:t>(Figure 7.4, page 165)</a:t>
            </a:r>
            <a:endParaRPr lang="en-US" altLang="en-US" sz="2400" smtClean="0"/>
          </a:p>
        </p:txBody>
      </p:sp>
      <p:sp>
        <p:nvSpPr>
          <p:cNvPr id="29699"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Options, Futures, and Other Derivatives, 9th Ed, Ch 7, Copyright © John C. Hull 2016</a:t>
            </a:r>
            <a:endParaRPr lang="en-US" altLang="en-US" i="0"/>
          </a:p>
        </p:txBody>
      </p:sp>
      <p:sp>
        <p:nvSpPr>
          <p:cNvPr id="2970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0E0FA52-75B0-49D0-B013-A2547A894FC4}" type="slidenum">
              <a:rPr lang="en-US" altLang="en-US"/>
              <a:pPr/>
              <a:t>9</a:t>
            </a:fld>
            <a:endParaRPr lang="en-US" altLang="en-US"/>
          </a:p>
        </p:txBody>
      </p:sp>
      <p:grpSp>
        <p:nvGrpSpPr>
          <p:cNvPr id="29701" name="Group 4"/>
          <p:cNvGrpSpPr>
            <a:grpSpLocks/>
          </p:cNvGrpSpPr>
          <p:nvPr/>
        </p:nvGrpSpPr>
        <p:grpSpPr bwMode="auto">
          <a:xfrm>
            <a:off x="1403350" y="2355850"/>
            <a:ext cx="5905500" cy="1427163"/>
            <a:chOff x="2267744" y="3107992"/>
            <a:chExt cx="5904656" cy="1426696"/>
          </a:xfrm>
        </p:grpSpPr>
        <p:sp>
          <p:nvSpPr>
            <p:cNvPr id="6" name="Rectangle 5"/>
            <p:cNvSpPr/>
            <p:nvPr/>
          </p:nvSpPr>
          <p:spPr>
            <a:xfrm>
              <a:off x="2267744" y="3357148"/>
              <a:ext cx="1296803" cy="914101"/>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a:latin typeface="Times New Roman" panose="02020603050405020304" pitchFamily="18" charset="0"/>
                  <a:cs typeface="Times New Roman" panose="02020603050405020304" pitchFamily="18" charset="0"/>
                </a:rPr>
                <a:t>Citi</a:t>
              </a:r>
              <a:endParaRPr lang="en-CA" sz="2800" dirty="0">
                <a:latin typeface="Times New Roman" panose="02020603050405020304" pitchFamily="18" charset="0"/>
                <a:cs typeface="Times New Roman" panose="02020603050405020304" pitchFamily="18" charset="0"/>
              </a:endParaRPr>
            </a:p>
          </p:txBody>
        </p:sp>
        <p:sp>
          <p:nvSpPr>
            <p:cNvPr id="7" name="Rectangle 6"/>
            <p:cNvSpPr/>
            <p:nvPr/>
          </p:nvSpPr>
          <p:spPr>
            <a:xfrm>
              <a:off x="5169279" y="3357148"/>
              <a:ext cx="1563465" cy="914101"/>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a:latin typeface="Times New Roman" panose="02020603050405020304" pitchFamily="18" charset="0"/>
                  <a:cs typeface="Times New Roman" panose="02020603050405020304" pitchFamily="18" charset="0"/>
                </a:rPr>
                <a:t>Intel</a:t>
              </a:r>
              <a:endParaRPr lang="en-CA" sz="2800" dirty="0">
                <a:latin typeface="Times New Roman" panose="02020603050405020304" pitchFamily="18" charset="0"/>
                <a:cs typeface="Times New Roman" panose="02020603050405020304" pitchFamily="18" charset="0"/>
              </a:endParaRPr>
            </a:p>
          </p:txBody>
        </p:sp>
        <p:sp>
          <p:nvSpPr>
            <p:cNvPr id="29704" name="TextBox 7"/>
            <p:cNvSpPr txBox="1">
              <a:spLocks noChangeArrowheads="1"/>
            </p:cNvSpPr>
            <p:nvPr/>
          </p:nvSpPr>
          <p:spPr bwMode="auto">
            <a:xfrm>
              <a:off x="3995936" y="3107992"/>
              <a:ext cx="10081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2.97%</a:t>
              </a:r>
              <a:endParaRPr lang="en-CA" altLang="en-US" sz="2400">
                <a:latin typeface="Times New Roman" panose="02020603050405020304" pitchFamily="18" charset="0"/>
                <a:cs typeface="Times New Roman" panose="02020603050405020304" pitchFamily="18" charset="0"/>
              </a:endParaRPr>
            </a:p>
          </p:txBody>
        </p:sp>
        <p:sp>
          <p:nvSpPr>
            <p:cNvPr id="29705" name="TextBox 8"/>
            <p:cNvSpPr txBox="1">
              <a:spLocks noChangeArrowheads="1"/>
            </p:cNvSpPr>
            <p:nvPr/>
          </p:nvSpPr>
          <p:spPr bwMode="auto">
            <a:xfrm>
              <a:off x="3862772" y="4073023"/>
              <a:ext cx="11412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LIBOR</a:t>
              </a:r>
              <a:endParaRPr lang="en-CA" altLang="en-US" sz="2400">
                <a:latin typeface="Times New Roman" panose="02020603050405020304" pitchFamily="18" charset="0"/>
                <a:cs typeface="Times New Roman" panose="02020603050405020304" pitchFamily="18" charset="0"/>
              </a:endParaRPr>
            </a:p>
          </p:txBody>
        </p:sp>
        <p:cxnSp>
          <p:nvCxnSpPr>
            <p:cNvPr id="10" name="Straight Arrow Connector 9"/>
            <p:cNvCxnSpPr/>
            <p:nvPr/>
          </p:nvCxnSpPr>
          <p:spPr>
            <a:xfrm flipH="1">
              <a:off x="3564547" y="4087159"/>
              <a:ext cx="1604733"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1" name="Straight Arrow Connector 10"/>
            <p:cNvCxnSpPr/>
            <p:nvPr/>
          </p:nvCxnSpPr>
          <p:spPr>
            <a:xfrm>
              <a:off x="3564547" y="3541238"/>
              <a:ext cx="1604733"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2" name="Straight Arrow Connector 11"/>
            <p:cNvCxnSpPr>
              <a:stCxn id="7" idx="3"/>
            </p:cNvCxnSpPr>
            <p:nvPr/>
          </p:nvCxnSpPr>
          <p:spPr>
            <a:xfrm>
              <a:off x="6732744" y="3814199"/>
              <a:ext cx="1439656"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9709" name="TextBox 12"/>
            <p:cNvSpPr txBox="1">
              <a:spLocks noChangeArrowheads="1"/>
            </p:cNvSpPr>
            <p:nvPr/>
          </p:nvSpPr>
          <p:spPr bwMode="auto">
            <a:xfrm>
              <a:off x="7049582" y="3356992"/>
              <a:ext cx="9361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3.2%</a:t>
              </a:r>
              <a:endParaRPr lang="en-CA" altLang="en-US" sz="2400">
                <a:latin typeface="Times New Roman" panose="02020603050405020304" pitchFamily="18" charset="0"/>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CA" altLang="en-US" smtClean="0"/>
              <a:t>Apple Transforms an Asset from Fixed to Floating </a:t>
            </a:r>
            <a:r>
              <a:rPr lang="en-CA" altLang="en-US" sz="2400" smtClean="0"/>
              <a:t>(Figure 7.5, page 165)</a:t>
            </a:r>
            <a:endParaRPr lang="en-US" altLang="en-US" sz="2400" smtClean="0"/>
          </a:p>
        </p:txBody>
      </p:sp>
      <p:sp>
        <p:nvSpPr>
          <p:cNvPr id="30723"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Options, Futures, and Other Derivatives, 9th Ed, Ch 7, Copyright © John C. Hull 2016</a:t>
            </a:r>
            <a:endParaRPr lang="en-US" altLang="en-US" i="0"/>
          </a:p>
        </p:txBody>
      </p:sp>
      <p:sp>
        <p:nvSpPr>
          <p:cNvPr id="3072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47770BF-D4F5-49A2-AF26-BC84EC9A1552}" type="slidenum">
              <a:rPr lang="en-US" altLang="en-US"/>
              <a:pPr/>
              <a:t>10</a:t>
            </a:fld>
            <a:endParaRPr lang="en-US" altLang="en-US"/>
          </a:p>
        </p:txBody>
      </p:sp>
      <p:grpSp>
        <p:nvGrpSpPr>
          <p:cNvPr id="30725" name="Group 4"/>
          <p:cNvGrpSpPr>
            <a:grpSpLocks/>
          </p:cNvGrpSpPr>
          <p:nvPr/>
        </p:nvGrpSpPr>
        <p:grpSpPr bwMode="auto">
          <a:xfrm>
            <a:off x="1393825" y="2808288"/>
            <a:ext cx="6192838" cy="1298575"/>
            <a:chOff x="2267744" y="3167861"/>
            <a:chExt cx="6192688" cy="1298868"/>
          </a:xfrm>
        </p:grpSpPr>
        <p:sp>
          <p:nvSpPr>
            <p:cNvPr id="6" name="Rectangle 5"/>
            <p:cNvSpPr/>
            <p:nvPr/>
          </p:nvSpPr>
          <p:spPr>
            <a:xfrm>
              <a:off x="2267744" y="3356816"/>
              <a:ext cx="1295369" cy="914606"/>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a:latin typeface="Times New Roman" panose="02020603050405020304" pitchFamily="18" charset="0"/>
                  <a:cs typeface="Times New Roman" panose="02020603050405020304" pitchFamily="18" charset="0"/>
                </a:rPr>
                <a:t>Citi</a:t>
              </a:r>
              <a:endParaRPr lang="en-CA" sz="2800" dirty="0">
                <a:latin typeface="Times New Roman" panose="02020603050405020304" pitchFamily="18" charset="0"/>
                <a:cs typeface="Times New Roman" panose="02020603050405020304" pitchFamily="18" charset="0"/>
              </a:endParaRPr>
            </a:p>
          </p:txBody>
        </p:sp>
        <p:sp>
          <p:nvSpPr>
            <p:cNvPr id="7" name="Rectangle 6"/>
            <p:cNvSpPr/>
            <p:nvPr/>
          </p:nvSpPr>
          <p:spPr>
            <a:xfrm>
              <a:off x="5169624" y="3356816"/>
              <a:ext cx="1562062" cy="914606"/>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a:latin typeface="Times New Roman" panose="02020603050405020304" pitchFamily="18" charset="0"/>
                  <a:cs typeface="Times New Roman" panose="02020603050405020304" pitchFamily="18" charset="0"/>
                </a:rPr>
                <a:t>Apple</a:t>
              </a:r>
              <a:endParaRPr lang="en-CA" sz="2800" dirty="0">
                <a:latin typeface="Times New Roman" panose="02020603050405020304" pitchFamily="18" charset="0"/>
                <a:cs typeface="Times New Roman" panose="02020603050405020304" pitchFamily="18" charset="0"/>
              </a:endParaRPr>
            </a:p>
          </p:txBody>
        </p:sp>
        <p:cxnSp>
          <p:nvCxnSpPr>
            <p:cNvPr id="8" name="Straight Arrow Connector 7"/>
            <p:cNvCxnSpPr/>
            <p:nvPr/>
          </p:nvCxnSpPr>
          <p:spPr>
            <a:xfrm flipH="1">
              <a:off x="3563113" y="3645806"/>
              <a:ext cx="1606511"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9" name="Straight Arrow Connector 8"/>
            <p:cNvCxnSpPr/>
            <p:nvPr/>
          </p:nvCxnSpPr>
          <p:spPr>
            <a:xfrm>
              <a:off x="3563113" y="4004662"/>
              <a:ext cx="1606511"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0730" name="TextBox 9"/>
            <p:cNvSpPr txBox="1">
              <a:spLocks noChangeArrowheads="1"/>
            </p:cNvSpPr>
            <p:nvPr/>
          </p:nvSpPr>
          <p:spPr bwMode="auto">
            <a:xfrm>
              <a:off x="3981636" y="3167861"/>
              <a:ext cx="8640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3.0%</a:t>
              </a:r>
              <a:endParaRPr lang="en-CA" altLang="en-US" sz="2400">
                <a:latin typeface="Times New Roman" panose="02020603050405020304" pitchFamily="18" charset="0"/>
                <a:cs typeface="Times New Roman" panose="02020603050405020304" pitchFamily="18" charset="0"/>
              </a:endParaRPr>
            </a:p>
          </p:txBody>
        </p:sp>
        <p:sp>
          <p:nvSpPr>
            <p:cNvPr id="30731" name="TextBox 10"/>
            <p:cNvSpPr txBox="1">
              <a:spLocks noChangeArrowheads="1"/>
            </p:cNvSpPr>
            <p:nvPr/>
          </p:nvSpPr>
          <p:spPr bwMode="auto">
            <a:xfrm>
              <a:off x="3903714" y="4005064"/>
              <a:ext cx="12660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LIBOR</a:t>
              </a:r>
              <a:endParaRPr lang="en-CA" altLang="en-US" sz="2400">
                <a:latin typeface="Times New Roman" panose="02020603050405020304" pitchFamily="18" charset="0"/>
                <a:cs typeface="Times New Roman" panose="02020603050405020304" pitchFamily="18" charset="0"/>
              </a:endParaRPr>
            </a:p>
          </p:txBody>
        </p:sp>
        <p:cxnSp>
          <p:nvCxnSpPr>
            <p:cNvPr id="12" name="Straight Arrow Connector 11"/>
            <p:cNvCxnSpPr>
              <a:endCxn id="7" idx="3"/>
            </p:cNvCxnSpPr>
            <p:nvPr/>
          </p:nvCxnSpPr>
          <p:spPr>
            <a:xfrm flipH="1">
              <a:off x="6731686" y="3814119"/>
              <a:ext cx="1728746"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0733" name="TextBox 12"/>
            <p:cNvSpPr txBox="1">
              <a:spLocks noChangeArrowheads="1"/>
            </p:cNvSpPr>
            <p:nvPr/>
          </p:nvSpPr>
          <p:spPr bwMode="auto">
            <a:xfrm>
              <a:off x="6948264" y="3398693"/>
              <a:ext cx="15121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latin typeface="Times New Roman" panose="02020603050405020304" pitchFamily="18" charset="0"/>
                  <a:cs typeface="Times New Roman" panose="02020603050405020304" pitchFamily="18" charset="0"/>
                </a:rPr>
                <a:t>2.7%</a:t>
              </a:r>
              <a:endParaRPr lang="en-CA" altLang="en-US" sz="2400">
                <a:latin typeface="Times New Roman" panose="02020603050405020304" pitchFamily="18" charset="0"/>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CA" altLang="en-US" smtClean="0"/>
              <a:t>Intel Transforms an Asset from Floating to Fixed </a:t>
            </a:r>
            <a:r>
              <a:rPr lang="en-CA" altLang="en-US" sz="2400" smtClean="0"/>
              <a:t>(Figure 7.6, page 166)</a:t>
            </a:r>
            <a:endParaRPr lang="en-US" altLang="en-US" sz="2400" smtClean="0"/>
          </a:p>
        </p:txBody>
      </p:sp>
      <p:sp>
        <p:nvSpPr>
          <p:cNvPr id="31747"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Options, Futures, and Other Derivatives, 9th Ed, Ch 7, Copyright © John C. Hull 2016</a:t>
            </a:r>
            <a:endParaRPr lang="en-US" altLang="en-US" i="0"/>
          </a:p>
        </p:txBody>
      </p:sp>
      <p:sp>
        <p:nvSpPr>
          <p:cNvPr id="3174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D51E5BF-CF2E-4727-A569-1D49D87E73EC}" type="slidenum">
              <a:rPr lang="en-US" altLang="en-US"/>
              <a:pPr/>
              <a:t>11</a:t>
            </a:fld>
            <a:endParaRPr lang="en-US" altLang="en-US"/>
          </a:p>
        </p:txBody>
      </p:sp>
      <p:grpSp>
        <p:nvGrpSpPr>
          <p:cNvPr id="31749" name="Group 13"/>
          <p:cNvGrpSpPr>
            <a:grpSpLocks/>
          </p:cNvGrpSpPr>
          <p:nvPr/>
        </p:nvGrpSpPr>
        <p:grpSpPr bwMode="auto">
          <a:xfrm>
            <a:off x="1476375" y="3141663"/>
            <a:ext cx="6983413" cy="1484312"/>
            <a:chOff x="2267744" y="3172326"/>
            <a:chExt cx="6529246" cy="1326621"/>
          </a:xfrm>
        </p:grpSpPr>
        <p:sp>
          <p:nvSpPr>
            <p:cNvPr id="15" name="Rectangle 14"/>
            <p:cNvSpPr/>
            <p:nvPr/>
          </p:nvSpPr>
          <p:spPr>
            <a:xfrm>
              <a:off x="2267744" y="3356776"/>
              <a:ext cx="1295757" cy="915156"/>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a:latin typeface="Times New Roman" panose="02020603050405020304" pitchFamily="18" charset="0"/>
                  <a:cs typeface="Times New Roman" panose="02020603050405020304" pitchFamily="18" charset="0"/>
                </a:rPr>
                <a:t>Citi</a:t>
              </a:r>
              <a:endParaRPr lang="en-CA" sz="2800" dirty="0">
                <a:latin typeface="Times New Roman" panose="02020603050405020304" pitchFamily="18" charset="0"/>
                <a:cs typeface="Times New Roman" panose="02020603050405020304" pitchFamily="18" charset="0"/>
              </a:endParaRPr>
            </a:p>
          </p:txBody>
        </p:sp>
        <p:sp>
          <p:nvSpPr>
            <p:cNvPr id="16" name="Rectangle 15"/>
            <p:cNvSpPr/>
            <p:nvPr/>
          </p:nvSpPr>
          <p:spPr>
            <a:xfrm>
              <a:off x="5169466" y="3356776"/>
              <a:ext cx="1562922" cy="915156"/>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a:latin typeface="Times New Roman" panose="02020603050405020304" pitchFamily="18" charset="0"/>
                  <a:cs typeface="Times New Roman" panose="02020603050405020304" pitchFamily="18" charset="0"/>
                </a:rPr>
                <a:t>Intel</a:t>
              </a:r>
              <a:endParaRPr lang="en-CA" sz="2800" dirty="0">
                <a:latin typeface="Times New Roman" panose="02020603050405020304" pitchFamily="18" charset="0"/>
                <a:cs typeface="Times New Roman" panose="02020603050405020304" pitchFamily="18" charset="0"/>
              </a:endParaRPr>
            </a:p>
          </p:txBody>
        </p:sp>
        <p:sp>
          <p:nvSpPr>
            <p:cNvPr id="31752" name="TextBox 16"/>
            <p:cNvSpPr txBox="1">
              <a:spLocks noChangeArrowheads="1"/>
            </p:cNvSpPr>
            <p:nvPr/>
          </p:nvSpPr>
          <p:spPr bwMode="auto">
            <a:xfrm>
              <a:off x="3995936" y="3172326"/>
              <a:ext cx="1008112" cy="412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2.97%</a:t>
              </a:r>
              <a:endParaRPr lang="en-CA" altLang="en-US" sz="2400">
                <a:latin typeface="Times New Roman" panose="02020603050405020304" pitchFamily="18" charset="0"/>
                <a:cs typeface="Times New Roman" panose="02020603050405020304" pitchFamily="18" charset="0"/>
              </a:endParaRPr>
            </a:p>
          </p:txBody>
        </p:sp>
        <p:sp>
          <p:nvSpPr>
            <p:cNvPr id="31753" name="TextBox 17"/>
            <p:cNvSpPr txBox="1">
              <a:spLocks noChangeArrowheads="1"/>
            </p:cNvSpPr>
            <p:nvPr/>
          </p:nvSpPr>
          <p:spPr bwMode="auto">
            <a:xfrm>
              <a:off x="3951401" y="4086725"/>
              <a:ext cx="1052647" cy="412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LIBOR</a:t>
              </a:r>
              <a:endParaRPr lang="en-CA" altLang="en-US" sz="2400">
                <a:latin typeface="Times New Roman" panose="02020603050405020304" pitchFamily="18" charset="0"/>
                <a:cs typeface="Times New Roman" panose="02020603050405020304" pitchFamily="18" charset="0"/>
              </a:endParaRPr>
            </a:p>
          </p:txBody>
        </p:sp>
        <p:cxnSp>
          <p:nvCxnSpPr>
            <p:cNvPr id="19" name="Straight Arrow Connector 18"/>
            <p:cNvCxnSpPr/>
            <p:nvPr/>
          </p:nvCxnSpPr>
          <p:spPr>
            <a:xfrm flipH="1">
              <a:off x="3563501" y="4086063"/>
              <a:ext cx="1605966"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0" name="Straight Arrow Connector 19"/>
            <p:cNvCxnSpPr/>
            <p:nvPr/>
          </p:nvCxnSpPr>
          <p:spPr>
            <a:xfrm>
              <a:off x="3563501" y="3541226"/>
              <a:ext cx="1605966"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1" name="Straight Arrow Connector 20"/>
            <p:cNvCxnSpPr>
              <a:endCxn id="16" idx="3"/>
            </p:cNvCxnSpPr>
            <p:nvPr/>
          </p:nvCxnSpPr>
          <p:spPr>
            <a:xfrm flipH="1">
              <a:off x="6732388" y="3813645"/>
              <a:ext cx="1583702"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757" name="TextBox 21"/>
            <p:cNvSpPr txBox="1">
              <a:spLocks noChangeArrowheads="1"/>
            </p:cNvSpPr>
            <p:nvPr/>
          </p:nvSpPr>
          <p:spPr bwMode="auto">
            <a:xfrm>
              <a:off x="6897959" y="3444860"/>
              <a:ext cx="1899031" cy="412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LIBOR−0.2%</a:t>
              </a:r>
              <a:endParaRPr lang="en-CA" altLang="en-US" sz="2400">
                <a:latin typeface="Times New Roman" panose="02020603050405020304" pitchFamily="18" charset="0"/>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9th Ed, Ch 7, Copyright © John C. Hull 2016</a:t>
            </a:r>
            <a:endParaRPr lang="en-US" altLang="en-US" sz="1400" i="0"/>
          </a:p>
        </p:txBody>
      </p:sp>
      <p:sp>
        <p:nvSpPr>
          <p:cNvPr id="32771" name="Rectangle 2"/>
          <p:cNvSpPr>
            <a:spLocks noGrp="1" noChangeArrowheads="1"/>
          </p:cNvSpPr>
          <p:nvPr>
            <p:ph type="title"/>
          </p:nvPr>
        </p:nvSpPr>
        <p:spPr/>
        <p:txBody>
          <a:bodyPr/>
          <a:lstStyle/>
          <a:p>
            <a:pPr eaLnBrk="1" hangingPunct="1"/>
            <a:r>
              <a:rPr lang="en-US" altLang="en-US" smtClean="0"/>
              <a:t>Quotes By a Swap Market Maker </a:t>
            </a:r>
            <a:r>
              <a:rPr lang="en-US" altLang="en-US" sz="2400" smtClean="0"/>
              <a:t>(Table 7.3, page 167)</a:t>
            </a:r>
          </a:p>
        </p:txBody>
      </p:sp>
      <p:graphicFrame>
        <p:nvGraphicFramePr>
          <p:cNvPr id="69688" name="Group 56"/>
          <p:cNvGraphicFramePr>
            <a:graphicFrameLocks noGrp="1"/>
          </p:cNvGraphicFramePr>
          <p:nvPr>
            <p:ph idx="1"/>
          </p:nvPr>
        </p:nvGraphicFramePr>
        <p:xfrm>
          <a:off x="685800" y="1773238"/>
          <a:ext cx="7989888" cy="3756024"/>
        </p:xfrm>
        <a:graphic>
          <a:graphicData uri="http://schemas.openxmlformats.org/drawingml/2006/table">
            <a:tbl>
              <a:tblPr/>
              <a:tblGrid>
                <a:gridCol w="1997075"/>
                <a:gridCol w="1601788"/>
                <a:gridCol w="1800225"/>
                <a:gridCol w="2590800"/>
              </a:tblGrid>
              <a:tr h="457818">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smtClean="0">
                          <a:ln>
                            <a:noFill/>
                          </a:ln>
                          <a:solidFill>
                            <a:schemeClr val="tx1"/>
                          </a:solidFill>
                          <a:effectLst/>
                          <a:latin typeface="Arial" charset="0"/>
                        </a:rPr>
                        <a:t>Maturity</a:t>
                      </a:r>
                    </a:p>
                  </a:txBody>
                  <a:tcPr marL="92075" marR="92075" marT="46029" marB="4602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smtClean="0">
                          <a:ln>
                            <a:noFill/>
                          </a:ln>
                          <a:solidFill>
                            <a:schemeClr val="tx1"/>
                          </a:solidFill>
                          <a:effectLst/>
                          <a:latin typeface="Arial" charset="0"/>
                        </a:rPr>
                        <a:t>Bid (%)</a:t>
                      </a:r>
                    </a:p>
                  </a:txBody>
                  <a:tcPr marL="92075" marR="92075" marT="46029" marB="460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smtClean="0">
                          <a:ln>
                            <a:noFill/>
                          </a:ln>
                          <a:solidFill>
                            <a:schemeClr val="tx1"/>
                          </a:solidFill>
                          <a:effectLst/>
                          <a:latin typeface="Arial" charset="0"/>
                        </a:rPr>
                        <a:t>Offer (%)</a:t>
                      </a:r>
                    </a:p>
                  </a:txBody>
                  <a:tcPr marL="92075" marR="92075" marT="46029" marB="460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smtClean="0">
                          <a:ln>
                            <a:noFill/>
                          </a:ln>
                          <a:solidFill>
                            <a:schemeClr val="tx1"/>
                          </a:solidFill>
                          <a:effectLst/>
                          <a:latin typeface="Arial" charset="0"/>
                        </a:rPr>
                        <a:t>Swap Rate (%)</a:t>
                      </a:r>
                    </a:p>
                  </a:txBody>
                  <a:tcPr marL="92075" marR="92075" marT="46029" marB="4602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49172">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smtClean="0">
                          <a:ln>
                            <a:noFill/>
                          </a:ln>
                          <a:solidFill>
                            <a:schemeClr val="tx1"/>
                          </a:solidFill>
                          <a:effectLst/>
                          <a:latin typeface="Arial" charset="0"/>
                        </a:rPr>
                        <a:t>2 years</a:t>
                      </a:r>
                    </a:p>
                  </a:txBody>
                  <a:tcPr marL="92075" marR="92075" marT="46029" marB="4602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smtClean="0">
                          <a:ln>
                            <a:noFill/>
                          </a:ln>
                          <a:solidFill>
                            <a:schemeClr val="tx1"/>
                          </a:solidFill>
                          <a:effectLst/>
                          <a:latin typeface="Arial" charset="0"/>
                        </a:rPr>
                        <a:t>2.55</a:t>
                      </a:r>
                    </a:p>
                  </a:txBody>
                  <a:tcPr marL="92075" marR="92075" marT="46029" marB="460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400" b="0" i="0" u="none" strike="noStrike" cap="none" normalizeH="0" baseline="0" dirty="0" smtClean="0">
                          <a:ln>
                            <a:noFill/>
                          </a:ln>
                          <a:solidFill>
                            <a:schemeClr val="tx1"/>
                          </a:solidFill>
                          <a:effectLst/>
                          <a:latin typeface="Arial" charset="0"/>
                        </a:rPr>
                        <a:t>2.58</a:t>
                      </a:r>
                      <a:endParaRPr kumimoji="0" lang="en-US" sz="2400" b="0" i="0" u="none" strike="noStrike" cap="none" normalizeH="0" baseline="0" dirty="0" smtClean="0">
                        <a:ln>
                          <a:noFill/>
                        </a:ln>
                        <a:solidFill>
                          <a:schemeClr val="tx1"/>
                        </a:solidFill>
                        <a:effectLst/>
                        <a:latin typeface="Arial" charset="0"/>
                      </a:endParaRPr>
                    </a:p>
                  </a:txBody>
                  <a:tcPr marL="92075" marR="92075" marT="46029" marB="460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smtClean="0">
                          <a:ln>
                            <a:noFill/>
                          </a:ln>
                          <a:solidFill>
                            <a:schemeClr val="tx1"/>
                          </a:solidFill>
                          <a:effectLst/>
                          <a:latin typeface="Arial" charset="0"/>
                        </a:rPr>
                        <a:t>2.565</a:t>
                      </a:r>
                    </a:p>
                  </a:txBody>
                  <a:tcPr marL="92075" marR="92075" marT="46029" marB="4602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50759">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smtClean="0">
                          <a:ln>
                            <a:noFill/>
                          </a:ln>
                          <a:solidFill>
                            <a:schemeClr val="tx1"/>
                          </a:solidFill>
                          <a:effectLst/>
                          <a:latin typeface="Arial" charset="0"/>
                        </a:rPr>
                        <a:t>3 years</a:t>
                      </a:r>
                    </a:p>
                  </a:txBody>
                  <a:tcPr marL="92075" marR="92075" marT="46029" marB="4602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400" b="0" i="0" u="none" strike="noStrike" cap="none" normalizeH="0" baseline="0" dirty="0" smtClean="0">
                          <a:ln>
                            <a:noFill/>
                          </a:ln>
                          <a:solidFill>
                            <a:schemeClr val="tx1"/>
                          </a:solidFill>
                          <a:effectLst/>
                          <a:latin typeface="Arial" charset="0"/>
                        </a:rPr>
                        <a:t>2.97</a:t>
                      </a:r>
                      <a:endParaRPr kumimoji="0" lang="en-US" sz="2400" b="0" i="0" u="none" strike="noStrike" cap="none" normalizeH="0" baseline="0" dirty="0" smtClean="0">
                        <a:ln>
                          <a:noFill/>
                        </a:ln>
                        <a:solidFill>
                          <a:schemeClr val="tx1"/>
                        </a:solidFill>
                        <a:effectLst/>
                        <a:latin typeface="Arial" charset="0"/>
                      </a:endParaRPr>
                    </a:p>
                  </a:txBody>
                  <a:tcPr marL="92075" marR="92075" marT="46029" marB="460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400" b="0" i="0" u="none" strike="noStrike" cap="none" normalizeH="0" baseline="0" dirty="0" smtClean="0">
                          <a:ln>
                            <a:noFill/>
                          </a:ln>
                          <a:solidFill>
                            <a:schemeClr val="tx1"/>
                          </a:solidFill>
                          <a:effectLst/>
                          <a:latin typeface="Arial" charset="0"/>
                        </a:rPr>
                        <a:t>3.00</a:t>
                      </a:r>
                      <a:endParaRPr kumimoji="0" lang="en-US" sz="2400" b="0" i="0" u="none" strike="noStrike" cap="none" normalizeH="0" baseline="0" dirty="0" smtClean="0">
                        <a:ln>
                          <a:noFill/>
                        </a:ln>
                        <a:solidFill>
                          <a:schemeClr val="tx1"/>
                        </a:solidFill>
                        <a:effectLst/>
                        <a:latin typeface="Arial" charset="0"/>
                      </a:endParaRPr>
                    </a:p>
                  </a:txBody>
                  <a:tcPr marL="92075" marR="92075" marT="46029" marB="460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smtClean="0">
                          <a:ln>
                            <a:noFill/>
                          </a:ln>
                          <a:solidFill>
                            <a:schemeClr val="tx1"/>
                          </a:solidFill>
                          <a:effectLst/>
                          <a:latin typeface="Arial" charset="0"/>
                        </a:rPr>
                        <a:t>2.985</a:t>
                      </a:r>
                    </a:p>
                  </a:txBody>
                  <a:tcPr marL="92075" marR="92075" marT="46029" marB="4602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49172">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smtClean="0">
                          <a:ln>
                            <a:noFill/>
                          </a:ln>
                          <a:solidFill>
                            <a:schemeClr val="tx1"/>
                          </a:solidFill>
                          <a:effectLst/>
                          <a:latin typeface="Arial" charset="0"/>
                        </a:rPr>
                        <a:t>4 years</a:t>
                      </a:r>
                    </a:p>
                  </a:txBody>
                  <a:tcPr marL="92075" marR="92075" marT="46029" marB="4602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smtClean="0">
                          <a:ln>
                            <a:noFill/>
                          </a:ln>
                          <a:solidFill>
                            <a:schemeClr val="tx1"/>
                          </a:solidFill>
                          <a:effectLst/>
                          <a:latin typeface="Arial" charset="0"/>
                        </a:rPr>
                        <a:t>3.15</a:t>
                      </a:r>
                    </a:p>
                  </a:txBody>
                  <a:tcPr marL="92075" marR="92075" marT="46029" marB="460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400" b="0" i="0" u="none" strike="noStrike" cap="none" normalizeH="0" baseline="0" dirty="0" smtClean="0">
                          <a:ln>
                            <a:noFill/>
                          </a:ln>
                          <a:solidFill>
                            <a:schemeClr val="tx1"/>
                          </a:solidFill>
                          <a:effectLst/>
                          <a:latin typeface="Arial" charset="0"/>
                        </a:rPr>
                        <a:t>3.19</a:t>
                      </a:r>
                      <a:endParaRPr kumimoji="0" lang="en-US" sz="2400" b="0" i="0" u="none" strike="noStrike" cap="none" normalizeH="0" baseline="0" dirty="0" smtClean="0">
                        <a:ln>
                          <a:noFill/>
                        </a:ln>
                        <a:solidFill>
                          <a:schemeClr val="tx1"/>
                        </a:solidFill>
                        <a:effectLst/>
                        <a:latin typeface="Arial" charset="0"/>
                      </a:endParaRPr>
                    </a:p>
                  </a:txBody>
                  <a:tcPr marL="92075" marR="92075" marT="46029" marB="460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smtClean="0">
                          <a:ln>
                            <a:noFill/>
                          </a:ln>
                          <a:solidFill>
                            <a:schemeClr val="tx1"/>
                          </a:solidFill>
                          <a:effectLst/>
                          <a:latin typeface="Arial" charset="0"/>
                        </a:rPr>
                        <a:t>3.170</a:t>
                      </a:r>
                    </a:p>
                  </a:txBody>
                  <a:tcPr marL="92075" marR="92075" marT="46029" marB="4602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50759">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smtClean="0">
                          <a:ln>
                            <a:noFill/>
                          </a:ln>
                          <a:solidFill>
                            <a:schemeClr val="tx1"/>
                          </a:solidFill>
                          <a:effectLst/>
                          <a:latin typeface="Arial" charset="0"/>
                        </a:rPr>
                        <a:t>5 years </a:t>
                      </a:r>
                    </a:p>
                  </a:txBody>
                  <a:tcPr marL="92075" marR="92075" marT="46029" marB="4602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400" b="0" i="0" u="none" strike="noStrike" cap="none" normalizeH="0" baseline="0" dirty="0" smtClean="0">
                          <a:ln>
                            <a:noFill/>
                          </a:ln>
                          <a:solidFill>
                            <a:schemeClr val="tx1"/>
                          </a:solidFill>
                          <a:effectLst/>
                          <a:latin typeface="Arial" charset="0"/>
                        </a:rPr>
                        <a:t>3.26</a:t>
                      </a:r>
                      <a:endParaRPr kumimoji="0" lang="en-US" sz="2400" b="0" i="0" u="none" strike="noStrike" cap="none" normalizeH="0" baseline="0" dirty="0" smtClean="0">
                        <a:ln>
                          <a:noFill/>
                        </a:ln>
                        <a:solidFill>
                          <a:schemeClr val="tx1"/>
                        </a:solidFill>
                        <a:effectLst/>
                        <a:latin typeface="Arial" charset="0"/>
                      </a:endParaRPr>
                    </a:p>
                  </a:txBody>
                  <a:tcPr marL="92075" marR="92075" marT="46029" marB="460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400" b="0" i="0" u="none" strike="noStrike" cap="none" normalizeH="0" baseline="0" dirty="0" smtClean="0">
                          <a:ln>
                            <a:noFill/>
                          </a:ln>
                          <a:solidFill>
                            <a:schemeClr val="tx1"/>
                          </a:solidFill>
                          <a:effectLst/>
                          <a:latin typeface="Arial" charset="0"/>
                        </a:rPr>
                        <a:t>3.30</a:t>
                      </a:r>
                      <a:endParaRPr kumimoji="0" lang="en-US" sz="2400" b="0" i="0" u="none" strike="noStrike" cap="none" normalizeH="0" baseline="0" dirty="0" smtClean="0">
                        <a:ln>
                          <a:noFill/>
                        </a:ln>
                        <a:solidFill>
                          <a:schemeClr val="tx1"/>
                        </a:solidFill>
                        <a:effectLst/>
                        <a:latin typeface="Arial" charset="0"/>
                      </a:endParaRPr>
                    </a:p>
                  </a:txBody>
                  <a:tcPr marL="92075" marR="92075" marT="46029" marB="460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smtClean="0">
                          <a:ln>
                            <a:noFill/>
                          </a:ln>
                          <a:solidFill>
                            <a:schemeClr val="tx1"/>
                          </a:solidFill>
                          <a:effectLst/>
                          <a:latin typeface="Arial" charset="0"/>
                        </a:rPr>
                        <a:t>3.280</a:t>
                      </a:r>
                    </a:p>
                  </a:txBody>
                  <a:tcPr marL="92075" marR="92075" marT="46029" marB="4602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47585">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smtClean="0">
                          <a:ln>
                            <a:noFill/>
                          </a:ln>
                          <a:solidFill>
                            <a:schemeClr val="tx1"/>
                          </a:solidFill>
                          <a:effectLst/>
                          <a:latin typeface="Arial" charset="0"/>
                        </a:rPr>
                        <a:t>7 years</a:t>
                      </a:r>
                    </a:p>
                  </a:txBody>
                  <a:tcPr marL="92075" marR="92075" marT="46029" marB="4602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400" b="0" i="0" u="none" strike="noStrike" cap="none" normalizeH="0" baseline="0" dirty="0" smtClean="0">
                          <a:ln>
                            <a:noFill/>
                          </a:ln>
                          <a:solidFill>
                            <a:schemeClr val="tx1"/>
                          </a:solidFill>
                          <a:effectLst/>
                          <a:latin typeface="Arial" charset="0"/>
                        </a:rPr>
                        <a:t>3.40</a:t>
                      </a:r>
                      <a:endParaRPr kumimoji="0" lang="en-US" sz="2400" b="0" i="0" u="none" strike="noStrike" cap="none" normalizeH="0" baseline="0" dirty="0" smtClean="0">
                        <a:ln>
                          <a:noFill/>
                        </a:ln>
                        <a:solidFill>
                          <a:schemeClr val="tx1"/>
                        </a:solidFill>
                        <a:effectLst/>
                        <a:latin typeface="Arial" charset="0"/>
                      </a:endParaRPr>
                    </a:p>
                  </a:txBody>
                  <a:tcPr marL="92075" marR="92075" marT="46029" marB="460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400" b="0" i="0" u="none" strike="noStrike" cap="none" normalizeH="0" baseline="0" dirty="0" smtClean="0">
                          <a:ln>
                            <a:noFill/>
                          </a:ln>
                          <a:solidFill>
                            <a:schemeClr val="tx1"/>
                          </a:solidFill>
                          <a:effectLst/>
                          <a:latin typeface="Arial" charset="0"/>
                        </a:rPr>
                        <a:t>3.44</a:t>
                      </a:r>
                      <a:endParaRPr kumimoji="0" lang="en-US" sz="2400" b="0" i="0" u="none" strike="noStrike" cap="none" normalizeH="0" baseline="0" dirty="0" smtClean="0">
                        <a:ln>
                          <a:noFill/>
                        </a:ln>
                        <a:solidFill>
                          <a:schemeClr val="tx1"/>
                        </a:solidFill>
                        <a:effectLst/>
                        <a:latin typeface="Arial" charset="0"/>
                      </a:endParaRPr>
                    </a:p>
                  </a:txBody>
                  <a:tcPr marL="92075" marR="92075" marT="46029" marB="460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smtClean="0">
                          <a:ln>
                            <a:noFill/>
                          </a:ln>
                          <a:solidFill>
                            <a:schemeClr val="tx1"/>
                          </a:solidFill>
                          <a:effectLst/>
                          <a:latin typeface="Arial" charset="0"/>
                        </a:rPr>
                        <a:t>3.420</a:t>
                      </a:r>
                    </a:p>
                  </a:txBody>
                  <a:tcPr marL="92075" marR="92075" marT="46029" marB="4602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50759">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smtClean="0">
                          <a:ln>
                            <a:noFill/>
                          </a:ln>
                          <a:solidFill>
                            <a:schemeClr val="tx1"/>
                          </a:solidFill>
                          <a:effectLst/>
                          <a:latin typeface="Arial" charset="0"/>
                        </a:rPr>
                        <a:t>10 years</a:t>
                      </a:r>
                    </a:p>
                  </a:txBody>
                  <a:tcPr marL="92075" marR="92075" marT="46029" marB="4602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400" b="0" i="0" u="none" strike="noStrike" cap="none" normalizeH="0" baseline="0" dirty="0" smtClean="0">
                          <a:ln>
                            <a:noFill/>
                          </a:ln>
                          <a:solidFill>
                            <a:schemeClr val="tx1"/>
                          </a:solidFill>
                          <a:effectLst/>
                          <a:latin typeface="Arial" charset="0"/>
                        </a:rPr>
                        <a:t>3.48</a:t>
                      </a:r>
                      <a:endParaRPr kumimoji="0" lang="en-US" sz="2400" b="0" i="0" u="none" strike="noStrike" cap="none" normalizeH="0" baseline="0" dirty="0" smtClean="0">
                        <a:ln>
                          <a:noFill/>
                        </a:ln>
                        <a:solidFill>
                          <a:schemeClr val="tx1"/>
                        </a:solidFill>
                        <a:effectLst/>
                        <a:latin typeface="Arial" charset="0"/>
                      </a:endParaRPr>
                    </a:p>
                  </a:txBody>
                  <a:tcPr marL="92075" marR="92075" marT="46029" marB="460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400" b="0" i="0" u="none" strike="noStrike" cap="none" normalizeH="0" baseline="0" dirty="0" smtClean="0">
                          <a:ln>
                            <a:noFill/>
                          </a:ln>
                          <a:solidFill>
                            <a:schemeClr val="tx1"/>
                          </a:solidFill>
                          <a:effectLst/>
                          <a:latin typeface="Arial" charset="0"/>
                        </a:rPr>
                        <a:t>3.52</a:t>
                      </a:r>
                      <a:endParaRPr kumimoji="0" lang="en-US" sz="2400" b="0" i="0" u="none" strike="noStrike" cap="none" normalizeH="0" baseline="0" dirty="0" smtClean="0">
                        <a:ln>
                          <a:noFill/>
                        </a:ln>
                        <a:solidFill>
                          <a:schemeClr val="tx1"/>
                        </a:solidFill>
                        <a:effectLst/>
                        <a:latin typeface="Arial" charset="0"/>
                      </a:endParaRPr>
                    </a:p>
                  </a:txBody>
                  <a:tcPr marL="92075" marR="92075" marT="46029" marB="460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smtClean="0">
                          <a:ln>
                            <a:noFill/>
                          </a:ln>
                          <a:solidFill>
                            <a:schemeClr val="tx1"/>
                          </a:solidFill>
                          <a:effectLst/>
                          <a:latin typeface="Arial" charset="0"/>
                        </a:rPr>
                        <a:t>3.500</a:t>
                      </a:r>
                    </a:p>
                  </a:txBody>
                  <a:tcPr marL="92075" marR="92075" marT="46029" marB="4602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
        <p:nvSpPr>
          <p:cNvPr id="328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F8605E63-EBB4-4A5A-A2C3-B7BAD4F1763B}" type="slidenum">
              <a:rPr lang="en-US" altLang="en-US" sz="1800"/>
              <a:pPr>
                <a:spcBef>
                  <a:spcPct val="0"/>
                </a:spcBef>
                <a:buClrTx/>
                <a:buSzTx/>
                <a:buFontTx/>
                <a:buNone/>
              </a:pPr>
              <a:t>12</a:t>
            </a:fld>
            <a:endParaRPr lang="en-US" altLang="en-US" sz="180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CA" altLang="en-US" smtClean="0"/>
              <a:t>Day Count</a:t>
            </a:r>
            <a:endParaRPr lang="en-US" altLang="en-US" smtClean="0"/>
          </a:p>
        </p:txBody>
      </p:sp>
      <p:sp>
        <p:nvSpPr>
          <p:cNvPr id="34819" name="Content Placeholder 2"/>
          <p:cNvSpPr>
            <a:spLocks noGrp="1"/>
          </p:cNvSpPr>
          <p:nvPr>
            <p:ph idx="1"/>
          </p:nvPr>
        </p:nvSpPr>
        <p:spPr/>
        <p:txBody>
          <a:bodyPr/>
          <a:lstStyle/>
          <a:p>
            <a:pPr eaLnBrk="1" hangingPunct="1"/>
            <a:r>
              <a:rPr lang="en-CA" altLang="en-US" smtClean="0">
                <a:cs typeface="Arial" panose="020B0604020202020204" pitchFamily="34" charset="0"/>
              </a:rPr>
              <a:t>A day count convention is specified for fixed and floating payments</a:t>
            </a:r>
          </a:p>
          <a:p>
            <a:pPr eaLnBrk="1" hangingPunct="1"/>
            <a:r>
              <a:rPr lang="en-CA" altLang="en-US" smtClean="0">
                <a:cs typeface="Arial" panose="020B0604020202020204" pitchFamily="34" charset="0"/>
              </a:rPr>
              <a:t>For example, LIBOR is likely to be actual/360 in the U.S. because LIBOR is a money market rate </a:t>
            </a:r>
            <a:endParaRPr lang="en-US" altLang="en-US" smtClean="0">
              <a:cs typeface="Arial" panose="020B0604020202020204" pitchFamily="34" charset="0"/>
            </a:endParaRPr>
          </a:p>
        </p:txBody>
      </p:sp>
      <p:sp>
        <p:nvSpPr>
          <p:cNvPr id="3482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9th Ed, Ch 7, Copyright © John C. Hull 2016</a:t>
            </a:r>
          </a:p>
        </p:txBody>
      </p:sp>
      <p:sp>
        <p:nvSpPr>
          <p:cNvPr id="3482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F232BD9A-EA1F-4961-A51D-61526CF6502A}" type="slidenum">
              <a:rPr lang="en-US" altLang="en-US" sz="1800"/>
              <a:pPr>
                <a:spcBef>
                  <a:spcPct val="0"/>
                </a:spcBef>
                <a:buClrTx/>
                <a:buSzTx/>
                <a:buFontTx/>
                <a:buNone/>
              </a:pPr>
              <a:t>13</a:t>
            </a:fld>
            <a:endParaRPr lang="en-US" altLang="en-US" sz="180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179388" y="0"/>
            <a:ext cx="7543800" cy="1295400"/>
          </a:xfrm>
        </p:spPr>
        <p:txBody>
          <a:bodyPr/>
          <a:lstStyle/>
          <a:p>
            <a:pPr eaLnBrk="1" hangingPunct="1"/>
            <a:r>
              <a:rPr lang="en-CA" altLang="en-US" smtClean="0"/>
              <a:t>Confirmations</a:t>
            </a:r>
            <a:endParaRPr lang="en-US" altLang="en-US" smtClean="0"/>
          </a:p>
        </p:txBody>
      </p:sp>
      <p:sp>
        <p:nvSpPr>
          <p:cNvPr id="36867" name="Content Placeholder 2"/>
          <p:cNvSpPr>
            <a:spLocks noGrp="1"/>
          </p:cNvSpPr>
          <p:nvPr>
            <p:ph idx="1"/>
          </p:nvPr>
        </p:nvSpPr>
        <p:spPr>
          <a:xfrm>
            <a:off x="250825" y="1412875"/>
            <a:ext cx="8229600" cy="4411663"/>
          </a:xfrm>
        </p:spPr>
        <p:txBody>
          <a:bodyPr/>
          <a:lstStyle/>
          <a:p>
            <a:pPr eaLnBrk="1" hangingPunct="1"/>
            <a:r>
              <a:rPr lang="en-CA" altLang="en-US" smtClean="0">
                <a:cs typeface="Arial" panose="020B0604020202020204" pitchFamily="34" charset="0"/>
              </a:rPr>
              <a:t>Confirmations specify the terms of a transaction</a:t>
            </a:r>
          </a:p>
          <a:p>
            <a:pPr eaLnBrk="1" hangingPunct="1"/>
            <a:r>
              <a:rPr lang="en-CA" altLang="en-US" smtClean="0">
                <a:cs typeface="Arial" panose="020B0604020202020204" pitchFamily="34" charset="0"/>
              </a:rPr>
              <a:t>The International Swaps and Derivatives has developed Master Agreements that can be used to cover all agreements between two counterparties</a:t>
            </a:r>
          </a:p>
          <a:p>
            <a:pPr eaLnBrk="1" hangingPunct="1"/>
            <a:r>
              <a:rPr lang="en-CA" altLang="en-US" smtClean="0">
                <a:cs typeface="Arial" panose="020B0604020202020204" pitchFamily="34" charset="0"/>
              </a:rPr>
              <a:t>CCPs are used for most standard swaps</a:t>
            </a:r>
            <a:endParaRPr lang="en-US" altLang="en-US" smtClean="0">
              <a:cs typeface="Arial" panose="020B0604020202020204" pitchFamily="34" charset="0"/>
            </a:endParaRPr>
          </a:p>
        </p:txBody>
      </p:sp>
      <p:sp>
        <p:nvSpPr>
          <p:cNvPr id="3686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9th Ed, Ch 7, Copyright © John C. Hull 2016</a:t>
            </a:r>
          </a:p>
        </p:txBody>
      </p:sp>
      <p:sp>
        <p:nvSpPr>
          <p:cNvPr id="3686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AE5D90A-16E7-45B6-AA92-06B435EFCC25}" type="slidenum">
              <a:rPr lang="en-US" altLang="en-US" sz="1800"/>
              <a:pPr>
                <a:spcBef>
                  <a:spcPct val="0"/>
                </a:spcBef>
                <a:buClrTx/>
                <a:buSzTx/>
                <a:buFontTx/>
                <a:buNone/>
              </a:pPr>
              <a:t>14</a:t>
            </a:fld>
            <a:endParaRPr lang="en-US" altLang="en-US" sz="180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9th Ed, Ch 7, Copyright © John C. Hull 2016</a:t>
            </a:r>
            <a:endParaRPr lang="en-US" altLang="en-US" sz="1400" i="0"/>
          </a:p>
        </p:txBody>
      </p:sp>
      <p:sp>
        <p:nvSpPr>
          <p:cNvPr id="38915" name="Rectangle 2"/>
          <p:cNvSpPr>
            <a:spLocks noGrp="1" noChangeArrowheads="1"/>
          </p:cNvSpPr>
          <p:nvPr>
            <p:ph type="title"/>
          </p:nvPr>
        </p:nvSpPr>
        <p:spPr>
          <a:noFill/>
        </p:spPr>
        <p:txBody>
          <a:bodyPr lIns="92075" tIns="46038" rIns="92075" bIns="46038" anchor="ctr"/>
          <a:lstStyle/>
          <a:p>
            <a:pPr eaLnBrk="1" hangingPunct="1"/>
            <a:r>
              <a:rPr lang="en-US" altLang="en-US" sz="3500" smtClean="0"/>
              <a:t>The Comparative Advantage Argument </a:t>
            </a:r>
            <a:r>
              <a:rPr lang="en-US" altLang="en-US" sz="2200" smtClean="0"/>
              <a:t>(Table 7.4, page 169)</a:t>
            </a:r>
            <a:endParaRPr lang="en-US" altLang="en-US" sz="3500" smtClean="0"/>
          </a:p>
        </p:txBody>
      </p:sp>
      <p:sp>
        <p:nvSpPr>
          <p:cNvPr id="38916" name="Rectangle 3"/>
          <p:cNvSpPr>
            <a:spLocks noGrp="1" noChangeArrowheads="1"/>
          </p:cNvSpPr>
          <p:nvPr>
            <p:ph type="body" idx="1"/>
          </p:nvPr>
        </p:nvSpPr>
        <p:spPr>
          <a:xfrm>
            <a:off x="971550" y="1719263"/>
            <a:ext cx="6438900" cy="1484312"/>
          </a:xfrm>
          <a:noFill/>
        </p:spPr>
        <p:txBody>
          <a:bodyPr lIns="92075" tIns="46038" rIns="92075" bIns="46038"/>
          <a:lstStyle/>
          <a:p>
            <a:pPr eaLnBrk="1" hangingPunct="1">
              <a:lnSpc>
                <a:spcPct val="90000"/>
              </a:lnSpc>
              <a:buFont typeface="Wingdings" panose="05000000000000000000" pitchFamily="2" charset="2"/>
              <a:buNone/>
            </a:pPr>
            <a:endParaRPr lang="en-US" altLang="en-US" sz="2800" smtClean="0"/>
          </a:p>
          <a:p>
            <a:pPr eaLnBrk="1" hangingPunct="1">
              <a:lnSpc>
                <a:spcPct val="90000"/>
              </a:lnSpc>
            </a:pPr>
            <a:r>
              <a:rPr lang="en-US" altLang="en-US" sz="2800" smtClean="0"/>
              <a:t>AAACorp wants to borrow floating</a:t>
            </a:r>
          </a:p>
          <a:p>
            <a:pPr eaLnBrk="1" hangingPunct="1">
              <a:lnSpc>
                <a:spcPct val="90000"/>
              </a:lnSpc>
            </a:pPr>
            <a:r>
              <a:rPr lang="en-US" altLang="en-US" sz="2800" smtClean="0"/>
              <a:t>BBBCorp wants to borrow fixed</a:t>
            </a:r>
          </a:p>
        </p:txBody>
      </p:sp>
      <p:grpSp>
        <p:nvGrpSpPr>
          <p:cNvPr id="38917" name="Group 19"/>
          <p:cNvGrpSpPr>
            <a:grpSpLocks/>
          </p:cNvGrpSpPr>
          <p:nvPr/>
        </p:nvGrpSpPr>
        <p:grpSpPr bwMode="auto">
          <a:xfrm>
            <a:off x="1042988" y="3459163"/>
            <a:ext cx="5915025" cy="2076450"/>
            <a:chOff x="1059" y="2524"/>
            <a:chExt cx="3726" cy="1298"/>
          </a:xfrm>
        </p:grpSpPr>
        <p:sp>
          <p:nvSpPr>
            <p:cNvPr id="38919" name="Line 4"/>
            <p:cNvSpPr>
              <a:spLocks noChangeShapeType="1"/>
            </p:cNvSpPr>
            <p:nvPr/>
          </p:nvSpPr>
          <p:spPr bwMode="auto">
            <a:xfrm>
              <a:off x="1153" y="2777"/>
              <a:ext cx="3632"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20" name="Rectangle 5"/>
            <p:cNvSpPr>
              <a:spLocks noChangeArrowheads="1"/>
            </p:cNvSpPr>
            <p:nvPr/>
          </p:nvSpPr>
          <p:spPr bwMode="auto">
            <a:xfrm>
              <a:off x="1153" y="2777"/>
              <a:ext cx="3626"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38921" name="Line 6"/>
            <p:cNvSpPr>
              <a:spLocks noChangeShapeType="1"/>
            </p:cNvSpPr>
            <p:nvPr/>
          </p:nvSpPr>
          <p:spPr bwMode="auto">
            <a:xfrm>
              <a:off x="1153" y="3192"/>
              <a:ext cx="3632"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22" name="Rectangle 7"/>
            <p:cNvSpPr>
              <a:spLocks noChangeArrowheads="1"/>
            </p:cNvSpPr>
            <p:nvPr/>
          </p:nvSpPr>
          <p:spPr bwMode="auto">
            <a:xfrm>
              <a:off x="1153" y="3192"/>
              <a:ext cx="3626"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38923" name="Line 8"/>
            <p:cNvSpPr>
              <a:spLocks noChangeShapeType="1"/>
            </p:cNvSpPr>
            <p:nvPr/>
          </p:nvSpPr>
          <p:spPr bwMode="auto">
            <a:xfrm>
              <a:off x="1153" y="3794"/>
              <a:ext cx="3632"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24" name="Rectangle 9"/>
            <p:cNvSpPr>
              <a:spLocks noChangeArrowheads="1"/>
            </p:cNvSpPr>
            <p:nvPr/>
          </p:nvSpPr>
          <p:spPr bwMode="auto">
            <a:xfrm>
              <a:off x="1153" y="3794"/>
              <a:ext cx="3626"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38925" name="Rectangle 10"/>
            <p:cNvSpPr>
              <a:spLocks noChangeArrowheads="1"/>
            </p:cNvSpPr>
            <p:nvPr/>
          </p:nvSpPr>
          <p:spPr bwMode="auto">
            <a:xfrm>
              <a:off x="1059" y="2524"/>
              <a:ext cx="27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38926" name="Rectangle 11"/>
            <p:cNvSpPr>
              <a:spLocks noChangeArrowheads="1"/>
            </p:cNvSpPr>
            <p:nvPr/>
          </p:nvSpPr>
          <p:spPr bwMode="auto">
            <a:xfrm>
              <a:off x="2123" y="2893"/>
              <a:ext cx="55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i="1">
                  <a:solidFill>
                    <a:srgbClr val="000000"/>
                  </a:solidFill>
                </a:rPr>
                <a:t>Fixed </a:t>
              </a:r>
            </a:p>
          </p:txBody>
        </p:sp>
        <p:sp>
          <p:nvSpPr>
            <p:cNvPr id="38927" name="Rectangle 12"/>
            <p:cNvSpPr>
              <a:spLocks noChangeArrowheads="1"/>
            </p:cNvSpPr>
            <p:nvPr/>
          </p:nvSpPr>
          <p:spPr bwMode="auto">
            <a:xfrm>
              <a:off x="3392" y="2893"/>
              <a:ext cx="7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i="1">
                  <a:solidFill>
                    <a:srgbClr val="000000"/>
                  </a:solidFill>
                </a:rPr>
                <a:t>Floating </a:t>
              </a:r>
            </a:p>
          </p:txBody>
        </p:sp>
        <p:sp>
          <p:nvSpPr>
            <p:cNvPr id="38928" name="Rectangle 13"/>
            <p:cNvSpPr>
              <a:spLocks noChangeArrowheads="1"/>
            </p:cNvSpPr>
            <p:nvPr/>
          </p:nvSpPr>
          <p:spPr bwMode="auto">
            <a:xfrm>
              <a:off x="1147" y="3269"/>
              <a:ext cx="784"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AAACorp</a:t>
              </a:r>
            </a:p>
          </p:txBody>
        </p:sp>
        <p:sp>
          <p:nvSpPr>
            <p:cNvPr id="38929" name="Rectangle 14"/>
            <p:cNvSpPr>
              <a:spLocks noChangeArrowheads="1"/>
            </p:cNvSpPr>
            <p:nvPr/>
          </p:nvSpPr>
          <p:spPr bwMode="auto">
            <a:xfrm>
              <a:off x="2114" y="3269"/>
              <a:ext cx="56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4.00%</a:t>
              </a:r>
            </a:p>
          </p:txBody>
        </p:sp>
        <p:sp>
          <p:nvSpPr>
            <p:cNvPr id="38930" name="Rectangle 15"/>
            <p:cNvSpPr>
              <a:spLocks noChangeArrowheads="1"/>
            </p:cNvSpPr>
            <p:nvPr/>
          </p:nvSpPr>
          <p:spPr bwMode="auto">
            <a:xfrm>
              <a:off x="2840" y="3269"/>
              <a:ext cx="17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6-month LIBOR − 0.1%</a:t>
              </a:r>
            </a:p>
          </p:txBody>
        </p:sp>
        <p:sp>
          <p:nvSpPr>
            <p:cNvPr id="38931" name="Rectangle 16"/>
            <p:cNvSpPr>
              <a:spLocks noChangeArrowheads="1"/>
            </p:cNvSpPr>
            <p:nvPr/>
          </p:nvSpPr>
          <p:spPr bwMode="auto">
            <a:xfrm>
              <a:off x="1149" y="3571"/>
              <a:ext cx="784"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BBBCorp</a:t>
              </a:r>
            </a:p>
          </p:txBody>
        </p:sp>
        <p:sp>
          <p:nvSpPr>
            <p:cNvPr id="38932" name="Rectangle 17"/>
            <p:cNvSpPr>
              <a:spLocks noChangeArrowheads="1"/>
            </p:cNvSpPr>
            <p:nvPr/>
          </p:nvSpPr>
          <p:spPr bwMode="auto">
            <a:xfrm>
              <a:off x="2114" y="3571"/>
              <a:ext cx="56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5.20%</a:t>
              </a:r>
            </a:p>
          </p:txBody>
        </p:sp>
        <p:sp>
          <p:nvSpPr>
            <p:cNvPr id="38933" name="Rectangle 18"/>
            <p:cNvSpPr>
              <a:spLocks noChangeArrowheads="1"/>
            </p:cNvSpPr>
            <p:nvPr/>
          </p:nvSpPr>
          <p:spPr bwMode="auto">
            <a:xfrm>
              <a:off x="2840" y="3571"/>
              <a:ext cx="17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6-month LIBOR + 0.6%</a:t>
              </a:r>
            </a:p>
          </p:txBody>
        </p:sp>
      </p:grpSp>
      <p:sp>
        <p:nvSpPr>
          <p:cNvPr id="38918" name="Slide Number Placeholder 2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9443C489-6994-4F40-9EFA-4090F1C286BA}" type="slidenum">
              <a:rPr lang="en-US" altLang="en-US" sz="1800"/>
              <a:pPr>
                <a:spcBef>
                  <a:spcPct val="0"/>
                </a:spcBef>
                <a:buClrTx/>
                <a:buSzTx/>
                <a:buFontTx/>
                <a:buNone/>
              </a:pPr>
              <a:t>15</a:t>
            </a:fld>
            <a:endParaRPr lang="en-US" altLang="en-US" sz="1800"/>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9th Ed, Ch 7, Copyright © John C. Hull 2016</a:t>
            </a:r>
            <a:endParaRPr lang="en-US" altLang="en-US" sz="1400" i="0"/>
          </a:p>
        </p:txBody>
      </p:sp>
      <p:sp>
        <p:nvSpPr>
          <p:cNvPr id="40963" name="Rectangle 2"/>
          <p:cNvSpPr>
            <a:spLocks noGrp="1" noChangeArrowheads="1"/>
          </p:cNvSpPr>
          <p:nvPr>
            <p:ph type="title"/>
          </p:nvPr>
        </p:nvSpPr>
        <p:spPr>
          <a:noFill/>
        </p:spPr>
        <p:txBody>
          <a:bodyPr lIns="92075" tIns="46038" rIns="92075" bIns="46038" anchor="ctr"/>
          <a:lstStyle/>
          <a:p>
            <a:pPr eaLnBrk="1" hangingPunct="1"/>
            <a:r>
              <a:rPr lang="en-US" altLang="en-US" smtClean="0"/>
              <a:t>A Swap where Companies Trade Directly with Each Other </a:t>
            </a:r>
            <a:r>
              <a:rPr lang="en-US" altLang="en-US" sz="2200" smtClean="0"/>
              <a:t>(Figure 7.7, page 170)</a:t>
            </a:r>
            <a:endParaRPr lang="en-US" altLang="en-US" smtClean="0"/>
          </a:p>
        </p:txBody>
      </p:sp>
      <p:sp>
        <p:nvSpPr>
          <p:cNvPr id="40964" name="Rectangle 3"/>
          <p:cNvSpPr>
            <a:spLocks noGrp="1" noChangeArrowheads="1"/>
          </p:cNvSpPr>
          <p:nvPr>
            <p:ph type="body" idx="1"/>
          </p:nvPr>
        </p:nvSpPr>
        <p:spPr>
          <a:xfrm>
            <a:off x="52388" y="1812925"/>
            <a:ext cx="7969250" cy="4411663"/>
          </a:xfrm>
          <a:noFill/>
        </p:spPr>
        <p:txBody>
          <a:bodyPr lIns="92075" tIns="46038" rIns="92075" bIns="46038"/>
          <a:lstStyle/>
          <a:p>
            <a:pPr eaLnBrk="1" hangingPunct="1">
              <a:buFont typeface="Wingdings" panose="05000000000000000000" pitchFamily="2" charset="2"/>
              <a:buNone/>
            </a:pPr>
            <a:r>
              <a:rPr lang="en-US" altLang="en-US" smtClean="0"/>
              <a:t> </a:t>
            </a:r>
          </a:p>
        </p:txBody>
      </p:sp>
      <p:sp>
        <p:nvSpPr>
          <p:cNvPr id="40965" name="Slide Number Placeholder 1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9E33BCD-4197-4C32-B42F-5DFD1F7910BB}" type="slidenum">
              <a:rPr lang="en-US" altLang="en-US" sz="1800"/>
              <a:pPr>
                <a:spcBef>
                  <a:spcPct val="0"/>
                </a:spcBef>
                <a:buClrTx/>
                <a:buSzTx/>
                <a:buFontTx/>
                <a:buNone/>
              </a:pPr>
              <a:t>16</a:t>
            </a:fld>
            <a:endParaRPr lang="en-US" altLang="en-US" sz="1800"/>
          </a:p>
        </p:txBody>
      </p:sp>
      <p:grpSp>
        <p:nvGrpSpPr>
          <p:cNvPr id="40966" name="Group 7"/>
          <p:cNvGrpSpPr>
            <a:grpSpLocks/>
          </p:cNvGrpSpPr>
          <p:nvPr/>
        </p:nvGrpSpPr>
        <p:grpSpPr bwMode="auto">
          <a:xfrm>
            <a:off x="457200" y="2852738"/>
            <a:ext cx="8407400" cy="1330325"/>
            <a:chOff x="457200" y="2852936"/>
            <a:chExt cx="8407896" cy="1330656"/>
          </a:xfrm>
        </p:grpSpPr>
        <p:sp>
          <p:nvSpPr>
            <p:cNvPr id="26" name="Rectangle 25"/>
            <p:cNvSpPr/>
            <p:nvPr/>
          </p:nvSpPr>
          <p:spPr>
            <a:xfrm>
              <a:off x="1547877" y="3010137"/>
              <a:ext cx="1814619" cy="1070241"/>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err="1">
                  <a:latin typeface="Times New Roman" panose="02020603050405020304" pitchFamily="18" charset="0"/>
                  <a:cs typeface="Times New Roman" panose="02020603050405020304" pitchFamily="18" charset="0"/>
                </a:rPr>
                <a:t>AAACorp</a:t>
              </a:r>
              <a:endParaRPr lang="en-CA" sz="2800" dirty="0">
                <a:latin typeface="Times New Roman" panose="02020603050405020304" pitchFamily="18" charset="0"/>
                <a:cs typeface="Times New Roman" panose="02020603050405020304" pitchFamily="18" charset="0"/>
              </a:endParaRPr>
            </a:p>
          </p:txBody>
        </p:sp>
        <p:sp>
          <p:nvSpPr>
            <p:cNvPr id="27" name="Rectangle 26"/>
            <p:cNvSpPr/>
            <p:nvPr/>
          </p:nvSpPr>
          <p:spPr>
            <a:xfrm>
              <a:off x="5007243" y="2962500"/>
              <a:ext cx="1625696" cy="1071830"/>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err="1">
                  <a:latin typeface="Times New Roman" panose="02020603050405020304" pitchFamily="18" charset="0"/>
                  <a:cs typeface="Times New Roman" panose="02020603050405020304" pitchFamily="18" charset="0"/>
                </a:rPr>
                <a:t>BBBCorp</a:t>
              </a:r>
              <a:endParaRPr lang="en-CA" sz="2800" dirty="0">
                <a:latin typeface="Times New Roman" panose="02020603050405020304" pitchFamily="18" charset="0"/>
                <a:cs typeface="Times New Roman" panose="02020603050405020304" pitchFamily="18" charset="0"/>
              </a:endParaRPr>
            </a:p>
          </p:txBody>
        </p:sp>
        <p:cxnSp>
          <p:nvCxnSpPr>
            <p:cNvPr id="28" name="Straight Arrow Connector 27"/>
            <p:cNvCxnSpPr/>
            <p:nvPr/>
          </p:nvCxnSpPr>
          <p:spPr>
            <a:xfrm flipH="1">
              <a:off x="3337095" y="3300722"/>
              <a:ext cx="1670149"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9" name="Straight Arrow Connector 28"/>
            <p:cNvCxnSpPr/>
            <p:nvPr/>
          </p:nvCxnSpPr>
          <p:spPr>
            <a:xfrm>
              <a:off x="3337095" y="3721514"/>
              <a:ext cx="1670149"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0971" name="TextBox 29"/>
            <p:cNvSpPr txBox="1">
              <a:spLocks noChangeArrowheads="1"/>
            </p:cNvSpPr>
            <p:nvPr/>
          </p:nvSpPr>
          <p:spPr bwMode="auto">
            <a:xfrm>
              <a:off x="3690172" y="2852936"/>
              <a:ext cx="1101088"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4.35%</a:t>
              </a:r>
              <a:endParaRPr lang="en-CA" altLang="en-US" sz="2400">
                <a:latin typeface="Times New Roman" panose="02020603050405020304" pitchFamily="18" charset="0"/>
                <a:cs typeface="Times New Roman" panose="02020603050405020304" pitchFamily="18" charset="0"/>
              </a:endParaRPr>
            </a:p>
          </p:txBody>
        </p:sp>
        <p:sp>
          <p:nvSpPr>
            <p:cNvPr id="40972" name="TextBox 30"/>
            <p:cNvSpPr txBox="1">
              <a:spLocks noChangeArrowheads="1"/>
            </p:cNvSpPr>
            <p:nvPr/>
          </p:nvSpPr>
          <p:spPr bwMode="auto">
            <a:xfrm>
              <a:off x="3690172" y="3721928"/>
              <a:ext cx="1139478" cy="461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LIBOR</a:t>
              </a:r>
              <a:endParaRPr lang="en-CA" altLang="en-US" sz="2400">
                <a:latin typeface="Times New Roman" panose="02020603050405020304" pitchFamily="18" charset="0"/>
                <a:cs typeface="Times New Roman" panose="02020603050405020304" pitchFamily="18" charset="0"/>
              </a:endParaRPr>
            </a:p>
          </p:txBody>
        </p:sp>
        <p:cxnSp>
          <p:nvCxnSpPr>
            <p:cNvPr id="32" name="Straight Arrow Connector 31"/>
            <p:cNvCxnSpPr>
              <a:stCxn id="27" idx="3"/>
            </p:cNvCxnSpPr>
            <p:nvPr/>
          </p:nvCxnSpPr>
          <p:spPr>
            <a:xfrm flipV="1">
              <a:off x="6632939" y="3491270"/>
              <a:ext cx="1827321" cy="635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0974" name="TextBox 32"/>
            <p:cNvSpPr txBox="1">
              <a:spLocks noChangeArrowheads="1"/>
            </p:cNvSpPr>
            <p:nvPr/>
          </p:nvSpPr>
          <p:spPr bwMode="auto">
            <a:xfrm>
              <a:off x="6810538" y="3083769"/>
              <a:ext cx="2054558"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LIBOR+0.6%</a:t>
              </a:r>
              <a:endParaRPr lang="en-CA" altLang="en-US" sz="2400">
                <a:latin typeface="Times New Roman" panose="02020603050405020304" pitchFamily="18" charset="0"/>
                <a:cs typeface="Times New Roman" panose="02020603050405020304" pitchFamily="18" charset="0"/>
              </a:endParaRPr>
            </a:p>
          </p:txBody>
        </p:sp>
        <p:cxnSp>
          <p:nvCxnSpPr>
            <p:cNvPr id="46" name="Straight Arrow Connector 45"/>
            <p:cNvCxnSpPr/>
            <p:nvPr/>
          </p:nvCxnSpPr>
          <p:spPr>
            <a:xfrm flipH="1">
              <a:off x="457200" y="3481742"/>
              <a:ext cx="1090677" cy="1587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0976" name="TextBox 6"/>
            <p:cNvSpPr txBox="1">
              <a:spLocks noChangeArrowheads="1"/>
            </p:cNvSpPr>
            <p:nvPr/>
          </p:nvSpPr>
          <p:spPr bwMode="auto">
            <a:xfrm>
              <a:off x="457200" y="3083769"/>
              <a:ext cx="9127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2400"/>
                <a:t>4%</a:t>
              </a:r>
              <a:endParaRPr lang="en-US" altLang="en-US" sz="2400"/>
            </a:p>
          </p:txBody>
        </p:sp>
      </p:gr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457200" y="268288"/>
            <a:ext cx="7543800" cy="1295400"/>
          </a:xfrm>
        </p:spPr>
        <p:txBody>
          <a:bodyPr/>
          <a:lstStyle/>
          <a:p>
            <a:r>
              <a:rPr lang="en-US" altLang="en-US" smtClean="0"/>
              <a:t>The Swap when a Financial Institution (F.I.) is Involved </a:t>
            </a:r>
            <a:br>
              <a:rPr lang="en-US" altLang="en-US" smtClean="0"/>
            </a:br>
            <a:r>
              <a:rPr lang="en-US" altLang="en-US" sz="2200" smtClean="0"/>
              <a:t>(Figure 7.7, page 170)</a:t>
            </a:r>
            <a:endParaRPr lang="en-US" altLang="en-US" smtClean="0"/>
          </a:p>
        </p:txBody>
      </p:sp>
      <p:sp>
        <p:nvSpPr>
          <p:cNvPr id="43011"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Options, Futures, and Other Derivatives, 9th Ed, Ch 7, Copyright © John C. Hull 2016</a:t>
            </a:r>
            <a:endParaRPr lang="en-US" altLang="en-US" i="0"/>
          </a:p>
        </p:txBody>
      </p:sp>
      <p:sp>
        <p:nvSpPr>
          <p:cNvPr id="4301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8453975-56AE-47BB-803D-6094A90E3BF4}" type="slidenum">
              <a:rPr lang="en-US" altLang="en-US"/>
              <a:pPr/>
              <a:t>17</a:t>
            </a:fld>
            <a:endParaRPr lang="en-US" altLang="en-US"/>
          </a:p>
        </p:txBody>
      </p:sp>
      <p:sp>
        <p:nvSpPr>
          <p:cNvPr id="6" name="Rectangle 5"/>
          <p:cNvSpPr/>
          <p:nvPr/>
        </p:nvSpPr>
        <p:spPr>
          <a:xfrm>
            <a:off x="1116013" y="2954338"/>
            <a:ext cx="1511300" cy="1071562"/>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400" dirty="0" err="1">
                <a:latin typeface="Times New Roman" panose="02020603050405020304" pitchFamily="18" charset="0"/>
                <a:cs typeface="Times New Roman" panose="02020603050405020304" pitchFamily="18" charset="0"/>
              </a:rPr>
              <a:t>AAACorp</a:t>
            </a:r>
            <a:endParaRPr lang="en-CA" sz="2400" dirty="0">
              <a:latin typeface="Times New Roman" panose="02020603050405020304" pitchFamily="18" charset="0"/>
              <a:cs typeface="Times New Roman" panose="02020603050405020304" pitchFamily="18" charset="0"/>
            </a:endParaRPr>
          </a:p>
        </p:txBody>
      </p:sp>
      <p:sp>
        <p:nvSpPr>
          <p:cNvPr id="7" name="Rectangle 6"/>
          <p:cNvSpPr/>
          <p:nvPr/>
        </p:nvSpPr>
        <p:spPr>
          <a:xfrm>
            <a:off x="5580063" y="2962275"/>
            <a:ext cx="1512887" cy="1071563"/>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400" dirty="0" err="1">
                <a:latin typeface="Times New Roman" panose="02020603050405020304" pitchFamily="18" charset="0"/>
                <a:cs typeface="Times New Roman" panose="02020603050405020304" pitchFamily="18" charset="0"/>
              </a:rPr>
              <a:t>BBBCorp</a:t>
            </a:r>
            <a:endParaRPr lang="en-CA" sz="2400" dirty="0">
              <a:latin typeface="Times New Roman" panose="02020603050405020304" pitchFamily="18" charset="0"/>
              <a:cs typeface="Times New Roman" panose="02020603050405020304" pitchFamily="18" charset="0"/>
            </a:endParaRPr>
          </a:p>
        </p:txBody>
      </p:sp>
      <p:cxnSp>
        <p:nvCxnSpPr>
          <p:cNvPr id="8" name="Straight Arrow Connector 7"/>
          <p:cNvCxnSpPr/>
          <p:nvPr/>
        </p:nvCxnSpPr>
        <p:spPr>
          <a:xfrm flipH="1" flipV="1">
            <a:off x="2627313" y="3308350"/>
            <a:ext cx="1033462"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9" name="Straight Arrow Connector 8"/>
          <p:cNvCxnSpPr/>
          <p:nvPr/>
        </p:nvCxnSpPr>
        <p:spPr>
          <a:xfrm>
            <a:off x="2627313" y="3652838"/>
            <a:ext cx="1036637" cy="11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3017" name="TextBox 9"/>
          <p:cNvSpPr txBox="1">
            <a:spLocks noChangeArrowheads="1"/>
          </p:cNvSpPr>
          <p:nvPr/>
        </p:nvSpPr>
        <p:spPr bwMode="auto">
          <a:xfrm>
            <a:off x="2717800" y="2841625"/>
            <a:ext cx="1095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4.33%</a:t>
            </a:r>
            <a:endParaRPr lang="en-CA" altLang="en-US" sz="2400">
              <a:latin typeface="Times New Roman" panose="02020603050405020304" pitchFamily="18" charset="0"/>
              <a:cs typeface="Times New Roman" panose="02020603050405020304" pitchFamily="18" charset="0"/>
            </a:endParaRPr>
          </a:p>
        </p:txBody>
      </p:sp>
      <p:sp>
        <p:nvSpPr>
          <p:cNvPr id="43018" name="TextBox 10"/>
          <p:cNvSpPr txBox="1">
            <a:spLocks noChangeArrowheads="1"/>
          </p:cNvSpPr>
          <p:nvPr/>
        </p:nvSpPr>
        <p:spPr bwMode="auto">
          <a:xfrm>
            <a:off x="2624138" y="3714750"/>
            <a:ext cx="12334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LIBOR</a:t>
            </a:r>
            <a:endParaRPr lang="en-CA" altLang="en-US" sz="2400">
              <a:latin typeface="Times New Roman" panose="02020603050405020304" pitchFamily="18" charset="0"/>
              <a:cs typeface="Times New Roman" panose="02020603050405020304" pitchFamily="18" charset="0"/>
            </a:endParaRPr>
          </a:p>
        </p:txBody>
      </p:sp>
      <p:cxnSp>
        <p:nvCxnSpPr>
          <p:cNvPr id="12" name="Straight Arrow Connector 11"/>
          <p:cNvCxnSpPr/>
          <p:nvPr/>
        </p:nvCxnSpPr>
        <p:spPr>
          <a:xfrm flipV="1">
            <a:off x="7092950" y="3490913"/>
            <a:ext cx="1366838" cy="7937"/>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3020" name="TextBox 12"/>
          <p:cNvSpPr txBox="1">
            <a:spLocks noChangeArrowheads="1"/>
          </p:cNvSpPr>
          <p:nvPr/>
        </p:nvSpPr>
        <p:spPr bwMode="auto">
          <a:xfrm>
            <a:off x="7092950" y="3084513"/>
            <a:ext cx="19192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LIBOR+0.6%</a:t>
            </a:r>
            <a:endParaRPr lang="en-CA" altLang="en-US" sz="2400">
              <a:latin typeface="Times New Roman" panose="02020603050405020304" pitchFamily="18" charset="0"/>
              <a:cs typeface="Times New Roman" panose="02020603050405020304" pitchFamily="18" charset="0"/>
            </a:endParaRPr>
          </a:p>
        </p:txBody>
      </p:sp>
      <p:cxnSp>
        <p:nvCxnSpPr>
          <p:cNvPr id="14" name="Straight Arrow Connector 13"/>
          <p:cNvCxnSpPr>
            <a:stCxn id="6" idx="1"/>
          </p:cNvCxnSpPr>
          <p:nvPr/>
        </p:nvCxnSpPr>
        <p:spPr>
          <a:xfrm flipH="1">
            <a:off x="457200" y="3489325"/>
            <a:ext cx="658813" cy="952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3022" name="TextBox 14"/>
          <p:cNvSpPr txBox="1">
            <a:spLocks noChangeArrowheads="1"/>
          </p:cNvSpPr>
          <p:nvPr/>
        </p:nvSpPr>
        <p:spPr bwMode="auto">
          <a:xfrm>
            <a:off x="457200" y="3084513"/>
            <a:ext cx="7477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2400"/>
              <a:t>4%</a:t>
            </a:r>
            <a:endParaRPr lang="en-US" altLang="en-US" sz="2400"/>
          </a:p>
        </p:txBody>
      </p:sp>
      <p:cxnSp>
        <p:nvCxnSpPr>
          <p:cNvPr id="40" name="Straight Arrow Connector 39"/>
          <p:cNvCxnSpPr/>
          <p:nvPr/>
        </p:nvCxnSpPr>
        <p:spPr>
          <a:xfrm>
            <a:off x="4545013" y="3714750"/>
            <a:ext cx="1035050" cy="1111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41" name="Straight Arrow Connector 40"/>
          <p:cNvCxnSpPr/>
          <p:nvPr/>
        </p:nvCxnSpPr>
        <p:spPr>
          <a:xfrm flipH="1" flipV="1">
            <a:off x="4545013" y="3344863"/>
            <a:ext cx="1031875" cy="1587"/>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3025" name="TextBox 42"/>
          <p:cNvSpPr txBox="1">
            <a:spLocks noChangeArrowheads="1"/>
          </p:cNvSpPr>
          <p:nvPr/>
        </p:nvSpPr>
        <p:spPr bwMode="auto">
          <a:xfrm>
            <a:off x="4543425" y="3694113"/>
            <a:ext cx="1231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LIBOR</a:t>
            </a:r>
            <a:endParaRPr lang="en-CA" altLang="en-US" sz="2400">
              <a:latin typeface="Times New Roman" panose="02020603050405020304" pitchFamily="18" charset="0"/>
              <a:cs typeface="Times New Roman" panose="02020603050405020304" pitchFamily="18" charset="0"/>
            </a:endParaRPr>
          </a:p>
        </p:txBody>
      </p:sp>
      <p:sp>
        <p:nvSpPr>
          <p:cNvPr id="43026" name="TextBox 43"/>
          <p:cNvSpPr txBox="1">
            <a:spLocks noChangeArrowheads="1"/>
          </p:cNvSpPr>
          <p:nvPr/>
        </p:nvSpPr>
        <p:spPr bwMode="auto">
          <a:xfrm>
            <a:off x="4664075" y="2887663"/>
            <a:ext cx="10953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4.37%</a:t>
            </a:r>
            <a:endParaRPr lang="en-CA" altLang="en-US" sz="2400">
              <a:latin typeface="Times New Roman" panose="02020603050405020304" pitchFamily="18" charset="0"/>
              <a:cs typeface="Times New Roman" panose="02020603050405020304" pitchFamily="18" charset="0"/>
            </a:endParaRPr>
          </a:p>
        </p:txBody>
      </p:sp>
      <p:sp>
        <p:nvSpPr>
          <p:cNvPr id="45" name="Rectangle 44"/>
          <p:cNvSpPr/>
          <p:nvPr/>
        </p:nvSpPr>
        <p:spPr>
          <a:xfrm>
            <a:off x="3676650" y="2954338"/>
            <a:ext cx="900113" cy="1108075"/>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CA" sz="2400" dirty="0">
                <a:latin typeface="Times New Roman" panose="02020603050405020304" pitchFamily="18" charset="0"/>
                <a:cs typeface="Times New Roman" panose="02020603050405020304" pitchFamily="18" charset="0"/>
              </a:rPr>
              <a:t>F.I.</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9th Ed, Ch 7, Copyright © John C. Hull 2016</a:t>
            </a:r>
            <a:endParaRPr lang="en-US" altLang="en-US" sz="1400" i="0"/>
          </a:p>
        </p:txBody>
      </p:sp>
      <p:sp>
        <p:nvSpPr>
          <p:cNvPr id="44035" name="Rectangle 2"/>
          <p:cNvSpPr>
            <a:spLocks noGrp="1" noChangeArrowheads="1"/>
          </p:cNvSpPr>
          <p:nvPr>
            <p:ph type="title"/>
          </p:nvPr>
        </p:nvSpPr>
        <p:spPr>
          <a:noFill/>
        </p:spPr>
        <p:txBody>
          <a:bodyPr lIns="92075" tIns="46038" rIns="92075" bIns="46038" anchor="ctr"/>
          <a:lstStyle/>
          <a:p>
            <a:pPr eaLnBrk="1" hangingPunct="1"/>
            <a:r>
              <a:rPr lang="en-US" altLang="en-US" smtClean="0"/>
              <a:t>Criticism of the Comparative Advantage Argument</a:t>
            </a:r>
          </a:p>
        </p:txBody>
      </p:sp>
      <p:sp>
        <p:nvSpPr>
          <p:cNvPr id="44036" name="Rectangle 3"/>
          <p:cNvSpPr>
            <a:spLocks noGrp="1" noChangeArrowheads="1"/>
          </p:cNvSpPr>
          <p:nvPr>
            <p:ph type="body" idx="1"/>
          </p:nvPr>
        </p:nvSpPr>
        <p:spPr>
          <a:noFill/>
        </p:spPr>
        <p:txBody>
          <a:bodyPr lIns="92075" tIns="46038" rIns="92075" bIns="46038"/>
          <a:lstStyle/>
          <a:p>
            <a:pPr eaLnBrk="1" hangingPunct="1"/>
            <a:r>
              <a:rPr lang="en-US" altLang="en-US" sz="2800" smtClean="0"/>
              <a:t>The 4.0% and 5.2% rates available to AAACorp and BBBCorp in fixed rate markets are 5-year rates</a:t>
            </a:r>
          </a:p>
          <a:p>
            <a:pPr eaLnBrk="1" hangingPunct="1"/>
            <a:r>
              <a:rPr lang="en-US" altLang="en-US" sz="2800" smtClean="0"/>
              <a:t>The LIBOR−0.1% and LIBOR+0.6% rates available in the floating rate market are six-month rates</a:t>
            </a:r>
          </a:p>
          <a:p>
            <a:pPr eaLnBrk="1" hangingPunct="1"/>
            <a:r>
              <a:rPr lang="en-US" altLang="en-US" sz="2800" smtClean="0"/>
              <a:t>BBBCorp’s fixed rate depends on the spread above LIBOR it borrows at in the future</a:t>
            </a:r>
          </a:p>
        </p:txBody>
      </p:sp>
      <p:sp>
        <p:nvSpPr>
          <p:cNvPr id="4403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B8BAEDA-6587-4753-96D9-C99B357050DE}" type="slidenum">
              <a:rPr lang="en-US" altLang="en-US" sz="1800"/>
              <a:pPr>
                <a:spcBef>
                  <a:spcPct val="0"/>
                </a:spcBef>
                <a:buClrTx/>
                <a:buSzTx/>
                <a:buFontTx/>
                <a:buNone/>
              </a:pPr>
              <a:t>18</a:t>
            </a:fld>
            <a:endParaRPr lang="en-US" altLang="en-US" sz="1800"/>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lIns="92075" tIns="46038" rIns="92075" bIns="46038"/>
          <a:lstStyle/>
          <a:p>
            <a:pPr eaLnBrk="1" hangingPunct="1"/>
            <a:r>
              <a:rPr lang="en-US" altLang="en-US" smtClean="0"/>
              <a:t>Valuation of an Interest Rate Swap</a:t>
            </a:r>
          </a:p>
        </p:txBody>
      </p:sp>
      <p:sp>
        <p:nvSpPr>
          <p:cNvPr id="46083" name="Rectangle 3"/>
          <p:cNvSpPr>
            <a:spLocks noGrp="1" noChangeArrowheads="1"/>
          </p:cNvSpPr>
          <p:nvPr>
            <p:ph idx="1"/>
          </p:nvPr>
        </p:nvSpPr>
        <p:spPr>
          <a:xfrm>
            <a:off x="468313" y="1557338"/>
            <a:ext cx="7543800" cy="4114800"/>
          </a:xfrm>
        </p:spPr>
        <p:txBody>
          <a:bodyPr lIns="92075" tIns="46038" rIns="92075" bIns="46038"/>
          <a:lstStyle/>
          <a:p>
            <a:pPr eaLnBrk="1" hangingPunct="1"/>
            <a:r>
              <a:rPr lang="en-CA" altLang="en-US" sz="2800" smtClean="0">
                <a:cs typeface="Arial" panose="020B0604020202020204" pitchFamily="34" charset="0"/>
              </a:rPr>
              <a:t>Initially interest rate swaps are worth close to zero</a:t>
            </a:r>
            <a:endParaRPr lang="en-US" altLang="en-US" sz="2800" smtClean="0">
              <a:cs typeface="Arial" panose="020B0604020202020204" pitchFamily="34" charset="0"/>
            </a:endParaRPr>
          </a:p>
          <a:p>
            <a:pPr eaLnBrk="1" hangingPunct="1"/>
            <a:r>
              <a:rPr lang="en-US" altLang="en-US" sz="2800" smtClean="0">
                <a:cs typeface="Arial" panose="020B0604020202020204" pitchFamily="34" charset="0"/>
              </a:rPr>
              <a:t>At later times they can be valued as a portfolio of forward rate agreements (FRAs)</a:t>
            </a:r>
          </a:p>
          <a:p>
            <a:pPr eaLnBrk="1" hangingPunct="1"/>
            <a:r>
              <a:rPr lang="en-US" altLang="en-US" sz="2800" smtClean="0">
                <a:cs typeface="Arial" panose="020B0604020202020204" pitchFamily="34" charset="0"/>
              </a:rPr>
              <a:t>The procedure is to</a:t>
            </a:r>
          </a:p>
          <a:p>
            <a:pPr lvl="1" eaLnBrk="1" hangingPunct="1"/>
            <a:r>
              <a:rPr lang="en-US" altLang="en-US" sz="2400" smtClean="0">
                <a:cs typeface="Arial" panose="020B0604020202020204" pitchFamily="34" charset="0"/>
              </a:rPr>
              <a:t>Calculate LIBOR forward rates</a:t>
            </a:r>
          </a:p>
          <a:p>
            <a:pPr lvl="1" eaLnBrk="1" hangingPunct="1"/>
            <a:r>
              <a:rPr lang="en-US" altLang="en-US" sz="2400" smtClean="0">
                <a:cs typeface="Arial" panose="020B0604020202020204" pitchFamily="34" charset="0"/>
              </a:rPr>
              <a:t>Calculate the swap cash flows that will occur if LIBOR forward rates are realized</a:t>
            </a:r>
          </a:p>
          <a:p>
            <a:pPr lvl="1" eaLnBrk="1" hangingPunct="1"/>
            <a:r>
              <a:rPr lang="en-US" altLang="en-US" sz="2400" smtClean="0">
                <a:cs typeface="Arial" panose="020B0604020202020204" pitchFamily="34" charset="0"/>
              </a:rPr>
              <a:t>Discount these swap cash flows at OIS rates</a:t>
            </a:r>
          </a:p>
          <a:p>
            <a:pPr eaLnBrk="1" hangingPunct="1"/>
            <a:endParaRPr lang="en-US" altLang="en-US" smtClean="0">
              <a:cs typeface="Arial" panose="020B0604020202020204" pitchFamily="34" charset="0"/>
            </a:endParaRPr>
          </a:p>
        </p:txBody>
      </p:sp>
      <p:sp>
        <p:nvSpPr>
          <p:cNvPr id="4608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9th Ed, Ch 7, Copyright © John C. Hull 2016</a:t>
            </a:r>
            <a:endParaRPr lang="en-US" altLang="en-US" sz="1400">
              <a:cs typeface="Arial" panose="020B0604020202020204" pitchFamily="34" charset="0"/>
            </a:endParaRPr>
          </a:p>
        </p:txBody>
      </p:sp>
      <p:sp>
        <p:nvSpPr>
          <p:cNvPr id="4608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9E4401B-DFB1-4D7A-ADB0-C7B4486B075B}" type="slidenum">
              <a:rPr lang="en-US" altLang="en-US" sz="1800"/>
              <a:pPr>
                <a:spcBef>
                  <a:spcPct val="0"/>
                </a:spcBef>
                <a:buClrTx/>
                <a:buSzTx/>
                <a:buFontTx/>
                <a:buNone/>
              </a:pPr>
              <a:t>19</a:t>
            </a:fld>
            <a:endParaRPr lang="en-US" altLang="en-US" sz="1800"/>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CA" altLang="en-US" smtClean="0"/>
              <a:t>Example 7.1 </a:t>
            </a:r>
            <a:r>
              <a:rPr lang="en-CA" altLang="en-US" sz="2400" smtClean="0"/>
              <a:t>(page 172)</a:t>
            </a:r>
          </a:p>
        </p:txBody>
      </p:sp>
      <p:sp>
        <p:nvSpPr>
          <p:cNvPr id="48131" name="Content Placeholder 2"/>
          <p:cNvSpPr>
            <a:spLocks noGrp="1"/>
          </p:cNvSpPr>
          <p:nvPr>
            <p:ph idx="1"/>
          </p:nvPr>
        </p:nvSpPr>
        <p:spPr>
          <a:xfrm>
            <a:off x="468313" y="1557338"/>
            <a:ext cx="8567737" cy="4411662"/>
          </a:xfrm>
        </p:spPr>
        <p:txBody>
          <a:bodyPr/>
          <a:lstStyle/>
          <a:p>
            <a:r>
              <a:rPr lang="en-CA" altLang="en-US" sz="2400" smtClean="0"/>
              <a:t>Swap involves paying 3% per annum and receiving LIBOR every six months on $100 million</a:t>
            </a:r>
          </a:p>
          <a:p>
            <a:r>
              <a:rPr lang="en-CA" altLang="en-US" sz="2400" smtClean="0"/>
              <a:t>Swap has 15 months remaining (exchanges in 3, 9, and 15 months)</a:t>
            </a:r>
          </a:p>
          <a:p>
            <a:r>
              <a:rPr lang="en-CA" altLang="en-US" sz="2400" smtClean="0"/>
              <a:t>LIBOR rate applicable to exchange in 3 months was determined 3 months ago and is 2.9%</a:t>
            </a:r>
          </a:p>
          <a:p>
            <a:r>
              <a:rPr lang="en-CA" altLang="en-US" sz="2400" smtClean="0"/>
              <a:t>Forward LIBOR rates for 3-9 month period and 9-15 month periods are 3.429% and 3.734%, respectively</a:t>
            </a:r>
          </a:p>
          <a:p>
            <a:r>
              <a:rPr lang="en-CA" altLang="en-US" sz="2400" smtClean="0"/>
              <a:t>OIS zero rates for maturities of 3, 9, and 15 months are 2.8%, 3.2%, and 3.4%, respectively</a:t>
            </a:r>
          </a:p>
          <a:p>
            <a:endParaRPr lang="en-CA" altLang="en-US" smtClean="0"/>
          </a:p>
        </p:txBody>
      </p:sp>
      <p:sp>
        <p:nvSpPr>
          <p:cNvPr id="4813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Options, Futures, and Other Derivatives, 9th Ed, Ch 7, Copyright © John C. Hull 2016</a:t>
            </a:r>
            <a:endParaRPr lang="en-US" altLang="en-US" i="0"/>
          </a:p>
        </p:txBody>
      </p:sp>
      <p:sp>
        <p:nvSpPr>
          <p:cNvPr id="4813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2F05DD0-B73F-4E63-8C06-5F138792EAB7}" type="slidenum">
              <a:rPr lang="en-US" altLang="en-US"/>
              <a:pPr/>
              <a:t>20</a:t>
            </a:fld>
            <a:endParaRPr lang="en-US" alt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CA" altLang="en-US" smtClean="0"/>
              <a:t>Calculations ($ million)</a:t>
            </a:r>
          </a:p>
        </p:txBody>
      </p:sp>
      <p:sp>
        <p:nvSpPr>
          <p:cNvPr id="49155"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Options, Futures, and Other Derivatives, 9th Ed, Ch 7, Copyright © John C. Hull 2016</a:t>
            </a:r>
            <a:endParaRPr lang="en-US" altLang="en-US" i="0"/>
          </a:p>
        </p:txBody>
      </p:sp>
      <p:sp>
        <p:nvSpPr>
          <p:cNvPr id="49156"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11B9478-A5D0-4D9A-A6EA-E4306F178CD7}" type="slidenum">
              <a:rPr lang="en-US" altLang="en-US"/>
              <a:pPr/>
              <a:t>21</a:t>
            </a:fld>
            <a:endParaRPr lang="en-US" altLang="en-US"/>
          </a:p>
        </p:txBody>
      </p:sp>
      <p:graphicFrame>
        <p:nvGraphicFramePr>
          <p:cNvPr id="6" name="Table 5"/>
          <p:cNvGraphicFramePr>
            <a:graphicFrameLocks noGrp="1"/>
          </p:cNvGraphicFramePr>
          <p:nvPr/>
        </p:nvGraphicFramePr>
        <p:xfrm>
          <a:off x="900113" y="2276475"/>
          <a:ext cx="6911976" cy="2124075"/>
        </p:xfrm>
        <a:graphic>
          <a:graphicData uri="http://schemas.openxmlformats.org/drawingml/2006/table">
            <a:tbl>
              <a:tblPr firstRow="1" bandRow="1">
                <a:tableStyleId>{5940675A-B579-460E-94D1-54222C63F5DA}</a:tableStyleId>
              </a:tblPr>
              <a:tblGrid>
                <a:gridCol w="863997"/>
                <a:gridCol w="1223996"/>
                <a:gridCol w="1151996"/>
                <a:gridCol w="1121760"/>
                <a:gridCol w="1110232"/>
                <a:gridCol w="1439995"/>
              </a:tblGrid>
              <a:tr h="640271">
                <a:tc>
                  <a:txBody>
                    <a:bodyPr/>
                    <a:lstStyle/>
                    <a:p>
                      <a:r>
                        <a:rPr lang="en-CA" sz="1800" dirty="0" smtClean="0"/>
                        <a:t>Time</a:t>
                      </a:r>
                    </a:p>
                    <a:p>
                      <a:r>
                        <a:rPr lang="en-CA" sz="1800" dirty="0" smtClean="0"/>
                        <a:t> (</a:t>
                      </a:r>
                      <a:r>
                        <a:rPr lang="en-CA" sz="1800" dirty="0" err="1" smtClean="0"/>
                        <a:t>yrs</a:t>
                      </a:r>
                      <a:r>
                        <a:rPr lang="en-CA" sz="1800" dirty="0" smtClean="0"/>
                        <a:t>)</a:t>
                      </a:r>
                      <a:endParaRPr lang="en-CA" sz="1800" dirty="0"/>
                    </a:p>
                  </a:txBody>
                  <a:tcPr marL="91430" marR="91430" marT="45734" marB="45734"/>
                </a:tc>
                <a:tc>
                  <a:txBody>
                    <a:bodyPr/>
                    <a:lstStyle/>
                    <a:p>
                      <a:r>
                        <a:rPr lang="en-CA" sz="1800" dirty="0" smtClean="0"/>
                        <a:t>Fixed cash flow</a:t>
                      </a:r>
                      <a:endParaRPr lang="en-CA" sz="1800" dirty="0"/>
                    </a:p>
                  </a:txBody>
                  <a:tcPr marL="91430" marR="91430" marT="45734" marB="45734"/>
                </a:tc>
                <a:tc>
                  <a:txBody>
                    <a:bodyPr/>
                    <a:lstStyle/>
                    <a:p>
                      <a:r>
                        <a:rPr lang="en-CA" sz="1800" dirty="0" smtClean="0"/>
                        <a:t>Floating cash flow</a:t>
                      </a:r>
                      <a:endParaRPr lang="en-CA" sz="1800" dirty="0"/>
                    </a:p>
                  </a:txBody>
                  <a:tcPr marL="91430" marR="91430" marT="45734" marB="45734"/>
                </a:tc>
                <a:tc>
                  <a:txBody>
                    <a:bodyPr/>
                    <a:lstStyle/>
                    <a:p>
                      <a:r>
                        <a:rPr lang="en-CA" sz="1800" dirty="0" smtClean="0"/>
                        <a:t>Net cash flow</a:t>
                      </a:r>
                      <a:endParaRPr lang="en-CA" sz="1800" dirty="0"/>
                    </a:p>
                  </a:txBody>
                  <a:tcPr marL="91430" marR="91430" marT="45734" marB="45734"/>
                </a:tc>
                <a:tc>
                  <a:txBody>
                    <a:bodyPr/>
                    <a:lstStyle/>
                    <a:p>
                      <a:r>
                        <a:rPr lang="en-CA" sz="1800" dirty="0" smtClean="0"/>
                        <a:t>Discount factor</a:t>
                      </a:r>
                      <a:endParaRPr lang="en-CA" sz="1800" dirty="0"/>
                    </a:p>
                  </a:txBody>
                  <a:tcPr marL="91430" marR="91430" marT="45734" marB="45734"/>
                </a:tc>
                <a:tc>
                  <a:txBody>
                    <a:bodyPr/>
                    <a:lstStyle/>
                    <a:p>
                      <a:r>
                        <a:rPr lang="en-CA" sz="1800" dirty="0" smtClean="0"/>
                        <a:t>PV of net cash</a:t>
                      </a:r>
                      <a:r>
                        <a:rPr lang="en-CA" sz="1800" baseline="0" dirty="0" smtClean="0"/>
                        <a:t> flow</a:t>
                      </a:r>
                      <a:endParaRPr lang="en-CA" sz="1800" dirty="0"/>
                    </a:p>
                  </a:txBody>
                  <a:tcPr marL="91430" marR="91430" marT="45734" marB="45734"/>
                </a:tc>
              </a:tr>
              <a:tr h="370951">
                <a:tc>
                  <a:txBody>
                    <a:bodyPr/>
                    <a:lstStyle/>
                    <a:p>
                      <a:r>
                        <a:rPr lang="en-CA" sz="1800" dirty="0" smtClean="0"/>
                        <a:t>0.25</a:t>
                      </a:r>
                      <a:endParaRPr lang="en-CA" sz="1800" dirty="0"/>
                    </a:p>
                  </a:txBody>
                  <a:tcPr marL="91430" marR="91430" marT="45734" marB="45734"/>
                </a:tc>
                <a:tc>
                  <a:txBody>
                    <a:bodyPr/>
                    <a:lstStyle/>
                    <a:p>
                      <a:r>
                        <a:rPr lang="en-CA" sz="1800" dirty="0" smtClean="0"/>
                        <a:t>−1.5000</a:t>
                      </a:r>
                      <a:endParaRPr lang="en-CA" sz="1800" dirty="0"/>
                    </a:p>
                  </a:txBody>
                  <a:tcPr marL="91430" marR="91430" marT="45734" marB="45734"/>
                </a:tc>
                <a:tc>
                  <a:txBody>
                    <a:bodyPr/>
                    <a:lstStyle/>
                    <a:p>
                      <a:r>
                        <a:rPr lang="en-CA" sz="1800" dirty="0" smtClean="0"/>
                        <a:t>+1.4500</a:t>
                      </a:r>
                      <a:endParaRPr lang="en-CA" sz="1800" dirty="0"/>
                    </a:p>
                  </a:txBody>
                  <a:tcPr marL="91430" marR="91430" marT="45734" marB="45734"/>
                </a:tc>
                <a:tc>
                  <a:txBody>
                    <a:bodyPr/>
                    <a:lstStyle/>
                    <a:p>
                      <a:r>
                        <a:rPr lang="en-CA" sz="1800" dirty="0" smtClean="0"/>
                        <a:t>−0.0500</a:t>
                      </a:r>
                      <a:endParaRPr lang="en-CA" sz="1800" dirty="0"/>
                    </a:p>
                  </a:txBody>
                  <a:tcPr marL="91430" marR="91430" marT="45734" marB="45734"/>
                </a:tc>
                <a:tc>
                  <a:txBody>
                    <a:bodyPr/>
                    <a:lstStyle/>
                    <a:p>
                      <a:r>
                        <a:rPr lang="en-CA" sz="1800" dirty="0" smtClean="0"/>
                        <a:t>0.9930</a:t>
                      </a:r>
                      <a:endParaRPr lang="en-CA" sz="1800" dirty="0"/>
                    </a:p>
                  </a:txBody>
                  <a:tcPr marL="91430" marR="91430" marT="45734" marB="45734"/>
                </a:tc>
                <a:tc>
                  <a:txBody>
                    <a:bodyPr/>
                    <a:lstStyle/>
                    <a:p>
                      <a:r>
                        <a:rPr lang="en-CA" sz="1800" dirty="0" smtClean="0"/>
                        <a:t>−0.0497</a:t>
                      </a:r>
                      <a:endParaRPr lang="en-CA" sz="1800" dirty="0"/>
                    </a:p>
                  </a:txBody>
                  <a:tcPr marL="91430" marR="91430" marT="45734" marB="45734"/>
                </a:tc>
              </a:tr>
              <a:tr h="370951">
                <a:tc>
                  <a:txBody>
                    <a:bodyPr/>
                    <a:lstStyle/>
                    <a:p>
                      <a:r>
                        <a:rPr lang="en-CA" sz="1800" dirty="0" smtClean="0"/>
                        <a:t>0.75</a:t>
                      </a:r>
                      <a:endParaRPr lang="en-CA" sz="1800" dirty="0"/>
                    </a:p>
                  </a:txBody>
                  <a:tcPr marL="91430" marR="91430" marT="45734" marB="45734"/>
                </a:tc>
                <a:tc>
                  <a:txBody>
                    <a:bodyPr/>
                    <a:lstStyle/>
                    <a:p>
                      <a:r>
                        <a:rPr lang="en-CA" sz="1800" dirty="0" smtClean="0"/>
                        <a:t>−1.5000</a:t>
                      </a:r>
                      <a:endParaRPr lang="en-CA" sz="1800" dirty="0"/>
                    </a:p>
                  </a:txBody>
                  <a:tcPr marL="91430" marR="91430" marT="45734" marB="45734"/>
                </a:tc>
                <a:tc>
                  <a:txBody>
                    <a:bodyPr/>
                    <a:lstStyle/>
                    <a:p>
                      <a:r>
                        <a:rPr lang="en-CA" sz="1800" dirty="0" smtClean="0"/>
                        <a:t>+1.7145</a:t>
                      </a:r>
                      <a:endParaRPr lang="en-CA" sz="1800" dirty="0"/>
                    </a:p>
                  </a:txBody>
                  <a:tcPr marL="91430" marR="91430" marT="45734" marB="45734"/>
                </a:tc>
                <a:tc>
                  <a:txBody>
                    <a:bodyPr/>
                    <a:lstStyle/>
                    <a:p>
                      <a:r>
                        <a:rPr lang="en-CA" sz="1800" dirty="0" smtClean="0"/>
                        <a:t>+0.2145</a:t>
                      </a:r>
                      <a:endParaRPr lang="en-CA" sz="1800" dirty="0"/>
                    </a:p>
                  </a:txBody>
                  <a:tcPr marL="91430" marR="91430" marT="45734" marB="45734"/>
                </a:tc>
                <a:tc>
                  <a:txBody>
                    <a:bodyPr/>
                    <a:lstStyle/>
                    <a:p>
                      <a:r>
                        <a:rPr lang="en-CA" sz="1800" dirty="0" smtClean="0"/>
                        <a:t>0.9763</a:t>
                      </a:r>
                      <a:endParaRPr lang="en-CA" sz="1800" dirty="0"/>
                    </a:p>
                  </a:txBody>
                  <a:tcPr marL="91430" marR="91430" marT="45734" marB="45734"/>
                </a:tc>
                <a:tc>
                  <a:txBody>
                    <a:bodyPr/>
                    <a:lstStyle/>
                    <a:p>
                      <a:r>
                        <a:rPr lang="en-CA" sz="1800" dirty="0" smtClean="0"/>
                        <a:t>+0.2094</a:t>
                      </a:r>
                      <a:endParaRPr lang="en-CA" sz="1800" dirty="0"/>
                    </a:p>
                  </a:txBody>
                  <a:tcPr marL="91430" marR="91430" marT="45734" marB="45734"/>
                </a:tc>
              </a:tr>
              <a:tr h="370951">
                <a:tc>
                  <a:txBody>
                    <a:bodyPr/>
                    <a:lstStyle/>
                    <a:p>
                      <a:r>
                        <a:rPr lang="en-CA" sz="1800" dirty="0" smtClean="0"/>
                        <a:t>1.25</a:t>
                      </a:r>
                      <a:endParaRPr lang="en-CA" sz="1800" dirty="0"/>
                    </a:p>
                  </a:txBody>
                  <a:tcPr marL="91430" marR="91430" marT="45734" marB="45734"/>
                </a:tc>
                <a:tc>
                  <a:txBody>
                    <a:bodyPr/>
                    <a:lstStyle/>
                    <a:p>
                      <a:r>
                        <a:rPr lang="en-CA" sz="1800" dirty="0" smtClean="0"/>
                        <a:t>−1.5000</a:t>
                      </a:r>
                      <a:endParaRPr lang="en-CA" sz="1800" dirty="0"/>
                    </a:p>
                  </a:txBody>
                  <a:tcPr marL="91430" marR="91430" marT="45734" marB="45734"/>
                </a:tc>
                <a:tc>
                  <a:txBody>
                    <a:bodyPr/>
                    <a:lstStyle/>
                    <a:p>
                      <a:r>
                        <a:rPr lang="en-CA" sz="1800" dirty="0" smtClean="0"/>
                        <a:t>+1.8672</a:t>
                      </a:r>
                      <a:endParaRPr lang="en-CA" sz="1800" dirty="0"/>
                    </a:p>
                  </a:txBody>
                  <a:tcPr marL="91430" marR="91430" marT="45734" marB="45734"/>
                </a:tc>
                <a:tc>
                  <a:txBody>
                    <a:bodyPr/>
                    <a:lstStyle/>
                    <a:p>
                      <a:r>
                        <a:rPr lang="en-CA" sz="1800" dirty="0" smtClean="0"/>
                        <a:t>+0.3672</a:t>
                      </a:r>
                      <a:endParaRPr lang="en-CA" sz="1800" dirty="0"/>
                    </a:p>
                  </a:txBody>
                  <a:tcPr marL="91430" marR="91430" marT="45734" marB="45734"/>
                </a:tc>
                <a:tc>
                  <a:txBody>
                    <a:bodyPr/>
                    <a:lstStyle/>
                    <a:p>
                      <a:r>
                        <a:rPr lang="en-CA" sz="1800" dirty="0" smtClean="0"/>
                        <a:t>0.9584</a:t>
                      </a:r>
                      <a:endParaRPr lang="en-CA" sz="1800" dirty="0"/>
                    </a:p>
                  </a:txBody>
                  <a:tcPr marL="91430" marR="91430" marT="45734" marB="45734"/>
                </a:tc>
                <a:tc>
                  <a:txBody>
                    <a:bodyPr/>
                    <a:lstStyle/>
                    <a:p>
                      <a:r>
                        <a:rPr lang="en-CA" sz="1800" dirty="0" smtClean="0"/>
                        <a:t>+0.3519</a:t>
                      </a:r>
                      <a:endParaRPr lang="en-CA" sz="1800" dirty="0"/>
                    </a:p>
                  </a:txBody>
                  <a:tcPr marL="91430" marR="91430" marT="45734" marB="45734"/>
                </a:tc>
              </a:tr>
              <a:tr h="370951">
                <a:tc>
                  <a:txBody>
                    <a:bodyPr/>
                    <a:lstStyle/>
                    <a:p>
                      <a:endParaRPr lang="en-CA" sz="1800"/>
                    </a:p>
                  </a:txBody>
                  <a:tcPr marL="91430" marR="91430" marT="45734" marB="45734"/>
                </a:tc>
                <a:tc>
                  <a:txBody>
                    <a:bodyPr/>
                    <a:lstStyle/>
                    <a:p>
                      <a:endParaRPr lang="en-CA" sz="1800"/>
                    </a:p>
                  </a:txBody>
                  <a:tcPr marL="91430" marR="91430" marT="45734" marB="45734"/>
                </a:tc>
                <a:tc>
                  <a:txBody>
                    <a:bodyPr/>
                    <a:lstStyle/>
                    <a:p>
                      <a:endParaRPr lang="en-CA" sz="1800"/>
                    </a:p>
                  </a:txBody>
                  <a:tcPr marL="91430" marR="91430" marT="45734" marB="45734"/>
                </a:tc>
                <a:tc>
                  <a:txBody>
                    <a:bodyPr/>
                    <a:lstStyle/>
                    <a:p>
                      <a:endParaRPr lang="en-CA" sz="1800"/>
                    </a:p>
                  </a:txBody>
                  <a:tcPr marL="91430" marR="91430" marT="45734" marB="45734"/>
                </a:tc>
                <a:tc>
                  <a:txBody>
                    <a:bodyPr/>
                    <a:lstStyle/>
                    <a:p>
                      <a:endParaRPr lang="en-CA" sz="1800" dirty="0"/>
                    </a:p>
                  </a:txBody>
                  <a:tcPr marL="91430" marR="91430" marT="45734" marB="45734"/>
                </a:tc>
                <a:tc>
                  <a:txBody>
                    <a:bodyPr/>
                    <a:lstStyle/>
                    <a:p>
                      <a:r>
                        <a:rPr lang="en-CA" sz="1800" dirty="0" smtClean="0"/>
                        <a:t>+0.5117</a:t>
                      </a:r>
                      <a:endParaRPr lang="en-CA" sz="1800" dirty="0"/>
                    </a:p>
                  </a:txBody>
                  <a:tcPr marL="91430" marR="91430" marT="45734" marB="45734"/>
                </a:tc>
              </a:tr>
            </a:tbl>
          </a:graphicData>
        </a:graphic>
      </p:graphicFrame>
      <p:sp>
        <p:nvSpPr>
          <p:cNvPr id="49201" name="TextBox 6"/>
          <p:cNvSpPr txBox="1">
            <a:spLocks noChangeArrowheads="1"/>
          </p:cNvSpPr>
          <p:nvPr/>
        </p:nvSpPr>
        <p:spPr bwMode="auto">
          <a:xfrm>
            <a:off x="971550" y="5084763"/>
            <a:ext cx="56165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CA" altLang="en-US" sz="2800"/>
              <a:t>Value of swap is $0.5117 million</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CA" altLang="en-US" smtClean="0"/>
              <a:t>Bootstrapping LIBOR forward rates: Example 7.2 </a:t>
            </a:r>
            <a:r>
              <a:rPr lang="en-CA" altLang="en-US" sz="2400" smtClean="0"/>
              <a:t>(page 173)</a:t>
            </a:r>
          </a:p>
        </p:txBody>
      </p:sp>
      <p:sp>
        <p:nvSpPr>
          <p:cNvPr id="3" name="Content Placeholder 2"/>
          <p:cNvSpPr>
            <a:spLocks noGrp="1"/>
          </p:cNvSpPr>
          <p:nvPr>
            <p:ph idx="1"/>
          </p:nvPr>
        </p:nvSpPr>
        <p:spPr>
          <a:xfrm>
            <a:off x="457200" y="1557338"/>
            <a:ext cx="8507413" cy="4411662"/>
          </a:xfrm>
        </p:spPr>
        <p:txBody>
          <a:bodyPr/>
          <a:lstStyle/>
          <a:p>
            <a:pPr>
              <a:defRPr/>
            </a:pPr>
            <a:r>
              <a:rPr lang="en-CA" sz="2800" dirty="0" smtClean="0"/>
              <a:t>6,12,18, and 24 month OIS rates are 3.8%, 4.3%, 4.6%, and 4.75% respectively with cont. comp.</a:t>
            </a:r>
          </a:p>
          <a:p>
            <a:pPr>
              <a:defRPr/>
            </a:pPr>
            <a:r>
              <a:rPr lang="en-CA" sz="2800" dirty="0" smtClean="0"/>
              <a:t>6-month LIBOR rate is 4% (</a:t>
            </a:r>
            <a:r>
              <a:rPr lang="en-CA" sz="2800" dirty="0" err="1" smtClean="0"/>
              <a:t>s.a.</a:t>
            </a:r>
            <a:r>
              <a:rPr lang="en-CA" sz="2800" dirty="0" smtClean="0"/>
              <a:t> comp.)</a:t>
            </a:r>
          </a:p>
          <a:p>
            <a:pPr>
              <a:defRPr/>
            </a:pPr>
            <a:r>
              <a:rPr lang="en-CA" sz="2800" dirty="0" smtClean="0"/>
              <a:t>Suppose forward LIBOR rates for 6-12 and 12-18 months have already been calculated as 5% and 5.5%, respectively (</a:t>
            </a:r>
            <a:r>
              <a:rPr lang="en-CA" sz="2800" dirty="0" err="1" smtClean="0"/>
              <a:t>s.a</a:t>
            </a:r>
            <a:r>
              <a:rPr lang="en-CA" sz="2800" dirty="0" smtClean="0"/>
              <a:t> comp)</a:t>
            </a:r>
          </a:p>
          <a:p>
            <a:pPr>
              <a:defRPr/>
            </a:pPr>
            <a:r>
              <a:rPr lang="en-CA" sz="2800" dirty="0" smtClean="0"/>
              <a:t>The two year swap rate is 5%</a:t>
            </a:r>
          </a:p>
          <a:p>
            <a:pPr>
              <a:defRPr/>
            </a:pPr>
            <a:r>
              <a:rPr lang="en-CA" sz="2800" dirty="0" smtClean="0"/>
              <a:t>The next step is to calculate the LIBOR forward rate, </a:t>
            </a:r>
            <a:r>
              <a:rPr lang="en-CA" sz="2800" i="1" dirty="0" smtClean="0">
                <a:latin typeface="+mj-lt"/>
              </a:rPr>
              <a:t>F</a:t>
            </a:r>
            <a:r>
              <a:rPr lang="en-CA" sz="2800" dirty="0" smtClean="0"/>
              <a:t>, for the18-24 month period.</a:t>
            </a:r>
          </a:p>
          <a:p>
            <a:pPr marL="0" indent="0">
              <a:buFont typeface="Wingdings" panose="05000000000000000000" pitchFamily="2" charset="2"/>
              <a:buNone/>
              <a:defRPr/>
            </a:pPr>
            <a:endParaRPr lang="en-CA" dirty="0"/>
          </a:p>
        </p:txBody>
      </p:sp>
      <p:sp>
        <p:nvSpPr>
          <p:cNvPr id="5018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Options, Futures, and Other Derivatives, 9th Ed, Ch 7, Copyright © John C. Hull 2016</a:t>
            </a:r>
            <a:endParaRPr lang="en-US" altLang="en-US" i="0"/>
          </a:p>
        </p:txBody>
      </p:sp>
      <p:sp>
        <p:nvSpPr>
          <p:cNvPr id="5018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2A0FA7F-CC8D-431D-8E79-0FCCDEAD98D1}" type="slidenum">
              <a:rPr lang="en-US" altLang="en-US"/>
              <a:pPr/>
              <a:t>22</a:t>
            </a:fld>
            <a:endParaRPr lang="en-US" alt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CA" altLang="en-US" smtClean="0"/>
              <a:t>Bootstrapping LIBOR forward rates: Calculations</a:t>
            </a:r>
            <a:endParaRPr lang="en-CA" altLang="en-US" sz="2400" smtClean="0"/>
          </a:p>
        </p:txBody>
      </p:sp>
      <p:sp>
        <p:nvSpPr>
          <p:cNvPr id="3" name="Content Placeholder 2"/>
          <p:cNvSpPr>
            <a:spLocks noGrp="1"/>
          </p:cNvSpPr>
          <p:nvPr>
            <p:ph idx="1"/>
          </p:nvPr>
        </p:nvSpPr>
        <p:spPr>
          <a:xfrm>
            <a:off x="395288" y="1484313"/>
            <a:ext cx="8229600" cy="4411662"/>
          </a:xfrm>
        </p:spPr>
        <p:txBody>
          <a:bodyPr/>
          <a:lstStyle/>
          <a:p>
            <a:pPr>
              <a:defRPr/>
            </a:pPr>
            <a:r>
              <a:rPr lang="en-CA" sz="2800" dirty="0" smtClean="0"/>
              <a:t>A 2-year swap where 5% is paid and LIBOR is received on $100 is worth zero.</a:t>
            </a:r>
          </a:p>
          <a:p>
            <a:pPr>
              <a:defRPr/>
            </a:pPr>
            <a:r>
              <a:rPr lang="en-CA" sz="2800" dirty="0" smtClean="0"/>
              <a:t>Value of first three exchanges are</a:t>
            </a:r>
          </a:p>
          <a:p>
            <a:pPr marL="0" indent="0">
              <a:buFont typeface="Wingdings" panose="05000000000000000000" pitchFamily="2" charset="2"/>
              <a:buNone/>
              <a:defRPr/>
            </a:pPr>
            <a:r>
              <a:rPr lang="en-CA" sz="2000" dirty="0" smtClean="0"/>
              <a:t>		0.5×(0.04− 0.05)×100×</a:t>
            </a:r>
            <a:r>
              <a:rPr lang="en-CA" sz="2000" i="1" dirty="0">
                <a:latin typeface="+mj-lt"/>
              </a:rPr>
              <a:t>e</a:t>
            </a:r>
            <a:r>
              <a:rPr lang="en-CA" sz="2000" baseline="30000" dirty="0" smtClean="0"/>
              <a:t>−0.038×0.5 </a:t>
            </a:r>
            <a:r>
              <a:rPr lang="en-CA" sz="2000" dirty="0" smtClean="0"/>
              <a:t>= −0.4906</a:t>
            </a:r>
          </a:p>
          <a:p>
            <a:pPr marL="0" indent="0">
              <a:buFont typeface="Wingdings" panose="05000000000000000000" pitchFamily="2" charset="2"/>
              <a:buNone/>
              <a:defRPr/>
            </a:pPr>
            <a:r>
              <a:rPr lang="en-CA" sz="2000" dirty="0" smtClean="0"/>
              <a:t>		0.5×(0.05</a:t>
            </a:r>
            <a:r>
              <a:rPr lang="en-CA" sz="2000" dirty="0"/>
              <a:t> − </a:t>
            </a:r>
            <a:r>
              <a:rPr lang="en-CA" sz="2000" dirty="0" smtClean="0"/>
              <a:t>0.05)×100×</a:t>
            </a:r>
            <a:r>
              <a:rPr lang="en-CA" sz="2000" i="1" dirty="0" smtClean="0">
                <a:latin typeface="+mj-lt"/>
              </a:rPr>
              <a:t>e</a:t>
            </a:r>
            <a:r>
              <a:rPr lang="en-CA" sz="2000" baseline="30000" dirty="0" smtClean="0"/>
              <a:t>−0.043×1.0 </a:t>
            </a:r>
            <a:r>
              <a:rPr lang="en-CA" sz="2000" dirty="0" smtClean="0"/>
              <a:t>= 0</a:t>
            </a:r>
          </a:p>
          <a:p>
            <a:pPr marL="0" indent="0">
              <a:buFont typeface="Wingdings" panose="05000000000000000000" pitchFamily="2" charset="2"/>
              <a:buNone/>
              <a:defRPr/>
            </a:pPr>
            <a:r>
              <a:rPr lang="en-CA" sz="2000" dirty="0" smtClean="0"/>
              <a:t>		0.5×(0.055</a:t>
            </a:r>
            <a:r>
              <a:rPr lang="en-CA" sz="2000" dirty="0"/>
              <a:t> − </a:t>
            </a:r>
            <a:r>
              <a:rPr lang="en-CA" sz="2000" dirty="0" smtClean="0"/>
              <a:t>0.05)×100×</a:t>
            </a:r>
            <a:r>
              <a:rPr lang="en-CA" sz="2000" i="1" dirty="0" smtClean="0">
                <a:latin typeface="+mj-lt"/>
              </a:rPr>
              <a:t>e</a:t>
            </a:r>
            <a:r>
              <a:rPr lang="en-CA" sz="2000" baseline="30000" dirty="0" smtClean="0"/>
              <a:t>−0.046×1.5 </a:t>
            </a:r>
            <a:r>
              <a:rPr lang="en-CA" sz="2000" dirty="0" smtClean="0"/>
              <a:t>= +0.2333</a:t>
            </a:r>
          </a:p>
          <a:p>
            <a:pPr>
              <a:defRPr/>
            </a:pPr>
            <a:r>
              <a:rPr lang="en-CA" sz="2800" dirty="0" smtClean="0"/>
              <a:t>The value of the fourth payment must be +0.2573 so that the total value is zero</a:t>
            </a:r>
          </a:p>
          <a:p>
            <a:pPr marL="0" indent="0">
              <a:buFont typeface="Wingdings" panose="05000000000000000000" pitchFamily="2" charset="2"/>
              <a:buNone/>
              <a:defRPr/>
            </a:pPr>
            <a:r>
              <a:rPr lang="en-CA" sz="2800" dirty="0" smtClean="0"/>
              <a:t>	0.5×(</a:t>
            </a:r>
            <a:r>
              <a:rPr lang="en-CA" sz="2800" i="1" dirty="0" smtClean="0">
                <a:latin typeface="+mj-lt"/>
              </a:rPr>
              <a:t>F</a:t>
            </a:r>
            <a:r>
              <a:rPr lang="en-CA" sz="2800" dirty="0"/>
              <a:t>−</a:t>
            </a:r>
            <a:r>
              <a:rPr lang="en-CA" sz="2800" dirty="0" smtClean="0"/>
              <a:t>0.05)×100×</a:t>
            </a:r>
            <a:r>
              <a:rPr lang="en-CA" sz="2800" i="1" dirty="0" smtClean="0">
                <a:latin typeface="+mj-lt"/>
              </a:rPr>
              <a:t>e</a:t>
            </a:r>
            <a:r>
              <a:rPr lang="en-CA" sz="2800" baseline="30000" dirty="0" smtClean="0"/>
              <a:t>−0.0475×2.0 </a:t>
            </a:r>
            <a:r>
              <a:rPr lang="en-CA" sz="2800" dirty="0" smtClean="0"/>
              <a:t>= 0.2573</a:t>
            </a:r>
          </a:p>
          <a:p>
            <a:pPr marL="0" indent="0">
              <a:buFont typeface="Wingdings" panose="05000000000000000000" pitchFamily="2" charset="2"/>
              <a:buNone/>
              <a:defRPr/>
            </a:pPr>
            <a:r>
              <a:rPr lang="en-CA" sz="2800" i="1" dirty="0" smtClean="0">
                <a:latin typeface="+mj-lt"/>
              </a:rPr>
              <a:t>	F</a:t>
            </a:r>
            <a:r>
              <a:rPr lang="en-CA" sz="2800" dirty="0" smtClean="0"/>
              <a:t> = 0.05566 or 5.566% per annum</a:t>
            </a:r>
          </a:p>
          <a:p>
            <a:pPr>
              <a:defRPr/>
            </a:pPr>
            <a:endParaRPr lang="en-CA" sz="2800" dirty="0" smtClean="0"/>
          </a:p>
          <a:p>
            <a:pPr marL="0" indent="0">
              <a:buFont typeface="Wingdings" panose="05000000000000000000" pitchFamily="2" charset="2"/>
              <a:buNone/>
              <a:defRPr/>
            </a:pPr>
            <a:endParaRPr lang="en-CA" sz="2800" dirty="0" smtClean="0"/>
          </a:p>
          <a:p>
            <a:pPr marL="0" indent="0">
              <a:buFont typeface="Wingdings" panose="05000000000000000000" pitchFamily="2" charset="2"/>
              <a:buNone/>
              <a:defRPr/>
            </a:pPr>
            <a:endParaRPr lang="en-CA" dirty="0" smtClean="0"/>
          </a:p>
          <a:p>
            <a:pPr marL="0" indent="0">
              <a:buFont typeface="Wingdings" panose="05000000000000000000" pitchFamily="2" charset="2"/>
              <a:buNone/>
              <a:defRPr/>
            </a:pPr>
            <a:endParaRPr lang="en-CA" dirty="0"/>
          </a:p>
        </p:txBody>
      </p:sp>
      <p:sp>
        <p:nvSpPr>
          <p:cNvPr id="5120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Options, Futures, and Other Derivatives, 9th Ed, Ch 7, Copyright © John C. Hull 2016</a:t>
            </a:r>
            <a:endParaRPr lang="en-US" altLang="en-US" i="0"/>
          </a:p>
        </p:txBody>
      </p:sp>
      <p:sp>
        <p:nvSpPr>
          <p:cNvPr id="5120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4793D52-7512-4F98-B8B7-3C7D4522599B}" type="slidenum">
              <a:rPr lang="en-US" altLang="en-US"/>
              <a:pPr/>
              <a:t>23</a:t>
            </a:fld>
            <a:endParaRPr lang="en-US" alt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9th Ed, Ch 7, Copyright © John C. Hull 2016</a:t>
            </a:r>
            <a:endParaRPr lang="en-US" altLang="en-US" sz="1400" i="0"/>
          </a:p>
        </p:txBody>
      </p:sp>
      <p:sp>
        <p:nvSpPr>
          <p:cNvPr id="52227" name="Rectangle 2"/>
          <p:cNvSpPr>
            <a:spLocks noGrp="1" noChangeArrowheads="1"/>
          </p:cNvSpPr>
          <p:nvPr>
            <p:ph type="title"/>
          </p:nvPr>
        </p:nvSpPr>
        <p:spPr>
          <a:noFill/>
        </p:spPr>
        <p:txBody>
          <a:bodyPr lIns="92075" tIns="46038" rIns="92075" bIns="46038" anchor="ctr"/>
          <a:lstStyle/>
          <a:p>
            <a:pPr eaLnBrk="1" hangingPunct="1"/>
            <a:r>
              <a:rPr lang="en-US" altLang="en-US" smtClean="0"/>
              <a:t>An Example of a Fixed-for-Fixed Currency Swap </a:t>
            </a:r>
            <a:r>
              <a:rPr lang="en-US" altLang="en-US" sz="2400" smtClean="0"/>
              <a:t>(Figure 7.10, page 175) </a:t>
            </a:r>
          </a:p>
        </p:txBody>
      </p:sp>
      <p:sp>
        <p:nvSpPr>
          <p:cNvPr id="52228" name="Rectangle 3"/>
          <p:cNvSpPr>
            <a:spLocks noGrp="1" noChangeArrowheads="1"/>
          </p:cNvSpPr>
          <p:nvPr>
            <p:ph type="body" idx="1"/>
          </p:nvPr>
        </p:nvSpPr>
        <p:spPr>
          <a:xfrm>
            <a:off x="539750" y="1557338"/>
            <a:ext cx="7396163" cy="3479800"/>
          </a:xfrm>
          <a:noFill/>
        </p:spPr>
        <p:txBody>
          <a:bodyPr lIns="92075" tIns="46038" rIns="92075" bIns="46038"/>
          <a:lstStyle/>
          <a:p>
            <a:pPr eaLnBrk="1" hangingPunct="1">
              <a:buFont typeface="Wingdings" panose="05000000000000000000" pitchFamily="2" charset="2"/>
              <a:buNone/>
            </a:pPr>
            <a:endParaRPr lang="en-US" altLang="en-US" smtClean="0"/>
          </a:p>
          <a:p>
            <a:pPr eaLnBrk="1" hangingPunct="1">
              <a:buFont typeface="Wingdings" panose="05000000000000000000" pitchFamily="2" charset="2"/>
              <a:buNone/>
            </a:pPr>
            <a:r>
              <a:rPr lang="en-US" altLang="en-US" smtClean="0"/>
              <a:t>   Five year agreement by BP to </a:t>
            </a:r>
          </a:p>
          <a:p>
            <a:pPr eaLnBrk="1" hangingPunct="1"/>
            <a:r>
              <a:rPr lang="en-US" altLang="en-US" smtClean="0"/>
              <a:t>Pay 3% on a US dollar principal of $15,000,000 </a:t>
            </a:r>
          </a:p>
          <a:p>
            <a:pPr eaLnBrk="1" hangingPunct="1"/>
            <a:r>
              <a:rPr lang="en-US" altLang="en-US" smtClean="0"/>
              <a:t>Receive 4% on a sterling principal of £10,000,000</a:t>
            </a:r>
          </a:p>
        </p:txBody>
      </p:sp>
      <p:sp>
        <p:nvSpPr>
          <p:cNvPr id="5222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824B300-06DF-4A32-91FF-40610B0CC3A3}" type="slidenum">
              <a:rPr lang="en-US" altLang="en-US" sz="1800"/>
              <a:pPr>
                <a:spcBef>
                  <a:spcPct val="0"/>
                </a:spcBef>
                <a:buClrTx/>
                <a:buSzTx/>
                <a:buFontTx/>
                <a:buNone/>
              </a:pPr>
              <a:t>24</a:t>
            </a:fld>
            <a:endParaRPr lang="en-US" altLang="en-US" sz="1800"/>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9th Ed, Ch 7, Copyright © John C. Hull 2016</a:t>
            </a:r>
            <a:endParaRPr lang="en-US" altLang="en-US" sz="1400" i="0"/>
          </a:p>
        </p:txBody>
      </p:sp>
      <p:sp>
        <p:nvSpPr>
          <p:cNvPr id="54275" name="Rectangle 2"/>
          <p:cNvSpPr>
            <a:spLocks noGrp="1" noChangeArrowheads="1"/>
          </p:cNvSpPr>
          <p:nvPr>
            <p:ph type="title"/>
          </p:nvPr>
        </p:nvSpPr>
        <p:spPr>
          <a:noFill/>
        </p:spPr>
        <p:txBody>
          <a:bodyPr lIns="92075" tIns="46038" rIns="92075" bIns="46038" anchor="ctr"/>
          <a:lstStyle/>
          <a:p>
            <a:pPr eaLnBrk="1" hangingPunct="1"/>
            <a:r>
              <a:rPr lang="en-US" altLang="en-US" smtClean="0"/>
              <a:t>Exchange of Principal</a:t>
            </a:r>
          </a:p>
        </p:txBody>
      </p:sp>
      <p:sp>
        <p:nvSpPr>
          <p:cNvPr id="54276" name="Rectangle 3"/>
          <p:cNvSpPr>
            <a:spLocks noGrp="1" noChangeArrowheads="1"/>
          </p:cNvSpPr>
          <p:nvPr>
            <p:ph type="body" idx="1"/>
          </p:nvPr>
        </p:nvSpPr>
        <p:spPr>
          <a:xfrm>
            <a:off x="755650" y="1484313"/>
            <a:ext cx="6118225" cy="4114800"/>
          </a:xfrm>
          <a:noFill/>
        </p:spPr>
        <p:txBody>
          <a:bodyPr lIns="92075" tIns="46038" rIns="92075" bIns="46038"/>
          <a:lstStyle/>
          <a:p>
            <a:pPr eaLnBrk="1" hangingPunct="1"/>
            <a:r>
              <a:rPr lang="en-US" altLang="en-US" smtClean="0"/>
              <a:t>In an interest rate swap the principal is not exchanged</a:t>
            </a:r>
          </a:p>
          <a:p>
            <a:pPr eaLnBrk="1" hangingPunct="1"/>
            <a:r>
              <a:rPr lang="en-US" altLang="en-US" smtClean="0"/>
              <a:t>In a currency swap the principal is exchanged at the beginning and the end of the swap</a:t>
            </a:r>
          </a:p>
        </p:txBody>
      </p:sp>
      <p:sp>
        <p:nvSpPr>
          <p:cNvPr id="5427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B72837F9-12CA-4EE2-90C5-1F5C45EA4D8A}" type="slidenum">
              <a:rPr lang="en-US" altLang="en-US" sz="1800"/>
              <a:pPr>
                <a:spcBef>
                  <a:spcPct val="0"/>
                </a:spcBef>
                <a:buClrTx/>
                <a:buSzTx/>
                <a:buFontTx/>
                <a:buNone/>
              </a:pPr>
              <a:t>25</a:t>
            </a:fld>
            <a:endParaRPr lang="en-US" altLang="en-US" sz="1800"/>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684213" y="0"/>
            <a:ext cx="6499225" cy="1506538"/>
          </a:xfrm>
        </p:spPr>
        <p:txBody>
          <a:bodyPr lIns="92075" tIns="46038" rIns="92075" bIns="46038"/>
          <a:lstStyle/>
          <a:p>
            <a:pPr eaLnBrk="1" hangingPunct="1"/>
            <a:r>
              <a:rPr lang="en-US" altLang="en-US" sz="3500" smtClean="0"/>
              <a:t>The Cash Flows </a:t>
            </a:r>
            <a:r>
              <a:rPr lang="en-US" altLang="en-US" sz="2200" smtClean="0"/>
              <a:t>(Table 7.5, page 176)</a:t>
            </a:r>
            <a:endParaRPr lang="en-US" altLang="en-US" sz="3500" smtClean="0"/>
          </a:p>
        </p:txBody>
      </p:sp>
      <p:sp>
        <p:nvSpPr>
          <p:cNvPr id="56323"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9th Ed, Ch 7, Copyright © John C. Hull 2016</a:t>
            </a:r>
            <a:endParaRPr lang="en-US" altLang="en-US" sz="1400">
              <a:cs typeface="Arial" panose="020B0604020202020204" pitchFamily="34" charset="0"/>
            </a:endParaRPr>
          </a:p>
        </p:txBody>
      </p:sp>
      <p:sp>
        <p:nvSpPr>
          <p:cNvPr id="5632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6070564-A42F-4663-9227-30BBB4AA0843}" type="slidenum">
              <a:rPr lang="en-US" altLang="en-US" sz="1800"/>
              <a:pPr>
                <a:spcBef>
                  <a:spcPct val="0"/>
                </a:spcBef>
                <a:buClrTx/>
                <a:buSzTx/>
                <a:buFontTx/>
                <a:buNone/>
              </a:pPr>
              <a:t>26</a:t>
            </a:fld>
            <a:endParaRPr lang="en-US" altLang="en-US" sz="1800"/>
          </a:p>
        </p:txBody>
      </p:sp>
      <p:sp>
        <p:nvSpPr>
          <p:cNvPr id="56325" name="Rectangle 4"/>
          <p:cNvSpPr>
            <a:spLocks noChangeArrowheads="1"/>
          </p:cNvSpPr>
          <p:nvPr/>
        </p:nvSpPr>
        <p:spPr bwMode="auto">
          <a:xfrm>
            <a:off x="2990850" y="1501775"/>
            <a:ext cx="3155950" cy="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graphicFrame>
        <p:nvGraphicFramePr>
          <p:cNvPr id="34" name="Table 33"/>
          <p:cNvGraphicFramePr>
            <a:graphicFrameLocks noGrp="1"/>
          </p:cNvGraphicFramePr>
          <p:nvPr/>
        </p:nvGraphicFramePr>
        <p:xfrm>
          <a:off x="971550" y="1989138"/>
          <a:ext cx="6096000" cy="3383028"/>
        </p:xfrm>
        <a:graphic>
          <a:graphicData uri="http://schemas.openxmlformats.org/drawingml/2006/table">
            <a:tbl>
              <a:tblPr firstRow="1" bandRow="1">
                <a:tableStyleId>{5940675A-B579-460E-94D1-54222C63F5DA}</a:tableStyleId>
              </a:tblPr>
              <a:tblGrid>
                <a:gridCol w="2032000"/>
                <a:gridCol w="2032000"/>
                <a:gridCol w="2032000"/>
              </a:tblGrid>
              <a:tr h="914344">
                <a:tc>
                  <a:txBody>
                    <a:bodyPr/>
                    <a:lstStyle/>
                    <a:p>
                      <a:r>
                        <a:rPr lang="en-CA" sz="1800" dirty="0" smtClean="0"/>
                        <a:t>Date</a:t>
                      </a:r>
                      <a:endParaRPr lang="en-US" sz="1800" dirty="0"/>
                    </a:p>
                  </a:txBody>
                  <a:tcPr marT="45702" marB="45702"/>
                </a:tc>
                <a:tc>
                  <a:txBody>
                    <a:bodyPr/>
                    <a:lstStyle/>
                    <a:p>
                      <a:pPr algn="ctr"/>
                      <a:r>
                        <a:rPr lang="en-CA" sz="1800" dirty="0" smtClean="0"/>
                        <a:t>Dollar Cash Flows</a:t>
                      </a:r>
                    </a:p>
                    <a:p>
                      <a:pPr algn="ctr"/>
                      <a:r>
                        <a:rPr lang="en-CA" sz="1800" dirty="0" smtClean="0"/>
                        <a:t>(millions)</a:t>
                      </a:r>
                      <a:endParaRPr lang="en-US" sz="1800" dirty="0"/>
                    </a:p>
                  </a:txBody>
                  <a:tcPr marT="45702" marB="45702"/>
                </a:tc>
                <a:tc>
                  <a:txBody>
                    <a:bodyPr/>
                    <a:lstStyle/>
                    <a:p>
                      <a:pPr algn="ctr"/>
                      <a:r>
                        <a:rPr lang="en-CA" sz="1800" dirty="0" smtClean="0"/>
                        <a:t>Sterling cash flow</a:t>
                      </a:r>
                    </a:p>
                    <a:p>
                      <a:pPr algn="ctr"/>
                      <a:r>
                        <a:rPr lang="en-CA" sz="1800" dirty="0" smtClean="0"/>
                        <a:t>(millions)</a:t>
                      </a:r>
                      <a:endParaRPr lang="en-US" sz="1800" dirty="0"/>
                    </a:p>
                  </a:txBody>
                  <a:tcPr marT="45702" marB="45702"/>
                </a:tc>
              </a:tr>
              <a:tr h="365717">
                <a:tc>
                  <a:txBody>
                    <a:bodyPr/>
                    <a:lstStyle/>
                    <a:p>
                      <a:r>
                        <a:rPr lang="en-CA" sz="1800" dirty="0" smtClean="0"/>
                        <a:t>Feb 1, 2016</a:t>
                      </a:r>
                      <a:endParaRPr lang="en-US" sz="1800" dirty="0"/>
                    </a:p>
                  </a:txBody>
                  <a:tcPr marT="45702" marB="45702"/>
                </a:tc>
                <a:tc>
                  <a:txBody>
                    <a:bodyPr/>
                    <a:lstStyle/>
                    <a:p>
                      <a:pPr algn="ctr"/>
                      <a:r>
                        <a:rPr lang="en-CA" sz="1800" dirty="0" smtClean="0"/>
                        <a:t> +15.00</a:t>
                      </a:r>
                      <a:endParaRPr lang="en-US" sz="1800" dirty="0"/>
                    </a:p>
                  </a:txBody>
                  <a:tcPr marT="45702" marB="45702"/>
                </a:tc>
                <a:tc>
                  <a:txBody>
                    <a:bodyPr/>
                    <a:lstStyle/>
                    <a:p>
                      <a:pPr algn="ctr"/>
                      <a:r>
                        <a:rPr lang="en-US" sz="1800" dirty="0" smtClean="0"/>
                        <a:t>−</a:t>
                      </a:r>
                      <a:r>
                        <a:rPr lang="en-CA" sz="1800" dirty="0" smtClean="0"/>
                        <a:t>10.00</a:t>
                      </a:r>
                      <a:endParaRPr lang="en-US" sz="1800" dirty="0"/>
                    </a:p>
                  </a:txBody>
                  <a:tcPr marT="45702" marB="45702"/>
                </a:tc>
              </a:tr>
              <a:tr h="365717">
                <a:tc>
                  <a:txBody>
                    <a:bodyPr/>
                    <a:lstStyle/>
                    <a:p>
                      <a:r>
                        <a:rPr lang="en-CA" sz="1800" dirty="0" smtClean="0"/>
                        <a:t>Feb 1, 2017</a:t>
                      </a:r>
                      <a:endParaRPr lang="en-US" sz="1800" dirty="0"/>
                    </a:p>
                  </a:txBody>
                  <a:tcPr marT="45702" marB="45702"/>
                </a:tc>
                <a:tc>
                  <a:txBody>
                    <a:bodyPr/>
                    <a:lstStyle/>
                    <a:p>
                      <a:pPr algn="ctr"/>
                      <a:r>
                        <a:rPr lang="en-CA" sz="1800" dirty="0" smtClean="0"/>
                        <a:t>  </a:t>
                      </a:r>
                      <a:r>
                        <a:rPr lang="en-US" sz="1800" dirty="0" smtClean="0"/>
                        <a:t>−</a:t>
                      </a:r>
                      <a:r>
                        <a:rPr lang="en-CA" sz="1800" dirty="0" smtClean="0"/>
                        <a:t>0.45</a:t>
                      </a:r>
                      <a:endParaRPr lang="en-US" sz="1800" dirty="0"/>
                    </a:p>
                  </a:txBody>
                  <a:tcPr marT="45702" marB="45702"/>
                </a:tc>
                <a:tc>
                  <a:txBody>
                    <a:bodyPr/>
                    <a:lstStyle/>
                    <a:p>
                      <a:pPr algn="ctr"/>
                      <a:r>
                        <a:rPr lang="en-US" sz="1800" dirty="0" smtClean="0"/>
                        <a:t>  +0.40</a:t>
                      </a:r>
                      <a:endParaRPr lang="en-US" sz="1800" dirty="0"/>
                    </a:p>
                  </a:txBody>
                  <a:tcPr marT="45702" marB="45702"/>
                </a:tc>
              </a:tr>
              <a:tr h="365717">
                <a:tc>
                  <a:txBody>
                    <a:bodyPr/>
                    <a:lstStyle/>
                    <a:p>
                      <a:r>
                        <a:rPr lang="en-CA" sz="1800" dirty="0" smtClean="0"/>
                        <a:t>Feb 1, 2018</a:t>
                      </a:r>
                      <a:endParaRPr lang="en-US" sz="1800" dirty="0"/>
                    </a:p>
                  </a:txBody>
                  <a:tcPr marT="45702" marB="4570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smtClean="0"/>
                        <a:t>  </a:t>
                      </a:r>
                      <a:r>
                        <a:rPr lang="en-US" sz="1800" dirty="0" smtClean="0"/>
                        <a:t>−</a:t>
                      </a:r>
                      <a:r>
                        <a:rPr lang="en-CA" sz="1800" dirty="0" smtClean="0"/>
                        <a:t>0.45</a:t>
                      </a:r>
                      <a:endParaRPr lang="en-US" sz="1800" dirty="0" smtClean="0"/>
                    </a:p>
                  </a:txBody>
                  <a:tcPr marT="45702" marB="4570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  +0.40</a:t>
                      </a:r>
                    </a:p>
                  </a:txBody>
                  <a:tcPr marT="45702" marB="45702"/>
                </a:tc>
              </a:tr>
              <a:tr h="365717">
                <a:tc>
                  <a:txBody>
                    <a:bodyPr/>
                    <a:lstStyle/>
                    <a:p>
                      <a:r>
                        <a:rPr lang="en-CA" sz="1800" dirty="0" smtClean="0"/>
                        <a:t>Feb 1, 2019</a:t>
                      </a:r>
                      <a:endParaRPr lang="en-US" sz="1800" dirty="0"/>
                    </a:p>
                  </a:txBody>
                  <a:tcPr marT="45702" marB="4570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smtClean="0"/>
                        <a:t>  </a:t>
                      </a:r>
                      <a:r>
                        <a:rPr lang="en-US" sz="1800" dirty="0" smtClean="0"/>
                        <a:t>−</a:t>
                      </a:r>
                      <a:r>
                        <a:rPr lang="en-CA" sz="1800" dirty="0" smtClean="0"/>
                        <a:t>0.45</a:t>
                      </a:r>
                      <a:endParaRPr lang="en-US" sz="1800" dirty="0" smtClean="0"/>
                    </a:p>
                  </a:txBody>
                  <a:tcPr marT="45702" marB="4570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  +0.40</a:t>
                      </a:r>
                    </a:p>
                  </a:txBody>
                  <a:tcPr marT="45702" marB="45702"/>
                </a:tc>
              </a:tr>
              <a:tr h="365717">
                <a:tc>
                  <a:txBody>
                    <a:bodyPr/>
                    <a:lstStyle/>
                    <a:p>
                      <a:r>
                        <a:rPr lang="en-CA" sz="1800" dirty="0" smtClean="0"/>
                        <a:t>Feb 1, 2020</a:t>
                      </a:r>
                      <a:endParaRPr lang="en-US" sz="1800" dirty="0"/>
                    </a:p>
                  </a:txBody>
                  <a:tcPr marT="45702" marB="4570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smtClean="0"/>
                        <a:t>  </a:t>
                      </a:r>
                      <a:r>
                        <a:rPr lang="en-US" sz="1800" dirty="0" smtClean="0"/>
                        <a:t>−</a:t>
                      </a:r>
                      <a:r>
                        <a:rPr lang="en-CA" sz="1800" dirty="0" smtClean="0"/>
                        <a:t>0.45</a:t>
                      </a:r>
                      <a:endParaRPr lang="en-US" sz="1800" dirty="0" smtClean="0"/>
                    </a:p>
                  </a:txBody>
                  <a:tcPr marT="45702" marB="4570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  +0.40</a:t>
                      </a:r>
                    </a:p>
                  </a:txBody>
                  <a:tcPr marT="45702" marB="45702"/>
                </a:tc>
              </a:tr>
              <a:tr h="640031">
                <a:tc>
                  <a:txBody>
                    <a:bodyPr/>
                    <a:lstStyle/>
                    <a:p>
                      <a:r>
                        <a:rPr lang="en-CA" sz="1800" dirty="0" smtClean="0"/>
                        <a:t>Feb 1, 2021</a:t>
                      </a:r>
                      <a:endParaRPr lang="en-US" sz="1800" dirty="0"/>
                    </a:p>
                  </a:txBody>
                  <a:tcPr marT="45702" marB="45702"/>
                </a:tc>
                <a:tc>
                  <a:txBody>
                    <a:bodyPr/>
                    <a:lstStyle/>
                    <a:p>
                      <a:pPr algn="ctr"/>
                      <a:r>
                        <a:rPr lang="en-US" sz="1800" dirty="0" smtClean="0"/>
                        <a:t>−</a:t>
                      </a:r>
                      <a:r>
                        <a:rPr lang="en-CA" sz="1800" dirty="0" smtClean="0"/>
                        <a:t>15.45</a:t>
                      </a:r>
                      <a:endParaRPr lang="en-US" sz="1800" dirty="0"/>
                    </a:p>
                  </a:txBody>
                  <a:tcPr marT="45702" marB="4570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+10.40</a:t>
                      </a:r>
                    </a:p>
                    <a:p>
                      <a:pPr algn="ctr"/>
                      <a:endParaRPr lang="en-US" sz="1800" dirty="0"/>
                    </a:p>
                  </a:txBody>
                  <a:tcPr marT="45702" marB="45702"/>
                </a:tc>
              </a:tr>
            </a:tbl>
          </a:graphicData>
        </a:graphic>
      </p:graphicFrame>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9th Ed, Ch 7, Copyright © John C. Hull 2016</a:t>
            </a:r>
            <a:endParaRPr lang="en-US" altLang="en-US" sz="1400" i="0"/>
          </a:p>
        </p:txBody>
      </p:sp>
      <p:sp>
        <p:nvSpPr>
          <p:cNvPr id="58371" name="Rectangle 2"/>
          <p:cNvSpPr>
            <a:spLocks noGrp="1" noChangeArrowheads="1"/>
          </p:cNvSpPr>
          <p:nvPr>
            <p:ph type="title"/>
          </p:nvPr>
        </p:nvSpPr>
        <p:spPr>
          <a:noFill/>
        </p:spPr>
        <p:txBody>
          <a:bodyPr lIns="92075" tIns="46038" rIns="92075" bIns="46038" anchor="ctr"/>
          <a:lstStyle/>
          <a:p>
            <a:pPr eaLnBrk="1" hangingPunct="1"/>
            <a:r>
              <a:rPr lang="en-US" altLang="en-US" smtClean="0"/>
              <a:t>Typical Uses of a </a:t>
            </a:r>
            <a:br>
              <a:rPr lang="en-US" altLang="en-US" smtClean="0"/>
            </a:br>
            <a:r>
              <a:rPr lang="en-US" altLang="en-US" smtClean="0"/>
              <a:t>Currency Swap</a:t>
            </a:r>
          </a:p>
        </p:txBody>
      </p:sp>
      <p:sp>
        <p:nvSpPr>
          <p:cNvPr id="58372" name="Rectangle 3"/>
          <p:cNvSpPr>
            <a:spLocks noGrp="1" noChangeArrowheads="1"/>
          </p:cNvSpPr>
          <p:nvPr>
            <p:ph type="body" sz="half" idx="1"/>
          </p:nvPr>
        </p:nvSpPr>
        <p:spPr>
          <a:xfrm>
            <a:off x="979488" y="2205038"/>
            <a:ext cx="7192962" cy="2495550"/>
          </a:xfrm>
          <a:noFill/>
        </p:spPr>
        <p:txBody>
          <a:bodyPr lIns="92075" tIns="46038" rIns="92075" bIns="46038"/>
          <a:lstStyle/>
          <a:p>
            <a:pPr eaLnBrk="1" hangingPunct="1"/>
            <a:r>
              <a:rPr lang="en-US" altLang="en-US" smtClean="0"/>
              <a:t>Conversion from a liability in one currency to a liability in another currency</a:t>
            </a:r>
          </a:p>
          <a:p>
            <a:pPr eaLnBrk="1" hangingPunct="1">
              <a:buFont typeface="Wingdings" panose="05000000000000000000" pitchFamily="2" charset="2"/>
              <a:buNone/>
            </a:pPr>
            <a:endParaRPr lang="en-US" altLang="en-US" smtClean="0"/>
          </a:p>
          <a:p>
            <a:pPr eaLnBrk="1" hangingPunct="1"/>
            <a:r>
              <a:rPr lang="en-US" altLang="en-US" smtClean="0"/>
              <a:t>Conversion from an investment in one currency to an investment in another currency</a:t>
            </a:r>
          </a:p>
          <a:p>
            <a:pPr eaLnBrk="1" hangingPunct="1"/>
            <a:endParaRPr lang="en-US" altLang="en-US" smtClean="0"/>
          </a:p>
        </p:txBody>
      </p:sp>
      <p:sp>
        <p:nvSpPr>
          <p:cNvPr id="5837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09D17D6-CFA5-4C6E-92B0-D74368F9CB28}" type="slidenum">
              <a:rPr lang="en-US" altLang="en-US" sz="1800"/>
              <a:pPr>
                <a:spcBef>
                  <a:spcPct val="0"/>
                </a:spcBef>
                <a:buClrTx/>
                <a:buSzTx/>
                <a:buFontTx/>
                <a:buNone/>
              </a:pPr>
              <a:t>27</a:t>
            </a:fld>
            <a:endParaRPr lang="en-US" altLang="en-US" sz="1800"/>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a:xfrm>
            <a:off x="250825" y="620713"/>
            <a:ext cx="7772400" cy="914400"/>
          </a:xfrm>
        </p:spPr>
        <p:txBody>
          <a:bodyPr/>
          <a:lstStyle/>
          <a:p>
            <a:pPr eaLnBrk="1" hangingPunct="1"/>
            <a:r>
              <a:rPr lang="en-CA" altLang="en-US" sz="4000" smtClean="0"/>
              <a:t>Comparative Advantage May Be Real Because of Taxes</a:t>
            </a:r>
            <a:endParaRPr lang="en-US" altLang="en-US" sz="4000" smtClean="0"/>
          </a:p>
        </p:txBody>
      </p:sp>
      <p:sp>
        <p:nvSpPr>
          <p:cNvPr id="41987" name="Content Placeholder 2"/>
          <p:cNvSpPr>
            <a:spLocks noGrp="1"/>
          </p:cNvSpPr>
          <p:nvPr>
            <p:ph idx="1"/>
          </p:nvPr>
        </p:nvSpPr>
        <p:spPr/>
        <p:txBody>
          <a:bodyPr/>
          <a:lstStyle/>
          <a:p>
            <a:pPr eaLnBrk="1" hangingPunct="1">
              <a:defRPr/>
            </a:pPr>
            <a:r>
              <a:rPr lang="en-CA" altLang="en-US" dirty="0" smtClean="0">
                <a:cs typeface="Arial" panose="020B0604020202020204" pitchFamily="34" charset="0"/>
              </a:rPr>
              <a:t> General Electric wants to borrow AUD</a:t>
            </a:r>
          </a:p>
          <a:p>
            <a:pPr eaLnBrk="1" hangingPunct="1">
              <a:defRPr/>
            </a:pPr>
            <a:r>
              <a:rPr lang="en-CA" altLang="en-US" dirty="0" smtClean="0">
                <a:cs typeface="Arial" panose="020B0604020202020204" pitchFamily="34" charset="0"/>
              </a:rPr>
              <a:t> </a:t>
            </a:r>
            <a:r>
              <a:rPr lang="en-CA" altLang="en-US" dirty="0" err="1" smtClean="0">
                <a:cs typeface="Arial" panose="020B0604020202020204" pitchFamily="34" charset="0"/>
              </a:rPr>
              <a:t>Quantas</a:t>
            </a:r>
            <a:r>
              <a:rPr lang="en-CA" altLang="en-US" dirty="0" smtClean="0">
                <a:cs typeface="Arial" panose="020B0604020202020204" pitchFamily="34" charset="0"/>
              </a:rPr>
              <a:t> wants to borrow USD</a:t>
            </a:r>
          </a:p>
          <a:p>
            <a:pPr marL="0" indent="0" eaLnBrk="1" hangingPunct="1">
              <a:buFont typeface="Wingdings" panose="05000000000000000000" pitchFamily="2" charset="2"/>
              <a:buNone/>
              <a:defRPr/>
            </a:pPr>
            <a:r>
              <a:rPr lang="en-CA" altLang="en-US" dirty="0" smtClean="0">
                <a:cs typeface="Arial" panose="020B0604020202020204" pitchFamily="34" charset="0"/>
              </a:rPr>
              <a:t>Borrowing costs after adjusting for the differential impact of taxes could be:</a:t>
            </a:r>
            <a:endParaRPr lang="en-US" altLang="en-US" dirty="0" smtClean="0">
              <a:cs typeface="Arial" panose="020B0604020202020204" pitchFamily="34" charset="0"/>
            </a:endParaRPr>
          </a:p>
        </p:txBody>
      </p:sp>
      <p:sp>
        <p:nvSpPr>
          <p:cNvPr id="6042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9th Ed, Ch 7, Copyright © John C. Hull 2016</a:t>
            </a:r>
          </a:p>
        </p:txBody>
      </p:sp>
      <p:sp>
        <p:nvSpPr>
          <p:cNvPr id="6042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4D98B258-C8B0-4767-832E-A8214173BBF4}" type="slidenum">
              <a:rPr lang="en-US" altLang="en-US" sz="1800"/>
              <a:pPr>
                <a:spcBef>
                  <a:spcPct val="0"/>
                </a:spcBef>
                <a:buClrTx/>
                <a:buSzTx/>
                <a:buFontTx/>
                <a:buNone/>
              </a:pPr>
              <a:t>28</a:t>
            </a:fld>
            <a:endParaRPr lang="en-US" altLang="en-US" sz="1800"/>
          </a:p>
        </p:txBody>
      </p:sp>
      <p:graphicFrame>
        <p:nvGraphicFramePr>
          <p:cNvPr id="6" name="Table 5"/>
          <p:cNvGraphicFramePr>
            <a:graphicFrameLocks noGrp="1"/>
          </p:cNvGraphicFramePr>
          <p:nvPr/>
        </p:nvGraphicFramePr>
        <p:xfrm>
          <a:off x="990600" y="4419600"/>
          <a:ext cx="6400800" cy="1417638"/>
        </p:xfrm>
        <a:graphic>
          <a:graphicData uri="http://schemas.openxmlformats.org/drawingml/2006/table">
            <a:tbl>
              <a:tblPr firstRow="1" bandRow="1">
                <a:tableStyleId>{5940675A-B579-460E-94D1-54222C63F5DA}</a:tableStyleId>
              </a:tblPr>
              <a:tblGrid>
                <a:gridCol w="2133600"/>
                <a:gridCol w="2133600"/>
                <a:gridCol w="2133600"/>
              </a:tblGrid>
              <a:tr h="472546">
                <a:tc>
                  <a:txBody>
                    <a:bodyPr/>
                    <a:lstStyle/>
                    <a:p>
                      <a:endParaRPr lang="en-US" sz="1800" dirty="0"/>
                    </a:p>
                  </a:txBody>
                  <a:tcPr marT="45730" marB="45730"/>
                </a:tc>
                <a:tc>
                  <a:txBody>
                    <a:bodyPr/>
                    <a:lstStyle/>
                    <a:p>
                      <a:pPr algn="ctr"/>
                      <a:r>
                        <a:rPr lang="en-CA" sz="1800" dirty="0" smtClean="0"/>
                        <a:t>USD</a:t>
                      </a:r>
                      <a:endParaRPr lang="en-US" sz="1800" dirty="0"/>
                    </a:p>
                  </a:txBody>
                  <a:tcPr marT="45730" marB="45730"/>
                </a:tc>
                <a:tc>
                  <a:txBody>
                    <a:bodyPr/>
                    <a:lstStyle/>
                    <a:p>
                      <a:pPr algn="ctr"/>
                      <a:r>
                        <a:rPr lang="en-CA" sz="1800" dirty="0" smtClean="0"/>
                        <a:t>AUD</a:t>
                      </a:r>
                      <a:endParaRPr lang="en-US" sz="1800" dirty="0"/>
                    </a:p>
                  </a:txBody>
                  <a:tcPr marT="45730" marB="45730"/>
                </a:tc>
              </a:tr>
              <a:tr h="472546">
                <a:tc>
                  <a:txBody>
                    <a:bodyPr/>
                    <a:lstStyle/>
                    <a:p>
                      <a:r>
                        <a:rPr lang="en-CA" sz="1800" dirty="0" smtClean="0"/>
                        <a:t>General Electric</a:t>
                      </a:r>
                      <a:endParaRPr lang="en-US" sz="1800" dirty="0"/>
                    </a:p>
                  </a:txBody>
                  <a:tcPr marT="45730" marB="45730"/>
                </a:tc>
                <a:tc>
                  <a:txBody>
                    <a:bodyPr/>
                    <a:lstStyle/>
                    <a:p>
                      <a:pPr algn="ctr"/>
                      <a:r>
                        <a:rPr lang="en-CA" sz="1800" dirty="0" smtClean="0"/>
                        <a:t>5.0%</a:t>
                      </a:r>
                      <a:endParaRPr lang="en-US" sz="1800" dirty="0"/>
                    </a:p>
                  </a:txBody>
                  <a:tcPr marT="45730" marB="45730"/>
                </a:tc>
                <a:tc>
                  <a:txBody>
                    <a:bodyPr/>
                    <a:lstStyle/>
                    <a:p>
                      <a:pPr algn="ctr"/>
                      <a:r>
                        <a:rPr lang="en-CA" sz="1800" dirty="0" smtClean="0"/>
                        <a:t>7.6%</a:t>
                      </a:r>
                      <a:endParaRPr lang="en-US" sz="1800" dirty="0"/>
                    </a:p>
                  </a:txBody>
                  <a:tcPr marT="45730" marB="45730"/>
                </a:tc>
              </a:tr>
              <a:tr h="472546">
                <a:tc>
                  <a:txBody>
                    <a:bodyPr/>
                    <a:lstStyle/>
                    <a:p>
                      <a:r>
                        <a:rPr lang="en-CA" sz="1800" dirty="0" err="1" smtClean="0"/>
                        <a:t>Quantas</a:t>
                      </a:r>
                      <a:endParaRPr lang="en-US" sz="1800" dirty="0"/>
                    </a:p>
                  </a:txBody>
                  <a:tcPr marT="45730" marB="45730"/>
                </a:tc>
                <a:tc>
                  <a:txBody>
                    <a:bodyPr/>
                    <a:lstStyle/>
                    <a:p>
                      <a:pPr algn="ctr"/>
                      <a:r>
                        <a:rPr lang="en-CA" sz="1800" dirty="0" smtClean="0"/>
                        <a:t>7.0%</a:t>
                      </a:r>
                      <a:endParaRPr lang="en-US" sz="1800" dirty="0"/>
                    </a:p>
                  </a:txBody>
                  <a:tcPr marT="45730" marB="45730"/>
                </a:tc>
                <a:tc>
                  <a:txBody>
                    <a:bodyPr/>
                    <a:lstStyle/>
                    <a:p>
                      <a:pPr algn="ctr"/>
                      <a:r>
                        <a:rPr lang="en-CA" sz="1800" dirty="0" smtClean="0"/>
                        <a:t>8.0%</a:t>
                      </a:r>
                      <a:endParaRPr lang="en-US" sz="1800" dirty="0"/>
                    </a:p>
                  </a:txBody>
                  <a:tcPr marT="45730" marB="45730"/>
                </a:tc>
              </a:tr>
            </a:tbl>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9th Ed, Ch 7, Copyright © John C. Hull 2016</a:t>
            </a:r>
            <a:endParaRPr lang="en-US" altLang="en-US" sz="1400" i="0"/>
          </a:p>
        </p:txBody>
      </p:sp>
      <p:sp>
        <p:nvSpPr>
          <p:cNvPr id="62467" name="Rectangle 2"/>
          <p:cNvSpPr>
            <a:spLocks noGrp="1" noChangeArrowheads="1"/>
          </p:cNvSpPr>
          <p:nvPr>
            <p:ph type="title"/>
          </p:nvPr>
        </p:nvSpPr>
        <p:spPr>
          <a:noFill/>
        </p:spPr>
        <p:txBody>
          <a:bodyPr lIns="92075" tIns="46038" rIns="92075" bIns="46038" anchor="ctr"/>
          <a:lstStyle/>
          <a:p>
            <a:pPr eaLnBrk="1" hangingPunct="1"/>
            <a:r>
              <a:rPr lang="en-US" altLang="en-US" smtClean="0"/>
              <a:t>Valuation</a:t>
            </a:r>
            <a:r>
              <a:rPr lang="en-US" altLang="en-US" i="1" smtClean="0"/>
              <a:t> </a:t>
            </a:r>
            <a:r>
              <a:rPr lang="en-US" altLang="en-US" smtClean="0"/>
              <a:t>of Fixed-for-Fixed Currency Swaps</a:t>
            </a:r>
          </a:p>
        </p:txBody>
      </p:sp>
      <p:sp>
        <p:nvSpPr>
          <p:cNvPr id="62468" name="Rectangle 3"/>
          <p:cNvSpPr>
            <a:spLocks noGrp="1" noChangeArrowheads="1"/>
          </p:cNvSpPr>
          <p:nvPr>
            <p:ph type="body" idx="1"/>
          </p:nvPr>
        </p:nvSpPr>
        <p:spPr>
          <a:xfrm>
            <a:off x="684213" y="1719263"/>
            <a:ext cx="7092950" cy="4411662"/>
          </a:xfrm>
          <a:noFill/>
        </p:spPr>
        <p:txBody>
          <a:bodyPr lIns="92075" tIns="46038" rIns="92075" bIns="46038"/>
          <a:lstStyle/>
          <a:p>
            <a:pPr eaLnBrk="1" hangingPunct="1">
              <a:buFont typeface="Wingdings" panose="05000000000000000000" pitchFamily="2" charset="2"/>
              <a:buNone/>
            </a:pPr>
            <a:r>
              <a:rPr lang="en-US" altLang="en-US" smtClean="0"/>
              <a:t>	Fixed for fixed currency swaps can be valued either using forward rates or as the difference between 2 bonds</a:t>
            </a:r>
          </a:p>
        </p:txBody>
      </p:sp>
      <p:sp>
        <p:nvSpPr>
          <p:cNvPr id="6246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F96C73F-3707-4E5F-95D0-4FED9E1377A6}" type="slidenum">
              <a:rPr lang="en-US" altLang="en-US" sz="1800"/>
              <a:pPr>
                <a:spcBef>
                  <a:spcPct val="0"/>
                </a:spcBef>
                <a:buClrTx/>
                <a:buSzTx/>
                <a:buFontTx/>
                <a:buNone/>
              </a:pPr>
              <a:t>29</a:t>
            </a:fld>
            <a:endParaRPr lang="en-US" altLang="en-US" sz="1800"/>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r>
              <a:rPr lang="en-CA" altLang="en-US" smtClean="0"/>
              <a:t>Examples 7.3 and 7.4 </a:t>
            </a:r>
            <a:r>
              <a:rPr lang="en-CA" altLang="en-US" sz="2400" smtClean="0"/>
              <a:t>(pages 178-180)</a:t>
            </a:r>
            <a:endParaRPr lang="en-US" altLang="en-US" sz="2400" smtClean="0"/>
          </a:p>
        </p:txBody>
      </p:sp>
      <p:sp>
        <p:nvSpPr>
          <p:cNvPr id="64515" name="Content Placeholder 2"/>
          <p:cNvSpPr>
            <a:spLocks noGrp="1"/>
          </p:cNvSpPr>
          <p:nvPr>
            <p:ph idx="1"/>
          </p:nvPr>
        </p:nvSpPr>
        <p:spPr/>
        <p:txBody>
          <a:bodyPr/>
          <a:lstStyle/>
          <a:p>
            <a:r>
              <a:rPr lang="en-CA" altLang="en-US" sz="2800" smtClean="0"/>
              <a:t>All Japanese interest rates are 1.5% per annum (cont. comp.)</a:t>
            </a:r>
          </a:p>
          <a:p>
            <a:r>
              <a:rPr lang="en-CA" altLang="en-US" sz="2800" smtClean="0"/>
              <a:t>All USD interest rates are 2.5% per annum (cont. comp.)</a:t>
            </a:r>
          </a:p>
          <a:p>
            <a:r>
              <a:rPr lang="en-CA" altLang="en-US" sz="2800" smtClean="0"/>
              <a:t>3% is received in yen; 4% is paid in dollars. Payments are made annually</a:t>
            </a:r>
          </a:p>
          <a:p>
            <a:r>
              <a:rPr lang="en-CA" altLang="en-US" sz="2800" smtClean="0"/>
              <a:t>Principals are $10 million and 1,200 million yen</a:t>
            </a:r>
          </a:p>
          <a:p>
            <a:r>
              <a:rPr lang="en-CA" altLang="en-US" sz="2800" smtClean="0"/>
              <a:t>Swap will last for 3 more years</a:t>
            </a:r>
          </a:p>
          <a:p>
            <a:r>
              <a:rPr lang="en-CA" altLang="en-US" sz="2800" smtClean="0"/>
              <a:t>Current exchange rate is 110 yen per dollar</a:t>
            </a:r>
          </a:p>
          <a:p>
            <a:endParaRPr lang="en-US" altLang="en-US" smtClean="0"/>
          </a:p>
        </p:txBody>
      </p:sp>
      <p:sp>
        <p:nvSpPr>
          <p:cNvPr id="6451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9th Ed, Ch 7, Copyright © John C. Hull 2016</a:t>
            </a:r>
          </a:p>
        </p:txBody>
      </p:sp>
      <p:sp>
        <p:nvSpPr>
          <p:cNvPr id="6451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21D8928-F546-4D58-BFA4-1F4C2B682DDA}" type="slidenum">
              <a:rPr lang="en-US" altLang="en-US" sz="1800"/>
              <a:pPr>
                <a:spcBef>
                  <a:spcPct val="0"/>
                </a:spcBef>
                <a:buClrTx/>
                <a:buSzTx/>
                <a:buFontTx/>
                <a:buNone/>
              </a:pPr>
              <a:t>30</a:t>
            </a:fld>
            <a:endParaRPr lang="en-US" altLang="en-US" sz="180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r>
              <a:rPr lang="en-CA" altLang="en-US" smtClean="0"/>
              <a:t>Valuation in Terms of Forward Rates </a:t>
            </a:r>
            <a:r>
              <a:rPr lang="en-CA" altLang="en-US" sz="2400" smtClean="0"/>
              <a:t>(page 179)</a:t>
            </a:r>
            <a:endParaRPr lang="en-US" altLang="en-US" sz="2400" smtClean="0"/>
          </a:p>
        </p:txBody>
      </p:sp>
      <p:graphicFrame>
        <p:nvGraphicFramePr>
          <p:cNvPr id="6" name="Content Placeholder 5"/>
          <p:cNvGraphicFramePr>
            <a:graphicFrameLocks noGrp="1"/>
          </p:cNvGraphicFramePr>
          <p:nvPr>
            <p:ph idx="1"/>
          </p:nvPr>
        </p:nvGraphicFramePr>
        <p:xfrm>
          <a:off x="785813" y="2276475"/>
          <a:ext cx="7499350" cy="2397140"/>
        </p:xfrm>
        <a:graphic>
          <a:graphicData uri="http://schemas.openxmlformats.org/drawingml/2006/table">
            <a:tbl>
              <a:tblPr firstRow="1" bandRow="1">
                <a:tableStyleId>{5940675A-B579-460E-94D1-54222C63F5DA}</a:tableStyleId>
              </a:tblPr>
              <a:tblGrid>
                <a:gridCol w="687328"/>
                <a:gridCol w="866611"/>
                <a:gridCol w="916881"/>
                <a:gridCol w="1171351"/>
                <a:gridCol w="1512168"/>
                <a:gridCol w="1152128"/>
                <a:gridCol w="1192883"/>
              </a:tblGrid>
              <a:tr h="914350">
                <a:tc>
                  <a:txBody>
                    <a:bodyPr/>
                    <a:lstStyle/>
                    <a:p>
                      <a:pPr algn="ctr"/>
                      <a:r>
                        <a:rPr lang="en-CA" sz="1800" dirty="0" smtClean="0"/>
                        <a:t>Time</a:t>
                      </a:r>
                      <a:endParaRPr lang="en-US" sz="1800" dirty="0"/>
                    </a:p>
                  </a:txBody>
                  <a:tcPr marT="45702" marB="45702"/>
                </a:tc>
                <a:tc>
                  <a:txBody>
                    <a:bodyPr/>
                    <a:lstStyle/>
                    <a:p>
                      <a:pPr algn="ctr"/>
                      <a:r>
                        <a:rPr lang="en-CA" sz="1800" dirty="0" err="1" smtClean="0"/>
                        <a:t>DollarCash</a:t>
                      </a:r>
                      <a:r>
                        <a:rPr lang="en-CA" sz="1800" dirty="0" smtClean="0"/>
                        <a:t> Flow</a:t>
                      </a:r>
                      <a:endParaRPr lang="en-US" sz="1800" dirty="0"/>
                    </a:p>
                  </a:txBody>
                  <a:tcPr marT="45702" marB="45702"/>
                </a:tc>
                <a:tc>
                  <a:txBody>
                    <a:bodyPr/>
                    <a:lstStyle/>
                    <a:p>
                      <a:pPr algn="ctr"/>
                      <a:r>
                        <a:rPr lang="en-US" sz="1800" dirty="0" smtClean="0"/>
                        <a:t>Yen cash flow</a:t>
                      </a:r>
                      <a:endParaRPr lang="en-US" sz="1800" dirty="0"/>
                    </a:p>
                  </a:txBody>
                  <a:tcPr marT="45702" marB="45702"/>
                </a:tc>
                <a:tc>
                  <a:txBody>
                    <a:bodyPr/>
                    <a:lstStyle/>
                    <a:p>
                      <a:pPr algn="ctr"/>
                      <a:r>
                        <a:rPr lang="en-CA" sz="1800" dirty="0" smtClean="0"/>
                        <a:t>Forward rate</a:t>
                      </a:r>
                      <a:endParaRPr lang="en-US" sz="1800" dirty="0"/>
                    </a:p>
                  </a:txBody>
                  <a:tcPr marT="45702" marB="45702"/>
                </a:tc>
                <a:tc>
                  <a:txBody>
                    <a:bodyPr/>
                    <a:lstStyle/>
                    <a:p>
                      <a:pPr algn="ctr"/>
                      <a:r>
                        <a:rPr lang="en-CA" sz="1800" dirty="0" smtClean="0"/>
                        <a:t>Dollar</a:t>
                      </a:r>
                      <a:r>
                        <a:rPr lang="en-CA" sz="1800" baseline="0" dirty="0" smtClean="0"/>
                        <a:t> </a:t>
                      </a:r>
                      <a:r>
                        <a:rPr lang="en-CA" sz="1800" dirty="0" smtClean="0"/>
                        <a:t>value of yen cash</a:t>
                      </a:r>
                      <a:r>
                        <a:rPr lang="en-CA" sz="1800" baseline="0" dirty="0" smtClean="0"/>
                        <a:t> flow</a:t>
                      </a:r>
                      <a:endParaRPr lang="en-US" sz="1800" dirty="0"/>
                    </a:p>
                  </a:txBody>
                  <a:tcPr marT="45702" marB="45702"/>
                </a:tc>
                <a:tc>
                  <a:txBody>
                    <a:bodyPr/>
                    <a:lstStyle/>
                    <a:p>
                      <a:pPr algn="ctr"/>
                      <a:r>
                        <a:rPr lang="en-US" sz="1800" dirty="0" smtClean="0"/>
                        <a:t>Net cash flow</a:t>
                      </a:r>
                      <a:endParaRPr lang="en-US" sz="1800" dirty="0"/>
                    </a:p>
                  </a:txBody>
                  <a:tcPr marT="45702" marB="45702"/>
                </a:tc>
                <a:tc>
                  <a:txBody>
                    <a:bodyPr/>
                    <a:lstStyle/>
                    <a:p>
                      <a:pPr algn="ctr"/>
                      <a:r>
                        <a:rPr lang="en-CA" sz="1800" dirty="0" smtClean="0"/>
                        <a:t>Present value</a:t>
                      </a:r>
                      <a:endParaRPr lang="en-US" sz="1800" dirty="0"/>
                    </a:p>
                  </a:txBody>
                  <a:tcPr marT="45702" marB="45702"/>
                </a:tc>
              </a:tr>
              <a:tr h="370694">
                <a:tc>
                  <a:txBody>
                    <a:bodyPr/>
                    <a:lstStyle/>
                    <a:p>
                      <a:pPr algn="ctr"/>
                      <a:r>
                        <a:rPr lang="en-CA" sz="1800" dirty="0" smtClean="0"/>
                        <a:t>1</a:t>
                      </a:r>
                      <a:endParaRPr lang="en-US" sz="1800" dirty="0"/>
                    </a:p>
                  </a:txBody>
                  <a:tcPr marT="45702" marB="45702"/>
                </a:tc>
                <a:tc>
                  <a:txBody>
                    <a:bodyPr/>
                    <a:lstStyle/>
                    <a:p>
                      <a:pPr algn="ctr"/>
                      <a:r>
                        <a:rPr lang="en-US" altLang="en-US" sz="1800" dirty="0" smtClean="0"/>
                        <a:t>  −0.4</a:t>
                      </a:r>
                      <a:endParaRPr lang="en-US" sz="1800" dirty="0"/>
                    </a:p>
                  </a:txBody>
                  <a:tcPr marT="45702" marB="45702"/>
                </a:tc>
                <a:tc>
                  <a:txBody>
                    <a:bodyPr/>
                    <a:lstStyle/>
                    <a:p>
                      <a:pPr algn="ctr"/>
                      <a:r>
                        <a:rPr lang="en-US" sz="1800" dirty="0" smtClean="0"/>
                        <a:t>    +36</a:t>
                      </a:r>
                      <a:endParaRPr lang="en-US" sz="1800" dirty="0"/>
                    </a:p>
                  </a:txBody>
                  <a:tcPr marT="45702" marB="45702"/>
                </a:tc>
                <a:tc>
                  <a:txBody>
                    <a:bodyPr/>
                    <a:lstStyle/>
                    <a:p>
                      <a:pPr algn="ctr"/>
                      <a:r>
                        <a:rPr lang="en-CA" sz="1800" dirty="0" smtClean="0"/>
                        <a:t>0.009182</a:t>
                      </a:r>
                      <a:endParaRPr lang="en-US" sz="1800" dirty="0"/>
                    </a:p>
                  </a:txBody>
                  <a:tcPr marT="45702" marB="45702"/>
                </a:tc>
                <a:tc>
                  <a:txBody>
                    <a:bodyPr/>
                    <a:lstStyle/>
                    <a:p>
                      <a:pPr algn="ctr"/>
                      <a:r>
                        <a:rPr lang="en-CA" sz="1800" dirty="0" smtClean="0"/>
                        <a:t>  0.3306</a:t>
                      </a:r>
                      <a:endParaRPr lang="en-US" sz="1800" dirty="0"/>
                    </a:p>
                  </a:txBody>
                  <a:tcPr marT="45702" marB="45702"/>
                </a:tc>
                <a:tc>
                  <a:txBody>
                    <a:bodyPr/>
                    <a:lstStyle/>
                    <a:p>
                      <a:pPr algn="ctr"/>
                      <a:r>
                        <a:rPr lang="en-US" sz="1800" dirty="0" smtClean="0"/>
                        <a:t>−0.0694</a:t>
                      </a:r>
                      <a:endParaRPr lang="en-US" sz="1800" dirty="0"/>
                    </a:p>
                  </a:txBody>
                  <a:tcPr marT="45702" marB="45702"/>
                </a:tc>
                <a:tc>
                  <a:txBody>
                    <a:bodyPr/>
                    <a:lstStyle/>
                    <a:p>
                      <a:pPr algn="ctr"/>
                      <a:r>
                        <a:rPr lang="en-US" sz="1800" dirty="0" smtClean="0"/>
                        <a:t>−0.0677</a:t>
                      </a:r>
                      <a:endParaRPr lang="en-US" sz="1800" dirty="0"/>
                    </a:p>
                  </a:txBody>
                  <a:tcPr marT="45702" marB="45702"/>
                </a:tc>
              </a:tr>
              <a:tr h="370694">
                <a:tc>
                  <a:txBody>
                    <a:bodyPr/>
                    <a:lstStyle/>
                    <a:p>
                      <a:pPr algn="ctr"/>
                      <a:r>
                        <a:rPr lang="en-CA" sz="1800" dirty="0" smtClean="0"/>
                        <a:t>2</a:t>
                      </a:r>
                      <a:endParaRPr lang="en-US" sz="1800" dirty="0"/>
                    </a:p>
                  </a:txBody>
                  <a:tcPr marT="45702" marB="45702"/>
                </a:tc>
                <a:tc>
                  <a:txBody>
                    <a:bodyPr/>
                    <a:lstStyle/>
                    <a:p>
                      <a:pPr algn="ctr"/>
                      <a:r>
                        <a:rPr lang="en-US" altLang="en-US" sz="1800" dirty="0" smtClean="0"/>
                        <a:t>  −0.4</a:t>
                      </a:r>
                      <a:endParaRPr lang="en-US" sz="1800" dirty="0"/>
                    </a:p>
                  </a:txBody>
                  <a:tcPr marT="45702" marB="45702"/>
                </a:tc>
                <a:tc>
                  <a:txBody>
                    <a:bodyPr/>
                    <a:lstStyle/>
                    <a:p>
                      <a:pPr algn="ctr"/>
                      <a:r>
                        <a:rPr lang="en-US" sz="1800" dirty="0" smtClean="0"/>
                        <a:t>    +36</a:t>
                      </a:r>
                      <a:endParaRPr lang="en-US" sz="1800" dirty="0"/>
                    </a:p>
                  </a:txBody>
                  <a:tcPr marT="45702" marB="45702"/>
                </a:tc>
                <a:tc>
                  <a:txBody>
                    <a:bodyPr/>
                    <a:lstStyle/>
                    <a:p>
                      <a:pPr algn="ctr"/>
                      <a:r>
                        <a:rPr lang="en-CA" sz="1800" dirty="0" smtClean="0"/>
                        <a:t>0.009275</a:t>
                      </a:r>
                      <a:endParaRPr lang="en-US" sz="1800" dirty="0"/>
                    </a:p>
                  </a:txBody>
                  <a:tcPr marT="45702" marB="45702"/>
                </a:tc>
                <a:tc>
                  <a:txBody>
                    <a:bodyPr/>
                    <a:lstStyle/>
                    <a:p>
                      <a:pPr algn="ctr"/>
                      <a:r>
                        <a:rPr lang="en-CA" sz="1800" dirty="0" smtClean="0"/>
                        <a:t>  0.3339</a:t>
                      </a:r>
                      <a:endParaRPr lang="en-US" sz="1800" dirty="0"/>
                    </a:p>
                  </a:txBody>
                  <a:tcPr marT="45702" marB="45702"/>
                </a:tc>
                <a:tc>
                  <a:txBody>
                    <a:bodyPr/>
                    <a:lstStyle/>
                    <a:p>
                      <a:pPr algn="ctr"/>
                      <a:r>
                        <a:rPr lang="en-US" sz="1800" dirty="0" smtClean="0"/>
                        <a:t>−0.0661</a:t>
                      </a:r>
                      <a:endParaRPr lang="en-US" sz="1800" dirty="0"/>
                    </a:p>
                  </a:txBody>
                  <a:tcPr marT="45702" marB="45702"/>
                </a:tc>
                <a:tc>
                  <a:txBody>
                    <a:bodyPr/>
                    <a:lstStyle/>
                    <a:p>
                      <a:pPr algn="ctr"/>
                      <a:r>
                        <a:rPr lang="en-US" sz="1800" dirty="0" smtClean="0"/>
                        <a:t>−</a:t>
                      </a:r>
                      <a:r>
                        <a:rPr lang="en-CA" sz="1800" dirty="0" smtClean="0"/>
                        <a:t>0.0629</a:t>
                      </a:r>
                      <a:endParaRPr lang="en-US" sz="1800" dirty="0"/>
                    </a:p>
                  </a:txBody>
                  <a:tcPr marT="45702" marB="45702"/>
                </a:tc>
              </a:tr>
              <a:tr h="370694">
                <a:tc>
                  <a:txBody>
                    <a:bodyPr/>
                    <a:lstStyle/>
                    <a:p>
                      <a:pPr algn="ctr"/>
                      <a:r>
                        <a:rPr lang="en-CA" sz="1800" dirty="0" smtClean="0"/>
                        <a:t>3</a:t>
                      </a:r>
                      <a:endParaRPr lang="en-US" sz="1800" dirty="0"/>
                    </a:p>
                  </a:txBody>
                  <a:tcPr marT="45702" marB="4570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smtClean="0"/>
                        <a:t>−10.4</a:t>
                      </a:r>
                      <a:endParaRPr lang="en-US" sz="1800" dirty="0" smtClean="0"/>
                    </a:p>
                  </a:txBody>
                  <a:tcPr marT="45702" marB="4570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+1236</a:t>
                      </a:r>
                    </a:p>
                  </a:txBody>
                  <a:tcPr marT="45702" marB="45702"/>
                </a:tc>
                <a:tc>
                  <a:txBody>
                    <a:bodyPr/>
                    <a:lstStyle/>
                    <a:p>
                      <a:pPr algn="ctr"/>
                      <a:r>
                        <a:rPr lang="en-CA" sz="1800" dirty="0" smtClean="0"/>
                        <a:t>0.009368</a:t>
                      </a:r>
                      <a:endParaRPr lang="en-US" sz="1800" dirty="0"/>
                    </a:p>
                  </a:txBody>
                  <a:tcPr marT="45702" marB="45702"/>
                </a:tc>
                <a:tc>
                  <a:txBody>
                    <a:bodyPr/>
                    <a:lstStyle/>
                    <a:p>
                      <a:pPr algn="ctr"/>
                      <a:r>
                        <a:rPr lang="en-CA" sz="1800" dirty="0" smtClean="0"/>
                        <a:t>11.5786</a:t>
                      </a:r>
                      <a:endParaRPr lang="en-US" sz="1800" dirty="0"/>
                    </a:p>
                  </a:txBody>
                  <a:tcPr marT="45702" marB="45702"/>
                </a:tc>
                <a:tc>
                  <a:txBody>
                    <a:bodyPr/>
                    <a:lstStyle/>
                    <a:p>
                      <a:pPr algn="ctr"/>
                      <a:r>
                        <a:rPr lang="en-US" sz="1800" dirty="0" smtClean="0"/>
                        <a:t>+1.1786</a:t>
                      </a:r>
                      <a:endParaRPr lang="en-US" sz="1800" dirty="0"/>
                    </a:p>
                  </a:txBody>
                  <a:tcPr marT="45702" marB="45702"/>
                </a:tc>
                <a:tc>
                  <a:txBody>
                    <a:bodyPr/>
                    <a:lstStyle/>
                    <a:p>
                      <a:pPr algn="ctr"/>
                      <a:r>
                        <a:rPr lang="en-CA" sz="1800" dirty="0" smtClean="0"/>
                        <a:t>+1.0934</a:t>
                      </a:r>
                      <a:endParaRPr lang="en-US" sz="1800" dirty="0"/>
                    </a:p>
                  </a:txBody>
                  <a:tcPr marT="45702" marB="45702"/>
                </a:tc>
              </a:tr>
              <a:tr h="370694">
                <a:tc>
                  <a:txBody>
                    <a:bodyPr/>
                    <a:lstStyle/>
                    <a:p>
                      <a:pPr algn="ctr"/>
                      <a:r>
                        <a:rPr lang="en-CA" sz="1800" dirty="0" smtClean="0"/>
                        <a:t>Total</a:t>
                      </a:r>
                      <a:endParaRPr lang="en-US" sz="1800" dirty="0"/>
                    </a:p>
                  </a:txBody>
                  <a:tcPr marT="45702" marB="45702"/>
                </a:tc>
                <a:tc>
                  <a:txBody>
                    <a:bodyPr/>
                    <a:lstStyle/>
                    <a:p>
                      <a:pPr algn="ctr"/>
                      <a:endParaRPr lang="en-US" sz="1800" dirty="0"/>
                    </a:p>
                  </a:txBody>
                  <a:tcPr marT="45702" marB="45702"/>
                </a:tc>
                <a:tc>
                  <a:txBody>
                    <a:bodyPr/>
                    <a:lstStyle/>
                    <a:p>
                      <a:pPr algn="ctr"/>
                      <a:endParaRPr lang="en-US" sz="1800" dirty="0"/>
                    </a:p>
                  </a:txBody>
                  <a:tcPr marT="45702" marB="45702"/>
                </a:tc>
                <a:tc>
                  <a:txBody>
                    <a:bodyPr/>
                    <a:lstStyle/>
                    <a:p>
                      <a:pPr algn="ctr"/>
                      <a:endParaRPr lang="en-US" sz="1800" dirty="0"/>
                    </a:p>
                  </a:txBody>
                  <a:tcPr marT="45702" marB="45702"/>
                </a:tc>
                <a:tc>
                  <a:txBody>
                    <a:bodyPr/>
                    <a:lstStyle/>
                    <a:p>
                      <a:pPr algn="ctr"/>
                      <a:endParaRPr lang="en-US" sz="1800" dirty="0"/>
                    </a:p>
                  </a:txBody>
                  <a:tcPr marT="45702" marB="45702"/>
                </a:tc>
                <a:tc>
                  <a:txBody>
                    <a:bodyPr/>
                    <a:lstStyle/>
                    <a:p>
                      <a:pPr algn="ctr"/>
                      <a:endParaRPr lang="en-US" sz="1800" dirty="0"/>
                    </a:p>
                  </a:txBody>
                  <a:tcPr marT="45702" marB="45702"/>
                </a:tc>
                <a:tc>
                  <a:txBody>
                    <a:bodyPr/>
                    <a:lstStyle/>
                    <a:p>
                      <a:pPr algn="ctr"/>
                      <a:r>
                        <a:rPr lang="en-CA" sz="1800" dirty="0" smtClean="0"/>
                        <a:t>+0.9629</a:t>
                      </a:r>
                      <a:endParaRPr lang="en-US" sz="1800" dirty="0"/>
                    </a:p>
                  </a:txBody>
                  <a:tcPr marT="45702" marB="45702"/>
                </a:tc>
              </a:tr>
            </a:tbl>
          </a:graphicData>
        </a:graphic>
      </p:graphicFrame>
      <p:sp>
        <p:nvSpPr>
          <p:cNvPr id="66613"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9th Ed, Ch 7, Copyright © John C. Hull 2016</a:t>
            </a:r>
          </a:p>
        </p:txBody>
      </p:sp>
      <p:sp>
        <p:nvSpPr>
          <p:cNvPr id="66614"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49439044-515C-4EC6-9B0B-577C13AE06E8}" type="slidenum">
              <a:rPr lang="en-US" altLang="en-US" sz="1800"/>
              <a:pPr>
                <a:spcBef>
                  <a:spcPct val="0"/>
                </a:spcBef>
                <a:buClrTx/>
                <a:buSzTx/>
                <a:buFontTx/>
                <a:buNone/>
              </a:pPr>
              <a:t>31</a:t>
            </a:fld>
            <a:endParaRPr lang="en-US" altLang="en-US" sz="180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a:xfrm>
            <a:off x="785813" y="274638"/>
            <a:ext cx="7143750" cy="1143000"/>
          </a:xfrm>
        </p:spPr>
        <p:txBody>
          <a:bodyPr/>
          <a:lstStyle/>
          <a:p>
            <a:r>
              <a:rPr lang="en-CA" altLang="en-US" smtClean="0"/>
              <a:t>Valuation in Terms of Bonds  </a:t>
            </a:r>
            <a:r>
              <a:rPr lang="en-CA" altLang="en-US" sz="2400" smtClean="0"/>
              <a:t>(page 180)</a:t>
            </a:r>
            <a:endParaRPr lang="en-US" altLang="en-US" sz="2400" smtClean="0"/>
          </a:p>
        </p:txBody>
      </p:sp>
      <p:sp>
        <p:nvSpPr>
          <p:cNvPr id="68611"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9th Ed, Ch 7, Copyright © John C. Hull 2016</a:t>
            </a:r>
          </a:p>
        </p:txBody>
      </p:sp>
      <p:sp>
        <p:nvSpPr>
          <p:cNvPr id="6861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EB6B380-BA21-41D8-8F83-A9B559C1389E}" type="slidenum">
              <a:rPr lang="en-US" altLang="en-US" sz="1800"/>
              <a:pPr>
                <a:spcBef>
                  <a:spcPct val="0"/>
                </a:spcBef>
                <a:buClrTx/>
                <a:buSzTx/>
                <a:buFontTx/>
                <a:buNone/>
              </a:pPr>
              <a:t>32</a:t>
            </a:fld>
            <a:endParaRPr lang="en-US" altLang="en-US" sz="1800"/>
          </a:p>
        </p:txBody>
      </p:sp>
      <p:graphicFrame>
        <p:nvGraphicFramePr>
          <p:cNvPr id="6" name="Content Placeholder 5"/>
          <p:cNvGraphicFramePr>
            <a:graphicFrameLocks/>
          </p:cNvGraphicFramePr>
          <p:nvPr/>
        </p:nvGraphicFramePr>
        <p:xfrm>
          <a:off x="755650" y="2060575"/>
          <a:ext cx="7777163" cy="2273304"/>
        </p:xfrm>
        <a:graphic>
          <a:graphicData uri="http://schemas.openxmlformats.org/drawingml/2006/table">
            <a:tbl>
              <a:tblPr firstRow="1" bandRow="1">
                <a:tableStyleId>{5940675A-B579-460E-94D1-54222C63F5DA}</a:tableStyleId>
              </a:tblPr>
              <a:tblGrid>
                <a:gridCol w="1155744"/>
                <a:gridCol w="1724686"/>
                <a:gridCol w="1368205"/>
                <a:gridCol w="1872280"/>
                <a:gridCol w="1656248"/>
              </a:tblGrid>
              <a:tr h="640043">
                <a:tc>
                  <a:txBody>
                    <a:bodyPr/>
                    <a:lstStyle/>
                    <a:p>
                      <a:pPr algn="ctr"/>
                      <a:r>
                        <a:rPr lang="en-CA" sz="1800" dirty="0" smtClean="0"/>
                        <a:t>Time</a:t>
                      </a:r>
                      <a:endParaRPr lang="en-US" sz="1800" dirty="0"/>
                    </a:p>
                  </a:txBody>
                  <a:tcPr marL="91444" marR="91444" marT="45704" marB="45704"/>
                </a:tc>
                <a:tc>
                  <a:txBody>
                    <a:bodyPr/>
                    <a:lstStyle/>
                    <a:p>
                      <a:pPr algn="ctr"/>
                      <a:r>
                        <a:rPr lang="en-CA" sz="1800" dirty="0" smtClean="0"/>
                        <a:t>Cash Flows ($ millions)</a:t>
                      </a:r>
                      <a:endParaRPr lang="en-US" sz="1800" dirty="0"/>
                    </a:p>
                  </a:txBody>
                  <a:tcPr marL="91444" marR="91444" marT="45704" marB="45704"/>
                </a:tc>
                <a:tc>
                  <a:txBody>
                    <a:bodyPr/>
                    <a:lstStyle/>
                    <a:p>
                      <a:pPr algn="ctr"/>
                      <a:r>
                        <a:rPr lang="en-CA" sz="1800" dirty="0" smtClean="0"/>
                        <a:t>PV</a:t>
                      </a:r>
                      <a:r>
                        <a:rPr lang="en-CA" sz="1800" baseline="0" dirty="0" smtClean="0"/>
                        <a:t> </a:t>
                      </a:r>
                    </a:p>
                    <a:p>
                      <a:pPr algn="ctr"/>
                      <a:r>
                        <a:rPr lang="en-CA" sz="1800" baseline="0" dirty="0" smtClean="0"/>
                        <a:t>($ millions)</a:t>
                      </a:r>
                      <a:endParaRPr lang="en-US" sz="1800" dirty="0"/>
                    </a:p>
                  </a:txBody>
                  <a:tcPr marL="91444" marR="91444" marT="45704" marB="45704"/>
                </a:tc>
                <a:tc>
                  <a:txBody>
                    <a:bodyPr/>
                    <a:lstStyle/>
                    <a:p>
                      <a:pPr algn="ctr"/>
                      <a:r>
                        <a:rPr lang="en-CA" sz="1800" dirty="0" smtClean="0"/>
                        <a:t>Cash flows (millions</a:t>
                      </a:r>
                      <a:r>
                        <a:rPr lang="en-CA" sz="1800" baseline="0" dirty="0" smtClean="0"/>
                        <a:t> </a:t>
                      </a:r>
                      <a:r>
                        <a:rPr lang="en-CA" sz="1800" dirty="0" smtClean="0"/>
                        <a:t>of yen)</a:t>
                      </a:r>
                      <a:endParaRPr lang="en-US" sz="1800" dirty="0"/>
                    </a:p>
                  </a:txBody>
                  <a:tcPr marL="91444" marR="91444" marT="45704" marB="45704"/>
                </a:tc>
                <a:tc>
                  <a:txBody>
                    <a:bodyPr/>
                    <a:lstStyle/>
                    <a:p>
                      <a:pPr algn="ctr"/>
                      <a:r>
                        <a:rPr lang="en-CA" sz="1800" dirty="0" smtClean="0"/>
                        <a:t>PV ( millions of</a:t>
                      </a:r>
                      <a:r>
                        <a:rPr lang="en-CA" sz="1800" baseline="0" dirty="0" smtClean="0"/>
                        <a:t> </a:t>
                      </a:r>
                      <a:r>
                        <a:rPr lang="en-CA" sz="1800" dirty="0" smtClean="0"/>
                        <a:t>yen)</a:t>
                      </a:r>
                      <a:endParaRPr lang="en-US" sz="1800" dirty="0"/>
                    </a:p>
                  </a:txBody>
                  <a:tcPr marL="91444" marR="91444" marT="45704" marB="45704"/>
                </a:tc>
              </a:tr>
              <a:tr h="408314">
                <a:tc>
                  <a:txBody>
                    <a:bodyPr/>
                    <a:lstStyle/>
                    <a:p>
                      <a:pPr algn="ctr"/>
                      <a:r>
                        <a:rPr lang="en-CA" sz="1800" dirty="0" smtClean="0"/>
                        <a:t>1</a:t>
                      </a:r>
                      <a:endParaRPr lang="en-US" sz="1800" dirty="0"/>
                    </a:p>
                  </a:txBody>
                  <a:tcPr marL="91444" marR="91444" marT="45704" marB="45704"/>
                </a:tc>
                <a:tc>
                  <a:txBody>
                    <a:bodyPr/>
                    <a:lstStyle/>
                    <a:p>
                      <a:pPr algn="ctr"/>
                      <a:r>
                        <a:rPr lang="en-CA" sz="1800" dirty="0" smtClean="0"/>
                        <a:t>0.4</a:t>
                      </a:r>
                      <a:endParaRPr lang="en-US" sz="1800" dirty="0"/>
                    </a:p>
                  </a:txBody>
                  <a:tcPr marL="91444" marR="91444" marT="45704" marB="45704"/>
                </a:tc>
                <a:tc>
                  <a:txBody>
                    <a:bodyPr/>
                    <a:lstStyle/>
                    <a:p>
                      <a:pPr algn="ctr"/>
                      <a:r>
                        <a:rPr lang="en-CA" sz="1800" dirty="0" smtClean="0"/>
                        <a:t>0.3901</a:t>
                      </a:r>
                      <a:endParaRPr lang="en-US" sz="1800" dirty="0"/>
                    </a:p>
                  </a:txBody>
                  <a:tcPr marL="91444" marR="91444" marT="45704" marB="45704"/>
                </a:tc>
                <a:tc>
                  <a:txBody>
                    <a:bodyPr/>
                    <a:lstStyle/>
                    <a:p>
                      <a:pPr algn="ctr"/>
                      <a:r>
                        <a:rPr lang="en-CA" sz="1800" dirty="0" smtClean="0"/>
                        <a:t>    36</a:t>
                      </a:r>
                      <a:endParaRPr lang="en-US" sz="1800" dirty="0"/>
                    </a:p>
                  </a:txBody>
                  <a:tcPr marL="91444" marR="91444" marT="45704" marB="45704"/>
                </a:tc>
                <a:tc>
                  <a:txBody>
                    <a:bodyPr/>
                    <a:lstStyle/>
                    <a:p>
                      <a:pPr algn="ctr"/>
                      <a:r>
                        <a:rPr lang="en-CA" sz="1800" dirty="0" smtClean="0"/>
                        <a:t>   35.46</a:t>
                      </a:r>
                      <a:endParaRPr lang="en-US" sz="1800" dirty="0"/>
                    </a:p>
                  </a:txBody>
                  <a:tcPr marL="91444" marR="91444" marT="45704" marB="45704"/>
                </a:tc>
              </a:tr>
              <a:tr h="408314">
                <a:tc>
                  <a:txBody>
                    <a:bodyPr/>
                    <a:lstStyle/>
                    <a:p>
                      <a:pPr algn="ctr"/>
                      <a:r>
                        <a:rPr lang="en-CA" sz="1800" dirty="0" smtClean="0"/>
                        <a:t>2</a:t>
                      </a:r>
                      <a:endParaRPr lang="en-US" sz="1800" dirty="0"/>
                    </a:p>
                  </a:txBody>
                  <a:tcPr marL="91444" marR="91444" marT="45704" marB="45704"/>
                </a:tc>
                <a:tc>
                  <a:txBody>
                    <a:bodyPr/>
                    <a:lstStyle/>
                    <a:p>
                      <a:pPr algn="ctr"/>
                      <a:r>
                        <a:rPr lang="en-CA" sz="1800" dirty="0" smtClean="0"/>
                        <a:t>0.4</a:t>
                      </a:r>
                      <a:endParaRPr lang="en-US" sz="1800" dirty="0"/>
                    </a:p>
                  </a:txBody>
                  <a:tcPr marL="91444" marR="91444" marT="45704" marB="45704"/>
                </a:tc>
                <a:tc>
                  <a:txBody>
                    <a:bodyPr/>
                    <a:lstStyle/>
                    <a:p>
                      <a:pPr algn="ctr"/>
                      <a:r>
                        <a:rPr lang="en-CA" sz="1800" dirty="0" smtClean="0"/>
                        <a:t>0.3805</a:t>
                      </a:r>
                      <a:endParaRPr lang="en-US" sz="1800" dirty="0"/>
                    </a:p>
                  </a:txBody>
                  <a:tcPr marL="91444" marR="91444" marT="45704" marB="45704"/>
                </a:tc>
                <a:tc>
                  <a:txBody>
                    <a:bodyPr/>
                    <a:lstStyle/>
                    <a:p>
                      <a:pPr algn="ctr"/>
                      <a:r>
                        <a:rPr lang="en-CA" sz="1800" dirty="0" smtClean="0"/>
                        <a:t>    36</a:t>
                      </a:r>
                      <a:endParaRPr lang="en-US" sz="1800" dirty="0"/>
                    </a:p>
                  </a:txBody>
                  <a:tcPr marL="91444" marR="91444" marT="45704" marB="45704"/>
                </a:tc>
                <a:tc>
                  <a:txBody>
                    <a:bodyPr/>
                    <a:lstStyle/>
                    <a:p>
                      <a:pPr algn="ctr"/>
                      <a:r>
                        <a:rPr lang="en-CA" sz="1800" dirty="0" smtClean="0"/>
                        <a:t>    34.94</a:t>
                      </a:r>
                      <a:endParaRPr lang="en-US" sz="1800" dirty="0"/>
                    </a:p>
                  </a:txBody>
                  <a:tcPr marL="91444" marR="91444" marT="45704" marB="45704"/>
                </a:tc>
              </a:tr>
              <a:tr h="408314">
                <a:tc>
                  <a:txBody>
                    <a:bodyPr/>
                    <a:lstStyle/>
                    <a:p>
                      <a:pPr algn="ctr"/>
                      <a:r>
                        <a:rPr lang="en-CA" sz="1800" dirty="0" smtClean="0"/>
                        <a:t>3</a:t>
                      </a:r>
                      <a:endParaRPr lang="en-US" sz="1800" dirty="0"/>
                    </a:p>
                  </a:txBody>
                  <a:tcPr marL="91444" marR="91444" marT="45704" marB="45704"/>
                </a:tc>
                <a:tc>
                  <a:txBody>
                    <a:bodyPr/>
                    <a:lstStyle/>
                    <a:p>
                      <a:pPr algn="ctr"/>
                      <a:r>
                        <a:rPr lang="en-CA" sz="1800" dirty="0" smtClean="0"/>
                        <a:t>10.4</a:t>
                      </a:r>
                      <a:endParaRPr lang="en-US" sz="1800" dirty="0"/>
                    </a:p>
                  </a:txBody>
                  <a:tcPr marL="91444" marR="91444" marT="45704" marB="45704"/>
                </a:tc>
                <a:tc>
                  <a:txBody>
                    <a:bodyPr/>
                    <a:lstStyle/>
                    <a:p>
                      <a:pPr algn="ctr"/>
                      <a:r>
                        <a:rPr lang="en-CA" sz="1800" dirty="0" smtClean="0"/>
                        <a:t>9.6485</a:t>
                      </a:r>
                      <a:endParaRPr lang="en-US" sz="1800" dirty="0"/>
                    </a:p>
                  </a:txBody>
                  <a:tcPr marL="91444" marR="91444" marT="45704" marB="45704"/>
                </a:tc>
                <a:tc>
                  <a:txBody>
                    <a:bodyPr/>
                    <a:lstStyle/>
                    <a:p>
                      <a:pPr algn="ctr"/>
                      <a:r>
                        <a:rPr lang="en-CA" sz="1800" dirty="0" smtClean="0"/>
                        <a:t>1,236</a:t>
                      </a:r>
                      <a:endParaRPr lang="en-US" sz="1800" dirty="0"/>
                    </a:p>
                  </a:txBody>
                  <a:tcPr marL="91444" marR="91444" marT="45704" marB="45704"/>
                </a:tc>
                <a:tc>
                  <a:txBody>
                    <a:bodyPr/>
                    <a:lstStyle/>
                    <a:p>
                      <a:pPr algn="ctr"/>
                      <a:r>
                        <a:rPr lang="en-CA" sz="1800" dirty="0" smtClean="0"/>
                        <a:t>1,181.61</a:t>
                      </a:r>
                      <a:endParaRPr lang="en-US" sz="1800" dirty="0"/>
                    </a:p>
                  </a:txBody>
                  <a:tcPr marL="91444" marR="91444" marT="45704" marB="45704"/>
                </a:tc>
              </a:tr>
              <a:tr h="408314">
                <a:tc>
                  <a:txBody>
                    <a:bodyPr/>
                    <a:lstStyle/>
                    <a:p>
                      <a:pPr algn="ctr"/>
                      <a:r>
                        <a:rPr lang="en-CA" sz="1800" dirty="0" smtClean="0"/>
                        <a:t>Total</a:t>
                      </a:r>
                      <a:endParaRPr lang="en-US" sz="1800" dirty="0"/>
                    </a:p>
                  </a:txBody>
                  <a:tcPr marL="91444" marR="91444" marT="45704" marB="45704"/>
                </a:tc>
                <a:tc>
                  <a:txBody>
                    <a:bodyPr/>
                    <a:lstStyle/>
                    <a:p>
                      <a:pPr algn="ctr"/>
                      <a:endParaRPr lang="en-US" sz="1800" dirty="0"/>
                    </a:p>
                  </a:txBody>
                  <a:tcPr marL="91444" marR="91444" marT="45704" marB="45704"/>
                </a:tc>
                <a:tc>
                  <a:txBody>
                    <a:bodyPr/>
                    <a:lstStyle/>
                    <a:p>
                      <a:pPr algn="ctr"/>
                      <a:r>
                        <a:rPr lang="en-CA" sz="1800" dirty="0" smtClean="0"/>
                        <a:t>10.4191</a:t>
                      </a:r>
                      <a:endParaRPr lang="en-US" sz="1800" dirty="0"/>
                    </a:p>
                  </a:txBody>
                  <a:tcPr marL="91444" marR="91444" marT="45704" marB="45704"/>
                </a:tc>
                <a:tc>
                  <a:txBody>
                    <a:bodyPr/>
                    <a:lstStyle/>
                    <a:p>
                      <a:pPr algn="ctr"/>
                      <a:endParaRPr lang="en-US" sz="1800" dirty="0"/>
                    </a:p>
                  </a:txBody>
                  <a:tcPr marL="91444" marR="91444" marT="45704" marB="45704"/>
                </a:tc>
                <a:tc>
                  <a:txBody>
                    <a:bodyPr/>
                    <a:lstStyle/>
                    <a:p>
                      <a:pPr algn="ctr"/>
                      <a:r>
                        <a:rPr lang="en-CA" sz="1800" dirty="0" smtClean="0"/>
                        <a:t>1,252.01</a:t>
                      </a:r>
                      <a:endParaRPr lang="en-US" sz="1800" dirty="0"/>
                    </a:p>
                  </a:txBody>
                  <a:tcPr marL="91444" marR="91444" marT="45704" marB="45704"/>
                </a:tc>
              </a:tr>
            </a:tbl>
          </a:graphicData>
        </a:graphic>
      </p:graphicFrame>
      <p:sp>
        <p:nvSpPr>
          <p:cNvPr id="68651" name="TextBox 1"/>
          <p:cNvSpPr txBox="1">
            <a:spLocks noChangeArrowheads="1"/>
          </p:cNvSpPr>
          <p:nvPr/>
        </p:nvSpPr>
        <p:spPr bwMode="auto">
          <a:xfrm>
            <a:off x="1042988" y="4868863"/>
            <a:ext cx="68421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CA" altLang="en-US" sz="2400"/>
              <a:t>Value = 1,252.01/110−10.4191 = +0.9629 millions of dollars </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lstStyle/>
          <a:p>
            <a:r>
              <a:rPr lang="en-CA" altLang="en-US" smtClean="0"/>
              <a:t>Other Currency Swaps</a:t>
            </a:r>
          </a:p>
        </p:txBody>
      </p:sp>
      <p:sp>
        <p:nvSpPr>
          <p:cNvPr id="70659" name="Content Placeholder 2"/>
          <p:cNvSpPr>
            <a:spLocks noGrp="1"/>
          </p:cNvSpPr>
          <p:nvPr>
            <p:ph idx="1"/>
          </p:nvPr>
        </p:nvSpPr>
        <p:spPr/>
        <p:txBody>
          <a:bodyPr/>
          <a:lstStyle/>
          <a:p>
            <a:r>
              <a:rPr lang="en-CA" altLang="en-US" smtClean="0"/>
              <a:t>Fixed-for-floating: equivalent to a fixed-for-fixed currency swap plus a fixed for floating interest rate swap</a:t>
            </a:r>
          </a:p>
          <a:p>
            <a:r>
              <a:rPr lang="en-CA" altLang="en-US" smtClean="0"/>
              <a:t>Floating-for-floating: equivalent to a fixed-for-fixed currency swap plus two floating interest rate swaps </a:t>
            </a:r>
          </a:p>
        </p:txBody>
      </p:sp>
      <p:sp>
        <p:nvSpPr>
          <p:cNvPr id="7066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9th Ed, Ch 7, Copyright © John C. Hull 2016</a:t>
            </a:r>
            <a:endParaRPr lang="en-US" altLang="en-US" sz="1400" i="0"/>
          </a:p>
        </p:txBody>
      </p:sp>
      <p:sp>
        <p:nvSpPr>
          <p:cNvPr id="7066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9203DB3-DA2D-4CBF-951F-95C7D1658CAD}" type="slidenum">
              <a:rPr lang="en-US" altLang="en-US" sz="1800"/>
              <a:pPr>
                <a:spcBef>
                  <a:spcPct val="0"/>
                </a:spcBef>
                <a:buClrTx/>
                <a:buSzTx/>
                <a:buFontTx/>
                <a:buNone/>
              </a:pPr>
              <a:t>33</a:t>
            </a:fld>
            <a:endParaRPr lang="en-US" altLang="en-US" sz="180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9th Ed, Ch 7, Copyright © John C. Hull 2016</a:t>
            </a:r>
            <a:endParaRPr lang="en-US" altLang="en-US" sz="1400" i="0"/>
          </a:p>
        </p:txBody>
      </p:sp>
      <p:sp>
        <p:nvSpPr>
          <p:cNvPr id="71683" name="Rectangle 2"/>
          <p:cNvSpPr>
            <a:spLocks noGrp="1" noChangeArrowheads="1"/>
          </p:cNvSpPr>
          <p:nvPr>
            <p:ph type="title"/>
          </p:nvPr>
        </p:nvSpPr>
        <p:spPr>
          <a:xfrm>
            <a:off x="457200" y="304800"/>
            <a:ext cx="8077200" cy="1524000"/>
          </a:xfrm>
          <a:noFill/>
        </p:spPr>
        <p:txBody>
          <a:bodyPr lIns="92075" tIns="46038" rIns="92075" bIns="46038" anchor="ctr"/>
          <a:lstStyle/>
          <a:p>
            <a:pPr eaLnBrk="1" hangingPunct="1"/>
            <a:r>
              <a:rPr lang="en-US" altLang="en-US" smtClean="0"/>
              <a:t>Swaps &amp; Forwards</a:t>
            </a:r>
          </a:p>
        </p:txBody>
      </p:sp>
      <p:sp>
        <p:nvSpPr>
          <p:cNvPr id="71684" name="Rectangle 3"/>
          <p:cNvSpPr>
            <a:spLocks noGrp="1" noChangeArrowheads="1"/>
          </p:cNvSpPr>
          <p:nvPr>
            <p:ph type="body" idx="1"/>
          </p:nvPr>
        </p:nvSpPr>
        <p:spPr>
          <a:xfrm>
            <a:off x="655638" y="1752600"/>
            <a:ext cx="7810500" cy="4038600"/>
          </a:xfrm>
          <a:noFill/>
        </p:spPr>
        <p:txBody>
          <a:bodyPr lIns="92075" tIns="46038" rIns="92075" bIns="46038"/>
          <a:lstStyle/>
          <a:p>
            <a:pPr eaLnBrk="1" hangingPunct="1"/>
            <a:r>
              <a:rPr lang="en-US" altLang="en-US" smtClean="0"/>
              <a:t>A swap can be regarded as a convenient way of packaging forward contracts</a:t>
            </a:r>
          </a:p>
          <a:p>
            <a:pPr eaLnBrk="1" hangingPunct="1"/>
            <a:r>
              <a:rPr lang="en-US" altLang="en-US" smtClean="0"/>
              <a:t>When a swap is initiated the swap has zero value, but typically some forwards have a positive value and some have a negative value</a:t>
            </a:r>
          </a:p>
        </p:txBody>
      </p:sp>
      <p:sp>
        <p:nvSpPr>
          <p:cNvPr id="7168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78EA907-78F5-46B6-90E0-17C13AFF6393}" type="slidenum">
              <a:rPr lang="en-US" altLang="en-US" sz="1800"/>
              <a:pPr>
                <a:spcBef>
                  <a:spcPct val="0"/>
                </a:spcBef>
                <a:buClrTx/>
                <a:buSzTx/>
                <a:buFontTx/>
                <a:buNone/>
              </a:pPr>
              <a:t>34</a:t>
            </a:fld>
            <a:endParaRPr lang="en-US" altLang="en-US" sz="1800"/>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323850" y="11113"/>
            <a:ext cx="7772400" cy="1295400"/>
          </a:xfrm>
        </p:spPr>
        <p:txBody>
          <a:bodyPr lIns="92075" tIns="46038" rIns="92075" bIns="46038"/>
          <a:lstStyle/>
          <a:p>
            <a:pPr eaLnBrk="1" hangingPunct="1"/>
            <a:r>
              <a:rPr lang="en-US" altLang="en-US" smtClean="0"/>
              <a:t>Credit Risk</a:t>
            </a:r>
          </a:p>
        </p:txBody>
      </p:sp>
      <p:sp>
        <p:nvSpPr>
          <p:cNvPr id="73731" name="Rectangle 3"/>
          <p:cNvSpPr>
            <a:spLocks noGrp="1" noChangeArrowheads="1"/>
          </p:cNvSpPr>
          <p:nvPr>
            <p:ph idx="1"/>
          </p:nvPr>
        </p:nvSpPr>
        <p:spPr>
          <a:xfrm>
            <a:off x="457200" y="1676400"/>
            <a:ext cx="8074025" cy="3481388"/>
          </a:xfrm>
        </p:spPr>
        <p:txBody>
          <a:bodyPr lIns="92075" tIns="46038" rIns="92075" bIns="46038"/>
          <a:lstStyle/>
          <a:p>
            <a:pPr eaLnBrk="1" hangingPunct="1"/>
            <a:r>
              <a:rPr lang="en-CA" altLang="en-US" sz="2800" smtClean="0">
                <a:cs typeface="Arial" panose="020B0604020202020204" pitchFamily="34" charset="0"/>
              </a:rPr>
              <a:t>When derivatives transactions with a counterparty are cleared bilaterally, they are netted</a:t>
            </a:r>
          </a:p>
          <a:p>
            <a:pPr eaLnBrk="1" hangingPunct="1"/>
            <a:r>
              <a:rPr lang="en-CA" altLang="en-US" sz="2800" smtClean="0">
                <a:cs typeface="Arial" panose="020B0604020202020204" pitchFamily="34" charset="0"/>
              </a:rPr>
              <a:t>There is exposure if the net value of outstanding transactions is greater than the collateral posted</a:t>
            </a:r>
            <a:endParaRPr lang="en-US" altLang="en-US" sz="2800" smtClean="0">
              <a:cs typeface="Arial" panose="020B0604020202020204" pitchFamily="34" charset="0"/>
            </a:endParaRPr>
          </a:p>
        </p:txBody>
      </p:sp>
      <p:sp>
        <p:nvSpPr>
          <p:cNvPr id="7373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9th Ed, Ch 7, Copyright © John C. Hull 2016</a:t>
            </a:r>
            <a:endParaRPr lang="en-US" altLang="en-US" sz="1400">
              <a:cs typeface="Arial" panose="020B0604020202020204" pitchFamily="34" charset="0"/>
            </a:endParaRPr>
          </a:p>
        </p:txBody>
      </p:sp>
      <p:sp>
        <p:nvSpPr>
          <p:cNvPr id="7373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3C7CB4B-DCE8-4C66-8CBE-3233EF43E532}" type="slidenum">
              <a:rPr lang="en-US" altLang="en-US" sz="1800"/>
              <a:pPr>
                <a:spcBef>
                  <a:spcPct val="0"/>
                </a:spcBef>
                <a:buClrTx/>
                <a:buSzTx/>
                <a:buFontTx/>
                <a:buNone/>
              </a:pPr>
              <a:t>35</a:t>
            </a:fld>
            <a:endParaRPr lang="en-US" altLang="en-US" sz="1800"/>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p:txBody>
          <a:bodyPr/>
          <a:lstStyle/>
          <a:p>
            <a:r>
              <a:rPr lang="en-CA" altLang="en-US" smtClean="0"/>
              <a:t>Credit Default Swaps: A Quick First Look</a:t>
            </a:r>
          </a:p>
        </p:txBody>
      </p:sp>
      <p:sp>
        <p:nvSpPr>
          <p:cNvPr id="75779" name="Content Placeholder 2"/>
          <p:cNvSpPr>
            <a:spLocks noGrp="1"/>
          </p:cNvSpPr>
          <p:nvPr>
            <p:ph idx="1"/>
          </p:nvPr>
        </p:nvSpPr>
        <p:spPr>
          <a:xfrm>
            <a:off x="468313" y="1484313"/>
            <a:ext cx="8229600" cy="4411662"/>
          </a:xfrm>
        </p:spPr>
        <p:txBody>
          <a:bodyPr/>
          <a:lstStyle/>
          <a:p>
            <a:r>
              <a:rPr lang="en-CA" altLang="en-US" sz="2800" smtClean="0"/>
              <a:t>Notional principal (e.g. $100 million) and maturity (e.g. 5 yrs) specified</a:t>
            </a:r>
          </a:p>
          <a:p>
            <a:r>
              <a:rPr lang="en-CA" altLang="en-US" sz="2800" smtClean="0"/>
              <a:t>Protection buyer pays a fixed rate (e.g. 150 bp) on the notional principal (the CDS spread) </a:t>
            </a:r>
          </a:p>
          <a:p>
            <a:r>
              <a:rPr lang="en-CA" altLang="en-US" sz="2800" smtClean="0"/>
              <a:t>If the reference entity (a country or company) defaults protection seller buys bonds issued by the reference entity for their face value and the spread payments stop. Total face value of bonds bought equals notional principal</a:t>
            </a:r>
          </a:p>
        </p:txBody>
      </p:sp>
      <p:sp>
        <p:nvSpPr>
          <p:cNvPr id="7578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9th Ed, Ch 7, Copyright © John C. Hull 2016</a:t>
            </a:r>
            <a:endParaRPr lang="en-US" altLang="en-US" sz="1400" i="0"/>
          </a:p>
        </p:txBody>
      </p:sp>
      <p:sp>
        <p:nvSpPr>
          <p:cNvPr id="7578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6EA0F4DA-CDA5-483E-A7E7-3E530210AB7A}" type="slidenum">
              <a:rPr lang="en-US" altLang="en-US" sz="1800"/>
              <a:pPr>
                <a:spcBef>
                  <a:spcPct val="0"/>
                </a:spcBef>
                <a:buClrTx/>
                <a:buSzTx/>
                <a:buFontTx/>
                <a:buNone/>
              </a:pPr>
              <a:t>36</a:t>
            </a:fld>
            <a:endParaRPr lang="en-US" altLang="en-US" sz="180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9th Ed, Ch 7, Copyright © John C. Hull 2016</a:t>
            </a:r>
            <a:endParaRPr lang="en-US" altLang="en-US" sz="1400" i="0"/>
          </a:p>
        </p:txBody>
      </p:sp>
      <p:sp>
        <p:nvSpPr>
          <p:cNvPr id="76803" name="Rectangle 2"/>
          <p:cNvSpPr>
            <a:spLocks noGrp="1" noChangeArrowheads="1"/>
          </p:cNvSpPr>
          <p:nvPr>
            <p:ph type="title"/>
          </p:nvPr>
        </p:nvSpPr>
        <p:spPr/>
        <p:txBody>
          <a:bodyPr/>
          <a:lstStyle/>
          <a:p>
            <a:pPr eaLnBrk="1" hangingPunct="1"/>
            <a:r>
              <a:rPr lang="en-US" altLang="en-US" smtClean="0"/>
              <a:t>Other Types of Swaps</a:t>
            </a:r>
          </a:p>
        </p:txBody>
      </p:sp>
      <p:sp>
        <p:nvSpPr>
          <p:cNvPr id="76804" name="Rectangle 3"/>
          <p:cNvSpPr>
            <a:spLocks noGrp="1" noChangeArrowheads="1"/>
          </p:cNvSpPr>
          <p:nvPr>
            <p:ph type="body" idx="1"/>
          </p:nvPr>
        </p:nvSpPr>
        <p:spPr/>
        <p:txBody>
          <a:bodyPr/>
          <a:lstStyle/>
          <a:p>
            <a:pPr eaLnBrk="1" hangingPunct="1"/>
            <a:r>
              <a:rPr lang="en-US" altLang="en-US" smtClean="0"/>
              <a:t>Amortizing/ step up</a:t>
            </a:r>
          </a:p>
          <a:p>
            <a:pPr eaLnBrk="1" hangingPunct="1"/>
            <a:r>
              <a:rPr lang="en-US" altLang="en-US" smtClean="0"/>
              <a:t>Compounding swap</a:t>
            </a:r>
          </a:p>
          <a:p>
            <a:pPr eaLnBrk="1" hangingPunct="1"/>
            <a:r>
              <a:rPr lang="en-US" altLang="en-US" smtClean="0"/>
              <a:t>Constant maturity swap</a:t>
            </a:r>
          </a:p>
          <a:p>
            <a:pPr eaLnBrk="1" hangingPunct="1"/>
            <a:r>
              <a:rPr lang="en-US" altLang="en-US" smtClean="0"/>
              <a:t>LIBOR-in-arrears swap</a:t>
            </a:r>
          </a:p>
          <a:p>
            <a:pPr eaLnBrk="1" hangingPunct="1"/>
            <a:r>
              <a:rPr lang="en-US" altLang="en-US" smtClean="0"/>
              <a:t>Accrual swap</a:t>
            </a:r>
          </a:p>
          <a:p>
            <a:pPr eaLnBrk="1" hangingPunct="1"/>
            <a:r>
              <a:rPr lang="en-US" altLang="en-US" smtClean="0"/>
              <a:t>Equity swap</a:t>
            </a:r>
          </a:p>
        </p:txBody>
      </p:sp>
      <p:sp>
        <p:nvSpPr>
          <p:cNvPr id="7680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67C90792-3697-4278-9B27-D2C0DA0D5F74}" type="slidenum">
              <a:rPr lang="en-US" altLang="en-US" sz="1800"/>
              <a:pPr>
                <a:spcBef>
                  <a:spcPct val="0"/>
                </a:spcBef>
                <a:buClrTx/>
                <a:buSzTx/>
                <a:buFontTx/>
                <a:buNone/>
              </a:pPr>
              <a:t>37</a:t>
            </a:fld>
            <a:endParaRPr lang="en-US" altLang="en-US" sz="180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9th Ed, Ch 7, Copyright © John C. Hull 2016</a:t>
            </a:r>
            <a:endParaRPr lang="en-US" altLang="en-US" sz="1400" i="0"/>
          </a:p>
        </p:txBody>
      </p:sp>
      <p:sp>
        <p:nvSpPr>
          <p:cNvPr id="78851" name="Rectangle 2"/>
          <p:cNvSpPr>
            <a:spLocks noGrp="1" noChangeArrowheads="1"/>
          </p:cNvSpPr>
          <p:nvPr>
            <p:ph type="title"/>
          </p:nvPr>
        </p:nvSpPr>
        <p:spPr/>
        <p:txBody>
          <a:bodyPr/>
          <a:lstStyle/>
          <a:p>
            <a:pPr eaLnBrk="1" hangingPunct="1"/>
            <a:r>
              <a:rPr lang="en-US" altLang="en-US" smtClean="0"/>
              <a:t>Other Types of Swaps </a:t>
            </a:r>
            <a:r>
              <a:rPr lang="en-US" altLang="en-US" sz="2400" smtClean="0"/>
              <a:t>continued</a:t>
            </a:r>
          </a:p>
        </p:txBody>
      </p:sp>
      <p:sp>
        <p:nvSpPr>
          <p:cNvPr id="78852" name="Rectangle 3"/>
          <p:cNvSpPr>
            <a:spLocks noGrp="1" noChangeArrowheads="1"/>
          </p:cNvSpPr>
          <p:nvPr>
            <p:ph type="body" idx="1"/>
          </p:nvPr>
        </p:nvSpPr>
        <p:spPr/>
        <p:txBody>
          <a:bodyPr/>
          <a:lstStyle/>
          <a:p>
            <a:pPr eaLnBrk="1" hangingPunct="1"/>
            <a:r>
              <a:rPr lang="en-US" altLang="en-US" dirty="0" smtClean="0"/>
              <a:t>Cross currency interest rate swap</a:t>
            </a:r>
          </a:p>
          <a:p>
            <a:pPr eaLnBrk="1" hangingPunct="1"/>
            <a:r>
              <a:rPr lang="en-US" altLang="en-US" dirty="0" smtClean="0"/>
              <a:t>Floating-for-floating currency swap</a:t>
            </a:r>
          </a:p>
          <a:p>
            <a:pPr eaLnBrk="1" hangingPunct="1"/>
            <a:r>
              <a:rPr lang="en-US" altLang="en-US" dirty="0" smtClean="0"/>
              <a:t>Diff swap</a:t>
            </a:r>
          </a:p>
          <a:p>
            <a:pPr eaLnBrk="1" hangingPunct="1"/>
            <a:r>
              <a:rPr lang="en-US" altLang="en-US" dirty="0" smtClean="0"/>
              <a:t>Commodity swap</a:t>
            </a:r>
          </a:p>
          <a:p>
            <a:pPr eaLnBrk="1" hangingPunct="1"/>
            <a:r>
              <a:rPr lang="en-US" altLang="en-US" dirty="0" smtClean="0"/>
              <a:t>Variance swap</a:t>
            </a:r>
          </a:p>
          <a:p>
            <a:pPr eaLnBrk="1" hangingPunct="1"/>
            <a:endParaRPr lang="en-US" altLang="en-US" dirty="0" smtClean="0"/>
          </a:p>
        </p:txBody>
      </p:sp>
      <p:sp>
        <p:nvSpPr>
          <p:cNvPr id="7885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E4413EE-339C-4B2F-AADA-AB5F91AD4D03}" type="slidenum">
              <a:rPr lang="en-US" altLang="en-US" sz="1800"/>
              <a:pPr>
                <a:spcBef>
                  <a:spcPct val="0"/>
                </a:spcBef>
                <a:buClrTx/>
                <a:buSzTx/>
                <a:buFontTx/>
                <a:buNone/>
              </a:pPr>
              <a:t>38</a:t>
            </a:fld>
            <a:endParaRPr lang="en-US" altLang="en-US" sz="180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1_Network">
  <a:themeElements>
    <a:clrScheme name="1_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1_Networ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1_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1_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1_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1_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1_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1_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1_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1_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1_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DB470C54600C46B1B0C1FE5EDD1D1B" ma:contentTypeVersion="3" ma:contentTypeDescription="Create a new document." ma:contentTypeScope="" ma:versionID="14dc9d57259abab41c863f8d0f9e2276">
  <xsd:schema xmlns:xsd="http://www.w3.org/2001/XMLSchema" xmlns:xs="http://www.w3.org/2001/XMLSchema" xmlns:p="http://schemas.microsoft.com/office/2006/metadata/properties" xmlns:ns2="cd351f98-0ba7-41cd-87bd-5169e413bab1" targetNamespace="http://schemas.microsoft.com/office/2006/metadata/properties" ma:root="true" ma:fieldsID="f27d059874946e97d17eaa08f9af4415" ns2:_="">
    <xsd:import namespace="cd351f98-0ba7-41cd-87bd-5169e413bab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351f98-0ba7-41cd-87bd-5169e413ba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19AD878-B6B0-4027-A2F4-AEF44BC2E707}"/>
</file>

<file path=customXml/itemProps2.xml><?xml version="1.0" encoding="utf-8"?>
<ds:datastoreItem xmlns:ds="http://schemas.openxmlformats.org/officeDocument/2006/customXml" ds:itemID="{9E98E3EB-4070-4770-BEC7-7AEE1C93481F}"/>
</file>

<file path=customXml/itemProps3.xml><?xml version="1.0" encoding="utf-8"?>
<ds:datastoreItem xmlns:ds="http://schemas.openxmlformats.org/officeDocument/2006/customXml" ds:itemID="{D32B3CA7-148D-41DC-8E78-2D6F03C20A33}"/>
</file>

<file path=docProps/app.xml><?xml version="1.0" encoding="utf-8"?>
<Properties xmlns="http://schemas.openxmlformats.org/officeDocument/2006/extended-properties" xmlns:vt="http://schemas.openxmlformats.org/officeDocument/2006/docPropsVTypes">
  <Template>Ch02HullFundamentals5thEd</Template>
  <TotalTime>606</TotalTime>
  <Pages>26</Pages>
  <Words>2458</Words>
  <Application>Microsoft Office PowerPoint</Application>
  <PresentationFormat>Letter Paper (8.5x11 in)</PresentationFormat>
  <Paragraphs>443</Paragraphs>
  <Slides>38</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Times New Roman</vt:lpstr>
      <vt:lpstr>Wingdings</vt:lpstr>
      <vt:lpstr>1_Network</vt:lpstr>
      <vt:lpstr>Swaps</vt:lpstr>
      <vt:lpstr>Nature of Swaps</vt:lpstr>
      <vt:lpstr>An Example of a “Plain Vanilla” Interest Rate Swap</vt:lpstr>
      <vt:lpstr>Cash Flows to Apple (See Table 7.1, page 163</vt:lpstr>
      <vt:lpstr>Typical Uses of an Interest Rate Swap</vt:lpstr>
      <vt:lpstr>Interest Rate Swap Between Apple and Citigroup (Figure 7.1, page 162)</vt:lpstr>
      <vt:lpstr>Apple Transforms a Liability from Floating to Fixed (Figure 7.2, page 164) </vt:lpstr>
      <vt:lpstr>Interest Rate Swap Between Citigroup and Intel (Figure 7.3, page 165)</vt:lpstr>
      <vt:lpstr>Intel Transforms a Liability from Fixed to Floating (Figure 7.4, page 165)</vt:lpstr>
      <vt:lpstr>Apple Transforms an Asset from Fixed to Floating (Figure 7.5, page 165)</vt:lpstr>
      <vt:lpstr>Intel Transforms an Asset from Floating to Fixed (Figure 7.6, page 166)</vt:lpstr>
      <vt:lpstr>Quotes By a Swap Market Maker (Table 7.3, page 167)</vt:lpstr>
      <vt:lpstr>Day Count</vt:lpstr>
      <vt:lpstr>Confirmations</vt:lpstr>
      <vt:lpstr>The Comparative Advantage Argument (Table 7.4, page 169)</vt:lpstr>
      <vt:lpstr>A Swap where Companies Trade Directly with Each Other (Figure 7.7, page 170)</vt:lpstr>
      <vt:lpstr>The Swap when a Financial Institution (F.I.) is Involved  (Figure 7.7, page 170)</vt:lpstr>
      <vt:lpstr>Criticism of the Comparative Advantage Argument</vt:lpstr>
      <vt:lpstr>Valuation of an Interest Rate Swap</vt:lpstr>
      <vt:lpstr>Example 7.1 (page 172)</vt:lpstr>
      <vt:lpstr>Calculations ($ million)</vt:lpstr>
      <vt:lpstr>Bootstrapping LIBOR forward rates: Example 7.2 (page 173)</vt:lpstr>
      <vt:lpstr>Bootstrapping LIBOR forward rates: Calculations</vt:lpstr>
      <vt:lpstr>An Example of a Fixed-for-Fixed Currency Swap (Figure 7.10, page 175) </vt:lpstr>
      <vt:lpstr>Exchange of Principal</vt:lpstr>
      <vt:lpstr>The Cash Flows (Table 7.5, page 176)</vt:lpstr>
      <vt:lpstr>Typical Uses of a  Currency Swap</vt:lpstr>
      <vt:lpstr>Comparative Advantage May Be Real Because of Taxes</vt:lpstr>
      <vt:lpstr>Valuation of Fixed-for-Fixed Currency Swaps</vt:lpstr>
      <vt:lpstr>Examples 7.3 and 7.4 (pages 178-180)</vt:lpstr>
      <vt:lpstr>Valuation in Terms of Forward Rates (page 179)</vt:lpstr>
      <vt:lpstr>Valuation in Terms of Bonds  (page 180)</vt:lpstr>
      <vt:lpstr>Other Currency Swaps</vt:lpstr>
      <vt:lpstr>Swaps &amp; Forwards</vt:lpstr>
      <vt:lpstr>Credit Risk</vt:lpstr>
      <vt:lpstr>Credit Default Swaps: A Quick First Look</vt:lpstr>
      <vt:lpstr>Other Types of Swaps</vt:lpstr>
      <vt:lpstr>Other Types of Swaps continued</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Swaps</dc:title>
  <dc:subject>Fundamentals of Futures and Options Markets, 9e</dc:subject>
  <dc:creator>John C. Hull</dc:creator>
  <cp:keywords>Chapter 7</cp:keywords>
  <dc:description>Copyright 2016 by John C. Hull.
All rights reserved. Published 2016.</dc:description>
  <cp:lastModifiedBy>John Hull</cp:lastModifiedBy>
  <cp:revision>87</cp:revision>
  <cp:lastPrinted>2001-05-03T11:40:36Z</cp:lastPrinted>
  <dcterms:created xsi:type="dcterms:W3CDTF">1996-10-24T09:26:34Z</dcterms:created>
  <dcterms:modified xsi:type="dcterms:W3CDTF">2016-06-04T21:06:13Z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0x01010034DB470C54600C46B1B0C1FE5EDD1D1B</vt:lpwstr>
  </property>
</Properties>
</file>