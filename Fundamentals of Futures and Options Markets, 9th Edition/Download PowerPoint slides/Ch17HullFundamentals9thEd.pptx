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7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39"/>
  </p:notesMasterIdLst>
  <p:handoutMasterIdLst>
    <p:handoutMasterId r:id="rId40"/>
  </p:handoutMasterIdLst>
  <p:sldIdLst>
    <p:sldId id="279" r:id="rId2"/>
    <p:sldId id="257" r:id="rId3"/>
    <p:sldId id="286" r:id="rId4"/>
    <p:sldId id="287" r:id="rId5"/>
    <p:sldId id="288" r:id="rId6"/>
    <p:sldId id="297" r:id="rId7"/>
    <p:sldId id="260" r:id="rId8"/>
    <p:sldId id="289" r:id="rId9"/>
    <p:sldId id="261" r:id="rId10"/>
    <p:sldId id="298" r:id="rId11"/>
    <p:sldId id="299" r:id="rId12"/>
    <p:sldId id="290" r:id="rId13"/>
    <p:sldId id="281" r:id="rId14"/>
    <p:sldId id="282" r:id="rId15"/>
    <p:sldId id="291" r:id="rId16"/>
    <p:sldId id="283" r:id="rId17"/>
    <p:sldId id="300" r:id="rId18"/>
    <p:sldId id="292" r:id="rId19"/>
    <p:sldId id="284" r:id="rId20"/>
    <p:sldId id="302" r:id="rId21"/>
    <p:sldId id="266" r:id="rId22"/>
    <p:sldId id="267" r:id="rId23"/>
    <p:sldId id="268" r:id="rId24"/>
    <p:sldId id="269" r:id="rId25"/>
    <p:sldId id="285" r:id="rId26"/>
    <p:sldId id="278" r:id="rId27"/>
    <p:sldId id="293" r:id="rId28"/>
    <p:sldId id="294" r:id="rId29"/>
    <p:sldId id="271" r:id="rId30"/>
    <p:sldId id="277" r:id="rId31"/>
    <p:sldId id="272" r:id="rId32"/>
    <p:sldId id="295" r:id="rId33"/>
    <p:sldId id="263" r:id="rId34"/>
    <p:sldId id="296" r:id="rId35"/>
    <p:sldId id="274" r:id="rId36"/>
    <p:sldId id="275" r:id="rId37"/>
    <p:sldId id="276" r:id="rId38"/>
  </p:sldIdLst>
  <p:sldSz cx="9144000" cy="6858000" type="letter"/>
  <p:notesSz cx="6858000" cy="9207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595" autoAdjust="0"/>
    <p:restoredTop sz="94604" autoAdjust="0"/>
  </p:normalViewPr>
  <p:slideViewPr>
    <p:cSldViewPr>
      <p:cViewPr varScale="1">
        <p:scale>
          <a:sx n="129" d="100"/>
          <a:sy n="129" d="100"/>
        </p:scale>
        <p:origin x="169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E:\Fundamentals9e\Figures\Figure_17_5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3057961504811909E-2"/>
          <c:y val="0.11597987751531058"/>
          <c:w val="0.86081714785651797"/>
          <c:h val="0.8326195683872849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Sheet1!$D$5</c:f>
              <c:strCache>
                <c:ptCount val="1"/>
                <c:pt idx="0">
                  <c:v>Call Theta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none"/>
          </c:marker>
          <c:xVal>
            <c:numRef>
              <c:f>Sheet1!$C$6:$C$34</c:f>
              <c:numCache>
                <c:formatCode>General</c:formatCode>
                <c:ptCount val="29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  <c:pt idx="10">
                  <c:v>60</c:v>
                </c:pt>
                <c:pt idx="11">
                  <c:v>65</c:v>
                </c:pt>
                <c:pt idx="12">
                  <c:v>70</c:v>
                </c:pt>
                <c:pt idx="13">
                  <c:v>75</c:v>
                </c:pt>
                <c:pt idx="14">
                  <c:v>80</c:v>
                </c:pt>
                <c:pt idx="15">
                  <c:v>85</c:v>
                </c:pt>
                <c:pt idx="16">
                  <c:v>90</c:v>
                </c:pt>
                <c:pt idx="17">
                  <c:v>95</c:v>
                </c:pt>
                <c:pt idx="18">
                  <c:v>100</c:v>
                </c:pt>
                <c:pt idx="19">
                  <c:v>105</c:v>
                </c:pt>
                <c:pt idx="20">
                  <c:v>110</c:v>
                </c:pt>
                <c:pt idx="21">
                  <c:v>115</c:v>
                </c:pt>
                <c:pt idx="22">
                  <c:v>120</c:v>
                </c:pt>
                <c:pt idx="23">
                  <c:v>125</c:v>
                </c:pt>
                <c:pt idx="24">
                  <c:v>130</c:v>
                </c:pt>
                <c:pt idx="25">
                  <c:v>135</c:v>
                </c:pt>
                <c:pt idx="26">
                  <c:v>140</c:v>
                </c:pt>
                <c:pt idx="27">
                  <c:v>145</c:v>
                </c:pt>
                <c:pt idx="28">
                  <c:v>150</c:v>
                </c:pt>
              </c:numCache>
            </c:numRef>
          </c:xVal>
          <c:yVal>
            <c:numRef>
              <c:f>Sheet1!$D$6:$D$34</c:f>
              <c:numCache>
                <c:formatCode>General</c:formatCode>
                <c:ptCount val="29"/>
                <c:pt idx="0">
                  <c:v>-2.4558901279215469E-5</c:v>
                </c:pt>
                <c:pt idx="1">
                  <c:v>-2.8835182491054544E-3</c:v>
                </c:pt>
                <c:pt idx="2">
                  <c:v>-3.8194801961023622E-2</c:v>
                </c:pt>
                <c:pt idx="3">
                  <c:v>-0.17961469501066221</c:v>
                </c:pt>
                <c:pt idx="4">
                  <c:v>-0.47343542996598365</c:v>
                </c:pt>
                <c:pt idx="5">
                  <c:v>-0.87305109722680019</c:v>
                </c:pt>
                <c:pt idx="6">
                  <c:v>-1.2721398281078875</c:v>
                </c:pt>
                <c:pt idx="7">
                  <c:v>-1.5751661037197717</c:v>
                </c:pt>
                <c:pt idx="8">
                  <c:v>-1.7357582337447852</c:v>
                </c:pt>
                <c:pt idx="9">
                  <c:v>-1.7555168389107474</c:v>
                </c:pt>
                <c:pt idx="10">
                  <c:v>-1.6646926609460599</c:v>
                </c:pt>
                <c:pt idx="11">
                  <c:v>-1.5027344924243493</c:v>
                </c:pt>
                <c:pt idx="12">
                  <c:v>-1.3058134690521899</c:v>
                </c:pt>
                <c:pt idx="13">
                  <c:v>-1.1013856608553254</c:v>
                </c:pt>
                <c:pt idx="14">
                  <c:v>-0.90740401128140913</c:v>
                </c:pt>
                <c:pt idx="15">
                  <c:v>-0.73380870993079406</c:v>
                </c:pt>
                <c:pt idx="16">
                  <c:v>-0.58471251433249427</c:v>
                </c:pt>
                <c:pt idx="17">
                  <c:v>-0.46045766443186509</c:v>
                </c:pt>
                <c:pt idx="18">
                  <c:v>-0.35922939002132442</c:v>
                </c:pt>
                <c:pt idx="19">
                  <c:v>-0.27818439845425058</c:v>
                </c:pt>
                <c:pt idx="20">
                  <c:v>-0.21416960823954215</c:v>
                </c:pt>
                <c:pt idx="21">
                  <c:v>-0.16413737874414538</c:v>
                </c:pt>
                <c:pt idx="22">
                  <c:v>-0.12535528022704284</c:v>
                </c:pt>
                <c:pt idx="23">
                  <c:v>-9.5487004902559028E-2</c:v>
                </c:pt>
                <c:pt idx="24">
                  <c:v>-7.2598688392303767E-2</c:v>
                </c:pt>
                <c:pt idx="25">
                  <c:v>-5.512642409733931E-2</c:v>
                </c:pt>
                <c:pt idx="26">
                  <c:v>-4.1827112383878554E-2</c:v>
                </c:pt>
                <c:pt idx="27">
                  <c:v>-3.172544923786464E-2</c:v>
                </c:pt>
                <c:pt idx="28">
                  <c:v>-2.4063830892328553E-2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651624"/>
        <c:axId val="53652016"/>
      </c:scatterChart>
      <c:valAx>
        <c:axId val="53651624"/>
        <c:scaling>
          <c:orientation val="minMax"/>
          <c:max val="15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CA"/>
                  <a:t>Stock Price</a:t>
                </a:r>
              </a:p>
            </c:rich>
          </c:tx>
          <c:layout>
            <c:manualLayout>
              <c:xMode val="edge"/>
              <c:yMode val="edge"/>
              <c:x val="0.51879986876640416"/>
              <c:y val="0.12868037328667253"/>
            </c:manualLayout>
          </c:layout>
          <c:overlay val="0"/>
        </c:title>
        <c:numFmt formatCode="General" sourceLinked="1"/>
        <c:majorTickMark val="in"/>
        <c:minorTickMark val="none"/>
        <c:tickLblPos val="high"/>
        <c:crossAx val="53652016"/>
        <c:crosses val="autoZero"/>
        <c:crossBetween val="midCat"/>
      </c:valAx>
      <c:valAx>
        <c:axId val="53652016"/>
        <c:scaling>
          <c:orientation val="minMax"/>
          <c:max val="0"/>
          <c:min val="-2.5"/>
        </c:scaling>
        <c:delete val="0"/>
        <c:axPos val="l"/>
        <c:numFmt formatCode="General" sourceLinked="1"/>
        <c:majorTickMark val="out"/>
        <c:minorTickMark val="none"/>
        <c:tickLblPos val="nextTo"/>
        <c:crossAx val="53651624"/>
        <c:crosses val="autoZero"/>
        <c:crossBetween val="midCat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843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anose="02020603050405020304" pitchFamily="18" charset="0"/>
              </a:defRPr>
            </a:lvl1pPr>
          </a:lstStyle>
          <a:p>
            <a:fld id="{33B8064E-B2B5-412B-A111-1924CDC2015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3563"/>
            <a:ext cx="502920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07" name="Rectangle 7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27125" y="692150"/>
            <a:ext cx="4603750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4272253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37E62FB-E15D-4A35-B160-A7CA1C0B1772}" type="slidenum">
              <a:rPr lang="en-US" altLang="en-US" sz="1000"/>
              <a:pPr>
                <a:spcBef>
                  <a:spcPct val="0"/>
                </a:spcBef>
              </a:pPr>
              <a:t>1</a:t>
            </a:fld>
            <a:endParaRPr lang="en-US" altLang="en-US" sz="1000"/>
          </a:p>
        </p:txBody>
      </p:sp>
      <p:sp>
        <p:nvSpPr>
          <p:cNvPr id="5222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74531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41968B8-2146-463C-85E1-43DEDE4C0490}" type="slidenum">
              <a:rPr lang="en-US" altLang="en-US" sz="1000"/>
              <a:pPr>
                <a:spcBef>
                  <a:spcPct val="0"/>
                </a:spcBef>
              </a:pPr>
              <a:t>2</a:t>
            </a:fld>
            <a:endParaRPr lang="en-US" altLang="en-US" sz="1000"/>
          </a:p>
        </p:txBody>
      </p:sp>
      <p:sp>
        <p:nvSpPr>
          <p:cNvPr id="5325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13627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67EE7A6-45F2-490D-8AF7-B34B0FDF77A6}" type="slidenum">
              <a:rPr lang="en-US" altLang="en-US" sz="1000"/>
              <a:pPr>
                <a:spcBef>
                  <a:spcPct val="0"/>
                </a:spcBef>
              </a:pPr>
              <a:t>3</a:t>
            </a:fld>
            <a:endParaRPr lang="en-US" altLang="en-US" sz="1000"/>
          </a:p>
        </p:txBody>
      </p:sp>
      <p:sp>
        <p:nvSpPr>
          <p:cNvPr id="5427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 cap="flat"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607663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C12DAD-B994-42F0-9773-76CC117DBA48}" type="slidenum">
              <a:rPr lang="en-US" altLang="en-US" sz="1000"/>
              <a:pPr>
                <a:spcBef>
                  <a:spcPct val="0"/>
                </a:spcBef>
              </a:pPr>
              <a:t>4</a:t>
            </a:fld>
            <a:endParaRPr lang="en-US" altLang="en-US" sz="1000"/>
          </a:p>
        </p:txBody>
      </p:sp>
      <p:sp>
        <p:nvSpPr>
          <p:cNvPr id="5529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767174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47CBC54-8729-4E71-AE85-02701F9E236F}" type="slidenum">
              <a:rPr lang="en-US" altLang="en-US" sz="1000"/>
              <a:pPr>
                <a:spcBef>
                  <a:spcPct val="0"/>
                </a:spcBef>
              </a:pPr>
              <a:t>5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1559861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A88C3C6-DEAE-4E06-8750-5EA1FDD11B43}" type="slidenum">
              <a:rPr lang="en-US" altLang="en-US" sz="1000"/>
              <a:pPr>
                <a:spcBef>
                  <a:spcPct val="0"/>
                </a:spcBef>
              </a:pPr>
              <a:t>7</a:t>
            </a:fld>
            <a:endParaRPr lang="en-US" altLang="en-US" sz="1000"/>
          </a:p>
        </p:txBody>
      </p:sp>
      <p:sp>
        <p:nvSpPr>
          <p:cNvPr id="5734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21936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7E74A-8C1C-45C3-ADEE-8E074C5A7784}" type="slidenum">
              <a:rPr lang="en-US" altLang="en-US" sz="1000"/>
              <a:pPr>
                <a:spcBef>
                  <a:spcPct val="0"/>
                </a:spcBef>
              </a:pPr>
              <a:t>8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275454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3D749EE-BBC0-48BE-9BCF-D09AAC87D03F}" type="slidenum">
              <a:rPr lang="en-US" altLang="en-US" sz="1000"/>
              <a:pPr>
                <a:spcBef>
                  <a:spcPct val="0"/>
                </a:spcBef>
              </a:pPr>
              <a:t>9</a:t>
            </a:fld>
            <a:endParaRPr lang="en-US" altLang="en-US" sz="1000"/>
          </a:p>
        </p:txBody>
      </p:sp>
      <p:sp>
        <p:nvSpPr>
          <p:cNvPr id="5939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472691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7CF97E4-5E18-4D13-9954-748C376636A0}" type="slidenum">
              <a:rPr lang="en-US" altLang="en-US" sz="1000"/>
              <a:pPr>
                <a:spcBef>
                  <a:spcPct val="0"/>
                </a:spcBef>
              </a:pPr>
              <a:t>12</a:t>
            </a:fld>
            <a:endParaRPr lang="en-US" altLang="en-US" sz="1000"/>
          </a:p>
        </p:txBody>
      </p:sp>
      <p:sp>
        <p:nvSpPr>
          <p:cNvPr id="6041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 cap="flat"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17119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836BCC8-AEDF-4F6C-8C8D-0C5CA6FF73A0}" type="slidenum">
              <a:rPr lang="en-US" altLang="en-US" sz="1000"/>
              <a:pPr>
                <a:spcBef>
                  <a:spcPct val="0"/>
                </a:spcBef>
              </a:pPr>
              <a:t>13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2755720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D053CA-640C-42CC-98CB-B76A22190BBB}" type="slidenum">
              <a:rPr lang="en-US" altLang="en-US" sz="1000"/>
              <a:pPr>
                <a:spcBef>
                  <a:spcPct val="0"/>
                </a:spcBef>
              </a:pPr>
              <a:t>14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10432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9CFF753-6352-42E4-B48B-8804E1978DD5}" type="slidenum">
              <a:rPr lang="en-US" altLang="en-US" sz="1000"/>
              <a:pPr>
                <a:spcBef>
                  <a:spcPct val="0"/>
                </a:spcBef>
              </a:pPr>
              <a:t>15</a:t>
            </a:fld>
            <a:endParaRPr lang="en-US" altLang="en-US" sz="1000"/>
          </a:p>
        </p:txBody>
      </p:sp>
      <p:sp>
        <p:nvSpPr>
          <p:cNvPr id="6349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 cap="flat"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085440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EB0B7C6-848C-4317-B0D3-F01437FAB527}" type="slidenum">
              <a:rPr lang="en-US" altLang="en-US" sz="1000"/>
              <a:pPr>
                <a:spcBef>
                  <a:spcPct val="0"/>
                </a:spcBef>
              </a:pPr>
              <a:t>16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658072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D0309A1-0133-459A-A177-C11CFFDD7025}" type="slidenum">
              <a:rPr lang="en-US" altLang="en-US" sz="1000"/>
              <a:pPr>
                <a:spcBef>
                  <a:spcPct val="0"/>
                </a:spcBef>
              </a:pPr>
              <a:t>18</a:t>
            </a:fld>
            <a:endParaRPr lang="en-US" altLang="en-US" sz="1000"/>
          </a:p>
        </p:txBody>
      </p:sp>
      <p:sp>
        <p:nvSpPr>
          <p:cNvPr id="6553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 cap="flat"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7067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6C0D48B-D797-41A5-9DDA-331C8BB1127D}" type="slidenum">
              <a:rPr lang="en-US" altLang="en-US" sz="1000"/>
              <a:pPr>
                <a:spcBef>
                  <a:spcPct val="0"/>
                </a:spcBef>
              </a:pPr>
              <a:t>19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420697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1D0418-76D0-494A-A59E-013C26DEA420}" type="slidenum">
              <a:rPr lang="en-US" altLang="en-US" sz="1000"/>
              <a:pPr>
                <a:spcBef>
                  <a:spcPct val="0"/>
                </a:spcBef>
              </a:pPr>
              <a:t>21</a:t>
            </a:fld>
            <a:endParaRPr lang="en-US" altLang="en-US" sz="1000"/>
          </a:p>
        </p:txBody>
      </p:sp>
      <p:sp>
        <p:nvSpPr>
          <p:cNvPr id="6758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662734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0D9876F-851F-4701-9B6A-AE6F2B0DD42A}" type="slidenum">
              <a:rPr lang="en-US" altLang="en-US" sz="1000"/>
              <a:pPr>
                <a:spcBef>
                  <a:spcPct val="0"/>
                </a:spcBef>
              </a:pPr>
              <a:t>22</a:t>
            </a:fld>
            <a:endParaRPr lang="en-US" altLang="en-US" sz="1000"/>
          </a:p>
        </p:txBody>
      </p:sp>
      <p:sp>
        <p:nvSpPr>
          <p:cNvPr id="6861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63880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B20B4-81B7-4EE0-B433-D6322B26DC0D}" type="slidenum">
              <a:rPr lang="en-US" altLang="en-US" sz="1000"/>
              <a:pPr>
                <a:spcBef>
                  <a:spcPct val="0"/>
                </a:spcBef>
              </a:pPr>
              <a:t>23</a:t>
            </a:fld>
            <a:endParaRPr lang="en-US" altLang="en-US" sz="1000"/>
          </a:p>
        </p:txBody>
      </p:sp>
      <p:sp>
        <p:nvSpPr>
          <p:cNvPr id="6963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0643985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D330CFA-F361-48E9-BC1E-9016792EFC9F}" type="slidenum">
              <a:rPr lang="en-US" altLang="en-US" sz="1000"/>
              <a:pPr>
                <a:spcBef>
                  <a:spcPct val="0"/>
                </a:spcBef>
              </a:pPr>
              <a:t>24</a:t>
            </a:fld>
            <a:endParaRPr lang="en-US" altLang="en-US" sz="1000"/>
          </a:p>
        </p:txBody>
      </p:sp>
      <p:sp>
        <p:nvSpPr>
          <p:cNvPr id="7065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011689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392BBCD-C8B0-42AD-BFE0-9DB997DDAE7F}" type="slidenum">
              <a:rPr lang="en-US" altLang="en-US" sz="1000"/>
              <a:pPr>
                <a:spcBef>
                  <a:spcPct val="0"/>
                </a:spcBef>
              </a:pPr>
              <a:t>25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1710597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4307EF3-4878-4B05-ABAA-00DBF866CAB3}" type="slidenum">
              <a:rPr lang="en-US" altLang="en-US" sz="1000"/>
              <a:pPr>
                <a:spcBef>
                  <a:spcPct val="0"/>
                </a:spcBef>
              </a:pPr>
              <a:t>26</a:t>
            </a:fld>
            <a:endParaRPr lang="en-US" altLang="en-US" sz="1000"/>
          </a:p>
        </p:txBody>
      </p:sp>
      <p:sp>
        <p:nvSpPr>
          <p:cNvPr id="7270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127896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BA18D4E-8275-42AA-8C07-9FA66362346C}" type="slidenum">
              <a:rPr lang="en-US" altLang="en-US" sz="1000"/>
              <a:pPr>
                <a:spcBef>
                  <a:spcPct val="0"/>
                </a:spcBef>
              </a:pPr>
              <a:t>27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40249236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5D67FF-61C0-4F88-9214-9120C767FF42}" type="slidenum">
              <a:rPr lang="en-US" altLang="en-US" sz="1000"/>
              <a:pPr>
                <a:spcBef>
                  <a:spcPct val="0"/>
                </a:spcBef>
              </a:pPr>
              <a:t>28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2733181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0EF3EE-F87D-4343-AE7B-BC9B1D36E790}" type="slidenum">
              <a:rPr lang="en-US" altLang="en-US" sz="1000"/>
              <a:pPr>
                <a:spcBef>
                  <a:spcPct val="0"/>
                </a:spcBef>
              </a:pPr>
              <a:t>29</a:t>
            </a:fld>
            <a:endParaRPr lang="en-US" altLang="en-US" sz="1000"/>
          </a:p>
        </p:txBody>
      </p:sp>
      <p:sp>
        <p:nvSpPr>
          <p:cNvPr id="7577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487645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653204F-80EB-4423-8341-52B5004AA85E}" type="slidenum">
              <a:rPr lang="en-US" altLang="en-US" sz="1000"/>
              <a:pPr>
                <a:spcBef>
                  <a:spcPct val="0"/>
                </a:spcBef>
              </a:pPr>
              <a:t>30</a:t>
            </a:fld>
            <a:endParaRPr lang="en-US" altLang="en-US" sz="1000"/>
          </a:p>
        </p:txBody>
      </p:sp>
      <p:sp>
        <p:nvSpPr>
          <p:cNvPr id="7680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4252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B232F0-97EC-4A62-BC97-4E63B1DB1102}" type="slidenum">
              <a:rPr lang="en-US" altLang="en-US" sz="1000"/>
              <a:pPr>
                <a:spcBef>
                  <a:spcPct val="0"/>
                </a:spcBef>
              </a:pPr>
              <a:t>31</a:t>
            </a:fld>
            <a:endParaRPr lang="en-US" altLang="en-US" sz="1000"/>
          </a:p>
        </p:txBody>
      </p:sp>
      <p:sp>
        <p:nvSpPr>
          <p:cNvPr id="7782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2851813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9401B6-1E39-4884-84E7-F9DCCA107AA7}" type="slidenum">
              <a:rPr lang="en-US" altLang="en-US" sz="1000"/>
              <a:pPr>
                <a:spcBef>
                  <a:spcPct val="0"/>
                </a:spcBef>
              </a:pPr>
              <a:t>32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19549913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D8EE58B-0C4F-4314-81D6-81A3E78A0FC6}" type="slidenum">
              <a:rPr lang="en-US" altLang="en-US" sz="1000"/>
              <a:pPr>
                <a:spcBef>
                  <a:spcPct val="0"/>
                </a:spcBef>
              </a:pPr>
              <a:t>33</a:t>
            </a:fld>
            <a:endParaRPr lang="en-US" altLang="en-US" sz="1000"/>
          </a:p>
        </p:txBody>
      </p:sp>
      <p:sp>
        <p:nvSpPr>
          <p:cNvPr id="7987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0101904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05625E1-3F0D-40FA-A252-6E7178C1D3EB}" type="slidenum">
              <a:rPr lang="en-US" altLang="en-US" sz="1000"/>
              <a:pPr>
                <a:spcBef>
                  <a:spcPct val="0"/>
                </a:spcBef>
              </a:pPr>
              <a:t>34</a:t>
            </a:fld>
            <a:endParaRPr lang="en-US" altLang="en-US" sz="1000"/>
          </a:p>
        </p:txBody>
      </p:sp>
      <p:sp>
        <p:nvSpPr>
          <p:cNvPr id="8089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 cap="flat"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2198411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5368080-F253-4939-AEC3-D25A26CAF79C}" type="slidenum">
              <a:rPr lang="en-US" altLang="en-US" sz="1000"/>
              <a:pPr>
                <a:spcBef>
                  <a:spcPct val="0"/>
                </a:spcBef>
              </a:pPr>
              <a:t>35</a:t>
            </a:fld>
            <a:endParaRPr lang="en-US" altLang="en-US" sz="1000"/>
          </a:p>
        </p:txBody>
      </p:sp>
      <p:sp>
        <p:nvSpPr>
          <p:cNvPr id="8192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9589428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1263B0B-C12C-416A-8DE2-92C0FD473C41}" type="slidenum">
              <a:rPr lang="en-US" altLang="en-US" sz="1000"/>
              <a:pPr>
                <a:spcBef>
                  <a:spcPct val="0"/>
                </a:spcBef>
              </a:pPr>
              <a:t>36</a:t>
            </a:fld>
            <a:endParaRPr lang="en-US" altLang="en-US" sz="1000"/>
          </a:p>
        </p:txBody>
      </p:sp>
      <p:sp>
        <p:nvSpPr>
          <p:cNvPr id="8294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728304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4E102F-7419-467F-A8E3-56C4C31A379B}" type="slidenum">
              <a:rPr lang="en-US" altLang="en-US" sz="1000"/>
              <a:pPr>
                <a:spcBef>
                  <a:spcPct val="0"/>
                </a:spcBef>
              </a:pPr>
              <a:t>37</a:t>
            </a:fld>
            <a:endParaRPr lang="en-US" altLang="en-US" sz="1000"/>
          </a:p>
        </p:txBody>
      </p:sp>
      <p:sp>
        <p:nvSpPr>
          <p:cNvPr id="8397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308532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76369EFB-EA10-466A-B80B-5D8800AFCF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256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04CDA-C862-4B0A-A884-F7099B200F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992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ABE209-CBD0-4DDF-B032-5EA389AC3A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187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973A36-208D-4126-AE3D-CA95B507F6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9799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C2EF9A-8E23-471E-9BF9-18457C42A5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710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943268-1E2D-49BA-A6F8-EF6C3F838D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508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C68C3E-989C-4E4B-992D-9E25E0A56F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131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C0DAC8-4D7D-4BBD-A476-BF1A0939ED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363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661A2E-E23A-46CD-B489-1EE8574C83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15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7F7099-8B51-431E-A0F2-B789727410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944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F883C-259A-427E-8C04-1A59FB1DAE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165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17, Copyright © John C. Hull 2016</a:t>
            </a:r>
            <a:endParaRPr lang="en-US" altLang="en-US"/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73BC7C42-5BD9-45DF-BF60-EC164B363266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9.bin"/><Relationship Id="rId3" Type="http://schemas.openxmlformats.org/officeDocument/2006/relationships/notesSlide" Target="../notesSlides/notesSlide27.xml"/><Relationship Id="rId21" Type="http://schemas.openxmlformats.org/officeDocument/2006/relationships/oleObject" Target="../embeddings/oleObject11.bin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.bin"/><Relationship Id="rId20" Type="http://schemas.openxmlformats.org/officeDocument/2006/relationships/image" Target="../media/image17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5.bin"/><Relationship Id="rId19" Type="http://schemas.openxmlformats.org/officeDocument/2006/relationships/oleObject" Target="../embeddings/oleObject10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7.bin"/><Relationship Id="rId22" Type="http://schemas.openxmlformats.org/officeDocument/2006/relationships/image" Target="../media/image18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748588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3338" y="549275"/>
            <a:ext cx="6781800" cy="2133600"/>
          </a:xfrm>
        </p:spPr>
        <p:txBody>
          <a:bodyPr/>
          <a:lstStyle/>
          <a:p>
            <a:pPr eaLnBrk="1" hangingPunct="1"/>
            <a:r>
              <a:rPr lang="en-US" altLang="en-US" smtClean="0"/>
              <a:t>The Greek Letters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900113" y="2997200"/>
            <a:ext cx="6248400" cy="2362200"/>
          </a:xfrm>
        </p:spPr>
        <p:txBody>
          <a:bodyPr/>
          <a:lstStyle/>
          <a:p>
            <a:pPr eaLnBrk="1" hangingPunct="1"/>
            <a:r>
              <a:rPr lang="en-US" altLang="en-US" smtClean="0"/>
              <a:t>Chapter 17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CB57E93-10CE-49D4-AE1D-86BFC8FCAC4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536575" y="609600"/>
            <a:ext cx="77724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Example </a:t>
            </a:r>
            <a:r>
              <a:rPr lang="en-US" altLang="en-US" sz="2600" smtClean="0"/>
              <a:t>(Page 359)</a:t>
            </a:r>
            <a:endParaRPr lang="en-US" altLang="en-US" smtClean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663" y="1800225"/>
            <a:ext cx="7878762" cy="3454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 bank has sold for $300,000 a European call option on 100,000 shares of a non-dividend- paying stock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S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smtClean="0"/>
              <a:t>  = 49, </a:t>
            </a:r>
            <a:r>
              <a:rPr lang="en-US" altLang="en-US" sz="2800" smtClean="0">
                <a:latin typeface="Times New Roman" panose="02020603050405020304" pitchFamily="18" charset="0"/>
              </a:rPr>
              <a:t>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K</a:t>
            </a:r>
            <a:r>
              <a:rPr lang="en-US" altLang="en-US" sz="2800" smtClean="0">
                <a:latin typeface="Times New Roman" panose="02020603050405020304" pitchFamily="18" charset="0"/>
              </a:rPr>
              <a:t> </a:t>
            </a:r>
            <a:r>
              <a:rPr lang="en-US" altLang="en-US" sz="2800" smtClean="0"/>
              <a:t> = 50, 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r</a:t>
            </a:r>
            <a:r>
              <a:rPr lang="en-US" altLang="en-US" sz="2800" smtClean="0"/>
              <a:t>  = 5%, </a:t>
            </a:r>
            <a:r>
              <a:rPr lang="en-US" altLang="en-US" sz="2800" smtClean="0">
                <a:latin typeface="Times New Roman" panose="02020603050405020304" pitchFamily="18" charset="0"/>
              </a:rPr>
              <a:t> </a:t>
            </a:r>
            <a:r>
              <a:rPr lang="en-US" altLang="en-US" sz="2800" smtClean="0">
                <a:latin typeface="Symbol" panose="05050102010706020507" pitchFamily="18" charset="2"/>
              </a:rPr>
              <a:t>s </a:t>
            </a:r>
            <a:r>
              <a:rPr lang="en-US" altLang="en-US" sz="2800" smtClean="0"/>
              <a:t>= 20%,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/>
              <a:t>	</a:t>
            </a:r>
            <a:r>
              <a:rPr lang="en-US" altLang="en-US" sz="2800" i="1" smtClean="0">
                <a:latin typeface="Times New Roman" panose="02020603050405020304" pitchFamily="18" charset="0"/>
              </a:rPr>
              <a:t>T =</a:t>
            </a:r>
            <a:r>
              <a:rPr lang="en-US" altLang="en-US" sz="2800" smtClean="0"/>
              <a:t> 20 weeks, </a:t>
            </a:r>
            <a:r>
              <a:rPr lang="en-US" altLang="en-US" sz="2800" smtClean="0">
                <a:latin typeface="Symbol" panose="05050102010706020507" pitchFamily="18" charset="2"/>
              </a:rPr>
              <a:t>m </a:t>
            </a:r>
            <a:r>
              <a:rPr lang="en-US" altLang="en-US" sz="2800" smtClean="0"/>
              <a:t>= 13%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 Black-Scholes-Merton value of the option is $240,000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How does the bank hedge its risk to lock in a $60,000 profit?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25F9E-0F90-42B3-B56D-7BF49315A47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Naked &amp; Covered Positions</a:t>
            </a:r>
          </a:p>
        </p:txBody>
      </p:sp>
      <p:sp>
        <p:nvSpPr>
          <p:cNvPr id="15363" name="Content Placeholder 5"/>
          <p:cNvSpPr>
            <a:spLocks noGrp="1"/>
          </p:cNvSpPr>
          <p:nvPr>
            <p:ph idx="1"/>
          </p:nvPr>
        </p:nvSpPr>
        <p:spPr>
          <a:xfrm>
            <a:off x="684213" y="1557338"/>
            <a:ext cx="7772400" cy="43576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Naked position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Take no  action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Covered position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Buy 100,000 shares today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What are the risks associated with these strategies?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B361F23-494D-4604-A10B-8E2E6EA19C64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Stop-Loss Strategy</a:t>
            </a:r>
          </a:p>
        </p:txBody>
      </p:sp>
      <p:sp>
        <p:nvSpPr>
          <p:cNvPr id="16387" name="Content Placeholder 5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4338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This involves: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Buying 100,000 shares as soon as price reaches $50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Selling 100,000 shares as soon as price falls below $50</a:t>
            </a:r>
          </a:p>
          <a:p>
            <a:pPr eaLnBrk="1" hangingPunct="1">
              <a:buFontTx/>
              <a:buNone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0158B5C-FB52-4077-98A0-FD81983FDF9D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246063" y="8382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mtClean="0"/>
              <a:t>Stop-Loss Strategy </a:t>
            </a:r>
            <a:r>
              <a:rPr lang="en-US" altLang="en-US" sz="2400" smtClean="0"/>
              <a:t>continued</a:t>
            </a:r>
          </a:p>
        </p:txBody>
      </p:sp>
      <p:sp>
        <p:nvSpPr>
          <p:cNvPr id="1741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26271E-7847-41ED-A628-1489D0FC03E8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5410200"/>
            <a:ext cx="66294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Arial" charset="0"/>
              </a:rPr>
              <a:t>Ignoring discounting, the cost of writing and hedging the option appears to be max(</a:t>
            </a:r>
            <a:r>
              <a:rPr lang="en-US" i="1" dirty="0">
                <a:latin typeface="+mj-lt"/>
              </a:rPr>
              <a:t>S</a:t>
            </a:r>
            <a:r>
              <a:rPr lang="en-US" baseline="-25000" dirty="0">
                <a:latin typeface="Arial" charset="0"/>
              </a:rPr>
              <a:t>0</a:t>
            </a:r>
            <a:r>
              <a:rPr lang="en-US" dirty="0">
                <a:latin typeface="Arial" charset="0"/>
              </a:rPr>
              <a:t>−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Arial" charset="0"/>
              </a:rPr>
              <a:t>, 0). What are we overlooking?</a:t>
            </a:r>
          </a:p>
        </p:txBody>
      </p:sp>
      <p:pic>
        <p:nvPicPr>
          <p:cNvPr id="17414" name="Picture 6" descr="OFOD7_17-01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76400"/>
            <a:ext cx="5776913" cy="370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Greek Letters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z="2800" smtClean="0"/>
              <a:t>Greek letters are the partial derivatives with respect to the model parameters that are liable to change</a:t>
            </a:r>
          </a:p>
          <a:p>
            <a:r>
              <a:rPr lang="en-CA" altLang="en-US" sz="2800" smtClean="0"/>
              <a:t>Usually traders use the Black-Scholes-Merton model when calculating partial derivatives</a:t>
            </a:r>
          </a:p>
          <a:p>
            <a:r>
              <a:rPr lang="en-CA" altLang="en-US" sz="2800" smtClean="0"/>
              <a:t>The volatility parameter in BSM is set equal to the implied volatility when Greek letters are calculated. This is referred to as using the “practitioner Black-Scholes” model 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2C090B9-123A-42C0-BEBA-ECEB8742C23B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Delta </a:t>
            </a:r>
            <a:r>
              <a:rPr lang="en-US" altLang="en-US" sz="2200" smtClean="0"/>
              <a:t>(See Figure 17.2, page 363)</a:t>
            </a:r>
            <a:endParaRPr lang="en-US" altLang="en-US" smtClean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1430338"/>
            <a:ext cx="7251700" cy="18081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Delta (</a:t>
            </a:r>
            <a:r>
              <a:rPr lang="en-US" altLang="en-US" sz="2800" smtClean="0">
                <a:latin typeface="Symbol" panose="05050102010706020507" pitchFamily="18" charset="2"/>
              </a:rPr>
              <a:t>D</a:t>
            </a:r>
            <a:r>
              <a:rPr lang="en-US" altLang="en-US" sz="2800" smtClean="0"/>
              <a:t>) is the rate of change of the option price with respect to the underlying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 </a:t>
            </a:r>
          </a:p>
        </p:txBody>
      </p:sp>
      <p:grpSp>
        <p:nvGrpSpPr>
          <p:cNvPr id="19461" name="Group 21"/>
          <p:cNvGrpSpPr>
            <a:grpSpLocks/>
          </p:cNvGrpSpPr>
          <p:nvPr/>
        </p:nvGrpSpPr>
        <p:grpSpPr bwMode="auto">
          <a:xfrm>
            <a:off x="2025650" y="2674938"/>
            <a:ext cx="6794500" cy="3365500"/>
            <a:chOff x="1276" y="1685"/>
            <a:chExt cx="4280" cy="2120"/>
          </a:xfrm>
        </p:grpSpPr>
        <p:sp>
          <p:nvSpPr>
            <p:cNvPr id="19463" name="Rectangle 4"/>
            <p:cNvSpPr>
              <a:spLocks noChangeArrowheads="1"/>
            </p:cNvSpPr>
            <p:nvPr/>
          </p:nvSpPr>
          <p:spPr bwMode="auto">
            <a:xfrm>
              <a:off x="1427" y="1685"/>
              <a:ext cx="832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</a:t>
              </a:r>
              <a:r>
                <a:rPr lang="en-US" altLang="en-US" sz="2400"/>
                <a:t>Option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price</a:t>
              </a:r>
            </a:p>
          </p:txBody>
        </p:sp>
        <p:grpSp>
          <p:nvGrpSpPr>
            <p:cNvPr id="19464" name="Group 20"/>
            <p:cNvGrpSpPr>
              <a:grpSpLocks/>
            </p:cNvGrpSpPr>
            <p:nvPr/>
          </p:nvGrpSpPr>
          <p:grpSpPr bwMode="auto">
            <a:xfrm>
              <a:off x="1276" y="1938"/>
              <a:ext cx="4280" cy="1867"/>
              <a:chOff x="1276" y="1938"/>
              <a:chExt cx="4280" cy="1867"/>
            </a:xfrm>
          </p:grpSpPr>
          <p:sp>
            <p:nvSpPr>
              <p:cNvPr id="19465" name="Line 5"/>
              <p:cNvSpPr>
                <a:spLocks noChangeShapeType="1"/>
              </p:cNvSpPr>
              <p:nvPr/>
            </p:nvSpPr>
            <p:spPr bwMode="auto">
              <a:xfrm>
                <a:off x="1494" y="1938"/>
                <a:ext cx="0" cy="155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66" name="Line 6"/>
              <p:cNvSpPr>
                <a:spLocks noChangeShapeType="1"/>
              </p:cNvSpPr>
              <p:nvPr/>
            </p:nvSpPr>
            <p:spPr bwMode="auto">
              <a:xfrm>
                <a:off x="1494" y="3492"/>
                <a:ext cx="26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9467" name="Group 12"/>
              <p:cNvGrpSpPr>
                <a:grpSpLocks/>
              </p:cNvGrpSpPr>
              <p:nvPr/>
            </p:nvGrpSpPr>
            <p:grpSpPr bwMode="auto">
              <a:xfrm>
                <a:off x="1494" y="2292"/>
                <a:ext cx="2533" cy="1196"/>
                <a:chOff x="1494" y="2292"/>
                <a:chExt cx="2533" cy="1196"/>
              </a:xfrm>
            </p:grpSpPr>
            <p:sp>
              <p:nvSpPr>
                <p:cNvPr id="19475" name="Freeform 7"/>
                <p:cNvSpPr>
                  <a:spLocks/>
                </p:cNvSpPr>
                <p:nvPr/>
              </p:nvSpPr>
              <p:spPr bwMode="auto">
                <a:xfrm>
                  <a:off x="1494" y="3455"/>
                  <a:ext cx="461" cy="33"/>
                </a:xfrm>
                <a:custGeom>
                  <a:avLst/>
                  <a:gdLst>
                    <a:gd name="T0" fmla="*/ 0 w 461"/>
                    <a:gd name="T1" fmla="*/ 32 h 33"/>
                    <a:gd name="T2" fmla="*/ 6 w 461"/>
                    <a:gd name="T3" fmla="*/ 30 h 33"/>
                    <a:gd name="T4" fmla="*/ 17 w 461"/>
                    <a:gd name="T5" fmla="*/ 30 h 33"/>
                    <a:gd name="T6" fmla="*/ 24 w 461"/>
                    <a:gd name="T7" fmla="*/ 28 h 33"/>
                    <a:gd name="T8" fmla="*/ 35 w 461"/>
                    <a:gd name="T9" fmla="*/ 30 h 33"/>
                    <a:gd name="T10" fmla="*/ 42 w 461"/>
                    <a:gd name="T11" fmla="*/ 28 h 33"/>
                    <a:gd name="T12" fmla="*/ 143 w 461"/>
                    <a:gd name="T13" fmla="*/ 30 h 33"/>
                    <a:gd name="T14" fmla="*/ 244 w 461"/>
                    <a:gd name="T15" fmla="*/ 28 h 33"/>
                    <a:gd name="T16" fmla="*/ 368 w 461"/>
                    <a:gd name="T17" fmla="*/ 18 h 33"/>
                    <a:gd name="T18" fmla="*/ 415 w 461"/>
                    <a:gd name="T19" fmla="*/ 7 h 33"/>
                    <a:gd name="T20" fmla="*/ 460 w 461"/>
                    <a:gd name="T21" fmla="*/ 0 h 3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61"/>
                    <a:gd name="T34" fmla="*/ 0 h 33"/>
                    <a:gd name="T35" fmla="*/ 461 w 461"/>
                    <a:gd name="T36" fmla="*/ 33 h 3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61" h="33">
                      <a:moveTo>
                        <a:pt x="0" y="32"/>
                      </a:moveTo>
                      <a:lnTo>
                        <a:pt x="6" y="30"/>
                      </a:lnTo>
                      <a:lnTo>
                        <a:pt x="17" y="30"/>
                      </a:lnTo>
                      <a:lnTo>
                        <a:pt x="24" y="28"/>
                      </a:lnTo>
                      <a:lnTo>
                        <a:pt x="35" y="30"/>
                      </a:lnTo>
                      <a:lnTo>
                        <a:pt x="42" y="28"/>
                      </a:lnTo>
                      <a:lnTo>
                        <a:pt x="143" y="30"/>
                      </a:lnTo>
                      <a:lnTo>
                        <a:pt x="244" y="28"/>
                      </a:lnTo>
                      <a:lnTo>
                        <a:pt x="368" y="18"/>
                      </a:lnTo>
                      <a:lnTo>
                        <a:pt x="415" y="7"/>
                      </a:lnTo>
                      <a:lnTo>
                        <a:pt x="460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76" name="Freeform 8"/>
                <p:cNvSpPr>
                  <a:spLocks/>
                </p:cNvSpPr>
                <p:nvPr/>
              </p:nvSpPr>
              <p:spPr bwMode="auto">
                <a:xfrm>
                  <a:off x="1962" y="3274"/>
                  <a:ext cx="685" cy="179"/>
                </a:xfrm>
                <a:custGeom>
                  <a:avLst/>
                  <a:gdLst>
                    <a:gd name="T0" fmla="*/ 0 w 685"/>
                    <a:gd name="T1" fmla="*/ 178 h 179"/>
                    <a:gd name="T2" fmla="*/ 204 w 685"/>
                    <a:gd name="T3" fmla="*/ 143 h 179"/>
                    <a:gd name="T4" fmla="*/ 469 w 685"/>
                    <a:gd name="T5" fmla="*/ 69 h 179"/>
                    <a:gd name="T6" fmla="*/ 684 w 685"/>
                    <a:gd name="T7" fmla="*/ 0 h 17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85"/>
                    <a:gd name="T13" fmla="*/ 0 h 179"/>
                    <a:gd name="T14" fmla="*/ 685 w 685"/>
                    <a:gd name="T15" fmla="*/ 179 h 17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85" h="179">
                      <a:moveTo>
                        <a:pt x="0" y="178"/>
                      </a:moveTo>
                      <a:lnTo>
                        <a:pt x="204" y="143"/>
                      </a:lnTo>
                      <a:lnTo>
                        <a:pt x="469" y="69"/>
                      </a:lnTo>
                      <a:lnTo>
                        <a:pt x="684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77" name="Freeform 9"/>
                <p:cNvSpPr>
                  <a:spLocks/>
                </p:cNvSpPr>
                <p:nvPr/>
              </p:nvSpPr>
              <p:spPr bwMode="auto">
                <a:xfrm>
                  <a:off x="2646" y="2959"/>
                  <a:ext cx="640" cy="316"/>
                </a:xfrm>
                <a:custGeom>
                  <a:avLst/>
                  <a:gdLst>
                    <a:gd name="T0" fmla="*/ 0 w 640"/>
                    <a:gd name="T1" fmla="*/ 315 h 316"/>
                    <a:gd name="T2" fmla="*/ 220 w 640"/>
                    <a:gd name="T3" fmla="*/ 224 h 316"/>
                    <a:gd name="T4" fmla="*/ 381 w 640"/>
                    <a:gd name="T5" fmla="*/ 146 h 316"/>
                    <a:gd name="T6" fmla="*/ 639 w 640"/>
                    <a:gd name="T7" fmla="*/ 0 h 31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0"/>
                    <a:gd name="T13" fmla="*/ 0 h 316"/>
                    <a:gd name="T14" fmla="*/ 640 w 640"/>
                    <a:gd name="T15" fmla="*/ 316 h 31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0" h="316">
                      <a:moveTo>
                        <a:pt x="0" y="315"/>
                      </a:moveTo>
                      <a:lnTo>
                        <a:pt x="220" y="224"/>
                      </a:lnTo>
                      <a:lnTo>
                        <a:pt x="381" y="146"/>
                      </a:lnTo>
                      <a:lnTo>
                        <a:pt x="639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78" name="Freeform 10"/>
                <p:cNvSpPr>
                  <a:spLocks/>
                </p:cNvSpPr>
                <p:nvPr/>
              </p:nvSpPr>
              <p:spPr bwMode="auto">
                <a:xfrm>
                  <a:off x="3285" y="2535"/>
                  <a:ext cx="539" cy="425"/>
                </a:xfrm>
                <a:custGeom>
                  <a:avLst/>
                  <a:gdLst>
                    <a:gd name="T0" fmla="*/ 0 w 539"/>
                    <a:gd name="T1" fmla="*/ 424 h 425"/>
                    <a:gd name="T2" fmla="*/ 210 w 539"/>
                    <a:gd name="T3" fmla="*/ 285 h 425"/>
                    <a:gd name="T4" fmla="*/ 333 w 539"/>
                    <a:gd name="T5" fmla="*/ 190 h 425"/>
                    <a:gd name="T6" fmla="*/ 467 w 539"/>
                    <a:gd name="T7" fmla="*/ 73 h 425"/>
                    <a:gd name="T8" fmla="*/ 538 w 539"/>
                    <a:gd name="T9" fmla="*/ 0 h 4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39"/>
                    <a:gd name="T16" fmla="*/ 0 h 425"/>
                    <a:gd name="T17" fmla="*/ 539 w 539"/>
                    <a:gd name="T18" fmla="*/ 425 h 4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39" h="425">
                      <a:moveTo>
                        <a:pt x="0" y="424"/>
                      </a:moveTo>
                      <a:lnTo>
                        <a:pt x="210" y="285"/>
                      </a:lnTo>
                      <a:lnTo>
                        <a:pt x="333" y="190"/>
                      </a:lnTo>
                      <a:lnTo>
                        <a:pt x="467" y="73"/>
                      </a:lnTo>
                      <a:lnTo>
                        <a:pt x="538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79" name="Freeform 11"/>
                <p:cNvSpPr>
                  <a:spLocks/>
                </p:cNvSpPr>
                <p:nvPr/>
              </p:nvSpPr>
              <p:spPr bwMode="auto">
                <a:xfrm>
                  <a:off x="3823" y="2292"/>
                  <a:ext cx="204" cy="244"/>
                </a:xfrm>
                <a:custGeom>
                  <a:avLst/>
                  <a:gdLst>
                    <a:gd name="T0" fmla="*/ 0 w 204"/>
                    <a:gd name="T1" fmla="*/ 243 h 244"/>
                    <a:gd name="T2" fmla="*/ 54 w 204"/>
                    <a:gd name="T3" fmla="*/ 191 h 244"/>
                    <a:gd name="T4" fmla="*/ 107 w 204"/>
                    <a:gd name="T5" fmla="*/ 130 h 244"/>
                    <a:gd name="T6" fmla="*/ 161 w 204"/>
                    <a:gd name="T7" fmla="*/ 60 h 244"/>
                    <a:gd name="T8" fmla="*/ 203 w 204"/>
                    <a:gd name="T9" fmla="*/ 0 h 2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4"/>
                    <a:gd name="T16" fmla="*/ 0 h 244"/>
                    <a:gd name="T17" fmla="*/ 204 w 204"/>
                    <a:gd name="T18" fmla="*/ 244 h 2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4" h="244">
                      <a:moveTo>
                        <a:pt x="0" y="243"/>
                      </a:moveTo>
                      <a:lnTo>
                        <a:pt x="54" y="191"/>
                      </a:lnTo>
                      <a:lnTo>
                        <a:pt x="107" y="130"/>
                      </a:lnTo>
                      <a:lnTo>
                        <a:pt x="161" y="60"/>
                      </a:lnTo>
                      <a:lnTo>
                        <a:pt x="203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468" name="Freeform 13"/>
              <p:cNvSpPr>
                <a:spLocks/>
              </p:cNvSpPr>
              <p:nvPr/>
            </p:nvSpPr>
            <p:spPr bwMode="auto">
              <a:xfrm>
                <a:off x="2190" y="2812"/>
                <a:ext cx="1561" cy="675"/>
              </a:xfrm>
              <a:custGeom>
                <a:avLst/>
                <a:gdLst>
                  <a:gd name="T0" fmla="*/ 0 w 1561"/>
                  <a:gd name="T1" fmla="*/ 674 h 675"/>
                  <a:gd name="T2" fmla="*/ 1560 w 1561"/>
                  <a:gd name="T3" fmla="*/ 0 h 675"/>
                  <a:gd name="T4" fmla="*/ 0 60000 65536"/>
                  <a:gd name="T5" fmla="*/ 0 60000 65536"/>
                  <a:gd name="T6" fmla="*/ 0 w 1561"/>
                  <a:gd name="T7" fmla="*/ 0 h 675"/>
                  <a:gd name="T8" fmla="*/ 1561 w 1561"/>
                  <a:gd name="T9" fmla="*/ 675 h 67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61" h="675">
                    <a:moveTo>
                      <a:pt x="0" y="674"/>
                    </a:moveTo>
                    <a:lnTo>
                      <a:pt x="1560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69" name="Line 14"/>
              <p:cNvSpPr>
                <a:spLocks noChangeShapeType="1"/>
              </p:cNvSpPr>
              <p:nvPr/>
            </p:nvSpPr>
            <p:spPr bwMode="auto">
              <a:xfrm>
                <a:off x="2838" y="3201"/>
                <a:ext cx="0" cy="2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0" name="Line 15"/>
              <p:cNvSpPr>
                <a:spLocks noChangeShapeType="1"/>
              </p:cNvSpPr>
              <p:nvPr/>
            </p:nvSpPr>
            <p:spPr bwMode="auto">
              <a:xfrm flipH="1">
                <a:off x="1494" y="3208"/>
                <a:ext cx="13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1" name="Rectangle 16"/>
              <p:cNvSpPr>
                <a:spLocks noChangeArrowheads="1"/>
              </p:cNvSpPr>
              <p:nvPr/>
            </p:nvSpPr>
            <p:spPr bwMode="auto">
              <a:xfrm>
                <a:off x="2732" y="3514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A</a:t>
                </a:r>
              </a:p>
            </p:txBody>
          </p:sp>
          <p:sp>
            <p:nvSpPr>
              <p:cNvPr id="19472" name="Rectangle 17"/>
              <p:cNvSpPr>
                <a:spLocks noChangeArrowheads="1"/>
              </p:cNvSpPr>
              <p:nvPr/>
            </p:nvSpPr>
            <p:spPr bwMode="auto">
              <a:xfrm>
                <a:off x="1276" y="3024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B</a:t>
                </a:r>
              </a:p>
            </p:txBody>
          </p:sp>
          <p:sp>
            <p:nvSpPr>
              <p:cNvPr id="19473" name="Rectangle 18"/>
              <p:cNvSpPr>
                <a:spLocks noChangeArrowheads="1"/>
              </p:cNvSpPr>
              <p:nvPr/>
            </p:nvSpPr>
            <p:spPr bwMode="auto">
              <a:xfrm>
                <a:off x="3616" y="2848"/>
                <a:ext cx="194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Slope = </a:t>
                </a:r>
                <a:r>
                  <a:rPr lang="en-US" altLang="en-US" sz="2400">
                    <a:latin typeface="Symbol" panose="05050102010706020507" pitchFamily="18" charset="2"/>
                  </a:rPr>
                  <a:t>D = 0.6</a:t>
                </a:r>
              </a:p>
            </p:txBody>
          </p:sp>
          <p:sp>
            <p:nvSpPr>
              <p:cNvPr id="19474" name="Rectangle 19"/>
              <p:cNvSpPr>
                <a:spLocks noChangeArrowheads="1"/>
              </p:cNvSpPr>
              <p:nvPr/>
            </p:nvSpPr>
            <p:spPr bwMode="auto">
              <a:xfrm>
                <a:off x="3292" y="3496"/>
                <a:ext cx="107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Stock price</a:t>
                </a:r>
              </a:p>
            </p:txBody>
          </p:sp>
        </p:grpSp>
      </p:grpSp>
      <p:sp>
        <p:nvSpPr>
          <p:cNvPr id="19462" name="Slide Number Placeholder 2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E575AAE-4DEA-4696-9A3A-459798125E2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95288" y="-242888"/>
            <a:ext cx="7543800" cy="1295401"/>
          </a:xfrm>
        </p:spPr>
        <p:txBody>
          <a:bodyPr/>
          <a:lstStyle/>
          <a:p>
            <a:pPr eaLnBrk="1" hangingPunct="1"/>
            <a:r>
              <a:rPr lang="en-US" altLang="en-US" smtClean="0"/>
              <a:t>Hedge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250825" y="1341438"/>
            <a:ext cx="8229600" cy="4411662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Trader would be hedged with the position:</a:t>
            </a:r>
          </a:p>
          <a:p>
            <a:pPr lvl="1" eaLnBrk="1" hangingPunct="1"/>
            <a:r>
              <a:rPr lang="en-US" altLang="en-US" sz="2400" smtClean="0">
                <a:cs typeface="Arial" panose="020B0604020202020204" pitchFamily="34" charset="0"/>
              </a:rPr>
              <a:t>short 1000 options</a:t>
            </a:r>
          </a:p>
          <a:p>
            <a:pPr lvl="1" eaLnBrk="1" hangingPunct="1"/>
            <a:r>
              <a:rPr lang="en-US" altLang="en-US" sz="2400" smtClean="0">
                <a:cs typeface="Arial" panose="020B0604020202020204" pitchFamily="34" charset="0"/>
              </a:rPr>
              <a:t>buy 600 shares</a:t>
            </a:r>
          </a:p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Gain/loss on the option position is offset by loss/gain on stock position</a:t>
            </a:r>
          </a:p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Delta changes as stock price changes and time passes</a:t>
            </a:r>
          </a:p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Hedge position must therefore be rebalanced </a:t>
            </a:r>
          </a:p>
          <a:p>
            <a:pPr eaLnBrk="1" hangingPunct="1">
              <a:buFontTx/>
              <a:buNone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BDEE270-F1C6-4F67-9271-0DCEFC1F13DA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8738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Delta Hedging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844675"/>
            <a:ext cx="7543800" cy="40973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This involves maintaining a delta neutral portfolio</a:t>
            </a:r>
          </a:p>
          <a:p>
            <a:pPr eaLnBrk="1" hangingPunct="1"/>
            <a:r>
              <a:rPr lang="en-US" altLang="en-US" sz="2800" smtClean="0"/>
              <a:t>The delta of a European call on a non-dividend-paying stock is</a:t>
            </a:r>
            <a:r>
              <a:rPr lang="en-US" altLang="en-US" sz="2800" i="1" smtClean="0"/>
              <a:t>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N </a:t>
            </a:r>
            <a:r>
              <a:rPr lang="en-US" altLang="en-US" sz="2800" smtClean="0">
                <a:latin typeface="Times New Roman" panose="02020603050405020304" pitchFamily="18" charset="0"/>
              </a:rPr>
              <a:t>(</a:t>
            </a:r>
            <a:r>
              <a:rPr lang="en-US" altLang="en-US" sz="2800" i="1" smtClean="0">
                <a:latin typeface="Times New Roman" panose="02020603050405020304" pitchFamily="18" charset="0"/>
              </a:rPr>
              <a:t>d</a:t>
            </a:r>
            <a:r>
              <a:rPr lang="en-US" altLang="en-US" sz="2800" smtClean="0">
                <a:latin typeface="Times New Roman" panose="02020603050405020304" pitchFamily="18" charset="0"/>
              </a:rPr>
              <a:t> 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1</a:t>
            </a:r>
            <a:r>
              <a:rPr lang="en-US" altLang="en-US" sz="2800" smtClean="0">
                <a:latin typeface="Times New Roman" panose="02020603050405020304" pitchFamily="18" charset="0"/>
              </a:rPr>
              <a:t>)</a:t>
            </a:r>
            <a:endParaRPr lang="en-US" altLang="en-US" sz="2800" smtClean="0"/>
          </a:p>
          <a:p>
            <a:pPr eaLnBrk="1" hangingPunct="1"/>
            <a:r>
              <a:rPr lang="en-US" altLang="en-US" sz="2800" smtClean="0"/>
              <a:t>The delta of a European put on the stock is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smtClean="0"/>
              <a:t>			</a:t>
            </a:r>
            <a:r>
              <a:rPr lang="en-US" altLang="en-US" sz="2800" smtClean="0">
                <a:latin typeface="Times New Roman" panose="02020603050405020304" pitchFamily="18" charset="0"/>
              </a:rPr>
              <a:t>[</a:t>
            </a:r>
            <a:r>
              <a:rPr lang="en-US" altLang="en-US" sz="2800" i="1" smtClean="0">
                <a:latin typeface="Times New Roman" panose="02020603050405020304" pitchFamily="18" charset="0"/>
              </a:rPr>
              <a:t>N</a:t>
            </a:r>
            <a:r>
              <a:rPr lang="en-US" altLang="en-US" sz="2800" smtClean="0">
                <a:latin typeface="Times New Roman" panose="02020603050405020304" pitchFamily="18" charset="0"/>
              </a:rPr>
              <a:t> (</a:t>
            </a:r>
            <a:r>
              <a:rPr lang="en-US" altLang="en-US" sz="2800" i="1" smtClean="0">
                <a:latin typeface="Times New Roman" panose="02020603050405020304" pitchFamily="18" charset="0"/>
              </a:rPr>
              <a:t>d</a:t>
            </a:r>
            <a:r>
              <a:rPr lang="en-US" altLang="en-US" sz="2800" smtClean="0">
                <a:latin typeface="Times New Roman" panose="02020603050405020304" pitchFamily="18" charset="0"/>
              </a:rPr>
              <a:t> 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1</a:t>
            </a:r>
            <a:r>
              <a:rPr lang="en-US" altLang="en-US" sz="2800" smtClean="0">
                <a:latin typeface="Times New Roman" panose="02020603050405020304" pitchFamily="18" charset="0"/>
              </a:rPr>
              <a:t>) – 1]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smtClean="0">
              <a:latin typeface="Times New Roman" panose="02020603050405020304" pitchFamily="18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CFF1B96-2E10-4D11-9F98-678F30C4D95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Delta of a Stock Option </a:t>
            </a:r>
            <a:r>
              <a:rPr lang="en-CA" altLang="en-US" sz="2400" smtClean="0"/>
              <a:t>(</a:t>
            </a:r>
            <a:r>
              <a:rPr lang="en-CA" altLang="en-US" sz="2400" i="1" smtClean="0"/>
              <a:t>K</a:t>
            </a:r>
            <a:r>
              <a:rPr lang="en-CA" altLang="en-US" sz="2400" smtClean="0"/>
              <a:t>=50, </a:t>
            </a:r>
            <a:r>
              <a:rPr lang="en-CA" altLang="en-US" sz="2400" i="1" smtClean="0"/>
              <a:t>r</a:t>
            </a:r>
            <a:r>
              <a:rPr lang="en-CA" altLang="en-US" sz="2400" smtClean="0"/>
              <a:t>=0, </a:t>
            </a:r>
            <a:r>
              <a:rPr lang="en-CA" altLang="en-US" sz="2400" smtClean="0">
                <a:latin typeface="Symbol" panose="05050102010706020507" pitchFamily="18" charset="2"/>
              </a:rPr>
              <a:t>s </a:t>
            </a:r>
            <a:r>
              <a:rPr lang="en-CA" altLang="en-US" sz="2400" smtClean="0"/>
              <a:t>= 25%, </a:t>
            </a:r>
            <a:r>
              <a:rPr lang="en-CA" altLang="en-US" sz="2400" i="1" smtClean="0"/>
              <a:t>T</a:t>
            </a:r>
            <a:r>
              <a:rPr lang="en-CA" altLang="en-US" sz="2400" smtClean="0"/>
              <a:t>=2, Figure 17.3, page 365)</a:t>
            </a:r>
          </a:p>
        </p:txBody>
      </p:sp>
      <p:sp>
        <p:nvSpPr>
          <p:cNvPr id="2253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F093F76-0902-4CAA-A311-6BE4E7E45A0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  <p:pic>
        <p:nvPicPr>
          <p:cNvPr id="2253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349500"/>
            <a:ext cx="3352800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788" y="2339975"/>
            <a:ext cx="3649662" cy="250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5" name="TextBox 5"/>
          <p:cNvSpPr txBox="1">
            <a:spLocks noChangeArrowheads="1"/>
          </p:cNvSpPr>
          <p:nvPr/>
        </p:nvSpPr>
        <p:spPr bwMode="auto">
          <a:xfrm>
            <a:off x="1763713" y="5373688"/>
            <a:ext cx="158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/>
              <a:t>Call</a:t>
            </a:r>
          </a:p>
        </p:txBody>
      </p:sp>
      <p:sp>
        <p:nvSpPr>
          <p:cNvPr id="22536" name="TextBox 7"/>
          <p:cNvSpPr txBox="1">
            <a:spLocks noChangeArrowheads="1"/>
          </p:cNvSpPr>
          <p:nvPr/>
        </p:nvSpPr>
        <p:spPr bwMode="auto">
          <a:xfrm>
            <a:off x="5795963" y="5373688"/>
            <a:ext cx="1152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/>
              <a:t>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250825" y="122238"/>
            <a:ext cx="7850188" cy="1295400"/>
          </a:xfrm>
        </p:spPr>
        <p:txBody>
          <a:bodyPr/>
          <a:lstStyle/>
          <a:p>
            <a:r>
              <a:rPr lang="en-CA" altLang="en-US" smtClean="0"/>
              <a:t>Variation of Delta with Time to Maturity</a:t>
            </a:r>
            <a:r>
              <a:rPr lang="en-CA" altLang="en-US" sz="2400" smtClean="0"/>
              <a:t>(</a:t>
            </a:r>
            <a:r>
              <a:rPr lang="en-CA" altLang="en-US" sz="2400" i="1" smtClean="0"/>
              <a:t>S</a:t>
            </a:r>
            <a:r>
              <a:rPr lang="en-CA" altLang="en-US" sz="2400" baseline="-25000" smtClean="0"/>
              <a:t>0</a:t>
            </a:r>
            <a:r>
              <a:rPr lang="en-CA" altLang="en-US" sz="2400" smtClean="0"/>
              <a:t>=50, </a:t>
            </a:r>
            <a:r>
              <a:rPr lang="en-CA" altLang="en-US" sz="2400" i="1" smtClean="0"/>
              <a:t>r</a:t>
            </a:r>
            <a:r>
              <a:rPr lang="en-CA" altLang="en-US" sz="2400" smtClean="0"/>
              <a:t>=0, </a:t>
            </a:r>
            <a:r>
              <a:rPr lang="en-CA" altLang="en-US" sz="2400" smtClean="0">
                <a:latin typeface="Symbol" panose="05050102010706020507" pitchFamily="18" charset="2"/>
              </a:rPr>
              <a:t>s</a:t>
            </a:r>
            <a:r>
              <a:rPr lang="en-CA" altLang="en-US" sz="2400" smtClean="0"/>
              <a:t>=25%, Figure 17.4, page 366)</a:t>
            </a:r>
          </a:p>
        </p:txBody>
      </p:sp>
      <p:sp>
        <p:nvSpPr>
          <p:cNvPr id="2355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7E29B73-65E6-4A5E-B35D-1DA0799F019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170113"/>
            <a:ext cx="7272337" cy="364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Costs in Delta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Hedging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continued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438400"/>
            <a:ext cx="7620000" cy="40036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Delta hedging a written option involves a “buy high, sell low” trading rule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A0958F3-7AB3-47DC-A3A8-FEE01877FA6A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357188" y="0"/>
            <a:ext cx="7543800" cy="1295400"/>
          </a:xfrm>
        </p:spPr>
        <p:txBody>
          <a:bodyPr/>
          <a:lstStyle/>
          <a:p>
            <a:r>
              <a:rPr lang="en-CA" altLang="en-US" smtClean="0"/>
              <a:t>First Scenario for the Example: </a:t>
            </a:r>
            <a:r>
              <a:rPr lang="en-CA" altLang="en-US" sz="2400" smtClean="0"/>
              <a:t>Table 17.2 page 366</a:t>
            </a:r>
            <a:endParaRPr lang="en-US" altLang="en-US" sz="2400" smtClean="0"/>
          </a:p>
        </p:txBody>
      </p:sp>
      <p:sp>
        <p:nvSpPr>
          <p:cNvPr id="2560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000250"/>
          <a:ext cx="8001000" cy="37512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462"/>
                <a:gridCol w="961462"/>
                <a:gridCol w="863138"/>
                <a:gridCol w="1307674"/>
                <a:gridCol w="1049764"/>
                <a:gridCol w="1643063"/>
                <a:gridCol w="1214438"/>
              </a:tblGrid>
              <a:tr h="772319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Week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Stock price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Delta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Shares purchased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Cost (‘$000)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Cumulative</a:t>
                      </a:r>
                    </a:p>
                    <a:p>
                      <a:r>
                        <a:rPr lang="en-CA" sz="1800" dirty="0" smtClean="0"/>
                        <a:t>Cost ($000)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Interest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49.00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0.522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52,200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2,557.8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2,557.8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48.12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0.458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(6,400)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(308.0)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2,252.3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47.37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0.400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(5,800)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(274.7)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1,979.8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</a:tr>
              <a:tr h="772319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.......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55.87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1.000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1,000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55.9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5,258.2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5.1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57.25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1.000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5263.3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</a:tr>
            </a:tbl>
          </a:graphicData>
        </a:graphic>
      </p:graphicFrame>
      <p:sp>
        <p:nvSpPr>
          <p:cNvPr id="256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C087E3-3CB6-4516-AC97-F9848843807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Second Scenario for the Example    </a:t>
            </a:r>
            <a:r>
              <a:rPr lang="en-CA" altLang="en-US" sz="2400" smtClean="0"/>
              <a:t>Table 17.3</a:t>
            </a:r>
            <a:r>
              <a:rPr lang="en-CA" altLang="en-US" smtClean="0"/>
              <a:t> </a:t>
            </a:r>
            <a:r>
              <a:rPr lang="en-CA" altLang="en-US" sz="2400" smtClean="0"/>
              <a:t>page 367</a:t>
            </a:r>
            <a:endParaRPr lang="en-US" altLang="en-US" smtClean="0"/>
          </a:p>
        </p:txBody>
      </p:sp>
      <p:sp>
        <p:nvSpPr>
          <p:cNvPr id="2662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000250"/>
          <a:ext cx="8001000" cy="37512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462"/>
                <a:gridCol w="961462"/>
                <a:gridCol w="863138"/>
                <a:gridCol w="1307674"/>
                <a:gridCol w="1049764"/>
                <a:gridCol w="1643063"/>
                <a:gridCol w="1214438"/>
              </a:tblGrid>
              <a:tr h="772319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Week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Stock price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Delta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Shares purchased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Cost (‘$000)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Cumulative</a:t>
                      </a:r>
                    </a:p>
                    <a:p>
                      <a:r>
                        <a:rPr lang="en-CA" sz="1800" dirty="0" smtClean="0"/>
                        <a:t>Cost ($000)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Interest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49.00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0.522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52,200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2,557.8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2,557.8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49.75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0.568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  4,600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228.9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2,789.2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2.7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52.00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0.705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13,700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712.4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3,504.3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3.4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</a:tr>
              <a:tr h="772319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.......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46.63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0.007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(17,600)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(820.7)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290.0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48.12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0.000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(700)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(33.7)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256.6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</a:tr>
            </a:tbl>
          </a:graphicData>
        </a:graphic>
      </p:graphicFrame>
      <p:sp>
        <p:nvSpPr>
          <p:cNvPr id="266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C29E37E-BCD1-487A-ABD2-4B8ACF2E75B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7391400" cy="923925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Theta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7467600" cy="3914775"/>
          </a:xfrm>
        </p:spPr>
        <p:txBody>
          <a:bodyPr lIns="92075" tIns="46038" rIns="92075" bIns="46038"/>
          <a:lstStyle/>
          <a:p>
            <a:pPr marL="365125" indent="-282575" eaLnBrk="1" hangingPunct="1">
              <a:buFont typeface="Wingdings 2" panose="05020102010507070707" pitchFamily="18" charset="2"/>
              <a:buChar char=""/>
            </a:pPr>
            <a:r>
              <a:rPr lang="en-US" altLang="en-US" sz="2800" smtClean="0">
                <a:cs typeface="Arial" panose="020B0604020202020204" pitchFamily="34" charset="0"/>
              </a:rPr>
              <a:t>Theta (</a:t>
            </a:r>
            <a:r>
              <a:rPr lang="en-US" altLang="en-US" sz="2800" smtClean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sz="2800" smtClean="0">
                <a:cs typeface="Arial" panose="020B0604020202020204" pitchFamily="34" charset="0"/>
              </a:rPr>
              <a:t>) of a derivative  (or portfolio of derivatives) is the rate of change of the value with respect to the passage of time</a:t>
            </a:r>
          </a:p>
          <a:p>
            <a:pPr marL="365125" indent="-282575" eaLnBrk="1" hangingPunct="1">
              <a:buFont typeface="Wingdings 2" panose="05020102010507070707" pitchFamily="18" charset="2"/>
              <a:buChar char=""/>
            </a:pPr>
            <a:r>
              <a:rPr lang="en-US" altLang="en-US" sz="2800" smtClean="0">
                <a:cs typeface="Arial" panose="020B0604020202020204" pitchFamily="34" charset="0"/>
              </a:rPr>
              <a:t>The theta of a call or put  is usually negative. This means that, if time passes with the price of the underlying asset and its volatility remaining the same, the value of a long call or put option declines</a:t>
            </a:r>
          </a:p>
          <a:p>
            <a:pPr marL="365125" indent="-282575" eaLnBrk="1" hangingPunct="1">
              <a:buFont typeface="Wingdings 2" panose="05020102010507070707" pitchFamily="18" charset="2"/>
              <a:buChar char=""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B0A953B-75BD-4A08-8FE0-B05D64ADD3E4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Theta for Call Option </a:t>
            </a:r>
            <a:r>
              <a:rPr lang="en-CA" altLang="en-US" sz="2400" smtClean="0"/>
              <a:t>(</a:t>
            </a:r>
            <a:r>
              <a:rPr lang="en-CA" altLang="en-US" sz="2400" i="1" smtClean="0"/>
              <a:t>K</a:t>
            </a:r>
            <a:r>
              <a:rPr lang="en-CA" altLang="en-US" sz="2400" smtClean="0"/>
              <a:t>=50,  </a:t>
            </a:r>
            <a:r>
              <a:rPr lang="en-CA" altLang="en-US" sz="2400" smtClean="0">
                <a:latin typeface="Symbol" panose="05050102010706020507" pitchFamily="18" charset="2"/>
              </a:rPr>
              <a:t>s </a:t>
            </a:r>
            <a:r>
              <a:rPr lang="en-CA" altLang="en-US" sz="2400" smtClean="0"/>
              <a:t>= 25%,     </a:t>
            </a:r>
            <a:r>
              <a:rPr lang="en-CA" altLang="en-US" sz="2400" i="1" smtClean="0"/>
              <a:t>r </a:t>
            </a:r>
            <a:r>
              <a:rPr lang="en-CA" altLang="en-US" sz="2400" smtClean="0"/>
              <a:t>= 0, </a:t>
            </a:r>
            <a:r>
              <a:rPr lang="en-CA" altLang="en-US" sz="2400" i="1" smtClean="0"/>
              <a:t>T </a:t>
            </a:r>
            <a:r>
              <a:rPr lang="en-CA" altLang="en-US" sz="2400" smtClean="0"/>
              <a:t>= 2, Figure 17.5, page 370)</a:t>
            </a:r>
            <a:endParaRPr lang="en-US" altLang="en-US" sz="2400" smtClean="0"/>
          </a:p>
        </p:txBody>
      </p:sp>
      <p:sp>
        <p:nvSpPr>
          <p:cNvPr id="2867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19D0CC-CD8C-497E-95E2-4D50EAF063B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2286000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179388" y="122238"/>
            <a:ext cx="7993062" cy="1295400"/>
          </a:xfrm>
        </p:spPr>
        <p:txBody>
          <a:bodyPr/>
          <a:lstStyle/>
          <a:p>
            <a:r>
              <a:rPr lang="en-CA" altLang="en-US" smtClean="0"/>
              <a:t>Variation of Theta with Time to Maturity </a:t>
            </a:r>
            <a:r>
              <a:rPr lang="en-CA" altLang="en-US" sz="2400" smtClean="0"/>
              <a:t>(</a:t>
            </a:r>
            <a:r>
              <a:rPr lang="en-CA" altLang="en-US" sz="2400" i="1" smtClean="0"/>
              <a:t>S</a:t>
            </a:r>
            <a:r>
              <a:rPr lang="en-CA" altLang="en-US" sz="2400" baseline="-25000" smtClean="0"/>
              <a:t>0</a:t>
            </a:r>
            <a:r>
              <a:rPr lang="en-CA" altLang="en-US" sz="2400" smtClean="0"/>
              <a:t>=50, </a:t>
            </a:r>
            <a:r>
              <a:rPr lang="en-CA" altLang="en-US" sz="2400" i="1" smtClean="0"/>
              <a:t>r</a:t>
            </a:r>
            <a:r>
              <a:rPr lang="en-CA" altLang="en-US" sz="2400" smtClean="0"/>
              <a:t>=0, </a:t>
            </a:r>
            <a:r>
              <a:rPr lang="en-CA" altLang="en-US" sz="2400" smtClean="0">
                <a:latin typeface="Symbol" panose="05050102010706020507" pitchFamily="18" charset="2"/>
              </a:rPr>
              <a:t>s</a:t>
            </a:r>
            <a:r>
              <a:rPr lang="en-CA" altLang="en-US" sz="2400" smtClean="0"/>
              <a:t>=25%, Figure 17.6, page 371)</a:t>
            </a:r>
          </a:p>
        </p:txBody>
      </p:sp>
      <p:sp>
        <p:nvSpPr>
          <p:cNvPr id="2969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3794A6C-72C0-4485-86FE-9EE6360A670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  <p:pic>
        <p:nvPicPr>
          <p:cNvPr id="2970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003425"/>
            <a:ext cx="8413750" cy="406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7162800" cy="762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Gamma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916113"/>
            <a:ext cx="7315200" cy="3352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Gamma (</a:t>
            </a:r>
            <a:r>
              <a:rPr lang="en-US" altLang="en-US" smtClean="0">
                <a:latin typeface="Symbol" panose="05050102010706020507" pitchFamily="18" charset="2"/>
                <a:cs typeface="Arial" panose="020B0604020202020204" pitchFamily="34" charset="0"/>
              </a:rPr>
              <a:t>G</a:t>
            </a:r>
            <a:r>
              <a:rPr lang="en-US" altLang="en-US" smtClean="0">
                <a:cs typeface="Arial" panose="020B0604020202020204" pitchFamily="34" charset="0"/>
              </a:rPr>
              <a:t>) is the rate of change of delta (</a:t>
            </a:r>
            <a:r>
              <a:rPr lang="en-US" altLang="en-US" smtClean="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altLang="en-US" smtClean="0">
                <a:cs typeface="Arial" panose="020B0604020202020204" pitchFamily="34" charset="0"/>
              </a:rPr>
              <a:t>) with respect to the price of the underlying asset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Gamma is greatest for options that are close to the money</a:t>
            </a: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8E2B6EA-C43F-4BBA-91CA-EDA5B127309F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95288" y="476250"/>
            <a:ext cx="7543800" cy="1295400"/>
          </a:xfrm>
        </p:spPr>
        <p:txBody>
          <a:bodyPr/>
          <a:lstStyle/>
          <a:p>
            <a:r>
              <a:rPr lang="en-CA" altLang="en-US" smtClean="0"/>
              <a:t>Gamma for Call or Put Option: (</a:t>
            </a:r>
            <a:r>
              <a:rPr lang="en-CA" altLang="en-US" sz="2400" i="1" smtClean="0"/>
              <a:t>K</a:t>
            </a:r>
            <a:r>
              <a:rPr lang="en-CA" altLang="en-US" sz="2400" smtClean="0"/>
              <a:t>=50, </a:t>
            </a:r>
            <a:r>
              <a:rPr lang="en-CA" altLang="en-US" sz="2400" smtClean="0">
                <a:latin typeface="Symbol" panose="05050102010706020507" pitchFamily="18" charset="2"/>
              </a:rPr>
              <a:t>s </a:t>
            </a:r>
            <a:r>
              <a:rPr lang="en-CA" altLang="en-US" sz="2400" smtClean="0"/>
              <a:t>= 25%, </a:t>
            </a:r>
            <a:r>
              <a:rPr lang="en-CA" altLang="en-US" sz="2400" i="1" smtClean="0"/>
              <a:t>r </a:t>
            </a:r>
            <a:r>
              <a:rPr lang="en-CA" altLang="en-US" sz="2400" smtClean="0"/>
              <a:t>= 0%, </a:t>
            </a:r>
            <a:r>
              <a:rPr lang="en-CA" altLang="en-US" sz="2400" i="1" smtClean="0"/>
              <a:t>T </a:t>
            </a:r>
            <a:r>
              <a:rPr lang="en-CA" altLang="en-US" sz="2400" smtClean="0"/>
              <a:t>= 2, Figure 17.9, page 375)</a:t>
            </a:r>
            <a:endParaRPr lang="en-US" altLang="en-US" sz="2400" smtClean="0"/>
          </a:p>
        </p:txBody>
      </p:sp>
      <p:sp>
        <p:nvSpPr>
          <p:cNvPr id="3174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2BB624-4CCB-4DE5-A04E-42A6CF7B1A5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  <p:pic>
        <p:nvPicPr>
          <p:cNvPr id="3174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065338"/>
            <a:ext cx="6240463" cy="374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07950" y="122238"/>
            <a:ext cx="8064500" cy="1295400"/>
          </a:xfrm>
        </p:spPr>
        <p:txBody>
          <a:bodyPr/>
          <a:lstStyle/>
          <a:p>
            <a:r>
              <a:rPr lang="en-CA" altLang="en-US" smtClean="0"/>
              <a:t>Variation of Gamma with Time to Maturity </a:t>
            </a:r>
            <a:r>
              <a:rPr lang="en-CA" altLang="en-US" sz="2400" smtClean="0"/>
              <a:t>(S</a:t>
            </a:r>
            <a:r>
              <a:rPr lang="en-CA" altLang="en-US" sz="2400" baseline="-25000" smtClean="0"/>
              <a:t>0</a:t>
            </a:r>
            <a:r>
              <a:rPr lang="en-CA" altLang="en-US" sz="2400" smtClean="0"/>
              <a:t>=50, </a:t>
            </a:r>
            <a:r>
              <a:rPr lang="en-CA" altLang="en-US" sz="2400" i="1" u="sng" smtClean="0"/>
              <a:t>r</a:t>
            </a:r>
            <a:r>
              <a:rPr lang="en-CA" altLang="en-US" sz="2400" smtClean="0"/>
              <a:t>=0, </a:t>
            </a:r>
            <a:r>
              <a:rPr lang="en-CA" altLang="en-US" sz="2400" smtClean="0">
                <a:latin typeface="Symbol" panose="05050102010706020507" pitchFamily="18" charset="2"/>
              </a:rPr>
              <a:t>s</a:t>
            </a:r>
            <a:r>
              <a:rPr lang="en-CA" altLang="en-US" sz="2400" smtClean="0"/>
              <a:t>=25%, Figure 17.10, page 375)</a:t>
            </a:r>
          </a:p>
        </p:txBody>
      </p:sp>
      <p:sp>
        <p:nvSpPr>
          <p:cNvPr id="3277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AC7E896-7E80-4E07-B153-ADD8575E05A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  <p:pic>
        <p:nvPicPr>
          <p:cNvPr id="3277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655763"/>
            <a:ext cx="6656387" cy="400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7532687" cy="1368425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500" smtClean="0"/>
              <a:t>Gamma Addresses Delta Hedging Errors Caused By Curvature </a:t>
            </a:r>
            <a:br>
              <a:rPr lang="en-US" altLang="en-US" sz="3500" smtClean="0"/>
            </a:br>
            <a:r>
              <a:rPr lang="en-US" altLang="en-US" sz="2200" smtClean="0"/>
              <a:t>(Figure 17.7, page 372)</a:t>
            </a:r>
            <a:r>
              <a:rPr lang="en-US" altLang="en-US" sz="3500" smtClean="0"/>
              <a:t/>
            </a:r>
            <a:br>
              <a:rPr lang="en-US" altLang="en-US" sz="3500" smtClean="0"/>
            </a:br>
            <a:endParaRPr lang="en-US" altLang="en-US" sz="3500" smtClean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209800"/>
            <a:ext cx="7772400" cy="41148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 </a:t>
            </a:r>
          </a:p>
        </p:txBody>
      </p:sp>
      <p:sp>
        <p:nvSpPr>
          <p:cNvPr id="33797" name="Line 4"/>
          <p:cNvSpPr>
            <a:spLocks noChangeShapeType="1"/>
          </p:cNvSpPr>
          <p:nvPr/>
        </p:nvSpPr>
        <p:spPr bwMode="auto">
          <a:xfrm>
            <a:off x="2295525" y="2093913"/>
            <a:ext cx="0" cy="3475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Line 5"/>
          <p:cNvSpPr>
            <a:spLocks noChangeShapeType="1"/>
          </p:cNvSpPr>
          <p:nvPr/>
        </p:nvSpPr>
        <p:spPr bwMode="auto">
          <a:xfrm>
            <a:off x="2295525" y="5568950"/>
            <a:ext cx="52276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799" name="Group 11"/>
          <p:cNvGrpSpPr>
            <a:grpSpLocks/>
          </p:cNvGrpSpPr>
          <p:nvPr/>
        </p:nvGrpSpPr>
        <p:grpSpPr bwMode="auto">
          <a:xfrm>
            <a:off x="2295525" y="2889250"/>
            <a:ext cx="4021138" cy="2671763"/>
            <a:chOff x="1446" y="1820"/>
            <a:chExt cx="2533" cy="1683"/>
          </a:xfrm>
        </p:grpSpPr>
        <p:sp>
          <p:nvSpPr>
            <p:cNvPr id="33814" name="Freeform 6"/>
            <p:cNvSpPr>
              <a:spLocks/>
            </p:cNvSpPr>
            <p:nvPr/>
          </p:nvSpPr>
          <p:spPr bwMode="auto">
            <a:xfrm>
              <a:off x="1446" y="3458"/>
              <a:ext cx="461" cy="45"/>
            </a:xfrm>
            <a:custGeom>
              <a:avLst/>
              <a:gdLst>
                <a:gd name="T0" fmla="*/ 0 w 461"/>
                <a:gd name="T1" fmla="*/ 44 h 45"/>
                <a:gd name="T2" fmla="*/ 6 w 461"/>
                <a:gd name="T3" fmla="*/ 41 h 45"/>
                <a:gd name="T4" fmla="*/ 17 w 461"/>
                <a:gd name="T5" fmla="*/ 41 h 45"/>
                <a:gd name="T6" fmla="*/ 24 w 461"/>
                <a:gd name="T7" fmla="*/ 39 h 45"/>
                <a:gd name="T8" fmla="*/ 35 w 461"/>
                <a:gd name="T9" fmla="*/ 41 h 45"/>
                <a:gd name="T10" fmla="*/ 42 w 461"/>
                <a:gd name="T11" fmla="*/ 39 h 45"/>
                <a:gd name="T12" fmla="*/ 143 w 461"/>
                <a:gd name="T13" fmla="*/ 41 h 45"/>
                <a:gd name="T14" fmla="*/ 244 w 461"/>
                <a:gd name="T15" fmla="*/ 39 h 45"/>
                <a:gd name="T16" fmla="*/ 368 w 461"/>
                <a:gd name="T17" fmla="*/ 25 h 45"/>
                <a:gd name="T18" fmla="*/ 415 w 461"/>
                <a:gd name="T19" fmla="*/ 10 h 45"/>
                <a:gd name="T20" fmla="*/ 460 w 461"/>
                <a:gd name="T21" fmla="*/ 0 h 4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61"/>
                <a:gd name="T34" fmla="*/ 0 h 45"/>
                <a:gd name="T35" fmla="*/ 461 w 461"/>
                <a:gd name="T36" fmla="*/ 45 h 4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61" h="45">
                  <a:moveTo>
                    <a:pt x="0" y="44"/>
                  </a:moveTo>
                  <a:lnTo>
                    <a:pt x="6" y="41"/>
                  </a:lnTo>
                  <a:lnTo>
                    <a:pt x="17" y="41"/>
                  </a:lnTo>
                  <a:lnTo>
                    <a:pt x="24" y="39"/>
                  </a:lnTo>
                  <a:lnTo>
                    <a:pt x="35" y="41"/>
                  </a:lnTo>
                  <a:lnTo>
                    <a:pt x="42" y="39"/>
                  </a:lnTo>
                  <a:lnTo>
                    <a:pt x="143" y="41"/>
                  </a:lnTo>
                  <a:lnTo>
                    <a:pt x="244" y="39"/>
                  </a:lnTo>
                  <a:lnTo>
                    <a:pt x="368" y="25"/>
                  </a:lnTo>
                  <a:lnTo>
                    <a:pt x="415" y="10"/>
                  </a:lnTo>
                  <a:lnTo>
                    <a:pt x="46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5" name="Freeform 7"/>
            <p:cNvSpPr>
              <a:spLocks/>
            </p:cNvSpPr>
            <p:nvPr/>
          </p:nvSpPr>
          <p:spPr bwMode="auto">
            <a:xfrm>
              <a:off x="1914" y="3203"/>
              <a:ext cx="685" cy="252"/>
            </a:xfrm>
            <a:custGeom>
              <a:avLst/>
              <a:gdLst>
                <a:gd name="T0" fmla="*/ 0 w 685"/>
                <a:gd name="T1" fmla="*/ 251 h 252"/>
                <a:gd name="T2" fmla="*/ 204 w 685"/>
                <a:gd name="T3" fmla="*/ 202 h 252"/>
                <a:gd name="T4" fmla="*/ 469 w 685"/>
                <a:gd name="T5" fmla="*/ 98 h 252"/>
                <a:gd name="T6" fmla="*/ 684 w 685"/>
                <a:gd name="T7" fmla="*/ 0 h 2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5"/>
                <a:gd name="T13" fmla="*/ 0 h 252"/>
                <a:gd name="T14" fmla="*/ 685 w 685"/>
                <a:gd name="T15" fmla="*/ 252 h 2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5" h="252">
                  <a:moveTo>
                    <a:pt x="0" y="251"/>
                  </a:moveTo>
                  <a:lnTo>
                    <a:pt x="204" y="202"/>
                  </a:lnTo>
                  <a:lnTo>
                    <a:pt x="469" y="98"/>
                  </a:lnTo>
                  <a:lnTo>
                    <a:pt x="684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6" name="Freeform 8"/>
            <p:cNvSpPr>
              <a:spLocks/>
            </p:cNvSpPr>
            <p:nvPr/>
          </p:nvSpPr>
          <p:spPr bwMode="auto">
            <a:xfrm>
              <a:off x="2598" y="2759"/>
              <a:ext cx="640" cy="445"/>
            </a:xfrm>
            <a:custGeom>
              <a:avLst/>
              <a:gdLst>
                <a:gd name="T0" fmla="*/ 0 w 640"/>
                <a:gd name="T1" fmla="*/ 444 h 445"/>
                <a:gd name="T2" fmla="*/ 220 w 640"/>
                <a:gd name="T3" fmla="*/ 316 h 445"/>
                <a:gd name="T4" fmla="*/ 381 w 640"/>
                <a:gd name="T5" fmla="*/ 206 h 445"/>
                <a:gd name="T6" fmla="*/ 639 w 640"/>
                <a:gd name="T7" fmla="*/ 0 h 4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0"/>
                <a:gd name="T13" fmla="*/ 0 h 445"/>
                <a:gd name="T14" fmla="*/ 640 w 640"/>
                <a:gd name="T15" fmla="*/ 445 h 4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0" h="445">
                  <a:moveTo>
                    <a:pt x="0" y="444"/>
                  </a:moveTo>
                  <a:lnTo>
                    <a:pt x="220" y="316"/>
                  </a:lnTo>
                  <a:lnTo>
                    <a:pt x="381" y="206"/>
                  </a:lnTo>
                  <a:lnTo>
                    <a:pt x="639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7" name="Freeform 9"/>
            <p:cNvSpPr>
              <a:spLocks/>
            </p:cNvSpPr>
            <p:nvPr/>
          </p:nvSpPr>
          <p:spPr bwMode="auto">
            <a:xfrm>
              <a:off x="3237" y="2162"/>
              <a:ext cx="539" cy="598"/>
            </a:xfrm>
            <a:custGeom>
              <a:avLst/>
              <a:gdLst>
                <a:gd name="T0" fmla="*/ 0 w 539"/>
                <a:gd name="T1" fmla="*/ 597 h 598"/>
                <a:gd name="T2" fmla="*/ 210 w 539"/>
                <a:gd name="T3" fmla="*/ 401 h 598"/>
                <a:gd name="T4" fmla="*/ 333 w 539"/>
                <a:gd name="T5" fmla="*/ 268 h 598"/>
                <a:gd name="T6" fmla="*/ 467 w 539"/>
                <a:gd name="T7" fmla="*/ 103 h 598"/>
                <a:gd name="T8" fmla="*/ 538 w 539"/>
                <a:gd name="T9" fmla="*/ 0 h 5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9"/>
                <a:gd name="T16" fmla="*/ 0 h 598"/>
                <a:gd name="T17" fmla="*/ 539 w 539"/>
                <a:gd name="T18" fmla="*/ 598 h 5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9" h="598">
                  <a:moveTo>
                    <a:pt x="0" y="597"/>
                  </a:moveTo>
                  <a:lnTo>
                    <a:pt x="210" y="401"/>
                  </a:lnTo>
                  <a:lnTo>
                    <a:pt x="333" y="268"/>
                  </a:lnTo>
                  <a:lnTo>
                    <a:pt x="467" y="103"/>
                  </a:lnTo>
                  <a:lnTo>
                    <a:pt x="538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8" name="Freeform 10"/>
            <p:cNvSpPr>
              <a:spLocks/>
            </p:cNvSpPr>
            <p:nvPr/>
          </p:nvSpPr>
          <p:spPr bwMode="auto">
            <a:xfrm>
              <a:off x="3775" y="1820"/>
              <a:ext cx="204" cy="343"/>
            </a:xfrm>
            <a:custGeom>
              <a:avLst/>
              <a:gdLst>
                <a:gd name="T0" fmla="*/ 0 w 204"/>
                <a:gd name="T1" fmla="*/ 342 h 343"/>
                <a:gd name="T2" fmla="*/ 54 w 204"/>
                <a:gd name="T3" fmla="*/ 269 h 343"/>
                <a:gd name="T4" fmla="*/ 107 w 204"/>
                <a:gd name="T5" fmla="*/ 183 h 343"/>
                <a:gd name="T6" fmla="*/ 161 w 204"/>
                <a:gd name="T7" fmla="*/ 85 h 343"/>
                <a:gd name="T8" fmla="*/ 203 w 204"/>
                <a:gd name="T9" fmla="*/ 0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"/>
                <a:gd name="T16" fmla="*/ 0 h 343"/>
                <a:gd name="T17" fmla="*/ 204 w 204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" h="343">
                  <a:moveTo>
                    <a:pt x="0" y="342"/>
                  </a:moveTo>
                  <a:lnTo>
                    <a:pt x="54" y="269"/>
                  </a:lnTo>
                  <a:lnTo>
                    <a:pt x="107" y="183"/>
                  </a:lnTo>
                  <a:lnTo>
                    <a:pt x="161" y="85"/>
                  </a:lnTo>
                  <a:lnTo>
                    <a:pt x="203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800" name="Freeform 12"/>
          <p:cNvSpPr>
            <a:spLocks/>
          </p:cNvSpPr>
          <p:nvPr/>
        </p:nvSpPr>
        <p:spPr bwMode="auto">
          <a:xfrm>
            <a:off x="3400425" y="4054475"/>
            <a:ext cx="2478088" cy="1504950"/>
          </a:xfrm>
          <a:custGeom>
            <a:avLst/>
            <a:gdLst>
              <a:gd name="T0" fmla="*/ 0 w 1561"/>
              <a:gd name="T1" fmla="*/ 2147483647 h 948"/>
              <a:gd name="T2" fmla="*/ 2147483647 w 1561"/>
              <a:gd name="T3" fmla="*/ 0 h 948"/>
              <a:gd name="T4" fmla="*/ 0 60000 65536"/>
              <a:gd name="T5" fmla="*/ 0 60000 65536"/>
              <a:gd name="T6" fmla="*/ 0 w 1561"/>
              <a:gd name="T7" fmla="*/ 0 h 948"/>
              <a:gd name="T8" fmla="*/ 1561 w 1561"/>
              <a:gd name="T9" fmla="*/ 948 h 9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61" h="948">
                <a:moveTo>
                  <a:pt x="0" y="947"/>
                </a:moveTo>
                <a:lnTo>
                  <a:pt x="156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Line 13"/>
          <p:cNvSpPr>
            <a:spLocks noChangeShapeType="1"/>
          </p:cNvSpPr>
          <p:nvPr/>
        </p:nvSpPr>
        <p:spPr bwMode="auto">
          <a:xfrm>
            <a:off x="4429125" y="4918075"/>
            <a:ext cx="0" cy="6508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Line 14"/>
          <p:cNvSpPr>
            <a:spLocks noChangeShapeType="1"/>
          </p:cNvSpPr>
          <p:nvPr/>
        </p:nvSpPr>
        <p:spPr bwMode="auto">
          <a:xfrm flipH="1">
            <a:off x="2371725" y="4965700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3" name="Rectangle 15"/>
          <p:cNvSpPr>
            <a:spLocks noChangeArrowheads="1"/>
          </p:cNvSpPr>
          <p:nvPr/>
        </p:nvSpPr>
        <p:spPr bwMode="auto">
          <a:xfrm>
            <a:off x="4184650" y="558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S</a:t>
            </a:r>
          </a:p>
        </p:txBody>
      </p:sp>
      <p:sp>
        <p:nvSpPr>
          <p:cNvPr id="33804" name="Rectangle 16"/>
          <p:cNvSpPr>
            <a:spLocks noChangeArrowheads="1"/>
          </p:cNvSpPr>
          <p:nvPr/>
        </p:nvSpPr>
        <p:spPr bwMode="auto">
          <a:xfrm>
            <a:off x="1827213" y="4875213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</a:t>
            </a:r>
          </a:p>
        </p:txBody>
      </p:sp>
      <p:sp>
        <p:nvSpPr>
          <p:cNvPr id="33805" name="Rectangle 17"/>
          <p:cNvSpPr>
            <a:spLocks noChangeArrowheads="1"/>
          </p:cNvSpPr>
          <p:nvPr/>
        </p:nvSpPr>
        <p:spPr bwMode="auto">
          <a:xfrm>
            <a:off x="6143625" y="5105400"/>
            <a:ext cx="2024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Stock price</a:t>
            </a:r>
          </a:p>
        </p:txBody>
      </p:sp>
      <p:sp>
        <p:nvSpPr>
          <p:cNvPr id="33806" name="Rectangle 18"/>
          <p:cNvSpPr>
            <a:spLocks noChangeArrowheads="1"/>
          </p:cNvSpPr>
          <p:nvPr/>
        </p:nvSpPr>
        <p:spPr bwMode="auto">
          <a:xfrm>
            <a:off x="5376863" y="5580063"/>
            <a:ext cx="500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S</a:t>
            </a:r>
            <a:r>
              <a:rPr lang="en-US" altLang="en-US" sz="2800">
                <a:cs typeface="Arial" panose="020B0604020202020204" pitchFamily="34" charset="0"/>
              </a:rPr>
              <a:t>′</a:t>
            </a:r>
          </a:p>
        </p:txBody>
      </p:sp>
      <p:sp>
        <p:nvSpPr>
          <p:cNvPr id="33807" name="Line 19"/>
          <p:cNvSpPr>
            <a:spLocks noChangeShapeType="1"/>
          </p:cNvSpPr>
          <p:nvPr/>
        </p:nvSpPr>
        <p:spPr bwMode="auto">
          <a:xfrm flipV="1">
            <a:off x="5567363" y="3968750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Line 20"/>
          <p:cNvSpPr>
            <a:spLocks noChangeShapeType="1"/>
          </p:cNvSpPr>
          <p:nvPr/>
        </p:nvSpPr>
        <p:spPr bwMode="auto">
          <a:xfrm flipH="1">
            <a:off x="2295525" y="4251325"/>
            <a:ext cx="327183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Line 21"/>
          <p:cNvSpPr>
            <a:spLocks noChangeShapeType="1"/>
          </p:cNvSpPr>
          <p:nvPr/>
        </p:nvSpPr>
        <p:spPr bwMode="auto">
          <a:xfrm flipH="1">
            <a:off x="2295525" y="3960813"/>
            <a:ext cx="32861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Rectangle 22"/>
          <p:cNvSpPr>
            <a:spLocks noChangeArrowheads="1"/>
          </p:cNvSpPr>
          <p:nvPr/>
        </p:nvSpPr>
        <p:spPr bwMode="auto">
          <a:xfrm>
            <a:off x="2425700" y="2306638"/>
            <a:ext cx="9969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Call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price</a:t>
            </a:r>
          </a:p>
        </p:txBody>
      </p:sp>
      <p:sp>
        <p:nvSpPr>
          <p:cNvPr id="33811" name="Rectangle 23"/>
          <p:cNvSpPr>
            <a:spLocks noChangeArrowheads="1"/>
          </p:cNvSpPr>
          <p:nvPr/>
        </p:nvSpPr>
        <p:spPr bwMode="auto">
          <a:xfrm>
            <a:off x="1828800" y="4114800"/>
            <a:ext cx="563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</a:t>
            </a:r>
            <a:r>
              <a:rPr lang="en-US" altLang="en-US" sz="2400">
                <a:cs typeface="Arial" panose="020B0604020202020204" pitchFamily="34" charset="0"/>
              </a:rPr>
              <a:t>′</a:t>
            </a:r>
          </a:p>
        </p:txBody>
      </p:sp>
      <p:sp>
        <p:nvSpPr>
          <p:cNvPr id="33812" name="Rectangle 24"/>
          <p:cNvSpPr>
            <a:spLocks noChangeArrowheads="1"/>
          </p:cNvSpPr>
          <p:nvPr/>
        </p:nvSpPr>
        <p:spPr bwMode="auto">
          <a:xfrm>
            <a:off x="1752600" y="3733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</a:t>
            </a:r>
            <a:r>
              <a:rPr lang="en-US" altLang="en-US" sz="2400">
                <a:cs typeface="Arial" panose="020B0604020202020204" pitchFamily="34" charset="0"/>
              </a:rPr>
              <a:t>′′</a:t>
            </a:r>
          </a:p>
        </p:txBody>
      </p:sp>
      <p:sp>
        <p:nvSpPr>
          <p:cNvPr id="33813" name="Slide Number Placeholder 2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F0A76D7-1953-408A-AE69-BA9AD0A5CE8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Interpretation  of Gamma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052513"/>
            <a:ext cx="7772400" cy="1023937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800" dirty="0" smtClean="0"/>
              <a:t>For a delta neutral portfolio,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Symbol" pitchFamily="18" charset="2"/>
              </a:rPr>
              <a:t>			DP</a:t>
            </a:r>
            <a:r>
              <a:rPr lang="en-US" sz="2800" dirty="0" smtClean="0"/>
              <a:t> </a:t>
            </a:r>
            <a:r>
              <a:rPr lang="en-US" sz="2800" dirty="0" smtClean="0">
                <a:latin typeface="Symbol" pitchFamily="18" charset="2"/>
              </a:rPr>
              <a:t>»</a:t>
            </a:r>
            <a:r>
              <a:rPr lang="en-US" sz="2800" dirty="0" smtClean="0"/>
              <a:t> </a:t>
            </a:r>
            <a:r>
              <a:rPr lang="en-US" sz="2800" dirty="0" smtClean="0">
                <a:latin typeface="Symbol" pitchFamily="18" charset="2"/>
              </a:rPr>
              <a:t>Q</a:t>
            </a:r>
            <a:r>
              <a:rPr lang="en-US" sz="2800" dirty="0" smtClean="0"/>
              <a:t> </a:t>
            </a:r>
            <a:r>
              <a:rPr lang="en-US" sz="2800" dirty="0" err="1" smtClean="0">
                <a:latin typeface="Symbol" pitchFamily="18" charset="2"/>
              </a:rPr>
              <a:t>D</a:t>
            </a:r>
            <a:r>
              <a:rPr lang="en-US" sz="2800" i="1" dirty="0" err="1" smtClean="0">
                <a:latin typeface="+mj-lt"/>
              </a:rPr>
              <a:t>t</a:t>
            </a:r>
            <a:r>
              <a:rPr lang="en-US" sz="2800" dirty="0" smtClean="0"/>
              <a:t>  + ½</a:t>
            </a:r>
            <a:r>
              <a:rPr lang="en-US" sz="2800" dirty="0" smtClean="0">
                <a:latin typeface="Symbol" pitchFamily="18" charset="2"/>
              </a:rPr>
              <a:t>GD</a:t>
            </a:r>
            <a:r>
              <a:rPr lang="en-US" sz="2800" i="1" dirty="0" smtClean="0">
                <a:latin typeface="+mj-lt"/>
              </a:rPr>
              <a:t>S</a:t>
            </a:r>
            <a:r>
              <a:rPr lang="en-US" sz="2800" dirty="0" smtClean="0">
                <a:latin typeface="+mj-lt"/>
              </a:rPr>
              <a:t> 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  </a:t>
            </a:r>
          </a:p>
        </p:txBody>
      </p:sp>
      <p:grpSp>
        <p:nvGrpSpPr>
          <p:cNvPr id="34821" name="Group 1"/>
          <p:cNvGrpSpPr>
            <a:grpSpLocks/>
          </p:cNvGrpSpPr>
          <p:nvPr/>
        </p:nvGrpSpPr>
        <p:grpSpPr bwMode="auto">
          <a:xfrm>
            <a:off x="1052513" y="2219325"/>
            <a:ext cx="7278687" cy="3763963"/>
            <a:chOff x="1028700" y="2484438"/>
            <a:chExt cx="7278688" cy="3763962"/>
          </a:xfrm>
        </p:grpSpPr>
        <p:grpSp>
          <p:nvGrpSpPr>
            <p:cNvPr id="34823" name="Group 9"/>
            <p:cNvGrpSpPr>
              <a:grpSpLocks/>
            </p:cNvGrpSpPr>
            <p:nvPr/>
          </p:nvGrpSpPr>
          <p:grpSpPr bwMode="auto">
            <a:xfrm>
              <a:off x="5184775" y="3730625"/>
              <a:ext cx="2414588" cy="827088"/>
              <a:chOff x="3266" y="2350"/>
              <a:chExt cx="1521" cy="521"/>
            </a:xfrm>
          </p:grpSpPr>
          <p:sp>
            <p:nvSpPr>
              <p:cNvPr id="34843" name="Freeform 4"/>
              <p:cNvSpPr>
                <a:spLocks/>
              </p:cNvSpPr>
              <p:nvPr/>
            </p:nvSpPr>
            <p:spPr bwMode="auto">
              <a:xfrm>
                <a:off x="3266" y="2583"/>
                <a:ext cx="221" cy="284"/>
              </a:xfrm>
              <a:custGeom>
                <a:avLst/>
                <a:gdLst>
                  <a:gd name="T0" fmla="*/ 0 w 221"/>
                  <a:gd name="T1" fmla="*/ 283 h 284"/>
                  <a:gd name="T2" fmla="*/ 4 w 221"/>
                  <a:gd name="T3" fmla="*/ 283 h 284"/>
                  <a:gd name="T4" fmla="*/ 9 w 221"/>
                  <a:gd name="T5" fmla="*/ 275 h 284"/>
                  <a:gd name="T6" fmla="*/ 13 w 221"/>
                  <a:gd name="T7" fmla="*/ 271 h 284"/>
                  <a:gd name="T8" fmla="*/ 18 w 221"/>
                  <a:gd name="T9" fmla="*/ 262 h 284"/>
                  <a:gd name="T10" fmla="*/ 22 w 221"/>
                  <a:gd name="T11" fmla="*/ 258 h 284"/>
                  <a:gd name="T12" fmla="*/ 66 w 221"/>
                  <a:gd name="T13" fmla="*/ 185 h 284"/>
                  <a:gd name="T14" fmla="*/ 113 w 221"/>
                  <a:gd name="T15" fmla="*/ 115 h 284"/>
                  <a:gd name="T16" fmla="*/ 173 w 221"/>
                  <a:gd name="T17" fmla="*/ 41 h 284"/>
                  <a:gd name="T18" fmla="*/ 198 w 221"/>
                  <a:gd name="T19" fmla="*/ 25 h 284"/>
                  <a:gd name="T20" fmla="*/ 220 w 221"/>
                  <a:gd name="T21" fmla="*/ 0 h 28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1"/>
                  <a:gd name="T34" fmla="*/ 0 h 284"/>
                  <a:gd name="T35" fmla="*/ 221 w 221"/>
                  <a:gd name="T36" fmla="*/ 284 h 28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1" h="284">
                    <a:moveTo>
                      <a:pt x="0" y="283"/>
                    </a:moveTo>
                    <a:lnTo>
                      <a:pt x="4" y="283"/>
                    </a:lnTo>
                    <a:lnTo>
                      <a:pt x="9" y="275"/>
                    </a:lnTo>
                    <a:lnTo>
                      <a:pt x="13" y="271"/>
                    </a:lnTo>
                    <a:lnTo>
                      <a:pt x="18" y="262"/>
                    </a:lnTo>
                    <a:lnTo>
                      <a:pt x="22" y="258"/>
                    </a:lnTo>
                    <a:lnTo>
                      <a:pt x="66" y="185"/>
                    </a:lnTo>
                    <a:lnTo>
                      <a:pt x="113" y="115"/>
                    </a:lnTo>
                    <a:lnTo>
                      <a:pt x="173" y="41"/>
                    </a:lnTo>
                    <a:lnTo>
                      <a:pt x="198" y="25"/>
                    </a:lnTo>
                    <a:lnTo>
                      <a:pt x="220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44" name="Freeform 5"/>
              <p:cNvSpPr>
                <a:spLocks/>
              </p:cNvSpPr>
              <p:nvPr/>
            </p:nvSpPr>
            <p:spPr bwMode="auto">
              <a:xfrm>
                <a:off x="3490" y="2366"/>
                <a:ext cx="369" cy="218"/>
              </a:xfrm>
              <a:custGeom>
                <a:avLst/>
                <a:gdLst>
                  <a:gd name="T0" fmla="*/ 0 w 369"/>
                  <a:gd name="T1" fmla="*/ 217 h 218"/>
                  <a:gd name="T2" fmla="*/ 104 w 369"/>
                  <a:gd name="T3" fmla="*/ 123 h 218"/>
                  <a:gd name="T4" fmla="*/ 249 w 369"/>
                  <a:gd name="T5" fmla="*/ 45 h 218"/>
                  <a:gd name="T6" fmla="*/ 368 w 369"/>
                  <a:gd name="T7" fmla="*/ 0 h 2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9"/>
                  <a:gd name="T13" fmla="*/ 0 h 218"/>
                  <a:gd name="T14" fmla="*/ 369 w 369"/>
                  <a:gd name="T15" fmla="*/ 218 h 2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9" h="218">
                    <a:moveTo>
                      <a:pt x="0" y="217"/>
                    </a:moveTo>
                    <a:lnTo>
                      <a:pt x="104" y="123"/>
                    </a:lnTo>
                    <a:lnTo>
                      <a:pt x="249" y="45"/>
                    </a:lnTo>
                    <a:lnTo>
                      <a:pt x="368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45" name="Freeform 6"/>
              <p:cNvSpPr>
                <a:spLocks/>
              </p:cNvSpPr>
              <p:nvPr/>
            </p:nvSpPr>
            <p:spPr bwMode="auto">
              <a:xfrm>
                <a:off x="3858" y="2350"/>
                <a:ext cx="389" cy="36"/>
              </a:xfrm>
              <a:custGeom>
                <a:avLst/>
                <a:gdLst>
                  <a:gd name="T0" fmla="*/ 0 w 389"/>
                  <a:gd name="T1" fmla="*/ 16 h 36"/>
                  <a:gd name="T2" fmla="*/ 129 w 389"/>
                  <a:gd name="T3" fmla="*/ 0 h 36"/>
                  <a:gd name="T4" fmla="*/ 226 w 389"/>
                  <a:gd name="T5" fmla="*/ 0 h 36"/>
                  <a:gd name="T6" fmla="*/ 388 w 389"/>
                  <a:gd name="T7" fmla="*/ 35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9"/>
                  <a:gd name="T13" fmla="*/ 0 h 36"/>
                  <a:gd name="T14" fmla="*/ 389 w 389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9" h="36">
                    <a:moveTo>
                      <a:pt x="0" y="16"/>
                    </a:moveTo>
                    <a:lnTo>
                      <a:pt x="129" y="0"/>
                    </a:lnTo>
                    <a:lnTo>
                      <a:pt x="226" y="0"/>
                    </a:lnTo>
                    <a:lnTo>
                      <a:pt x="388" y="35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46" name="Freeform 7"/>
              <p:cNvSpPr>
                <a:spLocks/>
              </p:cNvSpPr>
              <p:nvPr/>
            </p:nvSpPr>
            <p:spPr bwMode="auto">
              <a:xfrm>
                <a:off x="4246" y="2385"/>
                <a:ext cx="375" cy="262"/>
              </a:xfrm>
              <a:custGeom>
                <a:avLst/>
                <a:gdLst>
                  <a:gd name="T0" fmla="*/ 0 w 375"/>
                  <a:gd name="T1" fmla="*/ 0 h 262"/>
                  <a:gd name="T2" fmla="*/ 138 w 375"/>
                  <a:gd name="T3" fmla="*/ 62 h 262"/>
                  <a:gd name="T4" fmla="*/ 223 w 375"/>
                  <a:gd name="T5" fmla="*/ 116 h 262"/>
                  <a:gd name="T6" fmla="*/ 321 w 375"/>
                  <a:gd name="T7" fmla="*/ 203 h 262"/>
                  <a:gd name="T8" fmla="*/ 374 w 375"/>
                  <a:gd name="T9" fmla="*/ 261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5"/>
                  <a:gd name="T16" fmla="*/ 0 h 262"/>
                  <a:gd name="T17" fmla="*/ 375 w 375"/>
                  <a:gd name="T18" fmla="*/ 262 h 2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5" h="262">
                    <a:moveTo>
                      <a:pt x="0" y="0"/>
                    </a:moveTo>
                    <a:lnTo>
                      <a:pt x="138" y="62"/>
                    </a:lnTo>
                    <a:lnTo>
                      <a:pt x="223" y="116"/>
                    </a:lnTo>
                    <a:lnTo>
                      <a:pt x="321" y="203"/>
                    </a:lnTo>
                    <a:lnTo>
                      <a:pt x="374" y="261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47" name="Freeform 8"/>
              <p:cNvSpPr>
                <a:spLocks/>
              </p:cNvSpPr>
              <p:nvPr/>
            </p:nvSpPr>
            <p:spPr bwMode="auto">
              <a:xfrm>
                <a:off x="4620" y="2646"/>
                <a:ext cx="167" cy="225"/>
              </a:xfrm>
              <a:custGeom>
                <a:avLst/>
                <a:gdLst>
                  <a:gd name="T0" fmla="*/ 0 w 167"/>
                  <a:gd name="T1" fmla="*/ 0 h 225"/>
                  <a:gd name="T2" fmla="*/ 40 w 167"/>
                  <a:gd name="T3" fmla="*/ 41 h 225"/>
                  <a:gd name="T4" fmla="*/ 83 w 167"/>
                  <a:gd name="T5" fmla="*/ 98 h 225"/>
                  <a:gd name="T6" fmla="*/ 128 w 167"/>
                  <a:gd name="T7" fmla="*/ 163 h 225"/>
                  <a:gd name="T8" fmla="*/ 166 w 167"/>
                  <a:gd name="T9" fmla="*/ 224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7"/>
                  <a:gd name="T16" fmla="*/ 0 h 225"/>
                  <a:gd name="T17" fmla="*/ 167 w 167"/>
                  <a:gd name="T18" fmla="*/ 225 h 2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7" h="225">
                    <a:moveTo>
                      <a:pt x="0" y="0"/>
                    </a:moveTo>
                    <a:lnTo>
                      <a:pt x="40" y="41"/>
                    </a:lnTo>
                    <a:lnTo>
                      <a:pt x="83" y="98"/>
                    </a:lnTo>
                    <a:lnTo>
                      <a:pt x="128" y="163"/>
                    </a:lnTo>
                    <a:lnTo>
                      <a:pt x="166" y="224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824" name="Group 12"/>
            <p:cNvGrpSpPr>
              <a:grpSpLocks/>
            </p:cNvGrpSpPr>
            <p:nvPr/>
          </p:nvGrpSpPr>
          <p:grpSpPr bwMode="auto">
            <a:xfrm>
              <a:off x="4914900" y="2514600"/>
              <a:ext cx="3200400" cy="3200400"/>
              <a:chOff x="3096" y="1584"/>
              <a:chExt cx="2016" cy="2016"/>
            </a:xfrm>
          </p:grpSpPr>
          <p:sp>
            <p:nvSpPr>
              <p:cNvPr id="34841" name="Line 10"/>
              <p:cNvSpPr>
                <a:spLocks noChangeShapeType="1"/>
              </p:cNvSpPr>
              <p:nvPr/>
            </p:nvSpPr>
            <p:spPr bwMode="auto">
              <a:xfrm>
                <a:off x="3096" y="2592"/>
                <a:ext cx="2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2" name="Line 11"/>
              <p:cNvSpPr>
                <a:spLocks noChangeShapeType="1"/>
              </p:cNvSpPr>
              <p:nvPr/>
            </p:nvSpPr>
            <p:spPr bwMode="auto">
              <a:xfrm flipV="1">
                <a:off x="4008" y="1584"/>
                <a:ext cx="0" cy="20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825" name="Rectangle 13"/>
            <p:cNvSpPr>
              <a:spLocks noChangeArrowheads="1"/>
            </p:cNvSpPr>
            <p:nvPr/>
          </p:nvSpPr>
          <p:spPr bwMode="auto">
            <a:xfrm>
              <a:off x="6346825" y="2484438"/>
              <a:ext cx="744538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en-US">
                  <a:latin typeface="Symbol" panose="05050102010706020507" pitchFamily="18" charset="2"/>
                </a:rPr>
                <a:t>DP</a:t>
              </a:r>
            </a:p>
          </p:txBody>
        </p:sp>
        <p:sp>
          <p:nvSpPr>
            <p:cNvPr id="34826" name="Rectangle 14"/>
            <p:cNvSpPr>
              <a:spLocks noChangeArrowheads="1"/>
            </p:cNvSpPr>
            <p:nvPr/>
          </p:nvSpPr>
          <p:spPr bwMode="auto">
            <a:xfrm>
              <a:off x="7261225" y="3551238"/>
              <a:ext cx="7493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en-US">
                  <a:latin typeface="Symbol" panose="05050102010706020507" pitchFamily="18" charset="2"/>
                </a:rPr>
                <a:t>D</a:t>
              </a: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i="1"/>
                <a:t> </a:t>
              </a:r>
            </a:p>
          </p:txBody>
        </p:sp>
        <p:sp>
          <p:nvSpPr>
            <p:cNvPr id="34827" name="Rectangle 15"/>
            <p:cNvSpPr>
              <a:spLocks noChangeArrowheads="1"/>
            </p:cNvSpPr>
            <p:nvPr/>
          </p:nvSpPr>
          <p:spPr bwMode="auto">
            <a:xfrm>
              <a:off x="5356225" y="5729288"/>
              <a:ext cx="295116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Negative Gamma</a:t>
              </a:r>
            </a:p>
          </p:txBody>
        </p:sp>
        <p:grpSp>
          <p:nvGrpSpPr>
            <p:cNvPr id="34828" name="Group 25"/>
            <p:cNvGrpSpPr>
              <a:grpSpLocks/>
            </p:cNvGrpSpPr>
            <p:nvPr/>
          </p:nvGrpSpPr>
          <p:grpSpPr bwMode="auto">
            <a:xfrm>
              <a:off x="1028700" y="2514600"/>
              <a:ext cx="3200400" cy="3200400"/>
              <a:chOff x="648" y="1584"/>
              <a:chExt cx="2016" cy="2016"/>
            </a:xfrm>
          </p:grpSpPr>
          <p:grpSp>
            <p:nvGrpSpPr>
              <p:cNvPr id="34832" name="Group 21"/>
              <p:cNvGrpSpPr>
                <a:grpSpLocks/>
              </p:cNvGrpSpPr>
              <p:nvPr/>
            </p:nvGrpSpPr>
            <p:grpSpPr bwMode="auto">
              <a:xfrm>
                <a:off x="818" y="2350"/>
                <a:ext cx="1521" cy="521"/>
                <a:chOff x="818" y="2350"/>
                <a:chExt cx="1521" cy="521"/>
              </a:xfrm>
            </p:grpSpPr>
            <p:sp>
              <p:nvSpPr>
                <p:cNvPr id="34836" name="Freeform 16"/>
                <p:cNvSpPr>
                  <a:spLocks/>
                </p:cNvSpPr>
                <p:nvPr/>
              </p:nvSpPr>
              <p:spPr bwMode="auto">
                <a:xfrm>
                  <a:off x="818" y="2354"/>
                  <a:ext cx="221" cy="284"/>
                </a:xfrm>
                <a:custGeom>
                  <a:avLst/>
                  <a:gdLst>
                    <a:gd name="T0" fmla="*/ 0 w 221"/>
                    <a:gd name="T1" fmla="*/ 0 h 284"/>
                    <a:gd name="T2" fmla="*/ 4 w 221"/>
                    <a:gd name="T3" fmla="*/ 0 h 284"/>
                    <a:gd name="T4" fmla="*/ 9 w 221"/>
                    <a:gd name="T5" fmla="*/ 8 h 284"/>
                    <a:gd name="T6" fmla="*/ 13 w 221"/>
                    <a:gd name="T7" fmla="*/ 12 h 284"/>
                    <a:gd name="T8" fmla="*/ 18 w 221"/>
                    <a:gd name="T9" fmla="*/ 21 h 284"/>
                    <a:gd name="T10" fmla="*/ 22 w 221"/>
                    <a:gd name="T11" fmla="*/ 25 h 284"/>
                    <a:gd name="T12" fmla="*/ 66 w 221"/>
                    <a:gd name="T13" fmla="*/ 98 h 284"/>
                    <a:gd name="T14" fmla="*/ 113 w 221"/>
                    <a:gd name="T15" fmla="*/ 168 h 284"/>
                    <a:gd name="T16" fmla="*/ 173 w 221"/>
                    <a:gd name="T17" fmla="*/ 242 h 284"/>
                    <a:gd name="T18" fmla="*/ 198 w 221"/>
                    <a:gd name="T19" fmla="*/ 258 h 284"/>
                    <a:gd name="T20" fmla="*/ 220 w 221"/>
                    <a:gd name="T21" fmla="*/ 283 h 28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21"/>
                    <a:gd name="T34" fmla="*/ 0 h 284"/>
                    <a:gd name="T35" fmla="*/ 221 w 221"/>
                    <a:gd name="T36" fmla="*/ 284 h 284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21" h="28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9" y="8"/>
                      </a:lnTo>
                      <a:lnTo>
                        <a:pt x="13" y="12"/>
                      </a:lnTo>
                      <a:lnTo>
                        <a:pt x="18" y="21"/>
                      </a:lnTo>
                      <a:lnTo>
                        <a:pt x="22" y="25"/>
                      </a:lnTo>
                      <a:lnTo>
                        <a:pt x="66" y="98"/>
                      </a:lnTo>
                      <a:lnTo>
                        <a:pt x="113" y="168"/>
                      </a:lnTo>
                      <a:lnTo>
                        <a:pt x="173" y="242"/>
                      </a:lnTo>
                      <a:lnTo>
                        <a:pt x="198" y="258"/>
                      </a:lnTo>
                      <a:lnTo>
                        <a:pt x="220" y="283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37" name="Freeform 17"/>
                <p:cNvSpPr>
                  <a:spLocks/>
                </p:cNvSpPr>
                <p:nvPr/>
              </p:nvSpPr>
              <p:spPr bwMode="auto">
                <a:xfrm>
                  <a:off x="1042" y="2637"/>
                  <a:ext cx="369" cy="218"/>
                </a:xfrm>
                <a:custGeom>
                  <a:avLst/>
                  <a:gdLst>
                    <a:gd name="T0" fmla="*/ 0 w 369"/>
                    <a:gd name="T1" fmla="*/ 0 h 218"/>
                    <a:gd name="T2" fmla="*/ 104 w 369"/>
                    <a:gd name="T3" fmla="*/ 94 h 218"/>
                    <a:gd name="T4" fmla="*/ 249 w 369"/>
                    <a:gd name="T5" fmla="*/ 172 h 218"/>
                    <a:gd name="T6" fmla="*/ 368 w 369"/>
                    <a:gd name="T7" fmla="*/ 217 h 2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9"/>
                    <a:gd name="T13" fmla="*/ 0 h 218"/>
                    <a:gd name="T14" fmla="*/ 369 w 369"/>
                    <a:gd name="T15" fmla="*/ 218 h 2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9" h="218">
                      <a:moveTo>
                        <a:pt x="0" y="0"/>
                      </a:moveTo>
                      <a:lnTo>
                        <a:pt x="104" y="94"/>
                      </a:lnTo>
                      <a:lnTo>
                        <a:pt x="249" y="172"/>
                      </a:lnTo>
                      <a:lnTo>
                        <a:pt x="368" y="217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38" name="Freeform 18"/>
                <p:cNvSpPr>
                  <a:spLocks/>
                </p:cNvSpPr>
                <p:nvPr/>
              </p:nvSpPr>
              <p:spPr bwMode="auto">
                <a:xfrm>
                  <a:off x="1410" y="2835"/>
                  <a:ext cx="389" cy="36"/>
                </a:xfrm>
                <a:custGeom>
                  <a:avLst/>
                  <a:gdLst>
                    <a:gd name="T0" fmla="*/ 0 w 389"/>
                    <a:gd name="T1" fmla="*/ 19 h 36"/>
                    <a:gd name="T2" fmla="*/ 129 w 389"/>
                    <a:gd name="T3" fmla="*/ 35 h 36"/>
                    <a:gd name="T4" fmla="*/ 226 w 389"/>
                    <a:gd name="T5" fmla="*/ 35 h 36"/>
                    <a:gd name="T6" fmla="*/ 388 w 389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9"/>
                    <a:gd name="T13" fmla="*/ 0 h 36"/>
                    <a:gd name="T14" fmla="*/ 389 w 389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9" h="36">
                      <a:moveTo>
                        <a:pt x="0" y="19"/>
                      </a:moveTo>
                      <a:lnTo>
                        <a:pt x="129" y="35"/>
                      </a:lnTo>
                      <a:lnTo>
                        <a:pt x="226" y="35"/>
                      </a:lnTo>
                      <a:lnTo>
                        <a:pt x="388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39" name="Freeform 19"/>
                <p:cNvSpPr>
                  <a:spLocks/>
                </p:cNvSpPr>
                <p:nvPr/>
              </p:nvSpPr>
              <p:spPr bwMode="auto">
                <a:xfrm>
                  <a:off x="1798" y="2574"/>
                  <a:ext cx="375" cy="262"/>
                </a:xfrm>
                <a:custGeom>
                  <a:avLst/>
                  <a:gdLst>
                    <a:gd name="T0" fmla="*/ 0 w 375"/>
                    <a:gd name="T1" fmla="*/ 261 h 262"/>
                    <a:gd name="T2" fmla="*/ 138 w 375"/>
                    <a:gd name="T3" fmla="*/ 199 h 262"/>
                    <a:gd name="T4" fmla="*/ 223 w 375"/>
                    <a:gd name="T5" fmla="*/ 145 h 262"/>
                    <a:gd name="T6" fmla="*/ 321 w 375"/>
                    <a:gd name="T7" fmla="*/ 58 h 262"/>
                    <a:gd name="T8" fmla="*/ 374 w 375"/>
                    <a:gd name="T9" fmla="*/ 0 h 2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75"/>
                    <a:gd name="T16" fmla="*/ 0 h 262"/>
                    <a:gd name="T17" fmla="*/ 375 w 375"/>
                    <a:gd name="T18" fmla="*/ 262 h 26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75" h="262">
                      <a:moveTo>
                        <a:pt x="0" y="261"/>
                      </a:moveTo>
                      <a:lnTo>
                        <a:pt x="138" y="199"/>
                      </a:lnTo>
                      <a:lnTo>
                        <a:pt x="223" y="145"/>
                      </a:lnTo>
                      <a:lnTo>
                        <a:pt x="321" y="58"/>
                      </a:lnTo>
                      <a:lnTo>
                        <a:pt x="374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40" name="Freeform 20"/>
                <p:cNvSpPr>
                  <a:spLocks/>
                </p:cNvSpPr>
                <p:nvPr/>
              </p:nvSpPr>
              <p:spPr bwMode="auto">
                <a:xfrm>
                  <a:off x="2172" y="2350"/>
                  <a:ext cx="167" cy="225"/>
                </a:xfrm>
                <a:custGeom>
                  <a:avLst/>
                  <a:gdLst>
                    <a:gd name="T0" fmla="*/ 0 w 167"/>
                    <a:gd name="T1" fmla="*/ 224 h 225"/>
                    <a:gd name="T2" fmla="*/ 40 w 167"/>
                    <a:gd name="T3" fmla="*/ 183 h 225"/>
                    <a:gd name="T4" fmla="*/ 83 w 167"/>
                    <a:gd name="T5" fmla="*/ 126 h 225"/>
                    <a:gd name="T6" fmla="*/ 128 w 167"/>
                    <a:gd name="T7" fmla="*/ 61 h 225"/>
                    <a:gd name="T8" fmla="*/ 166 w 167"/>
                    <a:gd name="T9" fmla="*/ 0 h 2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7"/>
                    <a:gd name="T16" fmla="*/ 0 h 225"/>
                    <a:gd name="T17" fmla="*/ 167 w 167"/>
                    <a:gd name="T18" fmla="*/ 225 h 2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7" h="225">
                      <a:moveTo>
                        <a:pt x="0" y="224"/>
                      </a:moveTo>
                      <a:lnTo>
                        <a:pt x="40" y="183"/>
                      </a:lnTo>
                      <a:lnTo>
                        <a:pt x="83" y="126"/>
                      </a:lnTo>
                      <a:lnTo>
                        <a:pt x="128" y="61"/>
                      </a:lnTo>
                      <a:lnTo>
                        <a:pt x="166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4833" name="Group 24"/>
              <p:cNvGrpSpPr>
                <a:grpSpLocks/>
              </p:cNvGrpSpPr>
              <p:nvPr/>
            </p:nvGrpSpPr>
            <p:grpSpPr bwMode="auto">
              <a:xfrm>
                <a:off x="648" y="1584"/>
                <a:ext cx="2016" cy="2016"/>
                <a:chOff x="648" y="1584"/>
                <a:chExt cx="2016" cy="2016"/>
              </a:xfrm>
            </p:grpSpPr>
            <p:sp>
              <p:nvSpPr>
                <p:cNvPr id="34834" name="Line 22"/>
                <p:cNvSpPr>
                  <a:spLocks noChangeShapeType="1"/>
                </p:cNvSpPr>
                <p:nvPr/>
              </p:nvSpPr>
              <p:spPr bwMode="auto">
                <a:xfrm>
                  <a:off x="648" y="2592"/>
                  <a:ext cx="20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35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1560" y="1584"/>
                  <a:ext cx="0" cy="201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4829" name="Rectangle 26"/>
            <p:cNvSpPr>
              <a:spLocks noChangeArrowheads="1"/>
            </p:cNvSpPr>
            <p:nvPr/>
          </p:nvSpPr>
          <p:spPr bwMode="auto">
            <a:xfrm>
              <a:off x="2460625" y="2484438"/>
              <a:ext cx="744538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en-US">
                  <a:latin typeface="Symbol" panose="05050102010706020507" pitchFamily="18" charset="2"/>
                </a:rPr>
                <a:t>DP</a:t>
              </a:r>
            </a:p>
          </p:txBody>
        </p:sp>
        <p:sp>
          <p:nvSpPr>
            <p:cNvPr id="34830" name="Rectangle 27"/>
            <p:cNvSpPr>
              <a:spLocks noChangeArrowheads="1"/>
            </p:cNvSpPr>
            <p:nvPr/>
          </p:nvSpPr>
          <p:spPr bwMode="auto">
            <a:xfrm>
              <a:off x="3375025" y="4160838"/>
              <a:ext cx="7493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en-US">
                  <a:latin typeface="Symbol" panose="05050102010706020507" pitchFamily="18" charset="2"/>
                </a:rPr>
                <a:t>D</a:t>
              </a: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i="1"/>
                <a:t> </a:t>
              </a:r>
            </a:p>
          </p:txBody>
        </p:sp>
        <p:sp>
          <p:nvSpPr>
            <p:cNvPr id="34831" name="Rectangle 28"/>
            <p:cNvSpPr>
              <a:spLocks noChangeArrowheads="1"/>
            </p:cNvSpPr>
            <p:nvPr/>
          </p:nvSpPr>
          <p:spPr bwMode="auto">
            <a:xfrm>
              <a:off x="1393826" y="5715000"/>
              <a:ext cx="298291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Positive Gamma</a:t>
              </a:r>
            </a:p>
          </p:txBody>
        </p:sp>
      </p:grpSp>
      <p:sp>
        <p:nvSpPr>
          <p:cNvPr id="34822" name="Slide Number Placeholder 3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FCA72A-48CF-4588-96E6-E32EA43EEA7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Relationship  Between Delta, Gamma, and Theta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914400" y="2438400"/>
            <a:ext cx="7315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For a portfolio of derivatives on a non-dividend-paying stock paying </a:t>
            </a:r>
            <a:endParaRPr lang="en-US" altLang="en-US" i="1">
              <a:latin typeface="Times New Roman" panose="02020603050405020304" pitchFamily="18" charset="0"/>
            </a:endParaRP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1643063" y="3857625"/>
          <a:ext cx="501491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Equation" r:id="rId4" imgW="1574800" imgH="393700" progId="Equation.3">
                  <p:embed/>
                </p:oleObj>
              </mc:Choice>
              <mc:Fallback>
                <p:oleObj name="Equation" r:id="rId4" imgW="15748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3857625"/>
                        <a:ext cx="5014912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E8B570-A92D-479C-8DF9-5A50238F83D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5775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Vega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29577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Vega (</a:t>
            </a:r>
            <a:r>
              <a:rPr lang="en-US" altLang="en-US" sz="4000" smtClean="0">
                <a:latin typeface="Symbol" panose="05050102010706020507" pitchFamily="18" charset="2"/>
              </a:rPr>
              <a:t>n</a:t>
            </a:r>
            <a:r>
              <a:rPr lang="en-US" altLang="en-US" smtClean="0"/>
              <a:t>) is the rate of change of the value of a derivative with respect to implied volatility</a:t>
            </a: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B72352B-6FF9-46E8-8F1F-FEB8FB14138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210425" cy="1295400"/>
          </a:xfrm>
        </p:spPr>
        <p:txBody>
          <a:bodyPr/>
          <a:lstStyle/>
          <a:p>
            <a:r>
              <a:rPr lang="en-CA" altLang="en-US" smtClean="0"/>
              <a:t>Vega for Call or Put Option </a:t>
            </a:r>
            <a:r>
              <a:rPr lang="en-CA" altLang="en-US" sz="2400" smtClean="0"/>
              <a:t>(</a:t>
            </a:r>
            <a:r>
              <a:rPr lang="en-CA" altLang="en-US" sz="2400" i="1" smtClean="0"/>
              <a:t>K</a:t>
            </a:r>
            <a:r>
              <a:rPr lang="en-CA" altLang="en-US" sz="2400" smtClean="0"/>
              <a:t>=50, </a:t>
            </a:r>
            <a:r>
              <a:rPr lang="en-CA" altLang="en-US" sz="2400" smtClean="0">
                <a:latin typeface="Symbol" panose="05050102010706020507" pitchFamily="18" charset="2"/>
              </a:rPr>
              <a:t>s </a:t>
            </a:r>
            <a:r>
              <a:rPr lang="en-CA" altLang="en-US" sz="2400" smtClean="0"/>
              <a:t>= 25%, </a:t>
            </a:r>
            <a:r>
              <a:rPr lang="en-CA" altLang="en-US" sz="2400" i="1" smtClean="0"/>
              <a:t>r </a:t>
            </a:r>
            <a:r>
              <a:rPr lang="en-CA" altLang="en-US" sz="2400" smtClean="0"/>
              <a:t>= 0, </a:t>
            </a:r>
            <a:r>
              <a:rPr lang="en-CA" altLang="en-US" sz="2400" i="1" smtClean="0"/>
              <a:t>T </a:t>
            </a:r>
            <a:r>
              <a:rPr lang="en-CA" altLang="en-US" sz="2400" smtClean="0"/>
              <a:t>= 2)</a:t>
            </a:r>
            <a:endParaRPr lang="en-US" altLang="en-US" sz="2400" smtClean="0"/>
          </a:p>
        </p:txBody>
      </p:sp>
      <p:sp>
        <p:nvSpPr>
          <p:cNvPr id="3789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E97B6FA-CBDC-41CC-9BB4-CEFE3D8CDB1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/>
          </a:p>
        </p:txBody>
      </p:sp>
      <p:pic>
        <p:nvPicPr>
          <p:cNvPr id="3789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065338"/>
            <a:ext cx="6838950" cy="409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138988" cy="1295400"/>
          </a:xfrm>
        </p:spPr>
        <p:txBody>
          <a:bodyPr/>
          <a:lstStyle/>
          <a:p>
            <a:pPr eaLnBrk="1" hangingPunct="1"/>
            <a:r>
              <a:rPr lang="en-US" altLang="en-US" smtClean="0"/>
              <a:t>Managing  Delta, Gamma, &amp; Vega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/>
              <a:t>Delta can be changed by taking a position in the underlying asset</a:t>
            </a:r>
          </a:p>
          <a:p>
            <a:pPr eaLnBrk="1" hangingPunct="1"/>
            <a:r>
              <a:rPr lang="en-US" altLang="en-US" sz="3600" smtClean="0"/>
              <a:t>To adjust gamma and vega it is necessary to take a position in an option or other derivative</a:t>
            </a:r>
          </a:p>
          <a:p>
            <a:pPr eaLnBrk="1" hangingPunct="1"/>
            <a:endParaRPr lang="en-US" altLang="en-US" sz="3600" smtClean="0"/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73ED758-E061-4AE2-9624-1970A952227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Example</a:t>
            </a:r>
            <a:endParaRPr lang="en-US" altLang="en-US" smtClean="0"/>
          </a:p>
        </p:txBody>
      </p:sp>
      <p:sp>
        <p:nvSpPr>
          <p:cNvPr id="3993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E34D0E-C01C-4C2A-A7F2-D0C51647854C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800"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90600" y="1773238"/>
          <a:ext cx="6096000" cy="14779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6573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Delta</a:t>
                      </a:r>
                      <a:endParaRPr lang="en-US" sz="1800" i="1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Gamma</a:t>
                      </a:r>
                      <a:endParaRPr lang="en-US" sz="1800" i="1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Vega</a:t>
                      </a:r>
                      <a:endParaRPr lang="en-US" sz="1800" i="1" dirty="0"/>
                    </a:p>
                  </a:txBody>
                  <a:tcPr marT="45708" marB="45708"/>
                </a:tc>
              </a:tr>
              <a:tr h="370742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Portfolio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−5000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−8000</a:t>
                      </a:r>
                      <a:endParaRPr lang="en-US" sz="1800" dirty="0"/>
                    </a:p>
                  </a:txBody>
                  <a:tcPr marT="45708" marB="45708"/>
                </a:tc>
              </a:tr>
              <a:tr h="370742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Option 1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0.6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2.0</a:t>
                      </a:r>
                      <a:endParaRPr lang="en-US" sz="1800" dirty="0"/>
                    </a:p>
                  </a:txBody>
                  <a:tcPr marT="45708" marB="45708"/>
                </a:tc>
              </a:tr>
              <a:tr h="370742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Option 2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0.8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1.2</a:t>
                      </a:r>
                      <a:endParaRPr lang="en-US" sz="1800" dirty="0"/>
                    </a:p>
                  </a:txBody>
                  <a:tcPr marT="45708" marB="45708"/>
                </a:tc>
              </a:tr>
            </a:tbl>
          </a:graphicData>
        </a:graphic>
      </p:graphicFrame>
      <p:sp>
        <p:nvSpPr>
          <p:cNvPr id="39968" name="TextBox 6"/>
          <p:cNvSpPr txBox="1">
            <a:spLocks noChangeArrowheads="1"/>
          </p:cNvSpPr>
          <p:nvPr/>
        </p:nvSpPr>
        <p:spPr bwMode="auto">
          <a:xfrm>
            <a:off x="685800" y="3500438"/>
            <a:ext cx="67056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2000">
                <a:cs typeface="Arial" panose="020B0604020202020204" pitchFamily="34" charset="0"/>
              </a:rPr>
              <a:t>What position in option 1 and the underlying asset will make the portfolio delta and gamma neutral?  Answer: Long 10,000 options, short  6000 of the asset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2000">
                <a:cs typeface="Arial" panose="020B0604020202020204" pitchFamily="34" charset="0"/>
              </a:rPr>
              <a:t>What position in option 1 and the underlying asset will make the portfolio delta and vega neutral? Answer: Long 4000 options, short 2400 of the asset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en-US" sz="200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Example </a:t>
            </a:r>
            <a:r>
              <a:rPr lang="en-CA" altLang="en-US" sz="2000" smtClean="0"/>
              <a:t>continued</a:t>
            </a:r>
            <a:endParaRPr lang="en-US" altLang="en-US" sz="2000" smtClean="0"/>
          </a:p>
        </p:txBody>
      </p:sp>
      <p:sp>
        <p:nvSpPr>
          <p:cNvPr id="4096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FF60C2B-A330-41D6-86DB-8B1FE98131CE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800"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19200" y="1905000"/>
          <a:ext cx="6096000" cy="14779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6573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Delta</a:t>
                      </a:r>
                      <a:endParaRPr lang="en-US" sz="1800" i="1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Gamma</a:t>
                      </a:r>
                      <a:endParaRPr lang="en-US" sz="1800" i="1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Vega</a:t>
                      </a:r>
                      <a:endParaRPr lang="en-US" sz="1800" i="1" dirty="0"/>
                    </a:p>
                  </a:txBody>
                  <a:tcPr marT="45708" marB="45708"/>
                </a:tc>
              </a:tr>
              <a:tr h="370742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Portfolio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−5000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−8000</a:t>
                      </a:r>
                      <a:endParaRPr lang="en-US" sz="1800" dirty="0"/>
                    </a:p>
                  </a:txBody>
                  <a:tcPr marT="45708" marB="45708"/>
                </a:tc>
              </a:tr>
              <a:tr h="370742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Option 1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0.6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2.0</a:t>
                      </a:r>
                      <a:endParaRPr lang="en-US" sz="1800" dirty="0"/>
                    </a:p>
                  </a:txBody>
                  <a:tcPr marT="45708" marB="45708"/>
                </a:tc>
              </a:tr>
              <a:tr h="370742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Option 2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0.8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1.2</a:t>
                      </a:r>
                      <a:endParaRPr lang="en-US" sz="1800" dirty="0"/>
                    </a:p>
                  </a:txBody>
                  <a:tcPr marT="45708" marB="45708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000" y="3733800"/>
            <a:ext cx="708660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dirty="0">
                <a:latin typeface="Arial" charset="0"/>
              </a:rPr>
              <a:t>What position in option 1, option 2, and the asset will make the portfolio  delta, gamma, and </a:t>
            </a:r>
            <a:r>
              <a:rPr lang="en-CA" dirty="0" err="1">
                <a:latin typeface="Arial" charset="0"/>
              </a:rPr>
              <a:t>vega</a:t>
            </a:r>
            <a:r>
              <a:rPr lang="en-CA" dirty="0">
                <a:latin typeface="Arial" charset="0"/>
              </a:rPr>
              <a:t> neutral?</a:t>
            </a:r>
          </a:p>
          <a:p>
            <a:pPr>
              <a:defRPr/>
            </a:pPr>
            <a:r>
              <a:rPr lang="en-CA" dirty="0">
                <a:latin typeface="Arial" charset="0"/>
              </a:rPr>
              <a:t>We solve</a:t>
            </a:r>
          </a:p>
          <a:p>
            <a:pPr>
              <a:defRPr/>
            </a:pPr>
            <a:r>
              <a:rPr lang="en-CA" dirty="0">
                <a:latin typeface="Arial" charset="0"/>
              </a:rPr>
              <a:t>	−5000+0.5</a:t>
            </a:r>
            <a:r>
              <a:rPr lang="en-CA" i="1" dirty="0">
                <a:latin typeface="+mj-lt"/>
              </a:rPr>
              <a:t>w</a:t>
            </a:r>
            <a:r>
              <a:rPr lang="en-CA" baseline="-25000" dirty="0">
                <a:latin typeface="+mj-lt"/>
              </a:rPr>
              <a:t>1</a:t>
            </a:r>
            <a:r>
              <a:rPr lang="en-CA" dirty="0">
                <a:latin typeface="Arial" charset="0"/>
              </a:rPr>
              <a:t> +0.8</a:t>
            </a:r>
            <a:r>
              <a:rPr lang="en-CA" i="1" dirty="0">
                <a:latin typeface="+mj-lt"/>
              </a:rPr>
              <a:t>w</a:t>
            </a:r>
            <a:r>
              <a:rPr lang="en-CA" baseline="-25000" dirty="0">
                <a:latin typeface="+mj-lt"/>
              </a:rPr>
              <a:t>2</a:t>
            </a:r>
            <a:r>
              <a:rPr lang="en-CA" dirty="0">
                <a:latin typeface="Arial" charset="0"/>
              </a:rPr>
              <a:t> =0</a:t>
            </a:r>
          </a:p>
          <a:p>
            <a:pPr>
              <a:defRPr/>
            </a:pPr>
            <a:r>
              <a:rPr lang="en-CA" dirty="0">
                <a:latin typeface="Arial" charset="0"/>
              </a:rPr>
              <a:t>	−8000+2.0</a:t>
            </a:r>
            <a:r>
              <a:rPr lang="en-CA" i="1" dirty="0">
                <a:latin typeface="+mj-lt"/>
              </a:rPr>
              <a:t>w</a:t>
            </a:r>
            <a:r>
              <a:rPr lang="en-CA" baseline="-25000" dirty="0">
                <a:latin typeface="+mj-lt"/>
              </a:rPr>
              <a:t>1</a:t>
            </a:r>
            <a:r>
              <a:rPr lang="en-CA" dirty="0">
                <a:latin typeface="Arial" charset="0"/>
              </a:rPr>
              <a:t> +1.2</a:t>
            </a:r>
            <a:r>
              <a:rPr lang="en-CA" i="1" dirty="0">
                <a:latin typeface="+mj-lt"/>
              </a:rPr>
              <a:t>w</a:t>
            </a:r>
            <a:r>
              <a:rPr lang="en-CA" baseline="-25000" dirty="0">
                <a:latin typeface="+mj-lt"/>
              </a:rPr>
              <a:t>2</a:t>
            </a:r>
            <a:r>
              <a:rPr lang="en-CA" dirty="0">
                <a:latin typeface="Arial" charset="0"/>
              </a:rPr>
              <a:t> =0</a:t>
            </a:r>
          </a:p>
          <a:p>
            <a:pPr>
              <a:defRPr/>
            </a:pPr>
            <a:r>
              <a:rPr lang="en-CA" dirty="0">
                <a:latin typeface="Arial" charset="0"/>
              </a:rPr>
              <a:t>to get </a:t>
            </a:r>
            <a:r>
              <a:rPr lang="en-CA" i="1" dirty="0">
                <a:latin typeface="+mj-lt"/>
              </a:rPr>
              <a:t>w</a:t>
            </a:r>
            <a:r>
              <a:rPr lang="en-CA" baseline="-25000" dirty="0">
                <a:latin typeface="+mj-lt"/>
              </a:rPr>
              <a:t>1</a:t>
            </a:r>
            <a:r>
              <a:rPr lang="en-CA" i="1" dirty="0">
                <a:latin typeface="+mj-lt"/>
              </a:rPr>
              <a:t> </a:t>
            </a:r>
            <a:r>
              <a:rPr lang="en-CA" dirty="0">
                <a:latin typeface="Arial" charset="0"/>
              </a:rPr>
              <a:t>= 400 and </a:t>
            </a:r>
            <a:r>
              <a:rPr lang="en-CA" i="1" dirty="0">
                <a:latin typeface="+mj-lt"/>
              </a:rPr>
              <a:t>w</a:t>
            </a:r>
            <a:r>
              <a:rPr lang="en-CA" i="1" baseline="-25000" dirty="0">
                <a:latin typeface="+mj-lt"/>
              </a:rPr>
              <a:t>2</a:t>
            </a:r>
            <a:r>
              <a:rPr lang="en-CA" i="1" dirty="0">
                <a:latin typeface="+mj-lt"/>
              </a:rPr>
              <a:t> </a:t>
            </a:r>
            <a:r>
              <a:rPr lang="en-CA" dirty="0">
                <a:latin typeface="Arial" charset="0"/>
              </a:rPr>
              <a:t>= 6000. We require long positions of 400 and 6000 in option 1 and option 2. A short position of 3240 in the asset is then required to make the portfolio delta neutral</a:t>
            </a:r>
            <a:endParaRPr lang="en-US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Rho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50975" y="1719263"/>
            <a:ext cx="6826250" cy="44116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Rho is the rate of change of the value of a derivative with respect to the interest rate					</a:t>
            </a: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C0D1F04-259A-4674-B9D8-2A4642B67F8B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Hedging in Practice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Traders usually ensure that their portfolios are delta-neutral at least once a day</a:t>
            </a:r>
          </a:p>
          <a:p>
            <a:pPr eaLnBrk="1" hangingPunct="1"/>
            <a:r>
              <a:rPr lang="en-US" altLang="en-US" smtClean="0"/>
              <a:t>Whenever the opportunity arises, they  improve gamma and vega</a:t>
            </a:r>
          </a:p>
          <a:p>
            <a:pPr eaLnBrk="1" hangingPunct="1"/>
            <a:r>
              <a:rPr lang="en-US" altLang="en-US" smtClean="0"/>
              <a:t>As portfolio becomes larger hedging becomes less expensive</a:t>
            </a:r>
          </a:p>
        </p:txBody>
      </p:sp>
      <p:sp>
        <p:nvSpPr>
          <p:cNvPr id="430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B0E708-15E9-4BA8-A0A4-03D83FEDB00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Scenario Analysis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A scenario analysis involves testing the effect on the value of a portfolio of different assumptions concerning asset prices and their volatilities</a:t>
            </a:r>
          </a:p>
        </p:txBody>
      </p:sp>
      <p:sp>
        <p:nvSpPr>
          <p:cNvPr id="440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145B88-D9DE-4B86-B36E-F9BB49BD7326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1052513"/>
            <a:ext cx="7772400" cy="6699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4000" dirty="0" smtClean="0">
                <a:solidFill>
                  <a:schemeClr val="tx2">
                    <a:satMod val="130000"/>
                  </a:schemeClr>
                </a:solidFill>
              </a:rPr>
              <a:t>Greek Letters for European Options on an Asset that Provides a Yield at Rate </a:t>
            </a:r>
            <a:r>
              <a:rPr lang="en-US" sz="4000" i="1" dirty="0" smtClean="0">
                <a:solidFill>
                  <a:schemeClr val="tx2">
                    <a:satMod val="130000"/>
                  </a:schemeClr>
                </a:solidFill>
              </a:rPr>
              <a:t>q </a:t>
            </a:r>
            <a:r>
              <a:rPr lang="en-US" sz="2700" dirty="0" smtClean="0">
                <a:solidFill>
                  <a:schemeClr val="tx2">
                    <a:satMod val="130000"/>
                  </a:schemeClr>
                </a:solidFill>
              </a:rPr>
              <a:t>(Table 17.6, page 381)</a:t>
            </a:r>
            <a:endParaRPr lang="en-US" sz="27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755650" y="2133600"/>
            <a:ext cx="7772400" cy="41148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mtClean="0">
                <a:cs typeface="Arial" panose="020B0604020202020204" pitchFamily="34" charset="0"/>
              </a:rPr>
              <a:t> 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450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450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56A255B-4D85-4A85-9DBE-CD7AF32AE5E7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800"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667000"/>
          <a:ext cx="6705600" cy="256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/>
                <a:gridCol w="2463800"/>
                <a:gridCol w="2641600"/>
              </a:tblGrid>
              <a:tr h="142240">
                <a:tc>
                  <a:txBody>
                    <a:bodyPr/>
                    <a:lstStyle/>
                    <a:p>
                      <a:r>
                        <a:rPr lang="en-US" i="1" dirty="0" smtClean="0">
                          <a:latin typeface="Arial" pitchFamily="34" charset="0"/>
                          <a:cs typeface="Arial" pitchFamily="34" charset="0"/>
                        </a:rPr>
                        <a:t>Greek</a:t>
                      </a:r>
                      <a:r>
                        <a:rPr lang="en-US" i="1" baseline="0" dirty="0" smtClean="0">
                          <a:latin typeface="Arial" pitchFamily="34" charset="0"/>
                          <a:cs typeface="Arial" pitchFamily="34" charset="0"/>
                        </a:rPr>
                        <a:t> Letter</a:t>
                      </a:r>
                      <a:endParaRPr lang="en-US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latin typeface="Arial" pitchFamily="34" charset="0"/>
                          <a:cs typeface="Arial" pitchFamily="34" charset="0"/>
                        </a:rPr>
                        <a:t>Call Option</a:t>
                      </a:r>
                      <a:endParaRPr lang="en-US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latin typeface="Arial" pitchFamily="34" charset="0"/>
                          <a:cs typeface="Arial" pitchFamily="34" charset="0"/>
                        </a:rPr>
                        <a:t>Put Option</a:t>
                      </a:r>
                      <a:endParaRPr lang="en-US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Delta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Gamma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Theta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Vega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Rho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5092" name="Object 6"/>
          <p:cNvGraphicFramePr>
            <a:graphicFrameLocks noChangeAspect="1"/>
          </p:cNvGraphicFramePr>
          <p:nvPr/>
        </p:nvGraphicFramePr>
        <p:xfrm>
          <a:off x="2819400" y="3124200"/>
          <a:ext cx="647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2" name="Equation" r:id="rId4" imgW="647700" imgH="228600" progId="Equation.3">
                  <p:embed/>
                </p:oleObj>
              </mc:Choice>
              <mc:Fallback>
                <p:oleObj name="Equation" r:id="rId4" imgW="6477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124200"/>
                        <a:ext cx="6477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3" name="Object 7"/>
          <p:cNvGraphicFramePr>
            <a:graphicFrameLocks noChangeAspect="1"/>
          </p:cNvGraphicFramePr>
          <p:nvPr/>
        </p:nvGraphicFramePr>
        <p:xfrm>
          <a:off x="2819400" y="3429000"/>
          <a:ext cx="72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3" name="Equation" r:id="rId6" imgW="723586" imgH="469696" progId="Equation.3">
                  <p:embed/>
                </p:oleObj>
              </mc:Choice>
              <mc:Fallback>
                <p:oleObj name="Equation" r:id="rId6" imgW="723586" imgH="46969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9000"/>
                        <a:ext cx="72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4" name="Object 8"/>
          <p:cNvGraphicFramePr>
            <a:graphicFrameLocks noChangeAspect="1"/>
          </p:cNvGraphicFramePr>
          <p:nvPr/>
        </p:nvGraphicFramePr>
        <p:xfrm>
          <a:off x="5181600" y="3429000"/>
          <a:ext cx="72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4" name="Equation" r:id="rId8" imgW="723586" imgH="469696" progId="Equation.3">
                  <p:embed/>
                </p:oleObj>
              </mc:Choice>
              <mc:Fallback>
                <p:oleObj name="Equation" r:id="rId8" imgW="723586" imgH="46969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429000"/>
                        <a:ext cx="72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5" name="Object 9"/>
          <p:cNvGraphicFramePr>
            <a:graphicFrameLocks noChangeAspect="1"/>
          </p:cNvGraphicFramePr>
          <p:nvPr/>
        </p:nvGraphicFramePr>
        <p:xfrm>
          <a:off x="5181600" y="3124200"/>
          <a:ext cx="914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5" name="Equation" r:id="rId10" imgW="914400" imgH="228600" progId="Equation.3">
                  <p:embed/>
                </p:oleObj>
              </mc:Choice>
              <mc:Fallback>
                <p:oleObj name="Equation" r:id="rId10" imgW="9144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124200"/>
                        <a:ext cx="9144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6" name="Object 10"/>
          <p:cNvGraphicFramePr>
            <a:graphicFrameLocks noChangeAspect="1"/>
          </p:cNvGraphicFramePr>
          <p:nvPr/>
        </p:nvGraphicFramePr>
        <p:xfrm>
          <a:off x="2667000" y="3962400"/>
          <a:ext cx="1892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6" name="Equation" r:id="rId12" imgW="1892300" imgH="508000" progId="Equation.3">
                  <p:embed/>
                </p:oleObj>
              </mc:Choice>
              <mc:Fallback>
                <p:oleObj name="Equation" r:id="rId12" imgW="1892300" imgH="508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62400"/>
                        <a:ext cx="1892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7" name="Object 11"/>
          <p:cNvGraphicFramePr>
            <a:graphicFrameLocks noChangeAspect="1"/>
          </p:cNvGraphicFramePr>
          <p:nvPr/>
        </p:nvGraphicFramePr>
        <p:xfrm>
          <a:off x="5105400" y="3962400"/>
          <a:ext cx="2070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7" name="Equation" r:id="rId14" imgW="2070100" imgH="508000" progId="Equation.3">
                  <p:embed/>
                </p:oleObj>
              </mc:Choice>
              <mc:Fallback>
                <p:oleObj name="Equation" r:id="rId14" imgW="2070100" imgH="508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962400"/>
                        <a:ext cx="2070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8" name="Object 12"/>
          <p:cNvGraphicFramePr>
            <a:graphicFrameLocks noChangeAspect="1"/>
          </p:cNvGraphicFramePr>
          <p:nvPr/>
        </p:nvGraphicFramePr>
        <p:xfrm>
          <a:off x="2819400" y="4572000"/>
          <a:ext cx="1028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8" name="Equation" r:id="rId16" imgW="1028254" imgH="253890" progId="Equation.3">
                  <p:embed/>
                </p:oleObj>
              </mc:Choice>
              <mc:Fallback>
                <p:oleObj name="Equation" r:id="rId16" imgW="1028254" imgH="25389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572000"/>
                        <a:ext cx="10287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9" name="Object 13"/>
          <p:cNvGraphicFramePr>
            <a:graphicFrameLocks noChangeAspect="1"/>
          </p:cNvGraphicFramePr>
          <p:nvPr/>
        </p:nvGraphicFramePr>
        <p:xfrm>
          <a:off x="5181600" y="4572000"/>
          <a:ext cx="1028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9" name="Equation" r:id="rId18" imgW="1028254" imgH="253890" progId="Equation.3">
                  <p:embed/>
                </p:oleObj>
              </mc:Choice>
              <mc:Fallback>
                <p:oleObj name="Equation" r:id="rId18" imgW="1028254" imgH="25389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572000"/>
                        <a:ext cx="10287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0" name="Object 14"/>
          <p:cNvGraphicFramePr>
            <a:graphicFrameLocks noChangeAspect="1"/>
          </p:cNvGraphicFramePr>
          <p:nvPr/>
        </p:nvGraphicFramePr>
        <p:xfrm>
          <a:off x="2819400" y="4953000"/>
          <a:ext cx="850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0" name="Equation" r:id="rId19" imgW="850900" imgH="228600" progId="Equation.3">
                  <p:embed/>
                </p:oleObj>
              </mc:Choice>
              <mc:Fallback>
                <p:oleObj name="Equation" r:id="rId19" imgW="8509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953000"/>
                        <a:ext cx="850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1" name="Object 15"/>
          <p:cNvGraphicFramePr>
            <a:graphicFrameLocks noChangeAspect="1"/>
          </p:cNvGraphicFramePr>
          <p:nvPr/>
        </p:nvGraphicFramePr>
        <p:xfrm>
          <a:off x="5105400" y="4953000"/>
          <a:ext cx="1054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1" name="Equation" r:id="rId21" imgW="1054100" imgH="228600" progId="Equation.3">
                  <p:embed/>
                </p:oleObj>
              </mc:Choice>
              <mc:Fallback>
                <p:oleObj name="Equation" r:id="rId21" imgW="10541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953000"/>
                        <a:ext cx="10541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Using Futures for Delta Hedging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delta of a futures contract on an asset paying a yield at rate </a:t>
            </a:r>
            <a:r>
              <a:rPr lang="en-US" altLang="en-US" i="1" smtClean="0">
                <a:latin typeface="Times New Roman" panose="02020603050405020304" pitchFamily="18" charset="0"/>
              </a:rPr>
              <a:t>q</a:t>
            </a:r>
            <a:r>
              <a:rPr lang="en-US" altLang="en-US" smtClean="0"/>
              <a:t> is 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baseline="30000" smtClean="0">
                <a:latin typeface="Times New Roman" panose="02020603050405020304" pitchFamily="18" charset="0"/>
              </a:rPr>
              <a:t>(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r-q</a:t>
            </a:r>
            <a:r>
              <a:rPr lang="en-US" altLang="en-US" baseline="30000" smtClean="0">
                <a:latin typeface="Times New Roman" panose="02020603050405020304" pitchFamily="18" charset="0"/>
              </a:rPr>
              <a:t>)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/>
              <a:t> times the delta of a spot contract</a:t>
            </a:r>
          </a:p>
          <a:p>
            <a:pPr eaLnBrk="1" hangingPunct="1"/>
            <a:r>
              <a:rPr lang="en-US" altLang="en-US" smtClean="0"/>
              <a:t>The position required in futures for delta hedging is therefore 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</a:t>
            </a:r>
            <a:r>
              <a:rPr lang="en-US" altLang="en-US" baseline="30000" smtClean="0">
                <a:latin typeface="Times New Roman" panose="02020603050405020304" pitchFamily="18" charset="0"/>
              </a:rPr>
              <a:t>(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r-q</a:t>
            </a:r>
            <a:r>
              <a:rPr lang="en-US" altLang="en-US" baseline="30000" smtClean="0">
                <a:latin typeface="Times New Roman" panose="02020603050405020304" pitchFamily="18" charset="0"/>
              </a:rPr>
              <a:t>)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/>
              <a:t>  times the position required in the corresponding spot contract</a:t>
            </a:r>
          </a:p>
        </p:txBody>
      </p:sp>
      <p:sp>
        <p:nvSpPr>
          <p:cNvPr id="460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A214BBA-BFD4-4D05-A97F-0E55AF79AE3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Hedging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vs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Creation of an Option Synthetically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2133600"/>
            <a:ext cx="6616700" cy="2535238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When we are hedging we take positions that offset delta, gamma, vega, etc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When we create an option synthetically we take positions that match delta, gamma, vega, etc</a:t>
            </a:r>
            <a:endParaRPr lang="en-US" altLang="en-US" sz="4000" smtClean="0">
              <a:latin typeface="Symbol" panose="05050102010706020507" pitchFamily="18" charset="2"/>
              <a:cs typeface="Arial" panose="020B0604020202020204" pitchFamily="34" charset="0"/>
            </a:endParaRPr>
          </a:p>
        </p:txBody>
      </p:sp>
      <p:sp>
        <p:nvSpPr>
          <p:cNvPr id="471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>
                <a:cs typeface="Arial" panose="020B0604020202020204" pitchFamily="34" charset="0"/>
              </a:rPr>
              <a:t>Fundamentals of Futures and Options Markets, 9th Ed, Ch 17,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471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544B532-AF61-4206-BF4D-742AFB5C6355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Portfolio Insurance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86700" cy="45037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In October of 1987 many portfolio managers attempted to create a put option on a portfolio synthetically</a:t>
            </a:r>
          </a:p>
          <a:p>
            <a:pPr eaLnBrk="1" hangingPunct="1"/>
            <a:r>
              <a:rPr lang="en-US" altLang="en-US" smtClean="0"/>
              <a:t>This involves initially selling enough of the portfolio (or of index futures) to match the 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smtClean="0"/>
              <a:t> of the put option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481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571E3F9-C891-492A-AF97-09B815ECA64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Portfolio Insurance</a:t>
            </a:r>
            <a:br>
              <a:rPr lang="en-US" altLang="en-US" smtClean="0"/>
            </a:br>
            <a:r>
              <a:rPr lang="en-US" altLang="en-US" smtClean="0"/>
              <a:t>continued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As the value of the portfolio increases, the 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smtClean="0"/>
              <a:t> of the put becomes less negative and some of the original portfolio is repurchased</a:t>
            </a:r>
          </a:p>
          <a:p>
            <a:pPr eaLnBrk="1" hangingPunct="1"/>
            <a:r>
              <a:rPr lang="en-US" altLang="en-US" smtClean="0"/>
              <a:t>As the value of the portfolio decreases, the 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smtClean="0"/>
              <a:t> of the put becomes more negative and more of the portfolio must be sold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491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CEFA35-9439-459D-BB26-5C4F3C33650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17, Copyright © John C. Hull 2016</a:t>
            </a:r>
            <a:endParaRPr lang="en-US" altLang="en-US" sz="1400" i="0" smtClean="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Portfolio Insurance</a:t>
            </a:r>
            <a:br>
              <a:rPr lang="en-US" altLang="en-US" smtClean="0"/>
            </a:br>
            <a:r>
              <a:rPr lang="en-US" altLang="en-US" smtClean="0"/>
              <a:t>continued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373313"/>
            <a:ext cx="8229600" cy="3757612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The strategy did not work well on October 19, 1987...</a:t>
            </a:r>
          </a:p>
        </p:txBody>
      </p:sp>
      <p:sp>
        <p:nvSpPr>
          <p:cNvPr id="501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309341E-B6F5-40A9-8A40-95EA2A3361A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Network 9">
    <a:dk1>
      <a:srgbClr val="000000"/>
    </a:dk1>
    <a:lt1>
      <a:srgbClr val="FFFFFF"/>
    </a:lt1>
    <a:dk2>
      <a:srgbClr val="7C1302"/>
    </a:dk2>
    <a:lt2>
      <a:srgbClr val="CC9900"/>
    </a:lt2>
    <a:accent1>
      <a:srgbClr val="CC9900"/>
    </a:accent1>
    <a:accent2>
      <a:srgbClr val="CC3300"/>
    </a:accent2>
    <a:accent3>
      <a:srgbClr val="FFFFFF"/>
    </a:accent3>
    <a:accent4>
      <a:srgbClr val="000000"/>
    </a:accent4>
    <a:accent5>
      <a:srgbClr val="E2CAAA"/>
    </a:accent5>
    <a:accent6>
      <a:srgbClr val="B92D00"/>
    </a:accent6>
    <a:hlink>
      <a:srgbClr val="808080"/>
    </a:hlink>
    <a:folHlink>
      <a:srgbClr val="CCCC66"/>
    </a:folHlink>
  </a:clrScheme>
  <a:fontScheme name="1_Network">
    <a:majorFont>
      <a:latin typeface="Times New Roman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3A9411-B446-465E-8D31-29E30E2EB9B7}"/>
</file>

<file path=customXml/itemProps2.xml><?xml version="1.0" encoding="utf-8"?>
<ds:datastoreItem xmlns:ds="http://schemas.openxmlformats.org/officeDocument/2006/customXml" ds:itemID="{30A18A56-73C1-46C6-9212-72A64A8A12A8}"/>
</file>

<file path=customXml/itemProps3.xml><?xml version="1.0" encoding="utf-8"?>
<ds:datastoreItem xmlns:ds="http://schemas.openxmlformats.org/officeDocument/2006/customXml" ds:itemID="{B799A1A0-FC95-455A-8429-B3E82D9EC033}"/>
</file>

<file path=docProps/app.xml><?xml version="1.0" encoding="utf-8"?>
<Properties xmlns="http://schemas.openxmlformats.org/officeDocument/2006/extended-properties" xmlns:vt="http://schemas.openxmlformats.org/officeDocument/2006/docPropsVTypes">
  <Template>Financial Risk Management6</Template>
  <TotalTime>558</TotalTime>
  <Pages>21</Pages>
  <Words>2035</Words>
  <Application>Microsoft Office PowerPoint</Application>
  <PresentationFormat>Letter Paper (8.5x11 in)</PresentationFormat>
  <Paragraphs>369</Paragraphs>
  <Slides>37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Times New Roman</vt:lpstr>
      <vt:lpstr>Wingdings</vt:lpstr>
      <vt:lpstr>Symbol</vt:lpstr>
      <vt:lpstr>Wingdings 2</vt:lpstr>
      <vt:lpstr>1_Network</vt:lpstr>
      <vt:lpstr>Microsoft Equation 3.0</vt:lpstr>
      <vt:lpstr>The Greek Letters</vt:lpstr>
      <vt:lpstr>Example (Page 359)</vt:lpstr>
      <vt:lpstr>Naked &amp; Covered Positions</vt:lpstr>
      <vt:lpstr>Stop-Loss Strategy</vt:lpstr>
      <vt:lpstr>Stop-Loss Strategy continued</vt:lpstr>
      <vt:lpstr>Greek Letters</vt:lpstr>
      <vt:lpstr>Delta (See Figure 17.2, page 363)</vt:lpstr>
      <vt:lpstr>Hedge</vt:lpstr>
      <vt:lpstr>Delta Hedging</vt:lpstr>
      <vt:lpstr>Delta of a Stock Option (K=50, r=0, s = 25%, T=2, Figure 17.3, page 365)</vt:lpstr>
      <vt:lpstr>Variation of Delta with Time to Maturity(S0=50, r=0, s=25%, Figure 17.4, page 366)</vt:lpstr>
      <vt:lpstr>The Costs in Delta Hedging continued</vt:lpstr>
      <vt:lpstr>First Scenario for the Example: Table 17.2 page 366</vt:lpstr>
      <vt:lpstr>Second Scenario for the Example    Table 17.3 page 367</vt:lpstr>
      <vt:lpstr>Theta</vt:lpstr>
      <vt:lpstr>Theta for Call Option (K=50,  s = 25%,     r = 0, T = 2, Figure 17.5, page 370)</vt:lpstr>
      <vt:lpstr>Variation of Theta with Time to Maturity (S0=50, r=0, s=25%, Figure 17.6, page 371)</vt:lpstr>
      <vt:lpstr>Gamma</vt:lpstr>
      <vt:lpstr>Gamma for Call or Put Option: (K=50, s = 25%, r = 0%, T = 2, Figure 17.9, page 375)</vt:lpstr>
      <vt:lpstr>Variation of Gamma with Time to Maturity (S0=50, r=0, s=25%, Figure 17.10, page 375)</vt:lpstr>
      <vt:lpstr>Gamma Addresses Delta Hedging Errors Caused By Curvature  (Figure 17.7, page 372) </vt:lpstr>
      <vt:lpstr>Interpretation  of Gamma</vt:lpstr>
      <vt:lpstr>Relationship  Between Delta, Gamma, and Theta</vt:lpstr>
      <vt:lpstr>Vega</vt:lpstr>
      <vt:lpstr>Vega for Call or Put Option (K=50, s = 25%, r = 0, T = 2)</vt:lpstr>
      <vt:lpstr>Managing  Delta, Gamma, &amp; Vega</vt:lpstr>
      <vt:lpstr>Example</vt:lpstr>
      <vt:lpstr>Example continued</vt:lpstr>
      <vt:lpstr>Rho</vt:lpstr>
      <vt:lpstr>Hedging in Practice</vt:lpstr>
      <vt:lpstr>Scenario Analysis</vt:lpstr>
      <vt:lpstr> Greek Letters for European Options on an Asset that Provides a Yield at Rate q (Table 17.6, page 381)</vt:lpstr>
      <vt:lpstr>Using Futures for Delta Hedging</vt:lpstr>
      <vt:lpstr>Hedging vs Creation of an Option Synthetically</vt:lpstr>
      <vt:lpstr>Portfolio Insurance</vt:lpstr>
      <vt:lpstr>Portfolio Insurance continued</vt:lpstr>
      <vt:lpstr>Portfolio Insurance continued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Greek Letters</dc:title>
  <dc:subject>Fundamentals of Futures and Options Markets, 9e</dc:subject>
  <dc:creator>John C. Hull</dc:creator>
  <cp:keywords>Chapter 17</cp:keywords>
  <dc:description>Copyright 2016 by John C. Hull.
All rights reserved. Published 2016.</dc:description>
  <cp:lastModifiedBy>John Hull</cp:lastModifiedBy>
  <cp:revision>56</cp:revision>
  <cp:lastPrinted>2001-05-03T13:37:57Z</cp:lastPrinted>
  <dcterms:created xsi:type="dcterms:W3CDTF">1996-11-06T18:21:22Z</dcterms:created>
  <dcterms:modified xsi:type="dcterms:W3CDTF">2016-01-20T21:04:27Z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