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2"/>
  </p:notesMasterIdLst>
  <p:handoutMasterIdLst>
    <p:handoutMasterId r:id="rId33"/>
  </p:handoutMasterIdLst>
  <p:sldIdLst>
    <p:sldId id="263" r:id="rId2"/>
    <p:sldId id="257" r:id="rId3"/>
    <p:sldId id="258" r:id="rId4"/>
    <p:sldId id="264" r:id="rId5"/>
    <p:sldId id="265" r:id="rId6"/>
    <p:sldId id="289" r:id="rId7"/>
    <p:sldId id="290" r:id="rId8"/>
    <p:sldId id="266" r:id="rId9"/>
    <p:sldId id="292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91" r:id="rId20"/>
    <p:sldId id="276" r:id="rId21"/>
    <p:sldId id="277" r:id="rId22"/>
    <p:sldId id="279" r:id="rId23"/>
    <p:sldId id="293" r:id="rId24"/>
    <p:sldId id="259" r:id="rId25"/>
    <p:sldId id="282" r:id="rId26"/>
    <p:sldId id="283" r:id="rId27"/>
    <p:sldId id="285" r:id="rId28"/>
    <p:sldId id="286" r:id="rId29"/>
    <p:sldId id="287" r:id="rId30"/>
    <p:sldId id="288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22" d="100"/>
          <a:sy n="122" d="100"/>
        </p:scale>
        <p:origin x="12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C4FAA637-AC25-4904-B279-C0E49DFB56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917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2131D179-4031-4A01-9280-EFB1C09293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19932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3769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56603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68964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5768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1065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0C8CDFC-4BFC-4BB7-821F-252DC0AF4621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601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CCB9167-EDBC-4542-878E-3344994FCA78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96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09114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7A8C956-C653-4170-8147-19D6D237A03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523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26981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96209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9783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0922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05059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20852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510828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22230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258786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EC5F118-F5DF-4EA6-9196-FDDD41F75EB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851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912140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907289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054327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16776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773172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00783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730971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5371960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90615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5468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7FF27408-5EEE-49EF-ACCC-EB1093DFE6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451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9EC766-BD4B-4411-A565-A131401F06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2850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ACCE2E-6F3A-4A68-9AD5-26D83EA497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80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AA040D-44E8-41D5-AA72-E10EC0D33B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00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D9BFB-E128-4C63-B8AF-7E622871AB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1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02BC63-1223-4A3F-B501-3A711699B5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884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5D3B1B-FF33-4B24-8A07-7E0CA36CA5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4726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F48E40-F5C2-48AD-85BC-A67A8D5AE9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71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FF5808-6CB7-462A-B599-1C235B7139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356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7FBD5-6BE6-4718-BAF9-133A8E2AF4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029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0CC986-1A7D-4918-B4E7-4D0DC3768D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918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902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22, Copyright © John  C. Hull 2016</a:t>
            </a:r>
            <a:endParaRPr lang="en-US" alt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0EF7F014-B27A-4CDB-AC5F-7CA0365EC834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cs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" y="6248400"/>
            <a:ext cx="775335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400" smtClean="0"/>
              <a:t>Exotic Options and Other Nonstandard Products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22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216C7DD-5BD6-409F-9480-9058F405874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Exotic Options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Packages</a:t>
            </a:r>
          </a:p>
          <a:p>
            <a:pPr eaLnBrk="1" hangingPunct="1"/>
            <a:r>
              <a:rPr lang="en-US" altLang="en-US" sz="2800" smtClean="0"/>
              <a:t>Nonstandard American options</a:t>
            </a:r>
          </a:p>
          <a:p>
            <a:pPr eaLnBrk="1" hangingPunct="1"/>
            <a:r>
              <a:rPr lang="en-CA" altLang="en-US" sz="2800" smtClean="0"/>
              <a:t>Gap options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Forward start options</a:t>
            </a:r>
          </a:p>
          <a:p>
            <a:pPr eaLnBrk="1" hangingPunct="1"/>
            <a:r>
              <a:rPr lang="en-US" altLang="en-US" sz="2800" smtClean="0"/>
              <a:t>Cliquet options</a:t>
            </a:r>
          </a:p>
          <a:p>
            <a:pPr eaLnBrk="1" hangingPunct="1"/>
            <a:r>
              <a:rPr lang="en-US" altLang="en-US" sz="2800" smtClean="0"/>
              <a:t>Compound options</a:t>
            </a:r>
          </a:p>
          <a:p>
            <a:pPr eaLnBrk="1" hangingPunct="1"/>
            <a:r>
              <a:rPr lang="en-US" altLang="en-US" sz="2800" smtClean="0"/>
              <a:t>Chooser options</a:t>
            </a:r>
          </a:p>
          <a:p>
            <a:pPr eaLnBrk="1" hangingPunct="1"/>
            <a:r>
              <a:rPr lang="en-US" altLang="en-US" sz="2800" smtClean="0"/>
              <a:t>Barrier options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45B012B-7B63-44B6-B7FD-9D07B9033E5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Types of Exotic Options </a:t>
            </a:r>
            <a:r>
              <a:rPr lang="en-US" altLang="en-US" sz="2600" smtClean="0"/>
              <a:t>continued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options</a:t>
            </a:r>
          </a:p>
          <a:p>
            <a:pPr eaLnBrk="1" hangingPunct="1"/>
            <a:r>
              <a:rPr lang="en-US" altLang="en-US" smtClean="0"/>
              <a:t>Lookback options</a:t>
            </a:r>
          </a:p>
          <a:p>
            <a:pPr eaLnBrk="1" hangingPunct="1"/>
            <a:r>
              <a:rPr lang="en-US" altLang="en-US" smtClean="0"/>
              <a:t>Shout options</a:t>
            </a:r>
          </a:p>
          <a:p>
            <a:pPr eaLnBrk="1" hangingPunct="1"/>
            <a:r>
              <a:rPr lang="en-US" altLang="en-US" smtClean="0"/>
              <a:t>Asian options</a:t>
            </a:r>
          </a:p>
          <a:p>
            <a:pPr eaLnBrk="1" hangingPunct="1"/>
            <a:r>
              <a:rPr lang="en-US" altLang="en-US" smtClean="0"/>
              <a:t>Options to exchange one asset for another</a:t>
            </a:r>
          </a:p>
          <a:p>
            <a:pPr eaLnBrk="1" hangingPunct="1"/>
            <a:r>
              <a:rPr lang="en-US" altLang="en-US" smtClean="0"/>
              <a:t>Options involving several assets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EFC803-C50D-4009-81C9-6D8C629EC8B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Packages </a:t>
            </a:r>
            <a:r>
              <a:rPr lang="en-US" altLang="en-US" sz="2600" smtClean="0"/>
              <a:t>(page 478)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/>
              <a:t>Portfolios of standard options</a:t>
            </a:r>
          </a:p>
          <a:p>
            <a:pPr eaLnBrk="1" hangingPunct="1"/>
            <a:r>
              <a:rPr lang="en-US" altLang="en-US" smtClean="0"/>
              <a:t>Examples from Chapter 11: bull spreads, bear spreads, straddles, etc</a:t>
            </a:r>
          </a:p>
          <a:p>
            <a:pPr eaLnBrk="1" hangingPunct="1"/>
            <a:r>
              <a:rPr lang="en-US" altLang="en-US" smtClean="0"/>
              <a:t>Example from Chapter 15: Range forward contracts</a:t>
            </a:r>
          </a:p>
          <a:p>
            <a:pPr eaLnBrk="1" hangingPunct="1"/>
            <a:r>
              <a:rPr lang="en-US" altLang="en-US" smtClean="0"/>
              <a:t>Packages are often structured to have zero cost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67702FB-F5AA-459E-A1A5-98B658C02A6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1741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Nonstandard American Options </a:t>
            </a:r>
            <a:r>
              <a:rPr lang="en-US" altLang="en-US" sz="2200" smtClean="0"/>
              <a:t>(page 478)</a:t>
            </a:r>
          </a:p>
        </p:txBody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7219950" cy="3963987"/>
          </a:xfrm>
        </p:spPr>
        <p:txBody>
          <a:bodyPr/>
          <a:lstStyle/>
          <a:p>
            <a:pPr eaLnBrk="1" hangingPunct="1"/>
            <a:r>
              <a:rPr lang="en-US" altLang="en-US" smtClean="0"/>
              <a:t>Examples:</a:t>
            </a:r>
          </a:p>
          <a:p>
            <a:pPr lvl="1" eaLnBrk="1" hangingPunct="1"/>
            <a:r>
              <a:rPr lang="en-US" altLang="en-US" smtClean="0"/>
              <a:t>Exercisable only on specific dates (Bermudans)</a:t>
            </a:r>
          </a:p>
          <a:p>
            <a:pPr lvl="1" eaLnBrk="1" hangingPunct="1"/>
            <a:r>
              <a:rPr lang="en-US" altLang="en-US" smtClean="0"/>
              <a:t>Early exercise allowed during only part of life (e.g. there may be an initial “lock out” period)</a:t>
            </a:r>
          </a:p>
          <a:p>
            <a:pPr lvl="1" eaLnBrk="1" hangingPunct="1"/>
            <a:r>
              <a:rPr lang="en-US" altLang="en-US" smtClean="0"/>
              <a:t>Strike price changes over the life</a:t>
            </a:r>
          </a:p>
          <a:p>
            <a:pPr eaLnBrk="1" hangingPunct="1"/>
            <a:endParaRPr lang="en-US" altLang="en-US" smtClean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B18F44E-D219-4A8A-B5F1-9070C3539EA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Gap Options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Call pays off  </a:t>
            </a:r>
            <a:r>
              <a:rPr lang="en-CA" i="1" dirty="0" smtClean="0">
                <a:latin typeface="+mj-lt"/>
              </a:rPr>
              <a:t>S</a:t>
            </a:r>
            <a:r>
              <a:rPr lang="en-CA" i="1" baseline="-25000" dirty="0" smtClean="0">
                <a:latin typeface="+mj-lt"/>
              </a:rPr>
              <a:t>T </a:t>
            </a:r>
            <a:r>
              <a:rPr lang="en-CA" dirty="0" smtClean="0"/>
              <a:t>− </a:t>
            </a:r>
            <a:r>
              <a:rPr lang="en-CA" i="1" dirty="0" smtClean="0">
                <a:latin typeface="+mj-lt"/>
              </a:rPr>
              <a:t>K</a:t>
            </a:r>
            <a:r>
              <a:rPr lang="en-CA" baseline="-25000" dirty="0" smtClean="0"/>
              <a:t>1</a:t>
            </a:r>
            <a:r>
              <a:rPr lang="en-CA" dirty="0" smtClean="0"/>
              <a:t>  when </a:t>
            </a:r>
            <a:r>
              <a:rPr lang="en-CA" i="1" dirty="0" smtClean="0">
                <a:latin typeface="+mj-lt"/>
              </a:rPr>
              <a:t>S</a:t>
            </a:r>
            <a:r>
              <a:rPr lang="en-CA" i="1" baseline="-25000" dirty="0" smtClean="0">
                <a:latin typeface="+mj-lt"/>
              </a:rPr>
              <a:t>T</a:t>
            </a:r>
            <a:r>
              <a:rPr lang="en-CA" dirty="0" smtClean="0"/>
              <a:t> &gt;</a:t>
            </a:r>
            <a:r>
              <a:rPr lang="en-CA" i="1" dirty="0" smtClean="0">
                <a:latin typeface="+mj-lt"/>
              </a:rPr>
              <a:t>K</a:t>
            </a:r>
            <a:r>
              <a:rPr lang="en-CA" baseline="-25000" dirty="0" smtClean="0"/>
              <a:t>2</a:t>
            </a:r>
          </a:p>
          <a:p>
            <a:pPr>
              <a:defRPr/>
            </a:pPr>
            <a:r>
              <a:rPr lang="en-CA" dirty="0" smtClean="0"/>
              <a:t>Put pays off  </a:t>
            </a:r>
            <a:r>
              <a:rPr lang="en-CA" i="1" dirty="0" smtClean="0">
                <a:latin typeface="+mj-lt"/>
              </a:rPr>
              <a:t>K</a:t>
            </a:r>
            <a:r>
              <a:rPr lang="en-CA" baseline="-25000" dirty="0" smtClean="0"/>
              <a:t>1</a:t>
            </a:r>
            <a:r>
              <a:rPr lang="en-CA" dirty="0" smtClean="0"/>
              <a:t> −</a:t>
            </a:r>
            <a:r>
              <a:rPr lang="en-CA" i="1" dirty="0" smtClean="0"/>
              <a:t> </a:t>
            </a:r>
            <a:r>
              <a:rPr lang="en-CA" i="1" dirty="0" smtClean="0">
                <a:latin typeface="+mj-lt"/>
              </a:rPr>
              <a:t>S</a:t>
            </a:r>
            <a:r>
              <a:rPr lang="en-CA" i="1" baseline="-25000" dirty="0" smtClean="0">
                <a:latin typeface="+mj-lt"/>
              </a:rPr>
              <a:t>T</a:t>
            </a:r>
            <a:r>
              <a:rPr lang="en-CA" i="1" baseline="-25000" dirty="0" smtClean="0"/>
              <a:t> </a:t>
            </a:r>
            <a:r>
              <a:rPr lang="en-CA" dirty="0" smtClean="0"/>
              <a:t>  when </a:t>
            </a:r>
            <a:r>
              <a:rPr lang="en-CA" i="1" dirty="0" smtClean="0">
                <a:latin typeface="+mj-lt"/>
              </a:rPr>
              <a:t>S</a:t>
            </a:r>
            <a:r>
              <a:rPr lang="en-CA" i="1" baseline="-25000" dirty="0" smtClean="0">
                <a:latin typeface="+mj-lt"/>
              </a:rPr>
              <a:t>T</a:t>
            </a:r>
            <a:r>
              <a:rPr lang="en-CA" dirty="0" smtClean="0"/>
              <a:t> &lt;</a:t>
            </a:r>
            <a:r>
              <a:rPr lang="en-CA" i="1" dirty="0" smtClean="0">
                <a:latin typeface="+mj-lt"/>
              </a:rPr>
              <a:t>K</a:t>
            </a:r>
            <a:r>
              <a:rPr lang="en-CA" baseline="-25000" dirty="0" smtClean="0"/>
              <a:t>2</a:t>
            </a:r>
            <a:endParaRPr lang="en-US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en-CA" dirty="0" smtClean="0"/>
          </a:p>
          <a:p>
            <a:pPr>
              <a:defRPr/>
            </a:pPr>
            <a:r>
              <a:rPr lang="en-CA" dirty="0" smtClean="0"/>
              <a:t>Valued by making a small change to Black-</a:t>
            </a:r>
            <a:r>
              <a:rPr lang="en-CA" dirty="0" err="1" smtClean="0"/>
              <a:t>Scholes</a:t>
            </a:r>
            <a:r>
              <a:rPr lang="en-CA" dirty="0" smtClean="0"/>
              <a:t>-Merton formulas…..</a:t>
            </a:r>
            <a:endParaRPr lang="en-US" dirty="0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5F80770-8192-481E-9538-67FA3CD657A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Gap Option Pricing Formulas</a:t>
            </a:r>
            <a:endParaRPr lang="en-US" altLang="en-US" smtClean="0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graphicFrame>
        <p:nvGraphicFramePr>
          <p:cNvPr id="19460" name="Object 3"/>
          <p:cNvGraphicFramePr>
            <a:graphicFrameLocks/>
          </p:cNvGraphicFramePr>
          <p:nvPr/>
        </p:nvGraphicFramePr>
        <p:xfrm>
          <a:off x="836613" y="2211388"/>
          <a:ext cx="7469187" cy="335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4" imgW="2921000" imgH="1295400" progId="Equation.3">
                  <p:embed/>
                </p:oleObj>
              </mc:Choice>
              <mc:Fallback>
                <p:oleObj name="Equation" r:id="rId4" imgW="2921000" imgH="12954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2211388"/>
                        <a:ext cx="7469187" cy="335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Slide Number Placeholder 7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B8413B-A8A2-4D25-99EC-D998DA65A8C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Forward Start Options </a:t>
            </a:r>
            <a:r>
              <a:rPr lang="en-US" altLang="en-US" sz="2200" smtClean="0"/>
              <a:t>(page 485)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3403600"/>
          </a:xfrm>
        </p:spPr>
        <p:txBody>
          <a:bodyPr/>
          <a:lstStyle/>
          <a:p>
            <a:pPr eaLnBrk="1" hangingPunct="1"/>
            <a:r>
              <a:rPr lang="en-US" altLang="en-US" smtClean="0"/>
              <a:t>Option starts at a future time,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endParaRPr lang="en-US" altLang="en-US" baseline="-25000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mtClean="0"/>
              <a:t>Often structured so that strike price equals asset price 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</a:p>
          <a:p>
            <a:pPr eaLnBrk="1" hangingPunct="1"/>
            <a:r>
              <a:rPr lang="en-CA" altLang="en-US" smtClean="0"/>
              <a:t>A plan to give at-the-money stock options to employees in each future year can be regarded as a series of forward start options</a:t>
            </a:r>
            <a:endParaRPr lang="en-US" altLang="en-US" smtClean="0"/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B1A564F-EAB9-42B1-849D-6561220DC85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Cliquet Option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A series of call or put options with rules determining how the strike price is determined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For example, a cliquet might consist of 20 at-the-money three-month options. The total life would then be five years 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When one option expires a new similar at-the-money is comes into existence 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smtClean="0"/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23234EF-FD21-41AC-A0C8-3B462CF1D59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Compound Option </a:t>
            </a:r>
            <a:r>
              <a:rPr lang="en-US" altLang="en-US" sz="2200" smtClean="0"/>
              <a:t>(page 486)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 eaLnBrk="1" hangingPunct="1"/>
            <a:r>
              <a:rPr lang="en-US" altLang="en-US" smtClean="0"/>
              <a:t>Option to buy or sell an option</a:t>
            </a:r>
          </a:p>
          <a:p>
            <a:pPr lvl="1" eaLnBrk="1" hangingPunct="1"/>
            <a:r>
              <a:rPr lang="en-US" altLang="en-US" smtClean="0"/>
              <a:t>Call on call</a:t>
            </a:r>
          </a:p>
          <a:p>
            <a:pPr lvl="1" eaLnBrk="1" hangingPunct="1"/>
            <a:r>
              <a:rPr lang="en-US" altLang="en-US" smtClean="0"/>
              <a:t>Put on call</a:t>
            </a:r>
          </a:p>
          <a:p>
            <a:pPr lvl="1" eaLnBrk="1" hangingPunct="1"/>
            <a:r>
              <a:rPr lang="en-US" altLang="en-US" smtClean="0"/>
              <a:t>Call on put</a:t>
            </a:r>
          </a:p>
          <a:p>
            <a:pPr lvl="1" eaLnBrk="1" hangingPunct="1"/>
            <a:r>
              <a:rPr lang="en-US" altLang="en-US" smtClean="0"/>
              <a:t>Put on put</a:t>
            </a:r>
          </a:p>
          <a:p>
            <a:pPr eaLnBrk="1" hangingPunct="1"/>
            <a:r>
              <a:rPr lang="en-US" altLang="en-US" smtClean="0"/>
              <a:t>Very sensitive to volatility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AE2CFF4-76BF-4A7F-897B-02AC5BA6769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Chooser Option </a:t>
            </a:r>
            <a:r>
              <a:rPr lang="en-US" altLang="en-US" sz="3500" smtClean="0"/>
              <a:t>“As You Like It” </a:t>
            </a:r>
            <a:r>
              <a:rPr lang="en-US" altLang="en-US" sz="2200" smtClean="0"/>
              <a:t>(page 480)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Option starts at time </a:t>
            </a:r>
            <a:r>
              <a:rPr lang="en-US" altLang="en-US" smtClean="0">
                <a:latin typeface="Times New Roman" panose="02020603050405020304" pitchFamily="18" charset="0"/>
              </a:rPr>
              <a:t>0</a:t>
            </a:r>
            <a:r>
              <a:rPr lang="en-US" altLang="en-US" smtClean="0"/>
              <a:t>, matures at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2</a:t>
            </a:r>
            <a:endParaRPr lang="en-US" altLang="en-US" i="1" smtClea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mtClean="0"/>
              <a:t>At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1</a:t>
            </a:r>
            <a:r>
              <a:rPr lang="en-US" altLang="en-US" smtClean="0">
                <a:latin typeface="Times New Roman" panose="02020603050405020304" pitchFamily="18" charset="0"/>
              </a:rPr>
              <a:t> (0 &lt;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1</a:t>
            </a:r>
            <a:r>
              <a:rPr lang="en-US" altLang="en-US" smtClean="0">
                <a:latin typeface="Times New Roman" panose="02020603050405020304" pitchFamily="18" charset="0"/>
              </a:rPr>
              <a:t> &lt;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2</a:t>
            </a:r>
            <a:r>
              <a:rPr lang="en-US" altLang="en-US" smtClean="0">
                <a:latin typeface="Times New Roman" panose="02020603050405020304" pitchFamily="18" charset="0"/>
              </a:rPr>
              <a:t>)</a:t>
            </a:r>
            <a:r>
              <a:rPr lang="en-US" altLang="en-US" smtClean="0"/>
              <a:t> buyer chooses whether it is a put or call</a:t>
            </a:r>
          </a:p>
          <a:p>
            <a:pPr eaLnBrk="1" hangingPunct="1"/>
            <a:r>
              <a:rPr lang="en-US" altLang="en-US" smtClean="0"/>
              <a:t>A few lines of algebra shows that this is a package</a:t>
            </a: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559D8D5-232C-48E9-8776-70B77AE37A2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Chooser Option as a Package</a:t>
            </a:r>
          </a:p>
        </p:txBody>
      </p:sp>
      <p:graphicFrame>
        <p:nvGraphicFramePr>
          <p:cNvPr id="24580" name="Object 3"/>
          <p:cNvGraphicFramePr>
            <a:graphicFrameLocks noChangeAspect="1"/>
          </p:cNvGraphicFramePr>
          <p:nvPr/>
        </p:nvGraphicFramePr>
        <p:xfrm>
          <a:off x="1219200" y="2132013"/>
          <a:ext cx="5943600" cy="368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4" imgW="2425700" imgH="1651000" progId="Equation.3">
                  <p:embed/>
                </p:oleObj>
              </mc:Choice>
              <mc:Fallback>
                <p:oleObj name="Equation" r:id="rId4" imgW="2425700" imgH="1651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132013"/>
                        <a:ext cx="5943600" cy="368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4582" name="Slide Number Placeholder 6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8377B5-CF30-4584-9D79-94B35AAEDBF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Barrier Options </a:t>
            </a:r>
            <a:r>
              <a:rPr lang="en-US" altLang="en-US" sz="2200" smtClean="0"/>
              <a:t>(page 480-481)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options: come into existence only if asset price hits barrier before option maturity</a:t>
            </a:r>
          </a:p>
          <a:p>
            <a:pPr eaLnBrk="1" hangingPunct="1"/>
            <a:r>
              <a:rPr lang="en-US" altLang="en-US" smtClean="0"/>
              <a:t>Out options: are knocked out if asset price hits barrier before option maturity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52C25E0-2318-4AD8-8375-C356B621408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Barrier Options </a:t>
            </a:r>
            <a:r>
              <a:rPr lang="en-US" altLang="en-US" sz="3000" smtClean="0"/>
              <a:t>(continued)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Up options: asset price hits barrier from below</a:t>
            </a:r>
          </a:p>
          <a:p>
            <a:pPr eaLnBrk="1" hangingPunct="1"/>
            <a:r>
              <a:rPr lang="en-US" altLang="en-US" smtClean="0"/>
              <a:t>Down options: asset price hits barrier from above</a:t>
            </a:r>
          </a:p>
          <a:p>
            <a:pPr eaLnBrk="1" hangingPunct="1"/>
            <a:r>
              <a:rPr lang="en-US" altLang="en-US" smtClean="0"/>
              <a:t>Option may be a put or a call</a:t>
            </a:r>
          </a:p>
          <a:p>
            <a:pPr eaLnBrk="1" hangingPunct="1"/>
            <a:r>
              <a:rPr lang="en-US" altLang="en-US" smtClean="0"/>
              <a:t>Eight possible combinations</a:t>
            </a:r>
            <a:endParaRPr lang="en-US" altLang="en-US" baseline="-25000" smtClean="0">
              <a:latin typeface="Times New Roman" panose="02020603050405020304" pitchFamily="18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96D6AAF-0DE2-4809-A4D2-6DB8CE94DBA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Parity Relations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i="1" smtClean="0">
                <a:latin typeface="Times New Roman" panose="02020603050405020304" pitchFamily="18" charset="0"/>
              </a:rPr>
              <a:t>c</a:t>
            </a:r>
            <a:r>
              <a:rPr lang="en-US" altLang="en-US" sz="4000" smtClean="0">
                <a:latin typeface="Times New Roman" panose="02020603050405020304" pitchFamily="18" charset="0"/>
              </a:rPr>
              <a:t> =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c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ui</a:t>
            </a:r>
            <a:r>
              <a:rPr lang="en-US" altLang="en-US" sz="4000" smtClean="0">
                <a:latin typeface="Times New Roman" panose="02020603050405020304" pitchFamily="18" charset="0"/>
              </a:rPr>
              <a:t> +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c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uo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i="1" smtClean="0">
                <a:latin typeface="Times New Roman" panose="02020603050405020304" pitchFamily="18" charset="0"/>
              </a:rPr>
              <a:t>c</a:t>
            </a:r>
            <a:r>
              <a:rPr lang="en-US" altLang="en-US" sz="4000" smtClean="0">
                <a:latin typeface="Times New Roman" panose="02020603050405020304" pitchFamily="18" charset="0"/>
              </a:rPr>
              <a:t> =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c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di</a:t>
            </a:r>
            <a:r>
              <a:rPr lang="en-US" altLang="en-US" sz="4000" smtClean="0">
                <a:latin typeface="Times New Roman" panose="02020603050405020304" pitchFamily="18" charset="0"/>
              </a:rPr>
              <a:t> +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c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do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i="1" smtClean="0">
                <a:latin typeface="Times New Roman" panose="02020603050405020304" pitchFamily="18" charset="0"/>
              </a:rPr>
              <a:t>p</a:t>
            </a:r>
            <a:r>
              <a:rPr lang="en-US" altLang="en-US" sz="4000" smtClean="0">
                <a:latin typeface="Times New Roman" panose="02020603050405020304" pitchFamily="18" charset="0"/>
              </a:rPr>
              <a:t> =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p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ui</a:t>
            </a:r>
            <a:r>
              <a:rPr lang="en-US" altLang="en-US" sz="4000" smtClean="0">
                <a:latin typeface="Times New Roman" panose="02020603050405020304" pitchFamily="18" charset="0"/>
              </a:rPr>
              <a:t> +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p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uo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4000" i="1" smtClean="0">
                <a:latin typeface="Times New Roman" panose="02020603050405020304" pitchFamily="18" charset="0"/>
              </a:rPr>
              <a:t>p</a:t>
            </a:r>
            <a:r>
              <a:rPr lang="en-US" altLang="en-US" sz="4000" smtClean="0">
                <a:latin typeface="Times New Roman" panose="02020603050405020304" pitchFamily="18" charset="0"/>
              </a:rPr>
              <a:t> =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p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di</a:t>
            </a:r>
            <a:r>
              <a:rPr lang="en-US" altLang="en-US" sz="4000" smtClean="0">
                <a:latin typeface="Times New Roman" panose="02020603050405020304" pitchFamily="18" charset="0"/>
              </a:rPr>
              <a:t> + </a:t>
            </a:r>
            <a:r>
              <a:rPr lang="en-US" altLang="en-US" sz="4000" i="1" smtClean="0">
                <a:latin typeface="Times New Roman" panose="02020603050405020304" pitchFamily="18" charset="0"/>
              </a:rPr>
              <a:t>p</a:t>
            </a:r>
            <a:r>
              <a:rPr lang="en-US" altLang="en-US" sz="4000" baseline="-25000" smtClean="0">
                <a:latin typeface="Times New Roman" panose="02020603050405020304" pitchFamily="18" charset="0"/>
              </a:rPr>
              <a:t>do</a:t>
            </a:r>
          </a:p>
          <a:p>
            <a:pPr eaLnBrk="1" hangingPunct="1"/>
            <a:endParaRPr lang="en-US" altLang="en-US" sz="4000" smtClean="0">
              <a:latin typeface="Times New Roman" panose="02020603050405020304" pitchFamily="18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2ACF09E-C627-469B-8E31-166EF54D064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Binary Options  </a:t>
            </a:r>
            <a:r>
              <a:rPr lang="en-US" altLang="en-US" sz="2200" smtClean="0"/>
              <a:t>(page 481-482)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Cash-or-nothing: pays </a:t>
            </a:r>
            <a:r>
              <a:rPr lang="en-US" i="1" dirty="0" smtClean="0">
                <a:latin typeface="Times New Roman" pitchFamily="18" charset="0"/>
              </a:rPr>
              <a:t>Q</a:t>
            </a:r>
            <a:r>
              <a:rPr lang="en-US" dirty="0" smtClean="0"/>
              <a:t> if </a:t>
            </a:r>
            <a:r>
              <a:rPr lang="en-US" i="1" dirty="0" smtClean="0">
                <a:latin typeface="Times New Roman" pitchFamily="18" charset="0"/>
              </a:rPr>
              <a:t>S </a:t>
            </a:r>
            <a:r>
              <a:rPr lang="en-US" dirty="0" smtClean="0">
                <a:latin typeface="Times New Roman" pitchFamily="18" charset="0"/>
              </a:rPr>
              <a:t>&gt; </a:t>
            </a:r>
            <a:r>
              <a:rPr lang="en-US" i="1" dirty="0" smtClean="0">
                <a:latin typeface="Times New Roman" pitchFamily="18" charset="0"/>
              </a:rPr>
              <a:t>K</a:t>
            </a:r>
            <a:r>
              <a:rPr lang="en-US" dirty="0" smtClean="0"/>
              <a:t> at time </a:t>
            </a:r>
            <a:r>
              <a:rPr lang="en-US" i="1" dirty="0" smtClean="0">
                <a:latin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</a:rPr>
              <a:t>,</a:t>
            </a:r>
            <a:r>
              <a:rPr lang="en-US" dirty="0" smtClean="0"/>
              <a:t> otherwise pays zero.</a:t>
            </a: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dirty="0" smtClean="0"/>
              <a:t>Value = </a:t>
            </a:r>
            <a:r>
              <a:rPr lang="en-US" i="1" dirty="0" smtClean="0">
                <a:latin typeface="Times New Roman" pitchFamily="18" charset="0"/>
              </a:rPr>
              <a:t>e</a:t>
            </a:r>
            <a:r>
              <a:rPr lang="en-US" i="1" baseline="30000" dirty="0" smtClean="0">
                <a:latin typeface="Times New Roman" pitchFamily="18" charset="0"/>
              </a:rPr>
              <a:t>–</a:t>
            </a:r>
            <a:r>
              <a:rPr lang="en-US" i="1" baseline="30000" dirty="0" err="1" smtClean="0">
                <a:latin typeface="Times New Roman" pitchFamily="18" charset="0"/>
              </a:rPr>
              <a:t>rT</a:t>
            </a:r>
            <a:r>
              <a:rPr lang="en-US" i="1" dirty="0" smtClean="0">
                <a:latin typeface="Times New Roman" pitchFamily="18" charset="0"/>
              </a:rPr>
              <a:t> Q</a:t>
            </a: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</a:rPr>
              <a:t>N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baseline="-25000" dirty="0" smtClean="0">
                <a:latin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</a:rPr>
              <a:t>)</a:t>
            </a:r>
          </a:p>
          <a:p>
            <a:pPr eaLnBrk="1" hangingPunct="1">
              <a:defRPr/>
            </a:pPr>
            <a:r>
              <a:rPr lang="en-US" dirty="0" smtClean="0"/>
              <a:t>Asset-or-nothing: pays </a:t>
            </a:r>
            <a:r>
              <a:rPr lang="en-US" i="1" dirty="0" smtClean="0">
                <a:latin typeface="Times New Roman" pitchFamily="18" charset="0"/>
              </a:rPr>
              <a:t>S</a:t>
            </a:r>
            <a:r>
              <a:rPr lang="en-US" dirty="0" smtClean="0"/>
              <a:t> if </a:t>
            </a:r>
            <a:r>
              <a:rPr lang="en-US" i="1" dirty="0" smtClean="0">
                <a:latin typeface="Times New Roman" pitchFamily="18" charset="0"/>
              </a:rPr>
              <a:t>S </a:t>
            </a:r>
            <a:r>
              <a:rPr lang="en-US" dirty="0" smtClean="0">
                <a:latin typeface="Times New Roman" pitchFamily="18" charset="0"/>
              </a:rPr>
              <a:t>&gt; </a:t>
            </a:r>
            <a:r>
              <a:rPr lang="en-US" i="1" dirty="0" smtClean="0">
                <a:latin typeface="Times New Roman" pitchFamily="18" charset="0"/>
              </a:rPr>
              <a:t>K</a:t>
            </a:r>
            <a:r>
              <a:rPr lang="en-US" dirty="0" smtClean="0"/>
              <a:t> at time </a:t>
            </a:r>
            <a:r>
              <a:rPr lang="en-US" i="1" dirty="0" smtClean="0">
                <a:latin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</a:rPr>
              <a:t>,</a:t>
            </a:r>
            <a:r>
              <a:rPr lang="en-US" dirty="0" smtClean="0"/>
              <a:t> otherwise pays zero.</a:t>
            </a: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dirty="0" smtClean="0"/>
              <a:t>Value = </a:t>
            </a:r>
            <a:r>
              <a:rPr lang="en-US" i="1" dirty="0" smtClean="0">
                <a:latin typeface="Times New Roman" pitchFamily="18" charset="0"/>
              </a:rPr>
              <a:t>S</a:t>
            </a:r>
            <a:r>
              <a:rPr lang="en-US" baseline="-25000" dirty="0" smtClean="0">
                <a:latin typeface="Times New Roman" pitchFamily="18" charset="0"/>
              </a:rPr>
              <a:t>0</a:t>
            </a:r>
            <a:r>
              <a:rPr lang="en-US" dirty="0" smtClean="0">
                <a:latin typeface="Times New Roman" pitchFamily="18" charset="0"/>
              </a:rPr>
              <a:t> </a:t>
            </a:r>
            <a:r>
              <a:rPr lang="en-US" i="1" dirty="0" smtClean="0">
                <a:latin typeface="Times New Roman" pitchFamily="18" charset="0"/>
              </a:rPr>
              <a:t>e</a:t>
            </a:r>
            <a:r>
              <a:rPr lang="en-US" i="1" baseline="30000" dirty="0" smtClean="0">
                <a:latin typeface="Times New Roman" pitchFamily="18" charset="0"/>
              </a:rPr>
              <a:t>–</a:t>
            </a:r>
            <a:r>
              <a:rPr lang="en-US" i="1" baseline="30000" dirty="0" err="1" smtClean="0">
                <a:latin typeface="Times New Roman" pitchFamily="18" charset="0"/>
              </a:rPr>
              <a:t>qT</a:t>
            </a:r>
            <a:r>
              <a:rPr lang="en-US" i="1" dirty="0" smtClean="0">
                <a:latin typeface="Times New Roman" pitchFamily="18" charset="0"/>
              </a:rPr>
              <a:t> N</a:t>
            </a:r>
            <a:r>
              <a:rPr lang="en-US" dirty="0" smtClean="0">
                <a:latin typeface="Times New Roman" pitchFamily="18" charset="0"/>
              </a:rPr>
              <a:t>(</a:t>
            </a:r>
            <a:r>
              <a:rPr lang="en-US" i="1" dirty="0" smtClean="0">
                <a:latin typeface="Times New Roman" pitchFamily="18" charset="0"/>
              </a:rPr>
              <a:t>d</a:t>
            </a:r>
            <a:r>
              <a:rPr lang="en-US" baseline="-25000" dirty="0" smtClean="0">
                <a:latin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</a:rPr>
              <a:t>)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latin typeface="Times New Roman" pitchFamily="18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E923C18-8E7C-4BC1-A909-1B704310070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Decomposition of a Call Option 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Long Asset-or-Nothing option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Short Cash-or-Nothing option where payoff is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Value = 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–qT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i="1" smtClean="0">
                <a:latin typeface="Times New Roman" panose="02020603050405020304" pitchFamily="18" charset="0"/>
              </a:rPr>
              <a:t>N</a:t>
            </a:r>
            <a:r>
              <a:rPr lang="en-US" altLang="en-US" smtClean="0">
                <a:latin typeface="Times New Roman" panose="02020603050405020304" pitchFamily="18" charset="0"/>
              </a:rPr>
              <a:t>(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1</a:t>
            </a:r>
            <a:r>
              <a:rPr lang="en-US" altLang="en-US" smtClean="0">
                <a:latin typeface="Times New Roman" panose="02020603050405020304" pitchFamily="18" charset="0"/>
              </a:rPr>
              <a:t>) – 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–rT</a:t>
            </a:r>
            <a:r>
              <a:rPr lang="en-US" altLang="en-US" i="1" smtClean="0">
                <a:latin typeface="Times New Roman" panose="02020603050405020304" pitchFamily="18" charset="0"/>
              </a:rPr>
              <a:t> KN</a:t>
            </a:r>
            <a:r>
              <a:rPr lang="en-US" altLang="en-US" smtClean="0">
                <a:latin typeface="Times New Roman" panose="02020603050405020304" pitchFamily="18" charset="0"/>
              </a:rPr>
              <a:t>(</a:t>
            </a:r>
            <a:r>
              <a:rPr lang="en-US" altLang="en-US" i="1" smtClean="0">
                <a:latin typeface="Times New Roman" panose="02020603050405020304" pitchFamily="18" charset="0"/>
              </a:rPr>
              <a:t>d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2</a:t>
            </a:r>
            <a:r>
              <a:rPr lang="en-US" altLang="en-US" smtClean="0">
                <a:latin typeface="Times New Roman" panose="02020603050405020304" pitchFamily="18" charset="0"/>
              </a:rPr>
              <a:t>)</a:t>
            </a:r>
            <a:endParaRPr lang="en-US" altLang="en-US" smtClean="0"/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FB5E59-BD12-405C-BEBC-B73F2AFDF7C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Lookback Options </a:t>
            </a:r>
            <a:r>
              <a:rPr lang="en-US" altLang="en-US" sz="2200" smtClean="0"/>
              <a:t>(pages 482)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Floating lookback call pays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min</a:t>
            </a:r>
            <a:r>
              <a:rPr lang="en-US" altLang="en-US" smtClean="0"/>
              <a:t> 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</a:p>
          <a:p>
            <a:pPr eaLnBrk="1" hangingPunct="1"/>
            <a:r>
              <a:rPr lang="en-US" altLang="en-US" smtClean="0"/>
              <a:t>Allows buyer to buy stock at lowest observed price in some interval of time</a:t>
            </a:r>
          </a:p>
          <a:p>
            <a:pPr eaLnBrk="1" hangingPunct="1"/>
            <a:r>
              <a:rPr lang="en-US" altLang="en-US" smtClean="0"/>
              <a:t>Floating lookback put pays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max</a:t>
            </a:r>
            <a:r>
              <a:rPr lang="en-US" altLang="en-US" smtClean="0">
                <a:latin typeface="Times New Roman" panose="02020603050405020304" pitchFamily="18" charset="0"/>
              </a:rPr>
              <a:t>–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</a:p>
          <a:p>
            <a:pPr eaLnBrk="1" hangingPunct="1"/>
            <a:r>
              <a:rPr lang="en-US" altLang="en-US" smtClean="0"/>
              <a:t>Allows buyer to sell stock at highest observed price in some interval of time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31347B9-95D3-4F8F-82F3-BE95022A8F1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Lookback Options </a:t>
            </a:r>
            <a:r>
              <a:rPr lang="en-CA" altLang="en-US" sz="2400" smtClean="0"/>
              <a:t>continued</a:t>
            </a:r>
            <a:endParaRPr lang="en-US" altLang="en-US" sz="240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Fixed lookback call pays off the maximum asset price minus a strike price</a:t>
            </a:r>
          </a:p>
          <a:p>
            <a:r>
              <a:rPr lang="en-CA" altLang="en-US" smtClean="0"/>
              <a:t>Fixed lookback put pays off the strike price minus the minimum asset price</a:t>
            </a:r>
            <a:endParaRPr lang="en-US" altLang="en-US" smtClean="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4C74DC0-8A8E-4638-88FA-354C62D511C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Shout Options </a:t>
            </a:r>
            <a:r>
              <a:rPr lang="en-US" altLang="en-US" sz="2200" smtClean="0"/>
              <a:t>(page 482-483)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0288" y="192881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Buyer can ‘shout’ once during option life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Final payoff is greater of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smtClean="0"/>
              <a:t>Usual option payoff, </a:t>
            </a:r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>
                <a:latin typeface="Times New Roman" panose="02020603050405020304" pitchFamily="18" charset="0"/>
              </a:rPr>
              <a:t>, 0)</a:t>
            </a:r>
            <a:r>
              <a:rPr lang="en-US" altLang="en-US" smtClean="0"/>
              <a:t>, or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US" smtClean="0"/>
              <a:t>Intrinsic value at time of shout,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Symbol" panose="05050102010706020507" pitchFamily="18" charset="2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Payoff: </a:t>
            </a:r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Symbol" panose="05050102010706020507" pitchFamily="18" charset="2"/>
              </a:rPr>
              <a:t>t </a:t>
            </a:r>
            <a:r>
              <a:rPr lang="en-US" altLang="en-US" smtClean="0">
                <a:latin typeface="Times New Roman" panose="02020603050405020304" pitchFamily="18" charset="0"/>
              </a:rPr>
              <a:t>, 0) +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Symbol" panose="05050102010706020507" pitchFamily="18" charset="2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Similar to lookback option but cheaper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How can a binomial tree be used to value a shout option?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A13C2EC-66CB-4C49-B95A-7CBF32FA8C5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bldLvl="2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Asian Options </a:t>
            </a:r>
            <a:r>
              <a:rPr lang="en-US" altLang="en-US" sz="2200" smtClean="0"/>
              <a:t>(page 483)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Payoff related to average stock price</a:t>
            </a:r>
          </a:p>
          <a:p>
            <a:pPr eaLnBrk="1" hangingPunct="1"/>
            <a:r>
              <a:rPr lang="en-US" altLang="en-US" smtClean="0"/>
              <a:t>Average Price options pay:</a:t>
            </a:r>
          </a:p>
          <a:p>
            <a:pPr lvl="1" eaLnBrk="1" hangingPunct="1"/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ave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>
                <a:latin typeface="Times New Roman" panose="02020603050405020304" pitchFamily="18" charset="0"/>
              </a:rPr>
              <a:t>, 0)</a:t>
            </a:r>
            <a:r>
              <a:rPr lang="en-US" altLang="en-US" smtClean="0"/>
              <a:t> (call), or</a:t>
            </a:r>
          </a:p>
          <a:p>
            <a:pPr lvl="1" eaLnBrk="1" hangingPunct="1"/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K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ave </a:t>
            </a:r>
            <a:r>
              <a:rPr lang="en-US" altLang="en-US" smtClean="0">
                <a:latin typeface="Times New Roman" panose="02020603050405020304" pitchFamily="18" charset="0"/>
              </a:rPr>
              <a:t>, 0)</a:t>
            </a:r>
            <a:r>
              <a:rPr lang="en-US" altLang="en-US" smtClean="0"/>
              <a:t> (put)</a:t>
            </a:r>
          </a:p>
          <a:p>
            <a:pPr eaLnBrk="1" hangingPunct="1"/>
            <a:r>
              <a:rPr lang="en-US" altLang="en-US" smtClean="0"/>
              <a:t>Average Strike options pay:</a:t>
            </a:r>
          </a:p>
          <a:p>
            <a:pPr lvl="1" eaLnBrk="1" hangingPunct="1"/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ave </a:t>
            </a:r>
            <a:r>
              <a:rPr lang="en-US" altLang="en-US" smtClean="0">
                <a:latin typeface="Times New Roman" panose="02020603050405020304" pitchFamily="18" charset="0"/>
              </a:rPr>
              <a:t>, 0)</a:t>
            </a:r>
            <a:r>
              <a:rPr lang="en-US" altLang="en-US" smtClean="0"/>
              <a:t> (call), or </a:t>
            </a:r>
          </a:p>
          <a:p>
            <a:pPr lvl="1" eaLnBrk="1" hangingPunct="1"/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ave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 </a:t>
            </a:r>
            <a:r>
              <a:rPr lang="en-US" altLang="en-US" smtClean="0">
                <a:latin typeface="Times New Roman" panose="02020603050405020304" pitchFamily="18" charset="0"/>
              </a:rPr>
              <a:t>, 0)</a:t>
            </a:r>
            <a:r>
              <a:rPr lang="en-US" altLang="en-US" smtClean="0"/>
              <a:t> (put)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978ADEA-4B43-4B3A-AE6F-6F4420725C2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Options to Exchange </a:t>
            </a:r>
            <a:r>
              <a:rPr lang="en-US" altLang="en-US" sz="2200" smtClean="0"/>
              <a:t>(page 483)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7631113" cy="4411662"/>
          </a:xfrm>
        </p:spPr>
        <p:txBody>
          <a:bodyPr/>
          <a:lstStyle/>
          <a:p>
            <a:pPr eaLnBrk="1" hangingPunct="1"/>
            <a:r>
              <a:rPr lang="en-US" altLang="en-US" smtClean="0"/>
              <a:t>Option to exchange one asset for another</a:t>
            </a:r>
          </a:p>
          <a:p>
            <a:pPr eaLnBrk="1" hangingPunct="1"/>
            <a:r>
              <a:rPr lang="en-US" altLang="en-US" smtClean="0"/>
              <a:t>When asset with price  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smtClean="0"/>
              <a:t> can be exchanged for asset with price 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smtClean="0"/>
              <a:t> payoff is </a:t>
            </a:r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, 0) </a:t>
            </a:r>
          </a:p>
          <a:p>
            <a:pPr eaLnBrk="1" hangingPunct="1"/>
            <a:r>
              <a:rPr lang="en-US" altLang="en-US" smtClean="0">
                <a:latin typeface="Times New Roman" panose="02020603050405020304" pitchFamily="18" charset="0"/>
              </a:rPr>
              <a:t>min(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, 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) =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–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, 0) </a:t>
            </a:r>
          </a:p>
          <a:p>
            <a:pPr eaLnBrk="1" hangingPunct="1"/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, 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) =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  </a:t>
            </a:r>
            <a:r>
              <a:rPr lang="en-US" altLang="en-US" smtClean="0">
                <a:latin typeface="Times New Roman" panose="02020603050405020304" pitchFamily="18" charset="0"/>
              </a:rPr>
              <a:t>+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 </a:t>
            </a:r>
            <a:r>
              <a:rPr lang="en-US" altLang="en-US" smtClean="0">
                <a:latin typeface="Times New Roman" panose="02020603050405020304" pitchFamily="18" charset="0"/>
              </a:rPr>
              <a:t>max(</a:t>
            </a:r>
            <a:r>
              <a:rPr lang="en-US" altLang="en-US" i="1" smtClean="0">
                <a:latin typeface="Times New Roman" panose="02020603050405020304" pitchFamily="18" charset="0"/>
              </a:rPr>
              <a:t>V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– </a:t>
            </a:r>
            <a:r>
              <a:rPr lang="en-US" altLang="en-US" i="1" smtClean="0">
                <a:latin typeface="Times New Roman" panose="02020603050405020304" pitchFamily="18" charset="0"/>
              </a:rPr>
              <a:t>U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, 0)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latin typeface="Times New Roman" panose="02020603050405020304" pitchFamily="18" charset="0"/>
            </a:endParaRPr>
          </a:p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5F83737-2D73-4071-AEB8-B9960C2E587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Basket Options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Options on the value of a portfolio of assets</a:t>
            </a:r>
          </a:p>
          <a:p>
            <a:r>
              <a:rPr lang="en-CA" altLang="en-US" smtClean="0"/>
              <a:t>Depends on correlations between asset returns as well as correlations between returns</a:t>
            </a: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865840B-3A66-483C-89DF-891CD02D27D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Types of Agency Mortgage-Backed Securities (MBSs)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1963" y="2127250"/>
            <a:ext cx="5681662" cy="40036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Pass-Through</a:t>
            </a:r>
          </a:p>
          <a:p>
            <a:pPr eaLnBrk="1" hangingPunct="1"/>
            <a:r>
              <a:rPr lang="en-US" altLang="en-US" smtClean="0"/>
              <a:t>Collateralized Mortgage Obligation (CMO)</a:t>
            </a:r>
          </a:p>
          <a:p>
            <a:pPr eaLnBrk="1" hangingPunct="1"/>
            <a:r>
              <a:rPr lang="en-US" altLang="en-US" smtClean="0"/>
              <a:t>Interest Only (IO)</a:t>
            </a:r>
          </a:p>
          <a:p>
            <a:pPr eaLnBrk="1" hangingPunct="1"/>
            <a:r>
              <a:rPr lang="en-US" altLang="en-US" smtClean="0"/>
              <a:t>Principal Only (PO)</a:t>
            </a:r>
          </a:p>
        </p:txBody>
      </p:sp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742BAB-2886-4F72-9BF9-BBFD84668CB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Variations on Vanilla Interest Rate Swaps </a:t>
            </a:r>
            <a:r>
              <a:rPr lang="en-US" altLang="en-US" sz="2400" smtClean="0"/>
              <a:t>(page 485-486)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Examples:</a:t>
            </a:r>
          </a:p>
          <a:p>
            <a:pPr lvl="1" eaLnBrk="1" hangingPunct="1"/>
            <a:r>
              <a:rPr lang="en-US" altLang="en-US" smtClean="0"/>
              <a:t>Principal different on two sides</a:t>
            </a:r>
          </a:p>
          <a:p>
            <a:pPr lvl="1" eaLnBrk="1" hangingPunct="1"/>
            <a:r>
              <a:rPr lang="en-US" altLang="en-US" smtClean="0"/>
              <a:t>Payment frequency different on two sides</a:t>
            </a:r>
          </a:p>
          <a:p>
            <a:pPr lvl="1" eaLnBrk="1" hangingPunct="1"/>
            <a:r>
              <a:rPr lang="en-US" altLang="en-US" smtClean="0"/>
              <a:t>Can be floating for floating instead of floating for fixed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1967802-E55D-4257-8D9F-B5A153F9A6D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Compounding Swaps </a:t>
            </a:r>
            <a:r>
              <a:rPr lang="en-US" altLang="en-US" sz="2400" smtClean="0"/>
              <a:t>(page 486-487)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0866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Interest is compounded instead of being paid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In Business Snapshot 22.2 the fixed side is 6% compounded forward at 6.3% while the floating side is LIBOR plus 20 bps compounded forward at LIBOR plus 10 bps.</a:t>
            </a:r>
          </a:p>
        </p:txBody>
      </p:sp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F55482C-7B9C-4BAD-B900-3DB3C30F1DA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More Complex Swaps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en-US" smtClean="0"/>
              <a:t>LIBOR-in-arrears swaps</a:t>
            </a:r>
          </a:p>
          <a:p>
            <a:pPr lvl="1" eaLnBrk="1" hangingPunct="1"/>
            <a:r>
              <a:rPr lang="en-US" altLang="en-US" smtClean="0"/>
              <a:t>CMS and CMT swaps</a:t>
            </a:r>
          </a:p>
          <a:p>
            <a:pPr lvl="1" eaLnBrk="1" hangingPunct="1"/>
            <a:r>
              <a:rPr lang="en-US" altLang="en-US" smtClean="0"/>
              <a:t>Differential swaps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These swaps cannot be correctly valued by assuming that forward rates will be realized. We must assume that the realized rate is the forward rate plus a “convexity adjustment”</a:t>
            </a:r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A260997-05E8-4E8A-A19A-96D061E4414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Equity Swaps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Total return on an equity index is exchanged periodically for a fixed or floating return</a:t>
            </a:r>
          </a:p>
          <a:p>
            <a:pPr eaLnBrk="1" hangingPunct="1"/>
            <a:r>
              <a:rPr lang="en-US" altLang="en-US" smtClean="0"/>
              <a:t>See Business Snapshot 22.3 on page 489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C213C73-1A6C-4DEB-A097-7980B0EA6D3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Swaps with Embedded Options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Accrual swaps</a:t>
            </a:r>
          </a:p>
          <a:p>
            <a:pPr eaLnBrk="1" hangingPunct="1"/>
            <a:r>
              <a:rPr lang="en-US" altLang="en-US" smtClean="0"/>
              <a:t>Cancelable swaps</a:t>
            </a:r>
          </a:p>
          <a:p>
            <a:pPr eaLnBrk="1" hangingPunct="1"/>
            <a:r>
              <a:rPr lang="en-US" altLang="en-US" smtClean="0"/>
              <a:t>Cancelable compounding swaps</a:t>
            </a: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74E8C74-1F72-430E-8B66-79D04DB64FA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CA" altLang="en-US" smtClean="0"/>
              <a:t>Fundamentals of Futures and Options Markets, 9th Ed, Ch 22, Copyright © John  C. Hull 2016</a:t>
            </a:r>
            <a:endParaRPr lang="en-US" altLang="en-US" i="0" smtClean="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Other Swaps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Indexed principal swap</a:t>
            </a:r>
          </a:p>
          <a:p>
            <a:pPr eaLnBrk="1" hangingPunct="1"/>
            <a:r>
              <a:rPr lang="en-US" altLang="en-US" smtClean="0"/>
              <a:t>Commodity swap</a:t>
            </a:r>
          </a:p>
          <a:p>
            <a:pPr eaLnBrk="1" hangingPunct="1"/>
            <a:r>
              <a:rPr lang="en-US" altLang="en-US" smtClean="0"/>
              <a:t>Volatility swap</a:t>
            </a:r>
          </a:p>
          <a:p>
            <a:pPr eaLnBrk="1" hangingPunct="1"/>
            <a:r>
              <a:rPr lang="en-US" altLang="en-US" smtClean="0"/>
              <a:t>Bizarre deals: for example the P&amp;G 5/30 swap </a:t>
            </a:r>
            <a:r>
              <a:rPr lang="en-US" altLang="en-US" sz="2400" smtClean="0"/>
              <a:t>( See Business Snapshot 22.4 on page 491)</a:t>
            </a: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E8C7F7-2597-4E50-BB74-036DD8AF0FF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1E7C29-8281-47E6-8209-B43E596CAF70}"/>
</file>

<file path=customXml/itemProps2.xml><?xml version="1.0" encoding="utf-8"?>
<ds:datastoreItem xmlns:ds="http://schemas.openxmlformats.org/officeDocument/2006/customXml" ds:itemID="{793E4164-7651-4112-9EE7-D792C4AAEC2C}"/>
</file>

<file path=customXml/itemProps3.xml><?xml version="1.0" encoding="utf-8"?>
<ds:datastoreItem xmlns:ds="http://schemas.openxmlformats.org/officeDocument/2006/customXml" ds:itemID="{CB4EF46F-F861-4F3A-9FAE-3C106942B7E1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356</TotalTime>
  <Words>1634</Words>
  <Application>Microsoft Office PowerPoint</Application>
  <PresentationFormat>On-screen Show (4:3)</PresentationFormat>
  <Paragraphs>205</Paragraphs>
  <Slides>30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Times New Roman</vt:lpstr>
      <vt:lpstr>Wingdings</vt:lpstr>
      <vt:lpstr>Symbol</vt:lpstr>
      <vt:lpstr>1_Network</vt:lpstr>
      <vt:lpstr>Equation</vt:lpstr>
      <vt:lpstr>Exotic Options and Other Nonstandard Products</vt:lpstr>
      <vt:lpstr>Types of Exotic Options</vt:lpstr>
      <vt:lpstr>Types of Exotic Options continued</vt:lpstr>
      <vt:lpstr>Packages (page 478)</vt:lpstr>
      <vt:lpstr>Nonstandard American Options (page 478)</vt:lpstr>
      <vt:lpstr>Gap Options</vt:lpstr>
      <vt:lpstr>Gap Option Pricing Formulas</vt:lpstr>
      <vt:lpstr>Forward Start Options (page 485)</vt:lpstr>
      <vt:lpstr>Cliquet Option</vt:lpstr>
      <vt:lpstr>Compound Option (page 486)</vt:lpstr>
      <vt:lpstr>Chooser Option “As You Like It” (page 480)</vt:lpstr>
      <vt:lpstr>Chooser Option as a Package</vt:lpstr>
      <vt:lpstr>Barrier Options (page 480-481)</vt:lpstr>
      <vt:lpstr>Barrier Options (continued)</vt:lpstr>
      <vt:lpstr>Parity Relations</vt:lpstr>
      <vt:lpstr>Binary Options  (page 481-482)</vt:lpstr>
      <vt:lpstr>Decomposition of a Call Option </vt:lpstr>
      <vt:lpstr>Lookback Options (pages 482)</vt:lpstr>
      <vt:lpstr>Lookback Options continued</vt:lpstr>
      <vt:lpstr>Shout Options (page 482-483)</vt:lpstr>
      <vt:lpstr>Asian Options (page 483)</vt:lpstr>
      <vt:lpstr>Options to Exchange (page 483)</vt:lpstr>
      <vt:lpstr>Basket Options</vt:lpstr>
      <vt:lpstr>Types of Agency Mortgage-Backed Securities (MBSs)</vt:lpstr>
      <vt:lpstr>Variations on Vanilla Interest Rate Swaps (page 485-486)</vt:lpstr>
      <vt:lpstr>Compounding Swaps (page 486-487)</vt:lpstr>
      <vt:lpstr>More Complex Swaps</vt:lpstr>
      <vt:lpstr>Equity Swaps</vt:lpstr>
      <vt:lpstr>Swaps with Embedded Options</vt:lpstr>
      <vt:lpstr>Other Swaps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Exotic Options and Other NonStandard Products</dc:title>
  <dc:subject>Fundamentals of Futures and Options Markets, 9e</dc:subject>
  <dc:creator>John C. Hull</dc:creator>
  <cp:keywords>Chapter 22</cp:keywords>
  <dc:description>Copyright 2016 by John C. Hull
All Rights Reserved. Published 2016.</dc:description>
  <cp:lastModifiedBy>John Hull</cp:lastModifiedBy>
  <cp:revision>20</cp:revision>
  <dcterms:created xsi:type="dcterms:W3CDTF">2001-03-28T20:16:39Z</dcterms:created>
  <dcterms:modified xsi:type="dcterms:W3CDTF">2016-01-20T21:06:21Z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