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8"/>
  </p:notesMasterIdLst>
  <p:handoutMasterIdLst>
    <p:handoutMasterId r:id="rId19"/>
  </p:handoutMasterIdLst>
  <p:sldIdLst>
    <p:sldId id="274" r:id="rId2"/>
    <p:sldId id="260" r:id="rId3"/>
    <p:sldId id="262" r:id="rId4"/>
    <p:sldId id="275" r:id="rId5"/>
    <p:sldId id="272" r:id="rId6"/>
    <p:sldId id="266" r:id="rId7"/>
    <p:sldId id="277" r:id="rId8"/>
    <p:sldId id="264" r:id="rId9"/>
    <p:sldId id="276" r:id="rId10"/>
    <p:sldId id="280" r:id="rId11"/>
    <p:sldId id="278" r:id="rId12"/>
    <p:sldId id="265" r:id="rId13"/>
    <p:sldId id="281" r:id="rId14"/>
    <p:sldId id="282" r:id="rId15"/>
    <p:sldId id="269" r:id="rId16"/>
    <p:sldId id="279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5" autoAdjust="0"/>
    <p:restoredTop sz="94604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339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398EF508-DDC8-4723-BB73-E4BA12A6DD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1520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763BDE-7371-46D8-9115-FB7F36DBFE87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405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0697B2-247A-4462-B1BF-242F3EFAFB17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17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95809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0C05BD-FFCA-4AEA-96C2-4D89DD96043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327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948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DED062-E72F-4BB8-B4D8-A37B951BA6AF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37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143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54E44A-95B4-4AF4-9A35-7FF2D8FFA8C1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34819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1941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948CD7-0D8F-4095-929A-EADAEB1C93C5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358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11341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08A085-E9C8-4463-9C55-DD193B96FBE4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734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D9FE142-512F-4A46-9A2C-9B7928ECDB1E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378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52061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1B0D52-E095-4C6D-8D17-9CEE23C4677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90053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842AB1-A6EB-41B9-A9C7-1EBE0445294D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9866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0CCFCA7-E6B2-4AFE-814B-3C9D17CA5124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839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DE7EF2-CB4A-4092-BBDE-4E33B9E6D685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89166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567BD1-C187-4652-B6D0-DCCCB87A2B26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5787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200140-D0F1-4D9F-8A9A-3ABEF21364E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>
            <a:solidFill>
              <a:schemeClr val="tx1"/>
            </a:solidFill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600182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D522E3-3405-4524-A57A-5BF19028CF83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5059" name="Rectangle 2050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02756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CF9D24-A55A-4519-BEE1-8001C7C99849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29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CA74B239-2722-4A4B-BB74-7757FA4DD4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14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8D2DB-60DC-4990-BE13-953BD825BA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61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CD5BC7-B04A-485F-91DF-C5F0972F23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14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0BE3D-6486-4BF3-B2A8-DECDEC58E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29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47165-CFC2-4A94-9CF4-10336184BD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44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880B5-C867-4E8E-A587-EDF81B8214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04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499F3-7DA2-4D46-AB6C-D89D064132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11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02C401-D883-4B67-BE18-02F1B0A1C8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15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2632B-DFED-46F5-B2BC-ED950DD06C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69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EB76A-972E-46EF-863F-0CD656CA86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275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27134-2884-4CBE-8633-09A6DD997E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98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89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19, Copyright © John  C. Hull 2016</a:t>
            </a:r>
            <a:endParaRPr lang="en-US" altLang="en-U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2455B579-86E7-4822-AFA1-114AE4A86EF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Volatility Smiles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2997200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19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51FAA3-61B2-4962-A6AB-ABAF4CD5536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Volatility Smile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7772400" cy="48339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A volatility smile shows, for options with a certain maturity, the variation of the implied volatility with the strike price </a:t>
            </a:r>
          </a:p>
          <a:p>
            <a:pPr eaLnBrk="1" hangingPunct="1"/>
            <a:r>
              <a:rPr lang="en-US" altLang="en-US" sz="2800" smtClean="0"/>
              <a:t>The volatility smile is the same whether calculated from European call options or European put options. (This follows from put-call parity.) </a:t>
            </a:r>
          </a:p>
          <a:p>
            <a:pPr eaLnBrk="1" hangingPunct="1"/>
            <a:r>
              <a:rPr lang="en-US" altLang="en-US" sz="2800" smtClean="0"/>
              <a:t>It is also approximately the same when calculated from American options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CD8B1E-6F1C-49F5-926C-943AD6B6FBB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536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7532687" cy="94138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Volatility Smile for Foreign Currency Options </a:t>
            </a:r>
            <a:br>
              <a:rPr lang="en-US" altLang="en-US" smtClean="0"/>
            </a:br>
            <a:r>
              <a:rPr lang="en-US" altLang="en-US" sz="2200" smtClean="0"/>
              <a:t>(Figure 19.1, page 414)</a:t>
            </a:r>
            <a:endParaRPr lang="en-US" altLang="en-US" smtClean="0"/>
          </a:p>
        </p:txBody>
      </p:sp>
      <p:grpSp>
        <p:nvGrpSpPr>
          <p:cNvPr id="15364" name="Group 1027"/>
          <p:cNvGrpSpPr>
            <a:grpSpLocks/>
          </p:cNvGrpSpPr>
          <p:nvPr/>
        </p:nvGrpSpPr>
        <p:grpSpPr bwMode="auto">
          <a:xfrm>
            <a:off x="2743200" y="2438400"/>
            <a:ext cx="3670300" cy="3279775"/>
            <a:chOff x="1728" y="1537"/>
            <a:chExt cx="2312" cy="2066"/>
          </a:xfrm>
        </p:grpSpPr>
        <p:sp>
          <p:nvSpPr>
            <p:cNvPr id="15372" name="Line 1028"/>
            <p:cNvSpPr>
              <a:spLocks noChangeShapeType="1"/>
            </p:cNvSpPr>
            <p:nvPr/>
          </p:nvSpPr>
          <p:spPr bwMode="auto">
            <a:xfrm>
              <a:off x="1728" y="1690"/>
              <a:ext cx="0" cy="16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Line 1029"/>
            <p:cNvSpPr>
              <a:spLocks noChangeShapeType="1"/>
            </p:cNvSpPr>
            <p:nvPr/>
          </p:nvSpPr>
          <p:spPr bwMode="auto">
            <a:xfrm>
              <a:off x="1728" y="3335"/>
              <a:ext cx="2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Rectangle 1030"/>
            <p:cNvSpPr>
              <a:spLocks noChangeArrowheads="1"/>
            </p:cNvSpPr>
            <p:nvPr/>
          </p:nvSpPr>
          <p:spPr bwMode="auto">
            <a:xfrm>
              <a:off x="1766" y="1537"/>
              <a:ext cx="7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Implied</a:t>
              </a:r>
              <a:endParaRPr lang="en-US" altLang="en-US"/>
            </a:p>
          </p:txBody>
        </p:sp>
        <p:sp>
          <p:nvSpPr>
            <p:cNvPr id="15375" name="Rectangle 1031"/>
            <p:cNvSpPr>
              <a:spLocks noChangeArrowheads="1"/>
            </p:cNvSpPr>
            <p:nvPr/>
          </p:nvSpPr>
          <p:spPr bwMode="auto">
            <a:xfrm>
              <a:off x="1766" y="1802"/>
              <a:ext cx="8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Volatility</a:t>
              </a:r>
              <a:endParaRPr lang="en-US" altLang="en-US"/>
            </a:p>
          </p:txBody>
        </p:sp>
        <p:sp>
          <p:nvSpPr>
            <p:cNvPr id="15376" name="Rectangle 1032"/>
            <p:cNvSpPr>
              <a:spLocks noChangeArrowheads="1"/>
            </p:cNvSpPr>
            <p:nvPr/>
          </p:nvSpPr>
          <p:spPr bwMode="auto">
            <a:xfrm>
              <a:off x="3404" y="3048"/>
              <a:ext cx="6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Strike</a:t>
              </a:r>
              <a:endParaRPr lang="en-US" altLang="en-US"/>
            </a:p>
          </p:txBody>
        </p:sp>
        <p:sp>
          <p:nvSpPr>
            <p:cNvPr id="15377" name="Rectangle 1033"/>
            <p:cNvSpPr>
              <a:spLocks noChangeArrowheads="1"/>
            </p:cNvSpPr>
            <p:nvPr/>
          </p:nvSpPr>
          <p:spPr bwMode="auto">
            <a:xfrm>
              <a:off x="3404" y="3315"/>
              <a:ext cx="5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Price</a:t>
              </a:r>
              <a:endParaRPr lang="en-US" altLang="en-US"/>
            </a:p>
          </p:txBody>
        </p:sp>
      </p:grpSp>
      <p:grpSp>
        <p:nvGrpSpPr>
          <p:cNvPr id="15365" name="Group 1034"/>
          <p:cNvGrpSpPr>
            <a:grpSpLocks/>
          </p:cNvGrpSpPr>
          <p:nvPr/>
        </p:nvGrpSpPr>
        <p:grpSpPr bwMode="auto">
          <a:xfrm>
            <a:off x="2762250" y="3505200"/>
            <a:ext cx="3263900" cy="611188"/>
            <a:chOff x="1740" y="2208"/>
            <a:chExt cx="2056" cy="385"/>
          </a:xfrm>
        </p:grpSpPr>
        <p:sp>
          <p:nvSpPr>
            <p:cNvPr id="15367" name="Freeform 1035"/>
            <p:cNvSpPr>
              <a:spLocks/>
            </p:cNvSpPr>
            <p:nvPr/>
          </p:nvSpPr>
          <p:spPr bwMode="auto">
            <a:xfrm>
              <a:off x="1740" y="2211"/>
              <a:ext cx="299" cy="210"/>
            </a:xfrm>
            <a:custGeom>
              <a:avLst/>
              <a:gdLst>
                <a:gd name="T0" fmla="*/ 0 w 299"/>
                <a:gd name="T1" fmla="*/ 0 h 210"/>
                <a:gd name="T2" fmla="*/ 6 w 299"/>
                <a:gd name="T3" fmla="*/ 0 h 210"/>
                <a:gd name="T4" fmla="*/ 12 w 299"/>
                <a:gd name="T5" fmla="*/ 6 h 210"/>
                <a:gd name="T6" fmla="*/ 18 w 299"/>
                <a:gd name="T7" fmla="*/ 9 h 210"/>
                <a:gd name="T8" fmla="*/ 24 w 299"/>
                <a:gd name="T9" fmla="*/ 15 h 210"/>
                <a:gd name="T10" fmla="*/ 30 w 299"/>
                <a:gd name="T11" fmla="*/ 18 h 210"/>
                <a:gd name="T12" fmla="*/ 90 w 299"/>
                <a:gd name="T13" fmla="*/ 73 h 210"/>
                <a:gd name="T14" fmla="*/ 153 w 299"/>
                <a:gd name="T15" fmla="*/ 124 h 210"/>
                <a:gd name="T16" fmla="*/ 235 w 299"/>
                <a:gd name="T17" fmla="*/ 179 h 210"/>
                <a:gd name="T18" fmla="*/ 268 w 299"/>
                <a:gd name="T19" fmla="*/ 191 h 210"/>
                <a:gd name="T20" fmla="*/ 298 w 299"/>
                <a:gd name="T21" fmla="*/ 209 h 2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9"/>
                <a:gd name="T34" fmla="*/ 0 h 210"/>
                <a:gd name="T35" fmla="*/ 299 w 299"/>
                <a:gd name="T36" fmla="*/ 210 h 21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9" h="210">
                  <a:moveTo>
                    <a:pt x="0" y="0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18" y="9"/>
                  </a:lnTo>
                  <a:lnTo>
                    <a:pt x="24" y="15"/>
                  </a:lnTo>
                  <a:lnTo>
                    <a:pt x="30" y="18"/>
                  </a:lnTo>
                  <a:lnTo>
                    <a:pt x="90" y="73"/>
                  </a:lnTo>
                  <a:lnTo>
                    <a:pt x="153" y="124"/>
                  </a:lnTo>
                  <a:lnTo>
                    <a:pt x="235" y="179"/>
                  </a:lnTo>
                  <a:lnTo>
                    <a:pt x="268" y="191"/>
                  </a:lnTo>
                  <a:lnTo>
                    <a:pt x="298" y="20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1036"/>
            <p:cNvSpPr>
              <a:spLocks/>
            </p:cNvSpPr>
            <p:nvPr/>
          </p:nvSpPr>
          <p:spPr bwMode="auto">
            <a:xfrm>
              <a:off x="2043" y="2420"/>
              <a:ext cx="499" cy="160"/>
            </a:xfrm>
            <a:custGeom>
              <a:avLst/>
              <a:gdLst>
                <a:gd name="T0" fmla="*/ 0 w 499"/>
                <a:gd name="T1" fmla="*/ 0 h 160"/>
                <a:gd name="T2" fmla="*/ 141 w 499"/>
                <a:gd name="T3" fmla="*/ 69 h 160"/>
                <a:gd name="T4" fmla="*/ 337 w 499"/>
                <a:gd name="T5" fmla="*/ 126 h 160"/>
                <a:gd name="T6" fmla="*/ 498 w 499"/>
                <a:gd name="T7" fmla="*/ 159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160"/>
                <a:gd name="T14" fmla="*/ 499 w 499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160">
                  <a:moveTo>
                    <a:pt x="0" y="0"/>
                  </a:moveTo>
                  <a:lnTo>
                    <a:pt x="141" y="69"/>
                  </a:lnTo>
                  <a:lnTo>
                    <a:pt x="337" y="126"/>
                  </a:lnTo>
                  <a:lnTo>
                    <a:pt x="498" y="15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1037"/>
            <p:cNvSpPr>
              <a:spLocks/>
            </p:cNvSpPr>
            <p:nvPr/>
          </p:nvSpPr>
          <p:spPr bwMode="auto">
            <a:xfrm>
              <a:off x="2541" y="2565"/>
              <a:ext cx="525" cy="28"/>
            </a:xfrm>
            <a:custGeom>
              <a:avLst/>
              <a:gdLst>
                <a:gd name="T0" fmla="*/ 0 w 525"/>
                <a:gd name="T1" fmla="*/ 15 h 28"/>
                <a:gd name="T2" fmla="*/ 174 w 525"/>
                <a:gd name="T3" fmla="*/ 27 h 28"/>
                <a:gd name="T4" fmla="*/ 305 w 525"/>
                <a:gd name="T5" fmla="*/ 27 h 28"/>
                <a:gd name="T6" fmla="*/ 524 w 525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5"/>
                <a:gd name="T13" fmla="*/ 0 h 28"/>
                <a:gd name="T14" fmla="*/ 525 w 525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5" h="28">
                  <a:moveTo>
                    <a:pt x="0" y="15"/>
                  </a:moveTo>
                  <a:lnTo>
                    <a:pt x="174" y="27"/>
                  </a:lnTo>
                  <a:lnTo>
                    <a:pt x="305" y="27"/>
                  </a:lnTo>
                  <a:lnTo>
                    <a:pt x="52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38"/>
            <p:cNvSpPr>
              <a:spLocks/>
            </p:cNvSpPr>
            <p:nvPr/>
          </p:nvSpPr>
          <p:spPr bwMode="auto">
            <a:xfrm>
              <a:off x="3065" y="2373"/>
              <a:ext cx="506" cy="193"/>
            </a:xfrm>
            <a:custGeom>
              <a:avLst/>
              <a:gdLst>
                <a:gd name="T0" fmla="*/ 0 w 506"/>
                <a:gd name="T1" fmla="*/ 192 h 193"/>
                <a:gd name="T2" fmla="*/ 187 w 506"/>
                <a:gd name="T3" fmla="*/ 146 h 193"/>
                <a:gd name="T4" fmla="*/ 301 w 506"/>
                <a:gd name="T5" fmla="*/ 107 h 193"/>
                <a:gd name="T6" fmla="*/ 433 w 506"/>
                <a:gd name="T7" fmla="*/ 43 h 193"/>
                <a:gd name="T8" fmla="*/ 505 w 506"/>
                <a:gd name="T9" fmla="*/ 0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6"/>
                <a:gd name="T16" fmla="*/ 0 h 193"/>
                <a:gd name="T17" fmla="*/ 506 w 506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6" h="193">
                  <a:moveTo>
                    <a:pt x="0" y="192"/>
                  </a:moveTo>
                  <a:lnTo>
                    <a:pt x="187" y="146"/>
                  </a:lnTo>
                  <a:lnTo>
                    <a:pt x="301" y="107"/>
                  </a:lnTo>
                  <a:lnTo>
                    <a:pt x="433" y="43"/>
                  </a:lnTo>
                  <a:lnTo>
                    <a:pt x="505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039"/>
            <p:cNvSpPr>
              <a:spLocks/>
            </p:cNvSpPr>
            <p:nvPr/>
          </p:nvSpPr>
          <p:spPr bwMode="auto">
            <a:xfrm>
              <a:off x="3570" y="2208"/>
              <a:ext cx="226" cy="166"/>
            </a:xfrm>
            <a:custGeom>
              <a:avLst/>
              <a:gdLst>
                <a:gd name="T0" fmla="*/ 0 w 226"/>
                <a:gd name="T1" fmla="*/ 165 h 166"/>
                <a:gd name="T2" fmla="*/ 54 w 226"/>
                <a:gd name="T3" fmla="*/ 135 h 166"/>
                <a:gd name="T4" fmla="*/ 113 w 226"/>
                <a:gd name="T5" fmla="*/ 93 h 166"/>
                <a:gd name="T6" fmla="*/ 173 w 226"/>
                <a:gd name="T7" fmla="*/ 45 h 166"/>
                <a:gd name="T8" fmla="*/ 225 w 226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"/>
                <a:gd name="T16" fmla="*/ 0 h 166"/>
                <a:gd name="T17" fmla="*/ 226 w 226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" h="166">
                  <a:moveTo>
                    <a:pt x="0" y="165"/>
                  </a:moveTo>
                  <a:lnTo>
                    <a:pt x="54" y="135"/>
                  </a:lnTo>
                  <a:lnTo>
                    <a:pt x="113" y="93"/>
                  </a:lnTo>
                  <a:lnTo>
                    <a:pt x="173" y="45"/>
                  </a:lnTo>
                  <a:lnTo>
                    <a:pt x="225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6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5C94FB-F302-477D-898A-F6BD6115E09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Implied Distribution for Foreign Currency Options</a:t>
            </a: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46300"/>
            <a:ext cx="7010400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19C4C9-3C16-4AAD-B845-C67038D257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741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Properties of Implied Distribution for Foreign Currency Options</a:t>
            </a:r>
          </a:p>
        </p:txBody>
      </p:sp>
      <p:sp>
        <p:nvSpPr>
          <p:cNvPr id="17412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Both tails are heavier than the lognormal distribution</a:t>
            </a:r>
          </a:p>
          <a:p>
            <a:pPr eaLnBrk="1" hangingPunct="1"/>
            <a:r>
              <a:rPr lang="en-US" altLang="en-US" smtClean="0"/>
              <a:t>It is also “more peaked” than the normal distribution 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012A43-972C-4319-8BB9-DAC574B9A7F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Possible Causes of Volatility Smile for Foreign Currencies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89138"/>
            <a:ext cx="7772400" cy="38163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Exchange rate exhibits jumps rather than continuous changes</a:t>
            </a:r>
          </a:p>
          <a:p>
            <a:pPr eaLnBrk="1" hangingPunct="1"/>
            <a:r>
              <a:rPr lang="en-US" altLang="en-US" smtClean="0"/>
              <a:t>Volatility of exchange rate is stochastic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ABF67F-FA58-44BC-92E1-1691E52F191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7543800" cy="1295400"/>
          </a:xfrm>
        </p:spPr>
        <p:txBody>
          <a:bodyPr/>
          <a:lstStyle/>
          <a:p>
            <a:r>
              <a:rPr lang="en-CA" altLang="en-US" smtClean="0"/>
              <a:t>Historical Analysis of Daily Exchange Rate Changes </a:t>
            </a:r>
            <a:r>
              <a:rPr lang="en-CA" altLang="en-US" sz="2400" smtClean="0"/>
              <a:t>(10 exchange rates, 2005-2015; Table 19.1, page 415)</a:t>
            </a:r>
            <a:endParaRPr lang="en-US" altLang="en-US" sz="2400" smtClean="0"/>
          </a:p>
        </p:txBody>
      </p:sp>
      <p:sp>
        <p:nvSpPr>
          <p:cNvPr id="1945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graphicFrame>
        <p:nvGraphicFramePr>
          <p:cNvPr id="5" name="Group 43"/>
          <p:cNvGraphicFramePr>
            <a:graphicFrameLocks/>
          </p:cNvGraphicFramePr>
          <p:nvPr/>
        </p:nvGraphicFramePr>
        <p:xfrm>
          <a:off x="900113" y="2205038"/>
          <a:ext cx="7112000" cy="3937000"/>
        </p:xfrm>
        <a:graphic>
          <a:graphicData uri="http://schemas.openxmlformats.org/drawingml/2006/table">
            <a:tbl>
              <a:tblPr/>
              <a:tblGrid>
                <a:gridCol w="2080547"/>
                <a:gridCol w="2408355"/>
                <a:gridCol w="2623099"/>
              </a:tblGrid>
              <a:tr h="823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Real World (%)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 Model (%)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&gt;1 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23.32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31.73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&gt;2SD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4.67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4.55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&gt;3SD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1.30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0.27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&gt;4SD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0.49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&gt;5SD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0.24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&gt;6SD</a:t>
                      </a:r>
                    </a:p>
                  </a:txBody>
                  <a:tcPr marL="92068" marR="92068" marT="46052" marB="460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0.13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68" marR="92068" marT="46052" marB="460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D7E81E-36F8-4BB7-9056-94457B3A3D6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820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Volatility Smile for Equity Options </a:t>
            </a:r>
            <a:r>
              <a:rPr lang="en-US" altLang="en-US" sz="2200" smtClean="0"/>
              <a:t>(Figure 19.3, page 417)</a:t>
            </a:r>
            <a:endParaRPr lang="en-US" altLang="en-US" smtClean="0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2743200" y="2468563"/>
            <a:ext cx="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2743200" y="5287963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803525" y="2209800"/>
            <a:ext cx="116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Implied</a:t>
            </a:r>
            <a:endParaRPr lang="en-US" altLang="en-US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2803525" y="2590800"/>
            <a:ext cx="1463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Volatility</a:t>
            </a:r>
            <a:endParaRPr lang="en-US" altLang="en-US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394325" y="4800600"/>
            <a:ext cx="96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Strike</a:t>
            </a:r>
            <a:endParaRPr lang="en-US" altLang="en-US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5394325" y="5257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Price</a:t>
            </a:r>
            <a:endParaRPr lang="en-US" altLang="en-US"/>
          </a:p>
        </p:txBody>
      </p:sp>
      <p:grpSp>
        <p:nvGrpSpPr>
          <p:cNvPr id="20490" name="Group 10"/>
          <p:cNvGrpSpPr>
            <a:grpSpLocks/>
          </p:cNvGrpSpPr>
          <p:nvPr/>
        </p:nvGrpSpPr>
        <p:grpSpPr bwMode="auto">
          <a:xfrm>
            <a:off x="2941638" y="3355975"/>
            <a:ext cx="2471737" cy="1438275"/>
            <a:chOff x="1853" y="2114"/>
            <a:chExt cx="1557" cy="906"/>
          </a:xfrm>
        </p:grpSpPr>
        <p:sp>
          <p:nvSpPr>
            <p:cNvPr id="20492" name="Freeform 11"/>
            <p:cNvSpPr>
              <a:spLocks/>
            </p:cNvSpPr>
            <p:nvPr/>
          </p:nvSpPr>
          <p:spPr bwMode="auto">
            <a:xfrm>
              <a:off x="1853" y="2114"/>
              <a:ext cx="205" cy="260"/>
            </a:xfrm>
            <a:custGeom>
              <a:avLst/>
              <a:gdLst>
                <a:gd name="T0" fmla="*/ 0 w 205"/>
                <a:gd name="T1" fmla="*/ 0 h 260"/>
                <a:gd name="T2" fmla="*/ 6 w 205"/>
                <a:gd name="T3" fmla="*/ 3 h 260"/>
                <a:gd name="T4" fmla="*/ 8 w 205"/>
                <a:gd name="T5" fmla="*/ 9 h 260"/>
                <a:gd name="T6" fmla="*/ 13 w 205"/>
                <a:gd name="T7" fmla="*/ 14 h 260"/>
                <a:gd name="T8" fmla="*/ 17 w 205"/>
                <a:gd name="T9" fmla="*/ 20 h 260"/>
                <a:gd name="T10" fmla="*/ 21 w 205"/>
                <a:gd name="T11" fmla="*/ 24 h 260"/>
                <a:gd name="T12" fmla="*/ 60 w 205"/>
                <a:gd name="T13" fmla="*/ 84 h 260"/>
                <a:gd name="T14" fmla="*/ 101 w 205"/>
                <a:gd name="T15" fmla="*/ 145 h 260"/>
                <a:gd name="T16" fmla="*/ 157 w 205"/>
                <a:gd name="T17" fmla="*/ 213 h 260"/>
                <a:gd name="T18" fmla="*/ 183 w 205"/>
                <a:gd name="T19" fmla="*/ 234 h 260"/>
                <a:gd name="T20" fmla="*/ 204 w 205"/>
                <a:gd name="T21" fmla="*/ 259 h 2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5"/>
                <a:gd name="T34" fmla="*/ 0 h 260"/>
                <a:gd name="T35" fmla="*/ 205 w 205"/>
                <a:gd name="T36" fmla="*/ 260 h 26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5" h="260">
                  <a:moveTo>
                    <a:pt x="0" y="0"/>
                  </a:moveTo>
                  <a:lnTo>
                    <a:pt x="6" y="3"/>
                  </a:lnTo>
                  <a:lnTo>
                    <a:pt x="8" y="9"/>
                  </a:lnTo>
                  <a:lnTo>
                    <a:pt x="13" y="14"/>
                  </a:lnTo>
                  <a:lnTo>
                    <a:pt x="17" y="20"/>
                  </a:lnTo>
                  <a:lnTo>
                    <a:pt x="21" y="24"/>
                  </a:lnTo>
                  <a:lnTo>
                    <a:pt x="60" y="84"/>
                  </a:lnTo>
                  <a:lnTo>
                    <a:pt x="101" y="145"/>
                  </a:lnTo>
                  <a:lnTo>
                    <a:pt x="157" y="213"/>
                  </a:lnTo>
                  <a:lnTo>
                    <a:pt x="183" y="234"/>
                  </a:lnTo>
                  <a:lnTo>
                    <a:pt x="204" y="25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2"/>
            <p:cNvSpPr>
              <a:spLocks/>
            </p:cNvSpPr>
            <p:nvPr/>
          </p:nvSpPr>
          <p:spPr bwMode="auto">
            <a:xfrm>
              <a:off x="2062" y="2376"/>
              <a:ext cx="394" cy="316"/>
            </a:xfrm>
            <a:custGeom>
              <a:avLst/>
              <a:gdLst>
                <a:gd name="T0" fmla="*/ 0 w 394"/>
                <a:gd name="T1" fmla="*/ 0 h 316"/>
                <a:gd name="T2" fmla="*/ 105 w 394"/>
                <a:gd name="T3" fmla="*/ 104 h 316"/>
                <a:gd name="T4" fmla="*/ 260 w 394"/>
                <a:gd name="T5" fmla="*/ 225 h 316"/>
                <a:gd name="T6" fmla="*/ 393 w 394"/>
                <a:gd name="T7" fmla="*/ 315 h 3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4"/>
                <a:gd name="T13" fmla="*/ 0 h 316"/>
                <a:gd name="T14" fmla="*/ 394 w 394"/>
                <a:gd name="T15" fmla="*/ 316 h 3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4" h="316">
                  <a:moveTo>
                    <a:pt x="0" y="0"/>
                  </a:moveTo>
                  <a:lnTo>
                    <a:pt x="105" y="104"/>
                  </a:lnTo>
                  <a:lnTo>
                    <a:pt x="260" y="225"/>
                  </a:lnTo>
                  <a:lnTo>
                    <a:pt x="393" y="31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13"/>
            <p:cNvSpPr>
              <a:spLocks/>
            </p:cNvSpPr>
            <p:nvPr/>
          </p:nvSpPr>
          <p:spPr bwMode="auto">
            <a:xfrm>
              <a:off x="2455" y="2691"/>
              <a:ext cx="463" cy="224"/>
            </a:xfrm>
            <a:custGeom>
              <a:avLst/>
              <a:gdLst>
                <a:gd name="T0" fmla="*/ 0 w 463"/>
                <a:gd name="T1" fmla="*/ 0 h 224"/>
                <a:gd name="T2" fmla="*/ 149 w 463"/>
                <a:gd name="T3" fmla="*/ 85 h 224"/>
                <a:gd name="T4" fmla="*/ 262 w 463"/>
                <a:gd name="T5" fmla="*/ 143 h 224"/>
                <a:gd name="T6" fmla="*/ 462 w 463"/>
                <a:gd name="T7" fmla="*/ 223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3"/>
                <a:gd name="T13" fmla="*/ 0 h 224"/>
                <a:gd name="T14" fmla="*/ 463 w 463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3" h="224">
                  <a:moveTo>
                    <a:pt x="0" y="0"/>
                  </a:moveTo>
                  <a:lnTo>
                    <a:pt x="149" y="85"/>
                  </a:lnTo>
                  <a:lnTo>
                    <a:pt x="262" y="143"/>
                  </a:lnTo>
                  <a:lnTo>
                    <a:pt x="462" y="22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14"/>
            <p:cNvSpPr>
              <a:spLocks/>
            </p:cNvSpPr>
            <p:nvPr/>
          </p:nvSpPr>
          <p:spPr bwMode="auto">
            <a:xfrm>
              <a:off x="2917" y="2914"/>
              <a:ext cx="493" cy="106"/>
            </a:xfrm>
            <a:custGeom>
              <a:avLst/>
              <a:gdLst>
                <a:gd name="T0" fmla="*/ 0 w 493"/>
                <a:gd name="T1" fmla="*/ 0 h 106"/>
                <a:gd name="T2" fmla="*/ 174 w 493"/>
                <a:gd name="T3" fmla="*/ 54 h 106"/>
                <a:gd name="T4" fmla="*/ 284 w 493"/>
                <a:gd name="T5" fmla="*/ 79 h 106"/>
                <a:gd name="T6" fmla="*/ 417 w 493"/>
                <a:gd name="T7" fmla="*/ 99 h 106"/>
                <a:gd name="T8" fmla="*/ 492 w 493"/>
                <a:gd name="T9" fmla="*/ 105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3"/>
                <a:gd name="T16" fmla="*/ 0 h 106"/>
                <a:gd name="T17" fmla="*/ 493 w 493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3" h="106">
                  <a:moveTo>
                    <a:pt x="0" y="0"/>
                  </a:moveTo>
                  <a:lnTo>
                    <a:pt x="174" y="54"/>
                  </a:lnTo>
                  <a:lnTo>
                    <a:pt x="284" y="79"/>
                  </a:lnTo>
                  <a:lnTo>
                    <a:pt x="417" y="99"/>
                  </a:lnTo>
                  <a:lnTo>
                    <a:pt x="492" y="10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1" name="Slide Number Placeholder 1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8D0B24-435F-421A-85A0-2F88B03C06F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Implied Distribution for Equity Options</a:t>
            </a: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46300"/>
            <a:ext cx="6858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18E5E5-16C2-4EAE-9360-C0EB076AA61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Properties of Implied Distribution for Equity Options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19, Copyright © John 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253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A9F629-94AD-4E0B-9C56-1E4747E4C840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2533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left tail is heavier than the lognormal distribution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right tail is less heavy than the lognormal distribution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Reasons for Smile in Equity Options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Leverage</a:t>
            </a:r>
          </a:p>
          <a:p>
            <a:r>
              <a:rPr lang="en-CA" altLang="en-US" smtClean="0"/>
              <a:t>Crashophobia</a:t>
            </a:r>
            <a:endParaRPr lang="en-US" altLang="en-US" smtClean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9948A9-04DD-406D-8CD2-1124683A057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Other Volatility Smiles?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What is the volatility smile if</a:t>
            </a:r>
          </a:p>
          <a:p>
            <a:pPr eaLnBrk="1" hangingPunct="1"/>
            <a:r>
              <a:rPr lang="en-US" altLang="en-US" smtClean="0"/>
              <a:t>True distribution has a less heavy left tail and heavier right tail</a:t>
            </a:r>
          </a:p>
          <a:p>
            <a:pPr eaLnBrk="1" hangingPunct="1"/>
            <a:r>
              <a:rPr lang="en-US" altLang="en-US" smtClean="0"/>
              <a:t>True distribution has both a less heavy left tail and a less heavy right tail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1E128-2413-4E71-A162-EF2658839B3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Ways of Characterizing the Volatility Smiles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19, Copyright © John 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8D841B-F048-4572-BC84-5F20D9DA743B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4213" y="1484313"/>
            <a:ext cx="7772400" cy="4586287"/>
          </a:xfrm>
        </p:spPr>
        <p:txBody>
          <a:bodyPr/>
          <a:lstStyle/>
          <a:p>
            <a:pPr marL="765810" lvl="1" indent="-283464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200" dirty="0" smtClean="0"/>
          </a:p>
          <a:p>
            <a:pPr eaLnBrk="1" hangingPunct="1">
              <a:defRPr/>
            </a:pPr>
            <a:r>
              <a:rPr lang="en-US" sz="2400" dirty="0" smtClean="0"/>
              <a:t>Plot implied volatility against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/>
              <a:t>/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eaLnBrk="1" hangingPunct="1">
              <a:defRPr/>
            </a:pPr>
            <a:r>
              <a:rPr lang="en-US" sz="2400" dirty="0" smtClean="0"/>
              <a:t>Plot implied volatility against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/>
              <a:t>/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aseline="-25000" dirty="0" smtClean="0"/>
              <a:t> </a:t>
            </a:r>
          </a:p>
          <a:p>
            <a:pPr lvl="1" eaLnBrk="1" hangingPunct="1">
              <a:defRPr/>
            </a:pPr>
            <a:r>
              <a:rPr lang="en-US" sz="2000" dirty="0" err="1" smtClean="0"/>
              <a:t>Tarders</a:t>
            </a:r>
            <a:r>
              <a:rPr lang="en-US" sz="2000" dirty="0" smtClean="0"/>
              <a:t> may define an option as at-the-money when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dirty="0" smtClean="0"/>
              <a:t> equals the forward price,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 smtClean="0"/>
              <a:t>,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not when it equals the spot price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000" dirty="0" smtClean="0"/>
          </a:p>
          <a:p>
            <a:pPr eaLnBrk="1" hangingPunct="1">
              <a:defRPr/>
            </a:pPr>
            <a:r>
              <a:rPr lang="en-US" sz="2400" dirty="0" smtClean="0"/>
              <a:t>Plot implied volatility against delta of the option </a:t>
            </a:r>
          </a:p>
          <a:p>
            <a:pPr lvl="1" eaLnBrk="1" hangingPunct="1">
              <a:defRPr/>
            </a:pPr>
            <a:r>
              <a:rPr lang="en-US" sz="2000" dirty="0" smtClean="0"/>
              <a:t>Traders may define at-the money as a call with a delta of 0.5 or a put with a delta of −0.5. These are referred to as “50-delta options”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-100013"/>
            <a:ext cx="7543800" cy="1295401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Volatility Term Structure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12875"/>
            <a:ext cx="8229600" cy="441166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In addition to calculating a volatility smile, traders also calculate a volatility term structure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This shows the variation of implied volatility with the time to maturity of the option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The volatility term structure tends to be downward sloping when volatility is high and upward sloping when it is low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19, Copyright © John 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D3176CF-0522-47CB-9CCE-486275F7EDDF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 of a Volatility Surface</a:t>
            </a:r>
            <a:br>
              <a:rPr lang="en-US" altLang="en-US" smtClean="0"/>
            </a:br>
            <a:r>
              <a:rPr lang="en-US" altLang="en-US" sz="2200" smtClean="0"/>
              <a:t>(Table 19.2, page 419)</a:t>
            </a:r>
            <a:endParaRPr lang="en-US" altLang="en-US" smtClean="0"/>
          </a:p>
        </p:txBody>
      </p:sp>
      <p:graphicFrame>
        <p:nvGraphicFramePr>
          <p:cNvPr id="27652" name="Object 3"/>
          <p:cNvGraphicFramePr>
            <a:graphicFrameLocks/>
          </p:cNvGraphicFramePr>
          <p:nvPr/>
        </p:nvGraphicFramePr>
        <p:xfrm>
          <a:off x="1524000" y="2133600"/>
          <a:ext cx="6076950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Document" r:id="rId4" imgW="6086856" imgH="5507736" progId="Word.Document.8">
                  <p:embed/>
                </p:oleObj>
              </mc:Choice>
              <mc:Fallback>
                <p:oleObj name="Document" r:id="rId4" imgW="6086856" imgH="5507736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33600"/>
                        <a:ext cx="6076950" cy="403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31054D-3D45-4D80-955B-F935AE0A670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 Impact of a Large Jump </a:t>
            </a:r>
            <a:r>
              <a:rPr lang="en-CA" altLang="en-US" sz="2400" smtClean="0"/>
              <a:t>(pages 420 to 421)</a:t>
            </a:r>
            <a:endParaRPr lang="en-US" altLang="en-US" sz="2400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At the money implied volatilities are higher that in-the-money or out-of-the-money options (so that the smile is a frown!)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19, Copyright © John  C. Hull 2016</a:t>
            </a:r>
            <a:endParaRPr lang="en-US" altLang="en-US" sz="1400" i="0" smtClean="0"/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0A1ECE-14A6-4BA6-AE34-2800DC09C31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94EBC2-9FD3-4613-8767-01958D9D59F4}"/>
</file>

<file path=customXml/itemProps2.xml><?xml version="1.0" encoding="utf-8"?>
<ds:datastoreItem xmlns:ds="http://schemas.openxmlformats.org/officeDocument/2006/customXml" ds:itemID="{F4BA4743-E5B2-4C53-A9FC-C323774AA223}"/>
</file>

<file path=customXml/itemProps3.xml><?xml version="1.0" encoding="utf-8"?>
<ds:datastoreItem xmlns:ds="http://schemas.openxmlformats.org/officeDocument/2006/customXml" ds:itemID="{7592C8C1-562C-4312-9841-1C7744AF9F78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649</TotalTime>
  <Words>764</Words>
  <Application>Microsoft Office PowerPoint</Application>
  <PresentationFormat>On-screen Show (4:3)</PresentationFormat>
  <Paragraphs>119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Times New Roman</vt:lpstr>
      <vt:lpstr>Wingdings</vt:lpstr>
      <vt:lpstr>1_Network</vt:lpstr>
      <vt:lpstr>Microsoft Word Document</vt:lpstr>
      <vt:lpstr>Volatility Smiles</vt:lpstr>
      <vt:lpstr>Volatility Smile</vt:lpstr>
      <vt:lpstr>The Volatility Smile for Foreign Currency Options  (Figure 19.1, page 414)</vt:lpstr>
      <vt:lpstr>Implied Distribution for Foreign Currency Options</vt:lpstr>
      <vt:lpstr>Properties of Implied Distribution for Foreign Currency Options</vt:lpstr>
      <vt:lpstr>Possible Causes of Volatility Smile for Foreign Currencies</vt:lpstr>
      <vt:lpstr>Historical Analysis of Daily Exchange Rate Changes (10 exchange rates, 2005-2015; Table 19.1, page 415)</vt:lpstr>
      <vt:lpstr>The Volatility Smile for Equity Options (Figure 19.3, page 417)</vt:lpstr>
      <vt:lpstr>Implied Distribution for Equity Options</vt:lpstr>
      <vt:lpstr>Properties of Implied Distribution for Equity Options</vt:lpstr>
      <vt:lpstr>Reasons for Smile in Equity Options</vt:lpstr>
      <vt:lpstr>Other Volatility Smiles?</vt:lpstr>
      <vt:lpstr>Ways of Characterizing the Volatility Smiles</vt:lpstr>
      <vt:lpstr>Volatility Term Structure</vt:lpstr>
      <vt:lpstr>Example of a Volatility Surface (Table 19.2, page 419)</vt:lpstr>
      <vt:lpstr>The Impact of a Large Jump (pages 420 to 421)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Volatility Smiles</dc:title>
  <dc:subject>Fundamentals of Futures and Options Markets, 9e</dc:subject>
  <dc:creator>John C.  Hull</dc:creator>
  <cp:keywords>Chapter 19</cp:keywords>
  <dc:description>Copyright 2016 by John C. Hull.
All rights reserved. Published 2016.</dc:description>
  <cp:lastModifiedBy>John Hull</cp:lastModifiedBy>
  <cp:revision>36</cp:revision>
  <cp:lastPrinted>1999-07-13T16:56:59Z</cp:lastPrinted>
  <dcterms:created xsi:type="dcterms:W3CDTF">1999-07-02T23:37:50Z</dcterms:created>
  <dcterms:modified xsi:type="dcterms:W3CDTF">2016-01-20T21:05:03Z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