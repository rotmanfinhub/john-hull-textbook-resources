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262" r:id="rId2"/>
    <p:sldId id="257" r:id="rId3"/>
    <p:sldId id="258" r:id="rId4"/>
    <p:sldId id="259" r:id="rId5"/>
    <p:sldId id="264" r:id="rId6"/>
    <p:sldId id="265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22" d="100"/>
          <a:sy n="122" d="100"/>
        </p:scale>
        <p:origin x="12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3" d="100"/>
          <a:sy n="43" d="100"/>
        </p:scale>
        <p:origin x="-147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1336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C941534-F60F-46DF-B7D4-B7800F1892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039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9D037FC-EA52-45DE-A0AA-B6FA4A54D3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447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43836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33407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04403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57086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2694AC-9851-4F3E-B6E0-A8B7A0DFDD9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372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F629EB-EE25-49AC-A023-777E9503125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25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3800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25A637B8-E658-463C-BFF1-B056E6E68B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71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C76BF-E695-4F97-A1F3-5941B6B7D8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65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97F59F-1F62-4D7E-BE04-D5CFC0A33C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62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7AB84-F851-4716-8B2C-BD4D4B0CC0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90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AC3A89-F334-4B7B-9411-CDE8FD7CA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268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27F07-1E97-44C8-BAB2-2FE279FEA2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61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E55070-E0D2-43C9-9A68-78A8581F4E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82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6D40C-EC80-4235-B294-4DA0D9182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154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C481F-8935-49AA-A265-2DA2320D46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06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D7650-1F7C-4B98-8494-90F6D554C3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43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D821D-1AF5-4312-AEAC-A6AAE345B5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50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25, Copyright © John C. Hull 2016</a:t>
            </a:r>
            <a:endParaRPr lang="en-US" altLang="en-US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68B43314-F33B-4E97-A076-82651A78424F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82955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25, Copyright © John C. Hull 2016</a:t>
            </a:r>
            <a:endParaRPr lang="en-US" altLang="en-US" sz="1400" i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400" smtClean="0"/>
              <a:t>Derivatives Mishaps and What We Can Learn from Them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25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EE4D8F-1918-4814-9C02-24AC5954E71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25, Copyright © John C. Hull 2016</a:t>
            </a:r>
            <a:endParaRPr lang="en-US" altLang="en-US" sz="1400" i="0"/>
          </a:p>
        </p:txBody>
      </p:sp>
      <p:sp>
        <p:nvSpPr>
          <p:cNvPr id="1433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Big Losses by Financial Institutions</a:t>
            </a:r>
          </a:p>
        </p:txBody>
      </p:sp>
      <p:sp>
        <p:nvSpPr>
          <p:cNvPr id="1434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Allied Irish Bank ($700 million)</a:t>
            </a:r>
          </a:p>
          <a:p>
            <a:pPr eaLnBrk="1" hangingPunct="1"/>
            <a:r>
              <a:rPr lang="en-US" altLang="en-US" sz="2400" smtClean="0"/>
              <a:t>Amaranth (6 billion)</a:t>
            </a:r>
          </a:p>
          <a:p>
            <a:pPr eaLnBrk="1" hangingPunct="1"/>
            <a:r>
              <a:rPr lang="en-US" altLang="en-US" sz="2400" smtClean="0"/>
              <a:t>Barings ($1 billion)</a:t>
            </a:r>
          </a:p>
          <a:p>
            <a:pPr eaLnBrk="1" hangingPunct="1"/>
            <a:r>
              <a:rPr lang="en-CA" altLang="en-US" sz="2400" smtClean="0"/>
              <a:t>Enron’s counterparties (billions) </a:t>
            </a:r>
            <a:endParaRPr lang="en-US" altLang="en-US" sz="2400" smtClean="0"/>
          </a:p>
          <a:p>
            <a:pPr eaLnBrk="1" hangingPunct="1"/>
            <a:r>
              <a:rPr lang="en-US" altLang="en-US" sz="2400" smtClean="0"/>
              <a:t>Kidder Peabody ($350 million)</a:t>
            </a:r>
          </a:p>
          <a:p>
            <a:pPr eaLnBrk="1" hangingPunct="1"/>
            <a:r>
              <a:rPr lang="en-US" altLang="en-US" sz="2400" smtClean="0"/>
              <a:t>LTCM ($4 billion)</a:t>
            </a:r>
          </a:p>
          <a:p>
            <a:pPr eaLnBrk="1" hangingPunct="1"/>
            <a:r>
              <a:rPr lang="en-US" altLang="en-US" sz="2400" smtClean="0"/>
              <a:t>Midland Bank ($500 million)</a:t>
            </a:r>
          </a:p>
          <a:p>
            <a:pPr eaLnBrk="1" hangingPunct="1"/>
            <a:r>
              <a:rPr lang="en-US" altLang="en-US" sz="2400" smtClean="0"/>
              <a:t>Société Générale ($7 billion)</a:t>
            </a:r>
          </a:p>
          <a:p>
            <a:pPr eaLnBrk="1" hangingPunct="1"/>
            <a:r>
              <a:rPr lang="en-CA" altLang="en-US" sz="2400" smtClean="0"/>
              <a:t>Subprime mortgages (tens of billions)</a:t>
            </a:r>
          </a:p>
          <a:p>
            <a:pPr eaLnBrk="1" hangingPunct="1"/>
            <a:r>
              <a:rPr lang="en-CA" altLang="en-US" sz="2400" smtClean="0"/>
              <a:t>UBS ($2.3 billion)</a:t>
            </a:r>
            <a:endParaRPr lang="en-US" altLang="en-US" sz="2400" smtClean="0"/>
          </a:p>
          <a:p>
            <a:pPr eaLnBrk="1" hangingPunct="1"/>
            <a:endParaRPr lang="en-US" altLang="en-US" sz="2800" smtClean="0"/>
          </a:p>
          <a:p>
            <a:pPr eaLnBrk="1" hangingPunct="1"/>
            <a:endParaRPr lang="en-US" altLang="en-US" sz="2800" smtClean="0"/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0FCF653-E69F-4174-8A31-FD3A924A69C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25,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Big Losses by Non-Financial Corporations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Allied Lyons ($150 million)</a:t>
            </a:r>
          </a:p>
          <a:p>
            <a:pPr eaLnBrk="1" hangingPunct="1"/>
            <a:r>
              <a:rPr lang="en-US" altLang="en-US" sz="2800" smtClean="0"/>
              <a:t>Gibsons Greetings ($20 million)</a:t>
            </a:r>
          </a:p>
          <a:p>
            <a:pPr eaLnBrk="1" hangingPunct="1"/>
            <a:r>
              <a:rPr lang="en-US" altLang="en-US" sz="2800" smtClean="0"/>
              <a:t>Hammersmith and Fulham ($600 million)</a:t>
            </a:r>
          </a:p>
          <a:p>
            <a:pPr eaLnBrk="1" hangingPunct="1"/>
            <a:r>
              <a:rPr lang="en-US" altLang="en-US" sz="2800" smtClean="0"/>
              <a:t>Metallgesellschaft ($1.8 billion)</a:t>
            </a:r>
          </a:p>
          <a:p>
            <a:pPr eaLnBrk="1" hangingPunct="1"/>
            <a:r>
              <a:rPr lang="en-US" altLang="en-US" sz="2800" smtClean="0"/>
              <a:t>Orange County ($2 billion)</a:t>
            </a:r>
          </a:p>
          <a:p>
            <a:pPr eaLnBrk="1" hangingPunct="1"/>
            <a:r>
              <a:rPr lang="en-US" altLang="en-US" sz="2800" smtClean="0"/>
              <a:t>Procter and Gamble ($90 million)</a:t>
            </a:r>
          </a:p>
          <a:p>
            <a:pPr eaLnBrk="1" hangingPunct="1"/>
            <a:r>
              <a:rPr lang="en-US" altLang="en-US" sz="2800" smtClean="0"/>
              <a:t>Shell ($1 billion)</a:t>
            </a:r>
          </a:p>
          <a:p>
            <a:pPr eaLnBrk="1" hangingPunct="1"/>
            <a:r>
              <a:rPr lang="en-US" altLang="en-US" sz="2800" smtClean="0"/>
              <a:t>Sumitomo ($2 billion)</a:t>
            </a:r>
          </a:p>
          <a:p>
            <a:pPr eaLnBrk="1" hangingPunct="1"/>
            <a:endParaRPr lang="en-US" altLang="en-US" sz="2800" smtClean="0"/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C073F0-DFA2-4411-B6FC-9EBBCA56A94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25,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Lessons for All Users of Derivatives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Risk must be quantified and risk limits set</a:t>
            </a:r>
          </a:p>
          <a:p>
            <a:pPr eaLnBrk="1" hangingPunct="1"/>
            <a:r>
              <a:rPr lang="en-US" altLang="en-US" sz="2800" smtClean="0"/>
              <a:t>Exceeding risk limits without authority not acceptable even when profits result</a:t>
            </a:r>
          </a:p>
          <a:p>
            <a:pPr eaLnBrk="1" hangingPunct="1"/>
            <a:r>
              <a:rPr lang="en-US" altLang="en-US" sz="2800" smtClean="0"/>
              <a:t>Do not assume assume that a trader with a good track record will always be right</a:t>
            </a:r>
          </a:p>
          <a:p>
            <a:pPr eaLnBrk="1" hangingPunct="1"/>
            <a:r>
              <a:rPr lang="en-US" altLang="en-US" sz="2800" smtClean="0"/>
              <a:t>Be diversified</a:t>
            </a:r>
          </a:p>
          <a:p>
            <a:pPr eaLnBrk="1" hangingPunct="1"/>
            <a:r>
              <a:rPr lang="en-US" altLang="en-US" sz="2800" smtClean="0"/>
              <a:t>Scenario analysis and stress testing is important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742A1F-28D5-49F7-B63E-7660637BA98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7543800" cy="12954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Lessons for Financial Institutions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7772400" cy="4129088"/>
          </a:xfrm>
        </p:spPr>
        <p:txBody>
          <a:bodyPr/>
          <a:lstStyle/>
          <a:p>
            <a:r>
              <a:rPr lang="en-US" altLang="en-US" sz="2800" smtClean="0">
                <a:cs typeface="Arial" panose="020B0604020202020204" pitchFamily="34" charset="0"/>
              </a:rPr>
              <a:t>Monitor traders carefully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Separate the front middle and back office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Models can be wrong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Be conservative in recognizing inception profits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Do not sell clients inappropriate products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Beware of easy profits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Liquidity risk is important</a:t>
            </a:r>
          </a:p>
          <a:p>
            <a:endParaRPr lang="en-US" altLang="en-US" smtClean="0">
              <a:cs typeface="Arial" panose="020B0604020202020204" pitchFamily="34" charset="0"/>
            </a:endParaRPr>
          </a:p>
          <a:p>
            <a:endParaRPr lang="en-US" altLang="en-US" smtClean="0">
              <a:cs typeface="Arial" panose="020B0604020202020204" pitchFamily="34" charset="0"/>
            </a:endParaRPr>
          </a:p>
          <a:p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25,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AB24D0-80B6-447C-A438-57488CAD0BCA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Lessons for Financial Institutions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US" sz="2000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411663"/>
          </a:xfrm>
        </p:spPr>
        <p:txBody>
          <a:bodyPr/>
          <a:lstStyle/>
          <a:p>
            <a:endParaRPr lang="en-US" altLang="en-US" sz="2800" smtClean="0">
              <a:cs typeface="Arial" panose="020B0604020202020204" pitchFamily="34" charset="0"/>
            </a:endParaRPr>
          </a:p>
          <a:p>
            <a:r>
              <a:rPr lang="en-US" altLang="en-US" sz="2800" smtClean="0">
                <a:cs typeface="Arial" panose="020B0604020202020204" pitchFamily="34" charset="0"/>
              </a:rPr>
              <a:t>There are dangers when many are following the same strategy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Beware of potential liquidity problems when short-term funding is used for long-term needs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Market transparency is important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Manage incentives</a:t>
            </a:r>
          </a:p>
          <a:p>
            <a:r>
              <a:rPr lang="en-US" altLang="en-US" sz="2800" smtClean="0">
                <a:cs typeface="Arial" panose="020B0604020202020204" pitchFamily="34" charset="0"/>
              </a:rPr>
              <a:t>Never ignore risk management, even when times are good</a:t>
            </a:r>
          </a:p>
          <a:p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25,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62C7D6-8699-4190-8E22-CCBA17F9FD38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25,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Lessons for Non-Financial Corporations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63738"/>
            <a:ext cx="8229600" cy="4167187"/>
          </a:xfrm>
        </p:spPr>
        <p:txBody>
          <a:bodyPr/>
          <a:lstStyle/>
          <a:p>
            <a:pPr eaLnBrk="1" hangingPunct="1"/>
            <a:r>
              <a:rPr lang="en-US" altLang="en-US" smtClean="0"/>
              <a:t>It is important to fully understand the products you trade</a:t>
            </a:r>
          </a:p>
          <a:p>
            <a:pPr eaLnBrk="1" hangingPunct="1"/>
            <a:r>
              <a:rPr lang="en-US" altLang="en-US" smtClean="0"/>
              <a:t>Beware of hedgers becoming speculators</a:t>
            </a:r>
          </a:p>
          <a:p>
            <a:pPr eaLnBrk="1" hangingPunct="1"/>
            <a:r>
              <a:rPr lang="en-US" altLang="en-US" smtClean="0"/>
              <a:t>It can be dangerous to make the Treasurer’s department a profit center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A50D50-C734-4A24-AB72-F68DA665951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51DDF3-8742-4448-B5F0-EF639874BA13}"/>
</file>

<file path=customXml/itemProps2.xml><?xml version="1.0" encoding="utf-8"?>
<ds:datastoreItem xmlns:ds="http://schemas.openxmlformats.org/officeDocument/2006/customXml" ds:itemID="{85516A25-F8E8-47B1-8486-535A45006D86}"/>
</file>

<file path=customXml/itemProps3.xml><?xml version="1.0" encoding="utf-8"?>
<ds:datastoreItem xmlns:ds="http://schemas.openxmlformats.org/officeDocument/2006/customXml" ds:itemID="{24607CA0-47E4-417E-9E90-7FD449DA7814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339</TotalTime>
  <Words>437</Words>
  <Application>Microsoft Office PowerPoint</Application>
  <PresentationFormat>On-screen Show (4:3)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1_Network</vt:lpstr>
      <vt:lpstr>Derivatives Mishaps and What We Can Learn from Them</vt:lpstr>
      <vt:lpstr>Big Losses by Financial Institutions</vt:lpstr>
      <vt:lpstr>Big Losses by Non-Financial Corporations</vt:lpstr>
      <vt:lpstr>Lessons for All Users of Derivatives</vt:lpstr>
      <vt:lpstr>Lessons for Financial Institutions</vt:lpstr>
      <vt:lpstr>Lessons for Financial Institutions continued</vt:lpstr>
      <vt:lpstr>Lessons for Non-Financial Corporations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Derivatives Mishaps and What We Can Learn From Them</dc:title>
  <dc:subject>Fundamentals of Futures and Options Markets, 9e</dc:subject>
  <dc:creator>John C. Hull</dc:creator>
  <cp:keywords>Chapter 25</cp:keywords>
  <dc:description>Copyright 2016 by John C. Hull. All Rights Reserved. Published 2016.</dc:description>
  <cp:lastModifiedBy>John Hull</cp:lastModifiedBy>
  <cp:revision>17</cp:revision>
  <dcterms:created xsi:type="dcterms:W3CDTF">2001-03-28T20:53:14Z</dcterms:created>
  <dcterms:modified xsi:type="dcterms:W3CDTF">2016-01-20T21:07:33Z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