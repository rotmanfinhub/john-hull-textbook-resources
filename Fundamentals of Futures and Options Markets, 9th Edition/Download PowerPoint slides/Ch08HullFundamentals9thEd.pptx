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theme/theme3.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theme/themeOverride1.xml" ContentType="application/vnd.openxmlformats-officedocument.themeOverride+xml"/>
  <Override PartName="/ppt/charts/chart1.xml" ContentType="application/vnd.openxmlformats-officedocument.drawingml.chart+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6" r:id="rId1"/>
  </p:sldMasterIdLst>
  <p:notesMasterIdLst>
    <p:notesMasterId r:id="rId15"/>
  </p:notesMasterIdLst>
  <p:handoutMasterIdLst>
    <p:handoutMasterId r:id="rId16"/>
  </p:handoutMasterIdLst>
  <p:sldIdLst>
    <p:sldId id="761" r:id="rId2"/>
    <p:sldId id="776" r:id="rId3"/>
    <p:sldId id="765" r:id="rId4"/>
    <p:sldId id="766" r:id="rId5"/>
    <p:sldId id="767" r:id="rId6"/>
    <p:sldId id="768" r:id="rId7"/>
    <p:sldId id="762" r:id="rId8"/>
    <p:sldId id="777" r:id="rId9"/>
    <p:sldId id="778" r:id="rId10"/>
    <p:sldId id="779" r:id="rId11"/>
    <p:sldId id="780" r:id="rId12"/>
    <p:sldId id="781" r:id="rId13"/>
    <p:sldId id="782" r:id="rId14"/>
  </p:sldIdLst>
  <p:sldSz cx="9144000" cy="6858000" type="letter"/>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p:cViewPr varScale="1">
        <p:scale>
          <a:sx n="129" d="100"/>
          <a:sy n="129" d="100"/>
        </p:scale>
        <p:origin x="102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716"/>
    </p:cViewPr>
  </p:sorterViewPr>
  <p:notesViewPr>
    <p:cSldViewPr>
      <p:cViewPr varScale="1">
        <p:scale>
          <a:sx n="81" d="100"/>
          <a:sy n="81" d="100"/>
        </p:scale>
        <p:origin x="-1968" y="-102"/>
      </p:cViewPr>
      <p:guideLst>
        <p:guide orient="horz" pos="3024"/>
        <p:guide pos="230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charts/_rels/chart1.xml.rels><?xml version="1.0" encoding="UTF-8" standalone="yes"?>
<Relationships xmlns="http://schemas.openxmlformats.org/package/2006/relationships"><Relationship Id="rId2" Type="http://schemas.openxmlformats.org/officeDocument/2006/relationships/oleObject" Target="file:///C:\Users\Hull\Documents\Misc\Fundamentals9e\Figures\Figure_08_4.xls"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8.3132023271127051E-2"/>
          <c:y val="0.11819262076550081"/>
          <c:w val="0.80617550345710176"/>
          <c:h val="0.76897965879265096"/>
        </c:manualLayout>
      </c:layout>
      <c:scatterChart>
        <c:scatterStyle val="smoothMarker"/>
        <c:varyColors val="0"/>
        <c:ser>
          <c:idx val="0"/>
          <c:order val="0"/>
          <c:spPr>
            <a:ln w="9525"/>
          </c:spPr>
          <c:marker>
            <c:symbol val="none"/>
          </c:marker>
          <c:xVal>
            <c:numRef>
              <c:f>Sheet1!$A$3:$A$342</c:f>
              <c:numCache>
                <c:formatCode>[$-409]mmmm\-yy;@</c:formatCode>
                <c:ptCount val="340"/>
                <c:pt idx="0">
                  <c:v>31778</c:v>
                </c:pt>
                <c:pt idx="1">
                  <c:v>31809</c:v>
                </c:pt>
                <c:pt idx="2">
                  <c:v>31837</c:v>
                </c:pt>
                <c:pt idx="3">
                  <c:v>31868</c:v>
                </c:pt>
                <c:pt idx="4">
                  <c:v>31898</c:v>
                </c:pt>
                <c:pt idx="5">
                  <c:v>31929</c:v>
                </c:pt>
                <c:pt idx="6">
                  <c:v>31959</c:v>
                </c:pt>
                <c:pt idx="7">
                  <c:v>31990</c:v>
                </c:pt>
                <c:pt idx="8">
                  <c:v>32021</c:v>
                </c:pt>
                <c:pt idx="9">
                  <c:v>32051</c:v>
                </c:pt>
                <c:pt idx="10">
                  <c:v>32082</c:v>
                </c:pt>
                <c:pt idx="11">
                  <c:v>32112</c:v>
                </c:pt>
                <c:pt idx="12">
                  <c:v>32143</c:v>
                </c:pt>
                <c:pt idx="13">
                  <c:v>32174</c:v>
                </c:pt>
                <c:pt idx="14">
                  <c:v>32203</c:v>
                </c:pt>
                <c:pt idx="15">
                  <c:v>32234</c:v>
                </c:pt>
                <c:pt idx="16">
                  <c:v>32264</c:v>
                </c:pt>
                <c:pt idx="17">
                  <c:v>32295</c:v>
                </c:pt>
                <c:pt idx="18">
                  <c:v>32325</c:v>
                </c:pt>
                <c:pt idx="19">
                  <c:v>32356</c:v>
                </c:pt>
                <c:pt idx="20">
                  <c:v>32387</c:v>
                </c:pt>
                <c:pt idx="21">
                  <c:v>32417</c:v>
                </c:pt>
                <c:pt idx="22">
                  <c:v>32448</c:v>
                </c:pt>
                <c:pt idx="23">
                  <c:v>32478</c:v>
                </c:pt>
                <c:pt idx="24">
                  <c:v>32509</c:v>
                </c:pt>
                <c:pt idx="25">
                  <c:v>32540</c:v>
                </c:pt>
                <c:pt idx="26">
                  <c:v>32568</c:v>
                </c:pt>
                <c:pt idx="27">
                  <c:v>32599</c:v>
                </c:pt>
                <c:pt idx="28">
                  <c:v>32629</c:v>
                </c:pt>
                <c:pt idx="29">
                  <c:v>32660</c:v>
                </c:pt>
                <c:pt idx="30">
                  <c:v>32690</c:v>
                </c:pt>
                <c:pt idx="31">
                  <c:v>32721</c:v>
                </c:pt>
                <c:pt idx="32">
                  <c:v>32752</c:v>
                </c:pt>
                <c:pt idx="33">
                  <c:v>32782</c:v>
                </c:pt>
                <c:pt idx="34">
                  <c:v>32813</c:v>
                </c:pt>
                <c:pt idx="35">
                  <c:v>32843</c:v>
                </c:pt>
                <c:pt idx="36">
                  <c:v>32874</c:v>
                </c:pt>
                <c:pt idx="37">
                  <c:v>32905</c:v>
                </c:pt>
                <c:pt idx="38">
                  <c:v>32933</c:v>
                </c:pt>
                <c:pt idx="39">
                  <c:v>32964</c:v>
                </c:pt>
                <c:pt idx="40">
                  <c:v>32994</c:v>
                </c:pt>
                <c:pt idx="41">
                  <c:v>33025</c:v>
                </c:pt>
                <c:pt idx="42">
                  <c:v>33055</c:v>
                </c:pt>
                <c:pt idx="43">
                  <c:v>33086</c:v>
                </c:pt>
                <c:pt idx="44">
                  <c:v>33117</c:v>
                </c:pt>
                <c:pt idx="45">
                  <c:v>33147</c:v>
                </c:pt>
                <c:pt idx="46">
                  <c:v>33178</c:v>
                </c:pt>
                <c:pt idx="47">
                  <c:v>33208</c:v>
                </c:pt>
                <c:pt idx="48">
                  <c:v>33239</c:v>
                </c:pt>
                <c:pt idx="49">
                  <c:v>33270</c:v>
                </c:pt>
                <c:pt idx="50">
                  <c:v>33298</c:v>
                </c:pt>
                <c:pt idx="51">
                  <c:v>33329</c:v>
                </c:pt>
                <c:pt idx="52">
                  <c:v>33359</c:v>
                </c:pt>
                <c:pt idx="53">
                  <c:v>33390</c:v>
                </c:pt>
                <c:pt idx="54">
                  <c:v>33420</c:v>
                </c:pt>
                <c:pt idx="55">
                  <c:v>33451</c:v>
                </c:pt>
                <c:pt idx="56">
                  <c:v>33482</c:v>
                </c:pt>
                <c:pt idx="57">
                  <c:v>33512</c:v>
                </c:pt>
                <c:pt idx="58">
                  <c:v>33543</c:v>
                </c:pt>
                <c:pt idx="59">
                  <c:v>33573</c:v>
                </c:pt>
                <c:pt idx="60">
                  <c:v>33604</c:v>
                </c:pt>
                <c:pt idx="61">
                  <c:v>33635</c:v>
                </c:pt>
                <c:pt idx="62">
                  <c:v>33664</c:v>
                </c:pt>
                <c:pt idx="63">
                  <c:v>33695</c:v>
                </c:pt>
                <c:pt idx="64">
                  <c:v>33725</c:v>
                </c:pt>
                <c:pt idx="65">
                  <c:v>33756</c:v>
                </c:pt>
                <c:pt idx="66">
                  <c:v>33786</c:v>
                </c:pt>
                <c:pt idx="67">
                  <c:v>33817</c:v>
                </c:pt>
                <c:pt idx="68">
                  <c:v>33848</c:v>
                </c:pt>
                <c:pt idx="69">
                  <c:v>33878</c:v>
                </c:pt>
                <c:pt idx="70">
                  <c:v>33909</c:v>
                </c:pt>
                <c:pt idx="71">
                  <c:v>33939</c:v>
                </c:pt>
                <c:pt idx="72">
                  <c:v>33970</c:v>
                </c:pt>
                <c:pt idx="73">
                  <c:v>34001</c:v>
                </c:pt>
                <c:pt idx="74">
                  <c:v>34029</c:v>
                </c:pt>
                <c:pt idx="75">
                  <c:v>34060</c:v>
                </c:pt>
                <c:pt idx="76">
                  <c:v>34090</c:v>
                </c:pt>
                <c:pt idx="77">
                  <c:v>34121</c:v>
                </c:pt>
                <c:pt idx="78">
                  <c:v>34151</c:v>
                </c:pt>
                <c:pt idx="79">
                  <c:v>34182</c:v>
                </c:pt>
                <c:pt idx="80">
                  <c:v>34213</c:v>
                </c:pt>
                <c:pt idx="81">
                  <c:v>34243</c:v>
                </c:pt>
                <c:pt idx="82">
                  <c:v>34274</c:v>
                </c:pt>
                <c:pt idx="83">
                  <c:v>34304</c:v>
                </c:pt>
                <c:pt idx="84">
                  <c:v>34335</c:v>
                </c:pt>
                <c:pt idx="85">
                  <c:v>34366</c:v>
                </c:pt>
                <c:pt idx="86">
                  <c:v>34394</c:v>
                </c:pt>
                <c:pt idx="87">
                  <c:v>34425</c:v>
                </c:pt>
                <c:pt idx="88">
                  <c:v>34455</c:v>
                </c:pt>
                <c:pt idx="89">
                  <c:v>34486</c:v>
                </c:pt>
                <c:pt idx="90">
                  <c:v>34516</c:v>
                </c:pt>
                <c:pt idx="91">
                  <c:v>34547</c:v>
                </c:pt>
                <c:pt idx="92">
                  <c:v>34578</c:v>
                </c:pt>
                <c:pt idx="93">
                  <c:v>34608</c:v>
                </c:pt>
                <c:pt idx="94">
                  <c:v>34639</c:v>
                </c:pt>
                <c:pt idx="95">
                  <c:v>34669</c:v>
                </c:pt>
                <c:pt idx="96">
                  <c:v>34700</c:v>
                </c:pt>
                <c:pt idx="97">
                  <c:v>34731</c:v>
                </c:pt>
                <c:pt idx="98">
                  <c:v>34759</c:v>
                </c:pt>
                <c:pt idx="99">
                  <c:v>34790</c:v>
                </c:pt>
                <c:pt idx="100">
                  <c:v>34820</c:v>
                </c:pt>
                <c:pt idx="101">
                  <c:v>34851</c:v>
                </c:pt>
                <c:pt idx="102">
                  <c:v>34881</c:v>
                </c:pt>
                <c:pt idx="103">
                  <c:v>34912</c:v>
                </c:pt>
                <c:pt idx="104">
                  <c:v>34943</c:v>
                </c:pt>
                <c:pt idx="105">
                  <c:v>34973</c:v>
                </c:pt>
                <c:pt idx="106">
                  <c:v>35004</c:v>
                </c:pt>
                <c:pt idx="107">
                  <c:v>35034</c:v>
                </c:pt>
                <c:pt idx="108">
                  <c:v>35065</c:v>
                </c:pt>
                <c:pt idx="109">
                  <c:v>35096</c:v>
                </c:pt>
                <c:pt idx="110">
                  <c:v>35125</c:v>
                </c:pt>
                <c:pt idx="111">
                  <c:v>35156</c:v>
                </c:pt>
                <c:pt idx="112">
                  <c:v>35186</c:v>
                </c:pt>
                <c:pt idx="113">
                  <c:v>35217</c:v>
                </c:pt>
                <c:pt idx="114">
                  <c:v>35247</c:v>
                </c:pt>
                <c:pt idx="115">
                  <c:v>35278</c:v>
                </c:pt>
                <c:pt idx="116">
                  <c:v>35309</c:v>
                </c:pt>
                <c:pt idx="117">
                  <c:v>35339</c:v>
                </c:pt>
                <c:pt idx="118">
                  <c:v>35370</c:v>
                </c:pt>
                <c:pt idx="119">
                  <c:v>35400</c:v>
                </c:pt>
                <c:pt idx="120">
                  <c:v>35431</c:v>
                </c:pt>
                <c:pt idx="121">
                  <c:v>35462</c:v>
                </c:pt>
                <c:pt idx="122">
                  <c:v>35490</c:v>
                </c:pt>
                <c:pt idx="123">
                  <c:v>35521</c:v>
                </c:pt>
                <c:pt idx="124">
                  <c:v>35551</c:v>
                </c:pt>
                <c:pt idx="125">
                  <c:v>35582</c:v>
                </c:pt>
                <c:pt idx="126">
                  <c:v>35612</c:v>
                </c:pt>
                <c:pt idx="127">
                  <c:v>35643</c:v>
                </c:pt>
                <c:pt idx="128">
                  <c:v>35674</c:v>
                </c:pt>
                <c:pt idx="129">
                  <c:v>35704</c:v>
                </c:pt>
                <c:pt idx="130">
                  <c:v>35735</c:v>
                </c:pt>
                <c:pt idx="131">
                  <c:v>35765</c:v>
                </c:pt>
                <c:pt idx="132">
                  <c:v>35796</c:v>
                </c:pt>
                <c:pt idx="133">
                  <c:v>35827</c:v>
                </c:pt>
                <c:pt idx="134">
                  <c:v>35855</c:v>
                </c:pt>
                <c:pt idx="135">
                  <c:v>35886</c:v>
                </c:pt>
                <c:pt idx="136">
                  <c:v>35916</c:v>
                </c:pt>
                <c:pt idx="137">
                  <c:v>35947</c:v>
                </c:pt>
                <c:pt idx="138">
                  <c:v>35977</c:v>
                </c:pt>
                <c:pt idx="139">
                  <c:v>36008</c:v>
                </c:pt>
                <c:pt idx="140">
                  <c:v>36039</c:v>
                </c:pt>
                <c:pt idx="141">
                  <c:v>36069</c:v>
                </c:pt>
                <c:pt idx="142">
                  <c:v>36100</c:v>
                </c:pt>
                <c:pt idx="143">
                  <c:v>36130</c:v>
                </c:pt>
                <c:pt idx="144">
                  <c:v>36161</c:v>
                </c:pt>
                <c:pt idx="145">
                  <c:v>36192</c:v>
                </c:pt>
                <c:pt idx="146">
                  <c:v>36220</c:v>
                </c:pt>
                <c:pt idx="147">
                  <c:v>36251</c:v>
                </c:pt>
                <c:pt idx="148">
                  <c:v>36281</c:v>
                </c:pt>
                <c:pt idx="149">
                  <c:v>36312</c:v>
                </c:pt>
                <c:pt idx="150">
                  <c:v>36342</c:v>
                </c:pt>
                <c:pt idx="151">
                  <c:v>36373</c:v>
                </c:pt>
                <c:pt idx="152">
                  <c:v>36404</c:v>
                </c:pt>
                <c:pt idx="153">
                  <c:v>36434</c:v>
                </c:pt>
                <c:pt idx="154">
                  <c:v>36465</c:v>
                </c:pt>
                <c:pt idx="155">
                  <c:v>36495</c:v>
                </c:pt>
                <c:pt idx="156">
                  <c:v>36526</c:v>
                </c:pt>
                <c:pt idx="157">
                  <c:v>36557</c:v>
                </c:pt>
                <c:pt idx="158">
                  <c:v>36586</c:v>
                </c:pt>
                <c:pt idx="159">
                  <c:v>36617</c:v>
                </c:pt>
                <c:pt idx="160">
                  <c:v>36647</c:v>
                </c:pt>
                <c:pt idx="161">
                  <c:v>36678</c:v>
                </c:pt>
                <c:pt idx="162">
                  <c:v>36708</c:v>
                </c:pt>
                <c:pt idx="163">
                  <c:v>36739</c:v>
                </c:pt>
                <c:pt idx="164">
                  <c:v>36770</c:v>
                </c:pt>
                <c:pt idx="165">
                  <c:v>36800</c:v>
                </c:pt>
                <c:pt idx="166">
                  <c:v>36831</c:v>
                </c:pt>
                <c:pt idx="167">
                  <c:v>36861</c:v>
                </c:pt>
                <c:pt idx="168">
                  <c:v>36892</c:v>
                </c:pt>
                <c:pt idx="169">
                  <c:v>36923</c:v>
                </c:pt>
                <c:pt idx="170">
                  <c:v>36951</c:v>
                </c:pt>
                <c:pt idx="171">
                  <c:v>36982</c:v>
                </c:pt>
                <c:pt idx="172">
                  <c:v>37012</c:v>
                </c:pt>
                <c:pt idx="173">
                  <c:v>37043</c:v>
                </c:pt>
                <c:pt idx="174">
                  <c:v>37073</c:v>
                </c:pt>
                <c:pt idx="175">
                  <c:v>37104</c:v>
                </c:pt>
                <c:pt idx="176">
                  <c:v>37135</c:v>
                </c:pt>
                <c:pt idx="177">
                  <c:v>37165</c:v>
                </c:pt>
                <c:pt idx="178">
                  <c:v>37196</c:v>
                </c:pt>
                <c:pt idx="179">
                  <c:v>37226</c:v>
                </c:pt>
                <c:pt idx="180">
                  <c:v>37257</c:v>
                </c:pt>
                <c:pt idx="181">
                  <c:v>37288</c:v>
                </c:pt>
                <c:pt idx="182">
                  <c:v>37316</c:v>
                </c:pt>
                <c:pt idx="183">
                  <c:v>37347</c:v>
                </c:pt>
                <c:pt idx="184">
                  <c:v>37377</c:v>
                </c:pt>
                <c:pt idx="185">
                  <c:v>37408</c:v>
                </c:pt>
                <c:pt idx="186">
                  <c:v>37438</c:v>
                </c:pt>
                <c:pt idx="187">
                  <c:v>37469</c:v>
                </c:pt>
                <c:pt idx="188">
                  <c:v>37500</c:v>
                </c:pt>
                <c:pt idx="189">
                  <c:v>37530</c:v>
                </c:pt>
                <c:pt idx="190">
                  <c:v>37561</c:v>
                </c:pt>
                <c:pt idx="191">
                  <c:v>37591</c:v>
                </c:pt>
                <c:pt idx="192">
                  <c:v>37622</c:v>
                </c:pt>
                <c:pt idx="193">
                  <c:v>37653</c:v>
                </c:pt>
                <c:pt idx="194">
                  <c:v>37681</c:v>
                </c:pt>
                <c:pt idx="195">
                  <c:v>37712</c:v>
                </c:pt>
                <c:pt idx="196">
                  <c:v>37742</c:v>
                </c:pt>
                <c:pt idx="197">
                  <c:v>37773</c:v>
                </c:pt>
                <c:pt idx="198">
                  <c:v>37803</c:v>
                </c:pt>
                <c:pt idx="199">
                  <c:v>37834</c:v>
                </c:pt>
                <c:pt idx="200">
                  <c:v>37865</c:v>
                </c:pt>
                <c:pt idx="201">
                  <c:v>37895</c:v>
                </c:pt>
                <c:pt idx="202">
                  <c:v>37926</c:v>
                </c:pt>
                <c:pt idx="203">
                  <c:v>37956</c:v>
                </c:pt>
                <c:pt idx="204">
                  <c:v>37987</c:v>
                </c:pt>
                <c:pt idx="205">
                  <c:v>38018</c:v>
                </c:pt>
                <c:pt idx="206">
                  <c:v>38047</c:v>
                </c:pt>
                <c:pt idx="207">
                  <c:v>38078</c:v>
                </c:pt>
                <c:pt idx="208">
                  <c:v>38108</c:v>
                </c:pt>
                <c:pt idx="209">
                  <c:v>38139</c:v>
                </c:pt>
                <c:pt idx="210">
                  <c:v>38169</c:v>
                </c:pt>
                <c:pt idx="211">
                  <c:v>38200</c:v>
                </c:pt>
                <c:pt idx="212">
                  <c:v>38231</c:v>
                </c:pt>
                <c:pt idx="213">
                  <c:v>38261</c:v>
                </c:pt>
                <c:pt idx="214">
                  <c:v>38292</c:v>
                </c:pt>
                <c:pt idx="215">
                  <c:v>38322</c:v>
                </c:pt>
                <c:pt idx="216">
                  <c:v>38353</c:v>
                </c:pt>
                <c:pt idx="217">
                  <c:v>38384</c:v>
                </c:pt>
                <c:pt idx="218">
                  <c:v>38412</c:v>
                </c:pt>
                <c:pt idx="219">
                  <c:v>38443</c:v>
                </c:pt>
                <c:pt idx="220">
                  <c:v>38473</c:v>
                </c:pt>
                <c:pt idx="221">
                  <c:v>38504</c:v>
                </c:pt>
                <c:pt idx="222">
                  <c:v>38534</c:v>
                </c:pt>
                <c:pt idx="223">
                  <c:v>38565</c:v>
                </c:pt>
                <c:pt idx="224">
                  <c:v>38596</c:v>
                </c:pt>
                <c:pt idx="225">
                  <c:v>38626</c:v>
                </c:pt>
                <c:pt idx="226">
                  <c:v>38657</c:v>
                </c:pt>
                <c:pt idx="227">
                  <c:v>38687</c:v>
                </c:pt>
                <c:pt idx="228">
                  <c:v>38718</c:v>
                </c:pt>
                <c:pt idx="229">
                  <c:v>38749</c:v>
                </c:pt>
                <c:pt idx="230">
                  <c:v>38777</c:v>
                </c:pt>
                <c:pt idx="231">
                  <c:v>38808</c:v>
                </c:pt>
                <c:pt idx="232">
                  <c:v>38838</c:v>
                </c:pt>
                <c:pt idx="233">
                  <c:v>38869</c:v>
                </c:pt>
                <c:pt idx="234">
                  <c:v>38899</c:v>
                </c:pt>
                <c:pt idx="235">
                  <c:v>38930</c:v>
                </c:pt>
                <c:pt idx="236">
                  <c:v>38961</c:v>
                </c:pt>
                <c:pt idx="237">
                  <c:v>38991</c:v>
                </c:pt>
                <c:pt idx="238">
                  <c:v>39022</c:v>
                </c:pt>
                <c:pt idx="239">
                  <c:v>39052</c:v>
                </c:pt>
                <c:pt idx="240">
                  <c:v>39083</c:v>
                </c:pt>
                <c:pt idx="241">
                  <c:v>39114</c:v>
                </c:pt>
                <c:pt idx="242">
                  <c:v>39142</c:v>
                </c:pt>
                <c:pt idx="243">
                  <c:v>39173</c:v>
                </c:pt>
                <c:pt idx="244">
                  <c:v>39203</c:v>
                </c:pt>
                <c:pt idx="245">
                  <c:v>39234</c:v>
                </c:pt>
                <c:pt idx="246">
                  <c:v>39265</c:v>
                </c:pt>
                <c:pt idx="247">
                  <c:v>39295</c:v>
                </c:pt>
                <c:pt idx="248">
                  <c:v>39326</c:v>
                </c:pt>
                <c:pt idx="249">
                  <c:v>39356</c:v>
                </c:pt>
                <c:pt idx="250">
                  <c:v>39387</c:v>
                </c:pt>
                <c:pt idx="251">
                  <c:v>39417</c:v>
                </c:pt>
                <c:pt idx="252">
                  <c:v>39448</c:v>
                </c:pt>
                <c:pt idx="253">
                  <c:v>39479</c:v>
                </c:pt>
                <c:pt idx="254">
                  <c:v>39508</c:v>
                </c:pt>
                <c:pt idx="255">
                  <c:v>39539</c:v>
                </c:pt>
                <c:pt idx="256">
                  <c:v>39570</c:v>
                </c:pt>
                <c:pt idx="257">
                  <c:v>39600</c:v>
                </c:pt>
                <c:pt idx="258">
                  <c:v>39630</c:v>
                </c:pt>
                <c:pt idx="259">
                  <c:v>39661</c:v>
                </c:pt>
                <c:pt idx="260">
                  <c:v>39692</c:v>
                </c:pt>
                <c:pt idx="261">
                  <c:v>39722</c:v>
                </c:pt>
                <c:pt idx="262">
                  <c:v>39782</c:v>
                </c:pt>
                <c:pt idx="263">
                  <c:v>39790</c:v>
                </c:pt>
                <c:pt idx="264">
                  <c:v>39822</c:v>
                </c:pt>
                <c:pt idx="265">
                  <c:v>39853</c:v>
                </c:pt>
                <c:pt idx="266">
                  <c:v>39881</c:v>
                </c:pt>
                <c:pt idx="267">
                  <c:v>39912</c:v>
                </c:pt>
                <c:pt idx="268">
                  <c:v>39942</c:v>
                </c:pt>
                <c:pt idx="269">
                  <c:v>39973</c:v>
                </c:pt>
                <c:pt idx="270">
                  <c:v>40003</c:v>
                </c:pt>
                <c:pt idx="271">
                  <c:v>40034</c:v>
                </c:pt>
                <c:pt idx="272">
                  <c:v>40065</c:v>
                </c:pt>
                <c:pt idx="273">
                  <c:v>40095</c:v>
                </c:pt>
                <c:pt idx="274">
                  <c:v>40126</c:v>
                </c:pt>
                <c:pt idx="275">
                  <c:v>40156</c:v>
                </c:pt>
                <c:pt idx="276">
                  <c:v>40188</c:v>
                </c:pt>
                <c:pt idx="277">
                  <c:v>40219</c:v>
                </c:pt>
                <c:pt idx="278">
                  <c:v>40247</c:v>
                </c:pt>
                <c:pt idx="279">
                  <c:v>40269</c:v>
                </c:pt>
                <c:pt idx="280">
                  <c:v>40299</c:v>
                </c:pt>
                <c:pt idx="281">
                  <c:v>40330</c:v>
                </c:pt>
                <c:pt idx="282">
                  <c:v>40360</c:v>
                </c:pt>
                <c:pt idx="283">
                  <c:v>40391</c:v>
                </c:pt>
                <c:pt idx="284">
                  <c:v>40422</c:v>
                </c:pt>
                <c:pt idx="285">
                  <c:v>40452</c:v>
                </c:pt>
                <c:pt idx="286">
                  <c:v>40483</c:v>
                </c:pt>
                <c:pt idx="287">
                  <c:v>40513</c:v>
                </c:pt>
                <c:pt idx="288">
                  <c:v>40544</c:v>
                </c:pt>
                <c:pt idx="289">
                  <c:v>40575</c:v>
                </c:pt>
                <c:pt idx="290">
                  <c:v>40603</c:v>
                </c:pt>
                <c:pt idx="291">
                  <c:v>40634</c:v>
                </c:pt>
                <c:pt idx="292">
                  <c:v>40664</c:v>
                </c:pt>
                <c:pt idx="293">
                  <c:v>40695</c:v>
                </c:pt>
                <c:pt idx="294">
                  <c:v>40725</c:v>
                </c:pt>
                <c:pt idx="295">
                  <c:v>40756</c:v>
                </c:pt>
                <c:pt idx="296">
                  <c:v>40787</c:v>
                </c:pt>
                <c:pt idx="297">
                  <c:v>40817</c:v>
                </c:pt>
                <c:pt idx="298">
                  <c:v>40848</c:v>
                </c:pt>
                <c:pt idx="299">
                  <c:v>40878</c:v>
                </c:pt>
                <c:pt idx="300">
                  <c:v>40909</c:v>
                </c:pt>
                <c:pt idx="301">
                  <c:v>40940</c:v>
                </c:pt>
                <c:pt idx="302">
                  <c:v>40969</c:v>
                </c:pt>
                <c:pt idx="303">
                  <c:v>41000</c:v>
                </c:pt>
                <c:pt idx="304">
                  <c:v>41030</c:v>
                </c:pt>
                <c:pt idx="305">
                  <c:v>41061</c:v>
                </c:pt>
                <c:pt idx="306">
                  <c:v>41091</c:v>
                </c:pt>
                <c:pt idx="307">
                  <c:v>41122</c:v>
                </c:pt>
                <c:pt idx="308">
                  <c:v>41153</c:v>
                </c:pt>
                <c:pt idx="309">
                  <c:v>41183</c:v>
                </c:pt>
                <c:pt idx="310">
                  <c:v>41214</c:v>
                </c:pt>
                <c:pt idx="311">
                  <c:v>41244</c:v>
                </c:pt>
                <c:pt idx="312">
                  <c:v>41275</c:v>
                </c:pt>
                <c:pt idx="313">
                  <c:v>41306</c:v>
                </c:pt>
                <c:pt idx="314">
                  <c:v>41334</c:v>
                </c:pt>
                <c:pt idx="315">
                  <c:v>41365</c:v>
                </c:pt>
                <c:pt idx="316">
                  <c:v>41395</c:v>
                </c:pt>
                <c:pt idx="317">
                  <c:v>41426</c:v>
                </c:pt>
                <c:pt idx="318">
                  <c:v>41456</c:v>
                </c:pt>
                <c:pt idx="319">
                  <c:v>41487</c:v>
                </c:pt>
                <c:pt idx="320">
                  <c:v>41518</c:v>
                </c:pt>
                <c:pt idx="321">
                  <c:v>41548</c:v>
                </c:pt>
                <c:pt idx="322">
                  <c:v>41579</c:v>
                </c:pt>
                <c:pt idx="323">
                  <c:v>41609</c:v>
                </c:pt>
                <c:pt idx="324">
                  <c:v>41640</c:v>
                </c:pt>
                <c:pt idx="325">
                  <c:v>41671</c:v>
                </c:pt>
                <c:pt idx="326">
                  <c:v>41699</c:v>
                </c:pt>
                <c:pt idx="327">
                  <c:v>41730</c:v>
                </c:pt>
                <c:pt idx="328">
                  <c:v>41760</c:v>
                </c:pt>
                <c:pt idx="329">
                  <c:v>41791</c:v>
                </c:pt>
                <c:pt idx="330">
                  <c:v>41821</c:v>
                </c:pt>
                <c:pt idx="331">
                  <c:v>41852</c:v>
                </c:pt>
                <c:pt idx="332">
                  <c:v>41883</c:v>
                </c:pt>
                <c:pt idx="333">
                  <c:v>41913</c:v>
                </c:pt>
                <c:pt idx="334">
                  <c:v>41944</c:v>
                </c:pt>
                <c:pt idx="335">
                  <c:v>41974</c:v>
                </c:pt>
                <c:pt idx="336">
                  <c:v>42005</c:v>
                </c:pt>
                <c:pt idx="337">
                  <c:v>42036</c:v>
                </c:pt>
                <c:pt idx="338">
                  <c:v>42064</c:v>
                </c:pt>
                <c:pt idx="339">
                  <c:v>42095</c:v>
                </c:pt>
              </c:numCache>
            </c:numRef>
          </c:xVal>
          <c:yVal>
            <c:numRef>
              <c:f>Sheet1!$B$3:$B$342</c:f>
              <c:numCache>
                <c:formatCode>0.00</c:formatCode>
                <c:ptCount val="340"/>
                <c:pt idx="0">
                  <c:v>62.82</c:v>
                </c:pt>
                <c:pt idx="1">
                  <c:v>63.39</c:v>
                </c:pt>
                <c:pt idx="2">
                  <c:v>63.87</c:v>
                </c:pt>
                <c:pt idx="3">
                  <c:v>64.569999999999993</c:v>
                </c:pt>
                <c:pt idx="4">
                  <c:v>65.56</c:v>
                </c:pt>
                <c:pt idx="5">
                  <c:v>66.59</c:v>
                </c:pt>
                <c:pt idx="6">
                  <c:v>67.540000000000006</c:v>
                </c:pt>
                <c:pt idx="7">
                  <c:v>68.25</c:v>
                </c:pt>
                <c:pt idx="8">
                  <c:v>68.87</c:v>
                </c:pt>
                <c:pt idx="9">
                  <c:v>69.42</c:v>
                </c:pt>
                <c:pt idx="10">
                  <c:v>69.760000000000005</c:v>
                </c:pt>
                <c:pt idx="11">
                  <c:v>70.22</c:v>
                </c:pt>
                <c:pt idx="12">
                  <c:v>70.45</c:v>
                </c:pt>
                <c:pt idx="13">
                  <c:v>70.77</c:v>
                </c:pt>
                <c:pt idx="14">
                  <c:v>71.12</c:v>
                </c:pt>
                <c:pt idx="15">
                  <c:v>71.650000000000006</c:v>
                </c:pt>
                <c:pt idx="16">
                  <c:v>72.48</c:v>
                </c:pt>
                <c:pt idx="17">
                  <c:v>73.63</c:v>
                </c:pt>
                <c:pt idx="18">
                  <c:v>74.81</c:v>
                </c:pt>
                <c:pt idx="19">
                  <c:v>75.7</c:v>
                </c:pt>
                <c:pt idx="20">
                  <c:v>76.400000000000006</c:v>
                </c:pt>
                <c:pt idx="21">
                  <c:v>76.900000000000006</c:v>
                </c:pt>
                <c:pt idx="22">
                  <c:v>77.28</c:v>
                </c:pt>
                <c:pt idx="23">
                  <c:v>77.58</c:v>
                </c:pt>
                <c:pt idx="24">
                  <c:v>77.989999999999995</c:v>
                </c:pt>
                <c:pt idx="25">
                  <c:v>78.36</c:v>
                </c:pt>
                <c:pt idx="26">
                  <c:v>79.12</c:v>
                </c:pt>
                <c:pt idx="27">
                  <c:v>79.83</c:v>
                </c:pt>
                <c:pt idx="28">
                  <c:v>80.52</c:v>
                </c:pt>
                <c:pt idx="29">
                  <c:v>81.239999999999995</c:v>
                </c:pt>
                <c:pt idx="30">
                  <c:v>81.66</c:v>
                </c:pt>
                <c:pt idx="31">
                  <c:v>82.08</c:v>
                </c:pt>
                <c:pt idx="32">
                  <c:v>82.25</c:v>
                </c:pt>
                <c:pt idx="33">
                  <c:v>82.44</c:v>
                </c:pt>
                <c:pt idx="34">
                  <c:v>82.43</c:v>
                </c:pt>
                <c:pt idx="35">
                  <c:v>82.35</c:v>
                </c:pt>
                <c:pt idx="36">
                  <c:v>82.29</c:v>
                </c:pt>
                <c:pt idx="37">
                  <c:v>82.15</c:v>
                </c:pt>
                <c:pt idx="38">
                  <c:v>82.02</c:v>
                </c:pt>
                <c:pt idx="39">
                  <c:v>82.05</c:v>
                </c:pt>
                <c:pt idx="40">
                  <c:v>82.01</c:v>
                </c:pt>
                <c:pt idx="41">
                  <c:v>82.19</c:v>
                </c:pt>
                <c:pt idx="42">
                  <c:v>82.1</c:v>
                </c:pt>
                <c:pt idx="43">
                  <c:v>81.86</c:v>
                </c:pt>
                <c:pt idx="44">
                  <c:v>81.39</c:v>
                </c:pt>
                <c:pt idx="45">
                  <c:v>80.84</c:v>
                </c:pt>
                <c:pt idx="46">
                  <c:v>80.09</c:v>
                </c:pt>
                <c:pt idx="47">
                  <c:v>79.38</c:v>
                </c:pt>
                <c:pt idx="48">
                  <c:v>78.53</c:v>
                </c:pt>
                <c:pt idx="49">
                  <c:v>77.77</c:v>
                </c:pt>
                <c:pt idx="50">
                  <c:v>77</c:v>
                </c:pt>
                <c:pt idx="51">
                  <c:v>76.86</c:v>
                </c:pt>
                <c:pt idx="52">
                  <c:v>77.31</c:v>
                </c:pt>
                <c:pt idx="53">
                  <c:v>78.02</c:v>
                </c:pt>
                <c:pt idx="54">
                  <c:v>78.61</c:v>
                </c:pt>
                <c:pt idx="55">
                  <c:v>78.930000000000007</c:v>
                </c:pt>
                <c:pt idx="56">
                  <c:v>78.88</c:v>
                </c:pt>
                <c:pt idx="57">
                  <c:v>78.680000000000007</c:v>
                </c:pt>
                <c:pt idx="58">
                  <c:v>78.31</c:v>
                </c:pt>
                <c:pt idx="59">
                  <c:v>77.989999999999995</c:v>
                </c:pt>
                <c:pt idx="60">
                  <c:v>77.739999999999995</c:v>
                </c:pt>
                <c:pt idx="61">
                  <c:v>77.510000000000005</c:v>
                </c:pt>
                <c:pt idx="62">
                  <c:v>77.31</c:v>
                </c:pt>
                <c:pt idx="63">
                  <c:v>77.36</c:v>
                </c:pt>
                <c:pt idx="64">
                  <c:v>77.62</c:v>
                </c:pt>
                <c:pt idx="65">
                  <c:v>77.94</c:v>
                </c:pt>
                <c:pt idx="66">
                  <c:v>77.95</c:v>
                </c:pt>
                <c:pt idx="67">
                  <c:v>77.989999999999995</c:v>
                </c:pt>
                <c:pt idx="68">
                  <c:v>77.760000000000005</c:v>
                </c:pt>
                <c:pt idx="69">
                  <c:v>77.45</c:v>
                </c:pt>
                <c:pt idx="70">
                  <c:v>77.09</c:v>
                </c:pt>
                <c:pt idx="71">
                  <c:v>76.680000000000007</c:v>
                </c:pt>
                <c:pt idx="72">
                  <c:v>76.56</c:v>
                </c:pt>
                <c:pt idx="73">
                  <c:v>76.28</c:v>
                </c:pt>
                <c:pt idx="74">
                  <c:v>75.91</c:v>
                </c:pt>
                <c:pt idx="75">
                  <c:v>75.83</c:v>
                </c:pt>
                <c:pt idx="76">
                  <c:v>76.040000000000006</c:v>
                </c:pt>
                <c:pt idx="77">
                  <c:v>76.510000000000005</c:v>
                </c:pt>
                <c:pt idx="78">
                  <c:v>76.61</c:v>
                </c:pt>
                <c:pt idx="79">
                  <c:v>76.59</c:v>
                </c:pt>
                <c:pt idx="80">
                  <c:v>76.47</c:v>
                </c:pt>
                <c:pt idx="81">
                  <c:v>76.22</c:v>
                </c:pt>
                <c:pt idx="82">
                  <c:v>76.02</c:v>
                </c:pt>
                <c:pt idx="83">
                  <c:v>75.709999999999994</c:v>
                </c:pt>
                <c:pt idx="84">
                  <c:v>75.709999999999994</c:v>
                </c:pt>
                <c:pt idx="85">
                  <c:v>75.63</c:v>
                </c:pt>
                <c:pt idx="86">
                  <c:v>75.73</c:v>
                </c:pt>
                <c:pt idx="87">
                  <c:v>76.03</c:v>
                </c:pt>
                <c:pt idx="88">
                  <c:v>76.489999999999995</c:v>
                </c:pt>
                <c:pt idx="89">
                  <c:v>77.040000000000006</c:v>
                </c:pt>
                <c:pt idx="90">
                  <c:v>77.400000000000006</c:v>
                </c:pt>
                <c:pt idx="91">
                  <c:v>77.64</c:v>
                </c:pt>
                <c:pt idx="92">
                  <c:v>77.569999999999993</c:v>
                </c:pt>
                <c:pt idx="93">
                  <c:v>77.5</c:v>
                </c:pt>
                <c:pt idx="94">
                  <c:v>77.23</c:v>
                </c:pt>
                <c:pt idx="95">
                  <c:v>76.989999999999995</c:v>
                </c:pt>
                <c:pt idx="96">
                  <c:v>76.819999999999993</c:v>
                </c:pt>
                <c:pt idx="97">
                  <c:v>76.64</c:v>
                </c:pt>
                <c:pt idx="98">
                  <c:v>76.38</c:v>
                </c:pt>
                <c:pt idx="99">
                  <c:v>76.36</c:v>
                </c:pt>
                <c:pt idx="100">
                  <c:v>76.599999999999994</c:v>
                </c:pt>
                <c:pt idx="101">
                  <c:v>76.94</c:v>
                </c:pt>
                <c:pt idx="102">
                  <c:v>77.260000000000005</c:v>
                </c:pt>
                <c:pt idx="103">
                  <c:v>77.47</c:v>
                </c:pt>
                <c:pt idx="104">
                  <c:v>77.430000000000007</c:v>
                </c:pt>
                <c:pt idx="105">
                  <c:v>77.260000000000005</c:v>
                </c:pt>
                <c:pt idx="106">
                  <c:v>76.95</c:v>
                </c:pt>
                <c:pt idx="107">
                  <c:v>76.680000000000007</c:v>
                </c:pt>
                <c:pt idx="108">
                  <c:v>76.56</c:v>
                </c:pt>
                <c:pt idx="109">
                  <c:v>76.44</c:v>
                </c:pt>
                <c:pt idx="110">
                  <c:v>76.489999999999995</c:v>
                </c:pt>
                <c:pt idx="111">
                  <c:v>76.84</c:v>
                </c:pt>
                <c:pt idx="112">
                  <c:v>77.33</c:v>
                </c:pt>
                <c:pt idx="113">
                  <c:v>77.78</c:v>
                </c:pt>
                <c:pt idx="114">
                  <c:v>78.099999999999994</c:v>
                </c:pt>
                <c:pt idx="115">
                  <c:v>78.36</c:v>
                </c:pt>
                <c:pt idx="116">
                  <c:v>78.37</c:v>
                </c:pt>
                <c:pt idx="117">
                  <c:v>78.36</c:v>
                </c:pt>
                <c:pt idx="118">
                  <c:v>78.23</c:v>
                </c:pt>
                <c:pt idx="119">
                  <c:v>78.12</c:v>
                </c:pt>
                <c:pt idx="120">
                  <c:v>78.08</c:v>
                </c:pt>
                <c:pt idx="121">
                  <c:v>77.98</c:v>
                </c:pt>
                <c:pt idx="122">
                  <c:v>78.290000000000006</c:v>
                </c:pt>
                <c:pt idx="123">
                  <c:v>78.760000000000005</c:v>
                </c:pt>
                <c:pt idx="124">
                  <c:v>79.42</c:v>
                </c:pt>
                <c:pt idx="125">
                  <c:v>80.25</c:v>
                </c:pt>
                <c:pt idx="126">
                  <c:v>80.86</c:v>
                </c:pt>
                <c:pt idx="127">
                  <c:v>81.41</c:v>
                </c:pt>
                <c:pt idx="128">
                  <c:v>81.569999999999993</c:v>
                </c:pt>
                <c:pt idx="129">
                  <c:v>81.83</c:v>
                </c:pt>
                <c:pt idx="130">
                  <c:v>81.98</c:v>
                </c:pt>
                <c:pt idx="131">
                  <c:v>82.31</c:v>
                </c:pt>
                <c:pt idx="132">
                  <c:v>82.7</c:v>
                </c:pt>
                <c:pt idx="133">
                  <c:v>83.13</c:v>
                </c:pt>
                <c:pt idx="134">
                  <c:v>83.87</c:v>
                </c:pt>
                <c:pt idx="135">
                  <c:v>84.69</c:v>
                </c:pt>
                <c:pt idx="136">
                  <c:v>85.77</c:v>
                </c:pt>
                <c:pt idx="137">
                  <c:v>87.03</c:v>
                </c:pt>
                <c:pt idx="138">
                  <c:v>88.14</c:v>
                </c:pt>
                <c:pt idx="139">
                  <c:v>89.01</c:v>
                </c:pt>
                <c:pt idx="140">
                  <c:v>89.58</c:v>
                </c:pt>
                <c:pt idx="141">
                  <c:v>89.8</c:v>
                </c:pt>
                <c:pt idx="142">
                  <c:v>89.76</c:v>
                </c:pt>
                <c:pt idx="143">
                  <c:v>89.82</c:v>
                </c:pt>
                <c:pt idx="144">
                  <c:v>90.06</c:v>
                </c:pt>
                <c:pt idx="145">
                  <c:v>90.48</c:v>
                </c:pt>
                <c:pt idx="146">
                  <c:v>91.31</c:v>
                </c:pt>
                <c:pt idx="147">
                  <c:v>92.55</c:v>
                </c:pt>
                <c:pt idx="148">
                  <c:v>93.69</c:v>
                </c:pt>
                <c:pt idx="149">
                  <c:v>95.1</c:v>
                </c:pt>
                <c:pt idx="150">
                  <c:v>96.28</c:v>
                </c:pt>
                <c:pt idx="151">
                  <c:v>97.31</c:v>
                </c:pt>
                <c:pt idx="152">
                  <c:v>97.99</c:v>
                </c:pt>
                <c:pt idx="153">
                  <c:v>98.48</c:v>
                </c:pt>
                <c:pt idx="154">
                  <c:v>98.94</c:v>
                </c:pt>
                <c:pt idx="155">
                  <c:v>99.51</c:v>
                </c:pt>
                <c:pt idx="156">
                  <c:v>100</c:v>
                </c:pt>
                <c:pt idx="157">
                  <c:v>100.81</c:v>
                </c:pt>
                <c:pt idx="158">
                  <c:v>102.24</c:v>
                </c:pt>
                <c:pt idx="159">
                  <c:v>104.01</c:v>
                </c:pt>
                <c:pt idx="160">
                  <c:v>105.98</c:v>
                </c:pt>
                <c:pt idx="161">
                  <c:v>107.83</c:v>
                </c:pt>
                <c:pt idx="162">
                  <c:v>109.02</c:v>
                </c:pt>
                <c:pt idx="163">
                  <c:v>110.07</c:v>
                </c:pt>
                <c:pt idx="164">
                  <c:v>110.9</c:v>
                </c:pt>
                <c:pt idx="165">
                  <c:v>111.75</c:v>
                </c:pt>
                <c:pt idx="166">
                  <c:v>112.6</c:v>
                </c:pt>
                <c:pt idx="167">
                  <c:v>113.56</c:v>
                </c:pt>
                <c:pt idx="168">
                  <c:v>114.58</c:v>
                </c:pt>
                <c:pt idx="169">
                  <c:v>115.45</c:v>
                </c:pt>
                <c:pt idx="170">
                  <c:v>116.69</c:v>
                </c:pt>
                <c:pt idx="171">
                  <c:v>117.94</c:v>
                </c:pt>
                <c:pt idx="172">
                  <c:v>118.94</c:v>
                </c:pt>
                <c:pt idx="173">
                  <c:v>120.03</c:v>
                </c:pt>
                <c:pt idx="174">
                  <c:v>121.01</c:v>
                </c:pt>
                <c:pt idx="175">
                  <c:v>121.99</c:v>
                </c:pt>
                <c:pt idx="176">
                  <c:v>122.89</c:v>
                </c:pt>
                <c:pt idx="177">
                  <c:v>123.46</c:v>
                </c:pt>
                <c:pt idx="178">
                  <c:v>123.78</c:v>
                </c:pt>
                <c:pt idx="179">
                  <c:v>123.64</c:v>
                </c:pt>
                <c:pt idx="180">
                  <c:v>123.93</c:v>
                </c:pt>
                <c:pt idx="181">
                  <c:v>124.45</c:v>
                </c:pt>
                <c:pt idx="182">
                  <c:v>125.92</c:v>
                </c:pt>
                <c:pt idx="183">
                  <c:v>127.95</c:v>
                </c:pt>
                <c:pt idx="184">
                  <c:v>130.33000000000001</c:v>
                </c:pt>
                <c:pt idx="185">
                  <c:v>132.76</c:v>
                </c:pt>
                <c:pt idx="186">
                  <c:v>135.04</c:v>
                </c:pt>
                <c:pt idx="187">
                  <c:v>137.04</c:v>
                </c:pt>
                <c:pt idx="188">
                  <c:v>138.62</c:v>
                </c:pt>
                <c:pt idx="189">
                  <c:v>140.12</c:v>
                </c:pt>
                <c:pt idx="190">
                  <c:v>141.26</c:v>
                </c:pt>
                <c:pt idx="191">
                  <c:v>142.18</c:v>
                </c:pt>
                <c:pt idx="192">
                  <c:v>142.86000000000001</c:v>
                </c:pt>
                <c:pt idx="193">
                  <c:v>143.59</c:v>
                </c:pt>
                <c:pt idx="194">
                  <c:v>144.84</c:v>
                </c:pt>
                <c:pt idx="195">
                  <c:v>146.44999999999999</c:v>
                </c:pt>
                <c:pt idx="196">
                  <c:v>148.16999999999999</c:v>
                </c:pt>
                <c:pt idx="197">
                  <c:v>149.69999999999999</c:v>
                </c:pt>
                <c:pt idx="198">
                  <c:v>151.65</c:v>
                </c:pt>
                <c:pt idx="199">
                  <c:v>153.61000000000001</c:v>
                </c:pt>
                <c:pt idx="200">
                  <c:v>155.77000000000001</c:v>
                </c:pt>
                <c:pt idx="201">
                  <c:v>157.71</c:v>
                </c:pt>
                <c:pt idx="202">
                  <c:v>159.55000000000001</c:v>
                </c:pt>
                <c:pt idx="203">
                  <c:v>161.27000000000001</c:v>
                </c:pt>
                <c:pt idx="204">
                  <c:v>162.9</c:v>
                </c:pt>
                <c:pt idx="205">
                  <c:v>164.82</c:v>
                </c:pt>
                <c:pt idx="206">
                  <c:v>167.91</c:v>
                </c:pt>
                <c:pt idx="207">
                  <c:v>171.58</c:v>
                </c:pt>
                <c:pt idx="208">
                  <c:v>175.43</c:v>
                </c:pt>
                <c:pt idx="209">
                  <c:v>179.45</c:v>
                </c:pt>
                <c:pt idx="210">
                  <c:v>182.69</c:v>
                </c:pt>
                <c:pt idx="211">
                  <c:v>184.95</c:v>
                </c:pt>
                <c:pt idx="212">
                  <c:v>186.91</c:v>
                </c:pt>
                <c:pt idx="213">
                  <c:v>188.65</c:v>
                </c:pt>
                <c:pt idx="214">
                  <c:v>190.08</c:v>
                </c:pt>
                <c:pt idx="215">
                  <c:v>191.42</c:v>
                </c:pt>
                <c:pt idx="216">
                  <c:v>193.35</c:v>
                </c:pt>
                <c:pt idx="217">
                  <c:v>195.87</c:v>
                </c:pt>
                <c:pt idx="218">
                  <c:v>199.21</c:v>
                </c:pt>
                <c:pt idx="219">
                  <c:v>202.51</c:v>
                </c:pt>
                <c:pt idx="220">
                  <c:v>205.76</c:v>
                </c:pt>
                <c:pt idx="221">
                  <c:v>208.86</c:v>
                </c:pt>
                <c:pt idx="222">
                  <c:v>211.65</c:v>
                </c:pt>
                <c:pt idx="223">
                  <c:v>214.13</c:v>
                </c:pt>
                <c:pt idx="224">
                  <c:v>216.77</c:v>
                </c:pt>
                <c:pt idx="225">
                  <c:v>219.07</c:v>
                </c:pt>
                <c:pt idx="226">
                  <c:v>220.81</c:v>
                </c:pt>
                <c:pt idx="227">
                  <c:v>221.91</c:v>
                </c:pt>
                <c:pt idx="228">
                  <c:v>222.46</c:v>
                </c:pt>
                <c:pt idx="229">
                  <c:v>223.38</c:v>
                </c:pt>
                <c:pt idx="230">
                  <c:v>223.75</c:v>
                </c:pt>
                <c:pt idx="231">
                  <c:v>224.99</c:v>
                </c:pt>
                <c:pt idx="232">
                  <c:v>225.99</c:v>
                </c:pt>
                <c:pt idx="233">
                  <c:v>226.29</c:v>
                </c:pt>
                <c:pt idx="234">
                  <c:v>226.17</c:v>
                </c:pt>
                <c:pt idx="235">
                  <c:v>225.54</c:v>
                </c:pt>
                <c:pt idx="236">
                  <c:v>225.1</c:v>
                </c:pt>
                <c:pt idx="237">
                  <c:v>224.74</c:v>
                </c:pt>
                <c:pt idx="238">
                  <c:v>223.94</c:v>
                </c:pt>
                <c:pt idx="239">
                  <c:v>222.39</c:v>
                </c:pt>
                <c:pt idx="240">
                  <c:v>221.31</c:v>
                </c:pt>
                <c:pt idx="241">
                  <c:v>220.46</c:v>
                </c:pt>
                <c:pt idx="242">
                  <c:v>219.67</c:v>
                </c:pt>
                <c:pt idx="243">
                  <c:v>218.94</c:v>
                </c:pt>
                <c:pt idx="244">
                  <c:v>218.34</c:v>
                </c:pt>
                <c:pt idx="245">
                  <c:v>217.37</c:v>
                </c:pt>
                <c:pt idx="246">
                  <c:v>216.3</c:v>
                </c:pt>
                <c:pt idx="247">
                  <c:v>214.63</c:v>
                </c:pt>
                <c:pt idx="248">
                  <c:v>212.72</c:v>
                </c:pt>
                <c:pt idx="249">
                  <c:v>209.76</c:v>
                </c:pt>
                <c:pt idx="250">
                  <c:v>205.25</c:v>
                </c:pt>
                <c:pt idx="251">
                  <c:v>200.67</c:v>
                </c:pt>
                <c:pt idx="252">
                  <c:v>196.07</c:v>
                </c:pt>
                <c:pt idx="253">
                  <c:v>190.6</c:v>
                </c:pt>
                <c:pt idx="254">
                  <c:v>186.12</c:v>
                </c:pt>
                <c:pt idx="255">
                  <c:v>183.35</c:v>
                </c:pt>
                <c:pt idx="256">
                  <c:v>181.56</c:v>
                </c:pt>
                <c:pt idx="257">
                  <c:v>180.52</c:v>
                </c:pt>
                <c:pt idx="258">
                  <c:v>178.67</c:v>
                </c:pt>
                <c:pt idx="259">
                  <c:v>176.71</c:v>
                </c:pt>
                <c:pt idx="260">
                  <c:v>173.35</c:v>
                </c:pt>
                <c:pt idx="261">
                  <c:v>169.67</c:v>
                </c:pt>
                <c:pt idx="262">
                  <c:v>165.95</c:v>
                </c:pt>
                <c:pt idx="263">
                  <c:v>162.09</c:v>
                </c:pt>
                <c:pt idx="264">
                  <c:v>157.96</c:v>
                </c:pt>
                <c:pt idx="265">
                  <c:v>154.61000000000001</c:v>
                </c:pt>
                <c:pt idx="266">
                  <c:v>151.47999999999999</c:v>
                </c:pt>
                <c:pt idx="267">
                  <c:v>150.44</c:v>
                </c:pt>
                <c:pt idx="268">
                  <c:v>151.19</c:v>
                </c:pt>
                <c:pt idx="269">
                  <c:v>153.35</c:v>
                </c:pt>
                <c:pt idx="270">
                  <c:v>155.94999999999999</c:v>
                </c:pt>
                <c:pt idx="271">
                  <c:v>158.07</c:v>
                </c:pt>
                <c:pt idx="272">
                  <c:v>158.77000000000001</c:v>
                </c:pt>
                <c:pt idx="273">
                  <c:v>158.68</c:v>
                </c:pt>
                <c:pt idx="274">
                  <c:v>158.33000000000001</c:v>
                </c:pt>
                <c:pt idx="275">
                  <c:v>158.16</c:v>
                </c:pt>
                <c:pt idx="276">
                  <c:v>157.87</c:v>
                </c:pt>
                <c:pt idx="277">
                  <c:v>156.85</c:v>
                </c:pt>
                <c:pt idx="278">
                  <c:v>156.21</c:v>
                </c:pt>
                <c:pt idx="279">
                  <c:v>157.35</c:v>
                </c:pt>
                <c:pt idx="280">
                  <c:v>159.41</c:v>
                </c:pt>
                <c:pt idx="281">
                  <c:v>161.06</c:v>
                </c:pt>
                <c:pt idx="282">
                  <c:v>162.24</c:v>
                </c:pt>
                <c:pt idx="283">
                  <c:v>162.01</c:v>
                </c:pt>
                <c:pt idx="284">
                  <c:v>161</c:v>
                </c:pt>
                <c:pt idx="285">
                  <c:v>158.9</c:v>
                </c:pt>
                <c:pt idx="286">
                  <c:v>157.5</c:v>
                </c:pt>
                <c:pt idx="287">
                  <c:v>156.04</c:v>
                </c:pt>
                <c:pt idx="288">
                  <c:v>154.36000000000001</c:v>
                </c:pt>
                <c:pt idx="289">
                  <c:v>152.38</c:v>
                </c:pt>
                <c:pt idx="290">
                  <c:v>150.91</c:v>
                </c:pt>
                <c:pt idx="291">
                  <c:v>151.78</c:v>
                </c:pt>
                <c:pt idx="292">
                  <c:v>153.33000000000001</c:v>
                </c:pt>
                <c:pt idx="293">
                  <c:v>154.87</c:v>
                </c:pt>
                <c:pt idx="294">
                  <c:v>156.33000000000001</c:v>
                </c:pt>
                <c:pt idx="295">
                  <c:v>156.51</c:v>
                </c:pt>
                <c:pt idx="296">
                  <c:v>155.61000000000001</c:v>
                </c:pt>
                <c:pt idx="297">
                  <c:v>153.54</c:v>
                </c:pt>
                <c:pt idx="298">
                  <c:v>151.41</c:v>
                </c:pt>
                <c:pt idx="299">
                  <c:v>149.59</c:v>
                </c:pt>
                <c:pt idx="300">
                  <c:v>147.99</c:v>
                </c:pt>
                <c:pt idx="301">
                  <c:v>146.63</c:v>
                </c:pt>
                <c:pt idx="302">
                  <c:v>146.46</c:v>
                </c:pt>
                <c:pt idx="303">
                  <c:v>148.44</c:v>
                </c:pt>
                <c:pt idx="304">
                  <c:v>151.75</c:v>
                </c:pt>
                <c:pt idx="305" formatCode="General">
                  <c:v>154.94</c:v>
                </c:pt>
                <c:pt idx="306" formatCode="General">
                  <c:v>157.21</c:v>
                </c:pt>
                <c:pt idx="307" formatCode="General">
                  <c:v>158.51</c:v>
                </c:pt>
                <c:pt idx="308" formatCode="General">
                  <c:v>158.91999999999999</c:v>
                </c:pt>
                <c:pt idx="309" formatCode="General">
                  <c:v>158.68</c:v>
                </c:pt>
                <c:pt idx="310" formatCode="General">
                  <c:v>158.31</c:v>
                </c:pt>
                <c:pt idx="311" formatCode="General">
                  <c:v>158.58000000000001</c:v>
                </c:pt>
                <c:pt idx="312" formatCode="General">
                  <c:v>158.61000000000001</c:v>
                </c:pt>
                <c:pt idx="313" formatCode="General">
                  <c:v>159.09</c:v>
                </c:pt>
                <c:pt idx="314" formatCode="General">
                  <c:v>161.13</c:v>
                </c:pt>
                <c:pt idx="315" formatCode="General">
                  <c:v>165.35</c:v>
                </c:pt>
                <c:pt idx="316" formatCode="General">
                  <c:v>169.47</c:v>
                </c:pt>
                <c:pt idx="317" formatCode="General">
                  <c:v>173.17</c:v>
                </c:pt>
                <c:pt idx="318" formatCode="General">
                  <c:v>176.39</c:v>
                </c:pt>
                <c:pt idx="319" formatCode="General">
                  <c:v>178.71</c:v>
                </c:pt>
                <c:pt idx="320" formatCode="General">
                  <c:v>179.97</c:v>
                </c:pt>
                <c:pt idx="321" formatCode="General">
                  <c:v>180.29</c:v>
                </c:pt>
                <c:pt idx="322" formatCode="General">
                  <c:v>180.2</c:v>
                </c:pt>
                <c:pt idx="323" formatCode="General">
                  <c:v>180.07</c:v>
                </c:pt>
                <c:pt idx="324" formatCode="General">
                  <c:v>179.94</c:v>
                </c:pt>
                <c:pt idx="325" formatCode="General">
                  <c:v>179.96</c:v>
                </c:pt>
                <c:pt idx="326" formatCode="General">
                  <c:v>181.43</c:v>
                </c:pt>
                <c:pt idx="327" formatCode="General">
                  <c:v>183.34</c:v>
                </c:pt>
                <c:pt idx="328" formatCode="General">
                  <c:v>185.32</c:v>
                </c:pt>
                <c:pt idx="329" formatCode="General">
                  <c:v>187.2</c:v>
                </c:pt>
                <c:pt idx="330" formatCode="General">
                  <c:v>188.3</c:v>
                </c:pt>
                <c:pt idx="331" formatCode="General">
                  <c:v>188.59</c:v>
                </c:pt>
                <c:pt idx="332" formatCode="General">
                  <c:v>188.38</c:v>
                </c:pt>
                <c:pt idx="333" formatCode="General">
                  <c:v>188.14</c:v>
                </c:pt>
                <c:pt idx="334" formatCode="General">
                  <c:v>187.62</c:v>
                </c:pt>
                <c:pt idx="335" formatCode="General">
                  <c:v>187.75</c:v>
                </c:pt>
                <c:pt idx="336" formatCode="General">
                  <c:v>187.55</c:v>
                </c:pt>
                <c:pt idx="337" formatCode="General">
                  <c:v>188.41</c:v>
                </c:pt>
                <c:pt idx="338" formatCode="General">
                  <c:v>189.83</c:v>
                </c:pt>
                <c:pt idx="339" formatCode="General">
                  <c:v>191.8</c:v>
                </c:pt>
              </c:numCache>
            </c:numRef>
          </c:yVal>
          <c:smooth val="1"/>
        </c:ser>
        <c:dLbls>
          <c:showLegendKey val="0"/>
          <c:showVal val="0"/>
          <c:showCatName val="0"/>
          <c:showSerName val="0"/>
          <c:showPercent val="0"/>
          <c:showBubbleSize val="0"/>
        </c:dLbls>
        <c:axId val="299898464"/>
        <c:axId val="299898856"/>
      </c:scatterChart>
      <c:valAx>
        <c:axId val="299898464"/>
        <c:scaling>
          <c:orientation val="minMax"/>
          <c:max val="42100"/>
          <c:min val="31808"/>
        </c:scaling>
        <c:delete val="0"/>
        <c:axPos val="b"/>
        <c:numFmt formatCode="mmm\ yy" sourceLinked="0"/>
        <c:majorTickMark val="out"/>
        <c:minorTickMark val="none"/>
        <c:tickLblPos val="nextTo"/>
        <c:txPr>
          <a:bodyPr rot="-2220000" vert="horz"/>
          <a:lstStyle/>
          <a:p>
            <a:pPr>
              <a:defRPr sz="1000" b="0" i="0" u="none" strike="noStrike" baseline="0">
                <a:solidFill>
                  <a:srgbClr val="000000"/>
                </a:solidFill>
                <a:latin typeface="Calibri"/>
                <a:ea typeface="Calibri"/>
                <a:cs typeface="Calibri"/>
              </a:defRPr>
            </a:pPr>
            <a:endParaRPr lang="en-US"/>
          </a:p>
        </c:txPr>
        <c:crossAx val="299898856"/>
        <c:crosses val="autoZero"/>
        <c:crossBetween val="midCat"/>
        <c:majorUnit val="1095"/>
      </c:valAx>
      <c:valAx>
        <c:axId val="299898856"/>
        <c:scaling>
          <c:orientation val="minMax"/>
        </c:scaling>
        <c:delete val="0"/>
        <c:axPos val="l"/>
        <c:numFmt formatCode="0.00" sourceLinked="1"/>
        <c:majorTickMark val="out"/>
        <c:minorTickMark val="none"/>
        <c:tickLblPos val="nextTo"/>
        <c:txPr>
          <a:bodyPr rot="0" vert="horz"/>
          <a:lstStyle/>
          <a:p>
            <a:pPr>
              <a:defRPr sz="1000" b="0" i="0" u="none" strike="noStrike" baseline="0">
                <a:solidFill>
                  <a:srgbClr val="000000"/>
                </a:solidFill>
                <a:latin typeface="Calibri"/>
                <a:ea typeface="Calibri"/>
                <a:cs typeface="Calibri"/>
              </a:defRPr>
            </a:pPr>
            <a:endParaRPr lang="en-US"/>
          </a:p>
        </c:txPr>
        <c:crossAx val="299898464"/>
        <c:crosses val="autoZero"/>
        <c:crossBetween val="midCat"/>
      </c:valAx>
      <c:spPr>
        <a:noFill/>
        <a:ln w="25400">
          <a:noFill/>
        </a:ln>
      </c:spPr>
    </c:plotArea>
    <c:plotVisOnly val="1"/>
    <c:dispBlanksAs val="gap"/>
    <c:showDLblsOverMax val="0"/>
  </c:chart>
  <c:txPr>
    <a:bodyPr/>
    <a:lstStyle/>
    <a:p>
      <a:pPr>
        <a:defRPr sz="1000" b="0" i="0" u="none" strike="noStrike" baseline="0">
          <a:solidFill>
            <a:srgbClr val="000000"/>
          </a:solidFill>
          <a:latin typeface="Calibri"/>
          <a:ea typeface="Calibri"/>
          <a:cs typeface="Calibri"/>
        </a:defRPr>
      </a:pPr>
      <a:endParaRPr lang="en-US"/>
    </a:p>
  </c:tx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958850" eaLnBrk="0" hangingPunct="0">
              <a:defRPr sz="1000" i="1">
                <a:latin typeface="Arial" charset="0"/>
              </a:defRPr>
            </a:lvl1pPr>
          </a:lstStyle>
          <a:p>
            <a:pPr>
              <a:defRPr/>
            </a:pPr>
            <a:endParaRPr lang="en-US"/>
          </a:p>
        </p:txBody>
      </p:sp>
      <p:sp>
        <p:nvSpPr>
          <p:cNvPr id="3075"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958850" eaLnBrk="0" hangingPunct="0">
              <a:defRPr sz="1000" i="1">
                <a:latin typeface="Arial" charset="0"/>
              </a:defRPr>
            </a:lvl1pPr>
          </a:lstStyle>
          <a:p>
            <a:pPr>
              <a:defRPr/>
            </a:pPr>
            <a:endParaRPr lang="en-US"/>
          </a:p>
        </p:txBody>
      </p:sp>
      <p:sp>
        <p:nvSpPr>
          <p:cNvPr id="3076"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958850" eaLnBrk="0" hangingPunct="0">
              <a:defRPr sz="1000" i="1">
                <a:latin typeface="Arial" charset="0"/>
              </a:defRPr>
            </a:lvl1pPr>
          </a:lstStyle>
          <a:p>
            <a:pPr>
              <a:defRPr/>
            </a:pPr>
            <a:endParaRPr lang="en-US"/>
          </a:p>
        </p:txBody>
      </p:sp>
      <p:sp>
        <p:nvSpPr>
          <p:cNvPr id="3077"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958850" eaLnBrk="0" hangingPunct="0">
              <a:defRPr sz="1000" i="1" smtClean="0"/>
            </a:lvl1pPr>
          </a:lstStyle>
          <a:p>
            <a:pPr>
              <a:defRPr/>
            </a:pPr>
            <a:fld id="{BD23EB5E-45B9-4682-A374-5075E6C92238}" type="slidenum">
              <a:rPr lang="en-US" altLang="en-US"/>
              <a:pPr>
                <a:defRPr/>
              </a:pPr>
              <a:t>‹#›</a:t>
            </a:fld>
            <a:endParaRPr lang="en-US" altLang="en-US"/>
          </a:p>
        </p:txBody>
      </p:sp>
    </p:spTree>
    <p:extLst>
      <p:ext uri="{BB962C8B-B14F-4D97-AF65-F5344CB8AC3E}">
        <p14:creationId xmlns:p14="http://schemas.microsoft.com/office/powerpoint/2010/main" val="3746880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8001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800100" eaLnBrk="0" hangingPunct="0">
              <a:defRPr sz="1000" i="1" smtClean="0">
                <a:latin typeface="Times New Roman" panose="02020603050405020304" pitchFamily="18" charset="0"/>
              </a:defRPr>
            </a:lvl1pPr>
          </a:lstStyle>
          <a:p>
            <a:pPr>
              <a:defRPr/>
            </a:pPr>
            <a:fld id="{9EB09549-C9C0-49B2-A20D-FE79072E31C6}" type="slidenum">
              <a:rPr lang="en-US" altLang="en-US"/>
              <a:pPr>
                <a:defRPr/>
              </a:pPr>
              <a:t>‹#›</a:t>
            </a:fld>
            <a:endParaRPr lang="en-US" alt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596" tIns="48298" rIns="96596" bIns="48298" numCol="1" anchor="t" anchorCtr="0" compatLnSpc="1">
            <a:prstTxWarp prst="textNoShape">
              <a:avLst/>
            </a:prstTxWarp>
          </a:bodyPr>
          <a:lstStyle/>
          <a:p>
            <a:pPr lvl="0"/>
            <a:r>
              <a:rPr lang="en-US" noProof="0" smtClean="0"/>
              <a:t>Click to edit Master notes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3319" name="Rectangle 7"/>
          <p:cNvSpPr>
            <a:spLocks noGrp="1" noRot="1" noChangeAspect="1" noChangeArrowheads="1" noTextEdit="1"/>
          </p:cNvSpPr>
          <p:nvPr>
            <p:ph type="sldImg" idx="2"/>
          </p:nvPr>
        </p:nvSpPr>
        <p:spPr bwMode="auto">
          <a:xfrm>
            <a:off x="1262063" y="722313"/>
            <a:ext cx="4797425" cy="3597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7021034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smtClean="0">
              <a:latin typeface="Arial" panose="020B0604020202020204" pitchFamily="34" charset="0"/>
            </a:endParaRPr>
          </a:p>
        </p:txBody>
      </p:sp>
    </p:spTree>
    <p:extLst>
      <p:ext uri="{BB962C8B-B14F-4D97-AF65-F5344CB8AC3E}">
        <p14:creationId xmlns:p14="http://schemas.microsoft.com/office/powerpoint/2010/main" val="2302802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F0A36AA-0828-461A-BF68-03DBC755C5C8}" type="slidenum">
              <a:rPr lang="en-US" altLang="en-US" sz="1000">
                <a:latin typeface="Times New Roman" panose="02020603050405020304" pitchFamily="18" charset="0"/>
              </a:rPr>
              <a:pPr>
                <a:spcBef>
                  <a:spcPct val="0"/>
                </a:spcBef>
              </a:pPr>
              <a:t>2</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863379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F0A2FF2-A70E-45FE-B527-5CA237BF069C}" type="slidenum">
              <a:rPr lang="en-US" altLang="en-US" sz="1000">
                <a:latin typeface="Times New Roman" panose="02020603050405020304" pitchFamily="18" charset="0"/>
              </a:rPr>
              <a:pPr>
                <a:spcBef>
                  <a:spcPct val="0"/>
                </a:spcBef>
              </a:pPr>
              <a:t>3</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417300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6601E16-00E1-4E21-A79A-328D1417977B}" type="slidenum">
              <a:rPr lang="en-US" altLang="en-US" sz="1000">
                <a:latin typeface="Times New Roman" panose="02020603050405020304" pitchFamily="18" charset="0"/>
              </a:rPr>
              <a:pPr>
                <a:spcBef>
                  <a:spcPct val="0"/>
                </a:spcBef>
              </a:pPr>
              <a:t>4</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400796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3F68622-03B3-49ED-AAE4-8BF33CD43364}" type="slidenum">
              <a:rPr lang="en-US" altLang="en-US" sz="1000">
                <a:latin typeface="Times New Roman" panose="02020603050405020304" pitchFamily="18" charset="0"/>
              </a:rPr>
              <a:pPr>
                <a:spcBef>
                  <a:spcPct val="0"/>
                </a:spcBef>
              </a:pPr>
              <a:t>5</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358060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C458707-24D9-41C7-98AA-EC172A14A58A}" type="slidenum">
              <a:rPr lang="en-US" altLang="en-US" sz="1000">
                <a:latin typeface="Times New Roman" panose="02020603050405020304" pitchFamily="18" charset="0"/>
              </a:rPr>
              <a:pPr>
                <a:spcBef>
                  <a:spcPct val="0"/>
                </a:spcBef>
              </a:pPr>
              <a:t>6</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153774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28BC2ED-EE55-4521-BE89-508487BC6D51}" type="slidenum">
              <a:rPr lang="en-US" altLang="en-US" sz="1000">
                <a:latin typeface="Times New Roman" panose="02020603050405020304" pitchFamily="18" charset="0"/>
              </a:rPr>
              <a:pPr>
                <a:spcBef>
                  <a:spcPct val="0"/>
                </a:spcBef>
              </a:pPr>
              <a:t>7</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3710610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latin typeface="Arial" panose="020B0604020202020204" pitchFamily="34" charset="0"/>
            </a:endParaRP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D606827-F2C6-46BB-B903-153B3453DE80}" type="slidenum">
              <a:rPr lang="en-US" altLang="en-US" sz="1000">
                <a:latin typeface="Times New Roman" panose="02020603050405020304" pitchFamily="18" charset="0"/>
              </a:rPr>
              <a:pPr>
                <a:spcBef>
                  <a:spcPct val="0"/>
                </a:spcBef>
              </a:pPr>
              <a:t>8</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4003740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mtClean="0">
              <a:latin typeface="Arial" panose="020B0604020202020204" pitchFamily="34" charset="0"/>
            </a:endParaRPr>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CF9BE27-8B5A-465F-B299-608444AC3E4E}" type="slidenum">
              <a:rPr lang="en-US" altLang="en-US" sz="1000">
                <a:latin typeface="Times New Roman" panose="02020603050405020304" pitchFamily="18" charset="0"/>
              </a:rPr>
              <a:pPr>
                <a:spcBef>
                  <a:spcPct val="0"/>
                </a:spcBef>
              </a:pPr>
              <a:t>9</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122711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3F6BBCB-D8DB-4D09-8210-0EF81BE03A83}" type="slidenum">
              <a:rPr lang="en-US" altLang="en-US" sz="1000">
                <a:latin typeface="Times New Roman" panose="02020603050405020304" pitchFamily="18" charset="0"/>
              </a:rPr>
              <a:pPr>
                <a:spcBef>
                  <a:spcPct val="0"/>
                </a:spcBef>
              </a:pPr>
              <a:t>10</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672251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D32051E-A725-4CE6-8492-3402BE86B5FA}" type="slidenum">
              <a:rPr lang="en-US" altLang="en-US" sz="1000">
                <a:latin typeface="Times New Roman" panose="02020603050405020304" pitchFamily="18" charset="0"/>
              </a:rPr>
              <a:pPr>
                <a:spcBef>
                  <a:spcPct val="0"/>
                </a:spcBef>
              </a:pPr>
              <a:t>11</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2851809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574EFD-0450-448E-8354-98F700A9A22C}" type="slidenum">
              <a:rPr lang="en-US" altLang="en-US" sz="1000">
                <a:latin typeface="Times New Roman" panose="02020603050405020304" pitchFamily="18" charset="0"/>
              </a:rPr>
              <a:pPr>
                <a:spcBef>
                  <a:spcPct val="0"/>
                </a:spcBef>
              </a:pPr>
              <a:t>12</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1709705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a:spcBef>
                <a:spcPct val="30000"/>
              </a:spcBef>
              <a:defRPr sz="1200">
                <a:solidFill>
                  <a:schemeClr val="tx1"/>
                </a:solidFill>
                <a:latin typeface="Arial" panose="020B0604020202020204" pitchFamily="34" charset="0"/>
              </a:defRPr>
            </a:lvl1pPr>
            <a:lvl2pPr marL="742950" indent="-285750" defTabSz="800100">
              <a:spcBef>
                <a:spcPct val="30000"/>
              </a:spcBef>
              <a:defRPr sz="1200">
                <a:solidFill>
                  <a:schemeClr val="tx1"/>
                </a:solidFill>
                <a:latin typeface="Arial" panose="020B0604020202020204" pitchFamily="34" charset="0"/>
              </a:defRPr>
            </a:lvl2pPr>
            <a:lvl3pPr marL="1143000" indent="-228600" defTabSz="800100">
              <a:spcBef>
                <a:spcPct val="30000"/>
              </a:spcBef>
              <a:defRPr sz="1200">
                <a:solidFill>
                  <a:schemeClr val="tx1"/>
                </a:solidFill>
                <a:latin typeface="Arial" panose="020B0604020202020204" pitchFamily="34" charset="0"/>
              </a:defRPr>
            </a:lvl3pPr>
            <a:lvl4pPr marL="1600200" indent="-228600" defTabSz="800100">
              <a:spcBef>
                <a:spcPct val="30000"/>
              </a:spcBef>
              <a:defRPr sz="1200">
                <a:solidFill>
                  <a:schemeClr val="tx1"/>
                </a:solidFill>
                <a:latin typeface="Arial" panose="020B0604020202020204" pitchFamily="34" charset="0"/>
              </a:defRPr>
            </a:lvl4pPr>
            <a:lvl5pPr marL="2057400" indent="-228600" defTabSz="800100">
              <a:spcBef>
                <a:spcPct val="30000"/>
              </a:spcBef>
              <a:defRPr sz="1200">
                <a:solidFill>
                  <a:schemeClr val="tx1"/>
                </a:solidFill>
                <a:latin typeface="Arial" panose="020B0604020202020204" pitchFamily="34" charset="0"/>
              </a:defRPr>
            </a:lvl5pPr>
            <a:lvl6pPr marL="2514600" indent="-228600" defTabSz="800100"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00100"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00100"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001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592DB8A-E6CB-433F-855A-BD38AE6A641D}" type="slidenum">
              <a:rPr lang="en-US" altLang="en-US" sz="1000">
                <a:latin typeface="Times New Roman" panose="02020603050405020304" pitchFamily="18" charset="0"/>
              </a:rPr>
              <a:pPr>
                <a:spcBef>
                  <a:spcPct val="0"/>
                </a:spcBef>
              </a:pPr>
              <a:t>13</a:t>
            </a:fld>
            <a:endParaRPr lang="en-US" altLang="en-US" sz="1000">
              <a:latin typeface="Times New Roman" panose="02020603050405020304" pitchFamily="18" charset="0"/>
            </a:endParaRPr>
          </a:p>
        </p:txBody>
      </p:sp>
    </p:spTree>
    <p:extLst>
      <p:ext uri="{BB962C8B-B14F-4D97-AF65-F5344CB8AC3E}">
        <p14:creationId xmlns:p14="http://schemas.microsoft.com/office/powerpoint/2010/main" val="650191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203"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94720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4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a:xfrm>
            <a:off x="323850" y="6248400"/>
            <a:ext cx="7677150" cy="457200"/>
          </a:xfrm>
        </p:spPr>
        <p:txBody>
          <a:bodyPr/>
          <a:lstStyle>
            <a:lvl1pPr>
              <a:defRPr smtClean="0"/>
            </a:lvl1pPr>
          </a:lstStyle>
          <a:p>
            <a:pPr>
              <a:defRPr/>
            </a:pPr>
            <a:r>
              <a:rPr lang="en-US" altLang="en-US"/>
              <a:t>Fundamentals of Futures and Options Markets 9th Ed, Ch 8,  Copyright © John C. Hull 2016</a:t>
            </a:r>
            <a:endParaRPr lang="en-US" altLang="en-US" i="0"/>
          </a:p>
        </p:txBody>
      </p:sp>
      <p:sp>
        <p:nvSpPr>
          <p:cNvPr id="40" name="Rectangle 7"/>
          <p:cNvSpPr>
            <a:spLocks noGrp="1" noChangeArrowheads="1"/>
          </p:cNvSpPr>
          <p:nvPr>
            <p:ph type="sldNum" sz="quarter" idx="12"/>
          </p:nvPr>
        </p:nvSpPr>
        <p:spPr>
          <a:xfrm>
            <a:off x="6553200" y="6237288"/>
            <a:ext cx="2133600" cy="468312"/>
          </a:xfrm>
        </p:spPr>
        <p:txBody>
          <a:bodyPr/>
          <a:lstStyle>
            <a:lvl1pPr>
              <a:defRPr smtClean="0"/>
            </a:lvl1pPr>
          </a:lstStyle>
          <a:p>
            <a:pPr>
              <a:defRPr/>
            </a:pPr>
            <a:fld id="{489A49D8-5D90-4773-AFE7-05080FCE3E87}" type="slidenum">
              <a:rPr lang="en-US" altLang="en-US"/>
              <a:pPr>
                <a:defRPr/>
              </a:pPr>
              <a:t>‹#›</a:t>
            </a:fld>
            <a:endParaRPr lang="en-US" altLang="en-US"/>
          </a:p>
        </p:txBody>
      </p:sp>
    </p:spTree>
    <p:extLst>
      <p:ext uri="{BB962C8B-B14F-4D97-AF65-F5344CB8AC3E}">
        <p14:creationId xmlns:p14="http://schemas.microsoft.com/office/powerpoint/2010/main" val="1520433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smtClean="0"/>
            </a:lvl1pPr>
          </a:lstStyle>
          <a:p>
            <a:pPr>
              <a:defRPr/>
            </a:pPr>
            <a:fld id="{2092852D-D518-4B6B-914F-63E58E00C6FA}" type="slidenum">
              <a:rPr lang="en-US" altLang="en-US"/>
              <a:pPr>
                <a:defRPr/>
              </a:pPr>
              <a:t>‹#›</a:t>
            </a:fld>
            <a:endParaRPr lang="en-US" altLang="en-US"/>
          </a:p>
        </p:txBody>
      </p:sp>
    </p:spTree>
    <p:extLst>
      <p:ext uri="{BB962C8B-B14F-4D97-AF65-F5344CB8AC3E}">
        <p14:creationId xmlns:p14="http://schemas.microsoft.com/office/powerpoint/2010/main" val="2006932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smtClean="0"/>
            </a:lvl1pPr>
          </a:lstStyle>
          <a:p>
            <a:pPr>
              <a:defRPr/>
            </a:pPr>
            <a:fld id="{8BDC3CB4-6511-4079-8EF9-7970629B4D98}" type="slidenum">
              <a:rPr lang="en-US" altLang="en-US"/>
              <a:pPr>
                <a:defRPr/>
              </a:pPr>
              <a:t>‹#›</a:t>
            </a:fld>
            <a:endParaRPr lang="en-US" altLang="en-US"/>
          </a:p>
        </p:txBody>
      </p:sp>
    </p:spTree>
    <p:extLst>
      <p:ext uri="{BB962C8B-B14F-4D97-AF65-F5344CB8AC3E}">
        <p14:creationId xmlns:p14="http://schemas.microsoft.com/office/powerpoint/2010/main" val="477252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smtClean="0"/>
            </a:lvl1pPr>
          </a:lstStyle>
          <a:p>
            <a:pPr>
              <a:defRPr/>
            </a:pPr>
            <a:fld id="{253DB3AB-AD3F-45AF-9E58-8779EE67C5E0}" type="slidenum">
              <a:rPr lang="en-US" altLang="en-US"/>
              <a:pPr>
                <a:defRPr/>
              </a:pPr>
              <a:t>‹#›</a:t>
            </a:fld>
            <a:endParaRPr lang="en-US" altLang="en-US"/>
          </a:p>
        </p:txBody>
      </p:sp>
    </p:spTree>
    <p:extLst>
      <p:ext uri="{BB962C8B-B14F-4D97-AF65-F5344CB8AC3E}">
        <p14:creationId xmlns:p14="http://schemas.microsoft.com/office/powerpoint/2010/main" val="1508254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pPr>
              <a:defRPr/>
            </a:pPr>
            <a:endParaRPr lang="en-US" altLang="en-US"/>
          </a:p>
        </p:txBody>
      </p:sp>
      <p:sp>
        <p:nvSpPr>
          <p:cNvPr id="8" name="Footer Placeholder 7"/>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9" name="Slide Number Placeholder 8"/>
          <p:cNvSpPr>
            <a:spLocks noGrp="1"/>
          </p:cNvSpPr>
          <p:nvPr>
            <p:ph type="sldNum" sz="quarter" idx="12"/>
          </p:nvPr>
        </p:nvSpPr>
        <p:spPr/>
        <p:txBody>
          <a:bodyPr/>
          <a:lstStyle>
            <a:lvl1pPr>
              <a:defRPr smtClean="0"/>
            </a:lvl1pPr>
          </a:lstStyle>
          <a:p>
            <a:pPr>
              <a:defRPr/>
            </a:pPr>
            <a:fld id="{E6551926-9F3D-41CF-AE38-E47E75A00A91}" type="slidenum">
              <a:rPr lang="en-US" altLang="en-US"/>
              <a:pPr>
                <a:defRPr/>
              </a:pPr>
              <a:t>‹#›</a:t>
            </a:fld>
            <a:endParaRPr lang="en-US" altLang="en-US"/>
          </a:p>
        </p:txBody>
      </p:sp>
    </p:spTree>
    <p:extLst>
      <p:ext uri="{BB962C8B-B14F-4D97-AF65-F5344CB8AC3E}">
        <p14:creationId xmlns:p14="http://schemas.microsoft.com/office/powerpoint/2010/main" val="598444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5" name="Slide Number Placeholder 4"/>
          <p:cNvSpPr>
            <a:spLocks noGrp="1"/>
          </p:cNvSpPr>
          <p:nvPr>
            <p:ph type="sldNum" sz="quarter" idx="12"/>
          </p:nvPr>
        </p:nvSpPr>
        <p:spPr/>
        <p:txBody>
          <a:bodyPr/>
          <a:lstStyle>
            <a:lvl1pPr>
              <a:defRPr smtClean="0"/>
            </a:lvl1pPr>
          </a:lstStyle>
          <a:p>
            <a:pPr>
              <a:defRPr/>
            </a:pPr>
            <a:fld id="{3B5910A4-F5A8-4841-844F-8048AF9D2FD1}" type="slidenum">
              <a:rPr lang="en-US" altLang="en-US"/>
              <a:pPr>
                <a:defRPr/>
              </a:pPr>
              <a:t>‹#›</a:t>
            </a:fld>
            <a:endParaRPr lang="en-US" altLang="en-US"/>
          </a:p>
        </p:txBody>
      </p:sp>
    </p:spTree>
    <p:extLst>
      <p:ext uri="{BB962C8B-B14F-4D97-AF65-F5344CB8AC3E}">
        <p14:creationId xmlns:p14="http://schemas.microsoft.com/office/powerpoint/2010/main" val="3253014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ltLang="en-US"/>
          </a:p>
        </p:txBody>
      </p:sp>
      <p:sp>
        <p:nvSpPr>
          <p:cNvPr id="3" name="Footer Placeholder 2"/>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4" name="Slide Number Placeholder 3"/>
          <p:cNvSpPr>
            <a:spLocks noGrp="1"/>
          </p:cNvSpPr>
          <p:nvPr>
            <p:ph type="sldNum" sz="quarter" idx="12"/>
          </p:nvPr>
        </p:nvSpPr>
        <p:spPr/>
        <p:txBody>
          <a:bodyPr/>
          <a:lstStyle>
            <a:lvl1pPr>
              <a:defRPr smtClean="0"/>
            </a:lvl1pPr>
          </a:lstStyle>
          <a:p>
            <a:pPr>
              <a:defRPr/>
            </a:pPr>
            <a:fld id="{75BB57B2-011C-4178-A694-40752FC883F2}" type="slidenum">
              <a:rPr lang="en-US" altLang="en-US"/>
              <a:pPr>
                <a:defRPr/>
              </a:pPr>
              <a:t>‹#›</a:t>
            </a:fld>
            <a:endParaRPr lang="en-US" altLang="en-US"/>
          </a:p>
        </p:txBody>
      </p:sp>
    </p:spTree>
    <p:extLst>
      <p:ext uri="{BB962C8B-B14F-4D97-AF65-F5344CB8AC3E}">
        <p14:creationId xmlns:p14="http://schemas.microsoft.com/office/powerpoint/2010/main" val="2674616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smtClean="0"/>
            </a:lvl1pPr>
          </a:lstStyle>
          <a:p>
            <a:pPr>
              <a:defRPr/>
            </a:pPr>
            <a:fld id="{729FC7C1-1B49-4CFA-ACEF-81E656943047}" type="slidenum">
              <a:rPr lang="en-US" altLang="en-US"/>
              <a:pPr>
                <a:defRPr/>
              </a:pPr>
              <a:t>‹#›</a:t>
            </a:fld>
            <a:endParaRPr lang="en-US" altLang="en-US"/>
          </a:p>
        </p:txBody>
      </p:sp>
    </p:spTree>
    <p:extLst>
      <p:ext uri="{BB962C8B-B14F-4D97-AF65-F5344CB8AC3E}">
        <p14:creationId xmlns:p14="http://schemas.microsoft.com/office/powerpoint/2010/main" val="252378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ltLang="en-US"/>
          </a:p>
        </p:txBody>
      </p:sp>
      <p:sp>
        <p:nvSpPr>
          <p:cNvPr id="6" name="Footer Placeholder 5"/>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7" name="Slide Number Placeholder 6"/>
          <p:cNvSpPr>
            <a:spLocks noGrp="1"/>
          </p:cNvSpPr>
          <p:nvPr>
            <p:ph type="sldNum" sz="quarter" idx="12"/>
          </p:nvPr>
        </p:nvSpPr>
        <p:spPr/>
        <p:txBody>
          <a:bodyPr/>
          <a:lstStyle>
            <a:lvl1pPr>
              <a:defRPr smtClean="0"/>
            </a:lvl1pPr>
          </a:lstStyle>
          <a:p>
            <a:pPr>
              <a:defRPr/>
            </a:pPr>
            <a:fld id="{0A91F3CB-96E7-47C4-BCB6-B4C795DD2ECE}" type="slidenum">
              <a:rPr lang="en-US" altLang="en-US"/>
              <a:pPr>
                <a:defRPr/>
              </a:pPr>
              <a:t>‹#›</a:t>
            </a:fld>
            <a:endParaRPr lang="en-US" altLang="en-US"/>
          </a:p>
        </p:txBody>
      </p:sp>
    </p:spTree>
    <p:extLst>
      <p:ext uri="{BB962C8B-B14F-4D97-AF65-F5344CB8AC3E}">
        <p14:creationId xmlns:p14="http://schemas.microsoft.com/office/powerpoint/2010/main" val="3687825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smtClean="0"/>
            </a:lvl1pPr>
          </a:lstStyle>
          <a:p>
            <a:pPr>
              <a:defRPr/>
            </a:pPr>
            <a:fld id="{11B00DC5-8851-431A-A992-FB1FD337430B}" type="slidenum">
              <a:rPr lang="en-US" altLang="en-US"/>
              <a:pPr>
                <a:defRPr/>
              </a:pPr>
              <a:t>‹#›</a:t>
            </a:fld>
            <a:endParaRPr lang="en-US" altLang="en-US"/>
          </a:p>
        </p:txBody>
      </p:sp>
    </p:spTree>
    <p:extLst>
      <p:ext uri="{BB962C8B-B14F-4D97-AF65-F5344CB8AC3E}">
        <p14:creationId xmlns:p14="http://schemas.microsoft.com/office/powerpoint/2010/main" val="98739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smtClean="0"/>
            </a:lvl1pPr>
          </a:lstStyle>
          <a:p>
            <a:pPr>
              <a:defRPr/>
            </a:pPr>
            <a:r>
              <a:rPr lang="en-US" altLang="en-US"/>
              <a:t>Fundamentals of Futures and Options Markets 9th Ed, Ch 8,  Copyright © John C. Hull 2016</a:t>
            </a:r>
            <a:endParaRPr lang="en-US" altLang="en-US" i="0">
              <a:cs typeface="Arial" charset="0"/>
            </a:endParaRPr>
          </a:p>
        </p:txBody>
      </p:sp>
      <p:sp>
        <p:nvSpPr>
          <p:cNvPr id="6" name="Slide Number Placeholder 5"/>
          <p:cNvSpPr>
            <a:spLocks noGrp="1"/>
          </p:cNvSpPr>
          <p:nvPr>
            <p:ph type="sldNum" sz="quarter" idx="12"/>
          </p:nvPr>
        </p:nvSpPr>
        <p:spPr/>
        <p:txBody>
          <a:bodyPr/>
          <a:lstStyle>
            <a:lvl1pPr>
              <a:defRPr smtClean="0"/>
            </a:lvl1pPr>
          </a:lstStyle>
          <a:p>
            <a:pPr>
              <a:defRPr/>
            </a:pPr>
            <a:fld id="{D6CAB30C-D296-410C-A64B-242E5E345CF8}" type="slidenum">
              <a:rPr lang="en-US" altLang="en-US"/>
              <a:pPr>
                <a:defRPr/>
              </a:pPr>
              <a:t>‹#›</a:t>
            </a:fld>
            <a:endParaRPr lang="en-US" altLang="en-US"/>
          </a:p>
        </p:txBody>
      </p:sp>
    </p:spTree>
    <p:extLst>
      <p:ext uri="{BB962C8B-B14F-4D97-AF65-F5344CB8AC3E}">
        <p14:creationId xmlns:p14="http://schemas.microsoft.com/office/powerpoint/2010/main" val="170555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94618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00">
                <a:latin typeface="Arial" charset="0"/>
              </a:defRPr>
            </a:lvl1pPr>
          </a:lstStyle>
          <a:p>
            <a:pPr>
              <a:defRPr/>
            </a:pPr>
            <a:endParaRPr lang="en-US" altLang="en-US"/>
          </a:p>
        </p:txBody>
      </p:sp>
      <p:sp>
        <p:nvSpPr>
          <p:cNvPr id="946182" name="Rectangle 6"/>
          <p:cNvSpPr>
            <a:spLocks noGrp="1" noChangeArrowheads="1"/>
          </p:cNvSpPr>
          <p:nvPr>
            <p:ph type="ftr" sz="quarter" idx="3"/>
          </p:nvPr>
        </p:nvSpPr>
        <p:spPr bwMode="auto">
          <a:xfrm>
            <a:off x="250825" y="6248400"/>
            <a:ext cx="7561263"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i="1" smtClean="0">
                <a:latin typeface="Arial" charset="0"/>
              </a:defRPr>
            </a:lvl1pPr>
          </a:lstStyle>
          <a:p>
            <a:pPr>
              <a:defRPr/>
            </a:pPr>
            <a:r>
              <a:rPr lang="en-US" altLang="en-US"/>
              <a:t>Fundamentals of Futures and Options Markets 9th Ed, Ch 8,  Copyright © John C. Hull 2016</a:t>
            </a:r>
            <a:endParaRPr lang="en-US" altLang="en-US">
              <a:cs typeface="Arial" charset="0"/>
            </a:endParaRPr>
          </a:p>
        </p:txBody>
      </p:sp>
      <p:sp>
        <p:nvSpPr>
          <p:cNvPr id="94618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b="1" smtClean="0"/>
            </a:lvl1pPr>
          </a:lstStyle>
          <a:p>
            <a:pPr>
              <a:defRPr/>
            </a:pPr>
            <a:fld id="{D451BD4B-43AD-49D1-A998-048E5ECC5641}"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34"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35"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36"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37"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38"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39" name="Oval 15"/>
            <p:cNvSpPr>
              <a:spLocks noChangeArrowheads="1"/>
            </p:cNvSpPr>
            <p:nvPr/>
          </p:nvSpPr>
          <p:spPr bwMode="auto">
            <a:xfrm>
              <a:off x="5472" y="1072"/>
              <a:ext cx="76"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0" name="Oval 16"/>
            <p:cNvSpPr>
              <a:spLocks noChangeArrowheads="1"/>
            </p:cNvSpPr>
            <p:nvPr/>
          </p:nvSpPr>
          <p:spPr bwMode="auto">
            <a:xfrm>
              <a:off x="5136" y="1184"/>
              <a:ext cx="80" cy="7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1" name="Oval 17"/>
            <p:cNvSpPr>
              <a:spLocks noChangeArrowheads="1"/>
            </p:cNvSpPr>
            <p:nvPr/>
          </p:nvSpPr>
          <p:spPr bwMode="auto">
            <a:xfrm>
              <a:off x="5248" y="1184"/>
              <a:ext cx="79" cy="7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2" name="Oval 18"/>
            <p:cNvSpPr>
              <a:spLocks noChangeArrowheads="1"/>
            </p:cNvSpPr>
            <p:nvPr/>
          </p:nvSpPr>
          <p:spPr bwMode="auto">
            <a:xfrm>
              <a:off x="5360" y="1184"/>
              <a:ext cx="76" cy="7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3" name="Oval 19"/>
            <p:cNvSpPr>
              <a:spLocks noChangeArrowheads="1"/>
            </p:cNvSpPr>
            <p:nvPr/>
          </p:nvSpPr>
          <p:spPr bwMode="auto">
            <a:xfrm>
              <a:off x="5472" y="1184"/>
              <a:ext cx="76" cy="7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4" name="Oval 20"/>
            <p:cNvSpPr>
              <a:spLocks noChangeArrowheads="1"/>
            </p:cNvSpPr>
            <p:nvPr/>
          </p:nvSpPr>
          <p:spPr bwMode="auto">
            <a:xfrm>
              <a:off x="5584" y="1184"/>
              <a:ext cx="80"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5"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6"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7"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8" name="Oval 24"/>
            <p:cNvSpPr>
              <a:spLocks noChangeArrowheads="1"/>
            </p:cNvSpPr>
            <p:nvPr/>
          </p:nvSpPr>
          <p:spPr bwMode="auto">
            <a:xfrm>
              <a:off x="5472" y="1296"/>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49"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0"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1"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2" name="Oval 28"/>
            <p:cNvSpPr>
              <a:spLocks noChangeArrowheads="1"/>
            </p:cNvSpPr>
            <p:nvPr/>
          </p:nvSpPr>
          <p:spPr bwMode="auto">
            <a:xfrm>
              <a:off x="5472"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3"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4"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5"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6"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7" name="Oval 33"/>
            <p:cNvSpPr>
              <a:spLocks noChangeArrowheads="1"/>
            </p:cNvSpPr>
            <p:nvPr/>
          </p:nvSpPr>
          <p:spPr bwMode="auto">
            <a:xfrm>
              <a:off x="5472" y="1520"/>
              <a:ext cx="76"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8" name="Oval 34"/>
            <p:cNvSpPr>
              <a:spLocks noChangeArrowheads="1"/>
            </p:cNvSpPr>
            <p:nvPr/>
          </p:nvSpPr>
          <p:spPr bwMode="auto">
            <a:xfrm>
              <a:off x="5136" y="1632"/>
              <a:ext cx="80"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59" name="Oval 35"/>
            <p:cNvSpPr>
              <a:spLocks noChangeArrowheads="1"/>
            </p:cNvSpPr>
            <p:nvPr/>
          </p:nvSpPr>
          <p:spPr bwMode="auto">
            <a:xfrm>
              <a:off x="5248" y="1632"/>
              <a:ext cx="79"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60" name="Oval 36"/>
            <p:cNvSpPr>
              <a:spLocks noChangeArrowheads="1"/>
            </p:cNvSpPr>
            <p:nvPr/>
          </p:nvSpPr>
          <p:spPr bwMode="auto">
            <a:xfrm>
              <a:off x="5360" y="1632"/>
              <a:ext cx="76" cy="76"/>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61" name="Oval 37"/>
            <p:cNvSpPr>
              <a:spLocks noChangeArrowheads="1"/>
            </p:cNvSpPr>
            <p:nvPr/>
          </p:nvSpPr>
          <p:spPr bwMode="auto">
            <a:xfrm>
              <a:off x="5472" y="1632"/>
              <a:ext cx="76" cy="76"/>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62"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sp>
          <p:nvSpPr>
            <p:cNvPr id="1063" name="Oval 39"/>
            <p:cNvSpPr>
              <a:spLocks noChangeArrowheads="1"/>
            </p:cNvSpPr>
            <p:nvPr/>
          </p:nvSpPr>
          <p:spPr bwMode="auto">
            <a:xfrm>
              <a:off x="5472" y="1744"/>
              <a:ext cx="76"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altLang="en-US" smtClean="0"/>
            </a:p>
          </p:txBody>
        </p:sp>
      </p:gr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iming>
    <p:tnLst>
      <p:par>
        <p:cTn id="1" dur="indefinite" restart="never" nodeType="tmRoot"/>
      </p:par>
    </p:tnLst>
  </p:timing>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Times New Roman" pitchFamily="18" charset="0"/>
        </a:defRPr>
      </a:lvl2pPr>
      <a:lvl3pPr algn="l" rtl="0" eaLnBrk="0" fontAlgn="base" hangingPunct="0">
        <a:spcBef>
          <a:spcPct val="0"/>
        </a:spcBef>
        <a:spcAft>
          <a:spcPct val="0"/>
        </a:spcAft>
        <a:defRPr sz="3900" b="1">
          <a:solidFill>
            <a:schemeClr val="tx2"/>
          </a:solidFill>
          <a:latin typeface="Times New Roman" pitchFamily="18" charset="0"/>
        </a:defRPr>
      </a:lvl3pPr>
      <a:lvl4pPr algn="l" rtl="0" eaLnBrk="0" fontAlgn="base" hangingPunct="0">
        <a:spcBef>
          <a:spcPct val="0"/>
        </a:spcBef>
        <a:spcAft>
          <a:spcPct val="0"/>
        </a:spcAft>
        <a:defRPr sz="3900" b="1">
          <a:solidFill>
            <a:schemeClr val="tx2"/>
          </a:solidFill>
          <a:latin typeface="Times New Roman" pitchFamily="18" charset="0"/>
        </a:defRPr>
      </a:lvl4pPr>
      <a:lvl5pPr algn="l" rtl="0" eaLnBrk="0" fontAlgn="base" hangingPunct="0">
        <a:spcBef>
          <a:spcPct val="0"/>
        </a:spcBef>
        <a:spcAft>
          <a:spcPct val="0"/>
        </a:spcAft>
        <a:defRPr sz="3900" b="1">
          <a:solidFill>
            <a:schemeClr val="tx2"/>
          </a:solidFill>
          <a:latin typeface="Times New Roman" pitchFamily="18" charset="0"/>
        </a:defRPr>
      </a:lvl5pPr>
      <a:lvl6pPr marL="457200" algn="l" rtl="0" fontAlgn="base">
        <a:spcBef>
          <a:spcPct val="0"/>
        </a:spcBef>
        <a:spcAft>
          <a:spcPct val="0"/>
        </a:spcAft>
        <a:defRPr sz="3900" b="1">
          <a:solidFill>
            <a:schemeClr val="tx2"/>
          </a:solidFill>
          <a:latin typeface="Times New Roman" pitchFamily="18" charset="0"/>
        </a:defRPr>
      </a:lvl6pPr>
      <a:lvl7pPr marL="914400" algn="l" rtl="0" fontAlgn="base">
        <a:spcBef>
          <a:spcPct val="0"/>
        </a:spcBef>
        <a:spcAft>
          <a:spcPct val="0"/>
        </a:spcAft>
        <a:defRPr sz="3900" b="1">
          <a:solidFill>
            <a:schemeClr val="tx2"/>
          </a:solidFill>
          <a:latin typeface="Times New Roman" pitchFamily="18" charset="0"/>
        </a:defRPr>
      </a:lvl7pPr>
      <a:lvl8pPr marL="1371600" algn="l" rtl="0" fontAlgn="base">
        <a:spcBef>
          <a:spcPct val="0"/>
        </a:spcBef>
        <a:spcAft>
          <a:spcPct val="0"/>
        </a:spcAft>
        <a:defRPr sz="3900" b="1">
          <a:solidFill>
            <a:schemeClr val="tx2"/>
          </a:solidFill>
          <a:latin typeface="Times New Roman" pitchFamily="18" charset="0"/>
        </a:defRPr>
      </a:lvl8pPr>
      <a:lvl9pPr marL="1828800" algn="l" rtl="0" fontAlgn="base">
        <a:spcBef>
          <a:spcPct val="0"/>
        </a:spcBef>
        <a:spcAft>
          <a:spcPct val="0"/>
        </a:spcAft>
        <a:defRPr sz="3900" b="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2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8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4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050"/>
          <p:cNvSpPr>
            <a:spLocks noGrp="1" noChangeArrowheads="1"/>
          </p:cNvSpPr>
          <p:nvPr>
            <p:ph type="ctrTitle"/>
          </p:nvPr>
        </p:nvSpPr>
        <p:spPr/>
        <p:txBody>
          <a:bodyPr/>
          <a:lstStyle/>
          <a:p>
            <a:pPr eaLnBrk="1" hangingPunct="1"/>
            <a:r>
              <a:rPr lang="en-US" altLang="en-US" smtClean="0"/>
              <a:t>Securitization and the Credit Crisis of 2007</a:t>
            </a:r>
          </a:p>
        </p:txBody>
      </p:sp>
      <p:sp>
        <p:nvSpPr>
          <p:cNvPr id="15363" name="Rectangle 2051"/>
          <p:cNvSpPr>
            <a:spLocks noGrp="1" noChangeArrowheads="1"/>
          </p:cNvSpPr>
          <p:nvPr>
            <p:ph type="subTitle" idx="1"/>
          </p:nvPr>
        </p:nvSpPr>
        <p:spPr/>
        <p:txBody>
          <a:bodyPr/>
          <a:lstStyle/>
          <a:p>
            <a:pPr eaLnBrk="1" hangingPunct="1"/>
            <a:r>
              <a:rPr lang="en-US" altLang="en-US" sz="3600" smtClean="0"/>
              <a:t>Chapter 8 </a:t>
            </a:r>
          </a:p>
        </p:txBody>
      </p:sp>
      <p:sp>
        <p:nvSpPr>
          <p:cNvPr id="1536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5BF99EC-B950-4476-9A63-4D9263BCBCCE}" type="slidenum">
              <a:rPr lang="en-US" altLang="en-US" sz="1800"/>
              <a:pPr>
                <a:spcBef>
                  <a:spcPct val="0"/>
                </a:spcBef>
                <a:buClrTx/>
                <a:buSzTx/>
                <a:buFontTx/>
                <a:buNone/>
              </a:pPr>
              <a:t>1</a:t>
            </a:fld>
            <a:endParaRPr lang="en-US" altLang="en-US" sz="1800"/>
          </a:p>
        </p:txBody>
      </p:sp>
      <p:sp>
        <p:nvSpPr>
          <p:cNvPr id="15365"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i="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CA" altLang="en-US" smtClean="0"/>
              <a:t>Securitization</a:t>
            </a:r>
            <a:endParaRPr lang="en-US" altLang="en-US" smtClean="0"/>
          </a:p>
        </p:txBody>
      </p:sp>
      <p:sp>
        <p:nvSpPr>
          <p:cNvPr id="17411" name="Content Placeholder 2"/>
          <p:cNvSpPr>
            <a:spLocks noGrp="1"/>
          </p:cNvSpPr>
          <p:nvPr>
            <p:ph idx="1"/>
          </p:nvPr>
        </p:nvSpPr>
        <p:spPr/>
        <p:txBody>
          <a:bodyPr/>
          <a:lstStyle/>
          <a:p>
            <a:pPr eaLnBrk="1" hangingPunct="1"/>
            <a:r>
              <a:rPr lang="en-CA" altLang="en-US" smtClean="0">
                <a:cs typeface="Arial" panose="020B0604020202020204" pitchFamily="34" charset="0"/>
              </a:rPr>
              <a:t>Traditionally banks have funded loans with deposits</a:t>
            </a:r>
          </a:p>
          <a:p>
            <a:pPr eaLnBrk="1" hangingPunct="1"/>
            <a:r>
              <a:rPr lang="en-CA" altLang="en-US" smtClean="0">
                <a:cs typeface="Arial" panose="020B0604020202020204" pitchFamily="34" charset="0"/>
              </a:rPr>
              <a:t>Securitization is a way that loans can increase much faster than deposits</a:t>
            </a:r>
            <a:endParaRPr lang="en-US" altLang="en-US" smtClean="0">
              <a:cs typeface="Arial" panose="020B0604020202020204" pitchFamily="34" charset="0"/>
            </a:endParaRPr>
          </a:p>
        </p:txBody>
      </p:sp>
      <p:sp>
        <p:nvSpPr>
          <p:cNvPr id="1741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a:cs typeface="Arial" panose="020B0604020202020204" pitchFamily="34" charset="0"/>
            </a:endParaRPr>
          </a:p>
        </p:txBody>
      </p:sp>
      <p:sp>
        <p:nvSpPr>
          <p:cNvPr id="1741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077F801-6049-46F1-B6AD-17CF18E3DEF1}" type="slidenum">
              <a:rPr lang="en-US" altLang="en-US" sz="1800"/>
              <a:pPr>
                <a:spcBef>
                  <a:spcPct val="0"/>
                </a:spcBef>
                <a:buClrTx/>
                <a:buSzTx/>
                <a:buFontTx/>
                <a:buNone/>
              </a:pPr>
              <a:t>2</a:t>
            </a:fld>
            <a:endParaRPr lang="en-US" altLang="en-US" sz="18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4"/>
          <p:cNvSpPr>
            <a:spLocks noGrp="1" noChangeArrowheads="1"/>
          </p:cNvSpPr>
          <p:nvPr>
            <p:ph type="title"/>
          </p:nvPr>
        </p:nvSpPr>
        <p:spPr>
          <a:xfrm>
            <a:off x="685800" y="19050"/>
            <a:ext cx="7772400" cy="914400"/>
          </a:xfrm>
        </p:spPr>
        <p:txBody>
          <a:bodyPr/>
          <a:lstStyle/>
          <a:p>
            <a:pPr eaLnBrk="1" hangingPunct="1"/>
            <a:r>
              <a:rPr lang="en-US" altLang="en-US" sz="2800" smtClean="0"/>
              <a:t>Asset Backed Security (Simplified)</a:t>
            </a:r>
            <a:br>
              <a:rPr lang="en-US" altLang="en-US" sz="2800" smtClean="0"/>
            </a:br>
            <a:r>
              <a:rPr lang="en-US" altLang="en-US" sz="2000" smtClean="0"/>
              <a:t>Figure 8.1, page 191</a:t>
            </a:r>
            <a:r>
              <a:rPr lang="en-US" altLang="en-US" sz="2800" smtClean="0"/>
              <a:t>  </a:t>
            </a:r>
          </a:p>
        </p:txBody>
      </p:sp>
      <p:grpSp>
        <p:nvGrpSpPr>
          <p:cNvPr id="19459" name="Group 2"/>
          <p:cNvGrpSpPr>
            <a:grpSpLocks/>
          </p:cNvGrpSpPr>
          <p:nvPr/>
        </p:nvGrpSpPr>
        <p:grpSpPr bwMode="auto">
          <a:xfrm>
            <a:off x="1143000" y="1752600"/>
            <a:ext cx="6072188" cy="4038600"/>
            <a:chOff x="915" y="630"/>
            <a:chExt cx="4323" cy="3114"/>
          </a:xfrm>
        </p:grpSpPr>
        <p:sp>
          <p:nvSpPr>
            <p:cNvPr id="19465" name="Rectangle 3"/>
            <p:cNvSpPr>
              <a:spLocks noChangeArrowheads="1"/>
            </p:cNvSpPr>
            <p:nvPr/>
          </p:nvSpPr>
          <p:spPr bwMode="auto">
            <a:xfrm>
              <a:off x="915" y="738"/>
              <a:ext cx="1200" cy="288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800">
                  <a:latin typeface="Times New Roman" panose="02020603050405020304" pitchFamily="18" charset="0"/>
                </a:rPr>
                <a:t>Asset 1</a:t>
              </a:r>
            </a:p>
            <a:p>
              <a:pPr algn="ctr">
                <a:spcBef>
                  <a:spcPct val="0"/>
                </a:spcBef>
                <a:buClrTx/>
                <a:buSzTx/>
                <a:buFontTx/>
                <a:buNone/>
              </a:pPr>
              <a:r>
                <a:rPr lang="en-US" altLang="en-US" sz="1800">
                  <a:latin typeface="Times New Roman" panose="02020603050405020304" pitchFamily="18" charset="0"/>
                </a:rPr>
                <a:t>Asset 2</a:t>
              </a:r>
            </a:p>
            <a:p>
              <a:pPr algn="ctr">
                <a:spcBef>
                  <a:spcPct val="0"/>
                </a:spcBef>
                <a:buClrTx/>
                <a:buSzTx/>
                <a:buFontTx/>
                <a:buNone/>
              </a:pPr>
              <a:r>
                <a:rPr lang="en-US" altLang="en-US" sz="1800">
                  <a:latin typeface="Times New Roman" panose="02020603050405020304" pitchFamily="18" charset="0"/>
                </a:rPr>
                <a:t>Asset 3</a:t>
              </a: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r>
                <a:rPr lang="en-US" altLang="en-US" sz="1800">
                  <a:latin typeface="Times New Roman" panose="02020603050405020304" pitchFamily="18" charset="0"/>
                  <a:sym typeface="Wingdings 3" panose="05040102010807070707" pitchFamily="18" charset="2"/>
                </a:rPr>
                <a:t></a:t>
              </a: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r>
                <a:rPr lang="en-US" altLang="en-US" sz="1800">
                  <a:latin typeface="Times New Roman" panose="02020603050405020304" pitchFamily="18" charset="0"/>
                </a:rPr>
                <a:t>Asset n</a:t>
              </a:r>
            </a:p>
            <a:p>
              <a:pPr algn="ctr">
                <a:spcBef>
                  <a:spcPct val="0"/>
                </a:spcBef>
                <a:buClrTx/>
                <a:buSzTx/>
                <a:buFontTx/>
                <a:buNone/>
              </a:pPr>
              <a:endParaRPr lang="en-US" altLang="en-US" sz="1800">
                <a:latin typeface="Times New Roman" panose="02020603050405020304" pitchFamily="18" charset="0"/>
              </a:endParaRPr>
            </a:p>
            <a:p>
              <a:pPr algn="ctr">
                <a:spcBef>
                  <a:spcPct val="0"/>
                </a:spcBef>
                <a:buClrTx/>
                <a:buSzTx/>
                <a:buFontTx/>
                <a:buNone/>
              </a:pPr>
              <a:r>
                <a:rPr lang="en-US" altLang="en-US" sz="1800">
                  <a:latin typeface="Times New Roman" panose="02020603050405020304" pitchFamily="18" charset="0"/>
                </a:rPr>
                <a:t>Principal:</a:t>
              </a:r>
            </a:p>
            <a:p>
              <a:pPr algn="ctr">
                <a:spcBef>
                  <a:spcPct val="0"/>
                </a:spcBef>
                <a:buClrTx/>
                <a:buSzTx/>
                <a:buFontTx/>
                <a:buNone/>
              </a:pPr>
              <a:r>
                <a:rPr lang="en-US" altLang="en-US" sz="1800">
                  <a:latin typeface="Times New Roman" panose="02020603050405020304" pitchFamily="18" charset="0"/>
                </a:rPr>
                <a:t>$100 million</a:t>
              </a:r>
            </a:p>
          </p:txBody>
        </p:sp>
        <p:sp>
          <p:nvSpPr>
            <p:cNvPr id="19466" name="Rectangle 4"/>
            <p:cNvSpPr>
              <a:spLocks noChangeArrowheads="1"/>
            </p:cNvSpPr>
            <p:nvPr/>
          </p:nvSpPr>
          <p:spPr bwMode="auto">
            <a:xfrm>
              <a:off x="2352" y="1632"/>
              <a:ext cx="774" cy="100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2400">
                  <a:latin typeface="Times New Roman" panose="02020603050405020304" pitchFamily="18" charset="0"/>
                </a:rPr>
                <a:t> </a:t>
              </a:r>
              <a:r>
                <a:rPr lang="en-US" altLang="en-US" sz="2000">
                  <a:latin typeface="Times New Roman" panose="02020603050405020304" pitchFamily="18" charset="0"/>
                </a:rPr>
                <a:t> SPV</a:t>
              </a:r>
            </a:p>
          </p:txBody>
        </p:sp>
        <p:sp>
          <p:nvSpPr>
            <p:cNvPr id="19467" name="Rectangle 5"/>
            <p:cNvSpPr>
              <a:spLocks noChangeArrowheads="1"/>
            </p:cNvSpPr>
            <p:nvPr/>
          </p:nvSpPr>
          <p:spPr bwMode="auto">
            <a:xfrm>
              <a:off x="3384" y="630"/>
              <a:ext cx="1854" cy="919"/>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800">
                  <a:latin typeface="Times New Roman" panose="02020603050405020304" pitchFamily="18" charset="0"/>
                </a:rPr>
                <a:t>Senior Tranche</a:t>
              </a:r>
            </a:p>
            <a:p>
              <a:pPr algn="ctr">
                <a:spcBef>
                  <a:spcPct val="0"/>
                </a:spcBef>
                <a:buClrTx/>
                <a:buSzTx/>
                <a:buFontTx/>
                <a:buNone/>
              </a:pPr>
              <a:r>
                <a:rPr lang="en-US" altLang="en-US" sz="1800">
                  <a:latin typeface="Times New Roman" panose="02020603050405020304" pitchFamily="18" charset="0"/>
                </a:rPr>
                <a:t>Principal: $80 million</a:t>
              </a:r>
            </a:p>
            <a:p>
              <a:pPr algn="ctr">
                <a:spcBef>
                  <a:spcPct val="0"/>
                </a:spcBef>
                <a:buClrTx/>
                <a:buSzTx/>
                <a:buFontTx/>
                <a:buNone/>
              </a:pPr>
              <a:r>
                <a:rPr lang="en-US" altLang="en-US" sz="1800">
                  <a:latin typeface="Times New Roman" panose="02020603050405020304" pitchFamily="18" charset="0"/>
                </a:rPr>
                <a:t>Return = LIBOR + 60bp</a:t>
              </a:r>
            </a:p>
          </p:txBody>
        </p:sp>
        <p:sp>
          <p:nvSpPr>
            <p:cNvPr id="19468" name="Rectangle 6"/>
            <p:cNvSpPr>
              <a:spLocks noChangeArrowheads="1"/>
            </p:cNvSpPr>
            <p:nvPr/>
          </p:nvSpPr>
          <p:spPr bwMode="auto">
            <a:xfrm>
              <a:off x="3384" y="1657"/>
              <a:ext cx="1854" cy="973"/>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1800">
                  <a:latin typeface="Times New Roman" panose="02020603050405020304" pitchFamily="18" charset="0"/>
                </a:rPr>
                <a:t>Mezzanine Tranche</a:t>
              </a:r>
            </a:p>
            <a:p>
              <a:pPr algn="ctr">
                <a:spcBef>
                  <a:spcPct val="0"/>
                </a:spcBef>
                <a:buClrTx/>
                <a:buSzTx/>
                <a:buFontTx/>
                <a:buNone/>
              </a:pPr>
              <a:r>
                <a:rPr lang="en-US" altLang="en-US" sz="1800">
                  <a:latin typeface="Times New Roman" panose="02020603050405020304" pitchFamily="18" charset="0"/>
                </a:rPr>
                <a:t>Principal:$15 million</a:t>
              </a:r>
            </a:p>
            <a:p>
              <a:pPr algn="ctr">
                <a:spcBef>
                  <a:spcPct val="0"/>
                </a:spcBef>
                <a:buClrTx/>
                <a:buSzTx/>
                <a:buFontTx/>
                <a:buNone/>
              </a:pPr>
              <a:r>
                <a:rPr lang="en-US" altLang="en-US" sz="1800">
                  <a:latin typeface="Times New Roman" panose="02020603050405020304" pitchFamily="18" charset="0"/>
                </a:rPr>
                <a:t>Return = LIBOR+ 250bp</a:t>
              </a:r>
            </a:p>
          </p:txBody>
        </p:sp>
        <p:sp>
          <p:nvSpPr>
            <p:cNvPr id="19469" name="Rectangle 8"/>
            <p:cNvSpPr>
              <a:spLocks noChangeArrowheads="1"/>
            </p:cNvSpPr>
            <p:nvPr/>
          </p:nvSpPr>
          <p:spPr bwMode="auto">
            <a:xfrm>
              <a:off x="3384" y="2847"/>
              <a:ext cx="1854" cy="897"/>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SzTx/>
                <a:buFontTx/>
                <a:buNone/>
              </a:pPr>
              <a:r>
                <a:rPr lang="en-CA" altLang="en-US" sz="1800">
                  <a:latin typeface="Times New Roman" panose="02020603050405020304" pitchFamily="18" charset="0"/>
                </a:rPr>
                <a:t>Equity Tranche </a:t>
              </a:r>
            </a:p>
            <a:p>
              <a:pPr algn="ctr">
                <a:spcBef>
                  <a:spcPct val="0"/>
                </a:spcBef>
                <a:buClrTx/>
                <a:buSzTx/>
                <a:buFontTx/>
                <a:buNone/>
              </a:pPr>
              <a:r>
                <a:rPr lang="en-CA" altLang="en-US" sz="1800">
                  <a:latin typeface="Times New Roman" panose="02020603050405020304" pitchFamily="18" charset="0"/>
                </a:rPr>
                <a:t>Principal: $5 million</a:t>
              </a:r>
            </a:p>
            <a:p>
              <a:pPr algn="ctr">
                <a:spcBef>
                  <a:spcPct val="0"/>
                </a:spcBef>
                <a:buClrTx/>
                <a:buSzTx/>
                <a:buFontTx/>
                <a:buNone/>
              </a:pPr>
              <a:r>
                <a:rPr lang="en-CA" altLang="en-US" sz="1800">
                  <a:latin typeface="Times New Roman" panose="02020603050405020304" pitchFamily="18" charset="0"/>
                </a:rPr>
                <a:t>Return =LIBOR+2,000bp</a:t>
              </a:r>
              <a:endParaRPr lang="en-US" altLang="en-US" sz="1800">
                <a:latin typeface="Times New Roman" panose="02020603050405020304" pitchFamily="18" charset="0"/>
              </a:endParaRPr>
            </a:p>
          </p:txBody>
        </p:sp>
        <p:sp>
          <p:nvSpPr>
            <p:cNvPr id="19470" name="Line 9"/>
            <p:cNvSpPr>
              <a:spLocks noChangeShapeType="1"/>
            </p:cNvSpPr>
            <p:nvPr/>
          </p:nvSpPr>
          <p:spPr bwMode="auto">
            <a:xfrm>
              <a:off x="2112" y="2160"/>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19460" name="Line 9"/>
          <p:cNvSpPr>
            <a:spLocks noChangeShapeType="1"/>
          </p:cNvSpPr>
          <p:nvPr/>
        </p:nvSpPr>
        <p:spPr bwMode="auto">
          <a:xfrm>
            <a:off x="4267200" y="3733800"/>
            <a:ext cx="3556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cxnSp>
        <p:nvCxnSpPr>
          <p:cNvPr id="7174" name="Straight Arrow Connector 30"/>
          <p:cNvCxnSpPr>
            <a:cxnSpLocks noChangeShapeType="1"/>
            <a:endCxn id="19467" idx="1"/>
          </p:cNvCxnSpPr>
          <p:nvPr/>
        </p:nvCxnSpPr>
        <p:spPr bwMode="auto">
          <a:xfrm rot="5400000" flipH="1" flipV="1">
            <a:off x="3891756" y="2723357"/>
            <a:ext cx="1095375" cy="344488"/>
          </a:xfrm>
          <a:prstGeom prst="straightConnector1">
            <a:avLst/>
          </a:prstGeom>
          <a:ln>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9462" name="Straight Arrow Connector 34"/>
          <p:cNvCxnSpPr>
            <a:cxnSpLocks noChangeShapeType="1"/>
          </p:cNvCxnSpPr>
          <p:nvPr/>
        </p:nvCxnSpPr>
        <p:spPr bwMode="auto">
          <a:xfrm rot="16200000" flipH="1">
            <a:off x="3886200" y="4495800"/>
            <a:ext cx="1066800" cy="304800"/>
          </a:xfrm>
          <a:prstGeom prst="straightConnector1">
            <a:avLst/>
          </a:prstGeom>
          <a:noFill/>
          <a:ln w="127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463" name="Slide Number Placeholder 1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7DC2015-5562-42FE-8B52-01A773E03431}" type="slidenum">
              <a:rPr lang="en-US" altLang="en-US" sz="1800"/>
              <a:pPr>
                <a:spcBef>
                  <a:spcPct val="0"/>
                </a:spcBef>
                <a:buClrTx/>
                <a:buSzTx/>
                <a:buFontTx/>
                <a:buNone/>
              </a:pPr>
              <a:t>3</a:t>
            </a:fld>
            <a:endParaRPr lang="en-US" altLang="en-US" sz="1800"/>
          </a:p>
        </p:txBody>
      </p:sp>
      <p:sp>
        <p:nvSpPr>
          <p:cNvPr id="19464" name="Footer Placeholder 1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i="0">
              <a:cs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36"/>
          <p:cNvSpPr>
            <a:spLocks noGrp="1"/>
          </p:cNvSpPr>
          <p:nvPr>
            <p:ph type="title"/>
          </p:nvPr>
        </p:nvSpPr>
        <p:spPr>
          <a:xfrm>
            <a:off x="66675" y="260350"/>
            <a:ext cx="7772400" cy="1143000"/>
          </a:xfrm>
        </p:spPr>
        <p:txBody>
          <a:bodyPr/>
          <a:lstStyle/>
          <a:p>
            <a:pPr eaLnBrk="1" hangingPunct="1"/>
            <a:r>
              <a:rPr lang="en-US" altLang="en-US" smtClean="0"/>
              <a:t>The Waterfall </a:t>
            </a:r>
            <a:r>
              <a:rPr lang="en-US" altLang="en-US" sz="2400" smtClean="0"/>
              <a:t>(Figure 8.2, page 192)</a:t>
            </a:r>
          </a:p>
        </p:txBody>
      </p:sp>
      <p:sp>
        <p:nvSpPr>
          <p:cNvPr id="21507" name="TextBox 6"/>
          <p:cNvSpPr txBox="1">
            <a:spLocks noChangeArrowheads="1"/>
          </p:cNvSpPr>
          <p:nvPr/>
        </p:nvSpPr>
        <p:spPr bwMode="auto">
          <a:xfrm>
            <a:off x="2438400" y="5486400"/>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Equity Tranche</a:t>
            </a:r>
          </a:p>
        </p:txBody>
      </p:sp>
      <p:grpSp>
        <p:nvGrpSpPr>
          <p:cNvPr id="21508" name="Group 53"/>
          <p:cNvGrpSpPr>
            <a:grpSpLocks/>
          </p:cNvGrpSpPr>
          <p:nvPr/>
        </p:nvGrpSpPr>
        <p:grpSpPr bwMode="auto">
          <a:xfrm>
            <a:off x="4130675" y="1985963"/>
            <a:ext cx="4070350" cy="3886200"/>
            <a:chOff x="3048000" y="762000"/>
            <a:chExt cx="4039160" cy="5561923"/>
          </a:xfrm>
        </p:grpSpPr>
        <p:sp>
          <p:nvSpPr>
            <p:cNvPr id="8" name="Flowchart: Manual Operation 7"/>
            <p:cNvSpPr/>
            <p:nvPr/>
          </p:nvSpPr>
          <p:spPr>
            <a:xfrm>
              <a:off x="3657655" y="3122636"/>
              <a:ext cx="2103072" cy="1497267"/>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US" dirty="0">
                <a:solidFill>
                  <a:schemeClr val="bg1"/>
                </a:solidFill>
              </a:endParaRPr>
            </a:p>
          </p:txBody>
        </p:sp>
        <p:sp>
          <p:nvSpPr>
            <p:cNvPr id="9" name="Flowchart: Manual Operation 8"/>
            <p:cNvSpPr/>
            <p:nvPr/>
          </p:nvSpPr>
          <p:spPr>
            <a:xfrm>
              <a:off x="5234566" y="5076579"/>
              <a:ext cx="1402049" cy="577095"/>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US" dirty="0">
                <a:solidFill>
                  <a:schemeClr val="bg1"/>
                </a:solidFill>
              </a:endParaRPr>
            </a:p>
          </p:txBody>
        </p:sp>
        <p:sp>
          <p:nvSpPr>
            <p:cNvPr id="10" name="Flowchart: Manual Operation 9"/>
            <p:cNvSpPr/>
            <p:nvPr/>
          </p:nvSpPr>
          <p:spPr>
            <a:xfrm>
              <a:off x="6461752" y="6117168"/>
              <a:ext cx="584449" cy="206755"/>
            </a:xfrm>
            <a:prstGeom prst="flowChartManualOperation">
              <a:avLst/>
            </a:prstGeom>
            <a:solidFill>
              <a:srgbClr val="92D050"/>
            </a:solidFill>
          </p:spPr>
          <p:style>
            <a:lnRef idx="2">
              <a:schemeClr val="accent1"/>
            </a:lnRef>
            <a:fillRef idx="1">
              <a:schemeClr val="lt1"/>
            </a:fillRef>
            <a:effectRef idx="0">
              <a:schemeClr val="accent1"/>
            </a:effectRef>
            <a:fontRef idx="minor">
              <a:schemeClr val="dk1"/>
            </a:fontRef>
          </p:style>
          <p:txBody>
            <a:bodyPr anchor="ctr"/>
            <a:lstStyle/>
            <a:p>
              <a:pPr algn="ctr" eaLnBrk="1" hangingPunct="1">
                <a:defRPr/>
              </a:pPr>
              <a:endParaRPr lang="en-US" dirty="0">
                <a:solidFill>
                  <a:schemeClr val="bg1"/>
                </a:solidFill>
              </a:endParaRPr>
            </a:p>
          </p:txBody>
        </p:sp>
        <p:cxnSp>
          <p:nvCxnSpPr>
            <p:cNvPr id="11" name="Straight Connector 10"/>
            <p:cNvCxnSpPr>
              <a:stCxn id="10" idx="1"/>
            </p:cNvCxnSpPr>
            <p:nvPr/>
          </p:nvCxnSpPr>
          <p:spPr>
            <a:xfrm rot="10800000">
              <a:off x="6343602" y="5962670"/>
              <a:ext cx="176438" cy="2567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3"/>
            </p:cNvCxnSpPr>
            <p:nvPr/>
          </p:nvCxnSpPr>
          <p:spPr>
            <a:xfrm flipV="1">
              <a:off x="6987914" y="6078544"/>
              <a:ext cx="99246" cy="143137"/>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21532" name="Freeform 7"/>
            <p:cNvSpPr>
              <a:spLocks/>
            </p:cNvSpPr>
            <p:nvPr/>
          </p:nvSpPr>
          <p:spPr bwMode="auto">
            <a:xfrm>
              <a:off x="5791200" y="3200400"/>
              <a:ext cx="152400" cy="244475"/>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3" name="Freeform 7"/>
            <p:cNvSpPr>
              <a:spLocks/>
            </p:cNvSpPr>
            <p:nvPr/>
          </p:nvSpPr>
          <p:spPr bwMode="auto">
            <a:xfrm>
              <a:off x="5791200" y="3733800"/>
              <a:ext cx="152400" cy="244475"/>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4" name="Freeform 7"/>
            <p:cNvSpPr>
              <a:spLocks/>
            </p:cNvSpPr>
            <p:nvPr/>
          </p:nvSpPr>
          <p:spPr bwMode="auto">
            <a:xfrm>
              <a:off x="5791200" y="4343400"/>
              <a:ext cx="152400" cy="244475"/>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5" name="Freeform 7"/>
            <p:cNvSpPr>
              <a:spLocks/>
            </p:cNvSpPr>
            <p:nvPr/>
          </p:nvSpPr>
          <p:spPr bwMode="auto">
            <a:xfrm>
              <a:off x="6629400" y="5269076"/>
              <a:ext cx="145211" cy="191790"/>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6" name="Freeform 7"/>
            <p:cNvSpPr>
              <a:spLocks/>
            </p:cNvSpPr>
            <p:nvPr/>
          </p:nvSpPr>
          <p:spPr bwMode="auto">
            <a:xfrm flipH="1">
              <a:off x="6629400" y="5652656"/>
              <a:ext cx="145211" cy="191790"/>
            </a:xfrm>
            <a:custGeom>
              <a:avLst/>
              <a:gdLst>
                <a:gd name="T0" fmla="*/ 2147483646 w 264"/>
                <a:gd name="T1" fmla="*/ 2147483646 h 442"/>
                <a:gd name="T2" fmla="*/ 2147483646 w 264"/>
                <a:gd name="T3" fmla="*/ 2147483646 h 442"/>
                <a:gd name="T4" fmla="*/ 2147483646 w 264"/>
                <a:gd name="T5" fmla="*/ 2147483646 h 442"/>
                <a:gd name="T6" fmla="*/ 2147483646 w 264"/>
                <a:gd name="T7" fmla="*/ 2147483646 h 442"/>
                <a:gd name="T8" fmla="*/ 2147483646 w 264"/>
                <a:gd name="T9" fmla="*/ 2147483646 h 442"/>
                <a:gd name="T10" fmla="*/ 2147483646 w 264"/>
                <a:gd name="T11" fmla="*/ 2147483646 h 442"/>
                <a:gd name="T12" fmla="*/ 2147483646 w 264"/>
                <a:gd name="T13" fmla="*/ 2147483646 h 442"/>
                <a:gd name="T14" fmla="*/ 2147483646 w 264"/>
                <a:gd name="T15" fmla="*/ 2147483646 h 442"/>
                <a:gd name="T16" fmla="*/ 2147483646 w 264"/>
                <a:gd name="T17" fmla="*/ 2147483646 h 442"/>
                <a:gd name="T18" fmla="*/ 2147483646 w 264"/>
                <a:gd name="T19" fmla="*/ 2147483646 h 442"/>
                <a:gd name="T20" fmla="*/ 2147483646 w 264"/>
                <a:gd name="T21" fmla="*/ 2147483646 h 442"/>
                <a:gd name="T22" fmla="*/ 2147483646 w 264"/>
                <a:gd name="T23" fmla="*/ 2147483646 h 442"/>
                <a:gd name="T24" fmla="*/ 2147483646 w 264"/>
                <a:gd name="T25" fmla="*/ 2147483646 h 442"/>
                <a:gd name="T26" fmla="*/ 2147483646 w 264"/>
                <a:gd name="T27" fmla="*/ 0 h 442"/>
                <a:gd name="T28" fmla="*/ 2147483646 w 264"/>
                <a:gd name="T29" fmla="*/ 0 h 442"/>
                <a:gd name="T30" fmla="*/ 2147483646 w 264"/>
                <a:gd name="T31" fmla="*/ 2147483646 h 442"/>
                <a:gd name="T32" fmla="*/ 2147483646 w 264"/>
                <a:gd name="T33" fmla="*/ 2147483646 h 442"/>
                <a:gd name="T34" fmla="*/ 2147483646 w 264"/>
                <a:gd name="T35" fmla="*/ 2147483646 h 442"/>
                <a:gd name="T36" fmla="*/ 2147483646 w 264"/>
                <a:gd name="T37" fmla="*/ 2147483646 h 442"/>
                <a:gd name="T38" fmla="*/ 2147483646 w 264"/>
                <a:gd name="T39" fmla="*/ 2147483646 h 442"/>
                <a:gd name="T40" fmla="*/ 2147483646 w 264"/>
                <a:gd name="T41" fmla="*/ 2147483646 h 442"/>
                <a:gd name="T42" fmla="*/ 2147483646 w 264"/>
                <a:gd name="T43" fmla="*/ 2147483646 h 442"/>
                <a:gd name="T44" fmla="*/ 2147483646 w 264"/>
                <a:gd name="T45" fmla="*/ 2147483646 h 442"/>
                <a:gd name="T46" fmla="*/ 2147483646 w 264"/>
                <a:gd name="T47" fmla="*/ 2147483646 h 442"/>
                <a:gd name="T48" fmla="*/ 0 w 264"/>
                <a:gd name="T49" fmla="*/ 2147483646 h 442"/>
                <a:gd name="T50" fmla="*/ 0 w 264"/>
                <a:gd name="T51" fmla="*/ 2147483646 h 442"/>
                <a:gd name="T52" fmla="*/ 2147483646 w 264"/>
                <a:gd name="T53" fmla="*/ 2147483646 h 442"/>
                <a:gd name="T54" fmla="*/ 2147483646 w 264"/>
                <a:gd name="T55" fmla="*/ 2147483646 h 442"/>
                <a:gd name="T56" fmla="*/ 2147483646 w 264"/>
                <a:gd name="T57" fmla="*/ 2147483646 h 442"/>
                <a:gd name="T58" fmla="*/ 2147483646 w 264"/>
                <a:gd name="T59" fmla="*/ 2147483646 h 442"/>
                <a:gd name="T60" fmla="*/ 2147483646 w 264"/>
                <a:gd name="T61" fmla="*/ 2147483646 h 442"/>
                <a:gd name="T62" fmla="*/ 2147483646 w 264"/>
                <a:gd name="T63" fmla="*/ 2147483646 h 442"/>
                <a:gd name="T64" fmla="*/ 2147483646 w 264"/>
                <a:gd name="T65" fmla="*/ 2147483646 h 442"/>
                <a:gd name="T66" fmla="*/ 2147483646 w 264"/>
                <a:gd name="T67" fmla="*/ 2147483646 h 442"/>
                <a:gd name="T68" fmla="*/ 2147483646 w 264"/>
                <a:gd name="T69" fmla="*/ 2147483646 h 442"/>
                <a:gd name="T70" fmla="*/ 2147483646 w 264"/>
                <a:gd name="T71" fmla="*/ 2147483646 h 442"/>
                <a:gd name="T72" fmla="*/ 2147483646 w 264"/>
                <a:gd name="T73" fmla="*/ 2147483646 h 442"/>
                <a:gd name="T74" fmla="*/ 2147483646 w 264"/>
                <a:gd name="T75" fmla="*/ 2147483646 h 442"/>
                <a:gd name="T76" fmla="*/ 2147483646 w 264"/>
                <a:gd name="T77" fmla="*/ 2147483646 h 442"/>
                <a:gd name="T78" fmla="*/ 2147483646 w 264"/>
                <a:gd name="T79" fmla="*/ 2147483646 h 442"/>
                <a:gd name="T80" fmla="*/ 2147483646 w 264"/>
                <a:gd name="T81" fmla="*/ 2147483646 h 442"/>
                <a:gd name="T82" fmla="*/ 2147483646 w 264"/>
                <a:gd name="T83" fmla="*/ 2147483646 h 442"/>
                <a:gd name="T84" fmla="*/ 2147483646 w 264"/>
                <a:gd name="T85" fmla="*/ 2147483646 h 442"/>
                <a:gd name="T86" fmla="*/ 2147483646 w 264"/>
                <a:gd name="T87" fmla="*/ 2147483646 h 442"/>
                <a:gd name="T88" fmla="*/ 2147483646 w 264"/>
                <a:gd name="T89" fmla="*/ 2147483646 h 442"/>
                <a:gd name="T90" fmla="*/ 2147483646 w 264"/>
                <a:gd name="T91" fmla="*/ 2147483646 h 442"/>
                <a:gd name="T92" fmla="*/ 2147483646 w 264"/>
                <a:gd name="T93" fmla="*/ 2147483646 h 442"/>
                <a:gd name="T94" fmla="*/ 2147483646 w 264"/>
                <a:gd name="T95" fmla="*/ 2147483646 h 442"/>
                <a:gd name="T96" fmla="*/ 2147483646 w 264"/>
                <a:gd name="T97" fmla="*/ 2147483646 h 442"/>
                <a:gd name="T98" fmla="*/ 2147483646 w 264"/>
                <a:gd name="T99" fmla="*/ 2147483646 h 442"/>
                <a:gd name="T100" fmla="*/ 2147483646 w 264"/>
                <a:gd name="T101" fmla="*/ 2147483646 h 442"/>
                <a:gd name="T102" fmla="*/ 2147483646 w 264"/>
                <a:gd name="T103" fmla="*/ 2147483646 h 442"/>
                <a:gd name="T104" fmla="*/ 2147483646 w 264"/>
                <a:gd name="T105" fmla="*/ 2147483646 h 442"/>
                <a:gd name="T106" fmla="*/ 2147483646 w 264"/>
                <a:gd name="T107" fmla="*/ 2147483646 h 442"/>
                <a:gd name="T108" fmla="*/ 2147483646 w 264"/>
                <a:gd name="T109" fmla="*/ 2147483646 h 442"/>
                <a:gd name="T110" fmla="*/ 2147483646 w 264"/>
                <a:gd name="T111" fmla="*/ 2147483646 h 442"/>
                <a:gd name="T112" fmla="*/ 2147483646 w 264"/>
                <a:gd name="T113" fmla="*/ 2147483646 h 442"/>
                <a:gd name="T114" fmla="*/ 2147483646 w 264"/>
                <a:gd name="T115" fmla="*/ 2147483646 h 442"/>
                <a:gd name="T116" fmla="*/ 2147483646 w 264"/>
                <a:gd name="T117" fmla="*/ 2147483646 h 442"/>
                <a:gd name="T118" fmla="*/ 2147483646 w 264"/>
                <a:gd name="T119" fmla="*/ 2147483646 h 442"/>
                <a:gd name="T120" fmla="*/ 2147483646 w 264"/>
                <a:gd name="T121" fmla="*/ 2147483646 h 442"/>
                <a:gd name="T122" fmla="*/ 2147483646 w 264"/>
                <a:gd name="T123" fmla="*/ 2147483646 h 44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4"/>
                <a:gd name="T187" fmla="*/ 0 h 442"/>
                <a:gd name="T188" fmla="*/ 264 w 264"/>
                <a:gd name="T189" fmla="*/ 442 h 44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4" h="442">
                  <a:moveTo>
                    <a:pt x="264" y="302"/>
                  </a:moveTo>
                  <a:lnTo>
                    <a:pt x="264" y="302"/>
                  </a:lnTo>
                  <a:lnTo>
                    <a:pt x="264" y="292"/>
                  </a:lnTo>
                  <a:lnTo>
                    <a:pt x="262" y="278"/>
                  </a:lnTo>
                  <a:lnTo>
                    <a:pt x="252" y="244"/>
                  </a:lnTo>
                  <a:lnTo>
                    <a:pt x="236" y="204"/>
                  </a:lnTo>
                  <a:lnTo>
                    <a:pt x="218" y="164"/>
                  </a:lnTo>
                  <a:lnTo>
                    <a:pt x="198" y="122"/>
                  </a:lnTo>
                  <a:lnTo>
                    <a:pt x="176" y="80"/>
                  </a:lnTo>
                  <a:lnTo>
                    <a:pt x="140" y="12"/>
                  </a:lnTo>
                  <a:lnTo>
                    <a:pt x="132" y="0"/>
                  </a:lnTo>
                  <a:lnTo>
                    <a:pt x="100" y="58"/>
                  </a:lnTo>
                  <a:lnTo>
                    <a:pt x="60" y="138"/>
                  </a:lnTo>
                  <a:lnTo>
                    <a:pt x="40" y="182"/>
                  </a:lnTo>
                  <a:lnTo>
                    <a:pt x="22" y="222"/>
                  </a:lnTo>
                  <a:lnTo>
                    <a:pt x="14" y="248"/>
                  </a:lnTo>
                  <a:lnTo>
                    <a:pt x="6" y="272"/>
                  </a:lnTo>
                  <a:lnTo>
                    <a:pt x="2" y="292"/>
                  </a:lnTo>
                  <a:lnTo>
                    <a:pt x="0" y="308"/>
                  </a:lnTo>
                  <a:lnTo>
                    <a:pt x="2" y="322"/>
                  </a:lnTo>
                  <a:lnTo>
                    <a:pt x="4" y="336"/>
                  </a:lnTo>
                  <a:lnTo>
                    <a:pt x="6" y="350"/>
                  </a:lnTo>
                  <a:lnTo>
                    <a:pt x="10" y="364"/>
                  </a:lnTo>
                  <a:lnTo>
                    <a:pt x="14" y="376"/>
                  </a:lnTo>
                  <a:lnTo>
                    <a:pt x="20" y="386"/>
                  </a:lnTo>
                  <a:lnTo>
                    <a:pt x="28" y="396"/>
                  </a:lnTo>
                  <a:lnTo>
                    <a:pt x="36" y="404"/>
                  </a:lnTo>
                  <a:lnTo>
                    <a:pt x="44" y="414"/>
                  </a:lnTo>
                  <a:lnTo>
                    <a:pt x="54" y="420"/>
                  </a:lnTo>
                  <a:lnTo>
                    <a:pt x="64" y="426"/>
                  </a:lnTo>
                  <a:lnTo>
                    <a:pt x="76" y="432"/>
                  </a:lnTo>
                  <a:lnTo>
                    <a:pt x="88" y="436"/>
                  </a:lnTo>
                  <a:lnTo>
                    <a:pt x="102" y="438"/>
                  </a:lnTo>
                  <a:lnTo>
                    <a:pt x="116" y="440"/>
                  </a:lnTo>
                  <a:lnTo>
                    <a:pt x="130" y="442"/>
                  </a:lnTo>
                  <a:lnTo>
                    <a:pt x="146" y="440"/>
                  </a:lnTo>
                  <a:lnTo>
                    <a:pt x="160" y="438"/>
                  </a:lnTo>
                  <a:lnTo>
                    <a:pt x="174" y="436"/>
                  </a:lnTo>
                  <a:lnTo>
                    <a:pt x="186" y="432"/>
                  </a:lnTo>
                  <a:lnTo>
                    <a:pt x="198" y="426"/>
                  </a:lnTo>
                  <a:lnTo>
                    <a:pt x="208" y="418"/>
                  </a:lnTo>
                  <a:lnTo>
                    <a:pt x="218" y="412"/>
                  </a:lnTo>
                  <a:lnTo>
                    <a:pt x="228" y="402"/>
                  </a:lnTo>
                  <a:lnTo>
                    <a:pt x="236" y="394"/>
                  </a:lnTo>
                  <a:lnTo>
                    <a:pt x="244" y="382"/>
                  </a:lnTo>
                  <a:lnTo>
                    <a:pt x="250" y="372"/>
                  </a:lnTo>
                  <a:lnTo>
                    <a:pt x="256" y="360"/>
                  </a:lnTo>
                  <a:lnTo>
                    <a:pt x="260" y="346"/>
                  </a:lnTo>
                  <a:lnTo>
                    <a:pt x="262" y="332"/>
                  </a:lnTo>
                  <a:lnTo>
                    <a:pt x="264" y="318"/>
                  </a:lnTo>
                  <a:lnTo>
                    <a:pt x="264" y="302"/>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1537" name="Group 14"/>
            <p:cNvGrpSpPr>
              <a:grpSpLocks noChangeAspect="1"/>
            </p:cNvGrpSpPr>
            <p:nvPr/>
          </p:nvGrpSpPr>
          <p:grpSpPr bwMode="auto">
            <a:xfrm>
              <a:off x="3048000" y="762000"/>
              <a:ext cx="1816100" cy="2141538"/>
              <a:chOff x="1920" y="480"/>
              <a:chExt cx="1144" cy="1349"/>
            </a:xfrm>
          </p:grpSpPr>
          <p:sp>
            <p:nvSpPr>
              <p:cNvPr id="21538" name="AutoShape 13"/>
              <p:cNvSpPr>
                <a:spLocks noChangeAspect="1" noChangeArrowheads="1" noTextEdit="1"/>
              </p:cNvSpPr>
              <p:nvPr/>
            </p:nvSpPr>
            <p:spPr bwMode="auto">
              <a:xfrm>
                <a:off x="1920" y="480"/>
                <a:ext cx="1144" cy="1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539" name="Freeform 20"/>
              <p:cNvSpPr>
                <a:spLocks/>
              </p:cNvSpPr>
              <p:nvPr/>
            </p:nvSpPr>
            <p:spPr bwMode="auto">
              <a:xfrm>
                <a:off x="2708" y="1600"/>
                <a:ext cx="217" cy="217"/>
              </a:xfrm>
              <a:custGeom>
                <a:avLst/>
                <a:gdLst>
                  <a:gd name="T0" fmla="*/ 0 w 435"/>
                  <a:gd name="T1" fmla="*/ 1 h 433"/>
                  <a:gd name="T2" fmla="*/ 0 w 435"/>
                  <a:gd name="T3" fmla="*/ 1 h 433"/>
                  <a:gd name="T4" fmla="*/ 0 w 435"/>
                  <a:gd name="T5" fmla="*/ 1 h 433"/>
                  <a:gd name="T6" fmla="*/ 0 w 435"/>
                  <a:gd name="T7" fmla="*/ 1 h 433"/>
                  <a:gd name="T8" fmla="*/ 0 w 435"/>
                  <a:gd name="T9" fmla="*/ 1 h 433"/>
                  <a:gd name="T10" fmla="*/ 0 w 435"/>
                  <a:gd name="T11" fmla="*/ 1 h 433"/>
                  <a:gd name="T12" fmla="*/ 0 w 435"/>
                  <a:gd name="T13" fmla="*/ 1 h 433"/>
                  <a:gd name="T14" fmla="*/ 0 w 435"/>
                  <a:gd name="T15" fmla="*/ 1 h 433"/>
                  <a:gd name="T16" fmla="*/ 0 w 435"/>
                  <a:gd name="T17" fmla="*/ 1 h 433"/>
                  <a:gd name="T18" fmla="*/ 0 w 435"/>
                  <a:gd name="T19" fmla="*/ 1 h 433"/>
                  <a:gd name="T20" fmla="*/ 0 w 435"/>
                  <a:gd name="T21" fmla="*/ 1 h 433"/>
                  <a:gd name="T22" fmla="*/ 0 w 435"/>
                  <a:gd name="T23" fmla="*/ 1 h 433"/>
                  <a:gd name="T24" fmla="*/ 0 w 435"/>
                  <a:gd name="T25" fmla="*/ 1 h 433"/>
                  <a:gd name="T26" fmla="*/ 0 w 435"/>
                  <a:gd name="T27" fmla="*/ 1 h 433"/>
                  <a:gd name="T28" fmla="*/ 0 w 435"/>
                  <a:gd name="T29" fmla="*/ 1 h 433"/>
                  <a:gd name="T30" fmla="*/ 0 w 435"/>
                  <a:gd name="T31" fmla="*/ 1 h 433"/>
                  <a:gd name="T32" fmla="*/ 0 w 435"/>
                  <a:gd name="T33" fmla="*/ 1 h 433"/>
                  <a:gd name="T34" fmla="*/ 0 w 435"/>
                  <a:gd name="T35" fmla="*/ 1 h 433"/>
                  <a:gd name="T36" fmla="*/ 0 w 435"/>
                  <a:gd name="T37" fmla="*/ 1 h 433"/>
                  <a:gd name="T38" fmla="*/ 0 w 435"/>
                  <a:gd name="T39" fmla="*/ 1 h 433"/>
                  <a:gd name="T40" fmla="*/ 0 w 435"/>
                  <a:gd name="T41" fmla="*/ 1 h 433"/>
                  <a:gd name="T42" fmla="*/ 0 w 435"/>
                  <a:gd name="T43" fmla="*/ 1 h 433"/>
                  <a:gd name="T44" fmla="*/ 0 w 435"/>
                  <a:gd name="T45" fmla="*/ 1 h 433"/>
                  <a:gd name="T46" fmla="*/ 0 w 435"/>
                  <a:gd name="T47" fmla="*/ 1 h 433"/>
                  <a:gd name="T48" fmla="*/ 0 w 435"/>
                  <a:gd name="T49" fmla="*/ 0 h 433"/>
                  <a:gd name="T50" fmla="*/ 0 w 435"/>
                  <a:gd name="T51" fmla="*/ 0 h 433"/>
                  <a:gd name="T52" fmla="*/ 0 w 435"/>
                  <a:gd name="T53" fmla="*/ 1 h 433"/>
                  <a:gd name="T54" fmla="*/ 0 w 435"/>
                  <a:gd name="T55" fmla="*/ 1 h 433"/>
                  <a:gd name="T56" fmla="*/ 0 w 435"/>
                  <a:gd name="T57" fmla="*/ 1 h 433"/>
                  <a:gd name="T58" fmla="*/ 0 w 435"/>
                  <a:gd name="T59" fmla="*/ 1 h 433"/>
                  <a:gd name="T60" fmla="*/ 0 w 435"/>
                  <a:gd name="T61" fmla="*/ 1 h 433"/>
                  <a:gd name="T62" fmla="*/ 0 w 435"/>
                  <a:gd name="T63" fmla="*/ 1 h 433"/>
                  <a:gd name="T64" fmla="*/ 0 w 435"/>
                  <a:gd name="T65" fmla="*/ 1 h 433"/>
                  <a:gd name="T66" fmla="*/ 0 w 435"/>
                  <a:gd name="T67" fmla="*/ 1 h 433"/>
                  <a:gd name="T68" fmla="*/ 0 w 435"/>
                  <a:gd name="T69" fmla="*/ 1 h 433"/>
                  <a:gd name="T70" fmla="*/ 0 w 435"/>
                  <a:gd name="T71" fmla="*/ 1 h 433"/>
                  <a:gd name="T72" fmla="*/ 0 w 435"/>
                  <a:gd name="T73" fmla="*/ 1 h 433"/>
                  <a:gd name="T74" fmla="*/ 0 w 435"/>
                  <a:gd name="T75" fmla="*/ 1 h 433"/>
                  <a:gd name="T76" fmla="*/ 0 w 435"/>
                  <a:gd name="T77" fmla="*/ 1 h 433"/>
                  <a:gd name="T78" fmla="*/ 0 w 435"/>
                  <a:gd name="T79" fmla="*/ 1 h 433"/>
                  <a:gd name="T80" fmla="*/ 0 w 435"/>
                  <a:gd name="T81" fmla="*/ 1 h 433"/>
                  <a:gd name="T82" fmla="*/ 0 w 435"/>
                  <a:gd name="T83" fmla="*/ 1 h 433"/>
                  <a:gd name="T84" fmla="*/ 0 w 435"/>
                  <a:gd name="T85" fmla="*/ 1 h 433"/>
                  <a:gd name="T86" fmla="*/ 0 w 435"/>
                  <a:gd name="T87" fmla="*/ 1 h 433"/>
                  <a:gd name="T88" fmla="*/ 0 w 435"/>
                  <a:gd name="T89" fmla="*/ 1 h 433"/>
                  <a:gd name="T90" fmla="*/ 0 w 435"/>
                  <a:gd name="T91" fmla="*/ 1 h 433"/>
                  <a:gd name="T92" fmla="*/ 0 w 435"/>
                  <a:gd name="T93" fmla="*/ 1 h 433"/>
                  <a:gd name="T94" fmla="*/ 0 w 435"/>
                  <a:gd name="T95" fmla="*/ 1 h 433"/>
                  <a:gd name="T96" fmla="*/ 0 w 435"/>
                  <a:gd name="T97" fmla="*/ 1 h 433"/>
                  <a:gd name="T98" fmla="*/ 0 w 435"/>
                  <a:gd name="T99" fmla="*/ 1 h 433"/>
                  <a:gd name="T100" fmla="*/ 0 w 435"/>
                  <a:gd name="T101" fmla="*/ 1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35"/>
                  <a:gd name="T154" fmla="*/ 0 h 433"/>
                  <a:gd name="T155" fmla="*/ 435 w 435"/>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35" h="433">
                    <a:moveTo>
                      <a:pt x="218" y="433"/>
                    </a:moveTo>
                    <a:lnTo>
                      <a:pt x="223" y="433"/>
                    </a:lnTo>
                    <a:lnTo>
                      <a:pt x="228" y="433"/>
                    </a:lnTo>
                    <a:lnTo>
                      <a:pt x="234" y="432"/>
                    </a:lnTo>
                    <a:lnTo>
                      <a:pt x="239" y="432"/>
                    </a:lnTo>
                    <a:lnTo>
                      <a:pt x="244" y="431"/>
                    </a:lnTo>
                    <a:lnTo>
                      <a:pt x="250" y="430"/>
                    </a:lnTo>
                    <a:lnTo>
                      <a:pt x="255" y="429"/>
                    </a:lnTo>
                    <a:lnTo>
                      <a:pt x="261" y="429"/>
                    </a:lnTo>
                    <a:lnTo>
                      <a:pt x="266" y="427"/>
                    </a:lnTo>
                    <a:lnTo>
                      <a:pt x="270" y="425"/>
                    </a:lnTo>
                    <a:lnTo>
                      <a:pt x="276" y="424"/>
                    </a:lnTo>
                    <a:lnTo>
                      <a:pt x="281" y="423"/>
                    </a:lnTo>
                    <a:lnTo>
                      <a:pt x="286" y="420"/>
                    </a:lnTo>
                    <a:lnTo>
                      <a:pt x="292" y="419"/>
                    </a:lnTo>
                    <a:lnTo>
                      <a:pt x="296" y="418"/>
                    </a:lnTo>
                    <a:lnTo>
                      <a:pt x="301" y="417"/>
                    </a:lnTo>
                    <a:lnTo>
                      <a:pt x="306" y="413"/>
                    </a:lnTo>
                    <a:lnTo>
                      <a:pt x="311" y="411"/>
                    </a:lnTo>
                    <a:lnTo>
                      <a:pt x="315" y="408"/>
                    </a:lnTo>
                    <a:lnTo>
                      <a:pt x="320" y="406"/>
                    </a:lnTo>
                    <a:lnTo>
                      <a:pt x="325" y="404"/>
                    </a:lnTo>
                    <a:lnTo>
                      <a:pt x="329" y="401"/>
                    </a:lnTo>
                    <a:lnTo>
                      <a:pt x="334" y="398"/>
                    </a:lnTo>
                    <a:lnTo>
                      <a:pt x="338" y="397"/>
                    </a:lnTo>
                    <a:lnTo>
                      <a:pt x="343" y="392"/>
                    </a:lnTo>
                    <a:lnTo>
                      <a:pt x="346" y="389"/>
                    </a:lnTo>
                    <a:lnTo>
                      <a:pt x="351" y="386"/>
                    </a:lnTo>
                    <a:lnTo>
                      <a:pt x="354" y="384"/>
                    </a:lnTo>
                    <a:lnTo>
                      <a:pt x="358" y="380"/>
                    </a:lnTo>
                    <a:lnTo>
                      <a:pt x="363" y="376"/>
                    </a:lnTo>
                    <a:lnTo>
                      <a:pt x="366" y="373"/>
                    </a:lnTo>
                    <a:lnTo>
                      <a:pt x="371" y="369"/>
                    </a:lnTo>
                    <a:lnTo>
                      <a:pt x="374" y="366"/>
                    </a:lnTo>
                    <a:lnTo>
                      <a:pt x="378" y="361"/>
                    </a:lnTo>
                    <a:lnTo>
                      <a:pt x="380" y="358"/>
                    </a:lnTo>
                    <a:lnTo>
                      <a:pt x="385" y="353"/>
                    </a:lnTo>
                    <a:lnTo>
                      <a:pt x="388" y="349"/>
                    </a:lnTo>
                    <a:lnTo>
                      <a:pt x="391" y="346"/>
                    </a:lnTo>
                    <a:lnTo>
                      <a:pt x="393" y="341"/>
                    </a:lnTo>
                    <a:lnTo>
                      <a:pt x="397" y="336"/>
                    </a:lnTo>
                    <a:lnTo>
                      <a:pt x="399" y="333"/>
                    </a:lnTo>
                    <a:lnTo>
                      <a:pt x="403" y="328"/>
                    </a:lnTo>
                    <a:lnTo>
                      <a:pt x="405" y="323"/>
                    </a:lnTo>
                    <a:lnTo>
                      <a:pt x="408" y="318"/>
                    </a:lnTo>
                    <a:lnTo>
                      <a:pt x="410" y="314"/>
                    </a:lnTo>
                    <a:lnTo>
                      <a:pt x="412" y="309"/>
                    </a:lnTo>
                    <a:lnTo>
                      <a:pt x="415" y="304"/>
                    </a:lnTo>
                    <a:lnTo>
                      <a:pt x="417" y="301"/>
                    </a:lnTo>
                    <a:lnTo>
                      <a:pt x="419" y="295"/>
                    </a:lnTo>
                    <a:lnTo>
                      <a:pt x="421" y="290"/>
                    </a:lnTo>
                    <a:lnTo>
                      <a:pt x="422" y="284"/>
                    </a:lnTo>
                    <a:lnTo>
                      <a:pt x="424" y="279"/>
                    </a:lnTo>
                    <a:lnTo>
                      <a:pt x="425" y="275"/>
                    </a:lnTo>
                    <a:lnTo>
                      <a:pt x="427" y="270"/>
                    </a:lnTo>
                    <a:lnTo>
                      <a:pt x="428" y="264"/>
                    </a:lnTo>
                    <a:lnTo>
                      <a:pt x="430" y="259"/>
                    </a:lnTo>
                    <a:lnTo>
                      <a:pt x="430" y="253"/>
                    </a:lnTo>
                    <a:lnTo>
                      <a:pt x="431" y="249"/>
                    </a:lnTo>
                    <a:lnTo>
                      <a:pt x="431" y="243"/>
                    </a:lnTo>
                    <a:lnTo>
                      <a:pt x="434" y="238"/>
                    </a:lnTo>
                    <a:lnTo>
                      <a:pt x="434" y="232"/>
                    </a:lnTo>
                    <a:lnTo>
                      <a:pt x="434" y="226"/>
                    </a:lnTo>
                    <a:lnTo>
                      <a:pt x="434" y="221"/>
                    </a:lnTo>
                    <a:lnTo>
                      <a:pt x="435" y="217"/>
                    </a:lnTo>
                    <a:lnTo>
                      <a:pt x="434" y="211"/>
                    </a:lnTo>
                    <a:lnTo>
                      <a:pt x="434" y="205"/>
                    </a:lnTo>
                    <a:lnTo>
                      <a:pt x="434" y="199"/>
                    </a:lnTo>
                    <a:lnTo>
                      <a:pt x="434" y="194"/>
                    </a:lnTo>
                    <a:lnTo>
                      <a:pt x="431" y="188"/>
                    </a:lnTo>
                    <a:lnTo>
                      <a:pt x="431" y="182"/>
                    </a:lnTo>
                    <a:lnTo>
                      <a:pt x="430" y="176"/>
                    </a:lnTo>
                    <a:lnTo>
                      <a:pt x="430" y="172"/>
                    </a:lnTo>
                    <a:lnTo>
                      <a:pt x="428" y="166"/>
                    </a:lnTo>
                    <a:lnTo>
                      <a:pt x="427" y="161"/>
                    </a:lnTo>
                    <a:lnTo>
                      <a:pt x="425" y="155"/>
                    </a:lnTo>
                    <a:lnTo>
                      <a:pt x="424" y="150"/>
                    </a:lnTo>
                    <a:lnTo>
                      <a:pt x="422" y="146"/>
                    </a:lnTo>
                    <a:lnTo>
                      <a:pt x="421" y="141"/>
                    </a:lnTo>
                    <a:lnTo>
                      <a:pt x="419" y="136"/>
                    </a:lnTo>
                    <a:lnTo>
                      <a:pt x="417" y="131"/>
                    </a:lnTo>
                    <a:lnTo>
                      <a:pt x="415" y="127"/>
                    </a:lnTo>
                    <a:lnTo>
                      <a:pt x="412" y="121"/>
                    </a:lnTo>
                    <a:lnTo>
                      <a:pt x="410" y="116"/>
                    </a:lnTo>
                    <a:lnTo>
                      <a:pt x="408" y="112"/>
                    </a:lnTo>
                    <a:lnTo>
                      <a:pt x="405" y="108"/>
                    </a:lnTo>
                    <a:lnTo>
                      <a:pt x="403" y="103"/>
                    </a:lnTo>
                    <a:lnTo>
                      <a:pt x="399" y="98"/>
                    </a:lnTo>
                    <a:lnTo>
                      <a:pt x="397" y="93"/>
                    </a:lnTo>
                    <a:lnTo>
                      <a:pt x="393" y="90"/>
                    </a:lnTo>
                    <a:lnTo>
                      <a:pt x="391" y="85"/>
                    </a:lnTo>
                    <a:lnTo>
                      <a:pt x="388" y="82"/>
                    </a:lnTo>
                    <a:lnTo>
                      <a:pt x="385" y="77"/>
                    </a:lnTo>
                    <a:lnTo>
                      <a:pt x="380" y="73"/>
                    </a:lnTo>
                    <a:lnTo>
                      <a:pt x="378" y="69"/>
                    </a:lnTo>
                    <a:lnTo>
                      <a:pt x="374" y="65"/>
                    </a:lnTo>
                    <a:lnTo>
                      <a:pt x="371" y="63"/>
                    </a:lnTo>
                    <a:lnTo>
                      <a:pt x="366" y="58"/>
                    </a:lnTo>
                    <a:lnTo>
                      <a:pt x="363" y="54"/>
                    </a:lnTo>
                    <a:lnTo>
                      <a:pt x="358" y="51"/>
                    </a:lnTo>
                    <a:lnTo>
                      <a:pt x="354" y="48"/>
                    </a:lnTo>
                    <a:lnTo>
                      <a:pt x="351" y="45"/>
                    </a:lnTo>
                    <a:lnTo>
                      <a:pt x="346" y="41"/>
                    </a:lnTo>
                    <a:lnTo>
                      <a:pt x="343" y="38"/>
                    </a:lnTo>
                    <a:lnTo>
                      <a:pt x="338" y="35"/>
                    </a:lnTo>
                    <a:lnTo>
                      <a:pt x="334" y="32"/>
                    </a:lnTo>
                    <a:lnTo>
                      <a:pt x="329" y="29"/>
                    </a:lnTo>
                    <a:lnTo>
                      <a:pt x="325" y="26"/>
                    </a:lnTo>
                    <a:lnTo>
                      <a:pt x="320" y="24"/>
                    </a:lnTo>
                    <a:lnTo>
                      <a:pt x="315" y="22"/>
                    </a:lnTo>
                    <a:lnTo>
                      <a:pt x="311" y="20"/>
                    </a:lnTo>
                    <a:lnTo>
                      <a:pt x="306" y="18"/>
                    </a:lnTo>
                    <a:lnTo>
                      <a:pt x="301" y="16"/>
                    </a:lnTo>
                    <a:lnTo>
                      <a:pt x="296" y="14"/>
                    </a:lnTo>
                    <a:lnTo>
                      <a:pt x="292" y="12"/>
                    </a:lnTo>
                    <a:lnTo>
                      <a:pt x="286" y="9"/>
                    </a:lnTo>
                    <a:lnTo>
                      <a:pt x="281" y="8"/>
                    </a:lnTo>
                    <a:lnTo>
                      <a:pt x="276" y="6"/>
                    </a:lnTo>
                    <a:lnTo>
                      <a:pt x="270" y="6"/>
                    </a:lnTo>
                    <a:lnTo>
                      <a:pt x="266" y="3"/>
                    </a:lnTo>
                    <a:lnTo>
                      <a:pt x="261" y="3"/>
                    </a:lnTo>
                    <a:lnTo>
                      <a:pt x="255" y="1"/>
                    </a:lnTo>
                    <a:lnTo>
                      <a:pt x="250" y="1"/>
                    </a:lnTo>
                    <a:lnTo>
                      <a:pt x="244" y="0"/>
                    </a:lnTo>
                    <a:lnTo>
                      <a:pt x="239" y="0"/>
                    </a:lnTo>
                    <a:lnTo>
                      <a:pt x="234" y="0"/>
                    </a:lnTo>
                    <a:lnTo>
                      <a:pt x="228" y="0"/>
                    </a:lnTo>
                    <a:lnTo>
                      <a:pt x="223" y="0"/>
                    </a:lnTo>
                    <a:lnTo>
                      <a:pt x="218" y="0"/>
                    </a:lnTo>
                    <a:lnTo>
                      <a:pt x="212" y="0"/>
                    </a:lnTo>
                    <a:lnTo>
                      <a:pt x="206" y="0"/>
                    </a:lnTo>
                    <a:lnTo>
                      <a:pt x="200" y="0"/>
                    </a:lnTo>
                    <a:lnTo>
                      <a:pt x="196" y="0"/>
                    </a:lnTo>
                    <a:lnTo>
                      <a:pt x="190" y="0"/>
                    </a:lnTo>
                    <a:lnTo>
                      <a:pt x="184" y="1"/>
                    </a:lnTo>
                    <a:lnTo>
                      <a:pt x="178" y="1"/>
                    </a:lnTo>
                    <a:lnTo>
                      <a:pt x="173" y="3"/>
                    </a:lnTo>
                    <a:lnTo>
                      <a:pt x="167" y="3"/>
                    </a:lnTo>
                    <a:lnTo>
                      <a:pt x="163" y="6"/>
                    </a:lnTo>
                    <a:lnTo>
                      <a:pt x="157" y="6"/>
                    </a:lnTo>
                    <a:lnTo>
                      <a:pt x="153" y="8"/>
                    </a:lnTo>
                    <a:lnTo>
                      <a:pt x="147" y="9"/>
                    </a:lnTo>
                    <a:lnTo>
                      <a:pt x="142" y="12"/>
                    </a:lnTo>
                    <a:lnTo>
                      <a:pt x="138" y="14"/>
                    </a:lnTo>
                    <a:lnTo>
                      <a:pt x="133" y="16"/>
                    </a:lnTo>
                    <a:lnTo>
                      <a:pt x="128" y="18"/>
                    </a:lnTo>
                    <a:lnTo>
                      <a:pt x="122" y="20"/>
                    </a:lnTo>
                    <a:lnTo>
                      <a:pt x="117" y="22"/>
                    </a:lnTo>
                    <a:lnTo>
                      <a:pt x="114" y="24"/>
                    </a:lnTo>
                    <a:lnTo>
                      <a:pt x="109" y="26"/>
                    </a:lnTo>
                    <a:lnTo>
                      <a:pt x="104" y="29"/>
                    </a:lnTo>
                    <a:lnTo>
                      <a:pt x="100" y="32"/>
                    </a:lnTo>
                    <a:lnTo>
                      <a:pt x="95" y="35"/>
                    </a:lnTo>
                    <a:lnTo>
                      <a:pt x="91" y="38"/>
                    </a:lnTo>
                    <a:lnTo>
                      <a:pt x="87" y="41"/>
                    </a:lnTo>
                    <a:lnTo>
                      <a:pt x="83" y="45"/>
                    </a:lnTo>
                    <a:lnTo>
                      <a:pt x="80" y="48"/>
                    </a:lnTo>
                    <a:lnTo>
                      <a:pt x="75" y="51"/>
                    </a:lnTo>
                    <a:lnTo>
                      <a:pt x="71" y="54"/>
                    </a:lnTo>
                    <a:lnTo>
                      <a:pt x="67" y="58"/>
                    </a:lnTo>
                    <a:lnTo>
                      <a:pt x="64" y="63"/>
                    </a:lnTo>
                    <a:lnTo>
                      <a:pt x="59" y="65"/>
                    </a:lnTo>
                    <a:lnTo>
                      <a:pt x="56" y="69"/>
                    </a:lnTo>
                    <a:lnTo>
                      <a:pt x="52" y="73"/>
                    </a:lnTo>
                    <a:lnTo>
                      <a:pt x="49" y="77"/>
                    </a:lnTo>
                    <a:lnTo>
                      <a:pt x="45" y="82"/>
                    </a:lnTo>
                    <a:lnTo>
                      <a:pt x="43" y="85"/>
                    </a:lnTo>
                    <a:lnTo>
                      <a:pt x="39" y="90"/>
                    </a:lnTo>
                    <a:lnTo>
                      <a:pt x="37" y="93"/>
                    </a:lnTo>
                    <a:lnTo>
                      <a:pt x="33" y="98"/>
                    </a:lnTo>
                    <a:lnTo>
                      <a:pt x="30" y="103"/>
                    </a:lnTo>
                    <a:lnTo>
                      <a:pt x="29" y="108"/>
                    </a:lnTo>
                    <a:lnTo>
                      <a:pt x="26" y="112"/>
                    </a:lnTo>
                    <a:lnTo>
                      <a:pt x="23" y="116"/>
                    </a:lnTo>
                    <a:lnTo>
                      <a:pt x="20" y="121"/>
                    </a:lnTo>
                    <a:lnTo>
                      <a:pt x="18" y="127"/>
                    </a:lnTo>
                    <a:lnTo>
                      <a:pt x="17" y="131"/>
                    </a:lnTo>
                    <a:lnTo>
                      <a:pt x="14" y="136"/>
                    </a:lnTo>
                    <a:lnTo>
                      <a:pt x="12" y="141"/>
                    </a:lnTo>
                    <a:lnTo>
                      <a:pt x="11" y="146"/>
                    </a:lnTo>
                    <a:lnTo>
                      <a:pt x="10" y="150"/>
                    </a:lnTo>
                    <a:lnTo>
                      <a:pt x="7" y="155"/>
                    </a:lnTo>
                    <a:lnTo>
                      <a:pt x="6" y="161"/>
                    </a:lnTo>
                    <a:lnTo>
                      <a:pt x="5" y="166"/>
                    </a:lnTo>
                    <a:lnTo>
                      <a:pt x="4" y="172"/>
                    </a:lnTo>
                    <a:lnTo>
                      <a:pt x="3" y="176"/>
                    </a:lnTo>
                    <a:lnTo>
                      <a:pt x="1" y="182"/>
                    </a:lnTo>
                    <a:lnTo>
                      <a:pt x="1" y="188"/>
                    </a:lnTo>
                    <a:lnTo>
                      <a:pt x="1" y="194"/>
                    </a:lnTo>
                    <a:lnTo>
                      <a:pt x="0" y="199"/>
                    </a:lnTo>
                    <a:lnTo>
                      <a:pt x="0" y="205"/>
                    </a:lnTo>
                    <a:lnTo>
                      <a:pt x="0" y="211"/>
                    </a:lnTo>
                    <a:lnTo>
                      <a:pt x="0" y="217"/>
                    </a:lnTo>
                    <a:lnTo>
                      <a:pt x="0" y="221"/>
                    </a:lnTo>
                    <a:lnTo>
                      <a:pt x="0" y="226"/>
                    </a:lnTo>
                    <a:lnTo>
                      <a:pt x="0" y="232"/>
                    </a:lnTo>
                    <a:lnTo>
                      <a:pt x="1" y="238"/>
                    </a:lnTo>
                    <a:lnTo>
                      <a:pt x="1" y="243"/>
                    </a:lnTo>
                    <a:lnTo>
                      <a:pt x="1" y="249"/>
                    </a:lnTo>
                    <a:lnTo>
                      <a:pt x="3" y="253"/>
                    </a:lnTo>
                    <a:lnTo>
                      <a:pt x="4" y="259"/>
                    </a:lnTo>
                    <a:lnTo>
                      <a:pt x="5" y="264"/>
                    </a:lnTo>
                    <a:lnTo>
                      <a:pt x="6" y="270"/>
                    </a:lnTo>
                    <a:lnTo>
                      <a:pt x="7" y="275"/>
                    </a:lnTo>
                    <a:lnTo>
                      <a:pt x="10" y="279"/>
                    </a:lnTo>
                    <a:lnTo>
                      <a:pt x="11" y="284"/>
                    </a:lnTo>
                    <a:lnTo>
                      <a:pt x="12" y="290"/>
                    </a:lnTo>
                    <a:lnTo>
                      <a:pt x="14" y="295"/>
                    </a:lnTo>
                    <a:lnTo>
                      <a:pt x="17" y="301"/>
                    </a:lnTo>
                    <a:lnTo>
                      <a:pt x="18" y="304"/>
                    </a:lnTo>
                    <a:lnTo>
                      <a:pt x="20" y="309"/>
                    </a:lnTo>
                    <a:lnTo>
                      <a:pt x="23" y="314"/>
                    </a:lnTo>
                    <a:lnTo>
                      <a:pt x="26" y="318"/>
                    </a:lnTo>
                    <a:lnTo>
                      <a:pt x="29" y="323"/>
                    </a:lnTo>
                    <a:lnTo>
                      <a:pt x="30" y="328"/>
                    </a:lnTo>
                    <a:lnTo>
                      <a:pt x="33" y="333"/>
                    </a:lnTo>
                    <a:lnTo>
                      <a:pt x="37" y="336"/>
                    </a:lnTo>
                    <a:lnTo>
                      <a:pt x="39" y="341"/>
                    </a:lnTo>
                    <a:lnTo>
                      <a:pt x="43" y="346"/>
                    </a:lnTo>
                    <a:lnTo>
                      <a:pt x="45" y="349"/>
                    </a:lnTo>
                    <a:lnTo>
                      <a:pt x="49" y="353"/>
                    </a:lnTo>
                    <a:lnTo>
                      <a:pt x="52" y="358"/>
                    </a:lnTo>
                    <a:lnTo>
                      <a:pt x="56" y="361"/>
                    </a:lnTo>
                    <a:lnTo>
                      <a:pt x="59" y="366"/>
                    </a:lnTo>
                    <a:lnTo>
                      <a:pt x="64" y="369"/>
                    </a:lnTo>
                    <a:lnTo>
                      <a:pt x="67" y="373"/>
                    </a:lnTo>
                    <a:lnTo>
                      <a:pt x="71" y="376"/>
                    </a:lnTo>
                    <a:lnTo>
                      <a:pt x="75" y="380"/>
                    </a:lnTo>
                    <a:lnTo>
                      <a:pt x="80" y="384"/>
                    </a:lnTo>
                    <a:lnTo>
                      <a:pt x="83" y="386"/>
                    </a:lnTo>
                    <a:lnTo>
                      <a:pt x="87" y="389"/>
                    </a:lnTo>
                    <a:lnTo>
                      <a:pt x="91" y="392"/>
                    </a:lnTo>
                    <a:lnTo>
                      <a:pt x="95" y="397"/>
                    </a:lnTo>
                    <a:lnTo>
                      <a:pt x="100" y="398"/>
                    </a:lnTo>
                    <a:lnTo>
                      <a:pt x="104" y="401"/>
                    </a:lnTo>
                    <a:lnTo>
                      <a:pt x="109" y="404"/>
                    </a:lnTo>
                    <a:lnTo>
                      <a:pt x="114" y="406"/>
                    </a:lnTo>
                    <a:lnTo>
                      <a:pt x="117" y="408"/>
                    </a:lnTo>
                    <a:lnTo>
                      <a:pt x="122" y="411"/>
                    </a:lnTo>
                    <a:lnTo>
                      <a:pt x="128" y="413"/>
                    </a:lnTo>
                    <a:lnTo>
                      <a:pt x="133" y="417"/>
                    </a:lnTo>
                    <a:lnTo>
                      <a:pt x="138" y="418"/>
                    </a:lnTo>
                    <a:lnTo>
                      <a:pt x="142" y="419"/>
                    </a:lnTo>
                    <a:lnTo>
                      <a:pt x="147" y="420"/>
                    </a:lnTo>
                    <a:lnTo>
                      <a:pt x="153" y="423"/>
                    </a:lnTo>
                    <a:lnTo>
                      <a:pt x="157" y="424"/>
                    </a:lnTo>
                    <a:lnTo>
                      <a:pt x="163" y="425"/>
                    </a:lnTo>
                    <a:lnTo>
                      <a:pt x="167" y="427"/>
                    </a:lnTo>
                    <a:lnTo>
                      <a:pt x="173" y="429"/>
                    </a:lnTo>
                    <a:lnTo>
                      <a:pt x="178" y="429"/>
                    </a:lnTo>
                    <a:lnTo>
                      <a:pt x="184" y="430"/>
                    </a:lnTo>
                    <a:lnTo>
                      <a:pt x="190" y="431"/>
                    </a:lnTo>
                    <a:lnTo>
                      <a:pt x="196" y="432"/>
                    </a:lnTo>
                    <a:lnTo>
                      <a:pt x="200" y="432"/>
                    </a:lnTo>
                    <a:lnTo>
                      <a:pt x="206" y="433"/>
                    </a:lnTo>
                    <a:lnTo>
                      <a:pt x="212" y="433"/>
                    </a:lnTo>
                    <a:lnTo>
                      <a:pt x="218" y="433"/>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0" name="Freeform 21"/>
              <p:cNvSpPr>
                <a:spLocks/>
              </p:cNvSpPr>
              <p:nvPr/>
            </p:nvSpPr>
            <p:spPr bwMode="auto">
              <a:xfrm>
                <a:off x="2729" y="1493"/>
                <a:ext cx="173" cy="150"/>
              </a:xfrm>
              <a:custGeom>
                <a:avLst/>
                <a:gdLst>
                  <a:gd name="T0" fmla="*/ 1 w 346"/>
                  <a:gd name="T1" fmla="*/ 0 h 301"/>
                  <a:gd name="T2" fmla="*/ 0 w 346"/>
                  <a:gd name="T3" fmla="*/ 0 h 301"/>
                  <a:gd name="T4" fmla="*/ 1 w 346"/>
                  <a:gd name="T5" fmla="*/ 0 h 301"/>
                  <a:gd name="T6" fmla="*/ 1 w 346"/>
                  <a:gd name="T7" fmla="*/ 0 h 301"/>
                  <a:gd name="T8" fmla="*/ 1 w 346"/>
                  <a:gd name="T9" fmla="*/ 0 h 301"/>
                  <a:gd name="T10" fmla="*/ 0 60000 65536"/>
                  <a:gd name="T11" fmla="*/ 0 60000 65536"/>
                  <a:gd name="T12" fmla="*/ 0 60000 65536"/>
                  <a:gd name="T13" fmla="*/ 0 60000 65536"/>
                  <a:gd name="T14" fmla="*/ 0 60000 65536"/>
                  <a:gd name="T15" fmla="*/ 0 w 346"/>
                  <a:gd name="T16" fmla="*/ 0 h 301"/>
                  <a:gd name="T17" fmla="*/ 346 w 346"/>
                  <a:gd name="T18" fmla="*/ 301 h 301"/>
                </a:gdLst>
                <a:ahLst/>
                <a:cxnLst>
                  <a:cxn ang="T10">
                    <a:pos x="T0" y="T1"/>
                  </a:cxn>
                  <a:cxn ang="T11">
                    <a:pos x="T2" y="T3"/>
                  </a:cxn>
                  <a:cxn ang="T12">
                    <a:pos x="T4" y="T5"/>
                  </a:cxn>
                  <a:cxn ang="T13">
                    <a:pos x="T6" y="T7"/>
                  </a:cxn>
                  <a:cxn ang="T14">
                    <a:pos x="T8" y="T9"/>
                  </a:cxn>
                </a:cxnLst>
                <a:rect l="T15" t="T16" r="T17" b="T18"/>
                <a:pathLst>
                  <a:path w="346" h="301">
                    <a:moveTo>
                      <a:pt x="346" y="300"/>
                    </a:moveTo>
                    <a:lnTo>
                      <a:pt x="0" y="301"/>
                    </a:lnTo>
                    <a:lnTo>
                      <a:pt x="173" y="0"/>
                    </a:lnTo>
                    <a:lnTo>
                      <a:pt x="346" y="300"/>
                    </a:lnTo>
                    <a:close/>
                  </a:path>
                </a:pathLst>
              </a:cu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21509" name="TextBox 4"/>
          <p:cNvSpPr txBox="1">
            <a:spLocks noChangeArrowheads="1"/>
          </p:cNvSpPr>
          <p:nvPr/>
        </p:nvSpPr>
        <p:spPr bwMode="auto">
          <a:xfrm>
            <a:off x="2409825" y="3929063"/>
            <a:ext cx="1643063"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Senior Tranche</a:t>
            </a:r>
          </a:p>
        </p:txBody>
      </p:sp>
      <p:sp>
        <p:nvSpPr>
          <p:cNvPr id="21510" name="TextBox 5"/>
          <p:cNvSpPr txBox="1">
            <a:spLocks noChangeArrowheads="1"/>
          </p:cNvSpPr>
          <p:nvPr/>
        </p:nvSpPr>
        <p:spPr bwMode="auto">
          <a:xfrm>
            <a:off x="2409825" y="5002213"/>
            <a:ext cx="2738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Mezzanine Tranche</a:t>
            </a:r>
          </a:p>
        </p:txBody>
      </p:sp>
      <p:sp>
        <p:nvSpPr>
          <p:cNvPr id="21511" name="Right Arrow 37"/>
          <p:cNvSpPr>
            <a:spLocks noChangeArrowheads="1"/>
          </p:cNvSpPr>
          <p:nvPr/>
        </p:nvSpPr>
        <p:spPr bwMode="auto">
          <a:xfrm>
            <a:off x="3505200" y="2389188"/>
            <a:ext cx="312738" cy="484187"/>
          </a:xfrm>
          <a:prstGeom prst="rightArrow">
            <a:avLst>
              <a:gd name="adj1" fmla="val 50000"/>
              <a:gd name="adj2" fmla="val 43750"/>
            </a:avLst>
          </a:prstGeom>
          <a:solidFill>
            <a:srgbClr val="92D050"/>
          </a:solidFill>
          <a:ln w="12700" algn="ctr">
            <a:solidFill>
              <a:schemeClr val="tx1"/>
            </a:solidFill>
            <a:round/>
            <a:headEnd type="none" w="sm" len="sm"/>
            <a:tailEnd type="none" w="sm" len="sm"/>
          </a:ln>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200"/>
          </a:p>
        </p:txBody>
      </p:sp>
      <p:sp>
        <p:nvSpPr>
          <p:cNvPr id="21512" name="TextBox 38"/>
          <p:cNvSpPr txBox="1">
            <a:spLocks noChangeArrowheads="1"/>
          </p:cNvSpPr>
          <p:nvPr/>
        </p:nvSpPr>
        <p:spPr bwMode="auto">
          <a:xfrm>
            <a:off x="2487613" y="2187575"/>
            <a:ext cx="8604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Asset Cash Flows</a:t>
            </a:r>
          </a:p>
        </p:txBody>
      </p:sp>
      <p:cxnSp>
        <p:nvCxnSpPr>
          <p:cNvPr id="41" name="Straight Connector 40"/>
          <p:cNvCxnSpPr/>
          <p:nvPr/>
        </p:nvCxnSpPr>
        <p:spPr bwMode="auto">
          <a:xfrm flipV="1">
            <a:off x="4754563" y="3392488"/>
            <a:ext cx="1587" cy="269875"/>
          </a:xfrm>
          <a:prstGeom prst="line">
            <a:avLst/>
          </a:prstGeom>
          <a:ln w="28575">
            <a:solidFill>
              <a:schemeClr val="tx2"/>
            </a:solidFill>
            <a:headEnd type="none" w="sm" len="sm"/>
            <a:tailEnd type="none" w="sm" len="sm"/>
          </a:ln>
        </p:spPr>
        <p:style>
          <a:lnRef idx="1">
            <a:schemeClr val="accent2"/>
          </a:lnRef>
          <a:fillRef idx="0">
            <a:schemeClr val="accent2"/>
          </a:fillRef>
          <a:effectRef idx="0">
            <a:schemeClr val="accent2"/>
          </a:effectRef>
          <a:fontRef idx="minor">
            <a:schemeClr val="tx1"/>
          </a:fontRef>
        </p:style>
      </p:cxnSp>
      <p:cxnSp>
        <p:nvCxnSpPr>
          <p:cNvPr id="43" name="Straight Connector 42"/>
          <p:cNvCxnSpPr/>
          <p:nvPr/>
        </p:nvCxnSpPr>
        <p:spPr bwMode="auto">
          <a:xfrm flipV="1">
            <a:off x="6334125" y="4868863"/>
            <a:ext cx="0" cy="174625"/>
          </a:xfrm>
          <a:prstGeom prst="line">
            <a:avLst/>
          </a:prstGeom>
          <a:ln w="28575">
            <a:solidFill>
              <a:schemeClr val="tx2"/>
            </a:solidFill>
            <a:headEnd type="none" w="sm" len="sm"/>
            <a:tailEnd type="none" w="sm" len="sm"/>
          </a:ln>
        </p:spPr>
        <p:style>
          <a:lnRef idx="1">
            <a:schemeClr val="accent2"/>
          </a:lnRef>
          <a:fillRef idx="0">
            <a:schemeClr val="accent2"/>
          </a:fillRef>
          <a:effectRef idx="0">
            <a:schemeClr val="accent2"/>
          </a:effectRef>
          <a:fontRef idx="minor">
            <a:schemeClr val="tx1"/>
          </a:fontRef>
        </p:style>
      </p:cxnSp>
      <p:cxnSp>
        <p:nvCxnSpPr>
          <p:cNvPr id="21515" name="Straight Connector 47"/>
          <p:cNvCxnSpPr>
            <a:cxnSpLocks noChangeShapeType="1"/>
          </p:cNvCxnSpPr>
          <p:nvPr/>
        </p:nvCxnSpPr>
        <p:spPr bwMode="auto">
          <a:xfrm rot="16200000" flipH="1">
            <a:off x="4449763" y="3943350"/>
            <a:ext cx="990600" cy="3810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1516" name="Straight Connector 49"/>
          <p:cNvCxnSpPr>
            <a:cxnSpLocks noChangeShapeType="1"/>
          </p:cNvCxnSpPr>
          <p:nvPr/>
        </p:nvCxnSpPr>
        <p:spPr bwMode="auto">
          <a:xfrm>
            <a:off x="5105400" y="4648200"/>
            <a:ext cx="1295400"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1517" name="Straight Connector 51"/>
          <p:cNvCxnSpPr>
            <a:cxnSpLocks noChangeShapeType="1"/>
          </p:cNvCxnSpPr>
          <p:nvPr/>
        </p:nvCxnSpPr>
        <p:spPr bwMode="auto">
          <a:xfrm rot="5400000" flipH="1" flipV="1">
            <a:off x="6137275" y="3962400"/>
            <a:ext cx="990600" cy="3810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1518" name="Straight Connector 53"/>
          <p:cNvCxnSpPr>
            <a:cxnSpLocks noChangeShapeType="1"/>
          </p:cNvCxnSpPr>
          <p:nvPr/>
        </p:nvCxnSpPr>
        <p:spPr bwMode="auto">
          <a:xfrm>
            <a:off x="6334125" y="5021263"/>
            <a:ext cx="295275" cy="388937"/>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1519" name="Straight Connector 55"/>
          <p:cNvCxnSpPr>
            <a:cxnSpLocks noChangeShapeType="1"/>
          </p:cNvCxnSpPr>
          <p:nvPr/>
        </p:nvCxnSpPr>
        <p:spPr bwMode="auto">
          <a:xfrm>
            <a:off x="6629400" y="5410200"/>
            <a:ext cx="838200" cy="793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1520" name="Straight Connector 59"/>
          <p:cNvCxnSpPr>
            <a:cxnSpLocks noChangeShapeType="1"/>
          </p:cNvCxnSpPr>
          <p:nvPr/>
        </p:nvCxnSpPr>
        <p:spPr bwMode="auto">
          <a:xfrm flipV="1">
            <a:off x="7467600" y="5006975"/>
            <a:ext cx="271463" cy="417513"/>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1521" name="Straight Connector 61"/>
          <p:cNvCxnSpPr>
            <a:cxnSpLocks noChangeShapeType="1"/>
          </p:cNvCxnSpPr>
          <p:nvPr/>
        </p:nvCxnSpPr>
        <p:spPr bwMode="auto">
          <a:xfrm rot="16200000" flipH="1">
            <a:off x="7467600" y="5638800"/>
            <a:ext cx="228600" cy="228600"/>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1522" name="Straight Connector 63"/>
          <p:cNvCxnSpPr>
            <a:cxnSpLocks noChangeShapeType="1"/>
          </p:cNvCxnSpPr>
          <p:nvPr/>
        </p:nvCxnSpPr>
        <p:spPr bwMode="auto">
          <a:xfrm>
            <a:off x="7696200" y="5867400"/>
            <a:ext cx="304800" cy="1588"/>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cxnSp>
        <p:nvCxnSpPr>
          <p:cNvPr id="21523" name="Straight Connector 65"/>
          <p:cNvCxnSpPr>
            <a:cxnSpLocks noChangeShapeType="1"/>
          </p:cNvCxnSpPr>
          <p:nvPr/>
        </p:nvCxnSpPr>
        <p:spPr bwMode="auto">
          <a:xfrm flipV="1">
            <a:off x="8066088" y="5700713"/>
            <a:ext cx="134937" cy="153987"/>
          </a:xfrm>
          <a:prstGeom prst="line">
            <a:avLst/>
          </a:prstGeom>
          <a:noFill/>
          <a:ln w="28575" algn="ctr">
            <a:solidFill>
              <a:schemeClr val="tx2"/>
            </a:solidFill>
            <a:round/>
            <a:headEnd/>
            <a:tailEnd/>
          </a:ln>
          <a:extLst>
            <a:ext uri="{909E8E84-426E-40DD-AFC4-6F175D3DCCD1}">
              <a14:hiddenFill xmlns:a14="http://schemas.microsoft.com/office/drawing/2010/main">
                <a:noFill/>
              </a14:hiddenFill>
            </a:ext>
          </a:extLst>
        </p:spPr>
      </p:cxnSp>
      <p:sp>
        <p:nvSpPr>
          <p:cNvPr id="21524" name="Slide Number Placeholder 5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1500CF1-55E6-4234-8F30-AB58C2F865D7}" type="slidenum">
              <a:rPr lang="en-US" altLang="en-US" sz="1800"/>
              <a:pPr>
                <a:spcBef>
                  <a:spcPct val="0"/>
                </a:spcBef>
                <a:buClrTx/>
                <a:buSzTx/>
                <a:buFontTx/>
                <a:buNone/>
              </a:pPr>
              <a:t>4</a:t>
            </a:fld>
            <a:endParaRPr lang="en-US" altLang="en-US" sz="1800"/>
          </a:p>
        </p:txBody>
      </p:sp>
      <p:sp>
        <p:nvSpPr>
          <p:cNvPr id="21525" name="Footer Placeholder 5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i="0">
              <a:cs typeface="Arial" panose="020B0604020202020204" pitchFamily="34" charset="0"/>
            </a:endParaRPr>
          </a:p>
        </p:txBody>
      </p:sp>
      <p:sp>
        <p:nvSpPr>
          <p:cNvPr id="21526" name="Flowchart: Direct Access Storage 2"/>
          <p:cNvSpPr>
            <a:spLocks noChangeArrowheads="1"/>
          </p:cNvSpPr>
          <p:nvPr/>
        </p:nvSpPr>
        <p:spPr bwMode="auto">
          <a:xfrm>
            <a:off x="3975100" y="2224088"/>
            <a:ext cx="1604963" cy="755650"/>
          </a:xfrm>
          <a:prstGeom prst="flowChartMagneticDrum">
            <a:avLst/>
          </a:prstGeom>
          <a:solidFill>
            <a:schemeClr val="accent1"/>
          </a:solidFill>
          <a:ln w="12700" algn="ctr">
            <a:solidFill>
              <a:schemeClr val="tx1"/>
            </a:solidFill>
            <a:round/>
            <a:headEnd type="none" w="sm" len="sm"/>
            <a:tailEnd type="none" w="sm" len="sm"/>
          </a:ln>
        </p:spPr>
        <p:txBody>
          <a:bodyPr lIns="92075" tIns="46038" rIns="92075" bIns="46038">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lang="en-US"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84188" y="188913"/>
            <a:ext cx="7086600" cy="990600"/>
          </a:xfrm>
        </p:spPr>
        <p:txBody>
          <a:bodyPr/>
          <a:lstStyle/>
          <a:p>
            <a:pPr eaLnBrk="1" hangingPunct="1">
              <a:lnSpc>
                <a:spcPts val="3300"/>
              </a:lnSpc>
            </a:pPr>
            <a:r>
              <a:rPr lang="en-US" altLang="en-US" sz="2800" smtClean="0"/>
              <a:t>ABS CDOs or Mezz CDOs</a:t>
            </a:r>
            <a:r>
              <a:rPr lang="en-US" altLang="en-US" sz="3600" smtClean="0"/>
              <a:t> </a:t>
            </a:r>
            <a:r>
              <a:rPr lang="en-US" altLang="en-US" sz="2800" smtClean="0"/>
              <a:t>(Simplified)</a:t>
            </a:r>
            <a:br>
              <a:rPr lang="en-US" altLang="en-US" sz="2800" smtClean="0"/>
            </a:br>
            <a:r>
              <a:rPr lang="en-US" altLang="en-US" sz="2000" smtClean="0"/>
              <a:t>(Figure 8.3, page 193)</a:t>
            </a:r>
          </a:p>
        </p:txBody>
      </p:sp>
      <p:grpSp>
        <p:nvGrpSpPr>
          <p:cNvPr id="23555" name="Group 20"/>
          <p:cNvGrpSpPr>
            <a:grpSpLocks/>
          </p:cNvGrpSpPr>
          <p:nvPr/>
        </p:nvGrpSpPr>
        <p:grpSpPr bwMode="auto">
          <a:xfrm>
            <a:off x="862013" y="2071688"/>
            <a:ext cx="7597775" cy="3659187"/>
            <a:chOff x="862057" y="1752600"/>
            <a:chExt cx="7597628" cy="3050872"/>
          </a:xfrm>
        </p:grpSpPr>
        <p:sp>
          <p:nvSpPr>
            <p:cNvPr id="23560" name="Rectangle 3"/>
            <p:cNvSpPr>
              <a:spLocks noChangeArrowheads="1"/>
            </p:cNvSpPr>
            <p:nvPr/>
          </p:nvSpPr>
          <p:spPr bwMode="auto">
            <a:xfrm>
              <a:off x="862057" y="2362200"/>
              <a:ext cx="647606" cy="277656"/>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CA" altLang="en-US" sz="1200"/>
                <a:t>Assets</a:t>
              </a:r>
              <a:endParaRPr lang="en-US" altLang="en-US" sz="1200"/>
            </a:p>
          </p:txBody>
        </p:sp>
        <p:sp>
          <p:nvSpPr>
            <p:cNvPr id="23561" name="Rectangle 4"/>
            <p:cNvSpPr>
              <a:spLocks noChangeArrowheads="1"/>
            </p:cNvSpPr>
            <p:nvPr/>
          </p:nvSpPr>
          <p:spPr bwMode="auto">
            <a:xfrm>
              <a:off x="2743209" y="2362200"/>
              <a:ext cx="1677876" cy="385429"/>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Senior Tranche (80%)</a:t>
              </a:r>
            </a:p>
            <a:p>
              <a:pPr algn="ctr" eaLnBrk="1" hangingPunct="1">
                <a:spcBef>
                  <a:spcPct val="0"/>
                </a:spcBef>
                <a:buClrTx/>
                <a:buSzTx/>
                <a:buFontTx/>
                <a:buNone/>
              </a:pPr>
              <a:r>
                <a:rPr lang="en-US" altLang="en-US" sz="1200"/>
                <a:t>AAA</a:t>
              </a:r>
            </a:p>
          </p:txBody>
        </p:sp>
        <p:sp>
          <p:nvSpPr>
            <p:cNvPr id="23562" name="Rectangle 5"/>
            <p:cNvSpPr>
              <a:spLocks noChangeArrowheads="1"/>
            </p:cNvSpPr>
            <p:nvPr/>
          </p:nvSpPr>
          <p:spPr bwMode="auto">
            <a:xfrm>
              <a:off x="2743194" y="3200400"/>
              <a:ext cx="2019312" cy="385429"/>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Mezzanine Tranche  (15%)</a:t>
              </a:r>
            </a:p>
            <a:p>
              <a:pPr algn="ctr" eaLnBrk="1" hangingPunct="1">
                <a:spcBef>
                  <a:spcPct val="0"/>
                </a:spcBef>
                <a:buClrTx/>
                <a:buSzTx/>
                <a:buFontTx/>
                <a:buNone/>
              </a:pPr>
              <a:r>
                <a:rPr lang="en-US" altLang="en-US" sz="1200"/>
                <a:t>BBB</a:t>
              </a:r>
            </a:p>
          </p:txBody>
        </p:sp>
        <p:sp>
          <p:nvSpPr>
            <p:cNvPr id="23563" name="Rectangle 6"/>
            <p:cNvSpPr>
              <a:spLocks noChangeArrowheads="1"/>
            </p:cNvSpPr>
            <p:nvPr/>
          </p:nvSpPr>
          <p:spPr bwMode="auto">
            <a:xfrm>
              <a:off x="2743200" y="4114800"/>
              <a:ext cx="1576907" cy="462307"/>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Equity Tranche (5%)</a:t>
              </a:r>
            </a:p>
            <a:p>
              <a:pPr algn="ctr" eaLnBrk="1" hangingPunct="1">
                <a:spcBef>
                  <a:spcPct val="0"/>
                </a:spcBef>
                <a:buClrTx/>
                <a:buSzTx/>
                <a:buFontTx/>
                <a:buNone/>
              </a:pPr>
              <a:r>
                <a:rPr lang="en-US" altLang="en-US" sz="1200"/>
                <a:t>Not Rated</a:t>
              </a:r>
            </a:p>
          </p:txBody>
        </p:sp>
        <p:sp>
          <p:nvSpPr>
            <p:cNvPr id="23564" name="Rectangle 7"/>
            <p:cNvSpPr>
              <a:spLocks noChangeArrowheads="1"/>
            </p:cNvSpPr>
            <p:nvPr/>
          </p:nvSpPr>
          <p:spPr bwMode="auto">
            <a:xfrm>
              <a:off x="6781809" y="2971800"/>
              <a:ext cx="1677876" cy="385429"/>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Senior Tranche (65%)</a:t>
              </a:r>
            </a:p>
            <a:p>
              <a:pPr algn="ctr" eaLnBrk="1" hangingPunct="1">
                <a:spcBef>
                  <a:spcPct val="0"/>
                </a:spcBef>
                <a:buClrTx/>
                <a:buSzTx/>
                <a:buFontTx/>
                <a:buNone/>
              </a:pPr>
              <a:r>
                <a:rPr lang="en-US" altLang="en-US" sz="1200"/>
                <a:t>AAA</a:t>
              </a:r>
            </a:p>
          </p:txBody>
        </p:sp>
        <p:sp>
          <p:nvSpPr>
            <p:cNvPr id="23565" name="Rectangle 8"/>
            <p:cNvSpPr>
              <a:spLocks noChangeArrowheads="1"/>
            </p:cNvSpPr>
            <p:nvPr/>
          </p:nvSpPr>
          <p:spPr bwMode="auto">
            <a:xfrm>
              <a:off x="6781800" y="3657600"/>
              <a:ext cx="1600200" cy="385429"/>
            </a:xfrm>
            <a:prstGeom prst="rect">
              <a:avLst/>
            </a:prstGeom>
            <a:solidFill>
              <a:schemeClr val="bg1"/>
            </a:solidFill>
            <a:ln w="12700" algn="ctr">
              <a:solidFill>
                <a:schemeClr val="tx1"/>
              </a:solidFill>
              <a:round/>
              <a:headEnd type="none" w="sm" len="sm"/>
              <a:tailEnd type="none" w="sm" len="sm"/>
            </a:ln>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Mezzanine Tranche (25%) BBB</a:t>
              </a:r>
            </a:p>
          </p:txBody>
        </p:sp>
        <p:sp>
          <p:nvSpPr>
            <p:cNvPr id="23566" name="Rectangle 9"/>
            <p:cNvSpPr>
              <a:spLocks noChangeArrowheads="1"/>
            </p:cNvSpPr>
            <p:nvPr/>
          </p:nvSpPr>
          <p:spPr bwMode="auto">
            <a:xfrm>
              <a:off x="6739331" y="4572000"/>
              <a:ext cx="1661846" cy="231472"/>
            </a:xfrm>
            <a:prstGeom prst="rect">
              <a:avLst/>
            </a:prstGeom>
            <a:solidFill>
              <a:schemeClr val="bg1"/>
            </a:solidFill>
            <a:ln w="12700" algn="ctr">
              <a:solidFill>
                <a:schemeClr val="tx1"/>
              </a:solidFill>
              <a:round/>
              <a:headEnd type="none" w="sm" len="sm"/>
              <a:tailEnd type="none" w="sm" len="sm"/>
            </a:ln>
          </p:spPr>
          <p:txBody>
            <a:bodyPr wrap="none"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Equity Tranche (10%)</a:t>
              </a:r>
            </a:p>
          </p:txBody>
        </p:sp>
        <p:cxnSp>
          <p:nvCxnSpPr>
            <p:cNvPr id="23567" name="Straight Arrow Connector 11"/>
            <p:cNvCxnSpPr>
              <a:cxnSpLocks noChangeShapeType="1"/>
              <a:stCxn id="23560" idx="3"/>
            </p:cNvCxnSpPr>
            <p:nvPr/>
          </p:nvCxnSpPr>
          <p:spPr bwMode="auto">
            <a:xfrm flipV="1">
              <a:off x="1509663" y="2438401"/>
              <a:ext cx="1233538" cy="62627"/>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3568" name="Straight Arrow Connector 13"/>
            <p:cNvCxnSpPr>
              <a:cxnSpLocks noChangeShapeType="1"/>
              <a:stCxn id="23560" idx="3"/>
              <a:endCxn id="23562" idx="1"/>
            </p:cNvCxnSpPr>
            <p:nvPr/>
          </p:nvCxnSpPr>
          <p:spPr bwMode="auto">
            <a:xfrm>
              <a:off x="1509663" y="2501029"/>
              <a:ext cx="1233532" cy="892087"/>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3569" name="Straight Arrow Connector 15"/>
            <p:cNvCxnSpPr>
              <a:cxnSpLocks noChangeShapeType="1"/>
              <a:stCxn id="23560" idx="3"/>
              <a:endCxn id="23563" idx="1"/>
            </p:cNvCxnSpPr>
            <p:nvPr/>
          </p:nvCxnSpPr>
          <p:spPr bwMode="auto">
            <a:xfrm>
              <a:off x="1509663" y="2501028"/>
              <a:ext cx="1233537" cy="1844925"/>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3570" name="Straight Arrow Connector 17"/>
            <p:cNvCxnSpPr>
              <a:cxnSpLocks noChangeShapeType="1"/>
              <a:stCxn id="23562" idx="3"/>
              <a:endCxn id="23564" idx="1"/>
            </p:cNvCxnSpPr>
            <p:nvPr/>
          </p:nvCxnSpPr>
          <p:spPr bwMode="auto">
            <a:xfrm flipV="1">
              <a:off x="4762506" y="3164515"/>
              <a:ext cx="2019303" cy="228600"/>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3571" name="Straight Arrow Connector 19"/>
            <p:cNvCxnSpPr>
              <a:cxnSpLocks noChangeShapeType="1"/>
              <a:stCxn id="23562" idx="3"/>
              <a:endCxn id="23565" idx="1"/>
            </p:cNvCxnSpPr>
            <p:nvPr/>
          </p:nvCxnSpPr>
          <p:spPr bwMode="auto">
            <a:xfrm>
              <a:off x="4762506" y="3393115"/>
              <a:ext cx="2019294" cy="457200"/>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23572" name="Straight Arrow Connector 21"/>
            <p:cNvCxnSpPr>
              <a:cxnSpLocks noChangeShapeType="1"/>
              <a:stCxn id="23562" idx="3"/>
              <a:endCxn id="23566" idx="1"/>
            </p:cNvCxnSpPr>
            <p:nvPr/>
          </p:nvCxnSpPr>
          <p:spPr bwMode="auto">
            <a:xfrm>
              <a:off x="4762506" y="3393115"/>
              <a:ext cx="1976824" cy="1294621"/>
            </a:xfrm>
            <a:prstGeom prst="straightConnector1">
              <a:avLst/>
            </a:prstGeom>
            <a:noFill/>
            <a:ln w="1270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9233" name="TextBox 17"/>
            <p:cNvSpPr txBox="1">
              <a:spLocks noChangeArrowheads="1"/>
            </p:cNvSpPr>
            <p:nvPr/>
          </p:nvSpPr>
          <p:spPr bwMode="auto">
            <a:xfrm>
              <a:off x="5181560" y="1752600"/>
              <a:ext cx="2514551" cy="615468"/>
            </a:xfrm>
            <a:prstGeom prst="rect">
              <a:avLst/>
            </a:prstGeom>
            <a:noFill/>
            <a:ln w="9525">
              <a:noFill/>
              <a:miter lim="800000"/>
              <a:headEnd/>
              <a:tailEnd/>
            </a:ln>
          </p:spPr>
          <p:txBody>
            <a:bodyPr>
              <a:spAutoFit/>
            </a:bodyPr>
            <a:lstStyle/>
            <a:p>
              <a:pPr algn="ctr" eaLnBrk="1" hangingPunct="1">
                <a:defRPr/>
              </a:pPr>
              <a:r>
                <a:rPr lang="en-US" sz="1400" dirty="0">
                  <a:latin typeface="+mj-lt"/>
                </a:rPr>
                <a:t>Mezzanine tranches from many ABSs are used to create the ABS CDO</a:t>
              </a:r>
            </a:p>
          </p:txBody>
        </p:sp>
      </p:grpSp>
      <p:sp>
        <p:nvSpPr>
          <p:cNvPr id="23556" name="Slide Number Placeholder 2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A30FA34-0B2D-4EF1-8E00-9D4D579CADA0}" type="slidenum">
              <a:rPr lang="en-US" altLang="en-US" sz="1800"/>
              <a:pPr>
                <a:spcBef>
                  <a:spcPct val="0"/>
                </a:spcBef>
                <a:buClrTx/>
                <a:buSzTx/>
                <a:buFontTx/>
                <a:buNone/>
              </a:pPr>
              <a:t>5</a:t>
            </a:fld>
            <a:endParaRPr lang="en-US" altLang="en-US" sz="1800"/>
          </a:p>
        </p:txBody>
      </p:sp>
      <p:sp>
        <p:nvSpPr>
          <p:cNvPr id="23557" name="Footer Placeholder 2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i="0">
              <a:cs typeface="Arial" panose="020B0604020202020204" pitchFamily="34" charset="0"/>
            </a:endParaRPr>
          </a:p>
        </p:txBody>
      </p:sp>
      <p:sp>
        <p:nvSpPr>
          <p:cNvPr id="23558" name="TextBox 1"/>
          <p:cNvSpPr txBox="1">
            <a:spLocks noChangeArrowheads="1"/>
          </p:cNvSpPr>
          <p:nvPr/>
        </p:nvSpPr>
        <p:spPr bwMode="auto">
          <a:xfrm>
            <a:off x="3276600" y="2420938"/>
            <a:ext cx="790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ABSs</a:t>
            </a:r>
            <a:endParaRPr lang="en-US" altLang="en-US" sz="1800"/>
          </a:p>
        </p:txBody>
      </p:sp>
      <p:sp>
        <p:nvSpPr>
          <p:cNvPr id="23559" name="TextBox 2"/>
          <p:cNvSpPr txBox="1">
            <a:spLocks noChangeArrowheads="1"/>
          </p:cNvSpPr>
          <p:nvPr/>
        </p:nvSpPr>
        <p:spPr bwMode="auto">
          <a:xfrm>
            <a:off x="7019925" y="3135313"/>
            <a:ext cx="1655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CA" altLang="en-US" sz="1800"/>
              <a:t>ABS CDO</a:t>
            </a:r>
            <a:endParaRPr lang="en-US" altLang="en-US" sz="18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754063" y="500063"/>
            <a:ext cx="6180137" cy="928687"/>
          </a:xfrm>
        </p:spPr>
        <p:txBody>
          <a:bodyPr/>
          <a:lstStyle/>
          <a:p>
            <a:pPr eaLnBrk="1" hangingPunct="1"/>
            <a:r>
              <a:rPr lang="en-US" altLang="en-US" sz="2800" smtClean="0"/>
              <a:t>Losses to AAA Tranche of ABS CDO </a:t>
            </a:r>
            <a:r>
              <a:rPr lang="en-US" altLang="en-US" sz="2000" smtClean="0"/>
              <a:t>(Table 8.1, page 194)</a:t>
            </a:r>
          </a:p>
        </p:txBody>
      </p:sp>
      <p:graphicFrame>
        <p:nvGraphicFramePr>
          <p:cNvPr id="3" name="Table 2"/>
          <p:cNvGraphicFramePr>
            <a:graphicFrameLocks noGrp="1"/>
          </p:cNvGraphicFramePr>
          <p:nvPr/>
        </p:nvGraphicFramePr>
        <p:xfrm>
          <a:off x="838200" y="2286000"/>
          <a:ext cx="7543800" cy="2946400"/>
        </p:xfrm>
        <a:graphic>
          <a:graphicData uri="http://schemas.openxmlformats.org/drawingml/2006/table">
            <a:tbl>
              <a:tblPr firstRow="1" bandRow="1">
                <a:tableStyleId>{5940675A-B579-460E-94D1-54222C63F5DA}</a:tableStyleId>
              </a:tblPr>
              <a:tblGrid>
                <a:gridCol w="1457325"/>
                <a:gridCol w="1543050"/>
                <a:gridCol w="1574057"/>
                <a:gridCol w="1524811"/>
                <a:gridCol w="1444557"/>
              </a:tblGrid>
              <a:tr h="1218951">
                <a:tc>
                  <a:txBody>
                    <a:bodyPr/>
                    <a:lstStyle/>
                    <a:p>
                      <a:r>
                        <a:rPr lang="en-US" sz="1800" dirty="0" smtClean="0"/>
                        <a:t>Losses on</a:t>
                      </a:r>
                      <a:r>
                        <a:rPr lang="en-US" sz="1800" baseline="0" dirty="0" smtClean="0"/>
                        <a:t> </a:t>
                      </a:r>
                      <a:r>
                        <a:rPr lang="en-US" sz="1800" dirty="0" smtClean="0"/>
                        <a:t>Subprime portfolios</a:t>
                      </a:r>
                      <a:endParaRPr lang="en-US" sz="1800" b="0" dirty="0">
                        <a:latin typeface="Arial" pitchFamily="34" charset="0"/>
                        <a:cs typeface="Arial" pitchFamily="34" charset="0"/>
                      </a:endParaRPr>
                    </a:p>
                  </a:txBody>
                  <a:tcPr marT="45711" marB="45711"/>
                </a:tc>
                <a:tc>
                  <a:txBody>
                    <a:bodyPr/>
                    <a:lstStyle/>
                    <a:p>
                      <a:r>
                        <a:rPr lang="en-US" sz="1800" dirty="0" smtClean="0"/>
                        <a:t>Losses on Mezzanine Tranche of ABS</a:t>
                      </a:r>
                      <a:endParaRPr lang="en-US" sz="1800" b="0" dirty="0">
                        <a:latin typeface="Arial" pitchFamily="34" charset="0"/>
                        <a:cs typeface="Arial" pitchFamily="34" charset="0"/>
                      </a:endParaRPr>
                    </a:p>
                  </a:txBody>
                  <a:tcPr marT="45711" marB="45711"/>
                </a:tc>
                <a:tc>
                  <a:txBody>
                    <a:bodyPr/>
                    <a:lstStyle/>
                    <a:p>
                      <a:r>
                        <a:rPr lang="en-US" sz="1800" dirty="0" smtClean="0"/>
                        <a:t>Losses on Equity Tranche of ABS CDO</a:t>
                      </a:r>
                      <a:endParaRPr lang="en-US" sz="1800" b="0" dirty="0">
                        <a:latin typeface="Arial" pitchFamily="34" charset="0"/>
                        <a:cs typeface="Arial" pitchFamily="34" charset="0"/>
                      </a:endParaRPr>
                    </a:p>
                  </a:txBody>
                  <a:tcPr marT="45711" marB="45711"/>
                </a:tc>
                <a:tc>
                  <a:txBody>
                    <a:bodyPr/>
                    <a:lstStyle/>
                    <a:p>
                      <a:r>
                        <a:rPr lang="en-US" sz="1800" dirty="0" smtClean="0"/>
                        <a:t>Losses on Mezzanine Tranche of ABS CDO</a:t>
                      </a:r>
                      <a:endParaRPr lang="en-US" sz="1800" b="0" dirty="0">
                        <a:latin typeface="Arial" pitchFamily="34" charset="0"/>
                        <a:cs typeface="Arial" pitchFamily="34" charset="0"/>
                      </a:endParaRPr>
                    </a:p>
                  </a:txBody>
                  <a:tcPr marT="45711" marB="45711"/>
                </a:tc>
                <a:tc>
                  <a:txBody>
                    <a:bodyPr/>
                    <a:lstStyle/>
                    <a:p>
                      <a:r>
                        <a:rPr lang="en-US" sz="1800" dirty="0" smtClean="0"/>
                        <a:t>Losses on Senior</a:t>
                      </a:r>
                      <a:r>
                        <a:rPr lang="en-US" sz="1800" baseline="0" dirty="0" smtClean="0"/>
                        <a:t> Tranche of ABS CDO</a:t>
                      </a:r>
                      <a:endParaRPr lang="en-US" sz="1800" b="0" dirty="0">
                        <a:latin typeface="Arial" pitchFamily="34" charset="0"/>
                        <a:cs typeface="Arial" pitchFamily="34" charset="0"/>
                      </a:endParaRPr>
                    </a:p>
                  </a:txBody>
                  <a:tcPr marT="45711" marB="45711"/>
                </a:tc>
              </a:tr>
              <a:tr h="431862">
                <a:tc>
                  <a:txBody>
                    <a:bodyPr/>
                    <a:lstStyle/>
                    <a:p>
                      <a:pPr algn="ctr"/>
                      <a:r>
                        <a:rPr lang="en-CA" sz="1800" dirty="0" smtClean="0"/>
                        <a:t>10%</a:t>
                      </a:r>
                      <a:endParaRPr lang="en-US" sz="1800" dirty="0">
                        <a:latin typeface="+mj-lt"/>
                      </a:endParaRPr>
                    </a:p>
                  </a:txBody>
                  <a:tcPr marT="45711" marB="45711"/>
                </a:tc>
                <a:tc>
                  <a:txBody>
                    <a:bodyPr/>
                    <a:lstStyle/>
                    <a:p>
                      <a:pPr algn="ctr"/>
                      <a:r>
                        <a:rPr lang="en-CA" sz="1800" dirty="0" smtClean="0"/>
                        <a:t>33.3%</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c>
                  <a:txBody>
                    <a:bodyPr/>
                    <a:lstStyle/>
                    <a:p>
                      <a:pPr algn="ctr"/>
                      <a:r>
                        <a:rPr lang="en-CA" sz="1800" dirty="0" smtClean="0"/>
                        <a:t>93.3%</a:t>
                      </a:r>
                      <a:endParaRPr lang="en-US" sz="1800" dirty="0">
                        <a:latin typeface="+mj-lt"/>
                      </a:endParaRPr>
                    </a:p>
                  </a:txBody>
                  <a:tcPr marT="45711" marB="45711"/>
                </a:tc>
                <a:tc>
                  <a:txBody>
                    <a:bodyPr/>
                    <a:lstStyle/>
                    <a:p>
                      <a:pPr algn="ctr"/>
                      <a:r>
                        <a:rPr lang="en-CA" sz="1800" dirty="0" smtClean="0"/>
                        <a:t>0%</a:t>
                      </a:r>
                      <a:endParaRPr lang="en-US" sz="1800" dirty="0">
                        <a:latin typeface="+mj-lt"/>
                      </a:endParaRPr>
                    </a:p>
                  </a:txBody>
                  <a:tcPr marT="45711" marB="45711"/>
                </a:tc>
              </a:tr>
              <a:tr h="431862">
                <a:tc>
                  <a:txBody>
                    <a:bodyPr/>
                    <a:lstStyle/>
                    <a:p>
                      <a:pPr algn="ctr"/>
                      <a:r>
                        <a:rPr lang="en-US" sz="1800" dirty="0" smtClean="0"/>
                        <a:t>13%</a:t>
                      </a:r>
                      <a:endParaRPr lang="en-US" sz="1800" dirty="0">
                        <a:latin typeface="+mj-lt"/>
                      </a:endParaRPr>
                    </a:p>
                  </a:txBody>
                  <a:tcPr marT="45711" marB="45711"/>
                </a:tc>
                <a:tc>
                  <a:txBody>
                    <a:bodyPr/>
                    <a:lstStyle/>
                    <a:p>
                      <a:pPr algn="ctr"/>
                      <a:r>
                        <a:rPr lang="en-US" sz="1800" dirty="0" smtClean="0"/>
                        <a:t>53.3%</a:t>
                      </a:r>
                      <a:endParaRPr lang="en-US" sz="1800" dirty="0">
                        <a:latin typeface="+mj-lt"/>
                      </a:endParaRPr>
                    </a:p>
                  </a:txBody>
                  <a:tcPr marT="45711" marB="45711"/>
                </a:tc>
                <a:tc>
                  <a:txBody>
                    <a:bodyPr/>
                    <a:lstStyle/>
                    <a:p>
                      <a:pPr algn="ctr"/>
                      <a:r>
                        <a:rPr lang="en-US" sz="1800" dirty="0" smtClean="0"/>
                        <a:t>100%</a:t>
                      </a:r>
                      <a:endParaRPr lang="en-US" sz="1800" dirty="0">
                        <a:latin typeface="+mj-lt"/>
                      </a:endParaRPr>
                    </a:p>
                  </a:txBody>
                  <a:tcPr marT="45711" marB="45711"/>
                </a:tc>
                <a:tc>
                  <a:txBody>
                    <a:bodyPr/>
                    <a:lstStyle/>
                    <a:p>
                      <a:pPr algn="ctr"/>
                      <a:r>
                        <a:rPr lang="en-US" sz="1800" dirty="0" smtClean="0"/>
                        <a:t>100%</a:t>
                      </a:r>
                      <a:endParaRPr lang="en-US" sz="1800" dirty="0">
                        <a:latin typeface="+mj-lt"/>
                      </a:endParaRPr>
                    </a:p>
                  </a:txBody>
                  <a:tcPr marT="45711" marB="45711"/>
                </a:tc>
                <a:tc>
                  <a:txBody>
                    <a:bodyPr/>
                    <a:lstStyle/>
                    <a:p>
                      <a:pPr algn="ctr"/>
                      <a:r>
                        <a:rPr lang="en-US" sz="1800" dirty="0" smtClean="0"/>
                        <a:t>28.2%</a:t>
                      </a:r>
                      <a:endParaRPr lang="en-US" sz="1800" dirty="0">
                        <a:latin typeface="+mj-lt"/>
                      </a:endParaRPr>
                    </a:p>
                  </a:txBody>
                  <a:tcPr marT="45711" marB="45711"/>
                </a:tc>
              </a:tr>
              <a:tr h="431862">
                <a:tc>
                  <a:txBody>
                    <a:bodyPr/>
                    <a:lstStyle/>
                    <a:p>
                      <a:pPr algn="ctr"/>
                      <a:r>
                        <a:rPr lang="en-US" sz="1800" dirty="0" smtClean="0"/>
                        <a:t>17%</a:t>
                      </a:r>
                      <a:endParaRPr lang="en-US" sz="1800" dirty="0">
                        <a:latin typeface="+mj-lt"/>
                      </a:endParaRPr>
                    </a:p>
                  </a:txBody>
                  <a:tcPr marT="45711" marB="45711"/>
                </a:tc>
                <a:tc>
                  <a:txBody>
                    <a:bodyPr/>
                    <a:lstStyle/>
                    <a:p>
                      <a:pPr algn="ctr"/>
                      <a:r>
                        <a:rPr lang="en-US" sz="1800" dirty="0" smtClean="0"/>
                        <a:t>80.0%</a:t>
                      </a:r>
                      <a:endParaRPr lang="en-US" sz="1800" dirty="0">
                        <a:latin typeface="+mj-lt"/>
                      </a:endParaRPr>
                    </a:p>
                  </a:txBody>
                  <a:tcPr marT="45711" marB="45711"/>
                </a:tc>
                <a:tc>
                  <a:txBody>
                    <a:bodyPr/>
                    <a:lstStyle/>
                    <a:p>
                      <a:pPr algn="ctr"/>
                      <a:r>
                        <a:rPr lang="en-US" sz="1800" dirty="0" smtClean="0"/>
                        <a:t>100%</a:t>
                      </a:r>
                      <a:endParaRPr lang="en-US" sz="1800" dirty="0">
                        <a:latin typeface="+mj-lt"/>
                      </a:endParaRPr>
                    </a:p>
                  </a:txBody>
                  <a:tcPr marT="45711" marB="45711"/>
                </a:tc>
                <a:tc>
                  <a:txBody>
                    <a:bodyPr/>
                    <a:lstStyle/>
                    <a:p>
                      <a:pPr algn="ctr"/>
                      <a:r>
                        <a:rPr lang="en-US" sz="1800" dirty="0" smtClean="0"/>
                        <a:t>100%</a:t>
                      </a:r>
                      <a:endParaRPr lang="en-US" sz="1800" dirty="0">
                        <a:latin typeface="+mj-lt"/>
                      </a:endParaRPr>
                    </a:p>
                  </a:txBody>
                  <a:tcPr marT="45711" marB="45711"/>
                </a:tc>
                <a:tc>
                  <a:txBody>
                    <a:bodyPr/>
                    <a:lstStyle/>
                    <a:p>
                      <a:pPr algn="ctr"/>
                      <a:r>
                        <a:rPr lang="en-US" sz="1800" dirty="0" smtClean="0"/>
                        <a:t>69.2%</a:t>
                      </a:r>
                      <a:endParaRPr lang="en-US" sz="1800" dirty="0">
                        <a:latin typeface="+mj-lt"/>
                      </a:endParaRPr>
                    </a:p>
                  </a:txBody>
                  <a:tcPr marT="45711" marB="45711"/>
                </a:tc>
              </a:tr>
              <a:tr h="431862">
                <a:tc>
                  <a:txBody>
                    <a:bodyPr/>
                    <a:lstStyle/>
                    <a:p>
                      <a:pPr algn="ctr"/>
                      <a:r>
                        <a:rPr lang="en-CA" sz="1800" dirty="0" smtClean="0"/>
                        <a:t>20%</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c>
                  <a:txBody>
                    <a:bodyPr/>
                    <a:lstStyle/>
                    <a:p>
                      <a:pPr algn="ctr"/>
                      <a:r>
                        <a:rPr lang="en-CA" sz="1800" dirty="0" smtClean="0"/>
                        <a:t>100%</a:t>
                      </a:r>
                      <a:endParaRPr lang="en-US" sz="1800" dirty="0">
                        <a:latin typeface="+mj-lt"/>
                      </a:endParaRPr>
                    </a:p>
                  </a:txBody>
                  <a:tcPr marT="45711" marB="45711"/>
                </a:tc>
              </a:tr>
            </a:tbl>
          </a:graphicData>
        </a:graphic>
      </p:graphicFrame>
      <p:sp>
        <p:nvSpPr>
          <p:cNvPr id="256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59FBA48-1AD9-46A0-B1E5-A1FBA94234A7}" type="slidenum">
              <a:rPr lang="en-US" altLang="en-US" sz="1800"/>
              <a:pPr>
                <a:spcBef>
                  <a:spcPct val="0"/>
                </a:spcBef>
                <a:buClrTx/>
                <a:buSzTx/>
                <a:buFontTx/>
                <a:buNone/>
              </a:pPr>
              <a:t>6</a:t>
            </a:fld>
            <a:endParaRPr lang="en-US" altLang="en-US" sz="1800"/>
          </a:p>
        </p:txBody>
      </p:sp>
      <p:sp>
        <p:nvSpPr>
          <p:cNvPr id="25642"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i="0">
              <a:cs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754063" y="990600"/>
            <a:ext cx="6942137" cy="685800"/>
          </a:xfrm>
        </p:spPr>
        <p:txBody>
          <a:bodyPr/>
          <a:lstStyle/>
          <a:p>
            <a:pPr eaLnBrk="1" hangingPunct="1"/>
            <a:r>
              <a:rPr lang="en-US" altLang="en-US" sz="2800" smtClean="0"/>
              <a:t>U.S. Real Estate Prices, 1987 to 2015: </a:t>
            </a:r>
            <a:r>
              <a:rPr lang="en-US" altLang="en-US" sz="2400" smtClean="0"/>
              <a:t>S&amp;P/Case-Shiller Composite-10 Index, </a:t>
            </a:r>
            <a:br>
              <a:rPr lang="en-US" altLang="en-US" sz="2400" smtClean="0"/>
            </a:br>
            <a:r>
              <a:rPr lang="en-US" altLang="en-US" sz="2000" smtClean="0"/>
              <a:t>(Figure 8.4, page 195)</a:t>
            </a:r>
          </a:p>
        </p:txBody>
      </p:sp>
      <p:sp>
        <p:nvSpPr>
          <p:cNvPr id="2765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0D14AED-1749-403F-B96B-BBF860A11C33}" type="slidenum">
              <a:rPr lang="en-US" altLang="en-US" sz="1800"/>
              <a:pPr>
                <a:spcBef>
                  <a:spcPct val="0"/>
                </a:spcBef>
                <a:buClrTx/>
                <a:buSzTx/>
                <a:buFontTx/>
                <a:buNone/>
              </a:pPr>
              <a:t>7</a:t>
            </a:fld>
            <a:endParaRPr lang="en-US" altLang="en-US" sz="1800"/>
          </a:p>
        </p:txBody>
      </p:sp>
      <p:sp>
        <p:nvSpPr>
          <p:cNvPr id="27652" name="Footer Placeholder 8"/>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i="0">
              <a:cs typeface="Arial" panose="020B0604020202020204" pitchFamily="34" charset="0"/>
            </a:endParaRPr>
          </a:p>
        </p:txBody>
      </p:sp>
      <p:graphicFrame>
        <p:nvGraphicFramePr>
          <p:cNvPr id="7" name="Chart 6"/>
          <p:cNvGraphicFramePr>
            <a:graphicFrameLocks/>
          </p:cNvGraphicFramePr>
          <p:nvPr/>
        </p:nvGraphicFramePr>
        <p:xfrm>
          <a:off x="1403648" y="1676400"/>
          <a:ext cx="5904656" cy="384083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762000" y="762000"/>
            <a:ext cx="6030913" cy="685800"/>
          </a:xfrm>
        </p:spPr>
        <p:txBody>
          <a:bodyPr/>
          <a:lstStyle/>
          <a:p>
            <a:pPr eaLnBrk="1" hangingPunct="1"/>
            <a:r>
              <a:rPr lang="en-US" altLang="en-US" sz="4000" smtClean="0"/>
              <a:t>What happened…</a:t>
            </a:r>
          </a:p>
        </p:txBody>
      </p:sp>
      <p:sp>
        <p:nvSpPr>
          <p:cNvPr id="29699" name="Content Placeholder 2"/>
          <p:cNvSpPr>
            <a:spLocks noGrp="1"/>
          </p:cNvSpPr>
          <p:nvPr>
            <p:ph idx="1"/>
          </p:nvPr>
        </p:nvSpPr>
        <p:spPr>
          <a:xfrm>
            <a:off x="754063" y="1752600"/>
            <a:ext cx="7570787" cy="4481513"/>
          </a:xfrm>
        </p:spPr>
        <p:txBody>
          <a:bodyPr/>
          <a:lstStyle/>
          <a:p>
            <a:pPr marL="457200" indent="-457200" eaLnBrk="1" hangingPunct="1">
              <a:spcAft>
                <a:spcPts val="600"/>
              </a:spcAft>
            </a:pPr>
            <a:r>
              <a:rPr lang="en-US" altLang="en-US" sz="2000" smtClean="0">
                <a:cs typeface="Arial" panose="020B0604020202020204" pitchFamily="34" charset="0"/>
              </a:rPr>
              <a:t>Starting in 2000, mortgage originators in the US relaxed their lending standards and created large numbers of subprime first mortgages. </a:t>
            </a:r>
          </a:p>
          <a:p>
            <a:pPr marL="457200" indent="-457200" eaLnBrk="1" hangingPunct="1">
              <a:spcAft>
                <a:spcPts val="600"/>
              </a:spcAft>
            </a:pPr>
            <a:r>
              <a:rPr lang="en-US" altLang="en-US" sz="2000" smtClean="0">
                <a:cs typeface="Arial" panose="020B0604020202020204" pitchFamily="34" charset="0"/>
              </a:rPr>
              <a:t>This, combined with very low interest rates, increased the demand for real estate and prices rose. </a:t>
            </a:r>
          </a:p>
          <a:p>
            <a:pPr marL="457200" indent="-457200" eaLnBrk="1" hangingPunct="1">
              <a:spcAft>
                <a:spcPts val="600"/>
              </a:spcAft>
            </a:pPr>
            <a:r>
              <a:rPr lang="en-US" altLang="en-US" sz="2000" smtClean="0">
                <a:cs typeface="Arial" panose="020B0604020202020204" pitchFamily="34" charset="0"/>
              </a:rPr>
              <a:t>To continue to attract first time buyers and keep prices increasing they relaxed lending standards further </a:t>
            </a:r>
          </a:p>
          <a:p>
            <a:pPr marL="457200" indent="-457200" eaLnBrk="1" hangingPunct="1">
              <a:spcAft>
                <a:spcPts val="600"/>
              </a:spcAft>
            </a:pPr>
            <a:r>
              <a:rPr lang="en-US" altLang="en-US" sz="2000" smtClean="0">
                <a:cs typeface="Arial" panose="020B0604020202020204" pitchFamily="34" charset="0"/>
              </a:rPr>
              <a:t>Features of the market: 100% mortgages, ARMs, teaser rates, NINJAs, liar loans, non-recourse borrowing</a:t>
            </a:r>
          </a:p>
          <a:p>
            <a:pPr marL="457200" indent="-457200" eaLnBrk="1" hangingPunct="1">
              <a:spcAft>
                <a:spcPts val="600"/>
              </a:spcAft>
            </a:pPr>
            <a:r>
              <a:rPr lang="en-US" altLang="en-US" sz="2000" smtClean="0">
                <a:cs typeface="Arial" panose="020B0604020202020204" pitchFamily="34" charset="0"/>
              </a:rPr>
              <a:t>Mortgages were packaged in financial products and sold to investors</a:t>
            </a:r>
          </a:p>
          <a:p>
            <a:pPr marL="457200" indent="-457200" eaLnBrk="1" hangingPunct="1">
              <a:spcAft>
                <a:spcPts val="600"/>
              </a:spcAft>
            </a:pPr>
            <a:endParaRPr lang="en-US" altLang="en-US" sz="2000" smtClean="0">
              <a:cs typeface="Arial" panose="020B0604020202020204" pitchFamily="34" charset="0"/>
            </a:endParaRPr>
          </a:p>
        </p:txBody>
      </p:sp>
      <p:sp>
        <p:nvSpPr>
          <p:cNvPr id="29700"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a:cs typeface="Arial" panose="020B0604020202020204" pitchFamily="34" charset="0"/>
            </a:endParaRPr>
          </a:p>
        </p:txBody>
      </p:sp>
      <p:sp>
        <p:nvSpPr>
          <p:cNvPr id="297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DEA0E60-C2DB-45C4-BD7A-480B2237D201}" type="slidenum">
              <a:rPr lang="en-US" altLang="en-US" sz="1800"/>
              <a:pPr>
                <a:spcBef>
                  <a:spcPct val="0"/>
                </a:spcBef>
                <a:buClrTx/>
                <a:buSzTx/>
                <a:buFontTx/>
                <a:buNone/>
              </a:pPr>
              <a:t>8</a:t>
            </a:fld>
            <a:endParaRPr lang="en-US" altLang="en-US" sz="18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84213" y="333375"/>
            <a:ext cx="6032500" cy="719138"/>
          </a:xfrm>
        </p:spPr>
        <p:txBody>
          <a:bodyPr/>
          <a:lstStyle/>
          <a:p>
            <a:pPr eaLnBrk="1" hangingPunct="1"/>
            <a:r>
              <a:rPr lang="en-US" altLang="en-US" sz="3600" smtClean="0"/>
              <a:t>What happened...</a:t>
            </a:r>
          </a:p>
        </p:txBody>
      </p:sp>
      <p:sp>
        <p:nvSpPr>
          <p:cNvPr id="6147" name="Content Placeholder 2"/>
          <p:cNvSpPr>
            <a:spLocks noGrp="1"/>
          </p:cNvSpPr>
          <p:nvPr>
            <p:ph idx="1"/>
          </p:nvPr>
        </p:nvSpPr>
        <p:spPr>
          <a:xfrm>
            <a:off x="468313" y="1196975"/>
            <a:ext cx="7704137" cy="4749800"/>
          </a:xfrm>
        </p:spPr>
        <p:txBody>
          <a:bodyPr/>
          <a:lstStyle/>
          <a:p>
            <a:pPr marL="457200" indent="-457200" eaLnBrk="1" hangingPunct="1">
              <a:spcAft>
                <a:spcPts val="600"/>
              </a:spcAft>
              <a:defRPr/>
            </a:pPr>
            <a:r>
              <a:rPr lang="en-US" sz="2000" dirty="0" smtClean="0"/>
              <a:t>Banks found it profitable to invest in the AAA rated tranches because the promised return was significantly higher than the cost of funds and capital requirements were low</a:t>
            </a:r>
          </a:p>
          <a:p>
            <a:pPr marL="457200" indent="-457200" eaLnBrk="1" hangingPunct="1">
              <a:spcAft>
                <a:spcPts val="600"/>
              </a:spcAft>
              <a:defRPr/>
            </a:pPr>
            <a:r>
              <a:rPr lang="en-US" sz="2000" dirty="0" smtClean="0"/>
              <a:t>In 2007 the bubble burst. Some borrowers could not afford their payments when the teaser rates ended.  Others had negative equity and recognized that it was optimal for them to exercise their put options (i.e. put the house to the bank for the amount outstanding on the mortgage)</a:t>
            </a:r>
          </a:p>
          <a:p>
            <a:pPr marL="457200" indent="-457200" eaLnBrk="1" hangingPunct="1">
              <a:spcAft>
                <a:spcPts val="600"/>
              </a:spcAft>
              <a:defRPr/>
            </a:pPr>
            <a:r>
              <a:rPr lang="en-US" sz="2000" dirty="0" smtClean="0"/>
              <a:t>Foreclosures increased supply and caused U.S. real estate prices to fall. Products, created from the mortgages, that were previously thought to be safe began to be viewed as risky</a:t>
            </a:r>
          </a:p>
          <a:p>
            <a:pPr marL="457200" indent="-457200" eaLnBrk="1" hangingPunct="1">
              <a:spcAft>
                <a:spcPts val="600"/>
              </a:spcAft>
              <a:defRPr/>
            </a:pPr>
            <a:r>
              <a:rPr lang="en-US" sz="2000" dirty="0" smtClean="0"/>
              <a:t>There was a “flight to quality” and credit spreads increased to very high levels</a:t>
            </a:r>
          </a:p>
          <a:p>
            <a:pPr marL="457200" indent="-457200" eaLnBrk="1" hangingPunct="1">
              <a:spcAft>
                <a:spcPts val="600"/>
              </a:spcAft>
              <a:defRPr/>
            </a:pPr>
            <a:r>
              <a:rPr lang="en-CA" sz="2000" dirty="0" smtClean="0"/>
              <a:t>Many banks incurred huge losses</a:t>
            </a:r>
            <a:endParaRPr lang="en-US" sz="2000" dirty="0" smtClean="0"/>
          </a:p>
          <a:p>
            <a:pPr marL="457200" indent="-457200" eaLnBrk="1" hangingPunct="1">
              <a:spcAft>
                <a:spcPts val="600"/>
              </a:spcAft>
              <a:buFont typeface="Wingdings" panose="05000000000000000000" pitchFamily="2" charset="2"/>
              <a:buNone/>
              <a:defRPr/>
            </a:pPr>
            <a:endParaRPr lang="en-US" sz="2000" dirty="0" smtClean="0">
              <a:latin typeface="+mj-lt"/>
            </a:endParaRPr>
          </a:p>
          <a:p>
            <a:pPr marL="0" indent="0" eaLnBrk="1" hangingPunct="1">
              <a:spcAft>
                <a:spcPts val="600"/>
              </a:spcAft>
              <a:buFont typeface="Wingdings" panose="05000000000000000000" pitchFamily="2" charset="2"/>
              <a:buNone/>
              <a:defRPr/>
            </a:pPr>
            <a:endParaRPr lang="en-US" sz="2000" dirty="0" smtClean="0">
              <a:latin typeface="+mj-lt"/>
            </a:endParaRPr>
          </a:p>
        </p:txBody>
      </p:sp>
      <p:sp>
        <p:nvSpPr>
          <p:cNvPr id="31748"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a:cs typeface="Arial" panose="020B0604020202020204" pitchFamily="34" charset="0"/>
            </a:endParaRPr>
          </a:p>
        </p:txBody>
      </p:sp>
      <p:sp>
        <p:nvSpPr>
          <p:cNvPr id="317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A0314F2-A35B-4C8E-93A5-22F4BC2AE82F}" type="slidenum">
              <a:rPr lang="en-US" altLang="en-US" sz="1800"/>
              <a:pPr>
                <a:spcBef>
                  <a:spcPct val="0"/>
                </a:spcBef>
                <a:buClrTx/>
                <a:buSzTx/>
                <a:buFontTx/>
                <a:buNone/>
              </a:pPr>
              <a:t>9</a:t>
            </a:fld>
            <a:endParaRPr lang="en-US" altLang="en-US" sz="18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CA" altLang="en-US" sz="4000" smtClean="0"/>
              <a:t>What Many Market Participants Did Not Realize</a:t>
            </a:r>
            <a:endParaRPr lang="en-US" altLang="en-US" sz="4000" smtClean="0"/>
          </a:p>
        </p:txBody>
      </p:sp>
      <p:sp>
        <p:nvSpPr>
          <p:cNvPr id="33795" name="Content Placeholder 2"/>
          <p:cNvSpPr>
            <a:spLocks noGrp="1"/>
          </p:cNvSpPr>
          <p:nvPr>
            <p:ph idx="1"/>
          </p:nvPr>
        </p:nvSpPr>
        <p:spPr>
          <a:xfrm>
            <a:off x="250825" y="1916113"/>
            <a:ext cx="7772400" cy="3841750"/>
          </a:xfrm>
        </p:spPr>
        <p:txBody>
          <a:bodyPr/>
          <a:lstStyle/>
          <a:p>
            <a:pPr eaLnBrk="1" hangingPunct="1"/>
            <a:r>
              <a:rPr lang="en-CA" altLang="en-US" sz="2400" smtClean="0">
                <a:cs typeface="Arial" panose="020B0604020202020204" pitchFamily="34" charset="0"/>
              </a:rPr>
              <a:t>Default correlation goes up in stressed market conditions</a:t>
            </a:r>
          </a:p>
          <a:p>
            <a:pPr eaLnBrk="1" hangingPunct="1"/>
            <a:r>
              <a:rPr lang="en-CA" altLang="en-US" sz="2400" smtClean="0">
                <a:cs typeface="Arial" panose="020B0604020202020204" pitchFamily="34" charset="0"/>
              </a:rPr>
              <a:t>Recovery rates are less in stressed market conditions</a:t>
            </a:r>
          </a:p>
          <a:p>
            <a:pPr eaLnBrk="1" hangingPunct="1"/>
            <a:r>
              <a:rPr lang="en-CA" altLang="en-US" sz="2400" smtClean="0">
                <a:cs typeface="Arial" panose="020B0604020202020204" pitchFamily="34" charset="0"/>
              </a:rPr>
              <a:t>A tranche with a certain rating cannot be equated with a bond with the same rating. For example, the BBB tranches used to create ABS CDOs were typically about 1% wide and had “all or nothing” loss distributions (quite different from BBB bond) </a:t>
            </a:r>
          </a:p>
          <a:p>
            <a:pPr eaLnBrk="1" hangingPunct="1"/>
            <a:r>
              <a:rPr lang="en-CA" altLang="en-US" sz="2400" smtClean="0">
                <a:cs typeface="Arial" panose="020B0604020202020204" pitchFamily="34" charset="0"/>
              </a:rPr>
              <a:t>This is quite different from the loss distribution for a BBB bond from a BBB bond</a:t>
            </a:r>
          </a:p>
          <a:p>
            <a:pPr eaLnBrk="1" hangingPunct="1">
              <a:buFontTx/>
              <a:buNone/>
            </a:pPr>
            <a:endParaRPr lang="en-CA" altLang="en-US" smtClean="0">
              <a:cs typeface="Arial" panose="020B0604020202020204" pitchFamily="34" charset="0"/>
            </a:endParaRPr>
          </a:p>
        </p:txBody>
      </p:sp>
      <p:sp>
        <p:nvSpPr>
          <p:cNvPr id="33796"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a:cs typeface="Arial" panose="020B0604020202020204" pitchFamily="34" charset="0"/>
            </a:endParaRPr>
          </a:p>
        </p:txBody>
      </p:sp>
      <p:sp>
        <p:nvSpPr>
          <p:cNvPr id="337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C01C610-28B1-49BC-8AA1-614944F3753A}" type="slidenum">
              <a:rPr lang="en-US" altLang="en-US" sz="1800"/>
              <a:pPr>
                <a:spcBef>
                  <a:spcPct val="0"/>
                </a:spcBef>
                <a:buClrTx/>
                <a:buSzTx/>
                <a:buFontTx/>
                <a:buNone/>
              </a:pPr>
              <a:t>10</a:t>
            </a:fld>
            <a:endParaRPr lang="en-US" altLang="en-US" sz="18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CA" altLang="en-US" smtClean="0"/>
              <a:t>Regulatory Arbitrage</a:t>
            </a:r>
            <a:endParaRPr lang="en-US" altLang="en-US" smtClean="0"/>
          </a:p>
        </p:txBody>
      </p:sp>
      <p:sp>
        <p:nvSpPr>
          <p:cNvPr id="35843" name="Content Placeholder 2"/>
          <p:cNvSpPr>
            <a:spLocks noGrp="1"/>
          </p:cNvSpPr>
          <p:nvPr>
            <p:ph idx="1"/>
          </p:nvPr>
        </p:nvSpPr>
        <p:spPr/>
        <p:txBody>
          <a:bodyPr/>
          <a:lstStyle/>
          <a:p>
            <a:pPr eaLnBrk="1" hangingPunct="1"/>
            <a:r>
              <a:rPr lang="en-CA" altLang="en-US" smtClean="0">
                <a:cs typeface="Arial" panose="020B0604020202020204" pitchFamily="34" charset="0"/>
              </a:rPr>
              <a:t>The regulatory capital banks were required to keep for the tranches created from mortgages was less than that for the mortgages themselves</a:t>
            </a:r>
            <a:endParaRPr lang="en-US" altLang="en-US" smtClean="0">
              <a:cs typeface="Arial" panose="020B0604020202020204" pitchFamily="34" charset="0"/>
            </a:endParaRPr>
          </a:p>
        </p:txBody>
      </p:sp>
      <p:sp>
        <p:nvSpPr>
          <p:cNvPr id="3584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a:cs typeface="Arial" panose="020B0604020202020204" pitchFamily="34" charset="0"/>
            </a:endParaRPr>
          </a:p>
        </p:txBody>
      </p:sp>
      <p:sp>
        <p:nvSpPr>
          <p:cNvPr id="3584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BE4EB2D-72FF-4E85-BD78-E5041E8F5E16}" type="slidenum">
              <a:rPr lang="en-US" altLang="en-US" sz="1800"/>
              <a:pPr>
                <a:spcBef>
                  <a:spcPct val="0"/>
                </a:spcBef>
                <a:buClrTx/>
                <a:buSzTx/>
                <a:buFontTx/>
                <a:buNone/>
              </a:pPr>
              <a:t>11</a:t>
            </a:fld>
            <a:endParaRPr lang="en-US" altLang="en-US" sz="18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179388" y="3175"/>
            <a:ext cx="7772400" cy="914400"/>
          </a:xfrm>
        </p:spPr>
        <p:txBody>
          <a:bodyPr/>
          <a:lstStyle/>
          <a:p>
            <a:pPr eaLnBrk="1" hangingPunct="1"/>
            <a:r>
              <a:rPr lang="en-CA" altLang="en-US" smtClean="0"/>
              <a:t>Incentives</a:t>
            </a:r>
            <a:endParaRPr lang="en-US" altLang="en-US" smtClean="0"/>
          </a:p>
        </p:txBody>
      </p:sp>
      <p:sp>
        <p:nvSpPr>
          <p:cNvPr id="37891" name="Content Placeholder 2"/>
          <p:cNvSpPr>
            <a:spLocks noGrp="1"/>
          </p:cNvSpPr>
          <p:nvPr>
            <p:ph idx="1"/>
          </p:nvPr>
        </p:nvSpPr>
        <p:spPr>
          <a:xfrm>
            <a:off x="179388" y="1196975"/>
            <a:ext cx="7772400" cy="4346575"/>
          </a:xfrm>
        </p:spPr>
        <p:txBody>
          <a:bodyPr/>
          <a:lstStyle/>
          <a:p>
            <a:pPr eaLnBrk="1" hangingPunct="1"/>
            <a:r>
              <a:rPr lang="en-CA" altLang="en-US" smtClean="0">
                <a:cs typeface="Arial" panose="020B0604020202020204" pitchFamily="34" charset="0"/>
              </a:rPr>
              <a:t>The crisis highlighted what are referred to as agency costs:</a:t>
            </a:r>
          </a:p>
          <a:p>
            <a:pPr lvl="1" eaLnBrk="1" hangingPunct="1"/>
            <a:r>
              <a:rPr lang="en-CA" altLang="en-US" sz="2400" smtClean="0">
                <a:cs typeface="Arial" panose="020B0604020202020204" pitchFamily="34" charset="0"/>
              </a:rPr>
              <a:t>Mortgage originators (Their prime interest was in in originating mortgages that could be securitized) </a:t>
            </a:r>
          </a:p>
          <a:p>
            <a:pPr lvl="1" eaLnBrk="1" hangingPunct="1"/>
            <a:r>
              <a:rPr lang="en-CA" altLang="en-US" sz="2400" smtClean="0">
                <a:cs typeface="Arial" panose="020B0604020202020204" pitchFamily="34" charset="0"/>
              </a:rPr>
              <a:t>Valuers (They were under pressure to provide high valuations so that the loan-to-value ratios looked good)</a:t>
            </a:r>
          </a:p>
          <a:p>
            <a:pPr lvl="1" eaLnBrk="1" hangingPunct="1"/>
            <a:r>
              <a:rPr lang="en-CA" altLang="en-US" sz="2400" smtClean="0">
                <a:cs typeface="Arial" panose="020B0604020202020204" pitchFamily="34" charset="0"/>
              </a:rPr>
              <a:t>Traders (They were focused on the next end-of year bonus and not worried about any longer term problems in the market)</a:t>
            </a:r>
          </a:p>
        </p:txBody>
      </p:sp>
      <p:sp>
        <p:nvSpPr>
          <p:cNvPr id="37892"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a:cs typeface="Arial" panose="020B0604020202020204" pitchFamily="34" charset="0"/>
            </a:endParaRPr>
          </a:p>
        </p:txBody>
      </p:sp>
      <p:sp>
        <p:nvSpPr>
          <p:cNvPr id="378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E23BD9-5EBC-4067-A8AE-6874CD2491EB}" type="slidenum">
              <a:rPr lang="en-US" altLang="en-US" sz="1800"/>
              <a:pPr>
                <a:spcBef>
                  <a:spcPct val="0"/>
                </a:spcBef>
                <a:buClrTx/>
                <a:buSzTx/>
                <a:buFontTx/>
                <a:buNone/>
              </a:pPr>
              <a:t>12</a:t>
            </a:fld>
            <a:endParaRPr lang="en-US" altLang="en-US" sz="18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539750" y="-171450"/>
            <a:ext cx="7232650" cy="1130300"/>
          </a:xfrm>
        </p:spPr>
        <p:txBody>
          <a:bodyPr/>
          <a:lstStyle/>
          <a:p>
            <a:pPr eaLnBrk="1" hangingPunct="1"/>
            <a:r>
              <a:rPr lang="en-CA" altLang="en-US" smtClean="0"/>
              <a:t>The Aftermath…</a:t>
            </a:r>
            <a:endParaRPr lang="en-US" altLang="en-US" smtClean="0"/>
          </a:p>
        </p:txBody>
      </p:sp>
      <p:sp>
        <p:nvSpPr>
          <p:cNvPr id="39939" name="Content Placeholder 2"/>
          <p:cNvSpPr>
            <a:spLocks noGrp="1"/>
          </p:cNvSpPr>
          <p:nvPr>
            <p:ph idx="1"/>
          </p:nvPr>
        </p:nvSpPr>
        <p:spPr>
          <a:xfrm>
            <a:off x="250825" y="1484313"/>
            <a:ext cx="7772400" cy="4392612"/>
          </a:xfrm>
        </p:spPr>
        <p:txBody>
          <a:bodyPr/>
          <a:lstStyle/>
          <a:p>
            <a:pPr eaLnBrk="1" hangingPunct="1"/>
            <a:r>
              <a:rPr lang="en-CA" altLang="en-US" smtClean="0">
                <a:cs typeface="Arial" panose="020B0604020202020204" pitchFamily="34" charset="0"/>
              </a:rPr>
              <a:t>A huge amount of new regulation including:</a:t>
            </a:r>
          </a:p>
          <a:p>
            <a:pPr lvl="1" eaLnBrk="1" hangingPunct="1"/>
            <a:r>
              <a:rPr lang="en-CA" altLang="en-US" sz="2400" smtClean="0">
                <a:cs typeface="Arial" panose="020B0604020202020204" pitchFamily="34" charset="0"/>
              </a:rPr>
              <a:t>Banks required to hold more equity capital with the definition of equity capital being tightened</a:t>
            </a:r>
          </a:p>
          <a:p>
            <a:pPr lvl="1" eaLnBrk="1" hangingPunct="1"/>
            <a:r>
              <a:rPr lang="en-CA" altLang="en-US" sz="2400" smtClean="0">
                <a:cs typeface="Arial" panose="020B0604020202020204" pitchFamily="34" charset="0"/>
              </a:rPr>
              <a:t>Banks required to satisfy liquidity ratios</a:t>
            </a:r>
          </a:p>
          <a:p>
            <a:pPr lvl="1" eaLnBrk="1" hangingPunct="1"/>
            <a:r>
              <a:rPr lang="en-CA" altLang="en-US" sz="2400" smtClean="0">
                <a:cs typeface="Arial" panose="020B0604020202020204" pitchFamily="34" charset="0"/>
              </a:rPr>
              <a:t>CCPs and SEFs for OTC derivatives</a:t>
            </a:r>
          </a:p>
          <a:p>
            <a:pPr lvl="1" eaLnBrk="1" hangingPunct="1"/>
            <a:r>
              <a:rPr lang="en-CA" altLang="en-US" sz="2400" smtClean="0">
                <a:cs typeface="Arial" panose="020B0604020202020204" pitchFamily="34" charset="0"/>
              </a:rPr>
              <a:t>Bonuses limited in Europe</a:t>
            </a:r>
          </a:p>
          <a:p>
            <a:pPr lvl="1" eaLnBrk="1" hangingPunct="1"/>
            <a:r>
              <a:rPr lang="en-CA" altLang="en-US" sz="2400" smtClean="0">
                <a:cs typeface="Arial" panose="020B0604020202020204" pitchFamily="34" charset="0"/>
              </a:rPr>
              <a:t>Bonuses spread over several years</a:t>
            </a:r>
          </a:p>
          <a:p>
            <a:pPr lvl="1" eaLnBrk="1" hangingPunct="1"/>
            <a:r>
              <a:rPr lang="en-CA" altLang="en-US" sz="2400" smtClean="0">
                <a:cs typeface="Arial" panose="020B0604020202020204" pitchFamily="34" charset="0"/>
              </a:rPr>
              <a:t>Proprietary trading restricted </a:t>
            </a:r>
          </a:p>
          <a:p>
            <a:pPr eaLnBrk="1" hangingPunct="1"/>
            <a:endParaRPr lang="en-US" altLang="en-US" smtClean="0">
              <a:cs typeface="Arial" panose="020B0604020202020204" pitchFamily="34" charset="0"/>
            </a:endParaRPr>
          </a:p>
        </p:txBody>
      </p:sp>
      <p:sp>
        <p:nvSpPr>
          <p:cNvPr id="3994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en-US" sz="1400"/>
              <a:t>Fundamentals of Futures and Options Markets 9th Ed, Ch 8,  Copyright © John C. Hull 2016</a:t>
            </a:r>
            <a:endParaRPr lang="en-US" altLang="en-US" sz="1400">
              <a:cs typeface="Arial" panose="020B0604020202020204" pitchFamily="34" charset="0"/>
            </a:endParaRPr>
          </a:p>
        </p:txBody>
      </p:sp>
      <p:sp>
        <p:nvSpPr>
          <p:cNvPr id="3994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EDEDF72-9315-4189-ABFF-5F3B2F561F46}" type="slidenum">
              <a:rPr lang="en-US" altLang="en-US" sz="1800"/>
              <a:pPr>
                <a:spcBef>
                  <a:spcPct val="0"/>
                </a:spcBef>
                <a:buClrTx/>
                <a:buSzTx/>
                <a:buFontTx/>
                <a:buNone/>
              </a:pPr>
              <a:t>13</a:t>
            </a:fld>
            <a:endParaRPr lang="en-US" altLang="en-US" sz="18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ullRMFICh11">
  <a:themeElements>
    <a:clrScheme name="HullRMFICh1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1">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2075" tIns="46038" rIns="92075" bIns="46038"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HullRMFICh11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HullRMFICh11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HullRMFICh11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HullRMFICh11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HullRMFICh11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HullRMFICh11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HullRMFICh11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HullRMFICh11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HullRMFICh1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HullRMFICh11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HullRMFICh11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HullRMFICh11">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3" ma:contentTypeDescription="Create a new document." ma:contentTypeScope="" ma:versionID="14dc9d57259abab41c863f8d0f9e2276">
  <xsd:schema xmlns:xsd="http://www.w3.org/2001/XMLSchema" xmlns:xs="http://www.w3.org/2001/XMLSchema" xmlns:p="http://schemas.microsoft.com/office/2006/metadata/properties" xmlns:ns2="cd351f98-0ba7-41cd-87bd-5169e413bab1" targetNamespace="http://schemas.microsoft.com/office/2006/metadata/properties" ma:root="true" ma:fieldsID="f27d059874946e97d17eaa08f9af4415" ns2:_="">
    <xsd:import namespace="cd351f98-0ba7-41cd-87bd-5169e413ba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51f98-0ba7-41cd-87bd-5169e413ba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3E55202-0F48-44FA-A5E6-441CB489CF0A}"/>
</file>

<file path=customXml/itemProps2.xml><?xml version="1.0" encoding="utf-8"?>
<ds:datastoreItem xmlns:ds="http://schemas.openxmlformats.org/officeDocument/2006/customXml" ds:itemID="{704548A5-BBF9-4D58-86DD-D64E01CF7572}"/>
</file>

<file path=customXml/itemProps3.xml><?xml version="1.0" encoding="utf-8"?>
<ds:datastoreItem xmlns:ds="http://schemas.openxmlformats.org/officeDocument/2006/customXml" ds:itemID="{71C55F82-C563-4B6E-9181-45BE91D762C7}"/>
</file>

<file path=docProps/app.xml><?xml version="1.0" encoding="utf-8"?>
<Properties xmlns="http://schemas.openxmlformats.org/officeDocument/2006/extended-properties" xmlns:vt="http://schemas.openxmlformats.org/officeDocument/2006/docPropsVTypes">
  <Template>E:\RiskBook\slides\HullRMFICh11.ppt</Template>
  <TotalTime>455</TotalTime>
  <Pages>17</Pages>
  <Words>994</Words>
  <Application>Microsoft Office PowerPoint</Application>
  <PresentationFormat>Letter Paper (8.5x11 in)</PresentationFormat>
  <Paragraphs>145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Wingdings</vt:lpstr>
      <vt:lpstr>Wingdings 3</vt:lpstr>
      <vt:lpstr>HullRMFICh11</vt:lpstr>
      <vt:lpstr>Securitization and the Credit Crisis of 2007</vt:lpstr>
      <vt:lpstr>Securitization</vt:lpstr>
      <vt:lpstr>Asset Backed Security (Simplified) Figure 8.1, page 191  </vt:lpstr>
      <vt:lpstr>The Waterfall (Figure 8.2, page 192)</vt:lpstr>
      <vt:lpstr>ABS CDOs or Mezz CDOs (Simplified) (Figure 8.3, page 193)</vt:lpstr>
      <vt:lpstr>Losses to AAA Tranche of ABS CDO (Table 8.1, page 194)</vt:lpstr>
      <vt:lpstr>U.S. Real Estate Prices, 1987 to 2015: S&amp;P/Case-Shiller Composite-10 Index,  (Figure 8.4, page 195)</vt:lpstr>
      <vt:lpstr>What happened…</vt:lpstr>
      <vt:lpstr>What happened...</vt:lpstr>
      <vt:lpstr>What Many Market Participants Did Not Realize</vt:lpstr>
      <vt:lpstr>Regulatory Arbitrage</vt:lpstr>
      <vt:lpstr>Incentives</vt:lpstr>
      <vt:lpstr>The Aftermath…</vt:lpstr>
    </vt:vector>
  </TitlesOfParts>
  <Company>Rotman School of Management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Securitization and the Credit Crisis of 2007</dc:title>
  <dc:subject>Fundamentals of Futures and Options Markets, 9e</dc:subject>
  <dc:creator>John Hull</dc:creator>
  <cp:keywords>Chapter 8</cp:keywords>
  <dc:description>Copyright 2016 by John Hull.
All rights reserved. Published 2016</dc:description>
  <cp:lastModifiedBy>John Hull</cp:lastModifiedBy>
  <cp:revision>139</cp:revision>
  <cp:lastPrinted>1999-11-09T00:15:00Z</cp:lastPrinted>
  <dcterms:created xsi:type="dcterms:W3CDTF">1996-07-04T22:47:30Z</dcterms:created>
  <dcterms:modified xsi:type="dcterms:W3CDTF">2016-01-20T21:00:37Z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