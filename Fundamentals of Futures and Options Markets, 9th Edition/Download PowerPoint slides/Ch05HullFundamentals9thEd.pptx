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26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slideLayouts/slideLayout5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diagrams/drawing1.xml" ContentType="application/vnd.ms-office.drawingml.diagramDrawing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layout1.xml" ContentType="application/vnd.openxmlformats-officedocument.drawingml.diagram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8"/>
  </p:notesMasterIdLst>
  <p:handoutMasterIdLst>
    <p:handoutMasterId r:id="rId29"/>
  </p:handoutMasterIdLst>
  <p:sldIdLst>
    <p:sldId id="282" r:id="rId2"/>
    <p:sldId id="280" r:id="rId3"/>
    <p:sldId id="261" r:id="rId4"/>
    <p:sldId id="297" r:id="rId5"/>
    <p:sldId id="298" r:id="rId6"/>
    <p:sldId id="299" r:id="rId7"/>
    <p:sldId id="300" r:id="rId8"/>
    <p:sldId id="301" r:id="rId9"/>
    <p:sldId id="302" r:id="rId10"/>
    <p:sldId id="263" r:id="rId11"/>
    <p:sldId id="296" r:id="rId12"/>
    <p:sldId id="265" r:id="rId13"/>
    <p:sldId id="266" r:id="rId14"/>
    <p:sldId id="303" r:id="rId15"/>
    <p:sldId id="304" r:id="rId16"/>
    <p:sldId id="305" r:id="rId17"/>
    <p:sldId id="269" r:id="rId18"/>
    <p:sldId id="306" r:id="rId19"/>
    <p:sldId id="271" r:id="rId20"/>
    <p:sldId id="307" r:id="rId21"/>
    <p:sldId id="308" r:id="rId22"/>
    <p:sldId id="309" r:id="rId23"/>
    <p:sldId id="310" r:id="rId24"/>
    <p:sldId id="277" r:id="rId25"/>
    <p:sldId id="311" r:id="rId26"/>
    <p:sldId id="312" r:id="rId27"/>
  </p:sldIdLst>
  <p:sldSz cx="9144000" cy="6858000" type="screen4x3"/>
  <p:notesSz cx="69850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2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5" autoAdjust="0"/>
    <p:restoredTop sz="94681" autoAdjust="0"/>
  </p:normalViewPr>
  <p:slideViewPr>
    <p:cSldViewPr>
      <p:cViewPr varScale="1">
        <p:scale>
          <a:sx n="122" d="100"/>
          <a:sy n="122" d="100"/>
        </p:scale>
        <p:origin x="12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38"/>
    </p:cViewPr>
  </p:sorterViewPr>
  <p:notesViewPr>
    <p:cSldViewPr>
      <p:cViewPr varScale="1">
        <p:scale>
          <a:sx n="42" d="100"/>
          <a:sy n="42" d="100"/>
        </p:scale>
        <p:origin x="-1482" y="-108"/>
      </p:cViewPr>
      <p:guideLst>
        <p:guide orient="horz" pos="2924"/>
        <p:guide pos="22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AC6FFD-49CB-4FCF-B040-B274B46F493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C456E9-1F23-40F4-A0C0-599690028A05}">
      <dgm:prSet phldrT="[Text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CA" dirty="0" smtClean="0"/>
            <a:t>1000 units of foreign currency (time zero)</a:t>
          </a:r>
          <a:endParaRPr lang="en-US" dirty="0"/>
        </a:p>
      </dgm:t>
    </dgm:pt>
    <dgm:pt modelId="{B9A75C34-70B7-46CF-B742-A34CEB72E1CF}" type="parTrans" cxnId="{5FB7D5DC-F211-4F20-B7F7-DB7D7B6BB7FF}">
      <dgm:prSet/>
      <dgm:spPr/>
      <dgm:t>
        <a:bodyPr/>
        <a:lstStyle/>
        <a:p>
          <a:endParaRPr lang="en-US"/>
        </a:p>
      </dgm:t>
    </dgm:pt>
    <dgm:pt modelId="{6773B266-F471-41E9-A9DC-17A1C73A1A8B}" type="sibTrans" cxnId="{5FB7D5DC-F211-4F20-B7F7-DB7D7B6BB7FF}">
      <dgm:prSet/>
      <dgm:spPr/>
      <dgm:t>
        <a:bodyPr/>
        <a:lstStyle/>
        <a:p>
          <a:endParaRPr lang="en-US"/>
        </a:p>
      </dgm:t>
    </dgm:pt>
    <dgm:pt modelId="{2DCBC973-8623-4751-B772-FA192AC79386}">
      <dgm:prSet phldrT="[Text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 dirty="0"/>
        </a:p>
      </dgm:t>
    </dgm:pt>
    <dgm:pt modelId="{1BDDCF26-D63B-4315-8914-E8642DB9638C}" type="parTrans" cxnId="{4FE7EAEF-8F16-4138-A7D5-206CC72C6961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7C7A247F-BFF2-46F8-8090-FE61A89F65AD}" type="sibTrans" cxnId="{4FE7EAEF-8F16-4138-A7D5-206CC72C6961}">
      <dgm:prSet/>
      <dgm:spPr/>
      <dgm:t>
        <a:bodyPr/>
        <a:lstStyle/>
        <a:p>
          <a:endParaRPr lang="en-US"/>
        </a:p>
      </dgm:t>
    </dgm:pt>
    <dgm:pt modelId="{54555BFF-855B-4B48-9FBC-29221C7AFBF1}">
      <dgm:prSet phldrT="[Text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CA" dirty="0" smtClean="0"/>
            <a:t> </a:t>
          </a:r>
          <a:endParaRPr lang="en-US" dirty="0"/>
        </a:p>
      </dgm:t>
    </dgm:pt>
    <dgm:pt modelId="{980C2506-D51D-4E58-A56E-D8A031B6E2B9}" type="parTrans" cxnId="{2787F356-C59D-4F0F-817E-3695793F105F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4C29C622-8892-4E6E-94F5-E10FAEF94BEE}" type="sibTrans" cxnId="{2787F356-C59D-4F0F-817E-3695793F105F}">
      <dgm:prSet/>
      <dgm:spPr/>
      <dgm:t>
        <a:bodyPr/>
        <a:lstStyle/>
        <a:p>
          <a:endParaRPr lang="en-US"/>
        </a:p>
      </dgm:t>
    </dgm:pt>
    <dgm:pt modelId="{06A78CF3-B914-4C4F-B24C-4E260251E08E}">
      <dgm:prSet phldrT="[Text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CA" dirty="0" smtClean="0"/>
            <a:t>1000</a:t>
          </a:r>
          <a:r>
            <a:rPr lang="en-CA" i="1" dirty="0" smtClean="0">
              <a:latin typeface="+mj-lt"/>
            </a:rPr>
            <a:t>S</a:t>
          </a:r>
          <a:r>
            <a:rPr lang="en-CA" baseline="-25000" dirty="0" smtClean="0"/>
            <a:t>0</a:t>
          </a:r>
          <a:r>
            <a:rPr lang="en-CA" dirty="0" smtClean="0"/>
            <a:t> dollars at time zero</a:t>
          </a:r>
          <a:endParaRPr lang="en-US" i="1" dirty="0">
            <a:latin typeface="+mj-lt"/>
          </a:endParaRPr>
        </a:p>
      </dgm:t>
    </dgm:pt>
    <dgm:pt modelId="{F9D10819-3AEA-46B1-AD5D-93B2F04914DE}" type="parTrans" cxnId="{82DCF431-20BD-4887-8661-AB6B0AF31AF8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95E775FF-B3B1-43A8-AEA3-2AF08F7B28D7}" type="sibTrans" cxnId="{82DCF431-20BD-4887-8661-AB6B0AF31AF8}">
      <dgm:prSet/>
      <dgm:spPr/>
      <dgm:t>
        <a:bodyPr/>
        <a:lstStyle/>
        <a:p>
          <a:endParaRPr lang="en-US"/>
        </a:p>
      </dgm:t>
    </dgm:pt>
    <dgm:pt modelId="{CC7EC4A1-42C3-4EB3-B2D8-A1BEC6616CD2}">
      <dgm:prSet phldrT="[Text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CA" dirty="0" smtClean="0"/>
            <a:t>1000</a:t>
          </a:r>
          <a:r>
            <a:rPr lang="en-CA" i="1" dirty="0" smtClean="0">
              <a:latin typeface="+mj-lt"/>
            </a:rPr>
            <a:t>S</a:t>
          </a:r>
          <a:r>
            <a:rPr lang="en-CA" baseline="-25000" dirty="0" smtClean="0"/>
            <a:t>0</a:t>
          </a:r>
          <a:r>
            <a:rPr lang="en-CA" i="1" dirty="0" smtClean="0">
              <a:latin typeface="Times New Roman" pitchFamily="18" charset="0"/>
              <a:cs typeface="Times New Roman" pitchFamily="18" charset="0"/>
            </a:rPr>
            <a:t>e</a:t>
          </a:r>
          <a:r>
            <a:rPr lang="en-CA" i="1" baseline="30000" dirty="0" smtClean="0">
              <a:latin typeface="Times New Roman" pitchFamily="18" charset="0"/>
              <a:cs typeface="Times New Roman" pitchFamily="18" charset="0"/>
            </a:rPr>
            <a:t>rT</a:t>
          </a:r>
          <a:r>
            <a:rPr lang="en-CA" i="1" baseline="0" dirty="0" smtClean="0">
              <a:latin typeface="Times New Roman" pitchFamily="18" charset="0"/>
              <a:cs typeface="Times New Roman" pitchFamily="18" charset="0"/>
            </a:rPr>
            <a:t> </a:t>
          </a:r>
        </a:p>
        <a:p>
          <a:r>
            <a:rPr lang="en-CA" baseline="0" dirty="0" smtClean="0"/>
            <a:t>dollars at time </a:t>
          </a:r>
          <a:r>
            <a:rPr lang="en-CA" i="1" baseline="0" dirty="0" smtClean="0">
              <a:latin typeface="+mj-lt"/>
            </a:rPr>
            <a:t>T</a:t>
          </a:r>
          <a:endParaRPr lang="en-US" i="1" dirty="0">
            <a:latin typeface="+mj-lt"/>
          </a:endParaRPr>
        </a:p>
      </dgm:t>
    </dgm:pt>
    <dgm:pt modelId="{C40CC0B4-96BE-4672-8BC0-E957054803B5}" type="parTrans" cxnId="{ECB3F0CA-2079-4B79-A890-282D4AD1491D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C9E6C97A-B963-4927-BFA0-424AAAB46066}" type="sibTrans" cxnId="{ECB3F0CA-2079-4B79-A890-282D4AD1491D}">
      <dgm:prSet/>
      <dgm:spPr/>
      <dgm:t>
        <a:bodyPr/>
        <a:lstStyle/>
        <a:p>
          <a:endParaRPr lang="en-US"/>
        </a:p>
      </dgm:t>
    </dgm:pt>
    <dgm:pt modelId="{6CBCDC4A-8E68-46F8-A51E-784F18D80C87}" type="pres">
      <dgm:prSet presAssocID="{1EAC6FFD-49CB-4FCF-B040-B274B46F493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AE63824-9501-4916-BBA8-9FD972DAE79F}" type="pres">
      <dgm:prSet presAssocID="{D2C456E9-1F23-40F4-A0C0-599690028A05}" presName="hierRoot1" presStyleCnt="0"/>
      <dgm:spPr/>
    </dgm:pt>
    <dgm:pt modelId="{86054DA5-F047-469B-9436-C60918A63B85}" type="pres">
      <dgm:prSet presAssocID="{D2C456E9-1F23-40F4-A0C0-599690028A05}" presName="composite" presStyleCnt="0"/>
      <dgm:spPr/>
    </dgm:pt>
    <dgm:pt modelId="{5B5CA966-9C88-40B8-AD4A-90D9FE46EFA7}" type="pres">
      <dgm:prSet presAssocID="{D2C456E9-1F23-40F4-A0C0-599690028A05}" presName="background" presStyleLbl="node0" presStyleIdx="0" presStyleCnt="1"/>
      <dgm:spPr/>
    </dgm:pt>
    <dgm:pt modelId="{C691C0BF-90A1-4085-AD15-A86AF65CB255}" type="pres">
      <dgm:prSet presAssocID="{D2C456E9-1F23-40F4-A0C0-599690028A05}" presName="text" presStyleLbl="fgAcc0" presStyleIdx="0" presStyleCnt="1" custScaleX="189363" custScaleY="1670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D485BEC-7E4D-4052-A14A-365531E5AC3B}" type="pres">
      <dgm:prSet presAssocID="{D2C456E9-1F23-40F4-A0C0-599690028A05}" presName="hierChild2" presStyleCnt="0"/>
      <dgm:spPr/>
    </dgm:pt>
    <dgm:pt modelId="{843F1A89-D2B5-4E29-8688-0A03FE61D59E}" type="pres">
      <dgm:prSet presAssocID="{1BDDCF26-D63B-4315-8914-E8642DB9638C}" presName="Name10" presStyleLbl="parChTrans1D2" presStyleIdx="0" presStyleCnt="2"/>
      <dgm:spPr/>
      <dgm:t>
        <a:bodyPr/>
        <a:lstStyle/>
        <a:p>
          <a:endParaRPr lang="en-US"/>
        </a:p>
      </dgm:t>
    </dgm:pt>
    <dgm:pt modelId="{EC6B28DC-1DFC-426F-8ED5-62167D80AF4B}" type="pres">
      <dgm:prSet presAssocID="{2DCBC973-8623-4751-B772-FA192AC79386}" presName="hierRoot2" presStyleCnt="0"/>
      <dgm:spPr/>
    </dgm:pt>
    <dgm:pt modelId="{FAE60C67-E8B9-4B60-87E5-214F6C3DBC82}" type="pres">
      <dgm:prSet presAssocID="{2DCBC973-8623-4751-B772-FA192AC79386}" presName="composite2" presStyleCnt="0"/>
      <dgm:spPr/>
    </dgm:pt>
    <dgm:pt modelId="{84CD3C78-E1E5-4B69-82C8-0D9149C36219}" type="pres">
      <dgm:prSet presAssocID="{2DCBC973-8623-4751-B772-FA192AC79386}" presName="background2" presStyleLbl="node2" presStyleIdx="0" presStyleCnt="2"/>
      <dgm:spPr>
        <a:ln>
          <a:solidFill>
            <a:schemeClr val="tx1">
              <a:lumMod val="95000"/>
              <a:lumOff val="5000"/>
            </a:schemeClr>
          </a:solidFill>
        </a:ln>
      </dgm:spPr>
    </dgm:pt>
    <dgm:pt modelId="{8DB52308-AFE0-47F3-A13D-ABB029B2DEF4}" type="pres">
      <dgm:prSet presAssocID="{2DCBC973-8623-4751-B772-FA192AC79386}" presName="text2" presStyleLbl="fgAcc2" presStyleIdx="0" presStyleCnt="2" custScaleX="193138" custScaleY="194331" custLinFactNeighborX="-60847" custLinFactNeighborY="-354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2293AA9-4B77-45BB-9E7C-527328D4F107}" type="pres">
      <dgm:prSet presAssocID="{2DCBC973-8623-4751-B772-FA192AC79386}" presName="hierChild3" presStyleCnt="0"/>
      <dgm:spPr/>
    </dgm:pt>
    <dgm:pt modelId="{C1B75C27-9234-425E-871B-5086738E090F}" type="pres">
      <dgm:prSet presAssocID="{980C2506-D51D-4E58-A56E-D8A031B6E2B9}" presName="Name17" presStyleLbl="parChTrans1D3" presStyleIdx="0" presStyleCnt="2"/>
      <dgm:spPr/>
      <dgm:t>
        <a:bodyPr/>
        <a:lstStyle/>
        <a:p>
          <a:endParaRPr lang="en-US"/>
        </a:p>
      </dgm:t>
    </dgm:pt>
    <dgm:pt modelId="{3FDF23A5-4F6F-41A0-9F28-1CBACB9ED708}" type="pres">
      <dgm:prSet presAssocID="{54555BFF-855B-4B48-9FBC-29221C7AFBF1}" presName="hierRoot3" presStyleCnt="0"/>
      <dgm:spPr/>
    </dgm:pt>
    <dgm:pt modelId="{0AFB7CB4-3860-4DA6-9BF7-64C26547A752}" type="pres">
      <dgm:prSet presAssocID="{54555BFF-855B-4B48-9FBC-29221C7AFBF1}" presName="composite3" presStyleCnt="0"/>
      <dgm:spPr/>
    </dgm:pt>
    <dgm:pt modelId="{1BF95AC8-1A06-4900-AAE7-5C0CB96DF5B2}" type="pres">
      <dgm:prSet presAssocID="{54555BFF-855B-4B48-9FBC-29221C7AFBF1}" presName="background3" presStyleLbl="node3" presStyleIdx="0" presStyleCnt="2"/>
      <dgm:spPr>
        <a:ln>
          <a:solidFill>
            <a:schemeClr val="tx1">
              <a:lumMod val="95000"/>
              <a:lumOff val="5000"/>
            </a:schemeClr>
          </a:solidFill>
        </a:ln>
      </dgm:spPr>
    </dgm:pt>
    <dgm:pt modelId="{D7F14F16-6FC3-4325-B853-BB28EB65472F}" type="pres">
      <dgm:prSet presAssocID="{54555BFF-855B-4B48-9FBC-29221C7AFBF1}" presName="text3" presStyleLbl="fgAcc3" presStyleIdx="0" presStyleCnt="2" custScaleX="202358" custScaleY="161852" custLinFactNeighborX="-67584" custLinFactNeighborY="750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7CBDC2D-4BB2-42C5-9CDD-E6D828FF5D59}" type="pres">
      <dgm:prSet presAssocID="{54555BFF-855B-4B48-9FBC-29221C7AFBF1}" presName="hierChild4" presStyleCnt="0"/>
      <dgm:spPr/>
    </dgm:pt>
    <dgm:pt modelId="{7704705F-136D-4A2D-9361-F8ABBFB86B8C}" type="pres">
      <dgm:prSet presAssocID="{F9D10819-3AEA-46B1-AD5D-93B2F04914DE}" presName="Name10" presStyleLbl="parChTrans1D2" presStyleIdx="1" presStyleCnt="2"/>
      <dgm:spPr/>
      <dgm:t>
        <a:bodyPr/>
        <a:lstStyle/>
        <a:p>
          <a:endParaRPr lang="en-US"/>
        </a:p>
      </dgm:t>
    </dgm:pt>
    <dgm:pt modelId="{32B20463-0CB7-4EA8-9B1A-6F52506F7736}" type="pres">
      <dgm:prSet presAssocID="{06A78CF3-B914-4C4F-B24C-4E260251E08E}" presName="hierRoot2" presStyleCnt="0"/>
      <dgm:spPr/>
    </dgm:pt>
    <dgm:pt modelId="{409CB35B-C9DE-444F-944F-88CE317F31F9}" type="pres">
      <dgm:prSet presAssocID="{06A78CF3-B914-4C4F-B24C-4E260251E08E}" presName="composite2" presStyleCnt="0"/>
      <dgm:spPr/>
    </dgm:pt>
    <dgm:pt modelId="{6870CD66-325E-4424-9464-17A094022F50}" type="pres">
      <dgm:prSet presAssocID="{06A78CF3-B914-4C4F-B24C-4E260251E08E}" presName="background2" presStyleLbl="node2" presStyleIdx="1" presStyleCnt="2"/>
      <dgm:spPr>
        <a:ln>
          <a:solidFill>
            <a:schemeClr val="tx1">
              <a:lumMod val="95000"/>
              <a:lumOff val="5000"/>
            </a:schemeClr>
          </a:solidFill>
        </a:ln>
      </dgm:spPr>
    </dgm:pt>
    <dgm:pt modelId="{7B7953CF-ECAE-46B9-9472-A1C15636114E}" type="pres">
      <dgm:prSet presAssocID="{06A78CF3-B914-4C4F-B24C-4E260251E08E}" presName="text2" presStyleLbl="fgAcc2" presStyleIdx="1" presStyleCnt="2" custScaleX="175631" custScaleY="186618" custLinFactNeighborX="39595" custLinFactNeighborY="-435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A8AE814-C2AE-4905-A3FE-C5D47004D8C1}" type="pres">
      <dgm:prSet presAssocID="{06A78CF3-B914-4C4F-B24C-4E260251E08E}" presName="hierChild3" presStyleCnt="0"/>
      <dgm:spPr/>
    </dgm:pt>
    <dgm:pt modelId="{52C6099C-BC9C-4626-BF10-FAD8323AC4C1}" type="pres">
      <dgm:prSet presAssocID="{C40CC0B4-96BE-4672-8BC0-E957054803B5}" presName="Name17" presStyleLbl="parChTrans1D3" presStyleIdx="1" presStyleCnt="2"/>
      <dgm:spPr/>
      <dgm:t>
        <a:bodyPr/>
        <a:lstStyle/>
        <a:p>
          <a:endParaRPr lang="en-US"/>
        </a:p>
      </dgm:t>
    </dgm:pt>
    <dgm:pt modelId="{0CBF9522-D792-489F-BB3B-0F52074ADC4A}" type="pres">
      <dgm:prSet presAssocID="{CC7EC4A1-42C3-4EB3-B2D8-A1BEC6616CD2}" presName="hierRoot3" presStyleCnt="0"/>
      <dgm:spPr/>
    </dgm:pt>
    <dgm:pt modelId="{02472670-9FBC-43FA-87A3-CF7A9E4C3B41}" type="pres">
      <dgm:prSet presAssocID="{CC7EC4A1-42C3-4EB3-B2D8-A1BEC6616CD2}" presName="composite3" presStyleCnt="0"/>
      <dgm:spPr/>
    </dgm:pt>
    <dgm:pt modelId="{14681F12-D849-427C-A0CF-AE0C4FE7FDD1}" type="pres">
      <dgm:prSet presAssocID="{CC7EC4A1-42C3-4EB3-B2D8-A1BEC6616CD2}" presName="background3" presStyleLbl="node3" presStyleIdx="1" presStyleCnt="2"/>
      <dgm:spPr>
        <a:ln>
          <a:solidFill>
            <a:schemeClr val="tx1">
              <a:lumMod val="95000"/>
              <a:lumOff val="5000"/>
            </a:schemeClr>
          </a:solidFill>
        </a:ln>
      </dgm:spPr>
    </dgm:pt>
    <dgm:pt modelId="{C71732E4-EE4E-42E9-95BF-515D9FA8BA9D}" type="pres">
      <dgm:prSet presAssocID="{CC7EC4A1-42C3-4EB3-B2D8-A1BEC6616CD2}" presName="text3" presStyleLbl="fgAcc3" presStyleIdx="1" presStyleCnt="2" custScaleX="200693" custScaleY="171223" custLinFactNeighborX="50050" custLinFactNeighborY="316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00FFAE6-2B7E-43AC-B3FC-1EED5F749642}" type="pres">
      <dgm:prSet presAssocID="{CC7EC4A1-42C3-4EB3-B2D8-A1BEC6616CD2}" presName="hierChild4" presStyleCnt="0"/>
      <dgm:spPr/>
    </dgm:pt>
  </dgm:ptLst>
  <dgm:cxnLst>
    <dgm:cxn modelId="{303DE724-F867-4AAC-A48E-001FF28EB442}" type="presOf" srcId="{54555BFF-855B-4B48-9FBC-29221C7AFBF1}" destId="{D7F14F16-6FC3-4325-B853-BB28EB65472F}" srcOrd="0" destOrd="0" presId="urn:microsoft.com/office/officeart/2005/8/layout/hierarchy1"/>
    <dgm:cxn modelId="{7B71CC33-11B1-4EFC-B399-2FE77802E738}" type="presOf" srcId="{1BDDCF26-D63B-4315-8914-E8642DB9638C}" destId="{843F1A89-D2B5-4E29-8688-0A03FE61D59E}" srcOrd="0" destOrd="0" presId="urn:microsoft.com/office/officeart/2005/8/layout/hierarchy1"/>
    <dgm:cxn modelId="{629447B7-8DDE-42D6-8677-742985D63DEC}" type="presOf" srcId="{980C2506-D51D-4E58-A56E-D8A031B6E2B9}" destId="{C1B75C27-9234-425E-871B-5086738E090F}" srcOrd="0" destOrd="0" presId="urn:microsoft.com/office/officeart/2005/8/layout/hierarchy1"/>
    <dgm:cxn modelId="{C99D51F1-3176-4B66-8CCE-4AA283D54F2B}" type="presOf" srcId="{2DCBC973-8623-4751-B772-FA192AC79386}" destId="{8DB52308-AFE0-47F3-A13D-ABB029B2DEF4}" srcOrd="0" destOrd="0" presId="urn:microsoft.com/office/officeart/2005/8/layout/hierarchy1"/>
    <dgm:cxn modelId="{857167DD-821F-4EEE-87A3-C8EF13A46DA2}" type="presOf" srcId="{C40CC0B4-96BE-4672-8BC0-E957054803B5}" destId="{52C6099C-BC9C-4626-BF10-FAD8323AC4C1}" srcOrd="0" destOrd="0" presId="urn:microsoft.com/office/officeart/2005/8/layout/hierarchy1"/>
    <dgm:cxn modelId="{5FB7D5DC-F211-4F20-B7F7-DB7D7B6BB7FF}" srcId="{1EAC6FFD-49CB-4FCF-B040-B274B46F493D}" destId="{D2C456E9-1F23-40F4-A0C0-599690028A05}" srcOrd="0" destOrd="0" parTransId="{B9A75C34-70B7-46CF-B742-A34CEB72E1CF}" sibTransId="{6773B266-F471-41E9-A9DC-17A1C73A1A8B}"/>
    <dgm:cxn modelId="{ECB3F0CA-2079-4B79-A890-282D4AD1491D}" srcId="{06A78CF3-B914-4C4F-B24C-4E260251E08E}" destId="{CC7EC4A1-42C3-4EB3-B2D8-A1BEC6616CD2}" srcOrd="0" destOrd="0" parTransId="{C40CC0B4-96BE-4672-8BC0-E957054803B5}" sibTransId="{C9E6C97A-B963-4927-BFA0-424AAAB46066}"/>
    <dgm:cxn modelId="{2787F356-C59D-4F0F-817E-3695793F105F}" srcId="{2DCBC973-8623-4751-B772-FA192AC79386}" destId="{54555BFF-855B-4B48-9FBC-29221C7AFBF1}" srcOrd="0" destOrd="0" parTransId="{980C2506-D51D-4E58-A56E-D8A031B6E2B9}" sibTransId="{4C29C622-8892-4E6E-94F5-E10FAEF94BEE}"/>
    <dgm:cxn modelId="{E87D0561-DD19-4179-99F4-31A6E453EF1C}" type="presOf" srcId="{1EAC6FFD-49CB-4FCF-B040-B274B46F493D}" destId="{6CBCDC4A-8E68-46F8-A51E-784F18D80C87}" srcOrd="0" destOrd="0" presId="urn:microsoft.com/office/officeart/2005/8/layout/hierarchy1"/>
    <dgm:cxn modelId="{55AE81C4-AA7B-4C11-8D42-C031911DC3AA}" type="presOf" srcId="{06A78CF3-B914-4C4F-B24C-4E260251E08E}" destId="{7B7953CF-ECAE-46B9-9472-A1C15636114E}" srcOrd="0" destOrd="0" presId="urn:microsoft.com/office/officeart/2005/8/layout/hierarchy1"/>
    <dgm:cxn modelId="{82DCF431-20BD-4887-8661-AB6B0AF31AF8}" srcId="{D2C456E9-1F23-40F4-A0C0-599690028A05}" destId="{06A78CF3-B914-4C4F-B24C-4E260251E08E}" srcOrd="1" destOrd="0" parTransId="{F9D10819-3AEA-46B1-AD5D-93B2F04914DE}" sibTransId="{95E775FF-B3B1-43A8-AEA3-2AF08F7B28D7}"/>
    <dgm:cxn modelId="{126963AA-8F19-4CEE-8A6E-8E8AF8EF66E2}" type="presOf" srcId="{F9D10819-3AEA-46B1-AD5D-93B2F04914DE}" destId="{7704705F-136D-4A2D-9361-F8ABBFB86B8C}" srcOrd="0" destOrd="0" presId="urn:microsoft.com/office/officeart/2005/8/layout/hierarchy1"/>
    <dgm:cxn modelId="{044487F8-2074-44F6-9D95-905843E4A9DA}" type="presOf" srcId="{D2C456E9-1F23-40F4-A0C0-599690028A05}" destId="{C691C0BF-90A1-4085-AD15-A86AF65CB255}" srcOrd="0" destOrd="0" presId="urn:microsoft.com/office/officeart/2005/8/layout/hierarchy1"/>
    <dgm:cxn modelId="{4FE7EAEF-8F16-4138-A7D5-206CC72C6961}" srcId="{D2C456E9-1F23-40F4-A0C0-599690028A05}" destId="{2DCBC973-8623-4751-B772-FA192AC79386}" srcOrd="0" destOrd="0" parTransId="{1BDDCF26-D63B-4315-8914-E8642DB9638C}" sibTransId="{7C7A247F-BFF2-46F8-8090-FE61A89F65AD}"/>
    <dgm:cxn modelId="{D2E84747-3440-4D0F-82A7-668733297D8D}" type="presOf" srcId="{CC7EC4A1-42C3-4EB3-B2D8-A1BEC6616CD2}" destId="{C71732E4-EE4E-42E9-95BF-515D9FA8BA9D}" srcOrd="0" destOrd="0" presId="urn:microsoft.com/office/officeart/2005/8/layout/hierarchy1"/>
    <dgm:cxn modelId="{F52C588C-9988-4A75-9D8B-8F687C1090CF}" type="presParOf" srcId="{6CBCDC4A-8E68-46F8-A51E-784F18D80C87}" destId="{EAE63824-9501-4916-BBA8-9FD972DAE79F}" srcOrd="0" destOrd="0" presId="urn:microsoft.com/office/officeart/2005/8/layout/hierarchy1"/>
    <dgm:cxn modelId="{12A218CD-ECCB-4820-BBC5-FFD2C368A44A}" type="presParOf" srcId="{EAE63824-9501-4916-BBA8-9FD972DAE79F}" destId="{86054DA5-F047-469B-9436-C60918A63B85}" srcOrd="0" destOrd="0" presId="urn:microsoft.com/office/officeart/2005/8/layout/hierarchy1"/>
    <dgm:cxn modelId="{662C2414-00ED-4784-B0CC-30F06A216518}" type="presParOf" srcId="{86054DA5-F047-469B-9436-C60918A63B85}" destId="{5B5CA966-9C88-40B8-AD4A-90D9FE46EFA7}" srcOrd="0" destOrd="0" presId="urn:microsoft.com/office/officeart/2005/8/layout/hierarchy1"/>
    <dgm:cxn modelId="{463EF162-1907-43D7-B4B0-8BDAC009E5FF}" type="presParOf" srcId="{86054DA5-F047-469B-9436-C60918A63B85}" destId="{C691C0BF-90A1-4085-AD15-A86AF65CB255}" srcOrd="1" destOrd="0" presId="urn:microsoft.com/office/officeart/2005/8/layout/hierarchy1"/>
    <dgm:cxn modelId="{E014EB1A-223C-4318-BEC8-80E0FF04631E}" type="presParOf" srcId="{EAE63824-9501-4916-BBA8-9FD972DAE79F}" destId="{2D485BEC-7E4D-4052-A14A-365531E5AC3B}" srcOrd="1" destOrd="0" presId="urn:microsoft.com/office/officeart/2005/8/layout/hierarchy1"/>
    <dgm:cxn modelId="{D271DF7C-7335-49DC-B797-B03D059D3F61}" type="presParOf" srcId="{2D485BEC-7E4D-4052-A14A-365531E5AC3B}" destId="{843F1A89-D2B5-4E29-8688-0A03FE61D59E}" srcOrd="0" destOrd="0" presId="urn:microsoft.com/office/officeart/2005/8/layout/hierarchy1"/>
    <dgm:cxn modelId="{72597402-0BCB-4FC7-853C-2A8FF17BF3AB}" type="presParOf" srcId="{2D485BEC-7E4D-4052-A14A-365531E5AC3B}" destId="{EC6B28DC-1DFC-426F-8ED5-62167D80AF4B}" srcOrd="1" destOrd="0" presId="urn:microsoft.com/office/officeart/2005/8/layout/hierarchy1"/>
    <dgm:cxn modelId="{6D4DA81C-A71F-4F88-8A59-C352E58C81CA}" type="presParOf" srcId="{EC6B28DC-1DFC-426F-8ED5-62167D80AF4B}" destId="{FAE60C67-E8B9-4B60-87E5-214F6C3DBC82}" srcOrd="0" destOrd="0" presId="urn:microsoft.com/office/officeart/2005/8/layout/hierarchy1"/>
    <dgm:cxn modelId="{F09F8AA5-23E4-44FB-9D36-6E77BE1ADDF2}" type="presParOf" srcId="{FAE60C67-E8B9-4B60-87E5-214F6C3DBC82}" destId="{84CD3C78-E1E5-4B69-82C8-0D9149C36219}" srcOrd="0" destOrd="0" presId="urn:microsoft.com/office/officeart/2005/8/layout/hierarchy1"/>
    <dgm:cxn modelId="{1B5AD9AD-12BA-499C-95BB-97329254F01B}" type="presParOf" srcId="{FAE60C67-E8B9-4B60-87E5-214F6C3DBC82}" destId="{8DB52308-AFE0-47F3-A13D-ABB029B2DEF4}" srcOrd="1" destOrd="0" presId="urn:microsoft.com/office/officeart/2005/8/layout/hierarchy1"/>
    <dgm:cxn modelId="{5AEB1524-FB9A-45D4-9498-E5DB27DE3087}" type="presParOf" srcId="{EC6B28DC-1DFC-426F-8ED5-62167D80AF4B}" destId="{72293AA9-4B77-45BB-9E7C-527328D4F107}" srcOrd="1" destOrd="0" presId="urn:microsoft.com/office/officeart/2005/8/layout/hierarchy1"/>
    <dgm:cxn modelId="{DFC9030D-07D7-4615-9E8D-20A42DFAA89E}" type="presParOf" srcId="{72293AA9-4B77-45BB-9E7C-527328D4F107}" destId="{C1B75C27-9234-425E-871B-5086738E090F}" srcOrd="0" destOrd="0" presId="urn:microsoft.com/office/officeart/2005/8/layout/hierarchy1"/>
    <dgm:cxn modelId="{E6AF525E-F692-4173-BE8A-330FC65EEA25}" type="presParOf" srcId="{72293AA9-4B77-45BB-9E7C-527328D4F107}" destId="{3FDF23A5-4F6F-41A0-9F28-1CBACB9ED708}" srcOrd="1" destOrd="0" presId="urn:microsoft.com/office/officeart/2005/8/layout/hierarchy1"/>
    <dgm:cxn modelId="{CD815499-5AAA-41E9-80B7-862D59A90CC2}" type="presParOf" srcId="{3FDF23A5-4F6F-41A0-9F28-1CBACB9ED708}" destId="{0AFB7CB4-3860-4DA6-9BF7-64C26547A752}" srcOrd="0" destOrd="0" presId="urn:microsoft.com/office/officeart/2005/8/layout/hierarchy1"/>
    <dgm:cxn modelId="{8F43E3CF-A710-4868-AF24-73F182D36996}" type="presParOf" srcId="{0AFB7CB4-3860-4DA6-9BF7-64C26547A752}" destId="{1BF95AC8-1A06-4900-AAE7-5C0CB96DF5B2}" srcOrd="0" destOrd="0" presId="urn:microsoft.com/office/officeart/2005/8/layout/hierarchy1"/>
    <dgm:cxn modelId="{6C6D7638-DD6F-4C32-8D8C-82EE7826EF79}" type="presParOf" srcId="{0AFB7CB4-3860-4DA6-9BF7-64C26547A752}" destId="{D7F14F16-6FC3-4325-B853-BB28EB65472F}" srcOrd="1" destOrd="0" presId="urn:microsoft.com/office/officeart/2005/8/layout/hierarchy1"/>
    <dgm:cxn modelId="{862F9228-4860-428A-B283-D9F39CEE55F8}" type="presParOf" srcId="{3FDF23A5-4F6F-41A0-9F28-1CBACB9ED708}" destId="{27CBDC2D-4BB2-42C5-9CDD-E6D828FF5D59}" srcOrd="1" destOrd="0" presId="urn:microsoft.com/office/officeart/2005/8/layout/hierarchy1"/>
    <dgm:cxn modelId="{609CD1BF-178A-45B3-881A-8281ED66EE7D}" type="presParOf" srcId="{2D485BEC-7E4D-4052-A14A-365531E5AC3B}" destId="{7704705F-136D-4A2D-9361-F8ABBFB86B8C}" srcOrd="2" destOrd="0" presId="urn:microsoft.com/office/officeart/2005/8/layout/hierarchy1"/>
    <dgm:cxn modelId="{D51627FA-4ED3-45AA-AF64-6D791E552039}" type="presParOf" srcId="{2D485BEC-7E4D-4052-A14A-365531E5AC3B}" destId="{32B20463-0CB7-4EA8-9B1A-6F52506F7736}" srcOrd="3" destOrd="0" presId="urn:microsoft.com/office/officeart/2005/8/layout/hierarchy1"/>
    <dgm:cxn modelId="{191D294F-306E-4665-ABB7-06988AA974F7}" type="presParOf" srcId="{32B20463-0CB7-4EA8-9B1A-6F52506F7736}" destId="{409CB35B-C9DE-444F-944F-88CE317F31F9}" srcOrd="0" destOrd="0" presId="urn:microsoft.com/office/officeart/2005/8/layout/hierarchy1"/>
    <dgm:cxn modelId="{29C743DF-FED6-41DA-9C15-659194A7F90B}" type="presParOf" srcId="{409CB35B-C9DE-444F-944F-88CE317F31F9}" destId="{6870CD66-325E-4424-9464-17A094022F50}" srcOrd="0" destOrd="0" presId="urn:microsoft.com/office/officeart/2005/8/layout/hierarchy1"/>
    <dgm:cxn modelId="{12724738-FDE7-4BF0-BCE4-E7736EF5CAD5}" type="presParOf" srcId="{409CB35B-C9DE-444F-944F-88CE317F31F9}" destId="{7B7953CF-ECAE-46B9-9472-A1C15636114E}" srcOrd="1" destOrd="0" presId="urn:microsoft.com/office/officeart/2005/8/layout/hierarchy1"/>
    <dgm:cxn modelId="{C4C5407B-53ED-468B-B009-D8A501CDF212}" type="presParOf" srcId="{32B20463-0CB7-4EA8-9B1A-6F52506F7736}" destId="{FA8AE814-C2AE-4905-A3FE-C5D47004D8C1}" srcOrd="1" destOrd="0" presId="urn:microsoft.com/office/officeart/2005/8/layout/hierarchy1"/>
    <dgm:cxn modelId="{664EC724-D3CC-41A9-A61E-6CB400A6B3A8}" type="presParOf" srcId="{FA8AE814-C2AE-4905-A3FE-C5D47004D8C1}" destId="{52C6099C-BC9C-4626-BF10-FAD8323AC4C1}" srcOrd="0" destOrd="0" presId="urn:microsoft.com/office/officeart/2005/8/layout/hierarchy1"/>
    <dgm:cxn modelId="{ED40FF18-DB2C-4B29-8A7D-DDB7CF6B5F97}" type="presParOf" srcId="{FA8AE814-C2AE-4905-A3FE-C5D47004D8C1}" destId="{0CBF9522-D792-489F-BB3B-0F52074ADC4A}" srcOrd="1" destOrd="0" presId="urn:microsoft.com/office/officeart/2005/8/layout/hierarchy1"/>
    <dgm:cxn modelId="{0DFE1DED-8621-48EA-B173-ED2096E97DE7}" type="presParOf" srcId="{0CBF9522-D792-489F-BB3B-0F52074ADC4A}" destId="{02472670-9FBC-43FA-87A3-CF7A9E4C3B41}" srcOrd="0" destOrd="0" presId="urn:microsoft.com/office/officeart/2005/8/layout/hierarchy1"/>
    <dgm:cxn modelId="{0DEDB353-6879-4E00-962E-917C4C273527}" type="presParOf" srcId="{02472670-9FBC-43FA-87A3-CF7A9E4C3B41}" destId="{14681F12-D849-427C-A0CF-AE0C4FE7FDD1}" srcOrd="0" destOrd="0" presId="urn:microsoft.com/office/officeart/2005/8/layout/hierarchy1"/>
    <dgm:cxn modelId="{CDB7A333-922C-4A1E-936C-D04772B05DE5}" type="presParOf" srcId="{02472670-9FBC-43FA-87A3-CF7A9E4C3B41}" destId="{C71732E4-EE4E-42E9-95BF-515D9FA8BA9D}" srcOrd="1" destOrd="0" presId="urn:microsoft.com/office/officeart/2005/8/layout/hierarchy1"/>
    <dgm:cxn modelId="{F2B76E0E-F046-471B-92D3-EC5900EC262F}" type="presParOf" srcId="{0CBF9522-D792-489F-BB3B-0F52074ADC4A}" destId="{A00FFAE6-2B7E-43AC-B3FC-1EED5F749642}" srcOrd="1" destOrd="0" presId="urn:microsoft.com/office/officeart/2005/8/layout/hierarchy1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C6099C-BC9C-4626-BF10-FAD8323AC4C1}">
      <dsp:nvSpPr>
        <dsp:cNvPr id="0" name=""/>
        <dsp:cNvSpPr/>
      </dsp:nvSpPr>
      <dsp:spPr>
        <a:xfrm>
          <a:off x="3987560" y="2266170"/>
          <a:ext cx="94351" cy="2895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957"/>
              </a:lnTo>
              <a:lnTo>
                <a:pt x="94351" y="205957"/>
              </a:lnTo>
              <a:lnTo>
                <a:pt x="94351" y="289560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04705F-136D-4A2D-9361-F8ABBFB86B8C}">
      <dsp:nvSpPr>
        <dsp:cNvPr id="0" name=""/>
        <dsp:cNvSpPr/>
      </dsp:nvSpPr>
      <dsp:spPr>
        <a:xfrm>
          <a:off x="2581121" y="959217"/>
          <a:ext cx="1406438" cy="237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916"/>
              </a:lnTo>
              <a:lnTo>
                <a:pt x="1406438" y="153916"/>
              </a:lnTo>
              <a:lnTo>
                <a:pt x="1406438" y="237519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B75C27-9234-425E-871B-5086738E090F}">
      <dsp:nvSpPr>
        <dsp:cNvPr id="0" name=""/>
        <dsp:cNvSpPr/>
      </dsp:nvSpPr>
      <dsp:spPr>
        <a:xfrm>
          <a:off x="955370" y="2314994"/>
          <a:ext cx="91440" cy="294437"/>
        </a:xfrm>
        <a:custGeom>
          <a:avLst/>
          <a:gdLst/>
          <a:ahLst/>
          <a:cxnLst/>
          <a:rect l="0" t="0" r="0" b="0"/>
          <a:pathLst>
            <a:path>
              <a:moveTo>
                <a:pt x="106518" y="0"/>
              </a:moveTo>
              <a:lnTo>
                <a:pt x="106518" y="210834"/>
              </a:lnTo>
              <a:lnTo>
                <a:pt x="45720" y="210834"/>
              </a:lnTo>
              <a:lnTo>
                <a:pt x="45720" y="294437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3F1A89-D2B5-4E29-8688-0A03FE61D59E}">
      <dsp:nvSpPr>
        <dsp:cNvPr id="0" name=""/>
        <dsp:cNvSpPr/>
      </dsp:nvSpPr>
      <dsp:spPr>
        <a:xfrm>
          <a:off x="1061889" y="959217"/>
          <a:ext cx="1519232" cy="242143"/>
        </a:xfrm>
        <a:custGeom>
          <a:avLst/>
          <a:gdLst/>
          <a:ahLst/>
          <a:cxnLst/>
          <a:rect l="0" t="0" r="0" b="0"/>
          <a:pathLst>
            <a:path>
              <a:moveTo>
                <a:pt x="1519232" y="0"/>
              </a:moveTo>
              <a:lnTo>
                <a:pt x="1519232" y="158541"/>
              </a:lnTo>
              <a:lnTo>
                <a:pt x="0" y="158541"/>
              </a:lnTo>
              <a:lnTo>
                <a:pt x="0" y="242143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5CA966-9C88-40B8-AD4A-90D9FE46EFA7}">
      <dsp:nvSpPr>
        <dsp:cNvPr id="0" name=""/>
        <dsp:cNvSpPr/>
      </dsp:nvSpPr>
      <dsp:spPr>
        <a:xfrm>
          <a:off x="1726662" y="2150"/>
          <a:ext cx="1708918" cy="9570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91C0BF-90A1-4085-AD15-A86AF65CB255}">
      <dsp:nvSpPr>
        <dsp:cNvPr id="0" name=""/>
        <dsp:cNvSpPr/>
      </dsp:nvSpPr>
      <dsp:spPr>
        <a:xfrm>
          <a:off x="1826935" y="97409"/>
          <a:ext cx="1708918" cy="9570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1600" kern="1200" dirty="0" smtClean="0"/>
            <a:t>1000 units of foreign currency (time zero)</a:t>
          </a:r>
          <a:endParaRPr lang="en-US" sz="1600" kern="1200" dirty="0"/>
        </a:p>
      </dsp:txBody>
      <dsp:txXfrm>
        <a:off x="1854967" y="125441"/>
        <a:ext cx="1652854" cy="901003"/>
      </dsp:txXfrm>
    </dsp:sp>
    <dsp:sp modelId="{84CD3C78-E1E5-4B69-82C8-0D9149C36219}">
      <dsp:nvSpPr>
        <dsp:cNvPr id="0" name=""/>
        <dsp:cNvSpPr/>
      </dsp:nvSpPr>
      <dsp:spPr>
        <a:xfrm>
          <a:off x="190396" y="1201361"/>
          <a:ext cx="1742986" cy="1113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B52308-AFE0-47F3-A13D-ABB029B2DEF4}">
      <dsp:nvSpPr>
        <dsp:cNvPr id="0" name=""/>
        <dsp:cNvSpPr/>
      </dsp:nvSpPr>
      <dsp:spPr>
        <a:xfrm>
          <a:off x="290668" y="1296620"/>
          <a:ext cx="1742986" cy="11136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/>
        </a:p>
      </dsp:txBody>
      <dsp:txXfrm>
        <a:off x="323285" y="1329237"/>
        <a:ext cx="1677752" cy="1048399"/>
      </dsp:txXfrm>
    </dsp:sp>
    <dsp:sp modelId="{1BF95AC8-1A06-4900-AAE7-5C0CB96DF5B2}">
      <dsp:nvSpPr>
        <dsp:cNvPr id="0" name=""/>
        <dsp:cNvSpPr/>
      </dsp:nvSpPr>
      <dsp:spPr>
        <a:xfrm>
          <a:off x="87994" y="2609431"/>
          <a:ext cx="1826193" cy="9275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14F16-6FC3-4325-B853-BB28EB65472F}">
      <dsp:nvSpPr>
        <dsp:cNvPr id="0" name=""/>
        <dsp:cNvSpPr/>
      </dsp:nvSpPr>
      <dsp:spPr>
        <a:xfrm>
          <a:off x="188267" y="2704691"/>
          <a:ext cx="1826193" cy="9275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1600" kern="1200" dirty="0" smtClean="0"/>
            <a:t> </a:t>
          </a:r>
          <a:endParaRPr lang="en-US" sz="1600" kern="1200" dirty="0"/>
        </a:p>
      </dsp:txBody>
      <dsp:txXfrm>
        <a:off x="215433" y="2731857"/>
        <a:ext cx="1771861" cy="873176"/>
      </dsp:txXfrm>
    </dsp:sp>
    <dsp:sp modelId="{6870CD66-325E-4424-9464-17A094022F50}">
      <dsp:nvSpPr>
        <dsp:cNvPr id="0" name=""/>
        <dsp:cNvSpPr/>
      </dsp:nvSpPr>
      <dsp:spPr>
        <a:xfrm>
          <a:off x="3195063" y="1196737"/>
          <a:ext cx="1584993" cy="10694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7953CF-ECAE-46B9-9472-A1C15636114E}">
      <dsp:nvSpPr>
        <dsp:cNvPr id="0" name=""/>
        <dsp:cNvSpPr/>
      </dsp:nvSpPr>
      <dsp:spPr>
        <a:xfrm>
          <a:off x="3295336" y="1291996"/>
          <a:ext cx="1584993" cy="10694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1600" kern="1200" dirty="0" smtClean="0"/>
            <a:t>1000</a:t>
          </a:r>
          <a:r>
            <a:rPr lang="en-CA" sz="1600" i="1" kern="1200" dirty="0" smtClean="0">
              <a:latin typeface="+mj-lt"/>
            </a:rPr>
            <a:t>S</a:t>
          </a:r>
          <a:r>
            <a:rPr lang="en-CA" sz="1600" kern="1200" baseline="-25000" dirty="0" smtClean="0"/>
            <a:t>0</a:t>
          </a:r>
          <a:r>
            <a:rPr lang="en-CA" sz="1600" kern="1200" dirty="0" smtClean="0"/>
            <a:t> dollars at time zero</a:t>
          </a:r>
          <a:endParaRPr lang="en-US" sz="1600" i="1" kern="1200" dirty="0">
            <a:latin typeface="+mj-lt"/>
          </a:endParaRPr>
        </a:p>
      </dsp:txBody>
      <dsp:txXfrm>
        <a:off x="3326659" y="1323319"/>
        <a:ext cx="1522347" cy="1006786"/>
      </dsp:txXfrm>
    </dsp:sp>
    <dsp:sp modelId="{14681F12-D849-427C-A0CF-AE0C4FE7FDD1}">
      <dsp:nvSpPr>
        <dsp:cNvPr id="0" name=""/>
        <dsp:cNvSpPr/>
      </dsp:nvSpPr>
      <dsp:spPr>
        <a:xfrm>
          <a:off x="3176328" y="2555730"/>
          <a:ext cx="1811167" cy="9812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1732E4-EE4E-42E9-95BF-515D9FA8BA9D}">
      <dsp:nvSpPr>
        <dsp:cNvPr id="0" name=""/>
        <dsp:cNvSpPr/>
      </dsp:nvSpPr>
      <dsp:spPr>
        <a:xfrm>
          <a:off x="3276601" y="2650989"/>
          <a:ext cx="1811167" cy="9812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1600" kern="1200" dirty="0" smtClean="0"/>
            <a:t>1000</a:t>
          </a:r>
          <a:r>
            <a:rPr lang="en-CA" sz="1600" i="1" kern="1200" dirty="0" smtClean="0">
              <a:latin typeface="+mj-lt"/>
            </a:rPr>
            <a:t>S</a:t>
          </a:r>
          <a:r>
            <a:rPr lang="en-CA" sz="1600" kern="1200" baseline="-25000" dirty="0" smtClean="0"/>
            <a:t>0</a:t>
          </a:r>
          <a:r>
            <a:rPr lang="en-CA" sz="1600" i="1" kern="1200" dirty="0" smtClean="0">
              <a:latin typeface="Times New Roman" pitchFamily="18" charset="0"/>
              <a:cs typeface="Times New Roman" pitchFamily="18" charset="0"/>
            </a:rPr>
            <a:t>e</a:t>
          </a:r>
          <a:r>
            <a:rPr lang="en-CA" sz="1600" i="1" kern="1200" baseline="30000" dirty="0" smtClean="0">
              <a:latin typeface="Times New Roman" pitchFamily="18" charset="0"/>
              <a:cs typeface="Times New Roman" pitchFamily="18" charset="0"/>
            </a:rPr>
            <a:t>rT</a:t>
          </a:r>
          <a:r>
            <a:rPr lang="en-CA" sz="1600" i="1" kern="1200" baseline="0" dirty="0" smtClean="0">
              <a:latin typeface="Times New Roman" pitchFamily="18" charset="0"/>
              <a:cs typeface="Times New Roman" pitchFamily="18" charset="0"/>
            </a:rPr>
            <a:t>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1600" kern="1200" baseline="0" dirty="0" smtClean="0"/>
            <a:t>dollars at time </a:t>
          </a:r>
          <a:r>
            <a:rPr lang="en-CA" sz="1600" i="1" kern="1200" baseline="0" dirty="0" smtClean="0">
              <a:latin typeface="+mj-lt"/>
            </a:rPr>
            <a:t>T</a:t>
          </a:r>
          <a:endParaRPr lang="en-US" sz="1600" i="1" kern="1200" dirty="0">
            <a:latin typeface="+mj-lt"/>
          </a:endParaRPr>
        </a:p>
      </dsp:txBody>
      <dsp:txXfrm>
        <a:off x="3305340" y="2679728"/>
        <a:ext cx="1753689" cy="9237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defTabSz="93027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 defTabSz="93027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defTabSz="93027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349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defTabSz="93027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 defTabSz="93027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7157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212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defTabSz="93027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7638" y="8820150"/>
            <a:ext cx="3027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 defTabSz="930275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6366427-E112-46BF-A395-E6EA645226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73772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4835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03315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29236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425566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5E0D077-9648-49E0-AFFC-B0FF3151050A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24112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162964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3" tIns="45717" rIns="91433" bIns="45717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3957638" y="8820150"/>
            <a:ext cx="302736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64" tIns="0" rIns="19364" bIns="0" anchor="b"/>
          <a:lstStyle>
            <a:lvl1pPr defTabSz="771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1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1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1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1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15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15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15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15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18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0" y="8820150"/>
            <a:ext cx="30273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3" tIns="45717" rIns="91433" bIns="45717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3" tIns="45717" rIns="91433" bIns="45717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8678" name="Rectangle 6"/>
          <p:cNvSpPr>
            <a:spLocks noChangeArrowheads="1" noTextEdit="1"/>
          </p:cNvSpPr>
          <p:nvPr>
            <p:ph type="sldImg"/>
          </p:nvPr>
        </p:nvSpPr>
        <p:spPr>
          <a:xfrm>
            <a:off x="1181100" y="703263"/>
            <a:ext cx="4624388" cy="3468687"/>
          </a:xfrm>
          <a:ln cap="flat">
            <a:solidFill>
              <a:schemeClr val="tx1"/>
            </a:solidFill>
          </a:ln>
        </p:spPr>
      </p:sp>
      <p:sp>
        <p:nvSpPr>
          <p:cNvPr id="2867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83" tIns="45185" rIns="91983" bIns="45185"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564582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3" tIns="45717" rIns="91433" bIns="45717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3957638" y="8820150"/>
            <a:ext cx="302736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64" tIns="0" rIns="19364" bIns="0" anchor="b"/>
          <a:lstStyle>
            <a:lvl1pPr defTabSz="771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1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1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1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1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15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15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15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15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19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0" y="8820150"/>
            <a:ext cx="30273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3" tIns="45717" rIns="91433" bIns="45717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3" tIns="45717" rIns="91433" bIns="45717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0726" name="Rectangle 6"/>
          <p:cNvSpPr>
            <a:spLocks noChangeArrowheads="1" noTextEdit="1"/>
          </p:cNvSpPr>
          <p:nvPr>
            <p:ph type="sldImg"/>
          </p:nvPr>
        </p:nvSpPr>
        <p:spPr>
          <a:xfrm>
            <a:off x="1181100" y="703263"/>
            <a:ext cx="4624388" cy="3468687"/>
          </a:xfrm>
          <a:ln cap="flat">
            <a:solidFill>
              <a:schemeClr val="tx1"/>
            </a:solidFill>
          </a:ln>
        </p:spPr>
      </p:sp>
      <p:sp>
        <p:nvSpPr>
          <p:cNvPr id="307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83" tIns="45185" rIns="91983" bIns="45185"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745792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3" tIns="45717" rIns="91433" bIns="45717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3957638" y="8820150"/>
            <a:ext cx="3027362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364" tIns="0" rIns="19364" bIns="0" anchor="b"/>
          <a:lstStyle>
            <a:lvl1pPr defTabSz="771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1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1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1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1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15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15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15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15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20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8820150"/>
            <a:ext cx="30273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3" tIns="45717" rIns="91433" bIns="45717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3" tIns="45717" rIns="91433" bIns="45717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32774" name="Rectangle 6"/>
          <p:cNvSpPr>
            <a:spLocks noChangeArrowheads="1" noTextEdit="1"/>
          </p:cNvSpPr>
          <p:nvPr>
            <p:ph type="sldImg"/>
          </p:nvPr>
        </p:nvSpPr>
        <p:spPr>
          <a:xfrm>
            <a:off x="1181100" y="703263"/>
            <a:ext cx="4624388" cy="3468687"/>
          </a:xfrm>
          <a:ln cap="flat">
            <a:solidFill>
              <a:schemeClr val="tx1"/>
            </a:solidFill>
          </a:ln>
        </p:spPr>
      </p:sp>
      <p:sp>
        <p:nvSpPr>
          <p:cNvPr id="3277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83" tIns="45185" rIns="91983" bIns="45185"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8669560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462235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19A98E7-76E3-4776-A273-BA38FCD7490D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635945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72335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262644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2021783-0CED-4473-AAFD-5E31DFE71653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745975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7081304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6612546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583746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4015962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146590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2067186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0399135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339E841-96BB-4D0F-A24E-AF6A7C2DE7E4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616029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5883512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515447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0356111-733A-4A55-AE92-F43251F8BB13}" type="slidenum">
              <a:rPr lang="en-US" altLang="en-US" smtClean="0"/>
              <a:pPr>
                <a:spcBef>
                  <a:spcPct val="0"/>
                </a:spcBef>
              </a:pPr>
              <a:t>25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696097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707369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2723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5,  Copyright © John C. Hull 2016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03A799-43FB-4FFB-BA46-36972D1C52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3578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5, 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A8D9A7-1E88-4BE7-912B-339E71F05E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098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5, 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03CD47-0DFD-41BF-93B9-62F5FFC970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8001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5, 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6B6BF-0638-4039-A188-382C930A89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8127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5,  Copyright © John C. Hull 2016</a:t>
            </a:r>
            <a:endParaRPr lang="en-US" altLang="en-US" i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C96F19-B5F7-482A-A54E-71BBE052C4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6740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5,  Copyright © John C. Hull 2016</a:t>
            </a:r>
            <a:endParaRPr lang="en-US" altLang="en-US" i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FF75F-8631-4938-B15A-A171981616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2053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5,  Copyright © John C. Hull 2016</a:t>
            </a:r>
            <a:endParaRPr lang="en-US" alt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0E5C01-A80A-4511-ABCF-999D892CE7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382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5, 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7C8FB-0628-4166-8820-844BA22089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73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5, 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A9E1B6-A0EB-4BB2-872C-71D147DF5A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7305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5, 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8CB1B5-1B09-4CCC-AEBF-7874A9384B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3166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Fundamentals of Futures and Options Markets, 9th Ed, Ch 5, 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7F9DDC-BF10-4F31-8B9E-BF6D95E98B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5478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8806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Fundamentals of Futures and Options Markets, 9th Ed, Ch 5,  Copyright © John C. Hull 2016</a:t>
            </a:r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pPr>
              <a:defRPr/>
            </a:pPr>
            <a:fld id="{C2CC8F34-5958-4FD5-83BD-CA78585DF3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22.xml"/><Relationship Id="rId7" Type="http://schemas.openxmlformats.org/officeDocument/2006/relationships/diagramColors" Target="../diagrams/colors1.xml"/><Relationship Id="rId12" Type="http://schemas.openxmlformats.org/officeDocument/2006/relationships/image" Target="../media/image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diagramQuickStyle" Target="../diagrams/quickStyle1.xml"/><Relationship Id="rId11" Type="http://schemas.openxmlformats.org/officeDocument/2006/relationships/oleObject" Target="../embeddings/oleObject3.bin"/><Relationship Id="rId5" Type="http://schemas.openxmlformats.org/officeDocument/2006/relationships/diagramLayout" Target="../diagrams/layout1.xml"/><Relationship Id="rId10" Type="http://schemas.openxmlformats.org/officeDocument/2006/relationships/image" Target="../media/image2.wmf"/><Relationship Id="rId4" Type="http://schemas.openxmlformats.org/officeDocument/2006/relationships/diagramData" Target="../diagrams/data1.xml"/><Relationship Id="rId9" Type="http://schemas.openxmlformats.org/officeDocument/2006/relationships/oleObject" Target="../embeddings/oleObject2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891463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i="0" smtClean="0"/>
          </a:p>
        </p:txBody>
      </p:sp>
      <p:sp>
        <p:nvSpPr>
          <p:cNvPr id="15363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4400" smtClean="0"/>
              <a:t>Determination of Forward and Futures Prices</a:t>
            </a:r>
          </a:p>
        </p:txBody>
      </p:sp>
      <p:sp>
        <p:nvSpPr>
          <p:cNvPr id="15364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5</a:t>
            </a: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7FCF2F-8D46-4393-AE54-96EB26495491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i="0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Consumption vs Investment Assets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Investment assets are assets held by many traders purely for investment purposes (Examples: gold, silver)</a:t>
            </a:r>
          </a:p>
          <a:p>
            <a:pPr eaLnBrk="1" hangingPunct="1"/>
            <a:r>
              <a:rPr lang="en-US" altLang="en-US" smtClean="0"/>
              <a:t>Consumption assets are assets held primarily for consumption (Examples: copper, oil)</a:t>
            </a: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1D1F6E-965D-4D3F-9525-700821F7B5C4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i="0" smtClean="0"/>
          </a:p>
        </p:txBody>
      </p:sp>
      <p:sp>
        <p:nvSpPr>
          <p:cNvPr id="19459" name="Rectangle 102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9460" name="Rectangle 1027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9461" name="Rectangle 102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Short Selling </a:t>
            </a:r>
            <a:r>
              <a:rPr lang="en-US" altLang="en-US" sz="2200" smtClean="0"/>
              <a:t>(Pages 108-109)</a:t>
            </a:r>
            <a:endParaRPr lang="en-US" altLang="en-US" smtClean="0"/>
          </a:p>
        </p:txBody>
      </p:sp>
      <p:sp>
        <p:nvSpPr>
          <p:cNvPr id="19462" name="Rectangle 1029"/>
          <p:cNvSpPr>
            <a:spLocks noGrp="1" noChangeArrowheads="1"/>
          </p:cNvSpPr>
          <p:nvPr>
            <p:ph type="body" idx="1"/>
          </p:nvPr>
        </p:nvSpPr>
        <p:spPr>
          <a:xfrm>
            <a:off x="1274763" y="1800225"/>
            <a:ext cx="6594475" cy="3967163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Short selling involves selling securities you do not own</a:t>
            </a:r>
          </a:p>
          <a:p>
            <a:pPr eaLnBrk="1" hangingPunct="1"/>
            <a:r>
              <a:rPr lang="en-US" altLang="en-US" smtClean="0"/>
              <a:t>Your broker borrows the securities from another client and sells them in the market in the usual way</a:t>
            </a:r>
          </a:p>
        </p:txBody>
      </p:sp>
      <p:sp>
        <p:nvSpPr>
          <p:cNvPr id="1946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BBF1CB-BCD2-4E35-8DFF-7600D5DBAA24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 smtClean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Short Selling </a:t>
            </a:r>
            <a:r>
              <a:rPr lang="en-US" altLang="en-US" sz="2600" smtClean="0"/>
              <a:t>(continued)</a:t>
            </a:r>
          </a:p>
        </p:txBody>
      </p:sp>
      <p:sp>
        <p:nvSpPr>
          <p:cNvPr id="21507" name="Rectangle 5"/>
          <p:cNvSpPr>
            <a:spLocks noGrp="1" noChangeArrowheads="1"/>
          </p:cNvSpPr>
          <p:nvPr>
            <p:ph idx="1"/>
          </p:nvPr>
        </p:nvSpPr>
        <p:spPr>
          <a:xfrm>
            <a:off x="669925" y="1700213"/>
            <a:ext cx="7086600" cy="4073525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At some stage you must buy the securities so they can be replaced in the account of the client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You must pay dividends and other benefits the owner of the securities receives</a:t>
            </a: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There may be a small fee for borrowing the securities</a:t>
            </a: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718078-1C8D-41CC-B5FA-D019D5510FE9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 smtClean="0"/>
          </a:p>
        </p:txBody>
      </p:sp>
      <p:sp>
        <p:nvSpPr>
          <p:cNvPr id="2151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51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Example</a:t>
            </a:r>
            <a:endParaRPr lang="en-US" altLang="en-US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You short 100 shares when the price is $100 and close out the short position three months later when the price is $90</a:t>
            </a: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During the three months a dividend of $3 per share is paid</a:t>
            </a: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What is your profit?</a:t>
            </a: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What would be your loss if you had bought 100 shares?</a:t>
            </a:r>
          </a:p>
          <a:p>
            <a:pPr eaLnBrk="1" hangingPunct="1">
              <a:buFontTx/>
              <a:buNone/>
            </a:pPr>
            <a:endParaRPr lang="en-CA" altLang="en-US" smtClean="0">
              <a:cs typeface="Arial" panose="020B0604020202020204" pitchFamily="34" charset="0"/>
            </a:endParaRPr>
          </a:p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086F27-FF65-4500-83F1-E64A3DF22934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Notation for Valuing Futures and Forward Contracts</a:t>
            </a:r>
          </a:p>
        </p:txBody>
      </p:sp>
      <p:sp>
        <p:nvSpPr>
          <p:cNvPr id="2560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256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93AFAC-185E-43EC-BBCF-D933A662765A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 smtClean="0"/>
          </a:p>
        </p:txBody>
      </p:sp>
      <p:graphicFrame>
        <p:nvGraphicFramePr>
          <p:cNvPr id="53402" name="Group 154"/>
          <p:cNvGraphicFramePr>
            <a:graphicFrameLocks noGrp="1"/>
          </p:cNvGraphicFramePr>
          <p:nvPr/>
        </p:nvGraphicFramePr>
        <p:xfrm>
          <a:off x="838200" y="2438400"/>
          <a:ext cx="6096000" cy="3219450"/>
        </p:xfrm>
        <a:graphic>
          <a:graphicData uri="http://schemas.openxmlformats.org/drawingml/2006/table">
            <a:tbl>
              <a:tblPr/>
              <a:tblGrid>
                <a:gridCol w="838200"/>
                <a:gridCol w="5257800"/>
              </a:tblGrid>
              <a:tr h="685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en-US" sz="2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Spot price today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Futures or forward price today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833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until delivery date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795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Risk-free interest rate for maturity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Grp="1" noChangeArrowheads="1"/>
          </p:cNvSpPr>
          <p:nvPr>
            <p:ph type="title"/>
          </p:nvPr>
        </p:nvSpPr>
        <p:spPr>
          <a:xfrm>
            <a:off x="250825" y="28575"/>
            <a:ext cx="7561263" cy="11430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An Arbitrage Opportunity?</a:t>
            </a:r>
          </a:p>
        </p:txBody>
      </p:sp>
      <p:sp>
        <p:nvSpPr>
          <p:cNvPr id="27651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557338"/>
            <a:ext cx="7077075" cy="3827462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Suppose that:</a:t>
            </a:r>
          </a:p>
          <a:p>
            <a:pPr lvl="1" eaLnBrk="1" hangingPunct="1"/>
            <a:r>
              <a:rPr lang="en-US" altLang="en-US" smtClean="0">
                <a:cs typeface="Arial" panose="020B0604020202020204" pitchFamily="34" charset="0"/>
              </a:rPr>
              <a:t>The spot price of a non-dividend-paying stock is $40</a:t>
            </a:r>
          </a:p>
          <a:p>
            <a:pPr lvl="1" eaLnBrk="1" hangingPunct="1"/>
            <a:r>
              <a:rPr lang="en-US" altLang="en-US" smtClean="0">
                <a:cs typeface="Arial" panose="020B0604020202020204" pitchFamily="34" charset="0"/>
              </a:rPr>
              <a:t>The 3-month forward price is $43</a:t>
            </a:r>
          </a:p>
          <a:p>
            <a:pPr lvl="1" eaLnBrk="1" hangingPunct="1"/>
            <a:r>
              <a:rPr lang="en-US" altLang="en-US" smtClean="0">
                <a:cs typeface="Arial" panose="020B0604020202020204" pitchFamily="34" charset="0"/>
              </a:rPr>
              <a:t>The 3-month US$ interest rate is 5% per annum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Is there an arbitrage opportunity?                                             </a:t>
            </a:r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9D663D3-E685-48EA-9342-2BA1BDEE9557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 smtClean="0"/>
          </a:p>
        </p:txBody>
      </p:sp>
      <p:sp>
        <p:nvSpPr>
          <p:cNvPr id="2765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765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230188" y="404813"/>
            <a:ext cx="7332662" cy="11430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Another Arbitrage Opportunity?</a:t>
            </a:r>
          </a:p>
        </p:txBody>
      </p:sp>
      <p:sp>
        <p:nvSpPr>
          <p:cNvPr id="29699" name="Rectangle 5"/>
          <p:cNvSpPr>
            <a:spLocks noGrp="1" noChangeArrowheads="1"/>
          </p:cNvSpPr>
          <p:nvPr>
            <p:ph idx="1"/>
          </p:nvPr>
        </p:nvSpPr>
        <p:spPr>
          <a:xfrm>
            <a:off x="1152525" y="2057400"/>
            <a:ext cx="6840538" cy="3775075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Suppose that:</a:t>
            </a:r>
          </a:p>
          <a:p>
            <a:pPr lvl="1" eaLnBrk="1" hangingPunct="1"/>
            <a:r>
              <a:rPr lang="en-US" altLang="en-US" smtClean="0">
                <a:cs typeface="Arial" panose="020B0604020202020204" pitchFamily="34" charset="0"/>
              </a:rPr>
              <a:t>The spot price of nondividend-paying stock is $40</a:t>
            </a:r>
          </a:p>
          <a:p>
            <a:pPr lvl="1" eaLnBrk="1" hangingPunct="1"/>
            <a:r>
              <a:rPr lang="en-US" altLang="en-US" smtClean="0">
                <a:cs typeface="Arial" panose="020B0604020202020204" pitchFamily="34" charset="0"/>
              </a:rPr>
              <a:t>The 3-month forward price is US$39</a:t>
            </a:r>
          </a:p>
          <a:p>
            <a:pPr lvl="1" eaLnBrk="1" hangingPunct="1"/>
            <a:r>
              <a:rPr lang="en-US" altLang="en-US" smtClean="0">
                <a:cs typeface="Arial" panose="020B0604020202020204" pitchFamily="34" charset="0"/>
              </a:rPr>
              <a:t>The 1-year US$ interest rate is 5% per annum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Is there an arbitrage opportunity?</a:t>
            </a:r>
          </a:p>
        </p:txBody>
      </p:sp>
      <p:sp>
        <p:nvSpPr>
          <p:cNvPr id="2970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962048-50DC-4C37-8F1A-D5137EC20EFB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 smtClean="0"/>
          </a:p>
        </p:txBody>
      </p:sp>
      <p:sp>
        <p:nvSpPr>
          <p:cNvPr id="2970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970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9704" name="Rectangle 6"/>
          <p:cNvSpPr>
            <a:spLocks noChangeArrowheads="1"/>
          </p:cNvSpPr>
          <p:nvPr/>
        </p:nvSpPr>
        <p:spPr bwMode="auto">
          <a:xfrm>
            <a:off x="7551738" y="2536825"/>
            <a:ext cx="52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/>
          <p:cNvSpPr>
            <a:spLocks noGrp="1" noChangeArrowheads="1"/>
          </p:cNvSpPr>
          <p:nvPr>
            <p:ph type="title"/>
          </p:nvPr>
        </p:nvSpPr>
        <p:spPr>
          <a:xfrm>
            <a:off x="323850" y="-22225"/>
            <a:ext cx="7481888" cy="11430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The Forward Price </a:t>
            </a:r>
          </a:p>
        </p:txBody>
      </p:sp>
      <p:sp>
        <p:nvSpPr>
          <p:cNvPr id="15363" name="Rectangle 5"/>
          <p:cNvSpPr>
            <a:spLocks noGrp="1" noChangeArrowheads="1"/>
          </p:cNvSpPr>
          <p:nvPr>
            <p:ph idx="1"/>
          </p:nvPr>
        </p:nvSpPr>
        <p:spPr>
          <a:xfrm>
            <a:off x="323850" y="1341438"/>
            <a:ext cx="8310563" cy="4425950"/>
          </a:xfrm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 smtClean="0">
                <a:cs typeface="Arial" charset="0"/>
              </a:rPr>
              <a:t>   </a:t>
            </a:r>
            <a:r>
              <a:rPr lang="en-US" sz="2800" dirty="0" smtClean="0">
                <a:cs typeface="Arial" charset="0"/>
              </a:rPr>
              <a:t>If the spot price of an investment asset is </a:t>
            </a:r>
            <a:r>
              <a:rPr lang="en-US" sz="2800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sz="2800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sz="2800" dirty="0" smtClean="0">
                <a:cs typeface="Arial" charset="0"/>
              </a:rPr>
              <a:t> and the futures price for a contract deliverable in </a:t>
            </a:r>
            <a:r>
              <a:rPr lang="en-US" sz="2800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sz="2800" dirty="0" smtClean="0">
                <a:cs typeface="Arial" charset="0"/>
              </a:rPr>
              <a:t> years is </a:t>
            </a:r>
            <a:r>
              <a:rPr lang="en-US" sz="2800" i="1" dirty="0" smtClean="0">
                <a:latin typeface="Times New Roman" pitchFamily="18" charset="0"/>
                <a:cs typeface="Arial" charset="0"/>
              </a:rPr>
              <a:t>F</a:t>
            </a:r>
            <a:r>
              <a:rPr lang="en-US" sz="2800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sz="2800" dirty="0" smtClean="0">
                <a:cs typeface="Arial" charset="0"/>
              </a:rPr>
              <a:t>, then</a:t>
            </a:r>
          </a:p>
          <a:p>
            <a:pPr algn="ctr" eaLnBrk="1" hangingPunct="1"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cs typeface="Arial" charset="0"/>
              </a:rPr>
              <a:t> </a:t>
            </a:r>
            <a:r>
              <a:rPr lang="en-US" sz="2800" i="1" dirty="0" smtClean="0">
                <a:latin typeface="Times New Roman" pitchFamily="18" charset="0"/>
                <a:cs typeface="Arial" charset="0"/>
              </a:rPr>
              <a:t>F</a:t>
            </a:r>
            <a:r>
              <a:rPr lang="en-US" sz="2800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sz="2800" i="1" dirty="0" smtClean="0">
                <a:latin typeface="Times New Roman" pitchFamily="18" charset="0"/>
                <a:cs typeface="Arial" charset="0"/>
              </a:rPr>
              <a:t> = S</a:t>
            </a:r>
            <a:r>
              <a:rPr lang="en-US" sz="2800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sz="2800" dirty="0" smtClean="0">
                <a:latin typeface="Times New Roman" pitchFamily="18" charset="0"/>
                <a:cs typeface="Arial" charset="0"/>
              </a:rPr>
              <a:t>(1</a:t>
            </a:r>
            <a:r>
              <a:rPr lang="en-US" sz="2800" i="1" dirty="0" smtClean="0">
                <a:latin typeface="Times New Roman" pitchFamily="18" charset="0"/>
                <a:cs typeface="Arial" charset="0"/>
              </a:rPr>
              <a:t>+r</a:t>
            </a:r>
            <a:r>
              <a:rPr lang="en-US" sz="2800" dirty="0" smtClean="0">
                <a:latin typeface="Times New Roman" pitchFamily="18" charset="0"/>
                <a:cs typeface="Arial" charset="0"/>
              </a:rPr>
              <a:t>)</a:t>
            </a:r>
            <a:r>
              <a:rPr lang="en-US" sz="2800" i="1" baseline="30000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sz="2800" dirty="0" smtClean="0">
                <a:cs typeface="Arial" charset="0"/>
              </a:rPr>
              <a:t>	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cs typeface="Arial" charset="0"/>
              </a:rPr>
              <a:t>	where </a:t>
            </a:r>
            <a:r>
              <a:rPr lang="en-US" sz="2800" i="1" dirty="0" smtClean="0">
                <a:latin typeface="Times New Roman" pitchFamily="18" charset="0"/>
                <a:cs typeface="Arial" charset="0"/>
              </a:rPr>
              <a:t>r</a:t>
            </a:r>
            <a:r>
              <a:rPr lang="en-US" sz="2800" dirty="0" smtClean="0">
                <a:cs typeface="Arial" charset="0"/>
              </a:rPr>
              <a:t> is the </a:t>
            </a:r>
            <a:r>
              <a:rPr lang="en-US" sz="2800" i="1" dirty="0" smtClean="0">
                <a:latin typeface="+mj-lt"/>
                <a:cs typeface="Arial" charset="0"/>
              </a:rPr>
              <a:t>T</a:t>
            </a:r>
            <a:r>
              <a:rPr lang="en-US" sz="2800" dirty="0" smtClean="0">
                <a:cs typeface="Arial" charset="0"/>
              </a:rPr>
              <a:t>-year risk-free rate of interest (measured with annual compounding)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 smtClean="0">
                <a:cs typeface="Arial" charset="0"/>
              </a:rPr>
              <a:t>	</a:t>
            </a:r>
            <a:r>
              <a:rPr lang="en-US" sz="2800" dirty="0" smtClean="0">
                <a:cs typeface="Arial" charset="0"/>
              </a:rPr>
              <a:t>In our examples, </a:t>
            </a:r>
            <a:r>
              <a:rPr lang="en-US" sz="2800" i="1" dirty="0" smtClean="0">
                <a:latin typeface="+mj-lt"/>
                <a:cs typeface="Arial" charset="0"/>
              </a:rPr>
              <a:t>S</a:t>
            </a:r>
            <a:r>
              <a:rPr lang="en-US" sz="2800" baseline="-25000" dirty="0" smtClean="0">
                <a:latin typeface="+mj-lt"/>
                <a:cs typeface="Arial" charset="0"/>
              </a:rPr>
              <a:t>0</a:t>
            </a:r>
            <a:r>
              <a:rPr lang="en-US" sz="2800" i="1" dirty="0" smtClean="0">
                <a:latin typeface="+mj-lt"/>
                <a:cs typeface="Arial" charset="0"/>
              </a:rPr>
              <a:t> </a:t>
            </a:r>
            <a:r>
              <a:rPr lang="en-US" sz="2800" dirty="0" smtClean="0">
                <a:latin typeface="+mj-lt"/>
                <a:cs typeface="Arial" charset="0"/>
              </a:rPr>
              <a:t>=40, </a:t>
            </a:r>
            <a:r>
              <a:rPr lang="en-US" sz="2800" i="1" dirty="0" smtClean="0">
                <a:latin typeface="+mj-lt"/>
                <a:cs typeface="Arial" charset="0"/>
              </a:rPr>
              <a:t>T</a:t>
            </a:r>
            <a:r>
              <a:rPr lang="en-US" sz="2800" dirty="0" smtClean="0">
                <a:latin typeface="+mj-lt"/>
                <a:cs typeface="Arial" charset="0"/>
              </a:rPr>
              <a:t>=0.25</a:t>
            </a:r>
            <a:r>
              <a:rPr lang="en-US" sz="2800" dirty="0" smtClean="0">
                <a:cs typeface="Arial" charset="0"/>
              </a:rPr>
              <a:t>, and </a:t>
            </a:r>
            <a:r>
              <a:rPr lang="en-US" sz="2800" i="1" dirty="0" smtClean="0">
                <a:latin typeface="+mj-lt"/>
                <a:cs typeface="Arial" charset="0"/>
              </a:rPr>
              <a:t>r</a:t>
            </a:r>
            <a:r>
              <a:rPr lang="en-US" sz="2800" dirty="0" smtClean="0">
                <a:latin typeface="+mj-lt"/>
                <a:cs typeface="Arial" charset="0"/>
              </a:rPr>
              <a:t>=0.05</a:t>
            </a:r>
            <a:r>
              <a:rPr lang="en-US" sz="2800" dirty="0" smtClean="0">
                <a:cs typeface="Arial" charset="0"/>
              </a:rPr>
              <a:t> so that</a:t>
            </a:r>
            <a:endParaRPr lang="en-US" sz="2800" i="1" dirty="0" smtClean="0">
              <a:cs typeface="Arial" charset="0"/>
            </a:endParaRPr>
          </a:p>
          <a:p>
            <a:pPr algn="ctr" eaLnBrk="1" hangingPunct="1">
              <a:buFont typeface="Wingdings" panose="05000000000000000000" pitchFamily="2" charset="2"/>
              <a:buNone/>
              <a:defRPr/>
            </a:pPr>
            <a:r>
              <a:rPr lang="en-US" sz="2800" i="1" dirty="0" smtClean="0">
                <a:latin typeface="+mj-lt"/>
                <a:cs typeface="Arial" charset="0"/>
              </a:rPr>
              <a:t>F</a:t>
            </a:r>
            <a:r>
              <a:rPr lang="en-US" sz="2800" baseline="-25000" dirty="0" smtClean="0">
                <a:latin typeface="+mj-lt"/>
                <a:cs typeface="Arial" charset="0"/>
              </a:rPr>
              <a:t>0</a:t>
            </a:r>
            <a:r>
              <a:rPr lang="en-US" sz="2800" i="1" dirty="0" smtClean="0">
                <a:latin typeface="+mj-lt"/>
                <a:cs typeface="Arial" charset="0"/>
              </a:rPr>
              <a:t>  </a:t>
            </a:r>
            <a:r>
              <a:rPr lang="en-US" sz="2800" dirty="0" smtClean="0">
                <a:latin typeface="+mj-lt"/>
                <a:cs typeface="Arial" charset="0"/>
              </a:rPr>
              <a:t>= 40(1.05)</a:t>
            </a:r>
            <a:r>
              <a:rPr lang="en-CA" sz="2800" baseline="30000" dirty="0" smtClean="0">
                <a:latin typeface="+mj-lt"/>
                <a:cs typeface="Arial" charset="0"/>
              </a:rPr>
              <a:t>0.25 </a:t>
            </a:r>
            <a:r>
              <a:rPr lang="en-CA" sz="2800" dirty="0" smtClean="0">
                <a:latin typeface="+mj-lt"/>
                <a:cs typeface="Arial" charset="0"/>
              </a:rPr>
              <a:t>=40.50</a:t>
            </a:r>
            <a:endParaRPr lang="en-US" sz="2800" dirty="0" smtClean="0">
              <a:latin typeface="+mj-lt"/>
              <a:cs typeface="Arial" charset="0"/>
            </a:endParaRPr>
          </a:p>
        </p:txBody>
      </p:sp>
      <p:sp>
        <p:nvSpPr>
          <p:cNvPr id="317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317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AE3EA98-E15C-48EA-B5C5-2988CF29E010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 smtClean="0"/>
          </a:p>
        </p:txBody>
      </p:sp>
      <p:sp>
        <p:nvSpPr>
          <p:cNvPr id="3175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175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i="0" smtClean="0"/>
          </a:p>
        </p:txBody>
      </p:sp>
      <p:sp>
        <p:nvSpPr>
          <p:cNvPr id="33795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796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797" name="Rectangle 4"/>
          <p:cNvSpPr>
            <a:spLocks noGrp="1" noChangeArrowheads="1"/>
          </p:cNvSpPr>
          <p:nvPr>
            <p:ph type="title"/>
          </p:nvPr>
        </p:nvSpPr>
        <p:spPr>
          <a:xfrm>
            <a:off x="611188" y="266700"/>
            <a:ext cx="7345362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z="3600" smtClean="0"/>
              <a:t>When Interest Rates are Measured with  Continuous Compounding</a:t>
            </a:r>
            <a:br>
              <a:rPr lang="en-US" altLang="en-US" sz="3600" smtClean="0"/>
            </a:br>
            <a:r>
              <a:rPr lang="en-US" altLang="en-US" sz="2000" smtClean="0"/>
              <a:t>(Equation 5.1, page 111)</a:t>
            </a:r>
          </a:p>
        </p:txBody>
      </p:sp>
      <p:sp>
        <p:nvSpPr>
          <p:cNvPr id="3379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9600" y="1587500"/>
            <a:ext cx="7899400" cy="4687888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	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			</a:t>
            </a:r>
            <a:r>
              <a:rPr lang="en-US" altLang="en-US" sz="4000" i="1" smtClean="0">
                <a:latin typeface="Times New Roman" panose="02020603050405020304" pitchFamily="18" charset="0"/>
              </a:rPr>
              <a:t>F</a:t>
            </a:r>
            <a:r>
              <a:rPr lang="en-US" altLang="en-US" sz="40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4000" i="1" smtClean="0">
                <a:latin typeface="Times New Roman" panose="02020603050405020304" pitchFamily="18" charset="0"/>
              </a:rPr>
              <a:t> = S</a:t>
            </a:r>
            <a:r>
              <a:rPr lang="en-US" altLang="en-US" sz="40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4000" i="1" smtClean="0">
                <a:latin typeface="Times New Roman" panose="02020603050405020304" pitchFamily="18" charset="0"/>
              </a:rPr>
              <a:t>e</a:t>
            </a:r>
            <a:r>
              <a:rPr lang="en-US" altLang="en-US" sz="4000" i="1" baseline="30000" smtClean="0">
                <a:latin typeface="Times New Roman" panose="02020603050405020304" pitchFamily="18" charset="0"/>
              </a:rPr>
              <a:t>rT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This equation relates the forward price and the spot price for any investment asset that provides no income and has no storage costs</a:t>
            </a:r>
          </a:p>
        </p:txBody>
      </p:sp>
      <p:sp>
        <p:nvSpPr>
          <p:cNvPr id="33799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CD3E5F-B331-4F3A-BB87-C22DDD156A78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 smtClean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If Short Sales Are Not Possible..</a:t>
            </a:r>
            <a:endParaRPr lang="en-US" altLang="en-US" smtClean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en-CA" altLang="en-US" sz="2800" smtClean="0"/>
              <a:t>	Formula still works for an investment asset because investors who hold the asset will sell it and buy forward contracts when the forward price is too low</a:t>
            </a:r>
            <a:endParaRPr lang="en-US" altLang="en-US" sz="2800" smtClean="0"/>
          </a:p>
        </p:txBody>
      </p:sp>
      <p:sp>
        <p:nvSpPr>
          <p:cNvPr id="358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</a:p>
        </p:txBody>
      </p:sp>
      <p:sp>
        <p:nvSpPr>
          <p:cNvPr id="358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FE43E5-C681-4294-A0AF-72822C59BB38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i="0" smtClean="0"/>
          </a:p>
        </p:txBody>
      </p:sp>
      <p:sp>
        <p:nvSpPr>
          <p:cNvPr id="37891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7892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7893" name="Rectangle 4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532687" cy="868363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>When an Investment Asset Provides a Known Dollar Income </a:t>
            </a:r>
            <a:r>
              <a:rPr lang="en-US" altLang="en-US" sz="2200" smtClean="0"/>
              <a:t>(Equation 5.2, page 114)</a:t>
            </a:r>
            <a:r>
              <a:rPr lang="en-US" altLang="en-US" smtClean="0"/>
              <a:t> </a:t>
            </a:r>
            <a:br>
              <a:rPr lang="en-US" altLang="en-US" smtClean="0"/>
            </a:br>
            <a:endParaRPr lang="en-US" altLang="en-US" smtClean="0"/>
          </a:p>
        </p:txBody>
      </p:sp>
      <p:sp>
        <p:nvSpPr>
          <p:cNvPr id="3789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941388" y="2432050"/>
            <a:ext cx="6880225" cy="1949450"/>
          </a:xfrm>
          <a:noFill/>
        </p:spPr>
        <p:txBody>
          <a:bodyPr lIns="90488" tIns="44450" rIns="90488" bIns="44450"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 i="1" smtClean="0">
                <a:latin typeface="Times New Roman" panose="02020603050405020304" pitchFamily="18" charset="0"/>
              </a:rPr>
              <a:t>F</a:t>
            </a:r>
            <a:r>
              <a:rPr lang="en-US" altLang="en-US" sz="28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800" i="1" smtClean="0">
                <a:latin typeface="Times New Roman" panose="02020603050405020304" pitchFamily="18" charset="0"/>
              </a:rPr>
              <a:t> </a:t>
            </a:r>
            <a:r>
              <a:rPr lang="en-US" altLang="en-US" sz="2800" smtClean="0">
                <a:latin typeface="Times New Roman" panose="02020603050405020304" pitchFamily="18" charset="0"/>
              </a:rPr>
              <a:t>= (</a:t>
            </a:r>
            <a:r>
              <a:rPr lang="en-US" altLang="en-US" sz="2800" i="1" smtClean="0">
                <a:latin typeface="Times New Roman" panose="02020603050405020304" pitchFamily="18" charset="0"/>
              </a:rPr>
              <a:t>S</a:t>
            </a:r>
            <a:r>
              <a:rPr lang="en-US" altLang="en-US" sz="28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800" i="1" smtClean="0">
                <a:latin typeface="Times New Roman" panose="02020603050405020304" pitchFamily="18" charset="0"/>
              </a:rPr>
              <a:t> </a:t>
            </a:r>
            <a:r>
              <a:rPr lang="en-US" altLang="en-US" sz="2800" smtClean="0">
                <a:latin typeface="Times New Roman" panose="02020603050405020304" pitchFamily="18" charset="0"/>
              </a:rPr>
              <a:t>–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I </a:t>
            </a:r>
            <a:r>
              <a:rPr lang="en-US" altLang="en-US" sz="2800" smtClean="0">
                <a:latin typeface="Times New Roman" panose="02020603050405020304" pitchFamily="18" charset="0"/>
              </a:rPr>
              <a:t>)</a:t>
            </a:r>
            <a:r>
              <a:rPr lang="en-US" altLang="en-US" sz="2800" i="1" smtClean="0">
                <a:latin typeface="Times New Roman" panose="02020603050405020304" pitchFamily="18" charset="0"/>
              </a:rPr>
              <a:t>e</a:t>
            </a:r>
            <a:r>
              <a:rPr lang="en-US" altLang="en-US" sz="2800" i="1" baseline="30000" smtClean="0">
                <a:latin typeface="Times New Roman" panose="02020603050405020304" pitchFamily="18" charset="0"/>
              </a:rPr>
              <a:t>rT</a:t>
            </a:r>
            <a:r>
              <a:rPr lang="en-US" altLang="en-US" sz="2800" baseline="30000" smtClean="0"/>
              <a:t>    </a:t>
            </a:r>
            <a:endParaRPr lang="en-US" altLang="en-US" sz="280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smtClean="0"/>
              <a:t>	where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I </a:t>
            </a:r>
            <a:r>
              <a:rPr lang="en-US" altLang="en-US" sz="2800" smtClean="0"/>
              <a:t>is the present value of the income during life of forward contract</a:t>
            </a:r>
          </a:p>
        </p:txBody>
      </p:sp>
      <p:sp>
        <p:nvSpPr>
          <p:cNvPr id="37895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B965043-292F-45D1-BFB7-BECA64EC5593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 smtClean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i="0" smtClean="0"/>
          </a:p>
        </p:txBody>
      </p:sp>
      <p:sp>
        <p:nvSpPr>
          <p:cNvPr id="39939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9940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9941" name="Rectangle 4"/>
          <p:cNvSpPr>
            <a:spLocks noGrp="1" noChangeArrowheads="1"/>
          </p:cNvSpPr>
          <p:nvPr>
            <p:ph type="title"/>
          </p:nvPr>
        </p:nvSpPr>
        <p:spPr>
          <a:xfrm>
            <a:off x="611188" y="476250"/>
            <a:ext cx="7345362" cy="146685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When an Investment Asset Provides a Known Yield </a:t>
            </a:r>
            <a:br>
              <a:rPr lang="en-US" altLang="en-US" smtClean="0"/>
            </a:br>
            <a:r>
              <a:rPr lang="en-US" altLang="en-US" sz="2200" smtClean="0"/>
              <a:t>(Equation 5.3, page 115)</a:t>
            </a:r>
            <a:endParaRPr lang="en-US" altLang="en-US" smtClean="0"/>
          </a:p>
        </p:txBody>
      </p:sp>
      <p:sp>
        <p:nvSpPr>
          <p:cNvPr id="3994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54038" y="2565400"/>
            <a:ext cx="8035925" cy="2286000"/>
          </a:xfrm>
          <a:noFill/>
        </p:spPr>
        <p:txBody>
          <a:bodyPr lIns="90488" tIns="44450" rIns="90488" bIns="44450"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4000" i="1" smtClean="0">
                <a:latin typeface="Times New Roman" panose="02020603050405020304" pitchFamily="18" charset="0"/>
              </a:rPr>
              <a:t>F</a:t>
            </a:r>
            <a:r>
              <a:rPr lang="en-US" altLang="en-US" sz="40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4000" i="1" smtClean="0">
                <a:latin typeface="Times New Roman" panose="02020603050405020304" pitchFamily="18" charset="0"/>
              </a:rPr>
              <a:t> = S</a:t>
            </a:r>
            <a:r>
              <a:rPr lang="en-US" altLang="en-US" sz="40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4000" i="1" smtClean="0">
                <a:latin typeface="Times New Roman" panose="02020603050405020304" pitchFamily="18" charset="0"/>
              </a:rPr>
              <a:t> e</a:t>
            </a:r>
            <a:r>
              <a:rPr lang="en-US" altLang="en-US" sz="4000" baseline="30000" smtClean="0">
                <a:latin typeface="Times New Roman" panose="02020603050405020304" pitchFamily="18" charset="0"/>
              </a:rPr>
              <a:t>(</a:t>
            </a:r>
            <a:r>
              <a:rPr lang="en-US" altLang="en-US" sz="4000" i="1" baseline="30000" smtClean="0">
                <a:latin typeface="Times New Roman" panose="02020603050405020304" pitchFamily="18" charset="0"/>
              </a:rPr>
              <a:t>r</a:t>
            </a:r>
            <a:r>
              <a:rPr lang="en-US" altLang="en-US" sz="4000" baseline="30000" smtClean="0">
                <a:latin typeface="Times New Roman" panose="02020603050405020304" pitchFamily="18" charset="0"/>
              </a:rPr>
              <a:t>–</a:t>
            </a:r>
            <a:r>
              <a:rPr lang="en-US" altLang="en-US" sz="4000" i="1" baseline="30000" smtClean="0">
                <a:latin typeface="Times New Roman" panose="02020603050405020304" pitchFamily="18" charset="0"/>
              </a:rPr>
              <a:t>q </a:t>
            </a:r>
            <a:r>
              <a:rPr lang="en-US" altLang="en-US" sz="4000" baseline="30000" smtClean="0">
                <a:latin typeface="Times New Roman" panose="02020603050405020304" pitchFamily="18" charset="0"/>
              </a:rPr>
              <a:t>)</a:t>
            </a:r>
            <a:r>
              <a:rPr lang="en-US" altLang="en-US" sz="4000" i="1" baseline="30000" smtClean="0">
                <a:latin typeface="Times New Roman" panose="02020603050405020304" pitchFamily="18" charset="0"/>
              </a:rPr>
              <a:t>T</a:t>
            </a:r>
            <a:r>
              <a:rPr lang="en-US" altLang="en-US" baseline="30000" smtClean="0"/>
              <a:t>      </a:t>
            </a:r>
            <a:endParaRPr lang="en-US" altLang="en-US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 where </a:t>
            </a:r>
            <a:r>
              <a:rPr lang="en-US" altLang="en-US" i="1" smtClean="0">
                <a:latin typeface="Times New Roman" panose="02020603050405020304" pitchFamily="18" charset="0"/>
              </a:rPr>
              <a:t>q</a:t>
            </a:r>
            <a:r>
              <a:rPr lang="en-US" altLang="en-US" smtClean="0"/>
              <a:t> is the average yield during the life of the contract (expressed with continuous compounding)</a:t>
            </a:r>
          </a:p>
        </p:txBody>
      </p:sp>
      <p:sp>
        <p:nvSpPr>
          <p:cNvPr id="3994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8E5C42-50FB-4AE2-A8DC-ECDBAEDF7213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 smtClean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Valuing a Forward Contract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38" y="2054225"/>
            <a:ext cx="8229600" cy="4411663"/>
          </a:xfrm>
        </p:spPr>
        <p:txBody>
          <a:bodyPr/>
          <a:lstStyle/>
          <a:p>
            <a:pPr eaLnBrk="1" hangingPunct="1">
              <a:defRPr/>
            </a:pPr>
            <a:r>
              <a:rPr lang="en-CA" sz="2800" dirty="0" smtClean="0"/>
              <a:t>A forward contract is worth zero (except for bid-offer spread effects) when it is first negotiated</a:t>
            </a:r>
          </a:p>
          <a:p>
            <a:pPr eaLnBrk="1" hangingPunct="1">
              <a:defRPr/>
            </a:pPr>
            <a:r>
              <a:rPr lang="en-CA" sz="2800" dirty="0" smtClean="0"/>
              <a:t>Later it may have a positive or negative value</a:t>
            </a:r>
          </a:p>
          <a:p>
            <a:pPr eaLnBrk="1" hangingPunct="1">
              <a:defRPr/>
            </a:pPr>
            <a:r>
              <a:rPr lang="en-CA" sz="2800" dirty="0" smtClean="0"/>
              <a:t>Suppose that </a:t>
            </a:r>
            <a:r>
              <a:rPr lang="en-CA" sz="2800" i="1" dirty="0" smtClean="0">
                <a:latin typeface="+mj-lt"/>
              </a:rPr>
              <a:t>K</a:t>
            </a:r>
            <a:r>
              <a:rPr lang="en-CA" sz="2800" dirty="0" smtClean="0"/>
              <a:t> is the delivery price and </a:t>
            </a:r>
            <a:r>
              <a:rPr lang="en-CA" sz="2800" i="1" dirty="0" smtClean="0">
                <a:latin typeface="+mj-lt"/>
              </a:rPr>
              <a:t>F</a:t>
            </a:r>
            <a:r>
              <a:rPr lang="en-CA" sz="2800" baseline="-25000" dirty="0" smtClean="0"/>
              <a:t>0</a:t>
            </a:r>
            <a:r>
              <a:rPr lang="en-CA" sz="2800" dirty="0" smtClean="0"/>
              <a:t> is the forward price for a contract  that would be negotiated today</a:t>
            </a:r>
          </a:p>
          <a:p>
            <a:pPr eaLnBrk="1" hangingPunct="1">
              <a:buFontTx/>
              <a:buNone/>
              <a:defRPr/>
            </a:pPr>
            <a:endParaRPr lang="en-US" dirty="0"/>
          </a:p>
        </p:txBody>
      </p:sp>
      <p:sp>
        <p:nvSpPr>
          <p:cNvPr id="4198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</a:p>
        </p:txBody>
      </p:sp>
      <p:sp>
        <p:nvSpPr>
          <p:cNvPr id="4198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A5DC6D-EE27-4362-8E29-9FA5653E46F1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4"/>
          <p:cNvSpPr>
            <a:spLocks noGrp="1" noChangeArrowheads="1"/>
          </p:cNvSpPr>
          <p:nvPr>
            <p:ph type="title"/>
          </p:nvPr>
        </p:nvSpPr>
        <p:spPr>
          <a:xfrm>
            <a:off x="827088" y="692150"/>
            <a:ext cx="6965950" cy="762000"/>
          </a:xfrm>
        </p:spPr>
        <p:txBody>
          <a:bodyPr lIns="90488" tIns="44450" rIns="90488" bIns="4445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Valuing </a:t>
            </a:r>
            <a:r>
              <a:rPr lang="en-US" dirty="0" smtClean="0"/>
              <a:t>Forward Contracts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(</a:t>
            </a:r>
            <a:r>
              <a:rPr lang="en-US" sz="2700" dirty="0" smtClean="0"/>
              <a:t>Pages 115-118)</a:t>
            </a:r>
            <a:endParaRPr lang="en-US" sz="2700" dirty="0"/>
          </a:p>
        </p:txBody>
      </p:sp>
      <p:sp>
        <p:nvSpPr>
          <p:cNvPr id="18435" name="Rectangle 5"/>
          <p:cNvSpPr>
            <a:spLocks noGrp="1" noChangeArrowheads="1"/>
          </p:cNvSpPr>
          <p:nvPr>
            <p:ph idx="1"/>
          </p:nvPr>
        </p:nvSpPr>
        <p:spPr>
          <a:xfrm>
            <a:off x="914400" y="2209800"/>
            <a:ext cx="7785100" cy="3611563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defRPr/>
            </a:pPr>
            <a:r>
              <a:rPr lang="en-CA" dirty="0" smtClean="0">
                <a:cs typeface="Arial" charset="0"/>
              </a:rPr>
              <a:t>By considering the difference between a contract with delivery price </a:t>
            </a:r>
            <a:r>
              <a:rPr lang="en-CA" i="1" dirty="0" smtClean="0">
                <a:latin typeface="+mj-lt"/>
                <a:cs typeface="Arial" charset="0"/>
              </a:rPr>
              <a:t>K</a:t>
            </a:r>
            <a:r>
              <a:rPr lang="en-CA" dirty="0" smtClean="0">
                <a:cs typeface="Arial" charset="0"/>
              </a:rPr>
              <a:t> and a contract with delivery price </a:t>
            </a:r>
            <a:r>
              <a:rPr lang="en-CA" i="1" dirty="0" smtClean="0">
                <a:latin typeface="+mj-lt"/>
                <a:cs typeface="Arial" charset="0"/>
              </a:rPr>
              <a:t>F</a:t>
            </a:r>
            <a:r>
              <a:rPr lang="en-CA" baseline="-25000" dirty="0" smtClean="0">
                <a:cs typeface="Arial" charset="0"/>
              </a:rPr>
              <a:t>0</a:t>
            </a:r>
            <a:r>
              <a:rPr lang="en-CA" dirty="0" smtClean="0">
                <a:cs typeface="Arial" charset="0"/>
              </a:rPr>
              <a:t> we can show that: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CA" dirty="0" smtClean="0">
                <a:cs typeface="Arial" charset="0"/>
              </a:rPr>
              <a:t>The value, </a:t>
            </a:r>
            <a:r>
              <a:rPr lang="en-CA" i="1" dirty="0" smtClean="0">
                <a:latin typeface="+mj-lt"/>
                <a:cs typeface="Arial" charset="0"/>
              </a:rPr>
              <a:t>f</a:t>
            </a:r>
            <a:r>
              <a:rPr lang="en-CA" dirty="0" smtClean="0">
                <a:cs typeface="Arial" charset="0"/>
              </a:rPr>
              <a:t>, of a long forward contract is</a:t>
            </a:r>
          </a:p>
          <a:p>
            <a:pPr marL="344487" lvl="1" indent="0" algn="ctr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CA" dirty="0" smtClean="0">
                <a:cs typeface="Arial" charset="0"/>
              </a:rPr>
              <a:t>(</a:t>
            </a:r>
            <a:r>
              <a:rPr lang="en-CA" i="1" dirty="0" smtClean="0">
                <a:latin typeface="+mj-lt"/>
                <a:cs typeface="Arial" charset="0"/>
              </a:rPr>
              <a:t>F</a:t>
            </a:r>
            <a:r>
              <a:rPr lang="en-CA" baseline="-25000" dirty="0" smtClean="0">
                <a:cs typeface="Arial" charset="0"/>
              </a:rPr>
              <a:t>0</a:t>
            </a:r>
            <a:r>
              <a:rPr lang="en-CA" dirty="0" smtClean="0">
                <a:cs typeface="Arial" charset="0"/>
              </a:rPr>
              <a:t>−</a:t>
            </a:r>
            <a:r>
              <a:rPr lang="en-CA" i="1" dirty="0" smtClean="0">
                <a:latin typeface="+mj-lt"/>
                <a:cs typeface="Arial" charset="0"/>
              </a:rPr>
              <a:t>K</a:t>
            </a:r>
            <a:r>
              <a:rPr lang="en-CA" dirty="0" smtClean="0">
                <a:cs typeface="Arial" charset="0"/>
              </a:rPr>
              <a:t>)</a:t>
            </a:r>
            <a:r>
              <a:rPr lang="en-CA" i="1" dirty="0" smtClean="0">
                <a:latin typeface="+mj-lt"/>
                <a:cs typeface="Arial" charset="0"/>
              </a:rPr>
              <a:t>e</a:t>
            </a:r>
            <a:r>
              <a:rPr lang="en-CA" baseline="30000" dirty="0">
                <a:cs typeface="Arial" charset="0"/>
              </a:rPr>
              <a:t>−</a:t>
            </a:r>
            <a:r>
              <a:rPr lang="en-CA" i="1" baseline="30000" dirty="0" err="1" smtClean="0">
                <a:latin typeface="+mj-lt"/>
                <a:cs typeface="Arial" charset="0"/>
              </a:rPr>
              <a:t>rT</a:t>
            </a:r>
            <a:endParaRPr lang="en-US" i="1" dirty="0" smtClean="0">
              <a:latin typeface="+mj-lt"/>
              <a:cs typeface="Arial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>
                <a:cs typeface="Arial" charset="0"/>
              </a:rPr>
              <a:t>the value of a short forward contract is 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 smtClean="0">
                <a:latin typeface="Times New Roman" pitchFamily="18" charset="0"/>
                <a:cs typeface="Arial" charset="0"/>
              </a:rPr>
              <a:t>	(</a:t>
            </a:r>
            <a:r>
              <a:rPr lang="en-US" sz="2400" i="1" dirty="0" smtClean="0">
                <a:latin typeface="Times New Roman" pitchFamily="18" charset="0"/>
                <a:cs typeface="Arial" charset="0"/>
              </a:rPr>
              <a:t>K </a:t>
            </a:r>
            <a:r>
              <a:rPr lang="en-US" sz="2400" dirty="0" smtClean="0">
                <a:latin typeface="Times New Roman" pitchFamily="18" charset="0"/>
                <a:cs typeface="Arial" charset="0"/>
              </a:rPr>
              <a:t>– </a:t>
            </a:r>
            <a:r>
              <a:rPr lang="en-US" sz="2400" i="1" dirty="0" smtClean="0">
                <a:latin typeface="Times New Roman" pitchFamily="18" charset="0"/>
                <a:cs typeface="Arial" charset="0"/>
              </a:rPr>
              <a:t>F</a:t>
            </a:r>
            <a:r>
              <a:rPr lang="en-US" sz="2400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sz="2400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Arial" charset="0"/>
              </a:rPr>
              <a:t>)</a:t>
            </a:r>
            <a:r>
              <a:rPr lang="en-US" sz="2400" i="1" dirty="0" smtClean="0">
                <a:latin typeface="Times New Roman" pitchFamily="18" charset="0"/>
                <a:cs typeface="Arial" charset="0"/>
              </a:rPr>
              <a:t>e</a:t>
            </a:r>
            <a:r>
              <a:rPr lang="en-US" sz="2400" baseline="30000" dirty="0" smtClean="0">
                <a:latin typeface="Times New Roman" pitchFamily="18" charset="0"/>
                <a:cs typeface="Arial" charset="0"/>
              </a:rPr>
              <a:t>–</a:t>
            </a:r>
            <a:r>
              <a:rPr lang="en-US" sz="2400" i="1" baseline="30000" dirty="0" err="1" smtClean="0">
                <a:latin typeface="Times New Roman" pitchFamily="18" charset="0"/>
                <a:cs typeface="Arial" charset="0"/>
              </a:rPr>
              <a:t>rT</a:t>
            </a:r>
            <a:endParaRPr lang="en-US" sz="2400" baseline="30000" dirty="0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440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440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C4F811-CE1D-430F-A864-9A4AD891CFC5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 smtClean="0"/>
          </a:p>
        </p:txBody>
      </p:sp>
      <p:sp>
        <p:nvSpPr>
          <p:cNvPr id="4403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403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Forward vs Futures Prices</a:t>
            </a:r>
          </a:p>
        </p:txBody>
      </p:sp>
      <p:sp>
        <p:nvSpPr>
          <p:cNvPr id="46083" name="Rectangle 5"/>
          <p:cNvSpPr>
            <a:spLocks noGrp="1" noChangeArrowheads="1"/>
          </p:cNvSpPr>
          <p:nvPr>
            <p:ph idx="1"/>
          </p:nvPr>
        </p:nvSpPr>
        <p:spPr>
          <a:xfrm>
            <a:off x="533400" y="2133600"/>
            <a:ext cx="8272463" cy="36576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When the maturity and asset price are the same, forward and futures prices are usually assumed to be equal. (Eurodollar futures are an exception)</a:t>
            </a:r>
          </a:p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When interest rates are uncertain they are, in theory, slightly different:</a:t>
            </a:r>
          </a:p>
          <a:p>
            <a:pPr lvl="1" eaLnBrk="1" hangingPunct="1"/>
            <a:r>
              <a:rPr lang="en-US" altLang="en-US" sz="2000" smtClean="0">
                <a:cs typeface="Arial" panose="020B0604020202020204" pitchFamily="34" charset="0"/>
              </a:rPr>
              <a:t>A strong positive correlation between interest rates and the asset price implies the futures price is slightly higher than the forward price</a:t>
            </a:r>
          </a:p>
          <a:p>
            <a:pPr lvl="1" eaLnBrk="1" hangingPunct="1"/>
            <a:r>
              <a:rPr lang="en-US" altLang="en-US" sz="2000" smtClean="0">
                <a:cs typeface="Arial" panose="020B0604020202020204" pitchFamily="34" charset="0"/>
              </a:rPr>
              <a:t>A strong negative correlation implies the reverse </a:t>
            </a:r>
          </a:p>
        </p:txBody>
      </p:sp>
      <p:sp>
        <p:nvSpPr>
          <p:cNvPr id="460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460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C6BA03A-0641-4921-A06F-5ECD3EAEF720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 smtClean="0"/>
          </a:p>
        </p:txBody>
      </p:sp>
      <p:sp>
        <p:nvSpPr>
          <p:cNvPr id="4608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608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i="0" smtClean="0"/>
          </a:p>
        </p:txBody>
      </p:sp>
      <p:sp>
        <p:nvSpPr>
          <p:cNvPr id="48131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8132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8133" name="Rectangle 4"/>
          <p:cNvSpPr>
            <a:spLocks noGrp="1" noChangeArrowheads="1"/>
          </p:cNvSpPr>
          <p:nvPr>
            <p:ph type="title"/>
          </p:nvPr>
        </p:nvSpPr>
        <p:spPr>
          <a:xfrm>
            <a:off x="644525" y="419100"/>
            <a:ext cx="7772400" cy="1143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Stock Index </a:t>
            </a:r>
            <a:r>
              <a:rPr lang="en-US" altLang="en-US" sz="2200" smtClean="0"/>
              <a:t>(Page 119)</a:t>
            </a:r>
            <a:endParaRPr lang="en-US" altLang="en-US" smtClean="0"/>
          </a:p>
        </p:txBody>
      </p:sp>
      <p:sp>
        <p:nvSpPr>
          <p:cNvPr id="4813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1492250"/>
            <a:ext cx="7772400" cy="4114800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Can be viewed as an investment asset paying a dividend yield</a:t>
            </a:r>
            <a:endParaRPr lang="en-US" altLang="en-US" sz="2800" i="1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The futures price and spot price relationship is therefore 	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i="1" smtClean="0"/>
              <a:t>               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F</a:t>
            </a:r>
            <a:r>
              <a:rPr lang="en-US" altLang="en-US" sz="28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800" smtClean="0">
                <a:latin typeface="Times New Roman" panose="02020603050405020304" pitchFamily="18" charset="0"/>
              </a:rPr>
              <a:t> =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S</a:t>
            </a:r>
            <a:r>
              <a:rPr lang="en-US" altLang="en-US" sz="28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800" i="1" smtClean="0">
                <a:latin typeface="Times New Roman" panose="02020603050405020304" pitchFamily="18" charset="0"/>
              </a:rPr>
              <a:t> e</a:t>
            </a:r>
            <a:r>
              <a:rPr lang="en-US" altLang="en-US" sz="2800" baseline="30000" smtClean="0">
                <a:latin typeface="Times New Roman" panose="02020603050405020304" pitchFamily="18" charset="0"/>
              </a:rPr>
              <a:t>(</a:t>
            </a:r>
            <a:r>
              <a:rPr lang="en-US" altLang="en-US" sz="2800" i="1" baseline="30000" smtClean="0">
                <a:latin typeface="Times New Roman" panose="02020603050405020304" pitchFamily="18" charset="0"/>
              </a:rPr>
              <a:t>r</a:t>
            </a:r>
            <a:r>
              <a:rPr lang="en-US" altLang="en-US" sz="2800" baseline="30000" smtClean="0">
                <a:latin typeface="Times New Roman" panose="02020603050405020304" pitchFamily="18" charset="0"/>
              </a:rPr>
              <a:t>–</a:t>
            </a:r>
            <a:r>
              <a:rPr lang="en-US" altLang="en-US" sz="2800" i="1" baseline="30000" smtClean="0">
                <a:latin typeface="Times New Roman" panose="02020603050405020304" pitchFamily="18" charset="0"/>
              </a:rPr>
              <a:t>q </a:t>
            </a:r>
            <a:r>
              <a:rPr lang="en-US" altLang="en-US" sz="2800" baseline="30000" smtClean="0">
                <a:latin typeface="Times New Roman" panose="02020603050405020304" pitchFamily="18" charset="0"/>
              </a:rPr>
              <a:t>)</a:t>
            </a:r>
            <a:r>
              <a:rPr lang="en-US" altLang="en-US" sz="2800" i="1" baseline="30000" smtClean="0">
                <a:latin typeface="Times New Roman" panose="02020603050405020304" pitchFamily="18" charset="0"/>
              </a:rPr>
              <a:t>T</a:t>
            </a:r>
            <a:r>
              <a:rPr lang="en-US" altLang="en-US" sz="2800" smtClean="0"/>
              <a:t>     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smtClean="0"/>
              <a:t>   where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q</a:t>
            </a:r>
            <a:r>
              <a:rPr lang="en-US" altLang="en-US" sz="2800" smtClean="0"/>
              <a:t> is the dividend yield on the portfolio represented by the index during life of contract</a:t>
            </a:r>
          </a:p>
        </p:txBody>
      </p:sp>
      <p:sp>
        <p:nvSpPr>
          <p:cNvPr id="48135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ADAD1A-2923-430F-8CFB-754F33201450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 smtClean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4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7027863" cy="11430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Stock Index </a:t>
            </a:r>
            <a:r>
              <a:rPr lang="en-US" altLang="en-US" sz="2600" smtClean="0"/>
              <a:t>(continued)</a:t>
            </a:r>
          </a:p>
        </p:txBody>
      </p:sp>
      <p:sp>
        <p:nvSpPr>
          <p:cNvPr id="50179" name="Rectangle 5"/>
          <p:cNvSpPr>
            <a:spLocks noGrp="1" noChangeArrowheads="1"/>
          </p:cNvSpPr>
          <p:nvPr>
            <p:ph idx="1"/>
          </p:nvPr>
        </p:nvSpPr>
        <p:spPr>
          <a:xfrm>
            <a:off x="250825" y="1557338"/>
            <a:ext cx="8424863" cy="3941762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cs typeface="Arial" panose="020B0604020202020204" pitchFamily="34" charset="0"/>
              </a:rPr>
              <a:t>For the formula to be true it is important that the index represent an investment asset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cs typeface="Arial" panose="020B0604020202020204" pitchFamily="34" charset="0"/>
              </a:rPr>
              <a:t>In other words, changes in the index must correspond to changes in the value of a tradable portfolio</a:t>
            </a:r>
            <a:endParaRPr lang="en-US" altLang="en-US" sz="2800" i="1" smtClean="0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cs typeface="Arial" panose="020B0604020202020204" pitchFamily="34" charset="0"/>
              </a:rPr>
              <a:t>The Nikkei index viewed as a dollar number does not represent an investment asset (See Business Snapshot 5.3, page 119)</a:t>
            </a:r>
          </a:p>
        </p:txBody>
      </p:sp>
      <p:sp>
        <p:nvSpPr>
          <p:cNvPr id="501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501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F158AF-5B83-48CD-9493-C3436B5C8A9C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 smtClean="0"/>
          </a:p>
        </p:txBody>
      </p:sp>
      <p:sp>
        <p:nvSpPr>
          <p:cNvPr id="5018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018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i="0" smtClean="0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Index Arbitrage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When </a:t>
            </a:r>
            <a:r>
              <a:rPr lang="en-US" altLang="en-US" i="1" smtClean="0">
                <a:latin typeface="Times New Roman" panose="02020603050405020304" pitchFamily="18" charset="0"/>
              </a:rPr>
              <a:t>F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 </a:t>
            </a:r>
            <a:r>
              <a:rPr lang="en-US" altLang="en-US" i="1" smtClean="0">
                <a:latin typeface="Times New Roman" panose="02020603050405020304" pitchFamily="18" charset="0"/>
              </a:rPr>
              <a:t>&gt; 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i="1" smtClean="0">
                <a:latin typeface="Times New Roman" panose="02020603050405020304" pitchFamily="18" charset="0"/>
              </a:rPr>
              <a:t>e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(r-q)T</a:t>
            </a:r>
            <a:r>
              <a:rPr lang="en-US" altLang="en-US" i="1" baseline="30000" smtClean="0"/>
              <a:t> </a:t>
            </a:r>
            <a:r>
              <a:rPr lang="en-US" altLang="en-US" smtClean="0"/>
              <a:t>an arbitrageur buys the stocks underlying the index and sells futures</a:t>
            </a:r>
          </a:p>
          <a:p>
            <a:pPr eaLnBrk="1" hangingPunct="1"/>
            <a:r>
              <a:rPr lang="en-US" altLang="en-US" smtClean="0"/>
              <a:t>When </a:t>
            </a:r>
            <a:r>
              <a:rPr lang="en-US" altLang="en-US" i="1" smtClean="0">
                <a:latin typeface="Times New Roman" panose="02020603050405020304" pitchFamily="18" charset="0"/>
              </a:rPr>
              <a:t>F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 </a:t>
            </a:r>
            <a:r>
              <a:rPr lang="en-US" altLang="en-US" i="1" smtClean="0">
                <a:latin typeface="Times New Roman" panose="02020603050405020304" pitchFamily="18" charset="0"/>
              </a:rPr>
              <a:t>&lt; 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i="1" smtClean="0">
                <a:latin typeface="Times New Roman" panose="02020603050405020304" pitchFamily="18" charset="0"/>
              </a:rPr>
              <a:t>e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(r-q)T</a:t>
            </a:r>
            <a:r>
              <a:rPr lang="en-US" altLang="en-US" i="1" baseline="30000" smtClean="0"/>
              <a:t> </a:t>
            </a:r>
            <a:r>
              <a:rPr lang="en-US" altLang="en-US" smtClean="0"/>
              <a:t>an arbitrageur buys futures and shorts or sells the stocks underlying the index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522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7016419-3E9B-4212-AD78-615DA119D614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 smtClean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4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Index Arbitrage</a:t>
            </a:r>
            <a:br>
              <a:rPr lang="en-US" altLang="en-US" smtClean="0"/>
            </a:br>
            <a:r>
              <a:rPr lang="en-US" altLang="en-US" sz="2600" smtClean="0"/>
              <a:t>(continued)</a:t>
            </a:r>
          </a:p>
        </p:txBody>
      </p:sp>
      <p:sp>
        <p:nvSpPr>
          <p:cNvPr id="54275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773238"/>
            <a:ext cx="6883400" cy="3781425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Index arbitrage involves simultaneous trades in futures and many different stocks </a:t>
            </a:r>
          </a:p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Very often a computer is used to generate the trades </a:t>
            </a:r>
          </a:p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Occasionally simultaneous trades are not possible and the theoretical no-arbitrage relationship between 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F</a:t>
            </a:r>
            <a:r>
              <a:rPr lang="en-US" altLang="en-US" sz="2400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n-US" altLang="en-US" sz="2400" smtClean="0">
                <a:cs typeface="Arial" panose="020B0604020202020204" pitchFamily="34" charset="0"/>
              </a:rPr>
              <a:t> and 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altLang="en-US" sz="2400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n-US" altLang="en-US" sz="2400" smtClean="0">
                <a:cs typeface="Arial" panose="020B0604020202020204" pitchFamily="34" charset="0"/>
              </a:rPr>
              <a:t> does not hold (see Business Snapshot 5.4 on page 120)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smtClean="0">
              <a:cs typeface="Arial" panose="020B0604020202020204" pitchFamily="34" charset="0"/>
            </a:endParaRPr>
          </a:p>
        </p:txBody>
      </p:sp>
      <p:sp>
        <p:nvSpPr>
          <p:cNvPr id="5427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542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D99F27F-48F7-438D-930C-6D78D0172ECB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 smtClean="0"/>
          </a:p>
        </p:txBody>
      </p:sp>
      <p:sp>
        <p:nvSpPr>
          <p:cNvPr id="5427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427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5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Futures and Forwards on Currencies </a:t>
            </a:r>
            <a:r>
              <a:rPr lang="en-US" altLang="en-US" sz="2200" smtClean="0"/>
              <a:t>(Pages 121-124)</a:t>
            </a:r>
            <a:endParaRPr lang="en-US" altLang="en-US" smtClean="0"/>
          </a:p>
        </p:txBody>
      </p:sp>
      <p:sp>
        <p:nvSpPr>
          <p:cNvPr id="56323" name="Rectangle 4"/>
          <p:cNvSpPr>
            <a:spLocks noGrp="1" noChangeArrowheads="1"/>
          </p:cNvSpPr>
          <p:nvPr>
            <p:ph idx="1"/>
          </p:nvPr>
        </p:nvSpPr>
        <p:spPr>
          <a:xfrm>
            <a:off x="827088" y="1844675"/>
            <a:ext cx="7258050" cy="3090863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A foreign currency is analogous to a security providing a yield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The yield is the foreign risk-free interest rate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It follows that if </a:t>
            </a:r>
            <a:r>
              <a:rPr lang="en-US" altLang="en-US" i="1" smtClean="0">
                <a:latin typeface="Times New Roman" panose="02020603050405020304" pitchFamily="18" charset="0"/>
                <a:cs typeface="Arial" panose="020B0604020202020204" pitchFamily="34" charset="0"/>
              </a:rPr>
              <a:t>r</a:t>
            </a:r>
            <a:r>
              <a:rPr lang="en-US" altLang="en-US" i="1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f</a:t>
            </a:r>
            <a:r>
              <a:rPr lang="en-US" altLang="en-US" i="1" baseline="-25000" smtClean="0">
                <a:cs typeface="Arial" panose="020B0604020202020204" pitchFamily="34" charset="0"/>
              </a:rPr>
              <a:t>  </a:t>
            </a:r>
            <a:r>
              <a:rPr lang="en-US" altLang="en-US" smtClean="0">
                <a:cs typeface="Arial" panose="020B0604020202020204" pitchFamily="34" charset="0"/>
              </a:rPr>
              <a:t>is the foreign risk-free interest rate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>
                <a:cs typeface="Arial" panose="020B0604020202020204" pitchFamily="34" charset="0"/>
              </a:rPr>
              <a:t>      </a:t>
            </a:r>
          </a:p>
        </p:txBody>
      </p:sp>
      <p:sp>
        <p:nvSpPr>
          <p:cNvPr id="563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563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C3963FA-5FA5-4956-944A-2532C28CACD4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 smtClean="0"/>
          </a:p>
        </p:txBody>
      </p:sp>
      <p:sp>
        <p:nvSpPr>
          <p:cNvPr id="5632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632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56328" name="Object 6"/>
          <p:cNvGraphicFramePr>
            <a:graphicFrameLocks noChangeAspect="1"/>
          </p:cNvGraphicFramePr>
          <p:nvPr/>
        </p:nvGraphicFramePr>
        <p:xfrm>
          <a:off x="3505200" y="5029200"/>
          <a:ext cx="2857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9" name="Equation" r:id="rId4" imgW="876300" imgH="241300" progId="Equation.2">
                  <p:embed/>
                </p:oleObj>
              </mc:Choice>
              <mc:Fallback>
                <p:oleObj name="Equation" r:id="rId4" imgW="876300" imgH="241300" progId="Equation.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029200"/>
                        <a:ext cx="28575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>
          <a:xfrm>
            <a:off x="468313" y="404813"/>
            <a:ext cx="7543800" cy="1295400"/>
          </a:xfrm>
        </p:spPr>
        <p:txBody>
          <a:bodyPr/>
          <a:lstStyle/>
          <a:p>
            <a:pPr eaLnBrk="1" hangingPunct="1"/>
            <a:r>
              <a:rPr lang="en-CA" altLang="en-US" sz="4000" smtClean="0"/>
              <a:t>Explanation of the Relationship Between Spot and Forward </a:t>
            </a:r>
            <a:r>
              <a:rPr lang="en-CA" altLang="en-US" sz="2400" smtClean="0"/>
              <a:t>(Figure 5.1, page 121)</a:t>
            </a:r>
            <a:endParaRPr lang="en-US" altLang="en-US" sz="2400" smtClean="0"/>
          </a:p>
        </p:txBody>
      </p:sp>
      <p:sp>
        <p:nvSpPr>
          <p:cNvPr id="5837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903E6D-E148-4B36-B9EA-15E2DF1377EE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800" smtClean="0"/>
          </a:p>
        </p:txBody>
      </p:sp>
      <p:graphicFrame>
        <p:nvGraphicFramePr>
          <p:cNvPr id="5" name="Diagram 4"/>
          <p:cNvGraphicFramePr/>
          <p:nvPr/>
        </p:nvGraphicFramePr>
        <p:xfrm>
          <a:off x="1331640" y="1988840"/>
          <a:ext cx="5334000" cy="363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58374" name="Object 3"/>
          <p:cNvGraphicFramePr>
            <a:graphicFrameLocks noChangeAspect="1"/>
          </p:cNvGraphicFramePr>
          <p:nvPr/>
        </p:nvGraphicFramePr>
        <p:xfrm>
          <a:off x="1692275" y="3500438"/>
          <a:ext cx="16986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6" name="Equation" r:id="rId9" imgW="1053643" imgH="545863" progId="Equation.3">
                  <p:embed/>
                </p:oleObj>
              </mc:Choice>
              <mc:Fallback>
                <p:oleObj name="Equation" r:id="rId9" imgW="1053643" imgH="54586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500438"/>
                        <a:ext cx="16986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5" name="Object 4"/>
          <p:cNvGraphicFramePr>
            <a:graphicFrameLocks noChangeAspect="1"/>
          </p:cNvGraphicFramePr>
          <p:nvPr/>
        </p:nvGraphicFramePr>
        <p:xfrm>
          <a:off x="1619250" y="4797425"/>
          <a:ext cx="1744663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7" name="Equation" r:id="rId11" imgW="1028700" imgH="381000" progId="Equation.3">
                  <p:embed/>
                </p:oleObj>
              </mc:Choice>
              <mc:Fallback>
                <p:oleObj name="Equation" r:id="rId11" imgW="1028700" imgH="38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797425"/>
                        <a:ext cx="1744663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4"/>
          <p:cNvSpPr>
            <a:spLocks noGrp="1" noChangeArrowheads="1"/>
          </p:cNvSpPr>
          <p:nvPr>
            <p:ph type="title"/>
          </p:nvPr>
        </p:nvSpPr>
        <p:spPr>
          <a:xfrm>
            <a:off x="1143000" y="990600"/>
            <a:ext cx="7227888" cy="762000"/>
          </a:xfrm>
        </p:spPr>
        <p:txBody>
          <a:bodyPr lIns="90488" tIns="44450" rIns="90488" bIns="44450"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Consumption Assets: Storage is Negative Income</a:t>
            </a:r>
            <a:endParaRPr lang="en-US" dirty="0"/>
          </a:p>
        </p:txBody>
      </p:sp>
      <p:sp>
        <p:nvSpPr>
          <p:cNvPr id="60419" name="Rectangle 5"/>
          <p:cNvSpPr>
            <a:spLocks noGrp="1" noChangeArrowheads="1"/>
          </p:cNvSpPr>
          <p:nvPr>
            <p:ph idx="1"/>
          </p:nvPr>
        </p:nvSpPr>
        <p:spPr>
          <a:xfrm>
            <a:off x="762000" y="2057400"/>
            <a:ext cx="7559675" cy="4038600"/>
          </a:xfrm>
        </p:spPr>
        <p:txBody>
          <a:bodyPr lIns="90488" tIns="44450" rIns="90488" bIns="44450"/>
          <a:lstStyle/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 smtClean="0">
                <a:latin typeface="Times New Roman" panose="02020603050405020304" pitchFamily="18" charset="0"/>
                <a:cs typeface="Arial" panose="020B0604020202020204" pitchFamily="34" charset="0"/>
              </a:rPr>
              <a:t>F</a:t>
            </a:r>
            <a:r>
              <a:rPr lang="en-US" altLang="en-US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n-US" altLang="en-US" i="1" smtClean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en-US" smtClean="0">
                <a:latin typeface="Symbol" panose="05050102010706020507" pitchFamily="18" charset="2"/>
                <a:cs typeface="Arial" panose="020B0604020202020204" pitchFamily="34" charset="0"/>
              </a:rPr>
              <a:t></a:t>
            </a:r>
            <a:r>
              <a:rPr lang="en-US" altLang="en-US" smtClean="0">
                <a:cs typeface="Arial" panose="020B0604020202020204" pitchFamily="34" charset="0"/>
              </a:rPr>
              <a:t> </a:t>
            </a:r>
            <a:r>
              <a:rPr lang="en-US" altLang="en-US" i="1" smtClean="0">
                <a:latin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n-US" altLang="en-US" i="1" smtClean="0">
                <a:latin typeface="Times New Roman" panose="02020603050405020304" pitchFamily="18" charset="0"/>
                <a:cs typeface="Arial" panose="020B0604020202020204" pitchFamily="34" charset="0"/>
              </a:rPr>
              <a:t> e</a:t>
            </a:r>
            <a:r>
              <a:rPr lang="en-US" altLang="en-US" baseline="30000" smtClean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baseline="30000" smtClean="0">
                <a:latin typeface="Times New Roman" panose="02020603050405020304" pitchFamily="18" charset="0"/>
                <a:cs typeface="Arial" panose="020B0604020202020204" pitchFamily="34" charset="0"/>
              </a:rPr>
              <a:t>r+u </a:t>
            </a:r>
            <a:r>
              <a:rPr lang="en-US" altLang="en-US" baseline="30000" smtClean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altLang="en-US" i="1" baseline="30000" smtClean="0">
                <a:latin typeface="Times New Roman" panose="02020603050405020304" pitchFamily="18" charset="0"/>
                <a:cs typeface="Arial" panose="020B0604020202020204" pitchFamily="34" charset="0"/>
              </a:rPr>
              <a:t>T</a:t>
            </a:r>
            <a:endParaRPr lang="en-US" altLang="en-US" smtClean="0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mtClean="0">
                <a:cs typeface="Arial" panose="020B0604020202020204" pitchFamily="34" charset="0"/>
              </a:rPr>
              <a:t>   where </a:t>
            </a:r>
            <a:r>
              <a:rPr lang="en-US" altLang="en-US" i="1" smtClean="0">
                <a:latin typeface="Times New Roman" panose="02020603050405020304" pitchFamily="18" charset="0"/>
                <a:cs typeface="Arial" panose="020B0604020202020204" pitchFamily="34" charset="0"/>
              </a:rPr>
              <a:t>u</a:t>
            </a:r>
            <a:r>
              <a:rPr lang="en-US" altLang="en-US" smtClean="0">
                <a:cs typeface="Arial" panose="020B0604020202020204" pitchFamily="34" charset="0"/>
              </a:rPr>
              <a:t> is the storage cost per unit time as a percent of the asset value.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mtClean="0">
                <a:cs typeface="Arial" panose="020B0604020202020204" pitchFamily="34" charset="0"/>
              </a:rPr>
              <a:t>   Alternatively,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4000" i="1" smtClean="0">
                <a:cs typeface="Arial" panose="020B0604020202020204" pitchFamily="34" charset="0"/>
              </a:rPr>
              <a:t>              </a:t>
            </a:r>
            <a:r>
              <a:rPr lang="en-US" altLang="en-US" i="1" smtClean="0">
                <a:latin typeface="Times New Roman" panose="02020603050405020304" pitchFamily="18" charset="0"/>
                <a:cs typeface="Arial" panose="020B0604020202020204" pitchFamily="34" charset="0"/>
              </a:rPr>
              <a:t>F</a:t>
            </a:r>
            <a:r>
              <a:rPr lang="en-US" altLang="en-US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n-US" altLang="en-US" i="1" smtClean="0">
                <a:cs typeface="Arial" panose="020B0604020202020204" pitchFamily="34" charset="0"/>
              </a:rPr>
              <a:t> </a:t>
            </a:r>
            <a:r>
              <a:rPr lang="en-US" altLang="en-US" i="1" smtClean="0">
                <a:latin typeface="Symbol" panose="05050102010706020507" pitchFamily="18" charset="2"/>
                <a:cs typeface="Arial" panose="020B0604020202020204" pitchFamily="34" charset="0"/>
              </a:rPr>
              <a:t></a:t>
            </a:r>
            <a:r>
              <a:rPr lang="en-US" altLang="en-US" smtClean="0">
                <a:cs typeface="Arial" panose="020B0604020202020204" pitchFamily="34" charset="0"/>
              </a:rPr>
              <a:t> </a:t>
            </a:r>
            <a:r>
              <a:rPr lang="en-US" altLang="en-US" smtClean="0"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altLang="en-US" i="1" smtClean="0">
                <a:latin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n-US" altLang="en-US" i="1" smtClean="0">
                <a:latin typeface="Times New Roman" panose="02020603050405020304" pitchFamily="18" charset="0"/>
                <a:cs typeface="Arial" panose="020B0604020202020204" pitchFamily="34" charset="0"/>
              </a:rPr>
              <a:t>+U </a:t>
            </a:r>
            <a:r>
              <a:rPr lang="en-US" altLang="en-US" smtClean="0">
                <a:latin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en-US" altLang="en-US" i="1" smtClean="0">
                <a:latin typeface="Times New Roman" panose="02020603050405020304" pitchFamily="18" charset="0"/>
                <a:cs typeface="Arial" panose="020B0604020202020204" pitchFamily="34" charset="0"/>
              </a:rPr>
              <a:t>e</a:t>
            </a:r>
            <a:r>
              <a:rPr lang="en-US" altLang="en-US" i="1" baseline="30000" smtClean="0">
                <a:latin typeface="Times New Roman" panose="02020603050405020304" pitchFamily="18" charset="0"/>
                <a:cs typeface="Arial" panose="020B0604020202020204" pitchFamily="34" charset="0"/>
              </a:rPr>
              <a:t>rT</a:t>
            </a:r>
            <a:r>
              <a:rPr lang="en-US" altLang="en-US" i="1" smtClean="0">
                <a:cs typeface="Arial" panose="020B0604020202020204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mtClean="0">
                <a:cs typeface="Arial" panose="020B0604020202020204" pitchFamily="34" charset="0"/>
              </a:rPr>
              <a:t>   where </a:t>
            </a:r>
            <a:r>
              <a:rPr lang="en-US" altLang="en-US" i="1" smtClean="0">
                <a:latin typeface="Times New Roman" panose="02020603050405020304" pitchFamily="18" charset="0"/>
                <a:cs typeface="Arial" panose="020B0604020202020204" pitchFamily="34" charset="0"/>
              </a:rPr>
              <a:t>U</a:t>
            </a:r>
            <a:r>
              <a:rPr lang="en-US" altLang="en-US" smtClean="0">
                <a:cs typeface="Arial" panose="020B0604020202020204" pitchFamily="34" charset="0"/>
              </a:rPr>
              <a:t> is the present value of the storage costs.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604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604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6D8B61-9EBD-41B3-B276-008176C1CAAF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800" smtClean="0"/>
          </a:p>
        </p:txBody>
      </p:sp>
      <p:sp>
        <p:nvSpPr>
          <p:cNvPr id="6042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042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i="0" smtClean="0"/>
          </a:p>
        </p:txBody>
      </p:sp>
      <p:sp>
        <p:nvSpPr>
          <p:cNvPr id="62467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2468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2469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The Cost of Carry </a:t>
            </a:r>
            <a:r>
              <a:rPr lang="en-US" altLang="en-US" sz="2200" smtClean="0"/>
              <a:t>(Page 127)</a:t>
            </a:r>
            <a:endParaRPr lang="en-US" altLang="en-US" smtClean="0"/>
          </a:p>
        </p:txBody>
      </p:sp>
      <p:sp>
        <p:nvSpPr>
          <p:cNvPr id="6247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1628775"/>
            <a:ext cx="8058150" cy="4149725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2800" smtClean="0"/>
              <a:t>The cost of carry,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c</a:t>
            </a:r>
            <a:r>
              <a:rPr lang="en-US" altLang="en-US" sz="2800" smtClean="0"/>
              <a:t>, is the storage cost plus the interest costs less the income earned</a:t>
            </a:r>
          </a:p>
          <a:p>
            <a:pPr eaLnBrk="1" hangingPunct="1"/>
            <a:r>
              <a:rPr lang="en-US" altLang="en-US" sz="2800" smtClean="0"/>
              <a:t>For an investment asset 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F</a:t>
            </a:r>
            <a:r>
              <a:rPr lang="en-US" altLang="en-US" sz="28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800" i="1" smtClean="0">
                <a:latin typeface="Times New Roman" panose="02020603050405020304" pitchFamily="18" charset="0"/>
              </a:rPr>
              <a:t> = S</a:t>
            </a:r>
            <a:r>
              <a:rPr lang="en-US" altLang="en-US" sz="28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800" i="1" smtClean="0">
                <a:latin typeface="Times New Roman" panose="02020603050405020304" pitchFamily="18" charset="0"/>
              </a:rPr>
              <a:t>e</a:t>
            </a:r>
            <a:r>
              <a:rPr lang="en-US" altLang="en-US" sz="2800" i="1" baseline="30000" smtClean="0">
                <a:latin typeface="Times New Roman" panose="02020603050405020304" pitchFamily="18" charset="0"/>
              </a:rPr>
              <a:t>cT</a:t>
            </a:r>
            <a:r>
              <a:rPr lang="en-US" altLang="en-US" sz="2800" smtClean="0"/>
              <a:t>   </a:t>
            </a:r>
          </a:p>
          <a:p>
            <a:pPr eaLnBrk="1" hangingPunct="1"/>
            <a:r>
              <a:rPr lang="en-US" altLang="en-US" sz="2800" smtClean="0"/>
              <a:t>For a consumption asset 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F</a:t>
            </a:r>
            <a:r>
              <a:rPr lang="en-US" altLang="en-US" sz="28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800" i="1" smtClean="0">
                <a:latin typeface="Times New Roman" panose="02020603050405020304" pitchFamily="18" charset="0"/>
              </a:rPr>
              <a:t> </a:t>
            </a:r>
            <a:r>
              <a:rPr lang="en-US" altLang="en-US" sz="2800" smtClean="0">
                <a:latin typeface="Symbol" panose="05050102010706020507" pitchFamily="18" charset="2"/>
              </a:rPr>
              <a:t></a:t>
            </a:r>
            <a:r>
              <a:rPr lang="en-US" altLang="en-US" sz="2800" smtClean="0"/>
              <a:t>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S</a:t>
            </a:r>
            <a:r>
              <a:rPr lang="en-US" altLang="en-US" sz="28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800" i="1" smtClean="0">
                <a:latin typeface="Times New Roman" panose="02020603050405020304" pitchFamily="18" charset="0"/>
              </a:rPr>
              <a:t>e</a:t>
            </a:r>
            <a:r>
              <a:rPr lang="en-US" altLang="en-US" sz="2800" i="1" baseline="30000" smtClean="0">
                <a:latin typeface="Times New Roman" panose="02020603050405020304" pitchFamily="18" charset="0"/>
              </a:rPr>
              <a:t>cT</a:t>
            </a:r>
            <a:endParaRPr lang="en-US" altLang="en-US" sz="2800" smtClean="0"/>
          </a:p>
          <a:p>
            <a:pPr eaLnBrk="1" hangingPunct="1"/>
            <a:r>
              <a:rPr lang="en-US" altLang="en-US" sz="2800" smtClean="0"/>
              <a:t>The convenience yield on the consumption asset,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y</a:t>
            </a:r>
            <a:r>
              <a:rPr lang="en-US" altLang="en-US" sz="2800" smtClean="0"/>
              <a:t>, is defined so that 				                 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F</a:t>
            </a:r>
            <a:r>
              <a:rPr lang="en-US" altLang="en-US" sz="28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800" smtClean="0">
                <a:latin typeface="Times New Roman" panose="02020603050405020304" pitchFamily="18" charset="0"/>
              </a:rPr>
              <a:t> =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S</a:t>
            </a:r>
            <a:r>
              <a:rPr lang="en-US" altLang="en-US" sz="28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800" i="1" smtClean="0">
                <a:latin typeface="Times New Roman" panose="02020603050405020304" pitchFamily="18" charset="0"/>
              </a:rPr>
              <a:t> e</a:t>
            </a:r>
            <a:r>
              <a:rPr lang="en-US" altLang="en-US" sz="2800" baseline="30000" smtClean="0">
                <a:latin typeface="Times New Roman" panose="02020603050405020304" pitchFamily="18" charset="0"/>
              </a:rPr>
              <a:t>(</a:t>
            </a:r>
            <a:r>
              <a:rPr lang="en-US" altLang="en-US" sz="2800" i="1" baseline="30000" smtClean="0">
                <a:latin typeface="Times New Roman" panose="02020603050405020304" pitchFamily="18" charset="0"/>
              </a:rPr>
              <a:t>c</a:t>
            </a:r>
            <a:r>
              <a:rPr lang="en-US" altLang="en-US" sz="2800" baseline="30000" smtClean="0">
                <a:latin typeface="Times New Roman" panose="02020603050405020304" pitchFamily="18" charset="0"/>
              </a:rPr>
              <a:t>–</a:t>
            </a:r>
            <a:r>
              <a:rPr lang="en-US" altLang="en-US" sz="2800" i="1" baseline="30000" smtClean="0">
                <a:latin typeface="Times New Roman" panose="02020603050405020304" pitchFamily="18" charset="0"/>
              </a:rPr>
              <a:t>y </a:t>
            </a:r>
            <a:r>
              <a:rPr lang="en-US" altLang="en-US" sz="2800" baseline="30000" smtClean="0">
                <a:latin typeface="Times New Roman" panose="02020603050405020304" pitchFamily="18" charset="0"/>
              </a:rPr>
              <a:t>)</a:t>
            </a:r>
            <a:r>
              <a:rPr lang="en-US" altLang="en-US" sz="2800" i="1" baseline="30000" smtClean="0">
                <a:latin typeface="Times New Roman" panose="02020603050405020304" pitchFamily="18" charset="0"/>
              </a:rPr>
              <a:t>T</a:t>
            </a:r>
            <a:r>
              <a:rPr lang="en-US" altLang="en-US" sz="2800" smtClean="0"/>
              <a:t> </a:t>
            </a:r>
            <a:endParaRPr lang="en-US" altLang="en-US" sz="1800" smtClean="0"/>
          </a:p>
        </p:txBody>
      </p:sp>
      <p:sp>
        <p:nvSpPr>
          <p:cNvPr id="62471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3C1B3A-02DF-4CBC-AB33-6E5B90443AA6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800" smtClean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Futures Prices &amp; Expected Future Spot Prices </a:t>
            </a:r>
            <a:r>
              <a:rPr lang="en-US" altLang="en-US" sz="2200" smtClean="0"/>
              <a:t>(Pages 128-130)</a:t>
            </a:r>
            <a:endParaRPr lang="en-US" altLang="en-US" smtClean="0"/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Suppose 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k</a:t>
            </a:r>
            <a:r>
              <a:rPr lang="en-US" altLang="en-US" sz="2400" smtClean="0">
                <a:cs typeface="Arial" panose="020B0604020202020204" pitchFamily="34" charset="0"/>
              </a:rPr>
              <a:t> is the expected return required by investors in an asset</a:t>
            </a:r>
          </a:p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We can invest 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F</a:t>
            </a:r>
            <a:r>
              <a:rPr lang="en-US" altLang="en-US" sz="2400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e</a:t>
            </a:r>
            <a:r>
              <a:rPr lang="en-US" altLang="en-US" sz="2400" i="1" baseline="30000" smtClean="0">
                <a:latin typeface="Times New Roman" panose="02020603050405020304" pitchFamily="18" charset="0"/>
                <a:cs typeface="Arial" panose="020B0604020202020204" pitchFamily="34" charset="0"/>
              </a:rPr>
              <a:t>–r T </a:t>
            </a:r>
            <a:r>
              <a:rPr lang="en-US" altLang="en-US" sz="2400" smtClean="0">
                <a:cs typeface="Arial" panose="020B0604020202020204" pitchFamily="34" charset="0"/>
              </a:rPr>
              <a:t>at the risk-free rate and enter into a long futures contract to create a cash inflow of 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lang="en-US" altLang="en-US" sz="2400" i="1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en-US" altLang="en-US" sz="2400" smtClean="0">
                <a:cs typeface="Arial" panose="020B0604020202020204" pitchFamily="34" charset="0"/>
              </a:rPr>
              <a:t> at maturity</a:t>
            </a:r>
          </a:p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This shows that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mtClean="0">
                <a:cs typeface="Arial" panose="020B0604020202020204" pitchFamily="34" charset="0"/>
              </a:rPr>
              <a:t> </a:t>
            </a:r>
          </a:p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mtClean="0">
              <a:cs typeface="Arial" panose="020B0604020202020204" pitchFamily="3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6451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</a:p>
        </p:txBody>
      </p:sp>
      <p:sp>
        <p:nvSpPr>
          <p:cNvPr id="6451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CCCE51-2DAA-4E0E-9A43-D6876690E992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800" smtClean="0"/>
          </a:p>
        </p:txBody>
      </p:sp>
      <p:graphicFrame>
        <p:nvGraphicFramePr>
          <p:cNvPr id="64518" name="Object 3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0" name="Equation" r:id="rId4" imgW="114151" imgH="215619" progId="Equation.3">
                  <p:embed/>
                </p:oleObj>
              </mc:Choice>
              <mc:Fallback>
                <p:oleObj name="Equation" r:id="rId4" imgW="114151" imgH="21561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9" name="Object 4"/>
          <p:cNvGraphicFramePr>
            <a:graphicFrameLocks noChangeAspect="1"/>
          </p:cNvGraphicFramePr>
          <p:nvPr/>
        </p:nvGraphicFramePr>
        <p:xfrm>
          <a:off x="1219200" y="4495800"/>
          <a:ext cx="2667000" cy="167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1" name="Equation" r:id="rId6" imgW="1129810" imgH="710891" progId="Equation.3">
                  <p:embed/>
                </p:oleObj>
              </mc:Choice>
              <mc:Fallback>
                <p:oleObj name="Equation" r:id="rId6" imgW="1129810" imgH="71089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495800"/>
                        <a:ext cx="2667000" cy="167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1219200"/>
            <a:ext cx="7772400" cy="1143000"/>
          </a:xfrm>
        </p:spPr>
        <p:txBody>
          <a:bodyPr lIns="90488" tIns="44450" rIns="90488" bIns="4445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Futures Prices &amp; Future Spot Prices (continued) </a:t>
            </a:r>
            <a:br>
              <a:rPr lang="en-US" dirty="0"/>
            </a:br>
            <a:endParaRPr lang="en-US" dirty="0"/>
          </a:p>
        </p:txBody>
      </p:sp>
      <p:sp>
        <p:nvSpPr>
          <p:cNvPr id="6656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/>
              <a:t>Fundamentals of Futures and Options Markets, 9th Ed, Ch 5, 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665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95FE5C-89BF-4929-8B2C-F262D6676136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800" smtClean="0"/>
          </a:p>
        </p:txBody>
      </p:sp>
      <p:sp>
        <p:nvSpPr>
          <p:cNvPr id="66565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66566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3400" y="2819400"/>
          <a:ext cx="7086600" cy="1870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81400"/>
                <a:gridCol w="1467802"/>
                <a:gridCol w="2037398"/>
              </a:tblGrid>
              <a:tr h="523459">
                <a:tc>
                  <a:txBody>
                    <a:bodyPr/>
                    <a:lstStyle/>
                    <a:p>
                      <a:r>
                        <a:rPr lang="en-CA" sz="2400" dirty="0" smtClean="0"/>
                        <a:t>No</a:t>
                      </a:r>
                      <a:r>
                        <a:rPr lang="en-CA" sz="2400" baseline="0" dirty="0" smtClean="0"/>
                        <a:t> </a:t>
                      </a:r>
                      <a:r>
                        <a:rPr lang="en-CA" sz="2400" dirty="0" smtClean="0"/>
                        <a:t>Systematic Risk</a:t>
                      </a:r>
                      <a:endParaRPr lang="en-US" sz="2400" dirty="0"/>
                    </a:p>
                  </a:txBody>
                  <a:tcPr marT="45739" marB="457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 smtClean="0">
                          <a:latin typeface="+mj-lt"/>
                        </a:rPr>
                        <a:t>k = r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T="45739" marB="457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 smtClean="0">
                          <a:latin typeface="+mj-lt"/>
                        </a:rPr>
                        <a:t>F</a:t>
                      </a:r>
                      <a:r>
                        <a:rPr lang="en-CA" sz="2400" baseline="-25000" dirty="0" smtClean="0"/>
                        <a:t>0 </a:t>
                      </a:r>
                      <a:r>
                        <a:rPr lang="en-CA" sz="2400" dirty="0" smtClean="0"/>
                        <a:t>= </a:t>
                      </a:r>
                      <a:r>
                        <a:rPr lang="en-CA" sz="2400" b="0" i="1" dirty="0" smtClean="0">
                          <a:latin typeface="+mj-lt"/>
                        </a:rPr>
                        <a:t>E</a:t>
                      </a:r>
                      <a:r>
                        <a:rPr lang="en-CA" sz="2400" dirty="0" smtClean="0"/>
                        <a:t>(</a:t>
                      </a:r>
                      <a:r>
                        <a:rPr lang="en-CA" sz="2400" i="1" dirty="0" smtClean="0">
                          <a:latin typeface="+mj-lt"/>
                        </a:rPr>
                        <a:t>S</a:t>
                      </a:r>
                      <a:r>
                        <a:rPr lang="en-CA" sz="2400" i="1" baseline="-25000" dirty="0" smtClean="0">
                          <a:latin typeface="+mj-lt"/>
                        </a:rPr>
                        <a:t>T</a:t>
                      </a:r>
                      <a:r>
                        <a:rPr lang="en-CA" sz="2400" dirty="0" smtClean="0"/>
                        <a:t>)</a:t>
                      </a:r>
                      <a:endParaRPr lang="en-US" sz="2400" dirty="0"/>
                    </a:p>
                  </a:txBody>
                  <a:tcPr marT="45739" marB="45739"/>
                </a:tc>
              </a:tr>
              <a:tr h="523459">
                <a:tc>
                  <a:txBody>
                    <a:bodyPr/>
                    <a:lstStyle/>
                    <a:p>
                      <a:r>
                        <a:rPr lang="en-CA" sz="2400" dirty="0" smtClean="0"/>
                        <a:t>Positive Systematic</a:t>
                      </a:r>
                      <a:r>
                        <a:rPr lang="en-CA" sz="2400" baseline="0" dirty="0" smtClean="0"/>
                        <a:t> Risk</a:t>
                      </a:r>
                      <a:endParaRPr lang="en-US" sz="2400" dirty="0"/>
                    </a:p>
                  </a:txBody>
                  <a:tcPr marT="45739" marB="457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 smtClean="0">
                          <a:latin typeface="+mj-lt"/>
                        </a:rPr>
                        <a:t>k &gt; r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T="45739" marB="4573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i="1" dirty="0" smtClean="0">
                          <a:latin typeface="+mj-lt"/>
                        </a:rPr>
                        <a:t>F</a:t>
                      </a:r>
                      <a:r>
                        <a:rPr lang="en-CA" sz="2400" baseline="-25000" dirty="0" smtClean="0"/>
                        <a:t>0 </a:t>
                      </a:r>
                      <a:r>
                        <a:rPr lang="en-CA" sz="2400" dirty="0" smtClean="0"/>
                        <a:t>&lt; </a:t>
                      </a:r>
                      <a:r>
                        <a:rPr lang="en-CA" sz="2400" i="1" dirty="0" smtClean="0">
                          <a:latin typeface="+mj-lt"/>
                        </a:rPr>
                        <a:t>E</a:t>
                      </a:r>
                      <a:r>
                        <a:rPr lang="en-CA" sz="2400" dirty="0" smtClean="0"/>
                        <a:t>(</a:t>
                      </a:r>
                      <a:r>
                        <a:rPr lang="en-CA" sz="2400" i="1" dirty="0" smtClean="0">
                          <a:latin typeface="+mj-lt"/>
                        </a:rPr>
                        <a:t>S</a:t>
                      </a:r>
                      <a:r>
                        <a:rPr lang="en-CA" sz="2400" i="1" baseline="-25000" dirty="0" smtClean="0">
                          <a:latin typeface="+mj-lt"/>
                        </a:rPr>
                        <a:t>T</a:t>
                      </a:r>
                      <a:r>
                        <a:rPr lang="en-CA" sz="2400" dirty="0" smtClean="0"/>
                        <a:t>)</a:t>
                      </a:r>
                      <a:endParaRPr lang="en-US" sz="2400" dirty="0" smtClean="0"/>
                    </a:p>
                  </a:txBody>
                  <a:tcPr marT="45739" marB="45739"/>
                </a:tc>
              </a:tr>
              <a:tr h="823156">
                <a:tc>
                  <a:txBody>
                    <a:bodyPr/>
                    <a:lstStyle/>
                    <a:p>
                      <a:r>
                        <a:rPr lang="en-CA" sz="2400" dirty="0" smtClean="0"/>
                        <a:t>Negative</a:t>
                      </a:r>
                      <a:r>
                        <a:rPr lang="en-CA" sz="2400" baseline="0" dirty="0" smtClean="0"/>
                        <a:t> </a:t>
                      </a:r>
                      <a:r>
                        <a:rPr lang="en-CA" sz="2400" dirty="0" smtClean="0"/>
                        <a:t>Systematic</a:t>
                      </a:r>
                      <a:r>
                        <a:rPr lang="en-CA" sz="2400" baseline="0" dirty="0" smtClean="0"/>
                        <a:t> Risk</a:t>
                      </a:r>
                      <a:endParaRPr lang="en-US" sz="2400" dirty="0"/>
                    </a:p>
                  </a:txBody>
                  <a:tcPr marT="45739" marB="457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 smtClean="0">
                          <a:latin typeface="+mj-lt"/>
                        </a:rPr>
                        <a:t>k &lt; r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T="45739" marB="4573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i="1" dirty="0" smtClean="0">
                          <a:latin typeface="+mj-lt"/>
                        </a:rPr>
                        <a:t>F</a:t>
                      </a:r>
                      <a:r>
                        <a:rPr lang="en-CA" sz="2400" baseline="-25000" dirty="0" smtClean="0"/>
                        <a:t>0 </a:t>
                      </a:r>
                      <a:r>
                        <a:rPr lang="en-CA" sz="2400" baseline="0" dirty="0" smtClean="0"/>
                        <a:t>&gt; </a:t>
                      </a:r>
                      <a:r>
                        <a:rPr lang="en-CA" sz="2400" i="1" dirty="0" smtClean="0">
                          <a:latin typeface="+mj-lt"/>
                        </a:rPr>
                        <a:t>E</a:t>
                      </a:r>
                      <a:r>
                        <a:rPr lang="en-CA" sz="2400" dirty="0" smtClean="0"/>
                        <a:t>(</a:t>
                      </a:r>
                      <a:r>
                        <a:rPr lang="en-CA" sz="2400" i="1" dirty="0" smtClean="0">
                          <a:latin typeface="+mj-lt"/>
                        </a:rPr>
                        <a:t>S</a:t>
                      </a:r>
                      <a:r>
                        <a:rPr lang="en-CA" sz="2400" i="1" baseline="-25000" dirty="0" smtClean="0">
                          <a:latin typeface="+mj-lt"/>
                        </a:rPr>
                        <a:t>T</a:t>
                      </a:r>
                      <a:r>
                        <a:rPr lang="en-CA" sz="2400" dirty="0" smtClean="0"/>
                        <a:t>)</a:t>
                      </a:r>
                      <a:endParaRPr lang="en-US" sz="2400" dirty="0" smtClean="0"/>
                    </a:p>
                  </a:txBody>
                  <a:tcPr marT="45739" marB="45739"/>
                </a:tc>
              </a:tr>
            </a:tbl>
          </a:graphicData>
        </a:graphic>
      </p:graphicFrame>
      <p:sp>
        <p:nvSpPr>
          <p:cNvPr id="66585" name="TextBox 7"/>
          <p:cNvSpPr txBox="1">
            <a:spLocks noChangeArrowheads="1"/>
          </p:cNvSpPr>
          <p:nvPr/>
        </p:nvSpPr>
        <p:spPr bwMode="auto">
          <a:xfrm>
            <a:off x="1295400" y="4953000"/>
            <a:ext cx="6400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800"/>
              <a:t>Positive systematic risk: stock indices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800"/>
              <a:t>Negative systematic risk: gold (at least for some periods) </a:t>
            </a:r>
            <a:endParaRPr lang="en-US" altLang="en-US" sz="180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Network">
  <a:themeElements>
    <a:clrScheme name="1_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1_Networ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291BAE3-23BF-4B18-9D3B-D41B44B38BB8}"/>
</file>

<file path=customXml/itemProps2.xml><?xml version="1.0" encoding="utf-8"?>
<ds:datastoreItem xmlns:ds="http://schemas.openxmlformats.org/officeDocument/2006/customXml" ds:itemID="{825BC4B5-D9C1-463F-A32D-67C4A97E0FE1}"/>
</file>

<file path=customXml/itemProps3.xml><?xml version="1.0" encoding="utf-8"?>
<ds:datastoreItem xmlns:ds="http://schemas.openxmlformats.org/officeDocument/2006/customXml" ds:itemID="{E3C68C63-4732-4586-9196-92A6743CB42D}"/>
</file>

<file path=docProps/app.xml><?xml version="1.0" encoding="utf-8"?>
<Properties xmlns="http://schemas.openxmlformats.org/officeDocument/2006/extended-properties" xmlns:vt="http://schemas.openxmlformats.org/officeDocument/2006/docPropsVTypes">
  <Template>Ch02HullFundamentals5thEd</Template>
  <TotalTime>886</TotalTime>
  <Words>1581</Words>
  <Application>Microsoft Office PowerPoint</Application>
  <PresentationFormat>On-screen Show (4:3)</PresentationFormat>
  <Paragraphs>188</Paragraphs>
  <Slides>26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Times New Roman</vt:lpstr>
      <vt:lpstr>Wingdings</vt:lpstr>
      <vt:lpstr>Wingdings 2</vt:lpstr>
      <vt:lpstr>Symbol</vt:lpstr>
      <vt:lpstr>1_Network</vt:lpstr>
      <vt:lpstr>Microsoft Equation 2.0</vt:lpstr>
      <vt:lpstr>Microsoft Equation 3.0</vt:lpstr>
      <vt:lpstr>Determination of Forward and Futures Prices</vt:lpstr>
      <vt:lpstr>Consumption vs Investment Assets</vt:lpstr>
      <vt:lpstr>Short Selling (Pages 108-109)</vt:lpstr>
      <vt:lpstr>Short Selling (continued)</vt:lpstr>
      <vt:lpstr>Example</vt:lpstr>
      <vt:lpstr>Notation for Valuing Futures and Forward Contracts</vt:lpstr>
      <vt:lpstr>An Arbitrage Opportunity?</vt:lpstr>
      <vt:lpstr>Another Arbitrage Opportunity?</vt:lpstr>
      <vt:lpstr>The Forward Price </vt:lpstr>
      <vt:lpstr>When Interest Rates are Measured with  Continuous Compounding (Equation 5.1, page 111)</vt:lpstr>
      <vt:lpstr>If Short Sales Are Not Possible..</vt:lpstr>
      <vt:lpstr> When an Investment Asset Provides a Known Dollar Income (Equation 5.2, page 114)  </vt:lpstr>
      <vt:lpstr>When an Investment Asset Provides a Known Yield  (Equation 5.3, page 115)</vt:lpstr>
      <vt:lpstr>Valuing a Forward Contract</vt:lpstr>
      <vt:lpstr>Valuing Forward Contracts (Pages 115-118)</vt:lpstr>
      <vt:lpstr>Forward vs Futures Prices</vt:lpstr>
      <vt:lpstr>Stock Index (Page 119)</vt:lpstr>
      <vt:lpstr>Stock Index (continued)</vt:lpstr>
      <vt:lpstr>Index Arbitrage</vt:lpstr>
      <vt:lpstr>Index Arbitrage (continued)</vt:lpstr>
      <vt:lpstr>Futures and Forwards on Currencies (Pages 121-124)</vt:lpstr>
      <vt:lpstr>Explanation of the Relationship Between Spot and Forward (Figure 5.1, page 121)</vt:lpstr>
      <vt:lpstr>Consumption Assets: Storage is Negative Income</vt:lpstr>
      <vt:lpstr>The Cost of Carry (Page 127)</vt:lpstr>
      <vt:lpstr>Futures Prices &amp; Expected Future Spot Prices (Pages 128-130)</vt:lpstr>
      <vt:lpstr>Futures Prices &amp; Future Spot Prices (continued)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Determination of Forward and Futures Prices</dc:title>
  <dc:subject>Fundamentals of Futures and Options Markets, 9e</dc:subject>
  <dc:creator>John C. Hull</dc:creator>
  <cp:keywords>Chapter 5</cp:keywords>
  <dc:description>Copyright 2016 by John C. Hull. All Rights Reserved. Published 2016.</dc:description>
  <cp:lastModifiedBy>John Hull</cp:lastModifiedBy>
  <cp:revision>29</cp:revision>
  <cp:lastPrinted>2001-05-03T04:56:29Z</cp:lastPrinted>
  <dcterms:created xsi:type="dcterms:W3CDTF">2001-03-27T17:25:11Z</dcterms:created>
  <dcterms:modified xsi:type="dcterms:W3CDTF">2016-01-20T20:59:26Z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