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9.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7.xml" ContentType="application/vnd.openxmlformats-officedocument.presentationml.slide+xml"/>
  <Override PartName="/ppt/slides/slide34.xml" ContentType="application/vnd.openxmlformats-officedocument.presentationml.slide+xml"/>
  <Override PartName="/ppt/slides/slide26.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0.xml" ContentType="application/vnd.openxmlformats-officedocument.presentationml.slide+xml"/>
  <Override PartName="/ppt/slides/slide28.xml" ContentType="application/vnd.openxmlformats-officedocument.presentationml.slide+xml"/>
  <Override PartName="/ppt/slides/slide31.xml" ContentType="application/vnd.openxmlformats-officedocument.presentationml.slide+xml"/>
  <Override PartName="/ppt/slides/slide2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3.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notesSlides/notesSlide15.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2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24.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theme/theme2.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41"/>
  </p:notesMasterIdLst>
  <p:handoutMasterIdLst>
    <p:handoutMasterId r:id="rId42"/>
  </p:handoutMasterIdLst>
  <p:sldIdLst>
    <p:sldId id="289" r:id="rId2"/>
    <p:sldId id="258" r:id="rId3"/>
    <p:sldId id="259" r:id="rId4"/>
    <p:sldId id="267" r:id="rId5"/>
    <p:sldId id="262" r:id="rId6"/>
    <p:sldId id="260" r:id="rId7"/>
    <p:sldId id="263" r:id="rId8"/>
    <p:sldId id="268" r:id="rId9"/>
    <p:sldId id="264" r:id="rId10"/>
    <p:sldId id="265" r:id="rId11"/>
    <p:sldId id="266" r:id="rId12"/>
    <p:sldId id="269" r:id="rId13"/>
    <p:sldId id="297" r:id="rId14"/>
    <p:sldId id="298" r:id="rId15"/>
    <p:sldId id="292" r:id="rId16"/>
    <p:sldId id="301" r:id="rId17"/>
    <p:sldId id="270" r:id="rId18"/>
    <p:sldId id="299" r:id="rId19"/>
    <p:sldId id="271" r:id="rId20"/>
    <p:sldId id="300" r:id="rId21"/>
    <p:sldId id="274" r:id="rId22"/>
    <p:sldId id="275" r:id="rId23"/>
    <p:sldId id="286" r:id="rId24"/>
    <p:sldId id="294" r:id="rId25"/>
    <p:sldId id="302" r:id="rId26"/>
    <p:sldId id="303" r:id="rId27"/>
    <p:sldId id="273" r:id="rId28"/>
    <p:sldId id="285" r:id="rId29"/>
    <p:sldId id="291" r:id="rId30"/>
    <p:sldId id="290" r:id="rId31"/>
    <p:sldId id="277" r:id="rId32"/>
    <p:sldId id="288" r:id="rId33"/>
    <p:sldId id="278" r:id="rId34"/>
    <p:sldId id="279" r:id="rId35"/>
    <p:sldId id="280" r:id="rId36"/>
    <p:sldId id="281" r:id="rId37"/>
    <p:sldId id="282" r:id="rId38"/>
    <p:sldId id="283" r:id="rId39"/>
    <p:sldId id="284" r:id="rId4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7" autoAdjust="0"/>
    <p:restoredTop sz="94681" autoAdjust="0"/>
  </p:normalViewPr>
  <p:slideViewPr>
    <p:cSldViewPr>
      <p:cViewPr varScale="1">
        <p:scale>
          <a:sx n="122" d="100"/>
          <a:sy n="122" d="100"/>
        </p:scale>
        <p:origin x="120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3" d="100"/>
          <a:sy n="83" d="100"/>
        </p:scale>
        <p:origin x="-195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cs typeface="+mn-cs"/>
              </a:defRPr>
            </a:lvl1pPr>
          </a:lstStyle>
          <a:p>
            <a:pPr>
              <a:defRPr/>
            </a:pPr>
            <a:endParaRPr lang="en-US"/>
          </a:p>
        </p:txBody>
      </p:sp>
      <p:sp>
        <p:nvSpPr>
          <p:cNvPr id="5734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cs typeface="+mn-cs"/>
              </a:defRPr>
            </a:lvl1pPr>
          </a:lstStyle>
          <a:p>
            <a:pPr>
              <a:defRPr/>
            </a:pPr>
            <a:endParaRPr lang="en-US"/>
          </a:p>
        </p:txBody>
      </p:sp>
      <p:sp>
        <p:nvSpPr>
          <p:cNvPr id="5734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cs typeface="+mn-cs"/>
              </a:defRPr>
            </a:lvl1pPr>
          </a:lstStyle>
          <a:p>
            <a:pPr>
              <a:defRPr/>
            </a:pPr>
            <a:endParaRPr lang="en-US"/>
          </a:p>
        </p:txBody>
      </p:sp>
      <p:sp>
        <p:nvSpPr>
          <p:cNvPr id="5734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anose="02020603050405020304" pitchFamily="18" charset="0"/>
              </a:defRPr>
            </a:lvl1pPr>
          </a:lstStyle>
          <a:p>
            <a:pPr>
              <a:defRPr/>
            </a:pPr>
            <a:fld id="{5ACCF92F-D085-4545-B376-22BE76C49D57}" type="slidenum">
              <a:rPr lang="en-US" altLang="en-US"/>
              <a:pPr>
                <a:defRPr/>
              </a:pPr>
              <a:t>‹#›</a:t>
            </a:fld>
            <a:endParaRPr lang="en-US" altLang="en-US"/>
          </a:p>
        </p:txBody>
      </p:sp>
    </p:spTree>
    <p:extLst>
      <p:ext uri="{BB962C8B-B14F-4D97-AF65-F5344CB8AC3E}">
        <p14:creationId xmlns:p14="http://schemas.microsoft.com/office/powerpoint/2010/main" val="33431725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1BDA0E54-7EC9-4A13-803B-E6C1FC54C81F}" type="slidenum">
              <a:rPr lang="en-US" altLang="en-US"/>
              <a:pPr>
                <a:defRPr/>
              </a:pPr>
              <a:t>‹#›</a:t>
            </a:fld>
            <a:endParaRPr lang="en-US" altLang="en-US"/>
          </a:p>
        </p:txBody>
      </p:sp>
    </p:spTree>
    <p:extLst>
      <p:ext uri="{BB962C8B-B14F-4D97-AF65-F5344CB8AC3E}">
        <p14:creationId xmlns:p14="http://schemas.microsoft.com/office/powerpoint/2010/main" val="36826058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535999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20483"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2</a:t>
            </a:r>
          </a:p>
        </p:txBody>
      </p:sp>
      <p:sp>
        <p:nvSpPr>
          <p:cNvPr id="20484"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20485"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20486"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0487"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3023212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22531"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3</a:t>
            </a:r>
          </a:p>
        </p:txBody>
      </p:sp>
      <p:sp>
        <p:nvSpPr>
          <p:cNvPr id="22532"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22533"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22534"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2535"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63520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24579"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4</a:t>
            </a:r>
          </a:p>
        </p:txBody>
      </p:sp>
      <p:sp>
        <p:nvSpPr>
          <p:cNvPr id="24580"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24581"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24582"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583"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3895615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26627"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7</a:t>
            </a:r>
          </a:p>
        </p:txBody>
      </p:sp>
      <p:sp>
        <p:nvSpPr>
          <p:cNvPr id="26628"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26629"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26630"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6631"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2229530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
        <p:nvSpPr>
          <p:cNvPr id="28675" name="Rectangle 3"/>
          <p:cNvSpPr>
            <a:spLocks noGrp="1" noRot="1" noChangeAspect="1" noChangeArrowheads="1" noTextEdit="1"/>
          </p:cNvSpPr>
          <p:nvPr>
            <p:ph type="sldImg"/>
          </p:nvPr>
        </p:nvSpPr>
        <p:spPr>
          <a:xfrm>
            <a:off x="1150938" y="692150"/>
            <a:ext cx="4556125" cy="3416300"/>
          </a:xfrm>
          <a:ln w="12700" cap="flat">
            <a:solidFill>
              <a:schemeClr val="tx1"/>
            </a:solidFill>
          </a:ln>
        </p:spPr>
      </p:sp>
    </p:spTree>
    <p:extLst>
      <p:ext uri="{BB962C8B-B14F-4D97-AF65-F5344CB8AC3E}">
        <p14:creationId xmlns:p14="http://schemas.microsoft.com/office/powerpoint/2010/main" val="3713583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30723"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8</a:t>
            </a:r>
          </a:p>
        </p:txBody>
      </p:sp>
      <p:sp>
        <p:nvSpPr>
          <p:cNvPr id="30724"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30725"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30726"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30727"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3311131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978958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34819"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9</a:t>
            </a:r>
          </a:p>
        </p:txBody>
      </p:sp>
      <p:sp>
        <p:nvSpPr>
          <p:cNvPr id="34820"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34821"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34822"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34823"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116296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36867"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10</a:t>
            </a:r>
          </a:p>
        </p:txBody>
      </p:sp>
      <p:sp>
        <p:nvSpPr>
          <p:cNvPr id="36868"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36869"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36870"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36871"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3384142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38915"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11</a:t>
            </a:r>
          </a:p>
        </p:txBody>
      </p:sp>
      <p:sp>
        <p:nvSpPr>
          <p:cNvPr id="38916"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38917"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38918"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38919"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2683795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309962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846B929-3BD4-4FEA-991B-FBB3F9871655}" type="slidenum">
              <a:rPr lang="en-US" altLang="en-US" smtClean="0"/>
              <a:pPr>
                <a:spcBef>
                  <a:spcPct val="0"/>
                </a:spcBef>
              </a:pPr>
              <a:t>13</a:t>
            </a:fld>
            <a:endParaRPr lang="en-US" altLang="en-US" smtClean="0"/>
          </a:p>
        </p:txBody>
      </p:sp>
    </p:spTree>
    <p:extLst>
      <p:ext uri="{BB962C8B-B14F-4D97-AF65-F5344CB8AC3E}">
        <p14:creationId xmlns:p14="http://schemas.microsoft.com/office/powerpoint/2010/main" val="3967137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32B9B87-0174-4961-8616-27F33C5989ED}" type="slidenum">
              <a:rPr lang="en-US" altLang="en-US" smtClean="0"/>
              <a:pPr>
                <a:spcBef>
                  <a:spcPct val="0"/>
                </a:spcBef>
              </a:pPr>
              <a:t>14</a:t>
            </a:fld>
            <a:endParaRPr lang="en-US" altLang="en-US" smtClean="0"/>
          </a:p>
        </p:txBody>
      </p:sp>
    </p:spTree>
    <p:extLst>
      <p:ext uri="{BB962C8B-B14F-4D97-AF65-F5344CB8AC3E}">
        <p14:creationId xmlns:p14="http://schemas.microsoft.com/office/powerpoint/2010/main" val="17806360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3335159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Calibri" panose="020F0502020204030204" pitchFamily="34" charset="0"/>
            </a:endParaRPr>
          </a:p>
        </p:txBody>
      </p:sp>
      <p:sp>
        <p:nvSpPr>
          <p:cNvPr id="51203"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11</a:t>
            </a:r>
          </a:p>
        </p:txBody>
      </p:sp>
      <p:sp>
        <p:nvSpPr>
          <p:cNvPr id="51204"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Calibri" panose="020F0502020204030204" pitchFamily="34" charset="0"/>
            </a:endParaRPr>
          </a:p>
        </p:txBody>
      </p:sp>
      <p:sp>
        <p:nvSpPr>
          <p:cNvPr id="51205"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Calibri" panose="020F0502020204030204" pitchFamily="34" charset="0"/>
            </a:endParaRPr>
          </a:p>
        </p:txBody>
      </p:sp>
      <p:sp>
        <p:nvSpPr>
          <p:cNvPr id="51206" name="Rectangle 6"/>
          <p:cNvSpPr>
            <a:spLocks noGrp="1" noRot="1" noChangeAspect="1" noChangeArrowheads="1" noTextEdit="1"/>
          </p:cNvSpPr>
          <p:nvPr>
            <p:ph type="sldImg"/>
          </p:nvPr>
        </p:nvSpPr>
        <p:spPr>
          <a:xfrm>
            <a:off x="1150938" y="692150"/>
            <a:ext cx="4556125" cy="3416300"/>
          </a:xfrm>
          <a:ln cap="flat">
            <a:solidFill>
              <a:schemeClr val="tx1"/>
            </a:solidFill>
          </a:ln>
        </p:spPr>
      </p:sp>
      <p:sp>
        <p:nvSpPr>
          <p:cNvPr id="51207"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spcBef>
                <a:spcPct val="0"/>
              </a:spcBef>
            </a:pPr>
            <a:endParaRPr lang="en-CA" altLang="en-US" smtClean="0"/>
          </a:p>
        </p:txBody>
      </p:sp>
    </p:spTree>
    <p:extLst>
      <p:ext uri="{BB962C8B-B14F-4D97-AF65-F5344CB8AC3E}">
        <p14:creationId xmlns:p14="http://schemas.microsoft.com/office/powerpoint/2010/main" val="3734852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7038064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1150938" y="692150"/>
            <a:ext cx="4556125" cy="3416300"/>
          </a:xfrm>
          <a:ln cap="flat">
            <a:solidFill>
              <a:schemeClr val="tx1"/>
            </a:solidFill>
          </a:ln>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spcBef>
                <a:spcPct val="0"/>
              </a:spcBef>
            </a:pPr>
            <a:endParaRPr lang="en-CA" altLang="en-US" smtClean="0"/>
          </a:p>
        </p:txBody>
      </p:sp>
    </p:spTree>
    <p:extLst>
      <p:ext uri="{BB962C8B-B14F-4D97-AF65-F5344CB8AC3E}">
        <p14:creationId xmlns:p14="http://schemas.microsoft.com/office/powerpoint/2010/main" val="39959171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ln/>
        </p:spPr>
      </p:sp>
      <p:sp>
        <p:nvSpPr>
          <p:cNvPr id="57347"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5677863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343167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8599741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
        <p:nvSpPr>
          <p:cNvPr id="66563" name="Rectangle 3"/>
          <p:cNvSpPr>
            <a:spLocks noGrp="1" noRot="1" noChangeAspect="1" noChangeArrowheads="1" noTextEdit="1"/>
          </p:cNvSpPr>
          <p:nvPr>
            <p:ph type="sldImg"/>
          </p:nvPr>
        </p:nvSpPr>
        <p:spPr>
          <a:xfrm>
            <a:off x="1150938" y="692150"/>
            <a:ext cx="4556125" cy="3416300"/>
          </a:xfrm>
          <a:ln w="12700" cap="flat">
            <a:solidFill>
              <a:schemeClr val="tx1"/>
            </a:solidFill>
          </a:ln>
        </p:spPr>
      </p:sp>
    </p:spTree>
    <p:extLst>
      <p:ext uri="{BB962C8B-B14F-4D97-AF65-F5344CB8AC3E}">
        <p14:creationId xmlns:p14="http://schemas.microsoft.com/office/powerpoint/2010/main" val="19861754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9961069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mtClean="0"/>
          </a:p>
        </p:txBody>
      </p:sp>
    </p:spTree>
    <p:extLst>
      <p:ext uri="{BB962C8B-B14F-4D97-AF65-F5344CB8AC3E}">
        <p14:creationId xmlns:p14="http://schemas.microsoft.com/office/powerpoint/2010/main" val="35171994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1FEE3D3-DB75-44F1-884F-744563FE2660}" type="slidenum">
              <a:rPr lang="en-US" altLang="en-US" smtClean="0"/>
              <a:pPr>
                <a:spcBef>
                  <a:spcPct val="0"/>
                </a:spcBef>
              </a:pPr>
              <a:t>30</a:t>
            </a:fld>
            <a:endParaRPr lang="en-US" altLang="en-US" smtClean="0"/>
          </a:p>
        </p:txBody>
      </p:sp>
    </p:spTree>
    <p:extLst>
      <p:ext uri="{BB962C8B-B14F-4D97-AF65-F5344CB8AC3E}">
        <p14:creationId xmlns:p14="http://schemas.microsoft.com/office/powerpoint/2010/main" val="33170486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74755"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16</a:t>
            </a:r>
          </a:p>
        </p:txBody>
      </p:sp>
      <p:sp>
        <p:nvSpPr>
          <p:cNvPr id="74756"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74757"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74758"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74759"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19391940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265817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78851"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17</a:t>
            </a:r>
          </a:p>
        </p:txBody>
      </p:sp>
      <p:sp>
        <p:nvSpPr>
          <p:cNvPr id="78852"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78853"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78854"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78855"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11238708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808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42154651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82947"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18</a:t>
            </a:r>
          </a:p>
        </p:txBody>
      </p:sp>
      <p:sp>
        <p:nvSpPr>
          <p:cNvPr id="82948"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82949"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82950"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82951"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11041580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84995"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19</a:t>
            </a:r>
          </a:p>
        </p:txBody>
      </p:sp>
      <p:sp>
        <p:nvSpPr>
          <p:cNvPr id="84996"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84997"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84998"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84999"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16440160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87043"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20</a:t>
            </a:r>
          </a:p>
        </p:txBody>
      </p:sp>
      <p:sp>
        <p:nvSpPr>
          <p:cNvPr id="87044"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87045"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87046"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87047"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5858473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89091"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21</a:t>
            </a:r>
          </a:p>
        </p:txBody>
      </p:sp>
      <p:sp>
        <p:nvSpPr>
          <p:cNvPr id="89092"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89093"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89094"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89095"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11180888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91139"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22</a:t>
            </a:r>
          </a:p>
        </p:txBody>
      </p:sp>
      <p:sp>
        <p:nvSpPr>
          <p:cNvPr id="91140"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91141"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91142"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91143"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1421569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0947"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210948"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a:xfrm>
            <a:off x="323850" y="6248400"/>
            <a:ext cx="7272338" cy="457200"/>
          </a:xfrm>
        </p:spPr>
        <p:txBody>
          <a:bodyPr/>
          <a:lstStyle>
            <a:lvl1pPr>
              <a:defRPr/>
            </a:lvl1pPr>
          </a:lstStyle>
          <a:p>
            <a:pPr>
              <a:defRPr/>
            </a:pPr>
            <a:r>
              <a:rPr lang="en-CA" altLang="en-US"/>
              <a:t>Fundamentals of Futures and Options Markets, 9th Ed, Ch 1, Copyright © John C. Hull 2016</a:t>
            </a:r>
            <a:endParaRPr lang="en-US" altLang="en-US" i="0"/>
          </a:p>
        </p:txBody>
      </p:sp>
      <p:sp>
        <p:nvSpPr>
          <p:cNvPr id="40" name="Rectangle 7"/>
          <p:cNvSpPr>
            <a:spLocks noGrp="1" noChangeArrowheads="1"/>
          </p:cNvSpPr>
          <p:nvPr>
            <p:ph type="sldNum" sz="quarter" idx="12"/>
          </p:nvPr>
        </p:nvSpPr>
        <p:spPr>
          <a:xfrm>
            <a:off x="6553200" y="6237288"/>
            <a:ext cx="2133600" cy="468312"/>
          </a:xfrm>
        </p:spPr>
        <p:txBody>
          <a:bodyPr/>
          <a:lstStyle>
            <a:lvl1pPr>
              <a:defRPr/>
            </a:lvl1pPr>
          </a:lstStyle>
          <a:p>
            <a:pPr>
              <a:defRPr/>
            </a:pPr>
            <a:fld id="{CF29658A-0201-411F-B4B0-D891F8FC7539}" type="slidenum">
              <a:rPr lang="en-US" altLang="en-US"/>
              <a:pPr>
                <a:defRPr/>
              </a:pPr>
              <a:t>‹#›</a:t>
            </a:fld>
            <a:endParaRPr lang="en-US" altLang="en-US"/>
          </a:p>
        </p:txBody>
      </p:sp>
    </p:spTree>
    <p:extLst>
      <p:ext uri="{BB962C8B-B14F-4D97-AF65-F5344CB8AC3E}">
        <p14:creationId xmlns:p14="http://schemas.microsoft.com/office/powerpoint/2010/main" val="550884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CA" altLang="en-US"/>
              <a:t>Fundamentals of Futures and Options Markets, 9th Ed, Ch 1,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pPr>
              <a:defRPr/>
            </a:pPr>
            <a:fld id="{ABC58FB9-8700-4371-860F-8CC635BF68A0}" type="slidenum">
              <a:rPr lang="en-US" altLang="en-US"/>
              <a:pPr>
                <a:defRPr/>
              </a:pPr>
              <a:t>‹#›</a:t>
            </a:fld>
            <a:endParaRPr lang="en-US" altLang="en-US"/>
          </a:p>
        </p:txBody>
      </p:sp>
    </p:spTree>
    <p:extLst>
      <p:ext uri="{BB962C8B-B14F-4D97-AF65-F5344CB8AC3E}">
        <p14:creationId xmlns:p14="http://schemas.microsoft.com/office/powerpoint/2010/main" val="2639677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CA" altLang="en-US"/>
              <a:t>Fundamentals of Futures and Options Markets, 9th Ed, Ch 1,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pPr>
              <a:defRPr/>
            </a:pPr>
            <a:fld id="{9B071463-825B-4087-A419-1995B6B78186}" type="slidenum">
              <a:rPr lang="en-US" altLang="en-US"/>
              <a:pPr>
                <a:defRPr/>
              </a:pPr>
              <a:t>‹#›</a:t>
            </a:fld>
            <a:endParaRPr lang="en-US" altLang="en-US"/>
          </a:p>
        </p:txBody>
      </p:sp>
    </p:spTree>
    <p:extLst>
      <p:ext uri="{BB962C8B-B14F-4D97-AF65-F5344CB8AC3E}">
        <p14:creationId xmlns:p14="http://schemas.microsoft.com/office/powerpoint/2010/main" val="3759180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CA" altLang="en-US"/>
              <a:t>Fundamentals of Futures and Options Markets, 9th Ed, Ch 1,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pPr>
              <a:defRPr/>
            </a:pPr>
            <a:fld id="{E083B192-66AF-4074-93CD-C0A96DED8CB4}" type="slidenum">
              <a:rPr lang="en-US" altLang="en-US"/>
              <a:pPr>
                <a:defRPr/>
              </a:pPr>
              <a:t>‹#›</a:t>
            </a:fld>
            <a:endParaRPr lang="en-US" altLang="en-US"/>
          </a:p>
        </p:txBody>
      </p:sp>
    </p:spTree>
    <p:extLst>
      <p:ext uri="{BB962C8B-B14F-4D97-AF65-F5344CB8AC3E}">
        <p14:creationId xmlns:p14="http://schemas.microsoft.com/office/powerpoint/2010/main" val="355253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endParaRPr lang="en-US" altLang="en-US"/>
          </a:p>
        </p:txBody>
      </p:sp>
      <p:sp>
        <p:nvSpPr>
          <p:cNvPr id="8" name="Footer Placeholder 7"/>
          <p:cNvSpPr>
            <a:spLocks noGrp="1"/>
          </p:cNvSpPr>
          <p:nvPr>
            <p:ph type="ftr" sz="quarter" idx="11"/>
          </p:nvPr>
        </p:nvSpPr>
        <p:spPr/>
        <p:txBody>
          <a:bodyPr/>
          <a:lstStyle>
            <a:lvl1pPr>
              <a:defRPr/>
            </a:lvl1pPr>
          </a:lstStyle>
          <a:p>
            <a:pPr>
              <a:defRPr/>
            </a:pPr>
            <a:r>
              <a:rPr lang="en-CA" altLang="en-US"/>
              <a:t>Fundamentals of Futures and Options Markets, 9th Ed, Ch 1, Copyright © John C. Hull 2016</a:t>
            </a:r>
            <a:endParaRPr lang="en-US" altLang="en-US" i="0"/>
          </a:p>
        </p:txBody>
      </p:sp>
      <p:sp>
        <p:nvSpPr>
          <p:cNvPr id="9" name="Slide Number Placeholder 8"/>
          <p:cNvSpPr>
            <a:spLocks noGrp="1"/>
          </p:cNvSpPr>
          <p:nvPr>
            <p:ph type="sldNum" sz="quarter" idx="12"/>
          </p:nvPr>
        </p:nvSpPr>
        <p:spPr/>
        <p:txBody>
          <a:bodyPr/>
          <a:lstStyle>
            <a:lvl1pPr>
              <a:defRPr/>
            </a:lvl1pPr>
          </a:lstStyle>
          <a:p>
            <a:pPr>
              <a:defRPr/>
            </a:pPr>
            <a:fld id="{A17ADF53-586C-441A-893B-04BD04105A0F}" type="slidenum">
              <a:rPr lang="en-US" altLang="en-US"/>
              <a:pPr>
                <a:defRPr/>
              </a:pPr>
              <a:t>‹#›</a:t>
            </a:fld>
            <a:endParaRPr lang="en-US" altLang="en-US"/>
          </a:p>
        </p:txBody>
      </p:sp>
    </p:spTree>
    <p:extLst>
      <p:ext uri="{BB962C8B-B14F-4D97-AF65-F5344CB8AC3E}">
        <p14:creationId xmlns:p14="http://schemas.microsoft.com/office/powerpoint/2010/main" val="2641665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p:txBody>
          <a:bodyPr/>
          <a:lstStyle>
            <a:lvl1pPr>
              <a:defRPr/>
            </a:lvl1pPr>
          </a:lstStyle>
          <a:p>
            <a:pPr>
              <a:defRPr/>
            </a:pPr>
            <a:r>
              <a:rPr lang="en-CA" altLang="en-US"/>
              <a:t>Fundamentals of Futures and Options Markets, 9th Ed, Ch 1, Copyright © John C. Hull 2016</a:t>
            </a:r>
            <a:endParaRPr lang="en-US" altLang="en-US" i="0"/>
          </a:p>
        </p:txBody>
      </p:sp>
      <p:sp>
        <p:nvSpPr>
          <p:cNvPr id="5" name="Slide Number Placeholder 4"/>
          <p:cNvSpPr>
            <a:spLocks noGrp="1"/>
          </p:cNvSpPr>
          <p:nvPr>
            <p:ph type="sldNum" sz="quarter" idx="12"/>
          </p:nvPr>
        </p:nvSpPr>
        <p:spPr/>
        <p:txBody>
          <a:bodyPr/>
          <a:lstStyle>
            <a:lvl1pPr>
              <a:defRPr/>
            </a:lvl1pPr>
          </a:lstStyle>
          <a:p>
            <a:pPr>
              <a:defRPr/>
            </a:pPr>
            <a:fld id="{85504313-8273-40AA-88F3-F61295D8DC77}" type="slidenum">
              <a:rPr lang="en-US" altLang="en-US"/>
              <a:pPr>
                <a:defRPr/>
              </a:pPr>
              <a:t>‹#›</a:t>
            </a:fld>
            <a:endParaRPr lang="en-US" altLang="en-US"/>
          </a:p>
        </p:txBody>
      </p:sp>
    </p:spTree>
    <p:extLst>
      <p:ext uri="{BB962C8B-B14F-4D97-AF65-F5344CB8AC3E}">
        <p14:creationId xmlns:p14="http://schemas.microsoft.com/office/powerpoint/2010/main" val="2679543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en-CA" altLang="en-US"/>
              <a:t>Fundamentals of Futures and Options Markets, 9th Ed, Ch 1, Copyright © John C. Hull 2016</a:t>
            </a:r>
            <a:endParaRPr lang="en-US" altLang="en-US" i="0"/>
          </a:p>
        </p:txBody>
      </p:sp>
      <p:sp>
        <p:nvSpPr>
          <p:cNvPr id="4" name="Slide Number Placeholder 3"/>
          <p:cNvSpPr>
            <a:spLocks noGrp="1"/>
          </p:cNvSpPr>
          <p:nvPr>
            <p:ph type="sldNum" sz="quarter" idx="12"/>
          </p:nvPr>
        </p:nvSpPr>
        <p:spPr/>
        <p:txBody>
          <a:bodyPr/>
          <a:lstStyle>
            <a:lvl1pPr>
              <a:defRPr/>
            </a:lvl1pPr>
          </a:lstStyle>
          <a:p>
            <a:pPr>
              <a:defRPr/>
            </a:pPr>
            <a:fld id="{B38E5E17-BC2D-4757-8380-384E5BE11822}" type="slidenum">
              <a:rPr lang="en-US" altLang="en-US"/>
              <a:pPr>
                <a:defRPr/>
              </a:pPr>
              <a:t>‹#›</a:t>
            </a:fld>
            <a:endParaRPr lang="en-US" altLang="en-US"/>
          </a:p>
        </p:txBody>
      </p:sp>
    </p:spTree>
    <p:extLst>
      <p:ext uri="{BB962C8B-B14F-4D97-AF65-F5344CB8AC3E}">
        <p14:creationId xmlns:p14="http://schemas.microsoft.com/office/powerpoint/2010/main" val="4156976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CA" altLang="en-US"/>
              <a:t>Fundamentals of Futures and Options Markets, 9th Ed, Ch 1,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pPr>
              <a:defRPr/>
            </a:pPr>
            <a:fld id="{60494231-F2D1-4050-91CC-C0EC5D2DDB22}" type="slidenum">
              <a:rPr lang="en-US" altLang="en-US"/>
              <a:pPr>
                <a:defRPr/>
              </a:pPr>
              <a:t>‹#›</a:t>
            </a:fld>
            <a:endParaRPr lang="en-US" altLang="en-US"/>
          </a:p>
        </p:txBody>
      </p:sp>
    </p:spTree>
    <p:extLst>
      <p:ext uri="{BB962C8B-B14F-4D97-AF65-F5344CB8AC3E}">
        <p14:creationId xmlns:p14="http://schemas.microsoft.com/office/powerpoint/2010/main" val="1538400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CA" altLang="en-US"/>
              <a:t>Fundamentals of Futures and Options Markets, 9th Ed, Ch 1,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pPr>
              <a:defRPr/>
            </a:pPr>
            <a:fld id="{1AD22619-3A9A-4158-9F1B-E788DE0662A9}" type="slidenum">
              <a:rPr lang="en-US" altLang="en-US"/>
              <a:pPr>
                <a:defRPr/>
              </a:pPr>
              <a:t>‹#›</a:t>
            </a:fld>
            <a:endParaRPr lang="en-US" altLang="en-US"/>
          </a:p>
        </p:txBody>
      </p:sp>
    </p:spTree>
    <p:extLst>
      <p:ext uri="{BB962C8B-B14F-4D97-AF65-F5344CB8AC3E}">
        <p14:creationId xmlns:p14="http://schemas.microsoft.com/office/powerpoint/2010/main" val="431602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CA" altLang="en-US"/>
              <a:t>Fundamentals of Futures and Options Markets, 9th Ed, Ch 1,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pPr>
              <a:defRPr/>
            </a:pPr>
            <a:fld id="{0E14FA05-80F7-4C3F-85A9-476042E55D73}" type="slidenum">
              <a:rPr lang="en-US" altLang="en-US"/>
              <a:pPr>
                <a:defRPr/>
              </a:pPr>
              <a:t>‹#›</a:t>
            </a:fld>
            <a:endParaRPr lang="en-US" altLang="en-US"/>
          </a:p>
        </p:txBody>
      </p:sp>
    </p:spTree>
    <p:extLst>
      <p:ext uri="{BB962C8B-B14F-4D97-AF65-F5344CB8AC3E}">
        <p14:creationId xmlns:p14="http://schemas.microsoft.com/office/powerpoint/2010/main" val="1574317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CA" altLang="en-US"/>
              <a:t>Fundamentals of Futures and Options Markets, 9th Ed, Ch 1,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pPr>
              <a:defRPr/>
            </a:pPr>
            <a:fld id="{C7588543-B4ED-4B78-91C0-6B95DA19663C}" type="slidenum">
              <a:rPr lang="en-US" altLang="en-US"/>
              <a:pPr>
                <a:defRPr/>
              </a:pPr>
              <a:t>‹#›</a:t>
            </a:fld>
            <a:endParaRPr lang="en-US" altLang="en-US"/>
          </a:p>
        </p:txBody>
      </p:sp>
    </p:spTree>
    <p:extLst>
      <p:ext uri="{BB962C8B-B14F-4D97-AF65-F5344CB8AC3E}">
        <p14:creationId xmlns:p14="http://schemas.microsoft.com/office/powerpoint/2010/main" val="27064574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719263"/>
            <a:ext cx="4038600" cy="21288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00500"/>
            <a:ext cx="4038600" cy="21304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p:txBody>
          <a:bodyPr/>
          <a:lstStyle>
            <a:lvl1pPr>
              <a:defRPr/>
            </a:lvl1pPr>
          </a:lstStyle>
          <a:p>
            <a:pPr>
              <a:defRPr/>
            </a:pPr>
            <a:endParaRPr lang="en-US" altLang="en-US"/>
          </a:p>
        </p:txBody>
      </p:sp>
      <p:sp>
        <p:nvSpPr>
          <p:cNvPr id="7" name="Footer Placeholder 6"/>
          <p:cNvSpPr>
            <a:spLocks noGrp="1"/>
          </p:cNvSpPr>
          <p:nvPr>
            <p:ph type="ftr" sz="quarter" idx="11"/>
          </p:nvPr>
        </p:nvSpPr>
        <p:spPr/>
        <p:txBody>
          <a:bodyPr/>
          <a:lstStyle>
            <a:lvl1pPr>
              <a:defRPr/>
            </a:lvl1pPr>
          </a:lstStyle>
          <a:p>
            <a:pPr>
              <a:defRPr/>
            </a:pPr>
            <a:r>
              <a:rPr lang="en-CA" altLang="en-US"/>
              <a:t>Fundamentals of Futures and Options Markets, 9th Ed, Ch 1, Copyright © John C. Hull 2016</a:t>
            </a:r>
            <a:endParaRPr lang="en-US" altLang="en-US" i="0"/>
          </a:p>
        </p:txBody>
      </p:sp>
      <p:sp>
        <p:nvSpPr>
          <p:cNvPr id="8" name="Slide Number Placeholder 7"/>
          <p:cNvSpPr>
            <a:spLocks noGrp="1"/>
          </p:cNvSpPr>
          <p:nvPr>
            <p:ph type="sldNum" sz="quarter" idx="12"/>
          </p:nvPr>
        </p:nvSpPr>
        <p:spPr/>
        <p:txBody>
          <a:bodyPr/>
          <a:lstStyle>
            <a:lvl1pPr>
              <a:defRPr/>
            </a:lvl1pPr>
          </a:lstStyle>
          <a:p>
            <a:pPr>
              <a:defRPr/>
            </a:pPr>
            <a:fld id="{E9180EBE-1980-4A46-B23F-223CEDD2E299}" type="slidenum">
              <a:rPr lang="en-US" altLang="en-US"/>
              <a:pPr>
                <a:defRPr/>
              </a:pPr>
              <a:t>‹#›</a:t>
            </a:fld>
            <a:endParaRPr lang="en-US" altLang="en-US"/>
          </a:p>
        </p:txBody>
      </p:sp>
    </p:spTree>
    <p:extLst>
      <p:ext uri="{BB962C8B-B14F-4D97-AF65-F5344CB8AC3E}">
        <p14:creationId xmlns:p14="http://schemas.microsoft.com/office/powerpoint/2010/main" val="1675903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CA" altLang="en-US"/>
              <a:t>Fundamentals of Futures and Options Markets, 9th Ed, Ch 1,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pPr>
              <a:defRPr/>
            </a:pPr>
            <a:fld id="{2148E536-76CA-4AA4-BF83-4D3EAF963C2E}" type="slidenum">
              <a:rPr lang="en-US" altLang="en-US"/>
              <a:pPr>
                <a:defRPr/>
              </a:pPr>
              <a:t>‹#›</a:t>
            </a:fld>
            <a:endParaRPr lang="en-US" altLang="en-US"/>
          </a:p>
        </p:txBody>
      </p:sp>
    </p:spTree>
    <p:extLst>
      <p:ext uri="{BB962C8B-B14F-4D97-AF65-F5344CB8AC3E}">
        <p14:creationId xmlns:p14="http://schemas.microsoft.com/office/powerpoint/2010/main" val="371547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09925"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cs typeface="+mn-cs"/>
              </a:defRPr>
            </a:lvl1pPr>
          </a:lstStyle>
          <a:p>
            <a:pPr>
              <a:defRPr/>
            </a:pPr>
            <a:endParaRPr lang="en-US" altLang="en-US"/>
          </a:p>
        </p:txBody>
      </p:sp>
      <p:sp>
        <p:nvSpPr>
          <p:cNvPr id="209926"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i="1">
                <a:latin typeface="Arial" charset="0"/>
                <a:cs typeface="+mn-cs"/>
              </a:defRPr>
            </a:lvl1pPr>
          </a:lstStyle>
          <a:p>
            <a:pPr>
              <a:defRPr/>
            </a:pPr>
            <a:r>
              <a:rPr lang="en-CA" altLang="en-US"/>
              <a:t>Fundamentals of Futures and Options Markets, 9th Ed, Ch 1, Copyright © John C. Hull 2016</a:t>
            </a:r>
            <a:endParaRPr lang="en-US" altLang="en-US"/>
          </a:p>
        </p:txBody>
      </p:sp>
      <p:sp>
        <p:nvSpPr>
          <p:cNvPr id="209927"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a:lvl1pPr>
          </a:lstStyle>
          <a:p>
            <a:pPr>
              <a:defRPr/>
            </a:pPr>
            <a:fld id="{9CF9F4D7-D87E-4049-A6BC-AB1C675852B0}" type="slidenum">
              <a:rPr lang="en-US" altLang="en-US"/>
              <a:pPr>
                <a:defRPr/>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39"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40"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41"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42"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43"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44"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48"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52"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57"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61"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sp>
          <p:nvSpPr>
            <p:cNvPr id="1063"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cs typeface="Arial" charset="0"/>
              </a:endParaRPr>
            </a:p>
          </p:txBody>
        </p:sp>
      </p:grpSp>
    </p:spTree>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 id="2147484007" r:id="rId12"/>
    <p:sldLayoutId id="2147484008" r:id="rId13"/>
  </p:sldLayoutIdLst>
  <p:timing>
    <p:tnLst>
      <p:par>
        <p:cTn id="1" dur="indefinite" restart="never" nodeType="tmRoot"/>
      </p:par>
    </p:tnLst>
  </p:timing>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Times New Roman" pitchFamily="18" charset="0"/>
        </a:defRPr>
      </a:lvl2pPr>
      <a:lvl3pPr algn="l" rtl="0" eaLnBrk="0" fontAlgn="base" hangingPunct="0">
        <a:spcBef>
          <a:spcPct val="0"/>
        </a:spcBef>
        <a:spcAft>
          <a:spcPct val="0"/>
        </a:spcAft>
        <a:defRPr sz="3900" b="1">
          <a:solidFill>
            <a:schemeClr val="tx2"/>
          </a:solidFill>
          <a:latin typeface="Times New Roman" pitchFamily="18" charset="0"/>
        </a:defRPr>
      </a:lvl3pPr>
      <a:lvl4pPr algn="l" rtl="0" eaLnBrk="0" fontAlgn="base" hangingPunct="0">
        <a:spcBef>
          <a:spcPct val="0"/>
        </a:spcBef>
        <a:spcAft>
          <a:spcPct val="0"/>
        </a:spcAft>
        <a:defRPr sz="3900" b="1">
          <a:solidFill>
            <a:schemeClr val="tx2"/>
          </a:solidFill>
          <a:latin typeface="Times New Roman" pitchFamily="18" charset="0"/>
        </a:defRPr>
      </a:lvl4pPr>
      <a:lvl5pPr algn="l" rtl="0" eaLnBrk="0" fontAlgn="base" hangingPunct="0">
        <a:spcBef>
          <a:spcPct val="0"/>
        </a:spcBef>
        <a:spcAft>
          <a:spcPct val="0"/>
        </a:spcAft>
        <a:defRPr sz="3900" b="1">
          <a:solidFill>
            <a:schemeClr val="tx2"/>
          </a:solidFill>
          <a:latin typeface="Times New Roman" pitchFamily="18" charset="0"/>
        </a:defRPr>
      </a:lvl5pPr>
      <a:lvl6pPr marL="457200" algn="l" rtl="0" fontAlgn="base">
        <a:spcBef>
          <a:spcPct val="0"/>
        </a:spcBef>
        <a:spcAft>
          <a:spcPct val="0"/>
        </a:spcAft>
        <a:defRPr sz="3900" b="1">
          <a:solidFill>
            <a:schemeClr val="tx2"/>
          </a:solidFill>
          <a:latin typeface="Times New Roman" pitchFamily="18" charset="0"/>
        </a:defRPr>
      </a:lvl6pPr>
      <a:lvl7pPr marL="914400" algn="l" rtl="0" fontAlgn="base">
        <a:spcBef>
          <a:spcPct val="0"/>
        </a:spcBef>
        <a:spcAft>
          <a:spcPct val="0"/>
        </a:spcAft>
        <a:defRPr sz="3900" b="1">
          <a:solidFill>
            <a:schemeClr val="tx2"/>
          </a:solidFill>
          <a:latin typeface="Times New Roman" pitchFamily="18" charset="0"/>
        </a:defRPr>
      </a:lvl7pPr>
      <a:lvl8pPr marL="1371600" algn="l" rtl="0" fontAlgn="base">
        <a:spcBef>
          <a:spcPct val="0"/>
        </a:spcBef>
        <a:spcAft>
          <a:spcPct val="0"/>
        </a:spcAft>
        <a:defRPr sz="3900" b="1">
          <a:solidFill>
            <a:schemeClr val="tx2"/>
          </a:solidFill>
          <a:latin typeface="Times New Roman" pitchFamily="18" charset="0"/>
        </a:defRPr>
      </a:lvl8pPr>
      <a:lvl9pPr marL="1828800" algn="l" rtl="0" fontAlgn="base">
        <a:spcBef>
          <a:spcPct val="0"/>
        </a:spcBef>
        <a:spcAft>
          <a:spcPct val="0"/>
        </a:spcAft>
        <a:defRPr sz="39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p:cNvSpPr>
            <a:spLocks noGrp="1" noChangeArrowheads="1"/>
          </p:cNvSpPr>
          <p:nvPr>
            <p:ph type="ftr" sz="quarter" idx="11"/>
          </p:nvPr>
        </p:nvSpPr>
        <p:spPr>
          <a:xfrm>
            <a:off x="323850" y="6248400"/>
            <a:ext cx="7534275" cy="457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17411" name="Rectangle 4"/>
          <p:cNvSpPr>
            <a:spLocks noGrp="1" noChangeArrowheads="1"/>
          </p:cNvSpPr>
          <p:nvPr>
            <p:ph type="ctrTitle"/>
          </p:nvPr>
        </p:nvSpPr>
        <p:spPr/>
        <p:txBody>
          <a:bodyPr/>
          <a:lstStyle/>
          <a:p>
            <a:pPr eaLnBrk="1" hangingPunct="1"/>
            <a:r>
              <a:rPr lang="en-US" altLang="en-US" smtClean="0"/>
              <a:t>Introduction</a:t>
            </a:r>
          </a:p>
        </p:txBody>
      </p:sp>
      <p:sp>
        <p:nvSpPr>
          <p:cNvPr id="17412" name="Rectangle 5"/>
          <p:cNvSpPr>
            <a:spLocks noGrp="1" noChangeArrowheads="1"/>
          </p:cNvSpPr>
          <p:nvPr>
            <p:ph type="subTitle" idx="1"/>
          </p:nvPr>
        </p:nvSpPr>
        <p:spPr>
          <a:xfrm>
            <a:off x="755650" y="3068638"/>
            <a:ext cx="6248400" cy="2362200"/>
          </a:xfrm>
        </p:spPr>
        <p:txBody>
          <a:bodyPr/>
          <a:lstStyle/>
          <a:p>
            <a:pPr eaLnBrk="1" hangingPunct="1"/>
            <a:r>
              <a:rPr lang="en-US" altLang="en-US" smtClean="0"/>
              <a:t>Chapter 1</a:t>
            </a:r>
          </a:p>
        </p:txBody>
      </p:sp>
      <p:sp>
        <p:nvSpPr>
          <p:cNvPr id="17413"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071D392-271D-4319-8625-D1D7170922E9}" type="slidenum">
              <a:rPr lang="en-US" altLang="en-US" sz="1800" smtClean="0"/>
              <a:pPr>
                <a:spcBef>
                  <a:spcPct val="0"/>
                </a:spcBef>
                <a:buClrTx/>
                <a:buSzTx/>
                <a:buFontTx/>
                <a:buNone/>
              </a:pPr>
              <a:t>1</a:t>
            </a:fld>
            <a:endParaRPr lang="en-US" altLang="en-US" sz="180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p:txBody>
          <a:bodyPr lIns="90488" tIns="44450" rIns="90488" bIns="44450" anchor="ctr"/>
          <a:lstStyle/>
          <a:p>
            <a:pPr eaLnBrk="1" hangingPunct="1"/>
            <a:r>
              <a:rPr lang="en-US" altLang="en-US" smtClean="0"/>
              <a:t>The Nature of Derivatives</a:t>
            </a:r>
          </a:p>
        </p:txBody>
      </p:sp>
      <p:sp>
        <p:nvSpPr>
          <p:cNvPr id="19459" name="Rectangle 5"/>
          <p:cNvSpPr>
            <a:spLocks noGrp="1" noChangeArrowheads="1"/>
          </p:cNvSpPr>
          <p:nvPr>
            <p:ph idx="1"/>
          </p:nvPr>
        </p:nvSpPr>
        <p:spPr>
          <a:xfrm>
            <a:off x="914400" y="1630363"/>
            <a:ext cx="8229600" cy="4411662"/>
          </a:xfrm>
        </p:spPr>
        <p:txBody>
          <a:bodyPr lIns="90488" tIns="44450" rIns="90488" bIns="44450"/>
          <a:lstStyle/>
          <a:p>
            <a:pPr eaLnBrk="1" hangingPunct="1">
              <a:buClr>
                <a:schemeClr val="tx1"/>
              </a:buClr>
              <a:buSzPct val="150000"/>
              <a:buFont typeface="Arial" panose="020B0604020202020204" pitchFamily="34" charset="0"/>
              <a:buChar char="•"/>
            </a:pPr>
            <a:r>
              <a:rPr lang="en-US" altLang="en-US" smtClean="0"/>
              <a:t>A derivative is an instrument whose value depends on the values of other more basic underlying variables</a:t>
            </a:r>
          </a:p>
          <a:p>
            <a:pPr eaLnBrk="1" hangingPunct="1">
              <a:buClr>
                <a:schemeClr val="tx1"/>
              </a:buClr>
              <a:buSzPct val="150000"/>
              <a:buFont typeface="Arial" panose="020B0604020202020204" pitchFamily="34" charset="0"/>
              <a:buChar char="•"/>
            </a:pPr>
            <a:r>
              <a:rPr lang="en-CA" altLang="en-US" smtClean="0"/>
              <a:t>Derivatives play a key role in transferring risks in the economy</a:t>
            </a:r>
            <a:endParaRPr lang="en-US" altLang="en-US" smtClean="0"/>
          </a:p>
        </p:txBody>
      </p:sp>
      <p:sp>
        <p:nvSpPr>
          <p:cNvPr id="16386"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19461"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30138CF-BCAF-4D52-877A-10D07C010BE0}" type="slidenum">
              <a:rPr lang="en-US" altLang="en-US" sz="1800" smtClean="0"/>
              <a:pPr>
                <a:spcBef>
                  <a:spcPct val="0"/>
                </a:spcBef>
                <a:buClrTx/>
                <a:buSzTx/>
                <a:buFontTx/>
                <a:buNone/>
              </a:pPr>
              <a:t>2</a:t>
            </a:fld>
            <a:endParaRPr lang="en-US" altLang="en-US" sz="1800" smtClean="0"/>
          </a:p>
        </p:txBody>
      </p:sp>
      <p:sp>
        <p:nvSpPr>
          <p:cNvPr id="19462"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9463"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21507"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1508"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1509" name="Rectangle 4"/>
          <p:cNvSpPr>
            <a:spLocks noGrp="1" noChangeArrowheads="1"/>
          </p:cNvSpPr>
          <p:nvPr>
            <p:ph type="title"/>
          </p:nvPr>
        </p:nvSpPr>
        <p:spPr/>
        <p:txBody>
          <a:bodyPr lIns="90488" tIns="44450" rIns="90488" bIns="44450" anchor="ctr"/>
          <a:lstStyle/>
          <a:p>
            <a:pPr eaLnBrk="1" hangingPunct="1"/>
            <a:r>
              <a:rPr lang="en-US" altLang="en-US" smtClean="0"/>
              <a:t>Examples of Derivatives</a:t>
            </a:r>
          </a:p>
        </p:txBody>
      </p:sp>
      <p:sp>
        <p:nvSpPr>
          <p:cNvPr id="21510" name="Rectangle 5"/>
          <p:cNvSpPr>
            <a:spLocks noGrp="1" noChangeArrowheads="1"/>
          </p:cNvSpPr>
          <p:nvPr>
            <p:ph type="body" idx="1"/>
          </p:nvPr>
        </p:nvSpPr>
        <p:spPr>
          <a:xfrm>
            <a:off x="1547813" y="2133600"/>
            <a:ext cx="7138987" cy="3997325"/>
          </a:xfrm>
        </p:spPr>
        <p:txBody>
          <a:bodyPr lIns="90488" tIns="44450" rIns="90488" bIns="44450"/>
          <a:lstStyle/>
          <a:p>
            <a:pPr eaLnBrk="1" hangingPunct="1">
              <a:buClr>
                <a:schemeClr val="tx1"/>
              </a:buClr>
              <a:buSzPct val="150000"/>
              <a:buFontTx/>
              <a:buChar char="•"/>
            </a:pPr>
            <a:r>
              <a:rPr lang="en-US" altLang="en-US" smtClean="0"/>
              <a:t>Futures Contracts</a:t>
            </a:r>
          </a:p>
          <a:p>
            <a:pPr eaLnBrk="1" hangingPunct="1">
              <a:buClr>
                <a:schemeClr val="tx1"/>
              </a:buClr>
              <a:buSzPct val="150000"/>
              <a:buFontTx/>
              <a:buChar char="•"/>
            </a:pPr>
            <a:r>
              <a:rPr lang="en-US" altLang="en-US" smtClean="0"/>
              <a:t>Forward Contracts</a:t>
            </a:r>
          </a:p>
          <a:p>
            <a:pPr eaLnBrk="1" hangingPunct="1">
              <a:buClr>
                <a:schemeClr val="tx1"/>
              </a:buClr>
              <a:buSzPct val="150000"/>
              <a:buFontTx/>
              <a:buChar char="•"/>
            </a:pPr>
            <a:r>
              <a:rPr lang="en-US" altLang="en-US" smtClean="0"/>
              <a:t>Swaps</a:t>
            </a:r>
          </a:p>
          <a:p>
            <a:pPr eaLnBrk="1" hangingPunct="1">
              <a:buClr>
                <a:schemeClr val="tx1"/>
              </a:buClr>
              <a:buSzPct val="150000"/>
              <a:buFontTx/>
              <a:buChar char="•"/>
            </a:pPr>
            <a:r>
              <a:rPr lang="en-US" altLang="en-US" smtClean="0"/>
              <a:t>Options</a:t>
            </a:r>
          </a:p>
        </p:txBody>
      </p:sp>
      <p:sp>
        <p:nvSpPr>
          <p:cNvPr id="21511"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C5DDD6F-6315-4234-A20A-A40566FEA685}" type="slidenum">
              <a:rPr lang="en-US" altLang="en-US" sz="1800" smtClean="0"/>
              <a:pPr>
                <a:spcBef>
                  <a:spcPct val="0"/>
                </a:spcBef>
                <a:buClrTx/>
                <a:buSzTx/>
                <a:buFontTx/>
                <a:buNone/>
              </a:pPr>
              <a:t>3</a:t>
            </a:fld>
            <a:endParaRPr lang="en-US" altLang="en-US" sz="1800" smtClean="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2355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5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3557" name="Rectangle 4"/>
          <p:cNvSpPr>
            <a:spLocks noGrp="1" noChangeArrowheads="1"/>
          </p:cNvSpPr>
          <p:nvPr>
            <p:ph type="title"/>
          </p:nvPr>
        </p:nvSpPr>
        <p:spPr/>
        <p:txBody>
          <a:bodyPr lIns="90488" tIns="44450" rIns="90488" bIns="44450" anchor="ctr"/>
          <a:lstStyle/>
          <a:p>
            <a:pPr eaLnBrk="1" hangingPunct="1"/>
            <a:r>
              <a:rPr lang="en-US" altLang="en-US" smtClean="0"/>
              <a:t>Ways Derivatives are Used</a:t>
            </a:r>
          </a:p>
        </p:txBody>
      </p:sp>
      <p:sp>
        <p:nvSpPr>
          <p:cNvPr id="23558" name="Rectangle 5"/>
          <p:cNvSpPr>
            <a:spLocks noGrp="1" noChangeArrowheads="1"/>
          </p:cNvSpPr>
          <p:nvPr>
            <p:ph type="body" idx="1"/>
          </p:nvPr>
        </p:nvSpPr>
        <p:spPr>
          <a:xfrm>
            <a:off x="1512888" y="1728788"/>
            <a:ext cx="6624637" cy="4103687"/>
          </a:xfrm>
        </p:spPr>
        <p:txBody>
          <a:bodyPr lIns="90488" tIns="44450" rIns="90488" bIns="44450"/>
          <a:lstStyle/>
          <a:p>
            <a:pPr eaLnBrk="1" hangingPunct="1"/>
            <a:r>
              <a:rPr lang="en-US" altLang="en-US" sz="2800" smtClean="0"/>
              <a:t>To hedge risks</a:t>
            </a:r>
          </a:p>
          <a:p>
            <a:pPr eaLnBrk="1" hangingPunct="1"/>
            <a:r>
              <a:rPr lang="en-US" altLang="en-US" sz="2800" smtClean="0"/>
              <a:t>To speculate (take a view on the future direction of the market)</a:t>
            </a:r>
          </a:p>
          <a:p>
            <a:pPr eaLnBrk="1" hangingPunct="1"/>
            <a:r>
              <a:rPr lang="en-US" altLang="en-US" sz="2800" smtClean="0"/>
              <a:t>To lock in an arbitrage profit</a:t>
            </a:r>
          </a:p>
          <a:p>
            <a:pPr eaLnBrk="1" hangingPunct="1"/>
            <a:r>
              <a:rPr lang="en-US" altLang="en-US" sz="2800" smtClean="0"/>
              <a:t>To change the nature of a liability</a:t>
            </a:r>
          </a:p>
          <a:p>
            <a:pPr eaLnBrk="1" hangingPunct="1"/>
            <a:r>
              <a:rPr lang="en-US" altLang="en-US" sz="2800" smtClean="0"/>
              <a:t>To change the nature of an investment without incurring the costs of selling one portfolio and buying another</a:t>
            </a:r>
          </a:p>
        </p:txBody>
      </p:sp>
      <p:sp>
        <p:nvSpPr>
          <p:cNvPr id="23559"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474CCC0-25ED-4D31-B64E-F4607813028B}" type="slidenum">
              <a:rPr lang="en-US" altLang="en-US" sz="1800" smtClean="0"/>
              <a:pPr>
                <a:spcBef>
                  <a:spcPct val="0"/>
                </a:spcBef>
                <a:buClrTx/>
                <a:buSzTx/>
                <a:buFontTx/>
                <a:buNone/>
              </a:pPr>
              <a:t>4</a:t>
            </a:fld>
            <a:endParaRPr lang="en-US" altLang="en-US" sz="1800" smtClean="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25603"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04"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5605" name="Rectangle 4"/>
          <p:cNvSpPr>
            <a:spLocks noGrp="1" noChangeArrowheads="1"/>
          </p:cNvSpPr>
          <p:nvPr>
            <p:ph type="title"/>
          </p:nvPr>
        </p:nvSpPr>
        <p:spPr/>
        <p:txBody>
          <a:bodyPr lIns="90488" tIns="44450" rIns="90488" bIns="44450" anchor="ctr"/>
          <a:lstStyle/>
          <a:p>
            <a:pPr eaLnBrk="1" hangingPunct="1"/>
            <a:r>
              <a:rPr lang="en-US" altLang="en-US" smtClean="0"/>
              <a:t>Futures Contracts</a:t>
            </a:r>
          </a:p>
        </p:txBody>
      </p:sp>
      <p:sp>
        <p:nvSpPr>
          <p:cNvPr id="25606" name="Rectangle 5"/>
          <p:cNvSpPr>
            <a:spLocks noGrp="1" noChangeArrowheads="1"/>
          </p:cNvSpPr>
          <p:nvPr>
            <p:ph type="body" idx="1"/>
          </p:nvPr>
        </p:nvSpPr>
        <p:spPr>
          <a:xfrm>
            <a:off x="838200" y="1684338"/>
            <a:ext cx="7696200" cy="4114800"/>
          </a:xfrm>
        </p:spPr>
        <p:txBody>
          <a:bodyPr lIns="90488" tIns="44450" rIns="90488" bIns="44450"/>
          <a:lstStyle/>
          <a:p>
            <a:pPr eaLnBrk="1" hangingPunct="1"/>
            <a:r>
              <a:rPr lang="en-US" altLang="en-US" smtClean="0"/>
              <a:t>A futures contract is an agreement to buy or sell an asset at a certain time in the future for a certain price</a:t>
            </a:r>
          </a:p>
          <a:p>
            <a:pPr eaLnBrk="1" hangingPunct="1"/>
            <a:r>
              <a:rPr lang="en-US" altLang="en-US" smtClean="0"/>
              <a:t>By contrast in a spot contract there is an agreement to buy or sell the asset immediately (or within a very short period of time)</a:t>
            </a:r>
          </a:p>
        </p:txBody>
      </p:sp>
      <p:sp>
        <p:nvSpPr>
          <p:cNvPr id="25607"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4F604C2-7CC1-40D5-8783-7B169988D19C}" type="slidenum">
              <a:rPr lang="en-US" altLang="en-US" sz="1800" smtClean="0"/>
              <a:pPr>
                <a:spcBef>
                  <a:spcPct val="0"/>
                </a:spcBef>
                <a:buClrTx/>
                <a:buSzTx/>
                <a:buFontTx/>
                <a:buNone/>
              </a:pPr>
              <a:t>5</a:t>
            </a:fld>
            <a:endParaRPr lang="en-US" altLang="en-US" sz="1800" smtClean="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2765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52"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53" name="Rectangle 4"/>
          <p:cNvSpPr>
            <a:spLocks noGrp="1" noChangeArrowheads="1"/>
          </p:cNvSpPr>
          <p:nvPr>
            <p:ph type="title"/>
          </p:nvPr>
        </p:nvSpPr>
        <p:spPr/>
        <p:txBody>
          <a:bodyPr lIns="90488" tIns="44450" rIns="90488" bIns="44450" anchor="ctr"/>
          <a:lstStyle/>
          <a:p>
            <a:pPr eaLnBrk="1" hangingPunct="1"/>
            <a:r>
              <a:rPr lang="en-US" altLang="en-US" smtClean="0"/>
              <a:t>Exchanges Trading Futures</a:t>
            </a:r>
          </a:p>
        </p:txBody>
      </p:sp>
      <p:sp>
        <p:nvSpPr>
          <p:cNvPr id="27654" name="Rectangle 5"/>
          <p:cNvSpPr>
            <a:spLocks noGrp="1" noChangeArrowheads="1"/>
          </p:cNvSpPr>
          <p:nvPr>
            <p:ph type="body" idx="1"/>
          </p:nvPr>
        </p:nvSpPr>
        <p:spPr/>
        <p:txBody>
          <a:bodyPr lIns="90488" tIns="44450" rIns="90488" bIns="44450"/>
          <a:lstStyle/>
          <a:p>
            <a:pPr eaLnBrk="1" hangingPunct="1"/>
            <a:r>
              <a:rPr lang="en-CA" altLang="en-US" sz="2800" smtClean="0"/>
              <a:t>CME Group</a:t>
            </a:r>
          </a:p>
          <a:p>
            <a:pPr eaLnBrk="1" hangingPunct="1"/>
            <a:r>
              <a:rPr lang="en-CA" altLang="en-US" sz="2800" smtClean="0"/>
              <a:t>Intercontinental Exchange</a:t>
            </a:r>
            <a:endParaRPr lang="en-US" altLang="en-US" sz="2800" smtClean="0"/>
          </a:p>
          <a:p>
            <a:pPr eaLnBrk="1" hangingPunct="1"/>
            <a:r>
              <a:rPr lang="en-US" altLang="en-US" sz="2800" smtClean="0"/>
              <a:t>Euronext </a:t>
            </a:r>
          </a:p>
          <a:p>
            <a:pPr eaLnBrk="1" hangingPunct="1"/>
            <a:r>
              <a:rPr lang="en-US" altLang="en-US" sz="2800" smtClean="0"/>
              <a:t>Eurex </a:t>
            </a:r>
          </a:p>
          <a:p>
            <a:pPr eaLnBrk="1" hangingPunct="1"/>
            <a:r>
              <a:rPr lang="en-US" altLang="en-US" sz="2800" smtClean="0"/>
              <a:t>BM&amp;FBovespa (Sao Paulo, Brazil)</a:t>
            </a:r>
          </a:p>
          <a:p>
            <a:pPr eaLnBrk="1" hangingPunct="1"/>
            <a:r>
              <a:rPr lang="en-US" altLang="en-US" sz="2800" smtClean="0"/>
              <a:t>National Stock Exchange of India</a:t>
            </a:r>
          </a:p>
          <a:p>
            <a:pPr eaLnBrk="1" hangingPunct="1"/>
            <a:r>
              <a:rPr lang="en-US" altLang="en-US" sz="2800" smtClean="0"/>
              <a:t>China Financial futures Exchange</a:t>
            </a:r>
          </a:p>
          <a:p>
            <a:pPr eaLnBrk="1" hangingPunct="1"/>
            <a:r>
              <a:rPr lang="en-US" altLang="en-US" sz="2800" smtClean="0"/>
              <a:t>and many more (see list at end of book)</a:t>
            </a:r>
          </a:p>
        </p:txBody>
      </p:sp>
      <p:sp>
        <p:nvSpPr>
          <p:cNvPr id="27655"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792BB35-566B-4556-8671-305617E03FCC}" type="slidenum">
              <a:rPr lang="en-US" altLang="en-US" sz="1800" smtClean="0"/>
              <a:pPr>
                <a:spcBef>
                  <a:spcPct val="0"/>
                </a:spcBef>
                <a:buClrTx/>
                <a:buSzTx/>
                <a:buFontTx/>
                <a:buNone/>
              </a:pPr>
              <a:t>6</a:t>
            </a:fld>
            <a:endParaRPr lang="en-US" altLang="en-US" sz="1800" smtClean="0"/>
          </a:p>
        </p:txBody>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29699"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9700"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9701" name="Rectangle 4"/>
          <p:cNvSpPr>
            <a:spLocks noGrp="1" noChangeArrowheads="1"/>
          </p:cNvSpPr>
          <p:nvPr>
            <p:ph type="title"/>
          </p:nvPr>
        </p:nvSpPr>
        <p:spPr/>
        <p:txBody>
          <a:bodyPr lIns="90488" tIns="44450" rIns="90488" bIns="44450" anchor="ctr"/>
          <a:lstStyle/>
          <a:p>
            <a:pPr eaLnBrk="1" hangingPunct="1"/>
            <a:r>
              <a:rPr lang="en-US" altLang="en-US" smtClean="0"/>
              <a:t>Futures Price</a:t>
            </a:r>
          </a:p>
        </p:txBody>
      </p:sp>
      <p:sp>
        <p:nvSpPr>
          <p:cNvPr id="29702" name="Rectangle 5"/>
          <p:cNvSpPr>
            <a:spLocks noGrp="1" noChangeArrowheads="1"/>
          </p:cNvSpPr>
          <p:nvPr>
            <p:ph type="body" idx="1"/>
          </p:nvPr>
        </p:nvSpPr>
        <p:spPr>
          <a:xfrm>
            <a:off x="457200" y="1989138"/>
            <a:ext cx="8229600" cy="4141787"/>
          </a:xfrm>
        </p:spPr>
        <p:txBody>
          <a:bodyPr lIns="90488" tIns="44450" rIns="90488" bIns="44450"/>
          <a:lstStyle/>
          <a:p>
            <a:pPr eaLnBrk="1" hangingPunct="1"/>
            <a:r>
              <a:rPr lang="en-US" altLang="en-US" smtClean="0"/>
              <a:t>The futures prices for a particular contract is the price at which you agree to buy or sell at a future time</a:t>
            </a:r>
          </a:p>
          <a:p>
            <a:pPr eaLnBrk="1" hangingPunct="1"/>
            <a:r>
              <a:rPr lang="en-US" altLang="en-US" smtClean="0"/>
              <a:t>It is determined by supply and demand in the same way as a spot price</a:t>
            </a:r>
          </a:p>
        </p:txBody>
      </p:sp>
      <p:sp>
        <p:nvSpPr>
          <p:cNvPr id="29703"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94C1F04-59C8-41EC-A389-04CCFE4E945C}" type="slidenum">
              <a:rPr lang="en-US" altLang="en-US" sz="1800" smtClean="0"/>
              <a:pPr>
                <a:spcBef>
                  <a:spcPct val="0"/>
                </a:spcBef>
                <a:buClrTx/>
                <a:buSzTx/>
                <a:buFontTx/>
                <a:buNone/>
              </a:pPr>
              <a:t>7</a:t>
            </a:fld>
            <a:endParaRPr lang="en-US" altLang="en-US" sz="1800" smtClean="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31747" name="Rectangle 2"/>
          <p:cNvSpPr>
            <a:spLocks noGrp="1" noChangeArrowheads="1"/>
          </p:cNvSpPr>
          <p:nvPr>
            <p:ph type="title"/>
          </p:nvPr>
        </p:nvSpPr>
        <p:spPr/>
        <p:txBody>
          <a:bodyPr/>
          <a:lstStyle/>
          <a:p>
            <a:pPr eaLnBrk="1" hangingPunct="1"/>
            <a:r>
              <a:rPr lang="en-US" altLang="en-US" smtClean="0"/>
              <a:t>Electronic Trading</a:t>
            </a:r>
          </a:p>
        </p:txBody>
      </p:sp>
      <p:sp>
        <p:nvSpPr>
          <p:cNvPr id="31748" name="Rectangle 3"/>
          <p:cNvSpPr>
            <a:spLocks noGrp="1" noChangeArrowheads="1"/>
          </p:cNvSpPr>
          <p:nvPr>
            <p:ph type="body" idx="1"/>
          </p:nvPr>
        </p:nvSpPr>
        <p:spPr/>
        <p:txBody>
          <a:bodyPr/>
          <a:lstStyle/>
          <a:p>
            <a:pPr eaLnBrk="1" hangingPunct="1"/>
            <a:r>
              <a:rPr lang="en-US" altLang="en-US" smtClean="0"/>
              <a:t>Traditionally futures contracts have been traded using the open outcry system where traders physically meet on the floor of the exchange</a:t>
            </a:r>
          </a:p>
          <a:p>
            <a:pPr eaLnBrk="1" hangingPunct="1"/>
            <a:r>
              <a:rPr lang="en-US" altLang="en-US" smtClean="0"/>
              <a:t>This has now been largely replaced by electronic trading and high frequency  (algorithmic) trading has become an increasingly important part of the market</a:t>
            </a:r>
          </a:p>
        </p:txBody>
      </p:sp>
      <p:sp>
        <p:nvSpPr>
          <p:cNvPr id="31749"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981DF2E-6A31-4117-A9BC-E2F5B445FD71}" type="slidenum">
              <a:rPr lang="en-US" altLang="en-US" sz="1800" smtClean="0"/>
              <a:pPr>
                <a:spcBef>
                  <a:spcPct val="0"/>
                </a:spcBef>
                <a:buClrTx/>
                <a:buSzTx/>
                <a:buFontTx/>
                <a:buNone/>
              </a:pPr>
              <a:t>8</a:t>
            </a:fld>
            <a:endParaRPr lang="en-US" altLang="en-US" sz="180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3379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379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3797" name="Rectangle 4"/>
          <p:cNvSpPr>
            <a:spLocks noGrp="1" noChangeArrowheads="1"/>
          </p:cNvSpPr>
          <p:nvPr>
            <p:ph type="title"/>
          </p:nvPr>
        </p:nvSpPr>
        <p:spPr/>
        <p:txBody>
          <a:bodyPr lIns="90488" tIns="44450" rIns="90488" bIns="44450" anchor="ctr"/>
          <a:lstStyle/>
          <a:p>
            <a:pPr eaLnBrk="1" hangingPunct="1"/>
            <a:r>
              <a:rPr lang="en-US" altLang="en-US" smtClean="0"/>
              <a:t>Examples of Futures Contracts</a:t>
            </a:r>
          </a:p>
        </p:txBody>
      </p:sp>
      <p:sp>
        <p:nvSpPr>
          <p:cNvPr id="33798" name="Rectangle 5"/>
          <p:cNvSpPr>
            <a:spLocks noGrp="1" noChangeArrowheads="1"/>
          </p:cNvSpPr>
          <p:nvPr>
            <p:ph type="body" idx="1"/>
          </p:nvPr>
        </p:nvSpPr>
        <p:spPr>
          <a:xfrm>
            <a:off x="755650" y="1779588"/>
            <a:ext cx="7775575" cy="4083050"/>
          </a:xfrm>
        </p:spPr>
        <p:txBody>
          <a:bodyPr lIns="90488" tIns="44450" rIns="90488" bIns="44450"/>
          <a:lstStyle/>
          <a:p>
            <a:pPr eaLnBrk="1" hangingPunct="1">
              <a:buFont typeface="Wingdings" panose="05000000000000000000" pitchFamily="2" charset="2"/>
              <a:buNone/>
            </a:pPr>
            <a:r>
              <a:rPr lang="en-US" altLang="en-US" smtClean="0"/>
              <a:t>Agreement to:</a:t>
            </a:r>
          </a:p>
          <a:p>
            <a:pPr lvl="1" eaLnBrk="1" hangingPunct="1"/>
            <a:r>
              <a:rPr lang="en-US" altLang="en-US" sz="3200" smtClean="0"/>
              <a:t>buy 100 oz. of gold @ US$1100/oz. in December </a:t>
            </a:r>
          </a:p>
          <a:p>
            <a:pPr lvl="1" eaLnBrk="1" hangingPunct="1"/>
            <a:r>
              <a:rPr lang="en-US" altLang="en-US" sz="3200" smtClean="0"/>
              <a:t>sell £62,500 @ 1.5500 US$/£ in March </a:t>
            </a:r>
          </a:p>
          <a:p>
            <a:pPr lvl="1" eaLnBrk="1" hangingPunct="1"/>
            <a:r>
              <a:rPr lang="en-US" altLang="en-US" sz="3200" smtClean="0"/>
              <a:t>sell 1,000 bbl. of oil @ US$40/bbl. in April</a:t>
            </a:r>
          </a:p>
        </p:txBody>
      </p:sp>
      <p:sp>
        <p:nvSpPr>
          <p:cNvPr id="33799"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4082117-A881-459A-8F49-C444E04C7BE6}" type="slidenum">
              <a:rPr lang="en-US" altLang="en-US" sz="1800" smtClean="0"/>
              <a:pPr>
                <a:spcBef>
                  <a:spcPct val="0"/>
                </a:spcBef>
                <a:buClrTx/>
                <a:buSzTx/>
                <a:buFontTx/>
                <a:buNone/>
              </a:pPr>
              <a:t>9</a:t>
            </a:fld>
            <a:endParaRPr lang="en-US" altLang="en-US" sz="1800" smtClean="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35843"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5844"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5845" name="Rectangle 4"/>
          <p:cNvSpPr>
            <a:spLocks noGrp="1" noChangeArrowheads="1"/>
          </p:cNvSpPr>
          <p:nvPr>
            <p:ph type="title"/>
          </p:nvPr>
        </p:nvSpPr>
        <p:spPr/>
        <p:txBody>
          <a:bodyPr lIns="90488" tIns="44450" rIns="90488" bIns="44450" anchor="ctr"/>
          <a:lstStyle/>
          <a:p>
            <a:pPr eaLnBrk="1" hangingPunct="1"/>
            <a:r>
              <a:rPr lang="en-US" altLang="en-US" smtClean="0"/>
              <a:t>Terminology</a:t>
            </a:r>
          </a:p>
        </p:txBody>
      </p:sp>
      <p:sp>
        <p:nvSpPr>
          <p:cNvPr id="35846" name="Rectangle 5"/>
          <p:cNvSpPr>
            <a:spLocks noGrp="1" noChangeArrowheads="1"/>
          </p:cNvSpPr>
          <p:nvPr>
            <p:ph type="body" idx="1"/>
          </p:nvPr>
        </p:nvSpPr>
        <p:spPr>
          <a:xfrm>
            <a:off x="685800" y="1989138"/>
            <a:ext cx="7489825" cy="2517775"/>
          </a:xfrm>
        </p:spPr>
        <p:txBody>
          <a:bodyPr lIns="90488" tIns="44450" rIns="90488" bIns="44450"/>
          <a:lstStyle/>
          <a:p>
            <a:pPr eaLnBrk="1" hangingPunct="1"/>
            <a:r>
              <a:rPr lang="en-US" altLang="en-US" sz="3600" smtClean="0"/>
              <a:t>The party that has agreed to buy has a long position</a:t>
            </a:r>
          </a:p>
          <a:p>
            <a:pPr eaLnBrk="1" hangingPunct="1"/>
            <a:r>
              <a:rPr lang="en-US" altLang="en-US" sz="3600" smtClean="0"/>
              <a:t>The party that has agreed to sell has a short position</a:t>
            </a:r>
          </a:p>
          <a:p>
            <a:pPr lvl="1" eaLnBrk="1" hangingPunct="1">
              <a:buFont typeface="Wingdings" panose="05000000000000000000" pitchFamily="2" charset="2"/>
              <a:buNone/>
            </a:pPr>
            <a:endParaRPr lang="en-US" altLang="en-US" sz="3200" smtClean="0"/>
          </a:p>
        </p:txBody>
      </p:sp>
      <p:sp>
        <p:nvSpPr>
          <p:cNvPr id="35847"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70E3D08-A618-495B-BDCA-83D2584EFA25}" type="slidenum">
              <a:rPr lang="en-US" altLang="en-US" sz="1800" smtClean="0"/>
              <a:pPr>
                <a:spcBef>
                  <a:spcPct val="0"/>
                </a:spcBef>
                <a:buClrTx/>
                <a:buSzTx/>
                <a:buFontTx/>
                <a:buNone/>
              </a:pPr>
              <a:t>10</a:t>
            </a:fld>
            <a:endParaRPr lang="en-US" altLang="en-US" sz="1800" smtClean="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3789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7892"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7893" name="Rectangle 4"/>
          <p:cNvSpPr>
            <a:spLocks noGrp="1" noChangeArrowheads="1"/>
          </p:cNvSpPr>
          <p:nvPr>
            <p:ph type="title"/>
          </p:nvPr>
        </p:nvSpPr>
        <p:spPr>
          <a:xfrm>
            <a:off x="646113" y="0"/>
            <a:ext cx="7278687" cy="1143000"/>
          </a:xfrm>
        </p:spPr>
        <p:txBody>
          <a:bodyPr lIns="90488" tIns="44450" rIns="90488" bIns="44450" anchor="ctr"/>
          <a:lstStyle/>
          <a:p>
            <a:pPr eaLnBrk="1" hangingPunct="1"/>
            <a:r>
              <a:rPr lang="en-US" altLang="en-US" smtClean="0"/>
              <a:t>Example</a:t>
            </a:r>
          </a:p>
        </p:txBody>
      </p:sp>
      <p:sp>
        <p:nvSpPr>
          <p:cNvPr id="37894" name="Rectangle 5"/>
          <p:cNvSpPr>
            <a:spLocks noGrp="1" noChangeArrowheads="1"/>
          </p:cNvSpPr>
          <p:nvPr>
            <p:ph type="body" idx="1"/>
          </p:nvPr>
        </p:nvSpPr>
        <p:spPr>
          <a:xfrm>
            <a:off x="539750" y="1166813"/>
            <a:ext cx="7926388" cy="5151437"/>
          </a:xfrm>
        </p:spPr>
        <p:txBody>
          <a:bodyPr lIns="90488" tIns="44450" rIns="90488" bIns="44450"/>
          <a:lstStyle/>
          <a:p>
            <a:pPr eaLnBrk="1" hangingPunct="1">
              <a:buFont typeface="Wingdings" panose="05000000000000000000" pitchFamily="2" charset="2"/>
              <a:buNone/>
            </a:pPr>
            <a:endParaRPr lang="en-US" altLang="en-US" smtClean="0"/>
          </a:p>
          <a:p>
            <a:pPr eaLnBrk="1" hangingPunct="1"/>
            <a:r>
              <a:rPr lang="en-US" altLang="en-US" smtClean="0"/>
              <a:t>January:  an investor enters into a long futures contract to buy 100 oz of gold @ $1,100 per oz in April</a:t>
            </a:r>
          </a:p>
          <a:p>
            <a:pPr eaLnBrk="1" hangingPunct="1"/>
            <a:r>
              <a:rPr lang="en-US" altLang="en-US" smtClean="0"/>
              <a:t>April:  the price of gold is $1,175 per oz 	</a:t>
            </a:r>
          </a:p>
          <a:p>
            <a:pPr lvl="1" eaLnBrk="1" hangingPunct="1">
              <a:buFont typeface="Wingdings" panose="05000000000000000000" pitchFamily="2" charset="2"/>
              <a:buNone/>
            </a:pPr>
            <a:r>
              <a:rPr lang="en-US" altLang="en-US" sz="3200" smtClean="0"/>
              <a:t>What is the investor’s profit or loss?</a:t>
            </a:r>
          </a:p>
        </p:txBody>
      </p:sp>
      <p:sp>
        <p:nvSpPr>
          <p:cNvPr id="37895"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218D1D5-DC97-4EE7-9159-79445355FA9A}" type="slidenum">
              <a:rPr lang="en-US" altLang="en-US" sz="1800" smtClean="0"/>
              <a:pPr>
                <a:spcBef>
                  <a:spcPct val="0"/>
                </a:spcBef>
                <a:buClrTx/>
                <a:buSzTx/>
                <a:buFontTx/>
                <a:buNone/>
              </a:pPr>
              <a:t>11</a:t>
            </a:fld>
            <a:endParaRPr lang="en-US" altLang="en-US" sz="1800" smtClean="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39939" name="Rectangle 2"/>
          <p:cNvSpPr>
            <a:spLocks noGrp="1" noChangeArrowheads="1"/>
          </p:cNvSpPr>
          <p:nvPr>
            <p:ph type="title"/>
          </p:nvPr>
        </p:nvSpPr>
        <p:spPr>
          <a:xfrm>
            <a:off x="457200" y="122238"/>
            <a:ext cx="7543800" cy="1003300"/>
          </a:xfrm>
        </p:spPr>
        <p:txBody>
          <a:bodyPr/>
          <a:lstStyle/>
          <a:p>
            <a:pPr eaLnBrk="1" hangingPunct="1"/>
            <a:r>
              <a:rPr lang="en-US" altLang="en-US" smtClean="0"/>
              <a:t>Over-the Counter Markets</a:t>
            </a:r>
          </a:p>
        </p:txBody>
      </p:sp>
      <p:sp>
        <p:nvSpPr>
          <p:cNvPr id="39940" name="Rectangle 3"/>
          <p:cNvSpPr>
            <a:spLocks noGrp="1" noChangeArrowheads="1"/>
          </p:cNvSpPr>
          <p:nvPr>
            <p:ph type="body" idx="1"/>
          </p:nvPr>
        </p:nvSpPr>
        <p:spPr/>
        <p:txBody>
          <a:bodyPr/>
          <a:lstStyle/>
          <a:p>
            <a:pPr eaLnBrk="1" hangingPunct="1">
              <a:lnSpc>
                <a:spcPct val="90000"/>
              </a:lnSpc>
            </a:pPr>
            <a:r>
              <a:rPr lang="en-US" altLang="en-US" smtClean="0"/>
              <a:t>The over-the counter market is an important alternative to exchanges</a:t>
            </a:r>
          </a:p>
          <a:p>
            <a:pPr eaLnBrk="1" hangingPunct="1">
              <a:lnSpc>
                <a:spcPct val="90000"/>
              </a:lnSpc>
            </a:pPr>
            <a:r>
              <a:rPr lang="en-US" altLang="en-US" smtClean="0"/>
              <a:t>Trades are usually between financial institutions, corporate treasurers, and fund managers</a:t>
            </a:r>
          </a:p>
          <a:p>
            <a:pPr eaLnBrk="1" hangingPunct="1">
              <a:lnSpc>
                <a:spcPct val="90000"/>
              </a:lnSpc>
            </a:pPr>
            <a:r>
              <a:rPr lang="en-US" altLang="en-US" smtClean="0"/>
              <a:t>Transactions are much larger than in the exchange-traded market</a:t>
            </a:r>
          </a:p>
        </p:txBody>
      </p:sp>
      <p:sp>
        <p:nvSpPr>
          <p:cNvPr id="39941"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8E4BB5C-C6B6-44F8-AC1D-29BDD0FE921F}" type="slidenum">
              <a:rPr lang="en-US" altLang="en-US" sz="1800" smtClean="0"/>
              <a:pPr>
                <a:spcBef>
                  <a:spcPct val="0"/>
                </a:spcBef>
                <a:buClrTx/>
                <a:buSzTx/>
                <a:buFontTx/>
                <a:buNone/>
              </a:pPr>
              <a:t>12</a:t>
            </a:fld>
            <a:endParaRPr lang="en-US" altLang="en-US" sz="180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 y="476250"/>
            <a:ext cx="7772400" cy="1143000"/>
          </a:xfrm>
        </p:spPr>
        <p:txBody>
          <a:bodyPr>
            <a:normAutofit fontScale="90000"/>
          </a:bodyPr>
          <a:lstStyle/>
          <a:p>
            <a:pPr eaLnBrk="1" fontAlgn="auto" hangingPunct="1">
              <a:spcAft>
                <a:spcPts val="0"/>
              </a:spcAft>
              <a:defRPr/>
            </a:pPr>
            <a:r>
              <a:rPr lang="en-US" sz="3200" dirty="0" smtClean="0">
                <a:solidFill>
                  <a:schemeClr val="tx2">
                    <a:satMod val="130000"/>
                  </a:schemeClr>
                </a:solidFill>
              </a:rPr>
              <a:t>Size of OTC and Exchange-Traded Markets</a:t>
            </a:r>
            <a:br>
              <a:rPr lang="en-US" sz="3200" dirty="0" smtClean="0">
                <a:solidFill>
                  <a:schemeClr val="tx2">
                    <a:satMod val="130000"/>
                  </a:schemeClr>
                </a:solidFill>
              </a:rPr>
            </a:br>
            <a:r>
              <a:rPr lang="en-US" sz="2400" dirty="0" smtClean="0">
                <a:solidFill>
                  <a:schemeClr val="tx2">
                    <a:satMod val="130000"/>
                  </a:schemeClr>
                </a:solidFill>
              </a:rPr>
              <a:t>(Figure 1.2, Page 6)</a:t>
            </a:r>
            <a:endParaRPr lang="en-US" sz="2400" dirty="0">
              <a:solidFill>
                <a:schemeClr val="tx2">
                  <a:satMod val="130000"/>
                </a:schemeClr>
              </a:solidFill>
            </a:endParaRPr>
          </a:p>
        </p:txBody>
      </p:sp>
      <p:sp>
        <p:nvSpPr>
          <p:cNvPr id="41987" name="Footer Placeholder 2"/>
          <p:cNvSpPr>
            <a:spLocks noGrp="1"/>
          </p:cNvSpPr>
          <p:nvPr>
            <p:ph type="ftr" sz="quarter" idx="11"/>
          </p:nvPr>
        </p:nvSpPr>
        <p:spPr>
          <a:xfrm>
            <a:off x="755650" y="6324600"/>
            <a:ext cx="7561263"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cs typeface="Arial" panose="020B0604020202020204" pitchFamily="34" charset="0"/>
              </a:rPr>
              <a:t>Fundamentals of Futures and Options Markets, 9th Ed, Ch 1, Copyright © John C. Hull 2016</a:t>
            </a:r>
            <a:endParaRPr lang="en-US" altLang="en-US" sz="1400" smtClean="0">
              <a:cs typeface="Arial" panose="020B0604020202020204" pitchFamily="34" charset="0"/>
            </a:endParaRPr>
          </a:p>
        </p:txBody>
      </p:sp>
      <p:sp>
        <p:nvSpPr>
          <p:cNvPr id="4198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EDB6341-94DD-4108-BE45-E5C19DD099EE}" type="slidenum">
              <a:rPr lang="en-US" altLang="en-US" sz="1800" smtClean="0"/>
              <a:pPr>
                <a:spcBef>
                  <a:spcPct val="0"/>
                </a:spcBef>
                <a:buClrTx/>
                <a:buSzTx/>
                <a:buFontTx/>
                <a:buNone/>
              </a:pPr>
              <a:t>13</a:t>
            </a:fld>
            <a:endParaRPr lang="en-US" altLang="en-US" sz="1800" smtClean="0"/>
          </a:p>
        </p:txBody>
      </p:sp>
      <p:sp>
        <p:nvSpPr>
          <p:cNvPr id="41989" name="Text Box 6"/>
          <p:cNvSpPr txBox="1">
            <a:spLocks noChangeArrowheads="1"/>
          </p:cNvSpPr>
          <p:nvPr/>
        </p:nvSpPr>
        <p:spPr bwMode="auto">
          <a:xfrm>
            <a:off x="1143000" y="5715000"/>
            <a:ext cx="71739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1600">
                <a:latin typeface="Times New Roman" panose="02020603050405020304" pitchFamily="18" charset="0"/>
              </a:rPr>
              <a:t>Source: Bank for International Settlements. Chart shows total principal amounts for OTC market and value of underlying assets for exchange market</a:t>
            </a:r>
          </a:p>
        </p:txBody>
      </p:sp>
      <p:pic>
        <p:nvPicPr>
          <p:cNvPr id="4199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2060575"/>
            <a:ext cx="7666037" cy="338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CA" altLang="en-US" smtClean="0"/>
              <a:t>The Lehman Bankruptcy </a:t>
            </a:r>
            <a:r>
              <a:rPr lang="en-CA" altLang="en-US" sz="2000" smtClean="0"/>
              <a:t>(Business Snapshot 1.1, page 5)</a:t>
            </a:r>
            <a:endParaRPr lang="en-US" altLang="en-US" sz="2000" smtClean="0"/>
          </a:p>
        </p:txBody>
      </p:sp>
      <p:sp>
        <p:nvSpPr>
          <p:cNvPr id="44035" name="Content Placeholder 4"/>
          <p:cNvSpPr>
            <a:spLocks noGrp="1"/>
          </p:cNvSpPr>
          <p:nvPr>
            <p:ph idx="1"/>
          </p:nvPr>
        </p:nvSpPr>
        <p:spPr>
          <a:xfrm>
            <a:off x="762000" y="2133600"/>
            <a:ext cx="7543800" cy="3733800"/>
          </a:xfrm>
        </p:spPr>
        <p:txBody>
          <a:bodyPr/>
          <a:lstStyle/>
          <a:p>
            <a:r>
              <a:rPr lang="en-CA" altLang="en-US" sz="2200" smtClean="0">
                <a:cs typeface="Arial" panose="020B0604020202020204" pitchFamily="34" charset="0"/>
              </a:rPr>
              <a:t>Lehman’s filed for bankruptcy on September 15, 2008. This was the biggest bankruptcy in US history</a:t>
            </a:r>
          </a:p>
          <a:p>
            <a:r>
              <a:rPr lang="en-CA" altLang="en-US" sz="2200" smtClean="0">
                <a:cs typeface="Arial" panose="020B0604020202020204" pitchFamily="34" charset="0"/>
              </a:rPr>
              <a:t>Lehman was an active participant in the OTC derivatives markets and got into financial difficulties because it took high risks and found it was unable to roll over its short term funding</a:t>
            </a:r>
          </a:p>
          <a:p>
            <a:r>
              <a:rPr lang="en-CA" altLang="en-US" sz="2200" smtClean="0">
                <a:cs typeface="Arial" panose="020B0604020202020204" pitchFamily="34" charset="0"/>
              </a:rPr>
              <a:t>It had hundreds of thousands of OTC derivatives transactions outstanding with about 8,000 counterparties</a:t>
            </a:r>
          </a:p>
          <a:p>
            <a:r>
              <a:rPr lang="en-CA" altLang="en-US" sz="2200" smtClean="0">
                <a:cs typeface="Arial" panose="020B0604020202020204" pitchFamily="34" charset="0"/>
              </a:rPr>
              <a:t>Unwinding these transactions has been challenging for both the Lehman liquidators and their counterparties </a:t>
            </a:r>
          </a:p>
        </p:txBody>
      </p:sp>
      <p:sp>
        <p:nvSpPr>
          <p:cNvPr id="44036"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cs typeface="Arial" panose="020B0604020202020204" pitchFamily="34" charset="0"/>
              </a:rPr>
              <a:t>Fundamentals of Futures and Options Markets, 9th Ed, Ch 1, Copyright © John C. Hull 2016</a:t>
            </a:r>
            <a:endParaRPr lang="en-US" altLang="en-US" sz="1400" smtClean="0">
              <a:cs typeface="Arial" panose="020B0604020202020204" pitchFamily="34" charset="0"/>
            </a:endParaRPr>
          </a:p>
        </p:txBody>
      </p:sp>
      <p:sp>
        <p:nvSpPr>
          <p:cNvPr id="44037"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94898D3-2BB2-4305-A1C1-1EFD3B5E992B}" type="slidenum">
              <a:rPr lang="en-US" altLang="en-US" sz="1800" smtClean="0"/>
              <a:pPr>
                <a:spcBef>
                  <a:spcPct val="0"/>
                </a:spcBef>
                <a:buClrTx/>
                <a:buSzTx/>
                <a:buFontTx/>
                <a:buNone/>
              </a:pPr>
              <a:t>14</a:t>
            </a:fld>
            <a:endParaRPr lang="en-US" altLang="en-US" sz="180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CA" altLang="en-US" smtClean="0"/>
              <a:t>New Regulations for OTC Market</a:t>
            </a:r>
          </a:p>
        </p:txBody>
      </p:sp>
      <p:sp>
        <p:nvSpPr>
          <p:cNvPr id="46083" name="Content Placeholder 2"/>
          <p:cNvSpPr>
            <a:spLocks noGrp="1"/>
          </p:cNvSpPr>
          <p:nvPr>
            <p:ph idx="1"/>
          </p:nvPr>
        </p:nvSpPr>
        <p:spPr/>
        <p:txBody>
          <a:bodyPr/>
          <a:lstStyle/>
          <a:p>
            <a:r>
              <a:rPr lang="en-CA" altLang="en-US" sz="2400" smtClean="0"/>
              <a:t>The OTC market is becoming more like the exchange-traded market. New regulations introduced since the crisis mean that</a:t>
            </a:r>
          </a:p>
          <a:p>
            <a:pPr lvl="1"/>
            <a:r>
              <a:rPr lang="en-CA" altLang="en-US" sz="2400" smtClean="0"/>
              <a:t>Standard OTC products traded between financial institutions must be traded on swap execution facilities</a:t>
            </a:r>
          </a:p>
          <a:p>
            <a:pPr lvl="1"/>
            <a:r>
              <a:rPr lang="en-CA" altLang="en-US" sz="2400" smtClean="0"/>
              <a:t>A central clearing party must be used as an intermediary for standard products when they are traded between financial institutions</a:t>
            </a:r>
          </a:p>
          <a:p>
            <a:pPr lvl="1"/>
            <a:r>
              <a:rPr lang="en-CA" altLang="en-US" sz="2400" smtClean="0"/>
              <a:t>Trades must be reported to a central registry</a:t>
            </a:r>
          </a:p>
        </p:txBody>
      </p:sp>
      <p:sp>
        <p:nvSpPr>
          <p:cNvPr id="30724" name="Footer Placeholder 3"/>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4608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148FF87-BF04-45EB-918A-838C9F96BD21}" type="slidenum">
              <a:rPr lang="en-US" altLang="en-US" sz="1800" smtClean="0"/>
              <a:pPr>
                <a:spcBef>
                  <a:spcPct val="0"/>
                </a:spcBef>
                <a:buClrTx/>
                <a:buSzTx/>
                <a:buFontTx/>
                <a:buNone/>
              </a:pPr>
              <a:t>15</a:t>
            </a:fld>
            <a:endParaRPr lang="en-US" altLang="en-US" sz="180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CA" altLang="en-US" smtClean="0"/>
              <a:t>Systemic Risk</a:t>
            </a:r>
          </a:p>
        </p:txBody>
      </p:sp>
      <p:sp>
        <p:nvSpPr>
          <p:cNvPr id="47107" name="Content Placeholder 2"/>
          <p:cNvSpPr>
            <a:spLocks noGrp="1"/>
          </p:cNvSpPr>
          <p:nvPr>
            <p:ph idx="1"/>
          </p:nvPr>
        </p:nvSpPr>
        <p:spPr/>
        <p:txBody>
          <a:bodyPr/>
          <a:lstStyle/>
          <a:p>
            <a:r>
              <a:rPr lang="en-CA" altLang="en-US" smtClean="0"/>
              <a:t>New regulations were introduced because of concerns about systemic risk </a:t>
            </a:r>
          </a:p>
          <a:p>
            <a:r>
              <a:rPr lang="en-CA" altLang="en-US" smtClean="0"/>
              <a:t>OTC transactions between financial institutions lead to systemic risk because a default by one large financial institution can lead to losses by other financial institutions…</a:t>
            </a:r>
          </a:p>
        </p:txBody>
      </p:sp>
      <p:sp>
        <p:nvSpPr>
          <p:cNvPr id="4" name="Footer Placeholder 3"/>
          <p:cNvSpPr>
            <a:spLocks noGrp="1"/>
          </p:cNvSpPr>
          <p:nvPr>
            <p:ph type="ftr" sz="quarter" idx="11"/>
          </p:nvPr>
        </p:nvSpPr>
        <p:spPr/>
        <p:txBody>
          <a:bodyPr/>
          <a:lstStyle/>
          <a:p>
            <a:pPr>
              <a:defRPr/>
            </a:pPr>
            <a:r>
              <a:rPr lang="en-CA" altLang="en-US"/>
              <a:t>Fundamentals of Futures and Options Markets, 9th Ed, Ch 1, Copyright © John C. Hull 2016</a:t>
            </a:r>
            <a:endParaRPr lang="en-US" altLang="en-US" i="0"/>
          </a:p>
        </p:txBody>
      </p:sp>
      <p:sp>
        <p:nvSpPr>
          <p:cNvPr id="471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1D08932-BDA0-4E16-88E9-E00442A961FF}" type="slidenum">
              <a:rPr lang="en-US" altLang="en-US" sz="1800" smtClean="0"/>
              <a:pPr>
                <a:spcBef>
                  <a:spcPct val="0"/>
                </a:spcBef>
                <a:buClrTx/>
                <a:buSzTx/>
                <a:buFontTx/>
                <a:buNone/>
              </a:pPr>
              <a:t>16</a:t>
            </a:fld>
            <a:endParaRPr lang="en-US" altLang="en-US" sz="180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48131" name="Rectangle 2"/>
          <p:cNvSpPr>
            <a:spLocks noGrp="1" noChangeArrowheads="1"/>
          </p:cNvSpPr>
          <p:nvPr>
            <p:ph type="title"/>
          </p:nvPr>
        </p:nvSpPr>
        <p:spPr/>
        <p:txBody>
          <a:bodyPr/>
          <a:lstStyle/>
          <a:p>
            <a:pPr eaLnBrk="1" hangingPunct="1"/>
            <a:r>
              <a:rPr lang="en-US" altLang="en-US" smtClean="0"/>
              <a:t>Forward Contracts</a:t>
            </a:r>
          </a:p>
        </p:txBody>
      </p:sp>
      <p:sp>
        <p:nvSpPr>
          <p:cNvPr id="48132" name="Rectangle 3"/>
          <p:cNvSpPr>
            <a:spLocks noGrp="1" noChangeArrowheads="1"/>
          </p:cNvSpPr>
          <p:nvPr>
            <p:ph type="body" idx="1"/>
          </p:nvPr>
        </p:nvSpPr>
        <p:spPr/>
        <p:txBody>
          <a:bodyPr/>
          <a:lstStyle/>
          <a:p>
            <a:pPr eaLnBrk="1" hangingPunct="1"/>
            <a:r>
              <a:rPr lang="en-US" altLang="en-US" smtClean="0"/>
              <a:t>Forward contracts are similar to futures except that they trade in the over-the-counter market</a:t>
            </a:r>
          </a:p>
          <a:p>
            <a:pPr eaLnBrk="1" hangingPunct="1"/>
            <a:r>
              <a:rPr lang="en-US" altLang="en-US" smtClean="0"/>
              <a:t>Forward contracts are popular on currencies and interest rates</a:t>
            </a:r>
          </a:p>
        </p:txBody>
      </p:sp>
      <p:sp>
        <p:nvSpPr>
          <p:cNvPr id="48133"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C8B69E0-5BAD-45F9-B487-F2DC93B1FE4D}" type="slidenum">
              <a:rPr lang="en-US" altLang="en-US" sz="1800" smtClean="0"/>
              <a:pPr>
                <a:spcBef>
                  <a:spcPct val="0"/>
                </a:spcBef>
                <a:buClrTx/>
                <a:buSzTx/>
                <a:buFontTx/>
                <a:buNone/>
              </a:pPr>
              <a:t>17</a:t>
            </a:fld>
            <a:endParaRPr lang="en-US" altLang="en-US" sz="180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8" name="Rectangle 4"/>
          <p:cNvSpPr>
            <a:spLocks noGrp="1" noChangeArrowheads="1"/>
          </p:cNvSpPr>
          <p:nvPr>
            <p:ph type="title"/>
          </p:nvPr>
        </p:nvSpPr>
        <p:spPr>
          <a:xfrm>
            <a:off x="611188" y="333375"/>
            <a:ext cx="7886700" cy="1066800"/>
          </a:xfrm>
        </p:spPr>
        <p:txBody>
          <a:bodyPr lIns="90488" tIns="44450" rIns="90488" bIns="44450"/>
          <a:lstStyle/>
          <a:p>
            <a:pPr eaLnBrk="1" fontAlgn="auto" hangingPunct="1">
              <a:spcAft>
                <a:spcPts val="0"/>
              </a:spcAft>
              <a:defRPr/>
            </a:pPr>
            <a:r>
              <a:rPr lang="en-US" dirty="0">
                <a:solidFill>
                  <a:schemeClr val="tx2">
                    <a:satMod val="130000"/>
                  </a:schemeClr>
                </a:solidFill>
              </a:rPr>
              <a:t>Forward Price</a:t>
            </a:r>
          </a:p>
        </p:txBody>
      </p:sp>
      <p:sp>
        <p:nvSpPr>
          <p:cNvPr id="50179" name="Rectangle 5"/>
          <p:cNvSpPr>
            <a:spLocks noGrp="1" noChangeArrowheads="1"/>
          </p:cNvSpPr>
          <p:nvPr>
            <p:ph idx="1"/>
          </p:nvPr>
        </p:nvSpPr>
        <p:spPr>
          <a:xfrm>
            <a:off x="676275" y="1484313"/>
            <a:ext cx="7010400" cy="4165600"/>
          </a:xfrm>
        </p:spPr>
        <p:txBody>
          <a:bodyPr lIns="90488" tIns="44450" rIns="90488" bIns="44450"/>
          <a:lstStyle/>
          <a:p>
            <a:pPr eaLnBrk="1" hangingPunct="1"/>
            <a:r>
              <a:rPr lang="en-US" altLang="en-US" smtClean="0">
                <a:cs typeface="Arial" panose="020B0604020202020204" pitchFamily="34" charset="0"/>
              </a:rPr>
              <a:t>The forward price for a contract is the delivery price that would be applicable to the contract if were negotiated today (i.e., it is the delivery price that would make the contract worth exactly zero)</a:t>
            </a:r>
          </a:p>
          <a:p>
            <a:pPr eaLnBrk="1" hangingPunct="1"/>
            <a:r>
              <a:rPr lang="en-US" altLang="en-US" smtClean="0">
                <a:cs typeface="Arial" panose="020B0604020202020204" pitchFamily="34" charset="0"/>
              </a:rPr>
              <a:t>The forward price may be different  for contracts of different maturities </a:t>
            </a:r>
          </a:p>
        </p:txBody>
      </p:sp>
      <p:sp>
        <p:nvSpPr>
          <p:cNvPr id="5018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cs typeface="Arial" panose="020B0604020202020204" pitchFamily="34" charset="0"/>
              </a:rPr>
              <a:t>Fundamentals of Futures and Options Markets, 9th Ed, Ch 1, Copyright © John C. Hull 2016</a:t>
            </a:r>
            <a:endParaRPr lang="en-US" altLang="en-US" sz="1400" smtClean="0">
              <a:cs typeface="Arial" panose="020B0604020202020204" pitchFamily="34" charset="0"/>
            </a:endParaRPr>
          </a:p>
        </p:txBody>
      </p:sp>
      <p:sp>
        <p:nvSpPr>
          <p:cNvPr id="5018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EAC394A-C030-4024-B898-4000AAC75AF2}" type="slidenum">
              <a:rPr lang="en-US" altLang="en-US" sz="1800" smtClean="0"/>
              <a:pPr>
                <a:spcBef>
                  <a:spcPct val="0"/>
                </a:spcBef>
                <a:buClrTx/>
                <a:buSzTx/>
                <a:buFontTx/>
                <a:buNone/>
              </a:pPr>
              <a:t>18</a:t>
            </a:fld>
            <a:endParaRPr lang="en-US" altLang="en-US" sz="1800" smtClean="0"/>
          </a:p>
        </p:txBody>
      </p:sp>
      <p:sp>
        <p:nvSpPr>
          <p:cNvPr id="50182"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Gill Sans MT" panose="020B0502020104020203" pitchFamily="34" charset="0"/>
            </a:endParaRPr>
          </a:p>
        </p:txBody>
      </p:sp>
      <p:sp>
        <p:nvSpPr>
          <p:cNvPr id="50183"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Gill Sans MT" panose="020B0502020104020203" pitchFamily="34" charset="0"/>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52227" name="Rectangle 2"/>
          <p:cNvSpPr>
            <a:spLocks noGrp="1" noChangeArrowheads="1"/>
          </p:cNvSpPr>
          <p:nvPr>
            <p:ph type="title"/>
          </p:nvPr>
        </p:nvSpPr>
        <p:spPr>
          <a:xfrm>
            <a:off x="457200" y="500063"/>
            <a:ext cx="7543800" cy="1428750"/>
          </a:xfrm>
        </p:spPr>
        <p:txBody>
          <a:bodyPr/>
          <a:lstStyle/>
          <a:p>
            <a:pPr eaLnBrk="1" hangingPunct="1"/>
            <a:r>
              <a:rPr lang="en-US" altLang="en-US" smtClean="0"/>
              <a:t>Foreign Exchange Quotes for USD/GBP exchange rate on May 13, 2015 </a:t>
            </a:r>
            <a:r>
              <a:rPr lang="en-US" altLang="en-US" sz="2600" smtClean="0"/>
              <a:t>(See Table 1.1, page 7)</a:t>
            </a:r>
            <a:endParaRPr lang="en-US" altLang="en-US" smtClean="0"/>
          </a:p>
        </p:txBody>
      </p:sp>
      <p:graphicFrame>
        <p:nvGraphicFramePr>
          <p:cNvPr id="29839" name="Group 143"/>
          <p:cNvGraphicFramePr>
            <a:graphicFrameLocks noGrp="1"/>
          </p:cNvGraphicFramePr>
          <p:nvPr/>
        </p:nvGraphicFramePr>
        <p:xfrm>
          <a:off x="685800" y="2209800"/>
          <a:ext cx="6934200" cy="3768725"/>
        </p:xfrm>
        <a:graphic>
          <a:graphicData uri="http://schemas.openxmlformats.org/drawingml/2006/table">
            <a:tbl>
              <a:tblPr/>
              <a:tblGrid>
                <a:gridCol w="2895600"/>
                <a:gridCol w="1727200"/>
                <a:gridCol w="2311400"/>
              </a:tblGrid>
              <a:tr h="518142">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800" b="0" i="0" u="none" strike="noStrike" cap="none" normalizeH="0" baseline="0" dirty="0" smtClean="0">
                        <a:ln>
                          <a:noFill/>
                        </a:ln>
                        <a:solidFill>
                          <a:schemeClr val="tx1"/>
                        </a:solidFill>
                        <a:effectLst/>
                        <a:latin typeface="Arial" charset="0"/>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smtClean="0">
                          <a:ln>
                            <a:noFill/>
                          </a:ln>
                          <a:solidFill>
                            <a:schemeClr val="tx1"/>
                          </a:solidFill>
                          <a:effectLst/>
                          <a:latin typeface="Arial" charset="0"/>
                        </a:rPr>
                        <a:t>Bid</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smtClean="0">
                          <a:ln>
                            <a:noFill/>
                          </a:ln>
                          <a:solidFill>
                            <a:schemeClr val="tx1"/>
                          </a:solidFill>
                          <a:effectLst/>
                          <a:latin typeface="Arial" charset="0"/>
                        </a:rPr>
                        <a:t>Offer</a:t>
                      </a:r>
                    </a:p>
                  </a:txBody>
                  <a:tcPr marT="45711" marB="4571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812646">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smtClean="0">
                          <a:ln>
                            <a:noFill/>
                          </a:ln>
                          <a:solidFill>
                            <a:schemeClr val="tx1"/>
                          </a:solidFill>
                          <a:effectLst/>
                          <a:latin typeface="Arial" charset="0"/>
                        </a:rPr>
                        <a:t>Spot</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smtClean="0">
                          <a:ln>
                            <a:noFill/>
                          </a:ln>
                          <a:solidFill>
                            <a:schemeClr val="tx1"/>
                          </a:solidFill>
                          <a:effectLst/>
                          <a:latin typeface="Arial" charset="0"/>
                        </a:rPr>
                        <a:t>1.5746</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smtClean="0">
                          <a:ln>
                            <a:noFill/>
                          </a:ln>
                          <a:solidFill>
                            <a:schemeClr val="tx1"/>
                          </a:solidFill>
                          <a:effectLst/>
                          <a:latin typeface="Arial" charset="0"/>
                        </a:rPr>
                        <a:t>1.5750</a:t>
                      </a:r>
                    </a:p>
                  </a:txBody>
                  <a:tcPr marT="45711" marB="4571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812646">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smtClean="0">
                          <a:ln>
                            <a:noFill/>
                          </a:ln>
                          <a:solidFill>
                            <a:schemeClr val="tx1"/>
                          </a:solidFill>
                          <a:effectLst/>
                          <a:latin typeface="Arial" charset="0"/>
                        </a:rPr>
                        <a:t>1-month forward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smtClean="0">
                          <a:ln>
                            <a:noFill/>
                          </a:ln>
                          <a:solidFill>
                            <a:schemeClr val="tx1"/>
                          </a:solidFill>
                          <a:effectLst/>
                          <a:latin typeface="Arial" charset="0"/>
                        </a:rPr>
                        <a:t>1.5742</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smtClean="0">
                          <a:ln>
                            <a:noFill/>
                          </a:ln>
                          <a:solidFill>
                            <a:schemeClr val="tx1"/>
                          </a:solidFill>
                          <a:effectLst/>
                          <a:latin typeface="Arial" charset="0"/>
                        </a:rPr>
                        <a:t>1.5747</a:t>
                      </a:r>
                    </a:p>
                  </a:txBody>
                  <a:tcPr marT="45711" marB="4571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812646">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smtClean="0">
                          <a:ln>
                            <a:noFill/>
                          </a:ln>
                          <a:solidFill>
                            <a:schemeClr val="tx1"/>
                          </a:solidFill>
                          <a:effectLst/>
                          <a:latin typeface="Arial" charset="0"/>
                        </a:rPr>
                        <a:t>3-month forward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smtClean="0">
                          <a:ln>
                            <a:noFill/>
                          </a:ln>
                          <a:solidFill>
                            <a:schemeClr val="tx1"/>
                          </a:solidFill>
                          <a:effectLst/>
                          <a:latin typeface="Arial" charset="0"/>
                        </a:rPr>
                        <a:t>1.5736</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smtClean="0">
                          <a:ln>
                            <a:noFill/>
                          </a:ln>
                          <a:solidFill>
                            <a:schemeClr val="tx1"/>
                          </a:solidFill>
                          <a:effectLst/>
                          <a:latin typeface="Arial" charset="0"/>
                        </a:rPr>
                        <a:t>1.5742</a:t>
                      </a:r>
                    </a:p>
                  </a:txBody>
                  <a:tcPr marT="45711" marB="4571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812646">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smtClean="0">
                          <a:ln>
                            <a:noFill/>
                          </a:ln>
                          <a:solidFill>
                            <a:schemeClr val="tx1"/>
                          </a:solidFill>
                          <a:effectLst/>
                          <a:latin typeface="Arial" charset="0"/>
                        </a:rPr>
                        <a:t>6-month forward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smtClean="0">
                          <a:ln>
                            <a:noFill/>
                          </a:ln>
                          <a:solidFill>
                            <a:schemeClr val="tx1"/>
                          </a:solidFill>
                          <a:effectLst/>
                          <a:latin typeface="Arial" charset="0"/>
                        </a:rPr>
                        <a:t>1.5730</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smtClean="0">
                          <a:ln>
                            <a:noFill/>
                          </a:ln>
                          <a:solidFill>
                            <a:schemeClr val="tx1"/>
                          </a:solidFill>
                          <a:effectLst/>
                          <a:latin typeface="Arial" charset="0"/>
                        </a:rPr>
                        <a:t>1.5736</a:t>
                      </a:r>
                    </a:p>
                  </a:txBody>
                  <a:tcPr marT="45711" marB="4571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52254"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8AC7D35-D304-4037-AB6D-BF3E0B1C4AE7}" type="slidenum">
              <a:rPr lang="en-US" altLang="en-US" sz="1800" smtClean="0"/>
              <a:pPr>
                <a:spcBef>
                  <a:spcPct val="0"/>
                </a:spcBef>
                <a:buClrTx/>
                <a:buSzTx/>
                <a:buFontTx/>
                <a:buNone/>
              </a:pPr>
              <a:t>19</a:t>
            </a:fld>
            <a:endParaRPr lang="en-US" altLang="en-US" sz="180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lIns="90488" tIns="44450" rIns="90488" bIns="44450"/>
          <a:lstStyle/>
          <a:p>
            <a:pPr eaLnBrk="1" fontAlgn="auto" hangingPunct="1">
              <a:spcAft>
                <a:spcPts val="0"/>
              </a:spcAft>
              <a:defRPr/>
            </a:pPr>
            <a:r>
              <a:rPr lang="en-US" dirty="0" smtClean="0">
                <a:solidFill>
                  <a:schemeClr val="tx2">
                    <a:satMod val="130000"/>
                  </a:schemeClr>
                </a:solidFill>
              </a:rPr>
              <a:t>Example</a:t>
            </a:r>
            <a:endParaRPr lang="en-US" dirty="0">
              <a:solidFill>
                <a:schemeClr val="tx2">
                  <a:satMod val="130000"/>
                </a:schemeClr>
              </a:solidFill>
            </a:endParaRPr>
          </a:p>
        </p:txBody>
      </p:sp>
      <p:sp>
        <p:nvSpPr>
          <p:cNvPr id="54275" name="Rectangle 3"/>
          <p:cNvSpPr>
            <a:spLocks noGrp="1" noChangeArrowheads="1"/>
          </p:cNvSpPr>
          <p:nvPr>
            <p:ph idx="1"/>
          </p:nvPr>
        </p:nvSpPr>
        <p:spPr/>
        <p:txBody>
          <a:bodyPr lIns="90488" tIns="44450" rIns="90488" bIns="44450"/>
          <a:lstStyle/>
          <a:p>
            <a:pPr eaLnBrk="1" hangingPunct="1"/>
            <a:r>
              <a:rPr lang="en-US" altLang="en-US" smtClean="0">
                <a:cs typeface="Arial" panose="020B0604020202020204" pitchFamily="34" charset="0"/>
              </a:rPr>
              <a:t>On May 13, 2015 the treasurer of a corporation might enter into a long forward contract to sell £100 million in six months at an exchange rate of 1.5736</a:t>
            </a:r>
          </a:p>
          <a:p>
            <a:pPr eaLnBrk="1" hangingPunct="1"/>
            <a:r>
              <a:rPr lang="en-US" altLang="en-US" smtClean="0">
                <a:cs typeface="Arial" panose="020B0604020202020204" pitchFamily="34" charset="0"/>
              </a:rPr>
              <a:t>This obligates the corporation to pay £1 million and receive $157.36 million on December 13, 2015</a:t>
            </a:r>
          </a:p>
          <a:p>
            <a:pPr eaLnBrk="1" hangingPunct="1"/>
            <a:r>
              <a:rPr lang="en-US" altLang="en-US" smtClean="0">
                <a:cs typeface="Arial" panose="020B0604020202020204" pitchFamily="34" charset="0"/>
              </a:rPr>
              <a:t>What are the possible outcomes?</a:t>
            </a:r>
          </a:p>
        </p:txBody>
      </p:sp>
      <p:sp>
        <p:nvSpPr>
          <p:cNvPr id="5427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cs typeface="Arial" panose="020B0604020202020204" pitchFamily="34" charset="0"/>
              </a:rPr>
              <a:t>Fundamentals of Futures and Options Markets, 9th Ed, Ch 1, Copyright © John C. Hull 2016</a:t>
            </a:r>
            <a:endParaRPr lang="en-US" altLang="en-US" sz="1400" smtClean="0">
              <a:cs typeface="Arial" panose="020B0604020202020204" pitchFamily="34" charset="0"/>
            </a:endParaRPr>
          </a:p>
        </p:txBody>
      </p:sp>
      <p:sp>
        <p:nvSpPr>
          <p:cNvPr id="5427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A5E2EBB-EE8F-4340-9202-DBD089B5C4A0}" type="slidenum">
              <a:rPr lang="en-US" altLang="en-US" sz="1800" smtClean="0"/>
              <a:pPr>
                <a:spcBef>
                  <a:spcPct val="0"/>
                </a:spcBef>
                <a:buClrTx/>
                <a:buSzTx/>
                <a:buFontTx/>
                <a:buNone/>
              </a:pPr>
              <a:t>20</a:t>
            </a:fld>
            <a:endParaRPr lang="en-US" altLang="en-US" sz="1800" smtClean="0"/>
          </a:p>
        </p:txBody>
      </p:sp>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56323" name="Rectangle 2"/>
          <p:cNvSpPr>
            <a:spLocks noGrp="1" noChangeArrowheads="1"/>
          </p:cNvSpPr>
          <p:nvPr>
            <p:ph type="title"/>
          </p:nvPr>
        </p:nvSpPr>
        <p:spPr>
          <a:xfrm>
            <a:off x="468313" y="0"/>
            <a:ext cx="7543800" cy="1125538"/>
          </a:xfrm>
        </p:spPr>
        <p:txBody>
          <a:bodyPr/>
          <a:lstStyle/>
          <a:p>
            <a:pPr eaLnBrk="1" hangingPunct="1"/>
            <a:r>
              <a:rPr lang="en-US" altLang="en-US" smtClean="0"/>
              <a:t>Options</a:t>
            </a:r>
          </a:p>
        </p:txBody>
      </p:sp>
      <p:sp>
        <p:nvSpPr>
          <p:cNvPr id="56324" name="Rectangle 3"/>
          <p:cNvSpPr>
            <a:spLocks noGrp="1" noChangeArrowheads="1"/>
          </p:cNvSpPr>
          <p:nvPr>
            <p:ph type="body" idx="1"/>
          </p:nvPr>
        </p:nvSpPr>
        <p:spPr/>
        <p:txBody>
          <a:bodyPr/>
          <a:lstStyle/>
          <a:p>
            <a:pPr eaLnBrk="1" hangingPunct="1"/>
            <a:r>
              <a:rPr lang="en-US" altLang="en-US" sz="3600" smtClean="0"/>
              <a:t>A call option is an option to buy a certain asset by a certain date for a certain price (the strike price)</a:t>
            </a:r>
          </a:p>
          <a:p>
            <a:pPr eaLnBrk="1" hangingPunct="1"/>
            <a:r>
              <a:rPr lang="en-US" altLang="en-US" sz="3600" smtClean="0"/>
              <a:t>A put option is an option to sell a certain asset by a certain date for a certain price (the strike price)</a:t>
            </a:r>
            <a:endParaRPr lang="en-US" altLang="en-US" sz="3600" i="1" smtClean="0"/>
          </a:p>
          <a:p>
            <a:pPr eaLnBrk="1" hangingPunct="1"/>
            <a:endParaRPr lang="en-US" altLang="en-US" smtClean="0"/>
          </a:p>
        </p:txBody>
      </p:sp>
      <p:sp>
        <p:nvSpPr>
          <p:cNvPr id="56325"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528A5C4-A069-4962-B754-93F094E561EB}" type="slidenum">
              <a:rPr lang="en-US" altLang="en-US" sz="1800" smtClean="0"/>
              <a:pPr>
                <a:spcBef>
                  <a:spcPct val="0"/>
                </a:spcBef>
                <a:buClrTx/>
                <a:buSzTx/>
                <a:buFontTx/>
                <a:buNone/>
              </a:pPr>
              <a:t>21</a:t>
            </a:fld>
            <a:endParaRPr lang="en-US" altLang="en-US" sz="180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58371" name="Rectangle 2"/>
          <p:cNvSpPr>
            <a:spLocks noGrp="1" noChangeArrowheads="1"/>
          </p:cNvSpPr>
          <p:nvPr>
            <p:ph type="title"/>
          </p:nvPr>
        </p:nvSpPr>
        <p:spPr/>
        <p:txBody>
          <a:bodyPr/>
          <a:lstStyle/>
          <a:p>
            <a:pPr eaLnBrk="1" hangingPunct="1"/>
            <a:r>
              <a:rPr lang="en-US" altLang="en-US" smtClean="0"/>
              <a:t>American vs European Options</a:t>
            </a:r>
          </a:p>
        </p:txBody>
      </p:sp>
      <p:sp>
        <p:nvSpPr>
          <p:cNvPr id="58372" name="Rectangle 3"/>
          <p:cNvSpPr>
            <a:spLocks noGrp="1" noChangeArrowheads="1"/>
          </p:cNvSpPr>
          <p:nvPr>
            <p:ph type="body" idx="1"/>
          </p:nvPr>
        </p:nvSpPr>
        <p:spPr/>
        <p:txBody>
          <a:bodyPr/>
          <a:lstStyle/>
          <a:p>
            <a:pPr eaLnBrk="1" hangingPunct="1"/>
            <a:r>
              <a:rPr lang="en-US" altLang="en-US" smtClean="0"/>
              <a:t>An American option can be exercised at any time during its life</a:t>
            </a:r>
          </a:p>
          <a:p>
            <a:pPr eaLnBrk="1" hangingPunct="1"/>
            <a:r>
              <a:rPr lang="en-US" altLang="en-US" smtClean="0"/>
              <a:t>A European option can be exercised only at maturity </a:t>
            </a:r>
          </a:p>
        </p:txBody>
      </p:sp>
      <p:sp>
        <p:nvSpPr>
          <p:cNvPr id="58373"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51D330C-3A27-4888-B62B-1BBAAA6AE5CA}" type="slidenum">
              <a:rPr lang="en-US" altLang="en-US" sz="1800" smtClean="0"/>
              <a:pPr>
                <a:spcBef>
                  <a:spcPct val="0"/>
                </a:spcBef>
                <a:buClrTx/>
                <a:buSzTx/>
                <a:buFontTx/>
                <a:buNone/>
              </a:pPr>
              <a:t>22</a:t>
            </a:fld>
            <a:endParaRPr lang="en-US" altLang="en-US" sz="180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5"/>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60419" name="Rectangle 1026"/>
          <p:cNvSpPr>
            <a:spLocks noGrp="1" noChangeArrowheads="1"/>
          </p:cNvSpPr>
          <p:nvPr>
            <p:ph type="title"/>
          </p:nvPr>
        </p:nvSpPr>
        <p:spPr>
          <a:xfrm>
            <a:off x="179388" y="122238"/>
            <a:ext cx="7921625" cy="1295400"/>
          </a:xfrm>
        </p:spPr>
        <p:txBody>
          <a:bodyPr/>
          <a:lstStyle/>
          <a:p>
            <a:pPr eaLnBrk="1" hangingPunct="1"/>
            <a:r>
              <a:rPr lang="en-US" altLang="en-US" smtClean="0"/>
              <a:t>Google Call Option Prices </a:t>
            </a:r>
            <a:r>
              <a:rPr lang="en-US" altLang="en-US" sz="2600" smtClean="0"/>
              <a:t>(May 13, 2015 Stock Price: bid 532.20, offer 532.34; See page 8)</a:t>
            </a:r>
          </a:p>
        </p:txBody>
      </p:sp>
      <p:sp>
        <p:nvSpPr>
          <p:cNvPr id="60420" name="Rectangle 1027"/>
          <p:cNvSpPr>
            <a:spLocks noGrp="1" noChangeArrowheads="1"/>
          </p:cNvSpPr>
          <p:nvPr>
            <p:ph type="body" sz="half" idx="1"/>
          </p:nvPr>
        </p:nvSpPr>
        <p:spPr>
          <a:xfrm>
            <a:off x="457200" y="1719263"/>
            <a:ext cx="4033838" cy="4411662"/>
          </a:xfrm>
        </p:spPr>
        <p:txBody>
          <a:bodyPr/>
          <a:lstStyle/>
          <a:p>
            <a:pPr eaLnBrk="1" hangingPunct="1">
              <a:buFont typeface="Wingdings" panose="05000000000000000000" pitchFamily="2" charset="2"/>
              <a:buNone/>
            </a:pPr>
            <a:r>
              <a:rPr lang="en-US" altLang="en-US" sz="2800" smtClean="0"/>
              <a:t> </a:t>
            </a:r>
          </a:p>
        </p:txBody>
      </p:sp>
      <p:sp>
        <p:nvSpPr>
          <p:cNvPr id="60421" name="Slide Number Placeholder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364EE0B-8BFF-460A-84BF-93A1D1882433}" type="slidenum">
              <a:rPr lang="en-US" altLang="en-US" sz="1800" smtClean="0"/>
              <a:pPr>
                <a:spcBef>
                  <a:spcPct val="0"/>
                </a:spcBef>
                <a:buClrTx/>
                <a:buSzTx/>
                <a:buFontTx/>
                <a:buNone/>
              </a:pPr>
              <a:t>23</a:t>
            </a:fld>
            <a:endParaRPr lang="en-US" altLang="en-US" sz="1800" smtClean="0"/>
          </a:p>
        </p:txBody>
      </p:sp>
      <p:graphicFrame>
        <p:nvGraphicFramePr>
          <p:cNvPr id="2" name="Table 1"/>
          <p:cNvGraphicFramePr>
            <a:graphicFrameLocks noGrp="1"/>
          </p:cNvGraphicFramePr>
          <p:nvPr/>
        </p:nvGraphicFramePr>
        <p:xfrm>
          <a:off x="1042988" y="2276475"/>
          <a:ext cx="6024562" cy="2906713"/>
        </p:xfrm>
        <a:graphic>
          <a:graphicData uri="http://schemas.openxmlformats.org/drawingml/2006/table">
            <a:tbl>
              <a:tblPr firstRow="1" bandRow="1">
                <a:tableStyleId>{5940675A-B579-460E-94D1-54222C63F5DA}</a:tableStyleId>
              </a:tblPr>
              <a:tblGrid>
                <a:gridCol w="1080223"/>
                <a:gridCol w="792163"/>
                <a:gridCol w="792163"/>
                <a:gridCol w="778058"/>
                <a:gridCol w="860652"/>
                <a:gridCol w="860652"/>
                <a:gridCol w="860652"/>
              </a:tblGrid>
              <a:tr h="640291">
                <a:tc>
                  <a:txBody>
                    <a:bodyPr/>
                    <a:lstStyle/>
                    <a:p>
                      <a:pPr algn="ctr"/>
                      <a:r>
                        <a:rPr lang="en-CA" sz="1800" dirty="0" smtClean="0"/>
                        <a:t>Strike</a:t>
                      </a:r>
                    </a:p>
                    <a:p>
                      <a:pPr algn="ctr"/>
                      <a:r>
                        <a:rPr lang="en-CA" sz="1800" dirty="0" smtClean="0"/>
                        <a:t>Price ($)</a:t>
                      </a:r>
                      <a:endParaRPr lang="en-CA" sz="1800" dirty="0"/>
                    </a:p>
                  </a:txBody>
                  <a:tcPr marL="91449" marR="91449"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800" dirty="0" smtClean="0"/>
                        <a:t>June</a:t>
                      </a:r>
                    </a:p>
                    <a:p>
                      <a:pPr algn="ctr"/>
                      <a:r>
                        <a:rPr lang="en-CA" sz="1800" dirty="0" smtClean="0"/>
                        <a:t>Bid</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800" dirty="0" smtClean="0"/>
                        <a:t>June</a:t>
                      </a:r>
                    </a:p>
                    <a:p>
                      <a:pPr algn="ctr"/>
                      <a:r>
                        <a:rPr lang="en-CA" sz="1800" dirty="0" smtClean="0"/>
                        <a:t>Offer</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800" dirty="0" smtClean="0"/>
                        <a:t>Sept</a:t>
                      </a:r>
                    </a:p>
                    <a:p>
                      <a:pPr algn="ctr"/>
                      <a:r>
                        <a:rPr lang="en-CA" sz="1800" dirty="0" smtClean="0"/>
                        <a:t>Bid</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800" dirty="0" smtClean="0"/>
                        <a:t>Sept</a:t>
                      </a:r>
                    </a:p>
                    <a:p>
                      <a:pPr algn="ctr"/>
                      <a:r>
                        <a:rPr lang="en-CA" sz="1800" dirty="0" smtClean="0"/>
                        <a:t>Offer</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800" dirty="0" smtClean="0"/>
                        <a:t>Dec</a:t>
                      </a:r>
                    </a:p>
                    <a:p>
                      <a:pPr algn="ctr"/>
                      <a:r>
                        <a:rPr lang="en-CA" sz="1800" dirty="0" smtClean="0"/>
                        <a:t>Bid</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800" dirty="0" smtClean="0"/>
                        <a:t>Dec Offer</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53284">
                <a:tc>
                  <a:txBody>
                    <a:bodyPr/>
                    <a:lstStyle/>
                    <a:p>
                      <a:pPr algn="ctr"/>
                      <a:r>
                        <a:rPr lang="en-CA" sz="1800" dirty="0" smtClean="0"/>
                        <a:t>475</a:t>
                      </a:r>
                      <a:endParaRPr lang="en-CA" sz="1800" dirty="0"/>
                    </a:p>
                  </a:txBody>
                  <a:tcPr marL="91449" marR="91449" marT="45735" marB="4573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n-CA" sz="1800" dirty="0" smtClean="0"/>
                        <a:t>57.90</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61.80</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66.00</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68.90</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73.50</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76.50</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53284">
                <a:tc>
                  <a:txBody>
                    <a:bodyPr/>
                    <a:lstStyle/>
                    <a:p>
                      <a:pPr algn="ctr"/>
                      <a:r>
                        <a:rPr lang="en-CA" sz="1800" dirty="0" smtClean="0"/>
                        <a:t>500</a:t>
                      </a:r>
                      <a:endParaRPr lang="en-CA" sz="1800" dirty="0"/>
                    </a:p>
                  </a:txBody>
                  <a:tcPr marL="91449" marR="91449" marT="45735" marB="45735">
                    <a:lnR w="12700" cap="flat" cmpd="sng" algn="ctr">
                      <a:solidFill>
                        <a:schemeClr val="tx1"/>
                      </a:solidFill>
                      <a:prstDash val="solid"/>
                      <a:round/>
                      <a:headEnd type="none" w="med" len="med"/>
                      <a:tailEnd type="none" w="med" len="med"/>
                    </a:lnR>
                  </a:tcPr>
                </a:tc>
                <a:tc>
                  <a:txBody>
                    <a:bodyPr/>
                    <a:lstStyle/>
                    <a:p>
                      <a:r>
                        <a:rPr lang="en-CA" sz="1800" dirty="0" smtClean="0"/>
                        <a:t>34.80</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37.10</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45.90</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47.90</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54.90</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56.60</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53284">
                <a:tc>
                  <a:txBody>
                    <a:bodyPr/>
                    <a:lstStyle/>
                    <a:p>
                      <a:pPr algn="ctr"/>
                      <a:r>
                        <a:rPr lang="en-CA" sz="1800" dirty="0" smtClean="0"/>
                        <a:t>525</a:t>
                      </a:r>
                      <a:endParaRPr lang="en-CA" sz="1800" dirty="0"/>
                    </a:p>
                  </a:txBody>
                  <a:tcPr marL="91449" marR="91449" marT="45735" marB="45735">
                    <a:lnR w="12700" cap="flat" cmpd="sng" algn="ctr">
                      <a:solidFill>
                        <a:schemeClr val="tx1"/>
                      </a:solidFill>
                      <a:prstDash val="solid"/>
                      <a:round/>
                      <a:headEnd type="none" w="med" len="med"/>
                      <a:tailEnd type="none" w="med" len="med"/>
                    </a:lnR>
                  </a:tcPr>
                </a:tc>
                <a:tc>
                  <a:txBody>
                    <a:bodyPr/>
                    <a:lstStyle/>
                    <a:p>
                      <a:r>
                        <a:rPr lang="en-CA" sz="1800" dirty="0" smtClean="0"/>
                        <a:t>16.70</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17.30</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30.40</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31.30</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40.20</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41.10</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53284">
                <a:tc>
                  <a:txBody>
                    <a:bodyPr/>
                    <a:lstStyle/>
                    <a:p>
                      <a:pPr algn="ctr"/>
                      <a:r>
                        <a:rPr lang="en-CA" sz="1800" dirty="0" smtClean="0"/>
                        <a:t>550</a:t>
                      </a:r>
                      <a:endParaRPr lang="en-CA" sz="1800" dirty="0"/>
                    </a:p>
                  </a:txBody>
                  <a:tcPr marL="91449" marR="91449" marT="45735" marB="45735">
                    <a:lnR w="12700" cap="flat" cmpd="sng" algn="ctr">
                      <a:solidFill>
                        <a:schemeClr val="tx1"/>
                      </a:solidFill>
                      <a:prstDash val="solid"/>
                      <a:round/>
                      <a:headEnd type="none" w="med" len="med"/>
                      <a:tailEnd type="none" w="med" len="med"/>
                    </a:lnR>
                  </a:tcPr>
                </a:tc>
                <a:tc>
                  <a:txBody>
                    <a:bodyPr/>
                    <a:lstStyle/>
                    <a:p>
                      <a:r>
                        <a:rPr lang="en-CA" sz="1800" dirty="0" smtClean="0"/>
                        <a:t>  5.60</a:t>
                      </a:r>
                      <a:endParaRPr lang="en-CA" sz="1800" dirty="0"/>
                    </a:p>
                  </a:txBody>
                  <a:tcPr marL="91449" marR="91449" marT="45735" marB="4573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  6.20</a:t>
                      </a:r>
                      <a:endParaRPr lang="en-CA" sz="1800" dirty="0"/>
                    </a:p>
                  </a:txBody>
                  <a:tcPr marL="91449" marR="91449" marT="45735" marB="4573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18.60</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19.40</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28.10</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29.00</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53284">
                <a:tc>
                  <a:txBody>
                    <a:bodyPr/>
                    <a:lstStyle/>
                    <a:p>
                      <a:pPr algn="ctr"/>
                      <a:r>
                        <a:rPr lang="en-CA" sz="1800" dirty="0" smtClean="0"/>
                        <a:t>575</a:t>
                      </a:r>
                      <a:endParaRPr lang="en-CA" sz="1800" dirty="0"/>
                    </a:p>
                  </a:txBody>
                  <a:tcPr marL="91449" marR="91449" marT="45735" marB="45735">
                    <a:lnR w="12700" cap="flat" cmpd="sng" algn="ctr">
                      <a:solidFill>
                        <a:schemeClr val="tx1"/>
                      </a:solidFill>
                      <a:prstDash val="solid"/>
                      <a:round/>
                      <a:headEnd type="none" w="med" len="med"/>
                      <a:tailEnd type="none" w="med" len="med"/>
                    </a:lnR>
                  </a:tcPr>
                </a:tc>
                <a:tc>
                  <a:txBody>
                    <a:bodyPr/>
                    <a:lstStyle/>
                    <a:p>
                      <a:r>
                        <a:rPr lang="en-CA" sz="1800" dirty="0" smtClean="0"/>
                        <a:t>  1.55</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  1.80</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10.50</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11.30</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18.80</a:t>
                      </a:r>
                      <a:endParaRPr lang="en-CA" sz="1800" dirty="0"/>
                    </a:p>
                  </a:txBody>
                  <a:tcPr marL="91449" marR="91449" marT="45735" marB="45735">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20.20</a:t>
                      </a:r>
                      <a:endParaRPr lang="en-CA" sz="1800" dirty="0"/>
                    </a:p>
                  </a:txBody>
                  <a:tcPr marL="91449" marR="91449" marT="45735" marB="45735">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2"/>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62467"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0762F23-A8DB-4F68-8534-884FB66830D3}" type="slidenum">
              <a:rPr lang="en-US" altLang="en-US" sz="1800" smtClean="0"/>
              <a:pPr>
                <a:spcBef>
                  <a:spcPct val="0"/>
                </a:spcBef>
                <a:buClrTx/>
                <a:buSzTx/>
                <a:buFontTx/>
                <a:buNone/>
              </a:pPr>
              <a:t>24</a:t>
            </a:fld>
            <a:endParaRPr lang="en-US" altLang="en-US" sz="1800" smtClean="0"/>
          </a:p>
        </p:txBody>
      </p:sp>
      <p:sp>
        <p:nvSpPr>
          <p:cNvPr id="62468" name="Rectangle 1026"/>
          <p:cNvSpPr>
            <a:spLocks noGrp="1" noChangeArrowheads="1"/>
          </p:cNvSpPr>
          <p:nvPr>
            <p:ph type="title"/>
          </p:nvPr>
        </p:nvSpPr>
        <p:spPr>
          <a:xfrm>
            <a:off x="250825" y="122238"/>
            <a:ext cx="7850188" cy="1295400"/>
          </a:xfrm>
        </p:spPr>
        <p:txBody>
          <a:bodyPr/>
          <a:lstStyle/>
          <a:p>
            <a:pPr eaLnBrk="1" hangingPunct="1"/>
            <a:r>
              <a:rPr lang="en-US" altLang="en-US" smtClean="0"/>
              <a:t>Google Put Option Prices </a:t>
            </a:r>
            <a:r>
              <a:rPr lang="en-US" altLang="en-US" sz="2600" smtClean="0"/>
              <a:t>(June 25, 2015 Stock Price: bid 532.20, offer 532.34; See page 8)</a:t>
            </a:r>
          </a:p>
        </p:txBody>
      </p:sp>
      <p:graphicFrame>
        <p:nvGraphicFramePr>
          <p:cNvPr id="6" name="Table 5"/>
          <p:cNvGraphicFramePr>
            <a:graphicFrameLocks noGrp="1"/>
          </p:cNvGraphicFramePr>
          <p:nvPr/>
        </p:nvGraphicFramePr>
        <p:xfrm>
          <a:off x="1042988" y="2276475"/>
          <a:ext cx="6024562" cy="3057525"/>
        </p:xfrm>
        <a:graphic>
          <a:graphicData uri="http://schemas.openxmlformats.org/drawingml/2006/table">
            <a:tbl>
              <a:tblPr firstRow="1" bandRow="1">
                <a:tableStyleId>{5940675A-B579-460E-94D1-54222C63F5DA}</a:tableStyleId>
              </a:tblPr>
              <a:tblGrid>
                <a:gridCol w="1080223"/>
                <a:gridCol w="792163"/>
                <a:gridCol w="792163"/>
                <a:gridCol w="778058"/>
                <a:gridCol w="860652"/>
                <a:gridCol w="860652"/>
                <a:gridCol w="860652"/>
              </a:tblGrid>
              <a:tr h="792026">
                <a:tc>
                  <a:txBody>
                    <a:bodyPr/>
                    <a:lstStyle/>
                    <a:p>
                      <a:pPr algn="ctr"/>
                      <a:r>
                        <a:rPr lang="en-CA" sz="1800" dirty="0" smtClean="0"/>
                        <a:t>Strike</a:t>
                      </a:r>
                    </a:p>
                    <a:p>
                      <a:pPr algn="ctr"/>
                      <a:r>
                        <a:rPr lang="en-CA" sz="1800" dirty="0" smtClean="0"/>
                        <a:t>Price ($)</a:t>
                      </a:r>
                      <a:endParaRPr lang="en-CA" sz="1800" dirty="0"/>
                    </a:p>
                  </a:txBody>
                  <a:tcPr marL="91449" marR="91449" marT="45716" marB="45716">
                    <a:lnR w="12700" cap="flat" cmpd="sng" algn="ctr">
                      <a:solidFill>
                        <a:schemeClr val="tx1"/>
                      </a:solidFill>
                      <a:prstDash val="solid"/>
                      <a:round/>
                      <a:headEnd type="none" w="med" len="med"/>
                      <a:tailEnd type="none" w="med" len="med"/>
                    </a:lnR>
                  </a:tcPr>
                </a:tc>
                <a:tc>
                  <a:txBody>
                    <a:bodyPr/>
                    <a:lstStyle/>
                    <a:p>
                      <a:pPr algn="ctr"/>
                      <a:r>
                        <a:rPr lang="en-CA" sz="1800" dirty="0" smtClean="0"/>
                        <a:t>June</a:t>
                      </a:r>
                    </a:p>
                    <a:p>
                      <a:pPr algn="ctr"/>
                      <a:r>
                        <a:rPr lang="en-CA" sz="1800" dirty="0" smtClean="0"/>
                        <a:t>Bid</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800" dirty="0" smtClean="0"/>
                        <a:t>June</a:t>
                      </a:r>
                    </a:p>
                    <a:p>
                      <a:pPr algn="ctr"/>
                      <a:r>
                        <a:rPr lang="en-CA" sz="1800" dirty="0" smtClean="0"/>
                        <a:t>Offer</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800" dirty="0" smtClean="0"/>
                        <a:t>Sept</a:t>
                      </a:r>
                    </a:p>
                    <a:p>
                      <a:pPr algn="ctr"/>
                      <a:r>
                        <a:rPr lang="en-CA" sz="1800" dirty="0" smtClean="0"/>
                        <a:t>Bid</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800" dirty="0" smtClean="0"/>
                        <a:t>Sept</a:t>
                      </a:r>
                    </a:p>
                    <a:p>
                      <a:pPr algn="ctr"/>
                      <a:r>
                        <a:rPr lang="en-CA" sz="1800" dirty="0" smtClean="0"/>
                        <a:t>Offer</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800" dirty="0" smtClean="0"/>
                        <a:t>Dec</a:t>
                      </a:r>
                    </a:p>
                    <a:p>
                      <a:pPr algn="ctr"/>
                      <a:r>
                        <a:rPr lang="en-CA" sz="1800" dirty="0" smtClean="0"/>
                        <a:t>Bid</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800" dirty="0" smtClean="0"/>
                        <a:t>Dec Offer</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53100">
                <a:tc>
                  <a:txBody>
                    <a:bodyPr/>
                    <a:lstStyle/>
                    <a:p>
                      <a:pPr algn="ctr"/>
                      <a:r>
                        <a:rPr lang="en-CA" sz="1800" dirty="0" smtClean="0"/>
                        <a:t>475</a:t>
                      </a:r>
                      <a:endParaRPr lang="en-CA" sz="1800" dirty="0"/>
                    </a:p>
                  </a:txBody>
                  <a:tcPr marL="91449" marR="91449" marT="45735" marB="45735">
                    <a:lnR w="12700" cap="flat" cmpd="sng" algn="ctr">
                      <a:solidFill>
                        <a:schemeClr val="tx1"/>
                      </a:solidFill>
                      <a:prstDash val="solid"/>
                      <a:round/>
                      <a:headEnd type="none" w="med" len="med"/>
                      <a:tailEnd type="none" w="med" len="med"/>
                    </a:lnR>
                  </a:tcPr>
                </a:tc>
                <a:tc>
                  <a:txBody>
                    <a:bodyPr/>
                    <a:lstStyle/>
                    <a:p>
                      <a:r>
                        <a:rPr lang="en-CA" sz="1800" dirty="0" smtClean="0"/>
                        <a:t>  0.95</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  1.05</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  5.50</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  9.20</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12.50</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15.20</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53100">
                <a:tc>
                  <a:txBody>
                    <a:bodyPr/>
                    <a:lstStyle/>
                    <a:p>
                      <a:pPr algn="ctr"/>
                      <a:r>
                        <a:rPr lang="en-CA" sz="1800" dirty="0" smtClean="0"/>
                        <a:t>500</a:t>
                      </a:r>
                      <a:endParaRPr lang="en-CA" sz="1800" dirty="0"/>
                    </a:p>
                  </a:txBody>
                  <a:tcPr marL="91449" marR="91449" marT="45735" marB="45735">
                    <a:lnR w="12700" cap="flat" cmpd="sng" algn="ctr">
                      <a:solidFill>
                        <a:schemeClr val="tx1"/>
                      </a:solidFill>
                      <a:prstDash val="solid"/>
                      <a:round/>
                      <a:headEnd type="none" w="med" len="med"/>
                      <a:tailEnd type="none" w="med" len="med"/>
                    </a:lnR>
                  </a:tcPr>
                </a:tc>
                <a:tc>
                  <a:txBody>
                    <a:bodyPr/>
                    <a:lstStyle/>
                    <a:p>
                      <a:r>
                        <a:rPr lang="en-CA" sz="1800" baseline="0" dirty="0" smtClean="0"/>
                        <a:t>  2.95</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  3.30</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13.00</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13.80</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21.30</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22.10</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53100">
                <a:tc>
                  <a:txBody>
                    <a:bodyPr/>
                    <a:lstStyle/>
                    <a:p>
                      <a:pPr algn="ctr"/>
                      <a:r>
                        <a:rPr lang="en-CA" sz="1800" dirty="0" smtClean="0"/>
                        <a:t>525</a:t>
                      </a:r>
                      <a:endParaRPr lang="en-CA" sz="1800" dirty="0"/>
                    </a:p>
                  </a:txBody>
                  <a:tcPr marL="91449" marR="91449" marT="45735" marB="45735">
                    <a:lnR w="12700" cap="flat" cmpd="sng" algn="ctr">
                      <a:solidFill>
                        <a:schemeClr val="tx1"/>
                      </a:solidFill>
                      <a:prstDash val="solid"/>
                      <a:round/>
                      <a:headEnd type="none" w="med" len="med"/>
                      <a:tailEnd type="none" w="med" len="med"/>
                    </a:lnR>
                  </a:tcPr>
                </a:tc>
                <a:tc>
                  <a:txBody>
                    <a:bodyPr/>
                    <a:lstStyle/>
                    <a:p>
                      <a:r>
                        <a:rPr lang="en-CA" sz="1800" dirty="0" smtClean="0"/>
                        <a:t>  9.40</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  9.90</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22.40</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23.20</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31.30</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32.00</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53100">
                <a:tc>
                  <a:txBody>
                    <a:bodyPr/>
                    <a:lstStyle/>
                    <a:p>
                      <a:pPr algn="ctr"/>
                      <a:r>
                        <a:rPr lang="en-CA" sz="1800" dirty="0" smtClean="0"/>
                        <a:t>550</a:t>
                      </a:r>
                      <a:endParaRPr lang="en-CA" sz="1800" dirty="0"/>
                    </a:p>
                  </a:txBody>
                  <a:tcPr marL="91449" marR="91449" marT="45735" marB="45735">
                    <a:lnR w="12700" cap="flat" cmpd="sng" algn="ctr">
                      <a:solidFill>
                        <a:schemeClr val="tx1"/>
                      </a:solidFill>
                      <a:prstDash val="solid"/>
                      <a:round/>
                      <a:headEnd type="none" w="med" len="med"/>
                      <a:tailEnd type="none" w="med" len="med"/>
                    </a:lnR>
                  </a:tcPr>
                </a:tc>
                <a:tc>
                  <a:txBody>
                    <a:bodyPr/>
                    <a:lstStyle/>
                    <a:p>
                      <a:r>
                        <a:rPr lang="en-CA" sz="1800" dirty="0" smtClean="0"/>
                        <a:t>22.90</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24.40</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35.20</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36.40</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44.10</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45.00</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53100">
                <a:tc>
                  <a:txBody>
                    <a:bodyPr/>
                    <a:lstStyle/>
                    <a:p>
                      <a:pPr algn="ctr"/>
                      <a:r>
                        <a:rPr lang="en-CA" sz="1800" dirty="0" smtClean="0"/>
                        <a:t>575</a:t>
                      </a:r>
                      <a:endParaRPr lang="en-CA" sz="1800" dirty="0"/>
                    </a:p>
                  </a:txBody>
                  <a:tcPr marL="91449" marR="91449" marT="45735" marB="45735">
                    <a:lnR w="12700" cap="flat" cmpd="sng" algn="ctr">
                      <a:solidFill>
                        <a:schemeClr val="tx1"/>
                      </a:solidFill>
                      <a:prstDash val="solid"/>
                      <a:round/>
                      <a:headEnd type="none" w="med" len="med"/>
                      <a:tailEnd type="none" w="med" len="med"/>
                    </a:lnR>
                  </a:tcPr>
                </a:tc>
                <a:tc>
                  <a:txBody>
                    <a:bodyPr/>
                    <a:lstStyle/>
                    <a:p>
                      <a:r>
                        <a:rPr lang="en-CA" sz="1800" dirty="0" smtClean="0"/>
                        <a:t>42.70</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45.80</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51.90</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53.50</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59.70</a:t>
                      </a:r>
                      <a:endParaRPr lang="en-CA" sz="1800" dirty="0"/>
                    </a:p>
                  </a:txBody>
                  <a:tcPr marL="91449" marR="91449" marT="45716" marB="45716">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smtClean="0"/>
                        <a:t>61.00</a:t>
                      </a:r>
                      <a:endParaRPr lang="en-CA" sz="1800" dirty="0"/>
                    </a:p>
                  </a:txBody>
                  <a:tcPr marL="91449" marR="91449" marT="45716" marB="45716">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CA" altLang="en-US" sz="3000" smtClean="0"/>
              <a:t>Net profit from purchasing a contract consisting of 100 December call options with a strike price of $550 for $29 per option</a:t>
            </a:r>
          </a:p>
        </p:txBody>
      </p:sp>
      <p:sp>
        <p:nvSpPr>
          <p:cNvPr id="3" name="Footer Placeholder 2"/>
          <p:cNvSpPr>
            <a:spLocks noGrp="1"/>
          </p:cNvSpPr>
          <p:nvPr>
            <p:ph type="ftr" sz="quarter" idx="11"/>
          </p:nvPr>
        </p:nvSpPr>
        <p:spPr/>
        <p:txBody>
          <a:bodyPr/>
          <a:lstStyle/>
          <a:p>
            <a:pPr>
              <a:defRPr/>
            </a:pPr>
            <a:r>
              <a:rPr lang="en-CA" altLang="en-US"/>
              <a:t>Fundamentals of Futures and Options Markets, 9th Ed, Ch 1, Copyright © John C. Hull 2016</a:t>
            </a:r>
            <a:endParaRPr lang="en-US" altLang="en-US" i="0"/>
          </a:p>
        </p:txBody>
      </p:sp>
      <p:sp>
        <p:nvSpPr>
          <p:cNvPr id="634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FC9A1FC-96CA-4904-8D22-79C5ABAC2580}" type="slidenum">
              <a:rPr lang="en-US" altLang="en-US" sz="1800" smtClean="0"/>
              <a:pPr>
                <a:spcBef>
                  <a:spcPct val="0"/>
                </a:spcBef>
                <a:buClrTx/>
                <a:buSzTx/>
                <a:buFontTx/>
                <a:buNone/>
              </a:pPr>
              <a:t>25</a:t>
            </a:fld>
            <a:endParaRPr lang="en-US" altLang="en-US" sz="1800" smtClean="0"/>
          </a:p>
        </p:txBody>
      </p:sp>
      <p:pic>
        <p:nvPicPr>
          <p:cNvPr id="6349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8" y="1700213"/>
            <a:ext cx="7370762" cy="4249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CA" altLang="en-US" sz="3000" smtClean="0"/>
              <a:t>Net profit from selling a contract consisting of 100 September put options with a strike price of $525 for $22.40 per option</a:t>
            </a:r>
          </a:p>
        </p:txBody>
      </p:sp>
      <p:sp>
        <p:nvSpPr>
          <p:cNvPr id="3" name="Footer Placeholder 2"/>
          <p:cNvSpPr>
            <a:spLocks noGrp="1"/>
          </p:cNvSpPr>
          <p:nvPr>
            <p:ph type="ftr" sz="quarter" idx="11"/>
          </p:nvPr>
        </p:nvSpPr>
        <p:spPr/>
        <p:txBody>
          <a:bodyPr/>
          <a:lstStyle/>
          <a:p>
            <a:pPr>
              <a:defRPr/>
            </a:pPr>
            <a:r>
              <a:rPr lang="en-CA" altLang="en-US"/>
              <a:t>Fundamentals of Futures and Options Markets, 9th Ed, Ch 1, Copyright © John C. Hull 2016</a:t>
            </a:r>
            <a:endParaRPr lang="en-US" altLang="en-US" i="0"/>
          </a:p>
        </p:txBody>
      </p:sp>
      <p:sp>
        <p:nvSpPr>
          <p:cNvPr id="645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4A6AF29-5023-4A7E-8F33-D8C7CFC19ABA}" type="slidenum">
              <a:rPr lang="en-US" altLang="en-US" sz="1800" smtClean="0"/>
              <a:pPr>
                <a:spcBef>
                  <a:spcPct val="0"/>
                </a:spcBef>
                <a:buClrTx/>
                <a:buSzTx/>
                <a:buFontTx/>
                <a:buNone/>
              </a:pPr>
              <a:t>26</a:t>
            </a:fld>
            <a:endParaRPr lang="en-US" altLang="en-US" sz="1800" smtClean="0"/>
          </a:p>
        </p:txBody>
      </p:sp>
      <p:pic>
        <p:nvPicPr>
          <p:cNvPr id="6451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 y="1773238"/>
            <a:ext cx="7248525" cy="417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65539"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5540"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5541" name="Rectangle 4"/>
          <p:cNvSpPr>
            <a:spLocks noGrp="1" noChangeArrowheads="1"/>
          </p:cNvSpPr>
          <p:nvPr>
            <p:ph type="title"/>
          </p:nvPr>
        </p:nvSpPr>
        <p:spPr/>
        <p:txBody>
          <a:bodyPr lIns="90488" tIns="44450" rIns="90488" bIns="44450" anchor="ctr"/>
          <a:lstStyle/>
          <a:p>
            <a:pPr eaLnBrk="1" hangingPunct="1"/>
            <a:r>
              <a:rPr lang="en-US" altLang="en-US" smtClean="0"/>
              <a:t>Exchanges Trading Options</a:t>
            </a:r>
          </a:p>
        </p:txBody>
      </p:sp>
      <p:sp>
        <p:nvSpPr>
          <p:cNvPr id="65542" name="Rectangle 5"/>
          <p:cNvSpPr>
            <a:spLocks noGrp="1" noChangeArrowheads="1"/>
          </p:cNvSpPr>
          <p:nvPr>
            <p:ph type="body" idx="1"/>
          </p:nvPr>
        </p:nvSpPr>
        <p:spPr/>
        <p:txBody>
          <a:bodyPr lIns="90488" tIns="44450" rIns="90488" bIns="44450"/>
          <a:lstStyle/>
          <a:p>
            <a:pPr eaLnBrk="1" hangingPunct="1"/>
            <a:r>
              <a:rPr lang="en-US" altLang="en-US" smtClean="0"/>
              <a:t>Chicago Board Options Exchange</a:t>
            </a:r>
          </a:p>
          <a:p>
            <a:pPr eaLnBrk="1" hangingPunct="1"/>
            <a:r>
              <a:rPr lang="en-US" altLang="en-US" smtClean="0"/>
              <a:t>International Securities Exchange</a:t>
            </a:r>
          </a:p>
          <a:p>
            <a:pPr eaLnBrk="1" hangingPunct="1"/>
            <a:r>
              <a:rPr lang="en-CA" altLang="en-US" smtClean="0"/>
              <a:t>NYSE Euronext</a:t>
            </a:r>
            <a:endParaRPr lang="en-US" altLang="en-US" smtClean="0"/>
          </a:p>
          <a:p>
            <a:pPr eaLnBrk="1" hangingPunct="1"/>
            <a:r>
              <a:rPr lang="en-US" altLang="en-US" smtClean="0"/>
              <a:t>Eurex (Europe)</a:t>
            </a:r>
          </a:p>
          <a:p>
            <a:pPr eaLnBrk="1" hangingPunct="1"/>
            <a:r>
              <a:rPr lang="en-US" altLang="en-US" smtClean="0"/>
              <a:t>and many more (see list at end of book)</a:t>
            </a:r>
          </a:p>
        </p:txBody>
      </p:sp>
      <p:sp>
        <p:nvSpPr>
          <p:cNvPr id="65543"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2AAD1AC-5538-421E-9E02-908CC0DE19A2}" type="slidenum">
              <a:rPr lang="en-US" altLang="en-US" sz="1800" smtClean="0"/>
              <a:pPr>
                <a:spcBef>
                  <a:spcPct val="0"/>
                </a:spcBef>
                <a:buClrTx/>
                <a:buSzTx/>
                <a:buFontTx/>
                <a:buNone/>
              </a:pPr>
              <a:t>27</a:t>
            </a:fld>
            <a:endParaRPr lang="en-US" altLang="en-US" sz="1800" smtClean="0"/>
          </a:p>
        </p:txBody>
      </p:sp>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67587" name="Rectangle 2"/>
          <p:cNvSpPr>
            <a:spLocks noGrp="1" noChangeArrowheads="1"/>
          </p:cNvSpPr>
          <p:nvPr>
            <p:ph type="title"/>
          </p:nvPr>
        </p:nvSpPr>
        <p:spPr/>
        <p:txBody>
          <a:bodyPr/>
          <a:lstStyle/>
          <a:p>
            <a:pPr eaLnBrk="1" hangingPunct="1"/>
            <a:r>
              <a:rPr lang="en-US" altLang="en-US" smtClean="0"/>
              <a:t>Options vs Futures/Forwards</a:t>
            </a:r>
          </a:p>
        </p:txBody>
      </p:sp>
      <p:sp>
        <p:nvSpPr>
          <p:cNvPr id="67588" name="Rectangle 3"/>
          <p:cNvSpPr>
            <a:spLocks noGrp="1" noChangeArrowheads="1"/>
          </p:cNvSpPr>
          <p:nvPr>
            <p:ph type="body" idx="1"/>
          </p:nvPr>
        </p:nvSpPr>
        <p:spPr/>
        <p:txBody>
          <a:bodyPr/>
          <a:lstStyle/>
          <a:p>
            <a:pPr eaLnBrk="1" hangingPunct="1"/>
            <a:r>
              <a:rPr lang="en-US" altLang="en-US" smtClean="0"/>
              <a:t>A futures/forward contract gives the holder the obligation to buy or sell at a certain price</a:t>
            </a:r>
          </a:p>
          <a:p>
            <a:pPr eaLnBrk="1" hangingPunct="1"/>
            <a:r>
              <a:rPr lang="en-US" altLang="en-US" smtClean="0"/>
              <a:t>An option gives the holder the right to buy or sell at a certain price</a:t>
            </a:r>
          </a:p>
        </p:txBody>
      </p:sp>
      <p:sp>
        <p:nvSpPr>
          <p:cNvPr id="67589"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50BC454-2D0E-4276-A28F-B4DFDBBACF08}" type="slidenum">
              <a:rPr lang="en-US" altLang="en-US" sz="1800" smtClean="0"/>
              <a:pPr>
                <a:spcBef>
                  <a:spcPct val="0"/>
                </a:spcBef>
                <a:buClrTx/>
                <a:buSzTx/>
                <a:buFontTx/>
                <a:buNone/>
              </a:pPr>
              <a:t>28</a:t>
            </a:fld>
            <a:endParaRPr lang="en-US" altLang="en-US" sz="180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smtClean="0"/>
          </a:p>
        </p:txBody>
      </p:sp>
      <p:sp>
        <p:nvSpPr>
          <p:cNvPr id="238594" name="Rectangle 2"/>
          <p:cNvSpPr>
            <a:spLocks noGrp="1" noChangeArrowheads="1"/>
          </p:cNvSpPr>
          <p:nvPr>
            <p:ph type="title"/>
          </p:nvPr>
        </p:nvSpPr>
        <p:spPr/>
        <p:txBody>
          <a:bodyPr>
            <a:normAutofit/>
          </a:bodyPr>
          <a:lstStyle/>
          <a:p>
            <a:pPr eaLnBrk="1" fontAlgn="auto" hangingPunct="1">
              <a:spcAft>
                <a:spcPts val="0"/>
              </a:spcAft>
              <a:defRPr/>
            </a:pPr>
            <a:r>
              <a:rPr lang="en-US" dirty="0">
                <a:solidFill>
                  <a:schemeClr val="tx2">
                    <a:satMod val="130000"/>
                  </a:schemeClr>
                </a:solidFill>
              </a:rPr>
              <a:t>Hedge Funds </a:t>
            </a:r>
            <a:r>
              <a:rPr lang="en-US" sz="2200" dirty="0">
                <a:solidFill>
                  <a:schemeClr val="tx2">
                    <a:satMod val="130000"/>
                  </a:schemeClr>
                </a:solidFill>
              </a:rPr>
              <a:t>(see Business Snapshot </a:t>
            </a:r>
            <a:r>
              <a:rPr lang="en-US" sz="2200" dirty="0" smtClean="0">
                <a:solidFill>
                  <a:schemeClr val="tx2">
                    <a:satMod val="130000"/>
                  </a:schemeClr>
                </a:solidFill>
              </a:rPr>
              <a:t>1.3, </a:t>
            </a:r>
            <a:r>
              <a:rPr lang="en-US" sz="2200" dirty="0">
                <a:solidFill>
                  <a:schemeClr val="tx2">
                    <a:satMod val="130000"/>
                  </a:schemeClr>
                </a:solidFill>
              </a:rPr>
              <a:t>page </a:t>
            </a:r>
            <a:r>
              <a:rPr lang="en-US" sz="2200" dirty="0" smtClean="0">
                <a:solidFill>
                  <a:schemeClr val="tx2">
                    <a:satMod val="130000"/>
                  </a:schemeClr>
                </a:solidFill>
              </a:rPr>
              <a:t>12)</a:t>
            </a:r>
            <a:r>
              <a:rPr lang="en-US" dirty="0" smtClean="0">
                <a:solidFill>
                  <a:schemeClr val="tx2">
                    <a:satMod val="130000"/>
                  </a:schemeClr>
                </a:solidFill>
              </a:rPr>
              <a:t> </a:t>
            </a:r>
            <a:endParaRPr lang="en-US" dirty="0">
              <a:solidFill>
                <a:schemeClr val="tx2">
                  <a:satMod val="130000"/>
                </a:schemeClr>
              </a:solidFill>
            </a:endParaRPr>
          </a:p>
        </p:txBody>
      </p:sp>
      <p:sp>
        <p:nvSpPr>
          <p:cNvPr id="69636" name="Rectangle 3"/>
          <p:cNvSpPr>
            <a:spLocks noGrp="1" noChangeArrowheads="1"/>
          </p:cNvSpPr>
          <p:nvPr>
            <p:ph type="body" idx="1"/>
          </p:nvPr>
        </p:nvSpPr>
        <p:spPr/>
        <p:txBody>
          <a:bodyPr/>
          <a:lstStyle/>
          <a:p>
            <a:pPr marL="533400" indent="-533400" eaLnBrk="1" hangingPunct="1">
              <a:lnSpc>
                <a:spcPct val="90000"/>
              </a:lnSpc>
            </a:pPr>
            <a:r>
              <a:rPr lang="en-US" altLang="en-US" sz="2400" smtClean="0"/>
              <a:t>Hedge funds are not subject to the same rules as mutual funds and cannot offer their securities publicly. </a:t>
            </a:r>
          </a:p>
          <a:p>
            <a:pPr marL="533400" indent="-533400" eaLnBrk="1" hangingPunct="1">
              <a:lnSpc>
                <a:spcPct val="90000"/>
              </a:lnSpc>
            </a:pPr>
            <a:r>
              <a:rPr lang="en-US" altLang="en-US" sz="2400" smtClean="0"/>
              <a:t>Mutual funds must </a:t>
            </a:r>
          </a:p>
          <a:p>
            <a:pPr marL="801688" lvl="1" indent="-457200" eaLnBrk="1" hangingPunct="1">
              <a:lnSpc>
                <a:spcPct val="90000"/>
              </a:lnSpc>
            </a:pPr>
            <a:r>
              <a:rPr lang="en-US" altLang="en-US" sz="2000" smtClean="0"/>
              <a:t>disclose investment policies, </a:t>
            </a:r>
          </a:p>
          <a:p>
            <a:pPr marL="801688" lvl="1" indent="-457200" eaLnBrk="1" hangingPunct="1">
              <a:lnSpc>
                <a:spcPct val="90000"/>
              </a:lnSpc>
            </a:pPr>
            <a:r>
              <a:rPr lang="en-US" altLang="en-US" sz="2000" smtClean="0"/>
              <a:t>make shares in the fund redeemable at any time,</a:t>
            </a:r>
          </a:p>
          <a:p>
            <a:pPr marL="801688" lvl="1" indent="-457200" eaLnBrk="1" hangingPunct="1">
              <a:lnSpc>
                <a:spcPct val="90000"/>
              </a:lnSpc>
            </a:pPr>
            <a:r>
              <a:rPr lang="en-US" altLang="en-US" sz="2000" smtClean="0"/>
              <a:t>limit use of leverage</a:t>
            </a:r>
          </a:p>
          <a:p>
            <a:pPr marL="533400" indent="-533400" eaLnBrk="1" hangingPunct="1">
              <a:lnSpc>
                <a:spcPct val="90000"/>
              </a:lnSpc>
            </a:pPr>
            <a:r>
              <a:rPr lang="en-US" altLang="en-US" sz="2400" smtClean="0"/>
              <a:t>Hedge funds are not subject to these constraints.</a:t>
            </a:r>
          </a:p>
          <a:p>
            <a:pPr marL="533400" indent="-533400" eaLnBrk="1" hangingPunct="1">
              <a:lnSpc>
                <a:spcPct val="90000"/>
              </a:lnSpc>
            </a:pPr>
            <a:r>
              <a:rPr lang="en-US" altLang="en-US" sz="2400" smtClean="0"/>
              <a:t>Typical hedge fund fee: 2 plus 20%</a:t>
            </a:r>
          </a:p>
        </p:txBody>
      </p:sp>
      <p:sp>
        <p:nvSpPr>
          <p:cNvPr id="69637"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267B930-98F7-4AB5-A303-5DD962A9CFFC}" type="slidenum">
              <a:rPr lang="en-US" altLang="en-US" sz="1800" smtClean="0"/>
              <a:pPr>
                <a:spcBef>
                  <a:spcPct val="0"/>
                </a:spcBef>
                <a:buClrTx/>
                <a:buSzTx/>
                <a:buFontTx/>
                <a:buNone/>
              </a:pPr>
              <a:t>29</a:t>
            </a:fld>
            <a:endParaRPr lang="en-US" altLang="en-US" sz="180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a:xfrm>
            <a:off x="457200" y="122238"/>
            <a:ext cx="7543800" cy="2020887"/>
          </a:xfrm>
        </p:spPr>
        <p:txBody>
          <a:bodyPr/>
          <a:lstStyle/>
          <a:p>
            <a:r>
              <a:rPr lang="en-US" altLang="en-US" sz="3600" smtClean="0"/>
              <a:t>Three Reasons for Trading Derivatives:</a:t>
            </a:r>
            <a:r>
              <a:rPr lang="en-US" altLang="en-US" smtClean="0"/>
              <a:t/>
            </a:r>
            <a:br>
              <a:rPr lang="en-US" altLang="en-US" smtClean="0"/>
            </a:br>
            <a:r>
              <a:rPr lang="en-US" altLang="en-US" sz="3600" smtClean="0"/>
              <a:t>Hedging, Speculation, and Arbitrage</a:t>
            </a:r>
          </a:p>
        </p:txBody>
      </p:sp>
      <p:sp>
        <p:nvSpPr>
          <p:cNvPr id="71683" name="Content Placeholder 2"/>
          <p:cNvSpPr>
            <a:spLocks noGrp="1"/>
          </p:cNvSpPr>
          <p:nvPr>
            <p:ph idx="1"/>
          </p:nvPr>
        </p:nvSpPr>
        <p:spPr>
          <a:xfrm>
            <a:off x="457200" y="2500313"/>
            <a:ext cx="8229600" cy="3630612"/>
          </a:xfrm>
        </p:spPr>
        <p:txBody>
          <a:bodyPr/>
          <a:lstStyle/>
          <a:p>
            <a:r>
              <a:rPr lang="en-US" altLang="en-US" smtClean="0"/>
              <a:t>Hedge funds trade derivatives for all three reasons  </a:t>
            </a:r>
            <a:endParaRPr lang="en-US" altLang="en-US" sz="2400" smtClean="0"/>
          </a:p>
          <a:p>
            <a:r>
              <a:rPr lang="en-US" altLang="en-US" smtClean="0"/>
              <a:t>When a trader has a mandate to use derivatives for hedging or arbitrage, but then switches to speculation, large losses can result. </a:t>
            </a:r>
            <a:r>
              <a:rPr lang="en-US" altLang="en-US" sz="2400" smtClean="0"/>
              <a:t>(See SocGen, Business Snapshot 1.4, page 19) </a:t>
            </a:r>
          </a:p>
          <a:p>
            <a:endParaRPr lang="en-US" altLang="en-US" smtClean="0"/>
          </a:p>
        </p:txBody>
      </p:sp>
      <p:sp>
        <p:nvSpPr>
          <p:cNvPr id="43012" name="Footer Placeholder 3"/>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71685"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1A39BF8-3752-409E-8A86-91DBEC3FF2EF}" type="slidenum">
              <a:rPr lang="en-US" altLang="en-US" sz="1800" smtClean="0"/>
              <a:pPr>
                <a:spcBef>
                  <a:spcPct val="0"/>
                </a:spcBef>
                <a:buClrTx/>
                <a:buSzTx/>
                <a:buFontTx/>
                <a:buNone/>
              </a:pPr>
              <a:t>30</a:t>
            </a:fld>
            <a:endParaRPr lang="en-US" altLang="en-US" sz="180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7373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73732" name="Rectangle 3"/>
          <p:cNvSpPr>
            <a:spLocks noGrp="1" noChangeArrowheads="1"/>
          </p:cNvSpPr>
          <p:nvPr>
            <p:ph type="title"/>
          </p:nvPr>
        </p:nvSpPr>
        <p:spPr>
          <a:xfrm>
            <a:off x="457200" y="260350"/>
            <a:ext cx="7467600" cy="1263650"/>
          </a:xfrm>
        </p:spPr>
        <p:txBody>
          <a:bodyPr lIns="90488" tIns="44450" rIns="90488" bIns="44450" anchor="ctr"/>
          <a:lstStyle/>
          <a:p>
            <a:pPr eaLnBrk="1" hangingPunct="1"/>
            <a:r>
              <a:rPr lang="en-US" altLang="en-US" smtClean="0"/>
              <a:t>Hedging Examples</a:t>
            </a:r>
          </a:p>
        </p:txBody>
      </p:sp>
      <p:sp>
        <p:nvSpPr>
          <p:cNvPr id="73733" name="Rectangle 4"/>
          <p:cNvSpPr>
            <a:spLocks noGrp="1" noChangeArrowheads="1"/>
          </p:cNvSpPr>
          <p:nvPr>
            <p:ph type="body" idx="1"/>
          </p:nvPr>
        </p:nvSpPr>
        <p:spPr>
          <a:xfrm>
            <a:off x="685800" y="1857375"/>
            <a:ext cx="7772400" cy="4086225"/>
          </a:xfrm>
        </p:spPr>
        <p:txBody>
          <a:bodyPr lIns="90488" tIns="44450" rIns="90488" bIns="44450"/>
          <a:lstStyle/>
          <a:p>
            <a:pPr eaLnBrk="1" hangingPunct="1">
              <a:lnSpc>
                <a:spcPct val="90000"/>
              </a:lnSpc>
            </a:pPr>
            <a:r>
              <a:rPr lang="en-US" altLang="en-US" sz="2800" smtClean="0"/>
              <a:t>A US company will pay £10 million for imports from Britain in 3 months and decides to hedge using a long position in a forward contract</a:t>
            </a:r>
          </a:p>
          <a:p>
            <a:pPr eaLnBrk="1" hangingPunct="1">
              <a:lnSpc>
                <a:spcPct val="90000"/>
              </a:lnSpc>
            </a:pPr>
            <a:r>
              <a:rPr lang="en-US" altLang="en-US" sz="2800" smtClean="0"/>
              <a:t>An investor owns 1,000 shares currently worth $28 per share. A two-month put with a strike price of $27.50 costs $1. The investor decides to hedge by buying 10 contracts ….</a:t>
            </a:r>
          </a:p>
        </p:txBody>
      </p:sp>
      <p:sp>
        <p:nvSpPr>
          <p:cNvPr id="73734" name="Slide Number Placeholder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9EBD44F-ABA9-4176-B6F6-97DA4F7E4FCA}" type="slidenum">
              <a:rPr lang="en-US" altLang="en-US" sz="1800" smtClean="0"/>
              <a:pPr>
                <a:spcBef>
                  <a:spcPct val="0"/>
                </a:spcBef>
                <a:buClrTx/>
                <a:buSzTx/>
                <a:buFontTx/>
                <a:buNone/>
              </a:pPr>
              <a:t>31</a:t>
            </a:fld>
            <a:endParaRPr lang="en-US" altLang="en-US" sz="1800" smtClean="0"/>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75779" name="Rectangle 2"/>
          <p:cNvSpPr>
            <a:spLocks noGrp="1" noChangeArrowheads="1"/>
          </p:cNvSpPr>
          <p:nvPr>
            <p:ph type="title"/>
          </p:nvPr>
        </p:nvSpPr>
        <p:spPr/>
        <p:txBody>
          <a:bodyPr/>
          <a:lstStyle/>
          <a:p>
            <a:pPr eaLnBrk="1" hangingPunct="1"/>
            <a:r>
              <a:rPr lang="en-US" altLang="en-US" smtClean="0"/>
              <a:t>Value of Shares with and without Hedging </a:t>
            </a:r>
            <a:r>
              <a:rPr lang="en-US" altLang="en-US" sz="2200" smtClean="0"/>
              <a:t>(Fig 1.4, page 14)</a:t>
            </a:r>
          </a:p>
        </p:txBody>
      </p:sp>
      <p:cxnSp>
        <p:nvCxnSpPr>
          <p:cNvPr id="75780" name="Straight Connector 6"/>
          <p:cNvCxnSpPr>
            <a:cxnSpLocks noChangeShapeType="1"/>
          </p:cNvCxnSpPr>
          <p:nvPr/>
        </p:nvCxnSpPr>
        <p:spPr bwMode="auto">
          <a:xfrm>
            <a:off x="6286500" y="3286125"/>
            <a:ext cx="428625" cy="0"/>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pic>
        <p:nvPicPr>
          <p:cNvPr id="75781" name="Picture 6"/>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500188" y="1785938"/>
            <a:ext cx="6405562" cy="4110037"/>
          </a:xfrm>
        </p:spPr>
      </p:pic>
      <p:sp>
        <p:nvSpPr>
          <p:cNvPr id="75782" name="Slide Number Placeholder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ADF7D0F-FD71-4A99-B226-C7BB1F15FA2F}" type="slidenum">
              <a:rPr lang="en-US" altLang="en-US" sz="1800" smtClean="0"/>
              <a:pPr>
                <a:spcBef>
                  <a:spcPct val="0"/>
                </a:spcBef>
                <a:buClrTx/>
                <a:buSzTx/>
                <a:buFontTx/>
                <a:buNone/>
              </a:pPr>
              <a:t>32</a:t>
            </a:fld>
            <a:endParaRPr lang="en-US" altLang="en-US" sz="180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77827"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77828"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77829" name="Rectangle 4"/>
          <p:cNvSpPr>
            <a:spLocks noGrp="1" noChangeArrowheads="1"/>
          </p:cNvSpPr>
          <p:nvPr>
            <p:ph type="title"/>
          </p:nvPr>
        </p:nvSpPr>
        <p:spPr/>
        <p:txBody>
          <a:bodyPr lIns="90488" tIns="44450" rIns="90488" bIns="44450" anchor="ctr"/>
          <a:lstStyle/>
          <a:p>
            <a:pPr eaLnBrk="1" hangingPunct="1"/>
            <a:r>
              <a:rPr lang="en-US" altLang="en-US" smtClean="0"/>
              <a:t>Speculation Example</a:t>
            </a:r>
          </a:p>
        </p:txBody>
      </p:sp>
      <p:sp>
        <p:nvSpPr>
          <p:cNvPr id="77830" name="Rectangle 5"/>
          <p:cNvSpPr>
            <a:spLocks noGrp="1" noChangeArrowheads="1"/>
          </p:cNvSpPr>
          <p:nvPr>
            <p:ph type="body" idx="1"/>
          </p:nvPr>
        </p:nvSpPr>
        <p:spPr>
          <a:xfrm>
            <a:off x="720725" y="1728788"/>
            <a:ext cx="7775575" cy="4103687"/>
          </a:xfrm>
        </p:spPr>
        <p:txBody>
          <a:bodyPr lIns="90488" tIns="44450" rIns="90488" bIns="44450"/>
          <a:lstStyle/>
          <a:p>
            <a:pPr eaLnBrk="1" hangingPunct="1"/>
            <a:r>
              <a:rPr lang="en-US" altLang="en-US" smtClean="0"/>
              <a:t>An investor with $2,000 to invest feels that a stock price will increase over the next 2 months. The current stock price is $20 and the price of a 2-month call option with a strike of $22.50 is $1</a:t>
            </a:r>
          </a:p>
          <a:p>
            <a:pPr eaLnBrk="1" hangingPunct="1"/>
            <a:r>
              <a:rPr lang="en-US" altLang="en-US" smtClean="0"/>
              <a:t>What are the alternative strategies? </a:t>
            </a:r>
          </a:p>
        </p:txBody>
      </p:sp>
      <p:sp>
        <p:nvSpPr>
          <p:cNvPr id="77831"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20399DA-4C48-4AFD-B653-14DE96E7DFA0}" type="slidenum">
              <a:rPr lang="en-US" altLang="en-US" sz="1800" smtClean="0"/>
              <a:pPr>
                <a:spcBef>
                  <a:spcPct val="0"/>
                </a:spcBef>
                <a:buClrTx/>
                <a:buSzTx/>
                <a:buFontTx/>
                <a:buNone/>
              </a:pPr>
              <a:t>33</a:t>
            </a:fld>
            <a:endParaRPr lang="en-US" altLang="en-US" sz="1800" smtClean="0"/>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79875" name="Rectangle 2"/>
          <p:cNvSpPr>
            <a:spLocks noGrp="1" noChangeArrowheads="1"/>
          </p:cNvSpPr>
          <p:nvPr>
            <p:ph type="title"/>
          </p:nvPr>
        </p:nvSpPr>
        <p:spPr/>
        <p:txBody>
          <a:bodyPr lIns="90488" tIns="44450" rIns="90488" bIns="44450" anchor="ctr"/>
          <a:lstStyle/>
          <a:p>
            <a:pPr eaLnBrk="1" hangingPunct="1"/>
            <a:r>
              <a:rPr lang="en-US" altLang="en-US" smtClean="0"/>
              <a:t>Arbitrage Example </a:t>
            </a:r>
            <a:r>
              <a:rPr lang="en-US" altLang="en-US" sz="2200" smtClean="0"/>
              <a:t>(page 17)</a:t>
            </a:r>
            <a:endParaRPr lang="en-US" altLang="en-US" smtClean="0"/>
          </a:p>
        </p:txBody>
      </p:sp>
      <p:sp>
        <p:nvSpPr>
          <p:cNvPr id="79876" name="Rectangle 3"/>
          <p:cNvSpPr>
            <a:spLocks noGrp="1" noChangeArrowheads="1"/>
          </p:cNvSpPr>
          <p:nvPr>
            <p:ph type="body" idx="1"/>
          </p:nvPr>
        </p:nvSpPr>
        <p:spPr>
          <a:xfrm>
            <a:off x="685800" y="1916113"/>
            <a:ext cx="7772400" cy="4560887"/>
          </a:xfrm>
        </p:spPr>
        <p:txBody>
          <a:bodyPr lIns="90488" tIns="44450" rIns="90488" bIns="44450"/>
          <a:lstStyle/>
          <a:p>
            <a:pPr eaLnBrk="1" hangingPunct="1"/>
            <a:r>
              <a:rPr lang="en-US" altLang="en-US" smtClean="0"/>
              <a:t>A stock price is quoted as £100 in London and $152 in New York</a:t>
            </a:r>
          </a:p>
          <a:p>
            <a:pPr eaLnBrk="1" hangingPunct="1"/>
            <a:r>
              <a:rPr lang="en-US" altLang="en-US" smtClean="0"/>
              <a:t>The current exchange rate is 1.5500</a:t>
            </a:r>
          </a:p>
          <a:p>
            <a:pPr eaLnBrk="1" hangingPunct="1"/>
            <a:r>
              <a:rPr lang="en-US" altLang="en-US" smtClean="0"/>
              <a:t>What is the arbitrage opportunity?</a:t>
            </a:r>
          </a:p>
        </p:txBody>
      </p:sp>
      <p:sp>
        <p:nvSpPr>
          <p:cNvPr id="79877"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FEBA83E-FDA5-4167-9DDE-AC63EBB1BDE3}" type="slidenum">
              <a:rPr lang="en-US" altLang="en-US" sz="1800" smtClean="0"/>
              <a:pPr>
                <a:spcBef>
                  <a:spcPct val="0"/>
                </a:spcBef>
                <a:buClrTx/>
                <a:buSzTx/>
                <a:buFontTx/>
                <a:buNone/>
              </a:pPr>
              <a:t>34</a:t>
            </a:fld>
            <a:endParaRPr lang="en-US" altLang="en-US" sz="1800" smtClean="0"/>
          </a:p>
        </p:txBody>
      </p:sp>
    </p:spTree>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81923"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81924"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81925" name="Rectangle 4"/>
          <p:cNvSpPr>
            <a:spLocks noGrp="1" noChangeArrowheads="1"/>
          </p:cNvSpPr>
          <p:nvPr>
            <p:ph type="title"/>
          </p:nvPr>
        </p:nvSpPr>
        <p:spPr/>
        <p:txBody>
          <a:bodyPr lIns="90488" tIns="44450" rIns="90488" bIns="44450" anchor="ctr"/>
          <a:lstStyle/>
          <a:p>
            <a:pPr eaLnBrk="1" hangingPunct="1"/>
            <a:r>
              <a:rPr lang="en-US" altLang="en-US" smtClean="0"/>
              <a:t>1. Gold: An Arbitrage Opportunity?</a:t>
            </a:r>
          </a:p>
        </p:txBody>
      </p:sp>
      <p:sp>
        <p:nvSpPr>
          <p:cNvPr id="81926" name="Rectangle 5"/>
          <p:cNvSpPr>
            <a:spLocks noGrp="1" noChangeArrowheads="1"/>
          </p:cNvSpPr>
          <p:nvPr>
            <p:ph type="body" idx="1"/>
          </p:nvPr>
        </p:nvSpPr>
        <p:spPr>
          <a:xfrm>
            <a:off x="1033463" y="1700213"/>
            <a:ext cx="7077075" cy="4064000"/>
          </a:xfrm>
        </p:spPr>
        <p:txBody>
          <a:bodyPr lIns="90488" tIns="44450" rIns="90488" bIns="44450"/>
          <a:lstStyle/>
          <a:p>
            <a:pPr eaLnBrk="1" hangingPunct="1"/>
            <a:r>
              <a:rPr lang="en-US" altLang="en-US" sz="2800" smtClean="0"/>
              <a:t>Suppose that:</a:t>
            </a:r>
          </a:p>
          <a:p>
            <a:pPr lvl="1" eaLnBrk="1" hangingPunct="1"/>
            <a:r>
              <a:rPr lang="en-US" altLang="en-US" smtClean="0"/>
              <a:t>The spot price of gold is US$1,100 per ounce</a:t>
            </a:r>
          </a:p>
          <a:p>
            <a:pPr lvl="1" eaLnBrk="1" hangingPunct="1"/>
            <a:r>
              <a:rPr lang="en-US" altLang="en-US" smtClean="0"/>
              <a:t>The quoted 1-year futures price of gold is US$1,200</a:t>
            </a:r>
          </a:p>
          <a:p>
            <a:pPr lvl="1" eaLnBrk="1" hangingPunct="1"/>
            <a:r>
              <a:rPr lang="en-US" altLang="en-US" smtClean="0"/>
              <a:t>The 1-year US$ interest rate is 2% per annum</a:t>
            </a:r>
          </a:p>
          <a:p>
            <a:pPr lvl="1" eaLnBrk="1" hangingPunct="1"/>
            <a:r>
              <a:rPr lang="en-US" altLang="en-US" smtClean="0"/>
              <a:t>No income or storage costs for gold</a:t>
            </a:r>
          </a:p>
          <a:p>
            <a:pPr eaLnBrk="1" hangingPunct="1"/>
            <a:r>
              <a:rPr lang="en-US" altLang="en-US" sz="2800" smtClean="0"/>
              <a:t>Is there an arbitrage opportunity?                                             </a:t>
            </a:r>
          </a:p>
        </p:txBody>
      </p:sp>
      <p:sp>
        <p:nvSpPr>
          <p:cNvPr id="81927"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1187A1B-D5A0-445E-ABC5-0A77CCCE3868}" type="slidenum">
              <a:rPr lang="en-US" altLang="en-US" sz="1800" smtClean="0"/>
              <a:pPr>
                <a:spcBef>
                  <a:spcPct val="0"/>
                </a:spcBef>
                <a:buClrTx/>
                <a:buSzTx/>
                <a:buFontTx/>
                <a:buNone/>
              </a:pPr>
              <a:t>35</a:t>
            </a:fld>
            <a:endParaRPr lang="en-US" altLang="en-US" sz="1800" smtClean="0"/>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8397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83972"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83973" name="Rectangle 4"/>
          <p:cNvSpPr>
            <a:spLocks noGrp="1" noChangeArrowheads="1"/>
          </p:cNvSpPr>
          <p:nvPr>
            <p:ph type="title"/>
          </p:nvPr>
        </p:nvSpPr>
        <p:spPr/>
        <p:txBody>
          <a:bodyPr lIns="90488" tIns="44450" rIns="90488" bIns="44450" anchor="ctr"/>
          <a:lstStyle/>
          <a:p>
            <a:pPr eaLnBrk="1" hangingPunct="1"/>
            <a:r>
              <a:rPr lang="en-US" altLang="en-US" smtClean="0"/>
              <a:t>2. Gold: Another Arbitrage Opportunity?</a:t>
            </a:r>
          </a:p>
        </p:txBody>
      </p:sp>
      <p:sp>
        <p:nvSpPr>
          <p:cNvPr id="83974" name="Rectangle 5"/>
          <p:cNvSpPr>
            <a:spLocks noGrp="1" noChangeArrowheads="1"/>
          </p:cNvSpPr>
          <p:nvPr>
            <p:ph type="body" idx="1"/>
          </p:nvPr>
        </p:nvSpPr>
        <p:spPr>
          <a:xfrm>
            <a:off x="1152525" y="1728788"/>
            <a:ext cx="6840538" cy="4103687"/>
          </a:xfrm>
        </p:spPr>
        <p:txBody>
          <a:bodyPr lIns="90488" tIns="44450" rIns="90488" bIns="44450"/>
          <a:lstStyle/>
          <a:p>
            <a:pPr eaLnBrk="1" hangingPunct="1"/>
            <a:r>
              <a:rPr lang="en-US" altLang="en-US" sz="2800" smtClean="0"/>
              <a:t>Suppose that:</a:t>
            </a:r>
          </a:p>
          <a:p>
            <a:pPr lvl="1" eaLnBrk="1" hangingPunct="1"/>
            <a:r>
              <a:rPr lang="en-US" altLang="en-US" smtClean="0"/>
              <a:t>The spot price of gold is US$1,100</a:t>
            </a:r>
          </a:p>
          <a:p>
            <a:pPr lvl="1" eaLnBrk="1" hangingPunct="1"/>
            <a:r>
              <a:rPr lang="en-US" altLang="en-US" smtClean="0"/>
              <a:t>The quoted 1-year futures price of gold is US$1,050</a:t>
            </a:r>
          </a:p>
          <a:p>
            <a:pPr lvl="1" eaLnBrk="1" hangingPunct="1"/>
            <a:r>
              <a:rPr lang="en-US" altLang="en-US" smtClean="0"/>
              <a:t>The 1-year US$ interest rate is 2% per annum</a:t>
            </a:r>
          </a:p>
          <a:p>
            <a:pPr lvl="1" eaLnBrk="1" hangingPunct="1"/>
            <a:r>
              <a:rPr lang="en-US" altLang="en-US" smtClean="0"/>
              <a:t>No income or storage costs for gold</a:t>
            </a:r>
          </a:p>
          <a:p>
            <a:pPr eaLnBrk="1" hangingPunct="1"/>
            <a:r>
              <a:rPr lang="en-US" altLang="en-US" sz="2800" smtClean="0"/>
              <a:t>Is there an arbitrage opportunity?</a:t>
            </a:r>
          </a:p>
        </p:txBody>
      </p:sp>
      <p:sp>
        <p:nvSpPr>
          <p:cNvPr id="83975" name="Rectangle 6"/>
          <p:cNvSpPr>
            <a:spLocks noChangeArrowheads="1"/>
          </p:cNvSpPr>
          <p:nvPr/>
        </p:nvSpPr>
        <p:spPr bwMode="auto">
          <a:xfrm>
            <a:off x="7551738" y="2536825"/>
            <a:ext cx="527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83976" name="Slide Number Placeholder 1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554048C-7528-43F1-9F22-2246AD58218A}" type="slidenum">
              <a:rPr lang="en-US" altLang="en-US" sz="1800" smtClean="0"/>
              <a:pPr>
                <a:spcBef>
                  <a:spcPct val="0"/>
                </a:spcBef>
                <a:buClrTx/>
                <a:buSzTx/>
                <a:buFontTx/>
                <a:buNone/>
              </a:pPr>
              <a:t>36</a:t>
            </a:fld>
            <a:endParaRPr lang="en-US" altLang="en-US" sz="1800" smtClean="0"/>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86019"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86020"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86021" name="Rectangle 4"/>
          <p:cNvSpPr>
            <a:spLocks noGrp="1" noChangeArrowheads="1"/>
          </p:cNvSpPr>
          <p:nvPr>
            <p:ph type="title"/>
          </p:nvPr>
        </p:nvSpPr>
        <p:spPr>
          <a:xfrm>
            <a:off x="611188" y="404813"/>
            <a:ext cx="7772400" cy="1143000"/>
          </a:xfrm>
        </p:spPr>
        <p:txBody>
          <a:bodyPr lIns="90488" tIns="44450" rIns="90488" bIns="44450" anchor="ctr"/>
          <a:lstStyle/>
          <a:p>
            <a:pPr eaLnBrk="1" hangingPunct="1"/>
            <a:r>
              <a:rPr lang="en-US" altLang="en-US" smtClean="0"/>
              <a:t>The Futures Price of Gold</a:t>
            </a:r>
          </a:p>
        </p:txBody>
      </p:sp>
      <p:sp>
        <p:nvSpPr>
          <p:cNvPr id="86022" name="Rectangle 5"/>
          <p:cNvSpPr>
            <a:spLocks noGrp="1" noChangeArrowheads="1"/>
          </p:cNvSpPr>
          <p:nvPr>
            <p:ph type="body" idx="1"/>
          </p:nvPr>
        </p:nvSpPr>
        <p:spPr>
          <a:xfrm>
            <a:off x="404813" y="1911350"/>
            <a:ext cx="8210550" cy="4114800"/>
          </a:xfrm>
        </p:spPr>
        <p:txBody>
          <a:bodyPr lIns="90488" tIns="44450" rIns="90488" bIns="44450"/>
          <a:lstStyle/>
          <a:p>
            <a:pPr eaLnBrk="1" hangingPunct="1">
              <a:buFont typeface="Wingdings" panose="05000000000000000000" pitchFamily="2" charset="2"/>
              <a:buNone/>
            </a:pPr>
            <a:r>
              <a:rPr lang="en-US" altLang="en-US" sz="2800" smtClean="0"/>
              <a:t>   If the spot price of gold is </a:t>
            </a:r>
            <a:r>
              <a:rPr lang="en-US" altLang="en-US" sz="2800" i="1" smtClean="0">
                <a:latin typeface="Times New Roman" panose="02020603050405020304" pitchFamily="18" charset="0"/>
              </a:rPr>
              <a:t>S</a:t>
            </a:r>
            <a:r>
              <a:rPr lang="en-US" altLang="en-US" sz="2800" smtClean="0"/>
              <a:t> &amp; the futures price is  for a contract deliverable in </a:t>
            </a:r>
            <a:r>
              <a:rPr lang="en-US" altLang="en-US" sz="2800" i="1" smtClean="0">
                <a:latin typeface="Times New Roman" panose="02020603050405020304" pitchFamily="18" charset="0"/>
              </a:rPr>
              <a:t>T</a:t>
            </a:r>
            <a:r>
              <a:rPr lang="en-US" altLang="en-US" sz="2800" smtClean="0"/>
              <a:t> years is </a:t>
            </a:r>
            <a:r>
              <a:rPr lang="en-US" altLang="en-US" sz="2800" i="1" smtClean="0">
                <a:latin typeface="Times New Roman" panose="02020603050405020304" pitchFamily="18" charset="0"/>
              </a:rPr>
              <a:t>F</a:t>
            </a:r>
            <a:r>
              <a:rPr lang="en-US" altLang="en-US" sz="2800" smtClean="0"/>
              <a:t>, then</a:t>
            </a:r>
          </a:p>
          <a:p>
            <a:pPr algn="ctr" eaLnBrk="1" hangingPunct="1">
              <a:buFont typeface="Wingdings" panose="05000000000000000000" pitchFamily="2" charset="2"/>
              <a:buNone/>
            </a:pPr>
            <a:r>
              <a:rPr lang="en-US" altLang="en-US" sz="2800" smtClean="0"/>
              <a:t> </a:t>
            </a:r>
            <a:r>
              <a:rPr lang="en-US" altLang="en-US" sz="2800" i="1" smtClean="0">
                <a:latin typeface="Times New Roman" panose="02020603050405020304" pitchFamily="18" charset="0"/>
              </a:rPr>
              <a:t>F = S </a:t>
            </a:r>
            <a:r>
              <a:rPr lang="en-US" altLang="en-US" sz="2800" smtClean="0">
                <a:latin typeface="Times New Roman" panose="02020603050405020304" pitchFamily="18" charset="0"/>
              </a:rPr>
              <a:t>(1+</a:t>
            </a:r>
            <a:r>
              <a:rPr lang="en-US" altLang="en-US" sz="2800" i="1" smtClean="0">
                <a:latin typeface="Times New Roman" panose="02020603050405020304" pitchFamily="18" charset="0"/>
              </a:rPr>
              <a:t>r </a:t>
            </a:r>
            <a:r>
              <a:rPr lang="en-US" altLang="en-US" sz="2800" smtClean="0">
                <a:latin typeface="Times New Roman" panose="02020603050405020304" pitchFamily="18" charset="0"/>
              </a:rPr>
              <a:t>)</a:t>
            </a:r>
            <a:r>
              <a:rPr lang="en-US" altLang="en-US" sz="2800" i="1" baseline="30000" smtClean="0">
                <a:latin typeface="Times New Roman" panose="02020603050405020304" pitchFamily="18" charset="0"/>
              </a:rPr>
              <a:t>T</a:t>
            </a:r>
            <a:r>
              <a:rPr lang="en-US" altLang="en-US" sz="2800" smtClean="0"/>
              <a:t>	</a:t>
            </a:r>
          </a:p>
          <a:p>
            <a:pPr eaLnBrk="1" hangingPunct="1">
              <a:buFont typeface="Wingdings" panose="05000000000000000000" pitchFamily="2" charset="2"/>
              <a:buNone/>
            </a:pPr>
            <a:r>
              <a:rPr lang="en-US" altLang="en-US" sz="2800" smtClean="0"/>
              <a:t>	where </a:t>
            </a:r>
            <a:r>
              <a:rPr lang="en-US" altLang="en-US" sz="2800" i="1" smtClean="0">
                <a:latin typeface="Times New Roman" panose="02020603050405020304" pitchFamily="18" charset="0"/>
              </a:rPr>
              <a:t>r</a:t>
            </a:r>
            <a:r>
              <a:rPr lang="en-US" altLang="en-US" sz="2800" smtClean="0"/>
              <a:t> is the 1-year (domestic currency) risk-free rate of interest.</a:t>
            </a:r>
          </a:p>
          <a:p>
            <a:pPr eaLnBrk="1" hangingPunct="1">
              <a:buFont typeface="Wingdings" panose="05000000000000000000" pitchFamily="2" charset="2"/>
              <a:buNone/>
            </a:pPr>
            <a:r>
              <a:rPr lang="en-US" altLang="en-US" sz="2800" smtClean="0"/>
              <a:t>	In our examples, </a:t>
            </a:r>
            <a:r>
              <a:rPr lang="en-US" altLang="en-US" sz="2800" i="1" smtClean="0">
                <a:latin typeface="Times New Roman" panose="02020603050405020304" pitchFamily="18" charset="0"/>
              </a:rPr>
              <a:t>S</a:t>
            </a:r>
            <a:r>
              <a:rPr lang="en-US" altLang="en-US" sz="2800" smtClean="0"/>
              <a:t>=1100, </a:t>
            </a:r>
            <a:r>
              <a:rPr lang="en-US" altLang="en-US" sz="2800" i="1" smtClean="0">
                <a:latin typeface="Times New Roman" panose="02020603050405020304" pitchFamily="18" charset="0"/>
              </a:rPr>
              <a:t>T</a:t>
            </a:r>
            <a:r>
              <a:rPr lang="en-US" altLang="en-US" sz="2800" smtClean="0"/>
              <a:t>=1, and </a:t>
            </a:r>
            <a:r>
              <a:rPr lang="en-US" altLang="en-US" sz="2800" i="1" smtClean="0">
                <a:latin typeface="Times New Roman" panose="02020603050405020304" pitchFamily="18" charset="0"/>
              </a:rPr>
              <a:t>r</a:t>
            </a:r>
            <a:r>
              <a:rPr lang="en-US" altLang="en-US" sz="2800" smtClean="0"/>
              <a:t>=0.02 so that</a:t>
            </a:r>
            <a:endParaRPr lang="en-US" altLang="en-US" sz="2800" i="1" smtClean="0"/>
          </a:p>
          <a:p>
            <a:pPr algn="ctr" eaLnBrk="1" hangingPunct="1">
              <a:buFont typeface="Wingdings" panose="05000000000000000000" pitchFamily="2" charset="2"/>
              <a:buNone/>
            </a:pPr>
            <a:r>
              <a:rPr lang="en-US" altLang="en-US" sz="2800" i="1" smtClean="0">
                <a:latin typeface="Times New Roman" panose="02020603050405020304" pitchFamily="18" charset="0"/>
              </a:rPr>
              <a:t>F</a:t>
            </a:r>
            <a:r>
              <a:rPr lang="en-US" altLang="en-US" sz="2800" i="1" smtClean="0"/>
              <a:t>  </a:t>
            </a:r>
            <a:r>
              <a:rPr lang="en-US" altLang="en-US" sz="2800" smtClean="0"/>
              <a:t>= 1100(1+0.02) = 1122</a:t>
            </a:r>
          </a:p>
        </p:txBody>
      </p:sp>
      <p:sp>
        <p:nvSpPr>
          <p:cNvPr id="86023"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75B929E-05B5-4040-9EC2-AF27E6A916E8}" type="slidenum">
              <a:rPr lang="en-US" altLang="en-US" sz="1800" smtClean="0"/>
              <a:pPr>
                <a:spcBef>
                  <a:spcPct val="0"/>
                </a:spcBef>
                <a:buClrTx/>
                <a:buSzTx/>
                <a:buFontTx/>
                <a:buNone/>
              </a:pPr>
              <a:t>37</a:t>
            </a:fld>
            <a:endParaRPr lang="en-US" altLang="en-US" sz="1800" smtClean="0"/>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88067"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88068"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88069" name="Rectangle 4"/>
          <p:cNvSpPr>
            <a:spLocks noGrp="1" noChangeArrowheads="1"/>
          </p:cNvSpPr>
          <p:nvPr>
            <p:ph type="title"/>
          </p:nvPr>
        </p:nvSpPr>
        <p:spPr/>
        <p:txBody>
          <a:bodyPr lIns="90488" tIns="44450" rIns="90488" bIns="44450" anchor="ctr"/>
          <a:lstStyle/>
          <a:p>
            <a:pPr eaLnBrk="1" hangingPunct="1"/>
            <a:r>
              <a:rPr lang="en-US" altLang="en-US" smtClean="0"/>
              <a:t>1. Oil: An Arbitrage Opportunity?</a:t>
            </a:r>
          </a:p>
        </p:txBody>
      </p:sp>
      <p:sp>
        <p:nvSpPr>
          <p:cNvPr id="88070" name="Rectangle 5"/>
          <p:cNvSpPr>
            <a:spLocks noGrp="1" noChangeArrowheads="1"/>
          </p:cNvSpPr>
          <p:nvPr>
            <p:ph type="body" idx="1"/>
          </p:nvPr>
        </p:nvSpPr>
        <p:spPr>
          <a:xfrm>
            <a:off x="1360488" y="1854200"/>
            <a:ext cx="6464300" cy="4114800"/>
          </a:xfrm>
        </p:spPr>
        <p:txBody>
          <a:bodyPr lIns="90488" tIns="44450" rIns="90488" bIns="44450"/>
          <a:lstStyle/>
          <a:p>
            <a:pPr eaLnBrk="1" hangingPunct="1">
              <a:lnSpc>
                <a:spcPct val="90000"/>
              </a:lnSpc>
              <a:buFont typeface="Wingdings" panose="05000000000000000000" pitchFamily="2" charset="2"/>
              <a:buNone/>
            </a:pPr>
            <a:r>
              <a:rPr lang="en-US" altLang="en-US" sz="2800" smtClean="0"/>
              <a:t>Suppose that:</a:t>
            </a:r>
          </a:p>
          <a:p>
            <a:pPr lvl="1" eaLnBrk="1" hangingPunct="1">
              <a:lnSpc>
                <a:spcPct val="90000"/>
              </a:lnSpc>
            </a:pPr>
            <a:r>
              <a:rPr lang="en-US" altLang="en-US" smtClean="0"/>
              <a:t>The spot price of oil is US$40</a:t>
            </a:r>
          </a:p>
          <a:p>
            <a:pPr lvl="1" eaLnBrk="1" hangingPunct="1">
              <a:lnSpc>
                <a:spcPct val="90000"/>
              </a:lnSpc>
            </a:pPr>
            <a:r>
              <a:rPr lang="en-US" altLang="en-US" smtClean="0"/>
              <a:t>The quoted 1-year futures price of oil is US$50</a:t>
            </a:r>
          </a:p>
          <a:p>
            <a:pPr lvl="1" eaLnBrk="1" hangingPunct="1">
              <a:lnSpc>
                <a:spcPct val="90000"/>
              </a:lnSpc>
            </a:pPr>
            <a:r>
              <a:rPr lang="en-US" altLang="en-US" smtClean="0"/>
              <a:t>The 1-year US$ interest rate is 2% per annum</a:t>
            </a:r>
          </a:p>
          <a:p>
            <a:pPr lvl="1" eaLnBrk="1" hangingPunct="1">
              <a:lnSpc>
                <a:spcPct val="90000"/>
              </a:lnSpc>
            </a:pPr>
            <a:r>
              <a:rPr lang="en-US" altLang="en-US" smtClean="0"/>
              <a:t>The storage costs of oil are 1% per annum</a:t>
            </a:r>
          </a:p>
          <a:p>
            <a:pPr eaLnBrk="1" hangingPunct="1">
              <a:lnSpc>
                <a:spcPct val="90000"/>
              </a:lnSpc>
            </a:pPr>
            <a:r>
              <a:rPr lang="en-US" altLang="en-US" sz="2800" smtClean="0"/>
              <a:t>Is there an arbitrage opportunity</a:t>
            </a:r>
            <a:r>
              <a:rPr lang="en-US" altLang="en-US" smtClean="0"/>
              <a:t>?</a:t>
            </a:r>
          </a:p>
        </p:txBody>
      </p:sp>
      <p:sp>
        <p:nvSpPr>
          <p:cNvPr id="88071"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00701FC-A385-4824-8092-837D78348556}" type="slidenum">
              <a:rPr lang="en-US" altLang="en-US" sz="1800" smtClean="0"/>
              <a:pPr>
                <a:spcBef>
                  <a:spcPct val="0"/>
                </a:spcBef>
                <a:buClrTx/>
                <a:buSzTx/>
                <a:buFontTx/>
                <a:buNone/>
              </a:pPr>
              <a:t>38</a:t>
            </a:fld>
            <a:endParaRPr lang="en-US" altLang="en-US" sz="1800" smtClean="0"/>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 Copyright © John C. Hull 2016</a:t>
            </a:r>
            <a:endParaRPr lang="en-US" altLang="en-US" i="0" smtClean="0"/>
          </a:p>
        </p:txBody>
      </p:sp>
      <p:sp>
        <p:nvSpPr>
          <p:cNvPr id="9011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9011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90117" name="Rectangle 4"/>
          <p:cNvSpPr>
            <a:spLocks noGrp="1" noChangeArrowheads="1"/>
          </p:cNvSpPr>
          <p:nvPr>
            <p:ph type="title"/>
          </p:nvPr>
        </p:nvSpPr>
        <p:spPr/>
        <p:txBody>
          <a:bodyPr lIns="90488" tIns="44450" rIns="90488" bIns="44450" anchor="ctr"/>
          <a:lstStyle/>
          <a:p>
            <a:pPr eaLnBrk="1" hangingPunct="1"/>
            <a:r>
              <a:rPr lang="en-US" altLang="en-US" smtClean="0"/>
              <a:t>2. Oil: Another Arbitrage Opportunity?</a:t>
            </a:r>
          </a:p>
        </p:txBody>
      </p:sp>
      <p:sp>
        <p:nvSpPr>
          <p:cNvPr id="90118" name="Rectangle 5"/>
          <p:cNvSpPr>
            <a:spLocks noGrp="1" noChangeArrowheads="1"/>
          </p:cNvSpPr>
          <p:nvPr>
            <p:ph type="body" idx="1"/>
          </p:nvPr>
        </p:nvSpPr>
        <p:spPr>
          <a:xfrm>
            <a:off x="1360488" y="1831975"/>
            <a:ext cx="6464300" cy="4114800"/>
          </a:xfrm>
        </p:spPr>
        <p:txBody>
          <a:bodyPr lIns="90488" tIns="44450" rIns="90488" bIns="44450"/>
          <a:lstStyle/>
          <a:p>
            <a:pPr eaLnBrk="1" hangingPunct="1">
              <a:lnSpc>
                <a:spcPct val="90000"/>
              </a:lnSpc>
            </a:pPr>
            <a:r>
              <a:rPr lang="en-US" altLang="en-US" sz="2800" smtClean="0"/>
              <a:t>Suppose that:</a:t>
            </a:r>
          </a:p>
          <a:p>
            <a:pPr lvl="1" eaLnBrk="1" hangingPunct="1">
              <a:lnSpc>
                <a:spcPct val="90000"/>
              </a:lnSpc>
            </a:pPr>
            <a:r>
              <a:rPr lang="en-US" altLang="en-US" smtClean="0"/>
              <a:t>The spot price of oil is US$40</a:t>
            </a:r>
          </a:p>
          <a:p>
            <a:pPr lvl="1" eaLnBrk="1" hangingPunct="1">
              <a:lnSpc>
                <a:spcPct val="90000"/>
              </a:lnSpc>
            </a:pPr>
            <a:r>
              <a:rPr lang="en-US" altLang="en-US" smtClean="0"/>
              <a:t>The quoted 1-year futures price of oil is US$35</a:t>
            </a:r>
          </a:p>
          <a:p>
            <a:pPr lvl="1" eaLnBrk="1" hangingPunct="1">
              <a:lnSpc>
                <a:spcPct val="90000"/>
              </a:lnSpc>
            </a:pPr>
            <a:r>
              <a:rPr lang="en-US" altLang="en-US" smtClean="0"/>
              <a:t>The 1-year US$ interest rate is 2% per annum</a:t>
            </a:r>
          </a:p>
          <a:p>
            <a:pPr lvl="1" eaLnBrk="1" hangingPunct="1">
              <a:lnSpc>
                <a:spcPct val="90000"/>
              </a:lnSpc>
            </a:pPr>
            <a:r>
              <a:rPr lang="en-US" altLang="en-US" smtClean="0"/>
              <a:t>The storage costs of oil are 1% per annum</a:t>
            </a:r>
          </a:p>
          <a:p>
            <a:pPr eaLnBrk="1" hangingPunct="1">
              <a:lnSpc>
                <a:spcPct val="90000"/>
              </a:lnSpc>
            </a:pPr>
            <a:r>
              <a:rPr lang="en-US" altLang="en-US" sz="2800" smtClean="0"/>
              <a:t>Is there an arbitrage opportunity</a:t>
            </a:r>
            <a:r>
              <a:rPr lang="en-US" altLang="en-US" smtClean="0"/>
              <a:t>?</a:t>
            </a:r>
          </a:p>
        </p:txBody>
      </p:sp>
      <p:sp>
        <p:nvSpPr>
          <p:cNvPr id="90119"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09128E8-7520-428B-ADB2-70C778382D82}" type="slidenum">
              <a:rPr lang="en-US" altLang="en-US" sz="1800" smtClean="0"/>
              <a:pPr>
                <a:spcBef>
                  <a:spcPct val="0"/>
                </a:spcBef>
                <a:buClrTx/>
                <a:buSzTx/>
                <a:buFontTx/>
                <a:buNone/>
              </a:pPr>
              <a:t>39</a:t>
            </a:fld>
            <a:endParaRPr lang="en-US" altLang="en-US" sz="1800" smtClean="0"/>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2_Network">
  <a:themeElements>
    <a:clrScheme name="2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2_Networ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2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2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2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2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2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2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2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2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2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2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4F6D67B-D0B7-4AF1-ABE2-E47241DB4919}"/>
</file>

<file path=customXml/itemProps2.xml><?xml version="1.0" encoding="utf-8"?>
<ds:datastoreItem xmlns:ds="http://schemas.openxmlformats.org/officeDocument/2006/customXml" ds:itemID="{F68F84EA-85D7-48FD-BAA4-98641980A8FE}"/>
</file>

<file path=customXml/itemProps3.xml><?xml version="1.0" encoding="utf-8"?>
<ds:datastoreItem xmlns:ds="http://schemas.openxmlformats.org/officeDocument/2006/customXml" ds:itemID="{58BB203E-3AD2-4DC1-8123-8BD2984EC175}"/>
</file>

<file path=docProps/app.xml><?xml version="1.0" encoding="utf-8"?>
<Properties xmlns="http://schemas.openxmlformats.org/officeDocument/2006/extended-properties" xmlns:vt="http://schemas.openxmlformats.org/officeDocument/2006/docPropsVTypes">
  <Template>Ch02HullFundamentals5thEd</Template>
  <TotalTime>1135</TotalTime>
  <Words>2506</Words>
  <Application>Microsoft Office PowerPoint</Application>
  <PresentationFormat>On-screen Show (4:3)</PresentationFormat>
  <Paragraphs>360</Paragraphs>
  <Slides>39</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Times New Roman</vt:lpstr>
      <vt:lpstr>Wingdings</vt:lpstr>
      <vt:lpstr>Gill Sans MT</vt:lpstr>
      <vt:lpstr>Calibri</vt:lpstr>
      <vt:lpstr>2_Network</vt:lpstr>
      <vt:lpstr>Introduction</vt:lpstr>
      <vt:lpstr>The Nature of Derivatives</vt:lpstr>
      <vt:lpstr>Examples of Derivatives</vt:lpstr>
      <vt:lpstr>Ways Derivatives are Used</vt:lpstr>
      <vt:lpstr>Futures Contracts</vt:lpstr>
      <vt:lpstr>Exchanges Trading Futures</vt:lpstr>
      <vt:lpstr>Futures Price</vt:lpstr>
      <vt:lpstr>Electronic Trading</vt:lpstr>
      <vt:lpstr>Examples of Futures Contracts</vt:lpstr>
      <vt:lpstr>Terminology</vt:lpstr>
      <vt:lpstr>Example</vt:lpstr>
      <vt:lpstr>Over-the Counter Markets</vt:lpstr>
      <vt:lpstr>Size of OTC and Exchange-Traded Markets (Figure 1.2, Page 6)</vt:lpstr>
      <vt:lpstr>The Lehman Bankruptcy (Business Snapshot 1.1, page 5)</vt:lpstr>
      <vt:lpstr>New Regulations for OTC Market</vt:lpstr>
      <vt:lpstr>Systemic Risk</vt:lpstr>
      <vt:lpstr>Forward Contracts</vt:lpstr>
      <vt:lpstr>Forward Price</vt:lpstr>
      <vt:lpstr>Foreign Exchange Quotes for USD/GBP exchange rate on May 13, 2015 (See Table 1.1, page 7)</vt:lpstr>
      <vt:lpstr>Example</vt:lpstr>
      <vt:lpstr>Options</vt:lpstr>
      <vt:lpstr>American vs European Options</vt:lpstr>
      <vt:lpstr>Google Call Option Prices (May 13, 2015 Stock Price: bid 532.20, offer 532.34; See page 8)</vt:lpstr>
      <vt:lpstr>Google Put Option Prices (June 25, 2015 Stock Price: bid 532.20, offer 532.34; See page 8)</vt:lpstr>
      <vt:lpstr>Net profit from purchasing a contract consisting of 100 December call options with a strike price of $550 for $29 per option</vt:lpstr>
      <vt:lpstr>Net profit from selling a contract consisting of 100 September put options with a strike price of $525 for $22.40 per option</vt:lpstr>
      <vt:lpstr>Exchanges Trading Options</vt:lpstr>
      <vt:lpstr>Options vs Futures/Forwards</vt:lpstr>
      <vt:lpstr>Hedge Funds (see Business Snapshot 1.3, page 12) </vt:lpstr>
      <vt:lpstr>Three Reasons for Trading Derivatives: Hedging, Speculation, and Arbitrage</vt:lpstr>
      <vt:lpstr>Hedging Examples</vt:lpstr>
      <vt:lpstr>Value of Shares with and without Hedging (Fig 1.4, page 14)</vt:lpstr>
      <vt:lpstr>Speculation Example</vt:lpstr>
      <vt:lpstr>Arbitrage Example (page 17)</vt:lpstr>
      <vt:lpstr>1. Gold: An Arbitrage Opportunity?</vt:lpstr>
      <vt:lpstr>2. Gold: Another Arbitrage Opportunity?</vt:lpstr>
      <vt:lpstr>The Futures Price of Gold</vt:lpstr>
      <vt:lpstr>1. Oil: An Arbitrage Opportunity?</vt:lpstr>
      <vt:lpstr>2. Oil: Another Arbitrage Opportunity?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Fundamentals of Futures and Options Markets, 7E</dc:subject>
  <dc:creator>John C. Hull</dc:creator>
  <cp:keywords>Chapter 1</cp:keywords>
  <dc:description>Copyright 2016 by John C. Hull. All Rights Reserved. Published 2016.</dc:description>
  <cp:lastModifiedBy>John Hull</cp:lastModifiedBy>
  <cp:revision>79</cp:revision>
  <cp:lastPrinted>2001-05-03T04:50:39Z</cp:lastPrinted>
  <dcterms:created xsi:type="dcterms:W3CDTF">2001-03-27T15:19:34Z</dcterms:created>
  <dcterms:modified xsi:type="dcterms:W3CDTF">2016-01-20T20:57:58Z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