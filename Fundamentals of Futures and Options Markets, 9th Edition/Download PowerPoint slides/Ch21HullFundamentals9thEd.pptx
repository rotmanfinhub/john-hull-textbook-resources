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5"/>
  </p:notesMasterIdLst>
  <p:handoutMasterIdLst>
    <p:handoutMasterId r:id="rId26"/>
  </p:handoutMasterIdLst>
  <p:sldIdLst>
    <p:sldId id="320" r:id="rId2"/>
    <p:sldId id="315" r:id="rId3"/>
    <p:sldId id="321" r:id="rId4"/>
    <p:sldId id="322" r:id="rId5"/>
    <p:sldId id="316" r:id="rId6"/>
    <p:sldId id="286" r:id="rId7"/>
    <p:sldId id="289" r:id="rId8"/>
    <p:sldId id="290" r:id="rId9"/>
    <p:sldId id="291" r:id="rId10"/>
    <p:sldId id="292" r:id="rId11"/>
    <p:sldId id="323" r:id="rId12"/>
    <p:sldId id="324" r:id="rId13"/>
    <p:sldId id="325" r:id="rId14"/>
    <p:sldId id="317" r:id="rId15"/>
    <p:sldId id="293" r:id="rId16"/>
    <p:sldId id="294" r:id="rId17"/>
    <p:sldId id="295" r:id="rId18"/>
    <p:sldId id="318" r:id="rId19"/>
    <p:sldId id="296" r:id="rId20"/>
    <p:sldId id="297" r:id="rId21"/>
    <p:sldId id="298" r:id="rId22"/>
    <p:sldId id="299" r:id="rId23"/>
    <p:sldId id="319" r:id="rId24"/>
  </p:sldIdLst>
  <p:sldSz cx="9144000" cy="6858000" type="letter"/>
  <p:notesSz cx="6858000" cy="9207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5" autoAdjust="0"/>
    <p:restoredTop sz="94604" autoAdjust="0"/>
  </p:normalViewPr>
  <p:slideViewPr>
    <p:cSldViewPr>
      <p:cViewPr varScale="1">
        <p:scale>
          <a:sx n="122" d="100"/>
          <a:sy n="122" d="100"/>
        </p:scale>
        <p:origin x="12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2492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anose="02020603050405020304" pitchFamily="18" charset="0"/>
              </a:defRPr>
            </a:lvl1pPr>
          </a:lstStyle>
          <a:p>
            <a:fld id="{A9426E01-4BFC-492A-892A-5FDB0239463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36871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25" y="692150"/>
            <a:ext cx="4603750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1757868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09C9F42-A7DD-44A3-A828-740366E58448}" type="slidenum">
              <a:rPr lang="en-US" altLang="en-US" sz="1000"/>
              <a:pPr>
                <a:spcBef>
                  <a:spcPct val="0"/>
                </a:spcBef>
              </a:pPr>
              <a:t>1</a:t>
            </a:fld>
            <a:endParaRPr lang="en-US" altLang="en-US" sz="10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71750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9A144D-E735-47DF-A1D0-097359925654}" type="slidenum">
              <a:rPr lang="en-US" altLang="en-US" sz="1000"/>
              <a:pPr>
                <a:spcBef>
                  <a:spcPct val="0"/>
                </a:spcBef>
              </a:pPr>
              <a:t>2</a:t>
            </a:fld>
            <a:endParaRPr lang="en-US" altLang="en-US" sz="10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22611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740F1C-0934-472D-AEDB-3D4AB2D08DC1}" type="slidenum">
              <a:rPr lang="en-US" altLang="en-US" sz="1000"/>
              <a:pPr>
                <a:spcBef>
                  <a:spcPct val="0"/>
                </a:spcBef>
              </a:pPr>
              <a:t>3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34387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2FFCCF5-5BC1-4C82-8936-A88DFD11788D}" type="slidenum">
              <a:rPr lang="en-US" altLang="en-US" sz="1000"/>
              <a:pPr>
                <a:spcBef>
                  <a:spcPct val="0"/>
                </a:spcBef>
              </a:pPr>
              <a:t>4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2214385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614CFF9-7053-481C-8D0B-809297BFF494}" type="slidenum">
              <a:rPr lang="en-US" altLang="en-US" sz="1000"/>
              <a:pPr>
                <a:spcBef>
                  <a:spcPct val="0"/>
                </a:spcBef>
              </a:pPr>
              <a:t>5</a:t>
            </a:fld>
            <a:endParaRPr lang="en-US" altLang="en-US" sz="10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9693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64FA1B-76D1-4C34-8103-FBD120D2FAFF}" type="slidenum">
              <a:rPr lang="en-US" altLang="en-US" sz="1000"/>
              <a:pPr>
                <a:spcBef>
                  <a:spcPct val="0"/>
                </a:spcBef>
              </a:pPr>
              <a:t>6</a:t>
            </a:fld>
            <a:endParaRPr lang="en-US" altLang="en-US" sz="10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584559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B183E3-CD0A-4EB0-9F7F-ED6B596710E6}" type="slidenum">
              <a:rPr lang="en-US" altLang="en-US" sz="1000"/>
              <a:pPr>
                <a:spcBef>
                  <a:spcPct val="0"/>
                </a:spcBef>
              </a:pPr>
              <a:t>7</a:t>
            </a:fld>
            <a:endParaRPr lang="en-US" altLang="en-US" sz="10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826649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D327FE-0B66-4182-9C1A-2FECD4BBCCE9}" type="slidenum">
              <a:rPr lang="en-US" altLang="en-US" sz="1000"/>
              <a:pPr>
                <a:spcBef>
                  <a:spcPct val="0"/>
                </a:spcBef>
              </a:pPr>
              <a:t>8</a:t>
            </a:fld>
            <a:endParaRPr lang="en-US" altLang="en-US" sz="10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089394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ABB1CF-9FCE-427C-8DA7-12A6605B492A}" type="slidenum">
              <a:rPr lang="en-US" altLang="en-US" sz="1000"/>
              <a:pPr>
                <a:spcBef>
                  <a:spcPct val="0"/>
                </a:spcBef>
              </a:pPr>
              <a:t>9</a:t>
            </a:fld>
            <a:endParaRPr lang="en-US" altLang="en-US" sz="10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850718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913167-077A-4D98-844F-CAB8B893BE44}" type="slidenum">
              <a:rPr lang="en-US" altLang="en-US" sz="1000"/>
              <a:pPr>
                <a:spcBef>
                  <a:spcPct val="0"/>
                </a:spcBef>
              </a:pPr>
              <a:t>10</a:t>
            </a:fld>
            <a:endParaRPr lang="en-US" altLang="en-US" sz="10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475467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F7738C0-B5F1-4D08-B90E-89987159F58B}" type="slidenum">
              <a:rPr lang="en-US" altLang="en-US" sz="1000"/>
              <a:pPr>
                <a:spcBef>
                  <a:spcPct val="0"/>
                </a:spcBef>
              </a:pPr>
              <a:t>11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97386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9B2E53C-9A9E-41A5-A9D8-B46F7A55C418}" type="slidenum">
              <a:rPr lang="en-US" altLang="en-US" sz="1000"/>
              <a:pPr>
                <a:spcBef>
                  <a:spcPct val="0"/>
                </a:spcBef>
              </a:pPr>
              <a:t>12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614463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F4ACFDB-CF4B-4975-9EB6-9F05CB34FD16}" type="slidenum">
              <a:rPr lang="en-US" altLang="en-US" sz="1000"/>
              <a:pPr>
                <a:spcBef>
                  <a:spcPct val="0"/>
                </a:spcBef>
              </a:pPr>
              <a:t>13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892046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6C25D57-F943-41B2-82D2-3EB73F76BD0E}" type="slidenum">
              <a:rPr lang="en-US" altLang="en-US" sz="1000"/>
              <a:pPr>
                <a:spcBef>
                  <a:spcPct val="0"/>
                </a:spcBef>
              </a:pPr>
              <a:t>14</a:t>
            </a:fld>
            <a:endParaRPr lang="en-US" altLang="en-US" sz="10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95109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980D07D-FA31-4D10-A129-9B3A9F87DD18}" type="slidenum">
              <a:rPr lang="en-US" altLang="en-US" sz="1000"/>
              <a:pPr>
                <a:spcBef>
                  <a:spcPct val="0"/>
                </a:spcBef>
              </a:pPr>
              <a:t>15</a:t>
            </a:fld>
            <a:endParaRPr lang="en-US" altLang="en-US" sz="10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03467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D5D284-7F43-45B4-994E-9252E899B0AF}" type="slidenum">
              <a:rPr lang="en-US" altLang="en-US" sz="1000"/>
              <a:pPr>
                <a:spcBef>
                  <a:spcPct val="0"/>
                </a:spcBef>
              </a:pPr>
              <a:t>16</a:t>
            </a:fld>
            <a:endParaRPr lang="en-US" altLang="en-US" sz="10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847176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DE97B16-49A8-4323-9C82-66C6EB343DDC}" type="slidenum">
              <a:rPr lang="en-US" altLang="en-US" sz="1000"/>
              <a:pPr>
                <a:spcBef>
                  <a:spcPct val="0"/>
                </a:spcBef>
              </a:pPr>
              <a:t>17</a:t>
            </a:fld>
            <a:endParaRPr lang="en-US" altLang="en-US" sz="10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4760703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F07699-9F83-4EBD-9FFC-3804CA44B77C}" type="slidenum">
              <a:rPr lang="en-US" altLang="en-US" sz="1000"/>
              <a:pPr>
                <a:spcBef>
                  <a:spcPct val="0"/>
                </a:spcBef>
              </a:pPr>
              <a:t>18</a:t>
            </a:fld>
            <a:endParaRPr lang="en-US" altLang="en-US" sz="10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06177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F2F097-DF36-47A6-B924-84704CB02372}" type="slidenum">
              <a:rPr lang="en-US" altLang="en-US" sz="1000"/>
              <a:pPr>
                <a:spcBef>
                  <a:spcPct val="0"/>
                </a:spcBef>
              </a:pPr>
              <a:t>19</a:t>
            </a:fld>
            <a:endParaRPr lang="en-US" altLang="en-US" sz="10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528649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5C03828-FD4C-41C3-927C-669B67D01739}" type="slidenum">
              <a:rPr lang="en-US" altLang="en-US" sz="1000"/>
              <a:pPr>
                <a:spcBef>
                  <a:spcPct val="0"/>
                </a:spcBef>
              </a:pPr>
              <a:t>20</a:t>
            </a:fld>
            <a:endParaRPr lang="en-US" altLang="en-US" sz="10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4686524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7A2F672-E10E-40EE-8E85-A44E304A8E39}" type="slidenum">
              <a:rPr lang="en-US" altLang="en-US" sz="1000"/>
              <a:pPr>
                <a:spcBef>
                  <a:spcPct val="0"/>
                </a:spcBef>
              </a:pPr>
              <a:t>21</a:t>
            </a:fld>
            <a:endParaRPr lang="en-US" altLang="en-US" sz="10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961249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BED7C43-DD77-47C7-B442-C3095CA06585}" type="slidenum">
              <a:rPr lang="en-US" altLang="en-US" sz="1000"/>
              <a:pPr>
                <a:spcBef>
                  <a:spcPct val="0"/>
                </a:spcBef>
              </a:pPr>
              <a:t>22</a:t>
            </a:fld>
            <a:endParaRPr lang="en-US" altLang="en-US" sz="10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7505899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2F6BBB-AF1B-4EC7-A88D-00D5D3815F82}" type="slidenum">
              <a:rPr lang="en-US" altLang="en-US" sz="1000"/>
              <a:pPr>
                <a:spcBef>
                  <a:spcPct val="0"/>
                </a:spcBef>
              </a:pPr>
              <a:t>23</a:t>
            </a:fld>
            <a:endParaRPr lang="en-US" altLang="en-US" sz="10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09788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3537C9B3-65EB-4F72-846B-4E20FD8261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317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3E021E-B36D-4E45-AA8D-ED96E95F40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568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C9462A-1908-4FD0-8474-8FB56B68B6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261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032E3-D93B-4453-9D53-5AF08E85A9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7537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00701-FAE2-468A-BB6B-EA095947C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21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AC2BF2-B9C9-453D-A623-5B08BF6217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6733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F551C-8F3A-49CE-A1AA-342A3350C7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781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A80498-7BA7-43D7-BF8E-C7C25AF5A8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671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A78EC-E629-4211-A0CE-98008370B3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657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C84785-D00B-4363-920E-2E43006021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363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2C322B-DD8B-4AF7-9288-7F4DE59D7A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00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62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893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21, Copyright © John  C. Hull 2016</a:t>
            </a:r>
            <a:endParaRPr lang="en-US" altLang="en-US"/>
          </a:p>
        </p:txBody>
      </p:sp>
      <p:sp>
        <p:nvSpPr>
          <p:cNvPr id="962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ADFBEE96-20AE-4D68-8339-A30B4CE4C7BD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748588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Interest Rate Options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21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6D4033-5CDA-4128-834C-8B6789EBE3E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Exchange-Traded Interest Rate Options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5663" y="2446338"/>
            <a:ext cx="7772400" cy="41148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Treasury bond futures options </a:t>
            </a:r>
          </a:p>
          <a:p>
            <a:pPr eaLnBrk="1" hangingPunct="1"/>
            <a:r>
              <a:rPr lang="en-US" altLang="en-US" smtClean="0"/>
              <a:t>Eurodollar futures options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0450ED7-AA7B-41AB-8F9E-826C0AA5847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Treasury Bond Futures Option</a:t>
            </a:r>
            <a:endParaRPr lang="en-US" altLang="en-US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Suppose March T-bond call futures option with strike price of 110 is 2-06 (This is 2   ) </a:t>
            </a:r>
          </a:p>
          <a:p>
            <a:r>
              <a:rPr lang="en-CA" altLang="en-US" smtClean="0"/>
              <a:t>This means one contract costs $2,093.75</a:t>
            </a:r>
          </a:p>
          <a:p>
            <a:r>
              <a:rPr lang="en-CA" altLang="en-US" smtClean="0"/>
              <a:t>On exercise it provides a payoff equal to 1000 times the excess of the March T-bond futures quote over 110</a:t>
            </a:r>
            <a:endParaRPr lang="en-US" altLang="en-US" smtClean="0"/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graphicFrame>
        <p:nvGraphicFramePr>
          <p:cNvPr id="15365" name="Object 3"/>
          <p:cNvGraphicFramePr>
            <a:graphicFrameLocks noChangeAspect="1"/>
          </p:cNvGraphicFramePr>
          <p:nvPr/>
        </p:nvGraphicFramePr>
        <p:xfrm>
          <a:off x="8072438" y="2286000"/>
          <a:ext cx="2857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4" imgW="215806" imgH="368140" progId="Equation.3">
                  <p:embed/>
                </p:oleObj>
              </mc:Choice>
              <mc:Fallback>
                <p:oleObj name="Equation" r:id="rId4" imgW="215806" imgH="3681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2438" y="2286000"/>
                        <a:ext cx="28575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Slide Number Placeholder 7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96BFDA-8E2B-4F08-81E7-FC75034382B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7543800" cy="1295400"/>
          </a:xfrm>
        </p:spPr>
        <p:txBody>
          <a:bodyPr/>
          <a:lstStyle/>
          <a:p>
            <a:r>
              <a:rPr lang="en-CA" altLang="en-US" smtClean="0"/>
              <a:t>Eurodollar Futures Option</a:t>
            </a:r>
            <a:endParaRPr lang="en-US" altLang="en-US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Suppose that the quote for a June Eurodollar put futures option with a strike price of 96.25 is 59 basis points</a:t>
            </a:r>
          </a:p>
          <a:p>
            <a:r>
              <a:rPr lang="en-CA" altLang="en-US" smtClean="0"/>
              <a:t>One contract costs 59×$25 = $1,475</a:t>
            </a:r>
          </a:p>
          <a:p>
            <a:r>
              <a:rPr lang="en-CA" altLang="en-US" smtClean="0"/>
              <a:t>On exercise it provides a payoff equal to the number of basis points by which 96.25 exceeds the June Eurodollar futures quote times $25</a:t>
            </a:r>
            <a:endParaRPr lang="en-US" altLang="en-US" smtClean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23761D8-9331-4FA2-9A63-D6715751AA4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Embedded Bond Options </a:t>
            </a:r>
            <a:r>
              <a:rPr lang="en-US" altLang="en-US" sz="2400" smtClean="0"/>
              <a:t>(page 460)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Callable bonds: Issuer has option to buy bond back at the “call price.” The call price may be a function of time</a:t>
            </a:r>
          </a:p>
          <a:p>
            <a:pPr eaLnBrk="1" hangingPunct="1"/>
            <a:r>
              <a:rPr lang="en-US" altLang="en-US" smtClean="0"/>
              <a:t>Puttable bonds: Holder has option to sell bond back to issuer 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530481D-BD4E-401C-9D16-F765695BA6A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Black’s Model &amp; Its Extensions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138" y="1719263"/>
            <a:ext cx="7453312" cy="4411662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Black’s model is used to value many interest rate options</a:t>
            </a:r>
          </a:p>
          <a:p>
            <a:pPr eaLnBrk="1" hangingPunct="1"/>
            <a:r>
              <a:rPr lang="en-US" altLang="en-US" sz="2800" smtClean="0"/>
              <a:t>It assumes that the value of an interest rate, a bond price, or some other variable at a particular time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T</a:t>
            </a:r>
            <a:r>
              <a:rPr lang="en-US" altLang="en-US" sz="2800" smtClean="0"/>
              <a:t> in the future has a lognormal distribution</a:t>
            </a:r>
          </a:p>
          <a:p>
            <a:pPr eaLnBrk="1" hangingPunct="1"/>
            <a:r>
              <a:rPr lang="en-US" altLang="en-US" sz="2800" smtClean="0"/>
              <a:t>The payoff is discounted from the time of the payoff to today at today’s risk-free rate</a:t>
            </a: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DC4151-2DEC-407E-8D08-66F0BE57E5A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74688" y="0"/>
            <a:ext cx="7772400" cy="1143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European Bond Options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5713" y="1787525"/>
            <a:ext cx="6880225" cy="37973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When valuing European bond options it is usual to assume  that the future bond price is lognormal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CF590C8-B880-415B-8DBD-8F5B2C46243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European Bond Options</a:t>
            </a:r>
            <a:br>
              <a:rPr lang="en-US" altLang="en-US" smtClean="0"/>
            </a:br>
            <a:r>
              <a:rPr lang="en-US" altLang="en-US" smtClean="0"/>
              <a:t>continued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706563"/>
            <a:ext cx="7772400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0" y="4522788"/>
            <a:ext cx="5486400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50000"/>
              <a:buFontTx/>
              <a:buNone/>
            </a:pPr>
            <a:r>
              <a:rPr lang="en-US" altLang="en-US" sz="2800"/>
              <a:t>	</a:t>
            </a:r>
            <a:r>
              <a:rPr lang="en-US" altLang="en-US" sz="2400" i="1">
                <a:latin typeface="Times New Roman" panose="02020603050405020304" pitchFamily="18" charset="0"/>
              </a:rPr>
              <a:t>F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  <a:r>
              <a:rPr lang="en-US" altLang="en-US" sz="2400"/>
              <a:t>  :  forward bond price today</a:t>
            </a:r>
          </a:p>
          <a:p>
            <a:pPr>
              <a:buClr>
                <a:schemeClr val="tx1"/>
              </a:buClr>
              <a:buSzPct val="150000"/>
              <a:buFontTx/>
              <a:buNone/>
            </a:pPr>
            <a:r>
              <a:rPr lang="en-US" altLang="en-US" sz="2400"/>
              <a:t>	</a:t>
            </a:r>
            <a:r>
              <a:rPr lang="en-US" altLang="en-US" sz="2400" i="1">
                <a:latin typeface="Times New Roman" panose="02020603050405020304" pitchFamily="18" charset="0"/>
              </a:rPr>
              <a:t>K</a:t>
            </a:r>
            <a:r>
              <a:rPr lang="en-US" altLang="en-US" sz="2400"/>
              <a:t>  :   strike price</a:t>
            </a:r>
          </a:p>
          <a:p>
            <a:pPr>
              <a:buClr>
                <a:schemeClr val="tx1"/>
              </a:buClr>
              <a:buSzPct val="150000"/>
              <a:buFontTx/>
              <a:buNone/>
            </a:pPr>
            <a:r>
              <a:rPr lang="en-US" altLang="en-US" sz="2400" i="1"/>
              <a:t>	</a:t>
            </a:r>
            <a:r>
              <a:rPr lang="en-US" altLang="en-US" sz="2400" i="1">
                <a:latin typeface="Times New Roman" panose="02020603050405020304" pitchFamily="18" charset="0"/>
              </a:rPr>
              <a:t>r</a:t>
            </a:r>
            <a:r>
              <a:rPr lang="en-US" altLang="en-US" sz="2400" i="1"/>
              <a:t>  </a:t>
            </a:r>
            <a:r>
              <a:rPr lang="en-US" altLang="en-US" sz="2400"/>
              <a:t> :   risk-free interest rate for             	  maturity </a:t>
            </a:r>
            <a:r>
              <a:rPr lang="en-US" altLang="en-US" sz="24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104" name="Rectangle 5"/>
          <p:cNvSpPr>
            <a:spLocks noChangeArrowheads="1"/>
          </p:cNvSpPr>
          <p:nvPr/>
        </p:nvSpPr>
        <p:spPr bwMode="auto">
          <a:xfrm>
            <a:off x="4783138" y="4522788"/>
            <a:ext cx="38417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SzPct val="150000"/>
              <a:defRPr/>
            </a:pPr>
            <a:r>
              <a:rPr lang="en-US" sz="2800" dirty="0">
                <a:latin typeface="Arial" charset="0"/>
                <a:cs typeface="+mn-cs"/>
              </a:rPr>
              <a:t>  	</a:t>
            </a:r>
            <a:r>
              <a:rPr lang="en-US" sz="2400" i="1" dirty="0">
                <a:latin typeface="Times New Roman" pitchFamily="18" charset="0"/>
                <a:cs typeface="+mn-cs"/>
              </a:rPr>
              <a:t>T</a:t>
            </a:r>
            <a:r>
              <a:rPr lang="en-US" sz="2400" baseline="-25000" dirty="0">
                <a:latin typeface="Arial" charset="0"/>
                <a:cs typeface="+mn-cs"/>
              </a:rPr>
              <a:t> </a:t>
            </a:r>
            <a:r>
              <a:rPr lang="en-US" sz="2400" i="1" dirty="0">
                <a:latin typeface="Arial" charset="0"/>
                <a:cs typeface="+mn-cs"/>
              </a:rPr>
              <a:t> </a:t>
            </a:r>
            <a:r>
              <a:rPr lang="en-US" sz="2400" dirty="0">
                <a:latin typeface="Arial" charset="0"/>
                <a:cs typeface="+mn-cs"/>
              </a:rPr>
              <a:t>:  life  of the option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SzPct val="150000"/>
              <a:defRPr/>
            </a:pPr>
            <a:r>
              <a:rPr lang="en-US" sz="2400" dirty="0">
                <a:latin typeface="Arial" charset="0"/>
                <a:cs typeface="+mn-cs"/>
              </a:rPr>
              <a:t>	</a:t>
            </a:r>
            <a:r>
              <a:rPr lang="en-US" sz="2400" dirty="0">
                <a:latin typeface="Symbol" pitchFamily="18" charset="2"/>
                <a:cs typeface="+mn-cs"/>
              </a:rPr>
              <a:t>s</a:t>
            </a:r>
            <a:r>
              <a:rPr lang="en-US" sz="2400" baseline="-25000" dirty="0">
                <a:latin typeface="Arial" charset="0"/>
                <a:cs typeface="+mn-cs"/>
              </a:rPr>
              <a:t> </a:t>
            </a:r>
            <a:r>
              <a:rPr lang="en-US" sz="2400" dirty="0">
                <a:latin typeface="Arial" charset="0"/>
                <a:cs typeface="+mn-cs"/>
              </a:rPr>
              <a:t>:  volatility of </a:t>
            </a:r>
            <a:r>
              <a:rPr lang="en-US" sz="2400" dirty="0">
                <a:latin typeface="+mn-lt"/>
                <a:cs typeface="+mn-cs"/>
              </a:rPr>
              <a:t>forward    bond price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SzPct val="150000"/>
              <a:defRPr/>
            </a:pPr>
            <a:endParaRPr lang="en-US" sz="2400" dirty="0">
              <a:latin typeface="Arial" charset="0"/>
              <a:cs typeface="+mn-cs"/>
            </a:endParaRPr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3663950" y="3763963"/>
            <a:ext cx="409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auto">
          <a:xfrm>
            <a:off x="4246563" y="3763963"/>
            <a:ext cx="2968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auto">
          <a:xfrm>
            <a:off x="3200400" y="3989388"/>
            <a:ext cx="347663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90" name="Rectangle 9"/>
          <p:cNvSpPr>
            <a:spLocks noChangeArrowheads="1"/>
          </p:cNvSpPr>
          <p:nvPr/>
        </p:nvSpPr>
        <p:spPr bwMode="auto">
          <a:xfrm>
            <a:off x="2927350" y="3763963"/>
            <a:ext cx="428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20491" name="Object 10"/>
          <p:cNvGraphicFramePr>
            <a:graphicFrameLocks/>
          </p:cNvGraphicFramePr>
          <p:nvPr/>
        </p:nvGraphicFramePr>
        <p:xfrm>
          <a:off x="1165225" y="2103438"/>
          <a:ext cx="5816600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4" imgW="2489040" imgH="939600" progId="Equation.DSMT4">
                  <p:embed/>
                </p:oleObj>
              </mc:Choice>
              <mc:Fallback>
                <p:oleObj name="Equation" r:id="rId4" imgW="2489040" imgH="93960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225" y="2103438"/>
                        <a:ext cx="5816600" cy="188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Slide Number Placeholder 1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F4FDBDB-574D-4CAA-B1C8-2E73FAE2C33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19100"/>
            <a:ext cx="7772400" cy="1143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Yield Vols vs Price Vols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363" y="1874838"/>
            <a:ext cx="8994775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The change in forward bond price is related to the change in forward bond yield by													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where 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smtClean="0"/>
              <a:t>  is the (modified) duration of the forward bond at option maturity	</a:t>
            </a:r>
          </a:p>
        </p:txBody>
      </p:sp>
      <p:graphicFrame>
        <p:nvGraphicFramePr>
          <p:cNvPr id="21509" name="Object 4"/>
          <p:cNvGraphicFramePr>
            <a:graphicFrameLocks/>
          </p:cNvGraphicFramePr>
          <p:nvPr/>
        </p:nvGraphicFramePr>
        <p:xfrm>
          <a:off x="1619250" y="3200400"/>
          <a:ext cx="53213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4" imgW="1917700" imgH="419100" progId="Equation.3">
                  <p:embed/>
                </p:oleObj>
              </mc:Choice>
              <mc:Fallback>
                <p:oleObj name="Equation" r:id="rId4" imgW="1917700" imgH="4191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200400"/>
                        <a:ext cx="53213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Slide Number Placeholder 6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7A6C893-96C4-47A3-9549-2F867104B91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Yield Vols vs Price Vols</a:t>
            </a:r>
            <a:br>
              <a:rPr lang="en-US" altLang="en-US" smtClean="0"/>
            </a:br>
            <a:r>
              <a:rPr lang="en-US" altLang="en-US" smtClean="0"/>
              <a:t>continued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229600" cy="399732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/>
              <a:t>This relationship implies the following approximation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dirty="0" smtClean="0"/>
              <a:t>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dirty="0" smtClean="0"/>
              <a:t>	where </a:t>
            </a:r>
            <a:r>
              <a:rPr lang="en-US" altLang="en-US" dirty="0" err="1" smtClean="0">
                <a:latin typeface="Symbol" pitchFamily="18" charset="2"/>
              </a:rPr>
              <a:t>s</a:t>
            </a:r>
            <a:r>
              <a:rPr lang="en-US" altLang="en-US" i="1" baseline="-25000" dirty="0" err="1" smtClean="0">
                <a:latin typeface="Times New Roman" pitchFamily="18" charset="0"/>
              </a:rPr>
              <a:t>y</a:t>
            </a:r>
            <a:r>
              <a:rPr lang="en-US" altLang="en-US" dirty="0" smtClean="0"/>
              <a:t> is the yield volatility and </a:t>
            </a:r>
            <a:r>
              <a:rPr lang="en-US" altLang="en-US" i="1" dirty="0" smtClean="0">
                <a:latin typeface="+mj-lt"/>
              </a:rPr>
              <a:t>y</a:t>
            </a:r>
            <a:r>
              <a:rPr lang="en-US" altLang="en-US" baseline="-25000" dirty="0" smtClean="0">
                <a:latin typeface="+mj-lt"/>
              </a:rPr>
              <a:t>0</a:t>
            </a:r>
            <a:r>
              <a:rPr lang="en-US" altLang="en-US" dirty="0" smtClean="0"/>
              <a:t> is the forward bond yield today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/>
              <a:t>Market practice to quote </a:t>
            </a:r>
            <a:r>
              <a:rPr lang="en-US" altLang="en-US" dirty="0" err="1" smtClean="0">
                <a:latin typeface="Symbol" pitchFamily="18" charset="2"/>
              </a:rPr>
              <a:t>s</a:t>
            </a:r>
            <a:r>
              <a:rPr lang="en-US" altLang="en-US" i="1" baseline="-25000" dirty="0" err="1" smtClean="0">
                <a:latin typeface="Times New Roman" pitchFamily="18" charset="0"/>
              </a:rPr>
              <a:t>y</a:t>
            </a:r>
            <a:r>
              <a:rPr lang="en-US" altLang="en-US" baseline="-25000" dirty="0" smtClean="0"/>
              <a:t> </a:t>
            </a:r>
            <a:r>
              <a:rPr lang="en-US" altLang="en-US" dirty="0" smtClean="0"/>
              <a:t>with the understanding that this relationship will be used to calculate </a:t>
            </a:r>
            <a:r>
              <a:rPr lang="en-US" altLang="en-US" dirty="0" smtClean="0">
                <a:latin typeface="Symbol" pitchFamily="18" charset="2"/>
              </a:rPr>
              <a:t>s</a:t>
            </a:r>
            <a:endParaRPr lang="en-US" altLang="en-US" i="1" baseline="-25000" dirty="0" smtClean="0">
              <a:latin typeface="Times New Roman" pitchFamily="18" charset="0"/>
            </a:endParaRPr>
          </a:p>
        </p:txBody>
      </p:sp>
      <p:graphicFrame>
        <p:nvGraphicFramePr>
          <p:cNvPr id="22533" name="Object 4"/>
          <p:cNvGraphicFramePr>
            <a:graphicFrameLocks/>
          </p:cNvGraphicFramePr>
          <p:nvPr/>
        </p:nvGraphicFramePr>
        <p:xfrm>
          <a:off x="3211513" y="3032125"/>
          <a:ext cx="184943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4" imgW="672840" imgH="241200" progId="Equation.DSMT4">
                  <p:embed/>
                </p:oleObj>
              </mc:Choice>
              <mc:Fallback>
                <p:oleObj name="Equation" r:id="rId4" imgW="672840" imgH="2412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3" y="3032125"/>
                        <a:ext cx="1849437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Slide Number Placeholder 6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6965925-A9A8-4291-87D7-2AF8ACCD67D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Cash vs Quoted Bond Price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630737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The bond price and strike price used in Black’s model should be cash (i.e. dirty) prices not quoted (i.e. clean) prices</a:t>
            </a:r>
          </a:p>
          <a:p>
            <a:pPr>
              <a:defRPr/>
            </a:pPr>
            <a:r>
              <a:rPr lang="en-CA" dirty="0" smtClean="0"/>
              <a:t>The cash price is the quoted price plus accrued interest.</a:t>
            </a:r>
          </a:p>
          <a:p>
            <a:pPr>
              <a:defRPr/>
            </a:pPr>
            <a:r>
              <a:rPr lang="en-CA" dirty="0" smtClean="0"/>
              <a:t>The forward bond price, </a:t>
            </a:r>
            <a:r>
              <a:rPr lang="en-CA" i="1" dirty="0" smtClean="0">
                <a:latin typeface="+mj-lt"/>
              </a:rPr>
              <a:t>F</a:t>
            </a:r>
            <a:r>
              <a:rPr lang="en-CA" baseline="-25000" dirty="0" smtClean="0">
                <a:latin typeface="+mj-lt"/>
              </a:rPr>
              <a:t>0</a:t>
            </a:r>
            <a:r>
              <a:rPr lang="en-CA" dirty="0" smtClean="0"/>
              <a:t>,  is (</a:t>
            </a:r>
            <a:r>
              <a:rPr lang="en-CA" i="1" dirty="0" smtClean="0">
                <a:latin typeface="+mj-lt"/>
              </a:rPr>
              <a:t>B </a:t>
            </a:r>
            <a:r>
              <a:rPr lang="en-CA" dirty="0" smtClean="0"/>
              <a:t>− </a:t>
            </a:r>
            <a:r>
              <a:rPr lang="en-CA" i="1" dirty="0" smtClean="0">
                <a:latin typeface="+mj-lt"/>
              </a:rPr>
              <a:t>I</a:t>
            </a:r>
            <a:r>
              <a:rPr lang="en-CA" dirty="0" smtClean="0"/>
              <a:t>)</a:t>
            </a:r>
            <a:r>
              <a:rPr lang="en-CA" i="1" dirty="0" err="1" smtClean="0">
                <a:latin typeface="+mj-lt"/>
              </a:rPr>
              <a:t>e</a:t>
            </a:r>
            <a:r>
              <a:rPr lang="en-CA" i="1" baseline="30000" dirty="0" err="1" smtClean="0">
                <a:latin typeface="+mj-lt"/>
              </a:rPr>
              <a:t>rT</a:t>
            </a:r>
            <a:r>
              <a:rPr lang="en-CA" i="1" dirty="0" smtClean="0">
                <a:latin typeface="+mj-lt"/>
              </a:rPr>
              <a:t>  </a:t>
            </a:r>
            <a:r>
              <a:rPr lang="en-CA" dirty="0" smtClean="0"/>
              <a:t>where </a:t>
            </a:r>
            <a:r>
              <a:rPr lang="en-CA" i="1" dirty="0" smtClean="0">
                <a:latin typeface="+mj-lt"/>
              </a:rPr>
              <a:t>B</a:t>
            </a:r>
            <a:r>
              <a:rPr lang="en-CA" dirty="0" smtClean="0"/>
              <a:t> is the cash bond price and</a:t>
            </a:r>
            <a:r>
              <a:rPr lang="en-CA" i="1" dirty="0" smtClean="0">
                <a:latin typeface="+mj-lt"/>
              </a:rPr>
              <a:t> I </a:t>
            </a:r>
            <a:r>
              <a:rPr lang="en-CA" dirty="0" smtClean="0"/>
              <a:t>is the present value of coupons received during the option’s life</a:t>
            </a:r>
            <a:endParaRPr lang="en-US" dirty="0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F0A432-6385-44CE-A5CC-FA1751F620C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Caps and Floors</a:t>
            </a:r>
            <a:endParaRPr lang="en-US" alt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A cap provides payoffs to compensate the holder for situations when LIBOR is above above a certain level (the cap rate)</a:t>
            </a:r>
          </a:p>
          <a:p>
            <a:r>
              <a:rPr lang="en-CA" altLang="en-US" smtClean="0"/>
              <a:t>A floor provides payoffs to compensate the holder for situations where LIBOR is below a certain level (the floor rate)</a:t>
            </a:r>
            <a:endParaRPr lang="en-US" altLang="en-US" smtClean="0"/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A884FF-B2FD-47F3-9C8E-DB60DA7A7E2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Example</a:t>
            </a:r>
            <a:endParaRPr lang="en-US" altLang="en-US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The principal is $10 million and in a 2 year cap (floor) with quarterly resets the cap rate is 4%</a:t>
            </a:r>
          </a:p>
          <a:p>
            <a:r>
              <a:rPr lang="en-CA" altLang="en-US" smtClean="0"/>
              <a:t>What are the payoffs in the cap (floor) if 3-month LIBOR in successive quarters are 3%, 3%, 3.5%, 4.5%, 5%, 4%, 3.5%, and 3.5%</a:t>
            </a:r>
          </a:p>
          <a:p>
            <a:r>
              <a:rPr lang="en-CA" altLang="en-US" smtClean="0"/>
              <a:t>When are the payoffs realized?  </a:t>
            </a:r>
            <a:endParaRPr lang="en-US" altLang="en-US" smtClean="0"/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9A87BEF-D729-4B31-AE5F-A0E6C6424AE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17145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 smtClean="0"/>
              <a:t>Caplet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470217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A caplet is one element of a cap</a:t>
            </a:r>
          </a:p>
          <a:p>
            <a:pPr eaLnBrk="1" hangingPunct="1">
              <a:defRPr/>
            </a:pPr>
            <a:r>
              <a:rPr lang="en-CA" sz="2800" dirty="0" smtClean="0"/>
              <a:t>Suppose that the reset dates in a cap are </a:t>
            </a:r>
            <a:r>
              <a:rPr lang="en-CA" sz="2800" i="1" dirty="0" smtClean="0">
                <a:latin typeface="+mj-lt"/>
              </a:rPr>
              <a:t>t</a:t>
            </a:r>
            <a:r>
              <a:rPr lang="en-CA" sz="2800" baseline="-25000" dirty="0" smtClean="0"/>
              <a:t>1,</a:t>
            </a:r>
            <a:r>
              <a:rPr lang="en-CA" sz="2800" dirty="0" smtClean="0"/>
              <a:t> </a:t>
            </a:r>
            <a:r>
              <a:rPr lang="en-CA" sz="2800" i="1" dirty="0" smtClean="0">
                <a:latin typeface="+mj-lt"/>
              </a:rPr>
              <a:t>t</a:t>
            </a:r>
            <a:r>
              <a:rPr lang="en-CA" sz="2800" baseline="-25000" dirty="0" smtClean="0"/>
              <a:t>2</a:t>
            </a:r>
            <a:r>
              <a:rPr lang="en-CA" sz="2800" dirty="0" smtClean="0"/>
              <a:t>, ….</a:t>
            </a:r>
            <a:r>
              <a:rPr lang="en-CA" sz="2800" i="1" dirty="0" err="1" smtClean="0">
                <a:latin typeface="+mj-lt"/>
              </a:rPr>
              <a:t>t</a:t>
            </a:r>
            <a:r>
              <a:rPr lang="en-CA" sz="2800" i="1" baseline="-25000" dirty="0" err="1" smtClean="0">
                <a:latin typeface="+mj-lt"/>
              </a:rPr>
              <a:t>n</a:t>
            </a:r>
            <a:r>
              <a:rPr lang="en-CA" sz="2800" i="1" baseline="-25000" dirty="0" smtClean="0">
                <a:latin typeface="+mj-lt"/>
              </a:rPr>
              <a:t> </a:t>
            </a:r>
            <a:r>
              <a:rPr lang="en-CA" sz="2800" i="1" dirty="0" smtClean="0">
                <a:latin typeface="+mj-lt"/>
              </a:rPr>
              <a:t> </a:t>
            </a:r>
            <a:r>
              <a:rPr lang="en-CA" sz="2800" dirty="0" smtClean="0">
                <a:latin typeface="+mj-lt"/>
              </a:rPr>
              <a:t>and</a:t>
            </a:r>
            <a:r>
              <a:rPr lang="en-CA" sz="2800" i="1" dirty="0" smtClean="0">
                <a:latin typeface="+mj-lt"/>
              </a:rPr>
              <a:t> </a:t>
            </a:r>
            <a:r>
              <a:rPr lang="en-CA" sz="2800" dirty="0" err="1" smtClean="0">
                <a:latin typeface="Symbol" pitchFamily="18" charset="2"/>
              </a:rPr>
              <a:t>d</a:t>
            </a:r>
            <a:r>
              <a:rPr lang="en-CA" sz="2800" i="1" baseline="-25000" dirty="0" err="1" smtClean="0">
                <a:latin typeface="+mj-lt"/>
              </a:rPr>
              <a:t>k</a:t>
            </a:r>
            <a:r>
              <a:rPr lang="en-CA" sz="2800" i="1" dirty="0" smtClean="0">
                <a:latin typeface="+mj-lt"/>
              </a:rPr>
              <a:t> = t</a:t>
            </a:r>
            <a:r>
              <a:rPr lang="en-CA" sz="2800" i="1" baseline="-25000" dirty="0" smtClean="0">
                <a:latin typeface="+mj-lt"/>
              </a:rPr>
              <a:t>k</a:t>
            </a:r>
            <a:r>
              <a:rPr lang="en-CA" sz="2800" baseline="-25000" dirty="0" smtClean="0">
                <a:latin typeface="+mj-lt"/>
              </a:rPr>
              <a:t>+1</a:t>
            </a:r>
            <a:r>
              <a:rPr lang="en-CA" sz="2800" i="1" dirty="0" smtClean="0">
                <a:latin typeface="+mj-lt"/>
              </a:rPr>
              <a:t> −</a:t>
            </a:r>
            <a:r>
              <a:rPr lang="en-CA" sz="2800" i="1" dirty="0" err="1" smtClean="0">
                <a:latin typeface="+mj-lt"/>
              </a:rPr>
              <a:t>t</a:t>
            </a:r>
            <a:r>
              <a:rPr lang="en-CA" sz="2800" i="1" baseline="-25000" dirty="0" err="1" smtClean="0">
                <a:latin typeface="+mj-lt"/>
              </a:rPr>
              <a:t>k</a:t>
            </a:r>
            <a:endParaRPr lang="en-US" sz="2800" i="1" dirty="0" smtClean="0">
              <a:latin typeface="+mj-lt"/>
            </a:endParaRPr>
          </a:p>
          <a:p>
            <a:pPr eaLnBrk="1" hangingPunct="1">
              <a:defRPr/>
            </a:pPr>
            <a:r>
              <a:rPr lang="en-US" sz="2800" dirty="0" smtClean="0"/>
              <a:t>Suppose </a:t>
            </a:r>
            <a:r>
              <a:rPr lang="en-US" sz="2800" i="1" dirty="0" smtClean="0">
                <a:latin typeface="Times New Roman" pitchFamily="18" charset="0"/>
              </a:rPr>
              <a:t>R</a:t>
            </a:r>
            <a:r>
              <a:rPr lang="en-US" sz="2800" i="1" baseline="-25000" dirty="0" smtClean="0">
                <a:latin typeface="Times New Roman" pitchFamily="18" charset="0"/>
              </a:rPr>
              <a:t>K</a:t>
            </a:r>
            <a:r>
              <a:rPr lang="en-US" sz="2800" i="1" dirty="0" smtClean="0">
                <a:latin typeface="Times New Roman" pitchFamily="18" charset="0"/>
              </a:rPr>
              <a:t> </a:t>
            </a:r>
            <a:r>
              <a:rPr lang="en-US" sz="2800" dirty="0" smtClean="0"/>
              <a:t>is the cap rate, </a:t>
            </a:r>
            <a:r>
              <a:rPr lang="en-US" sz="2800" i="1" dirty="0" smtClean="0">
                <a:latin typeface="Times New Roman" pitchFamily="18" charset="0"/>
              </a:rPr>
              <a:t>L</a:t>
            </a:r>
            <a:r>
              <a:rPr lang="en-US" sz="2800" dirty="0" smtClean="0"/>
              <a:t> is the principal, and </a:t>
            </a:r>
            <a:r>
              <a:rPr lang="en-US" sz="2800" i="1" dirty="0" err="1" smtClean="0">
                <a:latin typeface="Times New Roman" pitchFamily="18" charset="0"/>
              </a:rPr>
              <a:t>R</a:t>
            </a:r>
            <a:r>
              <a:rPr lang="en-US" sz="2800" i="1" baseline="-25000" dirty="0" err="1" smtClean="0">
                <a:latin typeface="Times New Roman" pitchFamily="18" charset="0"/>
              </a:rPr>
              <a:t>k</a:t>
            </a:r>
            <a:r>
              <a:rPr lang="en-US" sz="2800" i="1" dirty="0" smtClean="0">
                <a:latin typeface="Times New Roman" pitchFamily="18" charset="0"/>
              </a:rPr>
              <a:t> </a:t>
            </a:r>
            <a:r>
              <a:rPr lang="en-US" sz="2800" dirty="0" smtClean="0"/>
              <a:t>is the actual LIBOR rate for the period between time </a:t>
            </a:r>
            <a:r>
              <a:rPr lang="en-US" sz="2800" i="1" dirty="0" err="1" smtClean="0">
                <a:latin typeface="Times New Roman" pitchFamily="18" charset="0"/>
              </a:rPr>
              <a:t>t</a:t>
            </a:r>
            <a:r>
              <a:rPr lang="en-US" sz="2800" i="1" baseline="-25000" dirty="0" err="1" smtClean="0">
                <a:latin typeface="Times New Roman" pitchFamily="18" charset="0"/>
              </a:rPr>
              <a:t>k</a:t>
            </a:r>
            <a:r>
              <a:rPr lang="en-US" sz="2800" i="1" dirty="0" smtClean="0">
                <a:latin typeface="Times New Roman" pitchFamily="18" charset="0"/>
              </a:rPr>
              <a:t> </a:t>
            </a:r>
            <a:r>
              <a:rPr lang="en-US" sz="2800" dirty="0" smtClean="0"/>
              <a:t>and </a:t>
            </a:r>
            <a:r>
              <a:rPr lang="en-US" sz="2800" i="1" dirty="0" smtClean="0">
                <a:latin typeface="Times New Roman" pitchFamily="18" charset="0"/>
              </a:rPr>
              <a:t>t</a:t>
            </a:r>
            <a:r>
              <a:rPr lang="en-US" sz="2800" i="1" baseline="-25000" dirty="0" smtClean="0">
                <a:latin typeface="Times New Roman" pitchFamily="18" charset="0"/>
              </a:rPr>
              <a:t>k</a:t>
            </a:r>
            <a:r>
              <a:rPr lang="en-US" sz="2800" baseline="-25000" dirty="0" smtClean="0">
                <a:latin typeface="Times New Roman" pitchFamily="18" charset="0"/>
              </a:rPr>
              <a:t>+1</a:t>
            </a:r>
            <a:r>
              <a:rPr lang="en-US" sz="2800" dirty="0" smtClean="0">
                <a:latin typeface="Symbol" pitchFamily="18" charset="2"/>
              </a:rPr>
              <a:t> </a:t>
            </a:r>
            <a:r>
              <a:rPr lang="en-US" sz="2800" dirty="0" smtClean="0"/>
              <a:t>. The caplet provides a payoff at time </a:t>
            </a:r>
            <a:r>
              <a:rPr lang="en-US" sz="2800" i="1" dirty="0" smtClean="0">
                <a:latin typeface="Times New Roman" pitchFamily="18" charset="0"/>
              </a:rPr>
              <a:t>t</a:t>
            </a:r>
            <a:r>
              <a:rPr lang="en-US" sz="2800" i="1" baseline="-25000" dirty="0" smtClean="0">
                <a:latin typeface="Times New Roman" pitchFamily="18" charset="0"/>
              </a:rPr>
              <a:t>k</a:t>
            </a:r>
            <a:r>
              <a:rPr lang="en-US" sz="2800" baseline="-25000" dirty="0" smtClean="0">
                <a:latin typeface="Times New Roman" pitchFamily="18" charset="0"/>
              </a:rPr>
              <a:t>+1</a:t>
            </a:r>
            <a:r>
              <a:rPr lang="en-US" sz="2800" i="1" dirty="0" smtClean="0">
                <a:latin typeface="Times New Roman" pitchFamily="18" charset="0"/>
              </a:rPr>
              <a:t> </a:t>
            </a:r>
            <a:r>
              <a:rPr lang="en-US" sz="2800" dirty="0" smtClean="0"/>
              <a:t>of</a:t>
            </a:r>
          </a:p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sz="2800" i="1" dirty="0" err="1" smtClean="0">
                <a:latin typeface="Times New Roman" pitchFamily="18" charset="0"/>
              </a:rPr>
              <a:t>L</a:t>
            </a:r>
            <a:r>
              <a:rPr lang="en-US" sz="2800" dirty="0" err="1" smtClean="0">
                <a:latin typeface="Symbol" pitchFamily="18" charset="2"/>
              </a:rPr>
              <a:t>d</a:t>
            </a:r>
            <a:r>
              <a:rPr lang="en-US" sz="2800" i="1" baseline="-25000" dirty="0" err="1" smtClean="0">
                <a:latin typeface="+mj-lt"/>
              </a:rPr>
              <a:t>k</a:t>
            </a:r>
            <a:r>
              <a:rPr lang="en-US" sz="2800" dirty="0" smtClean="0">
                <a:latin typeface="Symbol" pitchFamily="18" charset="2"/>
              </a:rPr>
              <a:t> </a:t>
            </a:r>
            <a:r>
              <a:rPr lang="en-US" sz="2800" dirty="0" smtClean="0"/>
              <a:t>max(</a:t>
            </a:r>
            <a:r>
              <a:rPr lang="en-US" sz="2800" i="1" dirty="0" err="1" smtClean="0">
                <a:latin typeface="Times New Roman" pitchFamily="18" charset="0"/>
              </a:rPr>
              <a:t>R</a:t>
            </a:r>
            <a:r>
              <a:rPr lang="en-US" sz="2800" i="1" baseline="-25000" dirty="0" err="1" smtClean="0">
                <a:latin typeface="Times New Roman" pitchFamily="18" charset="0"/>
              </a:rPr>
              <a:t>k</a:t>
            </a:r>
            <a:r>
              <a:rPr lang="en-US" sz="2800" i="1" dirty="0" smtClean="0">
                <a:latin typeface="Times New Roman" pitchFamily="18" charset="0"/>
              </a:rPr>
              <a:t>−R</a:t>
            </a:r>
            <a:r>
              <a:rPr lang="en-US" sz="2800" i="1" baseline="-25000" dirty="0" smtClean="0">
                <a:latin typeface="Times New Roman" pitchFamily="18" charset="0"/>
              </a:rPr>
              <a:t>K</a:t>
            </a:r>
            <a:r>
              <a:rPr lang="en-US" sz="2800" dirty="0" smtClean="0"/>
              <a:t>, </a:t>
            </a:r>
            <a:r>
              <a:rPr lang="en-US" sz="2800" dirty="0" smtClean="0">
                <a:latin typeface="+mj-lt"/>
              </a:rPr>
              <a:t>0</a:t>
            </a:r>
            <a:r>
              <a:rPr lang="en-US" sz="2800" dirty="0" smtClean="0"/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CA" sz="2800" dirty="0" smtClean="0"/>
              <a:t>	for </a:t>
            </a:r>
            <a:r>
              <a:rPr lang="en-CA" sz="2800" i="1" dirty="0" smtClean="0">
                <a:latin typeface="+mj-lt"/>
              </a:rPr>
              <a:t>k</a:t>
            </a:r>
            <a:r>
              <a:rPr lang="en-CA" sz="2800" dirty="0" smtClean="0"/>
              <a:t>=1, 2...</a:t>
            </a:r>
            <a:r>
              <a:rPr lang="en-CA" sz="2800" i="1" dirty="0" smtClean="0">
                <a:latin typeface="+mj-lt"/>
              </a:rPr>
              <a:t>n</a:t>
            </a:r>
            <a:r>
              <a:rPr lang="en-CA" sz="2800" dirty="0" smtClean="0"/>
              <a:t>. </a:t>
            </a:r>
            <a:endParaRPr lang="en-CA" sz="2800" dirty="0"/>
          </a:p>
          <a:p>
            <a:pPr eaLnBrk="1" hangingPunct="1">
              <a:defRPr/>
            </a:pPr>
            <a:r>
              <a:rPr lang="en-CA" sz="2800" dirty="0" smtClean="0"/>
              <a:t>Standard practice is for no payoff for the first period between time zero and </a:t>
            </a:r>
            <a:r>
              <a:rPr lang="en-CA" sz="2800" i="1" dirty="0" smtClean="0">
                <a:latin typeface="+mj-lt"/>
              </a:rPr>
              <a:t>t</a:t>
            </a:r>
            <a:r>
              <a:rPr lang="en-CA" sz="2800" baseline="-25000" dirty="0" smtClean="0"/>
              <a:t>1</a:t>
            </a:r>
            <a:endParaRPr lang="en-US" sz="2800" dirty="0" smtClean="0"/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3344A3-E961-4FCC-BFFD-42881D4DFD6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Caps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9650" y="1735138"/>
            <a:ext cx="7604125" cy="41497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A cap is a portfolio of caplets</a:t>
            </a:r>
          </a:p>
          <a:p>
            <a:pPr eaLnBrk="1" hangingPunct="1"/>
            <a:r>
              <a:rPr lang="en-US" altLang="en-US" smtClean="0"/>
              <a:t>Each caplet can be regarded as a call option on a future interest rate with the payoff occurring in arrears</a:t>
            </a:r>
          </a:p>
          <a:p>
            <a:pPr eaLnBrk="1" hangingPunct="1"/>
            <a:r>
              <a:rPr lang="en-US" altLang="en-US" smtClean="0"/>
              <a:t>When using Black’s model we assume  that the interest rate underlying each caplet is lognormal</a:t>
            </a: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EF3964-E492-4546-8AAC-DFAFF7E527E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90500"/>
            <a:ext cx="8880475" cy="1143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Black’s Model for Caps</a:t>
            </a:r>
            <a:br>
              <a:rPr lang="en-US" altLang="en-US" smtClean="0"/>
            </a:br>
            <a:r>
              <a:rPr lang="en-US" altLang="en-US" sz="2200" smtClean="0"/>
              <a:t>(Equation 21.8, page 466)</a:t>
            </a:r>
            <a:endParaRPr lang="en-US" altLang="en-US" smtClean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450" y="1304925"/>
            <a:ext cx="8210550" cy="577850"/>
          </a:xfrm>
        </p:spPr>
        <p:txBody>
          <a:bodyPr lIns="92075" tIns="46038" rIns="92075" bIns="46038"/>
          <a:lstStyle/>
          <a:p>
            <a:pPr eaLnBrk="1" hangingPunct="1"/>
            <a:endParaRPr lang="en-US" altLang="en-US" sz="2800" smtClean="0"/>
          </a:p>
          <a:p>
            <a:pPr eaLnBrk="1" hangingPunct="1"/>
            <a:r>
              <a:rPr lang="en-US" altLang="en-US" sz="2800" smtClean="0"/>
              <a:t>The value  of a caplet, for period </a:t>
            </a:r>
            <a:r>
              <a:rPr lang="en-US" altLang="en-US" sz="2400" smtClean="0"/>
              <a:t>[</a:t>
            </a:r>
            <a:r>
              <a:rPr lang="en-US" altLang="en-US" sz="2400" i="1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k</a:t>
            </a:r>
            <a:r>
              <a:rPr lang="en-US" altLang="en-US" sz="2400" i="1" smtClean="0"/>
              <a:t>,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k+</a:t>
            </a:r>
            <a:r>
              <a:rPr lang="en-US" altLang="en-US" sz="2400" baseline="-25000" smtClean="0">
                <a:latin typeface="Times New Roman" panose="02020603050405020304" pitchFamily="18" charset="0"/>
              </a:rPr>
              <a:t>1</a:t>
            </a:r>
            <a:r>
              <a:rPr lang="en-US" altLang="en-US" sz="2400" smtClean="0"/>
              <a:t>]</a:t>
            </a:r>
            <a:r>
              <a:rPr lang="en-US" altLang="en-US" sz="2800" smtClean="0"/>
              <a:t> is</a:t>
            </a: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444500" y="4419600"/>
            <a:ext cx="5526088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50000"/>
              <a:buFontTx/>
              <a:buNone/>
            </a:pPr>
            <a:r>
              <a:rPr lang="en-US" altLang="en-US" sz="2400"/>
              <a:t>	</a:t>
            </a:r>
            <a:r>
              <a:rPr lang="en-US" altLang="en-US" sz="2200" i="1">
                <a:latin typeface="Times New Roman" panose="02020603050405020304" pitchFamily="18" charset="0"/>
              </a:rPr>
              <a:t>F</a:t>
            </a:r>
            <a:r>
              <a:rPr lang="en-US" altLang="en-US" sz="2200" i="1" baseline="-25000">
                <a:latin typeface="Times New Roman" panose="02020603050405020304" pitchFamily="18" charset="0"/>
              </a:rPr>
              <a:t>k</a:t>
            </a:r>
            <a:r>
              <a:rPr lang="en-US" altLang="en-US" sz="2200"/>
              <a:t>  :  forward LIBOR interest rate </a:t>
            </a:r>
          </a:p>
          <a:p>
            <a:pPr>
              <a:buClrTx/>
              <a:buSzTx/>
              <a:buFontTx/>
              <a:buNone/>
            </a:pPr>
            <a:r>
              <a:rPr lang="en-US" altLang="en-US" sz="2200"/>
              <a:t>	         for  (</a:t>
            </a:r>
            <a:r>
              <a:rPr lang="en-US" altLang="en-US" sz="2200" i="1">
                <a:latin typeface="Times New Roman" panose="02020603050405020304" pitchFamily="18" charset="0"/>
              </a:rPr>
              <a:t>t</a:t>
            </a:r>
            <a:r>
              <a:rPr lang="en-US" altLang="en-US" sz="2200" i="1" baseline="-25000">
                <a:latin typeface="Times New Roman" panose="02020603050405020304" pitchFamily="18" charset="0"/>
              </a:rPr>
              <a:t>k</a:t>
            </a:r>
            <a:r>
              <a:rPr lang="en-US" altLang="en-US" sz="2200" i="1"/>
              <a:t>, </a:t>
            </a:r>
            <a:r>
              <a:rPr lang="en-US" altLang="en-US" sz="2200" i="1">
                <a:latin typeface="Times New Roman" panose="02020603050405020304" pitchFamily="18" charset="0"/>
              </a:rPr>
              <a:t>t</a:t>
            </a:r>
            <a:r>
              <a:rPr lang="en-US" altLang="en-US" sz="2200" i="1" baseline="-25000">
                <a:latin typeface="Times New Roman" panose="02020603050405020304" pitchFamily="18" charset="0"/>
              </a:rPr>
              <a:t>k+</a:t>
            </a:r>
            <a:r>
              <a:rPr lang="en-US" altLang="en-US" sz="2200" baseline="-25000">
                <a:latin typeface="Times New Roman" panose="02020603050405020304" pitchFamily="18" charset="0"/>
              </a:rPr>
              <a:t>1</a:t>
            </a:r>
            <a:r>
              <a:rPr lang="en-US" altLang="en-US" sz="2200"/>
              <a:t>)</a:t>
            </a:r>
          </a:p>
          <a:p>
            <a:pPr>
              <a:buClr>
                <a:schemeClr val="tx1"/>
              </a:buClr>
              <a:buSzPct val="150000"/>
              <a:buFontTx/>
              <a:buNone/>
            </a:pPr>
            <a:r>
              <a:rPr lang="en-US" altLang="en-US" sz="2200"/>
              <a:t>	</a:t>
            </a:r>
            <a:r>
              <a:rPr lang="en-US" altLang="en-US" sz="2200">
                <a:latin typeface="Symbol" panose="05050102010706020507" pitchFamily="18" charset="2"/>
              </a:rPr>
              <a:t>s</a:t>
            </a:r>
            <a:r>
              <a:rPr lang="en-US" altLang="en-US" sz="2200" i="1" baseline="-25000">
                <a:latin typeface="Times New Roman" panose="02020603050405020304" pitchFamily="18" charset="0"/>
              </a:rPr>
              <a:t>k</a:t>
            </a:r>
            <a:r>
              <a:rPr lang="en-US" altLang="en-US" sz="2200" i="1" baseline="-25000"/>
              <a:t>  </a:t>
            </a:r>
            <a:r>
              <a:rPr lang="en-US" altLang="en-US" sz="2200"/>
              <a:t>:  forward interest rate vol.</a:t>
            </a:r>
          </a:p>
          <a:p>
            <a:pPr>
              <a:buClr>
                <a:schemeClr val="tx1"/>
              </a:buClr>
              <a:buSzPct val="150000"/>
              <a:buFontTx/>
              <a:buNone/>
            </a:pPr>
            <a:r>
              <a:rPr lang="en-US" altLang="en-US" sz="2200"/>
              <a:t>	</a:t>
            </a:r>
            <a:r>
              <a:rPr lang="en-US" altLang="en-US" sz="2200" i="1">
                <a:latin typeface="Times New Roman" panose="02020603050405020304" pitchFamily="18" charset="0"/>
              </a:rPr>
              <a:t>r</a:t>
            </a:r>
            <a:r>
              <a:rPr lang="en-US" altLang="en-US" sz="2200" i="1" baseline="-25000">
                <a:latin typeface="Times New Roman" panose="02020603050405020304" pitchFamily="18" charset="0"/>
              </a:rPr>
              <a:t>k</a:t>
            </a:r>
            <a:r>
              <a:rPr lang="en-US" altLang="en-US" sz="2200" baseline="-25000"/>
              <a:t>  </a:t>
            </a:r>
            <a:r>
              <a:rPr lang="en-US" altLang="en-US" sz="2200"/>
              <a:t>:  risk-free interest rate for maturity </a:t>
            </a:r>
            <a:r>
              <a:rPr lang="en-US" altLang="en-US" sz="2400" i="1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k</a:t>
            </a:r>
            <a:endParaRPr lang="en-US" altLang="en-US" sz="2400" i="1"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50000"/>
              <a:buFontTx/>
              <a:buNone/>
            </a:pPr>
            <a:r>
              <a:rPr lang="en-US" altLang="en-US" sz="2400"/>
              <a:t> </a:t>
            </a:r>
            <a:endParaRPr lang="en-US" altLang="en-US" sz="2400" i="1" baseline="-25000">
              <a:latin typeface="Times New Roman" panose="02020603050405020304" pitchFamily="18" charset="0"/>
            </a:endParaRP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5435600" y="4373563"/>
            <a:ext cx="3052763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50000"/>
              <a:buFontTx/>
              <a:buNone/>
            </a:pPr>
            <a:r>
              <a:rPr lang="en-US" altLang="en-US" sz="2800" i="1">
                <a:latin typeface="Times New Roman" panose="02020603050405020304" pitchFamily="18" charset="0"/>
              </a:rPr>
              <a:t>	L</a:t>
            </a:r>
            <a:r>
              <a:rPr lang="en-US" altLang="en-US" sz="2800"/>
              <a:t>:</a:t>
            </a:r>
            <a:r>
              <a:rPr lang="en-US" altLang="en-US" sz="2800" i="1"/>
              <a:t>  </a:t>
            </a:r>
            <a:r>
              <a:rPr lang="en-US" altLang="en-US" sz="2800"/>
              <a:t>principal</a:t>
            </a:r>
          </a:p>
          <a:p>
            <a:pPr>
              <a:buClr>
                <a:schemeClr val="tx1"/>
              </a:buClr>
              <a:buSzPct val="150000"/>
              <a:buFontTx/>
              <a:buNone/>
            </a:pPr>
            <a:r>
              <a:rPr lang="en-US" altLang="en-US" sz="2800"/>
              <a:t>	</a:t>
            </a:r>
            <a:r>
              <a:rPr lang="en-US" altLang="en-US" sz="2800" i="1">
                <a:latin typeface="Times New Roman" panose="02020603050405020304" pitchFamily="18" charset="0"/>
              </a:rPr>
              <a:t>R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K</a:t>
            </a:r>
            <a:r>
              <a:rPr lang="en-US" altLang="en-US" sz="2800"/>
              <a:t>:  cap rate         </a:t>
            </a:r>
            <a:r>
              <a:rPr lang="en-US" altLang="en-US" sz="2800">
                <a:latin typeface="Symbol" panose="05050102010706020507" pitchFamily="18" charset="2"/>
              </a:rPr>
              <a:t>d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k</a:t>
            </a:r>
            <a:r>
              <a:rPr lang="en-US" altLang="en-US" sz="2800" i="1">
                <a:latin typeface="Times New Roman" panose="02020603050405020304" pitchFamily="18" charset="0"/>
              </a:rPr>
              <a:t>=t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k+</a:t>
            </a:r>
            <a:r>
              <a:rPr lang="en-US" altLang="en-US" sz="2800" baseline="-25000">
                <a:latin typeface="Times New Roman" panose="02020603050405020304" pitchFamily="18" charset="0"/>
              </a:rPr>
              <a:t>1</a:t>
            </a:r>
            <a:r>
              <a:rPr lang="en-US" altLang="en-US" sz="2800" i="1">
                <a:latin typeface="Times New Roman" panose="02020603050405020304" pitchFamily="18" charset="0"/>
              </a:rPr>
              <a:t>-t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k</a:t>
            </a:r>
          </a:p>
        </p:txBody>
      </p:sp>
      <p:graphicFrame>
        <p:nvGraphicFramePr>
          <p:cNvPr id="28679" name="Object 6"/>
          <p:cNvGraphicFramePr>
            <a:graphicFrameLocks/>
          </p:cNvGraphicFramePr>
          <p:nvPr/>
        </p:nvGraphicFramePr>
        <p:xfrm>
          <a:off x="663575" y="2628900"/>
          <a:ext cx="6892925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4" imgW="3416300" imgH="736600" progId="Equation.3">
                  <p:embed/>
                </p:oleObj>
              </mc:Choice>
              <mc:Fallback>
                <p:oleObj name="Equation" r:id="rId4" imgW="3416300" imgH="7366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" y="2628900"/>
                        <a:ext cx="6892925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Slide Number Placeholder 8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E9BC60-9AE4-4986-B0E5-F4EDC41ADBE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When Applying Black’s Model</a:t>
            </a:r>
            <a:br>
              <a:rPr lang="en-US" altLang="en-US" smtClean="0"/>
            </a:br>
            <a:r>
              <a:rPr lang="en-US" altLang="en-US" smtClean="0"/>
              <a:t>To Caps We Must ...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719263"/>
            <a:ext cx="7050088" cy="4411662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EITHER</a:t>
            </a:r>
          </a:p>
          <a:p>
            <a:pPr lvl="1" eaLnBrk="1" hangingPunct="1"/>
            <a:r>
              <a:rPr lang="en-US" altLang="en-US" smtClean="0"/>
              <a:t>Use forward volatilities</a:t>
            </a:r>
          </a:p>
          <a:p>
            <a:pPr lvl="1" eaLnBrk="1" hangingPunct="1"/>
            <a:r>
              <a:rPr lang="en-US" altLang="en-US" smtClean="0"/>
              <a:t>Volatility different for each caplet</a:t>
            </a:r>
          </a:p>
          <a:p>
            <a:pPr eaLnBrk="1" hangingPunct="1"/>
            <a:r>
              <a:rPr lang="en-US" altLang="en-US" sz="2800" smtClean="0"/>
              <a:t>OR</a:t>
            </a:r>
          </a:p>
          <a:p>
            <a:pPr lvl="1" eaLnBrk="1" hangingPunct="1"/>
            <a:r>
              <a:rPr lang="en-US" altLang="en-US" smtClean="0"/>
              <a:t>Use flat volatilities</a:t>
            </a:r>
          </a:p>
          <a:p>
            <a:pPr lvl="1" eaLnBrk="1" hangingPunct="1"/>
            <a:r>
              <a:rPr lang="en-US" altLang="en-US" smtClean="0"/>
              <a:t>Volatility same for each caplet within a particular cap but varies according to life of cap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CCE2C9-0B57-48D0-8333-BB1B8FE345A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European Swap Options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8229600" cy="4141787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A European swap option gives the holder the right to enter into a swap at a certain future time</a:t>
            </a:r>
          </a:p>
          <a:p>
            <a:pPr eaLnBrk="1" hangingPunct="1"/>
            <a:r>
              <a:rPr lang="en-US" altLang="en-US" sz="2800" smtClean="0"/>
              <a:t>Either it gives the holder the right to pay a prespecified fixed rate and receive LIBOR</a:t>
            </a:r>
          </a:p>
          <a:p>
            <a:pPr eaLnBrk="1" hangingPunct="1"/>
            <a:r>
              <a:rPr lang="en-US" altLang="en-US" sz="2800" smtClean="0"/>
              <a:t>Or it gives the holder the right to pay LIBOR and receive a prespecified fixed rate</a:t>
            </a: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95D335-4E94-4642-AF9C-29C67A560B5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European Swaptions</a:t>
            </a:r>
          </a:p>
        </p:txBody>
      </p:sp>
      <p:sp>
        <p:nvSpPr>
          <p:cNvPr id="51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163" y="1203325"/>
            <a:ext cx="8067675" cy="489267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800" dirty="0" smtClean="0"/>
              <a:t>When valuing  European swap options it is usual to assume  that the swap rate is lognormal</a:t>
            </a:r>
          </a:p>
          <a:p>
            <a:pPr eaLnBrk="1" hangingPunct="1">
              <a:defRPr/>
            </a:pPr>
            <a:r>
              <a:rPr lang="en-US" sz="2800" dirty="0" smtClean="0"/>
              <a:t>Consider a </a:t>
            </a:r>
            <a:r>
              <a:rPr lang="en-US" sz="2800" dirty="0" err="1" smtClean="0"/>
              <a:t>swaption</a:t>
            </a:r>
            <a:r>
              <a:rPr lang="en-US" sz="2800" dirty="0" smtClean="0"/>
              <a:t> which gives the right to pay </a:t>
            </a:r>
            <a:r>
              <a:rPr lang="en-US" sz="2800" i="1" dirty="0" smtClean="0">
                <a:latin typeface="Times New Roman" pitchFamily="18" charset="0"/>
              </a:rPr>
              <a:t>R</a:t>
            </a:r>
            <a:r>
              <a:rPr lang="en-US" sz="2800" i="1" baseline="-25000" dirty="0" smtClean="0">
                <a:latin typeface="Times New Roman" pitchFamily="18" charset="0"/>
              </a:rPr>
              <a:t>K</a:t>
            </a:r>
            <a:r>
              <a:rPr lang="en-US" sz="2800" dirty="0" smtClean="0"/>
              <a:t>  on an </a:t>
            </a:r>
            <a:r>
              <a:rPr lang="en-US" sz="2800" i="1" dirty="0" smtClean="0">
                <a:latin typeface="+mj-lt"/>
              </a:rPr>
              <a:t>n</a:t>
            </a:r>
            <a:r>
              <a:rPr lang="en-US" sz="2800" dirty="0" smtClean="0"/>
              <a:t> -year swap starting at time </a:t>
            </a:r>
            <a:r>
              <a:rPr lang="en-US" sz="2800" i="1" dirty="0" smtClean="0">
                <a:latin typeface="Times New Roman" pitchFamily="18" charset="0"/>
              </a:rPr>
              <a:t>T</a:t>
            </a:r>
            <a:r>
              <a:rPr lang="en-US" sz="2800" dirty="0" smtClean="0"/>
              <a:t> .  The payoff on each swap payment date is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/>
              <a:t>		</a:t>
            </a:r>
            <a:r>
              <a:rPr lang="en-US" sz="2800" i="1" dirty="0" smtClean="0"/>
              <a:t>					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i="1" dirty="0" smtClean="0"/>
              <a:t>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i="1" dirty="0" smtClean="0"/>
              <a:t>	</a:t>
            </a:r>
            <a:r>
              <a:rPr lang="en-US" sz="2800" dirty="0" smtClean="0"/>
              <a:t>where </a:t>
            </a:r>
            <a:r>
              <a:rPr lang="en-US" sz="2800" i="1" dirty="0" smtClean="0">
                <a:latin typeface="Times New Roman" pitchFamily="18" charset="0"/>
              </a:rPr>
              <a:t>L</a:t>
            </a:r>
            <a:r>
              <a:rPr lang="en-US" sz="2800" dirty="0" smtClean="0"/>
              <a:t> is principal, </a:t>
            </a:r>
            <a:r>
              <a:rPr lang="en-US" sz="2800" i="1" dirty="0" smtClean="0">
                <a:latin typeface="Times New Roman" pitchFamily="18" charset="0"/>
              </a:rPr>
              <a:t>m</a:t>
            </a:r>
            <a:r>
              <a:rPr lang="en-US" sz="2800" dirty="0" smtClean="0"/>
              <a:t>  is  payment frequency and </a:t>
            </a:r>
            <a:r>
              <a:rPr lang="en-US" sz="2800" i="1" dirty="0" smtClean="0">
                <a:latin typeface="Times New Roman" pitchFamily="18" charset="0"/>
              </a:rPr>
              <a:t>R</a:t>
            </a:r>
            <a:r>
              <a:rPr lang="en-US" sz="2800" dirty="0" smtClean="0"/>
              <a:t> is market swap rate at time </a:t>
            </a:r>
            <a:r>
              <a:rPr lang="en-US" sz="2800" i="1" dirty="0" smtClean="0">
                <a:latin typeface="Times New Roman" pitchFamily="18" charset="0"/>
              </a:rPr>
              <a:t>T</a:t>
            </a:r>
            <a:endParaRPr lang="en-US" sz="2800" u="sng" dirty="0" smtClean="0">
              <a:latin typeface="Times New Roman" pitchFamily="18" charset="0"/>
            </a:endParaRPr>
          </a:p>
        </p:txBody>
      </p:sp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4" imgW="114151" imgH="215619" progId="Equation.3">
                  <p:embed/>
                </p:oleObj>
              </mc:Choice>
              <mc:Fallback>
                <p:oleObj name="Equation" r:id="rId4" imgW="114151" imgH="21561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2635250" y="4019550"/>
          <a:ext cx="27559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Equation" r:id="rId6" imgW="1117115" imgH="393529" progId="Equation.3">
                  <p:embed/>
                </p:oleObj>
              </mc:Choice>
              <mc:Fallback>
                <p:oleObj name="Equation" r:id="rId6" imgW="1117115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4019550"/>
                        <a:ext cx="27559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Slide Number Placeholder 7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1A60C2-E026-4029-88E0-90D91BF9399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4300" smtClean="0"/>
              <a:t>European Swaptions </a:t>
            </a:r>
            <a:r>
              <a:rPr lang="en-US" altLang="en-US" sz="3000" smtClean="0"/>
              <a:t>continued</a:t>
            </a:r>
            <a:br>
              <a:rPr lang="en-US" altLang="en-US" sz="3000" smtClean="0"/>
            </a:br>
            <a:r>
              <a:rPr lang="en-US" altLang="en-US" sz="2400" smtClean="0"/>
              <a:t>(Equation 21.10, page 471)</a:t>
            </a:r>
            <a:endParaRPr lang="en-US" altLang="en-US" sz="3000" smtClean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9131300" cy="497205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 smtClean="0"/>
              <a:t>	The value of the </a:t>
            </a:r>
            <a:r>
              <a:rPr lang="en-US" altLang="en-US" dirty="0" err="1" smtClean="0"/>
              <a:t>swaption</a:t>
            </a:r>
            <a:r>
              <a:rPr lang="en-US" altLang="en-US" dirty="0" smtClean="0"/>
              <a:t> is																																						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 smtClean="0"/>
              <a:t>   </a:t>
            </a:r>
            <a:r>
              <a:rPr lang="en-US" altLang="en-US" i="1" dirty="0" smtClean="0">
                <a:latin typeface="Times New Roman" pitchFamily="18" charset="0"/>
              </a:rPr>
              <a:t>F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  is the forward swap rate;  </a:t>
            </a:r>
            <a:r>
              <a:rPr lang="en-US" altLang="en-US" dirty="0" smtClean="0">
                <a:latin typeface="Symbol" pitchFamily="18" charset="2"/>
              </a:rPr>
              <a:t>s</a:t>
            </a:r>
            <a:r>
              <a:rPr lang="en-US" altLang="en-US" dirty="0" smtClean="0"/>
              <a:t> is the swap rate volatility;  </a:t>
            </a:r>
            <a:r>
              <a:rPr lang="en-US" altLang="en-US" i="1" dirty="0" err="1" smtClean="0">
                <a:latin typeface="Times New Roman" pitchFamily="18" charset="0"/>
              </a:rPr>
              <a:t>t</a:t>
            </a:r>
            <a:r>
              <a:rPr lang="en-US" altLang="en-US" i="1" baseline="-25000" dirty="0" err="1" smtClean="0">
                <a:latin typeface="Times New Roman" pitchFamily="18" charset="0"/>
              </a:rPr>
              <a:t>i</a:t>
            </a:r>
            <a:r>
              <a:rPr lang="en-US" altLang="en-US" i="1" baseline="-25000" dirty="0" smtClean="0">
                <a:latin typeface="Times New Roman" pitchFamily="18" charset="0"/>
              </a:rPr>
              <a:t> </a:t>
            </a:r>
            <a:r>
              <a:rPr lang="en-US" altLang="en-US" dirty="0" smtClean="0">
                <a:latin typeface="Times New Roman" pitchFamily="18" charset="0"/>
              </a:rPr>
              <a:t> </a:t>
            </a:r>
            <a:r>
              <a:rPr lang="en-US" altLang="en-US" dirty="0" smtClean="0"/>
              <a:t>is the time  from today until the </a:t>
            </a:r>
            <a:r>
              <a:rPr lang="en-US" altLang="en-US" i="1" dirty="0" err="1" smtClean="0">
                <a:latin typeface="Times New Roman" pitchFamily="18" charset="0"/>
              </a:rPr>
              <a:t>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</a:t>
            </a:r>
            <a:r>
              <a:rPr lang="en-US" altLang="en-US" dirty="0" smtClean="0"/>
              <a:t> swap payment; and </a:t>
            </a:r>
            <a:r>
              <a:rPr lang="en-US" altLang="en-US" i="1" dirty="0" smtClean="0">
                <a:latin typeface="+mj-lt"/>
              </a:rPr>
              <a:t>A</a:t>
            </a:r>
            <a:r>
              <a:rPr lang="en-US" altLang="en-US" dirty="0" smtClean="0"/>
              <a:t> is the value today of a annuity paying $1 on each payment date</a:t>
            </a:r>
          </a:p>
        </p:txBody>
      </p:sp>
      <p:graphicFrame>
        <p:nvGraphicFramePr>
          <p:cNvPr id="32773" name="Object 1024"/>
          <p:cNvGraphicFramePr>
            <a:graphicFrameLocks/>
          </p:cNvGraphicFramePr>
          <p:nvPr/>
        </p:nvGraphicFramePr>
        <p:xfrm>
          <a:off x="1338263" y="1658938"/>
          <a:ext cx="5934075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4" imgW="2235200" imgH="457200" progId="Equation.3">
                  <p:embed/>
                </p:oleObj>
              </mc:Choice>
              <mc:Fallback>
                <p:oleObj name="Equation" r:id="rId4" imgW="2235200" imgH="4572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3" y="1658938"/>
                        <a:ext cx="5934075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1026"/>
          <p:cNvGraphicFramePr>
            <a:graphicFrameLocks/>
          </p:cNvGraphicFramePr>
          <p:nvPr/>
        </p:nvGraphicFramePr>
        <p:xfrm>
          <a:off x="731838" y="2424113"/>
          <a:ext cx="722312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Equation" r:id="rId6" imgW="3009900" imgH="444500" progId="Equation.3">
                  <p:embed/>
                </p:oleObj>
              </mc:Choice>
              <mc:Fallback>
                <p:oleObj name="Equation" r:id="rId6" imgW="3009900" imgH="444500" progId="Equation.3">
                  <p:embed/>
                  <p:pic>
                    <p:nvPicPr>
                      <p:cNvPr id="0" name="Object 102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2424113"/>
                        <a:ext cx="7223125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Slide Number Placeholder 8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E7E06A0-601B-4C4A-99E2-77EAA13C61A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260350"/>
            <a:ext cx="7254875" cy="1296988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Relationship Between Swaptions and Bond Options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2052638"/>
            <a:ext cx="8148637" cy="4090987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An interest rate swap can be regarded as the exchange of a fixed-rate bond for a floating-rate bond</a:t>
            </a:r>
          </a:p>
          <a:p>
            <a:pPr eaLnBrk="1" hangingPunct="1"/>
            <a:r>
              <a:rPr lang="en-US" altLang="en-US" smtClean="0"/>
              <a:t>A swaption or swap option is therefore an option to exchange a fixed-rate bond for a floating-rate bond</a:t>
            </a: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765823-3566-4F5D-A56A-ED205D72592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31863"/>
            <a:ext cx="7489825" cy="803275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Relationship Between Swaptions and Bond Options </a:t>
            </a:r>
            <a:r>
              <a:rPr lang="en-US" altLang="en-US" sz="2200" smtClean="0"/>
              <a:t>(continued)</a:t>
            </a: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916113"/>
            <a:ext cx="8424863" cy="4179887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At the start of the swap the floating-rate bond is worth par so that the swaption can be viewed as an option to exchange a fixed-rate bond for par</a:t>
            </a:r>
          </a:p>
          <a:p>
            <a:pPr eaLnBrk="1" hangingPunct="1"/>
            <a:r>
              <a:rPr lang="en-US" altLang="en-US" sz="2800" smtClean="0"/>
              <a:t>An option on a swap where fixed is paid &amp; floating is received is a put option on the bond with a strike price of par</a:t>
            </a:r>
          </a:p>
          <a:p>
            <a:pPr eaLnBrk="1" hangingPunct="1"/>
            <a:r>
              <a:rPr lang="en-US" altLang="en-US" sz="2800" smtClean="0"/>
              <a:t>When floating is paid &amp; fixed is received, it is a call option on the bond with a strike price of par</a:t>
            </a: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7D4059-C986-4874-832B-4B683CB3071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21, Copyright © John  C. Hull 2016</a:t>
            </a:r>
            <a:endParaRPr lang="en-US" altLang="en-US" i="0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858837"/>
          </a:xfrm>
        </p:spPr>
        <p:txBody>
          <a:bodyPr/>
          <a:lstStyle/>
          <a:p>
            <a:pPr eaLnBrk="1" hangingPunct="1"/>
            <a:r>
              <a:rPr lang="en-US" altLang="en-US" smtClean="0"/>
              <a:t>Term Structure Models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American-style options and other more complicated interest-rate derivatives must be valued using an interest rate model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This is a model of how a particulare term structure interest rates moves through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The model should incorporate the mean reverting property of short-term interest rates </a:t>
            </a: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8A2B54-4BA5-498C-8A9E-35CCABA8A15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B1DD21-A8B2-4C55-8406-429527215DF7}"/>
</file>

<file path=customXml/itemProps2.xml><?xml version="1.0" encoding="utf-8"?>
<ds:datastoreItem xmlns:ds="http://schemas.openxmlformats.org/officeDocument/2006/customXml" ds:itemID="{555974C8-BEE4-4C10-ACB2-7269E76282CF}"/>
</file>

<file path=customXml/itemProps3.xml><?xml version="1.0" encoding="utf-8"?>
<ds:datastoreItem xmlns:ds="http://schemas.openxmlformats.org/officeDocument/2006/customXml" ds:itemID="{A353C2F5-4EEA-43D0-B7AF-1E8B200181B2}"/>
</file>

<file path=docProps/app.xml><?xml version="1.0" encoding="utf-8"?>
<Properties xmlns="http://schemas.openxmlformats.org/officeDocument/2006/extended-properties" xmlns:vt="http://schemas.openxmlformats.org/officeDocument/2006/docPropsVTypes">
  <Template>Financial Risk Management6</Template>
  <TotalTime>1796</TotalTime>
  <Pages>26</Pages>
  <Words>1410</Words>
  <Application>Microsoft Office PowerPoint</Application>
  <PresentationFormat>Letter Paper (8.5x11 in)</PresentationFormat>
  <Paragraphs>170</Paragraphs>
  <Slides>23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Times New Roman</vt:lpstr>
      <vt:lpstr>Wingdings</vt:lpstr>
      <vt:lpstr>Symbol</vt:lpstr>
      <vt:lpstr>1_Network</vt:lpstr>
      <vt:lpstr>Equation</vt:lpstr>
      <vt:lpstr>MathType 6.0 Equation</vt:lpstr>
      <vt:lpstr>Interest Rate Options</vt:lpstr>
      <vt:lpstr>Exchange-Traded Interest Rate Options</vt:lpstr>
      <vt:lpstr>Treasury Bond Futures Option</vt:lpstr>
      <vt:lpstr>Eurodollar Futures Option</vt:lpstr>
      <vt:lpstr>Embedded Bond Options (page 460)</vt:lpstr>
      <vt:lpstr>Black’s Model &amp; Its Extensions</vt:lpstr>
      <vt:lpstr>European Bond Options</vt:lpstr>
      <vt:lpstr>European Bond Options continued</vt:lpstr>
      <vt:lpstr>Yield Vols vs Price Vols</vt:lpstr>
      <vt:lpstr>Yield Vols vs Price Vols continued</vt:lpstr>
      <vt:lpstr>Cash vs Quoted Bond Price</vt:lpstr>
      <vt:lpstr>Caps and Floors</vt:lpstr>
      <vt:lpstr>Example</vt:lpstr>
      <vt:lpstr>Caplet</vt:lpstr>
      <vt:lpstr>Caps</vt:lpstr>
      <vt:lpstr>Black’s Model for Caps (Equation 21.8, page 466)</vt:lpstr>
      <vt:lpstr>When Applying Black’s Model To Caps We Must ...</vt:lpstr>
      <vt:lpstr>European Swap Options</vt:lpstr>
      <vt:lpstr>European Swaptions</vt:lpstr>
      <vt:lpstr>European Swaptions continued (Equation 21.10, page 471)</vt:lpstr>
      <vt:lpstr>Relationship Between Swaptions and Bond Options</vt:lpstr>
      <vt:lpstr>Relationship Between Swaptions and Bond Options (continued) </vt:lpstr>
      <vt:lpstr>Term Structure Models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Interest Rate Options</dc:title>
  <dc:subject>Fundamentals of Futures and Options Markets, 9e</dc:subject>
  <dc:creator>John C. Hull</dc:creator>
  <cp:keywords>Chapter 21</cp:keywords>
  <dc:description>Copyright 2016 by John C. Hull.
All rights reserved. Published 2016.</dc:description>
  <cp:lastModifiedBy>John Hull</cp:lastModifiedBy>
  <cp:revision>51</cp:revision>
  <cp:lastPrinted>1999-07-13T17:25:33Z</cp:lastPrinted>
  <dcterms:created xsi:type="dcterms:W3CDTF">1996-07-04T19:44:46Z</dcterms:created>
  <dcterms:modified xsi:type="dcterms:W3CDTF">2016-01-20T21:05:52Z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