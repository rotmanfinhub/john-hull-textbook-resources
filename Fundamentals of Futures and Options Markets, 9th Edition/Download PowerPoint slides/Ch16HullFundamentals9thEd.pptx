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8.xml" ContentType="application/vnd.openxmlformats-officedocument.presentationml.slide+xml"/>
  <Override PartName="/ppt/slides/slide13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14.xml" ContentType="application/vnd.openxmlformats-officedocument.presentationml.slide+xml"/>
  <Override PartName="/ppt/slides/slide12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1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3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2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1.xml" ContentType="application/vnd.openxmlformats-officedocument.presentationml.slideLayout+xml"/>
  <Override PartName="/ppt/notesSlides/notesSlide23.xml" ContentType="application/vnd.openxmlformats-officedocument.presentationml.notesSlide+xml"/>
  <Override PartName="/ppt/slideLayouts/slideLayout5.xml" ContentType="application/vnd.openxmlformats-officedocument.presentationml.slideLayout+xml"/>
  <Override PartName="/ppt/notesSlides/notesSlide26.xml" ContentType="application/vnd.openxmlformats-officedocument.presentationml.notesSlide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25.xml" ContentType="application/vnd.openxmlformats-officedocument.presentationml.notesSlide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24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3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0" r:id="rId1"/>
  </p:sldMasterIdLst>
  <p:notesMasterIdLst>
    <p:notesMasterId r:id="rId30"/>
  </p:notesMasterIdLst>
  <p:handoutMasterIdLst>
    <p:handoutMasterId r:id="rId31"/>
  </p:handoutMasterIdLst>
  <p:sldIdLst>
    <p:sldId id="297" r:id="rId2"/>
    <p:sldId id="302" r:id="rId3"/>
    <p:sldId id="277" r:id="rId4"/>
    <p:sldId id="278" r:id="rId5"/>
    <p:sldId id="303" r:id="rId6"/>
    <p:sldId id="304" r:id="rId7"/>
    <p:sldId id="279" r:id="rId8"/>
    <p:sldId id="294" r:id="rId9"/>
    <p:sldId id="305" r:id="rId10"/>
    <p:sldId id="280" r:id="rId11"/>
    <p:sldId id="295" r:id="rId12"/>
    <p:sldId id="290" r:id="rId13"/>
    <p:sldId id="306" r:id="rId14"/>
    <p:sldId id="298" r:id="rId15"/>
    <p:sldId id="291" r:id="rId16"/>
    <p:sldId id="300" r:id="rId17"/>
    <p:sldId id="281" r:id="rId18"/>
    <p:sldId id="282" r:id="rId19"/>
    <p:sldId id="283" r:id="rId20"/>
    <p:sldId id="284" r:id="rId21"/>
    <p:sldId id="285" r:id="rId22"/>
    <p:sldId id="286" r:id="rId23"/>
    <p:sldId id="287" r:id="rId24"/>
    <p:sldId id="288" r:id="rId25"/>
    <p:sldId id="292" r:id="rId26"/>
    <p:sldId id="301" r:id="rId27"/>
    <p:sldId id="296" r:id="rId28"/>
    <p:sldId id="293" r:id="rId2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65" autoAdjust="0"/>
    <p:restoredTop sz="94681" autoAdjust="0"/>
  </p:normalViewPr>
  <p:slideViewPr>
    <p:cSldViewPr>
      <p:cViewPr varScale="1">
        <p:scale>
          <a:sx n="122" d="100"/>
          <a:sy n="122" d="100"/>
        </p:scale>
        <p:origin x="1206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38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35395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988" name="Rectangle 4"/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0"/>
            <a:r>
              <a:rPr lang="en-US" noProof="0" smtClean="0"/>
              <a:t>Second level</a:t>
            </a:r>
          </a:p>
          <a:p>
            <a:pPr lvl="0"/>
            <a:r>
              <a:rPr lang="en-US" noProof="0" smtClean="0"/>
              <a:t>Third level</a:t>
            </a:r>
          </a:p>
          <a:p>
            <a:pPr lvl="0"/>
            <a:r>
              <a:rPr lang="en-US" noProof="0" smtClean="0"/>
              <a:t>Fourth level</a:t>
            </a:r>
          </a:p>
          <a:p>
            <a:pPr lvl="0"/>
            <a:r>
              <a:rPr lang="en-US" noProof="0" smtClean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anose="02020603050405020304" pitchFamily="18" charset="0"/>
              </a:defRPr>
            </a:lvl1pPr>
          </a:lstStyle>
          <a:p>
            <a:fld id="{AD7A6227-1BD7-42F2-A27F-DF3340C577B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5358625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4A08D0C-252A-4AF3-8825-1397A2C2F1EC}" type="slidenum">
              <a:rPr lang="en-US" altLang="en-US"/>
              <a:pPr>
                <a:spcBef>
                  <a:spcPct val="0"/>
                </a:spcBef>
              </a:pPr>
              <a:t>1</a:t>
            </a:fld>
            <a:endParaRPr lang="en-US" altLang="en-US"/>
          </a:p>
        </p:txBody>
      </p:sp>
      <p:sp>
        <p:nvSpPr>
          <p:cNvPr id="43011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2924950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FC23A8E-20BE-4AAD-8B7C-9EA7D44A0B36}" type="slidenum">
              <a:rPr lang="en-US" altLang="en-US"/>
              <a:pPr>
                <a:spcBef>
                  <a:spcPct val="0"/>
                </a:spcBef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006056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9AE8A80-31F5-46C6-94BD-27711D6DD9A6}" type="slidenum">
              <a:rPr lang="en-US" altLang="en-US"/>
              <a:pPr>
                <a:spcBef>
                  <a:spcPct val="0"/>
                </a:spcBef>
              </a:pPr>
              <a:t>3</a:t>
            </a:fld>
            <a:endParaRPr lang="en-US" altLang="en-US"/>
          </a:p>
        </p:txBody>
      </p:sp>
      <p:sp>
        <p:nvSpPr>
          <p:cNvPr id="45059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44588" y="687388"/>
            <a:ext cx="4568825" cy="3425825"/>
          </a:xfrm>
          <a:ln w="12700" cap="flat">
            <a:solidFill>
              <a:schemeClr val="tx1"/>
            </a:solidFill>
          </a:ln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14030994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310F147-29A5-40DB-BF6B-2133C88D470C}" type="slidenum">
              <a:rPr lang="en-US" altLang="en-US"/>
              <a:pPr>
                <a:spcBef>
                  <a:spcPct val="0"/>
                </a:spcBef>
              </a:pPr>
              <a:t>4</a:t>
            </a:fld>
            <a:endParaRPr lang="en-US" altLang="en-US"/>
          </a:p>
        </p:txBody>
      </p:sp>
      <p:sp>
        <p:nvSpPr>
          <p:cNvPr id="46083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44588" y="687388"/>
            <a:ext cx="4568825" cy="3425825"/>
          </a:xfrm>
          <a:ln w="12700" cap="flat">
            <a:solidFill>
              <a:schemeClr val="tx1"/>
            </a:solidFill>
          </a:ln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5533029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9D2C19F-F240-4782-B8C5-DE634CB13687}" type="slidenum">
              <a:rPr lang="en-US" altLang="en-US"/>
              <a:pPr>
                <a:spcBef>
                  <a:spcPct val="0"/>
                </a:spcBef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99975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46F3E25-9796-45A8-A465-04FB3C637BFD}" type="slidenum">
              <a:rPr lang="en-US" altLang="en-US"/>
              <a:pPr>
                <a:spcBef>
                  <a:spcPct val="0"/>
                </a:spcBef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78727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D75FF03-AE26-4FC7-B92D-45E07FCC6B80}" type="slidenum">
              <a:rPr lang="en-US" altLang="en-US"/>
              <a:pPr>
                <a:spcBef>
                  <a:spcPct val="0"/>
                </a:spcBef>
              </a:pPr>
              <a:t>7</a:t>
            </a:fld>
            <a:endParaRPr lang="en-US" altLang="en-US"/>
          </a:p>
        </p:txBody>
      </p:sp>
      <p:sp>
        <p:nvSpPr>
          <p:cNvPr id="49155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44588" y="687388"/>
            <a:ext cx="4568825" cy="3425825"/>
          </a:xfrm>
          <a:ln w="12700" cap="flat">
            <a:solidFill>
              <a:schemeClr val="tx1"/>
            </a:solidFill>
          </a:ln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10397351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12A654F-23B9-4932-8402-1D6D035573ED}" type="slidenum">
              <a:rPr lang="en-US" altLang="en-US"/>
              <a:pPr>
                <a:spcBef>
                  <a:spcPct val="0"/>
                </a:spcBef>
              </a:pPr>
              <a:t>8</a:t>
            </a:fld>
            <a:endParaRPr lang="en-US" altLang="en-US"/>
          </a:p>
        </p:txBody>
      </p:sp>
      <p:sp>
        <p:nvSpPr>
          <p:cNvPr id="50179" name="Rectangle 1026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7888864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BD1D68E-987B-4354-812E-EB07B6384B79}" type="slidenum">
              <a:rPr lang="en-US" altLang="en-US"/>
              <a:pPr>
                <a:spcBef>
                  <a:spcPct val="0"/>
                </a:spcBef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12113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B74E7CF-30EC-4F79-AE0F-0ADBEEA16F01}" type="slidenum">
              <a:rPr lang="en-US" altLang="en-US"/>
              <a:pPr>
                <a:spcBef>
                  <a:spcPct val="0"/>
                </a:spcBef>
              </a:pPr>
              <a:t>10</a:t>
            </a:fld>
            <a:endParaRPr lang="en-US" altLang="en-US"/>
          </a:p>
        </p:txBody>
      </p:sp>
      <p:sp>
        <p:nvSpPr>
          <p:cNvPr id="52227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44588" y="687388"/>
            <a:ext cx="4568825" cy="3425825"/>
          </a:xfrm>
          <a:ln w="12700" cap="flat">
            <a:solidFill>
              <a:schemeClr val="tx1"/>
            </a:solidFill>
          </a:ln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6907247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3FCF697-89B8-4A91-B1F3-3AB4B4B4DB65}" type="slidenum">
              <a:rPr lang="en-US" altLang="en-US"/>
              <a:pPr>
                <a:spcBef>
                  <a:spcPct val="0"/>
                </a:spcBef>
              </a:pPr>
              <a:t>11</a:t>
            </a:fld>
            <a:endParaRPr lang="en-US" altLang="en-US"/>
          </a:p>
        </p:txBody>
      </p:sp>
      <p:sp>
        <p:nvSpPr>
          <p:cNvPr id="53251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0302733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3BD98EA-C2A9-4A99-96FE-99A6D7BF705E}" type="slidenum">
              <a:rPr lang="en-US" altLang="en-US"/>
              <a:pPr>
                <a:spcBef>
                  <a:spcPct val="0"/>
                </a:spcBef>
              </a:pPr>
              <a:t>12</a:t>
            </a:fld>
            <a:endParaRPr lang="en-US" altLang="en-US"/>
          </a:p>
        </p:txBody>
      </p:sp>
      <p:sp>
        <p:nvSpPr>
          <p:cNvPr id="54275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44588" y="687388"/>
            <a:ext cx="4568825" cy="3425825"/>
          </a:xfrm>
          <a:ln w="12700" cap="flat">
            <a:solidFill>
              <a:schemeClr val="tx1"/>
            </a:solidFill>
          </a:ln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37647757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2035EB8-057E-453E-AC90-F1B9AD627B28}" type="slidenum">
              <a:rPr lang="en-US" altLang="en-US"/>
              <a:pPr>
                <a:spcBef>
                  <a:spcPct val="0"/>
                </a:spcBef>
              </a:pPr>
              <a:t>13</a:t>
            </a:fld>
            <a:endParaRPr lang="en-US" altLang="en-US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7388"/>
            <a:ext cx="4568825" cy="3425825"/>
          </a:xfrm>
          <a:ln cap="flat">
            <a:solidFill>
              <a:schemeClr val="tx1"/>
            </a:solidFill>
          </a:ln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 eaLnBrk="1" hangingPunct="1">
              <a:spcBef>
                <a:spcPct val="0"/>
              </a:spcBef>
            </a:pPr>
            <a:endParaRPr lang="en-CA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18815646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8DBAD96-EBF7-4CB7-9492-1E71969C9735}" type="slidenum">
              <a:rPr lang="en-US" altLang="en-US"/>
              <a:pPr>
                <a:spcBef>
                  <a:spcPct val="0"/>
                </a:spcBef>
              </a:pPr>
              <a:t>14</a:t>
            </a:fld>
            <a:endParaRPr lang="en-US" altLang="en-US"/>
          </a:p>
        </p:txBody>
      </p:sp>
      <p:sp>
        <p:nvSpPr>
          <p:cNvPr id="56323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9721783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2E4DB1A-6AF4-47DB-9CDF-A7873B14D6B7}" type="slidenum">
              <a:rPr lang="en-US" altLang="en-US"/>
              <a:pPr>
                <a:spcBef>
                  <a:spcPct val="0"/>
                </a:spcBef>
              </a:pPr>
              <a:t>15</a:t>
            </a:fld>
            <a:endParaRPr lang="en-US" altLang="en-US"/>
          </a:p>
        </p:txBody>
      </p:sp>
      <p:sp>
        <p:nvSpPr>
          <p:cNvPr id="57347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44588" y="687388"/>
            <a:ext cx="4568825" cy="3425825"/>
          </a:xfrm>
          <a:ln w="12700" cap="flat">
            <a:solidFill>
              <a:schemeClr val="tx1"/>
            </a:solidFill>
          </a:ln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27455196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583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1994B82-FFE6-4EE3-8A0D-0143E7A6CAFE}" type="slidenum">
              <a:rPr lang="en-US" altLang="en-US"/>
              <a:pPr>
                <a:spcBef>
                  <a:spcPct val="0"/>
                </a:spcBef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516426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5C1FCC9-FAD6-476C-B9D8-534111D2C0C1}" type="slidenum">
              <a:rPr lang="en-US" altLang="en-US"/>
              <a:pPr>
                <a:spcBef>
                  <a:spcPct val="0"/>
                </a:spcBef>
              </a:pPr>
              <a:t>17</a:t>
            </a:fld>
            <a:endParaRPr lang="en-US" altLang="en-US"/>
          </a:p>
        </p:txBody>
      </p:sp>
      <p:sp>
        <p:nvSpPr>
          <p:cNvPr id="59395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44588" y="687388"/>
            <a:ext cx="4568825" cy="3425825"/>
          </a:xfrm>
          <a:ln w="12700" cap="flat">
            <a:solidFill>
              <a:schemeClr val="tx1"/>
            </a:solidFill>
          </a:ln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17692288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A79E7E71-7800-42DB-9370-31674FF1D9B1}" type="slidenum">
              <a:rPr lang="en-US" altLang="en-US"/>
              <a:pPr>
                <a:spcBef>
                  <a:spcPct val="0"/>
                </a:spcBef>
              </a:pPr>
              <a:t>18</a:t>
            </a:fld>
            <a:endParaRPr lang="en-US" altLang="en-US"/>
          </a:p>
        </p:txBody>
      </p:sp>
      <p:sp>
        <p:nvSpPr>
          <p:cNvPr id="60419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44588" y="687388"/>
            <a:ext cx="4568825" cy="3425825"/>
          </a:xfrm>
          <a:ln w="12700" cap="flat">
            <a:solidFill>
              <a:schemeClr val="tx1"/>
            </a:solidFill>
          </a:ln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437777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C121AD6-3EF5-4CB0-B707-7D9D8ADF493E}" type="slidenum">
              <a:rPr lang="en-US" altLang="en-US"/>
              <a:pPr>
                <a:spcBef>
                  <a:spcPct val="0"/>
                </a:spcBef>
              </a:pPr>
              <a:t>19</a:t>
            </a:fld>
            <a:endParaRPr lang="en-US" altLang="en-US"/>
          </a:p>
        </p:txBody>
      </p:sp>
      <p:sp>
        <p:nvSpPr>
          <p:cNvPr id="61443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44588" y="687388"/>
            <a:ext cx="4568825" cy="3425825"/>
          </a:xfrm>
          <a:ln w="12700" cap="flat">
            <a:solidFill>
              <a:schemeClr val="tx1"/>
            </a:solidFill>
          </a:ln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885406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B5C88D2-0666-41D4-A193-0E6EF6A115A7}" type="slidenum">
              <a:rPr lang="en-US" altLang="en-US"/>
              <a:pPr>
                <a:spcBef>
                  <a:spcPct val="0"/>
                </a:spcBef>
              </a:pPr>
              <a:t>20</a:t>
            </a:fld>
            <a:endParaRPr lang="en-US" altLang="en-US"/>
          </a:p>
        </p:txBody>
      </p:sp>
      <p:sp>
        <p:nvSpPr>
          <p:cNvPr id="62467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44588" y="687388"/>
            <a:ext cx="4568825" cy="3425825"/>
          </a:xfrm>
          <a:ln w="12700" cap="flat">
            <a:solidFill>
              <a:schemeClr val="tx1"/>
            </a:solidFill>
          </a:ln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294669562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9E5E704-E619-4C55-9102-5EB6D99AA366}" type="slidenum">
              <a:rPr lang="en-US" altLang="en-US"/>
              <a:pPr>
                <a:spcBef>
                  <a:spcPct val="0"/>
                </a:spcBef>
              </a:pPr>
              <a:t>21</a:t>
            </a:fld>
            <a:endParaRPr lang="en-US" altLang="en-US"/>
          </a:p>
        </p:txBody>
      </p:sp>
      <p:sp>
        <p:nvSpPr>
          <p:cNvPr id="63491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44588" y="687388"/>
            <a:ext cx="4568825" cy="3425825"/>
          </a:xfrm>
          <a:ln w="12700" cap="flat">
            <a:solidFill>
              <a:schemeClr val="tx1"/>
            </a:solidFill>
          </a:ln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44306404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0444CB1-7FA8-4BFD-AB31-E55CC8EA63F6}" type="slidenum">
              <a:rPr lang="en-US" altLang="en-US"/>
              <a:pPr>
                <a:spcBef>
                  <a:spcPct val="0"/>
                </a:spcBef>
              </a:pPr>
              <a:t>22</a:t>
            </a:fld>
            <a:endParaRPr lang="en-US" altLang="en-US"/>
          </a:p>
        </p:txBody>
      </p:sp>
      <p:sp>
        <p:nvSpPr>
          <p:cNvPr id="64515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44588" y="687388"/>
            <a:ext cx="4568825" cy="3425825"/>
          </a:xfrm>
          <a:ln w="12700" cap="flat">
            <a:solidFill>
              <a:schemeClr val="tx1"/>
            </a:solidFill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391023168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6B0192B-9334-4114-9615-CB7E351D5D3F}" type="slidenum">
              <a:rPr lang="en-US" altLang="en-US"/>
              <a:pPr>
                <a:spcBef>
                  <a:spcPct val="0"/>
                </a:spcBef>
              </a:pPr>
              <a:t>23</a:t>
            </a:fld>
            <a:endParaRPr lang="en-US" altLang="en-US"/>
          </a:p>
        </p:txBody>
      </p:sp>
      <p:sp>
        <p:nvSpPr>
          <p:cNvPr id="65539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44588" y="687388"/>
            <a:ext cx="4568825" cy="3425825"/>
          </a:xfrm>
          <a:ln w="12700" cap="flat">
            <a:solidFill>
              <a:schemeClr val="tx1"/>
            </a:solidFill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75452815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95D5F8B-5CB8-429A-A4F9-40FDEF7C567E}" type="slidenum">
              <a:rPr lang="en-US" altLang="en-US"/>
              <a:pPr>
                <a:spcBef>
                  <a:spcPct val="0"/>
                </a:spcBef>
              </a:pPr>
              <a:t>24</a:t>
            </a:fld>
            <a:endParaRPr lang="en-US" altLang="en-US"/>
          </a:p>
        </p:txBody>
      </p:sp>
      <p:sp>
        <p:nvSpPr>
          <p:cNvPr id="66563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44588" y="687388"/>
            <a:ext cx="4568825" cy="3425825"/>
          </a:xfrm>
          <a:ln w="12700" cap="flat">
            <a:solidFill>
              <a:schemeClr val="tx1"/>
            </a:solidFill>
          </a:ln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29312919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14C7869-D428-4550-A0DD-67A5417A2896}" type="slidenum">
              <a:rPr lang="en-US" altLang="en-US"/>
              <a:pPr>
                <a:spcBef>
                  <a:spcPct val="0"/>
                </a:spcBef>
              </a:pPr>
              <a:t>25</a:t>
            </a:fld>
            <a:endParaRPr lang="en-US" altLang="en-US"/>
          </a:p>
        </p:txBody>
      </p:sp>
      <p:sp>
        <p:nvSpPr>
          <p:cNvPr id="67587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44588" y="687388"/>
            <a:ext cx="4568825" cy="3425825"/>
          </a:xfrm>
          <a:ln w="12700" cap="flat">
            <a:solidFill>
              <a:schemeClr val="tx1"/>
            </a:solidFill>
          </a:ln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314722019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86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A75741ED-AF86-438D-A969-284DC84CC232}" type="slidenum">
              <a:rPr lang="en-US" altLang="en-US"/>
              <a:pPr>
                <a:spcBef>
                  <a:spcPct val="0"/>
                </a:spcBef>
              </a:pPr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7073439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6FC20A1-F0A4-4CCA-A348-0CC3D26A8352}" type="slidenum">
              <a:rPr lang="en-US" altLang="en-US"/>
              <a:pPr>
                <a:spcBef>
                  <a:spcPct val="0"/>
                </a:spcBef>
              </a:pPr>
              <a:t>27</a:t>
            </a:fld>
            <a:endParaRPr lang="en-US" altLang="en-US"/>
          </a:p>
        </p:txBody>
      </p:sp>
      <p:sp>
        <p:nvSpPr>
          <p:cNvPr id="69635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53187372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873F33C-F426-4239-AF64-DB7FD6432129}" type="slidenum">
              <a:rPr lang="en-US" altLang="en-US"/>
              <a:pPr>
                <a:spcBef>
                  <a:spcPct val="0"/>
                </a:spcBef>
              </a:pPr>
              <a:t>28</a:t>
            </a:fld>
            <a:endParaRPr lang="en-US" altLang="en-US"/>
          </a:p>
        </p:txBody>
      </p:sp>
      <p:sp>
        <p:nvSpPr>
          <p:cNvPr id="70659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44588" y="687388"/>
            <a:ext cx="4568825" cy="3425825"/>
          </a:xfrm>
          <a:ln w="12700" cap="flat">
            <a:solidFill>
              <a:schemeClr val="tx1"/>
            </a:solidFill>
          </a:ln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22459326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1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2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6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715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17715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4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38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9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23850" y="6248400"/>
            <a:ext cx="7272338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16, Copyright © John C. Hull 2016</a:t>
            </a:r>
            <a:endParaRPr lang="en-US" altLang="en-US" i="0"/>
          </a:p>
        </p:txBody>
      </p:sp>
      <p:sp>
        <p:nvSpPr>
          <p:cNvPr id="40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37288"/>
            <a:ext cx="2133600" cy="468312"/>
          </a:xfrm>
        </p:spPr>
        <p:txBody>
          <a:bodyPr/>
          <a:lstStyle>
            <a:lvl1pPr>
              <a:defRPr/>
            </a:lvl1pPr>
          </a:lstStyle>
          <a:p>
            <a:fld id="{FE643B2D-8ED8-4071-BE4D-B3467673277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50366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16, Copyright © John C. Hull 2016</a:t>
            </a:r>
            <a:endParaRPr lang="en-US" altLang="en-US" i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A9CBD2-0D1D-4B8D-BB96-9D68AEA77E9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23055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16, Copyright © John C. Hull 2016</a:t>
            </a:r>
            <a:endParaRPr lang="en-US" altLang="en-US" i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601AE8-C93E-4916-906C-B331A0A1EB5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5843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16, Copyright © John C. Hull 2016</a:t>
            </a:r>
            <a:endParaRPr lang="en-US" altLang="en-US" i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E395F7-32B0-4C14-BA85-28CCF17D149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1821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16, Copyright © John C. Hull 2016</a:t>
            </a:r>
            <a:endParaRPr lang="en-US" altLang="en-US" i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7052D0-857E-4582-BB84-599082D48EB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696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16, Copyright © John C. Hull 2016</a:t>
            </a:r>
            <a:endParaRPr lang="en-US" altLang="en-US" i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E7476C-DBD8-4803-8C51-7EF2564FAA5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03535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16, Copyright © John C. Hull 2016</a:t>
            </a:r>
            <a:endParaRPr lang="en-US" altLang="en-US" i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5B924B-E9E7-4815-9CE4-72ABC7FEAC5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1496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16, Copyright © John C. Hull 2016</a:t>
            </a:r>
            <a:endParaRPr lang="en-US" altLang="en-US" i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D4C5E68-1A31-45F4-9459-EA1CD16BECD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90297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16, Copyright © John C. Hull 2016</a:t>
            </a:r>
            <a:endParaRPr lang="en-US" altLang="en-US" i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9C6C7A-A1E4-4EAD-B750-3E3B27F4877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062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16, Copyright © John C. Hull 2016</a:t>
            </a:r>
            <a:endParaRPr lang="en-US" altLang="en-US" i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FDA4C1-5AEC-45BB-A79B-84AE14D8808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25296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16, Copyright © John C. Hull 2016</a:t>
            </a:r>
            <a:endParaRPr lang="en-US" altLang="en-US" i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99EDA5-4F7B-4D3E-9A97-38407C84015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68461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7613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7613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50825" y="6248400"/>
            <a:ext cx="75612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i="1" smtClean="0">
                <a:latin typeface="Arial" pitchFamily="34" charset="0"/>
              </a:defRPr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16, Copyright © John C. Hull 2016</a:t>
            </a:r>
            <a:endParaRPr lang="en-US" altLang="en-US"/>
          </a:p>
        </p:txBody>
      </p:sp>
      <p:sp>
        <p:nvSpPr>
          <p:cNvPr id="17613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b="1"/>
            </a:lvl1pPr>
          </a:lstStyle>
          <a:p>
            <a:fld id="{E46D495E-523C-4FD7-BBD7-1F3F9A227CA9}" type="slidenum">
              <a:rPr lang="en-US" altLang="en-US"/>
              <a:pPr/>
              <a:t>‹#›</a:t>
            </a:fld>
            <a:endParaRPr lang="en-US" altLang="en-US"/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033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34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35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76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36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37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79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38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76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39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74" cy="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0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7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1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79" cy="7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2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76" cy="7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3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74" cy="7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4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7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5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6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7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76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8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74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9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0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1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76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2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74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3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4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5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6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76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7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74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8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9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79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60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76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61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74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62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63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74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iming>
    <p:tnLst>
      <p:par>
        <p:cTn id="1" dur="indefinite" restart="never" nodeType="tmRoot"/>
      </p:par>
    </p:tnLst>
  </p:timing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800">
          <a:solidFill>
            <a:schemeClr val="tx1"/>
          </a:solidFill>
          <a:latin typeface="+mn-lt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400">
          <a:solidFill>
            <a:schemeClr val="tx1"/>
          </a:solidFill>
          <a:latin typeface="+mn-lt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.wmf"/><Relationship Id="rId4" Type="http://schemas.openxmlformats.org/officeDocument/2006/relationships/oleObject" Target="../embeddings/oleObject1.bin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2.bin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3.wmf"/><Relationship Id="rId4" Type="http://schemas.openxmlformats.org/officeDocument/2006/relationships/oleObject" Target="../embeddings/oleObject3.bin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7" Type="http://schemas.openxmlformats.org/officeDocument/2006/relationships/image" Target="../media/image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4.wmf"/><Relationship Id="rId4" Type="http://schemas.openxmlformats.org/officeDocument/2006/relationships/oleObject" Target="../embeddings/oleObject4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6.wmf"/><Relationship Id="rId4" Type="http://schemas.openxmlformats.org/officeDocument/2006/relationships/oleObject" Target="../embeddings/oleObject6.bin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23850" y="6248400"/>
            <a:ext cx="7605713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16, Copyright © John C. Hull 2016</a:t>
            </a:r>
            <a:endParaRPr lang="en-US" altLang="en-US" sz="1400" i="0"/>
          </a:p>
        </p:txBody>
      </p:sp>
      <p:sp>
        <p:nvSpPr>
          <p:cNvPr id="13315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Futures Options and Black’s Model</a:t>
            </a:r>
          </a:p>
        </p:txBody>
      </p:sp>
      <p:sp>
        <p:nvSpPr>
          <p:cNvPr id="13316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Chapter 16</a:t>
            </a:r>
          </a:p>
        </p:txBody>
      </p:sp>
      <p:sp>
        <p:nvSpPr>
          <p:cNvPr id="1331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B4C1ECF-63DA-4BFE-8CF8-F134853EBBEF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Options on Futures</a:t>
            </a:r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cs typeface="Arial" panose="020B0604020202020204" pitchFamily="34" charset="0"/>
              </a:rPr>
              <a:t>Referred to by the maturity month of the underlying futures </a:t>
            </a:r>
          </a:p>
          <a:p>
            <a:pPr eaLnBrk="1" hangingPunct="1"/>
            <a:r>
              <a:rPr lang="en-US" altLang="en-US" smtClean="0">
                <a:cs typeface="Arial" panose="020B0604020202020204" pitchFamily="34" charset="0"/>
              </a:rPr>
              <a:t>The option is American and usually expires on or a few days before the earliest delivery date of the underlying futures contract</a:t>
            </a:r>
          </a:p>
        </p:txBody>
      </p:sp>
      <p:sp>
        <p:nvSpPr>
          <p:cNvPr id="1434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>
                <a:cs typeface="Arial" panose="020B0604020202020204" pitchFamily="34" charset="0"/>
              </a:rPr>
              <a:t>Fundamentals of Futures and Options Markets, 9th Ed, Ch 16, Copyright © John C. Hull 2016</a:t>
            </a:r>
            <a:endParaRPr lang="en-US" altLang="en-US" sz="1400">
              <a:cs typeface="Arial" panose="020B0604020202020204" pitchFamily="34" charset="0"/>
            </a:endParaRPr>
          </a:p>
        </p:txBody>
      </p:sp>
      <p:sp>
        <p:nvSpPr>
          <p:cNvPr id="1434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98F92A8-CA23-49DF-8BB8-9A03DC0BD16C}" type="slidenum">
              <a:rPr lang="en-US" altLang="en-US" sz="1800">
                <a:cs typeface="Arial" panose="020B0604020202020204" pitchFamily="34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800"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16, Copyright © John C. Hull 2016</a:t>
            </a:r>
            <a:endParaRPr lang="en-US" altLang="en-US" sz="1400" i="0"/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74638"/>
            <a:ext cx="7126288" cy="12065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z="3500" smtClean="0"/>
              <a:t>Mechanics of Call Futures Options</a:t>
            </a:r>
          </a:p>
        </p:txBody>
      </p:sp>
      <p:sp>
        <p:nvSpPr>
          <p:cNvPr id="1843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0" y="2133600"/>
            <a:ext cx="7907338" cy="3937000"/>
          </a:xfrm>
        </p:spPr>
        <p:txBody>
          <a:bodyPr lIns="92075" tIns="46038" rIns="92075" bIns="46038"/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dirty="0" smtClean="0"/>
              <a:t>	When a call futures option is exercised the holder acquires </a:t>
            </a:r>
          </a:p>
          <a:p>
            <a:pPr marL="514350" indent="-514350" eaLnBrk="1" hangingPunct="1">
              <a:buFont typeface="+mj-lt"/>
              <a:buAutoNum type="arabicPeriod"/>
              <a:defRPr/>
            </a:pPr>
            <a:r>
              <a:rPr lang="en-US" sz="2800" dirty="0" smtClean="0"/>
              <a:t>A long position in the futures</a:t>
            </a:r>
          </a:p>
          <a:p>
            <a:pPr marL="514350" indent="-514350" eaLnBrk="1" hangingPunct="1">
              <a:buFont typeface="+mj-lt"/>
              <a:buAutoNum type="arabicPeriod"/>
              <a:defRPr/>
            </a:pPr>
            <a:r>
              <a:rPr lang="en-US" sz="2800" dirty="0" smtClean="0"/>
              <a:t>A cash amount equal to the excess of the futures price at the most recent settlement over the strike price</a:t>
            </a:r>
          </a:p>
        </p:txBody>
      </p:sp>
      <p:sp>
        <p:nvSpPr>
          <p:cNvPr id="1536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6CA3198-6377-473B-A8E1-A4B51E57FCB0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16, Copyright © John C. Hull 2016</a:t>
            </a:r>
            <a:endParaRPr lang="en-US" altLang="en-US" sz="1400" i="0"/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Mechanics of Put Futures Option</a:t>
            </a:r>
          </a:p>
        </p:txBody>
      </p:sp>
      <p:sp>
        <p:nvSpPr>
          <p:cNvPr id="1946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046288"/>
            <a:ext cx="8229600" cy="4084637"/>
          </a:xfrm>
        </p:spPr>
        <p:txBody>
          <a:bodyPr lIns="92075" tIns="46038" rIns="92075" bIns="46038"/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dirty="0" smtClean="0"/>
              <a:t>	When a put futures option is exercised the holder acquires</a:t>
            </a:r>
          </a:p>
          <a:p>
            <a:pPr marL="514350" indent="-514350" eaLnBrk="1" hangingPunct="1">
              <a:buFont typeface="+mj-lt"/>
              <a:buAutoNum type="arabicPeriod"/>
              <a:defRPr/>
            </a:pPr>
            <a:r>
              <a:rPr lang="en-US" sz="2800" dirty="0" smtClean="0"/>
              <a:t>A short position in the futures</a:t>
            </a:r>
          </a:p>
          <a:p>
            <a:pPr marL="514350" indent="-514350" eaLnBrk="1" hangingPunct="1">
              <a:buFont typeface="+mj-lt"/>
              <a:buAutoNum type="arabicPeriod"/>
              <a:defRPr/>
            </a:pPr>
            <a:r>
              <a:rPr lang="en-US" sz="2800" dirty="0" smtClean="0"/>
              <a:t>A cash amount equal to the excess of the strike price over the futures price at the most recent settlement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sz="2800" dirty="0" smtClean="0"/>
              <a:t>	</a:t>
            </a:r>
          </a:p>
        </p:txBody>
      </p:sp>
      <p:sp>
        <p:nvSpPr>
          <p:cNvPr id="1638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8254AC9-C340-4CF6-8F7C-17472540F119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323850" y="0"/>
            <a:ext cx="7772400" cy="1143000"/>
          </a:xfrm>
        </p:spPr>
        <p:txBody>
          <a:bodyPr/>
          <a:lstStyle/>
          <a:p>
            <a:pPr eaLnBrk="1" hangingPunct="1"/>
            <a:r>
              <a:rPr lang="en-CA" altLang="en-US" smtClean="0"/>
              <a:t>Example 16.1 </a:t>
            </a:r>
            <a:r>
              <a:rPr lang="en-CA" altLang="en-US" sz="2000" smtClean="0"/>
              <a:t>(page 345)</a:t>
            </a:r>
            <a:endParaRPr lang="en-US" altLang="en-US" sz="2000" smtClean="0"/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>
          <a:xfrm>
            <a:off x="179388" y="1484313"/>
            <a:ext cx="8229600" cy="4411662"/>
          </a:xfrm>
        </p:spPr>
        <p:txBody>
          <a:bodyPr/>
          <a:lstStyle/>
          <a:p>
            <a:pPr eaLnBrk="1" hangingPunct="1"/>
            <a:r>
              <a:rPr lang="en-CA" altLang="en-US" smtClean="0">
                <a:cs typeface="Arial" panose="020B0604020202020204" pitchFamily="34" charset="0"/>
              </a:rPr>
              <a:t>July call option contract on gold futures has a strike of $1200 per ounce. It is exercised when futures price is $1,240 and most recent settlement is $1,238. One contract is on 100 ounces</a:t>
            </a:r>
          </a:p>
          <a:p>
            <a:pPr eaLnBrk="1" hangingPunct="1"/>
            <a:r>
              <a:rPr lang="en-CA" altLang="en-US" smtClean="0">
                <a:cs typeface="Arial" panose="020B0604020202020204" pitchFamily="34" charset="0"/>
              </a:rPr>
              <a:t>Trader receives</a:t>
            </a:r>
          </a:p>
          <a:p>
            <a:pPr lvl="1" eaLnBrk="1" hangingPunct="1"/>
            <a:r>
              <a:rPr lang="en-CA" altLang="en-US" smtClean="0">
                <a:cs typeface="Arial" panose="020B0604020202020204" pitchFamily="34" charset="0"/>
              </a:rPr>
              <a:t>Long July futures contract on gold</a:t>
            </a:r>
          </a:p>
          <a:p>
            <a:pPr lvl="1" eaLnBrk="1" hangingPunct="1"/>
            <a:r>
              <a:rPr lang="en-CA" altLang="en-US" smtClean="0">
                <a:cs typeface="Arial" panose="020B0604020202020204" pitchFamily="34" charset="0"/>
              </a:rPr>
              <a:t>$3,800 in cash</a:t>
            </a:r>
            <a:endParaRPr lang="en-US" altLang="en-US" smtClean="0">
              <a:cs typeface="Arial" panose="020B0604020202020204" pitchFamily="34" charset="0"/>
            </a:endParaRPr>
          </a:p>
        </p:txBody>
      </p:sp>
      <p:sp>
        <p:nvSpPr>
          <p:cNvPr id="1741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>
                <a:cs typeface="Arial" panose="020B0604020202020204" pitchFamily="34" charset="0"/>
              </a:rPr>
              <a:t>Fundamentals of Futures and Options Markets, 9th Ed, Ch 16, Copyright © John C. Hull 2016</a:t>
            </a:r>
            <a:endParaRPr lang="en-US" altLang="en-US" sz="1400">
              <a:cs typeface="Arial" panose="020B0604020202020204" pitchFamily="34" charset="0"/>
            </a:endParaRPr>
          </a:p>
        </p:txBody>
      </p:sp>
      <p:sp>
        <p:nvSpPr>
          <p:cNvPr id="1741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ED83132-447F-494F-8C61-524ED419EB23}" type="slidenum">
              <a:rPr lang="en-US" altLang="en-US" sz="1800">
                <a:cs typeface="Arial" panose="020B0604020202020204" pitchFamily="34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800"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250825" y="-100013"/>
            <a:ext cx="7543800" cy="1295401"/>
          </a:xfrm>
        </p:spPr>
        <p:txBody>
          <a:bodyPr/>
          <a:lstStyle/>
          <a:p>
            <a:pPr eaLnBrk="1" hangingPunct="1"/>
            <a:r>
              <a:rPr lang="en-CA" altLang="en-US" smtClean="0"/>
              <a:t>Example 16.2 </a:t>
            </a:r>
            <a:r>
              <a:rPr lang="en-CA" altLang="en-US" sz="2000" smtClean="0"/>
              <a:t>(page 346)</a:t>
            </a:r>
            <a:endParaRPr lang="en-US" altLang="en-US" sz="2000" smtClean="0"/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395288" y="1412875"/>
            <a:ext cx="8229600" cy="4411663"/>
          </a:xfrm>
        </p:spPr>
        <p:txBody>
          <a:bodyPr/>
          <a:lstStyle/>
          <a:p>
            <a:pPr eaLnBrk="1" hangingPunct="1"/>
            <a:r>
              <a:rPr lang="en-CA" altLang="en-US" smtClean="0">
                <a:cs typeface="Arial" panose="020B0604020202020204" pitchFamily="34" charset="0"/>
              </a:rPr>
              <a:t>Sept put option contract on corn futures has a strike price of 300 cents per bushel. </a:t>
            </a:r>
          </a:p>
          <a:p>
            <a:pPr eaLnBrk="1" hangingPunct="1"/>
            <a:r>
              <a:rPr lang="en-CA" altLang="en-US" smtClean="0">
                <a:cs typeface="Arial" panose="020B0604020202020204" pitchFamily="34" charset="0"/>
              </a:rPr>
              <a:t>It is exercised when the futures price is 280 cents per bushel and the most recent settlement price is 279 cents per bushel. One contract is on 5000 bushels</a:t>
            </a:r>
          </a:p>
          <a:p>
            <a:pPr eaLnBrk="1" hangingPunct="1"/>
            <a:r>
              <a:rPr lang="en-CA" altLang="en-US" smtClean="0">
                <a:cs typeface="Arial" panose="020B0604020202020204" pitchFamily="34" charset="0"/>
              </a:rPr>
              <a:t>Trader receives </a:t>
            </a:r>
          </a:p>
          <a:p>
            <a:pPr lvl="1" eaLnBrk="1" hangingPunct="1"/>
            <a:r>
              <a:rPr lang="en-CA" altLang="en-US" smtClean="0">
                <a:cs typeface="Arial" panose="020B0604020202020204" pitchFamily="34" charset="0"/>
              </a:rPr>
              <a:t>Short Sept futures contract on corn</a:t>
            </a:r>
          </a:p>
          <a:p>
            <a:pPr lvl="1" eaLnBrk="1" hangingPunct="1"/>
            <a:r>
              <a:rPr lang="en-CA" altLang="en-US" smtClean="0">
                <a:cs typeface="Arial" panose="020B0604020202020204" pitchFamily="34" charset="0"/>
              </a:rPr>
              <a:t>$1,050 in cash</a:t>
            </a:r>
          </a:p>
          <a:p>
            <a:pPr eaLnBrk="1" hangingPunct="1">
              <a:buFontTx/>
              <a:buNone/>
            </a:pPr>
            <a:endParaRPr lang="en-CA" altLang="en-US" smtClean="0">
              <a:cs typeface="Arial" panose="020B0604020202020204" pitchFamily="34" charset="0"/>
            </a:endParaRPr>
          </a:p>
          <a:p>
            <a:pPr eaLnBrk="1" hangingPunct="1"/>
            <a:endParaRPr lang="en-CA" altLang="en-US" smtClean="0">
              <a:cs typeface="Arial" panose="020B0604020202020204" pitchFamily="34" charset="0"/>
            </a:endParaRPr>
          </a:p>
          <a:p>
            <a:pPr lvl="1" eaLnBrk="1" hangingPunct="1"/>
            <a:endParaRPr lang="en-US" altLang="en-US" smtClean="0">
              <a:cs typeface="Arial" panose="020B0604020202020204" pitchFamily="34" charset="0"/>
            </a:endParaRPr>
          </a:p>
        </p:txBody>
      </p:sp>
      <p:sp>
        <p:nvSpPr>
          <p:cNvPr id="1843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>
                <a:cs typeface="Arial" panose="020B0604020202020204" pitchFamily="34" charset="0"/>
              </a:rPr>
              <a:t>Fundamentals of Futures and Options Markets, 9th Ed, Ch 16, Copyright © John C. Hull 2016</a:t>
            </a:r>
            <a:endParaRPr lang="en-US" altLang="en-US" sz="1400">
              <a:cs typeface="Arial" panose="020B0604020202020204" pitchFamily="34" charset="0"/>
            </a:endParaRPr>
          </a:p>
        </p:txBody>
      </p:sp>
      <p:sp>
        <p:nvSpPr>
          <p:cNvPr id="1843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9062147-4184-4002-9476-6BF96CFF02BE}" type="slidenum">
              <a:rPr lang="en-US" altLang="en-US" sz="1800">
                <a:cs typeface="Arial" panose="020B0604020202020204" pitchFamily="34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800"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16, Copyright © John C. Hull 2016</a:t>
            </a:r>
            <a:endParaRPr lang="en-US" altLang="en-US" sz="1400" i="0"/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The Payoffs</a:t>
            </a:r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mtClean="0"/>
              <a:t>	If the futures position is closed out immediately: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mtClean="0"/>
              <a:t>	Payoff from call = </a:t>
            </a:r>
            <a:r>
              <a:rPr lang="en-US" altLang="en-US" i="1" smtClean="0">
                <a:latin typeface="Times New Roman" panose="02020603050405020304" pitchFamily="18" charset="0"/>
              </a:rPr>
              <a:t>F </a:t>
            </a:r>
            <a:r>
              <a:rPr lang="en-US" altLang="en-US" smtClean="0">
                <a:latin typeface="Times New Roman" panose="02020603050405020304" pitchFamily="18" charset="0"/>
              </a:rPr>
              <a:t>–</a:t>
            </a:r>
            <a:r>
              <a:rPr lang="en-US" altLang="en-US" i="1" smtClean="0">
                <a:latin typeface="Times New Roman" panose="02020603050405020304" pitchFamily="18" charset="0"/>
              </a:rPr>
              <a:t> K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mtClean="0"/>
              <a:t>	Payoff from put = </a:t>
            </a:r>
            <a:r>
              <a:rPr lang="en-US" altLang="en-US" i="1" smtClean="0">
                <a:latin typeface="Times New Roman" panose="02020603050405020304" pitchFamily="18" charset="0"/>
              </a:rPr>
              <a:t>K </a:t>
            </a:r>
            <a:r>
              <a:rPr lang="en-US" altLang="en-US" smtClean="0">
                <a:latin typeface="Times New Roman" panose="02020603050405020304" pitchFamily="18" charset="0"/>
              </a:rPr>
              <a:t>– </a:t>
            </a:r>
            <a:r>
              <a:rPr lang="en-US" altLang="en-US" i="1" smtClean="0">
                <a:latin typeface="Times New Roman" panose="02020603050405020304" pitchFamily="18" charset="0"/>
              </a:rPr>
              <a:t>F</a:t>
            </a:r>
            <a:endParaRPr lang="en-US" altLang="en-US" i="1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i="1" smtClean="0"/>
              <a:t>	</a:t>
            </a:r>
            <a:r>
              <a:rPr lang="en-US" altLang="en-US" smtClean="0"/>
              <a:t>where </a:t>
            </a:r>
            <a:r>
              <a:rPr lang="en-US" altLang="en-US" i="1" smtClean="0">
                <a:latin typeface="Times New Roman" panose="02020603050405020304" pitchFamily="18" charset="0"/>
              </a:rPr>
              <a:t>F</a:t>
            </a:r>
            <a:r>
              <a:rPr lang="en-US" altLang="en-US" smtClean="0"/>
              <a:t> is futures price at time of exercise</a:t>
            </a:r>
          </a:p>
        </p:txBody>
      </p:sp>
      <p:sp>
        <p:nvSpPr>
          <p:cNvPr id="1946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345836C-F0AB-4CC6-A3DB-8496917E3DD0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16, Copyright © John C. Hull 2016</a:t>
            </a:r>
            <a:endParaRPr lang="en-US" altLang="en-US" sz="1400" i="0"/>
          </a:p>
        </p:txBody>
      </p:sp>
      <p:sp>
        <p:nvSpPr>
          <p:cNvPr id="20483" name="Rectangle 1026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altLang="en-US" sz="3500" smtClean="0"/>
              <a:t>Potential Advantages of Futures</a:t>
            </a:r>
            <a:br>
              <a:rPr lang="en-US" altLang="en-US" sz="3500" smtClean="0"/>
            </a:br>
            <a:r>
              <a:rPr lang="en-US" altLang="en-US" sz="3500" smtClean="0"/>
              <a:t>Options over Spot Options</a:t>
            </a:r>
          </a:p>
        </p:txBody>
      </p:sp>
      <p:sp>
        <p:nvSpPr>
          <p:cNvPr id="20484" name="Rectangle 1027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pPr eaLnBrk="1" hangingPunct="1"/>
            <a:r>
              <a:rPr lang="en-US" altLang="en-US" sz="2800" smtClean="0"/>
              <a:t>Futures contract may be easier to trade than underlying asset</a:t>
            </a:r>
          </a:p>
          <a:p>
            <a:pPr eaLnBrk="1" hangingPunct="1"/>
            <a:r>
              <a:rPr lang="en-US" altLang="en-US" sz="2800" smtClean="0"/>
              <a:t>Exercise of the option does not lead to delivery of the underlying asset </a:t>
            </a:r>
          </a:p>
          <a:p>
            <a:pPr eaLnBrk="1" hangingPunct="1"/>
            <a:r>
              <a:rPr lang="en-US" altLang="en-US" sz="2800" smtClean="0"/>
              <a:t>Futures options and futures usually trade on the same exchange</a:t>
            </a:r>
          </a:p>
          <a:p>
            <a:pPr eaLnBrk="1" hangingPunct="1"/>
            <a:r>
              <a:rPr lang="en-US" altLang="en-US" sz="2800" smtClean="0"/>
              <a:t>Futures options may entail lower transactions costs  </a:t>
            </a:r>
          </a:p>
        </p:txBody>
      </p:sp>
      <p:sp>
        <p:nvSpPr>
          <p:cNvPr id="2048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B87873F-A9DF-4047-9955-4334741226F8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European Futures Options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cs typeface="Arial" panose="020B0604020202020204" pitchFamily="34" charset="0"/>
              </a:rPr>
              <a:t>European futures options and spot options are equivalent when futures contract matures at the same time as the option</a:t>
            </a:r>
          </a:p>
          <a:p>
            <a:pPr eaLnBrk="1" hangingPunct="1"/>
            <a:r>
              <a:rPr lang="en-US" altLang="en-US" smtClean="0">
                <a:cs typeface="Arial" panose="020B0604020202020204" pitchFamily="34" charset="0"/>
              </a:rPr>
              <a:t> It is common to regard European spot options as European futures options when they are valued in the over-the-counter markets</a:t>
            </a:r>
          </a:p>
        </p:txBody>
      </p:sp>
      <p:sp>
        <p:nvSpPr>
          <p:cNvPr id="2150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>
                <a:cs typeface="Arial" panose="020B0604020202020204" pitchFamily="34" charset="0"/>
              </a:rPr>
              <a:t>Fundamentals of Futures and Options Markets, 9th Ed, Ch 16, Copyright © John C. Hull 2016</a:t>
            </a:r>
            <a:endParaRPr lang="en-US" altLang="en-US" sz="1400">
              <a:cs typeface="Arial" panose="020B0604020202020204" pitchFamily="34" charset="0"/>
            </a:endParaRPr>
          </a:p>
        </p:txBody>
      </p:sp>
      <p:sp>
        <p:nvSpPr>
          <p:cNvPr id="2150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9FF0E31-3D88-4888-9284-A2B8FC2E430F}" type="slidenum">
              <a:rPr lang="en-US" altLang="en-US" sz="1800">
                <a:cs typeface="Arial" panose="020B0604020202020204" pitchFamily="34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800"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16, Copyright © John C. Hull 2016</a:t>
            </a:r>
            <a:endParaRPr lang="en-US" altLang="en-US" sz="1400" i="0"/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Put-Call Parity for European Futures Options </a:t>
            </a:r>
            <a:r>
              <a:rPr lang="en-US" altLang="en-US" sz="2200" smtClean="0"/>
              <a:t>(Equation 16.1, page 348)</a:t>
            </a:r>
            <a:endParaRPr lang="en-US" altLang="en-US" smtClean="0"/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mtClean="0"/>
              <a:t>	Consider the following two portfolios: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mtClean="0"/>
              <a:t>	1. 	European call plus </a:t>
            </a:r>
            <a:r>
              <a:rPr lang="en-US" altLang="en-US" i="1" smtClean="0">
                <a:latin typeface="Times New Roman" panose="02020603050405020304" pitchFamily="18" charset="0"/>
              </a:rPr>
              <a:t>Ke</a:t>
            </a:r>
            <a:r>
              <a:rPr lang="en-US" altLang="en-US" i="1" baseline="30000" smtClean="0">
                <a:latin typeface="Times New Roman" panose="02020603050405020304" pitchFamily="18" charset="0"/>
              </a:rPr>
              <a:t>-rT</a:t>
            </a:r>
            <a:r>
              <a:rPr lang="en-US" altLang="en-US" smtClean="0"/>
              <a:t> of cash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mtClean="0"/>
              <a:t>   2. 	European put plus long futures plus 	cash equal to </a:t>
            </a:r>
            <a:r>
              <a:rPr lang="en-US" altLang="en-US" i="1" smtClean="0">
                <a:latin typeface="Times New Roman" panose="02020603050405020304" pitchFamily="18" charset="0"/>
              </a:rPr>
              <a:t>F</a:t>
            </a:r>
            <a:r>
              <a:rPr lang="en-US" altLang="en-US" baseline="-25000" smtClean="0">
                <a:latin typeface="Times New Roman" panose="02020603050405020304" pitchFamily="18" charset="0"/>
              </a:rPr>
              <a:t>0</a:t>
            </a:r>
            <a:r>
              <a:rPr lang="en-US" altLang="en-US" i="1" smtClean="0">
                <a:latin typeface="Times New Roman" panose="02020603050405020304" pitchFamily="18" charset="0"/>
              </a:rPr>
              <a:t>e</a:t>
            </a:r>
            <a:r>
              <a:rPr lang="en-US" altLang="en-US" i="1" baseline="30000" smtClean="0">
                <a:latin typeface="Times New Roman" panose="02020603050405020304" pitchFamily="18" charset="0"/>
              </a:rPr>
              <a:t>-rT</a:t>
            </a:r>
            <a:r>
              <a:rPr lang="en-US" altLang="en-US" smtClean="0"/>
              <a:t>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mtClean="0"/>
              <a:t>	They must be worth the same at time </a:t>
            </a:r>
            <a:r>
              <a:rPr lang="en-US" altLang="en-US" i="1" smtClean="0">
                <a:latin typeface="Times New Roman" panose="02020603050405020304" pitchFamily="18" charset="0"/>
              </a:rPr>
              <a:t>T</a:t>
            </a:r>
            <a:r>
              <a:rPr lang="en-US" altLang="en-US" i="1" smtClean="0"/>
              <a:t> </a:t>
            </a:r>
            <a:r>
              <a:rPr lang="en-US" altLang="en-US" smtClean="0"/>
              <a:t>so that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 i="1" smtClean="0">
                <a:latin typeface="Times New Roman" panose="02020603050405020304" pitchFamily="18" charset="0"/>
              </a:rPr>
              <a:t>c + Ke</a:t>
            </a:r>
            <a:r>
              <a:rPr lang="en-US" altLang="en-US" i="1" baseline="30000" smtClean="0">
                <a:latin typeface="Times New Roman" panose="02020603050405020304" pitchFamily="18" charset="0"/>
              </a:rPr>
              <a:t>-rT </a:t>
            </a:r>
            <a:r>
              <a:rPr lang="en-US" altLang="en-US" i="1" smtClean="0">
                <a:latin typeface="Times New Roman" panose="02020603050405020304" pitchFamily="18" charset="0"/>
              </a:rPr>
              <a:t>= p + F</a:t>
            </a:r>
            <a:r>
              <a:rPr lang="en-US" altLang="en-US" baseline="-25000" smtClean="0">
                <a:latin typeface="Times New Roman" panose="02020603050405020304" pitchFamily="18" charset="0"/>
              </a:rPr>
              <a:t>0</a:t>
            </a:r>
            <a:r>
              <a:rPr lang="en-US" altLang="en-US" i="1" smtClean="0">
                <a:latin typeface="Times New Roman" panose="02020603050405020304" pitchFamily="18" charset="0"/>
              </a:rPr>
              <a:t> e</a:t>
            </a:r>
            <a:r>
              <a:rPr lang="en-US" altLang="en-US" i="1" baseline="30000" smtClean="0">
                <a:latin typeface="Times New Roman" panose="02020603050405020304" pitchFamily="18" charset="0"/>
              </a:rPr>
              <a:t>-rT</a:t>
            </a:r>
          </a:p>
        </p:txBody>
      </p:sp>
      <p:sp>
        <p:nvSpPr>
          <p:cNvPr id="2253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8769C44-9136-454E-9975-9E7E47FB9E63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16, Copyright © John C. Hull 2016</a:t>
            </a:r>
            <a:endParaRPr lang="en-US" altLang="en-US" sz="1400" i="0"/>
          </a:p>
        </p:txBody>
      </p:sp>
      <p:sp>
        <p:nvSpPr>
          <p:cNvPr id="23555" name="Rectangle 1026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altLang="en-US" smtClean="0"/>
              <a:t>Other Relations</a:t>
            </a:r>
          </a:p>
        </p:txBody>
      </p:sp>
      <p:sp>
        <p:nvSpPr>
          <p:cNvPr id="23556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457200" y="1978025"/>
            <a:ext cx="8229600" cy="4152900"/>
          </a:xfrm>
          <a:noFill/>
        </p:spPr>
        <p:txBody>
          <a:bodyPr lIns="90488" tIns="44450" rIns="90488" bIns="44450"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mtClean="0"/>
              <a:t>		</a:t>
            </a:r>
            <a:r>
              <a:rPr lang="en-US" altLang="en-US" i="1" smtClean="0">
                <a:latin typeface="Times New Roman" panose="02020603050405020304" pitchFamily="18" charset="0"/>
              </a:rPr>
              <a:t>F</a:t>
            </a:r>
            <a:r>
              <a:rPr lang="en-US" altLang="en-US" baseline="-25000" smtClean="0">
                <a:latin typeface="Times New Roman" panose="02020603050405020304" pitchFamily="18" charset="0"/>
              </a:rPr>
              <a:t>0</a:t>
            </a:r>
            <a:r>
              <a:rPr lang="en-US" altLang="en-US" i="1" smtClean="0">
                <a:latin typeface="Times New Roman" panose="02020603050405020304" pitchFamily="18" charset="0"/>
              </a:rPr>
              <a:t> e</a:t>
            </a:r>
            <a:r>
              <a:rPr lang="en-US" altLang="en-US" i="1" baseline="30000" smtClean="0">
                <a:latin typeface="Times New Roman" panose="02020603050405020304" pitchFamily="18" charset="0"/>
              </a:rPr>
              <a:t>-rT</a:t>
            </a:r>
            <a:r>
              <a:rPr lang="en-US" altLang="en-US" i="1" smtClean="0">
                <a:latin typeface="Times New Roman" panose="02020603050405020304" pitchFamily="18" charset="0"/>
              </a:rPr>
              <a:t> </a:t>
            </a:r>
            <a:r>
              <a:rPr lang="en-US" altLang="en-US" smtClean="0">
                <a:latin typeface="Times New Roman" panose="02020603050405020304" pitchFamily="18" charset="0"/>
              </a:rPr>
              <a:t>–</a:t>
            </a:r>
            <a:r>
              <a:rPr lang="en-US" altLang="en-US" i="1" smtClean="0">
                <a:latin typeface="Times New Roman" panose="02020603050405020304" pitchFamily="18" charset="0"/>
              </a:rPr>
              <a:t> K</a:t>
            </a:r>
            <a:r>
              <a:rPr lang="en-US" altLang="en-US" i="1" smtClean="0"/>
              <a:t> &lt; </a:t>
            </a:r>
            <a:r>
              <a:rPr lang="en-US" altLang="en-US" i="1" smtClean="0">
                <a:latin typeface="Times New Roman" panose="02020603050405020304" pitchFamily="18" charset="0"/>
              </a:rPr>
              <a:t>C  </a:t>
            </a:r>
            <a:r>
              <a:rPr lang="en-US" altLang="en-US" smtClean="0">
                <a:latin typeface="Times New Roman" panose="02020603050405020304" pitchFamily="18" charset="0"/>
              </a:rPr>
              <a:t>–</a:t>
            </a:r>
            <a:r>
              <a:rPr lang="en-US" altLang="en-US" i="1" smtClean="0">
                <a:latin typeface="Times New Roman" panose="02020603050405020304" pitchFamily="18" charset="0"/>
              </a:rPr>
              <a:t> P</a:t>
            </a:r>
            <a:r>
              <a:rPr lang="en-US" altLang="en-US" i="1" smtClean="0"/>
              <a:t> &lt; </a:t>
            </a:r>
            <a:r>
              <a:rPr lang="en-US" altLang="en-US" i="1" smtClean="0">
                <a:latin typeface="Times New Roman" panose="02020603050405020304" pitchFamily="18" charset="0"/>
              </a:rPr>
              <a:t>F</a:t>
            </a:r>
            <a:r>
              <a:rPr lang="en-US" altLang="en-US" baseline="-25000" smtClean="0">
                <a:latin typeface="Times New Roman" panose="02020603050405020304" pitchFamily="18" charset="0"/>
              </a:rPr>
              <a:t>0</a:t>
            </a:r>
            <a:r>
              <a:rPr lang="en-US" altLang="en-US" i="1" smtClean="0">
                <a:latin typeface="Times New Roman" panose="02020603050405020304" pitchFamily="18" charset="0"/>
              </a:rPr>
              <a:t> </a:t>
            </a:r>
            <a:r>
              <a:rPr lang="en-US" altLang="en-US" smtClean="0">
                <a:latin typeface="Times New Roman" panose="02020603050405020304" pitchFamily="18" charset="0"/>
              </a:rPr>
              <a:t>–</a:t>
            </a:r>
            <a:r>
              <a:rPr lang="en-US" altLang="en-US" i="1" smtClean="0">
                <a:latin typeface="Times New Roman" panose="02020603050405020304" pitchFamily="18" charset="0"/>
              </a:rPr>
              <a:t> Ke</a:t>
            </a:r>
            <a:r>
              <a:rPr lang="en-US" altLang="en-US" i="1" baseline="30000" smtClean="0">
                <a:latin typeface="Times New Roman" panose="02020603050405020304" pitchFamily="18" charset="0"/>
              </a:rPr>
              <a:t>-rT</a:t>
            </a:r>
            <a:endParaRPr lang="en-US" altLang="en-US" i="1" baseline="30000" smtClean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i="1" baseline="3000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i="1" baseline="30000" smtClean="0"/>
              <a:t>		</a:t>
            </a:r>
            <a:r>
              <a:rPr lang="en-US" altLang="en-US" i="1" smtClean="0">
                <a:latin typeface="Times New Roman" panose="02020603050405020304" pitchFamily="18" charset="0"/>
              </a:rPr>
              <a:t>c</a:t>
            </a:r>
            <a:r>
              <a:rPr lang="en-US" altLang="en-US" i="1" smtClean="0"/>
              <a:t> &gt; </a:t>
            </a:r>
            <a:r>
              <a:rPr lang="en-US" altLang="en-US" smtClean="0"/>
              <a:t>(</a:t>
            </a:r>
            <a:r>
              <a:rPr lang="en-US" altLang="en-US" i="1" smtClean="0">
                <a:latin typeface="Times New Roman" panose="02020603050405020304" pitchFamily="18" charset="0"/>
              </a:rPr>
              <a:t>F</a:t>
            </a:r>
            <a:r>
              <a:rPr lang="en-US" altLang="en-US" baseline="-25000" smtClean="0">
                <a:latin typeface="Times New Roman" panose="02020603050405020304" pitchFamily="18" charset="0"/>
              </a:rPr>
              <a:t>0</a:t>
            </a:r>
            <a:r>
              <a:rPr lang="en-US" altLang="en-US" i="1" smtClean="0">
                <a:latin typeface="Times New Roman" panose="02020603050405020304" pitchFamily="18" charset="0"/>
              </a:rPr>
              <a:t> </a:t>
            </a:r>
            <a:r>
              <a:rPr lang="en-US" altLang="en-US" smtClean="0">
                <a:latin typeface="Times New Roman" panose="02020603050405020304" pitchFamily="18" charset="0"/>
              </a:rPr>
              <a:t>–</a:t>
            </a:r>
            <a:r>
              <a:rPr lang="en-US" altLang="en-US" i="1" smtClean="0">
                <a:latin typeface="Times New Roman" panose="02020603050405020304" pitchFamily="18" charset="0"/>
              </a:rPr>
              <a:t> K</a:t>
            </a:r>
            <a:r>
              <a:rPr lang="en-US" altLang="en-US" smtClean="0">
                <a:latin typeface="Times New Roman" panose="02020603050405020304" pitchFamily="18" charset="0"/>
              </a:rPr>
              <a:t>)</a:t>
            </a:r>
            <a:r>
              <a:rPr lang="en-US" altLang="en-US" i="1" smtClean="0">
                <a:latin typeface="Times New Roman" panose="02020603050405020304" pitchFamily="18" charset="0"/>
              </a:rPr>
              <a:t>e</a:t>
            </a:r>
            <a:r>
              <a:rPr lang="en-US" altLang="en-US" i="1" baseline="30000" smtClean="0">
                <a:latin typeface="Times New Roman" panose="02020603050405020304" pitchFamily="18" charset="0"/>
              </a:rPr>
              <a:t>-rT</a:t>
            </a:r>
            <a:endParaRPr lang="en-US" altLang="en-US" i="1" baseline="30000" smtClean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i="1" baseline="3000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i="1" baseline="30000" smtClean="0"/>
              <a:t>		</a:t>
            </a:r>
            <a:r>
              <a:rPr lang="en-US" altLang="en-US" i="1" smtClean="0">
                <a:latin typeface="Times New Roman" panose="02020603050405020304" pitchFamily="18" charset="0"/>
              </a:rPr>
              <a:t>p &gt; </a:t>
            </a:r>
            <a:r>
              <a:rPr lang="en-US" altLang="en-US" smtClean="0">
                <a:latin typeface="Times New Roman" panose="02020603050405020304" pitchFamily="18" charset="0"/>
              </a:rPr>
              <a:t>(</a:t>
            </a:r>
            <a:r>
              <a:rPr lang="en-US" altLang="en-US" i="1" smtClean="0">
                <a:latin typeface="Times New Roman" panose="02020603050405020304" pitchFamily="18" charset="0"/>
              </a:rPr>
              <a:t>F</a:t>
            </a:r>
            <a:r>
              <a:rPr lang="en-US" altLang="en-US" baseline="-25000" smtClean="0">
                <a:latin typeface="Times New Roman" panose="02020603050405020304" pitchFamily="18" charset="0"/>
              </a:rPr>
              <a:t>0</a:t>
            </a:r>
            <a:r>
              <a:rPr lang="en-US" altLang="en-US" i="1" smtClean="0">
                <a:latin typeface="Times New Roman" panose="02020603050405020304" pitchFamily="18" charset="0"/>
              </a:rPr>
              <a:t> </a:t>
            </a:r>
            <a:r>
              <a:rPr lang="en-US" altLang="en-US" smtClean="0">
                <a:latin typeface="Times New Roman" panose="02020603050405020304" pitchFamily="18" charset="0"/>
              </a:rPr>
              <a:t>–</a:t>
            </a:r>
            <a:r>
              <a:rPr lang="en-US" altLang="en-US" i="1" smtClean="0">
                <a:latin typeface="Times New Roman" panose="02020603050405020304" pitchFamily="18" charset="0"/>
              </a:rPr>
              <a:t> K</a:t>
            </a:r>
            <a:r>
              <a:rPr lang="en-US" altLang="en-US" smtClean="0">
                <a:latin typeface="Times New Roman" panose="02020603050405020304" pitchFamily="18" charset="0"/>
              </a:rPr>
              <a:t>)</a:t>
            </a:r>
            <a:r>
              <a:rPr lang="en-US" altLang="en-US" i="1" smtClean="0">
                <a:latin typeface="Times New Roman" panose="02020603050405020304" pitchFamily="18" charset="0"/>
              </a:rPr>
              <a:t>e</a:t>
            </a:r>
            <a:r>
              <a:rPr lang="en-US" altLang="en-US" i="1" baseline="30000" smtClean="0">
                <a:latin typeface="Times New Roman" panose="02020603050405020304" pitchFamily="18" charset="0"/>
              </a:rPr>
              <a:t>-rT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i="1" baseline="30000" smtClean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i="1" baseline="30000" smtClean="0"/>
          </a:p>
        </p:txBody>
      </p:sp>
      <p:sp>
        <p:nvSpPr>
          <p:cNvPr id="2355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98868F5-5A3C-40F9-B7A8-044668F93794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16, Copyright © John C. Hull 2016</a:t>
            </a:r>
            <a:endParaRPr lang="en-US" altLang="en-US" sz="1400" i="0"/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>
          <a:xfrm>
            <a:off x="460375" y="122238"/>
            <a:ext cx="7543800" cy="12954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Growth Rates For Futures Prices</a:t>
            </a:r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088" y="1412875"/>
            <a:ext cx="7424737" cy="3444875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smtClean="0"/>
              <a:t>A futures contract requires no initial investment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smtClean="0"/>
              <a:t>In a risk-neutral world the expected return should be zero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smtClean="0"/>
              <a:t>The expected growth rate of the futures price is therefore</a:t>
            </a:r>
            <a:r>
              <a:rPr lang="en-US" altLang="en-US" sz="2800" smtClean="0">
                <a:latin typeface="Symbol" panose="05050102010706020507" pitchFamily="18" charset="2"/>
              </a:rPr>
              <a:t> </a:t>
            </a:r>
            <a:r>
              <a:rPr lang="en-US" altLang="en-US" sz="2800" smtClean="0"/>
              <a:t>zero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smtClean="0"/>
              <a:t>The futures price can therefore be treated like a stock paying a dividend yield of </a:t>
            </a:r>
            <a:r>
              <a:rPr lang="en-US" altLang="en-US" sz="2800" i="1" smtClean="0">
                <a:latin typeface="Times New Roman" panose="02020603050405020304" pitchFamily="18" charset="0"/>
              </a:rPr>
              <a:t>r</a:t>
            </a:r>
          </a:p>
          <a:p>
            <a:pPr eaLnBrk="1" hangingPunct="1">
              <a:lnSpc>
                <a:spcPct val="90000"/>
              </a:lnSpc>
            </a:pPr>
            <a:r>
              <a:rPr lang="en-CA" altLang="en-US" sz="2800" smtClean="0"/>
              <a:t>This is consistent with the results we have presented so far (put-call parity, bounds, binomial trees) </a:t>
            </a:r>
            <a:endParaRPr lang="en-US" altLang="en-US" sz="2800" smtClean="0"/>
          </a:p>
        </p:txBody>
      </p:sp>
      <p:sp>
        <p:nvSpPr>
          <p:cNvPr id="2458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EE66182-0A12-47F5-A8CE-A5F3F3164C47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981075"/>
            <a:ext cx="8099425" cy="533400"/>
          </a:xfrm>
        </p:spPr>
        <p:txBody>
          <a:bodyPr lIns="92075" tIns="46038" rIns="92075" bIns="46038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Valuing  European Futures </a:t>
            </a: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Options</a:t>
            </a:r>
            <a:br>
              <a:rPr lang="en-US" dirty="0" smtClean="0">
                <a:solidFill>
                  <a:schemeClr val="tx2">
                    <a:satMod val="130000"/>
                  </a:schemeClr>
                </a:solidFill>
              </a:rPr>
            </a:b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827088" y="1412875"/>
            <a:ext cx="7283450" cy="4117975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z="2800" smtClean="0">
                <a:cs typeface="Arial" panose="020B0604020202020204" pitchFamily="34" charset="0"/>
              </a:rPr>
              <a:t>We can use  the formula for an option on a stock paying  a dividend yield</a:t>
            </a:r>
          </a:p>
          <a:p>
            <a:pPr lvl="1" eaLnBrk="1" hangingPunct="1"/>
            <a:r>
              <a:rPr lang="en-US" altLang="en-US" sz="2400" i="1" smtClean="0">
                <a:latin typeface="Times New Roman" panose="02020603050405020304" pitchFamily="18" charset="0"/>
                <a:cs typeface="Arial" panose="020B0604020202020204" pitchFamily="34" charset="0"/>
              </a:rPr>
              <a:t>S</a:t>
            </a:r>
            <a:r>
              <a:rPr lang="en-US" altLang="en-US" sz="2400" baseline="-25000" smtClean="0">
                <a:latin typeface="Times New Roman" panose="02020603050405020304" pitchFamily="18" charset="0"/>
                <a:cs typeface="Arial" panose="020B0604020202020204" pitchFamily="34" charset="0"/>
              </a:rPr>
              <a:t>0</a:t>
            </a:r>
            <a:r>
              <a:rPr lang="en-US" altLang="en-US" sz="2400" smtClean="0">
                <a:cs typeface="Arial" panose="020B0604020202020204" pitchFamily="34" charset="0"/>
              </a:rPr>
              <a:t>  =  current futures price, </a:t>
            </a:r>
            <a:r>
              <a:rPr lang="en-US" altLang="en-US" sz="2400" i="1" smtClean="0">
                <a:latin typeface="Times New Roman" panose="02020603050405020304" pitchFamily="18" charset="0"/>
                <a:cs typeface="Arial" panose="020B0604020202020204" pitchFamily="34" charset="0"/>
              </a:rPr>
              <a:t>F</a:t>
            </a:r>
            <a:r>
              <a:rPr lang="en-US" altLang="en-US" sz="2400" baseline="-25000" smtClean="0">
                <a:latin typeface="Times New Roman" panose="02020603050405020304" pitchFamily="18" charset="0"/>
                <a:cs typeface="Arial" panose="020B0604020202020204" pitchFamily="34" charset="0"/>
              </a:rPr>
              <a:t>0</a:t>
            </a:r>
            <a:endParaRPr lang="en-US" altLang="en-US" sz="2400" smtClean="0">
              <a:cs typeface="Arial" panose="020B0604020202020204" pitchFamily="34" charset="0"/>
            </a:endParaRPr>
          </a:p>
          <a:p>
            <a:pPr lvl="1" eaLnBrk="1" hangingPunct="1"/>
            <a:r>
              <a:rPr lang="en-US" altLang="en-US" sz="2400" i="1" smtClean="0">
                <a:latin typeface="Times New Roman" panose="02020603050405020304" pitchFamily="18" charset="0"/>
                <a:cs typeface="Arial" panose="020B0604020202020204" pitchFamily="34" charset="0"/>
              </a:rPr>
              <a:t>q</a:t>
            </a:r>
            <a:r>
              <a:rPr lang="en-US" altLang="en-US" sz="2400" i="1" smtClean="0">
                <a:cs typeface="Arial" panose="020B0604020202020204" pitchFamily="34" charset="0"/>
              </a:rPr>
              <a:t> </a:t>
            </a:r>
            <a:r>
              <a:rPr lang="en-US" altLang="en-US" sz="2400" smtClean="0">
                <a:cs typeface="Arial" panose="020B0604020202020204" pitchFamily="34" charset="0"/>
              </a:rPr>
              <a:t> =  domestic risk-free rate, </a:t>
            </a:r>
            <a:r>
              <a:rPr lang="en-US" altLang="en-US" sz="2400" i="1" smtClean="0">
                <a:latin typeface="Times New Roman" panose="02020603050405020304" pitchFamily="18" charset="0"/>
                <a:cs typeface="Arial" panose="020B0604020202020204" pitchFamily="34" charset="0"/>
              </a:rPr>
              <a:t>r</a:t>
            </a:r>
            <a:r>
              <a:rPr lang="en-US" altLang="en-US" sz="2400" smtClean="0">
                <a:cs typeface="Arial" panose="020B0604020202020204" pitchFamily="34" charset="0"/>
              </a:rPr>
              <a:t> </a:t>
            </a:r>
          </a:p>
          <a:p>
            <a:pPr eaLnBrk="1" hangingPunct="1"/>
            <a:r>
              <a:rPr lang="en-US" altLang="en-US" sz="2800" smtClean="0">
                <a:cs typeface="Arial" panose="020B0604020202020204" pitchFamily="34" charset="0"/>
              </a:rPr>
              <a:t>Setting </a:t>
            </a:r>
            <a:r>
              <a:rPr lang="en-US" altLang="en-US" sz="2800" i="1" smtClean="0">
                <a:latin typeface="Times New Roman" panose="02020603050405020304" pitchFamily="18" charset="0"/>
                <a:cs typeface="Arial" panose="020B0604020202020204" pitchFamily="34" charset="0"/>
              </a:rPr>
              <a:t>q</a:t>
            </a:r>
            <a:r>
              <a:rPr lang="en-US" altLang="en-US" sz="2800" smtClean="0">
                <a:latin typeface="Times New Roman" panose="02020603050405020304" pitchFamily="18" charset="0"/>
                <a:cs typeface="Arial" panose="020B0604020202020204" pitchFamily="34" charset="0"/>
              </a:rPr>
              <a:t>  = </a:t>
            </a:r>
            <a:r>
              <a:rPr lang="en-US" altLang="en-US" sz="2800" i="1" smtClean="0">
                <a:latin typeface="Times New Roman" panose="02020603050405020304" pitchFamily="18" charset="0"/>
                <a:cs typeface="Arial" panose="020B0604020202020204" pitchFamily="34" charset="0"/>
              </a:rPr>
              <a:t>r</a:t>
            </a:r>
            <a:r>
              <a:rPr lang="en-US" altLang="en-US" sz="2800" i="1" smtClean="0">
                <a:cs typeface="Arial" panose="020B0604020202020204" pitchFamily="34" charset="0"/>
              </a:rPr>
              <a:t>  </a:t>
            </a:r>
            <a:r>
              <a:rPr lang="en-US" altLang="en-US" sz="2800" smtClean="0">
                <a:cs typeface="Arial" panose="020B0604020202020204" pitchFamily="34" charset="0"/>
              </a:rPr>
              <a:t>ensures that the expected growth of </a:t>
            </a:r>
            <a:r>
              <a:rPr lang="en-US" altLang="en-US" sz="2800" i="1" smtClean="0">
                <a:latin typeface="Times New Roman" panose="02020603050405020304" pitchFamily="18" charset="0"/>
                <a:cs typeface="Arial" panose="020B0604020202020204" pitchFamily="34" charset="0"/>
              </a:rPr>
              <a:t>F</a:t>
            </a:r>
            <a:r>
              <a:rPr lang="en-US" altLang="en-US" sz="2800" smtClean="0">
                <a:cs typeface="Arial" panose="020B0604020202020204" pitchFamily="34" charset="0"/>
              </a:rPr>
              <a:t>  in a risk-neutral world is zero</a:t>
            </a:r>
          </a:p>
          <a:p>
            <a:pPr eaLnBrk="1" hangingPunct="1"/>
            <a:r>
              <a:rPr lang="en-US" altLang="en-US" sz="2800" smtClean="0">
                <a:cs typeface="Arial" panose="020B0604020202020204" pitchFamily="34" charset="0"/>
              </a:rPr>
              <a:t>The result is referred to as Black’s model because it was first suggested in a paper by Fischer Black in 1976</a:t>
            </a:r>
          </a:p>
        </p:txBody>
      </p:sp>
      <p:sp>
        <p:nvSpPr>
          <p:cNvPr id="2560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>
                <a:cs typeface="Arial" panose="020B0604020202020204" pitchFamily="34" charset="0"/>
              </a:rPr>
              <a:t>Fundamentals of Futures and Options Markets, 9th Ed, Ch 16, Copyright © John C. Hull 2016</a:t>
            </a:r>
            <a:endParaRPr lang="en-US" altLang="en-US" sz="1400">
              <a:cs typeface="Arial" panose="020B0604020202020204" pitchFamily="34" charset="0"/>
            </a:endParaRPr>
          </a:p>
        </p:txBody>
      </p:sp>
      <p:sp>
        <p:nvSpPr>
          <p:cNvPr id="2560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C5F21AA-BB77-4195-A440-3DF1748B14D9}" type="slidenum">
              <a:rPr lang="en-US" altLang="en-US" sz="1800">
                <a:cs typeface="Arial" panose="020B0604020202020204" pitchFamily="34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800"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16, Copyright © John C. Hull 2016</a:t>
            </a:r>
            <a:endParaRPr lang="en-US" altLang="en-US" sz="1400" i="0"/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How Black’s Model is Used in Practice</a:t>
            </a:r>
          </a:p>
        </p:txBody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412875"/>
            <a:ext cx="8229600" cy="4411663"/>
          </a:xfrm>
        </p:spPr>
        <p:txBody>
          <a:bodyPr/>
          <a:lstStyle/>
          <a:p>
            <a:pPr eaLnBrk="1" hangingPunct="1"/>
            <a:r>
              <a:rPr lang="en-US" altLang="en-US" smtClean="0"/>
              <a:t>European futures options and spot options are equivalent when future contract matures at the same time as the otion.</a:t>
            </a:r>
          </a:p>
          <a:p>
            <a:pPr eaLnBrk="1" hangingPunct="1"/>
            <a:r>
              <a:rPr lang="en-US" altLang="en-US" smtClean="0"/>
              <a:t>This enables Black’s model to be used to value a European option on the spot price of an asset</a:t>
            </a:r>
          </a:p>
          <a:p>
            <a:pPr eaLnBrk="1" hangingPunct="1"/>
            <a:r>
              <a:rPr lang="en-US" altLang="en-US" smtClean="0"/>
              <a:t>One advantage of this approach is that income on the asset does not have to be estimated explicitly</a:t>
            </a:r>
          </a:p>
        </p:txBody>
      </p:sp>
      <p:sp>
        <p:nvSpPr>
          <p:cNvPr id="2662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F8F54C2-8682-4B68-A879-C64184B09F0A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16, Copyright © John C. Hull 2016</a:t>
            </a:r>
            <a:endParaRPr lang="en-US" altLang="en-US" sz="1400" i="0"/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1430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Black’s Model </a:t>
            </a:r>
            <a:br>
              <a:rPr lang="en-US" altLang="en-US" smtClean="0"/>
            </a:br>
            <a:r>
              <a:rPr lang="en-US" altLang="en-US" sz="2200" smtClean="0"/>
              <a:t>(Equations 16.5 and 16.6, page 350)</a:t>
            </a:r>
            <a:endParaRPr lang="en-US" altLang="en-US" smtClean="0"/>
          </a:p>
        </p:txBody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990600"/>
            <a:ext cx="7772400" cy="10033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</a:pPr>
            <a:endParaRPr lang="en-US" altLang="en-US" sz="2800" smtClean="0"/>
          </a:p>
          <a:p>
            <a:pPr eaLnBrk="1" hangingPunct="1">
              <a:lnSpc>
                <a:spcPct val="90000"/>
              </a:lnSpc>
            </a:pPr>
            <a:r>
              <a:rPr lang="en-US" altLang="en-US" sz="2800" smtClean="0"/>
              <a:t>The formulas for European options on futures are known as Black’s model</a:t>
            </a:r>
          </a:p>
        </p:txBody>
      </p:sp>
      <p:graphicFrame>
        <p:nvGraphicFramePr>
          <p:cNvPr id="27653" name="Object 4"/>
          <p:cNvGraphicFramePr>
            <a:graphicFrameLocks/>
          </p:cNvGraphicFramePr>
          <p:nvPr/>
        </p:nvGraphicFramePr>
        <p:xfrm>
          <a:off x="1279525" y="2590800"/>
          <a:ext cx="6673850" cy="335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5" name="Equation" r:id="rId4" imgW="2755900" imgH="1498600" progId="Equation.3">
                  <p:embed/>
                </p:oleObj>
              </mc:Choice>
              <mc:Fallback>
                <p:oleObj name="Equation" r:id="rId4" imgW="2755900" imgH="1498600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9525" y="2590800"/>
                        <a:ext cx="6673850" cy="335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4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2939884-CAA5-4B61-B99D-36B5A4C8A92C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Using Black’s Model Instead of Black-Scholes </a:t>
            </a:r>
            <a:r>
              <a:rPr lang="en-US" sz="2400" dirty="0" smtClean="0">
                <a:solidFill>
                  <a:schemeClr val="tx2">
                    <a:satMod val="130000"/>
                  </a:schemeClr>
                </a:solidFill>
              </a:rPr>
              <a:t>(Example 16.5, page 351)</a:t>
            </a:r>
            <a:endParaRPr lang="en-US" sz="24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4375" y="1785938"/>
            <a:ext cx="7572375" cy="4462462"/>
          </a:xfrm>
        </p:spPr>
        <p:txBody>
          <a:bodyPr>
            <a:normAutofit fontScale="92500" lnSpcReduction="10000"/>
          </a:bodyPr>
          <a:lstStyle/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Consider a 6-month European call option on spot gold</a:t>
            </a:r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6-month futures price is 1240, 6-month risk-free rate is 5%, strike price is 1200, and volatility of futures price is 20%</a:t>
            </a:r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Value of option is given by Black’s model with </a:t>
            </a:r>
            <a:r>
              <a:rPr lang="en-US" i="1" dirty="0" smtClean="0">
                <a:latin typeface="+mj-lt"/>
              </a:rPr>
              <a:t>F</a:t>
            </a:r>
            <a:r>
              <a:rPr lang="en-US" baseline="-25000" dirty="0" smtClean="0"/>
              <a:t>0</a:t>
            </a:r>
            <a:r>
              <a:rPr lang="en-US" dirty="0" smtClean="0"/>
              <a:t>=12400, </a:t>
            </a:r>
            <a:r>
              <a:rPr lang="en-US" i="1" dirty="0" smtClean="0">
                <a:latin typeface="+mj-lt"/>
              </a:rPr>
              <a:t>K</a:t>
            </a:r>
            <a:r>
              <a:rPr lang="en-US" dirty="0" smtClean="0"/>
              <a:t>=1200, </a:t>
            </a:r>
            <a:r>
              <a:rPr lang="en-US" i="1" dirty="0" smtClean="0">
                <a:latin typeface="+mj-lt"/>
              </a:rPr>
              <a:t>r</a:t>
            </a:r>
            <a:r>
              <a:rPr lang="en-US" dirty="0" smtClean="0"/>
              <a:t>=0.05, </a:t>
            </a:r>
            <a:r>
              <a:rPr lang="en-US" i="1" dirty="0" smtClean="0">
                <a:latin typeface="+mj-lt"/>
              </a:rPr>
              <a:t>T</a:t>
            </a:r>
            <a:r>
              <a:rPr lang="en-US" dirty="0" smtClean="0"/>
              <a:t>=0.5, and </a:t>
            </a:r>
            <a:r>
              <a:rPr lang="en-US" dirty="0" smtClean="0">
                <a:latin typeface="Symbol" pitchFamily="18" charset="2"/>
              </a:rPr>
              <a:t>s</a:t>
            </a:r>
            <a:r>
              <a:rPr lang="en-US" dirty="0" smtClean="0"/>
              <a:t>=0.2</a:t>
            </a:r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It is 88.37</a:t>
            </a:r>
            <a:endParaRPr lang="en-US" dirty="0"/>
          </a:p>
        </p:txBody>
      </p:sp>
      <p:sp>
        <p:nvSpPr>
          <p:cNvPr id="2867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16, Copyright © John C. Hull 2016</a:t>
            </a:r>
            <a:endParaRPr lang="en-US" altLang="en-US" sz="1400"/>
          </a:p>
        </p:txBody>
      </p:sp>
      <p:sp>
        <p:nvSpPr>
          <p:cNvPr id="2867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4495597-58AE-407D-97C3-9E9647B7E37A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16, Copyright © John C. Hull 2016</a:t>
            </a:r>
            <a:endParaRPr lang="en-US" altLang="en-US" sz="1400" i="0"/>
          </a:p>
        </p:txBody>
      </p:sp>
      <p:sp>
        <p:nvSpPr>
          <p:cNvPr id="29699" name="Line 2"/>
          <p:cNvSpPr>
            <a:spLocks noChangeShapeType="1"/>
          </p:cNvSpPr>
          <p:nvPr/>
        </p:nvSpPr>
        <p:spPr bwMode="auto">
          <a:xfrm flipV="1">
            <a:off x="3338513" y="3595688"/>
            <a:ext cx="2111375" cy="8159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00" name="Line 3"/>
          <p:cNvSpPr>
            <a:spLocks noChangeShapeType="1"/>
          </p:cNvSpPr>
          <p:nvPr/>
        </p:nvSpPr>
        <p:spPr bwMode="auto">
          <a:xfrm>
            <a:off x="3338513" y="4375150"/>
            <a:ext cx="2111375" cy="8159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01" name="Rectangle 4"/>
          <p:cNvSpPr>
            <a:spLocks noChangeArrowheads="1"/>
          </p:cNvSpPr>
          <p:nvPr/>
        </p:nvSpPr>
        <p:spPr bwMode="auto">
          <a:xfrm>
            <a:off x="5657850" y="3194050"/>
            <a:ext cx="288607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Futures Price = $33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Option Price = $4</a:t>
            </a:r>
          </a:p>
        </p:txBody>
      </p:sp>
      <p:sp>
        <p:nvSpPr>
          <p:cNvPr id="29702" name="Rectangle 5"/>
          <p:cNvSpPr>
            <a:spLocks noChangeArrowheads="1"/>
          </p:cNvSpPr>
          <p:nvPr/>
        </p:nvSpPr>
        <p:spPr bwMode="auto">
          <a:xfrm>
            <a:off x="5572125" y="4702175"/>
            <a:ext cx="33147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Futures Price = $28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Option Price = $0</a:t>
            </a:r>
          </a:p>
        </p:txBody>
      </p:sp>
      <p:sp>
        <p:nvSpPr>
          <p:cNvPr id="29703" name="Rectangle 6"/>
          <p:cNvSpPr>
            <a:spLocks noChangeArrowheads="1"/>
          </p:cNvSpPr>
          <p:nvPr/>
        </p:nvSpPr>
        <p:spPr bwMode="auto">
          <a:xfrm>
            <a:off x="381000" y="4029075"/>
            <a:ext cx="3154363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Futures price = $30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Option Price=?</a:t>
            </a:r>
          </a:p>
        </p:txBody>
      </p:sp>
      <p:sp>
        <p:nvSpPr>
          <p:cNvPr id="29704" name="Rectangle 7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Binomial Tree Example</a:t>
            </a:r>
          </a:p>
        </p:txBody>
      </p:sp>
      <p:sp>
        <p:nvSpPr>
          <p:cNvPr id="29705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628650" y="1981200"/>
            <a:ext cx="7886700" cy="4114800"/>
          </a:xfrm>
          <a:noFill/>
        </p:spPr>
        <p:txBody>
          <a:bodyPr lIns="92075" tIns="46038" rIns="92075" bIns="46038"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smtClean="0"/>
              <a:t>	A 1-month call option on futures has a strike price of 29. </a:t>
            </a:r>
          </a:p>
        </p:txBody>
      </p:sp>
      <p:sp>
        <p:nvSpPr>
          <p:cNvPr id="29706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8AE1967-D233-4383-A823-47FA1E048699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16, Copyright © John C. Hull 2016</a:t>
            </a:r>
            <a:endParaRPr lang="en-US" altLang="en-US" sz="1400" i="0"/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1571625"/>
            <a:ext cx="7772400" cy="2816225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smtClean="0"/>
              <a:t>Consider the Portfolio:	long </a:t>
            </a:r>
            <a:r>
              <a:rPr lang="en-US" altLang="en-US" sz="2400" smtClean="0">
                <a:latin typeface="Symbol" panose="05050102010706020507" pitchFamily="18" charset="2"/>
              </a:rPr>
              <a:t>D</a:t>
            </a:r>
            <a:r>
              <a:rPr lang="en-US" altLang="en-US" sz="2400" smtClean="0"/>
              <a:t> futures						short 1 call option																																								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800" smtClean="0"/>
          </a:p>
          <a:p>
            <a:pPr eaLnBrk="1" hangingPunct="1">
              <a:lnSpc>
                <a:spcPct val="90000"/>
              </a:lnSpc>
            </a:pPr>
            <a:r>
              <a:rPr lang="en-US" altLang="en-US" sz="2800" smtClean="0"/>
              <a:t>Portfolio is riskless when  3</a:t>
            </a:r>
            <a:r>
              <a:rPr lang="en-US" altLang="en-US" sz="2800" smtClean="0">
                <a:latin typeface="Symbol" panose="05050102010706020507" pitchFamily="18" charset="2"/>
              </a:rPr>
              <a:t>D </a:t>
            </a:r>
            <a:r>
              <a:rPr lang="en-US" altLang="en-US" sz="2800" smtClean="0"/>
              <a:t>– 4 = </a:t>
            </a:r>
            <a:r>
              <a:rPr lang="en-US" altLang="en-US" sz="2800" smtClean="0">
                <a:latin typeface="Times New Roman" panose="02020603050405020304" pitchFamily="18" charset="0"/>
              </a:rPr>
              <a:t>–</a:t>
            </a:r>
            <a:r>
              <a:rPr lang="en-US" altLang="en-US" sz="2800" smtClean="0"/>
              <a:t>2</a:t>
            </a:r>
            <a:r>
              <a:rPr lang="en-US" altLang="en-US" sz="2800" smtClean="0">
                <a:latin typeface="Symbol" panose="05050102010706020507" pitchFamily="18" charset="2"/>
              </a:rPr>
              <a:t>D</a:t>
            </a:r>
            <a:r>
              <a:rPr lang="en-US" altLang="en-US" sz="2800" smtClean="0"/>
              <a:t>  or  </a:t>
            </a:r>
            <a:r>
              <a:rPr lang="en-US" altLang="en-US" sz="2800" smtClean="0">
                <a:latin typeface="Symbol" panose="05050102010706020507" pitchFamily="18" charset="2"/>
              </a:rPr>
              <a:t>D</a:t>
            </a:r>
            <a:r>
              <a:rPr lang="en-US" altLang="en-US" sz="2800" smtClean="0"/>
              <a:t> = 0.8</a:t>
            </a:r>
          </a:p>
        </p:txBody>
      </p:sp>
      <p:grpSp>
        <p:nvGrpSpPr>
          <p:cNvPr id="30724" name="Group 3"/>
          <p:cNvGrpSpPr>
            <a:grpSpLocks/>
          </p:cNvGrpSpPr>
          <p:nvPr/>
        </p:nvGrpSpPr>
        <p:grpSpPr bwMode="auto">
          <a:xfrm>
            <a:off x="2481263" y="2803525"/>
            <a:ext cx="4011612" cy="1654175"/>
            <a:chOff x="1563" y="1766"/>
            <a:chExt cx="2527" cy="1042"/>
          </a:xfrm>
        </p:grpSpPr>
        <p:sp>
          <p:nvSpPr>
            <p:cNvPr id="30727" name="Line 4"/>
            <p:cNvSpPr>
              <a:spLocks noChangeShapeType="1"/>
            </p:cNvSpPr>
            <p:nvPr/>
          </p:nvSpPr>
          <p:spPr bwMode="auto">
            <a:xfrm>
              <a:off x="2197" y="2240"/>
              <a:ext cx="1263" cy="40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28" name="Rectangle 5"/>
            <p:cNvSpPr>
              <a:spLocks noChangeArrowheads="1"/>
            </p:cNvSpPr>
            <p:nvPr/>
          </p:nvSpPr>
          <p:spPr bwMode="auto">
            <a:xfrm>
              <a:off x="3435" y="1766"/>
              <a:ext cx="6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ClrTx/>
                <a:buSzTx/>
                <a:buFontTx/>
                <a:buNone/>
              </a:pPr>
              <a:r>
                <a:rPr lang="en-US" altLang="en-US" sz="2400"/>
                <a:t>3</a:t>
              </a:r>
              <a:r>
                <a:rPr lang="en-US" altLang="en-US" sz="2400">
                  <a:latin typeface="Symbol" panose="05050102010706020507" pitchFamily="18" charset="2"/>
                </a:rPr>
                <a:t>D </a:t>
              </a:r>
              <a:r>
                <a:rPr lang="en-US" altLang="en-US" sz="2400"/>
                <a:t>– 4</a:t>
              </a:r>
            </a:p>
          </p:txBody>
        </p:sp>
        <p:sp>
          <p:nvSpPr>
            <p:cNvPr id="30729" name="Rectangle 6"/>
            <p:cNvSpPr>
              <a:spLocks noChangeArrowheads="1"/>
            </p:cNvSpPr>
            <p:nvPr/>
          </p:nvSpPr>
          <p:spPr bwMode="auto">
            <a:xfrm>
              <a:off x="3435" y="2520"/>
              <a:ext cx="40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ClrTx/>
                <a:buSzTx/>
                <a:buFontTx/>
                <a:buNone/>
              </a:pPr>
              <a:r>
                <a:rPr lang="en-US" altLang="en-US" sz="2400"/>
                <a:t>-2</a:t>
              </a:r>
              <a:r>
                <a:rPr lang="en-US" altLang="en-US" sz="2400">
                  <a:latin typeface="Symbol" panose="05050102010706020507" pitchFamily="18" charset="2"/>
                </a:rPr>
                <a:t>D</a:t>
              </a:r>
            </a:p>
          </p:txBody>
        </p:sp>
        <p:sp>
          <p:nvSpPr>
            <p:cNvPr id="30730" name="Rectangle 7"/>
            <p:cNvSpPr>
              <a:spLocks noChangeArrowheads="1"/>
            </p:cNvSpPr>
            <p:nvPr/>
          </p:nvSpPr>
          <p:spPr bwMode="auto">
            <a:xfrm>
              <a:off x="1563" y="2136"/>
              <a:ext cx="730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30731" name="Line 8"/>
            <p:cNvSpPr>
              <a:spLocks noChangeShapeType="1"/>
            </p:cNvSpPr>
            <p:nvPr/>
          </p:nvSpPr>
          <p:spPr bwMode="auto">
            <a:xfrm flipV="1">
              <a:off x="2197" y="1837"/>
              <a:ext cx="1263" cy="40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0725" name="Rectangle 9"/>
          <p:cNvSpPr>
            <a:spLocks noGrp="1" noChangeArrowheads="1"/>
          </p:cNvSpPr>
          <p:nvPr>
            <p:ph type="title"/>
          </p:nvPr>
        </p:nvSpPr>
        <p:spPr>
          <a:xfrm>
            <a:off x="685800" y="257175"/>
            <a:ext cx="7772400" cy="97155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Setting Up a Riskless Portfolio</a:t>
            </a:r>
          </a:p>
        </p:txBody>
      </p:sp>
      <p:sp>
        <p:nvSpPr>
          <p:cNvPr id="30726" name="Slide Number Placeholder 1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6E6FA17-A306-46DB-9EEB-EA50B6B2F51C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16, Copyright © John C. Hull 2016</a:t>
            </a:r>
            <a:endParaRPr lang="en-US" altLang="en-US" sz="1400" i="0"/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Valuing the Portfolio</a:t>
            </a:r>
            <a:br>
              <a:rPr lang="en-US" altLang="en-US" smtClean="0"/>
            </a:br>
            <a:r>
              <a:rPr lang="en-US" altLang="en-US" sz="3000" smtClean="0"/>
              <a:t>( Risk-Free Rate is 6% )</a:t>
            </a:r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7363" y="1765300"/>
            <a:ext cx="8169275" cy="4365625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The riskless portfolio is: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mtClean="0"/>
              <a:t>			long 0.8 futures					short 1 call option</a:t>
            </a:r>
          </a:p>
          <a:p>
            <a:pPr eaLnBrk="1" hangingPunct="1"/>
            <a:r>
              <a:rPr lang="en-US" altLang="en-US" smtClean="0"/>
              <a:t>The value of the portfolio in 1 month is 			</a:t>
            </a:r>
            <a:r>
              <a:rPr lang="en-US" altLang="en-US" smtClean="0">
                <a:latin typeface="Times New Roman" panose="02020603050405020304" pitchFamily="18" charset="0"/>
              </a:rPr>
              <a:t>–</a:t>
            </a:r>
            <a:r>
              <a:rPr lang="en-US" altLang="en-US" smtClean="0"/>
              <a:t>1.6</a:t>
            </a:r>
          </a:p>
          <a:p>
            <a:pPr eaLnBrk="1" hangingPunct="1"/>
            <a:r>
              <a:rPr lang="en-US" altLang="en-US" smtClean="0"/>
              <a:t>The value of the portfolio today is 			 </a:t>
            </a:r>
            <a:r>
              <a:rPr lang="en-US" altLang="en-US" smtClean="0">
                <a:latin typeface="Times New Roman" panose="02020603050405020304" pitchFamily="18" charset="0"/>
              </a:rPr>
              <a:t>–</a:t>
            </a:r>
            <a:r>
              <a:rPr lang="en-US" altLang="en-US" smtClean="0"/>
              <a:t>1.6e </a:t>
            </a:r>
            <a:r>
              <a:rPr lang="en-US" altLang="en-US" baseline="30000" smtClean="0"/>
              <a:t>– 0.06</a:t>
            </a:r>
            <a:r>
              <a:rPr lang="en-US" altLang="en-US" baseline="30000" smtClean="0">
                <a:latin typeface="Symbol" panose="05050102010706020507" pitchFamily="18" charset="2"/>
              </a:rPr>
              <a:t>/12</a:t>
            </a:r>
            <a:r>
              <a:rPr lang="en-US" altLang="en-US" baseline="30000" smtClean="0"/>
              <a:t> </a:t>
            </a:r>
            <a:r>
              <a:rPr lang="en-US" altLang="en-US" smtClean="0"/>
              <a:t>=  </a:t>
            </a:r>
            <a:r>
              <a:rPr lang="en-US" altLang="en-US" smtClean="0">
                <a:latin typeface="Times New Roman" panose="02020603050405020304" pitchFamily="18" charset="0"/>
              </a:rPr>
              <a:t>–</a:t>
            </a:r>
            <a:r>
              <a:rPr lang="en-US" altLang="en-US" smtClean="0"/>
              <a:t>1.592</a:t>
            </a:r>
          </a:p>
        </p:txBody>
      </p:sp>
      <p:sp>
        <p:nvSpPr>
          <p:cNvPr id="3174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A8EF072-FC03-4CF8-A82F-FCF8495758D0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16, Copyright © John C. Hull 2016</a:t>
            </a:r>
            <a:endParaRPr lang="en-US" altLang="en-US" sz="1400" i="0"/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Valuing the Option</a:t>
            </a:r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00125" y="1905000"/>
            <a:ext cx="7143750" cy="41910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The portfolio that is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i="1" smtClean="0"/>
              <a:t>		</a:t>
            </a:r>
            <a:r>
              <a:rPr lang="en-US" altLang="en-US" smtClean="0"/>
              <a:t>long 0.8 futures				short 1 option			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mtClean="0"/>
              <a:t>   is worth </a:t>
            </a:r>
            <a:r>
              <a:rPr lang="en-US" altLang="en-US" smtClean="0">
                <a:latin typeface="Times New Roman" panose="02020603050405020304" pitchFamily="18" charset="0"/>
              </a:rPr>
              <a:t>–</a:t>
            </a:r>
            <a:r>
              <a:rPr lang="en-US" altLang="en-US" smtClean="0"/>
              <a:t>1.592</a:t>
            </a:r>
          </a:p>
          <a:p>
            <a:pPr eaLnBrk="1" hangingPunct="1"/>
            <a:r>
              <a:rPr lang="en-US" altLang="en-US" smtClean="0"/>
              <a:t>The value of the futures is zero</a:t>
            </a:r>
          </a:p>
          <a:p>
            <a:pPr eaLnBrk="1" hangingPunct="1"/>
            <a:r>
              <a:rPr lang="en-US" altLang="en-US" smtClean="0"/>
              <a:t>The value of the option must therefore be 1.592</a:t>
            </a:r>
          </a:p>
        </p:txBody>
      </p:sp>
      <p:sp>
        <p:nvSpPr>
          <p:cNvPr id="3277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43845A6-6157-417D-B16B-7DF718C84CF6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16, Copyright © John C. Hull 2016</a:t>
            </a:r>
            <a:endParaRPr lang="en-US" altLang="en-US" sz="1400" i="0"/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Generalization of Binomial Tree Example </a:t>
            </a:r>
            <a:r>
              <a:rPr lang="en-US" altLang="en-US" sz="2200" smtClean="0"/>
              <a:t>(Figure 16.2, page 353)</a:t>
            </a:r>
            <a:endParaRPr lang="en-US" altLang="en-US" smtClean="0"/>
          </a:p>
        </p:txBody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19150" y="1916113"/>
            <a:ext cx="7505700" cy="3744912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A derivative lasts for time </a:t>
            </a:r>
            <a:r>
              <a:rPr lang="en-US" altLang="en-US" i="1" smtClean="0">
                <a:latin typeface="Times New Roman" panose="02020603050405020304" pitchFamily="18" charset="0"/>
              </a:rPr>
              <a:t>T</a:t>
            </a:r>
            <a:r>
              <a:rPr lang="en-US" altLang="en-US" smtClean="0">
                <a:latin typeface="Times New Roman" panose="02020603050405020304" pitchFamily="18" charset="0"/>
              </a:rPr>
              <a:t> </a:t>
            </a:r>
            <a:r>
              <a:rPr lang="en-US" altLang="en-US" smtClean="0"/>
              <a:t>and is dependent on a futures price</a:t>
            </a:r>
          </a:p>
        </p:txBody>
      </p:sp>
      <p:sp>
        <p:nvSpPr>
          <p:cNvPr id="33797" name="Rectangle 7"/>
          <p:cNvSpPr>
            <a:spLocks noChangeArrowheads="1"/>
          </p:cNvSpPr>
          <p:nvPr/>
        </p:nvSpPr>
        <p:spPr bwMode="auto">
          <a:xfrm>
            <a:off x="6492875" y="5075238"/>
            <a:ext cx="76835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>
                <a:latin typeface="Times New Roman" panose="02020603050405020304" pitchFamily="18" charset="0"/>
              </a:rPr>
              <a:t>F</a:t>
            </a:r>
            <a:r>
              <a:rPr lang="en-US" altLang="en-US" baseline="-25000">
                <a:latin typeface="Times New Roman" panose="02020603050405020304" pitchFamily="18" charset="0"/>
              </a:rPr>
              <a:t>0</a:t>
            </a:r>
            <a:r>
              <a:rPr lang="en-US" altLang="en-US" i="1">
                <a:latin typeface="Times New Roman" panose="02020603050405020304" pitchFamily="18" charset="0"/>
              </a:rPr>
              <a:t>d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 </a:t>
            </a:r>
            <a:r>
              <a:rPr lang="en-US" altLang="en-US">
                <a:latin typeface="Times New Roman" panose="02020603050405020304" pitchFamily="18" charset="0"/>
              </a:rPr>
              <a:t>ƒ</a:t>
            </a:r>
            <a:r>
              <a:rPr lang="en-US" altLang="en-US" i="1" baseline="-25000">
                <a:latin typeface="Times New Roman" panose="02020603050405020304" pitchFamily="18" charset="0"/>
              </a:rPr>
              <a:t>d</a:t>
            </a:r>
          </a:p>
        </p:txBody>
      </p:sp>
      <p:grpSp>
        <p:nvGrpSpPr>
          <p:cNvPr id="33798" name="Group 9"/>
          <p:cNvGrpSpPr>
            <a:grpSpLocks/>
          </p:cNvGrpSpPr>
          <p:nvPr/>
        </p:nvGrpSpPr>
        <p:grpSpPr bwMode="auto">
          <a:xfrm>
            <a:off x="3962400" y="3284538"/>
            <a:ext cx="3298825" cy="2016125"/>
            <a:chOff x="2496" y="2285"/>
            <a:chExt cx="2078" cy="1247"/>
          </a:xfrm>
        </p:grpSpPr>
        <p:sp>
          <p:nvSpPr>
            <p:cNvPr id="33800" name="Line 4"/>
            <p:cNvSpPr>
              <a:spLocks noChangeShapeType="1"/>
            </p:cNvSpPr>
            <p:nvPr/>
          </p:nvSpPr>
          <p:spPr bwMode="auto">
            <a:xfrm flipV="1">
              <a:off x="2852" y="2612"/>
              <a:ext cx="1263" cy="4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01" name="Line 5"/>
            <p:cNvSpPr>
              <a:spLocks noChangeShapeType="1"/>
            </p:cNvSpPr>
            <p:nvPr/>
          </p:nvSpPr>
          <p:spPr bwMode="auto">
            <a:xfrm>
              <a:off x="2852" y="3072"/>
              <a:ext cx="1263" cy="4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02" name="Rectangle 6"/>
            <p:cNvSpPr>
              <a:spLocks noChangeArrowheads="1"/>
            </p:cNvSpPr>
            <p:nvPr/>
          </p:nvSpPr>
          <p:spPr bwMode="auto">
            <a:xfrm>
              <a:off x="4090" y="2285"/>
              <a:ext cx="484" cy="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i="1">
                  <a:latin typeface="Times New Roman" panose="02020603050405020304" pitchFamily="18" charset="0"/>
                </a:rPr>
                <a:t>F</a:t>
              </a:r>
              <a:r>
                <a:rPr lang="en-US" altLang="en-US" baseline="-25000">
                  <a:latin typeface="Times New Roman" panose="02020603050405020304" pitchFamily="18" charset="0"/>
                </a:rPr>
                <a:t>0</a:t>
              </a:r>
              <a:r>
                <a:rPr lang="en-US" altLang="en-US" i="1">
                  <a:latin typeface="Times New Roman" panose="02020603050405020304" pitchFamily="18" charset="0"/>
                </a:rPr>
                <a:t>u</a:t>
              </a:r>
              <a:endParaRPr lang="en-US" altLang="en-US"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 </a:t>
              </a:r>
              <a:r>
                <a:rPr lang="en-US" altLang="en-US">
                  <a:latin typeface="Times New Roman" panose="02020603050405020304" pitchFamily="18" charset="0"/>
                </a:rPr>
                <a:t>ƒ</a:t>
              </a:r>
              <a:r>
                <a:rPr lang="en-US" altLang="en-US" i="1" baseline="-25000">
                  <a:latin typeface="Times New Roman" panose="02020603050405020304" pitchFamily="18" charset="0"/>
                </a:rPr>
                <a:t>u</a:t>
              </a:r>
            </a:p>
          </p:txBody>
        </p:sp>
        <p:sp>
          <p:nvSpPr>
            <p:cNvPr id="33803" name="Rectangle 8"/>
            <p:cNvSpPr>
              <a:spLocks noChangeArrowheads="1"/>
            </p:cNvSpPr>
            <p:nvPr/>
          </p:nvSpPr>
          <p:spPr bwMode="auto">
            <a:xfrm>
              <a:off x="2496" y="2765"/>
              <a:ext cx="462" cy="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i="1">
                  <a:latin typeface="Times New Roman" panose="02020603050405020304" pitchFamily="18" charset="0"/>
                </a:rPr>
                <a:t>F</a:t>
              </a:r>
              <a:r>
                <a:rPr lang="en-US" altLang="en-US" baseline="-25000">
                  <a:latin typeface="Times New Roman" panose="02020603050405020304" pitchFamily="18" charset="0"/>
                </a:rPr>
                <a:t>0</a:t>
              </a:r>
              <a:endParaRPr lang="en-US" altLang="en-US"/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 </a:t>
              </a:r>
              <a:r>
                <a:rPr lang="en-US" altLang="en-US">
                  <a:latin typeface="Times New Roman" panose="02020603050405020304" pitchFamily="18" charset="0"/>
                </a:rPr>
                <a:t>ƒ</a:t>
              </a:r>
            </a:p>
          </p:txBody>
        </p:sp>
      </p:grpSp>
      <p:sp>
        <p:nvSpPr>
          <p:cNvPr id="33799" name="Slide Number Placeholder 1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8BB3BE6-FDF3-4175-923E-4A389CA14EA2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16, Copyright © John C. Hull 2016</a:t>
            </a:r>
            <a:endParaRPr lang="en-US" altLang="en-US" sz="1400" i="0"/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Generalization</a:t>
            </a:r>
            <a:br>
              <a:rPr lang="en-US" altLang="en-US" smtClean="0"/>
            </a:br>
            <a:r>
              <a:rPr lang="en-US" altLang="en-US" sz="2600" smtClean="0"/>
              <a:t>(continued)</a:t>
            </a:r>
          </a:p>
        </p:txBody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sz="2400" smtClean="0"/>
              <a:t>Consider the portfolio that is long </a:t>
            </a:r>
            <a:r>
              <a:rPr lang="en-US" altLang="en-US" sz="2400" smtClean="0">
                <a:latin typeface="Symbol" panose="05050102010706020507" pitchFamily="18" charset="2"/>
              </a:rPr>
              <a:t>D</a:t>
            </a:r>
            <a:r>
              <a:rPr lang="en-US" altLang="en-US" sz="2400" smtClean="0"/>
              <a:t> futures and short 1 derivative																							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400" smtClean="0"/>
          </a:p>
          <a:p>
            <a:pPr eaLnBrk="1" hangingPunct="1"/>
            <a:endParaRPr lang="en-US" altLang="en-US" sz="2400" smtClean="0"/>
          </a:p>
          <a:p>
            <a:pPr eaLnBrk="1" hangingPunct="1"/>
            <a:r>
              <a:rPr lang="en-US" altLang="en-US" sz="2400" smtClean="0"/>
              <a:t>The portfolio is riskless when </a:t>
            </a:r>
          </a:p>
        </p:txBody>
      </p:sp>
      <p:graphicFrame>
        <p:nvGraphicFramePr>
          <p:cNvPr id="34821" name="Object 0"/>
          <p:cNvGraphicFramePr>
            <a:graphicFrameLocks/>
          </p:cNvGraphicFramePr>
          <p:nvPr/>
        </p:nvGraphicFramePr>
        <p:xfrm>
          <a:off x="3276600" y="4953000"/>
          <a:ext cx="28194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8" name="Equation" r:id="rId4" imgW="939392" imgH="431613" progId="Equation.2">
                  <p:embed/>
                </p:oleObj>
              </mc:Choice>
              <mc:Fallback>
                <p:oleObj name="Equation" r:id="rId4" imgW="939392" imgH="431613" progId="Equation.2">
                  <p:embed/>
                  <p:pic>
                    <p:nvPicPr>
                      <p:cNvPr id="0" name="Object 0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4953000"/>
                        <a:ext cx="28194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2" name="Line 5"/>
          <p:cNvSpPr>
            <a:spLocks noChangeShapeType="1"/>
          </p:cNvSpPr>
          <p:nvPr/>
        </p:nvSpPr>
        <p:spPr bwMode="auto">
          <a:xfrm>
            <a:off x="2971800" y="3371850"/>
            <a:ext cx="1857375" cy="3714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23" name="Rectangle 6"/>
          <p:cNvSpPr>
            <a:spLocks noChangeArrowheads="1"/>
          </p:cNvSpPr>
          <p:nvPr/>
        </p:nvSpPr>
        <p:spPr bwMode="auto">
          <a:xfrm>
            <a:off x="5000625" y="2657475"/>
            <a:ext cx="27892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Tx/>
              <a:buSzTx/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</a:rPr>
              <a:t>F</a:t>
            </a:r>
            <a:r>
              <a:rPr lang="en-US" altLang="en-US" sz="2400" baseline="-25000">
                <a:latin typeface="Times New Roman" panose="02020603050405020304" pitchFamily="18" charset="0"/>
              </a:rPr>
              <a:t>0</a:t>
            </a:r>
            <a:r>
              <a:rPr lang="en-US" altLang="en-US" sz="2400" i="1">
                <a:latin typeface="Times New Roman" panose="02020603050405020304" pitchFamily="18" charset="0"/>
              </a:rPr>
              <a:t>u</a:t>
            </a:r>
            <a:r>
              <a:rPr lang="en-US" altLang="en-US" sz="2400"/>
              <a:t> </a:t>
            </a:r>
            <a:r>
              <a:rPr lang="en-US" altLang="en-US" sz="2400">
                <a:latin typeface="Symbol" panose="05050102010706020507" pitchFamily="18" charset="2"/>
              </a:rPr>
              <a:t>D - </a:t>
            </a:r>
            <a:r>
              <a:rPr lang="en-US" altLang="en-US" sz="2400" i="1">
                <a:latin typeface="Times New Roman" panose="02020603050405020304" pitchFamily="18" charset="0"/>
              </a:rPr>
              <a:t>F</a:t>
            </a:r>
            <a:r>
              <a:rPr lang="en-US" altLang="en-US" sz="2400" baseline="-25000">
                <a:latin typeface="Times New Roman" panose="02020603050405020304" pitchFamily="18" charset="0"/>
              </a:rPr>
              <a:t>0</a:t>
            </a:r>
            <a:r>
              <a:rPr lang="en-US" altLang="en-US" sz="2400" i="1">
                <a:latin typeface="Times New Roman" panose="02020603050405020304" pitchFamily="18" charset="0"/>
              </a:rPr>
              <a:t> </a:t>
            </a:r>
            <a:r>
              <a:rPr lang="en-US" altLang="en-US" sz="2400">
                <a:latin typeface="Symbol" panose="05050102010706020507" pitchFamily="18" charset="2"/>
              </a:rPr>
              <a:t>D </a:t>
            </a:r>
            <a:r>
              <a:rPr lang="en-US" altLang="en-US" sz="2400"/>
              <a:t>– </a:t>
            </a:r>
            <a:r>
              <a:rPr lang="en-US" altLang="en-US" sz="2400">
                <a:latin typeface="Times New Roman" panose="02020603050405020304" pitchFamily="18" charset="0"/>
              </a:rPr>
              <a:t>ƒ</a:t>
            </a:r>
            <a:r>
              <a:rPr lang="en-US" altLang="en-US" sz="2400" i="1" baseline="-25000"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34824" name="Rectangle 7"/>
          <p:cNvSpPr>
            <a:spLocks noChangeArrowheads="1"/>
          </p:cNvSpPr>
          <p:nvPr/>
        </p:nvSpPr>
        <p:spPr bwMode="auto">
          <a:xfrm>
            <a:off x="4943475" y="3600450"/>
            <a:ext cx="2803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Tx/>
              <a:buSzTx/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</a:rPr>
              <a:t>F</a:t>
            </a:r>
            <a:r>
              <a:rPr lang="en-US" altLang="en-US" sz="2400" baseline="-25000">
                <a:latin typeface="Times New Roman" panose="02020603050405020304" pitchFamily="18" charset="0"/>
              </a:rPr>
              <a:t>0</a:t>
            </a:r>
            <a:r>
              <a:rPr lang="en-US" altLang="en-US" sz="2400" i="1">
                <a:latin typeface="Times New Roman" panose="02020603050405020304" pitchFamily="18" charset="0"/>
              </a:rPr>
              <a:t>d</a:t>
            </a:r>
            <a:r>
              <a:rPr lang="en-US" altLang="en-US" sz="2400" i="1"/>
              <a:t> </a:t>
            </a:r>
            <a:r>
              <a:rPr lang="en-US" altLang="en-US" sz="2400">
                <a:latin typeface="Symbol" panose="05050102010706020507" pitchFamily="18" charset="2"/>
              </a:rPr>
              <a:t>D- </a:t>
            </a:r>
            <a:r>
              <a:rPr lang="en-US" altLang="en-US" sz="2400" i="1">
                <a:latin typeface="Times New Roman" panose="02020603050405020304" pitchFamily="18" charset="0"/>
              </a:rPr>
              <a:t>F</a:t>
            </a:r>
            <a:r>
              <a:rPr lang="en-US" altLang="en-US" sz="2400" baseline="-25000">
                <a:latin typeface="Times New Roman" panose="02020603050405020304" pitchFamily="18" charset="0"/>
              </a:rPr>
              <a:t>0</a:t>
            </a:r>
            <a:r>
              <a:rPr lang="en-US" altLang="en-US" sz="2400">
                <a:latin typeface="Symbol" panose="05050102010706020507" pitchFamily="18" charset="2"/>
              </a:rPr>
              <a:t>D </a:t>
            </a:r>
            <a:r>
              <a:rPr lang="en-US" altLang="en-US" sz="2400"/>
              <a:t>– </a:t>
            </a:r>
            <a:r>
              <a:rPr lang="en-US" altLang="en-US" sz="2400">
                <a:latin typeface="Times New Roman" panose="02020603050405020304" pitchFamily="18" charset="0"/>
              </a:rPr>
              <a:t>ƒ</a:t>
            </a:r>
            <a:r>
              <a:rPr lang="en-US" altLang="en-US" sz="2400" i="1" baseline="-25000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34825" name="Rectangle 8"/>
          <p:cNvSpPr>
            <a:spLocks noChangeArrowheads="1"/>
          </p:cNvSpPr>
          <p:nvPr/>
        </p:nvSpPr>
        <p:spPr bwMode="auto">
          <a:xfrm>
            <a:off x="2292350" y="3371850"/>
            <a:ext cx="1158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4826" name="Line 9"/>
          <p:cNvSpPr>
            <a:spLocks noChangeShapeType="1"/>
          </p:cNvSpPr>
          <p:nvPr/>
        </p:nvSpPr>
        <p:spPr bwMode="auto">
          <a:xfrm flipV="1">
            <a:off x="2841625" y="2914650"/>
            <a:ext cx="2130425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27" name="Slide Number Placeholder 1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9A1488D-9DFC-43F0-AA39-9AF885338AD5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16, Copyright © John C. Hull 2016</a:t>
            </a:r>
            <a:endParaRPr lang="en-US" altLang="en-US" sz="1400" i="0"/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530225"/>
            <a:ext cx="7772400" cy="11430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Generalization</a:t>
            </a:r>
            <a:br>
              <a:rPr lang="en-US" altLang="en-US" smtClean="0"/>
            </a:br>
            <a:r>
              <a:rPr lang="en-US" altLang="en-US" sz="2600" smtClean="0"/>
              <a:t>(continued)</a:t>
            </a:r>
          </a:p>
        </p:txBody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01763" y="2201863"/>
            <a:ext cx="6342062" cy="3957637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Value of the portfolio at time </a:t>
            </a:r>
            <a:r>
              <a:rPr lang="en-US" altLang="en-US" i="1" smtClean="0">
                <a:latin typeface="Times New Roman" panose="02020603050405020304" pitchFamily="18" charset="0"/>
              </a:rPr>
              <a:t>T</a:t>
            </a:r>
            <a:r>
              <a:rPr lang="en-US" altLang="en-US" smtClean="0"/>
              <a:t> is 	</a:t>
            </a:r>
            <a:r>
              <a:rPr lang="en-US" altLang="en-US" i="1" smtClean="0">
                <a:latin typeface="Times New Roman" panose="02020603050405020304" pitchFamily="18" charset="0"/>
              </a:rPr>
              <a:t>F</a:t>
            </a:r>
            <a:r>
              <a:rPr lang="en-US" altLang="en-US" baseline="-25000" smtClean="0">
                <a:latin typeface="Times New Roman" panose="02020603050405020304" pitchFamily="18" charset="0"/>
              </a:rPr>
              <a:t>0</a:t>
            </a:r>
            <a:r>
              <a:rPr lang="en-US" altLang="en-US" i="1" smtClean="0">
                <a:latin typeface="Times New Roman" panose="02020603050405020304" pitchFamily="18" charset="0"/>
              </a:rPr>
              <a:t>u</a:t>
            </a:r>
            <a:r>
              <a:rPr lang="en-US" altLang="en-US" smtClean="0">
                <a:latin typeface="Times New Roman" panose="02020603050405020304" pitchFamily="18" charset="0"/>
              </a:rPr>
              <a:t> </a:t>
            </a:r>
            <a:r>
              <a:rPr lang="en-US" altLang="en-US" smtClean="0">
                <a:latin typeface="Symbol" panose="05050102010706020507" pitchFamily="18" charset="2"/>
              </a:rPr>
              <a:t>D</a:t>
            </a:r>
            <a:r>
              <a:rPr lang="en-US" altLang="en-US" smtClean="0">
                <a:latin typeface="Times New Roman" panose="02020603050405020304" pitchFamily="18" charset="0"/>
              </a:rPr>
              <a:t> –</a:t>
            </a:r>
            <a:r>
              <a:rPr lang="en-US" altLang="en-US" i="1" smtClean="0">
                <a:latin typeface="Times New Roman" panose="02020603050405020304" pitchFamily="18" charset="0"/>
              </a:rPr>
              <a:t>F</a:t>
            </a:r>
            <a:r>
              <a:rPr lang="en-US" altLang="en-US" baseline="-25000" smtClean="0">
                <a:latin typeface="Times New Roman" panose="02020603050405020304" pitchFamily="18" charset="0"/>
              </a:rPr>
              <a:t>0</a:t>
            </a:r>
            <a:r>
              <a:rPr lang="en-US" altLang="en-US" smtClean="0">
                <a:latin typeface="Symbol" panose="05050102010706020507" pitchFamily="18" charset="2"/>
              </a:rPr>
              <a:t>D</a:t>
            </a:r>
            <a:r>
              <a:rPr lang="en-US" altLang="en-US" smtClean="0">
                <a:latin typeface="Times New Roman" panose="02020603050405020304" pitchFamily="18" charset="0"/>
              </a:rPr>
              <a:t> – ƒ</a:t>
            </a:r>
            <a:r>
              <a:rPr lang="en-US" altLang="en-US" i="1" baseline="-25000" smtClean="0">
                <a:latin typeface="Times New Roman" panose="02020603050405020304" pitchFamily="18" charset="0"/>
              </a:rPr>
              <a:t>u</a:t>
            </a:r>
            <a:endParaRPr lang="en-US" altLang="en-US" smtClean="0"/>
          </a:p>
          <a:p>
            <a:pPr eaLnBrk="1" hangingPunct="1"/>
            <a:r>
              <a:rPr lang="en-US" altLang="en-US" smtClean="0"/>
              <a:t>Value of portfolio </a:t>
            </a:r>
            <a:r>
              <a:rPr lang="en-US" altLang="en-US" i="1" smtClean="0"/>
              <a:t>today</a:t>
            </a:r>
            <a:r>
              <a:rPr lang="en-US" altLang="en-US" smtClean="0"/>
              <a:t> is – </a:t>
            </a:r>
            <a:r>
              <a:rPr lang="en-US" altLang="en-US" smtClean="0">
                <a:latin typeface="Times New Roman" panose="02020603050405020304" pitchFamily="18" charset="0"/>
              </a:rPr>
              <a:t>ƒ</a:t>
            </a:r>
            <a:endParaRPr lang="en-US" altLang="en-US" smtClean="0"/>
          </a:p>
          <a:p>
            <a:pPr eaLnBrk="1" hangingPunct="1"/>
            <a:r>
              <a:rPr lang="en-US" altLang="en-US" smtClean="0"/>
              <a:t>Hence 						</a:t>
            </a:r>
            <a:r>
              <a:rPr lang="en-US" altLang="en-US" smtClean="0">
                <a:latin typeface="Times New Roman" panose="02020603050405020304" pitchFamily="18" charset="0"/>
              </a:rPr>
              <a:t>ƒ = – [</a:t>
            </a:r>
            <a:r>
              <a:rPr lang="en-US" altLang="en-US" i="1" smtClean="0">
                <a:latin typeface="Times New Roman" panose="02020603050405020304" pitchFamily="18" charset="0"/>
              </a:rPr>
              <a:t>F</a:t>
            </a:r>
            <a:r>
              <a:rPr lang="en-US" altLang="en-US" baseline="-25000" smtClean="0">
                <a:latin typeface="Times New Roman" panose="02020603050405020304" pitchFamily="18" charset="0"/>
              </a:rPr>
              <a:t>0</a:t>
            </a:r>
            <a:r>
              <a:rPr lang="en-US" altLang="en-US" i="1" smtClean="0">
                <a:latin typeface="Times New Roman" panose="02020603050405020304" pitchFamily="18" charset="0"/>
              </a:rPr>
              <a:t>u</a:t>
            </a:r>
            <a:r>
              <a:rPr lang="en-US" altLang="en-US" smtClean="0"/>
              <a:t> </a:t>
            </a:r>
            <a:r>
              <a:rPr lang="en-US" altLang="en-US" smtClean="0">
                <a:latin typeface="Symbol" panose="05050102010706020507" pitchFamily="18" charset="2"/>
              </a:rPr>
              <a:t>D </a:t>
            </a:r>
            <a:r>
              <a:rPr lang="en-US" altLang="en-US" smtClean="0"/>
              <a:t>–</a:t>
            </a:r>
            <a:r>
              <a:rPr lang="en-US" altLang="en-US" i="1" smtClean="0">
                <a:latin typeface="Times New Roman" panose="02020603050405020304" pitchFamily="18" charset="0"/>
              </a:rPr>
              <a:t>F</a:t>
            </a:r>
            <a:r>
              <a:rPr lang="en-US" altLang="en-US" baseline="-25000" smtClean="0">
                <a:latin typeface="Times New Roman" panose="02020603050405020304" pitchFamily="18" charset="0"/>
              </a:rPr>
              <a:t>0</a:t>
            </a:r>
            <a:r>
              <a:rPr lang="en-US" altLang="en-US" smtClean="0">
                <a:latin typeface="Symbol" panose="05050102010706020507" pitchFamily="18" charset="2"/>
              </a:rPr>
              <a:t>D </a:t>
            </a:r>
            <a:r>
              <a:rPr lang="en-US" altLang="en-US" smtClean="0"/>
              <a:t>– </a:t>
            </a:r>
            <a:r>
              <a:rPr lang="en-US" altLang="en-US" smtClean="0">
                <a:latin typeface="Times New Roman" panose="02020603050405020304" pitchFamily="18" charset="0"/>
              </a:rPr>
              <a:t>ƒ</a:t>
            </a:r>
            <a:r>
              <a:rPr lang="en-US" altLang="en-US" i="1" baseline="-25000" smtClean="0">
                <a:latin typeface="Times New Roman" panose="02020603050405020304" pitchFamily="18" charset="0"/>
              </a:rPr>
              <a:t>u</a:t>
            </a:r>
            <a:r>
              <a:rPr lang="en-US" altLang="en-US" smtClean="0">
                <a:latin typeface="Times New Roman" panose="02020603050405020304" pitchFamily="18" charset="0"/>
              </a:rPr>
              <a:t>]e</a:t>
            </a:r>
            <a:r>
              <a:rPr lang="en-US" altLang="en-US" baseline="30000" smtClean="0">
                <a:latin typeface="Times New Roman" panose="02020603050405020304" pitchFamily="18" charset="0"/>
              </a:rPr>
              <a:t>-</a:t>
            </a:r>
            <a:r>
              <a:rPr lang="en-US" altLang="en-US" i="1" baseline="30000" smtClean="0">
                <a:latin typeface="Times New Roman" panose="02020603050405020304" pitchFamily="18" charset="0"/>
              </a:rPr>
              <a:t>rT</a:t>
            </a:r>
            <a:endParaRPr lang="en-US" altLang="en-US" smtClean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mtClean="0"/>
          </a:p>
        </p:txBody>
      </p:sp>
      <p:sp>
        <p:nvSpPr>
          <p:cNvPr id="3584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E8A7A28-B576-4384-926C-3AD9A1811731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16, Copyright © John C. Hull 2016</a:t>
            </a:r>
            <a:endParaRPr lang="en-US" altLang="en-US" sz="1400" i="0"/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Generalization</a:t>
            </a:r>
            <a:br>
              <a:rPr lang="en-US" altLang="en-US" smtClean="0"/>
            </a:br>
            <a:r>
              <a:rPr lang="en-US" altLang="en-US" sz="2600" smtClean="0"/>
              <a:t>(continued)</a:t>
            </a:r>
          </a:p>
        </p:txBody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14413" y="2028825"/>
            <a:ext cx="10469562" cy="41148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Substituting for </a:t>
            </a:r>
            <a:r>
              <a:rPr lang="en-US" altLang="en-US" smtClean="0">
                <a:latin typeface="Symbol" panose="05050102010706020507" pitchFamily="18" charset="2"/>
              </a:rPr>
              <a:t>D</a:t>
            </a:r>
            <a:r>
              <a:rPr lang="en-US" altLang="en-US" smtClean="0"/>
              <a:t> we obtain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smtClean="0">
                <a:latin typeface="Times New Roman" panose="02020603050405020304" pitchFamily="18" charset="0"/>
              </a:rPr>
              <a:t>ƒ = [ </a:t>
            </a:r>
            <a:r>
              <a:rPr lang="en-US" altLang="en-US" sz="2800" i="1" smtClean="0">
                <a:latin typeface="Times New Roman" panose="02020603050405020304" pitchFamily="18" charset="0"/>
              </a:rPr>
              <a:t>p</a:t>
            </a:r>
            <a:r>
              <a:rPr lang="en-US" altLang="en-US" sz="2800" smtClean="0">
                <a:latin typeface="Times New Roman" panose="02020603050405020304" pitchFamily="18" charset="0"/>
              </a:rPr>
              <a:t> ƒ</a:t>
            </a:r>
            <a:r>
              <a:rPr lang="en-US" altLang="en-US" sz="2800" i="1" baseline="-25000" smtClean="0">
                <a:latin typeface="Times New Roman" panose="02020603050405020304" pitchFamily="18" charset="0"/>
              </a:rPr>
              <a:t>u</a:t>
            </a:r>
            <a:r>
              <a:rPr lang="en-US" altLang="en-US" sz="2800" smtClean="0">
                <a:latin typeface="Times New Roman" panose="02020603050405020304" pitchFamily="18" charset="0"/>
              </a:rPr>
              <a:t> + (1 – </a:t>
            </a:r>
            <a:r>
              <a:rPr lang="en-US" altLang="en-US" sz="2800" i="1" smtClean="0">
                <a:latin typeface="Times New Roman" panose="02020603050405020304" pitchFamily="18" charset="0"/>
              </a:rPr>
              <a:t>p</a:t>
            </a:r>
            <a:r>
              <a:rPr lang="en-US" altLang="en-US" sz="2800" smtClean="0">
                <a:latin typeface="Times New Roman" panose="02020603050405020304" pitchFamily="18" charset="0"/>
              </a:rPr>
              <a:t> )ƒ</a:t>
            </a:r>
            <a:r>
              <a:rPr lang="en-US" altLang="en-US" sz="2800" i="1" baseline="-25000" smtClean="0">
                <a:latin typeface="Times New Roman" panose="02020603050405020304" pitchFamily="18" charset="0"/>
              </a:rPr>
              <a:t>d</a:t>
            </a:r>
            <a:r>
              <a:rPr lang="en-US" altLang="en-US" sz="2800" smtClean="0">
                <a:latin typeface="Times New Roman" panose="02020603050405020304" pitchFamily="18" charset="0"/>
              </a:rPr>
              <a:t> ]e</a:t>
            </a:r>
            <a:r>
              <a:rPr lang="en-US" altLang="en-US" sz="2800" baseline="30000" smtClean="0">
                <a:latin typeface="Times New Roman" panose="02020603050405020304" pitchFamily="18" charset="0"/>
              </a:rPr>
              <a:t>–</a:t>
            </a:r>
            <a:r>
              <a:rPr lang="en-US" altLang="en-US" sz="2800" i="1" baseline="30000" smtClean="0">
                <a:latin typeface="Times New Roman" panose="02020603050405020304" pitchFamily="18" charset="0"/>
              </a:rPr>
              <a:t>rT</a:t>
            </a:r>
            <a:r>
              <a:rPr lang="en-US" altLang="en-US" sz="2800" smtClean="0">
                <a:latin typeface="Times New Roman" panose="02020603050405020304" pitchFamily="18" charset="0"/>
              </a:rPr>
              <a:t>	 </a:t>
            </a:r>
            <a:r>
              <a:rPr lang="en-US" altLang="en-US" smtClean="0">
                <a:latin typeface="Times New Roman" panose="02020603050405020304" pitchFamily="18" charset="0"/>
              </a:rPr>
              <a:t>	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mtClean="0"/>
              <a:t>where   </a:t>
            </a:r>
          </a:p>
        </p:txBody>
      </p:sp>
      <p:graphicFrame>
        <p:nvGraphicFramePr>
          <p:cNvPr id="36869" name="Object 0"/>
          <p:cNvGraphicFramePr>
            <a:graphicFrameLocks noChangeAspect="1"/>
          </p:cNvGraphicFramePr>
          <p:nvPr/>
        </p:nvGraphicFramePr>
        <p:xfrm>
          <a:off x="3276600" y="4191000"/>
          <a:ext cx="16002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1" name="Equation" r:id="rId4" imgW="647419" imgH="393529" progId="Equation.3">
                  <p:embed/>
                </p:oleObj>
              </mc:Choice>
              <mc:Fallback>
                <p:oleObj name="Equation" r:id="rId4" imgW="647419" imgH="393529" progId="Equation.3">
                  <p:embed/>
                  <p:pic>
                    <p:nvPicPr>
                      <p:cNvPr id="0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4191000"/>
                        <a:ext cx="1600200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0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0365B5E-769D-4C1B-BCD1-BD114014ECC2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16, Copyright © John C. Hull 2016</a:t>
            </a:r>
            <a:endParaRPr lang="en-US" altLang="en-US" sz="1400" i="0"/>
          </a:p>
        </p:txBody>
      </p:sp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American Futures Option Prices vs American Spot Option Prices</a:t>
            </a:r>
          </a:p>
        </p:txBody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4525" y="2278063"/>
            <a:ext cx="7772400" cy="41148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sz="2800" smtClean="0"/>
              <a:t>If futures prices are higher than spot prices (normal market), an American call on futures is worth more than a similar American call on spot. An American put on futures is worth less than a similar American put on spot</a:t>
            </a:r>
          </a:p>
          <a:p>
            <a:pPr eaLnBrk="1" hangingPunct="1"/>
            <a:r>
              <a:rPr lang="en-US" altLang="en-US" sz="2800" smtClean="0"/>
              <a:t>When futures prices are lower than spot prices (inverted market) the reverse is true</a:t>
            </a:r>
          </a:p>
        </p:txBody>
      </p:sp>
      <p:sp>
        <p:nvSpPr>
          <p:cNvPr id="3789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49BAC75-1128-4E59-8332-6333CA0E378B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Futures Style Options</a:t>
            </a:r>
            <a:r>
              <a:rPr lang="en-US" sz="2700" dirty="0" smtClean="0">
                <a:solidFill>
                  <a:schemeClr val="tx2">
                    <a:satMod val="130000"/>
                  </a:schemeClr>
                </a:solidFill>
              </a:rPr>
              <a:t> </a:t>
            </a:r>
            <a:r>
              <a:rPr lang="en-US" sz="2000" dirty="0" smtClean="0">
                <a:solidFill>
                  <a:schemeClr val="tx2">
                    <a:satMod val="130000"/>
                  </a:schemeClr>
                </a:solidFill>
              </a:rPr>
              <a:t>(page 354-55)</a:t>
            </a:r>
            <a:endParaRPr lang="en-US" sz="20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389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800" smtClean="0"/>
              <a:t>A futures-style option is a futures contract on the option payoff</a:t>
            </a:r>
          </a:p>
          <a:p>
            <a:pPr eaLnBrk="1" hangingPunct="1"/>
            <a:r>
              <a:rPr lang="en-US" altLang="en-US" sz="2800" smtClean="0"/>
              <a:t>Some exchanges trade these in preference to regular futures options</a:t>
            </a:r>
          </a:p>
          <a:p>
            <a:pPr eaLnBrk="1" hangingPunct="1"/>
            <a:r>
              <a:rPr lang="en-US" altLang="en-US" sz="2800" smtClean="0"/>
              <a:t>The futures price for a call futures-style option is</a:t>
            </a:r>
          </a:p>
          <a:p>
            <a:pPr eaLnBrk="1" hangingPunct="1"/>
            <a:endParaRPr lang="en-US" altLang="en-US" smtClean="0"/>
          </a:p>
          <a:p>
            <a:pPr eaLnBrk="1" hangingPunct="1"/>
            <a:r>
              <a:rPr lang="en-US" altLang="en-US" sz="2800" smtClean="0"/>
              <a:t>The futures price for a put futures-style option is</a:t>
            </a:r>
          </a:p>
          <a:p>
            <a:pPr eaLnBrk="1" hangingPunct="1"/>
            <a:endParaRPr lang="en-US" altLang="en-US" smtClean="0"/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en-US" smtClean="0"/>
          </a:p>
        </p:txBody>
      </p:sp>
      <p:sp>
        <p:nvSpPr>
          <p:cNvPr id="3891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16, Copyright © John C. Hull 2016</a:t>
            </a:r>
            <a:endParaRPr lang="en-US" altLang="en-US" sz="1400"/>
          </a:p>
        </p:txBody>
      </p:sp>
      <p:graphicFrame>
        <p:nvGraphicFramePr>
          <p:cNvPr id="38917" name="Object 2"/>
          <p:cNvGraphicFramePr>
            <a:graphicFrameLocks noChangeAspect="1"/>
          </p:cNvGraphicFramePr>
          <p:nvPr/>
        </p:nvGraphicFramePr>
        <p:xfrm>
          <a:off x="3505200" y="4267200"/>
          <a:ext cx="274320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20" name="Equation" r:id="rId4" imgW="1168400" imgH="228600" progId="Equation.3">
                  <p:embed/>
                </p:oleObj>
              </mc:Choice>
              <mc:Fallback>
                <p:oleObj name="Equation" r:id="rId4" imgW="116840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4267200"/>
                        <a:ext cx="2743200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8" name="Object 3"/>
          <p:cNvGraphicFramePr>
            <a:graphicFrameLocks noChangeAspect="1"/>
          </p:cNvGraphicFramePr>
          <p:nvPr/>
        </p:nvGraphicFramePr>
        <p:xfrm>
          <a:off x="3500438" y="5429250"/>
          <a:ext cx="27432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21" name="Equation" r:id="rId6" imgW="1333500" imgH="228600" progId="Equation.3">
                  <p:embed/>
                </p:oleObj>
              </mc:Choice>
              <mc:Fallback>
                <p:oleObj name="Equation" r:id="rId6" imgW="1333500" imgH="228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0438" y="5429250"/>
                        <a:ext cx="27432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9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5F6FF43-7F17-4387-AD3B-7224ECC342CE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16, Copyright © John C. Hull 2016</a:t>
            </a:r>
            <a:endParaRPr lang="en-US" altLang="en-US" sz="1400" i="0"/>
          </a:p>
        </p:txBody>
      </p:sp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>
          <a:xfrm>
            <a:off x="357188" y="122238"/>
            <a:ext cx="7643812" cy="963612"/>
          </a:xfrm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altLang="en-US" smtClean="0"/>
              <a:t>Put-Call Parity Results: Summary</a:t>
            </a:r>
          </a:p>
        </p:txBody>
      </p:sp>
      <p:graphicFrame>
        <p:nvGraphicFramePr>
          <p:cNvPr id="39940" name="Object 0">
            <a:hlinkClick r:id="" action="ppaction://ole?verb=0"/>
          </p:cNvPr>
          <p:cNvGraphicFramePr>
            <a:graphicFrameLocks/>
          </p:cNvGraphicFramePr>
          <p:nvPr/>
        </p:nvGraphicFramePr>
        <p:xfrm>
          <a:off x="1833563" y="1271588"/>
          <a:ext cx="4249737" cy="4532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42" name="Equation" r:id="rId4" imgW="1752600" imgH="1905000" progId="Equation.3">
                  <p:embed/>
                </p:oleObj>
              </mc:Choice>
              <mc:Fallback>
                <p:oleObj name="Equation" r:id="rId4" imgW="1752600" imgH="1905000" progId="Equation.3">
                  <p:embed/>
                  <p:pic>
                    <p:nvPicPr>
                      <p:cNvPr id="0" name="Object 0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3563" y="1271588"/>
                        <a:ext cx="4249737" cy="4532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98718B9-1064-499C-835C-E0EF88882C78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US" altLang="en-US"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16, Copyright © John C. Hull 2016</a:t>
            </a:r>
            <a:endParaRPr lang="en-US" altLang="en-US" sz="1400" i="0"/>
          </a:p>
        </p:txBody>
      </p:sp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077200" cy="15240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Summary of Key Results from Chapters 15 and 16 </a:t>
            </a:r>
          </a:p>
        </p:txBody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98500" y="1752600"/>
            <a:ext cx="7683500" cy="4386263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We can treat stock indices, currencies, &amp; futures like a stock paying a continuous dividend yield of </a:t>
            </a:r>
            <a:r>
              <a:rPr lang="en-US" altLang="en-US" i="1" smtClean="0">
                <a:latin typeface="Times New Roman" panose="02020603050405020304" pitchFamily="18" charset="0"/>
              </a:rPr>
              <a:t>q</a:t>
            </a:r>
            <a:endParaRPr lang="en-US" altLang="en-US" smtClean="0"/>
          </a:p>
          <a:p>
            <a:pPr lvl="1" eaLnBrk="1" hangingPunct="1"/>
            <a:r>
              <a:rPr lang="en-US" altLang="en-US" sz="3200" smtClean="0"/>
              <a:t>For stock indices, </a:t>
            </a:r>
            <a:r>
              <a:rPr lang="en-US" altLang="en-US" sz="3200" i="1" smtClean="0">
                <a:latin typeface="Times New Roman" panose="02020603050405020304" pitchFamily="18" charset="0"/>
              </a:rPr>
              <a:t>q</a:t>
            </a:r>
            <a:r>
              <a:rPr lang="en-US" altLang="en-US" sz="3200" i="1" smtClean="0"/>
              <a:t> </a:t>
            </a:r>
            <a:r>
              <a:rPr lang="en-US" altLang="en-US" sz="3200" smtClean="0"/>
              <a:t>= average dividend yield on the index over the option life</a:t>
            </a:r>
          </a:p>
          <a:p>
            <a:pPr lvl="1" eaLnBrk="1" hangingPunct="1"/>
            <a:r>
              <a:rPr lang="en-US" altLang="en-US" sz="3200" smtClean="0"/>
              <a:t>For currencies, </a:t>
            </a:r>
            <a:r>
              <a:rPr lang="en-US" altLang="en-US" sz="3200" i="1" smtClean="0">
                <a:latin typeface="Times New Roman" panose="02020603050405020304" pitchFamily="18" charset="0"/>
              </a:rPr>
              <a:t>q</a:t>
            </a:r>
            <a:r>
              <a:rPr lang="en-US" altLang="en-US" sz="3200" smtClean="0">
                <a:latin typeface="Times New Roman" panose="02020603050405020304" pitchFamily="18" charset="0"/>
              </a:rPr>
              <a:t> = </a:t>
            </a:r>
            <a:r>
              <a:rPr lang="en-US" altLang="en-US" sz="3200" i="1" smtClean="0">
                <a:latin typeface="Times New Roman" panose="02020603050405020304" pitchFamily="18" charset="0"/>
              </a:rPr>
              <a:t>r</a:t>
            </a:r>
            <a:r>
              <a:rPr lang="en-US" altLang="en-US" sz="3200" i="1" baseline="-25000" smtClean="0">
                <a:latin typeface="Times New Roman" panose="02020603050405020304" pitchFamily="18" charset="0"/>
              </a:rPr>
              <a:t>ƒ</a:t>
            </a:r>
            <a:endParaRPr lang="en-US" altLang="en-US" sz="3200" baseline="-25000" smtClean="0">
              <a:latin typeface="Times New Roman" panose="02020603050405020304" pitchFamily="18" charset="0"/>
            </a:endParaRPr>
          </a:p>
          <a:p>
            <a:pPr lvl="1" eaLnBrk="1" hangingPunct="1"/>
            <a:r>
              <a:rPr lang="en-US" altLang="en-US" sz="3200" smtClean="0"/>
              <a:t>For futures, </a:t>
            </a:r>
            <a:r>
              <a:rPr lang="en-US" altLang="en-US" sz="3200" i="1" smtClean="0">
                <a:latin typeface="Times New Roman" panose="02020603050405020304" pitchFamily="18" charset="0"/>
              </a:rPr>
              <a:t>q</a:t>
            </a:r>
            <a:r>
              <a:rPr lang="en-US" altLang="en-US" sz="3200" smtClean="0">
                <a:latin typeface="Times New Roman" panose="02020603050405020304" pitchFamily="18" charset="0"/>
              </a:rPr>
              <a:t> = </a:t>
            </a:r>
            <a:r>
              <a:rPr lang="en-US" altLang="en-US" sz="3200" i="1" smtClean="0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4096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EC5039C-ADE1-4C27-8584-249BBB32F0D0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US" altLang="en-US"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Network">
  <a:themeElements>
    <a:clrScheme name="1_Network 9">
      <a:dk1>
        <a:srgbClr val="000000"/>
      </a:dk1>
      <a:lt1>
        <a:srgbClr val="FFFFFF"/>
      </a:lt1>
      <a:dk2>
        <a:srgbClr val="7C1302"/>
      </a:dk2>
      <a:lt2>
        <a:srgbClr val="CC9900"/>
      </a:lt2>
      <a:accent1>
        <a:srgbClr val="CC9900"/>
      </a:accent1>
      <a:accent2>
        <a:srgbClr val="CC3300"/>
      </a:accent2>
      <a:accent3>
        <a:srgbClr val="FFFFFF"/>
      </a:accent3>
      <a:accent4>
        <a:srgbClr val="000000"/>
      </a:accent4>
      <a:accent5>
        <a:srgbClr val="E2CAAA"/>
      </a:accent5>
      <a:accent6>
        <a:srgbClr val="B92D00"/>
      </a:accent6>
      <a:hlink>
        <a:srgbClr val="808080"/>
      </a:hlink>
      <a:folHlink>
        <a:srgbClr val="CCCC66"/>
      </a:folHlink>
    </a:clrScheme>
    <a:fontScheme name="1_Network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1_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DB470C54600C46B1B0C1FE5EDD1D1B" ma:contentTypeVersion="3" ma:contentTypeDescription="Create a new document." ma:contentTypeScope="" ma:versionID="14dc9d57259abab41c863f8d0f9e2276">
  <xsd:schema xmlns:xsd="http://www.w3.org/2001/XMLSchema" xmlns:xs="http://www.w3.org/2001/XMLSchema" xmlns:p="http://schemas.microsoft.com/office/2006/metadata/properties" xmlns:ns2="cd351f98-0ba7-41cd-87bd-5169e413bab1" targetNamespace="http://schemas.microsoft.com/office/2006/metadata/properties" ma:root="true" ma:fieldsID="f27d059874946e97d17eaa08f9af4415" ns2:_="">
    <xsd:import namespace="cd351f98-0ba7-41cd-87bd-5169e413bab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351f98-0ba7-41cd-87bd-5169e413ba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B874545-BCC9-4CB5-AF74-1AFA64B0E0B7}"/>
</file>

<file path=customXml/itemProps2.xml><?xml version="1.0" encoding="utf-8"?>
<ds:datastoreItem xmlns:ds="http://schemas.openxmlformats.org/officeDocument/2006/customXml" ds:itemID="{92C8381F-050B-486B-9596-DBF2A5463D9A}"/>
</file>

<file path=customXml/itemProps3.xml><?xml version="1.0" encoding="utf-8"?>
<ds:datastoreItem xmlns:ds="http://schemas.openxmlformats.org/officeDocument/2006/customXml" ds:itemID="{FEFB7DFD-8397-416C-8ACB-8C99662BCCCF}"/>
</file>

<file path=docProps/app.xml><?xml version="1.0" encoding="utf-8"?>
<Properties xmlns="http://schemas.openxmlformats.org/officeDocument/2006/extended-properties" xmlns:vt="http://schemas.openxmlformats.org/officeDocument/2006/docPropsVTypes">
  <Template>Financial Risk Management6</Template>
  <TotalTime>585</TotalTime>
  <Words>1505</Words>
  <Application>Microsoft Office PowerPoint</Application>
  <PresentationFormat>On-screen Show (4:3)</PresentationFormat>
  <Paragraphs>223</Paragraphs>
  <Slides>28</Slides>
  <Notes>28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Arial</vt:lpstr>
      <vt:lpstr>Times New Roman</vt:lpstr>
      <vt:lpstr>Wingdings</vt:lpstr>
      <vt:lpstr>Symbol</vt:lpstr>
      <vt:lpstr>Wingdings 2</vt:lpstr>
      <vt:lpstr>1_Network</vt:lpstr>
      <vt:lpstr>Microsoft Equation 3.0</vt:lpstr>
      <vt:lpstr>Microsoft Equation 2.0</vt:lpstr>
      <vt:lpstr>Futures Options and Black’s Model</vt:lpstr>
      <vt:lpstr>Options on Futures</vt:lpstr>
      <vt:lpstr>Mechanics of Call Futures Options</vt:lpstr>
      <vt:lpstr>Mechanics of Put Futures Option</vt:lpstr>
      <vt:lpstr>Example 16.1 (page 345)</vt:lpstr>
      <vt:lpstr>Example 16.2 (page 346)</vt:lpstr>
      <vt:lpstr>The Payoffs</vt:lpstr>
      <vt:lpstr>Potential Advantages of Futures Options over Spot Options</vt:lpstr>
      <vt:lpstr>European Futures Options</vt:lpstr>
      <vt:lpstr>Put-Call Parity for European Futures Options (Equation 16.1, page 348)</vt:lpstr>
      <vt:lpstr>Other Relations</vt:lpstr>
      <vt:lpstr>Growth Rates For Futures Prices</vt:lpstr>
      <vt:lpstr>Valuing  European Futures Options </vt:lpstr>
      <vt:lpstr>How Black’s Model is Used in Practice</vt:lpstr>
      <vt:lpstr>Black’s Model  (Equations 16.5 and 16.6, page 350)</vt:lpstr>
      <vt:lpstr>Using Black’s Model Instead of Black-Scholes (Example 16.5, page 351)</vt:lpstr>
      <vt:lpstr>Binomial Tree Example</vt:lpstr>
      <vt:lpstr>Setting Up a Riskless Portfolio</vt:lpstr>
      <vt:lpstr>Valuing the Portfolio ( Risk-Free Rate is 6% )</vt:lpstr>
      <vt:lpstr>Valuing the Option</vt:lpstr>
      <vt:lpstr>Generalization of Binomial Tree Example (Figure 16.2, page 353)</vt:lpstr>
      <vt:lpstr>Generalization (continued)</vt:lpstr>
      <vt:lpstr>Generalization (continued)</vt:lpstr>
      <vt:lpstr>Generalization (continued)</vt:lpstr>
      <vt:lpstr>American Futures Option Prices vs American Spot Option Prices</vt:lpstr>
      <vt:lpstr>Futures Style Options (page 354-55)</vt:lpstr>
      <vt:lpstr>Put-Call Parity Results: Summary</vt:lpstr>
      <vt:lpstr>Summary of Key Results from Chapters 15 and 16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Futures Options</dc:title>
  <dc:subject>Fundamentals of Futures and Options Markets, 9e</dc:subject>
  <dc:creator>John  C. Hull</dc:creator>
  <cp:keywords>Chapter 16</cp:keywords>
  <dc:description>Copyright 2016 by John C. Hull. All Rights Reserved. Published 2016.</dc:description>
  <cp:lastModifiedBy>John Hull</cp:lastModifiedBy>
  <cp:revision>38</cp:revision>
  <cp:lastPrinted>2001-05-03T13:19:47Z</cp:lastPrinted>
  <dcterms:created xsi:type="dcterms:W3CDTF">1999-07-02T13:34:17Z</dcterms:created>
  <dcterms:modified xsi:type="dcterms:W3CDTF">2016-01-20T21:04:01Z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0x01010034DB470C54600C46B1B0C1FE5EDD1D1B</vt:lpwstr>
  </property>
</Properties>
</file>