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s/slide2.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39.xml" ContentType="application/vnd.openxmlformats-officedocument.presentationml.slide+xml"/>
  <Override PartName="/ppt/slides/slide43.xml" ContentType="application/vnd.openxmlformats-officedocument.presentationml.slide+xml"/>
  <Override PartName="/ppt/slides/slide37.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8.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36.xml" ContentType="application/vnd.openxmlformats-officedocument.presentationml.slide+xml"/>
  <Override PartName="/ppt/notesSlides/notesSlide36.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slideMasters/slideMaster1.xml" ContentType="application/vnd.openxmlformats-officedocument.presentationml.slideMaster+xml"/>
  <Override PartName="/ppt/notesSlides/notesSlide37.xml" ContentType="application/vnd.openxmlformats-officedocument.presentationml.notesSlide+xml"/>
  <Override PartName="/ppt/notesSlides/notesSlide33.xml" ContentType="application/vnd.openxmlformats-officedocument.presentationml.notesSlide+xml"/>
  <Override PartName="/ppt/notesSlides/notesSlide42.xml" ContentType="application/vnd.openxmlformats-officedocument.presentationml.notesSlide+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notesSlides/notesSlide24.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5.xml" ContentType="application/vnd.openxmlformats-officedocument.presentationml.notesSlide+xml"/>
  <Override PartName="/ppt/notesSlides/notesSlide5.xml" ContentType="application/vnd.openxmlformats-officedocument.presentationml.notesSlide+xml"/>
  <Override PartName="/ppt/notesSlides/notesSlide2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27.xml" ContentType="application/vnd.openxmlformats-officedocument.presentationml.notesSlide+xml"/>
  <Override PartName="/ppt/notesSlides/notesSlide4.xml" ContentType="application/vnd.openxmlformats-officedocument.presentationml.notesSlide+xml"/>
  <Override PartName="/ppt/notesSlides/notesSlide23.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3.xml" ContentType="application/vnd.openxmlformats-officedocument.presentationml.notesSlide+xml"/>
  <Override PartName="/ppt/notesSlides/notesSlide18.xml" ContentType="application/vnd.openxmlformats-officedocument.presentationml.notesSlide+xml"/>
  <Override PartName="/ppt/notesSlides/notesSlide14.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12.xml" ContentType="application/vnd.openxmlformats-officedocument.presentationml.notesSlide+xml"/>
  <Override PartName="/ppt/notesSlides/notesSlide20.xml" ContentType="application/vnd.openxmlformats-officedocument.presentationml.notesSlide+xml"/>
  <Override PartName="/ppt/notesSlides/notesSlide11.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8.xml" ContentType="application/vnd.openxmlformats-officedocument.presentationml.notesSlide+xml"/>
  <Override PartName="/ppt/notesSlides/notesSlide6.xml" ContentType="application/vnd.openxmlformats-officedocument.presentationml.notesSlide+xml"/>
  <Override PartName="/ppt/slideLayouts/slideLayout1.xml" ContentType="application/vnd.openxmlformats-officedocument.presentationml.slideLayout+xml"/>
  <Override PartName="/ppt/notesSlides/notesSlide29.xml" ContentType="application/vnd.openxmlformats-officedocument.presentationml.notesSlid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Slides/notesSlide32.xml" ContentType="application/vnd.openxmlformats-officedocument.presentationml.notesSlide+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notesSlides/notesSlide31.xml" ContentType="application/vnd.openxmlformats-officedocument.presentationml.notesSlide+xml"/>
  <Override PartName="/ppt/notesSlides/notesSlide30.xml" ContentType="application/vnd.openxmlformats-officedocument.presentationml.notesSlide+xml"/>
  <Override PartName="/ppt/notesSlides/notesSlide1.xml" ContentType="application/vnd.openxmlformats-officedocument.presentationml.notes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0" r:id="rId1"/>
  </p:sldMasterIdLst>
  <p:notesMasterIdLst>
    <p:notesMasterId r:id="rId47"/>
  </p:notesMasterIdLst>
  <p:handoutMasterIdLst>
    <p:handoutMasterId r:id="rId48"/>
  </p:handoutMasterIdLst>
  <p:sldIdLst>
    <p:sldId id="317" r:id="rId2"/>
    <p:sldId id="257" r:id="rId3"/>
    <p:sldId id="258" r:id="rId4"/>
    <p:sldId id="304" r:id="rId5"/>
    <p:sldId id="259" r:id="rId6"/>
    <p:sldId id="292" r:id="rId7"/>
    <p:sldId id="305" r:id="rId8"/>
    <p:sldId id="325" r:id="rId9"/>
    <p:sldId id="327" r:id="rId10"/>
    <p:sldId id="328" r:id="rId11"/>
    <p:sldId id="329" r:id="rId12"/>
    <p:sldId id="330" r:id="rId13"/>
    <p:sldId id="331" r:id="rId14"/>
    <p:sldId id="334" r:id="rId15"/>
    <p:sldId id="332" r:id="rId16"/>
    <p:sldId id="260" r:id="rId17"/>
    <p:sldId id="261" r:id="rId18"/>
    <p:sldId id="262" r:id="rId19"/>
    <p:sldId id="263" r:id="rId20"/>
    <p:sldId id="264" r:id="rId21"/>
    <p:sldId id="265" r:id="rId22"/>
    <p:sldId id="333" r:id="rId23"/>
    <p:sldId id="267" r:id="rId24"/>
    <p:sldId id="268" r:id="rId25"/>
    <p:sldId id="335" r:id="rId26"/>
    <p:sldId id="269" r:id="rId27"/>
    <p:sldId id="318" r:id="rId28"/>
    <p:sldId id="319" r:id="rId29"/>
    <p:sldId id="320" r:id="rId30"/>
    <p:sldId id="321" r:id="rId31"/>
    <p:sldId id="271" r:id="rId32"/>
    <p:sldId id="280" r:id="rId33"/>
    <p:sldId id="281" r:id="rId34"/>
    <p:sldId id="282" r:id="rId35"/>
    <p:sldId id="283" r:id="rId36"/>
    <p:sldId id="322" r:id="rId37"/>
    <p:sldId id="323" r:id="rId38"/>
    <p:sldId id="324" r:id="rId39"/>
    <p:sldId id="311" r:id="rId40"/>
    <p:sldId id="312" r:id="rId41"/>
    <p:sldId id="313" r:id="rId42"/>
    <p:sldId id="314" r:id="rId43"/>
    <p:sldId id="316" r:id="rId44"/>
    <p:sldId id="336" r:id="rId45"/>
    <p:sldId id="302" r:id="rId46"/>
  </p:sldIdLst>
  <p:sldSz cx="9144000" cy="6858000" type="screen4x3"/>
  <p:notesSz cx="6858000" cy="92075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5" autoAdjust="0"/>
    <p:restoredTop sz="94604" autoAdjust="0"/>
  </p:normalViewPr>
  <p:slideViewPr>
    <p:cSldViewPr>
      <p:cViewPr varScale="1">
        <p:scale>
          <a:sx n="122" d="100"/>
          <a:sy n="122" d="100"/>
        </p:scale>
        <p:origin x="1206"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55" Type="http://schemas.openxmlformats.org/officeDocument/2006/relationships/customXml" Target="../customXml/item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customXml" Target="../customXml/item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3.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2.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8.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image" Target="../media/image20.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2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068569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60375"/>
          </a:xfrm>
          <a:prstGeom prst="rect">
            <a:avLst/>
          </a:prstGeom>
          <a:noFill/>
          <a:ln w="9525">
            <a:noFill/>
            <a:miter lim="800000"/>
            <a:headEnd/>
            <a:tailEnd/>
          </a:ln>
          <a:effectLst/>
        </p:spPr>
        <p:txBody>
          <a:bodyPr vert="horz" wrap="square" lIns="19050" tIns="0" rIns="19050" bIns="0" numCol="1" anchor="t" anchorCtr="0" compatLnSpc="1">
            <a:prstTxWarp prst="textNoShape">
              <a:avLst/>
            </a:prstTxWarp>
          </a:bodyPr>
          <a:lstStyle>
            <a:lvl1pPr eaLnBrk="0" hangingPunct="0">
              <a:defRPr sz="1000" i="1">
                <a:latin typeface="Times New Roman" pitchFamily="18" charset="0"/>
              </a:defRPr>
            </a:lvl1pPr>
          </a:lstStyle>
          <a:p>
            <a:pPr>
              <a:defRPr/>
            </a:pPr>
            <a:endParaRPr lang="en-US"/>
          </a:p>
        </p:txBody>
      </p:sp>
      <p:sp>
        <p:nvSpPr>
          <p:cNvPr id="2051" name="Rectangle 3"/>
          <p:cNvSpPr>
            <a:spLocks noGrp="1" noChangeArrowheads="1"/>
          </p:cNvSpPr>
          <p:nvPr>
            <p:ph type="dt" idx="1"/>
          </p:nvPr>
        </p:nvSpPr>
        <p:spPr bwMode="auto">
          <a:xfrm>
            <a:off x="3886200" y="0"/>
            <a:ext cx="2971800" cy="460375"/>
          </a:xfrm>
          <a:prstGeom prst="rect">
            <a:avLst/>
          </a:prstGeom>
          <a:noFill/>
          <a:ln w="9525">
            <a:noFill/>
            <a:miter lim="800000"/>
            <a:headEnd/>
            <a:tailEnd/>
          </a:ln>
          <a:effectLst/>
        </p:spPr>
        <p:txBody>
          <a:bodyPr vert="horz" wrap="square" lIns="19050" tIns="0" rIns="19050" bIns="0" numCol="1" anchor="t" anchorCtr="0" compatLnSpc="1">
            <a:prstTxWarp prst="textNoShape">
              <a:avLst/>
            </a:prstTxWarp>
          </a:bodyPr>
          <a:lstStyle>
            <a:lvl1pPr algn="r" eaLnBrk="0" hangingPunct="0">
              <a:defRPr sz="1000" i="1">
                <a:latin typeface="Times New Roman" pitchFamily="18" charset="0"/>
              </a:defRPr>
            </a:lvl1pPr>
          </a:lstStyle>
          <a:p>
            <a:pPr>
              <a:defRPr/>
            </a:pPr>
            <a:endParaRPr lang="en-US"/>
          </a:p>
        </p:txBody>
      </p:sp>
      <p:sp>
        <p:nvSpPr>
          <p:cNvPr id="59396" name="Rectangle 4"/>
          <p:cNvSpPr>
            <a:spLocks noChangeArrowheads="1" noTextEdit="1"/>
          </p:cNvSpPr>
          <p:nvPr>
            <p:ph type="sldImg" idx="2"/>
          </p:nvPr>
        </p:nvSpPr>
        <p:spPr bwMode="auto">
          <a:xfrm>
            <a:off x="1133475" y="696913"/>
            <a:ext cx="4591050" cy="3440112"/>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2053" name="Rectangle 5"/>
          <p:cNvSpPr>
            <a:spLocks noGrp="1" noChangeArrowheads="1"/>
          </p:cNvSpPr>
          <p:nvPr>
            <p:ph type="body" sz="quarter" idx="3"/>
          </p:nvPr>
        </p:nvSpPr>
        <p:spPr bwMode="auto">
          <a:xfrm>
            <a:off x="914400" y="4373563"/>
            <a:ext cx="5029200" cy="4143375"/>
          </a:xfrm>
          <a:prstGeom prst="rect">
            <a:avLst/>
          </a:prstGeom>
          <a:noFill/>
          <a:ln w="9525">
            <a:noFill/>
            <a:miter lim="800000"/>
            <a:headEnd/>
            <a:tailEnd/>
          </a:ln>
          <a:effectLst/>
        </p:spPr>
        <p:txBody>
          <a:bodyPr vert="horz" wrap="square" lIns="92075" tIns="46038" rIns="92075" bIns="46038" numCol="1" anchor="t" anchorCtr="0" compatLnSpc="1">
            <a:prstTxWarp prst="textNoShape">
              <a:avLst/>
            </a:prstTxWarp>
          </a:bodyPr>
          <a:lstStyle/>
          <a:p>
            <a:pPr lvl="0"/>
            <a:r>
              <a:rPr lang="en-US" noProof="0" smtClean="0"/>
              <a:t>Click to edit Master text styles</a:t>
            </a:r>
          </a:p>
          <a:p>
            <a:pPr lvl="0"/>
            <a:r>
              <a:rPr lang="en-US" noProof="0" smtClean="0"/>
              <a:t>Second level</a:t>
            </a:r>
          </a:p>
          <a:p>
            <a:pPr lvl="0"/>
            <a:r>
              <a:rPr lang="en-US" noProof="0" smtClean="0"/>
              <a:t>Third level</a:t>
            </a:r>
          </a:p>
          <a:p>
            <a:pPr lvl="0"/>
            <a:r>
              <a:rPr lang="en-US" noProof="0" smtClean="0"/>
              <a:t>Fourth level</a:t>
            </a:r>
          </a:p>
          <a:p>
            <a:pPr lvl="0"/>
            <a:r>
              <a:rPr lang="en-US" noProof="0" smtClean="0"/>
              <a:t>Fifth level</a:t>
            </a:r>
          </a:p>
        </p:txBody>
      </p:sp>
      <p:sp>
        <p:nvSpPr>
          <p:cNvPr id="2054" name="Rectangle 6"/>
          <p:cNvSpPr>
            <a:spLocks noGrp="1" noChangeArrowheads="1"/>
          </p:cNvSpPr>
          <p:nvPr>
            <p:ph type="ftr" sz="quarter" idx="4"/>
          </p:nvPr>
        </p:nvSpPr>
        <p:spPr bwMode="auto">
          <a:xfrm>
            <a:off x="0" y="8747125"/>
            <a:ext cx="2971800" cy="460375"/>
          </a:xfrm>
          <a:prstGeom prst="rect">
            <a:avLst/>
          </a:prstGeom>
          <a:noFill/>
          <a:ln w="9525">
            <a:noFill/>
            <a:miter lim="800000"/>
            <a:headEnd/>
            <a:tailEnd/>
          </a:ln>
          <a:effectLst/>
        </p:spPr>
        <p:txBody>
          <a:bodyPr vert="horz" wrap="square" lIns="19050" tIns="0" rIns="19050" bIns="0" numCol="1" anchor="b" anchorCtr="0" compatLnSpc="1">
            <a:prstTxWarp prst="textNoShape">
              <a:avLst/>
            </a:prstTxWarp>
          </a:bodyPr>
          <a:lstStyle>
            <a:lvl1pPr eaLnBrk="0" hangingPunct="0">
              <a:defRPr sz="1000" i="1">
                <a:latin typeface="Times New Roman" pitchFamily="18" charset="0"/>
              </a:defRPr>
            </a:lvl1pPr>
          </a:lstStyle>
          <a:p>
            <a:pPr>
              <a:defRPr/>
            </a:pPr>
            <a:endParaRPr lang="en-US"/>
          </a:p>
        </p:txBody>
      </p:sp>
      <p:sp>
        <p:nvSpPr>
          <p:cNvPr id="2055" name="Rectangle 7"/>
          <p:cNvSpPr>
            <a:spLocks noGrp="1" noChangeArrowheads="1"/>
          </p:cNvSpPr>
          <p:nvPr>
            <p:ph type="sldNum" sz="quarter" idx="5"/>
          </p:nvPr>
        </p:nvSpPr>
        <p:spPr bwMode="auto">
          <a:xfrm>
            <a:off x="3886200" y="8747125"/>
            <a:ext cx="2971800" cy="460375"/>
          </a:xfrm>
          <a:prstGeom prst="rect">
            <a:avLst/>
          </a:prstGeom>
          <a:noFill/>
          <a:ln w="9525">
            <a:noFill/>
            <a:miter lim="800000"/>
            <a:headEnd/>
            <a:tailEnd/>
          </a:ln>
          <a:effectLst/>
        </p:spPr>
        <p:txBody>
          <a:bodyPr vert="horz" wrap="square" lIns="19050" tIns="0" rIns="19050" bIns="0" numCol="1" anchor="b" anchorCtr="0" compatLnSpc="1">
            <a:prstTxWarp prst="textNoShape">
              <a:avLst/>
            </a:prstTxWarp>
          </a:bodyPr>
          <a:lstStyle>
            <a:lvl1pPr algn="r" eaLnBrk="0" hangingPunct="0">
              <a:defRPr sz="1000" i="1">
                <a:latin typeface="Times New Roman" panose="02020603050405020304" pitchFamily="18" charset="0"/>
              </a:defRPr>
            </a:lvl1pPr>
          </a:lstStyle>
          <a:p>
            <a:fld id="{765EB2A5-7F6E-4F25-BDB4-10A93BE9CF0E}" type="slidenum">
              <a:rPr lang="en-US" altLang="en-US"/>
              <a:pPr/>
              <a:t>‹#›</a:t>
            </a:fld>
            <a:endParaRPr lang="en-US" altLang="en-US"/>
          </a:p>
        </p:txBody>
      </p:sp>
    </p:spTree>
    <p:extLst>
      <p:ext uri="{BB962C8B-B14F-4D97-AF65-F5344CB8AC3E}">
        <p14:creationId xmlns:p14="http://schemas.microsoft.com/office/powerpoint/2010/main" val="197099478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742950" indent="-28575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11430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6002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20574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2C57FE8-7CDA-4E72-B569-270FCC4CD07C}" type="slidenum">
              <a:rPr lang="en-US" altLang="en-US" sz="1000"/>
              <a:pPr>
                <a:spcBef>
                  <a:spcPct val="0"/>
                </a:spcBef>
              </a:pPr>
              <a:t>1</a:t>
            </a:fld>
            <a:endParaRPr lang="en-US" altLang="en-US" sz="1000"/>
          </a:p>
        </p:txBody>
      </p:sp>
      <p:sp>
        <p:nvSpPr>
          <p:cNvPr id="60419" name="Rectangle 2"/>
          <p:cNvSpPr>
            <a:spLocks noChangeArrowheads="1" noTextEdit="1"/>
          </p:cNvSpPr>
          <p:nvPr>
            <p:ph type="sldImg"/>
          </p:nvPr>
        </p:nvSpPr>
        <p:spPr>
          <a:xfrm>
            <a:off x="1135063" y="696913"/>
            <a:ext cx="4587875" cy="3440112"/>
          </a:xfrm>
          <a:ln/>
        </p:spPr>
      </p:sp>
      <p:sp>
        <p:nvSpPr>
          <p:cNvPr id="60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39570613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9C89F74-6A8E-430C-B4CA-56FF0A677B37}" type="slidenum">
              <a:rPr lang="en-US" altLang="en-US" sz="1000"/>
              <a:pPr>
                <a:spcBef>
                  <a:spcPct val="0"/>
                </a:spcBef>
              </a:pPr>
              <a:t>2</a:t>
            </a:fld>
            <a:endParaRPr lang="en-US" altLang="en-US" sz="1000"/>
          </a:p>
        </p:txBody>
      </p:sp>
      <p:sp>
        <p:nvSpPr>
          <p:cNvPr id="61443" name="Rectangle 2"/>
          <p:cNvSpPr>
            <a:spLocks noChangeArrowheads="1" noTextEdit="1"/>
          </p:cNvSpPr>
          <p:nvPr>
            <p:ph type="sldImg"/>
          </p:nvPr>
        </p:nvSpPr>
        <p:spPr>
          <a:xfrm>
            <a:off x="1135063" y="696913"/>
            <a:ext cx="4587875" cy="3440112"/>
          </a:xfrm>
          <a:ln/>
        </p:spPr>
      </p:sp>
      <p:sp>
        <p:nvSpPr>
          <p:cNvPr id="614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21577571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B524127-9DC7-4240-BEF2-DEF1BF9B2C2E}" type="slidenum">
              <a:rPr lang="en-US" altLang="en-US" sz="1000"/>
              <a:pPr>
                <a:spcBef>
                  <a:spcPct val="0"/>
                </a:spcBef>
              </a:pPr>
              <a:t>3</a:t>
            </a:fld>
            <a:endParaRPr lang="en-US" altLang="en-US" sz="1000"/>
          </a:p>
        </p:txBody>
      </p:sp>
      <p:sp>
        <p:nvSpPr>
          <p:cNvPr id="62467" name="Rectangle 2"/>
          <p:cNvSpPr>
            <a:spLocks noChangeArrowheads="1" noTextEdit="1"/>
          </p:cNvSpPr>
          <p:nvPr>
            <p:ph type="sldImg"/>
          </p:nvPr>
        </p:nvSpPr>
        <p:spPr>
          <a:xfrm>
            <a:off x="1135063" y="696913"/>
            <a:ext cx="4587875" cy="3440112"/>
          </a:xfrm>
          <a:ln/>
        </p:spPr>
      </p:sp>
      <p:sp>
        <p:nvSpPr>
          <p:cNvPr id="62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8237257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A2B0C22-BFE8-4980-88CB-3A3B70753118}" type="slidenum">
              <a:rPr lang="en-US" altLang="en-US" sz="1000"/>
              <a:pPr>
                <a:spcBef>
                  <a:spcPct val="0"/>
                </a:spcBef>
              </a:pPr>
              <a:t>4</a:t>
            </a:fld>
            <a:endParaRPr lang="en-US" altLang="en-US" sz="1000"/>
          </a:p>
        </p:txBody>
      </p:sp>
      <p:sp>
        <p:nvSpPr>
          <p:cNvPr id="63491" name="Rectangle 2"/>
          <p:cNvSpPr>
            <a:spLocks noChangeArrowheads="1" noTextEdit="1"/>
          </p:cNvSpPr>
          <p:nvPr>
            <p:ph type="sldImg"/>
          </p:nvPr>
        </p:nvSpPr>
        <p:spPr>
          <a:xfrm>
            <a:off x="1135063" y="696913"/>
            <a:ext cx="4587875" cy="3440112"/>
          </a:xfrm>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14989915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DB32DA8-9969-42DE-9B4C-E5220D5DDBE2}" type="slidenum">
              <a:rPr lang="en-US" altLang="en-US" sz="1000"/>
              <a:pPr>
                <a:spcBef>
                  <a:spcPct val="0"/>
                </a:spcBef>
              </a:pPr>
              <a:t>5</a:t>
            </a:fld>
            <a:endParaRPr lang="en-US" altLang="en-US" sz="1000"/>
          </a:p>
        </p:txBody>
      </p:sp>
      <p:sp>
        <p:nvSpPr>
          <p:cNvPr id="64515" name="Rectangle 2"/>
          <p:cNvSpPr>
            <a:spLocks noChangeArrowheads="1" noTextEdit="1"/>
          </p:cNvSpPr>
          <p:nvPr>
            <p:ph type="sldImg"/>
          </p:nvPr>
        </p:nvSpPr>
        <p:spPr>
          <a:xfrm>
            <a:off x="1135063" y="696913"/>
            <a:ext cx="4587875" cy="3440112"/>
          </a:xfrm>
          <a:ln/>
        </p:spPr>
      </p:sp>
      <p:sp>
        <p:nvSpPr>
          <p:cNvPr id="645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24677521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B23CBD9-3596-4438-B973-AC3DF7FEB9D9}" type="slidenum">
              <a:rPr lang="en-US" altLang="en-US" sz="1000"/>
              <a:pPr>
                <a:spcBef>
                  <a:spcPct val="0"/>
                </a:spcBef>
              </a:pPr>
              <a:t>6</a:t>
            </a:fld>
            <a:endParaRPr lang="en-US" altLang="en-US" sz="1000"/>
          </a:p>
        </p:txBody>
      </p:sp>
      <p:sp>
        <p:nvSpPr>
          <p:cNvPr id="65539" name="Rectangle 2"/>
          <p:cNvSpPr>
            <a:spLocks noChangeArrowheads="1" noTextEdit="1"/>
          </p:cNvSpPr>
          <p:nvPr>
            <p:ph type="sldImg"/>
          </p:nvPr>
        </p:nvSpPr>
        <p:spPr>
          <a:xfrm>
            <a:off x="1128713" y="692150"/>
            <a:ext cx="4600575" cy="3449638"/>
          </a:xfrm>
          <a:ln cap="flat"/>
        </p:spPr>
      </p:sp>
      <p:sp>
        <p:nvSpPr>
          <p:cNvPr id="655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sz="2400" smtClean="0"/>
          </a:p>
        </p:txBody>
      </p:sp>
    </p:spTree>
    <p:extLst>
      <p:ext uri="{BB962C8B-B14F-4D97-AF65-F5344CB8AC3E}">
        <p14:creationId xmlns:p14="http://schemas.microsoft.com/office/powerpoint/2010/main" val="8752968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21CCE4E-21DF-4CB4-961E-14EF024AE8AC}" type="slidenum">
              <a:rPr lang="en-US" altLang="en-US" sz="1000"/>
              <a:pPr>
                <a:spcBef>
                  <a:spcPct val="0"/>
                </a:spcBef>
              </a:pPr>
              <a:t>7</a:t>
            </a:fld>
            <a:endParaRPr lang="en-US" altLang="en-US" sz="1000"/>
          </a:p>
        </p:txBody>
      </p:sp>
      <p:sp>
        <p:nvSpPr>
          <p:cNvPr id="66563" name="Rectangle 2"/>
          <p:cNvSpPr>
            <a:spLocks noChangeArrowheads="1" noTextEdit="1"/>
          </p:cNvSpPr>
          <p:nvPr>
            <p:ph type="sldImg"/>
          </p:nvPr>
        </p:nvSpPr>
        <p:spPr>
          <a:xfrm>
            <a:off x="1135063" y="696913"/>
            <a:ext cx="4587875" cy="3440112"/>
          </a:xfrm>
          <a:ln/>
        </p:spPr>
      </p:sp>
      <p:sp>
        <p:nvSpPr>
          <p:cNvPr id="665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14477749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a:xfrm>
            <a:off x="1135063" y="696913"/>
            <a:ext cx="4587875" cy="3440112"/>
          </a:xfrm>
          <a:ln/>
        </p:spPr>
      </p:sp>
      <p:sp>
        <p:nvSpPr>
          <p:cNvPr id="675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675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D051431-A714-480A-838E-58DB8ED03A26}" type="slidenum">
              <a:rPr lang="en-US" altLang="en-US" sz="1000"/>
              <a:pPr>
                <a:spcBef>
                  <a:spcPct val="0"/>
                </a:spcBef>
              </a:pPr>
              <a:t>8</a:t>
            </a:fld>
            <a:endParaRPr lang="en-US" altLang="en-US" sz="1000"/>
          </a:p>
        </p:txBody>
      </p:sp>
    </p:spTree>
    <p:extLst>
      <p:ext uri="{BB962C8B-B14F-4D97-AF65-F5344CB8AC3E}">
        <p14:creationId xmlns:p14="http://schemas.microsoft.com/office/powerpoint/2010/main" val="23481559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a:xfrm>
            <a:off x="1135063" y="696913"/>
            <a:ext cx="4587875" cy="3440112"/>
          </a:xfrm>
          <a:ln/>
        </p:spPr>
      </p:sp>
      <p:sp>
        <p:nvSpPr>
          <p:cNvPr id="686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686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A3BD5B3-C3E3-4509-BC21-7B0063F85203}" type="slidenum">
              <a:rPr lang="en-US" altLang="en-US" sz="1000"/>
              <a:pPr>
                <a:spcBef>
                  <a:spcPct val="0"/>
                </a:spcBef>
              </a:pPr>
              <a:t>9</a:t>
            </a:fld>
            <a:endParaRPr lang="en-US" altLang="en-US" sz="1000"/>
          </a:p>
        </p:txBody>
      </p:sp>
    </p:spTree>
    <p:extLst>
      <p:ext uri="{BB962C8B-B14F-4D97-AF65-F5344CB8AC3E}">
        <p14:creationId xmlns:p14="http://schemas.microsoft.com/office/powerpoint/2010/main" val="34914060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a:xfrm>
            <a:off x="1135063" y="696913"/>
            <a:ext cx="4587875" cy="3440112"/>
          </a:xfrm>
          <a:ln/>
        </p:spPr>
      </p:sp>
      <p:sp>
        <p:nvSpPr>
          <p:cNvPr id="696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696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7811356-D496-4660-9CAF-BC6F6DBC3FD0}" type="slidenum">
              <a:rPr lang="en-US" altLang="en-US" sz="1000"/>
              <a:pPr>
                <a:spcBef>
                  <a:spcPct val="0"/>
                </a:spcBef>
              </a:pPr>
              <a:t>10</a:t>
            </a:fld>
            <a:endParaRPr lang="en-US" altLang="en-US" sz="1000"/>
          </a:p>
        </p:txBody>
      </p:sp>
    </p:spTree>
    <p:extLst>
      <p:ext uri="{BB962C8B-B14F-4D97-AF65-F5344CB8AC3E}">
        <p14:creationId xmlns:p14="http://schemas.microsoft.com/office/powerpoint/2010/main" val="27160100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a:xfrm>
            <a:off x="1135063" y="696913"/>
            <a:ext cx="4587875" cy="3440112"/>
          </a:xfrm>
          <a:ln/>
        </p:spPr>
      </p:sp>
      <p:sp>
        <p:nvSpPr>
          <p:cNvPr id="706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706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B87C94A-ACC8-4EBE-9A0B-ADAE15E72427}" type="slidenum">
              <a:rPr lang="en-US" altLang="en-US" sz="1000"/>
              <a:pPr>
                <a:spcBef>
                  <a:spcPct val="0"/>
                </a:spcBef>
              </a:pPr>
              <a:t>11</a:t>
            </a:fld>
            <a:endParaRPr lang="en-US" altLang="en-US" sz="1000"/>
          </a:p>
        </p:txBody>
      </p:sp>
    </p:spTree>
    <p:extLst>
      <p:ext uri="{BB962C8B-B14F-4D97-AF65-F5344CB8AC3E}">
        <p14:creationId xmlns:p14="http://schemas.microsoft.com/office/powerpoint/2010/main" val="18233939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a:xfrm>
            <a:off x="1135063" y="696913"/>
            <a:ext cx="4587875" cy="3440112"/>
          </a:xfrm>
          <a:ln/>
        </p:spPr>
      </p:sp>
      <p:sp>
        <p:nvSpPr>
          <p:cNvPr id="716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716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DA5E7A6-7777-4F2B-BE59-796191607033}" type="slidenum">
              <a:rPr lang="en-US" altLang="en-US" sz="1000"/>
              <a:pPr>
                <a:spcBef>
                  <a:spcPct val="0"/>
                </a:spcBef>
              </a:pPr>
              <a:t>12</a:t>
            </a:fld>
            <a:endParaRPr lang="en-US" altLang="en-US" sz="1000"/>
          </a:p>
        </p:txBody>
      </p:sp>
    </p:spTree>
    <p:extLst>
      <p:ext uri="{BB962C8B-B14F-4D97-AF65-F5344CB8AC3E}">
        <p14:creationId xmlns:p14="http://schemas.microsoft.com/office/powerpoint/2010/main" val="2998192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a:xfrm>
            <a:off x="1135063" y="696913"/>
            <a:ext cx="4587875" cy="3440112"/>
          </a:xfrm>
          <a:ln/>
        </p:spPr>
      </p:sp>
      <p:sp>
        <p:nvSpPr>
          <p:cNvPr id="727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727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BA846AF-904C-4360-983C-8084918E8040}" type="slidenum">
              <a:rPr lang="en-US" altLang="en-US" sz="1000"/>
              <a:pPr>
                <a:spcBef>
                  <a:spcPct val="0"/>
                </a:spcBef>
              </a:pPr>
              <a:t>13</a:t>
            </a:fld>
            <a:endParaRPr lang="en-US" altLang="en-US" sz="1000"/>
          </a:p>
        </p:txBody>
      </p:sp>
    </p:spTree>
    <p:extLst>
      <p:ext uri="{BB962C8B-B14F-4D97-AF65-F5344CB8AC3E}">
        <p14:creationId xmlns:p14="http://schemas.microsoft.com/office/powerpoint/2010/main" val="39561026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F9B21A5-48DE-49F1-8E9E-7D6101BCD548}" type="slidenum">
              <a:rPr lang="en-US" altLang="en-US" sz="1000"/>
              <a:pPr>
                <a:spcBef>
                  <a:spcPct val="0"/>
                </a:spcBef>
              </a:pPr>
              <a:t>15</a:t>
            </a:fld>
            <a:endParaRPr lang="en-US" altLang="en-US" sz="1000"/>
          </a:p>
        </p:txBody>
      </p:sp>
      <p:sp>
        <p:nvSpPr>
          <p:cNvPr id="73731" name="Rectangle 2"/>
          <p:cNvSpPr>
            <a:spLocks noChangeArrowheads="1" noTextEdit="1"/>
          </p:cNvSpPr>
          <p:nvPr>
            <p:ph type="sldImg"/>
          </p:nvPr>
        </p:nvSpPr>
        <p:spPr>
          <a:xfrm>
            <a:off x="1136650" y="696913"/>
            <a:ext cx="4584700" cy="3440112"/>
          </a:xfrm>
          <a:ln/>
        </p:spPr>
      </p:sp>
      <p:sp>
        <p:nvSpPr>
          <p:cNvPr id="737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smtClean="0"/>
          </a:p>
        </p:txBody>
      </p:sp>
    </p:spTree>
    <p:extLst>
      <p:ext uri="{BB962C8B-B14F-4D97-AF65-F5344CB8AC3E}">
        <p14:creationId xmlns:p14="http://schemas.microsoft.com/office/powerpoint/2010/main" val="29794469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EFC2420-65D3-43FD-80E0-436B73B1FBA9}" type="slidenum">
              <a:rPr lang="en-US" altLang="en-US" sz="1000"/>
              <a:pPr>
                <a:spcBef>
                  <a:spcPct val="0"/>
                </a:spcBef>
              </a:pPr>
              <a:t>16</a:t>
            </a:fld>
            <a:endParaRPr lang="en-US" altLang="en-US" sz="1000"/>
          </a:p>
        </p:txBody>
      </p:sp>
      <p:sp>
        <p:nvSpPr>
          <p:cNvPr id="74755" name="Rectangle 2"/>
          <p:cNvSpPr>
            <a:spLocks noChangeArrowheads="1" noTextEdit="1"/>
          </p:cNvSpPr>
          <p:nvPr>
            <p:ph type="sldImg"/>
          </p:nvPr>
        </p:nvSpPr>
        <p:spPr>
          <a:xfrm>
            <a:off x="1135063" y="696913"/>
            <a:ext cx="4587875" cy="3440112"/>
          </a:xfrm>
          <a:ln/>
        </p:spPr>
      </p:sp>
      <p:sp>
        <p:nvSpPr>
          <p:cNvPr id="747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36044311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40FC537-2F7D-4CD5-AAA1-ED7EE487D709}" type="slidenum">
              <a:rPr lang="en-US" altLang="en-US" sz="1000"/>
              <a:pPr>
                <a:spcBef>
                  <a:spcPct val="0"/>
                </a:spcBef>
              </a:pPr>
              <a:t>17</a:t>
            </a:fld>
            <a:endParaRPr lang="en-US" altLang="en-US" sz="1000"/>
          </a:p>
        </p:txBody>
      </p:sp>
      <p:sp>
        <p:nvSpPr>
          <p:cNvPr id="75779" name="Rectangle 2"/>
          <p:cNvSpPr>
            <a:spLocks noChangeArrowheads="1" noTextEdit="1"/>
          </p:cNvSpPr>
          <p:nvPr>
            <p:ph type="sldImg"/>
          </p:nvPr>
        </p:nvSpPr>
        <p:spPr>
          <a:xfrm>
            <a:off x="1135063" y="696913"/>
            <a:ext cx="4587875" cy="3440112"/>
          </a:xfrm>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15317921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2AF97EE-C245-465E-8948-AE8A62FA2783}" type="slidenum">
              <a:rPr lang="en-US" altLang="en-US" sz="1000"/>
              <a:pPr>
                <a:spcBef>
                  <a:spcPct val="0"/>
                </a:spcBef>
              </a:pPr>
              <a:t>18</a:t>
            </a:fld>
            <a:endParaRPr lang="en-US" altLang="en-US" sz="1000"/>
          </a:p>
        </p:txBody>
      </p:sp>
      <p:sp>
        <p:nvSpPr>
          <p:cNvPr id="76803" name="Rectangle 2"/>
          <p:cNvSpPr>
            <a:spLocks noChangeArrowheads="1" noTextEdit="1"/>
          </p:cNvSpPr>
          <p:nvPr>
            <p:ph type="sldImg"/>
          </p:nvPr>
        </p:nvSpPr>
        <p:spPr>
          <a:xfrm>
            <a:off x="1135063" y="696913"/>
            <a:ext cx="4587875" cy="3440112"/>
          </a:xfrm>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37876274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3BF382D-064D-408A-9BB8-A8B380CF39C8}" type="slidenum">
              <a:rPr lang="en-US" altLang="en-US" sz="1000"/>
              <a:pPr>
                <a:spcBef>
                  <a:spcPct val="0"/>
                </a:spcBef>
              </a:pPr>
              <a:t>19</a:t>
            </a:fld>
            <a:endParaRPr lang="en-US" altLang="en-US" sz="1000"/>
          </a:p>
        </p:txBody>
      </p:sp>
      <p:sp>
        <p:nvSpPr>
          <p:cNvPr id="77827" name="Rectangle 2"/>
          <p:cNvSpPr>
            <a:spLocks noChangeArrowheads="1" noTextEdit="1"/>
          </p:cNvSpPr>
          <p:nvPr>
            <p:ph type="sldImg"/>
          </p:nvPr>
        </p:nvSpPr>
        <p:spPr>
          <a:xfrm>
            <a:off x="1135063" y="696913"/>
            <a:ext cx="4587875" cy="3440112"/>
          </a:xfrm>
          <a:ln/>
        </p:spPr>
      </p:sp>
      <p:sp>
        <p:nvSpPr>
          <p:cNvPr id="778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13565703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8F21985-6F34-4889-B463-41109C246093}" type="slidenum">
              <a:rPr lang="en-US" altLang="en-US" sz="1000"/>
              <a:pPr>
                <a:spcBef>
                  <a:spcPct val="0"/>
                </a:spcBef>
              </a:pPr>
              <a:t>20</a:t>
            </a:fld>
            <a:endParaRPr lang="en-US" altLang="en-US" sz="1000"/>
          </a:p>
        </p:txBody>
      </p:sp>
      <p:sp>
        <p:nvSpPr>
          <p:cNvPr id="78851" name="Rectangle 2"/>
          <p:cNvSpPr>
            <a:spLocks noChangeArrowheads="1" noTextEdit="1"/>
          </p:cNvSpPr>
          <p:nvPr>
            <p:ph type="sldImg"/>
          </p:nvPr>
        </p:nvSpPr>
        <p:spPr>
          <a:xfrm>
            <a:off x="1135063" y="696913"/>
            <a:ext cx="4587875" cy="3440112"/>
          </a:xfrm>
          <a:ln/>
        </p:spPr>
      </p:sp>
      <p:sp>
        <p:nvSpPr>
          <p:cNvPr id="788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30750310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ACF270A-8174-4C58-9C02-5BA8F6BB1204}" type="slidenum">
              <a:rPr lang="en-US" altLang="en-US" sz="1000"/>
              <a:pPr>
                <a:spcBef>
                  <a:spcPct val="0"/>
                </a:spcBef>
              </a:pPr>
              <a:t>21</a:t>
            </a:fld>
            <a:endParaRPr lang="en-US" altLang="en-US" sz="1000"/>
          </a:p>
        </p:txBody>
      </p:sp>
      <p:sp>
        <p:nvSpPr>
          <p:cNvPr id="79875" name="Rectangle 2"/>
          <p:cNvSpPr>
            <a:spLocks noChangeArrowheads="1" noTextEdit="1"/>
          </p:cNvSpPr>
          <p:nvPr>
            <p:ph type="sldImg"/>
          </p:nvPr>
        </p:nvSpPr>
        <p:spPr>
          <a:xfrm>
            <a:off x="1135063" y="696913"/>
            <a:ext cx="4587875" cy="3440112"/>
          </a:xfrm>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34633677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A1C1E3E-9F08-405C-A5DF-6DFD701F34AA}" type="slidenum">
              <a:rPr lang="en-US" altLang="en-US" sz="1000"/>
              <a:pPr>
                <a:spcBef>
                  <a:spcPct val="0"/>
                </a:spcBef>
              </a:pPr>
              <a:t>22</a:t>
            </a:fld>
            <a:endParaRPr lang="en-US" altLang="en-US" sz="1000"/>
          </a:p>
        </p:txBody>
      </p:sp>
      <p:sp>
        <p:nvSpPr>
          <p:cNvPr id="80899" name="Rectangle 2"/>
          <p:cNvSpPr>
            <a:spLocks noChangeArrowheads="1" noTextEdit="1"/>
          </p:cNvSpPr>
          <p:nvPr>
            <p:ph type="sldImg"/>
          </p:nvPr>
        </p:nvSpPr>
        <p:spPr>
          <a:xfrm>
            <a:off x="1136650" y="696913"/>
            <a:ext cx="4584700" cy="3440112"/>
          </a:xfrm>
          <a:ln/>
        </p:spPr>
      </p:sp>
      <p:sp>
        <p:nvSpPr>
          <p:cNvPr id="809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smtClean="0"/>
          </a:p>
        </p:txBody>
      </p:sp>
    </p:spTree>
    <p:extLst>
      <p:ext uri="{BB962C8B-B14F-4D97-AF65-F5344CB8AC3E}">
        <p14:creationId xmlns:p14="http://schemas.microsoft.com/office/powerpoint/2010/main" val="26769031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6AF185D-B0CE-4947-B771-3BB3621E7A2C}" type="slidenum">
              <a:rPr lang="en-US" altLang="en-US" sz="1000"/>
              <a:pPr>
                <a:spcBef>
                  <a:spcPct val="0"/>
                </a:spcBef>
              </a:pPr>
              <a:t>23</a:t>
            </a:fld>
            <a:endParaRPr lang="en-US" altLang="en-US" sz="1000"/>
          </a:p>
        </p:txBody>
      </p:sp>
      <p:sp>
        <p:nvSpPr>
          <p:cNvPr id="81923" name="Rectangle 2"/>
          <p:cNvSpPr>
            <a:spLocks noChangeArrowheads="1" noTextEdit="1"/>
          </p:cNvSpPr>
          <p:nvPr>
            <p:ph type="sldImg"/>
          </p:nvPr>
        </p:nvSpPr>
        <p:spPr>
          <a:xfrm>
            <a:off x="1135063" y="696913"/>
            <a:ext cx="4587875" cy="3440112"/>
          </a:xfrm>
          <a:ln/>
        </p:spPr>
      </p:sp>
      <p:sp>
        <p:nvSpPr>
          <p:cNvPr id="819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35286915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6674E9A-3CC0-40EF-BC1F-2E3856008B86}" type="slidenum">
              <a:rPr lang="en-US" altLang="en-US" sz="1000"/>
              <a:pPr>
                <a:spcBef>
                  <a:spcPct val="0"/>
                </a:spcBef>
              </a:pPr>
              <a:t>24</a:t>
            </a:fld>
            <a:endParaRPr lang="en-US" altLang="en-US" sz="1000"/>
          </a:p>
        </p:txBody>
      </p:sp>
      <p:sp>
        <p:nvSpPr>
          <p:cNvPr id="82947" name="Rectangle 2"/>
          <p:cNvSpPr>
            <a:spLocks noChangeArrowheads="1" noTextEdit="1"/>
          </p:cNvSpPr>
          <p:nvPr>
            <p:ph type="sldImg"/>
          </p:nvPr>
        </p:nvSpPr>
        <p:spPr>
          <a:xfrm>
            <a:off x="1135063" y="696913"/>
            <a:ext cx="4587875" cy="3440112"/>
          </a:xfrm>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29414404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71E40DB-45FF-493E-9AA7-770A85BCEAF5}" type="slidenum">
              <a:rPr lang="en-US" altLang="en-US" sz="1000"/>
              <a:pPr>
                <a:spcBef>
                  <a:spcPct val="0"/>
                </a:spcBef>
              </a:pPr>
              <a:t>26</a:t>
            </a:fld>
            <a:endParaRPr lang="en-US" altLang="en-US" sz="1000"/>
          </a:p>
        </p:txBody>
      </p:sp>
      <p:sp>
        <p:nvSpPr>
          <p:cNvPr id="83971" name="Rectangle 2"/>
          <p:cNvSpPr>
            <a:spLocks noChangeArrowheads="1" noTextEdit="1"/>
          </p:cNvSpPr>
          <p:nvPr>
            <p:ph type="sldImg"/>
          </p:nvPr>
        </p:nvSpPr>
        <p:spPr>
          <a:xfrm>
            <a:off x="1135063" y="696913"/>
            <a:ext cx="4587875" cy="3440112"/>
          </a:xfrm>
          <a:ln/>
        </p:spPr>
      </p:sp>
      <p:sp>
        <p:nvSpPr>
          <p:cNvPr id="839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21997155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p:cNvSpPr>
            <a:spLocks noGrp="1" noRot="1" noChangeAspect="1" noTextEdit="1"/>
          </p:cNvSpPr>
          <p:nvPr>
            <p:ph type="sldImg"/>
          </p:nvPr>
        </p:nvSpPr>
        <p:spPr>
          <a:xfrm>
            <a:off x="1135063" y="696913"/>
            <a:ext cx="4587875" cy="3440112"/>
          </a:xfrm>
          <a:ln/>
        </p:spPr>
      </p:sp>
      <p:sp>
        <p:nvSpPr>
          <p:cNvPr id="849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849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16061B2-3F9B-48AC-9BD1-B66CE7B77E15}" type="slidenum">
              <a:rPr lang="en-US" altLang="en-US" sz="1000"/>
              <a:pPr>
                <a:spcBef>
                  <a:spcPct val="0"/>
                </a:spcBef>
              </a:pPr>
              <a:t>27</a:t>
            </a:fld>
            <a:endParaRPr lang="en-US" altLang="en-US" sz="1000"/>
          </a:p>
        </p:txBody>
      </p:sp>
    </p:spTree>
    <p:extLst>
      <p:ext uri="{BB962C8B-B14F-4D97-AF65-F5344CB8AC3E}">
        <p14:creationId xmlns:p14="http://schemas.microsoft.com/office/powerpoint/2010/main" val="10991060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ChangeArrowheads="1" noTextEdit="1"/>
          </p:cNvSpPr>
          <p:nvPr>
            <p:ph type="sldImg"/>
          </p:nvPr>
        </p:nvSpPr>
        <p:spPr>
          <a:xfrm>
            <a:off x="1136650" y="696913"/>
            <a:ext cx="4584700" cy="3440112"/>
          </a:xfrm>
          <a:ln/>
        </p:spPr>
      </p:sp>
      <p:sp>
        <p:nvSpPr>
          <p:cNvPr id="860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CA" altLang="en-US" smtClean="0"/>
          </a:p>
        </p:txBody>
      </p:sp>
    </p:spTree>
    <p:extLst>
      <p:ext uri="{BB962C8B-B14F-4D97-AF65-F5344CB8AC3E}">
        <p14:creationId xmlns:p14="http://schemas.microsoft.com/office/powerpoint/2010/main" val="106668372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a:xfrm>
            <a:off x="1135063" y="696913"/>
            <a:ext cx="4587875" cy="3440112"/>
          </a:xfrm>
          <a:ln/>
        </p:spPr>
      </p:sp>
      <p:sp>
        <p:nvSpPr>
          <p:cNvPr id="870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870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FF822EA-3027-4417-A4BD-DF5883FA8217}" type="slidenum">
              <a:rPr lang="en-US" altLang="en-US" sz="1000"/>
              <a:pPr>
                <a:spcBef>
                  <a:spcPct val="0"/>
                </a:spcBef>
              </a:pPr>
              <a:t>29</a:t>
            </a:fld>
            <a:endParaRPr lang="en-US" altLang="en-US" sz="1000"/>
          </a:p>
        </p:txBody>
      </p:sp>
    </p:spTree>
    <p:extLst>
      <p:ext uri="{BB962C8B-B14F-4D97-AF65-F5344CB8AC3E}">
        <p14:creationId xmlns:p14="http://schemas.microsoft.com/office/powerpoint/2010/main" val="281761837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a:xfrm>
            <a:off x="1135063" y="696913"/>
            <a:ext cx="4587875" cy="3440112"/>
          </a:xfrm>
          <a:ln/>
        </p:spPr>
      </p:sp>
      <p:sp>
        <p:nvSpPr>
          <p:cNvPr id="880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880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22E8AA1-F6FF-4422-B620-8749868446F2}" type="slidenum">
              <a:rPr lang="en-US" altLang="en-US" sz="1000"/>
              <a:pPr>
                <a:spcBef>
                  <a:spcPct val="0"/>
                </a:spcBef>
              </a:pPr>
              <a:t>30</a:t>
            </a:fld>
            <a:endParaRPr lang="en-US" altLang="en-US" sz="1000"/>
          </a:p>
        </p:txBody>
      </p:sp>
    </p:spTree>
    <p:extLst>
      <p:ext uri="{BB962C8B-B14F-4D97-AF65-F5344CB8AC3E}">
        <p14:creationId xmlns:p14="http://schemas.microsoft.com/office/powerpoint/2010/main" val="35246086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51573C0-84E9-429C-BBB3-EF170F60D0C6}" type="slidenum">
              <a:rPr lang="en-US" altLang="en-US" sz="1000"/>
              <a:pPr>
                <a:spcBef>
                  <a:spcPct val="0"/>
                </a:spcBef>
              </a:pPr>
              <a:t>31</a:t>
            </a:fld>
            <a:endParaRPr lang="en-US" altLang="en-US" sz="1000"/>
          </a:p>
        </p:txBody>
      </p:sp>
      <p:sp>
        <p:nvSpPr>
          <p:cNvPr id="89091" name="Rectangle 2"/>
          <p:cNvSpPr>
            <a:spLocks noChangeArrowheads="1" noTextEdit="1"/>
          </p:cNvSpPr>
          <p:nvPr>
            <p:ph type="sldImg"/>
          </p:nvPr>
        </p:nvSpPr>
        <p:spPr>
          <a:xfrm>
            <a:off x="1135063" y="696913"/>
            <a:ext cx="4587875" cy="3440112"/>
          </a:xfrm>
          <a:ln/>
        </p:spPr>
      </p:sp>
      <p:sp>
        <p:nvSpPr>
          <p:cNvPr id="890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10103344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6C6DC37-8CBE-4961-B4E2-AC3E9E9EA0F5}" type="slidenum">
              <a:rPr lang="en-US" altLang="en-US" sz="1000"/>
              <a:pPr>
                <a:spcBef>
                  <a:spcPct val="0"/>
                </a:spcBef>
              </a:pPr>
              <a:t>32</a:t>
            </a:fld>
            <a:endParaRPr lang="en-US" altLang="en-US" sz="1000"/>
          </a:p>
        </p:txBody>
      </p:sp>
      <p:sp>
        <p:nvSpPr>
          <p:cNvPr id="90115" name="Rectangle 2"/>
          <p:cNvSpPr>
            <a:spLocks noChangeArrowheads="1" noTextEdit="1"/>
          </p:cNvSpPr>
          <p:nvPr>
            <p:ph type="sldImg"/>
          </p:nvPr>
        </p:nvSpPr>
        <p:spPr>
          <a:xfrm>
            <a:off x="1128713" y="692150"/>
            <a:ext cx="4600575" cy="3449638"/>
          </a:xfrm>
          <a:ln cap="flat"/>
        </p:spPr>
      </p:sp>
      <p:sp>
        <p:nvSpPr>
          <p:cNvPr id="901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sz="2400" smtClean="0"/>
          </a:p>
        </p:txBody>
      </p:sp>
    </p:spTree>
    <p:extLst>
      <p:ext uri="{BB962C8B-B14F-4D97-AF65-F5344CB8AC3E}">
        <p14:creationId xmlns:p14="http://schemas.microsoft.com/office/powerpoint/2010/main" val="297523279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FE14E96-42AD-4756-A11A-5070B2710EA9}" type="slidenum">
              <a:rPr lang="en-US" altLang="en-US" sz="1000"/>
              <a:pPr>
                <a:spcBef>
                  <a:spcPct val="0"/>
                </a:spcBef>
              </a:pPr>
              <a:t>33</a:t>
            </a:fld>
            <a:endParaRPr lang="en-US" altLang="en-US" sz="1000"/>
          </a:p>
        </p:txBody>
      </p:sp>
      <p:sp>
        <p:nvSpPr>
          <p:cNvPr id="91139" name="Rectangle 2"/>
          <p:cNvSpPr>
            <a:spLocks noChangeArrowheads="1" noTextEdit="1"/>
          </p:cNvSpPr>
          <p:nvPr>
            <p:ph type="sldImg"/>
          </p:nvPr>
        </p:nvSpPr>
        <p:spPr>
          <a:xfrm>
            <a:off x="1128713" y="692150"/>
            <a:ext cx="4600575" cy="3449638"/>
          </a:xfrm>
          <a:ln cap="flat"/>
        </p:spPr>
      </p:sp>
      <p:sp>
        <p:nvSpPr>
          <p:cNvPr id="911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sz="2400" smtClean="0"/>
          </a:p>
        </p:txBody>
      </p:sp>
    </p:spTree>
    <p:extLst>
      <p:ext uri="{BB962C8B-B14F-4D97-AF65-F5344CB8AC3E}">
        <p14:creationId xmlns:p14="http://schemas.microsoft.com/office/powerpoint/2010/main" val="150588811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49082DE-51A4-419A-A14C-7E13A7380EC5}" type="slidenum">
              <a:rPr lang="en-US" altLang="en-US" sz="1000"/>
              <a:pPr>
                <a:spcBef>
                  <a:spcPct val="0"/>
                </a:spcBef>
              </a:pPr>
              <a:t>34</a:t>
            </a:fld>
            <a:endParaRPr lang="en-US" altLang="en-US" sz="1000"/>
          </a:p>
        </p:txBody>
      </p:sp>
      <p:sp>
        <p:nvSpPr>
          <p:cNvPr id="92163" name="Rectangle 2"/>
          <p:cNvSpPr>
            <a:spLocks noChangeArrowheads="1" noTextEdit="1"/>
          </p:cNvSpPr>
          <p:nvPr>
            <p:ph type="sldImg"/>
          </p:nvPr>
        </p:nvSpPr>
        <p:spPr>
          <a:xfrm>
            <a:off x="1128713" y="692150"/>
            <a:ext cx="4600575" cy="3449638"/>
          </a:xfrm>
          <a:ln cap="flat"/>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sz="2400" smtClean="0"/>
          </a:p>
        </p:txBody>
      </p:sp>
    </p:spTree>
    <p:extLst>
      <p:ext uri="{BB962C8B-B14F-4D97-AF65-F5344CB8AC3E}">
        <p14:creationId xmlns:p14="http://schemas.microsoft.com/office/powerpoint/2010/main" val="61431797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CCEEFFF-6B4D-4B4E-8E54-394058FD673B}" type="slidenum">
              <a:rPr lang="en-US" altLang="en-US" sz="1000"/>
              <a:pPr>
                <a:spcBef>
                  <a:spcPct val="0"/>
                </a:spcBef>
              </a:pPr>
              <a:t>35</a:t>
            </a:fld>
            <a:endParaRPr lang="en-US" altLang="en-US" sz="1000"/>
          </a:p>
        </p:txBody>
      </p:sp>
      <p:sp>
        <p:nvSpPr>
          <p:cNvPr id="93187" name="Rectangle 2"/>
          <p:cNvSpPr>
            <a:spLocks noChangeArrowheads="1" noTextEdit="1"/>
          </p:cNvSpPr>
          <p:nvPr>
            <p:ph type="sldImg"/>
          </p:nvPr>
        </p:nvSpPr>
        <p:spPr>
          <a:xfrm>
            <a:off x="1128713" y="692150"/>
            <a:ext cx="4600575" cy="3449638"/>
          </a:xfrm>
          <a:ln cap="flat"/>
        </p:spPr>
      </p:sp>
      <p:sp>
        <p:nvSpPr>
          <p:cNvPr id="931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sz="2400" smtClean="0"/>
          </a:p>
        </p:txBody>
      </p:sp>
    </p:spTree>
    <p:extLst>
      <p:ext uri="{BB962C8B-B14F-4D97-AF65-F5344CB8AC3E}">
        <p14:creationId xmlns:p14="http://schemas.microsoft.com/office/powerpoint/2010/main" val="116404654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Image Placeholder 1"/>
          <p:cNvSpPr>
            <a:spLocks noGrp="1" noRot="1" noChangeAspect="1" noTextEdit="1"/>
          </p:cNvSpPr>
          <p:nvPr>
            <p:ph type="sldImg"/>
          </p:nvPr>
        </p:nvSpPr>
        <p:spPr>
          <a:xfrm>
            <a:off x="1135063" y="696913"/>
            <a:ext cx="4587875" cy="3440112"/>
          </a:xfrm>
          <a:ln/>
        </p:spPr>
      </p:sp>
      <p:sp>
        <p:nvSpPr>
          <p:cNvPr id="942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942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8E0BF7F-0459-4C2C-B4EB-7DFF37019C64}" type="slidenum">
              <a:rPr lang="en-US" altLang="en-US" sz="1000"/>
              <a:pPr>
                <a:spcBef>
                  <a:spcPct val="0"/>
                </a:spcBef>
              </a:pPr>
              <a:t>36</a:t>
            </a:fld>
            <a:endParaRPr lang="en-US" altLang="en-US" sz="1000"/>
          </a:p>
        </p:txBody>
      </p:sp>
    </p:spTree>
    <p:extLst>
      <p:ext uri="{BB962C8B-B14F-4D97-AF65-F5344CB8AC3E}">
        <p14:creationId xmlns:p14="http://schemas.microsoft.com/office/powerpoint/2010/main" val="378259523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p:cNvSpPr>
            <a:spLocks noGrp="1" noRot="1" noChangeAspect="1" noTextEdit="1"/>
          </p:cNvSpPr>
          <p:nvPr>
            <p:ph type="sldImg"/>
          </p:nvPr>
        </p:nvSpPr>
        <p:spPr>
          <a:xfrm>
            <a:off x="1135063" y="696913"/>
            <a:ext cx="4587875" cy="3440112"/>
          </a:xfrm>
          <a:ln/>
        </p:spPr>
      </p:sp>
      <p:sp>
        <p:nvSpPr>
          <p:cNvPr id="952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952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0362A74-A506-4E4C-B141-9D0356DE2E60}" type="slidenum">
              <a:rPr lang="en-US" altLang="en-US" sz="1000"/>
              <a:pPr>
                <a:spcBef>
                  <a:spcPct val="0"/>
                </a:spcBef>
              </a:pPr>
              <a:t>37</a:t>
            </a:fld>
            <a:endParaRPr lang="en-US" altLang="en-US" sz="1000"/>
          </a:p>
        </p:txBody>
      </p:sp>
    </p:spTree>
    <p:extLst>
      <p:ext uri="{BB962C8B-B14F-4D97-AF65-F5344CB8AC3E}">
        <p14:creationId xmlns:p14="http://schemas.microsoft.com/office/powerpoint/2010/main" val="100387068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p:cNvSpPr>
            <a:spLocks noGrp="1" noRot="1" noChangeAspect="1" noTextEdit="1"/>
          </p:cNvSpPr>
          <p:nvPr>
            <p:ph type="sldImg"/>
          </p:nvPr>
        </p:nvSpPr>
        <p:spPr>
          <a:xfrm>
            <a:off x="1135063" y="696913"/>
            <a:ext cx="4587875" cy="3440112"/>
          </a:xfrm>
          <a:ln/>
        </p:spPr>
      </p:sp>
      <p:sp>
        <p:nvSpPr>
          <p:cNvPr id="962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962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4121EDC-4A1A-44CB-9F27-FDFAAD1BB684}" type="slidenum">
              <a:rPr lang="en-US" altLang="en-US" sz="1000"/>
              <a:pPr>
                <a:spcBef>
                  <a:spcPct val="0"/>
                </a:spcBef>
              </a:pPr>
              <a:t>38</a:t>
            </a:fld>
            <a:endParaRPr lang="en-US" altLang="en-US" sz="1000"/>
          </a:p>
        </p:txBody>
      </p:sp>
    </p:spTree>
    <p:extLst>
      <p:ext uri="{BB962C8B-B14F-4D97-AF65-F5344CB8AC3E}">
        <p14:creationId xmlns:p14="http://schemas.microsoft.com/office/powerpoint/2010/main" val="141100907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97ECEEC-C8BF-43D0-993F-C1B3BB0A1EEB}" type="slidenum">
              <a:rPr lang="en-US" altLang="en-US" sz="1000"/>
              <a:pPr>
                <a:spcBef>
                  <a:spcPct val="0"/>
                </a:spcBef>
              </a:pPr>
              <a:t>39</a:t>
            </a:fld>
            <a:endParaRPr lang="en-US" altLang="en-US" sz="1000"/>
          </a:p>
        </p:txBody>
      </p:sp>
      <p:sp>
        <p:nvSpPr>
          <p:cNvPr id="97283" name="Rectangle 2"/>
          <p:cNvSpPr>
            <a:spLocks noChangeArrowheads="1" noTextEdit="1"/>
          </p:cNvSpPr>
          <p:nvPr>
            <p:ph type="sldImg"/>
          </p:nvPr>
        </p:nvSpPr>
        <p:spPr>
          <a:xfrm>
            <a:off x="1143000" y="685800"/>
            <a:ext cx="4572000" cy="3429000"/>
          </a:xfrm>
          <a:ln/>
        </p:spPr>
      </p:sp>
      <p:sp>
        <p:nvSpPr>
          <p:cNvPr id="97284" name="Rectangle 3"/>
          <p:cNvSpPr>
            <a:spLocks noGrp="1" noChangeArrowheads="1"/>
          </p:cNvSpPr>
          <p:nvPr>
            <p:ph type="body" idx="1"/>
          </p:nvPr>
        </p:nvSpPr>
        <p:spPr>
          <a:xfrm>
            <a:off x="914400" y="4343400"/>
            <a:ext cx="1200150" cy="2746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en-US" altLang="en-US" smtClean="0"/>
          </a:p>
        </p:txBody>
      </p:sp>
    </p:spTree>
    <p:extLst>
      <p:ext uri="{BB962C8B-B14F-4D97-AF65-F5344CB8AC3E}">
        <p14:creationId xmlns:p14="http://schemas.microsoft.com/office/powerpoint/2010/main" val="148564480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6DD9364-5202-45D7-BA94-909F88F390BC}" type="slidenum">
              <a:rPr lang="en-US" altLang="en-US" sz="1000"/>
              <a:pPr>
                <a:spcBef>
                  <a:spcPct val="0"/>
                </a:spcBef>
              </a:pPr>
              <a:t>40</a:t>
            </a:fld>
            <a:endParaRPr lang="en-US" altLang="en-US" sz="1000"/>
          </a:p>
        </p:txBody>
      </p:sp>
      <p:sp>
        <p:nvSpPr>
          <p:cNvPr id="98307" name="Rectangle 2"/>
          <p:cNvSpPr>
            <a:spLocks noChangeArrowheads="1" noTextEdit="1"/>
          </p:cNvSpPr>
          <p:nvPr>
            <p:ph type="sldImg"/>
          </p:nvPr>
        </p:nvSpPr>
        <p:spPr>
          <a:xfrm>
            <a:off x="1143000" y="685800"/>
            <a:ext cx="4572000" cy="3429000"/>
          </a:xfrm>
          <a:ln/>
        </p:spPr>
      </p:sp>
      <p:sp>
        <p:nvSpPr>
          <p:cNvPr id="98308" name="Rectangle 3"/>
          <p:cNvSpPr>
            <a:spLocks noGrp="1" noChangeArrowheads="1"/>
          </p:cNvSpPr>
          <p:nvPr>
            <p:ph type="body" idx="1"/>
          </p:nvPr>
        </p:nvSpPr>
        <p:spPr>
          <a:xfrm>
            <a:off x="914400" y="4343400"/>
            <a:ext cx="1200150" cy="2746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en-US" altLang="en-US" smtClean="0"/>
          </a:p>
        </p:txBody>
      </p:sp>
    </p:spTree>
    <p:extLst>
      <p:ext uri="{BB962C8B-B14F-4D97-AF65-F5344CB8AC3E}">
        <p14:creationId xmlns:p14="http://schemas.microsoft.com/office/powerpoint/2010/main" val="61663167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70CFE87-C271-4AB0-8C36-490B1C071BBB}" type="slidenum">
              <a:rPr lang="en-US" altLang="en-US" sz="1000"/>
              <a:pPr>
                <a:spcBef>
                  <a:spcPct val="0"/>
                </a:spcBef>
              </a:pPr>
              <a:t>41</a:t>
            </a:fld>
            <a:endParaRPr lang="en-US" altLang="en-US" sz="1000"/>
          </a:p>
        </p:txBody>
      </p:sp>
      <p:sp>
        <p:nvSpPr>
          <p:cNvPr id="99331" name="Rectangle 2"/>
          <p:cNvSpPr>
            <a:spLocks noChangeArrowheads="1" noTextEdit="1"/>
          </p:cNvSpPr>
          <p:nvPr>
            <p:ph type="sldImg"/>
          </p:nvPr>
        </p:nvSpPr>
        <p:spPr>
          <a:xfrm>
            <a:off x="1143000" y="685800"/>
            <a:ext cx="4572000" cy="3429000"/>
          </a:xfrm>
          <a:ln/>
        </p:spPr>
      </p:sp>
      <p:sp>
        <p:nvSpPr>
          <p:cNvPr id="99332" name="Rectangle 3"/>
          <p:cNvSpPr>
            <a:spLocks noGrp="1" noChangeArrowheads="1"/>
          </p:cNvSpPr>
          <p:nvPr>
            <p:ph type="body" idx="1"/>
          </p:nvPr>
        </p:nvSpPr>
        <p:spPr>
          <a:xfrm>
            <a:off x="914400" y="4343400"/>
            <a:ext cx="1200150" cy="2746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en-US" altLang="en-US" smtClean="0"/>
          </a:p>
        </p:txBody>
      </p:sp>
    </p:spTree>
    <p:extLst>
      <p:ext uri="{BB962C8B-B14F-4D97-AF65-F5344CB8AC3E}">
        <p14:creationId xmlns:p14="http://schemas.microsoft.com/office/powerpoint/2010/main" val="61683112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A87B813-701E-417B-9AEF-B3F715F804DC}" type="slidenum">
              <a:rPr lang="en-US" altLang="en-US" sz="1000"/>
              <a:pPr>
                <a:spcBef>
                  <a:spcPct val="0"/>
                </a:spcBef>
              </a:pPr>
              <a:t>42</a:t>
            </a:fld>
            <a:endParaRPr lang="en-US" altLang="en-US" sz="1000"/>
          </a:p>
        </p:txBody>
      </p:sp>
      <p:sp>
        <p:nvSpPr>
          <p:cNvPr id="100355" name="Rectangle 2"/>
          <p:cNvSpPr>
            <a:spLocks noChangeArrowheads="1" noTextEdit="1"/>
          </p:cNvSpPr>
          <p:nvPr>
            <p:ph type="sldImg"/>
          </p:nvPr>
        </p:nvSpPr>
        <p:spPr>
          <a:xfrm>
            <a:off x="1143000" y="685800"/>
            <a:ext cx="4572000" cy="3429000"/>
          </a:xfrm>
          <a:ln/>
        </p:spPr>
      </p:sp>
      <p:sp>
        <p:nvSpPr>
          <p:cNvPr id="100356" name="Rectangle 3"/>
          <p:cNvSpPr>
            <a:spLocks noGrp="1" noChangeArrowheads="1"/>
          </p:cNvSpPr>
          <p:nvPr>
            <p:ph type="body" idx="1"/>
          </p:nvPr>
        </p:nvSpPr>
        <p:spPr>
          <a:xfrm>
            <a:off x="914400" y="4343400"/>
            <a:ext cx="1200150" cy="2746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en-US" altLang="en-US" smtClean="0"/>
          </a:p>
        </p:txBody>
      </p:sp>
    </p:spTree>
    <p:extLst>
      <p:ext uri="{BB962C8B-B14F-4D97-AF65-F5344CB8AC3E}">
        <p14:creationId xmlns:p14="http://schemas.microsoft.com/office/powerpoint/2010/main" val="357236452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CFC5DD0-1A0D-4A7A-94A1-95C9B2A23B65}" type="slidenum">
              <a:rPr lang="en-US" altLang="en-US" sz="1000"/>
              <a:pPr>
                <a:spcBef>
                  <a:spcPct val="0"/>
                </a:spcBef>
              </a:pPr>
              <a:t>43</a:t>
            </a:fld>
            <a:endParaRPr lang="en-US" altLang="en-US" sz="1000"/>
          </a:p>
        </p:txBody>
      </p:sp>
      <p:sp>
        <p:nvSpPr>
          <p:cNvPr id="101379" name="Rectangle 2"/>
          <p:cNvSpPr>
            <a:spLocks noChangeArrowheads="1" noTextEdit="1"/>
          </p:cNvSpPr>
          <p:nvPr>
            <p:ph type="sldImg"/>
          </p:nvPr>
        </p:nvSpPr>
        <p:spPr>
          <a:xfrm>
            <a:off x="1135063" y="696913"/>
            <a:ext cx="4587875" cy="3440112"/>
          </a:xfrm>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340814091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198D3DB-C06A-423A-AD84-5D55D80973AC}" type="slidenum">
              <a:rPr lang="en-US" altLang="en-US" sz="1000"/>
              <a:pPr>
                <a:spcBef>
                  <a:spcPct val="0"/>
                </a:spcBef>
              </a:pPr>
              <a:t>45</a:t>
            </a:fld>
            <a:endParaRPr lang="en-US" altLang="en-US" sz="1000"/>
          </a:p>
        </p:txBody>
      </p:sp>
      <p:sp>
        <p:nvSpPr>
          <p:cNvPr id="102403" name="Rectangle 2"/>
          <p:cNvSpPr>
            <a:spLocks noChangeArrowheads="1" noTextEdit="1"/>
          </p:cNvSpPr>
          <p:nvPr>
            <p:ph type="sldImg"/>
          </p:nvPr>
        </p:nvSpPr>
        <p:spPr>
          <a:xfrm>
            <a:off x="1135063" y="696913"/>
            <a:ext cx="4587875" cy="3440112"/>
          </a:xfrm>
          <a:ln/>
        </p:spPr>
      </p:sp>
      <p:sp>
        <p:nvSpPr>
          <p:cNvPr id="1024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18058714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2"/>
          <p:cNvSpPr>
            <a:spLocks noChangeShapeType="1"/>
          </p:cNvSpPr>
          <p:nvPr/>
        </p:nvSpPr>
        <p:spPr bwMode="auto">
          <a:xfrm>
            <a:off x="7315200" y="1066800"/>
            <a:ext cx="0" cy="449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5" name="Group 8"/>
          <p:cNvGrpSpPr>
            <a:grpSpLocks/>
          </p:cNvGrpSpPr>
          <p:nvPr/>
        </p:nvGrpSpPr>
        <p:grpSpPr bwMode="auto">
          <a:xfrm>
            <a:off x="7493000" y="2992438"/>
            <a:ext cx="1338263" cy="2189162"/>
            <a:chOff x="4704" y="1885"/>
            <a:chExt cx="843" cy="1379"/>
          </a:xfrm>
        </p:grpSpPr>
        <p:sp>
          <p:nvSpPr>
            <p:cNvPr id="6" name="Oval 9"/>
            <p:cNvSpPr>
              <a:spLocks noChangeArrowheads="1"/>
            </p:cNvSpPr>
            <p:nvPr/>
          </p:nvSpPr>
          <p:spPr bwMode="auto">
            <a:xfrm>
              <a:off x="4704"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7" name="Oval 10"/>
            <p:cNvSpPr>
              <a:spLocks noChangeArrowheads="1"/>
            </p:cNvSpPr>
            <p:nvPr/>
          </p:nvSpPr>
          <p:spPr bwMode="auto">
            <a:xfrm>
              <a:off x="4883"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8" name="Oval 11"/>
            <p:cNvSpPr>
              <a:spLocks noChangeArrowheads="1"/>
            </p:cNvSpPr>
            <p:nvPr/>
          </p:nvSpPr>
          <p:spPr bwMode="auto">
            <a:xfrm>
              <a:off x="5062"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9" name="Oval 12"/>
            <p:cNvSpPr>
              <a:spLocks noChangeArrowheads="1"/>
            </p:cNvSpPr>
            <p:nvPr/>
          </p:nvSpPr>
          <p:spPr bwMode="auto">
            <a:xfrm>
              <a:off x="4704"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 name="Oval 13"/>
            <p:cNvSpPr>
              <a:spLocks noChangeArrowheads="1"/>
            </p:cNvSpPr>
            <p:nvPr/>
          </p:nvSpPr>
          <p:spPr bwMode="auto">
            <a:xfrm>
              <a:off x="4883"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1" name="Oval 14"/>
            <p:cNvSpPr>
              <a:spLocks noChangeArrowheads="1"/>
            </p:cNvSpPr>
            <p:nvPr/>
          </p:nvSpPr>
          <p:spPr bwMode="auto">
            <a:xfrm>
              <a:off x="5062"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2" name="Oval 15"/>
            <p:cNvSpPr>
              <a:spLocks noChangeArrowheads="1"/>
            </p:cNvSpPr>
            <p:nvPr/>
          </p:nvSpPr>
          <p:spPr bwMode="auto">
            <a:xfrm>
              <a:off x="5241" y="2064"/>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3" name="Oval 16"/>
            <p:cNvSpPr>
              <a:spLocks noChangeArrowheads="1"/>
            </p:cNvSpPr>
            <p:nvPr/>
          </p:nvSpPr>
          <p:spPr bwMode="auto">
            <a:xfrm>
              <a:off x="4704" y="2243"/>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4" name="Oval 17"/>
            <p:cNvSpPr>
              <a:spLocks noChangeArrowheads="1"/>
            </p:cNvSpPr>
            <p:nvPr/>
          </p:nvSpPr>
          <p:spPr bwMode="auto">
            <a:xfrm>
              <a:off x="4883" y="2243"/>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5" name="Oval 18"/>
            <p:cNvSpPr>
              <a:spLocks noChangeArrowheads="1"/>
            </p:cNvSpPr>
            <p:nvPr/>
          </p:nvSpPr>
          <p:spPr bwMode="auto">
            <a:xfrm>
              <a:off x="5062" y="2243"/>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6" name="Oval 19"/>
            <p:cNvSpPr>
              <a:spLocks noChangeArrowheads="1"/>
            </p:cNvSpPr>
            <p:nvPr/>
          </p:nvSpPr>
          <p:spPr bwMode="auto">
            <a:xfrm>
              <a:off x="5241" y="2243"/>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7" name="Oval 20"/>
            <p:cNvSpPr>
              <a:spLocks noChangeArrowheads="1"/>
            </p:cNvSpPr>
            <p:nvPr/>
          </p:nvSpPr>
          <p:spPr bwMode="auto">
            <a:xfrm>
              <a:off x="5420" y="2243"/>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8" name="Oval 21"/>
            <p:cNvSpPr>
              <a:spLocks noChangeArrowheads="1"/>
            </p:cNvSpPr>
            <p:nvPr/>
          </p:nvSpPr>
          <p:spPr bwMode="auto">
            <a:xfrm>
              <a:off x="4704" y="2421"/>
              <a:ext cx="127" cy="128"/>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9" name="Oval 22"/>
            <p:cNvSpPr>
              <a:spLocks noChangeArrowheads="1"/>
            </p:cNvSpPr>
            <p:nvPr/>
          </p:nvSpPr>
          <p:spPr bwMode="auto">
            <a:xfrm>
              <a:off x="4883" y="2421"/>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20" name="Oval 23"/>
            <p:cNvSpPr>
              <a:spLocks noChangeArrowheads="1"/>
            </p:cNvSpPr>
            <p:nvPr/>
          </p:nvSpPr>
          <p:spPr bwMode="auto">
            <a:xfrm>
              <a:off x="5062" y="2421"/>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21" name="Oval 24"/>
            <p:cNvSpPr>
              <a:spLocks noChangeArrowheads="1"/>
            </p:cNvSpPr>
            <p:nvPr/>
          </p:nvSpPr>
          <p:spPr bwMode="auto">
            <a:xfrm>
              <a:off x="5241" y="2421"/>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22" name="Oval 25"/>
            <p:cNvSpPr>
              <a:spLocks noChangeArrowheads="1"/>
            </p:cNvSpPr>
            <p:nvPr/>
          </p:nvSpPr>
          <p:spPr bwMode="auto">
            <a:xfrm>
              <a:off x="4704" y="2600"/>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23" name="Oval 26"/>
            <p:cNvSpPr>
              <a:spLocks noChangeArrowheads="1"/>
            </p:cNvSpPr>
            <p:nvPr/>
          </p:nvSpPr>
          <p:spPr bwMode="auto">
            <a:xfrm>
              <a:off x="4883" y="2600"/>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24" name="Oval 27"/>
            <p:cNvSpPr>
              <a:spLocks noChangeArrowheads="1"/>
            </p:cNvSpPr>
            <p:nvPr/>
          </p:nvSpPr>
          <p:spPr bwMode="auto">
            <a:xfrm>
              <a:off x="5062" y="2600"/>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25" name="Oval 28"/>
            <p:cNvSpPr>
              <a:spLocks noChangeArrowheads="1"/>
            </p:cNvSpPr>
            <p:nvPr/>
          </p:nvSpPr>
          <p:spPr bwMode="auto">
            <a:xfrm>
              <a:off x="5241" y="2600"/>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26" name="Oval 29"/>
            <p:cNvSpPr>
              <a:spLocks noChangeArrowheads="1"/>
            </p:cNvSpPr>
            <p:nvPr/>
          </p:nvSpPr>
          <p:spPr bwMode="auto">
            <a:xfrm>
              <a:off x="5420" y="2600"/>
              <a:ext cx="127" cy="128"/>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27" name="Oval 30"/>
            <p:cNvSpPr>
              <a:spLocks noChangeArrowheads="1"/>
            </p:cNvSpPr>
            <p:nvPr/>
          </p:nvSpPr>
          <p:spPr bwMode="auto">
            <a:xfrm>
              <a:off x="4704" y="2779"/>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28" name="Oval 31"/>
            <p:cNvSpPr>
              <a:spLocks noChangeArrowheads="1"/>
            </p:cNvSpPr>
            <p:nvPr/>
          </p:nvSpPr>
          <p:spPr bwMode="auto">
            <a:xfrm>
              <a:off x="4883" y="2779"/>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29" name="Oval 32"/>
            <p:cNvSpPr>
              <a:spLocks noChangeArrowheads="1"/>
            </p:cNvSpPr>
            <p:nvPr/>
          </p:nvSpPr>
          <p:spPr bwMode="auto">
            <a:xfrm>
              <a:off x="5062" y="2779"/>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30" name="Oval 33"/>
            <p:cNvSpPr>
              <a:spLocks noChangeArrowheads="1"/>
            </p:cNvSpPr>
            <p:nvPr/>
          </p:nvSpPr>
          <p:spPr bwMode="auto">
            <a:xfrm>
              <a:off x="5241" y="2779"/>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31" name="Oval 34"/>
            <p:cNvSpPr>
              <a:spLocks noChangeArrowheads="1"/>
            </p:cNvSpPr>
            <p:nvPr/>
          </p:nvSpPr>
          <p:spPr bwMode="auto">
            <a:xfrm>
              <a:off x="4704" y="29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32" name="Oval 35"/>
            <p:cNvSpPr>
              <a:spLocks noChangeArrowheads="1"/>
            </p:cNvSpPr>
            <p:nvPr/>
          </p:nvSpPr>
          <p:spPr bwMode="auto">
            <a:xfrm>
              <a:off x="4883" y="29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33" name="Oval 36"/>
            <p:cNvSpPr>
              <a:spLocks noChangeArrowheads="1"/>
            </p:cNvSpPr>
            <p:nvPr/>
          </p:nvSpPr>
          <p:spPr bwMode="auto">
            <a:xfrm>
              <a:off x="5062" y="2958"/>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34" name="Oval 37"/>
            <p:cNvSpPr>
              <a:spLocks noChangeArrowheads="1"/>
            </p:cNvSpPr>
            <p:nvPr/>
          </p:nvSpPr>
          <p:spPr bwMode="auto">
            <a:xfrm>
              <a:off x="5241" y="2958"/>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35" name="Oval 38"/>
            <p:cNvSpPr>
              <a:spLocks noChangeArrowheads="1"/>
            </p:cNvSpPr>
            <p:nvPr/>
          </p:nvSpPr>
          <p:spPr bwMode="auto">
            <a:xfrm>
              <a:off x="4883" y="3137"/>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36" name="Oval 39"/>
            <p:cNvSpPr>
              <a:spLocks noChangeArrowheads="1"/>
            </p:cNvSpPr>
            <p:nvPr/>
          </p:nvSpPr>
          <p:spPr bwMode="auto">
            <a:xfrm>
              <a:off x="5241" y="3137"/>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grpSp>
      <p:sp>
        <p:nvSpPr>
          <p:cNvPr id="37" name="Line 40"/>
          <p:cNvSpPr>
            <a:spLocks noChangeShapeType="1"/>
          </p:cNvSpPr>
          <p:nvPr/>
        </p:nvSpPr>
        <p:spPr bwMode="auto">
          <a:xfrm>
            <a:off x="304800" y="2819400"/>
            <a:ext cx="82296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1075" name="Rectangle 3"/>
          <p:cNvSpPr>
            <a:spLocks noGrp="1" noChangeArrowheads="1"/>
          </p:cNvSpPr>
          <p:nvPr>
            <p:ph type="ctrTitle"/>
          </p:nvPr>
        </p:nvSpPr>
        <p:spPr>
          <a:xfrm>
            <a:off x="315913" y="466725"/>
            <a:ext cx="6781800" cy="2133600"/>
          </a:xfrm>
        </p:spPr>
        <p:txBody>
          <a:bodyPr/>
          <a:lstStyle>
            <a:lvl1pPr algn="r">
              <a:defRPr sz="4800"/>
            </a:lvl1pPr>
          </a:lstStyle>
          <a:p>
            <a:r>
              <a:rPr lang="en-US" altLang="en-US"/>
              <a:t>Click to edit Master title style</a:t>
            </a:r>
          </a:p>
        </p:txBody>
      </p:sp>
      <p:sp>
        <p:nvSpPr>
          <p:cNvPr id="131076" name="Rectangle 4"/>
          <p:cNvSpPr>
            <a:spLocks noGrp="1" noChangeArrowheads="1"/>
          </p:cNvSpPr>
          <p:nvPr>
            <p:ph type="subTitle" idx="1"/>
          </p:nvPr>
        </p:nvSpPr>
        <p:spPr>
          <a:xfrm>
            <a:off x="849313" y="3049588"/>
            <a:ext cx="6248400" cy="2362200"/>
          </a:xfrm>
        </p:spPr>
        <p:txBody>
          <a:bodyPr/>
          <a:lstStyle>
            <a:lvl1pPr marL="0" indent="0" algn="r">
              <a:buFont typeface="Wingdings" pitchFamily="2" charset="2"/>
              <a:buNone/>
              <a:defRPr sz="3400"/>
            </a:lvl1pPr>
          </a:lstStyle>
          <a:p>
            <a:r>
              <a:rPr lang="en-US" altLang="en-US"/>
              <a:t>Click to edit Master subtitle style</a:t>
            </a:r>
          </a:p>
        </p:txBody>
      </p:sp>
      <p:sp>
        <p:nvSpPr>
          <p:cNvPr id="38" name="Rectangle 5"/>
          <p:cNvSpPr>
            <a:spLocks noGrp="1" noChangeArrowheads="1"/>
          </p:cNvSpPr>
          <p:nvPr>
            <p:ph type="dt" sz="half" idx="10"/>
          </p:nvPr>
        </p:nvSpPr>
        <p:spPr/>
        <p:txBody>
          <a:bodyPr/>
          <a:lstStyle>
            <a:lvl1pPr>
              <a:defRPr/>
            </a:lvl1pPr>
          </a:lstStyle>
          <a:p>
            <a:pPr>
              <a:defRPr/>
            </a:pPr>
            <a:endParaRPr lang="en-US" altLang="en-US"/>
          </a:p>
        </p:txBody>
      </p:sp>
      <p:sp>
        <p:nvSpPr>
          <p:cNvPr id="39" name="Rectangle 6"/>
          <p:cNvSpPr>
            <a:spLocks noGrp="1" noChangeArrowheads="1"/>
          </p:cNvSpPr>
          <p:nvPr>
            <p:ph type="ftr" sz="quarter" idx="11"/>
          </p:nvPr>
        </p:nvSpPr>
        <p:spPr>
          <a:xfrm>
            <a:off x="323850" y="6248400"/>
            <a:ext cx="7272338" cy="457200"/>
          </a:xfrm>
        </p:spPr>
        <p:txBody>
          <a:bodyPr/>
          <a:lstStyle>
            <a:lvl1pPr>
              <a:defRPr smtClean="0"/>
            </a:lvl1pPr>
          </a:lstStyle>
          <a:p>
            <a:pPr>
              <a:defRPr/>
            </a:pPr>
            <a:r>
              <a:rPr lang="en-CA" altLang="en-US"/>
              <a:t>Fundamentals of Futures and Options Markets, 9th Ed, Ch 20, Copyright © John C. Hull 2016</a:t>
            </a:r>
            <a:endParaRPr lang="en-US" altLang="en-US" i="0"/>
          </a:p>
        </p:txBody>
      </p:sp>
      <p:sp>
        <p:nvSpPr>
          <p:cNvPr id="40" name="Rectangle 7"/>
          <p:cNvSpPr>
            <a:spLocks noGrp="1" noChangeArrowheads="1"/>
          </p:cNvSpPr>
          <p:nvPr>
            <p:ph type="sldNum" sz="quarter" idx="12"/>
          </p:nvPr>
        </p:nvSpPr>
        <p:spPr>
          <a:xfrm>
            <a:off x="6553200" y="6237288"/>
            <a:ext cx="2133600" cy="468312"/>
          </a:xfrm>
        </p:spPr>
        <p:txBody>
          <a:bodyPr/>
          <a:lstStyle>
            <a:lvl1pPr>
              <a:defRPr/>
            </a:lvl1pPr>
          </a:lstStyle>
          <a:p>
            <a:fld id="{0DACAFD1-B43C-4635-AB10-5E0CC1CB0E08}" type="slidenum">
              <a:rPr lang="en-US" altLang="en-US"/>
              <a:pPr/>
              <a:t>‹#›</a:t>
            </a:fld>
            <a:endParaRPr lang="en-US" altLang="en-US"/>
          </a:p>
        </p:txBody>
      </p:sp>
    </p:spTree>
    <p:extLst>
      <p:ext uri="{BB962C8B-B14F-4D97-AF65-F5344CB8AC3E}">
        <p14:creationId xmlns:p14="http://schemas.microsoft.com/office/powerpoint/2010/main" val="32045395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smtClean="0"/>
            </a:lvl1pPr>
          </a:lstStyle>
          <a:p>
            <a:pPr>
              <a:defRPr/>
            </a:pPr>
            <a:r>
              <a:rPr lang="en-CA" altLang="en-US"/>
              <a:t>Fundamentals of Futures and Options Markets, 9th Ed, Ch 20, Copyright © John C. Hull 2016</a:t>
            </a:r>
            <a:endParaRPr lang="en-US" altLang="en-US" i="0"/>
          </a:p>
        </p:txBody>
      </p:sp>
      <p:sp>
        <p:nvSpPr>
          <p:cNvPr id="6" name="Slide Number Placeholder 5"/>
          <p:cNvSpPr>
            <a:spLocks noGrp="1"/>
          </p:cNvSpPr>
          <p:nvPr>
            <p:ph type="sldNum" sz="quarter" idx="12"/>
          </p:nvPr>
        </p:nvSpPr>
        <p:spPr/>
        <p:txBody>
          <a:bodyPr/>
          <a:lstStyle>
            <a:lvl1pPr>
              <a:defRPr/>
            </a:lvl1pPr>
          </a:lstStyle>
          <a:p>
            <a:fld id="{FE7A17BE-2E70-4AEA-964C-F4576C910784}" type="slidenum">
              <a:rPr lang="en-US" altLang="en-US"/>
              <a:pPr/>
              <a:t>‹#›</a:t>
            </a:fld>
            <a:endParaRPr lang="en-US" altLang="en-US"/>
          </a:p>
        </p:txBody>
      </p:sp>
    </p:spTree>
    <p:extLst>
      <p:ext uri="{BB962C8B-B14F-4D97-AF65-F5344CB8AC3E}">
        <p14:creationId xmlns:p14="http://schemas.microsoft.com/office/powerpoint/2010/main" val="7978386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smtClean="0"/>
            </a:lvl1pPr>
          </a:lstStyle>
          <a:p>
            <a:pPr>
              <a:defRPr/>
            </a:pPr>
            <a:r>
              <a:rPr lang="en-CA" altLang="en-US"/>
              <a:t>Fundamentals of Futures and Options Markets, 9th Ed, Ch 20, Copyright © John C. Hull 2016</a:t>
            </a:r>
            <a:endParaRPr lang="en-US" altLang="en-US" i="0"/>
          </a:p>
        </p:txBody>
      </p:sp>
      <p:sp>
        <p:nvSpPr>
          <p:cNvPr id="6" name="Slide Number Placeholder 5"/>
          <p:cNvSpPr>
            <a:spLocks noGrp="1"/>
          </p:cNvSpPr>
          <p:nvPr>
            <p:ph type="sldNum" sz="quarter" idx="12"/>
          </p:nvPr>
        </p:nvSpPr>
        <p:spPr/>
        <p:txBody>
          <a:bodyPr/>
          <a:lstStyle>
            <a:lvl1pPr>
              <a:defRPr/>
            </a:lvl1pPr>
          </a:lstStyle>
          <a:p>
            <a:fld id="{74EDF800-81D7-4DAF-9506-9EB07BC592C2}" type="slidenum">
              <a:rPr lang="en-US" altLang="en-US"/>
              <a:pPr/>
              <a:t>‹#›</a:t>
            </a:fld>
            <a:endParaRPr lang="en-US" altLang="en-US"/>
          </a:p>
        </p:txBody>
      </p:sp>
    </p:spTree>
    <p:extLst>
      <p:ext uri="{BB962C8B-B14F-4D97-AF65-F5344CB8AC3E}">
        <p14:creationId xmlns:p14="http://schemas.microsoft.com/office/powerpoint/2010/main" val="8627558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pPr>
              <a:defRPr/>
            </a:pPr>
            <a:endParaRPr lang="en-US" altLang="en-US"/>
          </a:p>
        </p:txBody>
      </p:sp>
      <p:sp>
        <p:nvSpPr>
          <p:cNvPr id="6" name="Footer Placeholder 5"/>
          <p:cNvSpPr>
            <a:spLocks noGrp="1"/>
          </p:cNvSpPr>
          <p:nvPr>
            <p:ph type="ftr" sz="quarter" idx="11"/>
          </p:nvPr>
        </p:nvSpPr>
        <p:spPr/>
        <p:txBody>
          <a:bodyPr/>
          <a:lstStyle>
            <a:lvl1pPr>
              <a:defRPr smtClean="0"/>
            </a:lvl1pPr>
          </a:lstStyle>
          <a:p>
            <a:pPr>
              <a:defRPr/>
            </a:pPr>
            <a:r>
              <a:rPr lang="en-CA" altLang="en-US"/>
              <a:t>Fundamentals of Futures and Options Markets, 9th Ed, Ch 20, Copyright © John C. Hull 2016</a:t>
            </a:r>
            <a:endParaRPr lang="en-US" altLang="en-US" i="0"/>
          </a:p>
        </p:txBody>
      </p:sp>
      <p:sp>
        <p:nvSpPr>
          <p:cNvPr id="7" name="Slide Number Placeholder 6"/>
          <p:cNvSpPr>
            <a:spLocks noGrp="1"/>
          </p:cNvSpPr>
          <p:nvPr>
            <p:ph type="sldNum" sz="quarter" idx="12"/>
          </p:nvPr>
        </p:nvSpPr>
        <p:spPr/>
        <p:txBody>
          <a:bodyPr/>
          <a:lstStyle>
            <a:lvl1pPr>
              <a:defRPr/>
            </a:lvl1pPr>
          </a:lstStyle>
          <a:p>
            <a:fld id="{5B5DDF41-A16D-4E1D-A3FD-5F91F84294CA}" type="slidenum">
              <a:rPr lang="en-US" altLang="en-US"/>
              <a:pPr/>
              <a:t>‹#›</a:t>
            </a:fld>
            <a:endParaRPr lang="en-US" altLang="en-US"/>
          </a:p>
        </p:txBody>
      </p:sp>
    </p:spTree>
    <p:extLst>
      <p:ext uri="{BB962C8B-B14F-4D97-AF65-F5344CB8AC3E}">
        <p14:creationId xmlns:p14="http://schemas.microsoft.com/office/powerpoint/2010/main" val="35374013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pPr>
              <a:defRPr/>
            </a:pPr>
            <a:endParaRPr lang="en-US" altLang="en-US"/>
          </a:p>
        </p:txBody>
      </p:sp>
      <p:sp>
        <p:nvSpPr>
          <p:cNvPr id="8" name="Footer Placeholder 7"/>
          <p:cNvSpPr>
            <a:spLocks noGrp="1"/>
          </p:cNvSpPr>
          <p:nvPr>
            <p:ph type="ftr" sz="quarter" idx="11"/>
          </p:nvPr>
        </p:nvSpPr>
        <p:spPr/>
        <p:txBody>
          <a:bodyPr/>
          <a:lstStyle>
            <a:lvl1pPr>
              <a:defRPr smtClean="0"/>
            </a:lvl1pPr>
          </a:lstStyle>
          <a:p>
            <a:pPr>
              <a:defRPr/>
            </a:pPr>
            <a:r>
              <a:rPr lang="en-CA" altLang="en-US"/>
              <a:t>Fundamentals of Futures and Options Markets, 9th Ed, Ch 20, Copyright © John C. Hull 2016</a:t>
            </a:r>
            <a:endParaRPr lang="en-US" altLang="en-US" i="0"/>
          </a:p>
        </p:txBody>
      </p:sp>
      <p:sp>
        <p:nvSpPr>
          <p:cNvPr id="9" name="Slide Number Placeholder 8"/>
          <p:cNvSpPr>
            <a:spLocks noGrp="1"/>
          </p:cNvSpPr>
          <p:nvPr>
            <p:ph type="sldNum" sz="quarter" idx="12"/>
          </p:nvPr>
        </p:nvSpPr>
        <p:spPr/>
        <p:txBody>
          <a:bodyPr/>
          <a:lstStyle>
            <a:lvl1pPr>
              <a:defRPr/>
            </a:lvl1pPr>
          </a:lstStyle>
          <a:p>
            <a:fld id="{7CF5EEF9-ECB4-40D7-A226-83E15DBD5B75}" type="slidenum">
              <a:rPr lang="en-US" altLang="en-US"/>
              <a:pPr/>
              <a:t>‹#›</a:t>
            </a:fld>
            <a:endParaRPr lang="en-US" altLang="en-US"/>
          </a:p>
        </p:txBody>
      </p:sp>
    </p:spTree>
    <p:extLst>
      <p:ext uri="{BB962C8B-B14F-4D97-AF65-F5344CB8AC3E}">
        <p14:creationId xmlns:p14="http://schemas.microsoft.com/office/powerpoint/2010/main" val="2446362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pPr>
              <a:defRPr/>
            </a:pPr>
            <a:endParaRPr lang="en-US" altLang="en-US"/>
          </a:p>
        </p:txBody>
      </p:sp>
      <p:sp>
        <p:nvSpPr>
          <p:cNvPr id="4" name="Footer Placeholder 3"/>
          <p:cNvSpPr>
            <a:spLocks noGrp="1"/>
          </p:cNvSpPr>
          <p:nvPr>
            <p:ph type="ftr" sz="quarter" idx="11"/>
          </p:nvPr>
        </p:nvSpPr>
        <p:spPr/>
        <p:txBody>
          <a:bodyPr/>
          <a:lstStyle>
            <a:lvl1pPr>
              <a:defRPr smtClean="0"/>
            </a:lvl1pPr>
          </a:lstStyle>
          <a:p>
            <a:pPr>
              <a:defRPr/>
            </a:pPr>
            <a:r>
              <a:rPr lang="en-CA" altLang="en-US"/>
              <a:t>Fundamentals of Futures and Options Markets, 9th Ed, Ch 20, Copyright © John C. Hull 2016</a:t>
            </a:r>
            <a:endParaRPr lang="en-US" altLang="en-US" i="0"/>
          </a:p>
        </p:txBody>
      </p:sp>
      <p:sp>
        <p:nvSpPr>
          <p:cNvPr id="5" name="Slide Number Placeholder 4"/>
          <p:cNvSpPr>
            <a:spLocks noGrp="1"/>
          </p:cNvSpPr>
          <p:nvPr>
            <p:ph type="sldNum" sz="quarter" idx="12"/>
          </p:nvPr>
        </p:nvSpPr>
        <p:spPr/>
        <p:txBody>
          <a:bodyPr/>
          <a:lstStyle>
            <a:lvl1pPr>
              <a:defRPr/>
            </a:lvl1pPr>
          </a:lstStyle>
          <a:p>
            <a:fld id="{58AD52FD-B5A6-4960-B939-00E278AB8AB7}" type="slidenum">
              <a:rPr lang="en-US" altLang="en-US"/>
              <a:pPr/>
              <a:t>‹#›</a:t>
            </a:fld>
            <a:endParaRPr lang="en-US" altLang="en-US"/>
          </a:p>
        </p:txBody>
      </p:sp>
    </p:spTree>
    <p:extLst>
      <p:ext uri="{BB962C8B-B14F-4D97-AF65-F5344CB8AC3E}">
        <p14:creationId xmlns:p14="http://schemas.microsoft.com/office/powerpoint/2010/main" val="34405534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endParaRPr lang="en-US" altLang="en-US"/>
          </a:p>
        </p:txBody>
      </p:sp>
      <p:sp>
        <p:nvSpPr>
          <p:cNvPr id="3" name="Footer Placeholder 2"/>
          <p:cNvSpPr>
            <a:spLocks noGrp="1"/>
          </p:cNvSpPr>
          <p:nvPr>
            <p:ph type="ftr" sz="quarter" idx="11"/>
          </p:nvPr>
        </p:nvSpPr>
        <p:spPr/>
        <p:txBody>
          <a:bodyPr/>
          <a:lstStyle>
            <a:lvl1pPr>
              <a:defRPr smtClean="0"/>
            </a:lvl1pPr>
          </a:lstStyle>
          <a:p>
            <a:pPr>
              <a:defRPr/>
            </a:pPr>
            <a:r>
              <a:rPr lang="en-CA" altLang="en-US"/>
              <a:t>Fundamentals of Futures and Options Markets, 9th Ed, Ch 20, Copyright © John C. Hull 2016</a:t>
            </a:r>
            <a:endParaRPr lang="en-US" altLang="en-US" i="0"/>
          </a:p>
        </p:txBody>
      </p:sp>
      <p:sp>
        <p:nvSpPr>
          <p:cNvPr id="4" name="Slide Number Placeholder 3"/>
          <p:cNvSpPr>
            <a:spLocks noGrp="1"/>
          </p:cNvSpPr>
          <p:nvPr>
            <p:ph type="sldNum" sz="quarter" idx="12"/>
          </p:nvPr>
        </p:nvSpPr>
        <p:spPr/>
        <p:txBody>
          <a:bodyPr/>
          <a:lstStyle>
            <a:lvl1pPr>
              <a:defRPr/>
            </a:lvl1pPr>
          </a:lstStyle>
          <a:p>
            <a:fld id="{C6BB9CF9-2628-4729-BE89-8A4A43F3F730}" type="slidenum">
              <a:rPr lang="en-US" altLang="en-US"/>
              <a:pPr/>
              <a:t>‹#›</a:t>
            </a:fld>
            <a:endParaRPr lang="en-US" altLang="en-US"/>
          </a:p>
        </p:txBody>
      </p:sp>
    </p:spTree>
    <p:extLst>
      <p:ext uri="{BB962C8B-B14F-4D97-AF65-F5344CB8AC3E}">
        <p14:creationId xmlns:p14="http://schemas.microsoft.com/office/powerpoint/2010/main" val="31162256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pPr>
              <a:defRPr/>
            </a:pPr>
            <a:endParaRPr lang="en-US" altLang="en-US"/>
          </a:p>
        </p:txBody>
      </p:sp>
      <p:sp>
        <p:nvSpPr>
          <p:cNvPr id="6" name="Footer Placeholder 5"/>
          <p:cNvSpPr>
            <a:spLocks noGrp="1"/>
          </p:cNvSpPr>
          <p:nvPr>
            <p:ph type="ftr" sz="quarter" idx="11"/>
          </p:nvPr>
        </p:nvSpPr>
        <p:spPr/>
        <p:txBody>
          <a:bodyPr/>
          <a:lstStyle>
            <a:lvl1pPr>
              <a:defRPr smtClean="0"/>
            </a:lvl1pPr>
          </a:lstStyle>
          <a:p>
            <a:pPr>
              <a:defRPr/>
            </a:pPr>
            <a:r>
              <a:rPr lang="en-CA" altLang="en-US"/>
              <a:t>Fundamentals of Futures and Options Markets, 9th Ed, Ch 20, Copyright © John C. Hull 2016</a:t>
            </a:r>
            <a:endParaRPr lang="en-US" altLang="en-US" i="0"/>
          </a:p>
        </p:txBody>
      </p:sp>
      <p:sp>
        <p:nvSpPr>
          <p:cNvPr id="7" name="Slide Number Placeholder 6"/>
          <p:cNvSpPr>
            <a:spLocks noGrp="1"/>
          </p:cNvSpPr>
          <p:nvPr>
            <p:ph type="sldNum" sz="quarter" idx="12"/>
          </p:nvPr>
        </p:nvSpPr>
        <p:spPr/>
        <p:txBody>
          <a:bodyPr/>
          <a:lstStyle>
            <a:lvl1pPr>
              <a:defRPr/>
            </a:lvl1pPr>
          </a:lstStyle>
          <a:p>
            <a:fld id="{FADEDE79-971A-487B-A05A-FE888B91144E}" type="slidenum">
              <a:rPr lang="en-US" altLang="en-US"/>
              <a:pPr/>
              <a:t>‹#›</a:t>
            </a:fld>
            <a:endParaRPr lang="en-US" altLang="en-US"/>
          </a:p>
        </p:txBody>
      </p:sp>
    </p:spTree>
    <p:extLst>
      <p:ext uri="{BB962C8B-B14F-4D97-AF65-F5344CB8AC3E}">
        <p14:creationId xmlns:p14="http://schemas.microsoft.com/office/powerpoint/2010/main" val="5676923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pPr>
              <a:defRPr/>
            </a:pPr>
            <a:endParaRPr lang="en-US" altLang="en-US"/>
          </a:p>
        </p:txBody>
      </p:sp>
      <p:sp>
        <p:nvSpPr>
          <p:cNvPr id="6" name="Footer Placeholder 5"/>
          <p:cNvSpPr>
            <a:spLocks noGrp="1"/>
          </p:cNvSpPr>
          <p:nvPr>
            <p:ph type="ftr" sz="quarter" idx="11"/>
          </p:nvPr>
        </p:nvSpPr>
        <p:spPr/>
        <p:txBody>
          <a:bodyPr/>
          <a:lstStyle>
            <a:lvl1pPr>
              <a:defRPr smtClean="0"/>
            </a:lvl1pPr>
          </a:lstStyle>
          <a:p>
            <a:pPr>
              <a:defRPr/>
            </a:pPr>
            <a:r>
              <a:rPr lang="en-CA" altLang="en-US"/>
              <a:t>Fundamentals of Futures and Options Markets, 9th Ed, Ch 20, Copyright © John C. Hull 2016</a:t>
            </a:r>
            <a:endParaRPr lang="en-US" altLang="en-US" i="0"/>
          </a:p>
        </p:txBody>
      </p:sp>
      <p:sp>
        <p:nvSpPr>
          <p:cNvPr id="7" name="Slide Number Placeholder 6"/>
          <p:cNvSpPr>
            <a:spLocks noGrp="1"/>
          </p:cNvSpPr>
          <p:nvPr>
            <p:ph type="sldNum" sz="quarter" idx="12"/>
          </p:nvPr>
        </p:nvSpPr>
        <p:spPr/>
        <p:txBody>
          <a:bodyPr/>
          <a:lstStyle>
            <a:lvl1pPr>
              <a:defRPr/>
            </a:lvl1pPr>
          </a:lstStyle>
          <a:p>
            <a:fld id="{3C16CA43-FB9A-433C-A0D3-C9599B2AD94A}" type="slidenum">
              <a:rPr lang="en-US" altLang="en-US"/>
              <a:pPr/>
              <a:t>‹#›</a:t>
            </a:fld>
            <a:endParaRPr lang="en-US" altLang="en-US"/>
          </a:p>
        </p:txBody>
      </p:sp>
    </p:spTree>
    <p:extLst>
      <p:ext uri="{BB962C8B-B14F-4D97-AF65-F5344CB8AC3E}">
        <p14:creationId xmlns:p14="http://schemas.microsoft.com/office/powerpoint/2010/main" val="6204822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smtClean="0"/>
            </a:lvl1pPr>
          </a:lstStyle>
          <a:p>
            <a:pPr>
              <a:defRPr/>
            </a:pPr>
            <a:r>
              <a:rPr lang="en-CA" altLang="en-US"/>
              <a:t>Fundamentals of Futures and Options Markets, 9th Ed, Ch 20, Copyright © John C. Hull 2016</a:t>
            </a:r>
            <a:endParaRPr lang="en-US" altLang="en-US" i="0"/>
          </a:p>
        </p:txBody>
      </p:sp>
      <p:sp>
        <p:nvSpPr>
          <p:cNvPr id="6" name="Slide Number Placeholder 5"/>
          <p:cNvSpPr>
            <a:spLocks noGrp="1"/>
          </p:cNvSpPr>
          <p:nvPr>
            <p:ph type="sldNum" sz="quarter" idx="12"/>
          </p:nvPr>
        </p:nvSpPr>
        <p:spPr/>
        <p:txBody>
          <a:bodyPr/>
          <a:lstStyle>
            <a:lvl1pPr>
              <a:defRPr/>
            </a:lvl1pPr>
          </a:lstStyle>
          <a:p>
            <a:fld id="{57623B30-B124-4BEB-9A7E-DB5B48FBEABB}" type="slidenum">
              <a:rPr lang="en-US" altLang="en-US"/>
              <a:pPr/>
              <a:t>‹#›</a:t>
            </a:fld>
            <a:endParaRPr lang="en-US" altLang="en-US"/>
          </a:p>
        </p:txBody>
      </p:sp>
    </p:spTree>
    <p:extLst>
      <p:ext uri="{BB962C8B-B14F-4D97-AF65-F5344CB8AC3E}">
        <p14:creationId xmlns:p14="http://schemas.microsoft.com/office/powerpoint/2010/main" val="35863885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22238"/>
            <a:ext cx="2057400" cy="6008687"/>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22238"/>
            <a:ext cx="6019800" cy="600868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smtClean="0"/>
            </a:lvl1pPr>
          </a:lstStyle>
          <a:p>
            <a:pPr>
              <a:defRPr/>
            </a:pPr>
            <a:r>
              <a:rPr lang="en-CA" altLang="en-US"/>
              <a:t>Fundamentals of Futures and Options Markets, 9th Ed, Ch 20, Copyright © John C. Hull 2016</a:t>
            </a:r>
            <a:endParaRPr lang="en-US" altLang="en-US" i="0"/>
          </a:p>
        </p:txBody>
      </p:sp>
      <p:sp>
        <p:nvSpPr>
          <p:cNvPr id="6" name="Slide Number Placeholder 5"/>
          <p:cNvSpPr>
            <a:spLocks noGrp="1"/>
          </p:cNvSpPr>
          <p:nvPr>
            <p:ph type="sldNum" sz="quarter" idx="12"/>
          </p:nvPr>
        </p:nvSpPr>
        <p:spPr/>
        <p:txBody>
          <a:bodyPr/>
          <a:lstStyle>
            <a:lvl1pPr>
              <a:defRPr/>
            </a:lvl1pPr>
          </a:lstStyle>
          <a:p>
            <a:fld id="{6EDFB3CB-66FC-44E9-B321-2EC9566D5938}" type="slidenum">
              <a:rPr lang="en-US" altLang="en-US"/>
              <a:pPr/>
              <a:t>‹#›</a:t>
            </a:fld>
            <a:endParaRPr lang="en-US" altLang="en-US"/>
          </a:p>
        </p:txBody>
      </p:sp>
    </p:spTree>
    <p:extLst>
      <p:ext uri="{BB962C8B-B14F-4D97-AF65-F5344CB8AC3E}">
        <p14:creationId xmlns:p14="http://schemas.microsoft.com/office/powerpoint/2010/main" val="2912435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7962900" y="152400"/>
            <a:ext cx="0" cy="1524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7" name="Rectangle 3"/>
          <p:cNvSpPr>
            <a:spLocks noGrp="1" noChangeArrowheads="1"/>
          </p:cNvSpPr>
          <p:nvPr>
            <p:ph type="title"/>
          </p:nvPr>
        </p:nvSpPr>
        <p:spPr bwMode="auto">
          <a:xfrm>
            <a:off x="457200" y="122238"/>
            <a:ext cx="7543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smtClean="0"/>
              <a:t>Click to edit Master title style</a:t>
            </a:r>
          </a:p>
        </p:txBody>
      </p:sp>
      <p:sp>
        <p:nvSpPr>
          <p:cNvPr id="1028" name="Rectangle 4"/>
          <p:cNvSpPr>
            <a:spLocks noGrp="1" noChangeArrowheads="1"/>
          </p:cNvSpPr>
          <p:nvPr>
            <p:ph type="body" idx="1"/>
          </p:nvPr>
        </p:nvSpPr>
        <p:spPr bwMode="auto">
          <a:xfrm>
            <a:off x="457200" y="1719263"/>
            <a:ext cx="8229600"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30053" name="Rectangle 5"/>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latin typeface="Arial" pitchFamily="34" charset="0"/>
              </a:defRPr>
            </a:lvl1pPr>
          </a:lstStyle>
          <a:p>
            <a:pPr>
              <a:defRPr/>
            </a:pPr>
            <a:endParaRPr lang="en-US" altLang="en-US"/>
          </a:p>
        </p:txBody>
      </p:sp>
      <p:sp>
        <p:nvSpPr>
          <p:cNvPr id="130054" name="Rectangle 6"/>
          <p:cNvSpPr>
            <a:spLocks noGrp="1" noChangeArrowheads="1"/>
          </p:cNvSpPr>
          <p:nvPr>
            <p:ph type="ftr" sz="quarter" idx="3"/>
          </p:nvPr>
        </p:nvSpPr>
        <p:spPr bwMode="auto">
          <a:xfrm>
            <a:off x="250825" y="6248400"/>
            <a:ext cx="7561263"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i="1" smtClean="0">
                <a:latin typeface="Arial" pitchFamily="34" charset="0"/>
              </a:defRPr>
            </a:lvl1pPr>
          </a:lstStyle>
          <a:p>
            <a:pPr>
              <a:defRPr/>
            </a:pPr>
            <a:r>
              <a:rPr lang="en-CA" altLang="en-US"/>
              <a:t>Fundamentals of Futures and Options Markets, 9th Ed, Ch 20, Copyright © John C. Hull 2016</a:t>
            </a:r>
            <a:endParaRPr lang="en-US" altLang="en-US"/>
          </a:p>
        </p:txBody>
      </p:sp>
      <p:sp>
        <p:nvSpPr>
          <p:cNvPr id="130055" name="Rectangle 7"/>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b="1"/>
            </a:lvl1pPr>
          </a:lstStyle>
          <a:p>
            <a:fld id="{60541C1B-A9FB-4E4D-AE14-7C1B4DFDD0F6}" type="slidenum">
              <a:rPr lang="en-US" altLang="en-US"/>
              <a:pPr/>
              <a:t>‹#›</a:t>
            </a:fld>
            <a:endParaRPr lang="en-US" altLang="en-US"/>
          </a:p>
        </p:txBody>
      </p:sp>
      <p:grpSp>
        <p:nvGrpSpPr>
          <p:cNvPr id="1032" name="Group 8"/>
          <p:cNvGrpSpPr>
            <a:grpSpLocks/>
          </p:cNvGrpSpPr>
          <p:nvPr/>
        </p:nvGrpSpPr>
        <p:grpSpPr bwMode="auto">
          <a:xfrm>
            <a:off x="8153400" y="152400"/>
            <a:ext cx="792163" cy="1295400"/>
            <a:chOff x="5136" y="960"/>
            <a:chExt cx="528" cy="864"/>
          </a:xfrm>
        </p:grpSpPr>
        <p:sp>
          <p:nvSpPr>
            <p:cNvPr id="1033" name="Oval 9"/>
            <p:cNvSpPr>
              <a:spLocks noChangeArrowheads="1"/>
            </p:cNvSpPr>
            <p:nvPr/>
          </p:nvSpPr>
          <p:spPr bwMode="auto">
            <a:xfrm>
              <a:off x="5136" y="960"/>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34" name="Oval 10"/>
            <p:cNvSpPr>
              <a:spLocks noChangeArrowheads="1"/>
            </p:cNvSpPr>
            <p:nvPr/>
          </p:nvSpPr>
          <p:spPr bwMode="auto">
            <a:xfrm>
              <a:off x="5248" y="960"/>
              <a:ext cx="79"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35" name="Oval 11"/>
            <p:cNvSpPr>
              <a:spLocks noChangeArrowheads="1"/>
            </p:cNvSpPr>
            <p:nvPr/>
          </p:nvSpPr>
          <p:spPr bwMode="auto">
            <a:xfrm>
              <a:off x="5360" y="960"/>
              <a:ext cx="76"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36" name="Oval 12"/>
            <p:cNvSpPr>
              <a:spLocks noChangeArrowheads="1"/>
            </p:cNvSpPr>
            <p:nvPr/>
          </p:nvSpPr>
          <p:spPr bwMode="auto">
            <a:xfrm>
              <a:off x="5136" y="1072"/>
              <a:ext cx="80"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37" name="Oval 13"/>
            <p:cNvSpPr>
              <a:spLocks noChangeArrowheads="1"/>
            </p:cNvSpPr>
            <p:nvPr/>
          </p:nvSpPr>
          <p:spPr bwMode="auto">
            <a:xfrm>
              <a:off x="5248" y="1072"/>
              <a:ext cx="79"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38" name="Oval 14"/>
            <p:cNvSpPr>
              <a:spLocks noChangeArrowheads="1"/>
            </p:cNvSpPr>
            <p:nvPr/>
          </p:nvSpPr>
          <p:spPr bwMode="auto">
            <a:xfrm>
              <a:off x="5360" y="1072"/>
              <a:ext cx="76"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39" name="Oval 15"/>
            <p:cNvSpPr>
              <a:spLocks noChangeArrowheads="1"/>
            </p:cNvSpPr>
            <p:nvPr/>
          </p:nvSpPr>
          <p:spPr bwMode="auto">
            <a:xfrm>
              <a:off x="5472" y="1072"/>
              <a:ext cx="74" cy="7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40" name="Oval 16"/>
            <p:cNvSpPr>
              <a:spLocks noChangeArrowheads="1"/>
            </p:cNvSpPr>
            <p:nvPr/>
          </p:nvSpPr>
          <p:spPr bwMode="auto">
            <a:xfrm>
              <a:off x="5136" y="1184"/>
              <a:ext cx="80" cy="74"/>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41" name="Oval 17"/>
            <p:cNvSpPr>
              <a:spLocks noChangeArrowheads="1"/>
            </p:cNvSpPr>
            <p:nvPr/>
          </p:nvSpPr>
          <p:spPr bwMode="auto">
            <a:xfrm>
              <a:off x="5248" y="1184"/>
              <a:ext cx="79" cy="74"/>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42" name="Oval 18"/>
            <p:cNvSpPr>
              <a:spLocks noChangeArrowheads="1"/>
            </p:cNvSpPr>
            <p:nvPr/>
          </p:nvSpPr>
          <p:spPr bwMode="auto">
            <a:xfrm>
              <a:off x="5360" y="1184"/>
              <a:ext cx="76" cy="74"/>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43" name="Oval 19"/>
            <p:cNvSpPr>
              <a:spLocks noChangeArrowheads="1"/>
            </p:cNvSpPr>
            <p:nvPr/>
          </p:nvSpPr>
          <p:spPr bwMode="auto">
            <a:xfrm>
              <a:off x="5472" y="1184"/>
              <a:ext cx="74" cy="74"/>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44" name="Oval 20"/>
            <p:cNvSpPr>
              <a:spLocks noChangeArrowheads="1"/>
            </p:cNvSpPr>
            <p:nvPr/>
          </p:nvSpPr>
          <p:spPr bwMode="auto">
            <a:xfrm>
              <a:off x="5584" y="1184"/>
              <a:ext cx="80" cy="74"/>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45" name="Oval 21"/>
            <p:cNvSpPr>
              <a:spLocks noChangeArrowheads="1"/>
            </p:cNvSpPr>
            <p:nvPr/>
          </p:nvSpPr>
          <p:spPr bwMode="auto">
            <a:xfrm>
              <a:off x="5136" y="1296"/>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46" name="Oval 22"/>
            <p:cNvSpPr>
              <a:spLocks noChangeArrowheads="1"/>
            </p:cNvSpPr>
            <p:nvPr/>
          </p:nvSpPr>
          <p:spPr bwMode="auto">
            <a:xfrm>
              <a:off x="5248" y="1296"/>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47" name="Oval 23"/>
            <p:cNvSpPr>
              <a:spLocks noChangeArrowheads="1"/>
            </p:cNvSpPr>
            <p:nvPr/>
          </p:nvSpPr>
          <p:spPr bwMode="auto">
            <a:xfrm>
              <a:off x="5360" y="1296"/>
              <a:ext cx="76"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48" name="Oval 24"/>
            <p:cNvSpPr>
              <a:spLocks noChangeArrowheads="1"/>
            </p:cNvSpPr>
            <p:nvPr/>
          </p:nvSpPr>
          <p:spPr bwMode="auto">
            <a:xfrm>
              <a:off x="5472" y="1296"/>
              <a:ext cx="74"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49" name="Oval 25"/>
            <p:cNvSpPr>
              <a:spLocks noChangeArrowheads="1"/>
            </p:cNvSpPr>
            <p:nvPr/>
          </p:nvSpPr>
          <p:spPr bwMode="auto">
            <a:xfrm>
              <a:off x="5136" y="1408"/>
              <a:ext cx="80"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50" name="Oval 26"/>
            <p:cNvSpPr>
              <a:spLocks noChangeArrowheads="1"/>
            </p:cNvSpPr>
            <p:nvPr/>
          </p:nvSpPr>
          <p:spPr bwMode="auto">
            <a:xfrm>
              <a:off x="5248" y="1408"/>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51" name="Oval 27"/>
            <p:cNvSpPr>
              <a:spLocks noChangeArrowheads="1"/>
            </p:cNvSpPr>
            <p:nvPr/>
          </p:nvSpPr>
          <p:spPr bwMode="auto">
            <a:xfrm>
              <a:off x="5360" y="1408"/>
              <a:ext cx="76"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52" name="Oval 28"/>
            <p:cNvSpPr>
              <a:spLocks noChangeArrowheads="1"/>
            </p:cNvSpPr>
            <p:nvPr/>
          </p:nvSpPr>
          <p:spPr bwMode="auto">
            <a:xfrm>
              <a:off x="5472" y="1408"/>
              <a:ext cx="74"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53" name="Oval 29"/>
            <p:cNvSpPr>
              <a:spLocks noChangeArrowheads="1"/>
            </p:cNvSpPr>
            <p:nvPr/>
          </p:nvSpPr>
          <p:spPr bwMode="auto">
            <a:xfrm>
              <a:off x="5584" y="1408"/>
              <a:ext cx="80"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54" name="Oval 30"/>
            <p:cNvSpPr>
              <a:spLocks noChangeArrowheads="1"/>
            </p:cNvSpPr>
            <p:nvPr/>
          </p:nvSpPr>
          <p:spPr bwMode="auto">
            <a:xfrm>
              <a:off x="5136" y="1520"/>
              <a:ext cx="80" cy="79"/>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55" name="Oval 31"/>
            <p:cNvSpPr>
              <a:spLocks noChangeArrowheads="1"/>
            </p:cNvSpPr>
            <p:nvPr/>
          </p:nvSpPr>
          <p:spPr bwMode="auto">
            <a:xfrm>
              <a:off x="5248" y="1520"/>
              <a:ext cx="79"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56" name="Oval 32"/>
            <p:cNvSpPr>
              <a:spLocks noChangeArrowheads="1"/>
            </p:cNvSpPr>
            <p:nvPr/>
          </p:nvSpPr>
          <p:spPr bwMode="auto">
            <a:xfrm>
              <a:off x="5360" y="1520"/>
              <a:ext cx="76"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57" name="Oval 33"/>
            <p:cNvSpPr>
              <a:spLocks noChangeArrowheads="1"/>
            </p:cNvSpPr>
            <p:nvPr/>
          </p:nvSpPr>
          <p:spPr bwMode="auto">
            <a:xfrm>
              <a:off x="5472" y="1520"/>
              <a:ext cx="74" cy="79"/>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58" name="Oval 34"/>
            <p:cNvSpPr>
              <a:spLocks noChangeArrowheads="1"/>
            </p:cNvSpPr>
            <p:nvPr/>
          </p:nvSpPr>
          <p:spPr bwMode="auto">
            <a:xfrm>
              <a:off x="5136" y="1632"/>
              <a:ext cx="80" cy="7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59" name="Oval 35"/>
            <p:cNvSpPr>
              <a:spLocks noChangeArrowheads="1"/>
            </p:cNvSpPr>
            <p:nvPr/>
          </p:nvSpPr>
          <p:spPr bwMode="auto">
            <a:xfrm>
              <a:off x="5248" y="1632"/>
              <a:ext cx="79" cy="7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60" name="Oval 36"/>
            <p:cNvSpPr>
              <a:spLocks noChangeArrowheads="1"/>
            </p:cNvSpPr>
            <p:nvPr/>
          </p:nvSpPr>
          <p:spPr bwMode="auto">
            <a:xfrm>
              <a:off x="5360" y="1632"/>
              <a:ext cx="76" cy="75"/>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61" name="Oval 37"/>
            <p:cNvSpPr>
              <a:spLocks noChangeArrowheads="1"/>
            </p:cNvSpPr>
            <p:nvPr/>
          </p:nvSpPr>
          <p:spPr bwMode="auto">
            <a:xfrm>
              <a:off x="5472" y="1632"/>
              <a:ext cx="74" cy="75"/>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62" name="Oval 38"/>
            <p:cNvSpPr>
              <a:spLocks noChangeArrowheads="1"/>
            </p:cNvSpPr>
            <p:nvPr/>
          </p:nvSpPr>
          <p:spPr bwMode="auto">
            <a:xfrm>
              <a:off x="5248" y="1744"/>
              <a:ext cx="79"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63" name="Oval 39"/>
            <p:cNvSpPr>
              <a:spLocks noChangeArrowheads="1"/>
            </p:cNvSpPr>
            <p:nvPr/>
          </p:nvSpPr>
          <p:spPr bwMode="auto">
            <a:xfrm>
              <a:off x="5472" y="1744"/>
              <a:ext cx="74"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grpSp>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iming>
    <p:tnLst>
      <p:par>
        <p:cTn id="1" dur="indefinite" restart="never" nodeType="tmRoot"/>
      </p:par>
    </p:tnLst>
  </p:timing>
  <p:hf hdr="0" dt="0"/>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Times New Roman" pitchFamily="18" charset="0"/>
        </a:defRPr>
      </a:lvl2pPr>
      <a:lvl3pPr algn="l" rtl="0" eaLnBrk="0" fontAlgn="base" hangingPunct="0">
        <a:spcBef>
          <a:spcPct val="0"/>
        </a:spcBef>
        <a:spcAft>
          <a:spcPct val="0"/>
        </a:spcAft>
        <a:defRPr sz="3900" b="1">
          <a:solidFill>
            <a:schemeClr val="tx2"/>
          </a:solidFill>
          <a:latin typeface="Times New Roman" pitchFamily="18" charset="0"/>
        </a:defRPr>
      </a:lvl3pPr>
      <a:lvl4pPr algn="l" rtl="0" eaLnBrk="0" fontAlgn="base" hangingPunct="0">
        <a:spcBef>
          <a:spcPct val="0"/>
        </a:spcBef>
        <a:spcAft>
          <a:spcPct val="0"/>
        </a:spcAft>
        <a:defRPr sz="3900" b="1">
          <a:solidFill>
            <a:schemeClr val="tx2"/>
          </a:solidFill>
          <a:latin typeface="Times New Roman" pitchFamily="18" charset="0"/>
        </a:defRPr>
      </a:lvl4pPr>
      <a:lvl5pPr algn="l" rtl="0" eaLnBrk="0" fontAlgn="base" hangingPunct="0">
        <a:spcBef>
          <a:spcPct val="0"/>
        </a:spcBef>
        <a:spcAft>
          <a:spcPct val="0"/>
        </a:spcAft>
        <a:defRPr sz="3900" b="1">
          <a:solidFill>
            <a:schemeClr val="tx2"/>
          </a:solidFill>
          <a:latin typeface="Times New Roman" pitchFamily="18" charset="0"/>
        </a:defRPr>
      </a:lvl5pPr>
      <a:lvl6pPr marL="457200" algn="l" rtl="0" fontAlgn="base">
        <a:spcBef>
          <a:spcPct val="0"/>
        </a:spcBef>
        <a:spcAft>
          <a:spcPct val="0"/>
        </a:spcAft>
        <a:defRPr sz="3900" b="1">
          <a:solidFill>
            <a:schemeClr val="tx2"/>
          </a:solidFill>
          <a:latin typeface="Times New Roman" pitchFamily="18" charset="0"/>
        </a:defRPr>
      </a:lvl6pPr>
      <a:lvl7pPr marL="914400" algn="l" rtl="0" fontAlgn="base">
        <a:spcBef>
          <a:spcPct val="0"/>
        </a:spcBef>
        <a:spcAft>
          <a:spcPct val="0"/>
        </a:spcAft>
        <a:defRPr sz="3900" b="1">
          <a:solidFill>
            <a:schemeClr val="tx2"/>
          </a:solidFill>
          <a:latin typeface="Times New Roman" pitchFamily="18" charset="0"/>
        </a:defRPr>
      </a:lvl7pPr>
      <a:lvl8pPr marL="1371600" algn="l" rtl="0" fontAlgn="base">
        <a:spcBef>
          <a:spcPct val="0"/>
        </a:spcBef>
        <a:spcAft>
          <a:spcPct val="0"/>
        </a:spcAft>
        <a:defRPr sz="3900" b="1">
          <a:solidFill>
            <a:schemeClr val="tx2"/>
          </a:solidFill>
          <a:latin typeface="Times New Roman" pitchFamily="18" charset="0"/>
        </a:defRPr>
      </a:lvl8pPr>
      <a:lvl9pPr marL="1828800" algn="l" rtl="0" fontAlgn="base">
        <a:spcBef>
          <a:spcPct val="0"/>
        </a:spcBef>
        <a:spcAft>
          <a:spcPct val="0"/>
        </a:spcAft>
        <a:defRPr sz="3900" b="1">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2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anose="05000000000000000000" pitchFamily="2" charset="2"/>
        <a:buChar char="l"/>
        <a:defRPr sz="2800">
          <a:solidFill>
            <a:schemeClr val="tx1"/>
          </a:solidFill>
          <a:latin typeface="+mn-lt"/>
        </a:defRPr>
      </a:lvl2pPr>
      <a:lvl3pPr marL="987425" indent="-293688" algn="l" rtl="0" eaLnBrk="0" fontAlgn="base" hangingPunct="0">
        <a:spcBef>
          <a:spcPct val="20000"/>
        </a:spcBef>
        <a:spcAft>
          <a:spcPct val="0"/>
        </a:spcAft>
        <a:buClr>
          <a:schemeClr val="accent1"/>
        </a:buClr>
        <a:buSzPct val="70000"/>
        <a:buFont typeface="Wingdings" panose="05000000000000000000" pitchFamily="2" charset="2"/>
        <a:buChar char="l"/>
        <a:defRPr sz="2400">
          <a:solidFill>
            <a:schemeClr val="tx1"/>
          </a:solidFill>
          <a:latin typeface="+mn-lt"/>
        </a:defRPr>
      </a:lvl3pPr>
      <a:lvl4pPr marL="1281113"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defRPr>
      </a:lvl4pPr>
      <a:lvl5pPr marL="1598613" indent="-315913"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wmf"/><Relationship Id="rId4"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6.xml"/><Relationship Id="rId1" Type="http://schemas.openxmlformats.org/officeDocument/2006/relationships/vmlDrawing" Target="../drawings/vmlDrawing2.vml"/><Relationship Id="rId5" Type="http://schemas.openxmlformats.org/officeDocument/2006/relationships/image" Target="../media/image2.wmf"/><Relationship Id="rId4" Type="http://schemas.openxmlformats.org/officeDocument/2006/relationships/oleObject" Target="../embeddings/oleObject2.bin"/></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7" Type="http://schemas.openxmlformats.org/officeDocument/2006/relationships/image" Target="../media/image4.w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4.bin"/><Relationship Id="rId5" Type="http://schemas.openxmlformats.org/officeDocument/2006/relationships/image" Target="../media/image3.wmf"/><Relationship Id="rId4" Type="http://schemas.openxmlformats.org/officeDocument/2006/relationships/oleObject" Target="../embeddings/oleObject3.bin"/></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5.wmf"/><Relationship Id="rId4" Type="http://schemas.openxmlformats.org/officeDocument/2006/relationships/oleObject" Target="../embeddings/oleObject5.bin"/></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6.wmf"/><Relationship Id="rId4" Type="http://schemas.openxmlformats.org/officeDocument/2006/relationships/oleObject" Target="../embeddings/oleObject6.bin"/></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7.wmf"/><Relationship Id="rId4" Type="http://schemas.openxmlformats.org/officeDocument/2006/relationships/oleObject" Target="../embeddings/oleObject7.bin"/></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7" Type="http://schemas.openxmlformats.org/officeDocument/2006/relationships/image" Target="../media/image9.wmf"/><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oleObject" Target="../embeddings/oleObject9.bin"/><Relationship Id="rId5" Type="http://schemas.openxmlformats.org/officeDocument/2006/relationships/image" Target="../media/image8.wmf"/><Relationship Id="rId4" Type="http://schemas.openxmlformats.org/officeDocument/2006/relationships/oleObject" Target="../embeddings/oleObject8.bin"/></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10.wmf"/><Relationship Id="rId4" Type="http://schemas.openxmlformats.org/officeDocument/2006/relationships/oleObject" Target="../embeddings/oleObject10.bin"/></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11.wmf"/><Relationship Id="rId4" Type="http://schemas.openxmlformats.org/officeDocument/2006/relationships/oleObject" Target="../embeddings/oleObject11.bin"/></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13.wmf"/><Relationship Id="rId5" Type="http://schemas.openxmlformats.org/officeDocument/2006/relationships/oleObject" Target="../embeddings/oleObject13.bin"/><Relationship Id="rId4" Type="http://schemas.openxmlformats.org/officeDocument/2006/relationships/image" Target="../media/image12.wmf"/></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6.xml"/><Relationship Id="rId1" Type="http://schemas.openxmlformats.org/officeDocument/2006/relationships/vmlDrawing" Target="../drawings/vmlDrawing11.vml"/><Relationship Id="rId5" Type="http://schemas.openxmlformats.org/officeDocument/2006/relationships/image" Target="../media/image14.wmf"/><Relationship Id="rId4" Type="http://schemas.openxmlformats.org/officeDocument/2006/relationships/oleObject" Target="../embeddings/oleObject14.bin"/></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vmlDrawing" Target="../drawings/vmlDrawing12.vml"/><Relationship Id="rId5" Type="http://schemas.openxmlformats.org/officeDocument/2006/relationships/image" Target="../media/image15.emf"/><Relationship Id="rId4" Type="http://schemas.openxmlformats.org/officeDocument/2006/relationships/oleObject" Target="../embeddings/oleObject15.bin"/></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6.xml"/><Relationship Id="rId1" Type="http://schemas.openxmlformats.org/officeDocument/2006/relationships/vmlDrawing" Target="../drawings/vmlDrawing13.vml"/><Relationship Id="rId5" Type="http://schemas.openxmlformats.org/officeDocument/2006/relationships/image" Target="../media/image16.wmf"/><Relationship Id="rId4" Type="http://schemas.openxmlformats.org/officeDocument/2006/relationships/oleObject" Target="../embeddings/oleObject16.bin"/></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6.xml"/><Relationship Id="rId1" Type="http://schemas.openxmlformats.org/officeDocument/2006/relationships/vmlDrawing" Target="../drawings/vmlDrawing14.vml"/><Relationship Id="rId5" Type="http://schemas.openxmlformats.org/officeDocument/2006/relationships/image" Target="../media/image17.wmf"/><Relationship Id="rId4" Type="http://schemas.openxmlformats.org/officeDocument/2006/relationships/oleObject" Target="../embeddings/oleObject17.bin"/></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1.xml"/><Relationship Id="rId7" Type="http://schemas.openxmlformats.org/officeDocument/2006/relationships/image" Target="../media/image19.wmf"/><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oleObject" Target="../embeddings/oleObject19.bin"/><Relationship Id="rId5" Type="http://schemas.openxmlformats.org/officeDocument/2006/relationships/image" Target="../media/image18.wmf"/><Relationship Id="rId4" Type="http://schemas.openxmlformats.org/officeDocument/2006/relationships/oleObject" Target="../embeddings/oleObject18.bin"/></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2.xml"/><Relationship Id="rId7" Type="http://schemas.openxmlformats.org/officeDocument/2006/relationships/image" Target="../media/image21.wmf"/><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oleObject" Target="../embeddings/oleObject21.bin"/><Relationship Id="rId5" Type="http://schemas.openxmlformats.org/officeDocument/2006/relationships/image" Target="../media/image20.wmf"/><Relationship Id="rId4" Type="http://schemas.openxmlformats.org/officeDocument/2006/relationships/oleObject" Target="../embeddings/oleObject20.bin"/></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vmlDrawing" Target="../drawings/vmlDrawing17.vml"/><Relationship Id="rId5" Type="http://schemas.openxmlformats.org/officeDocument/2006/relationships/image" Target="../media/image22.wmf"/><Relationship Id="rId4" Type="http://schemas.openxmlformats.org/officeDocument/2006/relationships/oleObject" Target="../embeddings/oleObject22.bin"/></Relationships>
</file>

<file path=ppt/slides/_rels/slide3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34.xml"/><Relationship Id="rId1" Type="http://schemas.openxmlformats.org/officeDocument/2006/relationships/slideLayout" Target="../slideLayouts/slideLayout6.xml"/><Relationship Id="rId4" Type="http://schemas.openxmlformats.org/officeDocument/2006/relationships/image" Target="../media/image24.jpeg"/></Relationships>
</file>

<file path=ppt/slides/_rels/slide3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35.xml"/><Relationship Id="rId1" Type="http://schemas.openxmlformats.org/officeDocument/2006/relationships/slideLayout" Target="../slideLayouts/slideLayout6.xml"/><Relationship Id="rId4" Type="http://schemas.openxmlformats.org/officeDocument/2006/relationships/image" Target="../media/image23.jpeg"/></Relationships>
</file>

<file path=ppt/slides/_rels/slide3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36.xml"/><Relationship Id="rId1" Type="http://schemas.openxmlformats.org/officeDocument/2006/relationships/slideLayout" Target="../slideLayouts/slideLayout6.xml"/><Relationship Id="rId4" Type="http://schemas.openxmlformats.org/officeDocument/2006/relationships/image" Target="../media/image23.jpe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vmlDrawing" Target="../drawings/vmlDrawing18.vml"/><Relationship Id="rId5" Type="http://schemas.openxmlformats.org/officeDocument/2006/relationships/image" Target="../media/image26.wmf"/><Relationship Id="rId4" Type="http://schemas.openxmlformats.org/officeDocument/2006/relationships/oleObject" Target="../embeddings/oleObject23.bin"/></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6"/>
          <p:cNvSpPr>
            <a:spLocks noGrp="1" noChangeArrowheads="1"/>
          </p:cNvSpPr>
          <p:nvPr>
            <p:ph type="ftr" sz="quarter" idx="11"/>
          </p:nvPr>
        </p:nvSpPr>
        <p:spPr>
          <a:xfrm>
            <a:off x="323850" y="6248400"/>
            <a:ext cx="7748588"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t>Fundamentals of Futures and Options Markets, 9th Ed, Ch 20, Copyright © John C. Hull 2016</a:t>
            </a:r>
            <a:endParaRPr lang="en-US" altLang="en-US" sz="1400" i="0"/>
          </a:p>
        </p:txBody>
      </p:sp>
      <p:sp>
        <p:nvSpPr>
          <p:cNvPr id="13315" name="Rectangle 4"/>
          <p:cNvSpPr>
            <a:spLocks noGrp="1" noChangeArrowheads="1"/>
          </p:cNvSpPr>
          <p:nvPr>
            <p:ph type="ctrTitle"/>
          </p:nvPr>
        </p:nvSpPr>
        <p:spPr/>
        <p:txBody>
          <a:bodyPr/>
          <a:lstStyle/>
          <a:p>
            <a:pPr eaLnBrk="1" hangingPunct="1"/>
            <a:r>
              <a:rPr lang="en-US" altLang="en-US" smtClean="0"/>
              <a:t>Value at Risk and Expected Shortfall</a:t>
            </a:r>
          </a:p>
        </p:txBody>
      </p:sp>
      <p:sp>
        <p:nvSpPr>
          <p:cNvPr id="13316" name="Rectangle 5"/>
          <p:cNvSpPr>
            <a:spLocks noGrp="1" noChangeArrowheads="1"/>
          </p:cNvSpPr>
          <p:nvPr>
            <p:ph type="subTitle" idx="1"/>
          </p:nvPr>
        </p:nvSpPr>
        <p:spPr>
          <a:xfrm>
            <a:off x="827088" y="2924175"/>
            <a:ext cx="6248400" cy="2362200"/>
          </a:xfrm>
        </p:spPr>
        <p:txBody>
          <a:bodyPr/>
          <a:lstStyle/>
          <a:p>
            <a:pPr eaLnBrk="1" hangingPunct="1"/>
            <a:r>
              <a:rPr lang="en-US" altLang="en-US" smtClean="0"/>
              <a:t>Chapter 20</a:t>
            </a:r>
          </a:p>
        </p:txBody>
      </p:sp>
      <p:sp>
        <p:nvSpPr>
          <p:cNvPr id="1331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89847754-B4C9-4E8F-B347-66258CA6FC5A}" type="slidenum">
              <a:rPr lang="en-US" altLang="en-US" sz="1800"/>
              <a:pPr eaLnBrk="1" hangingPunct="1">
                <a:spcBef>
                  <a:spcPct val="0"/>
                </a:spcBef>
                <a:buClrTx/>
                <a:buSzTx/>
                <a:buFontTx/>
                <a:buNone/>
              </a:pPr>
              <a:t>1</a:t>
            </a:fld>
            <a:endParaRPr lang="en-US" altLang="en-US" sz="180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t>Fundamentals of Futures and Options Markets, 9th Ed, Ch 20, Copyright © John C. Hull 2016</a:t>
            </a:r>
            <a:endParaRPr lang="en-US" altLang="en-US" sz="1400" i="0"/>
          </a:p>
        </p:txBody>
      </p:sp>
      <p:sp>
        <p:nvSpPr>
          <p:cNvPr id="14339" name="Rectangle 2"/>
          <p:cNvSpPr>
            <a:spLocks noGrp="1" noChangeArrowheads="1"/>
          </p:cNvSpPr>
          <p:nvPr>
            <p:ph type="title"/>
          </p:nvPr>
        </p:nvSpPr>
        <p:spPr>
          <a:noFill/>
        </p:spPr>
        <p:txBody>
          <a:bodyPr lIns="92075" tIns="46038" rIns="92075" bIns="46038" anchor="ctr"/>
          <a:lstStyle/>
          <a:p>
            <a:pPr eaLnBrk="1" hangingPunct="1"/>
            <a:r>
              <a:rPr lang="en-US" altLang="en-US" smtClean="0"/>
              <a:t>The Question Being Asked in VaR</a:t>
            </a:r>
          </a:p>
        </p:txBody>
      </p:sp>
      <p:sp>
        <p:nvSpPr>
          <p:cNvPr id="14340" name="Rectangle 3"/>
          <p:cNvSpPr>
            <a:spLocks noGrp="1" noChangeArrowheads="1"/>
          </p:cNvSpPr>
          <p:nvPr>
            <p:ph type="body" idx="1"/>
          </p:nvPr>
        </p:nvSpPr>
        <p:spPr>
          <a:xfrm>
            <a:off x="457200" y="2536825"/>
            <a:ext cx="8229600" cy="3594100"/>
          </a:xfrm>
          <a:noFill/>
        </p:spPr>
        <p:txBody>
          <a:bodyPr lIns="92075" tIns="46038" rIns="92075" bIns="46038"/>
          <a:lstStyle/>
          <a:p>
            <a:pPr eaLnBrk="1" hangingPunct="1">
              <a:buFont typeface="Wingdings" panose="05000000000000000000" pitchFamily="2" charset="2"/>
              <a:buNone/>
            </a:pPr>
            <a:r>
              <a:rPr lang="en-US" altLang="en-US" smtClean="0"/>
              <a:t>	“What loss level is such that we are </a:t>
            </a:r>
            <a:r>
              <a:rPr lang="en-US" altLang="en-US" i="1" smtClean="0">
                <a:latin typeface="Times New Roman" panose="02020603050405020304" pitchFamily="18" charset="0"/>
              </a:rPr>
              <a:t>X</a:t>
            </a:r>
            <a:r>
              <a:rPr lang="en-US" altLang="en-US" smtClean="0"/>
              <a:t>% confident it will not be exceeded in </a:t>
            </a:r>
            <a:r>
              <a:rPr lang="en-US" altLang="en-US" i="1" smtClean="0">
                <a:latin typeface="Times New Roman" panose="02020603050405020304" pitchFamily="18" charset="0"/>
              </a:rPr>
              <a:t>N</a:t>
            </a:r>
            <a:r>
              <a:rPr lang="en-US" altLang="en-US" smtClean="0"/>
              <a:t> business days?”</a:t>
            </a:r>
          </a:p>
        </p:txBody>
      </p:sp>
      <p:sp>
        <p:nvSpPr>
          <p:cNvPr id="1434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59B14F64-49BF-493B-BDAB-757EEFD72F91}" type="slidenum">
              <a:rPr lang="en-US" altLang="en-US" sz="1800"/>
              <a:pPr eaLnBrk="1" hangingPunct="1">
                <a:spcBef>
                  <a:spcPct val="0"/>
                </a:spcBef>
                <a:buClrTx/>
                <a:buSzTx/>
                <a:buFontTx/>
                <a:buNone/>
              </a:pPr>
              <a:t>2</a:t>
            </a:fld>
            <a:endParaRPr lang="en-US" altLang="en-US" sz="18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t>Fundamentals of Futures and Options Markets, 9th Ed, Ch 20, Copyright © John C. Hull 2016</a:t>
            </a:r>
            <a:endParaRPr lang="en-US" altLang="en-US" sz="1400" i="0"/>
          </a:p>
        </p:txBody>
      </p:sp>
      <p:sp>
        <p:nvSpPr>
          <p:cNvPr id="15363" name="Rectangle 2"/>
          <p:cNvSpPr>
            <a:spLocks noGrp="1" noChangeArrowheads="1"/>
          </p:cNvSpPr>
          <p:nvPr>
            <p:ph type="title"/>
          </p:nvPr>
        </p:nvSpPr>
        <p:spPr>
          <a:noFill/>
        </p:spPr>
        <p:txBody>
          <a:bodyPr lIns="92075" tIns="46038" rIns="92075" bIns="46038" anchor="ctr"/>
          <a:lstStyle/>
          <a:p>
            <a:pPr eaLnBrk="1" hangingPunct="1"/>
            <a:r>
              <a:rPr lang="en-US" altLang="en-US" smtClean="0"/>
              <a:t>VaR and Regulatory Capital</a:t>
            </a:r>
          </a:p>
        </p:txBody>
      </p:sp>
      <p:sp>
        <p:nvSpPr>
          <p:cNvPr id="15364" name="Rectangle 3"/>
          <p:cNvSpPr>
            <a:spLocks noGrp="1" noChangeArrowheads="1"/>
          </p:cNvSpPr>
          <p:nvPr>
            <p:ph type="body" idx="1"/>
          </p:nvPr>
        </p:nvSpPr>
        <p:spPr>
          <a:xfrm>
            <a:off x="304800" y="1981200"/>
            <a:ext cx="8153400" cy="4114800"/>
          </a:xfrm>
          <a:noFill/>
        </p:spPr>
        <p:txBody>
          <a:bodyPr lIns="92075" tIns="46038" rIns="92075" bIns="46038"/>
          <a:lstStyle/>
          <a:p>
            <a:pPr eaLnBrk="1" hangingPunct="1"/>
            <a:r>
              <a:rPr lang="en-US" altLang="en-US" smtClean="0"/>
              <a:t>Regulators have traditionally based the capital they require  banks to keep on VaR</a:t>
            </a:r>
          </a:p>
          <a:p>
            <a:pPr eaLnBrk="1" hangingPunct="1"/>
            <a:r>
              <a:rPr lang="en-US" altLang="en-US" smtClean="0"/>
              <a:t>For market risk they use a 10-day time horizon and a 99% confidence level</a:t>
            </a:r>
          </a:p>
          <a:p>
            <a:pPr eaLnBrk="1" hangingPunct="1"/>
            <a:r>
              <a:rPr lang="en-US" altLang="en-US" smtClean="0"/>
              <a:t>For credit risk they use a 99.9% confidence level and a 1 year time horizon</a:t>
            </a:r>
          </a:p>
        </p:txBody>
      </p:sp>
      <p:sp>
        <p:nvSpPr>
          <p:cNvPr id="1536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4F8F378D-F412-4A23-A5D8-802FF8E5E145}" type="slidenum">
              <a:rPr lang="en-US" altLang="en-US" sz="1800"/>
              <a:pPr eaLnBrk="1" hangingPunct="1">
                <a:spcBef>
                  <a:spcPct val="0"/>
                </a:spcBef>
                <a:buClrTx/>
                <a:buSzTx/>
                <a:buFontTx/>
                <a:buNone/>
              </a:pPr>
              <a:t>3</a:t>
            </a:fld>
            <a:endParaRPr lang="en-US" altLang="en-US" sz="1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t>Fundamentals of Futures and Options Markets, 9th Ed, Ch 20, Copyright © John C. Hull 2016</a:t>
            </a:r>
            <a:endParaRPr lang="en-US" altLang="en-US" sz="1400" i="0"/>
          </a:p>
        </p:txBody>
      </p:sp>
      <p:sp>
        <p:nvSpPr>
          <p:cNvPr id="16387" name="Rectangle 2"/>
          <p:cNvSpPr>
            <a:spLocks noGrp="1" noChangeArrowheads="1"/>
          </p:cNvSpPr>
          <p:nvPr>
            <p:ph type="title"/>
          </p:nvPr>
        </p:nvSpPr>
        <p:spPr/>
        <p:txBody>
          <a:bodyPr/>
          <a:lstStyle/>
          <a:p>
            <a:pPr eaLnBrk="1" hangingPunct="1"/>
            <a:r>
              <a:rPr lang="en-US" altLang="en-US" smtClean="0"/>
              <a:t>VaR vs. Expected Shortfall </a:t>
            </a:r>
            <a:br>
              <a:rPr lang="en-US" altLang="en-US" smtClean="0"/>
            </a:br>
            <a:r>
              <a:rPr lang="en-US" altLang="en-US" sz="2600" smtClean="0"/>
              <a:t>(See Figures 20.1 and 20.2, page 430)</a:t>
            </a:r>
            <a:endParaRPr lang="en-US" altLang="en-US" smtClean="0"/>
          </a:p>
        </p:txBody>
      </p:sp>
      <p:sp>
        <p:nvSpPr>
          <p:cNvPr id="16388" name="Rectangle 3"/>
          <p:cNvSpPr>
            <a:spLocks noGrp="1" noChangeArrowheads="1"/>
          </p:cNvSpPr>
          <p:nvPr>
            <p:ph type="body" idx="1"/>
          </p:nvPr>
        </p:nvSpPr>
        <p:spPr>
          <a:xfrm>
            <a:off x="457200" y="1882775"/>
            <a:ext cx="8229600" cy="4248150"/>
          </a:xfrm>
        </p:spPr>
        <p:txBody>
          <a:bodyPr/>
          <a:lstStyle/>
          <a:p>
            <a:pPr eaLnBrk="1" hangingPunct="1"/>
            <a:r>
              <a:rPr lang="en-US" altLang="en-US" smtClean="0"/>
              <a:t>VaR is the loss level that will not be exceeded with a specified probability</a:t>
            </a:r>
          </a:p>
          <a:p>
            <a:pPr eaLnBrk="1" hangingPunct="1"/>
            <a:r>
              <a:rPr lang="en-US" altLang="en-US" smtClean="0"/>
              <a:t>Expected shortfall (ES) is the expected loss given that the loss is greater than the VaR level</a:t>
            </a:r>
          </a:p>
          <a:p>
            <a:pPr eaLnBrk="1" hangingPunct="1"/>
            <a:r>
              <a:rPr lang="en-US" altLang="en-US" smtClean="0"/>
              <a:t>For market risk bank regulators are switching from VaR with a 99% confidence to ES with a 97.5% confidence  </a:t>
            </a:r>
          </a:p>
        </p:txBody>
      </p:sp>
      <p:sp>
        <p:nvSpPr>
          <p:cNvPr id="1638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1839D746-AB96-49DB-AC2C-65AE9404E4D3}" type="slidenum">
              <a:rPr lang="en-US" altLang="en-US" sz="1800"/>
              <a:pPr eaLnBrk="1" hangingPunct="1">
                <a:spcBef>
                  <a:spcPct val="0"/>
                </a:spcBef>
                <a:buClrTx/>
                <a:buSzTx/>
                <a:buFontTx/>
                <a:buNone/>
              </a:pPr>
              <a:t>4</a:t>
            </a:fld>
            <a:endParaRPr lang="en-US" altLang="en-US" sz="18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t>Fundamentals of Futures and Options Markets, 9th Ed, Ch 20, Copyright © John C. Hull 2016</a:t>
            </a:r>
            <a:endParaRPr lang="en-US" altLang="en-US" sz="1400" i="0"/>
          </a:p>
        </p:txBody>
      </p:sp>
      <p:sp>
        <p:nvSpPr>
          <p:cNvPr id="17411" name="Rectangle 2"/>
          <p:cNvSpPr>
            <a:spLocks noGrp="1" noChangeArrowheads="1"/>
          </p:cNvSpPr>
          <p:nvPr>
            <p:ph type="title"/>
          </p:nvPr>
        </p:nvSpPr>
        <p:spPr>
          <a:noFill/>
        </p:spPr>
        <p:txBody>
          <a:bodyPr lIns="92075" tIns="46038" rIns="92075" bIns="46038" anchor="ctr"/>
          <a:lstStyle/>
          <a:p>
            <a:pPr eaLnBrk="1" hangingPunct="1"/>
            <a:r>
              <a:rPr lang="en-US" altLang="en-US" smtClean="0"/>
              <a:t>Advantages of VaR</a:t>
            </a:r>
          </a:p>
        </p:txBody>
      </p:sp>
      <p:sp>
        <p:nvSpPr>
          <p:cNvPr id="17412" name="Rectangle 3"/>
          <p:cNvSpPr>
            <a:spLocks noGrp="1" noChangeArrowheads="1"/>
          </p:cNvSpPr>
          <p:nvPr>
            <p:ph type="body" idx="1"/>
          </p:nvPr>
        </p:nvSpPr>
        <p:spPr>
          <a:noFill/>
        </p:spPr>
        <p:txBody>
          <a:bodyPr lIns="92075" tIns="46038" rIns="92075" bIns="46038"/>
          <a:lstStyle/>
          <a:p>
            <a:pPr eaLnBrk="1" hangingPunct="1"/>
            <a:r>
              <a:rPr lang="en-US" altLang="en-US" smtClean="0"/>
              <a:t>It captures an important aspect of risk</a:t>
            </a:r>
          </a:p>
          <a:p>
            <a:pPr eaLnBrk="1" hangingPunct="1">
              <a:buFont typeface="Wingdings" panose="05000000000000000000" pitchFamily="2" charset="2"/>
              <a:buNone/>
            </a:pPr>
            <a:r>
              <a:rPr lang="en-US" altLang="en-US" smtClean="0"/>
              <a:t>	in a single number</a:t>
            </a:r>
          </a:p>
          <a:p>
            <a:pPr eaLnBrk="1" hangingPunct="1"/>
            <a:r>
              <a:rPr lang="en-US" altLang="en-US" smtClean="0"/>
              <a:t>It is easy to understand</a:t>
            </a:r>
          </a:p>
          <a:p>
            <a:pPr eaLnBrk="1" hangingPunct="1"/>
            <a:r>
              <a:rPr lang="en-US" altLang="en-US" smtClean="0"/>
              <a:t>It asks the simple question: “How bad can things get?” </a:t>
            </a:r>
          </a:p>
          <a:p>
            <a:pPr eaLnBrk="1" hangingPunct="1"/>
            <a:r>
              <a:rPr lang="en-US" altLang="en-US" smtClean="0"/>
              <a:t>ES answers the question: “If things do get bad, just how bad will they be”</a:t>
            </a:r>
          </a:p>
        </p:txBody>
      </p:sp>
      <p:sp>
        <p:nvSpPr>
          <p:cNvPr id="1741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14421DA1-DCF0-4C49-9964-93C047F684DC}" type="slidenum">
              <a:rPr lang="en-US" altLang="en-US" sz="1800"/>
              <a:pPr eaLnBrk="1" hangingPunct="1">
                <a:spcBef>
                  <a:spcPct val="0"/>
                </a:spcBef>
                <a:buClrTx/>
                <a:buSzTx/>
                <a:buFontTx/>
                <a:buNone/>
              </a:pPr>
              <a:t>5</a:t>
            </a:fld>
            <a:endParaRPr lang="en-US" altLang="en-US" sz="18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t>Fundamentals of Futures and Options Markets, 9th Ed, Ch 20, Copyright © John C. Hull 2016</a:t>
            </a:r>
            <a:endParaRPr lang="en-US" altLang="en-US" sz="1400" i="0"/>
          </a:p>
        </p:txBody>
      </p:sp>
      <p:sp>
        <p:nvSpPr>
          <p:cNvPr id="18435" name="Rectangle 2"/>
          <p:cNvSpPr>
            <a:spLocks noGrp="1" noChangeArrowheads="1"/>
          </p:cNvSpPr>
          <p:nvPr>
            <p:ph type="title"/>
          </p:nvPr>
        </p:nvSpPr>
        <p:spPr>
          <a:noFill/>
        </p:spPr>
        <p:txBody>
          <a:bodyPr lIns="92075" tIns="46038" rIns="92075" bIns="46038" anchor="ctr"/>
          <a:lstStyle/>
          <a:p>
            <a:pPr eaLnBrk="1" hangingPunct="1"/>
            <a:r>
              <a:rPr lang="en-US" altLang="en-US" smtClean="0"/>
              <a:t/>
            </a:r>
            <a:br>
              <a:rPr lang="en-US" altLang="en-US" smtClean="0"/>
            </a:br>
            <a:r>
              <a:rPr lang="en-US" altLang="en-US" smtClean="0"/>
              <a:t>Historical Simulation </a:t>
            </a:r>
            <a:br>
              <a:rPr lang="en-US" altLang="en-US" smtClean="0"/>
            </a:br>
            <a:endParaRPr lang="en-US" altLang="en-US" smtClean="0"/>
          </a:p>
        </p:txBody>
      </p:sp>
      <p:sp>
        <p:nvSpPr>
          <p:cNvPr id="18436" name="Rectangle 3"/>
          <p:cNvSpPr>
            <a:spLocks noGrp="1" noChangeArrowheads="1"/>
          </p:cNvSpPr>
          <p:nvPr>
            <p:ph type="body" idx="1"/>
          </p:nvPr>
        </p:nvSpPr>
        <p:spPr>
          <a:noFill/>
        </p:spPr>
        <p:txBody>
          <a:bodyPr lIns="92075" tIns="46038" rIns="92075" bIns="46038"/>
          <a:lstStyle/>
          <a:p>
            <a:pPr eaLnBrk="1" hangingPunct="1"/>
            <a:r>
              <a:rPr lang="en-US" altLang="en-US" sz="2800" smtClean="0"/>
              <a:t>Create a database of the daily movements in all market variables.</a:t>
            </a:r>
          </a:p>
          <a:p>
            <a:pPr eaLnBrk="1" hangingPunct="1"/>
            <a:r>
              <a:rPr lang="en-US" altLang="en-US" sz="2800" smtClean="0"/>
              <a:t>The first simulation trial assumes that  the percentage changes in all market variables are as on the first day</a:t>
            </a:r>
          </a:p>
          <a:p>
            <a:pPr eaLnBrk="1" hangingPunct="1"/>
            <a:r>
              <a:rPr lang="en-US" altLang="en-US" sz="2800" smtClean="0"/>
              <a:t>The second simulation trial assumes that  the percentage changes in all market variables are as on the second day</a:t>
            </a:r>
          </a:p>
          <a:p>
            <a:pPr eaLnBrk="1" hangingPunct="1"/>
            <a:r>
              <a:rPr lang="en-US" altLang="en-US" sz="2800" smtClean="0"/>
              <a:t>and so on</a:t>
            </a:r>
          </a:p>
        </p:txBody>
      </p:sp>
      <p:sp>
        <p:nvSpPr>
          <p:cNvPr id="1843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E329FAA9-3546-4BB2-8217-3409F95C55D3}" type="slidenum">
              <a:rPr lang="en-US" altLang="en-US" sz="1800"/>
              <a:pPr eaLnBrk="1" hangingPunct="1">
                <a:spcBef>
                  <a:spcPct val="0"/>
                </a:spcBef>
                <a:buClrTx/>
                <a:buSzTx/>
                <a:buFontTx/>
                <a:buNone/>
              </a:pPr>
              <a:t>6</a:t>
            </a:fld>
            <a:endParaRPr lang="en-US" altLang="en-US" sz="18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t>Fundamentals of Futures and Options Markets, 9th Ed, Ch 20, Copyright © John C. Hull 2016</a:t>
            </a:r>
            <a:endParaRPr lang="en-US" altLang="en-US" sz="1400" i="0"/>
          </a:p>
        </p:txBody>
      </p:sp>
      <p:sp>
        <p:nvSpPr>
          <p:cNvPr id="19459" name="Rectangle 2"/>
          <p:cNvSpPr>
            <a:spLocks noGrp="1" noChangeArrowheads="1"/>
          </p:cNvSpPr>
          <p:nvPr>
            <p:ph type="title"/>
          </p:nvPr>
        </p:nvSpPr>
        <p:spPr/>
        <p:txBody>
          <a:bodyPr/>
          <a:lstStyle/>
          <a:p>
            <a:pPr eaLnBrk="1" hangingPunct="1"/>
            <a:r>
              <a:rPr lang="en-US" altLang="en-US" smtClean="0"/>
              <a:t>Historical Simulation continued</a:t>
            </a:r>
          </a:p>
        </p:txBody>
      </p:sp>
      <p:sp>
        <p:nvSpPr>
          <p:cNvPr id="19460" name="Rectangle 3"/>
          <p:cNvSpPr>
            <a:spLocks noGrp="1" noChangeArrowheads="1"/>
          </p:cNvSpPr>
          <p:nvPr>
            <p:ph type="body" idx="1"/>
          </p:nvPr>
        </p:nvSpPr>
        <p:spPr/>
        <p:txBody>
          <a:bodyPr/>
          <a:lstStyle/>
          <a:p>
            <a:pPr eaLnBrk="1" hangingPunct="1"/>
            <a:r>
              <a:rPr lang="en-US" altLang="en-US" sz="2800" smtClean="0"/>
              <a:t>Suppose we use 501 days of historical data (Day 0 to Day 500)</a:t>
            </a:r>
          </a:p>
          <a:p>
            <a:pPr eaLnBrk="1" hangingPunct="1"/>
            <a:r>
              <a:rPr lang="en-US" altLang="en-US" sz="2800" smtClean="0"/>
              <a:t>Let </a:t>
            </a:r>
            <a:r>
              <a:rPr lang="en-US" altLang="en-US" sz="2800" i="1" smtClean="0">
                <a:latin typeface="Times New Roman" panose="02020603050405020304" pitchFamily="18" charset="0"/>
              </a:rPr>
              <a:t>v</a:t>
            </a:r>
            <a:r>
              <a:rPr lang="en-US" altLang="en-US" sz="2800" i="1" baseline="-25000" smtClean="0">
                <a:latin typeface="Times New Roman" panose="02020603050405020304" pitchFamily="18" charset="0"/>
              </a:rPr>
              <a:t>i</a:t>
            </a:r>
            <a:r>
              <a:rPr lang="en-US" altLang="en-US" sz="2800" i="1" smtClean="0">
                <a:latin typeface="Times New Roman" panose="02020603050405020304" pitchFamily="18" charset="0"/>
              </a:rPr>
              <a:t> </a:t>
            </a:r>
            <a:r>
              <a:rPr lang="en-US" altLang="en-US" sz="2800" smtClean="0"/>
              <a:t>be the value of a market variable on day </a:t>
            </a:r>
            <a:r>
              <a:rPr lang="en-US" altLang="en-US" sz="2800" i="1" smtClean="0">
                <a:latin typeface="Times New Roman" panose="02020603050405020304" pitchFamily="18" charset="0"/>
              </a:rPr>
              <a:t>i</a:t>
            </a:r>
          </a:p>
          <a:p>
            <a:pPr eaLnBrk="1" hangingPunct="1"/>
            <a:r>
              <a:rPr lang="en-US" altLang="en-US" sz="2800" smtClean="0"/>
              <a:t>There are 500 simulation trials</a:t>
            </a:r>
          </a:p>
          <a:p>
            <a:pPr eaLnBrk="1" hangingPunct="1"/>
            <a:r>
              <a:rPr lang="en-US" altLang="en-US" sz="2800" smtClean="0"/>
              <a:t>The </a:t>
            </a:r>
            <a:r>
              <a:rPr lang="en-US" altLang="en-US" sz="2800" i="1" smtClean="0">
                <a:latin typeface="Times New Roman" panose="02020603050405020304" pitchFamily="18" charset="0"/>
              </a:rPr>
              <a:t>i</a:t>
            </a:r>
            <a:r>
              <a:rPr lang="en-US" altLang="en-US" sz="2800" smtClean="0"/>
              <a:t>th trial assumes that the value of the market variable tomorrow is</a:t>
            </a:r>
            <a:r>
              <a:rPr lang="en-US" altLang="en-US" smtClean="0"/>
              <a:t>  </a:t>
            </a:r>
          </a:p>
        </p:txBody>
      </p:sp>
      <p:graphicFrame>
        <p:nvGraphicFramePr>
          <p:cNvPr id="19461" name="Object 4"/>
          <p:cNvGraphicFramePr>
            <a:graphicFrameLocks noChangeAspect="1"/>
          </p:cNvGraphicFramePr>
          <p:nvPr/>
        </p:nvGraphicFramePr>
        <p:xfrm>
          <a:off x="3132138" y="4797425"/>
          <a:ext cx="1270000" cy="1016000"/>
        </p:xfrm>
        <a:graphic>
          <a:graphicData uri="http://schemas.openxmlformats.org/presentationml/2006/ole">
            <mc:AlternateContent xmlns:mc="http://schemas.openxmlformats.org/markup-compatibility/2006">
              <mc:Choice xmlns:v="urn:schemas-microsoft-com:vml" Requires="v">
                <p:oleObj spid="_x0000_s19463" name="Equation" r:id="rId4" imgW="507780" imgH="406224" progId="Equation.3">
                  <p:embed/>
                </p:oleObj>
              </mc:Choice>
              <mc:Fallback>
                <p:oleObj name="Equation" r:id="rId4" imgW="507780" imgH="406224"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32138" y="4797425"/>
                        <a:ext cx="1270000" cy="1016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62"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C0942FB6-DF57-45C3-8F0F-DE2A3FAB0E44}" type="slidenum">
              <a:rPr lang="en-US" altLang="en-US" sz="1800"/>
              <a:pPr eaLnBrk="1" hangingPunct="1">
                <a:spcBef>
                  <a:spcPct val="0"/>
                </a:spcBef>
                <a:buClrTx/>
                <a:buSzTx/>
                <a:buFontTx/>
                <a:buNone/>
              </a:pPr>
              <a:t>7</a:t>
            </a:fld>
            <a:endParaRPr lang="en-US" altLang="en-US" sz="18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altLang="en-US" smtClean="0"/>
              <a:t>Historical Simulation continued</a:t>
            </a:r>
          </a:p>
        </p:txBody>
      </p:sp>
      <p:sp>
        <p:nvSpPr>
          <p:cNvPr id="20483" name="Content Placeholder 2"/>
          <p:cNvSpPr>
            <a:spLocks noGrp="1"/>
          </p:cNvSpPr>
          <p:nvPr>
            <p:ph idx="1"/>
          </p:nvPr>
        </p:nvSpPr>
        <p:spPr/>
        <p:txBody>
          <a:bodyPr/>
          <a:lstStyle/>
          <a:p>
            <a:r>
              <a:rPr lang="en-CA" altLang="en-US" sz="2800" smtClean="0"/>
              <a:t>The portfolio’s value tomorrow is calculated for each simulation trial</a:t>
            </a:r>
          </a:p>
          <a:p>
            <a:r>
              <a:rPr lang="en-CA" altLang="en-US" sz="2800" smtClean="0"/>
              <a:t>The loss between today and tomorrow is then calculated for each trial (gains are negative losses)</a:t>
            </a:r>
          </a:p>
          <a:p>
            <a:r>
              <a:rPr lang="en-CA" altLang="en-US" sz="2800" smtClean="0"/>
              <a:t>The losses are ranked and the one-day 99% VaR is set equal to the 5</a:t>
            </a:r>
            <a:r>
              <a:rPr lang="en-CA" altLang="en-US" sz="2800" baseline="30000" smtClean="0"/>
              <a:t>th</a:t>
            </a:r>
            <a:r>
              <a:rPr lang="en-CA" altLang="en-US" sz="2800" smtClean="0"/>
              <a:t> worst loss</a:t>
            </a:r>
          </a:p>
          <a:p>
            <a:r>
              <a:rPr lang="en-CA" altLang="en-US" sz="2800" smtClean="0"/>
              <a:t>99% ES is the average of the five worst losses</a:t>
            </a:r>
            <a:endParaRPr lang="en-US" altLang="en-US" sz="2800" smtClean="0"/>
          </a:p>
        </p:txBody>
      </p:sp>
      <p:sp>
        <p:nvSpPr>
          <p:cNvPr id="20484"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t>Fundamentals of Futures and Options Markets, 9th Ed, Ch 20, Copyright © John C. Hull 2016</a:t>
            </a:r>
            <a:endParaRPr lang="en-US" altLang="en-US" sz="1400" i="0"/>
          </a:p>
        </p:txBody>
      </p:sp>
      <p:sp>
        <p:nvSpPr>
          <p:cNvPr id="2048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85BF76A0-5B07-4E7D-959E-DAEF7CAA656E}" type="slidenum">
              <a:rPr lang="en-US" altLang="en-US" sz="1800"/>
              <a:pPr eaLnBrk="1" hangingPunct="1">
                <a:spcBef>
                  <a:spcPct val="0"/>
                </a:spcBef>
                <a:buClrTx/>
                <a:buSzTx/>
                <a:buFontTx/>
                <a:buNone/>
              </a:pPr>
              <a:t>8</a:t>
            </a:fld>
            <a:endParaRPr lang="en-US" altLang="en-US" sz="18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381000" y="1219200"/>
            <a:ext cx="8001000" cy="1143000"/>
          </a:xfrm>
        </p:spPr>
        <p:txBody>
          <a:bodyPr/>
          <a:lstStyle/>
          <a:p>
            <a:pPr eaLnBrk="1" hangingPunct="1"/>
            <a:r>
              <a:rPr lang="en-US" altLang="en-US" smtClean="0"/>
              <a:t> </a:t>
            </a:r>
            <a:r>
              <a:rPr lang="en-US" altLang="en-US" sz="3600" smtClean="0"/>
              <a:t>Example : Calculation of  1-day, 99% VaR and ES for a Portfolio on Sept 25, 2008 </a:t>
            </a:r>
            <a:r>
              <a:rPr lang="en-US" altLang="en-US" sz="2000" smtClean="0"/>
              <a:t>(Table 20.1, page 432)</a:t>
            </a:r>
          </a:p>
        </p:txBody>
      </p:sp>
      <p:sp>
        <p:nvSpPr>
          <p:cNvPr id="21507"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cs typeface="Arial" panose="020B0604020202020204" pitchFamily="34" charset="0"/>
              </a:rPr>
              <a:t>Fundamentals of Futures and Options Markets, 9th Ed, Ch 20, Copyright © John C. Hull 2016</a:t>
            </a:r>
            <a:endParaRPr lang="en-US" altLang="en-US" sz="1400">
              <a:cs typeface="Arial" panose="020B0604020202020204" pitchFamily="34" charset="0"/>
            </a:endParaRPr>
          </a:p>
        </p:txBody>
      </p:sp>
      <p:sp>
        <p:nvSpPr>
          <p:cNvPr id="21508"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ED949BBC-84C3-4C50-959E-96B7F028A63B}" type="slidenum">
              <a:rPr lang="en-US" altLang="en-US" sz="1800">
                <a:cs typeface="Arial" panose="020B0604020202020204" pitchFamily="34" charset="0"/>
              </a:rPr>
              <a:pPr eaLnBrk="1" hangingPunct="1">
                <a:spcBef>
                  <a:spcPct val="0"/>
                </a:spcBef>
                <a:buClrTx/>
                <a:buSzTx/>
                <a:buFontTx/>
                <a:buNone/>
              </a:pPr>
              <a:t>9</a:t>
            </a:fld>
            <a:endParaRPr lang="en-US" altLang="en-US" sz="1800">
              <a:cs typeface="Arial" panose="020B0604020202020204" pitchFamily="34" charset="0"/>
            </a:endParaRPr>
          </a:p>
        </p:txBody>
      </p:sp>
      <p:graphicFrame>
        <p:nvGraphicFramePr>
          <p:cNvPr id="5" name="Table 4"/>
          <p:cNvGraphicFramePr>
            <a:graphicFrameLocks noGrp="1"/>
          </p:cNvGraphicFramePr>
          <p:nvPr/>
        </p:nvGraphicFramePr>
        <p:xfrm>
          <a:off x="1371600" y="3276600"/>
          <a:ext cx="6096000" cy="1854200"/>
        </p:xfrm>
        <a:graphic>
          <a:graphicData uri="http://schemas.openxmlformats.org/drawingml/2006/table">
            <a:tbl>
              <a:tblPr firstRow="1" bandRow="1">
                <a:tableStyleId>{5940675A-B579-460E-94D1-54222C63F5DA}</a:tableStyleId>
              </a:tblPr>
              <a:tblGrid>
                <a:gridCol w="3048000"/>
                <a:gridCol w="3048000"/>
              </a:tblGrid>
              <a:tr h="370840">
                <a:tc>
                  <a:txBody>
                    <a:bodyPr/>
                    <a:lstStyle/>
                    <a:p>
                      <a:r>
                        <a:rPr lang="en-US" i="1" dirty="0" smtClean="0">
                          <a:latin typeface="+mj-lt"/>
                        </a:rPr>
                        <a:t>Index</a:t>
                      </a:r>
                      <a:endParaRPr lang="en-US" i="1" dirty="0">
                        <a:latin typeface="+mj-lt"/>
                      </a:endParaRPr>
                    </a:p>
                  </a:txBody>
                  <a:tcPr/>
                </a:tc>
                <a:tc>
                  <a:txBody>
                    <a:bodyPr/>
                    <a:lstStyle/>
                    <a:p>
                      <a:pPr algn="ctr"/>
                      <a:r>
                        <a:rPr lang="en-US" i="1" smtClean="0">
                          <a:latin typeface="+mj-lt"/>
                        </a:rPr>
                        <a:t>Value ($000s)</a:t>
                      </a:r>
                      <a:endParaRPr lang="en-US" i="1" dirty="0">
                        <a:latin typeface="+mj-lt"/>
                      </a:endParaRPr>
                    </a:p>
                  </a:txBody>
                  <a:tcPr/>
                </a:tc>
              </a:tr>
              <a:tr h="370840">
                <a:tc>
                  <a:txBody>
                    <a:bodyPr/>
                    <a:lstStyle/>
                    <a:p>
                      <a:r>
                        <a:rPr lang="en-US" dirty="0" smtClean="0"/>
                        <a:t>DJIA</a:t>
                      </a:r>
                      <a:endParaRPr lang="en-US" dirty="0"/>
                    </a:p>
                  </a:txBody>
                  <a:tcPr/>
                </a:tc>
                <a:tc>
                  <a:txBody>
                    <a:bodyPr/>
                    <a:lstStyle/>
                    <a:p>
                      <a:pPr algn="ctr"/>
                      <a:r>
                        <a:rPr lang="en-US" dirty="0" smtClean="0"/>
                        <a:t>4,000</a:t>
                      </a:r>
                      <a:endParaRPr lang="en-US" dirty="0"/>
                    </a:p>
                  </a:txBody>
                  <a:tcPr/>
                </a:tc>
              </a:tr>
              <a:tr h="370840">
                <a:tc>
                  <a:txBody>
                    <a:bodyPr/>
                    <a:lstStyle/>
                    <a:p>
                      <a:r>
                        <a:rPr lang="en-US" dirty="0" smtClean="0"/>
                        <a:t>FTSE 100</a:t>
                      </a:r>
                      <a:endParaRPr lang="en-US" dirty="0"/>
                    </a:p>
                  </a:txBody>
                  <a:tcPr/>
                </a:tc>
                <a:tc>
                  <a:txBody>
                    <a:bodyPr/>
                    <a:lstStyle/>
                    <a:p>
                      <a:pPr algn="ctr"/>
                      <a:r>
                        <a:rPr lang="en-US" dirty="0" smtClean="0"/>
                        <a:t>3,000</a:t>
                      </a:r>
                      <a:endParaRPr lang="en-US" dirty="0"/>
                    </a:p>
                  </a:txBody>
                  <a:tcPr/>
                </a:tc>
              </a:tr>
              <a:tr h="370840">
                <a:tc>
                  <a:txBody>
                    <a:bodyPr/>
                    <a:lstStyle/>
                    <a:p>
                      <a:r>
                        <a:rPr lang="en-US" dirty="0" smtClean="0"/>
                        <a:t>CAC 40</a:t>
                      </a:r>
                      <a:endParaRPr lang="en-US" dirty="0"/>
                    </a:p>
                  </a:txBody>
                  <a:tcPr/>
                </a:tc>
                <a:tc>
                  <a:txBody>
                    <a:bodyPr/>
                    <a:lstStyle/>
                    <a:p>
                      <a:pPr algn="ctr"/>
                      <a:r>
                        <a:rPr lang="en-US" dirty="0" smtClean="0"/>
                        <a:t>1,000</a:t>
                      </a:r>
                      <a:endParaRPr lang="en-US" dirty="0"/>
                    </a:p>
                  </a:txBody>
                  <a:tcPr/>
                </a:tc>
              </a:tr>
              <a:tr h="370840">
                <a:tc>
                  <a:txBody>
                    <a:bodyPr/>
                    <a:lstStyle/>
                    <a:p>
                      <a:r>
                        <a:rPr lang="en-US" dirty="0" smtClean="0"/>
                        <a:t>Nikkei 225</a:t>
                      </a:r>
                      <a:endParaRPr lang="en-US" dirty="0"/>
                    </a:p>
                  </a:txBody>
                  <a:tcPr/>
                </a:tc>
                <a:tc>
                  <a:txBody>
                    <a:bodyPr/>
                    <a:lstStyle/>
                    <a:p>
                      <a:pPr algn="ctr"/>
                      <a:r>
                        <a:rPr lang="en-US" dirty="0" smtClean="0"/>
                        <a:t>2,000</a:t>
                      </a:r>
                      <a:endParaRPr lang="en-US" dirty="0"/>
                    </a:p>
                  </a:txBody>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pPr eaLnBrk="1" hangingPunct="1"/>
            <a:r>
              <a:rPr lang="en-US" altLang="en-US" smtClean="0"/>
              <a:t>Data After Adjusting for Exchange Rates </a:t>
            </a:r>
            <a:r>
              <a:rPr lang="en-US" altLang="en-US" sz="2000" smtClean="0"/>
              <a:t>(Table 20.2, page 432)</a:t>
            </a:r>
          </a:p>
        </p:txBody>
      </p:sp>
      <p:sp>
        <p:nvSpPr>
          <p:cNvPr id="22531"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cs typeface="Arial" panose="020B0604020202020204" pitchFamily="34" charset="0"/>
              </a:rPr>
              <a:t>Fundamentals of Futures and Options Markets, 9th Ed, Ch 20, Copyright © John C. Hull 2016</a:t>
            </a:r>
            <a:endParaRPr lang="en-US" altLang="en-US" sz="1400">
              <a:cs typeface="Arial" panose="020B0604020202020204" pitchFamily="34" charset="0"/>
            </a:endParaRPr>
          </a:p>
        </p:txBody>
      </p:sp>
      <p:sp>
        <p:nvSpPr>
          <p:cNvPr id="22532"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A0B5789E-EC31-4E15-8E4B-9DCA9CCCBECB}" type="slidenum">
              <a:rPr lang="en-US" altLang="en-US" sz="1800">
                <a:cs typeface="Arial" panose="020B0604020202020204" pitchFamily="34" charset="0"/>
              </a:rPr>
              <a:pPr eaLnBrk="1" hangingPunct="1">
                <a:spcBef>
                  <a:spcPct val="0"/>
                </a:spcBef>
                <a:buClrTx/>
                <a:buSzTx/>
                <a:buFontTx/>
                <a:buNone/>
              </a:pPr>
              <a:t>10</a:t>
            </a:fld>
            <a:endParaRPr lang="en-US" altLang="en-US" sz="1800">
              <a:cs typeface="Arial" panose="020B0604020202020204" pitchFamily="34" charset="0"/>
            </a:endParaRPr>
          </a:p>
        </p:txBody>
      </p:sp>
      <p:graphicFrame>
        <p:nvGraphicFramePr>
          <p:cNvPr id="5" name="Table 4"/>
          <p:cNvGraphicFramePr>
            <a:graphicFrameLocks noGrp="1"/>
          </p:cNvGraphicFramePr>
          <p:nvPr/>
        </p:nvGraphicFramePr>
        <p:xfrm>
          <a:off x="1066800" y="2514600"/>
          <a:ext cx="6934200" cy="2967038"/>
        </p:xfrm>
        <a:graphic>
          <a:graphicData uri="http://schemas.openxmlformats.org/drawingml/2006/table">
            <a:tbl>
              <a:tblPr firstRow="1" bandRow="1">
                <a:tableStyleId>{5940675A-B579-460E-94D1-54222C63F5DA}</a:tableStyleId>
              </a:tblPr>
              <a:tblGrid>
                <a:gridCol w="533400"/>
                <a:gridCol w="1600200"/>
                <a:gridCol w="1219200"/>
                <a:gridCol w="1143000"/>
                <a:gridCol w="1143000"/>
                <a:gridCol w="1295400"/>
              </a:tblGrid>
              <a:tr h="370880">
                <a:tc>
                  <a:txBody>
                    <a:bodyPr/>
                    <a:lstStyle/>
                    <a:p>
                      <a:pPr algn="ctr"/>
                      <a:r>
                        <a:rPr lang="en-US" sz="1600" i="1" dirty="0" smtClean="0">
                          <a:latin typeface="+mj-lt"/>
                        </a:rPr>
                        <a:t>Day</a:t>
                      </a:r>
                      <a:endParaRPr lang="en-US" sz="1600" i="1" dirty="0">
                        <a:latin typeface="+mj-lt"/>
                      </a:endParaRPr>
                    </a:p>
                  </a:txBody>
                  <a:tcPr marT="45725" marB="45725"/>
                </a:tc>
                <a:tc>
                  <a:txBody>
                    <a:bodyPr/>
                    <a:lstStyle/>
                    <a:p>
                      <a:pPr algn="ctr"/>
                      <a:r>
                        <a:rPr lang="en-US" sz="1600" i="1" dirty="0" smtClean="0">
                          <a:latin typeface="+mj-lt"/>
                        </a:rPr>
                        <a:t>Date</a:t>
                      </a:r>
                      <a:endParaRPr lang="en-US" sz="1600" i="1" dirty="0">
                        <a:latin typeface="+mj-lt"/>
                      </a:endParaRPr>
                    </a:p>
                  </a:txBody>
                  <a:tcPr marT="45725" marB="45725"/>
                </a:tc>
                <a:tc>
                  <a:txBody>
                    <a:bodyPr/>
                    <a:lstStyle/>
                    <a:p>
                      <a:pPr algn="ctr"/>
                      <a:r>
                        <a:rPr lang="en-US" sz="1600" i="1" dirty="0" smtClean="0">
                          <a:latin typeface="+mj-lt"/>
                        </a:rPr>
                        <a:t>DJIA</a:t>
                      </a:r>
                      <a:endParaRPr lang="en-US" sz="1600" i="1" dirty="0">
                        <a:latin typeface="+mj-lt"/>
                      </a:endParaRPr>
                    </a:p>
                  </a:txBody>
                  <a:tcPr marT="45725" marB="45725"/>
                </a:tc>
                <a:tc>
                  <a:txBody>
                    <a:bodyPr/>
                    <a:lstStyle/>
                    <a:p>
                      <a:pPr algn="ctr"/>
                      <a:r>
                        <a:rPr lang="en-US" sz="1600" i="1" dirty="0" smtClean="0">
                          <a:latin typeface="+mj-lt"/>
                        </a:rPr>
                        <a:t>FTSE 100</a:t>
                      </a:r>
                      <a:endParaRPr lang="en-US" sz="1600" i="1" dirty="0">
                        <a:latin typeface="+mj-lt"/>
                      </a:endParaRPr>
                    </a:p>
                  </a:txBody>
                  <a:tcPr marT="45725" marB="45725"/>
                </a:tc>
                <a:tc>
                  <a:txBody>
                    <a:bodyPr/>
                    <a:lstStyle/>
                    <a:p>
                      <a:pPr algn="ctr"/>
                      <a:r>
                        <a:rPr lang="en-US" sz="1600" i="1" dirty="0" smtClean="0">
                          <a:latin typeface="+mj-lt"/>
                        </a:rPr>
                        <a:t>CAC 40</a:t>
                      </a:r>
                      <a:endParaRPr lang="en-US" sz="1600" i="1" dirty="0">
                        <a:latin typeface="+mj-lt"/>
                      </a:endParaRPr>
                    </a:p>
                  </a:txBody>
                  <a:tcPr marT="45725" marB="45725"/>
                </a:tc>
                <a:tc>
                  <a:txBody>
                    <a:bodyPr/>
                    <a:lstStyle/>
                    <a:p>
                      <a:pPr algn="ctr"/>
                      <a:r>
                        <a:rPr lang="en-US" sz="1600" i="1" dirty="0" smtClean="0">
                          <a:latin typeface="+mj-lt"/>
                        </a:rPr>
                        <a:t>Nikkei 225</a:t>
                      </a:r>
                      <a:endParaRPr lang="en-US" sz="1600" i="1" dirty="0">
                        <a:latin typeface="+mj-lt"/>
                      </a:endParaRPr>
                    </a:p>
                  </a:txBody>
                  <a:tcPr marT="45725" marB="45725"/>
                </a:tc>
              </a:tr>
              <a:tr h="370880">
                <a:tc>
                  <a:txBody>
                    <a:bodyPr/>
                    <a:lstStyle/>
                    <a:p>
                      <a:r>
                        <a:rPr lang="en-US" sz="1600" dirty="0" smtClean="0"/>
                        <a:t>0</a:t>
                      </a:r>
                      <a:endParaRPr lang="en-US" sz="1600" dirty="0"/>
                    </a:p>
                  </a:txBody>
                  <a:tcPr marT="45725" marB="45725"/>
                </a:tc>
                <a:tc>
                  <a:txBody>
                    <a:bodyPr/>
                    <a:lstStyle/>
                    <a:p>
                      <a:r>
                        <a:rPr lang="en-US" sz="1600" dirty="0" smtClean="0"/>
                        <a:t>Aug 7, 2006</a:t>
                      </a:r>
                      <a:endParaRPr lang="en-US" sz="1600" dirty="0"/>
                    </a:p>
                  </a:txBody>
                  <a:tcPr marT="45725" marB="45725"/>
                </a:tc>
                <a:tc>
                  <a:txBody>
                    <a:bodyPr/>
                    <a:lstStyle/>
                    <a:p>
                      <a:r>
                        <a:rPr lang="en-US" sz="1600" dirty="0" smtClean="0"/>
                        <a:t>11,219.38</a:t>
                      </a:r>
                      <a:endParaRPr lang="en-US" sz="1600" dirty="0"/>
                    </a:p>
                  </a:txBody>
                  <a:tcPr marT="45725" marB="45725"/>
                </a:tc>
                <a:tc>
                  <a:txBody>
                    <a:bodyPr/>
                    <a:lstStyle/>
                    <a:p>
                      <a:r>
                        <a:rPr lang="en-US" sz="1600" dirty="0" smtClean="0"/>
                        <a:t>11,131.84</a:t>
                      </a:r>
                      <a:endParaRPr lang="en-US" sz="1600" dirty="0"/>
                    </a:p>
                  </a:txBody>
                  <a:tcPr marT="45725" marB="45725"/>
                </a:tc>
                <a:tc>
                  <a:txBody>
                    <a:bodyPr/>
                    <a:lstStyle/>
                    <a:p>
                      <a:r>
                        <a:rPr lang="en-US" sz="1600" dirty="0" smtClean="0"/>
                        <a:t>6,373.89</a:t>
                      </a:r>
                      <a:endParaRPr lang="en-US" sz="1600" dirty="0"/>
                    </a:p>
                  </a:txBody>
                  <a:tcPr marT="45725" marB="45725"/>
                </a:tc>
                <a:tc>
                  <a:txBody>
                    <a:bodyPr/>
                    <a:lstStyle/>
                    <a:p>
                      <a:pPr algn="ctr"/>
                      <a:r>
                        <a:rPr lang="en-US" sz="1600" dirty="0" smtClean="0"/>
                        <a:t>131.77</a:t>
                      </a:r>
                      <a:endParaRPr lang="en-US" sz="1600" dirty="0"/>
                    </a:p>
                  </a:txBody>
                  <a:tcPr marT="45725" marB="45725"/>
                </a:tc>
              </a:tr>
              <a:tr h="370880">
                <a:tc>
                  <a:txBody>
                    <a:bodyPr/>
                    <a:lstStyle/>
                    <a:p>
                      <a:r>
                        <a:rPr lang="en-US" sz="1600" dirty="0" smtClean="0"/>
                        <a:t>1</a:t>
                      </a:r>
                      <a:endParaRPr lang="en-US" sz="1600" dirty="0"/>
                    </a:p>
                  </a:txBody>
                  <a:tcPr marT="45725" marB="45725"/>
                </a:tc>
                <a:tc>
                  <a:txBody>
                    <a:bodyPr/>
                    <a:lstStyle/>
                    <a:p>
                      <a:r>
                        <a:rPr lang="en-US" sz="1600" dirty="0" smtClean="0"/>
                        <a:t>Aug</a:t>
                      </a:r>
                      <a:r>
                        <a:rPr lang="en-US" sz="1600" baseline="0" dirty="0" smtClean="0"/>
                        <a:t> 8, 2006</a:t>
                      </a:r>
                      <a:endParaRPr lang="en-US" sz="1600" dirty="0"/>
                    </a:p>
                  </a:txBody>
                  <a:tcPr marT="45725" marB="45725"/>
                </a:tc>
                <a:tc>
                  <a:txBody>
                    <a:bodyPr/>
                    <a:lstStyle/>
                    <a:p>
                      <a:r>
                        <a:rPr lang="en-US" sz="1600" dirty="0" smtClean="0"/>
                        <a:t>11,173.59</a:t>
                      </a:r>
                      <a:endParaRPr lang="en-US" sz="1600" dirty="0"/>
                    </a:p>
                  </a:txBody>
                  <a:tcPr marT="45725" marB="45725"/>
                </a:tc>
                <a:tc>
                  <a:txBody>
                    <a:bodyPr/>
                    <a:lstStyle/>
                    <a:p>
                      <a:r>
                        <a:rPr lang="en-US" sz="1600" dirty="0" smtClean="0"/>
                        <a:t>11,096.28</a:t>
                      </a:r>
                      <a:endParaRPr lang="en-US" sz="1600" dirty="0"/>
                    </a:p>
                  </a:txBody>
                  <a:tcPr marT="45725" marB="45725"/>
                </a:tc>
                <a:tc>
                  <a:txBody>
                    <a:bodyPr/>
                    <a:lstStyle/>
                    <a:p>
                      <a:r>
                        <a:rPr lang="en-US" sz="1600" dirty="0" smtClean="0"/>
                        <a:t>6,378.16</a:t>
                      </a:r>
                      <a:endParaRPr lang="en-US" sz="1600" dirty="0"/>
                    </a:p>
                  </a:txBody>
                  <a:tcPr marT="45725" marB="45725"/>
                </a:tc>
                <a:tc>
                  <a:txBody>
                    <a:bodyPr/>
                    <a:lstStyle/>
                    <a:p>
                      <a:pPr algn="ctr"/>
                      <a:r>
                        <a:rPr lang="en-US" sz="1600" dirty="0" smtClean="0"/>
                        <a:t>134.38</a:t>
                      </a:r>
                      <a:endParaRPr lang="en-US" sz="1600" dirty="0"/>
                    </a:p>
                  </a:txBody>
                  <a:tcPr marT="45725" marB="45725"/>
                </a:tc>
              </a:tr>
              <a:tr h="370880">
                <a:tc>
                  <a:txBody>
                    <a:bodyPr/>
                    <a:lstStyle/>
                    <a:p>
                      <a:r>
                        <a:rPr lang="en-US" sz="1600" dirty="0" smtClean="0"/>
                        <a:t>2</a:t>
                      </a:r>
                      <a:endParaRPr lang="en-US" sz="1600" dirty="0"/>
                    </a:p>
                  </a:txBody>
                  <a:tcPr marT="45725" marB="45725"/>
                </a:tc>
                <a:tc>
                  <a:txBody>
                    <a:bodyPr/>
                    <a:lstStyle/>
                    <a:p>
                      <a:r>
                        <a:rPr lang="en-US" sz="1600" dirty="0" smtClean="0"/>
                        <a:t>Aug 9, 2006</a:t>
                      </a:r>
                      <a:endParaRPr lang="en-US" sz="1600" dirty="0"/>
                    </a:p>
                  </a:txBody>
                  <a:tcPr marT="45725" marB="45725"/>
                </a:tc>
                <a:tc>
                  <a:txBody>
                    <a:bodyPr/>
                    <a:lstStyle/>
                    <a:p>
                      <a:r>
                        <a:rPr lang="en-US" sz="1600" dirty="0" smtClean="0"/>
                        <a:t>11,076.18</a:t>
                      </a:r>
                      <a:endParaRPr lang="en-US" sz="1600" dirty="0"/>
                    </a:p>
                  </a:txBody>
                  <a:tcPr marT="45725" marB="45725"/>
                </a:tc>
                <a:tc>
                  <a:txBody>
                    <a:bodyPr/>
                    <a:lstStyle/>
                    <a:p>
                      <a:r>
                        <a:rPr lang="en-US" sz="1600" dirty="0" smtClean="0"/>
                        <a:t>11,185.35</a:t>
                      </a:r>
                      <a:endParaRPr lang="en-US" sz="1600" dirty="0"/>
                    </a:p>
                  </a:txBody>
                  <a:tcPr marT="45725" marB="45725"/>
                </a:tc>
                <a:tc>
                  <a:txBody>
                    <a:bodyPr/>
                    <a:lstStyle/>
                    <a:p>
                      <a:r>
                        <a:rPr lang="en-US" sz="1600" dirty="0" smtClean="0"/>
                        <a:t>6,474.04</a:t>
                      </a:r>
                      <a:endParaRPr lang="en-US" sz="1600" dirty="0"/>
                    </a:p>
                  </a:txBody>
                  <a:tcPr marT="45725" marB="45725"/>
                </a:tc>
                <a:tc>
                  <a:txBody>
                    <a:bodyPr/>
                    <a:lstStyle/>
                    <a:p>
                      <a:pPr algn="ctr"/>
                      <a:r>
                        <a:rPr lang="en-US" sz="1600" dirty="0" smtClean="0"/>
                        <a:t>135.94</a:t>
                      </a:r>
                      <a:endParaRPr lang="en-US" sz="1600" dirty="0"/>
                    </a:p>
                  </a:txBody>
                  <a:tcPr marT="45725" marB="45725"/>
                </a:tc>
              </a:tr>
              <a:tr h="370880">
                <a:tc>
                  <a:txBody>
                    <a:bodyPr/>
                    <a:lstStyle/>
                    <a:p>
                      <a:r>
                        <a:rPr lang="en-US" sz="1600" dirty="0" smtClean="0"/>
                        <a:t>3</a:t>
                      </a:r>
                      <a:endParaRPr lang="en-US" sz="1600" dirty="0"/>
                    </a:p>
                  </a:txBody>
                  <a:tcPr marT="45725" marB="45725"/>
                </a:tc>
                <a:tc>
                  <a:txBody>
                    <a:bodyPr/>
                    <a:lstStyle/>
                    <a:p>
                      <a:r>
                        <a:rPr lang="en-US" sz="1600" dirty="0" smtClean="0"/>
                        <a:t>Aug 10, 2006</a:t>
                      </a:r>
                      <a:endParaRPr lang="en-US" sz="1600" dirty="0"/>
                    </a:p>
                  </a:txBody>
                  <a:tcPr marT="45725" marB="45725"/>
                </a:tc>
                <a:tc>
                  <a:txBody>
                    <a:bodyPr/>
                    <a:lstStyle/>
                    <a:p>
                      <a:r>
                        <a:rPr lang="en-US" sz="1600" dirty="0" smtClean="0"/>
                        <a:t>11,124.37</a:t>
                      </a:r>
                      <a:endParaRPr lang="en-US" sz="1600" dirty="0"/>
                    </a:p>
                  </a:txBody>
                  <a:tcPr marT="45725" marB="45725"/>
                </a:tc>
                <a:tc>
                  <a:txBody>
                    <a:bodyPr/>
                    <a:lstStyle/>
                    <a:p>
                      <a:r>
                        <a:rPr lang="en-US" sz="1600" dirty="0" smtClean="0"/>
                        <a:t>11,016.71</a:t>
                      </a:r>
                      <a:endParaRPr lang="en-US" sz="1600" dirty="0"/>
                    </a:p>
                  </a:txBody>
                  <a:tcPr marT="45725" marB="45725"/>
                </a:tc>
                <a:tc>
                  <a:txBody>
                    <a:bodyPr/>
                    <a:lstStyle/>
                    <a:p>
                      <a:r>
                        <a:rPr lang="en-US" sz="1600" dirty="0" smtClean="0"/>
                        <a:t>6,357.49</a:t>
                      </a:r>
                      <a:endParaRPr lang="en-US" sz="1600" dirty="0"/>
                    </a:p>
                  </a:txBody>
                  <a:tcPr marT="45725" marB="45725"/>
                </a:tc>
                <a:tc>
                  <a:txBody>
                    <a:bodyPr/>
                    <a:lstStyle/>
                    <a:p>
                      <a:pPr algn="ctr"/>
                      <a:r>
                        <a:rPr lang="en-US" sz="1600" dirty="0" smtClean="0"/>
                        <a:t>135.44</a:t>
                      </a:r>
                      <a:endParaRPr lang="en-US" sz="1600" dirty="0"/>
                    </a:p>
                  </a:txBody>
                  <a:tcPr marT="45725" marB="45725"/>
                </a:tc>
              </a:tr>
              <a:tr h="370880">
                <a:tc>
                  <a:txBody>
                    <a:bodyPr/>
                    <a:lstStyle/>
                    <a:p>
                      <a:pPr algn="ctr"/>
                      <a:r>
                        <a:rPr lang="en-US" sz="1600" dirty="0" smtClean="0"/>
                        <a:t>…</a:t>
                      </a:r>
                      <a:endParaRPr lang="en-US" sz="1600" dirty="0"/>
                    </a:p>
                  </a:txBody>
                  <a:tcPr marT="45725" marB="45725"/>
                </a:tc>
                <a:tc>
                  <a:txBody>
                    <a:bodyPr/>
                    <a:lstStyle/>
                    <a:p>
                      <a:pPr algn="ctr"/>
                      <a:r>
                        <a:rPr lang="en-US" sz="1600" dirty="0" smtClean="0"/>
                        <a:t>……</a:t>
                      </a:r>
                      <a:endParaRPr lang="en-US" sz="1600" dirty="0"/>
                    </a:p>
                  </a:txBody>
                  <a:tcPr marT="45725" marB="45725"/>
                </a:tc>
                <a:tc>
                  <a:txBody>
                    <a:bodyPr/>
                    <a:lstStyle/>
                    <a:p>
                      <a:pPr algn="ctr"/>
                      <a:r>
                        <a:rPr lang="en-US" sz="1600" dirty="0" smtClean="0"/>
                        <a:t>…..</a:t>
                      </a:r>
                      <a:endParaRPr lang="en-US" sz="1600" dirty="0"/>
                    </a:p>
                  </a:txBody>
                  <a:tcPr marT="45725" marB="45725"/>
                </a:tc>
                <a:tc>
                  <a:txBody>
                    <a:bodyPr/>
                    <a:lstStyle/>
                    <a:p>
                      <a:pPr algn="ctr"/>
                      <a:r>
                        <a:rPr lang="en-US" sz="1600" dirty="0" smtClean="0"/>
                        <a:t>…..</a:t>
                      </a:r>
                      <a:endParaRPr lang="en-US" sz="1600" dirty="0"/>
                    </a:p>
                  </a:txBody>
                  <a:tcPr marT="45725" marB="45725"/>
                </a:tc>
                <a:tc>
                  <a:txBody>
                    <a:bodyPr/>
                    <a:lstStyle/>
                    <a:p>
                      <a:pPr algn="ctr"/>
                      <a:r>
                        <a:rPr lang="en-US" sz="1600" dirty="0" smtClean="0"/>
                        <a:t>……</a:t>
                      </a:r>
                      <a:endParaRPr lang="en-US" sz="1600" dirty="0"/>
                    </a:p>
                  </a:txBody>
                  <a:tcPr marT="45725" marB="45725"/>
                </a:tc>
                <a:tc>
                  <a:txBody>
                    <a:bodyPr/>
                    <a:lstStyle/>
                    <a:p>
                      <a:pPr algn="ctr"/>
                      <a:r>
                        <a:rPr lang="en-US" sz="1600" dirty="0" smtClean="0"/>
                        <a:t>……</a:t>
                      </a:r>
                      <a:endParaRPr lang="en-US" sz="1600" dirty="0"/>
                    </a:p>
                  </a:txBody>
                  <a:tcPr marT="45725" marB="45725"/>
                </a:tc>
              </a:tr>
              <a:tr h="370880">
                <a:tc>
                  <a:txBody>
                    <a:bodyPr/>
                    <a:lstStyle/>
                    <a:p>
                      <a:r>
                        <a:rPr lang="en-US" sz="1600" dirty="0" smtClean="0"/>
                        <a:t>499</a:t>
                      </a:r>
                      <a:endParaRPr lang="en-US" sz="1600" dirty="0"/>
                    </a:p>
                  </a:txBody>
                  <a:tcPr marT="45725" marB="45725"/>
                </a:tc>
                <a:tc>
                  <a:txBody>
                    <a:bodyPr/>
                    <a:lstStyle/>
                    <a:p>
                      <a:r>
                        <a:rPr lang="en-US" sz="1600" dirty="0" smtClean="0"/>
                        <a:t>Sep 24,</a:t>
                      </a:r>
                      <a:r>
                        <a:rPr lang="en-US" sz="1600" baseline="0" dirty="0" smtClean="0"/>
                        <a:t> 2008</a:t>
                      </a:r>
                      <a:endParaRPr lang="en-US" sz="1600" dirty="0"/>
                    </a:p>
                  </a:txBody>
                  <a:tcPr marT="45725" marB="45725"/>
                </a:tc>
                <a:tc>
                  <a:txBody>
                    <a:bodyPr/>
                    <a:lstStyle/>
                    <a:p>
                      <a:r>
                        <a:rPr lang="en-US" sz="1600" dirty="0" smtClean="0"/>
                        <a:t>10,825.17</a:t>
                      </a:r>
                      <a:endParaRPr lang="en-US" sz="1600" dirty="0"/>
                    </a:p>
                  </a:txBody>
                  <a:tcPr marT="45725" marB="45725"/>
                </a:tc>
                <a:tc>
                  <a:txBody>
                    <a:bodyPr/>
                    <a:lstStyle/>
                    <a:p>
                      <a:r>
                        <a:rPr lang="en-US" sz="1600" dirty="0" smtClean="0"/>
                        <a:t> 9,438.58</a:t>
                      </a:r>
                      <a:endParaRPr lang="en-US" sz="1600" dirty="0"/>
                    </a:p>
                  </a:txBody>
                  <a:tcPr marT="45725" marB="45725"/>
                </a:tc>
                <a:tc>
                  <a:txBody>
                    <a:bodyPr/>
                    <a:lstStyle/>
                    <a:p>
                      <a:r>
                        <a:rPr lang="en-US" sz="1600" dirty="0" smtClean="0"/>
                        <a:t>6,033.93</a:t>
                      </a:r>
                      <a:endParaRPr lang="en-US" sz="1600" dirty="0"/>
                    </a:p>
                  </a:txBody>
                  <a:tcPr marT="45725" marB="45725"/>
                </a:tc>
                <a:tc>
                  <a:txBody>
                    <a:bodyPr/>
                    <a:lstStyle/>
                    <a:p>
                      <a:pPr algn="ctr"/>
                      <a:r>
                        <a:rPr lang="en-US" sz="1600" dirty="0" smtClean="0"/>
                        <a:t>114.26</a:t>
                      </a:r>
                      <a:endParaRPr lang="en-US" sz="1600" dirty="0"/>
                    </a:p>
                  </a:txBody>
                  <a:tcPr marT="45725" marB="45725"/>
                </a:tc>
              </a:tr>
              <a:tr h="370880">
                <a:tc>
                  <a:txBody>
                    <a:bodyPr/>
                    <a:lstStyle/>
                    <a:p>
                      <a:r>
                        <a:rPr lang="en-US" sz="1600" dirty="0" smtClean="0"/>
                        <a:t>500</a:t>
                      </a:r>
                      <a:endParaRPr lang="en-US" sz="1600" dirty="0"/>
                    </a:p>
                  </a:txBody>
                  <a:tcPr marT="45725" marB="45725"/>
                </a:tc>
                <a:tc>
                  <a:txBody>
                    <a:bodyPr/>
                    <a:lstStyle/>
                    <a:p>
                      <a:r>
                        <a:rPr lang="en-US" sz="1600" dirty="0" smtClean="0"/>
                        <a:t>Sep 25, 2008</a:t>
                      </a:r>
                      <a:endParaRPr lang="en-US" sz="1600" dirty="0"/>
                    </a:p>
                  </a:txBody>
                  <a:tcPr marT="45725" marB="45725"/>
                </a:tc>
                <a:tc>
                  <a:txBody>
                    <a:bodyPr/>
                    <a:lstStyle/>
                    <a:p>
                      <a:r>
                        <a:rPr lang="en-US" sz="1600" dirty="0" smtClean="0"/>
                        <a:t>11,022.06</a:t>
                      </a:r>
                      <a:endParaRPr lang="en-US" sz="1600" dirty="0"/>
                    </a:p>
                  </a:txBody>
                  <a:tcPr marT="45725" marB="45725"/>
                </a:tc>
                <a:tc>
                  <a:txBody>
                    <a:bodyPr/>
                    <a:lstStyle/>
                    <a:p>
                      <a:r>
                        <a:rPr lang="en-US" sz="1600" dirty="0" smtClean="0"/>
                        <a:t> 9,599.90</a:t>
                      </a:r>
                      <a:endParaRPr lang="en-US" sz="1600" dirty="0"/>
                    </a:p>
                  </a:txBody>
                  <a:tcPr marT="45725" marB="45725"/>
                </a:tc>
                <a:tc>
                  <a:txBody>
                    <a:bodyPr/>
                    <a:lstStyle/>
                    <a:p>
                      <a:r>
                        <a:rPr lang="en-US" sz="1600" dirty="0" smtClean="0"/>
                        <a:t>6,200.40</a:t>
                      </a:r>
                      <a:endParaRPr lang="en-US" sz="1600" dirty="0"/>
                    </a:p>
                  </a:txBody>
                  <a:tcPr marT="45725" marB="45725"/>
                </a:tc>
                <a:tc>
                  <a:txBody>
                    <a:bodyPr/>
                    <a:lstStyle/>
                    <a:p>
                      <a:pPr algn="ctr"/>
                      <a:r>
                        <a:rPr lang="en-US" sz="1600" dirty="0" smtClean="0"/>
                        <a:t>112.82</a:t>
                      </a:r>
                      <a:endParaRPr lang="en-US" sz="1600" dirty="0"/>
                    </a:p>
                  </a:txBody>
                  <a:tcPr marT="45725" marB="45725"/>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114300" y="115888"/>
            <a:ext cx="7772400" cy="1143000"/>
          </a:xfrm>
        </p:spPr>
        <p:txBody>
          <a:bodyPr/>
          <a:lstStyle/>
          <a:p>
            <a:pPr eaLnBrk="1" hangingPunct="1"/>
            <a:r>
              <a:rPr lang="en-US" altLang="en-US" smtClean="0"/>
              <a:t>Scenarios Generated </a:t>
            </a:r>
            <a:r>
              <a:rPr lang="en-US" altLang="en-US" sz="2000" smtClean="0"/>
              <a:t>(Table 20.3, page 433)</a:t>
            </a:r>
          </a:p>
        </p:txBody>
      </p:sp>
      <p:sp>
        <p:nvSpPr>
          <p:cNvPr id="23555"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cs typeface="Arial" panose="020B0604020202020204" pitchFamily="34" charset="0"/>
              </a:rPr>
              <a:t>Fundamentals of Futures and Options Markets, 9th Ed, Ch 20, Copyright © John C. Hull 2016</a:t>
            </a:r>
            <a:endParaRPr lang="en-US" altLang="en-US" sz="1400">
              <a:cs typeface="Arial" panose="020B0604020202020204" pitchFamily="34" charset="0"/>
            </a:endParaRPr>
          </a:p>
        </p:txBody>
      </p:sp>
      <p:sp>
        <p:nvSpPr>
          <p:cNvPr id="23556"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DB629B6D-0B8E-4816-B226-D1331F3E3D46}" type="slidenum">
              <a:rPr lang="en-US" altLang="en-US" sz="1800">
                <a:cs typeface="Arial" panose="020B0604020202020204" pitchFamily="34" charset="0"/>
              </a:rPr>
              <a:pPr eaLnBrk="1" hangingPunct="1">
                <a:spcBef>
                  <a:spcPct val="0"/>
                </a:spcBef>
                <a:buClrTx/>
                <a:buSzTx/>
                <a:buFontTx/>
                <a:buNone/>
              </a:pPr>
              <a:t>11</a:t>
            </a:fld>
            <a:endParaRPr lang="en-US" altLang="en-US" sz="1800">
              <a:cs typeface="Arial" panose="020B0604020202020204" pitchFamily="34" charset="0"/>
            </a:endParaRPr>
          </a:p>
        </p:txBody>
      </p:sp>
      <p:graphicFrame>
        <p:nvGraphicFramePr>
          <p:cNvPr id="6" name="Table 5"/>
          <p:cNvGraphicFramePr>
            <a:graphicFrameLocks noGrp="1"/>
          </p:cNvGraphicFramePr>
          <p:nvPr/>
        </p:nvGraphicFramePr>
        <p:xfrm>
          <a:off x="609600" y="2057400"/>
          <a:ext cx="8305800" cy="3276600"/>
        </p:xfrm>
        <a:graphic>
          <a:graphicData uri="http://schemas.openxmlformats.org/drawingml/2006/table">
            <a:tbl>
              <a:tblPr firstRow="1" bandRow="1">
                <a:tableStyleId>{5940675A-B579-460E-94D1-54222C63F5DA}</a:tableStyleId>
              </a:tblPr>
              <a:tblGrid>
                <a:gridCol w="990600"/>
                <a:gridCol w="1219200"/>
                <a:gridCol w="1143000"/>
                <a:gridCol w="1143000"/>
                <a:gridCol w="1295400"/>
                <a:gridCol w="1447800"/>
                <a:gridCol w="1066800"/>
              </a:tblGrid>
              <a:tr h="650134">
                <a:tc>
                  <a:txBody>
                    <a:bodyPr/>
                    <a:lstStyle/>
                    <a:p>
                      <a:pPr algn="ctr"/>
                      <a:r>
                        <a:rPr lang="en-US" sz="1600" i="1" dirty="0" smtClean="0">
                          <a:latin typeface="+mj-lt"/>
                        </a:rPr>
                        <a:t>Scenario</a:t>
                      </a:r>
                      <a:endParaRPr lang="en-US" sz="1600" i="1" dirty="0">
                        <a:latin typeface="+mj-lt"/>
                      </a:endParaRPr>
                    </a:p>
                  </a:txBody>
                  <a:tcPr/>
                </a:tc>
                <a:tc>
                  <a:txBody>
                    <a:bodyPr/>
                    <a:lstStyle/>
                    <a:p>
                      <a:pPr algn="ctr"/>
                      <a:r>
                        <a:rPr lang="en-US" sz="1600" i="1" dirty="0" smtClean="0">
                          <a:latin typeface="+mj-lt"/>
                        </a:rPr>
                        <a:t>DJIA</a:t>
                      </a:r>
                      <a:endParaRPr lang="en-US" sz="1600" i="1" dirty="0">
                        <a:latin typeface="+mj-lt"/>
                      </a:endParaRPr>
                    </a:p>
                  </a:txBody>
                  <a:tcPr/>
                </a:tc>
                <a:tc>
                  <a:txBody>
                    <a:bodyPr/>
                    <a:lstStyle/>
                    <a:p>
                      <a:pPr algn="ctr"/>
                      <a:r>
                        <a:rPr lang="en-US" sz="1600" i="1" dirty="0" smtClean="0">
                          <a:latin typeface="+mj-lt"/>
                        </a:rPr>
                        <a:t>FTSE 100</a:t>
                      </a:r>
                      <a:endParaRPr lang="en-US" sz="1600" i="1" dirty="0">
                        <a:latin typeface="+mj-lt"/>
                      </a:endParaRPr>
                    </a:p>
                  </a:txBody>
                  <a:tcPr/>
                </a:tc>
                <a:tc>
                  <a:txBody>
                    <a:bodyPr/>
                    <a:lstStyle/>
                    <a:p>
                      <a:pPr algn="ctr"/>
                      <a:r>
                        <a:rPr lang="en-US" sz="1600" i="1" dirty="0" smtClean="0">
                          <a:latin typeface="+mj-lt"/>
                        </a:rPr>
                        <a:t>CAC 40</a:t>
                      </a:r>
                      <a:endParaRPr lang="en-US" sz="1600" i="1" dirty="0">
                        <a:latin typeface="+mj-lt"/>
                      </a:endParaRPr>
                    </a:p>
                  </a:txBody>
                  <a:tcPr/>
                </a:tc>
                <a:tc>
                  <a:txBody>
                    <a:bodyPr/>
                    <a:lstStyle/>
                    <a:p>
                      <a:pPr algn="ctr"/>
                      <a:r>
                        <a:rPr lang="en-US" sz="1600" i="1" dirty="0" smtClean="0">
                          <a:latin typeface="+mj-lt"/>
                        </a:rPr>
                        <a:t>Nikkei 225</a:t>
                      </a:r>
                      <a:endParaRPr lang="en-US" sz="1600" i="1" dirty="0">
                        <a:latin typeface="+mj-lt"/>
                      </a:endParaRPr>
                    </a:p>
                  </a:txBody>
                  <a:tcPr/>
                </a:tc>
                <a:tc>
                  <a:txBody>
                    <a:bodyPr/>
                    <a:lstStyle/>
                    <a:p>
                      <a:pPr algn="ctr"/>
                      <a:r>
                        <a:rPr lang="en-US" sz="1600" i="1" dirty="0" smtClean="0">
                          <a:latin typeface="+mj-lt"/>
                        </a:rPr>
                        <a:t>Portfolio</a:t>
                      </a:r>
                      <a:r>
                        <a:rPr lang="en-US" sz="1600" i="1" baseline="0" dirty="0" smtClean="0">
                          <a:latin typeface="+mj-lt"/>
                        </a:rPr>
                        <a:t> </a:t>
                      </a:r>
                    </a:p>
                    <a:p>
                      <a:pPr algn="ctr"/>
                      <a:r>
                        <a:rPr lang="en-US" sz="1600" i="1" baseline="0" dirty="0" smtClean="0">
                          <a:latin typeface="+mj-lt"/>
                        </a:rPr>
                        <a:t>Value ($000s)</a:t>
                      </a:r>
                      <a:endParaRPr lang="en-US" sz="1600" i="1" dirty="0">
                        <a:latin typeface="+mj-lt"/>
                      </a:endParaRPr>
                    </a:p>
                  </a:txBody>
                  <a:tcPr/>
                </a:tc>
                <a:tc>
                  <a:txBody>
                    <a:bodyPr/>
                    <a:lstStyle/>
                    <a:p>
                      <a:pPr algn="ctr"/>
                      <a:r>
                        <a:rPr lang="en-US" sz="1600" i="1" dirty="0" smtClean="0">
                          <a:latin typeface="+mj-lt"/>
                        </a:rPr>
                        <a:t>Loss ($000s)</a:t>
                      </a:r>
                      <a:endParaRPr lang="en-US" sz="1600" i="1" dirty="0">
                        <a:latin typeface="+mj-lt"/>
                      </a:endParaRPr>
                    </a:p>
                  </a:txBody>
                  <a:tcPr/>
                </a:tc>
              </a:tr>
              <a:tr h="416666">
                <a:tc>
                  <a:txBody>
                    <a:bodyPr/>
                    <a:lstStyle/>
                    <a:p>
                      <a:pPr algn="ctr"/>
                      <a:r>
                        <a:rPr lang="en-US" sz="1600" dirty="0" smtClean="0"/>
                        <a:t>1</a:t>
                      </a:r>
                      <a:endParaRPr lang="en-US" sz="1600" dirty="0"/>
                    </a:p>
                  </a:txBody>
                  <a:tcPr/>
                </a:tc>
                <a:tc>
                  <a:txBody>
                    <a:bodyPr/>
                    <a:lstStyle/>
                    <a:p>
                      <a:pPr algn="ctr"/>
                      <a:r>
                        <a:rPr lang="en-US" sz="1600" dirty="0" smtClean="0"/>
                        <a:t>10,977.08</a:t>
                      </a:r>
                      <a:endParaRPr lang="en-US" sz="1600" dirty="0"/>
                    </a:p>
                  </a:txBody>
                  <a:tcPr/>
                </a:tc>
                <a:tc>
                  <a:txBody>
                    <a:bodyPr/>
                    <a:lstStyle/>
                    <a:p>
                      <a:pPr algn="ctr"/>
                      <a:r>
                        <a:rPr lang="en-US" sz="1600" dirty="0" smtClean="0"/>
                        <a:t>9,569.23</a:t>
                      </a:r>
                      <a:endParaRPr lang="en-US" sz="1600" dirty="0"/>
                    </a:p>
                  </a:txBody>
                  <a:tcPr/>
                </a:tc>
                <a:tc>
                  <a:txBody>
                    <a:bodyPr/>
                    <a:lstStyle/>
                    <a:p>
                      <a:pPr algn="ctr"/>
                      <a:r>
                        <a:rPr lang="en-US" sz="1600" dirty="0" smtClean="0"/>
                        <a:t>6,204.55</a:t>
                      </a:r>
                      <a:endParaRPr lang="en-US" sz="1600" dirty="0"/>
                    </a:p>
                  </a:txBody>
                  <a:tcPr/>
                </a:tc>
                <a:tc>
                  <a:txBody>
                    <a:bodyPr/>
                    <a:lstStyle/>
                    <a:p>
                      <a:pPr algn="ctr"/>
                      <a:r>
                        <a:rPr lang="en-US" sz="1600" dirty="0" smtClean="0"/>
                        <a:t>115.05</a:t>
                      </a:r>
                      <a:endParaRPr lang="en-US" sz="1600" dirty="0"/>
                    </a:p>
                  </a:txBody>
                  <a:tcPr/>
                </a:tc>
                <a:tc>
                  <a:txBody>
                    <a:bodyPr/>
                    <a:lstStyle/>
                    <a:p>
                      <a:r>
                        <a:rPr lang="en-US" sz="1600" dirty="0" smtClean="0"/>
                        <a:t>10,014.334</a:t>
                      </a:r>
                      <a:endParaRPr lang="en-US" sz="1600" dirty="0"/>
                    </a:p>
                  </a:txBody>
                  <a:tcPr/>
                </a:tc>
                <a:tc>
                  <a:txBody>
                    <a:bodyPr/>
                    <a:lstStyle/>
                    <a:p>
                      <a:r>
                        <a:rPr lang="en-US" sz="1600" dirty="0" smtClean="0"/>
                        <a:t> −14.334</a:t>
                      </a:r>
                      <a:endParaRPr lang="en-US" sz="1600" dirty="0"/>
                    </a:p>
                  </a:txBody>
                  <a:tcPr/>
                </a:tc>
              </a:tr>
              <a:tr h="457200">
                <a:tc>
                  <a:txBody>
                    <a:bodyPr/>
                    <a:lstStyle/>
                    <a:p>
                      <a:pPr algn="ctr"/>
                      <a:r>
                        <a:rPr lang="en-US" sz="1600" dirty="0" smtClean="0"/>
                        <a:t>2</a:t>
                      </a:r>
                      <a:endParaRPr lang="en-US" sz="1600" dirty="0"/>
                    </a:p>
                  </a:txBody>
                  <a:tcPr/>
                </a:tc>
                <a:tc>
                  <a:txBody>
                    <a:bodyPr/>
                    <a:lstStyle/>
                    <a:p>
                      <a:pPr algn="ctr"/>
                      <a:r>
                        <a:rPr lang="en-US" sz="1600" dirty="0" smtClean="0"/>
                        <a:t>10,925.97</a:t>
                      </a:r>
                      <a:endParaRPr lang="en-US" sz="1600" dirty="0"/>
                    </a:p>
                  </a:txBody>
                  <a:tcPr/>
                </a:tc>
                <a:tc>
                  <a:txBody>
                    <a:bodyPr/>
                    <a:lstStyle/>
                    <a:p>
                      <a:pPr algn="ctr"/>
                      <a:r>
                        <a:rPr lang="en-US" sz="1600" dirty="0" smtClean="0"/>
                        <a:t>9,676.96</a:t>
                      </a:r>
                      <a:endParaRPr lang="en-US" sz="1600" dirty="0"/>
                    </a:p>
                  </a:txBody>
                  <a:tcPr/>
                </a:tc>
                <a:tc>
                  <a:txBody>
                    <a:bodyPr/>
                    <a:lstStyle/>
                    <a:p>
                      <a:pPr algn="ctr"/>
                      <a:r>
                        <a:rPr lang="en-US" sz="1600" dirty="0" smtClean="0"/>
                        <a:t>6,293.60</a:t>
                      </a:r>
                      <a:endParaRPr lang="en-US" sz="1600" dirty="0"/>
                    </a:p>
                  </a:txBody>
                  <a:tcPr/>
                </a:tc>
                <a:tc>
                  <a:txBody>
                    <a:bodyPr/>
                    <a:lstStyle/>
                    <a:p>
                      <a:pPr algn="ctr"/>
                      <a:r>
                        <a:rPr lang="en-US" sz="1600" dirty="0" smtClean="0"/>
                        <a:t>114.13</a:t>
                      </a:r>
                      <a:endParaRPr lang="en-US" sz="1600" dirty="0"/>
                    </a:p>
                  </a:txBody>
                  <a:tcPr/>
                </a:tc>
                <a:tc>
                  <a:txBody>
                    <a:bodyPr/>
                    <a:lstStyle/>
                    <a:p>
                      <a:r>
                        <a:rPr lang="en-US" sz="1600" dirty="0" smtClean="0"/>
                        <a:t>10,027.481</a:t>
                      </a:r>
                      <a:endParaRPr lang="en-US" sz="1600" dirty="0"/>
                    </a:p>
                  </a:txBody>
                  <a:tcPr/>
                </a:tc>
                <a:tc>
                  <a:txBody>
                    <a:bodyPr/>
                    <a:lstStyle/>
                    <a:p>
                      <a:r>
                        <a:rPr lang="en-US" sz="1600" dirty="0" smtClean="0"/>
                        <a:t>  −27.481</a:t>
                      </a:r>
                      <a:endParaRPr lang="en-US" sz="1600" dirty="0"/>
                    </a:p>
                  </a:txBody>
                  <a:tcPr/>
                </a:tc>
              </a:tr>
              <a:tr h="457200">
                <a:tc>
                  <a:txBody>
                    <a:bodyPr/>
                    <a:lstStyle/>
                    <a:p>
                      <a:pPr algn="ctr"/>
                      <a:r>
                        <a:rPr lang="en-US" sz="1600" dirty="0" smtClean="0"/>
                        <a:t>3</a:t>
                      </a:r>
                      <a:endParaRPr lang="en-US" sz="1600" dirty="0"/>
                    </a:p>
                  </a:txBody>
                  <a:tcPr/>
                </a:tc>
                <a:tc>
                  <a:txBody>
                    <a:bodyPr/>
                    <a:lstStyle/>
                    <a:p>
                      <a:pPr algn="ctr"/>
                      <a:r>
                        <a:rPr lang="en-US" sz="1600" dirty="0" smtClean="0"/>
                        <a:t>11,070.01</a:t>
                      </a:r>
                      <a:endParaRPr lang="en-US" sz="1600" dirty="0"/>
                    </a:p>
                  </a:txBody>
                  <a:tcPr/>
                </a:tc>
                <a:tc>
                  <a:txBody>
                    <a:bodyPr/>
                    <a:lstStyle/>
                    <a:p>
                      <a:pPr algn="ctr"/>
                      <a:r>
                        <a:rPr lang="en-US" sz="1600" dirty="0" smtClean="0"/>
                        <a:t>9,455.16</a:t>
                      </a:r>
                      <a:endParaRPr lang="en-US" sz="1600" dirty="0"/>
                    </a:p>
                  </a:txBody>
                  <a:tcPr/>
                </a:tc>
                <a:tc>
                  <a:txBody>
                    <a:bodyPr/>
                    <a:lstStyle/>
                    <a:p>
                      <a:pPr algn="ctr"/>
                      <a:r>
                        <a:rPr lang="en-US" sz="1600" dirty="0" smtClean="0"/>
                        <a:t>6,088.77</a:t>
                      </a:r>
                      <a:endParaRPr lang="en-US" sz="1600" dirty="0"/>
                    </a:p>
                  </a:txBody>
                  <a:tcPr/>
                </a:tc>
                <a:tc>
                  <a:txBody>
                    <a:bodyPr/>
                    <a:lstStyle/>
                    <a:p>
                      <a:pPr algn="ctr"/>
                      <a:r>
                        <a:rPr lang="en-US" sz="1600" dirty="0" smtClean="0"/>
                        <a:t>112.40</a:t>
                      </a:r>
                      <a:endParaRPr lang="en-US" sz="1600" dirty="0"/>
                    </a:p>
                  </a:txBody>
                  <a:tcPr/>
                </a:tc>
                <a:tc>
                  <a:txBody>
                    <a:bodyPr/>
                    <a:lstStyle/>
                    <a:p>
                      <a:r>
                        <a:rPr lang="en-US" sz="1600" dirty="0" smtClean="0"/>
                        <a:t> </a:t>
                      </a:r>
                      <a:r>
                        <a:rPr lang="en-US" sz="1600" baseline="0" dirty="0" smtClean="0"/>
                        <a:t> </a:t>
                      </a:r>
                      <a:r>
                        <a:rPr lang="en-US" sz="1600" dirty="0" smtClean="0"/>
                        <a:t>9,946.736</a:t>
                      </a:r>
                      <a:endParaRPr lang="en-US" sz="1600" dirty="0"/>
                    </a:p>
                  </a:txBody>
                  <a:tcPr/>
                </a:tc>
                <a:tc>
                  <a:txBody>
                    <a:bodyPr/>
                    <a:lstStyle/>
                    <a:p>
                      <a:r>
                        <a:rPr lang="en-US" sz="1600" dirty="0" smtClean="0"/>
                        <a:t>    53.264</a:t>
                      </a:r>
                      <a:endParaRPr lang="en-US" sz="1600" dirty="0"/>
                    </a:p>
                  </a:txBody>
                  <a:tcPr/>
                </a:tc>
              </a:tr>
              <a:tr h="376665">
                <a:tc>
                  <a:txBody>
                    <a:bodyPr/>
                    <a:lstStyle/>
                    <a:p>
                      <a:pPr algn="ctr"/>
                      <a:r>
                        <a:rPr lang="en-US" sz="1600" dirty="0" smtClean="0"/>
                        <a:t>…</a:t>
                      </a:r>
                      <a:endParaRPr lang="en-US" sz="1600" dirty="0"/>
                    </a:p>
                  </a:txBody>
                  <a:tcPr/>
                </a:tc>
                <a:tc>
                  <a:txBody>
                    <a:bodyPr/>
                    <a:lstStyle/>
                    <a:p>
                      <a:pPr algn="ctr"/>
                      <a:r>
                        <a:rPr lang="en-US" sz="1600" dirty="0" smtClean="0"/>
                        <a:t>…….</a:t>
                      </a:r>
                      <a:endParaRPr lang="en-US" sz="1600" dirty="0"/>
                    </a:p>
                  </a:txBody>
                  <a:tcPr/>
                </a:tc>
                <a:tc>
                  <a:txBody>
                    <a:bodyPr/>
                    <a:lstStyle/>
                    <a:p>
                      <a:pPr algn="ctr"/>
                      <a:r>
                        <a:rPr lang="en-US" sz="1600" dirty="0" smtClean="0"/>
                        <a:t>…….</a:t>
                      </a:r>
                      <a:endParaRPr lang="en-US" sz="1600" dirty="0"/>
                    </a:p>
                  </a:txBody>
                  <a:tcPr/>
                </a:tc>
                <a:tc>
                  <a:txBody>
                    <a:bodyPr/>
                    <a:lstStyle/>
                    <a:p>
                      <a:pPr algn="ctr"/>
                      <a:r>
                        <a:rPr lang="en-US" sz="1600" dirty="0" smtClean="0"/>
                        <a:t>…….</a:t>
                      </a:r>
                      <a:endParaRPr lang="en-US" sz="1600" dirty="0"/>
                    </a:p>
                  </a:txBody>
                  <a:tcPr/>
                </a:tc>
                <a:tc>
                  <a:txBody>
                    <a:bodyPr/>
                    <a:lstStyle/>
                    <a:p>
                      <a:pPr algn="ctr"/>
                      <a:r>
                        <a:rPr lang="en-US" sz="1600" dirty="0" smtClean="0"/>
                        <a:t>……..</a:t>
                      </a:r>
                      <a:endParaRPr lang="en-US" sz="1600" dirty="0"/>
                    </a:p>
                  </a:txBody>
                  <a:tcPr/>
                </a:tc>
                <a:tc>
                  <a:txBody>
                    <a:bodyPr/>
                    <a:lstStyle/>
                    <a:p>
                      <a:pPr algn="ctr"/>
                      <a:r>
                        <a:rPr lang="en-US" sz="1600" dirty="0" smtClean="0"/>
                        <a:t>…….</a:t>
                      </a:r>
                      <a:endParaRPr lang="en-US" sz="1600" dirty="0"/>
                    </a:p>
                  </a:txBody>
                  <a:tcPr/>
                </a:tc>
                <a:tc>
                  <a:txBody>
                    <a:bodyPr/>
                    <a:lstStyle/>
                    <a:p>
                      <a:pPr algn="ctr"/>
                      <a:r>
                        <a:rPr lang="en-US" sz="1600" dirty="0" smtClean="0"/>
                        <a:t>……..</a:t>
                      </a:r>
                      <a:endParaRPr lang="en-US" sz="1600" dirty="0"/>
                    </a:p>
                  </a:txBody>
                  <a:tcPr/>
                </a:tc>
              </a:tr>
              <a:tr h="461535">
                <a:tc>
                  <a:txBody>
                    <a:bodyPr/>
                    <a:lstStyle/>
                    <a:p>
                      <a:pPr algn="ctr"/>
                      <a:r>
                        <a:rPr lang="en-US" sz="1600" dirty="0" smtClean="0"/>
                        <a:t>499</a:t>
                      </a:r>
                      <a:endParaRPr lang="en-US" sz="1600" dirty="0"/>
                    </a:p>
                  </a:txBody>
                  <a:tcPr/>
                </a:tc>
                <a:tc>
                  <a:txBody>
                    <a:bodyPr/>
                    <a:lstStyle/>
                    <a:p>
                      <a:pPr algn="ctr"/>
                      <a:r>
                        <a:rPr lang="en-US" sz="1600" dirty="0" smtClean="0"/>
                        <a:t>10,831.43</a:t>
                      </a:r>
                      <a:endParaRPr lang="en-US" sz="1600" dirty="0"/>
                    </a:p>
                  </a:txBody>
                  <a:tcPr/>
                </a:tc>
                <a:tc>
                  <a:txBody>
                    <a:bodyPr/>
                    <a:lstStyle/>
                    <a:p>
                      <a:pPr algn="ctr"/>
                      <a:r>
                        <a:rPr lang="en-US" sz="1600" dirty="0" smtClean="0"/>
                        <a:t>9,383.49</a:t>
                      </a:r>
                      <a:endParaRPr lang="en-US" sz="1600" dirty="0"/>
                    </a:p>
                  </a:txBody>
                  <a:tcPr/>
                </a:tc>
                <a:tc>
                  <a:txBody>
                    <a:bodyPr/>
                    <a:lstStyle/>
                    <a:p>
                      <a:pPr algn="ctr"/>
                      <a:r>
                        <a:rPr lang="en-US" sz="1600" dirty="0" smtClean="0"/>
                        <a:t>6,051.94</a:t>
                      </a:r>
                      <a:endParaRPr lang="en-US" sz="1600" dirty="0"/>
                    </a:p>
                  </a:txBody>
                  <a:tcPr/>
                </a:tc>
                <a:tc>
                  <a:txBody>
                    <a:bodyPr/>
                    <a:lstStyle/>
                    <a:p>
                      <a:pPr algn="ctr"/>
                      <a:r>
                        <a:rPr lang="en-US" sz="1600" dirty="0" smtClean="0"/>
                        <a:t>113.85</a:t>
                      </a:r>
                      <a:endParaRPr lang="en-US" sz="1600" dirty="0"/>
                    </a:p>
                  </a:txBody>
                  <a:tcPr/>
                </a:tc>
                <a:tc>
                  <a:txBody>
                    <a:bodyPr/>
                    <a:lstStyle/>
                    <a:p>
                      <a:r>
                        <a:rPr lang="en-US" sz="1600" dirty="0" smtClean="0"/>
                        <a:t>  9,857.465</a:t>
                      </a:r>
                      <a:endParaRPr lang="en-US" sz="1600" dirty="0"/>
                    </a:p>
                  </a:txBody>
                  <a:tcPr/>
                </a:tc>
                <a:tc>
                  <a:txBody>
                    <a:bodyPr/>
                    <a:lstStyle/>
                    <a:p>
                      <a:r>
                        <a:rPr lang="en-US" sz="1600" dirty="0" smtClean="0"/>
                        <a:t>  142.535</a:t>
                      </a:r>
                      <a:endParaRPr lang="en-US" sz="1600" dirty="0"/>
                    </a:p>
                  </a:txBody>
                  <a:tcPr/>
                </a:tc>
              </a:tr>
              <a:tr h="457200">
                <a:tc>
                  <a:txBody>
                    <a:bodyPr/>
                    <a:lstStyle/>
                    <a:p>
                      <a:pPr algn="ctr"/>
                      <a:r>
                        <a:rPr lang="en-US" sz="1600" dirty="0" smtClean="0"/>
                        <a:t>500</a:t>
                      </a:r>
                      <a:endParaRPr lang="en-US" sz="1600" dirty="0"/>
                    </a:p>
                  </a:txBody>
                  <a:tcPr/>
                </a:tc>
                <a:tc>
                  <a:txBody>
                    <a:bodyPr/>
                    <a:lstStyle/>
                    <a:p>
                      <a:pPr algn="ctr"/>
                      <a:r>
                        <a:rPr lang="en-US" sz="1600" dirty="0" smtClean="0"/>
                        <a:t>11,222.53</a:t>
                      </a:r>
                      <a:endParaRPr lang="en-US" sz="1600" dirty="0"/>
                    </a:p>
                  </a:txBody>
                  <a:tcPr/>
                </a:tc>
                <a:tc>
                  <a:txBody>
                    <a:bodyPr/>
                    <a:lstStyle/>
                    <a:p>
                      <a:pPr algn="ctr"/>
                      <a:r>
                        <a:rPr lang="en-US" sz="1600" dirty="0" smtClean="0"/>
                        <a:t>9,763.97</a:t>
                      </a:r>
                      <a:endParaRPr lang="en-US" sz="1600" dirty="0"/>
                    </a:p>
                  </a:txBody>
                  <a:tcPr/>
                </a:tc>
                <a:tc>
                  <a:txBody>
                    <a:bodyPr/>
                    <a:lstStyle/>
                    <a:p>
                      <a:pPr algn="ctr"/>
                      <a:r>
                        <a:rPr lang="en-US" sz="1600" dirty="0" smtClean="0"/>
                        <a:t>6,371.45</a:t>
                      </a:r>
                      <a:endParaRPr lang="en-US" sz="1600" dirty="0"/>
                    </a:p>
                  </a:txBody>
                  <a:tcPr/>
                </a:tc>
                <a:tc>
                  <a:txBody>
                    <a:bodyPr/>
                    <a:lstStyle/>
                    <a:p>
                      <a:pPr algn="ctr"/>
                      <a:r>
                        <a:rPr lang="en-US" sz="1600" dirty="0" smtClean="0"/>
                        <a:t>111.40</a:t>
                      </a:r>
                      <a:endParaRPr lang="en-US" sz="1600" dirty="0"/>
                    </a:p>
                  </a:txBody>
                  <a:tcPr/>
                </a:tc>
                <a:tc>
                  <a:txBody>
                    <a:bodyPr/>
                    <a:lstStyle/>
                    <a:p>
                      <a:r>
                        <a:rPr lang="en-US" sz="1600" dirty="0" smtClean="0"/>
                        <a:t>10,126.439</a:t>
                      </a:r>
                      <a:endParaRPr lang="en-US" sz="1600" dirty="0"/>
                    </a:p>
                  </a:txBody>
                  <a:tcPr/>
                </a:tc>
                <a:tc>
                  <a:txBody>
                    <a:bodyPr/>
                    <a:lstStyle/>
                    <a:p>
                      <a:r>
                        <a:rPr lang="en-US" sz="1600" dirty="0" smtClean="0"/>
                        <a:t>−126.439</a:t>
                      </a:r>
                      <a:endParaRPr lang="en-US" sz="1600" dirty="0"/>
                    </a:p>
                  </a:txBody>
                  <a:tcPr/>
                </a:tc>
              </a:tr>
            </a:tbl>
          </a:graphicData>
        </a:graphic>
      </p:graphicFrame>
      <p:sp>
        <p:nvSpPr>
          <p:cNvPr id="23623" name="TextBox 6"/>
          <p:cNvSpPr txBox="1">
            <a:spLocks noChangeArrowheads="1"/>
          </p:cNvSpPr>
          <p:nvPr/>
        </p:nvSpPr>
        <p:spPr bwMode="auto">
          <a:xfrm>
            <a:off x="1752600" y="5715000"/>
            <a:ext cx="4495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cs typeface="Arial" panose="020B0604020202020204" pitchFamily="34" charset="0"/>
              </a:rPr>
              <a:t>Example of Calculation: </a:t>
            </a:r>
          </a:p>
        </p:txBody>
      </p:sp>
      <p:graphicFrame>
        <p:nvGraphicFramePr>
          <p:cNvPr id="23624" name="Object 2"/>
          <p:cNvGraphicFramePr>
            <a:graphicFrameLocks noChangeAspect="1"/>
          </p:cNvGraphicFramePr>
          <p:nvPr/>
        </p:nvGraphicFramePr>
        <p:xfrm>
          <a:off x="4419600" y="5638800"/>
          <a:ext cx="2462213" cy="495300"/>
        </p:xfrm>
        <a:graphic>
          <a:graphicData uri="http://schemas.openxmlformats.org/presentationml/2006/ole">
            <mc:AlternateContent xmlns:mc="http://schemas.openxmlformats.org/markup-compatibility/2006">
              <mc:Choice xmlns:v="urn:schemas-microsoft-com:vml" Requires="v">
                <p:oleObj spid="_x0000_s23625" name="Equation" r:id="rId4" imgW="2082800" imgH="419100" progId="Equation.3">
                  <p:embed/>
                </p:oleObj>
              </mc:Choice>
              <mc:Fallback>
                <p:oleObj name="Equation" r:id="rId4" imgW="2082800" imgH="4191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19600" y="5638800"/>
                        <a:ext cx="2462213" cy="49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3"/>
          <p:cNvSpPr>
            <a:spLocks noGrp="1"/>
          </p:cNvSpPr>
          <p:nvPr>
            <p:ph type="title"/>
          </p:nvPr>
        </p:nvSpPr>
        <p:spPr/>
        <p:txBody>
          <a:bodyPr/>
          <a:lstStyle/>
          <a:p>
            <a:pPr eaLnBrk="1" hangingPunct="1"/>
            <a:r>
              <a:rPr lang="en-US" altLang="en-US" smtClean="0"/>
              <a:t>Ranked Losses </a:t>
            </a:r>
            <a:r>
              <a:rPr lang="en-US" altLang="en-US" sz="2000" smtClean="0"/>
              <a:t>(Table 20.4, page 434)</a:t>
            </a:r>
          </a:p>
        </p:txBody>
      </p:sp>
      <p:sp>
        <p:nvSpPr>
          <p:cNvPr id="24579" name="Footer Placeholder 1"/>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cs typeface="Arial" panose="020B0604020202020204" pitchFamily="34" charset="0"/>
              </a:rPr>
              <a:t>Fundamentals of Futures and Options Markets, 9th Ed, Ch 20, Copyright © John C. Hull 2016</a:t>
            </a:r>
            <a:endParaRPr lang="en-US" altLang="en-US" sz="1400">
              <a:cs typeface="Arial" panose="020B0604020202020204" pitchFamily="34" charset="0"/>
            </a:endParaRPr>
          </a:p>
        </p:txBody>
      </p:sp>
      <p:sp>
        <p:nvSpPr>
          <p:cNvPr id="24580" name="Slide Number Placeholder 2"/>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1B5E4C4D-025B-4D01-AE50-0D0E230B3766}" type="slidenum">
              <a:rPr lang="en-US" altLang="en-US" sz="1800">
                <a:cs typeface="Arial" panose="020B0604020202020204" pitchFamily="34" charset="0"/>
              </a:rPr>
              <a:pPr eaLnBrk="1" hangingPunct="1">
                <a:spcBef>
                  <a:spcPct val="0"/>
                </a:spcBef>
                <a:buClrTx/>
                <a:buSzTx/>
                <a:buFontTx/>
                <a:buNone/>
              </a:pPr>
              <a:t>12</a:t>
            </a:fld>
            <a:endParaRPr lang="en-US" altLang="en-US" sz="1800">
              <a:cs typeface="Arial" panose="020B0604020202020204" pitchFamily="34" charset="0"/>
            </a:endParaRPr>
          </a:p>
        </p:txBody>
      </p:sp>
      <p:graphicFrame>
        <p:nvGraphicFramePr>
          <p:cNvPr id="5" name="Table 4"/>
          <p:cNvGraphicFramePr>
            <a:graphicFrameLocks noGrp="1"/>
          </p:cNvGraphicFramePr>
          <p:nvPr/>
        </p:nvGraphicFramePr>
        <p:xfrm>
          <a:off x="1143000" y="2057400"/>
          <a:ext cx="4038600" cy="2967038"/>
        </p:xfrm>
        <a:graphic>
          <a:graphicData uri="http://schemas.openxmlformats.org/drawingml/2006/table">
            <a:tbl>
              <a:tblPr firstRow="1" bandRow="1">
                <a:tableStyleId>{5940675A-B579-460E-94D1-54222C63F5DA}</a:tableStyleId>
              </a:tblPr>
              <a:tblGrid>
                <a:gridCol w="2286000"/>
                <a:gridCol w="1752600"/>
              </a:tblGrid>
              <a:tr h="370880">
                <a:tc>
                  <a:txBody>
                    <a:bodyPr/>
                    <a:lstStyle/>
                    <a:p>
                      <a:pPr algn="ctr"/>
                      <a:r>
                        <a:rPr lang="en-US" sz="1800" i="1" dirty="0" smtClean="0">
                          <a:latin typeface="+mj-lt"/>
                          <a:cs typeface="Arial" pitchFamily="34" charset="0"/>
                        </a:rPr>
                        <a:t>Scenario Number</a:t>
                      </a:r>
                      <a:endParaRPr lang="en-US" sz="1800" i="1" dirty="0">
                        <a:latin typeface="+mj-lt"/>
                        <a:cs typeface="Arial" pitchFamily="34" charset="0"/>
                      </a:endParaRPr>
                    </a:p>
                  </a:txBody>
                  <a:tcPr marT="45725" marB="45725"/>
                </a:tc>
                <a:tc>
                  <a:txBody>
                    <a:bodyPr/>
                    <a:lstStyle/>
                    <a:p>
                      <a:pPr algn="ctr"/>
                      <a:r>
                        <a:rPr lang="en-US" sz="1800" i="1" dirty="0" smtClean="0">
                          <a:latin typeface="+mj-lt"/>
                          <a:cs typeface="Arial" pitchFamily="34" charset="0"/>
                        </a:rPr>
                        <a:t>Loss ($000s)</a:t>
                      </a:r>
                      <a:endParaRPr lang="en-US" sz="1800" i="1" dirty="0">
                        <a:latin typeface="+mj-lt"/>
                        <a:cs typeface="Arial" pitchFamily="34" charset="0"/>
                      </a:endParaRPr>
                    </a:p>
                  </a:txBody>
                  <a:tcPr marT="45725" marB="45725"/>
                </a:tc>
              </a:tr>
              <a:tr h="370880">
                <a:tc>
                  <a:txBody>
                    <a:bodyPr/>
                    <a:lstStyle/>
                    <a:p>
                      <a:pPr algn="ctr"/>
                      <a:r>
                        <a:rPr lang="en-US" sz="1800" dirty="0" smtClean="0"/>
                        <a:t>494</a:t>
                      </a:r>
                      <a:endParaRPr lang="en-US" sz="1800" dirty="0"/>
                    </a:p>
                  </a:txBody>
                  <a:tcPr marT="45725" marB="45725"/>
                </a:tc>
                <a:tc>
                  <a:txBody>
                    <a:bodyPr/>
                    <a:lstStyle/>
                    <a:p>
                      <a:pPr algn="ctr"/>
                      <a:r>
                        <a:rPr lang="en-US" sz="1800" dirty="0" smtClean="0"/>
                        <a:t>477.841</a:t>
                      </a:r>
                      <a:endParaRPr lang="en-US" sz="1800" dirty="0"/>
                    </a:p>
                  </a:txBody>
                  <a:tcPr marT="45725" marB="45725"/>
                </a:tc>
              </a:tr>
              <a:tr h="370880">
                <a:tc>
                  <a:txBody>
                    <a:bodyPr/>
                    <a:lstStyle/>
                    <a:p>
                      <a:pPr algn="ctr"/>
                      <a:r>
                        <a:rPr lang="en-US" sz="1800" dirty="0" smtClean="0"/>
                        <a:t>339</a:t>
                      </a:r>
                      <a:endParaRPr lang="en-US" sz="1800" dirty="0"/>
                    </a:p>
                  </a:txBody>
                  <a:tcPr marT="45725" marB="45725"/>
                </a:tc>
                <a:tc>
                  <a:txBody>
                    <a:bodyPr/>
                    <a:lstStyle/>
                    <a:p>
                      <a:pPr algn="ctr"/>
                      <a:r>
                        <a:rPr lang="en-US" sz="1800" dirty="0" smtClean="0"/>
                        <a:t>345.435</a:t>
                      </a:r>
                      <a:endParaRPr lang="en-US" sz="1800" dirty="0"/>
                    </a:p>
                  </a:txBody>
                  <a:tcPr marT="45725" marB="45725"/>
                </a:tc>
              </a:tr>
              <a:tr h="370880">
                <a:tc>
                  <a:txBody>
                    <a:bodyPr/>
                    <a:lstStyle/>
                    <a:p>
                      <a:pPr algn="ctr"/>
                      <a:r>
                        <a:rPr lang="en-US" sz="1800" dirty="0" smtClean="0"/>
                        <a:t>349</a:t>
                      </a:r>
                      <a:endParaRPr lang="en-US" sz="1800" dirty="0"/>
                    </a:p>
                  </a:txBody>
                  <a:tcPr marT="45725" marB="45725"/>
                </a:tc>
                <a:tc>
                  <a:txBody>
                    <a:bodyPr/>
                    <a:lstStyle/>
                    <a:p>
                      <a:pPr algn="ctr"/>
                      <a:r>
                        <a:rPr lang="en-US" sz="1800" dirty="0" smtClean="0"/>
                        <a:t>282.204</a:t>
                      </a:r>
                      <a:endParaRPr lang="en-US" sz="1800" dirty="0"/>
                    </a:p>
                  </a:txBody>
                  <a:tcPr marT="45725" marB="45725"/>
                </a:tc>
              </a:tr>
              <a:tr h="370880">
                <a:tc>
                  <a:txBody>
                    <a:bodyPr/>
                    <a:lstStyle/>
                    <a:p>
                      <a:pPr algn="ctr"/>
                      <a:r>
                        <a:rPr lang="en-US" sz="1800" dirty="0" smtClean="0"/>
                        <a:t>329</a:t>
                      </a:r>
                      <a:endParaRPr lang="en-US" sz="1800" dirty="0"/>
                    </a:p>
                  </a:txBody>
                  <a:tcPr marT="45725" marB="45725"/>
                </a:tc>
                <a:tc>
                  <a:txBody>
                    <a:bodyPr/>
                    <a:lstStyle/>
                    <a:p>
                      <a:pPr algn="ctr"/>
                      <a:r>
                        <a:rPr lang="en-US" sz="1800" dirty="0" smtClean="0"/>
                        <a:t>277.041</a:t>
                      </a:r>
                      <a:endParaRPr lang="en-US" sz="1800" dirty="0"/>
                    </a:p>
                  </a:txBody>
                  <a:tcPr marT="45725" marB="45725"/>
                </a:tc>
              </a:tr>
              <a:tr h="370880">
                <a:tc>
                  <a:txBody>
                    <a:bodyPr/>
                    <a:lstStyle/>
                    <a:p>
                      <a:pPr algn="ctr"/>
                      <a:r>
                        <a:rPr lang="en-US" sz="1800" dirty="0" smtClean="0"/>
                        <a:t>487</a:t>
                      </a:r>
                      <a:endParaRPr lang="en-US" sz="1800" dirty="0"/>
                    </a:p>
                  </a:txBody>
                  <a:tcPr marT="45725" marB="45725"/>
                </a:tc>
                <a:tc>
                  <a:txBody>
                    <a:bodyPr/>
                    <a:lstStyle/>
                    <a:p>
                      <a:pPr algn="ctr"/>
                      <a:r>
                        <a:rPr lang="en-US" sz="1800" dirty="0" smtClean="0"/>
                        <a:t>253.385</a:t>
                      </a:r>
                      <a:endParaRPr lang="en-US" sz="1800" dirty="0"/>
                    </a:p>
                  </a:txBody>
                  <a:tcPr marT="45725" marB="45725"/>
                </a:tc>
              </a:tr>
              <a:tr h="370880">
                <a:tc>
                  <a:txBody>
                    <a:bodyPr/>
                    <a:lstStyle/>
                    <a:p>
                      <a:pPr algn="ctr"/>
                      <a:r>
                        <a:rPr lang="en-US" sz="1800" dirty="0" smtClean="0"/>
                        <a:t>227</a:t>
                      </a:r>
                      <a:endParaRPr lang="en-US" sz="1800" dirty="0"/>
                    </a:p>
                  </a:txBody>
                  <a:tcPr marT="45725" marB="45725"/>
                </a:tc>
                <a:tc>
                  <a:txBody>
                    <a:bodyPr/>
                    <a:lstStyle/>
                    <a:p>
                      <a:pPr algn="ctr"/>
                      <a:r>
                        <a:rPr lang="en-US" sz="1800" dirty="0" smtClean="0"/>
                        <a:t>217.974</a:t>
                      </a:r>
                      <a:endParaRPr lang="en-US" sz="1800" dirty="0"/>
                    </a:p>
                  </a:txBody>
                  <a:tcPr marT="45725" marB="45725"/>
                </a:tc>
              </a:tr>
              <a:tr h="370880">
                <a:tc>
                  <a:txBody>
                    <a:bodyPr/>
                    <a:lstStyle/>
                    <a:p>
                      <a:pPr algn="ctr"/>
                      <a:r>
                        <a:rPr lang="en-US" sz="1800" dirty="0" smtClean="0"/>
                        <a:t>131</a:t>
                      </a:r>
                      <a:endParaRPr lang="en-US" sz="1800" dirty="0"/>
                    </a:p>
                  </a:txBody>
                  <a:tcPr marT="45725" marB="45725"/>
                </a:tc>
                <a:tc>
                  <a:txBody>
                    <a:bodyPr/>
                    <a:lstStyle/>
                    <a:p>
                      <a:pPr algn="ctr"/>
                      <a:r>
                        <a:rPr lang="en-US" sz="1800" dirty="0" smtClean="0"/>
                        <a:t>205.256</a:t>
                      </a:r>
                      <a:endParaRPr lang="en-US" sz="1800" dirty="0"/>
                    </a:p>
                  </a:txBody>
                  <a:tcPr marT="45725" marB="45725"/>
                </a:tc>
              </a:tr>
            </a:tbl>
          </a:graphicData>
        </a:graphic>
      </p:graphicFrame>
      <p:sp>
        <p:nvSpPr>
          <p:cNvPr id="24610" name="TextBox 5"/>
          <p:cNvSpPr txBox="1">
            <a:spLocks noChangeArrowheads="1"/>
          </p:cNvSpPr>
          <p:nvPr/>
        </p:nvSpPr>
        <p:spPr bwMode="auto">
          <a:xfrm>
            <a:off x="7162800" y="2667000"/>
            <a:ext cx="14478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cs typeface="Arial" panose="020B0604020202020204" pitchFamily="34" charset="0"/>
              </a:rPr>
              <a:t>99% one-day VaR</a:t>
            </a:r>
          </a:p>
        </p:txBody>
      </p:sp>
      <p:cxnSp>
        <p:nvCxnSpPr>
          <p:cNvPr id="24611" name="Straight Arrow Connector 7"/>
          <p:cNvCxnSpPr>
            <a:cxnSpLocks noChangeShapeType="1"/>
          </p:cNvCxnSpPr>
          <p:nvPr/>
        </p:nvCxnSpPr>
        <p:spPr bwMode="auto">
          <a:xfrm rot="10800000" flipV="1">
            <a:off x="5181600" y="3276600"/>
            <a:ext cx="1981200" cy="8382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24612" name="TextBox 1"/>
          <p:cNvSpPr txBox="1">
            <a:spLocks noChangeArrowheads="1"/>
          </p:cNvSpPr>
          <p:nvPr/>
        </p:nvSpPr>
        <p:spPr bwMode="auto">
          <a:xfrm>
            <a:off x="1835150" y="5516563"/>
            <a:ext cx="49688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a:t>99% one day ES is average of the five worst losses or $327,181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468313" y="-171450"/>
            <a:ext cx="7543800" cy="1295400"/>
          </a:xfrm>
        </p:spPr>
        <p:txBody>
          <a:bodyPr/>
          <a:lstStyle/>
          <a:p>
            <a:pPr eaLnBrk="1" hangingPunct="1"/>
            <a:r>
              <a:rPr lang="en-US" altLang="en-US" smtClean="0"/>
              <a:t>The N-day VaR</a:t>
            </a:r>
          </a:p>
        </p:txBody>
      </p:sp>
      <p:sp>
        <p:nvSpPr>
          <p:cNvPr id="3" name="Content Placeholder 2"/>
          <p:cNvSpPr>
            <a:spLocks noGrp="1"/>
          </p:cNvSpPr>
          <p:nvPr>
            <p:ph idx="1"/>
          </p:nvPr>
        </p:nvSpPr>
        <p:spPr>
          <a:xfrm>
            <a:off x="323850" y="1412875"/>
            <a:ext cx="8229600" cy="4411663"/>
          </a:xfrm>
        </p:spPr>
        <p:txBody>
          <a:bodyPr/>
          <a:lstStyle/>
          <a:p>
            <a:pPr eaLnBrk="1" hangingPunct="1">
              <a:defRPr/>
            </a:pPr>
            <a:r>
              <a:rPr lang="en-US" sz="2800" dirty="0" smtClean="0"/>
              <a:t>The </a:t>
            </a:r>
            <a:r>
              <a:rPr lang="en-US" sz="2800" i="1" dirty="0" smtClean="0">
                <a:latin typeface="+mj-lt"/>
              </a:rPr>
              <a:t>N</a:t>
            </a:r>
            <a:r>
              <a:rPr lang="en-US" sz="2800" dirty="0" smtClean="0"/>
              <a:t>-day </a:t>
            </a:r>
            <a:r>
              <a:rPr lang="en-US" sz="2800" dirty="0" err="1" smtClean="0"/>
              <a:t>VaR</a:t>
            </a:r>
            <a:r>
              <a:rPr lang="en-US" sz="2800" dirty="0"/>
              <a:t> </a:t>
            </a:r>
            <a:r>
              <a:rPr lang="en-US" sz="2800" dirty="0" smtClean="0"/>
              <a:t>(ES) for market risk is usually assumed to be        times the one-day </a:t>
            </a:r>
            <a:r>
              <a:rPr lang="en-US" sz="2800" dirty="0" err="1" smtClean="0"/>
              <a:t>VaR</a:t>
            </a:r>
            <a:r>
              <a:rPr lang="en-US" sz="2800" dirty="0" smtClean="0"/>
              <a:t> (ES)</a:t>
            </a:r>
          </a:p>
          <a:p>
            <a:pPr eaLnBrk="1" hangingPunct="1">
              <a:defRPr/>
            </a:pPr>
            <a:r>
              <a:rPr lang="en-US" sz="2800" dirty="0" smtClean="0"/>
              <a:t>In our example the 10-day </a:t>
            </a:r>
            <a:r>
              <a:rPr lang="en-US" sz="2800" dirty="0" err="1" smtClean="0"/>
              <a:t>VaR</a:t>
            </a:r>
            <a:r>
              <a:rPr lang="en-US" sz="2800" dirty="0" smtClean="0"/>
              <a:t> would be calculated as</a:t>
            </a:r>
          </a:p>
          <a:p>
            <a:pPr eaLnBrk="1" hangingPunct="1">
              <a:defRPr/>
            </a:pPr>
            <a:endParaRPr lang="en-US" sz="2800" dirty="0" smtClean="0"/>
          </a:p>
          <a:p>
            <a:pPr eaLnBrk="1" hangingPunct="1">
              <a:defRPr/>
            </a:pPr>
            <a:r>
              <a:rPr lang="en-US" sz="2800" dirty="0" smtClean="0"/>
              <a:t>This assumption is only perfectly theoretically correct if daily changes are normally distributed and independent </a:t>
            </a:r>
          </a:p>
          <a:p>
            <a:pPr eaLnBrk="1" hangingPunct="1">
              <a:defRPr/>
            </a:pPr>
            <a:endParaRPr lang="en-US" dirty="0"/>
          </a:p>
        </p:txBody>
      </p:sp>
      <p:sp>
        <p:nvSpPr>
          <p:cNvPr id="25604"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cs typeface="Arial" panose="020B0604020202020204" pitchFamily="34" charset="0"/>
              </a:rPr>
              <a:t>Fundamentals of Futures and Options Markets, 9th Ed, Ch 20, Copyright © John C. Hull 2016</a:t>
            </a:r>
            <a:endParaRPr lang="en-US" altLang="en-US" sz="1400">
              <a:cs typeface="Arial" panose="020B0604020202020204" pitchFamily="34" charset="0"/>
            </a:endParaRPr>
          </a:p>
        </p:txBody>
      </p:sp>
      <p:sp>
        <p:nvSpPr>
          <p:cNvPr id="25605"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457E0951-3FA8-4981-8BCF-89B908C8B27C}" type="slidenum">
              <a:rPr lang="en-US" altLang="en-US" sz="1800">
                <a:cs typeface="Arial" panose="020B0604020202020204" pitchFamily="34" charset="0"/>
              </a:rPr>
              <a:pPr eaLnBrk="1" hangingPunct="1">
                <a:spcBef>
                  <a:spcPct val="0"/>
                </a:spcBef>
                <a:buClrTx/>
                <a:buSzTx/>
                <a:buFontTx/>
                <a:buNone/>
              </a:pPr>
              <a:t>13</a:t>
            </a:fld>
            <a:endParaRPr lang="en-US" altLang="en-US" sz="1800">
              <a:cs typeface="Arial" panose="020B0604020202020204" pitchFamily="34" charset="0"/>
            </a:endParaRPr>
          </a:p>
        </p:txBody>
      </p:sp>
      <p:graphicFrame>
        <p:nvGraphicFramePr>
          <p:cNvPr id="25606" name="Object 2"/>
          <p:cNvGraphicFramePr>
            <a:graphicFrameLocks noChangeAspect="1"/>
          </p:cNvGraphicFramePr>
          <p:nvPr/>
        </p:nvGraphicFramePr>
        <p:xfrm>
          <a:off x="3203575" y="1844675"/>
          <a:ext cx="644525" cy="504825"/>
        </p:xfrm>
        <a:graphic>
          <a:graphicData uri="http://schemas.openxmlformats.org/presentationml/2006/ole">
            <mc:AlternateContent xmlns:mc="http://schemas.openxmlformats.org/markup-compatibility/2006">
              <mc:Choice xmlns:v="urn:schemas-microsoft-com:vml" Requires="v">
                <p:oleObj spid="_x0000_s25608" name="Equation" r:id="rId4" imgW="291973" imgH="228501" progId="Equation.3">
                  <p:embed/>
                </p:oleObj>
              </mc:Choice>
              <mc:Fallback>
                <p:oleObj name="Equation" r:id="rId4" imgW="291973" imgH="228501"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03575" y="1844675"/>
                        <a:ext cx="64452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607" name="Object 3"/>
          <p:cNvGraphicFramePr>
            <a:graphicFrameLocks noChangeAspect="1"/>
          </p:cNvGraphicFramePr>
          <p:nvPr/>
        </p:nvGraphicFramePr>
        <p:xfrm>
          <a:off x="2555875" y="3284538"/>
          <a:ext cx="3636963" cy="576262"/>
        </p:xfrm>
        <a:graphic>
          <a:graphicData uri="http://schemas.openxmlformats.org/presentationml/2006/ole">
            <mc:AlternateContent xmlns:mc="http://schemas.openxmlformats.org/markup-compatibility/2006">
              <mc:Choice xmlns:v="urn:schemas-microsoft-com:vml" Requires="v">
                <p:oleObj spid="_x0000_s25609" name="Equation" r:id="rId6" imgW="1524000" imgH="241300" progId="Equation.3">
                  <p:embed/>
                </p:oleObj>
              </mc:Choice>
              <mc:Fallback>
                <p:oleObj name="Equation" r:id="rId6" imgW="1524000" imgH="241300"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55875" y="3284538"/>
                        <a:ext cx="3636963"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CA" altLang="en-US" smtClean="0"/>
              <a:t>Stressed VaR and Stressed ES</a:t>
            </a:r>
          </a:p>
        </p:txBody>
      </p:sp>
      <p:sp>
        <p:nvSpPr>
          <p:cNvPr id="26627" name="Content Placeholder 2"/>
          <p:cNvSpPr>
            <a:spLocks noGrp="1"/>
          </p:cNvSpPr>
          <p:nvPr>
            <p:ph idx="1"/>
          </p:nvPr>
        </p:nvSpPr>
        <p:spPr/>
        <p:txBody>
          <a:bodyPr/>
          <a:lstStyle/>
          <a:p>
            <a:r>
              <a:rPr lang="en-CA" altLang="en-US" smtClean="0"/>
              <a:t>Stressed VaR and stressed ES calculations are based on historical data for a stressed period in the past (e.g. the year 2008) rather than on data from the most recent past (as in our example)</a:t>
            </a:r>
          </a:p>
        </p:txBody>
      </p:sp>
      <p:sp>
        <p:nvSpPr>
          <p:cNvPr id="26628"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a:t>Fundamentals of Futures and Options Markets, 9th Ed, Ch 20, Copyright © John C. Hull 2016</a:t>
            </a:r>
            <a:endParaRPr lang="en-US" altLang="en-US" i="0"/>
          </a:p>
        </p:txBody>
      </p:sp>
      <p:sp>
        <p:nvSpPr>
          <p:cNvPr id="2662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82B4D05-9490-4F36-83FA-9E461609E60E}" type="slidenum">
              <a:rPr lang="en-US" altLang="en-US"/>
              <a:pPr eaLnBrk="1" hangingPunct="1"/>
              <a:t>14</a:t>
            </a:fld>
            <a:endParaRPr lang="en-US"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pPr eaLnBrk="1" fontAlgn="auto" hangingPunct="1">
              <a:spcAft>
                <a:spcPts val="0"/>
              </a:spcAft>
              <a:defRPr/>
            </a:pPr>
            <a:r>
              <a:rPr lang="en-US" dirty="0">
                <a:solidFill>
                  <a:schemeClr val="tx2">
                    <a:satMod val="130000"/>
                  </a:schemeClr>
                </a:solidFill>
              </a:rPr>
              <a:t>The Model-Building Approach</a:t>
            </a:r>
          </a:p>
        </p:txBody>
      </p:sp>
      <p:sp>
        <p:nvSpPr>
          <p:cNvPr id="27651" name="Rectangle 3"/>
          <p:cNvSpPr>
            <a:spLocks noGrp="1" noChangeArrowheads="1"/>
          </p:cNvSpPr>
          <p:nvPr>
            <p:ph idx="1"/>
          </p:nvPr>
        </p:nvSpPr>
        <p:spPr>
          <a:xfrm>
            <a:off x="468313" y="1557338"/>
            <a:ext cx="8229600" cy="4411662"/>
          </a:xfrm>
        </p:spPr>
        <p:txBody>
          <a:bodyPr/>
          <a:lstStyle/>
          <a:p>
            <a:pPr eaLnBrk="1" hangingPunct="1"/>
            <a:r>
              <a:rPr lang="en-US" altLang="en-US" sz="2800" smtClean="0">
                <a:cs typeface="Arial" panose="020B0604020202020204" pitchFamily="34" charset="0"/>
              </a:rPr>
              <a:t>The main alternative to historical simulation is to make assumptions about the probability distributions of the return on the market variables and calculate the probability distribution of the change in the value of the portfolio analytically</a:t>
            </a:r>
          </a:p>
          <a:p>
            <a:pPr eaLnBrk="1" hangingPunct="1"/>
            <a:r>
              <a:rPr lang="en-US" altLang="en-US" sz="2800" smtClean="0">
                <a:cs typeface="Arial" panose="020B0604020202020204" pitchFamily="34" charset="0"/>
              </a:rPr>
              <a:t>This is known as the model building approach or the variance-covariance approach</a:t>
            </a:r>
          </a:p>
        </p:txBody>
      </p:sp>
      <p:sp>
        <p:nvSpPr>
          <p:cNvPr id="2765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cs typeface="Arial" panose="020B0604020202020204" pitchFamily="34" charset="0"/>
              </a:rPr>
              <a:t>Fundamentals of Futures and Options Markets, 9th Ed, Ch 20, Copyright © John C. Hull 2016</a:t>
            </a:r>
            <a:endParaRPr lang="en-US" altLang="en-US" sz="1400">
              <a:cs typeface="Arial" panose="020B0604020202020204" pitchFamily="34" charset="0"/>
            </a:endParaRPr>
          </a:p>
        </p:txBody>
      </p:sp>
      <p:sp>
        <p:nvSpPr>
          <p:cNvPr id="2765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2D9E4AB9-282D-4251-9632-3D8C29480C33}" type="slidenum">
              <a:rPr lang="en-US" altLang="en-US" sz="1800">
                <a:cs typeface="Arial" panose="020B0604020202020204" pitchFamily="34" charset="0"/>
              </a:rPr>
              <a:pPr eaLnBrk="1" hangingPunct="1">
                <a:spcBef>
                  <a:spcPct val="0"/>
                </a:spcBef>
                <a:buClrTx/>
                <a:buSzTx/>
                <a:buFontTx/>
                <a:buNone/>
              </a:pPr>
              <a:t>15</a:t>
            </a:fld>
            <a:endParaRPr lang="en-US" altLang="en-US" sz="1800">
              <a:cs typeface="Arial" panose="020B0604020202020204" pitchFamily="34"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t>Fundamentals of Futures and Options Markets, 9th Ed, Ch 20, Copyright © John C. Hull 2016</a:t>
            </a:r>
            <a:endParaRPr lang="en-US" altLang="en-US" sz="1400" i="0"/>
          </a:p>
        </p:txBody>
      </p:sp>
      <p:sp>
        <p:nvSpPr>
          <p:cNvPr id="28675" name="Rectangle 2"/>
          <p:cNvSpPr>
            <a:spLocks noGrp="1" noChangeArrowheads="1"/>
          </p:cNvSpPr>
          <p:nvPr>
            <p:ph type="title"/>
          </p:nvPr>
        </p:nvSpPr>
        <p:spPr>
          <a:noFill/>
        </p:spPr>
        <p:txBody>
          <a:bodyPr lIns="92075" tIns="46038" rIns="92075" bIns="46038" anchor="ctr"/>
          <a:lstStyle/>
          <a:p>
            <a:pPr eaLnBrk="1" hangingPunct="1"/>
            <a:r>
              <a:rPr lang="en-US" altLang="en-US" smtClean="0"/>
              <a:t>Daily Volatilities</a:t>
            </a:r>
          </a:p>
        </p:txBody>
      </p:sp>
      <p:sp>
        <p:nvSpPr>
          <p:cNvPr id="28676" name="Rectangle 3"/>
          <p:cNvSpPr>
            <a:spLocks noGrp="1" noChangeArrowheads="1"/>
          </p:cNvSpPr>
          <p:nvPr>
            <p:ph type="body" idx="1"/>
          </p:nvPr>
        </p:nvSpPr>
        <p:spPr>
          <a:noFill/>
        </p:spPr>
        <p:txBody>
          <a:bodyPr lIns="92075" tIns="46038" rIns="92075" bIns="46038"/>
          <a:lstStyle/>
          <a:p>
            <a:pPr eaLnBrk="1" hangingPunct="1"/>
            <a:r>
              <a:rPr lang="en-US" altLang="en-US" smtClean="0"/>
              <a:t>In option pricing we express volatility as volatility per year</a:t>
            </a:r>
          </a:p>
          <a:p>
            <a:pPr eaLnBrk="1" hangingPunct="1"/>
            <a:r>
              <a:rPr lang="en-US" altLang="en-US" smtClean="0"/>
              <a:t>In VaR calculations we express volatility as volatility per day</a:t>
            </a:r>
          </a:p>
          <a:p>
            <a:pPr eaLnBrk="1" hangingPunct="1">
              <a:buFont typeface="Wingdings" panose="05000000000000000000" pitchFamily="2" charset="2"/>
              <a:buNone/>
            </a:pPr>
            <a:endParaRPr lang="en-US" altLang="en-US" smtClean="0"/>
          </a:p>
        </p:txBody>
      </p:sp>
      <p:graphicFrame>
        <p:nvGraphicFramePr>
          <p:cNvPr id="28677" name="Object 4"/>
          <p:cNvGraphicFramePr>
            <a:graphicFrameLocks/>
          </p:cNvGraphicFramePr>
          <p:nvPr/>
        </p:nvGraphicFramePr>
        <p:xfrm>
          <a:off x="2895600" y="4343400"/>
          <a:ext cx="2133600" cy="990600"/>
        </p:xfrm>
        <a:graphic>
          <a:graphicData uri="http://schemas.openxmlformats.org/presentationml/2006/ole">
            <mc:AlternateContent xmlns:mc="http://schemas.openxmlformats.org/markup-compatibility/2006">
              <mc:Choice xmlns:v="urn:schemas-microsoft-com:vml" Requires="v">
                <p:oleObj spid="_x0000_s28679" name="Equation" r:id="rId4" imgW="837836" imgH="444307" progId="Equation.2">
                  <p:embed/>
                </p:oleObj>
              </mc:Choice>
              <mc:Fallback>
                <p:oleObj name="Equation" r:id="rId4" imgW="837836" imgH="444307" progId="Equation.2">
                  <p:embed/>
                  <p:pic>
                    <p:nvPicPr>
                      <p:cNvPr id="0"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95600" y="4343400"/>
                        <a:ext cx="213360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8678"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B19595B6-0A8E-42D7-A1B2-6E7C5A038154}" type="slidenum">
              <a:rPr lang="en-US" altLang="en-US" sz="1800"/>
              <a:pPr eaLnBrk="1" hangingPunct="1">
                <a:spcBef>
                  <a:spcPct val="0"/>
                </a:spcBef>
                <a:buClrTx/>
                <a:buSzTx/>
                <a:buFontTx/>
                <a:buNone/>
              </a:pPr>
              <a:t>16</a:t>
            </a:fld>
            <a:endParaRPr lang="en-US" altLang="en-US" sz="18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t>Fundamentals of Futures and Options Markets, 9th Ed, Ch 20, Copyright © John C. Hull 2016</a:t>
            </a:r>
            <a:endParaRPr lang="en-US" altLang="en-US" sz="1400" i="0"/>
          </a:p>
        </p:txBody>
      </p:sp>
      <p:sp>
        <p:nvSpPr>
          <p:cNvPr id="29699" name="Rectangle 2"/>
          <p:cNvSpPr>
            <a:spLocks noGrp="1" noChangeArrowheads="1"/>
          </p:cNvSpPr>
          <p:nvPr>
            <p:ph type="title"/>
          </p:nvPr>
        </p:nvSpPr>
        <p:spPr>
          <a:noFill/>
        </p:spPr>
        <p:txBody>
          <a:bodyPr lIns="92075" tIns="46038" rIns="92075" bIns="46038" anchor="ctr"/>
          <a:lstStyle/>
          <a:p>
            <a:pPr eaLnBrk="1" hangingPunct="1"/>
            <a:r>
              <a:rPr lang="en-US" altLang="en-US" smtClean="0"/>
              <a:t>Daily Volatility continued</a:t>
            </a:r>
          </a:p>
        </p:txBody>
      </p:sp>
      <p:sp>
        <p:nvSpPr>
          <p:cNvPr id="29700" name="Rectangle 3"/>
          <p:cNvSpPr>
            <a:spLocks noGrp="1" noChangeArrowheads="1"/>
          </p:cNvSpPr>
          <p:nvPr>
            <p:ph type="body" idx="1"/>
          </p:nvPr>
        </p:nvSpPr>
        <p:spPr>
          <a:noFill/>
        </p:spPr>
        <p:txBody>
          <a:bodyPr lIns="92075" tIns="46038" rIns="92075" bIns="46038"/>
          <a:lstStyle/>
          <a:p>
            <a:pPr eaLnBrk="1" hangingPunct="1"/>
            <a:r>
              <a:rPr lang="en-US" altLang="en-US" smtClean="0"/>
              <a:t>Strictly speaking we should define </a:t>
            </a:r>
            <a:r>
              <a:rPr lang="en-US" altLang="en-US" smtClean="0">
                <a:latin typeface="Symbol" panose="05050102010706020507" pitchFamily="18" charset="2"/>
              </a:rPr>
              <a:t>s</a:t>
            </a:r>
            <a:r>
              <a:rPr lang="en-US" altLang="en-US" i="1" baseline="-25000" smtClean="0"/>
              <a:t>day</a:t>
            </a:r>
            <a:r>
              <a:rPr lang="en-US" altLang="en-US" smtClean="0"/>
              <a:t> as the standard deviation of the continuously compounded return in one day</a:t>
            </a:r>
          </a:p>
          <a:p>
            <a:pPr eaLnBrk="1" hangingPunct="1"/>
            <a:r>
              <a:rPr lang="en-US" altLang="en-US" smtClean="0"/>
              <a:t>In practice we assume that it is the standard deviation of the percentage change in one day</a:t>
            </a:r>
          </a:p>
        </p:txBody>
      </p:sp>
      <p:sp>
        <p:nvSpPr>
          <p:cNvPr id="2970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8F7C2C84-66BF-47B4-B49B-36FBF6D3C677}" type="slidenum">
              <a:rPr lang="en-US" altLang="en-US" sz="1800"/>
              <a:pPr eaLnBrk="1" hangingPunct="1">
                <a:spcBef>
                  <a:spcPct val="0"/>
                </a:spcBef>
                <a:buClrTx/>
                <a:buSzTx/>
                <a:buFontTx/>
                <a:buNone/>
              </a:pPr>
              <a:t>17</a:t>
            </a:fld>
            <a:endParaRPr lang="en-US" altLang="en-US" sz="18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t>Fundamentals of Futures and Options Markets, 9th Ed, Ch 20, Copyright © John C. Hull 2016</a:t>
            </a:r>
            <a:endParaRPr lang="en-US" altLang="en-US" sz="1400" i="0"/>
          </a:p>
        </p:txBody>
      </p:sp>
      <p:sp>
        <p:nvSpPr>
          <p:cNvPr id="30723" name="Rectangle 2"/>
          <p:cNvSpPr>
            <a:spLocks noGrp="1" noChangeArrowheads="1"/>
          </p:cNvSpPr>
          <p:nvPr>
            <p:ph type="title"/>
          </p:nvPr>
        </p:nvSpPr>
        <p:spPr>
          <a:noFill/>
        </p:spPr>
        <p:txBody>
          <a:bodyPr lIns="92075" tIns="46038" rIns="92075" bIns="46038" anchor="ctr"/>
          <a:lstStyle/>
          <a:p>
            <a:pPr eaLnBrk="1" hangingPunct="1"/>
            <a:r>
              <a:rPr lang="en-US" altLang="en-US" smtClean="0"/>
              <a:t>Microsoft Example</a:t>
            </a:r>
          </a:p>
        </p:txBody>
      </p:sp>
      <p:sp>
        <p:nvSpPr>
          <p:cNvPr id="30724" name="Rectangle 3"/>
          <p:cNvSpPr>
            <a:spLocks noGrp="1" noChangeArrowheads="1"/>
          </p:cNvSpPr>
          <p:nvPr>
            <p:ph type="body" idx="1"/>
          </p:nvPr>
        </p:nvSpPr>
        <p:spPr>
          <a:noFill/>
        </p:spPr>
        <p:txBody>
          <a:bodyPr lIns="92075" tIns="46038" rIns="92075" bIns="46038"/>
          <a:lstStyle/>
          <a:p>
            <a:pPr eaLnBrk="1" hangingPunct="1"/>
            <a:r>
              <a:rPr lang="en-US" altLang="en-US" smtClean="0"/>
              <a:t>We have a position worth $10 million in Microsoft shares</a:t>
            </a:r>
          </a:p>
          <a:p>
            <a:pPr eaLnBrk="1" hangingPunct="1"/>
            <a:r>
              <a:rPr lang="en-US" altLang="en-US" smtClean="0"/>
              <a:t>The volatility of Microsoft is 2% per day (about 32% per year)</a:t>
            </a:r>
          </a:p>
          <a:p>
            <a:pPr eaLnBrk="1" hangingPunct="1"/>
            <a:r>
              <a:rPr lang="en-US" altLang="en-US" smtClean="0"/>
              <a:t>We use </a:t>
            </a:r>
            <a:r>
              <a:rPr lang="en-US" altLang="en-US" i="1" smtClean="0">
                <a:latin typeface="Times New Roman" panose="02020603050405020304" pitchFamily="18" charset="0"/>
              </a:rPr>
              <a:t>N </a:t>
            </a:r>
            <a:r>
              <a:rPr lang="en-US" altLang="en-US" smtClean="0"/>
              <a:t>= 10 and </a:t>
            </a:r>
            <a:r>
              <a:rPr lang="en-US" altLang="en-US" i="1" smtClean="0">
                <a:latin typeface="Times New Roman" panose="02020603050405020304" pitchFamily="18" charset="0"/>
              </a:rPr>
              <a:t>X </a:t>
            </a:r>
            <a:r>
              <a:rPr lang="en-US" altLang="en-US" smtClean="0"/>
              <a:t>= 99</a:t>
            </a:r>
          </a:p>
        </p:txBody>
      </p:sp>
      <p:sp>
        <p:nvSpPr>
          <p:cNvPr id="3072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4E0EDFD3-0461-4F98-8DD7-F571060AEEA0}" type="slidenum">
              <a:rPr lang="en-US" altLang="en-US" sz="1800"/>
              <a:pPr eaLnBrk="1" hangingPunct="1">
                <a:spcBef>
                  <a:spcPct val="0"/>
                </a:spcBef>
                <a:buClrTx/>
                <a:buSzTx/>
                <a:buFontTx/>
                <a:buNone/>
              </a:pPr>
              <a:t>18</a:t>
            </a:fld>
            <a:endParaRPr lang="en-US" altLang="en-US" sz="18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t>Fundamentals of Futures and Options Markets, 9th Ed, Ch 20, Copyright © John C. Hull 2016</a:t>
            </a:r>
            <a:endParaRPr lang="en-US" altLang="en-US" sz="1400" i="0"/>
          </a:p>
        </p:txBody>
      </p:sp>
      <p:sp>
        <p:nvSpPr>
          <p:cNvPr id="31747" name="Rectangle 2"/>
          <p:cNvSpPr>
            <a:spLocks noGrp="1" noChangeArrowheads="1"/>
          </p:cNvSpPr>
          <p:nvPr>
            <p:ph type="title"/>
          </p:nvPr>
        </p:nvSpPr>
        <p:spPr>
          <a:noFill/>
        </p:spPr>
        <p:txBody>
          <a:bodyPr lIns="92075" tIns="46038" rIns="92075" bIns="46038" anchor="ctr"/>
          <a:lstStyle/>
          <a:p>
            <a:pPr eaLnBrk="1" hangingPunct="1"/>
            <a:r>
              <a:rPr lang="en-US" altLang="en-US" smtClean="0"/>
              <a:t>Microsoft Example continued</a:t>
            </a:r>
          </a:p>
        </p:txBody>
      </p:sp>
      <p:sp>
        <p:nvSpPr>
          <p:cNvPr id="31748" name="Rectangle 3"/>
          <p:cNvSpPr>
            <a:spLocks noGrp="1" noChangeArrowheads="1"/>
          </p:cNvSpPr>
          <p:nvPr>
            <p:ph type="body" idx="1"/>
          </p:nvPr>
        </p:nvSpPr>
        <p:spPr>
          <a:noFill/>
        </p:spPr>
        <p:txBody>
          <a:bodyPr lIns="92075" tIns="46038" rIns="92075" bIns="46038"/>
          <a:lstStyle/>
          <a:p>
            <a:pPr eaLnBrk="1" hangingPunct="1"/>
            <a:r>
              <a:rPr lang="en-US" altLang="en-US" smtClean="0"/>
              <a:t>The standard deviation of the change in the portfolio in 1 day is $200,000</a:t>
            </a:r>
          </a:p>
          <a:p>
            <a:pPr eaLnBrk="1" hangingPunct="1"/>
            <a:r>
              <a:rPr lang="en-US" altLang="en-US" smtClean="0"/>
              <a:t>Assuming a normal distribution with mean zero, the one-day 99% VaR is</a:t>
            </a:r>
          </a:p>
          <a:p>
            <a:pPr algn="ctr" eaLnBrk="1" hangingPunct="1">
              <a:buFont typeface="Wingdings" panose="05000000000000000000" pitchFamily="2" charset="2"/>
              <a:buNone/>
            </a:pPr>
            <a:endParaRPr lang="en-US" altLang="en-US" smtClean="0"/>
          </a:p>
        </p:txBody>
      </p:sp>
      <p:graphicFrame>
        <p:nvGraphicFramePr>
          <p:cNvPr id="31749" name="Object 4"/>
          <p:cNvGraphicFramePr>
            <a:graphicFrameLocks/>
          </p:cNvGraphicFramePr>
          <p:nvPr/>
        </p:nvGraphicFramePr>
        <p:xfrm>
          <a:off x="1835150" y="4076700"/>
          <a:ext cx="5689600" cy="600075"/>
        </p:xfrm>
        <a:graphic>
          <a:graphicData uri="http://schemas.openxmlformats.org/presentationml/2006/ole">
            <mc:AlternateContent xmlns:mc="http://schemas.openxmlformats.org/markup-compatibility/2006">
              <mc:Choice xmlns:v="urn:schemas-microsoft-com:vml" Requires="v">
                <p:oleObj spid="_x0000_s31751" name="Equation" r:id="rId4" imgW="1752480" imgH="203040" progId="Equation.DSMT4">
                  <p:embed/>
                </p:oleObj>
              </mc:Choice>
              <mc:Fallback>
                <p:oleObj name="Equation" r:id="rId4" imgW="1752480" imgH="203040" progId="Equation.DSMT4">
                  <p:embed/>
                  <p:pic>
                    <p:nvPicPr>
                      <p:cNvPr id="0"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35150" y="4076700"/>
                        <a:ext cx="56896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1750"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34B57FC0-99C4-4D1F-9BCF-E0A26970D718}" type="slidenum">
              <a:rPr lang="en-US" altLang="en-US" sz="1800"/>
              <a:pPr eaLnBrk="1" hangingPunct="1">
                <a:spcBef>
                  <a:spcPct val="0"/>
                </a:spcBef>
                <a:buClrTx/>
                <a:buSzTx/>
                <a:buFontTx/>
                <a:buNone/>
              </a:pPr>
              <a:t>19</a:t>
            </a:fld>
            <a:endParaRPr lang="en-US" altLang="en-US" sz="18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t>Fundamentals of Futures and Options Markets, 9th Ed, Ch 20, Copyright © John C. Hull 2016</a:t>
            </a:r>
            <a:endParaRPr lang="en-US" altLang="en-US" sz="1400" i="0"/>
          </a:p>
        </p:txBody>
      </p:sp>
      <p:sp>
        <p:nvSpPr>
          <p:cNvPr id="32771" name="Rectangle 2"/>
          <p:cNvSpPr>
            <a:spLocks noGrp="1" noChangeArrowheads="1"/>
          </p:cNvSpPr>
          <p:nvPr>
            <p:ph type="title"/>
          </p:nvPr>
        </p:nvSpPr>
        <p:spPr>
          <a:noFill/>
        </p:spPr>
        <p:txBody>
          <a:bodyPr lIns="92075" tIns="46038" rIns="92075" bIns="46038" anchor="ctr"/>
          <a:lstStyle/>
          <a:p>
            <a:pPr eaLnBrk="1" hangingPunct="1"/>
            <a:r>
              <a:rPr lang="en-US" altLang="en-US" smtClean="0"/>
              <a:t>Microsoft Example continued</a:t>
            </a:r>
          </a:p>
        </p:txBody>
      </p:sp>
      <p:sp>
        <p:nvSpPr>
          <p:cNvPr id="32772" name="Rectangle 3"/>
          <p:cNvSpPr>
            <a:spLocks noGrp="1" noChangeArrowheads="1"/>
          </p:cNvSpPr>
          <p:nvPr>
            <p:ph type="body" idx="1"/>
          </p:nvPr>
        </p:nvSpPr>
        <p:spPr>
          <a:noFill/>
        </p:spPr>
        <p:txBody>
          <a:bodyPr lIns="92075" tIns="46038" rIns="92075" bIns="46038"/>
          <a:lstStyle/>
          <a:p>
            <a:pPr eaLnBrk="1" hangingPunct="1"/>
            <a:r>
              <a:rPr lang="en-US" altLang="en-US" smtClean="0"/>
              <a:t>The 99% 10-Day VaR is</a:t>
            </a:r>
          </a:p>
        </p:txBody>
      </p:sp>
      <p:graphicFrame>
        <p:nvGraphicFramePr>
          <p:cNvPr id="32773" name="Object 4"/>
          <p:cNvGraphicFramePr>
            <a:graphicFrameLocks/>
          </p:cNvGraphicFramePr>
          <p:nvPr/>
        </p:nvGraphicFramePr>
        <p:xfrm>
          <a:off x="1763713" y="2852738"/>
          <a:ext cx="4792662" cy="674687"/>
        </p:xfrm>
        <a:graphic>
          <a:graphicData uri="http://schemas.openxmlformats.org/presentationml/2006/ole">
            <mc:AlternateContent xmlns:mc="http://schemas.openxmlformats.org/markup-compatibility/2006">
              <mc:Choice xmlns:v="urn:schemas-microsoft-com:vml" Requires="v">
                <p:oleObj spid="_x0000_s32775" name="Equation" r:id="rId4" imgW="1765080" imgH="241200" progId="Equation.DSMT4">
                  <p:embed/>
                </p:oleObj>
              </mc:Choice>
              <mc:Fallback>
                <p:oleObj name="Equation" r:id="rId4" imgW="1765080" imgH="241200" progId="Equation.DSMT4">
                  <p:embed/>
                  <p:pic>
                    <p:nvPicPr>
                      <p:cNvPr id="0"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63713" y="2852738"/>
                        <a:ext cx="4792662" cy="674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2774"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520ACECA-CF81-4B36-8F6A-C24C4873FE0E}" type="slidenum">
              <a:rPr lang="en-US" altLang="en-US" sz="1800"/>
              <a:pPr eaLnBrk="1" hangingPunct="1">
                <a:spcBef>
                  <a:spcPct val="0"/>
                </a:spcBef>
                <a:buClrTx/>
                <a:buSzTx/>
                <a:buFontTx/>
                <a:buNone/>
              </a:pPr>
              <a:t>20</a:t>
            </a:fld>
            <a:endParaRPr lang="en-US" altLang="en-US" sz="18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t>Fundamentals of Futures and Options Markets, 9th Ed, Ch 20, Copyright © John C. Hull 2016</a:t>
            </a:r>
            <a:endParaRPr lang="en-US" altLang="en-US" sz="1400" i="0"/>
          </a:p>
        </p:txBody>
      </p:sp>
      <p:sp>
        <p:nvSpPr>
          <p:cNvPr id="33795" name="Rectangle 2"/>
          <p:cNvSpPr>
            <a:spLocks noGrp="1" noChangeArrowheads="1"/>
          </p:cNvSpPr>
          <p:nvPr>
            <p:ph type="title"/>
          </p:nvPr>
        </p:nvSpPr>
        <p:spPr>
          <a:noFill/>
        </p:spPr>
        <p:txBody>
          <a:bodyPr lIns="92075" tIns="46038" rIns="92075" bIns="46038" anchor="ctr"/>
          <a:lstStyle/>
          <a:p>
            <a:pPr eaLnBrk="1" hangingPunct="1"/>
            <a:r>
              <a:rPr lang="en-US" altLang="en-US" smtClean="0"/>
              <a:t>AT&amp;T Example</a:t>
            </a:r>
          </a:p>
        </p:txBody>
      </p:sp>
      <p:sp>
        <p:nvSpPr>
          <p:cNvPr id="33796" name="Rectangle 3"/>
          <p:cNvSpPr>
            <a:spLocks noGrp="1" noChangeArrowheads="1"/>
          </p:cNvSpPr>
          <p:nvPr>
            <p:ph type="body" idx="1"/>
          </p:nvPr>
        </p:nvSpPr>
        <p:spPr>
          <a:xfrm>
            <a:off x="685800" y="1557338"/>
            <a:ext cx="7772400" cy="4248150"/>
          </a:xfrm>
          <a:noFill/>
        </p:spPr>
        <p:txBody>
          <a:bodyPr lIns="92075" tIns="46038" rIns="92075" bIns="46038"/>
          <a:lstStyle/>
          <a:p>
            <a:pPr eaLnBrk="1" hangingPunct="1"/>
            <a:r>
              <a:rPr lang="en-US" altLang="en-US" smtClean="0"/>
              <a:t>Consider a position of $5 million in AT&amp;T</a:t>
            </a:r>
          </a:p>
          <a:p>
            <a:pPr eaLnBrk="1" hangingPunct="1"/>
            <a:r>
              <a:rPr lang="en-US" altLang="en-US" smtClean="0"/>
              <a:t>The daily volatility of AT&amp;T is 1% (approx 16% per year)</a:t>
            </a:r>
          </a:p>
          <a:p>
            <a:pPr eaLnBrk="1" hangingPunct="1"/>
            <a:r>
              <a:rPr lang="en-US" altLang="en-US" smtClean="0"/>
              <a:t>The 99% 1-day VaR</a:t>
            </a:r>
          </a:p>
          <a:p>
            <a:pPr eaLnBrk="1" hangingPunct="1">
              <a:buFont typeface="Wingdings" panose="05000000000000000000" pitchFamily="2" charset="2"/>
              <a:buNone/>
            </a:pPr>
            <a:endParaRPr lang="en-US" altLang="en-US" smtClean="0"/>
          </a:p>
          <a:p>
            <a:pPr eaLnBrk="1" hangingPunct="1"/>
            <a:r>
              <a:rPr lang="en-US" altLang="en-US" smtClean="0"/>
              <a:t>The 99% 10-day VaR is</a:t>
            </a:r>
          </a:p>
          <a:p>
            <a:pPr algn="ctr" eaLnBrk="1" hangingPunct="1">
              <a:buFont typeface="Wingdings" panose="05000000000000000000" pitchFamily="2" charset="2"/>
              <a:buNone/>
            </a:pPr>
            <a:endParaRPr lang="en-US" altLang="en-US" smtClean="0"/>
          </a:p>
          <a:p>
            <a:pPr algn="ctr" eaLnBrk="1" hangingPunct="1">
              <a:buFont typeface="Wingdings" panose="05000000000000000000" pitchFamily="2" charset="2"/>
              <a:buNone/>
            </a:pPr>
            <a:endParaRPr lang="en-US" altLang="en-US" smtClean="0"/>
          </a:p>
        </p:txBody>
      </p:sp>
      <p:graphicFrame>
        <p:nvGraphicFramePr>
          <p:cNvPr id="33797" name="Object 4"/>
          <p:cNvGraphicFramePr>
            <a:graphicFrameLocks/>
          </p:cNvGraphicFramePr>
          <p:nvPr/>
        </p:nvGraphicFramePr>
        <p:xfrm>
          <a:off x="2324100" y="4327525"/>
          <a:ext cx="4178300" cy="569913"/>
        </p:xfrm>
        <a:graphic>
          <a:graphicData uri="http://schemas.openxmlformats.org/presentationml/2006/ole">
            <mc:AlternateContent xmlns:mc="http://schemas.openxmlformats.org/markup-compatibility/2006">
              <mc:Choice xmlns:v="urn:schemas-microsoft-com:vml" Requires="v">
                <p:oleObj spid="_x0000_s33800" name="Equation" r:id="rId4" imgW="1663560" imgH="203040" progId="Equation.DSMT4">
                  <p:embed/>
                </p:oleObj>
              </mc:Choice>
              <mc:Fallback>
                <p:oleObj name="Equation" r:id="rId4" imgW="1663560" imgH="203040" progId="Equation.DSMT4">
                  <p:embed/>
                  <p:pic>
                    <p:nvPicPr>
                      <p:cNvPr id="0"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24100" y="4327525"/>
                        <a:ext cx="4178300" cy="569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3798" name="Object 5"/>
          <p:cNvGraphicFramePr>
            <a:graphicFrameLocks/>
          </p:cNvGraphicFramePr>
          <p:nvPr/>
        </p:nvGraphicFramePr>
        <p:xfrm>
          <a:off x="2613025" y="5446713"/>
          <a:ext cx="4068763" cy="674687"/>
        </p:xfrm>
        <a:graphic>
          <a:graphicData uri="http://schemas.openxmlformats.org/presentationml/2006/ole">
            <mc:AlternateContent xmlns:mc="http://schemas.openxmlformats.org/markup-compatibility/2006">
              <mc:Choice xmlns:v="urn:schemas-microsoft-com:vml" Requires="v">
                <p:oleObj spid="_x0000_s33801" name="Equation" r:id="rId6" imgW="1638000" imgH="241200" progId="Equation.DSMT4">
                  <p:embed/>
                </p:oleObj>
              </mc:Choice>
              <mc:Fallback>
                <p:oleObj name="Equation" r:id="rId6" imgW="1638000" imgH="241200" progId="Equation.DSMT4">
                  <p:embed/>
                  <p:pic>
                    <p:nvPicPr>
                      <p:cNvPr id="0" name="Object 5"/>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13025" y="5446713"/>
                        <a:ext cx="4068763" cy="674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3799"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50DC830B-B0BC-44D4-A37A-0005B9608F03}" type="slidenum">
              <a:rPr lang="en-US" altLang="en-US" sz="1800"/>
              <a:pPr eaLnBrk="1" hangingPunct="1">
                <a:spcBef>
                  <a:spcPct val="0"/>
                </a:spcBef>
                <a:buClrTx/>
                <a:buSzTx/>
                <a:buFontTx/>
                <a:buNone/>
              </a:pPr>
              <a:t>21</a:t>
            </a:fld>
            <a:endParaRPr lang="en-US" altLang="en-US" sz="18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lIns="92075" tIns="46038" rIns="92075" bIns="46038"/>
          <a:lstStyle/>
          <a:p>
            <a:pPr eaLnBrk="1" fontAlgn="auto" hangingPunct="1">
              <a:spcAft>
                <a:spcPts val="0"/>
              </a:spcAft>
              <a:defRPr/>
            </a:pPr>
            <a:r>
              <a:rPr lang="en-US">
                <a:solidFill>
                  <a:schemeClr val="tx2">
                    <a:satMod val="130000"/>
                  </a:schemeClr>
                </a:solidFill>
              </a:rPr>
              <a:t>Portfolio</a:t>
            </a:r>
          </a:p>
        </p:txBody>
      </p:sp>
      <p:sp>
        <p:nvSpPr>
          <p:cNvPr id="34819" name="Rectangle 3"/>
          <p:cNvSpPr>
            <a:spLocks noGrp="1" noChangeArrowheads="1"/>
          </p:cNvSpPr>
          <p:nvPr>
            <p:ph idx="1"/>
          </p:nvPr>
        </p:nvSpPr>
        <p:spPr/>
        <p:txBody>
          <a:bodyPr lIns="92075" tIns="46038" rIns="92075" bIns="46038"/>
          <a:lstStyle/>
          <a:p>
            <a:pPr eaLnBrk="1" hangingPunct="1"/>
            <a:r>
              <a:rPr lang="en-US" altLang="en-US" smtClean="0">
                <a:cs typeface="Arial" panose="020B0604020202020204" pitchFamily="34" charset="0"/>
              </a:rPr>
              <a:t>Now consider a portfolio consisting of both Microsoft and AT&amp;T</a:t>
            </a:r>
          </a:p>
          <a:p>
            <a:pPr eaLnBrk="1" hangingPunct="1"/>
            <a:r>
              <a:rPr lang="en-US" altLang="en-US" smtClean="0">
                <a:cs typeface="Arial" panose="020B0604020202020204" pitchFamily="34" charset="0"/>
              </a:rPr>
              <a:t>Assume that the returns of AT&amp;T and Microsoft are bivariate normal and that the correlation between the returns is 0.3</a:t>
            </a:r>
          </a:p>
        </p:txBody>
      </p:sp>
      <p:sp>
        <p:nvSpPr>
          <p:cNvPr id="3482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cs typeface="Arial" panose="020B0604020202020204" pitchFamily="34" charset="0"/>
              </a:rPr>
              <a:t>Fundamentals of Futures and Options Markets, 9th Ed, Ch 20, Copyright © John C. Hull 2016</a:t>
            </a:r>
            <a:endParaRPr lang="en-US" altLang="en-US" sz="1400">
              <a:cs typeface="Arial" panose="020B0604020202020204" pitchFamily="34" charset="0"/>
            </a:endParaRPr>
          </a:p>
        </p:txBody>
      </p:sp>
      <p:sp>
        <p:nvSpPr>
          <p:cNvPr id="3482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CFA647A3-2B5C-4FFD-9E5A-ABF035A84BD1}" type="slidenum">
              <a:rPr lang="en-US" altLang="en-US" sz="1800">
                <a:cs typeface="Arial" panose="020B0604020202020204" pitchFamily="34" charset="0"/>
              </a:rPr>
              <a:pPr eaLnBrk="1" hangingPunct="1">
                <a:spcBef>
                  <a:spcPct val="0"/>
                </a:spcBef>
                <a:buClrTx/>
                <a:buSzTx/>
                <a:buFontTx/>
                <a:buNone/>
              </a:pPr>
              <a:t>22</a:t>
            </a:fld>
            <a:endParaRPr lang="en-US" altLang="en-US" sz="1800">
              <a:cs typeface="Arial" panose="020B0604020202020204" pitchFamily="34"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t>Fundamentals of Futures and Options Markets, 9th Ed, Ch 20, Copyright © John C. Hull 2016</a:t>
            </a:r>
            <a:endParaRPr lang="en-US" altLang="en-US" sz="1400" i="0"/>
          </a:p>
        </p:txBody>
      </p:sp>
      <p:sp>
        <p:nvSpPr>
          <p:cNvPr id="35843" name="Rectangle 2"/>
          <p:cNvSpPr>
            <a:spLocks noGrp="1" noChangeArrowheads="1"/>
          </p:cNvSpPr>
          <p:nvPr>
            <p:ph type="title"/>
          </p:nvPr>
        </p:nvSpPr>
        <p:spPr>
          <a:noFill/>
        </p:spPr>
        <p:txBody>
          <a:bodyPr lIns="92075" tIns="46038" rIns="92075" bIns="46038" anchor="ctr"/>
          <a:lstStyle/>
          <a:p>
            <a:pPr eaLnBrk="1" hangingPunct="1"/>
            <a:r>
              <a:rPr lang="en-US" altLang="en-US" smtClean="0"/>
              <a:t>S.D. of Portfolio</a:t>
            </a:r>
          </a:p>
        </p:txBody>
      </p:sp>
      <p:sp>
        <p:nvSpPr>
          <p:cNvPr id="35844" name="Rectangle 3"/>
          <p:cNvSpPr>
            <a:spLocks noGrp="1" noChangeArrowheads="1"/>
          </p:cNvSpPr>
          <p:nvPr>
            <p:ph type="body" idx="1"/>
          </p:nvPr>
        </p:nvSpPr>
        <p:spPr>
          <a:noFill/>
        </p:spPr>
        <p:txBody>
          <a:bodyPr lIns="92075" tIns="46038" rIns="92075" bIns="46038"/>
          <a:lstStyle/>
          <a:p>
            <a:pPr eaLnBrk="1" hangingPunct="1"/>
            <a:r>
              <a:rPr lang="en-US" altLang="en-US" smtClean="0"/>
              <a:t>A standard result in statistics states that</a:t>
            </a:r>
          </a:p>
          <a:p>
            <a:pPr eaLnBrk="1" hangingPunct="1">
              <a:buFont typeface="Wingdings" panose="05000000000000000000" pitchFamily="2" charset="2"/>
              <a:buNone/>
            </a:pPr>
            <a:endParaRPr lang="en-US" altLang="en-US" smtClean="0"/>
          </a:p>
          <a:p>
            <a:pPr eaLnBrk="1" hangingPunct="1">
              <a:buFont typeface="Wingdings" panose="05000000000000000000" pitchFamily="2" charset="2"/>
              <a:buNone/>
            </a:pPr>
            <a:endParaRPr lang="en-US" altLang="en-US" smtClean="0"/>
          </a:p>
          <a:p>
            <a:pPr eaLnBrk="1" hangingPunct="1"/>
            <a:r>
              <a:rPr lang="en-US" altLang="en-US" smtClean="0"/>
              <a:t>In this case </a:t>
            </a:r>
            <a:r>
              <a:rPr lang="en-US" altLang="en-US" smtClean="0">
                <a:latin typeface="Symbol" panose="05050102010706020507" pitchFamily="18" charset="2"/>
              </a:rPr>
              <a:t>s</a:t>
            </a:r>
            <a:r>
              <a:rPr lang="en-US" altLang="en-US" i="1" baseline="-25000" smtClean="0">
                <a:latin typeface="Times New Roman" panose="02020603050405020304" pitchFamily="18" charset="0"/>
              </a:rPr>
              <a:t>X</a:t>
            </a:r>
            <a:r>
              <a:rPr lang="en-US" altLang="en-US" smtClean="0"/>
              <a:t> = 200,000 and</a:t>
            </a:r>
            <a:r>
              <a:rPr lang="en-US" altLang="en-US" smtClean="0">
                <a:latin typeface="Symbol" panose="05050102010706020507" pitchFamily="18" charset="2"/>
              </a:rPr>
              <a:t> s</a:t>
            </a:r>
            <a:r>
              <a:rPr lang="en-US" altLang="en-US" i="1" baseline="-25000" smtClean="0">
                <a:latin typeface="Times New Roman" panose="02020603050405020304" pitchFamily="18" charset="0"/>
              </a:rPr>
              <a:t>Y</a:t>
            </a:r>
            <a:r>
              <a:rPr lang="en-US" altLang="en-US" baseline="-25000" smtClean="0"/>
              <a:t> </a:t>
            </a:r>
            <a:r>
              <a:rPr lang="en-US" altLang="en-US" smtClean="0"/>
              <a:t>= 50,000 and </a:t>
            </a:r>
            <a:r>
              <a:rPr lang="en-US" altLang="en-US" smtClean="0">
                <a:latin typeface="Symbol" panose="05050102010706020507" pitchFamily="18" charset="2"/>
              </a:rPr>
              <a:t>r</a:t>
            </a:r>
            <a:r>
              <a:rPr lang="en-US" altLang="en-US" smtClean="0"/>
              <a:t> = 0.3. The standard deviation of the change in the portfolio value in one day is therefore $220,200</a:t>
            </a:r>
          </a:p>
          <a:p>
            <a:pPr eaLnBrk="1" hangingPunct="1"/>
            <a:endParaRPr lang="en-US" altLang="en-US" smtClean="0"/>
          </a:p>
          <a:p>
            <a:pPr eaLnBrk="1" hangingPunct="1">
              <a:buFont typeface="Wingdings" panose="05000000000000000000" pitchFamily="2" charset="2"/>
              <a:buNone/>
            </a:pPr>
            <a:endParaRPr lang="en-US" altLang="en-US" smtClean="0"/>
          </a:p>
          <a:p>
            <a:pPr eaLnBrk="1" hangingPunct="1">
              <a:buFont typeface="Wingdings" panose="05000000000000000000" pitchFamily="2" charset="2"/>
              <a:buNone/>
            </a:pPr>
            <a:endParaRPr lang="en-US" altLang="en-US" smtClean="0"/>
          </a:p>
          <a:p>
            <a:pPr algn="ctr" eaLnBrk="1" hangingPunct="1">
              <a:buFont typeface="Wingdings" panose="05000000000000000000" pitchFamily="2" charset="2"/>
              <a:buNone/>
            </a:pPr>
            <a:endParaRPr lang="en-US" altLang="en-US" smtClean="0"/>
          </a:p>
          <a:p>
            <a:pPr algn="ctr" eaLnBrk="1" hangingPunct="1">
              <a:buFont typeface="Wingdings" panose="05000000000000000000" pitchFamily="2" charset="2"/>
              <a:buNone/>
            </a:pPr>
            <a:endParaRPr lang="en-US" altLang="en-US" smtClean="0"/>
          </a:p>
        </p:txBody>
      </p:sp>
      <p:graphicFrame>
        <p:nvGraphicFramePr>
          <p:cNvPr id="35845" name="Object 4"/>
          <p:cNvGraphicFramePr>
            <a:graphicFrameLocks/>
          </p:cNvGraphicFramePr>
          <p:nvPr/>
        </p:nvGraphicFramePr>
        <p:xfrm>
          <a:off x="2481263" y="2681288"/>
          <a:ext cx="4103687" cy="657225"/>
        </p:xfrm>
        <a:graphic>
          <a:graphicData uri="http://schemas.openxmlformats.org/presentationml/2006/ole">
            <mc:AlternateContent xmlns:mc="http://schemas.openxmlformats.org/markup-compatibility/2006">
              <mc:Choice xmlns:v="urn:schemas-microsoft-com:vml" Requires="v">
                <p:oleObj spid="_x0000_s35847" name="Equation" r:id="rId4" imgW="1739900" imgH="292100" progId="Equation.3">
                  <p:embed/>
                </p:oleObj>
              </mc:Choice>
              <mc:Fallback>
                <p:oleObj name="Equation" r:id="rId4" imgW="1739900" imgH="292100" progId="Equation.3">
                  <p:embed/>
                  <p:pic>
                    <p:nvPicPr>
                      <p:cNvPr id="0"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81263" y="2681288"/>
                        <a:ext cx="4103687"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5846"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E646E469-AAB7-4EFF-8F5C-7CD919B04E9F}" type="slidenum">
              <a:rPr lang="en-US" altLang="en-US" sz="1800"/>
              <a:pPr eaLnBrk="1" hangingPunct="1">
                <a:spcBef>
                  <a:spcPct val="0"/>
                </a:spcBef>
                <a:buClrTx/>
                <a:buSzTx/>
                <a:buFontTx/>
                <a:buNone/>
              </a:pPr>
              <a:t>23</a:t>
            </a:fld>
            <a:endParaRPr lang="en-US" altLang="en-US" sz="180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t>Fundamentals of Futures and Options Markets, 9th Ed, Ch 20, Copyright © John C. Hull 2016</a:t>
            </a:r>
            <a:endParaRPr lang="en-US" altLang="en-US" sz="1400" i="0"/>
          </a:p>
        </p:txBody>
      </p:sp>
      <p:sp>
        <p:nvSpPr>
          <p:cNvPr id="36867" name="Rectangle 2"/>
          <p:cNvSpPr>
            <a:spLocks noGrp="1" noChangeArrowheads="1"/>
          </p:cNvSpPr>
          <p:nvPr>
            <p:ph type="title"/>
          </p:nvPr>
        </p:nvSpPr>
        <p:spPr>
          <a:noFill/>
        </p:spPr>
        <p:txBody>
          <a:bodyPr lIns="92075" tIns="46038" rIns="92075" bIns="46038" anchor="ctr"/>
          <a:lstStyle/>
          <a:p>
            <a:pPr eaLnBrk="1" hangingPunct="1"/>
            <a:r>
              <a:rPr lang="en-US" altLang="en-US" smtClean="0"/>
              <a:t>VaR for Portfolio</a:t>
            </a:r>
          </a:p>
        </p:txBody>
      </p:sp>
      <p:sp>
        <p:nvSpPr>
          <p:cNvPr id="36868" name="Rectangle 3"/>
          <p:cNvSpPr>
            <a:spLocks noGrp="1" noChangeArrowheads="1"/>
          </p:cNvSpPr>
          <p:nvPr>
            <p:ph type="body" idx="1"/>
          </p:nvPr>
        </p:nvSpPr>
        <p:spPr>
          <a:xfrm>
            <a:off x="685800" y="1981200"/>
            <a:ext cx="8153400" cy="4114800"/>
          </a:xfrm>
          <a:noFill/>
        </p:spPr>
        <p:txBody>
          <a:bodyPr lIns="92075" tIns="46038" rIns="92075" bIns="46038"/>
          <a:lstStyle/>
          <a:p>
            <a:pPr eaLnBrk="1" hangingPunct="1"/>
            <a:r>
              <a:rPr lang="en-US" altLang="en-US" smtClean="0"/>
              <a:t>The 10-day 99% VaR for the portfolio is</a:t>
            </a:r>
          </a:p>
          <a:p>
            <a:pPr eaLnBrk="1" hangingPunct="1">
              <a:buFont typeface="Wingdings" panose="05000000000000000000" pitchFamily="2" charset="2"/>
              <a:buNone/>
            </a:pPr>
            <a:endParaRPr lang="en-US" altLang="en-US" smtClean="0"/>
          </a:p>
          <a:p>
            <a:pPr eaLnBrk="1" hangingPunct="1"/>
            <a:r>
              <a:rPr lang="en-US" altLang="en-US" smtClean="0"/>
              <a:t>The benefits of diversification are</a:t>
            </a:r>
          </a:p>
          <a:p>
            <a:pPr algn="ctr" eaLnBrk="1" hangingPunct="1">
              <a:buFont typeface="Wingdings" panose="05000000000000000000" pitchFamily="2" charset="2"/>
              <a:buNone/>
            </a:pPr>
            <a:r>
              <a:rPr lang="en-US" altLang="en-US" smtClean="0"/>
              <a:t>(1,471,300+367,800)</a:t>
            </a:r>
            <a:r>
              <a:rPr lang="en-US" altLang="en-US" smtClean="0">
                <a:cs typeface="Arial" panose="020B0604020202020204" pitchFamily="34" charset="0"/>
              </a:rPr>
              <a:t>–</a:t>
            </a:r>
            <a:r>
              <a:rPr lang="en-US" altLang="en-US" smtClean="0"/>
              <a:t>1,620,100=$219,000</a:t>
            </a:r>
          </a:p>
          <a:p>
            <a:pPr eaLnBrk="1" hangingPunct="1"/>
            <a:r>
              <a:rPr lang="en-US" altLang="en-US" smtClean="0"/>
              <a:t>What is the incremental effect of the AT&amp;T holding on VaR?</a:t>
            </a:r>
          </a:p>
        </p:txBody>
      </p:sp>
      <p:graphicFrame>
        <p:nvGraphicFramePr>
          <p:cNvPr id="36869" name="Object 4"/>
          <p:cNvGraphicFramePr>
            <a:graphicFrameLocks/>
          </p:cNvGraphicFramePr>
          <p:nvPr/>
        </p:nvGraphicFramePr>
        <p:xfrm>
          <a:off x="1820863" y="2606675"/>
          <a:ext cx="5846762" cy="579438"/>
        </p:xfrm>
        <a:graphic>
          <a:graphicData uri="http://schemas.openxmlformats.org/presentationml/2006/ole">
            <mc:AlternateContent xmlns:mc="http://schemas.openxmlformats.org/markup-compatibility/2006">
              <mc:Choice xmlns:v="urn:schemas-microsoft-com:vml" Requires="v">
                <p:oleObj spid="_x0000_s36871" name="Equation" r:id="rId4" imgW="2171700" imgH="241300" progId="Equation.3">
                  <p:embed/>
                </p:oleObj>
              </mc:Choice>
              <mc:Fallback>
                <p:oleObj name="Equation" r:id="rId4" imgW="2171700" imgH="241300" progId="Equation.3">
                  <p:embed/>
                  <p:pic>
                    <p:nvPicPr>
                      <p:cNvPr id="0"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20863" y="2606675"/>
                        <a:ext cx="584676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6870"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276F1379-67ED-487A-9437-AB6AE039419E}" type="slidenum">
              <a:rPr lang="en-US" altLang="en-US" sz="1800"/>
              <a:pPr eaLnBrk="1" hangingPunct="1">
                <a:spcBef>
                  <a:spcPct val="0"/>
                </a:spcBef>
                <a:buClrTx/>
                <a:buSzTx/>
                <a:buFontTx/>
                <a:buNone/>
              </a:pPr>
              <a:t>24</a:t>
            </a:fld>
            <a:endParaRPr lang="en-US" altLang="en-US" sz="180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a:xfrm>
            <a:off x="468313" y="19050"/>
            <a:ext cx="7543800" cy="1295400"/>
          </a:xfrm>
        </p:spPr>
        <p:txBody>
          <a:bodyPr/>
          <a:lstStyle/>
          <a:p>
            <a:r>
              <a:rPr lang="en-CA" altLang="en-US" smtClean="0"/>
              <a:t>ES for the Model Building Approach</a:t>
            </a:r>
          </a:p>
        </p:txBody>
      </p:sp>
      <p:sp>
        <p:nvSpPr>
          <p:cNvPr id="3" name="Content Placeholder 2"/>
          <p:cNvSpPr>
            <a:spLocks noGrp="1"/>
          </p:cNvSpPr>
          <p:nvPr>
            <p:ph idx="1"/>
          </p:nvPr>
        </p:nvSpPr>
        <p:spPr/>
        <p:txBody>
          <a:bodyPr/>
          <a:lstStyle/>
          <a:p>
            <a:pPr>
              <a:defRPr/>
            </a:pPr>
            <a:r>
              <a:rPr lang="en-CA" sz="2800" dirty="0" smtClean="0"/>
              <a:t>When the loss over the time horizon has a normal distribution with mean </a:t>
            </a:r>
            <a:r>
              <a:rPr lang="en-CA" sz="2800" dirty="0" smtClean="0">
                <a:latin typeface="Symbol" panose="05050102010706020507" pitchFamily="18" charset="2"/>
              </a:rPr>
              <a:t>m</a:t>
            </a:r>
            <a:r>
              <a:rPr lang="en-CA" sz="2800" dirty="0" smtClean="0"/>
              <a:t> and standard deviation </a:t>
            </a:r>
            <a:r>
              <a:rPr lang="en-CA" sz="2800" dirty="0" smtClean="0">
                <a:latin typeface="Symbol" panose="05050102010706020507" pitchFamily="18" charset="2"/>
              </a:rPr>
              <a:t>s, </a:t>
            </a:r>
            <a:r>
              <a:rPr lang="en-CA" sz="2800" dirty="0" smtClean="0"/>
              <a:t>the ES is</a:t>
            </a:r>
          </a:p>
          <a:p>
            <a:pPr>
              <a:defRPr/>
            </a:pPr>
            <a:endParaRPr lang="en-CA" sz="2800" dirty="0" smtClean="0"/>
          </a:p>
          <a:p>
            <a:pPr marL="0" indent="0">
              <a:buFont typeface="Wingdings" panose="05000000000000000000" pitchFamily="2" charset="2"/>
              <a:buNone/>
              <a:defRPr/>
            </a:pPr>
            <a:endParaRPr lang="en-CA" sz="2800" dirty="0" smtClean="0"/>
          </a:p>
          <a:p>
            <a:pPr marL="363538" indent="0">
              <a:buFont typeface="Wingdings" panose="05000000000000000000" pitchFamily="2" charset="2"/>
              <a:buNone/>
              <a:defRPr/>
            </a:pPr>
            <a:r>
              <a:rPr lang="en-CA" sz="2800" dirty="0" smtClean="0"/>
              <a:t>where </a:t>
            </a:r>
            <a:r>
              <a:rPr lang="en-CA" sz="2800" i="1" dirty="0" smtClean="0">
                <a:latin typeface="+mj-lt"/>
              </a:rPr>
              <a:t>X</a:t>
            </a:r>
            <a:r>
              <a:rPr lang="en-CA" sz="2800" dirty="0" smtClean="0"/>
              <a:t> is the confidence level and </a:t>
            </a:r>
            <a:r>
              <a:rPr lang="en-CA" sz="2800" i="1" dirty="0" smtClean="0">
                <a:latin typeface="+mj-lt"/>
              </a:rPr>
              <a:t>Y</a:t>
            </a:r>
            <a:r>
              <a:rPr lang="en-CA" sz="2800" dirty="0" smtClean="0"/>
              <a:t> is the </a:t>
            </a:r>
            <a:r>
              <a:rPr lang="en-CA" sz="2800" i="1" dirty="0" err="1" smtClean="0">
                <a:latin typeface="+mj-lt"/>
              </a:rPr>
              <a:t>X</a:t>
            </a:r>
            <a:r>
              <a:rPr lang="en-CA" sz="2800" dirty="0" err="1" smtClean="0"/>
              <a:t>th</a:t>
            </a:r>
            <a:r>
              <a:rPr lang="en-CA" sz="2800" dirty="0" smtClean="0"/>
              <a:t> percentile of a standard normal distribution</a:t>
            </a:r>
          </a:p>
          <a:p>
            <a:pPr>
              <a:defRPr/>
            </a:pPr>
            <a:r>
              <a:rPr lang="en-CA" sz="2800" dirty="0" smtClean="0"/>
              <a:t>For the Microsoft + AT&amp;T portfolio ES is $1,856,100</a:t>
            </a:r>
          </a:p>
          <a:p>
            <a:pPr>
              <a:defRPr/>
            </a:pPr>
            <a:endParaRPr lang="en-CA" sz="2800" dirty="0"/>
          </a:p>
          <a:p>
            <a:pPr>
              <a:defRPr/>
            </a:pPr>
            <a:endParaRPr lang="en-CA" sz="2800" dirty="0" smtClean="0"/>
          </a:p>
          <a:p>
            <a:pPr marL="363538" indent="0">
              <a:buFont typeface="Wingdings" panose="05000000000000000000" pitchFamily="2" charset="2"/>
              <a:buNone/>
              <a:defRPr/>
            </a:pPr>
            <a:endParaRPr lang="en-CA" sz="2800" dirty="0" smtClean="0"/>
          </a:p>
          <a:p>
            <a:pPr marL="363538" indent="0">
              <a:buFont typeface="Wingdings" panose="05000000000000000000" pitchFamily="2" charset="2"/>
              <a:buNone/>
              <a:defRPr/>
            </a:pPr>
            <a:endParaRPr lang="en-CA" sz="2800" dirty="0" smtClean="0"/>
          </a:p>
          <a:p>
            <a:pPr marL="0" indent="0">
              <a:buFont typeface="Wingdings" panose="05000000000000000000" pitchFamily="2" charset="2"/>
              <a:buNone/>
              <a:defRPr/>
            </a:pPr>
            <a:endParaRPr lang="en-CA" dirty="0" smtClean="0"/>
          </a:p>
          <a:p>
            <a:pPr marL="0" indent="0">
              <a:buFont typeface="Wingdings" panose="05000000000000000000" pitchFamily="2" charset="2"/>
              <a:buNone/>
              <a:defRPr/>
            </a:pPr>
            <a:endParaRPr lang="en-CA" dirty="0">
              <a:latin typeface="Symbol" panose="05050102010706020507" pitchFamily="18" charset="2"/>
            </a:endParaRPr>
          </a:p>
        </p:txBody>
      </p:sp>
      <p:sp>
        <p:nvSpPr>
          <p:cNvPr id="37892"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a:t>Fundamentals of Futures and Options Markets, 9th Ed, Ch 20, Copyright © John C. Hull 2016</a:t>
            </a:r>
            <a:endParaRPr lang="en-US" altLang="en-US" i="0"/>
          </a:p>
        </p:txBody>
      </p:sp>
      <p:sp>
        <p:nvSpPr>
          <p:cNvPr id="37893"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EA82AF1-383E-437B-86A6-BB14D7CB4055}" type="slidenum">
              <a:rPr lang="en-US" altLang="en-US"/>
              <a:pPr eaLnBrk="1" hangingPunct="1"/>
              <a:t>25</a:t>
            </a:fld>
            <a:endParaRPr lang="en-US" altLang="en-US"/>
          </a:p>
        </p:txBody>
      </p:sp>
      <p:graphicFrame>
        <p:nvGraphicFramePr>
          <p:cNvPr id="37894" name="Object 6"/>
          <p:cNvGraphicFramePr>
            <a:graphicFrameLocks noChangeAspect="1"/>
          </p:cNvGraphicFramePr>
          <p:nvPr/>
        </p:nvGraphicFramePr>
        <p:xfrm>
          <a:off x="4514850" y="3340100"/>
          <a:ext cx="114300" cy="177800"/>
        </p:xfrm>
        <a:graphic>
          <a:graphicData uri="http://schemas.openxmlformats.org/presentationml/2006/ole">
            <mc:AlternateContent xmlns:mc="http://schemas.openxmlformats.org/markup-compatibility/2006">
              <mc:Choice xmlns:v="urn:schemas-microsoft-com:vml" Requires="v">
                <p:oleObj spid="_x0000_s37896" name="Equation" r:id="rId3" imgW="114120" imgH="177480" progId="Equation.DSMT4">
                  <p:embed/>
                </p:oleObj>
              </mc:Choice>
              <mc:Fallback>
                <p:oleObj name="Equation" r:id="rId3" imgW="114120" imgH="177480"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40100"/>
                        <a:ext cx="1143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7895" name="Object 7"/>
          <p:cNvGraphicFramePr>
            <a:graphicFrameLocks noChangeAspect="1"/>
          </p:cNvGraphicFramePr>
          <p:nvPr/>
        </p:nvGraphicFramePr>
        <p:xfrm>
          <a:off x="3203575" y="3141663"/>
          <a:ext cx="2625725" cy="866775"/>
        </p:xfrm>
        <a:graphic>
          <a:graphicData uri="http://schemas.openxmlformats.org/presentationml/2006/ole">
            <mc:AlternateContent xmlns:mc="http://schemas.openxmlformats.org/markup-compatibility/2006">
              <mc:Choice xmlns:v="urn:schemas-microsoft-com:vml" Requires="v">
                <p:oleObj spid="_x0000_s37897" name="Equation" r:id="rId5" imgW="1422360" imgH="469800" progId="Equation.DSMT4">
                  <p:embed/>
                </p:oleObj>
              </mc:Choice>
              <mc:Fallback>
                <p:oleObj name="Equation" r:id="rId5" imgW="1422360" imgH="469800"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03575" y="3141663"/>
                        <a:ext cx="2625725"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t>Fundamentals of Futures and Options Markets, 9th Ed, Ch 20, Copyright © John C. Hull 2016</a:t>
            </a:r>
            <a:endParaRPr lang="en-US" altLang="en-US" sz="1400" i="0"/>
          </a:p>
        </p:txBody>
      </p:sp>
      <p:sp>
        <p:nvSpPr>
          <p:cNvPr id="38915" name="Rectangle 2"/>
          <p:cNvSpPr>
            <a:spLocks noGrp="1" noChangeArrowheads="1"/>
          </p:cNvSpPr>
          <p:nvPr>
            <p:ph type="title"/>
          </p:nvPr>
        </p:nvSpPr>
        <p:spPr>
          <a:noFill/>
        </p:spPr>
        <p:txBody>
          <a:bodyPr lIns="92075" tIns="46038" rIns="92075" bIns="46038" anchor="ctr"/>
          <a:lstStyle/>
          <a:p>
            <a:pPr eaLnBrk="1" hangingPunct="1"/>
            <a:r>
              <a:rPr lang="en-US" altLang="en-US" smtClean="0"/>
              <a:t>The Linear Model</a:t>
            </a:r>
          </a:p>
        </p:txBody>
      </p:sp>
      <p:sp>
        <p:nvSpPr>
          <p:cNvPr id="38916" name="Rectangle 3"/>
          <p:cNvSpPr>
            <a:spLocks noGrp="1" noChangeArrowheads="1"/>
          </p:cNvSpPr>
          <p:nvPr>
            <p:ph type="body" idx="1"/>
          </p:nvPr>
        </p:nvSpPr>
        <p:spPr>
          <a:noFill/>
        </p:spPr>
        <p:txBody>
          <a:bodyPr lIns="92075" tIns="46038" rIns="92075" bIns="46038"/>
          <a:lstStyle/>
          <a:p>
            <a:pPr eaLnBrk="1" hangingPunct="1">
              <a:buFont typeface="Wingdings" panose="05000000000000000000" pitchFamily="2" charset="2"/>
              <a:buNone/>
            </a:pPr>
            <a:r>
              <a:rPr lang="en-US" altLang="en-US" smtClean="0"/>
              <a:t>We assume</a:t>
            </a:r>
          </a:p>
          <a:p>
            <a:pPr eaLnBrk="1" hangingPunct="1"/>
            <a:r>
              <a:rPr lang="en-US" altLang="en-US" smtClean="0"/>
              <a:t>The daily change in the value of a portfolio is linearly related to the daily returns from market variables</a:t>
            </a:r>
          </a:p>
          <a:p>
            <a:pPr eaLnBrk="1" hangingPunct="1"/>
            <a:r>
              <a:rPr lang="en-US" altLang="en-US" smtClean="0"/>
              <a:t>The returns from the market variables are normally distributed</a:t>
            </a:r>
          </a:p>
        </p:txBody>
      </p:sp>
      <p:sp>
        <p:nvSpPr>
          <p:cNvPr id="3891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BD228067-59AB-4B4F-AA30-8FAA3819D195}" type="slidenum">
              <a:rPr lang="en-US" altLang="en-US" sz="1800"/>
              <a:pPr eaLnBrk="1" hangingPunct="1">
                <a:spcBef>
                  <a:spcPct val="0"/>
                </a:spcBef>
                <a:buClrTx/>
                <a:buSzTx/>
                <a:buFontTx/>
                <a:buNone/>
              </a:pPr>
              <a:t>26</a:t>
            </a:fld>
            <a:endParaRPr lang="en-US" altLang="en-US" sz="180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5"/>
          <p:cNvSpPr>
            <a:spLocks noGrp="1"/>
          </p:cNvSpPr>
          <p:nvPr>
            <p:ph type="title"/>
          </p:nvPr>
        </p:nvSpPr>
        <p:spPr/>
        <p:txBody>
          <a:bodyPr/>
          <a:lstStyle/>
          <a:p>
            <a:r>
              <a:rPr lang="en-CA" altLang="en-US" smtClean="0"/>
              <a:t>Markowitz Result for Variance of Return on Portfolio</a:t>
            </a:r>
            <a:endParaRPr lang="en-US" altLang="en-US" smtClean="0"/>
          </a:p>
        </p:txBody>
      </p:sp>
      <p:sp>
        <p:nvSpPr>
          <p:cNvPr id="39939"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t>Fundamentals of Futures and Options Markets, 9th Ed, Ch 20, Copyright © John C. Hull 2016</a:t>
            </a:r>
            <a:endParaRPr lang="en-US" altLang="en-US" sz="1400" i="0">
              <a:cs typeface="Arial" panose="020B0604020202020204" pitchFamily="34" charset="0"/>
            </a:endParaRPr>
          </a:p>
        </p:txBody>
      </p:sp>
      <p:graphicFrame>
        <p:nvGraphicFramePr>
          <p:cNvPr id="39940" name="Object 2"/>
          <p:cNvGraphicFramePr>
            <a:graphicFrameLocks noChangeAspect="1"/>
          </p:cNvGraphicFramePr>
          <p:nvPr/>
        </p:nvGraphicFramePr>
        <p:xfrm>
          <a:off x="642938" y="1928813"/>
          <a:ext cx="7642225" cy="3821112"/>
        </p:xfrm>
        <a:graphic>
          <a:graphicData uri="http://schemas.openxmlformats.org/presentationml/2006/ole">
            <mc:AlternateContent xmlns:mc="http://schemas.openxmlformats.org/markup-compatibility/2006">
              <mc:Choice xmlns:v="urn:schemas-microsoft-com:vml" Requires="v">
                <p:oleObj spid="_x0000_s39942" name="Equation" r:id="rId4" imgW="3175000" imgH="1587500" progId="Equation.3">
                  <p:embed/>
                </p:oleObj>
              </mc:Choice>
              <mc:Fallback>
                <p:oleObj name="Equation" r:id="rId4" imgW="3175000" imgH="15875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2938" y="1928813"/>
                        <a:ext cx="7642225" cy="3821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4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5F1EFEBD-8312-44F8-9356-C20884A453E1}" type="slidenum">
              <a:rPr lang="en-US" altLang="en-US" sz="1800"/>
              <a:pPr eaLnBrk="1" hangingPunct="1">
                <a:spcBef>
                  <a:spcPct val="0"/>
                </a:spcBef>
                <a:buClrTx/>
                <a:buSzTx/>
                <a:buFontTx/>
                <a:buNone/>
              </a:pPr>
              <a:t>27</a:t>
            </a:fld>
            <a:endParaRPr lang="en-US" altLang="en-US" sz="180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t>Fundamentals of Futures and Options Markets, 9th Ed, Ch 20, Copyright © John C. Hull 2016</a:t>
            </a:r>
            <a:endParaRPr lang="en-US" altLang="en-US" sz="1400" i="0">
              <a:cs typeface="Arial" panose="020B0604020202020204" pitchFamily="34" charset="0"/>
            </a:endParaRPr>
          </a:p>
        </p:txBody>
      </p:sp>
      <p:sp>
        <p:nvSpPr>
          <p:cNvPr id="40963" name="Rectangle 2"/>
          <p:cNvSpPr>
            <a:spLocks noGrp="1" noChangeArrowheads="1"/>
          </p:cNvSpPr>
          <p:nvPr>
            <p:ph type="title"/>
          </p:nvPr>
        </p:nvSpPr>
        <p:spPr>
          <a:noFill/>
        </p:spPr>
        <p:txBody>
          <a:bodyPr lIns="92075" tIns="46038" rIns="92075" bIns="46038" anchor="ctr"/>
          <a:lstStyle/>
          <a:p>
            <a:pPr eaLnBrk="1" hangingPunct="1"/>
            <a:r>
              <a:rPr lang="en-CA" altLang="en-US" smtClean="0"/>
              <a:t>VaR Result for Variance of Portfolio Value (</a:t>
            </a:r>
            <a:r>
              <a:rPr lang="en-CA" altLang="en-US" smtClean="0">
                <a:latin typeface="Symbol" panose="05050102010706020507" pitchFamily="18" charset="2"/>
              </a:rPr>
              <a:t>a</a:t>
            </a:r>
            <a:r>
              <a:rPr lang="en-CA" altLang="en-US" i="1" baseline="-25000" smtClean="0"/>
              <a:t>i</a:t>
            </a:r>
            <a:r>
              <a:rPr lang="en-CA" altLang="en-US" smtClean="0">
                <a:latin typeface="Symbol" panose="05050102010706020507" pitchFamily="18" charset="2"/>
              </a:rPr>
              <a:t> </a:t>
            </a:r>
            <a:r>
              <a:rPr lang="en-CA" altLang="en-US" smtClean="0"/>
              <a:t>= </a:t>
            </a:r>
            <a:r>
              <a:rPr lang="en-CA" altLang="en-US" i="1" smtClean="0"/>
              <a:t>w</a:t>
            </a:r>
            <a:r>
              <a:rPr lang="en-CA" altLang="en-US" i="1" baseline="-25000" smtClean="0"/>
              <a:t>i</a:t>
            </a:r>
            <a:r>
              <a:rPr lang="en-CA" altLang="en-US" i="1" smtClean="0"/>
              <a:t>P</a:t>
            </a:r>
            <a:r>
              <a:rPr lang="en-CA" altLang="en-US" smtClean="0"/>
              <a:t>)</a:t>
            </a:r>
            <a:endParaRPr lang="en-US" altLang="en-US" smtClean="0"/>
          </a:p>
        </p:txBody>
      </p:sp>
      <p:sp>
        <p:nvSpPr>
          <p:cNvPr id="40964" name="Rectangle 3"/>
          <p:cNvSpPr>
            <a:spLocks noGrp="1" noChangeArrowheads="1"/>
          </p:cNvSpPr>
          <p:nvPr>
            <p:ph type="body" idx="1"/>
          </p:nvPr>
        </p:nvSpPr>
        <p:spPr>
          <a:noFill/>
        </p:spPr>
        <p:txBody>
          <a:bodyPr lIns="92075" tIns="46038" rIns="92075" bIns="46038"/>
          <a:lstStyle/>
          <a:p>
            <a:pPr eaLnBrk="1" hangingPunct="1">
              <a:buFont typeface="Wingdings" panose="05000000000000000000" pitchFamily="2" charset="2"/>
              <a:buNone/>
            </a:pPr>
            <a:r>
              <a:rPr lang="en-US" altLang="en-US" smtClean="0"/>
              <a:t> </a:t>
            </a:r>
          </a:p>
        </p:txBody>
      </p:sp>
      <p:graphicFrame>
        <p:nvGraphicFramePr>
          <p:cNvPr id="40965" name="Object 4"/>
          <p:cNvGraphicFramePr>
            <a:graphicFrameLocks/>
          </p:cNvGraphicFramePr>
          <p:nvPr/>
        </p:nvGraphicFramePr>
        <p:xfrm>
          <a:off x="682625" y="2071688"/>
          <a:ext cx="7035800" cy="3479800"/>
        </p:xfrm>
        <a:graphic>
          <a:graphicData uri="http://schemas.openxmlformats.org/presentationml/2006/ole">
            <mc:AlternateContent xmlns:mc="http://schemas.openxmlformats.org/markup-compatibility/2006">
              <mc:Choice xmlns:v="urn:schemas-microsoft-com:vml" Requires="v">
                <p:oleObj spid="_x0000_s40967" name="Equation" r:id="rId4" imgW="4162357" imgH="1990815" progId="Equation.3">
                  <p:embed/>
                </p:oleObj>
              </mc:Choice>
              <mc:Fallback>
                <p:oleObj name="Equation" r:id="rId4" imgW="4162357" imgH="1990815" progId="Equation.3">
                  <p:embed/>
                  <p:pic>
                    <p:nvPicPr>
                      <p:cNvPr id="0"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2625" y="2071688"/>
                        <a:ext cx="7035800" cy="347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0966"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C907490C-EDA7-4567-A6F1-5896F68D2344}" type="slidenum">
              <a:rPr lang="en-US" altLang="en-US" sz="1800"/>
              <a:pPr eaLnBrk="1" hangingPunct="1">
                <a:spcBef>
                  <a:spcPct val="0"/>
                </a:spcBef>
                <a:buClrTx/>
                <a:buSzTx/>
                <a:buFontTx/>
                <a:buNone/>
              </a:pPr>
              <a:t>28</a:t>
            </a:fld>
            <a:endParaRPr lang="en-US" altLang="en-US" sz="180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a:lstStyle/>
          <a:p>
            <a:r>
              <a:rPr lang="en-CA" altLang="en-US" smtClean="0"/>
              <a:t>Covariance Matrix (var</a:t>
            </a:r>
            <a:r>
              <a:rPr lang="en-CA" altLang="en-US" i="1" baseline="-25000" smtClean="0"/>
              <a:t>i</a:t>
            </a:r>
            <a:r>
              <a:rPr lang="en-CA" altLang="en-US" smtClean="0"/>
              <a:t> = cov</a:t>
            </a:r>
            <a:r>
              <a:rPr lang="en-CA" altLang="en-US" i="1" baseline="-25000" smtClean="0"/>
              <a:t>ii</a:t>
            </a:r>
            <a:r>
              <a:rPr lang="en-CA" altLang="en-US" smtClean="0"/>
              <a:t>)</a:t>
            </a:r>
            <a:br>
              <a:rPr lang="en-CA" altLang="en-US" smtClean="0"/>
            </a:br>
            <a:r>
              <a:rPr lang="en-CA" altLang="en-US" sz="2400" smtClean="0"/>
              <a:t>(Table 20.6, page 441)</a:t>
            </a:r>
            <a:endParaRPr lang="en-US" altLang="en-US" sz="2400" smtClean="0"/>
          </a:p>
        </p:txBody>
      </p:sp>
      <p:sp>
        <p:nvSpPr>
          <p:cNvPr id="41987"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t>Fundamentals of Futures and Options Markets, 9th Ed, Ch 20, Copyright © John C. Hull 2016</a:t>
            </a:r>
            <a:endParaRPr lang="en-US" altLang="en-US" sz="1400" i="0">
              <a:cs typeface="Arial" panose="020B0604020202020204" pitchFamily="34" charset="0"/>
            </a:endParaRPr>
          </a:p>
        </p:txBody>
      </p:sp>
      <p:graphicFrame>
        <p:nvGraphicFramePr>
          <p:cNvPr id="41988" name="Object 2"/>
          <p:cNvGraphicFramePr>
            <a:graphicFrameLocks noChangeAspect="1"/>
          </p:cNvGraphicFramePr>
          <p:nvPr/>
        </p:nvGraphicFramePr>
        <p:xfrm>
          <a:off x="928688" y="2357438"/>
          <a:ext cx="6180137" cy="2857500"/>
        </p:xfrm>
        <a:graphic>
          <a:graphicData uri="http://schemas.openxmlformats.org/presentationml/2006/ole">
            <mc:AlternateContent xmlns:mc="http://schemas.openxmlformats.org/markup-compatibility/2006">
              <mc:Choice xmlns:v="urn:schemas-microsoft-com:vml" Requires="v">
                <p:oleObj spid="_x0000_s41990" name="Equation" r:id="rId4" imgW="2527300" imgH="1168400" progId="Equation.3">
                  <p:embed/>
                </p:oleObj>
              </mc:Choice>
              <mc:Fallback>
                <p:oleObj name="Equation" r:id="rId4" imgW="2527300" imgH="11684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8688" y="2357438"/>
                        <a:ext cx="6180137" cy="285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98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EF407EAA-57E0-49E4-9E15-841860053B25}" type="slidenum">
              <a:rPr lang="en-US" altLang="en-US" sz="1800"/>
              <a:pPr eaLnBrk="1" hangingPunct="1">
                <a:spcBef>
                  <a:spcPct val="0"/>
                </a:spcBef>
                <a:buClrTx/>
                <a:buSzTx/>
                <a:buFontTx/>
                <a:buNone/>
              </a:pPr>
              <a:t>29</a:t>
            </a:fld>
            <a:endParaRPr lang="en-US" altLang="en-US" sz="18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a:xfrm>
            <a:off x="457200" y="500063"/>
            <a:ext cx="7543800" cy="1071562"/>
          </a:xfrm>
        </p:spPr>
        <p:txBody>
          <a:bodyPr/>
          <a:lstStyle/>
          <a:p>
            <a:r>
              <a:rPr lang="en-CA" altLang="en-US" smtClean="0"/>
              <a:t>Alternative Expressions for </a:t>
            </a:r>
            <a:r>
              <a:rPr lang="en-CA" altLang="en-US" smtClean="0">
                <a:latin typeface="Symbol" panose="05050102010706020507" pitchFamily="18" charset="2"/>
              </a:rPr>
              <a:t>s</a:t>
            </a:r>
            <a:r>
              <a:rPr lang="en-CA" altLang="en-US" i="1" baseline="-25000" smtClean="0"/>
              <a:t>P</a:t>
            </a:r>
            <a:r>
              <a:rPr lang="en-CA" altLang="en-US" baseline="30000" smtClean="0"/>
              <a:t>2</a:t>
            </a:r>
            <a:br>
              <a:rPr lang="en-CA" altLang="en-US" baseline="30000" smtClean="0"/>
            </a:br>
            <a:r>
              <a:rPr lang="en-CA" altLang="en-US" sz="2400" smtClean="0"/>
              <a:t>page 441</a:t>
            </a:r>
            <a:endParaRPr lang="en-US" altLang="en-US" sz="2400" smtClean="0"/>
          </a:p>
        </p:txBody>
      </p:sp>
      <p:sp>
        <p:nvSpPr>
          <p:cNvPr id="43011"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t>Fundamentals of Futures and Options Markets, 9th Ed, Ch 20, Copyright © John C. Hull 2016</a:t>
            </a:r>
            <a:endParaRPr lang="en-US" altLang="en-US" sz="1400" i="0">
              <a:cs typeface="Arial" panose="020B0604020202020204" pitchFamily="34" charset="0"/>
            </a:endParaRPr>
          </a:p>
        </p:txBody>
      </p:sp>
      <p:graphicFrame>
        <p:nvGraphicFramePr>
          <p:cNvPr id="43012" name="Object 2"/>
          <p:cNvGraphicFramePr>
            <a:graphicFrameLocks noChangeAspect="1"/>
          </p:cNvGraphicFramePr>
          <p:nvPr/>
        </p:nvGraphicFramePr>
        <p:xfrm>
          <a:off x="1357313" y="2000250"/>
          <a:ext cx="5889625" cy="3070225"/>
        </p:xfrm>
        <a:graphic>
          <a:graphicData uri="http://schemas.openxmlformats.org/presentationml/2006/ole">
            <mc:AlternateContent xmlns:mc="http://schemas.openxmlformats.org/markup-compatibility/2006">
              <mc:Choice xmlns:v="urn:schemas-microsoft-com:vml" Requires="v">
                <p:oleObj spid="_x0000_s43014" name="Equation" r:id="rId4" imgW="2679700" imgH="1397000" progId="Equation.3">
                  <p:embed/>
                </p:oleObj>
              </mc:Choice>
              <mc:Fallback>
                <p:oleObj name="Equation" r:id="rId4" imgW="2679700" imgH="13970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57313" y="2000250"/>
                        <a:ext cx="5889625" cy="3070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01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F2BEE68A-172A-4EF1-9948-611CE51B6ACD}" type="slidenum">
              <a:rPr lang="en-US" altLang="en-US" sz="1800"/>
              <a:pPr eaLnBrk="1" hangingPunct="1">
                <a:spcBef>
                  <a:spcPct val="0"/>
                </a:spcBef>
                <a:buClrTx/>
                <a:buSzTx/>
                <a:buFontTx/>
                <a:buNone/>
              </a:pPr>
              <a:t>30</a:t>
            </a:fld>
            <a:endParaRPr lang="en-US" altLang="en-US" sz="18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t>Fundamentals of Futures and Options Markets, 9th Ed, Ch 20, Copyright © John C. Hull 2016</a:t>
            </a:r>
            <a:endParaRPr lang="en-US" altLang="en-US" sz="1400" i="0"/>
          </a:p>
        </p:txBody>
      </p:sp>
      <p:sp>
        <p:nvSpPr>
          <p:cNvPr id="44035" name="Rectangle 2"/>
          <p:cNvSpPr>
            <a:spLocks noGrp="1" noChangeArrowheads="1"/>
          </p:cNvSpPr>
          <p:nvPr>
            <p:ph type="title"/>
          </p:nvPr>
        </p:nvSpPr>
        <p:spPr>
          <a:noFill/>
        </p:spPr>
        <p:txBody>
          <a:bodyPr lIns="92075" tIns="46038" rIns="92075" bIns="46038" anchor="ctr"/>
          <a:lstStyle/>
          <a:p>
            <a:pPr eaLnBrk="1" hangingPunct="1"/>
            <a:r>
              <a:rPr lang="en-US" altLang="en-US" smtClean="0"/>
              <a:t>Handling Interest Rates</a:t>
            </a:r>
          </a:p>
        </p:txBody>
      </p:sp>
      <p:sp>
        <p:nvSpPr>
          <p:cNvPr id="44036" name="Rectangle 3"/>
          <p:cNvSpPr>
            <a:spLocks noGrp="1" noChangeArrowheads="1"/>
          </p:cNvSpPr>
          <p:nvPr>
            <p:ph type="body" idx="1"/>
          </p:nvPr>
        </p:nvSpPr>
        <p:spPr>
          <a:noFill/>
        </p:spPr>
        <p:txBody>
          <a:bodyPr lIns="92075" tIns="46038" rIns="92075" bIns="46038"/>
          <a:lstStyle/>
          <a:p>
            <a:pPr eaLnBrk="1" hangingPunct="1"/>
            <a:r>
              <a:rPr lang="en-US" altLang="en-US" sz="2800" smtClean="0"/>
              <a:t>We do not want to define every bond as a different market variable</a:t>
            </a:r>
          </a:p>
          <a:p>
            <a:pPr eaLnBrk="1" hangingPunct="1"/>
            <a:r>
              <a:rPr lang="en-US" altLang="en-US" sz="2800" smtClean="0"/>
              <a:t>We therefore choose as assets zero-coupon bonds with standard maturities: 1-month, 3 months, 1 year, 2 years, 5 years, 7 years, 10 years, and 30 years</a:t>
            </a:r>
          </a:p>
          <a:p>
            <a:pPr eaLnBrk="1" hangingPunct="1"/>
            <a:r>
              <a:rPr lang="en-US" altLang="en-US" sz="2800" smtClean="0"/>
              <a:t>Cash flows from instruments in the portfolio are mapped to bonds with the standard maturities</a:t>
            </a:r>
          </a:p>
          <a:p>
            <a:pPr eaLnBrk="1" hangingPunct="1">
              <a:buFont typeface="Wingdings" panose="05000000000000000000" pitchFamily="2" charset="2"/>
              <a:buNone/>
            </a:pPr>
            <a:endParaRPr lang="en-US" altLang="en-US" sz="2800" smtClean="0"/>
          </a:p>
        </p:txBody>
      </p:sp>
      <p:sp>
        <p:nvSpPr>
          <p:cNvPr id="4403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617021D9-B404-4007-8D71-ECC6325F56C9}" type="slidenum">
              <a:rPr lang="en-US" altLang="en-US" sz="1800"/>
              <a:pPr eaLnBrk="1" hangingPunct="1">
                <a:spcBef>
                  <a:spcPct val="0"/>
                </a:spcBef>
                <a:buClrTx/>
                <a:buSzTx/>
                <a:buFontTx/>
                <a:buNone/>
              </a:pPr>
              <a:t>31</a:t>
            </a:fld>
            <a:endParaRPr lang="en-US" altLang="en-US" sz="18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t>Fundamentals of Futures and Options Markets, 9th Ed, Ch 20, Copyright © John C. Hull 2016</a:t>
            </a:r>
            <a:endParaRPr lang="en-US" altLang="en-US" sz="1400" i="0"/>
          </a:p>
        </p:txBody>
      </p:sp>
      <p:sp>
        <p:nvSpPr>
          <p:cNvPr id="45059" name="Rectangle 2"/>
          <p:cNvSpPr>
            <a:spLocks noGrp="1" noChangeArrowheads="1"/>
          </p:cNvSpPr>
          <p:nvPr>
            <p:ph type="title"/>
          </p:nvPr>
        </p:nvSpPr>
        <p:spPr>
          <a:noFill/>
        </p:spPr>
        <p:txBody>
          <a:bodyPr lIns="92075" tIns="46038" rIns="92075" bIns="46038" anchor="ctr"/>
          <a:lstStyle/>
          <a:p>
            <a:pPr eaLnBrk="1" hangingPunct="1"/>
            <a:r>
              <a:rPr lang="en-US" altLang="en-US" smtClean="0"/>
              <a:t>When Linear Model Can be Used</a:t>
            </a:r>
          </a:p>
        </p:txBody>
      </p:sp>
      <p:sp>
        <p:nvSpPr>
          <p:cNvPr id="45060" name="Rectangle 3"/>
          <p:cNvSpPr>
            <a:spLocks noGrp="1" noChangeArrowheads="1"/>
          </p:cNvSpPr>
          <p:nvPr>
            <p:ph type="body" idx="1"/>
          </p:nvPr>
        </p:nvSpPr>
        <p:spPr>
          <a:noFill/>
        </p:spPr>
        <p:txBody>
          <a:bodyPr lIns="92075" tIns="46038" rIns="92075" bIns="46038"/>
          <a:lstStyle/>
          <a:p>
            <a:pPr eaLnBrk="1" hangingPunct="1"/>
            <a:r>
              <a:rPr lang="en-US" altLang="en-US" smtClean="0"/>
              <a:t>Portfolio of stocks</a:t>
            </a:r>
          </a:p>
          <a:p>
            <a:pPr eaLnBrk="1" hangingPunct="1"/>
            <a:r>
              <a:rPr lang="en-US" altLang="en-US" smtClean="0"/>
              <a:t>Portfolio of bonds</a:t>
            </a:r>
          </a:p>
          <a:p>
            <a:pPr eaLnBrk="1" hangingPunct="1"/>
            <a:r>
              <a:rPr lang="en-US" altLang="en-US" smtClean="0"/>
              <a:t>Forward contract on foreign currency</a:t>
            </a:r>
          </a:p>
          <a:p>
            <a:pPr eaLnBrk="1" hangingPunct="1"/>
            <a:r>
              <a:rPr lang="en-US" altLang="en-US" smtClean="0"/>
              <a:t>Interest-rate swap</a:t>
            </a:r>
          </a:p>
        </p:txBody>
      </p:sp>
      <p:sp>
        <p:nvSpPr>
          <p:cNvPr id="4506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767740CB-2DC3-49B5-992A-738CCB4E0345}" type="slidenum">
              <a:rPr lang="en-US" altLang="en-US" sz="1800"/>
              <a:pPr eaLnBrk="1" hangingPunct="1">
                <a:spcBef>
                  <a:spcPct val="0"/>
                </a:spcBef>
                <a:buClrTx/>
                <a:buSzTx/>
                <a:buFontTx/>
                <a:buNone/>
              </a:pPr>
              <a:t>32</a:t>
            </a:fld>
            <a:endParaRPr lang="en-US" altLang="en-US" sz="18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t>Fundamentals of Futures and Options Markets, 9th Ed, Ch 20, Copyright © John C. Hull 2016</a:t>
            </a:r>
            <a:endParaRPr lang="en-US" altLang="en-US" sz="1400" i="0"/>
          </a:p>
        </p:txBody>
      </p:sp>
      <p:sp>
        <p:nvSpPr>
          <p:cNvPr id="46083" name="Rectangle 2"/>
          <p:cNvSpPr>
            <a:spLocks noGrp="1" noChangeArrowheads="1"/>
          </p:cNvSpPr>
          <p:nvPr>
            <p:ph type="title"/>
          </p:nvPr>
        </p:nvSpPr>
        <p:spPr>
          <a:noFill/>
        </p:spPr>
        <p:txBody>
          <a:bodyPr lIns="92075" tIns="46038" rIns="92075" bIns="46038" anchor="ctr"/>
          <a:lstStyle/>
          <a:p>
            <a:pPr eaLnBrk="1" hangingPunct="1"/>
            <a:r>
              <a:rPr lang="en-US" altLang="en-US" smtClean="0"/>
              <a:t>The Linear Model and Options</a:t>
            </a:r>
            <a:br>
              <a:rPr lang="en-US" altLang="en-US" smtClean="0"/>
            </a:br>
            <a:endParaRPr lang="en-US" altLang="en-US" smtClean="0"/>
          </a:p>
        </p:txBody>
      </p:sp>
      <p:sp>
        <p:nvSpPr>
          <p:cNvPr id="46084" name="Rectangle 3"/>
          <p:cNvSpPr>
            <a:spLocks noGrp="1" noChangeArrowheads="1"/>
          </p:cNvSpPr>
          <p:nvPr>
            <p:ph type="body" idx="1"/>
          </p:nvPr>
        </p:nvSpPr>
        <p:spPr>
          <a:xfrm>
            <a:off x="468313" y="1719263"/>
            <a:ext cx="8424862" cy="4411662"/>
          </a:xfrm>
          <a:noFill/>
        </p:spPr>
        <p:txBody>
          <a:bodyPr lIns="92075" tIns="46038" rIns="92075" bIns="46038"/>
          <a:lstStyle/>
          <a:p>
            <a:pPr eaLnBrk="1" hangingPunct="1"/>
            <a:r>
              <a:rPr lang="en-US" altLang="en-US" smtClean="0"/>
              <a:t>Consider a portfolio of options dependent on a single stock price, </a:t>
            </a:r>
            <a:r>
              <a:rPr lang="en-US" altLang="en-US" i="1" smtClean="0">
                <a:latin typeface="Times New Roman" panose="02020603050405020304" pitchFamily="18" charset="0"/>
              </a:rPr>
              <a:t>S</a:t>
            </a:r>
            <a:r>
              <a:rPr lang="en-US" altLang="en-US" smtClean="0"/>
              <a:t>. Define</a:t>
            </a:r>
          </a:p>
          <a:p>
            <a:pPr eaLnBrk="1" hangingPunct="1"/>
            <a:endParaRPr lang="en-US" altLang="en-US" smtClean="0"/>
          </a:p>
          <a:p>
            <a:pPr eaLnBrk="1" hangingPunct="1">
              <a:buFont typeface="Wingdings" panose="05000000000000000000" pitchFamily="2" charset="2"/>
              <a:buNone/>
            </a:pPr>
            <a:endParaRPr lang="en-US" altLang="en-US" smtClean="0"/>
          </a:p>
          <a:p>
            <a:pPr eaLnBrk="1" hangingPunct="1"/>
            <a:r>
              <a:rPr lang="en-US" altLang="en-US" smtClean="0"/>
              <a:t>and</a:t>
            </a:r>
          </a:p>
          <a:p>
            <a:pPr algn="ctr" eaLnBrk="1" hangingPunct="1">
              <a:buFont typeface="Wingdings" panose="05000000000000000000" pitchFamily="2" charset="2"/>
              <a:buNone/>
            </a:pPr>
            <a:endParaRPr lang="en-US" altLang="en-US" smtClean="0"/>
          </a:p>
          <a:p>
            <a:pPr algn="ctr" eaLnBrk="1" hangingPunct="1">
              <a:buFont typeface="Wingdings" panose="05000000000000000000" pitchFamily="2" charset="2"/>
              <a:buNone/>
            </a:pPr>
            <a:endParaRPr lang="en-US" altLang="en-US" smtClean="0"/>
          </a:p>
        </p:txBody>
      </p:sp>
      <p:graphicFrame>
        <p:nvGraphicFramePr>
          <p:cNvPr id="46085" name="Object 4"/>
          <p:cNvGraphicFramePr>
            <a:graphicFrameLocks/>
          </p:cNvGraphicFramePr>
          <p:nvPr/>
        </p:nvGraphicFramePr>
        <p:xfrm>
          <a:off x="3203575" y="2924175"/>
          <a:ext cx="1143000" cy="860425"/>
        </p:xfrm>
        <a:graphic>
          <a:graphicData uri="http://schemas.openxmlformats.org/presentationml/2006/ole">
            <mc:AlternateContent xmlns:mc="http://schemas.openxmlformats.org/markup-compatibility/2006">
              <mc:Choice xmlns:v="urn:schemas-microsoft-com:vml" Requires="v">
                <p:oleObj spid="_x0000_s46088" name="Equation" r:id="rId4" imgW="495085" imgH="393529" progId="Equation.3">
                  <p:embed/>
                </p:oleObj>
              </mc:Choice>
              <mc:Fallback>
                <p:oleObj name="Equation" r:id="rId4" imgW="495085" imgH="393529" progId="Equation.3">
                  <p:embed/>
                  <p:pic>
                    <p:nvPicPr>
                      <p:cNvPr id="0"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03575" y="2924175"/>
                        <a:ext cx="1143000" cy="860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086" name="Object 5"/>
          <p:cNvGraphicFramePr>
            <a:graphicFrameLocks/>
          </p:cNvGraphicFramePr>
          <p:nvPr/>
        </p:nvGraphicFramePr>
        <p:xfrm>
          <a:off x="3276600" y="4508500"/>
          <a:ext cx="1223963" cy="800100"/>
        </p:xfrm>
        <a:graphic>
          <a:graphicData uri="http://schemas.openxmlformats.org/presentationml/2006/ole">
            <mc:AlternateContent xmlns:mc="http://schemas.openxmlformats.org/markup-compatibility/2006">
              <mc:Choice xmlns:v="urn:schemas-microsoft-com:vml" Requires="v">
                <p:oleObj spid="_x0000_s46089" name="Equation" r:id="rId6" imgW="583947" imgH="393529" progId="Equation.3">
                  <p:embed/>
                </p:oleObj>
              </mc:Choice>
              <mc:Fallback>
                <p:oleObj name="Equation" r:id="rId6" imgW="583947" imgH="393529" progId="Equation.3">
                  <p:embed/>
                  <p:pic>
                    <p:nvPicPr>
                      <p:cNvPr id="0" name="Object 5"/>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6600" y="4508500"/>
                        <a:ext cx="1223963" cy="800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6087"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7F710A0D-A03C-45CD-8F48-C5F3400E12F1}" type="slidenum">
              <a:rPr lang="en-US" altLang="en-US" sz="1800"/>
              <a:pPr eaLnBrk="1" hangingPunct="1">
                <a:spcBef>
                  <a:spcPct val="0"/>
                </a:spcBef>
                <a:buClrTx/>
                <a:buSzTx/>
                <a:buFontTx/>
                <a:buNone/>
              </a:pPr>
              <a:t>33</a:t>
            </a:fld>
            <a:endParaRPr lang="en-US" altLang="en-US" sz="18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t>Fundamentals of Futures and Options Markets, 9th Ed, Ch 20, Copyright © John C. Hull 2016</a:t>
            </a:r>
            <a:endParaRPr lang="en-US" altLang="en-US" sz="1400" i="0"/>
          </a:p>
        </p:txBody>
      </p:sp>
      <p:sp>
        <p:nvSpPr>
          <p:cNvPr id="47107" name="Rectangle 2"/>
          <p:cNvSpPr>
            <a:spLocks noGrp="1" noChangeArrowheads="1"/>
          </p:cNvSpPr>
          <p:nvPr>
            <p:ph type="title"/>
          </p:nvPr>
        </p:nvSpPr>
        <p:spPr>
          <a:xfrm>
            <a:off x="457200" y="381000"/>
            <a:ext cx="7283450" cy="1219200"/>
          </a:xfrm>
          <a:noFill/>
        </p:spPr>
        <p:txBody>
          <a:bodyPr lIns="92075" tIns="46038" rIns="92075" bIns="46038" anchor="ctr"/>
          <a:lstStyle/>
          <a:p>
            <a:pPr eaLnBrk="1" hangingPunct="1"/>
            <a:r>
              <a:rPr lang="en-US" altLang="en-US" smtClean="0"/>
              <a:t>Linear Model and Options continued </a:t>
            </a:r>
            <a:r>
              <a:rPr lang="en-US" altLang="en-US" sz="2400" smtClean="0"/>
              <a:t>(equations 20.5 and 20.6, page  443)</a:t>
            </a:r>
          </a:p>
        </p:txBody>
      </p:sp>
      <p:sp>
        <p:nvSpPr>
          <p:cNvPr id="47108" name="Rectangle 3"/>
          <p:cNvSpPr>
            <a:spLocks noGrp="1" noChangeArrowheads="1"/>
          </p:cNvSpPr>
          <p:nvPr>
            <p:ph type="body" idx="1"/>
          </p:nvPr>
        </p:nvSpPr>
        <p:spPr>
          <a:xfrm>
            <a:off x="685800" y="1752600"/>
            <a:ext cx="7772400" cy="3962400"/>
          </a:xfrm>
          <a:noFill/>
        </p:spPr>
        <p:txBody>
          <a:bodyPr lIns="92075" tIns="46038" rIns="92075" bIns="46038"/>
          <a:lstStyle/>
          <a:p>
            <a:pPr eaLnBrk="1" hangingPunct="1"/>
            <a:r>
              <a:rPr lang="en-US" altLang="en-US" sz="2800" smtClean="0"/>
              <a:t>As an approximation</a:t>
            </a:r>
          </a:p>
          <a:p>
            <a:pPr eaLnBrk="1" hangingPunct="1">
              <a:buFont typeface="Wingdings" panose="05000000000000000000" pitchFamily="2" charset="2"/>
              <a:buNone/>
            </a:pPr>
            <a:endParaRPr lang="en-US" altLang="en-US" sz="2800" smtClean="0"/>
          </a:p>
          <a:p>
            <a:pPr eaLnBrk="1" hangingPunct="1"/>
            <a:r>
              <a:rPr lang="en-US" altLang="en-US" sz="2800" smtClean="0"/>
              <a:t>Similar when there are many underlying market variables</a:t>
            </a:r>
          </a:p>
          <a:p>
            <a:pPr eaLnBrk="1" hangingPunct="1">
              <a:buFont typeface="Wingdings" panose="05000000000000000000" pitchFamily="2" charset="2"/>
              <a:buNone/>
            </a:pPr>
            <a:endParaRPr lang="en-US" altLang="en-US" sz="2800" smtClean="0"/>
          </a:p>
          <a:p>
            <a:pPr eaLnBrk="1" hangingPunct="1">
              <a:buFont typeface="Wingdings" panose="05000000000000000000" pitchFamily="2" charset="2"/>
              <a:buNone/>
            </a:pPr>
            <a:endParaRPr lang="en-US" altLang="en-US" sz="2800" smtClean="0"/>
          </a:p>
          <a:p>
            <a:pPr eaLnBrk="1" hangingPunct="1">
              <a:buFont typeface="Wingdings" panose="05000000000000000000" pitchFamily="2" charset="2"/>
              <a:buNone/>
            </a:pPr>
            <a:r>
              <a:rPr lang="en-US" altLang="en-US" sz="2800" smtClean="0"/>
              <a:t>	where </a:t>
            </a:r>
            <a:r>
              <a:rPr lang="en-US" altLang="en-US" sz="2800" smtClean="0">
                <a:latin typeface="Symbol" panose="05050102010706020507" pitchFamily="18" charset="2"/>
              </a:rPr>
              <a:t>d</a:t>
            </a:r>
            <a:r>
              <a:rPr lang="en-US" altLang="en-US" sz="2800" i="1" baseline="-25000" smtClean="0">
                <a:latin typeface="Times New Roman" panose="02020603050405020304" pitchFamily="18" charset="0"/>
              </a:rPr>
              <a:t>i</a:t>
            </a:r>
            <a:r>
              <a:rPr lang="en-US" altLang="en-US" sz="2800" smtClean="0"/>
              <a:t> is the delta of the portfolio with respect to the </a:t>
            </a:r>
            <a:r>
              <a:rPr lang="en-US" altLang="en-US" sz="2800" i="1" smtClean="0">
                <a:latin typeface="Times New Roman" panose="02020603050405020304" pitchFamily="18" charset="0"/>
              </a:rPr>
              <a:t>i</a:t>
            </a:r>
            <a:r>
              <a:rPr lang="en-US" altLang="en-US" sz="2800" smtClean="0"/>
              <a:t>th asset</a:t>
            </a:r>
          </a:p>
          <a:p>
            <a:pPr eaLnBrk="1" hangingPunct="1">
              <a:buFont typeface="Wingdings" panose="05000000000000000000" pitchFamily="2" charset="2"/>
              <a:buNone/>
            </a:pPr>
            <a:endParaRPr lang="en-US" altLang="en-US" sz="2800" smtClean="0"/>
          </a:p>
          <a:p>
            <a:pPr eaLnBrk="1" hangingPunct="1">
              <a:buFont typeface="Wingdings" panose="05000000000000000000" pitchFamily="2" charset="2"/>
              <a:buNone/>
            </a:pPr>
            <a:endParaRPr lang="en-US" altLang="en-US" sz="2800" smtClean="0"/>
          </a:p>
        </p:txBody>
      </p:sp>
      <p:graphicFrame>
        <p:nvGraphicFramePr>
          <p:cNvPr id="47109" name="Object 4"/>
          <p:cNvGraphicFramePr>
            <a:graphicFrameLocks/>
          </p:cNvGraphicFramePr>
          <p:nvPr/>
        </p:nvGraphicFramePr>
        <p:xfrm>
          <a:off x="2781300" y="2362200"/>
          <a:ext cx="3505200" cy="561975"/>
        </p:xfrm>
        <a:graphic>
          <a:graphicData uri="http://schemas.openxmlformats.org/presentationml/2006/ole">
            <mc:AlternateContent xmlns:mc="http://schemas.openxmlformats.org/markup-compatibility/2006">
              <mc:Choice xmlns:v="urn:schemas-microsoft-com:vml" Requires="v">
                <p:oleObj spid="_x0000_s47112" name="Equation" r:id="rId4" imgW="1180588" imgH="203112" progId="Equation.3">
                  <p:embed/>
                </p:oleObj>
              </mc:Choice>
              <mc:Fallback>
                <p:oleObj name="Equation" r:id="rId4" imgW="1180588" imgH="203112" progId="Equation.3">
                  <p:embed/>
                  <p:pic>
                    <p:nvPicPr>
                      <p:cNvPr id="0"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81300" y="2362200"/>
                        <a:ext cx="3505200" cy="561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7110" name="Object 5"/>
          <p:cNvGraphicFramePr>
            <a:graphicFrameLocks/>
          </p:cNvGraphicFramePr>
          <p:nvPr/>
        </p:nvGraphicFramePr>
        <p:xfrm>
          <a:off x="2916238" y="3860800"/>
          <a:ext cx="2887662" cy="898525"/>
        </p:xfrm>
        <a:graphic>
          <a:graphicData uri="http://schemas.openxmlformats.org/presentationml/2006/ole">
            <mc:AlternateContent xmlns:mc="http://schemas.openxmlformats.org/markup-compatibility/2006">
              <mc:Choice xmlns:v="urn:schemas-microsoft-com:vml" Requires="v">
                <p:oleObj spid="_x0000_s47113" name="Equation" r:id="rId6" imgW="1079032" imgH="342751" progId="Equation.3">
                  <p:embed/>
                </p:oleObj>
              </mc:Choice>
              <mc:Fallback>
                <p:oleObj name="Equation" r:id="rId6" imgW="1079032" imgH="342751" progId="Equation.3">
                  <p:embed/>
                  <p:pic>
                    <p:nvPicPr>
                      <p:cNvPr id="0" name="Object 5"/>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16238" y="3860800"/>
                        <a:ext cx="2887662" cy="898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7111"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1BCCAE53-26B5-40FE-9E9A-1566C8D9E417}" type="slidenum">
              <a:rPr lang="en-US" altLang="en-US" sz="1800"/>
              <a:pPr eaLnBrk="1" hangingPunct="1">
                <a:spcBef>
                  <a:spcPct val="0"/>
                </a:spcBef>
                <a:buClrTx/>
                <a:buSzTx/>
                <a:buFontTx/>
                <a:buNone/>
              </a:pPr>
              <a:t>34</a:t>
            </a:fld>
            <a:endParaRPr lang="en-US" altLang="en-US" sz="18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t>Fundamentals of Futures and Options Markets, 9th Ed, Ch 20, Copyright © John C. Hull 2016</a:t>
            </a:r>
            <a:endParaRPr lang="en-US" altLang="en-US" sz="1400" i="0"/>
          </a:p>
        </p:txBody>
      </p:sp>
      <p:sp>
        <p:nvSpPr>
          <p:cNvPr id="48131" name="Rectangle 2"/>
          <p:cNvSpPr>
            <a:spLocks noGrp="1" noChangeArrowheads="1"/>
          </p:cNvSpPr>
          <p:nvPr>
            <p:ph type="title"/>
          </p:nvPr>
        </p:nvSpPr>
        <p:spPr>
          <a:noFill/>
        </p:spPr>
        <p:txBody>
          <a:bodyPr lIns="92075" tIns="46038" rIns="92075" bIns="46038" anchor="ctr"/>
          <a:lstStyle/>
          <a:p>
            <a:pPr eaLnBrk="1" hangingPunct="1"/>
            <a:r>
              <a:rPr lang="en-US" altLang="en-US" smtClean="0"/>
              <a:t>Example</a:t>
            </a:r>
          </a:p>
        </p:txBody>
      </p:sp>
      <p:sp>
        <p:nvSpPr>
          <p:cNvPr id="48132" name="Rectangle 3"/>
          <p:cNvSpPr>
            <a:spLocks noGrp="1" noChangeArrowheads="1"/>
          </p:cNvSpPr>
          <p:nvPr>
            <p:ph type="body" idx="1"/>
          </p:nvPr>
        </p:nvSpPr>
        <p:spPr>
          <a:xfrm>
            <a:off x="611188" y="1773238"/>
            <a:ext cx="7632700" cy="4411662"/>
          </a:xfrm>
          <a:noFill/>
        </p:spPr>
        <p:txBody>
          <a:bodyPr lIns="92075" tIns="46038" rIns="92075" bIns="46038"/>
          <a:lstStyle/>
          <a:p>
            <a:pPr eaLnBrk="1" hangingPunct="1">
              <a:lnSpc>
                <a:spcPct val="90000"/>
              </a:lnSpc>
            </a:pPr>
            <a:r>
              <a:rPr lang="en-US" altLang="en-US" sz="2800" smtClean="0"/>
              <a:t>Consider an investment in options on Microsoft and AT&amp;T. Suppose the stock prices are 120 and 30 respectively and the deltas of the portfolio with respect to the two stock prices are 1,000 and 20,000 respectively</a:t>
            </a:r>
          </a:p>
          <a:p>
            <a:pPr eaLnBrk="1" hangingPunct="1">
              <a:lnSpc>
                <a:spcPct val="90000"/>
              </a:lnSpc>
            </a:pPr>
            <a:r>
              <a:rPr lang="en-US" altLang="en-US" sz="2800" smtClean="0"/>
              <a:t>As an approximation</a:t>
            </a:r>
          </a:p>
          <a:p>
            <a:pPr eaLnBrk="1" hangingPunct="1">
              <a:lnSpc>
                <a:spcPct val="90000"/>
              </a:lnSpc>
              <a:buFont typeface="Wingdings" panose="05000000000000000000" pitchFamily="2" charset="2"/>
              <a:buNone/>
            </a:pPr>
            <a:endParaRPr lang="en-US" altLang="en-US" sz="2800" smtClean="0"/>
          </a:p>
          <a:p>
            <a:pPr eaLnBrk="1" hangingPunct="1">
              <a:lnSpc>
                <a:spcPct val="90000"/>
              </a:lnSpc>
              <a:buFont typeface="Wingdings" panose="05000000000000000000" pitchFamily="2" charset="2"/>
              <a:buNone/>
            </a:pPr>
            <a:r>
              <a:rPr lang="en-US" altLang="en-US" sz="2800" smtClean="0"/>
              <a:t>	where </a:t>
            </a:r>
            <a:r>
              <a:rPr lang="en-US" altLang="en-US" sz="2800" smtClean="0">
                <a:latin typeface="Symbol" panose="05050102010706020507" pitchFamily="18" charset="2"/>
              </a:rPr>
              <a:t>D</a:t>
            </a:r>
            <a:r>
              <a:rPr lang="en-US" altLang="en-US" sz="2800" i="1" smtClean="0">
                <a:latin typeface="Times New Roman" panose="02020603050405020304" pitchFamily="18" charset="0"/>
              </a:rPr>
              <a:t>x</a:t>
            </a:r>
            <a:r>
              <a:rPr lang="en-US" altLang="en-US" sz="2800" baseline="-25000" smtClean="0"/>
              <a:t>1</a:t>
            </a:r>
            <a:r>
              <a:rPr lang="en-US" altLang="en-US" sz="2800" smtClean="0"/>
              <a:t> and </a:t>
            </a:r>
            <a:r>
              <a:rPr lang="en-US" altLang="en-US" sz="2800" smtClean="0">
                <a:latin typeface="Symbol" panose="05050102010706020507" pitchFamily="18" charset="2"/>
              </a:rPr>
              <a:t>D</a:t>
            </a:r>
            <a:r>
              <a:rPr lang="en-US" altLang="en-US" sz="2800" i="1" smtClean="0">
                <a:latin typeface="Times New Roman" panose="02020603050405020304" pitchFamily="18" charset="0"/>
              </a:rPr>
              <a:t>x</a:t>
            </a:r>
            <a:r>
              <a:rPr lang="en-US" altLang="en-US" sz="2800" baseline="-25000" smtClean="0"/>
              <a:t>2</a:t>
            </a:r>
            <a:r>
              <a:rPr lang="en-US" altLang="en-US" sz="2800" smtClean="0"/>
              <a:t> are the percentage changes in the two stock prices</a:t>
            </a:r>
            <a:r>
              <a:rPr lang="en-US" altLang="en-US" sz="2800" baseline="-25000" smtClean="0"/>
              <a:t> </a:t>
            </a:r>
            <a:endParaRPr lang="en-US" altLang="en-US" sz="2800" smtClean="0"/>
          </a:p>
          <a:p>
            <a:pPr eaLnBrk="1" hangingPunct="1">
              <a:lnSpc>
                <a:spcPct val="90000"/>
              </a:lnSpc>
              <a:buFont typeface="Wingdings" panose="05000000000000000000" pitchFamily="2" charset="2"/>
              <a:buNone/>
            </a:pPr>
            <a:endParaRPr lang="en-US" altLang="en-US" sz="2800" smtClean="0"/>
          </a:p>
        </p:txBody>
      </p:sp>
      <p:graphicFrame>
        <p:nvGraphicFramePr>
          <p:cNvPr id="48133" name="Object 1024"/>
          <p:cNvGraphicFramePr>
            <a:graphicFrameLocks/>
          </p:cNvGraphicFramePr>
          <p:nvPr/>
        </p:nvGraphicFramePr>
        <p:xfrm>
          <a:off x="1908175" y="4652963"/>
          <a:ext cx="5170488" cy="457200"/>
        </p:xfrm>
        <a:graphic>
          <a:graphicData uri="http://schemas.openxmlformats.org/presentationml/2006/ole">
            <mc:AlternateContent xmlns:mc="http://schemas.openxmlformats.org/markup-compatibility/2006">
              <mc:Choice xmlns:v="urn:schemas-microsoft-com:vml" Requires="v">
                <p:oleObj spid="_x0000_s48135" name="Equation" r:id="rId4" imgW="2323092" imgH="215806" progId="Equation.3">
                  <p:embed/>
                </p:oleObj>
              </mc:Choice>
              <mc:Fallback>
                <p:oleObj name="Equation" r:id="rId4" imgW="2323092" imgH="215806" progId="Equation.3">
                  <p:embed/>
                  <p:pic>
                    <p:nvPicPr>
                      <p:cNvPr id="0" name="Object 102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8175" y="4652963"/>
                        <a:ext cx="51704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8134"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3CF74EA9-28D1-40A4-B0EE-372B9061D7F6}" type="slidenum">
              <a:rPr lang="en-US" altLang="en-US" sz="1800"/>
              <a:pPr eaLnBrk="1" hangingPunct="1">
                <a:spcBef>
                  <a:spcPct val="0"/>
                </a:spcBef>
                <a:buClrTx/>
                <a:buSzTx/>
                <a:buFontTx/>
                <a:buNone/>
              </a:pPr>
              <a:t>35</a:t>
            </a:fld>
            <a:endParaRPr lang="en-US" altLang="en-US" sz="18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a:xfrm>
            <a:off x="457200" y="122238"/>
            <a:ext cx="7543800" cy="1663700"/>
          </a:xfrm>
        </p:spPr>
        <p:txBody>
          <a:bodyPr/>
          <a:lstStyle/>
          <a:p>
            <a:r>
              <a:rPr lang="en-US" altLang="en-US" smtClean="0"/>
              <a:t>But the distribution of the daily return on an option is not normal  </a:t>
            </a:r>
            <a:br>
              <a:rPr lang="en-US" altLang="en-US" smtClean="0"/>
            </a:br>
            <a:r>
              <a:rPr lang="en-US" altLang="en-US" sz="2400" smtClean="0"/>
              <a:t>(See Figure 20.4, page 444)</a:t>
            </a:r>
          </a:p>
        </p:txBody>
      </p:sp>
      <p:sp>
        <p:nvSpPr>
          <p:cNvPr id="49155"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t>Fundamentals of Futures and Options Markets, 9th Ed, Ch 20, Copyright © John C. Hull 2016</a:t>
            </a:r>
            <a:endParaRPr lang="en-US" altLang="en-US" sz="1400" i="0">
              <a:cs typeface="Arial" panose="020B0604020202020204" pitchFamily="34" charset="0"/>
            </a:endParaRPr>
          </a:p>
        </p:txBody>
      </p:sp>
      <p:sp>
        <p:nvSpPr>
          <p:cNvPr id="5" name="Rectangle 6"/>
          <p:cNvSpPr txBox="1">
            <a:spLocks noChangeArrowheads="1"/>
          </p:cNvSpPr>
          <p:nvPr/>
        </p:nvSpPr>
        <p:spPr>
          <a:xfrm>
            <a:off x="457200" y="1719263"/>
            <a:ext cx="8229600" cy="4411662"/>
          </a:xfrm>
          <a:prstGeom prst="rect">
            <a:avLst/>
          </a:prstGeom>
        </p:spPr>
        <p:txBody>
          <a:bodyPr/>
          <a:lstStyle/>
          <a:p>
            <a:pPr marL="342900" indent="-342900" eaLnBrk="0" hangingPunct="0">
              <a:spcBef>
                <a:spcPct val="20000"/>
              </a:spcBef>
              <a:buClr>
                <a:schemeClr val="tx2"/>
              </a:buClr>
              <a:buSzPct val="70000"/>
              <a:buFont typeface="Wingdings" pitchFamily="2" charset="2"/>
              <a:buNone/>
              <a:defRPr/>
            </a:pPr>
            <a:r>
              <a:rPr lang="en-US" sz="3200" kern="0" dirty="0">
                <a:latin typeface="+mn-lt"/>
              </a:rPr>
              <a:t> </a:t>
            </a:r>
            <a:endParaRPr lang="en-CA" sz="3200" kern="0" dirty="0">
              <a:latin typeface="+mn-lt"/>
            </a:endParaRPr>
          </a:p>
        </p:txBody>
      </p:sp>
      <p:pic>
        <p:nvPicPr>
          <p:cNvPr id="4915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750" y="1857375"/>
            <a:ext cx="3902075" cy="271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pic>
        <p:nvPicPr>
          <p:cNvPr id="49158"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57688" y="1857375"/>
            <a:ext cx="3643312" cy="275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49159" name="TextBox 17"/>
          <p:cNvSpPr txBox="1">
            <a:spLocks noChangeArrowheads="1"/>
          </p:cNvSpPr>
          <p:nvPr/>
        </p:nvSpPr>
        <p:spPr bwMode="auto">
          <a:xfrm>
            <a:off x="857250" y="4714875"/>
            <a:ext cx="20002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800"/>
              <a:t>Positive Gamma</a:t>
            </a:r>
            <a:endParaRPr lang="en-US" altLang="en-US" sz="1800"/>
          </a:p>
        </p:txBody>
      </p:sp>
      <p:sp>
        <p:nvSpPr>
          <p:cNvPr id="49160" name="TextBox 18"/>
          <p:cNvSpPr txBox="1">
            <a:spLocks noChangeArrowheads="1"/>
          </p:cNvSpPr>
          <p:nvPr/>
        </p:nvSpPr>
        <p:spPr bwMode="auto">
          <a:xfrm>
            <a:off x="5500688" y="4643438"/>
            <a:ext cx="24288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800"/>
              <a:t>Negative Gamma</a:t>
            </a:r>
            <a:endParaRPr lang="en-US" altLang="en-US" sz="1800"/>
          </a:p>
        </p:txBody>
      </p:sp>
      <p:sp>
        <p:nvSpPr>
          <p:cNvPr id="49161" name="Slide Number Placeholder 9"/>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12E49551-62AB-42A8-8DCD-740090B9249E}" type="slidenum">
              <a:rPr lang="en-US" altLang="en-US" sz="1800"/>
              <a:pPr eaLnBrk="1" hangingPunct="1">
                <a:spcBef>
                  <a:spcPct val="0"/>
                </a:spcBef>
                <a:buClrTx/>
                <a:buSzTx/>
                <a:buFontTx/>
                <a:buNone/>
              </a:pPr>
              <a:t>36</a:t>
            </a:fld>
            <a:endParaRPr lang="en-US" altLang="en-US" sz="18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a:xfrm>
            <a:off x="457200" y="357188"/>
            <a:ext cx="7543800" cy="1428750"/>
          </a:xfrm>
        </p:spPr>
        <p:txBody>
          <a:bodyPr/>
          <a:lstStyle/>
          <a:p>
            <a:r>
              <a:rPr lang="en-CA" altLang="en-US" smtClean="0"/>
              <a:t>Translation of Asset Price Change to Price Change for Long Call </a:t>
            </a:r>
            <a:r>
              <a:rPr lang="en-CA" altLang="en-US" sz="2400" smtClean="0"/>
              <a:t>(Figure 20.5, page 445)</a:t>
            </a:r>
            <a:endParaRPr lang="en-US" altLang="en-US" sz="2400" smtClean="0"/>
          </a:p>
        </p:txBody>
      </p:sp>
      <p:sp>
        <p:nvSpPr>
          <p:cNvPr id="50179"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t>Fundamentals of Futures and Options Markets, 9th Ed, Ch 20, Copyright © John C. Hull 2016</a:t>
            </a:r>
            <a:endParaRPr lang="en-US" altLang="en-US" sz="1400" i="0">
              <a:cs typeface="Arial" panose="020B0604020202020204" pitchFamily="34" charset="0"/>
            </a:endParaRPr>
          </a:p>
        </p:txBody>
      </p:sp>
      <p:grpSp>
        <p:nvGrpSpPr>
          <p:cNvPr id="50180" name="Group 117"/>
          <p:cNvGrpSpPr>
            <a:grpSpLocks/>
          </p:cNvGrpSpPr>
          <p:nvPr/>
        </p:nvGrpSpPr>
        <p:grpSpPr bwMode="auto">
          <a:xfrm>
            <a:off x="1000125" y="1857375"/>
            <a:ext cx="6572250" cy="4143375"/>
            <a:chOff x="1000100" y="1714487"/>
            <a:chExt cx="6572296" cy="4071967"/>
          </a:xfrm>
        </p:grpSpPr>
        <p:cxnSp>
          <p:nvCxnSpPr>
            <p:cNvPr id="50182" name="Straight Arrow Connector 6"/>
            <p:cNvCxnSpPr>
              <a:cxnSpLocks noChangeShapeType="1"/>
            </p:cNvCxnSpPr>
            <p:nvPr/>
          </p:nvCxnSpPr>
          <p:spPr bwMode="auto">
            <a:xfrm>
              <a:off x="2714612" y="4357694"/>
              <a:ext cx="3714776" cy="1588"/>
            </a:xfrm>
            <a:prstGeom prst="straightConnector1">
              <a:avLst/>
            </a:prstGeom>
            <a:noFill/>
            <a:ln w="12700" algn="ctr">
              <a:solidFill>
                <a:schemeClr val="tx1"/>
              </a:solidFill>
              <a:round/>
              <a:headEnd type="none" w="sm" len="sm"/>
              <a:tailEnd type="arrow" w="med" len="med"/>
            </a:ln>
            <a:extLst>
              <a:ext uri="{909E8E84-426E-40DD-AFC4-6F175D3DCCD1}">
                <a14:hiddenFill xmlns:a14="http://schemas.microsoft.com/office/drawing/2010/main">
                  <a:noFill/>
                </a14:hiddenFill>
              </a:ext>
            </a:extLst>
          </p:spPr>
        </p:cxnSp>
        <p:cxnSp>
          <p:nvCxnSpPr>
            <p:cNvPr id="50183" name="Straight Arrow Connector 8"/>
            <p:cNvCxnSpPr>
              <a:cxnSpLocks noChangeShapeType="1"/>
            </p:cNvCxnSpPr>
            <p:nvPr/>
          </p:nvCxnSpPr>
          <p:spPr bwMode="auto">
            <a:xfrm rot="5400000" flipH="1" flipV="1">
              <a:off x="1428728" y="3071810"/>
              <a:ext cx="2571768" cy="1588"/>
            </a:xfrm>
            <a:prstGeom prst="straightConnector1">
              <a:avLst/>
            </a:prstGeom>
            <a:noFill/>
            <a:ln w="12700" algn="ctr">
              <a:solidFill>
                <a:schemeClr val="tx1"/>
              </a:solidFill>
              <a:round/>
              <a:headEnd type="none" w="sm" len="sm"/>
              <a:tailEnd type="arrow" w="med" len="med"/>
            </a:ln>
            <a:extLst>
              <a:ext uri="{909E8E84-426E-40DD-AFC4-6F175D3DCCD1}">
                <a14:hiddenFill xmlns:a14="http://schemas.microsoft.com/office/drawing/2010/main">
                  <a:noFill/>
                </a14:hiddenFill>
              </a:ext>
            </a:extLst>
          </p:spPr>
        </p:cxnSp>
        <p:pic>
          <p:nvPicPr>
            <p:cNvPr id="5018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8926" y="4429131"/>
              <a:ext cx="3429024" cy="1357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pic>
          <p:nvPicPr>
            <p:cNvPr id="50185"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400000">
              <a:off x="334947" y="2379640"/>
              <a:ext cx="2973381" cy="164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cxnSp>
          <p:nvCxnSpPr>
            <p:cNvPr id="50186" name="Straight Connector 20"/>
            <p:cNvCxnSpPr>
              <a:cxnSpLocks noChangeShapeType="1"/>
            </p:cNvCxnSpPr>
            <p:nvPr/>
          </p:nvCxnSpPr>
          <p:spPr bwMode="auto">
            <a:xfrm rot="5400000" flipH="1" flipV="1">
              <a:off x="4251720" y="4320784"/>
              <a:ext cx="785024" cy="1588"/>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50187" name="Straight Connector 24"/>
            <p:cNvCxnSpPr>
              <a:cxnSpLocks noChangeShapeType="1"/>
            </p:cNvCxnSpPr>
            <p:nvPr/>
          </p:nvCxnSpPr>
          <p:spPr bwMode="auto">
            <a:xfrm rot="5400000" flipH="1" flipV="1">
              <a:off x="4108447" y="4393413"/>
              <a:ext cx="1642280" cy="794"/>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50188" name="Straight Connector 29"/>
            <p:cNvCxnSpPr>
              <a:cxnSpLocks noChangeShapeType="1"/>
            </p:cNvCxnSpPr>
            <p:nvPr/>
          </p:nvCxnSpPr>
          <p:spPr bwMode="auto">
            <a:xfrm rot="5400000" flipH="1" flipV="1">
              <a:off x="4036215" y="4250537"/>
              <a:ext cx="2500330" cy="1588"/>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50189" name="Straight Connector 31"/>
            <p:cNvCxnSpPr>
              <a:cxnSpLocks noChangeShapeType="1"/>
            </p:cNvCxnSpPr>
            <p:nvPr/>
          </p:nvCxnSpPr>
          <p:spPr bwMode="auto">
            <a:xfrm>
              <a:off x="2285984" y="3000372"/>
              <a:ext cx="3000396" cy="1588"/>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50190" name="Straight Connector 40"/>
            <p:cNvCxnSpPr>
              <a:cxnSpLocks noChangeShapeType="1"/>
            </p:cNvCxnSpPr>
            <p:nvPr/>
          </p:nvCxnSpPr>
          <p:spPr bwMode="auto">
            <a:xfrm rot="5400000" flipH="1" flipV="1">
              <a:off x="3858414" y="4714090"/>
              <a:ext cx="1000132" cy="1588"/>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50191" name="Straight Connector 48"/>
            <p:cNvCxnSpPr>
              <a:cxnSpLocks noChangeShapeType="1"/>
            </p:cNvCxnSpPr>
            <p:nvPr/>
          </p:nvCxnSpPr>
          <p:spPr bwMode="auto">
            <a:xfrm rot="5400000" flipH="1" flipV="1">
              <a:off x="3464711" y="4893479"/>
              <a:ext cx="1214446" cy="1588"/>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50192" name="Straight Connector 50"/>
            <p:cNvCxnSpPr>
              <a:cxnSpLocks noChangeShapeType="1"/>
            </p:cNvCxnSpPr>
            <p:nvPr/>
          </p:nvCxnSpPr>
          <p:spPr bwMode="auto">
            <a:xfrm>
              <a:off x="2285984" y="4286256"/>
              <a:ext cx="1785950" cy="1588"/>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50193" name="Straight Connector 61"/>
            <p:cNvCxnSpPr>
              <a:cxnSpLocks noChangeShapeType="1"/>
              <a:endCxn id="65" idx="2"/>
            </p:cNvCxnSpPr>
            <p:nvPr/>
          </p:nvCxnSpPr>
          <p:spPr bwMode="auto">
            <a:xfrm flipV="1">
              <a:off x="2714610" y="4259588"/>
              <a:ext cx="1494919" cy="98110"/>
            </a:xfrm>
            <a:prstGeom prst="line">
              <a:avLst/>
            </a:prstGeom>
            <a:noFill/>
            <a:ln w="12700" algn="ctr">
              <a:solidFill>
                <a:srgbClr val="FF0000"/>
              </a:solidFill>
              <a:round/>
              <a:headEnd type="none" w="sm" len="sm"/>
              <a:tailEnd type="none" w="sm" len="sm"/>
            </a:ln>
            <a:extLst>
              <a:ext uri="{909E8E84-426E-40DD-AFC4-6F175D3DCCD1}">
                <a14:hiddenFill xmlns:a14="http://schemas.microsoft.com/office/drawing/2010/main">
                  <a:noFill/>
                </a14:hiddenFill>
              </a:ext>
            </a:extLst>
          </p:spPr>
        </p:cxnSp>
        <p:sp>
          <p:nvSpPr>
            <p:cNvPr id="65" name="Arc 64"/>
            <p:cNvSpPr/>
            <p:nvPr/>
          </p:nvSpPr>
          <p:spPr bwMode="auto">
            <a:xfrm rot="6792575">
              <a:off x="3381039" y="2768923"/>
              <a:ext cx="1772320" cy="1292234"/>
            </a:xfrm>
            <a:prstGeom prst="arc">
              <a:avLst>
                <a:gd name="adj1" fmla="val 16237887"/>
                <a:gd name="adj2" fmla="val 20441296"/>
              </a:avLst>
            </a:prstGeom>
            <a:solidFill>
              <a:schemeClr val="bg1"/>
            </a:solidFill>
            <a:ln w="12700" cap="flat" cmpd="sng" algn="ctr">
              <a:solidFill>
                <a:srgbClr val="FF0000"/>
              </a:solidFill>
              <a:prstDash val="solid"/>
              <a:round/>
              <a:headEnd type="none" w="sm" len="sm"/>
              <a:tailEnd type="none" w="sm" len="sm"/>
            </a:ln>
            <a:effectLst/>
          </p:spPr>
          <p:txBody>
            <a:bodyPr lIns="92075" tIns="46038" rIns="92075" bIns="46038">
              <a:spAutoFit/>
            </a:bodyPr>
            <a:lstStyle/>
            <a:p>
              <a:pPr>
                <a:defRPr/>
              </a:pPr>
              <a:endParaRPr lang="en-US" dirty="0">
                <a:latin typeface="Arial" charset="0"/>
              </a:endParaRPr>
            </a:p>
          </p:txBody>
        </p:sp>
        <p:cxnSp>
          <p:nvCxnSpPr>
            <p:cNvPr id="50195" name="Straight Connector 66"/>
            <p:cNvCxnSpPr>
              <a:cxnSpLocks noChangeShapeType="1"/>
              <a:endCxn id="65" idx="0"/>
            </p:cNvCxnSpPr>
            <p:nvPr/>
          </p:nvCxnSpPr>
          <p:spPr bwMode="auto">
            <a:xfrm rot="5400000">
              <a:off x="4627199" y="2660143"/>
              <a:ext cx="1247646" cy="785097"/>
            </a:xfrm>
            <a:prstGeom prst="line">
              <a:avLst/>
            </a:prstGeom>
            <a:noFill/>
            <a:ln w="12700" algn="ctr">
              <a:solidFill>
                <a:srgbClr val="FF0000"/>
              </a:solidFill>
              <a:round/>
              <a:headEnd type="none" w="sm" len="sm"/>
              <a:tailEnd type="none" w="sm" len="sm"/>
            </a:ln>
            <a:extLst>
              <a:ext uri="{909E8E84-426E-40DD-AFC4-6F175D3DCCD1}">
                <a14:hiddenFill xmlns:a14="http://schemas.microsoft.com/office/drawing/2010/main">
                  <a:noFill/>
                </a14:hiddenFill>
              </a:ext>
            </a:extLst>
          </p:spPr>
        </p:cxnSp>
        <p:cxnSp>
          <p:nvCxnSpPr>
            <p:cNvPr id="50196" name="Straight Connector 81"/>
            <p:cNvCxnSpPr>
              <a:cxnSpLocks noChangeShapeType="1"/>
            </p:cNvCxnSpPr>
            <p:nvPr/>
          </p:nvCxnSpPr>
          <p:spPr bwMode="auto">
            <a:xfrm>
              <a:off x="1928794" y="4214818"/>
              <a:ext cx="2714644" cy="1588"/>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50197" name="Straight Connector 105"/>
            <p:cNvCxnSpPr>
              <a:cxnSpLocks noChangeShapeType="1"/>
            </p:cNvCxnSpPr>
            <p:nvPr/>
          </p:nvCxnSpPr>
          <p:spPr bwMode="auto">
            <a:xfrm>
              <a:off x="1214414" y="4000504"/>
              <a:ext cx="3429024" cy="1588"/>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50198" name="Straight Connector 109"/>
            <p:cNvCxnSpPr>
              <a:cxnSpLocks noChangeShapeType="1"/>
            </p:cNvCxnSpPr>
            <p:nvPr/>
          </p:nvCxnSpPr>
          <p:spPr bwMode="auto">
            <a:xfrm>
              <a:off x="1857356" y="3571876"/>
              <a:ext cx="3072555" cy="33200"/>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sp>
          <p:nvSpPr>
            <p:cNvPr id="50199" name="TextBox 115"/>
            <p:cNvSpPr txBox="1">
              <a:spLocks noChangeArrowheads="1"/>
            </p:cNvSpPr>
            <p:nvPr/>
          </p:nvSpPr>
          <p:spPr bwMode="auto">
            <a:xfrm>
              <a:off x="2714612" y="1714488"/>
              <a:ext cx="11430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800"/>
                <a:t>Long Call</a:t>
              </a:r>
              <a:endParaRPr lang="en-US" altLang="en-US" sz="1800"/>
            </a:p>
          </p:txBody>
        </p:sp>
        <p:sp>
          <p:nvSpPr>
            <p:cNvPr id="50200" name="TextBox 116"/>
            <p:cNvSpPr txBox="1">
              <a:spLocks noChangeArrowheads="1"/>
            </p:cNvSpPr>
            <p:nvPr/>
          </p:nvSpPr>
          <p:spPr bwMode="auto">
            <a:xfrm>
              <a:off x="5643570" y="3929066"/>
              <a:ext cx="192882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800"/>
                <a:t>Asset Price</a:t>
              </a:r>
              <a:endParaRPr lang="en-US" altLang="en-US" sz="1800"/>
            </a:p>
          </p:txBody>
        </p:sp>
      </p:grpSp>
      <p:sp>
        <p:nvSpPr>
          <p:cNvPr id="50181" name="Slide Number Placeholder 2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EC75B0BD-9209-4361-9C8A-9C4850A2F38D}" type="slidenum">
              <a:rPr lang="en-US" altLang="en-US" sz="1800"/>
              <a:pPr eaLnBrk="1" hangingPunct="1">
                <a:spcBef>
                  <a:spcPct val="0"/>
                </a:spcBef>
                <a:buClrTx/>
                <a:buSzTx/>
                <a:buFontTx/>
                <a:buNone/>
              </a:pPr>
              <a:t>37</a:t>
            </a:fld>
            <a:endParaRPr lang="en-US" altLang="en-US" sz="18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a:xfrm>
            <a:off x="457200" y="122238"/>
            <a:ext cx="7543800" cy="1520825"/>
          </a:xfrm>
        </p:spPr>
        <p:txBody>
          <a:bodyPr/>
          <a:lstStyle/>
          <a:p>
            <a:r>
              <a:rPr lang="en-CA" altLang="en-US" smtClean="0"/>
              <a:t>Translation of Asset Price Change to Price Change for Short Call </a:t>
            </a:r>
            <a:r>
              <a:rPr lang="en-CA" altLang="en-US" sz="2400" smtClean="0"/>
              <a:t>(Figure 20.6, page 445)</a:t>
            </a:r>
            <a:endParaRPr lang="en-US" altLang="en-US" smtClean="0"/>
          </a:p>
        </p:txBody>
      </p:sp>
      <p:sp>
        <p:nvSpPr>
          <p:cNvPr id="51203"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t>Fundamentals of Futures and Options Markets, 9th Ed, Ch 20, Copyright © John C. Hull 2016</a:t>
            </a:r>
            <a:endParaRPr lang="en-US" altLang="en-US" sz="1400" i="0">
              <a:cs typeface="Arial" panose="020B0604020202020204" pitchFamily="34" charset="0"/>
            </a:endParaRPr>
          </a:p>
        </p:txBody>
      </p:sp>
      <p:pic>
        <p:nvPicPr>
          <p:cNvPr id="5120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8938" y="1785938"/>
            <a:ext cx="3429000" cy="1357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grpSp>
        <p:nvGrpSpPr>
          <p:cNvPr id="51205" name="Group 40"/>
          <p:cNvGrpSpPr>
            <a:grpSpLocks/>
          </p:cNvGrpSpPr>
          <p:nvPr/>
        </p:nvGrpSpPr>
        <p:grpSpPr bwMode="auto">
          <a:xfrm>
            <a:off x="1000125" y="2071688"/>
            <a:ext cx="6572250" cy="3732212"/>
            <a:chOff x="1000100" y="2071680"/>
            <a:chExt cx="6572296" cy="3731782"/>
          </a:xfrm>
        </p:grpSpPr>
        <p:cxnSp>
          <p:nvCxnSpPr>
            <p:cNvPr id="51207" name="Straight Arrow Connector 5"/>
            <p:cNvCxnSpPr>
              <a:cxnSpLocks noChangeShapeType="1"/>
            </p:cNvCxnSpPr>
            <p:nvPr/>
          </p:nvCxnSpPr>
          <p:spPr bwMode="auto">
            <a:xfrm flipV="1">
              <a:off x="2714612" y="3280859"/>
              <a:ext cx="3714776" cy="1504"/>
            </a:xfrm>
            <a:prstGeom prst="straightConnector1">
              <a:avLst/>
            </a:prstGeom>
            <a:noFill/>
            <a:ln w="12700" algn="ctr">
              <a:solidFill>
                <a:schemeClr val="tx1"/>
              </a:solidFill>
              <a:round/>
              <a:headEnd type="none" w="sm" len="sm"/>
              <a:tailEnd type="arrow" w="med" len="med"/>
            </a:ln>
            <a:extLst>
              <a:ext uri="{909E8E84-426E-40DD-AFC4-6F175D3DCCD1}">
                <a14:hiddenFill xmlns:a14="http://schemas.microsoft.com/office/drawing/2010/main">
                  <a:noFill/>
                </a14:hiddenFill>
              </a:ext>
            </a:extLst>
          </p:spPr>
        </p:cxnSp>
        <p:cxnSp>
          <p:nvCxnSpPr>
            <p:cNvPr id="51208" name="Straight Arrow Connector 6"/>
            <p:cNvCxnSpPr>
              <a:cxnSpLocks noChangeShapeType="1"/>
            </p:cNvCxnSpPr>
            <p:nvPr/>
          </p:nvCxnSpPr>
          <p:spPr bwMode="auto">
            <a:xfrm rot="16200000" flipH="1">
              <a:off x="927558" y="3930174"/>
              <a:ext cx="3574904" cy="792"/>
            </a:xfrm>
            <a:prstGeom prst="straightConnector1">
              <a:avLst/>
            </a:prstGeom>
            <a:noFill/>
            <a:ln w="12700" algn="ctr">
              <a:solidFill>
                <a:schemeClr val="tx1"/>
              </a:solidFill>
              <a:round/>
              <a:headEnd type="arrow" w="med" len="med"/>
              <a:tailEnd/>
            </a:ln>
            <a:extLst>
              <a:ext uri="{909E8E84-426E-40DD-AFC4-6F175D3DCCD1}">
                <a14:hiddenFill xmlns:a14="http://schemas.microsoft.com/office/drawing/2010/main">
                  <a:noFill/>
                </a14:hiddenFill>
              </a:ext>
            </a:extLst>
          </p:spPr>
        </p:cxnSp>
        <p:pic>
          <p:nvPicPr>
            <p:cNvPr id="51209"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400000" flipV="1">
              <a:off x="413194" y="3556473"/>
              <a:ext cx="2816887" cy="164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cxnSp>
          <p:nvCxnSpPr>
            <p:cNvPr id="51210" name="Straight Connector 9"/>
            <p:cNvCxnSpPr>
              <a:cxnSpLocks noChangeShapeType="1"/>
            </p:cNvCxnSpPr>
            <p:nvPr/>
          </p:nvCxnSpPr>
          <p:spPr bwMode="auto">
            <a:xfrm rot="16200000" flipH="1">
              <a:off x="3835856" y="2879262"/>
              <a:ext cx="1616752" cy="1588"/>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51211" name="Straight Connector 10"/>
            <p:cNvCxnSpPr>
              <a:cxnSpLocks noChangeShapeType="1"/>
            </p:cNvCxnSpPr>
            <p:nvPr/>
          </p:nvCxnSpPr>
          <p:spPr bwMode="auto">
            <a:xfrm rot="5400000">
              <a:off x="4214016" y="3286124"/>
              <a:ext cx="1429554" cy="794"/>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51212" name="Straight Connector 11"/>
            <p:cNvCxnSpPr>
              <a:cxnSpLocks noChangeShapeType="1"/>
            </p:cNvCxnSpPr>
            <p:nvPr/>
          </p:nvCxnSpPr>
          <p:spPr bwMode="auto">
            <a:xfrm rot="5400000">
              <a:off x="4464845" y="3750471"/>
              <a:ext cx="1643072" cy="2"/>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51213" name="Straight Connector 12"/>
            <p:cNvCxnSpPr>
              <a:cxnSpLocks noChangeShapeType="1"/>
            </p:cNvCxnSpPr>
            <p:nvPr/>
          </p:nvCxnSpPr>
          <p:spPr bwMode="auto">
            <a:xfrm flipV="1">
              <a:off x="2285984" y="4566743"/>
              <a:ext cx="3000396" cy="1504"/>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51214" name="Straight Connector 13"/>
            <p:cNvCxnSpPr>
              <a:cxnSpLocks noChangeShapeType="1"/>
            </p:cNvCxnSpPr>
            <p:nvPr/>
          </p:nvCxnSpPr>
          <p:spPr bwMode="auto">
            <a:xfrm rot="16200000" flipH="1">
              <a:off x="3935495" y="2993938"/>
              <a:ext cx="845972" cy="1587"/>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51215" name="Straight Connector 14"/>
            <p:cNvCxnSpPr>
              <a:cxnSpLocks noChangeShapeType="1"/>
            </p:cNvCxnSpPr>
            <p:nvPr/>
          </p:nvCxnSpPr>
          <p:spPr bwMode="auto">
            <a:xfrm rot="16200000" flipH="1">
              <a:off x="3826434" y="3102996"/>
              <a:ext cx="491794" cy="794"/>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51216" name="Straight Connector 15"/>
            <p:cNvCxnSpPr>
              <a:cxnSpLocks noChangeShapeType="1"/>
            </p:cNvCxnSpPr>
            <p:nvPr/>
          </p:nvCxnSpPr>
          <p:spPr bwMode="auto">
            <a:xfrm flipV="1">
              <a:off x="2285984" y="3348537"/>
              <a:ext cx="1785950" cy="1504"/>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51217" name="Straight Connector 16"/>
            <p:cNvCxnSpPr>
              <a:cxnSpLocks noChangeShapeType="1"/>
              <a:endCxn id="18" idx="2"/>
            </p:cNvCxnSpPr>
            <p:nvPr/>
          </p:nvCxnSpPr>
          <p:spPr bwMode="auto">
            <a:xfrm>
              <a:off x="2714610" y="3282360"/>
              <a:ext cx="1494919" cy="92946"/>
            </a:xfrm>
            <a:prstGeom prst="line">
              <a:avLst/>
            </a:prstGeom>
            <a:noFill/>
            <a:ln w="12700" algn="ctr">
              <a:solidFill>
                <a:srgbClr val="FF0000"/>
              </a:solidFill>
              <a:round/>
              <a:headEnd type="none" w="sm" len="sm"/>
              <a:tailEnd type="none" w="sm" len="sm"/>
            </a:ln>
            <a:extLst>
              <a:ext uri="{909E8E84-426E-40DD-AFC4-6F175D3DCCD1}">
                <a14:hiddenFill xmlns:a14="http://schemas.microsoft.com/office/drawing/2010/main">
                  <a:noFill/>
                </a14:hiddenFill>
              </a:ext>
            </a:extLst>
          </p:spPr>
        </p:cxnSp>
        <p:sp>
          <p:nvSpPr>
            <p:cNvPr id="18" name="Arc 17"/>
            <p:cNvSpPr/>
            <p:nvPr/>
          </p:nvSpPr>
          <p:spPr bwMode="auto">
            <a:xfrm rot="14807425" flipV="1">
              <a:off x="3427508" y="3528758"/>
              <a:ext cx="1679381" cy="1292234"/>
            </a:xfrm>
            <a:prstGeom prst="arc">
              <a:avLst>
                <a:gd name="adj1" fmla="val 16237887"/>
                <a:gd name="adj2" fmla="val 20441296"/>
              </a:avLst>
            </a:prstGeom>
            <a:solidFill>
              <a:schemeClr val="bg1"/>
            </a:solidFill>
            <a:ln w="12700" cap="flat" cmpd="sng" algn="ctr">
              <a:solidFill>
                <a:srgbClr val="FF0000"/>
              </a:solidFill>
              <a:prstDash val="solid"/>
              <a:round/>
              <a:headEnd type="none" w="sm" len="sm"/>
              <a:tailEnd type="none" w="sm" len="sm"/>
            </a:ln>
            <a:effectLst/>
          </p:spPr>
          <p:txBody>
            <a:bodyPr lIns="92075" tIns="46038" rIns="92075" bIns="46038">
              <a:spAutoFit/>
            </a:bodyPr>
            <a:lstStyle/>
            <a:p>
              <a:pPr>
                <a:defRPr/>
              </a:pPr>
              <a:endParaRPr lang="en-US" dirty="0">
                <a:latin typeface="Arial" charset="0"/>
              </a:endParaRPr>
            </a:p>
          </p:txBody>
        </p:sp>
        <p:cxnSp>
          <p:nvCxnSpPr>
            <p:cNvPr id="51219" name="Straight Connector 18"/>
            <p:cNvCxnSpPr>
              <a:cxnSpLocks noChangeShapeType="1"/>
              <a:endCxn id="18" idx="0"/>
            </p:cNvCxnSpPr>
            <p:nvPr/>
          </p:nvCxnSpPr>
          <p:spPr bwMode="auto">
            <a:xfrm rot="16200000" flipV="1">
              <a:off x="4660032" y="4126133"/>
              <a:ext cx="1181980" cy="785097"/>
            </a:xfrm>
            <a:prstGeom prst="line">
              <a:avLst/>
            </a:prstGeom>
            <a:noFill/>
            <a:ln w="12700" algn="ctr">
              <a:solidFill>
                <a:srgbClr val="FF0000"/>
              </a:solidFill>
              <a:round/>
              <a:headEnd type="none" w="sm" len="sm"/>
              <a:tailEnd type="none" w="sm" len="sm"/>
            </a:ln>
            <a:extLst>
              <a:ext uri="{909E8E84-426E-40DD-AFC4-6F175D3DCCD1}">
                <a14:hiddenFill xmlns:a14="http://schemas.microsoft.com/office/drawing/2010/main">
                  <a:noFill/>
                </a14:hiddenFill>
              </a:ext>
            </a:extLst>
          </p:spPr>
        </p:cxnSp>
        <p:cxnSp>
          <p:nvCxnSpPr>
            <p:cNvPr id="51220" name="Straight Connector 19"/>
            <p:cNvCxnSpPr>
              <a:cxnSpLocks noChangeShapeType="1"/>
            </p:cNvCxnSpPr>
            <p:nvPr/>
          </p:nvCxnSpPr>
          <p:spPr bwMode="auto">
            <a:xfrm>
              <a:off x="1928794" y="3429000"/>
              <a:ext cx="2428892" cy="1588"/>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51221" name="Straight Connector 20"/>
            <p:cNvCxnSpPr>
              <a:cxnSpLocks noChangeShapeType="1"/>
            </p:cNvCxnSpPr>
            <p:nvPr/>
          </p:nvCxnSpPr>
          <p:spPr bwMode="auto">
            <a:xfrm flipV="1">
              <a:off x="1214414" y="3619250"/>
              <a:ext cx="3429024" cy="1504"/>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51222" name="Straight Connector 21"/>
            <p:cNvCxnSpPr>
              <a:cxnSpLocks noChangeShapeType="1"/>
            </p:cNvCxnSpPr>
            <p:nvPr/>
          </p:nvCxnSpPr>
          <p:spPr bwMode="auto">
            <a:xfrm flipV="1">
              <a:off x="1857356" y="3995370"/>
              <a:ext cx="3072555" cy="31453"/>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sp>
          <p:nvSpPr>
            <p:cNvPr id="51223" name="TextBox 22"/>
            <p:cNvSpPr txBox="1">
              <a:spLocks noChangeArrowheads="1"/>
            </p:cNvSpPr>
            <p:nvPr/>
          </p:nvSpPr>
          <p:spPr bwMode="auto">
            <a:xfrm rot="10800000" flipV="1">
              <a:off x="2714612" y="5157131"/>
              <a:ext cx="11430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800"/>
                <a:t>Short Call</a:t>
              </a:r>
              <a:endParaRPr lang="en-US" altLang="en-US" sz="1800"/>
            </a:p>
          </p:txBody>
        </p:sp>
        <p:sp>
          <p:nvSpPr>
            <p:cNvPr id="51224" name="TextBox 23"/>
            <p:cNvSpPr txBox="1">
              <a:spLocks noChangeArrowheads="1"/>
            </p:cNvSpPr>
            <p:nvPr/>
          </p:nvSpPr>
          <p:spPr bwMode="auto">
            <a:xfrm rot="10800000" flipV="1">
              <a:off x="5643570" y="3338539"/>
              <a:ext cx="1928826" cy="349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800"/>
                <a:t>Asset Price</a:t>
              </a:r>
              <a:endParaRPr lang="en-US" altLang="en-US" sz="1800"/>
            </a:p>
          </p:txBody>
        </p:sp>
      </p:grpSp>
      <p:sp>
        <p:nvSpPr>
          <p:cNvPr id="51206" name="Slide Number Placeholder 2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2055D1FB-C7B5-4FF5-AD45-568D514C9670}" type="slidenum">
              <a:rPr lang="en-US" altLang="en-US" sz="1800"/>
              <a:pPr eaLnBrk="1" hangingPunct="1">
                <a:spcBef>
                  <a:spcPct val="0"/>
                </a:spcBef>
                <a:buClrTx/>
                <a:buSzTx/>
                <a:buFontTx/>
                <a:buNone/>
              </a:pPr>
              <a:t>38</a:t>
            </a:fld>
            <a:endParaRPr lang="en-US" altLang="en-US" sz="18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t>Fundamentals of Futures and Options Markets, 9th Ed, Ch 20, Copyright © John C. Hull 2016</a:t>
            </a:r>
            <a:endParaRPr lang="en-US" altLang="en-US" sz="1400" i="0"/>
          </a:p>
        </p:txBody>
      </p:sp>
      <p:sp>
        <p:nvSpPr>
          <p:cNvPr id="52227" name="Rectangle 2"/>
          <p:cNvSpPr>
            <a:spLocks noGrp="1" noChangeArrowheads="1"/>
          </p:cNvSpPr>
          <p:nvPr>
            <p:ph type="title"/>
          </p:nvPr>
        </p:nvSpPr>
        <p:spPr>
          <a:noFill/>
        </p:spPr>
        <p:txBody>
          <a:bodyPr lIns="92075" tIns="46038" rIns="92075" bIns="46038" anchor="ctr"/>
          <a:lstStyle/>
          <a:p>
            <a:pPr eaLnBrk="1" hangingPunct="1"/>
            <a:r>
              <a:rPr lang="en-US" altLang="en-US" smtClean="0"/>
              <a:t>EWMA Model  </a:t>
            </a:r>
            <a:r>
              <a:rPr lang="en-US" altLang="en-US" sz="2200" smtClean="0"/>
              <a:t>(equation 20.11, page 447)</a:t>
            </a:r>
            <a:endParaRPr lang="en-US" altLang="en-US" smtClean="0"/>
          </a:p>
        </p:txBody>
      </p:sp>
      <p:sp>
        <p:nvSpPr>
          <p:cNvPr id="55300" name="Rectangle 3"/>
          <p:cNvSpPr>
            <a:spLocks noGrp="1" noChangeArrowheads="1"/>
          </p:cNvSpPr>
          <p:nvPr>
            <p:ph type="body" idx="1"/>
          </p:nvPr>
        </p:nvSpPr>
        <p:spPr/>
        <p:txBody>
          <a:bodyPr lIns="92075" tIns="46038" rIns="92075" bIns="46038"/>
          <a:lstStyle/>
          <a:p>
            <a:pPr eaLnBrk="1" hangingPunct="1">
              <a:defRPr/>
            </a:pPr>
            <a:r>
              <a:rPr lang="en-US" altLang="en-US" sz="2800" dirty="0" smtClean="0"/>
              <a:t>In an exponentially weighted moving average model, the weights assigned to observations on daily returns decline exponentially as we move back through time</a:t>
            </a:r>
          </a:p>
          <a:p>
            <a:pPr eaLnBrk="1" hangingPunct="1">
              <a:defRPr/>
            </a:pPr>
            <a:r>
              <a:rPr lang="en-US" altLang="en-US" sz="2800" dirty="0" smtClean="0"/>
              <a:t>This leads to</a:t>
            </a:r>
          </a:p>
          <a:p>
            <a:pPr eaLnBrk="1" hangingPunct="1">
              <a:defRPr/>
            </a:pPr>
            <a:endParaRPr lang="en-US" altLang="en-US" sz="2800" dirty="0"/>
          </a:p>
          <a:p>
            <a:pPr eaLnBrk="1" hangingPunct="1">
              <a:defRPr/>
            </a:pPr>
            <a:r>
              <a:rPr lang="en-US" altLang="en-US" sz="2800" dirty="0" smtClean="0"/>
              <a:t>Where </a:t>
            </a:r>
            <a:r>
              <a:rPr lang="en-US" altLang="en-US" sz="2800" dirty="0" err="1" smtClean="0">
                <a:latin typeface="Symbol" panose="05050102010706020507" pitchFamily="18" charset="2"/>
              </a:rPr>
              <a:t>s</a:t>
            </a:r>
            <a:r>
              <a:rPr lang="en-US" altLang="en-US" sz="2800" i="1" baseline="-25000" dirty="0" err="1" smtClean="0">
                <a:latin typeface="+mj-lt"/>
              </a:rPr>
              <a:t>n</a:t>
            </a:r>
            <a:r>
              <a:rPr lang="en-US" altLang="en-US" sz="2800" baseline="-25000" dirty="0" smtClean="0"/>
              <a:t> </a:t>
            </a:r>
            <a:r>
              <a:rPr lang="en-US" altLang="en-US" sz="2800" dirty="0" smtClean="0"/>
              <a:t>is the volatility on day </a:t>
            </a:r>
            <a:r>
              <a:rPr lang="en-US" altLang="en-US" sz="2800" i="1" dirty="0" smtClean="0">
                <a:latin typeface="+mj-lt"/>
              </a:rPr>
              <a:t>n</a:t>
            </a:r>
            <a:r>
              <a:rPr lang="en-US" altLang="en-US" sz="2800" dirty="0" smtClean="0"/>
              <a:t>  and </a:t>
            </a:r>
            <a:r>
              <a:rPr lang="en-US" altLang="en-US" sz="2800" i="1" dirty="0" smtClean="0"/>
              <a:t>u</a:t>
            </a:r>
            <a:r>
              <a:rPr lang="en-US" altLang="en-US" sz="2800" i="1" baseline="-25000" dirty="0" smtClean="0"/>
              <a:t>n</a:t>
            </a:r>
            <a:r>
              <a:rPr lang="en-US" altLang="en-US" sz="2800" dirty="0" smtClean="0"/>
              <a:t> is the observed return on day </a:t>
            </a:r>
            <a:r>
              <a:rPr lang="en-US" altLang="en-US" sz="2800" i="1" dirty="0" smtClean="0">
                <a:latin typeface="+mj-lt"/>
              </a:rPr>
              <a:t>n</a:t>
            </a:r>
          </a:p>
          <a:p>
            <a:pPr algn="ctr" eaLnBrk="1" hangingPunct="1">
              <a:buFont typeface="Wingdings" panose="05000000000000000000" pitchFamily="2" charset="2"/>
              <a:buNone/>
              <a:defRPr/>
            </a:pPr>
            <a:endParaRPr lang="en-US" altLang="en-US" dirty="0" smtClean="0"/>
          </a:p>
        </p:txBody>
      </p:sp>
      <p:graphicFrame>
        <p:nvGraphicFramePr>
          <p:cNvPr id="52229" name="Object 4"/>
          <p:cNvGraphicFramePr>
            <a:graphicFrameLocks/>
          </p:cNvGraphicFramePr>
          <p:nvPr/>
        </p:nvGraphicFramePr>
        <p:xfrm>
          <a:off x="1908175" y="3933825"/>
          <a:ext cx="3743325" cy="503238"/>
        </p:xfrm>
        <a:graphic>
          <a:graphicData uri="http://schemas.openxmlformats.org/presentationml/2006/ole">
            <mc:AlternateContent xmlns:mc="http://schemas.openxmlformats.org/markup-compatibility/2006">
              <mc:Choice xmlns:v="urn:schemas-microsoft-com:vml" Requires="v">
                <p:oleObj spid="_x0000_s52231" name="Equation" r:id="rId4" imgW="1459866" imgH="241195" progId="Equation.3">
                  <p:embed/>
                </p:oleObj>
              </mc:Choice>
              <mc:Fallback>
                <p:oleObj name="Equation" r:id="rId4" imgW="1459866" imgH="241195" progId="Equation.3">
                  <p:embed/>
                  <p:pic>
                    <p:nvPicPr>
                      <p:cNvPr id="0"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8175" y="3933825"/>
                        <a:ext cx="3743325"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2230"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138835B5-119E-483E-A913-7FA5D5F4A80A}" type="slidenum">
              <a:rPr lang="en-US" altLang="en-US" sz="1800"/>
              <a:pPr eaLnBrk="1" hangingPunct="1">
                <a:spcBef>
                  <a:spcPct val="0"/>
                </a:spcBef>
                <a:buClrTx/>
                <a:buSzTx/>
                <a:buFontTx/>
                <a:buNone/>
              </a:pPr>
              <a:t>39</a:t>
            </a:fld>
            <a:endParaRPr lang="en-US" altLang="en-US" sz="18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t>Fundamentals of Futures and Options Markets, 9th Ed, Ch 20, Copyright © John C. Hull 2016</a:t>
            </a:r>
            <a:endParaRPr lang="en-US" altLang="en-US" sz="1400" i="0"/>
          </a:p>
        </p:txBody>
      </p:sp>
      <p:sp>
        <p:nvSpPr>
          <p:cNvPr id="53251" name="Rectangle 2"/>
          <p:cNvSpPr>
            <a:spLocks noGrp="1" noChangeArrowheads="1"/>
          </p:cNvSpPr>
          <p:nvPr>
            <p:ph type="title"/>
          </p:nvPr>
        </p:nvSpPr>
        <p:spPr>
          <a:noFill/>
        </p:spPr>
        <p:txBody>
          <a:bodyPr lIns="92075" tIns="46038" rIns="92075" bIns="46038" anchor="ctr"/>
          <a:lstStyle/>
          <a:p>
            <a:pPr eaLnBrk="1" hangingPunct="1"/>
            <a:r>
              <a:rPr lang="en-US" altLang="en-US" smtClean="0"/>
              <a:t>Attractions of EWMA</a:t>
            </a:r>
          </a:p>
        </p:txBody>
      </p:sp>
      <p:sp>
        <p:nvSpPr>
          <p:cNvPr id="53252" name="Rectangle 3"/>
          <p:cNvSpPr>
            <a:spLocks noGrp="1" noChangeArrowheads="1"/>
          </p:cNvSpPr>
          <p:nvPr>
            <p:ph type="body" idx="1"/>
          </p:nvPr>
        </p:nvSpPr>
        <p:spPr>
          <a:noFill/>
        </p:spPr>
        <p:txBody>
          <a:bodyPr lIns="92075" tIns="46038" rIns="92075" bIns="46038"/>
          <a:lstStyle/>
          <a:p>
            <a:pPr eaLnBrk="1" hangingPunct="1">
              <a:lnSpc>
                <a:spcPct val="90000"/>
              </a:lnSpc>
            </a:pPr>
            <a:r>
              <a:rPr lang="en-US" altLang="en-US" smtClean="0"/>
              <a:t>Relatively little data needs to be stored</a:t>
            </a:r>
          </a:p>
          <a:p>
            <a:pPr eaLnBrk="1" hangingPunct="1">
              <a:lnSpc>
                <a:spcPct val="90000"/>
              </a:lnSpc>
            </a:pPr>
            <a:r>
              <a:rPr lang="en-US" altLang="en-US" smtClean="0"/>
              <a:t>We need only remember the current estimate of the variance rate and the most recent observation on the market variable</a:t>
            </a:r>
          </a:p>
          <a:p>
            <a:pPr eaLnBrk="1" hangingPunct="1">
              <a:lnSpc>
                <a:spcPct val="90000"/>
              </a:lnSpc>
            </a:pPr>
            <a:r>
              <a:rPr lang="en-US" altLang="en-US" smtClean="0"/>
              <a:t>Tracks volatility changes</a:t>
            </a:r>
          </a:p>
          <a:p>
            <a:pPr eaLnBrk="1" hangingPunct="1">
              <a:lnSpc>
                <a:spcPct val="90000"/>
              </a:lnSpc>
            </a:pPr>
            <a:r>
              <a:rPr lang="en-US" altLang="en-US" smtClean="0">
                <a:latin typeface="Symbol" panose="05050102010706020507" pitchFamily="18" charset="2"/>
              </a:rPr>
              <a:t>l</a:t>
            </a:r>
            <a:r>
              <a:rPr lang="en-US" altLang="en-US" smtClean="0"/>
              <a:t> = 0.94 is a popular choice for daily volatility forecasting</a:t>
            </a:r>
          </a:p>
        </p:txBody>
      </p:sp>
      <p:sp>
        <p:nvSpPr>
          <p:cNvPr id="5325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13CEC6F0-A95E-43FD-8A4C-5DA768D91C12}" type="slidenum">
              <a:rPr lang="en-US" altLang="en-US" sz="1800"/>
              <a:pPr eaLnBrk="1" hangingPunct="1">
                <a:spcBef>
                  <a:spcPct val="0"/>
                </a:spcBef>
                <a:buClrTx/>
                <a:buSzTx/>
                <a:buFontTx/>
                <a:buNone/>
              </a:pPr>
              <a:t>40</a:t>
            </a:fld>
            <a:endParaRPr lang="en-US" altLang="en-US" sz="18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t>Fundamentals of Futures and Options Markets, 9th Ed, Ch 20, Copyright © John C. Hull 2016</a:t>
            </a:r>
            <a:endParaRPr lang="en-US" altLang="en-US" sz="1400" i="0"/>
          </a:p>
        </p:txBody>
      </p:sp>
      <p:sp>
        <p:nvSpPr>
          <p:cNvPr id="54275" name="Rectangle 2"/>
          <p:cNvSpPr>
            <a:spLocks noGrp="1" noChangeArrowheads="1"/>
          </p:cNvSpPr>
          <p:nvPr>
            <p:ph type="title"/>
          </p:nvPr>
        </p:nvSpPr>
        <p:spPr>
          <a:noFill/>
        </p:spPr>
        <p:txBody>
          <a:bodyPr lIns="92075" tIns="46038" rIns="92075" bIns="46038" anchor="ctr"/>
          <a:lstStyle/>
          <a:p>
            <a:pPr eaLnBrk="1" hangingPunct="1"/>
            <a:r>
              <a:rPr lang="en-US" altLang="en-US" smtClean="0"/>
              <a:t>Correlations</a:t>
            </a:r>
          </a:p>
        </p:txBody>
      </p:sp>
      <p:sp>
        <p:nvSpPr>
          <p:cNvPr id="47109" name="Rectangle 3"/>
          <p:cNvSpPr>
            <a:spLocks noGrp="1" noChangeArrowheads="1"/>
          </p:cNvSpPr>
          <p:nvPr>
            <p:ph type="body" idx="1"/>
          </p:nvPr>
        </p:nvSpPr>
        <p:spPr>
          <a:xfrm>
            <a:off x="685800" y="1981200"/>
            <a:ext cx="8001000" cy="4114800"/>
          </a:xfrm>
        </p:spPr>
        <p:txBody>
          <a:bodyPr lIns="92075" tIns="46038" rIns="92075" bIns="46038"/>
          <a:lstStyle/>
          <a:p>
            <a:pPr eaLnBrk="1" hangingPunct="1">
              <a:defRPr/>
            </a:pPr>
            <a:r>
              <a:rPr lang="en-US" sz="2800" dirty="0" smtClean="0"/>
              <a:t>Define </a:t>
            </a:r>
            <a:r>
              <a:rPr lang="en-US" sz="2800" i="1" dirty="0" err="1" smtClean="0">
                <a:latin typeface="Times New Roman" pitchFamily="18" charset="0"/>
              </a:rPr>
              <a:t>u</a:t>
            </a:r>
            <a:r>
              <a:rPr lang="en-US" sz="2800" i="1" baseline="-25000" dirty="0" err="1" smtClean="0">
                <a:latin typeface="Times New Roman" pitchFamily="18" charset="0"/>
              </a:rPr>
              <a:t>i</a:t>
            </a:r>
            <a:r>
              <a:rPr lang="en-US" sz="2800" i="1" dirty="0" smtClean="0">
                <a:latin typeface="Times New Roman" pitchFamily="18" charset="0"/>
              </a:rPr>
              <a:t>=</a:t>
            </a:r>
            <a:r>
              <a:rPr lang="en-US" sz="2800" dirty="0" smtClean="0">
                <a:latin typeface="Times New Roman" pitchFamily="18" charset="0"/>
              </a:rPr>
              <a:t>(</a:t>
            </a:r>
            <a:r>
              <a:rPr lang="en-US" sz="2800" i="1" dirty="0" smtClean="0">
                <a:latin typeface="Times New Roman" pitchFamily="18" charset="0"/>
              </a:rPr>
              <a:t>U</a:t>
            </a:r>
            <a:r>
              <a:rPr lang="en-US" sz="2800" i="1" baseline="-25000" dirty="0" smtClean="0">
                <a:latin typeface="Times New Roman" pitchFamily="18" charset="0"/>
              </a:rPr>
              <a:t>i</a:t>
            </a:r>
            <a:r>
              <a:rPr lang="en-US" sz="2800" i="1" dirty="0" smtClean="0">
                <a:latin typeface="Times New Roman" pitchFamily="18" charset="0"/>
              </a:rPr>
              <a:t>-U</a:t>
            </a:r>
            <a:r>
              <a:rPr lang="en-US" sz="2800" i="1" baseline="-25000" dirty="0" smtClean="0">
                <a:latin typeface="Times New Roman" pitchFamily="18" charset="0"/>
              </a:rPr>
              <a:t>i-</a:t>
            </a:r>
            <a:r>
              <a:rPr lang="en-US" sz="2800" baseline="-25000" dirty="0" smtClean="0">
                <a:latin typeface="Times New Roman" pitchFamily="18" charset="0"/>
              </a:rPr>
              <a:t>1</a:t>
            </a:r>
            <a:r>
              <a:rPr lang="en-US" sz="2800" dirty="0" smtClean="0">
                <a:latin typeface="Times New Roman" pitchFamily="18" charset="0"/>
              </a:rPr>
              <a:t>)</a:t>
            </a:r>
            <a:r>
              <a:rPr lang="en-US" sz="2800" i="1" dirty="0" smtClean="0">
                <a:latin typeface="Times New Roman" pitchFamily="18" charset="0"/>
              </a:rPr>
              <a:t>/U</a:t>
            </a:r>
            <a:r>
              <a:rPr lang="en-US" sz="2800" i="1" baseline="-25000" dirty="0" smtClean="0">
                <a:latin typeface="Times New Roman" pitchFamily="18" charset="0"/>
              </a:rPr>
              <a:t>i-</a:t>
            </a:r>
            <a:r>
              <a:rPr lang="en-US" sz="2800" baseline="-25000" dirty="0" smtClean="0">
                <a:latin typeface="Times New Roman" pitchFamily="18" charset="0"/>
              </a:rPr>
              <a:t>1</a:t>
            </a:r>
            <a:r>
              <a:rPr lang="en-US" sz="2800" dirty="0" smtClean="0"/>
              <a:t> and </a:t>
            </a:r>
            <a:r>
              <a:rPr lang="en-US" sz="2800" i="1" dirty="0" smtClean="0">
                <a:latin typeface="Times New Roman" pitchFamily="18" charset="0"/>
              </a:rPr>
              <a:t>v</a:t>
            </a:r>
            <a:r>
              <a:rPr lang="en-US" sz="2800" i="1" baseline="-25000" dirty="0" smtClean="0">
                <a:latin typeface="Times New Roman" pitchFamily="18" charset="0"/>
              </a:rPr>
              <a:t>i</a:t>
            </a:r>
            <a:r>
              <a:rPr lang="en-US" sz="2800" i="1" dirty="0" smtClean="0">
                <a:latin typeface="Times New Roman" pitchFamily="18" charset="0"/>
              </a:rPr>
              <a:t>=</a:t>
            </a:r>
            <a:r>
              <a:rPr lang="en-US" sz="2800" dirty="0" smtClean="0">
                <a:latin typeface="Times New Roman" pitchFamily="18" charset="0"/>
              </a:rPr>
              <a:t>(</a:t>
            </a:r>
            <a:r>
              <a:rPr lang="en-US" sz="2800" i="1" dirty="0" smtClean="0">
                <a:latin typeface="Times New Roman" pitchFamily="18" charset="0"/>
              </a:rPr>
              <a:t>V</a:t>
            </a:r>
            <a:r>
              <a:rPr lang="en-US" sz="2800" i="1" baseline="-25000" dirty="0" smtClean="0">
                <a:latin typeface="Times New Roman" pitchFamily="18" charset="0"/>
              </a:rPr>
              <a:t>i</a:t>
            </a:r>
            <a:r>
              <a:rPr lang="en-US" sz="2800" i="1" dirty="0" smtClean="0">
                <a:latin typeface="Times New Roman" pitchFamily="18" charset="0"/>
              </a:rPr>
              <a:t>-V</a:t>
            </a:r>
            <a:r>
              <a:rPr lang="en-US" sz="2800" i="1" baseline="-25000" dirty="0" smtClean="0">
                <a:latin typeface="Times New Roman" pitchFamily="18" charset="0"/>
              </a:rPr>
              <a:t>i-</a:t>
            </a:r>
            <a:r>
              <a:rPr lang="en-US" sz="2800" baseline="-25000" dirty="0" smtClean="0">
                <a:latin typeface="Times New Roman" pitchFamily="18" charset="0"/>
              </a:rPr>
              <a:t>1</a:t>
            </a:r>
            <a:r>
              <a:rPr lang="en-US" sz="2800" dirty="0" smtClean="0">
                <a:latin typeface="Times New Roman" pitchFamily="18" charset="0"/>
              </a:rPr>
              <a:t>)</a:t>
            </a:r>
            <a:r>
              <a:rPr lang="en-US" sz="2800" i="1" dirty="0" smtClean="0">
                <a:latin typeface="Times New Roman" pitchFamily="18" charset="0"/>
              </a:rPr>
              <a:t>/V</a:t>
            </a:r>
            <a:r>
              <a:rPr lang="en-US" sz="2800" i="1" baseline="-25000" dirty="0" smtClean="0">
                <a:latin typeface="Times New Roman" pitchFamily="18" charset="0"/>
              </a:rPr>
              <a:t>i-</a:t>
            </a:r>
            <a:r>
              <a:rPr lang="en-US" sz="2800" baseline="-25000" dirty="0" smtClean="0">
                <a:latin typeface="Times New Roman" pitchFamily="18" charset="0"/>
              </a:rPr>
              <a:t>1</a:t>
            </a:r>
            <a:endParaRPr lang="en-US" sz="2800" i="1" baseline="-25000" dirty="0" smtClean="0">
              <a:latin typeface="Times New Roman" pitchFamily="18" charset="0"/>
            </a:endParaRPr>
          </a:p>
          <a:p>
            <a:pPr eaLnBrk="1" hangingPunct="1">
              <a:defRPr/>
            </a:pPr>
            <a:r>
              <a:rPr lang="en-US" sz="2800" dirty="0" smtClean="0"/>
              <a:t>Also</a:t>
            </a:r>
          </a:p>
          <a:p>
            <a:pPr eaLnBrk="1" hangingPunct="1">
              <a:buFont typeface="Wingdings" panose="05000000000000000000" pitchFamily="2" charset="2"/>
              <a:buNone/>
              <a:defRPr/>
            </a:pPr>
            <a:r>
              <a:rPr lang="en-US" sz="2800" dirty="0" err="1" smtClean="0">
                <a:latin typeface="Symbol" pitchFamily="18" charset="2"/>
              </a:rPr>
              <a:t>s</a:t>
            </a:r>
            <a:r>
              <a:rPr lang="en-US" sz="2800" i="1" baseline="-25000" dirty="0" err="1" smtClean="0">
                <a:latin typeface="Times New Roman" pitchFamily="18" charset="0"/>
              </a:rPr>
              <a:t>u,n</a:t>
            </a:r>
            <a:r>
              <a:rPr lang="en-US" sz="2800" i="1" dirty="0" smtClean="0">
                <a:latin typeface="Times New Roman" pitchFamily="18" charset="0"/>
              </a:rPr>
              <a:t>:</a:t>
            </a:r>
            <a:r>
              <a:rPr lang="en-US" sz="2800" dirty="0" smtClean="0"/>
              <a:t> daily </a:t>
            </a:r>
            <a:r>
              <a:rPr lang="en-US" sz="2800" dirty="0" err="1" smtClean="0"/>
              <a:t>vol</a:t>
            </a:r>
            <a:r>
              <a:rPr lang="en-US" sz="2800" dirty="0" smtClean="0"/>
              <a:t> of </a:t>
            </a:r>
            <a:r>
              <a:rPr lang="en-US" sz="2800" i="1" dirty="0" smtClean="0">
                <a:latin typeface="Times New Roman" pitchFamily="18" charset="0"/>
              </a:rPr>
              <a:t>U</a:t>
            </a:r>
            <a:r>
              <a:rPr lang="en-US" sz="2800" dirty="0" smtClean="0"/>
              <a:t> calculated on day </a:t>
            </a:r>
            <a:r>
              <a:rPr lang="en-US" sz="2800" i="1" dirty="0" smtClean="0">
                <a:latin typeface="Times New Roman" pitchFamily="18" charset="0"/>
              </a:rPr>
              <a:t>n</a:t>
            </a:r>
            <a:r>
              <a:rPr lang="en-US" sz="2800" dirty="0" smtClean="0"/>
              <a:t>-1</a:t>
            </a:r>
          </a:p>
          <a:p>
            <a:pPr eaLnBrk="1" hangingPunct="1">
              <a:buFont typeface="Wingdings" panose="05000000000000000000" pitchFamily="2" charset="2"/>
              <a:buNone/>
              <a:defRPr/>
            </a:pPr>
            <a:r>
              <a:rPr lang="en-US" sz="2800" dirty="0" err="1" smtClean="0">
                <a:latin typeface="Symbol" pitchFamily="18" charset="2"/>
              </a:rPr>
              <a:t>s</a:t>
            </a:r>
            <a:r>
              <a:rPr lang="en-US" sz="2800" i="1" baseline="-25000" dirty="0" err="1" smtClean="0">
                <a:latin typeface="Times New Roman" pitchFamily="18" charset="0"/>
              </a:rPr>
              <a:t>v,n</a:t>
            </a:r>
            <a:r>
              <a:rPr lang="en-US" sz="2800" dirty="0" smtClean="0"/>
              <a:t>: daily </a:t>
            </a:r>
            <a:r>
              <a:rPr lang="en-US" sz="2800" dirty="0" err="1" smtClean="0"/>
              <a:t>vol</a:t>
            </a:r>
            <a:r>
              <a:rPr lang="en-US" sz="2800" dirty="0" smtClean="0"/>
              <a:t> of </a:t>
            </a:r>
            <a:r>
              <a:rPr lang="en-US" sz="2800" i="1" dirty="0" smtClean="0">
                <a:latin typeface="Times New Roman" pitchFamily="18" charset="0"/>
              </a:rPr>
              <a:t>V</a:t>
            </a:r>
            <a:r>
              <a:rPr lang="en-US" sz="2800" dirty="0" smtClean="0"/>
              <a:t> calculated on day </a:t>
            </a:r>
            <a:r>
              <a:rPr lang="en-US" sz="2800" i="1" dirty="0" smtClean="0">
                <a:latin typeface="Times New Roman" pitchFamily="18" charset="0"/>
              </a:rPr>
              <a:t>n</a:t>
            </a:r>
            <a:r>
              <a:rPr lang="en-US" sz="2800" dirty="0" smtClean="0"/>
              <a:t>-1</a:t>
            </a:r>
          </a:p>
          <a:p>
            <a:pPr eaLnBrk="1" hangingPunct="1">
              <a:buFont typeface="Wingdings" panose="05000000000000000000" pitchFamily="2" charset="2"/>
              <a:buNone/>
              <a:defRPr/>
            </a:pPr>
            <a:r>
              <a:rPr lang="en-US" sz="2800" dirty="0" err="1" smtClean="0">
                <a:latin typeface="+mj-lt"/>
              </a:rPr>
              <a:t>cov</a:t>
            </a:r>
            <a:r>
              <a:rPr lang="en-US" sz="2800" i="1" baseline="-25000" dirty="0" err="1" smtClean="0">
                <a:latin typeface="Times New Roman" pitchFamily="18" charset="0"/>
              </a:rPr>
              <a:t>n</a:t>
            </a:r>
            <a:r>
              <a:rPr lang="en-US" sz="2800" dirty="0" smtClean="0"/>
              <a:t>: covariance calculated on day </a:t>
            </a:r>
            <a:r>
              <a:rPr lang="en-US" sz="2800" i="1" dirty="0" smtClean="0">
                <a:latin typeface="Times New Roman" pitchFamily="18" charset="0"/>
              </a:rPr>
              <a:t>n</a:t>
            </a:r>
            <a:r>
              <a:rPr lang="en-US" sz="2800" dirty="0" smtClean="0"/>
              <a:t>-1</a:t>
            </a:r>
          </a:p>
          <a:p>
            <a:pPr eaLnBrk="1" hangingPunct="1">
              <a:buFont typeface="Wingdings" panose="05000000000000000000" pitchFamily="2" charset="2"/>
              <a:buNone/>
              <a:defRPr/>
            </a:pPr>
            <a:r>
              <a:rPr lang="en-US" sz="2800" dirty="0" smtClean="0"/>
              <a:t>		</a:t>
            </a:r>
            <a:r>
              <a:rPr lang="en-US" sz="2800" dirty="0" err="1" smtClean="0"/>
              <a:t>cov</a:t>
            </a:r>
            <a:r>
              <a:rPr lang="en-US" sz="2800" i="1" baseline="-25000" dirty="0" err="1" smtClean="0">
                <a:latin typeface="Times New Roman" pitchFamily="18" charset="0"/>
              </a:rPr>
              <a:t>n</a:t>
            </a:r>
            <a:r>
              <a:rPr lang="en-US" sz="2800" i="1" baseline="-25000" dirty="0" smtClean="0"/>
              <a:t> </a:t>
            </a:r>
            <a:r>
              <a:rPr lang="en-US" sz="2800" i="1" dirty="0" smtClean="0"/>
              <a:t>= </a:t>
            </a:r>
            <a:r>
              <a:rPr lang="en-US" sz="2800" dirty="0" err="1" smtClean="0">
                <a:latin typeface="Symbol" pitchFamily="18" charset="2"/>
              </a:rPr>
              <a:t>r</a:t>
            </a:r>
            <a:r>
              <a:rPr lang="en-US" sz="2800" i="1" baseline="-25000" dirty="0" err="1" smtClean="0">
                <a:latin typeface="Times New Roman" pitchFamily="18" charset="0"/>
              </a:rPr>
              <a:t>n</a:t>
            </a:r>
            <a:r>
              <a:rPr lang="en-US" sz="2800" i="1" baseline="-25000" dirty="0" smtClean="0"/>
              <a:t> </a:t>
            </a:r>
            <a:r>
              <a:rPr lang="en-US" sz="2800" dirty="0" err="1" smtClean="0">
                <a:latin typeface="Symbol" pitchFamily="18" charset="2"/>
              </a:rPr>
              <a:t>s</a:t>
            </a:r>
            <a:r>
              <a:rPr lang="en-US" sz="2800" i="1" baseline="-25000" dirty="0" err="1" smtClean="0">
                <a:latin typeface="Times New Roman" pitchFamily="18" charset="0"/>
              </a:rPr>
              <a:t>u,n</a:t>
            </a:r>
            <a:r>
              <a:rPr lang="en-US" sz="2800" i="1" baseline="-25000" dirty="0" smtClean="0">
                <a:latin typeface="Times New Roman" pitchFamily="18" charset="0"/>
              </a:rPr>
              <a:t> </a:t>
            </a:r>
            <a:r>
              <a:rPr lang="en-US" sz="2800" dirty="0" err="1" smtClean="0">
                <a:latin typeface="Symbol" pitchFamily="18" charset="2"/>
              </a:rPr>
              <a:t>s</a:t>
            </a:r>
            <a:r>
              <a:rPr lang="en-US" sz="2800" i="1" baseline="-25000" dirty="0" err="1" smtClean="0">
                <a:latin typeface="Times New Roman" pitchFamily="18" charset="0"/>
              </a:rPr>
              <a:t>v,n</a:t>
            </a:r>
            <a:endParaRPr lang="en-US" sz="2800" i="1" baseline="-25000" dirty="0" smtClean="0">
              <a:latin typeface="Times New Roman" pitchFamily="18" charset="0"/>
            </a:endParaRPr>
          </a:p>
          <a:p>
            <a:pPr eaLnBrk="1" hangingPunct="1">
              <a:buFont typeface="Wingdings" panose="05000000000000000000" pitchFamily="2" charset="2"/>
              <a:buNone/>
              <a:defRPr/>
            </a:pPr>
            <a:r>
              <a:rPr lang="en-US" sz="2800" dirty="0" smtClean="0">
                <a:latin typeface="Times New Roman" pitchFamily="18" charset="0"/>
              </a:rPr>
              <a:t>where </a:t>
            </a:r>
            <a:r>
              <a:rPr lang="en-US" sz="2800" dirty="0" err="1" smtClean="0">
                <a:latin typeface="Symbol" pitchFamily="18" charset="2"/>
              </a:rPr>
              <a:t>r</a:t>
            </a:r>
            <a:r>
              <a:rPr lang="en-US" sz="2800" i="1" baseline="-25000" dirty="0" err="1" smtClean="0">
                <a:latin typeface="Times New Roman" pitchFamily="18" charset="0"/>
              </a:rPr>
              <a:t>n</a:t>
            </a:r>
            <a:r>
              <a:rPr lang="en-US" sz="2800" i="1" dirty="0" smtClean="0">
                <a:latin typeface="Times New Roman" pitchFamily="18" charset="0"/>
              </a:rPr>
              <a:t> </a:t>
            </a:r>
            <a:r>
              <a:rPr lang="en-US" sz="2800" dirty="0" smtClean="0">
                <a:latin typeface="Times New Roman" pitchFamily="18" charset="0"/>
              </a:rPr>
              <a:t>is the correlation between </a:t>
            </a:r>
            <a:r>
              <a:rPr lang="en-US" sz="2800" i="1" dirty="0" smtClean="0">
                <a:latin typeface="Times New Roman" pitchFamily="18" charset="0"/>
              </a:rPr>
              <a:t>U</a:t>
            </a:r>
            <a:r>
              <a:rPr lang="en-US" sz="2800" dirty="0" smtClean="0">
                <a:latin typeface="Times New Roman" pitchFamily="18" charset="0"/>
              </a:rPr>
              <a:t> and </a:t>
            </a:r>
            <a:r>
              <a:rPr lang="en-US" sz="2800" i="1" dirty="0" smtClean="0">
                <a:latin typeface="Times New Roman" pitchFamily="18" charset="0"/>
              </a:rPr>
              <a:t>V</a:t>
            </a:r>
          </a:p>
          <a:p>
            <a:pPr eaLnBrk="1" hangingPunct="1">
              <a:buFont typeface="Wingdings" panose="05000000000000000000" pitchFamily="2" charset="2"/>
              <a:buNone/>
              <a:defRPr/>
            </a:pPr>
            <a:endParaRPr lang="en-US" i="1" dirty="0" smtClean="0"/>
          </a:p>
          <a:p>
            <a:pPr eaLnBrk="1" hangingPunct="1">
              <a:buFont typeface="Wingdings" panose="05000000000000000000" pitchFamily="2" charset="2"/>
              <a:buNone/>
              <a:defRPr/>
            </a:pPr>
            <a:endParaRPr lang="en-US" dirty="0" smtClean="0"/>
          </a:p>
        </p:txBody>
      </p:sp>
      <p:sp>
        <p:nvSpPr>
          <p:cNvPr id="5427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511272E0-A6C3-4E1A-9F5E-1C6AFD60A856}" type="slidenum">
              <a:rPr lang="en-US" altLang="en-US" sz="1800"/>
              <a:pPr eaLnBrk="1" hangingPunct="1">
                <a:spcBef>
                  <a:spcPct val="0"/>
                </a:spcBef>
                <a:buClrTx/>
                <a:buSzTx/>
                <a:buFontTx/>
                <a:buNone/>
              </a:pPr>
              <a:t>41</a:t>
            </a:fld>
            <a:endParaRPr lang="en-US" altLang="en-US" sz="18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t>Fundamentals of Futures and Options Markets, 9th Ed, Ch 20, Copyright © John C. Hull 2016</a:t>
            </a:r>
            <a:endParaRPr lang="en-US" altLang="en-US" sz="1400" i="0"/>
          </a:p>
        </p:txBody>
      </p:sp>
      <p:sp>
        <p:nvSpPr>
          <p:cNvPr id="55299" name="Rectangle 2"/>
          <p:cNvSpPr>
            <a:spLocks noGrp="1" noChangeArrowheads="1"/>
          </p:cNvSpPr>
          <p:nvPr>
            <p:ph type="title"/>
          </p:nvPr>
        </p:nvSpPr>
        <p:spPr>
          <a:noFill/>
        </p:spPr>
        <p:txBody>
          <a:bodyPr lIns="92075" tIns="46038" rIns="92075" bIns="46038" anchor="ctr"/>
          <a:lstStyle/>
          <a:p>
            <a:pPr eaLnBrk="1" hangingPunct="1"/>
            <a:r>
              <a:rPr lang="en-US" altLang="en-US" smtClean="0"/>
              <a:t>Correlations continued</a:t>
            </a:r>
            <a:br>
              <a:rPr lang="en-US" altLang="en-US" smtClean="0"/>
            </a:br>
            <a:r>
              <a:rPr lang="en-US" altLang="en-US" sz="2400" smtClean="0"/>
              <a:t>(equation 20.13, page 449)</a:t>
            </a:r>
          </a:p>
        </p:txBody>
      </p:sp>
      <p:sp>
        <p:nvSpPr>
          <p:cNvPr id="58372" name="Rectangle 3"/>
          <p:cNvSpPr>
            <a:spLocks noGrp="1" noChangeArrowheads="1"/>
          </p:cNvSpPr>
          <p:nvPr>
            <p:ph type="body" idx="1"/>
          </p:nvPr>
        </p:nvSpPr>
        <p:spPr/>
        <p:txBody>
          <a:bodyPr lIns="92075" tIns="46038" rIns="92075" bIns="46038"/>
          <a:lstStyle/>
          <a:p>
            <a:pPr eaLnBrk="1" hangingPunct="1">
              <a:buFont typeface="Wingdings" panose="05000000000000000000" pitchFamily="2" charset="2"/>
              <a:buNone/>
              <a:defRPr/>
            </a:pPr>
            <a:r>
              <a:rPr lang="en-US" altLang="en-US" dirty="0" smtClean="0"/>
              <a:t>	</a:t>
            </a:r>
          </a:p>
          <a:p>
            <a:pPr eaLnBrk="1" hangingPunct="1">
              <a:buFont typeface="Wingdings" panose="05000000000000000000" pitchFamily="2" charset="2"/>
              <a:buNone/>
              <a:defRPr/>
            </a:pPr>
            <a:r>
              <a:rPr lang="en-US" altLang="en-US" dirty="0" smtClean="0"/>
              <a:t>	Using the EWMA</a:t>
            </a:r>
          </a:p>
          <a:p>
            <a:pPr eaLnBrk="1" hangingPunct="1">
              <a:buFont typeface="Wingdings" panose="05000000000000000000" pitchFamily="2" charset="2"/>
              <a:buNone/>
              <a:defRPr/>
            </a:pPr>
            <a:r>
              <a:rPr lang="en-US" altLang="en-US" dirty="0" smtClean="0"/>
              <a:t>		</a:t>
            </a:r>
            <a:r>
              <a:rPr lang="en-US" altLang="en-US" dirty="0" err="1" smtClean="0"/>
              <a:t>cov</a:t>
            </a:r>
            <a:r>
              <a:rPr lang="en-US" altLang="en-US" i="1" baseline="-25000" dirty="0" err="1" smtClean="0">
                <a:latin typeface="Times New Roman" pitchFamily="18" charset="0"/>
              </a:rPr>
              <a:t>n</a:t>
            </a:r>
            <a:r>
              <a:rPr lang="en-US" altLang="en-US" baseline="-25000" dirty="0" smtClean="0"/>
              <a:t> </a:t>
            </a:r>
            <a:r>
              <a:rPr lang="en-US" altLang="en-US" dirty="0" smtClean="0"/>
              <a:t>= </a:t>
            </a:r>
            <a:r>
              <a:rPr lang="en-US" altLang="en-US" dirty="0" smtClean="0">
                <a:latin typeface="Symbol" pitchFamily="18" charset="2"/>
              </a:rPr>
              <a:t>l</a:t>
            </a:r>
            <a:r>
              <a:rPr lang="en-US" altLang="en-US" dirty="0" smtClean="0"/>
              <a:t>cov</a:t>
            </a:r>
            <a:r>
              <a:rPr lang="en-US" altLang="en-US" i="1" baseline="-25000" dirty="0" smtClean="0">
                <a:latin typeface="Times New Roman" pitchFamily="18" charset="0"/>
              </a:rPr>
              <a:t>n</a:t>
            </a:r>
            <a:r>
              <a:rPr lang="en-US" altLang="en-US" baseline="-25000" dirty="0" smtClean="0"/>
              <a:t>-</a:t>
            </a:r>
            <a:r>
              <a:rPr lang="en-US" altLang="en-US" baseline="-25000" dirty="0" smtClean="0">
                <a:latin typeface="+mj-lt"/>
              </a:rPr>
              <a:t>1</a:t>
            </a:r>
            <a:r>
              <a:rPr lang="en-US" altLang="en-US" dirty="0" smtClean="0"/>
              <a:t>+(1-</a:t>
            </a:r>
            <a:r>
              <a:rPr lang="en-US" altLang="en-US" dirty="0" smtClean="0">
                <a:latin typeface="Symbol" pitchFamily="18" charset="2"/>
              </a:rPr>
              <a:t>l</a:t>
            </a:r>
            <a:r>
              <a:rPr lang="en-US" altLang="en-US" dirty="0" smtClean="0"/>
              <a:t>)</a:t>
            </a:r>
            <a:r>
              <a:rPr lang="en-US" altLang="en-US" i="1" dirty="0" smtClean="0">
                <a:latin typeface="Times New Roman" pitchFamily="18" charset="0"/>
              </a:rPr>
              <a:t>u</a:t>
            </a:r>
            <a:r>
              <a:rPr lang="en-US" altLang="en-US" i="1" baseline="-25000" dirty="0" smtClean="0">
                <a:latin typeface="Times New Roman" pitchFamily="18" charset="0"/>
              </a:rPr>
              <a:t>n</a:t>
            </a:r>
            <a:r>
              <a:rPr lang="en-US" altLang="en-US" baseline="-25000" dirty="0" smtClean="0"/>
              <a:t>-</a:t>
            </a:r>
            <a:r>
              <a:rPr lang="en-US" altLang="en-US" baseline="-25000" dirty="0" smtClean="0">
                <a:latin typeface="+mj-lt"/>
              </a:rPr>
              <a:t>1</a:t>
            </a:r>
            <a:r>
              <a:rPr lang="en-US" altLang="en-US" i="1" dirty="0" smtClean="0">
                <a:latin typeface="Times New Roman" pitchFamily="18" charset="0"/>
              </a:rPr>
              <a:t>v</a:t>
            </a:r>
            <a:r>
              <a:rPr lang="en-US" altLang="en-US" i="1" baseline="-25000" dirty="0" smtClean="0">
                <a:latin typeface="Times New Roman" pitchFamily="18" charset="0"/>
              </a:rPr>
              <a:t>n</a:t>
            </a:r>
            <a:r>
              <a:rPr lang="en-US" altLang="en-US" baseline="-25000" dirty="0" smtClean="0"/>
              <a:t>-</a:t>
            </a:r>
            <a:r>
              <a:rPr lang="en-US" altLang="en-US" baseline="-25000" dirty="0" smtClean="0">
                <a:latin typeface="+mj-lt"/>
              </a:rPr>
              <a:t>1</a:t>
            </a:r>
          </a:p>
        </p:txBody>
      </p:sp>
      <p:sp>
        <p:nvSpPr>
          <p:cNvPr id="5530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8C06C546-DF96-401F-A6BB-63C9AABE43C5}" type="slidenum">
              <a:rPr lang="en-US" altLang="en-US" sz="1800"/>
              <a:pPr eaLnBrk="1" hangingPunct="1">
                <a:spcBef>
                  <a:spcPct val="0"/>
                </a:spcBef>
                <a:buClrTx/>
                <a:buSzTx/>
                <a:buFontTx/>
                <a:buNone/>
              </a:pPr>
              <a:t>42</a:t>
            </a:fld>
            <a:endParaRPr lang="en-US" altLang="en-US" sz="18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t>Fundamentals of Futures and Options Markets, 9th Ed, Ch 20, Copyright © John C. Hull 2016</a:t>
            </a:r>
            <a:endParaRPr lang="en-US" altLang="en-US" sz="1400" i="0"/>
          </a:p>
        </p:txBody>
      </p:sp>
      <p:sp>
        <p:nvSpPr>
          <p:cNvPr id="56323" name="Rectangle 2"/>
          <p:cNvSpPr>
            <a:spLocks noGrp="1" noChangeArrowheads="1"/>
          </p:cNvSpPr>
          <p:nvPr>
            <p:ph type="title"/>
          </p:nvPr>
        </p:nvSpPr>
        <p:spPr/>
        <p:txBody>
          <a:bodyPr/>
          <a:lstStyle/>
          <a:p>
            <a:pPr eaLnBrk="1" hangingPunct="1"/>
            <a:r>
              <a:rPr lang="en-CA" altLang="en-US" smtClean="0"/>
              <a:t>Model Building vs Historical Simulation Approaches</a:t>
            </a:r>
            <a:endParaRPr lang="en-US" altLang="en-US" smtClean="0"/>
          </a:p>
        </p:txBody>
      </p:sp>
      <p:sp>
        <p:nvSpPr>
          <p:cNvPr id="56324" name="Rectangle 3"/>
          <p:cNvSpPr>
            <a:spLocks noGrp="1" noChangeArrowheads="1"/>
          </p:cNvSpPr>
          <p:nvPr>
            <p:ph type="body" idx="1"/>
          </p:nvPr>
        </p:nvSpPr>
        <p:spPr/>
        <p:txBody>
          <a:bodyPr/>
          <a:lstStyle/>
          <a:p>
            <a:pPr eaLnBrk="1" hangingPunct="1"/>
            <a:r>
              <a:rPr lang="en-US" altLang="en-US" smtClean="0"/>
              <a:t>Model building approach has the disadvantage that it assumes that market variables have a multivariate normal distribution</a:t>
            </a:r>
          </a:p>
          <a:p>
            <a:pPr eaLnBrk="1" hangingPunct="1"/>
            <a:r>
              <a:rPr lang="en-US" altLang="en-US" smtClean="0"/>
              <a:t>Historical simulation is computationally slower and cannot easily incorporate volatility updating schemes</a:t>
            </a:r>
          </a:p>
        </p:txBody>
      </p:sp>
      <p:sp>
        <p:nvSpPr>
          <p:cNvPr id="5632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710F5B18-01E5-41D9-B9AD-C44C8F0D26A9}" type="slidenum">
              <a:rPr lang="en-US" altLang="en-US" sz="1800"/>
              <a:pPr eaLnBrk="1" hangingPunct="1">
                <a:spcBef>
                  <a:spcPct val="0"/>
                </a:spcBef>
                <a:buClrTx/>
                <a:buSzTx/>
                <a:buFontTx/>
                <a:buNone/>
              </a:pPr>
              <a:t>43</a:t>
            </a:fld>
            <a:endParaRPr lang="en-US" altLang="en-US" sz="18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p:cNvSpPr>
            <a:spLocks noGrp="1"/>
          </p:cNvSpPr>
          <p:nvPr>
            <p:ph type="title"/>
          </p:nvPr>
        </p:nvSpPr>
        <p:spPr/>
        <p:txBody>
          <a:bodyPr/>
          <a:lstStyle/>
          <a:p>
            <a:r>
              <a:rPr lang="en-CA" altLang="en-US" smtClean="0"/>
              <a:t>Impact on Four-Index Example</a:t>
            </a:r>
          </a:p>
        </p:txBody>
      </p:sp>
      <p:sp>
        <p:nvSpPr>
          <p:cNvPr id="57347" name="Content Placeholder 2"/>
          <p:cNvSpPr>
            <a:spLocks noGrp="1"/>
          </p:cNvSpPr>
          <p:nvPr>
            <p:ph idx="1"/>
          </p:nvPr>
        </p:nvSpPr>
        <p:spPr/>
        <p:txBody>
          <a:bodyPr/>
          <a:lstStyle/>
          <a:p>
            <a:r>
              <a:rPr lang="en-CA" altLang="en-US" smtClean="0"/>
              <a:t>Correlation and volatility estimates increase so that there is a big increase in VaR and ES estimates</a:t>
            </a:r>
          </a:p>
          <a:p>
            <a:r>
              <a:rPr lang="en-CA" altLang="en-US" smtClean="0"/>
              <a:t>See pages 450-451.</a:t>
            </a:r>
          </a:p>
        </p:txBody>
      </p:sp>
      <p:sp>
        <p:nvSpPr>
          <p:cNvPr id="57348"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a:t>Fundamentals of Futures and Options Markets, 9th Ed, Ch 20, Copyright © John C. Hull 2016</a:t>
            </a:r>
            <a:endParaRPr lang="en-US" altLang="en-US" i="0"/>
          </a:p>
        </p:txBody>
      </p:sp>
      <p:sp>
        <p:nvSpPr>
          <p:cNvPr id="5734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F25CB51-101B-4F5A-A966-97D47552258A}" type="slidenum">
              <a:rPr lang="en-US" altLang="en-US"/>
              <a:pPr eaLnBrk="1" hangingPunct="1"/>
              <a:t>44</a:t>
            </a:fld>
            <a:endParaRPr lang="en-US"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400"/>
              <a:t>Fundamentals of Futures and Options Markets, 9th Ed, Ch 20, Copyright © John C. Hull 2016</a:t>
            </a:r>
            <a:endParaRPr lang="en-US" altLang="en-US" sz="1400" i="0"/>
          </a:p>
        </p:txBody>
      </p:sp>
      <p:sp>
        <p:nvSpPr>
          <p:cNvPr id="58371" name="Rectangle 2"/>
          <p:cNvSpPr>
            <a:spLocks noGrp="1" noChangeArrowheads="1"/>
          </p:cNvSpPr>
          <p:nvPr>
            <p:ph type="title"/>
          </p:nvPr>
        </p:nvSpPr>
        <p:spPr>
          <a:noFill/>
        </p:spPr>
        <p:txBody>
          <a:bodyPr lIns="92075" tIns="46038" rIns="92075" bIns="46038" anchor="ctr"/>
          <a:lstStyle/>
          <a:p>
            <a:pPr eaLnBrk="1" hangingPunct="1"/>
            <a:r>
              <a:rPr lang="en-US" altLang="en-US" smtClean="0"/>
              <a:t>Back-Testing </a:t>
            </a:r>
            <a:br>
              <a:rPr lang="en-US" altLang="en-US" smtClean="0"/>
            </a:br>
            <a:endParaRPr lang="en-US" altLang="en-US" smtClean="0"/>
          </a:p>
        </p:txBody>
      </p:sp>
      <p:sp>
        <p:nvSpPr>
          <p:cNvPr id="58372" name="Rectangle 3"/>
          <p:cNvSpPr>
            <a:spLocks noGrp="1" noChangeArrowheads="1"/>
          </p:cNvSpPr>
          <p:nvPr>
            <p:ph type="body" idx="1"/>
          </p:nvPr>
        </p:nvSpPr>
        <p:spPr>
          <a:xfrm>
            <a:off x="457200" y="1643063"/>
            <a:ext cx="7543800" cy="4487862"/>
          </a:xfrm>
          <a:noFill/>
        </p:spPr>
        <p:txBody>
          <a:bodyPr lIns="92075" tIns="46038" rIns="92075" bIns="46038"/>
          <a:lstStyle/>
          <a:p>
            <a:pPr eaLnBrk="1" hangingPunct="1"/>
            <a:r>
              <a:rPr lang="en-US" altLang="en-US" smtClean="0"/>
              <a:t>Tests how well VaR estimates would have performed in the past</a:t>
            </a:r>
          </a:p>
          <a:p>
            <a:pPr eaLnBrk="1" hangingPunct="1"/>
            <a:r>
              <a:rPr lang="en-US" altLang="en-US" smtClean="0"/>
              <a:t>Asks the questions: </a:t>
            </a:r>
          </a:p>
          <a:p>
            <a:pPr lvl="1" eaLnBrk="1" hangingPunct="1"/>
            <a:r>
              <a:rPr lang="en-US" altLang="en-US" smtClean="0"/>
              <a:t>How often was the loss greater than the VaR level</a:t>
            </a:r>
          </a:p>
          <a:p>
            <a:pPr lvl="1" eaLnBrk="1" hangingPunct="1"/>
            <a:r>
              <a:rPr lang="en-US" altLang="en-US" smtClean="0"/>
              <a:t>How often was the loss expected to be greater than the VaR level</a:t>
            </a:r>
          </a:p>
          <a:p>
            <a:pPr eaLnBrk="1" hangingPunct="1">
              <a:buFont typeface="Wingdings" panose="05000000000000000000" pitchFamily="2" charset="2"/>
              <a:buNone/>
            </a:pPr>
            <a:endParaRPr lang="en-US" altLang="en-US" smtClean="0"/>
          </a:p>
        </p:txBody>
      </p:sp>
      <p:sp>
        <p:nvSpPr>
          <p:cNvPr id="5837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83A593BF-BDF9-4176-B3C7-26D6D376376D}" type="slidenum">
              <a:rPr lang="en-US" altLang="en-US" sz="1800"/>
              <a:pPr eaLnBrk="1" hangingPunct="1">
                <a:spcBef>
                  <a:spcPct val="0"/>
                </a:spcBef>
                <a:buClrTx/>
                <a:buSzTx/>
                <a:buFontTx/>
                <a:buNone/>
              </a:pPr>
              <a:t>45</a:t>
            </a:fld>
            <a:endParaRPr lang="en-US" altLang="en-US" sz="1800"/>
          </a:p>
        </p:txBody>
      </p:sp>
    </p:spTree>
  </p:cSld>
  <p:clrMapOvr>
    <a:masterClrMapping/>
  </p:clrMapOvr>
</p:sld>
</file>

<file path=ppt/theme/theme1.xml><?xml version="1.0" encoding="utf-8"?>
<a:theme xmlns:a="http://schemas.openxmlformats.org/drawingml/2006/main" name="1_Network">
  <a:themeElements>
    <a:clrScheme name="1_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fontScheme name="1_Network">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none" lIns="92075" tIns="46038" rIns="92075" bIns="46038"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none" lIns="92075" tIns="46038" rIns="92075" bIns="46038"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1_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1_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1_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1_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1_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1_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1_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1_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1_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1_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4DB470C54600C46B1B0C1FE5EDD1D1B" ma:contentTypeVersion="3" ma:contentTypeDescription="Create a new document." ma:contentTypeScope="" ma:versionID="14dc9d57259abab41c863f8d0f9e2276">
  <xsd:schema xmlns:xsd="http://www.w3.org/2001/XMLSchema" xmlns:xs="http://www.w3.org/2001/XMLSchema" xmlns:p="http://schemas.microsoft.com/office/2006/metadata/properties" xmlns:ns2="cd351f98-0ba7-41cd-87bd-5169e413bab1" targetNamespace="http://schemas.microsoft.com/office/2006/metadata/properties" ma:root="true" ma:fieldsID="f27d059874946e97d17eaa08f9af4415" ns2:_="">
    <xsd:import namespace="cd351f98-0ba7-41cd-87bd-5169e413bab1"/>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d351f98-0ba7-41cd-87bd-5169e413ba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1FAA0A6-711A-40DD-8F06-19BB98FC6EF0}"/>
</file>

<file path=customXml/itemProps2.xml><?xml version="1.0" encoding="utf-8"?>
<ds:datastoreItem xmlns:ds="http://schemas.openxmlformats.org/officeDocument/2006/customXml" ds:itemID="{32B54857-4510-4E97-AABA-7492FDE0990B}"/>
</file>

<file path=customXml/itemProps3.xml><?xml version="1.0" encoding="utf-8"?>
<ds:datastoreItem xmlns:ds="http://schemas.openxmlformats.org/officeDocument/2006/customXml" ds:itemID="{A0A25DC5-38A1-4B1E-A28A-68D8AB36CC24}"/>
</file>

<file path=docProps/app.xml><?xml version="1.0" encoding="utf-8"?>
<Properties xmlns="http://schemas.openxmlformats.org/officeDocument/2006/extended-properties" xmlns:vt="http://schemas.openxmlformats.org/officeDocument/2006/docPropsVTypes">
  <Template>Financial Risk Management6</Template>
  <TotalTime>972</TotalTime>
  <Words>2556</Words>
  <Application>Microsoft Office PowerPoint</Application>
  <PresentationFormat>On-screen Show (4:3)</PresentationFormat>
  <Paragraphs>431</Paragraphs>
  <Slides>45</Slides>
  <Notes>42</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3</vt:i4>
      </vt:variant>
      <vt:variant>
        <vt:lpstr>Slide Titles</vt:lpstr>
      </vt:variant>
      <vt:variant>
        <vt:i4>45</vt:i4>
      </vt:variant>
    </vt:vector>
  </HeadingPairs>
  <TitlesOfParts>
    <vt:vector size="53" baseType="lpstr">
      <vt:lpstr>Arial</vt:lpstr>
      <vt:lpstr>Times New Roman</vt:lpstr>
      <vt:lpstr>Wingdings</vt:lpstr>
      <vt:lpstr>Symbol</vt:lpstr>
      <vt:lpstr>1_Network</vt:lpstr>
      <vt:lpstr>Microsoft Equation 3.0</vt:lpstr>
      <vt:lpstr>Microsoft Equation 2.0</vt:lpstr>
      <vt:lpstr>MathType 6.0 Equation</vt:lpstr>
      <vt:lpstr>Value at Risk and Expected Shortfall</vt:lpstr>
      <vt:lpstr>The Question Being Asked in VaR</vt:lpstr>
      <vt:lpstr>VaR and Regulatory Capital</vt:lpstr>
      <vt:lpstr>VaR vs. Expected Shortfall  (See Figures 20.1 and 20.2, page 430)</vt:lpstr>
      <vt:lpstr>Advantages of VaR</vt:lpstr>
      <vt:lpstr> Historical Simulation  </vt:lpstr>
      <vt:lpstr>Historical Simulation continued</vt:lpstr>
      <vt:lpstr>Historical Simulation continued</vt:lpstr>
      <vt:lpstr> Example : Calculation of  1-day, 99% VaR and ES for a Portfolio on Sept 25, 2008 (Table 20.1, page 432)</vt:lpstr>
      <vt:lpstr>Data After Adjusting for Exchange Rates (Table 20.2, page 432)</vt:lpstr>
      <vt:lpstr>Scenarios Generated (Table 20.3, page 433)</vt:lpstr>
      <vt:lpstr>Ranked Losses (Table 20.4, page 434)</vt:lpstr>
      <vt:lpstr>The N-day VaR</vt:lpstr>
      <vt:lpstr>Stressed VaR and Stressed ES</vt:lpstr>
      <vt:lpstr>The Model-Building Approach</vt:lpstr>
      <vt:lpstr>Daily Volatilities</vt:lpstr>
      <vt:lpstr>Daily Volatility continued</vt:lpstr>
      <vt:lpstr>Microsoft Example</vt:lpstr>
      <vt:lpstr>Microsoft Example continued</vt:lpstr>
      <vt:lpstr>Microsoft Example continued</vt:lpstr>
      <vt:lpstr>AT&amp;T Example</vt:lpstr>
      <vt:lpstr>Portfolio</vt:lpstr>
      <vt:lpstr>S.D. of Portfolio</vt:lpstr>
      <vt:lpstr>VaR for Portfolio</vt:lpstr>
      <vt:lpstr>ES for the Model Building Approach</vt:lpstr>
      <vt:lpstr>The Linear Model</vt:lpstr>
      <vt:lpstr>Markowitz Result for Variance of Return on Portfolio</vt:lpstr>
      <vt:lpstr>VaR Result for Variance of Portfolio Value (ai = wiP)</vt:lpstr>
      <vt:lpstr>Covariance Matrix (vari = covii) (Table 20.6, page 441)</vt:lpstr>
      <vt:lpstr>Alternative Expressions for sP2 page 441</vt:lpstr>
      <vt:lpstr>Handling Interest Rates</vt:lpstr>
      <vt:lpstr>When Linear Model Can be Used</vt:lpstr>
      <vt:lpstr>The Linear Model and Options </vt:lpstr>
      <vt:lpstr>Linear Model and Options continued (equations 20.5 and 20.6, page  443)</vt:lpstr>
      <vt:lpstr>Example</vt:lpstr>
      <vt:lpstr>But the distribution of the daily return on an option is not normal   (See Figure 20.4, page 444)</vt:lpstr>
      <vt:lpstr>Translation of Asset Price Change to Price Change for Long Call (Figure 20.5, page 445)</vt:lpstr>
      <vt:lpstr>Translation of Asset Price Change to Price Change for Short Call (Figure 20.6, page 445)</vt:lpstr>
      <vt:lpstr>EWMA Model  (equation 20.11, page 447)</vt:lpstr>
      <vt:lpstr>Attractions of EWMA</vt:lpstr>
      <vt:lpstr>Correlations</vt:lpstr>
      <vt:lpstr>Correlations continued (equation 20.13, page 449)</vt:lpstr>
      <vt:lpstr>Model Building vs Historical Simulation Approaches</vt:lpstr>
      <vt:lpstr>Impact on Four-Index Example</vt:lpstr>
      <vt:lpstr>Back-Testing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Value at Risk</dc:title>
  <dc:subject>Fundamentals of Futures and Options Markets, 9e</dc:subject>
  <dc:creator>John C. Hull</dc:creator>
  <cp:keywords>Chapter 20</cp:keywords>
  <dc:description>Copyright 2016 by John C. Hull
All rights reserved. Published 2016.</dc:description>
  <cp:lastModifiedBy>John Hull</cp:lastModifiedBy>
  <cp:revision>71</cp:revision>
  <cp:lastPrinted>1999-07-13T16:17:58Z</cp:lastPrinted>
  <dcterms:created xsi:type="dcterms:W3CDTF">1995-06-17T23:31:02Z</dcterms:created>
  <dcterms:modified xsi:type="dcterms:W3CDTF">2016-01-20T21:05:23Z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0x01010034DB470C54600C46B1B0C1FE5EDD1D1B</vt:lpwstr>
  </property>
</Properties>
</file>