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  <p:sldMasterId id="2147483750" r:id="rId2"/>
  </p:sldMasterIdLst>
  <p:notesMasterIdLst>
    <p:notesMasterId r:id="rId24"/>
  </p:notesMasterIdLst>
  <p:handoutMasterIdLst>
    <p:handoutMasterId r:id="rId25"/>
  </p:handoutMasterIdLst>
  <p:sldIdLst>
    <p:sldId id="281" r:id="rId3"/>
    <p:sldId id="273" r:id="rId4"/>
    <p:sldId id="274" r:id="rId5"/>
    <p:sldId id="276" r:id="rId6"/>
    <p:sldId id="277" r:id="rId7"/>
    <p:sldId id="278" r:id="rId8"/>
    <p:sldId id="279" r:id="rId9"/>
    <p:sldId id="280" r:id="rId10"/>
    <p:sldId id="259" r:id="rId11"/>
    <p:sldId id="260" r:id="rId12"/>
    <p:sldId id="261" r:id="rId13"/>
    <p:sldId id="262" r:id="rId14"/>
    <p:sldId id="286" r:id="rId15"/>
    <p:sldId id="263" r:id="rId16"/>
    <p:sldId id="264" r:id="rId17"/>
    <p:sldId id="275" r:id="rId18"/>
    <p:sldId id="287" r:id="rId19"/>
    <p:sldId id="285" r:id="rId20"/>
    <p:sldId id="282" r:id="rId21"/>
    <p:sldId id="283" r:id="rId22"/>
    <p:sldId id="284" r:id="rId23"/>
  </p:sldIdLst>
  <p:sldSz cx="9144000" cy="6858000" type="letter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5" autoAdjust="0"/>
    <p:restoredTop sz="94681" autoAdjust="0"/>
  </p:normalViewPr>
  <p:slideViewPr>
    <p:cSldViewPr>
      <p:cViewPr varScale="1">
        <p:scale>
          <a:sx n="122" d="100"/>
          <a:sy n="122" d="100"/>
        </p:scale>
        <p:origin x="12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ustomXml" Target="../customXml/item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754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35843" name="Rectangle 3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1879900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34929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50793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81681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82353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23347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7957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96646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44806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13070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57723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40843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82737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70657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082375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71720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756341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692293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7593052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7924915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939041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9, Copyright © John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E5FE4C73-AFD2-4620-8C13-ED716A7AF6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9615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9,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76A9C3-FEAE-4A0E-A451-1E30A96808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627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9,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35258A-3F7E-4E2A-8B99-2AD16C6916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4454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9,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175C6B-1BD9-48A8-94D5-809B79DC07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903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9, Copyright © John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B5E49D-7B1B-4512-AEC9-A05CEF4E9E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4507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9, Copyright © John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B8E8A3-548E-4E01-A93B-2AC4DAF92E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233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9, Copyright © John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FD780B-BDB8-4053-8EDF-F161A093F0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794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9,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CF9FFA-A40E-44AF-865D-77E367B13B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96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9,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61DECA-E7E6-4BC0-9541-744E88813F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275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9,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896A63-B0E8-446F-BDCF-BB15ABCEBB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696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9,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C7C803-1C6F-4E3A-836B-E141FCBC5D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4451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Fundamentals of Futures and Options Markets, 9th Ed, Ch 9, Copyright © John C. Hull 2016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FB0038-9DBF-470A-ACB4-97A5AFD304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617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Fundamentals of Futures and Options Markets, 9th Ed, Ch 9, Copyright © John C. Hull 2016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807F26-F8F2-4E4E-808F-FB4779AD34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7203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Fundamentals of Futures and Options Markets, 9th Ed, Ch 9, Copyright © John C. Hull 2016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B22526-CB41-4514-914C-83DA5AB44A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9012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Fundamentals of Futures and Options Markets, 9th Ed, Ch 9, Copyright © John C. Hull 2016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6A612B-241B-4C40-8A87-19E6F29AF6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0642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Fundamentals of Futures and Options Markets, 9th Ed, Ch 9, Copyright © John C. Hull 2016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EE14C2-38F2-46E5-AE57-70833BF9BA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64299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Fundamentals of Futures and Options Markets, 9th Ed, Ch 9, Copyright © John C. Hull 2016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2F7703-3BDF-4A97-98C2-8CB6C22940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0014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Fundamentals of Futures and Options Markets, 9th Ed, Ch 9, Copyright © John C. Hull 2016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519970-E3E8-4F5A-B040-4D38A96A66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6783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Fundamentals of Futures and Options Markets, 9th Ed, Ch 9, Copyright © John C. Hull 2016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546BCA-4B43-429A-A1E5-8794A536CF6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80925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Fundamentals of Futures and Options Markets, 9th Ed, Ch 9, Copyright © John C. Hull 2016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D30732-1309-47D9-B348-9479ABE59F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9295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Fundamentals of Futures and Options Markets, 9th Ed, Ch 9, Copyright © John C. Hull 2016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902FC-B20A-45E1-8346-4FA6DB7C67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5633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Fundamentals of Futures and Options Markets, 9th Ed, Ch 9, Copyright © John C. Hull 2016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3BED59-8149-4B48-8E63-B1F0403281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769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 smtClean="0">
                <a:latin typeface="Arial" charset="0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9, Copyright © John C. Hull 2016</a:t>
            </a:r>
            <a:endParaRPr lang="en-US" alt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816BE61E-DB06-4C75-8CBF-83C13439C6CC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CA"/>
              <a:t>Fundamentals of Futures and Options Markets, 9th Ed, Ch 9, Copyright © John C. Hull 2016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DB02A215-4967-436D-AE4B-88504249987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7485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Mechanics of Options Markets</a:t>
            </a:r>
          </a:p>
        </p:txBody>
      </p:sp>
      <p:sp>
        <p:nvSpPr>
          <p:cNvPr id="1434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9</a:t>
            </a:r>
          </a:p>
        </p:txBody>
      </p:sp>
      <p:sp>
        <p:nvSpPr>
          <p:cNvPr id="1434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8DC1F03-4800-4958-9A12-C36E043D305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Types of Options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A call is an option to buy</a:t>
            </a:r>
          </a:p>
          <a:p>
            <a:pPr eaLnBrk="1" hangingPunct="1"/>
            <a:r>
              <a:rPr lang="en-US" altLang="en-US" smtClean="0"/>
              <a:t>A put is an option to sell</a:t>
            </a:r>
          </a:p>
          <a:p>
            <a:pPr eaLnBrk="1" hangingPunct="1"/>
            <a:r>
              <a:rPr lang="en-US" altLang="en-US" smtClean="0"/>
              <a:t>A European option can be exercised only at the end of its life</a:t>
            </a:r>
          </a:p>
          <a:p>
            <a:pPr eaLnBrk="1" hangingPunct="1"/>
            <a:r>
              <a:rPr lang="en-US" altLang="en-US" smtClean="0"/>
              <a:t>An American option can be exercised at any time</a:t>
            </a:r>
          </a:p>
        </p:txBody>
      </p:sp>
      <p:sp>
        <p:nvSpPr>
          <p:cNvPr id="1536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E4D0484-1872-489B-AA6B-0B6C03C89FE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Option Positions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1557338"/>
            <a:ext cx="5816600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3600" smtClean="0"/>
              <a:t>Long call</a:t>
            </a:r>
          </a:p>
          <a:p>
            <a:pPr eaLnBrk="1" hangingPunct="1"/>
            <a:r>
              <a:rPr lang="en-US" altLang="en-US" sz="3600" smtClean="0"/>
              <a:t>Long put</a:t>
            </a:r>
          </a:p>
          <a:p>
            <a:pPr eaLnBrk="1" hangingPunct="1"/>
            <a:r>
              <a:rPr lang="en-US" altLang="en-US" sz="3600" smtClean="0"/>
              <a:t>Short call</a:t>
            </a:r>
          </a:p>
          <a:p>
            <a:pPr eaLnBrk="1" hangingPunct="1"/>
            <a:r>
              <a:rPr lang="en-US" altLang="en-US" sz="3600" smtClean="0"/>
              <a:t>Short put</a:t>
            </a:r>
          </a:p>
        </p:txBody>
      </p:sp>
      <p:sp>
        <p:nvSpPr>
          <p:cNvPr id="1638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FFC20A3-2099-441F-9C4E-A3A770B5EBA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77200" cy="12954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Long Call </a:t>
            </a:r>
            <a:br>
              <a:rPr lang="en-US" altLang="en-US" smtClean="0"/>
            </a:br>
            <a:r>
              <a:rPr lang="en-US" altLang="en-US" sz="2200" smtClean="0"/>
              <a:t>(Figure 9.1, Page 207)</a:t>
            </a:r>
            <a:endParaRPr lang="en-US" altLang="en-US" smtClean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172450" cy="411480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	</a:t>
            </a:r>
            <a:r>
              <a:rPr lang="en-US" altLang="en-US" sz="2400" smtClean="0"/>
              <a:t>Profit from buying one European call option: option price = $5, strike price = $100.</a:t>
            </a:r>
          </a:p>
        </p:txBody>
      </p:sp>
      <p:grpSp>
        <p:nvGrpSpPr>
          <p:cNvPr id="17413" name="Group 4"/>
          <p:cNvGrpSpPr>
            <a:grpSpLocks/>
          </p:cNvGrpSpPr>
          <p:nvPr/>
        </p:nvGrpSpPr>
        <p:grpSpPr bwMode="auto">
          <a:xfrm>
            <a:off x="1566863" y="2819400"/>
            <a:ext cx="6637337" cy="3200400"/>
            <a:chOff x="987" y="1707"/>
            <a:chExt cx="4181" cy="1973"/>
          </a:xfrm>
        </p:grpSpPr>
        <p:sp>
          <p:nvSpPr>
            <p:cNvPr id="17415" name="Line 5"/>
            <p:cNvSpPr>
              <a:spLocks noChangeShapeType="1"/>
            </p:cNvSpPr>
            <p:nvPr/>
          </p:nvSpPr>
          <p:spPr bwMode="auto">
            <a:xfrm>
              <a:off x="1248" y="1721"/>
              <a:ext cx="0" cy="19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6" name="Line 6"/>
            <p:cNvSpPr>
              <a:spLocks noChangeShapeType="1"/>
            </p:cNvSpPr>
            <p:nvPr/>
          </p:nvSpPr>
          <p:spPr bwMode="auto">
            <a:xfrm>
              <a:off x="1530" y="3204"/>
              <a:ext cx="33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7" name="Line 7"/>
            <p:cNvSpPr>
              <a:spLocks noChangeShapeType="1"/>
            </p:cNvSpPr>
            <p:nvPr/>
          </p:nvSpPr>
          <p:spPr bwMode="auto">
            <a:xfrm flipV="1">
              <a:off x="1448" y="3110"/>
              <a:ext cx="36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8" name="Line 8"/>
            <p:cNvSpPr>
              <a:spLocks noChangeShapeType="1"/>
            </p:cNvSpPr>
            <p:nvPr/>
          </p:nvSpPr>
          <p:spPr bwMode="auto">
            <a:xfrm flipH="1" flipV="1">
              <a:off x="1486" y="3112"/>
              <a:ext cx="39" cy="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19" name="Line 9"/>
            <p:cNvSpPr>
              <a:spLocks noChangeShapeType="1"/>
            </p:cNvSpPr>
            <p:nvPr/>
          </p:nvSpPr>
          <p:spPr bwMode="auto">
            <a:xfrm flipH="1" flipV="1">
              <a:off x="1392" y="3111"/>
              <a:ext cx="51" cy="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0" name="Line 10"/>
            <p:cNvSpPr>
              <a:spLocks noChangeShapeType="1"/>
            </p:cNvSpPr>
            <p:nvPr/>
          </p:nvSpPr>
          <p:spPr bwMode="auto">
            <a:xfrm flipH="1">
              <a:off x="1361" y="3121"/>
              <a:ext cx="38" cy="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1" name="Line 11"/>
            <p:cNvSpPr>
              <a:spLocks noChangeShapeType="1"/>
            </p:cNvSpPr>
            <p:nvPr/>
          </p:nvSpPr>
          <p:spPr bwMode="auto">
            <a:xfrm flipH="1">
              <a:off x="1245" y="3206"/>
              <a:ext cx="1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2" name="Line 12"/>
            <p:cNvSpPr>
              <a:spLocks noChangeShapeType="1"/>
            </p:cNvSpPr>
            <p:nvPr/>
          </p:nvSpPr>
          <p:spPr bwMode="auto">
            <a:xfrm>
              <a:off x="1253" y="2772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3" name="Line 13"/>
            <p:cNvSpPr>
              <a:spLocks noChangeShapeType="1"/>
            </p:cNvSpPr>
            <p:nvPr/>
          </p:nvSpPr>
          <p:spPr bwMode="auto">
            <a:xfrm>
              <a:off x="1256" y="2337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4" name="Line 14"/>
            <p:cNvSpPr>
              <a:spLocks noChangeShapeType="1"/>
            </p:cNvSpPr>
            <p:nvPr/>
          </p:nvSpPr>
          <p:spPr bwMode="auto">
            <a:xfrm>
              <a:off x="1252" y="1911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5" name="Line 15"/>
            <p:cNvSpPr>
              <a:spLocks noChangeShapeType="1"/>
            </p:cNvSpPr>
            <p:nvPr/>
          </p:nvSpPr>
          <p:spPr bwMode="auto">
            <a:xfrm>
              <a:off x="1596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6" name="Line 16"/>
            <p:cNvSpPr>
              <a:spLocks noChangeShapeType="1"/>
            </p:cNvSpPr>
            <p:nvPr/>
          </p:nvSpPr>
          <p:spPr bwMode="auto">
            <a:xfrm>
              <a:off x="2028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7" name="Line 17"/>
            <p:cNvSpPr>
              <a:spLocks noChangeShapeType="1"/>
            </p:cNvSpPr>
            <p:nvPr/>
          </p:nvSpPr>
          <p:spPr bwMode="auto">
            <a:xfrm>
              <a:off x="2457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8" name="Line 18"/>
            <p:cNvSpPr>
              <a:spLocks noChangeShapeType="1"/>
            </p:cNvSpPr>
            <p:nvPr/>
          </p:nvSpPr>
          <p:spPr bwMode="auto">
            <a:xfrm>
              <a:off x="2892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9" name="Line 19"/>
            <p:cNvSpPr>
              <a:spLocks noChangeShapeType="1"/>
            </p:cNvSpPr>
            <p:nvPr/>
          </p:nvSpPr>
          <p:spPr bwMode="auto">
            <a:xfrm>
              <a:off x="3324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0" name="Line 20"/>
            <p:cNvSpPr>
              <a:spLocks noChangeShapeType="1"/>
            </p:cNvSpPr>
            <p:nvPr/>
          </p:nvSpPr>
          <p:spPr bwMode="auto">
            <a:xfrm>
              <a:off x="3753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1" name="Line 21"/>
            <p:cNvSpPr>
              <a:spLocks noChangeShapeType="1"/>
            </p:cNvSpPr>
            <p:nvPr/>
          </p:nvSpPr>
          <p:spPr bwMode="auto">
            <a:xfrm>
              <a:off x="4185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2" name="Line 22"/>
            <p:cNvSpPr>
              <a:spLocks noChangeShapeType="1"/>
            </p:cNvSpPr>
            <p:nvPr/>
          </p:nvSpPr>
          <p:spPr bwMode="auto">
            <a:xfrm>
              <a:off x="1254" y="3633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3" name="Line 23"/>
            <p:cNvSpPr>
              <a:spLocks noChangeShapeType="1"/>
            </p:cNvSpPr>
            <p:nvPr/>
          </p:nvSpPr>
          <p:spPr bwMode="auto">
            <a:xfrm flipH="1">
              <a:off x="1245" y="3420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4" name="Line 24"/>
            <p:cNvSpPr>
              <a:spLocks noChangeShapeType="1"/>
            </p:cNvSpPr>
            <p:nvPr/>
          </p:nvSpPr>
          <p:spPr bwMode="auto">
            <a:xfrm>
              <a:off x="1620" y="3404"/>
              <a:ext cx="1335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5" name="Line 25"/>
            <p:cNvSpPr>
              <a:spLocks noChangeShapeType="1"/>
            </p:cNvSpPr>
            <p:nvPr/>
          </p:nvSpPr>
          <p:spPr bwMode="auto">
            <a:xfrm flipV="1">
              <a:off x="2925" y="1951"/>
              <a:ext cx="1393" cy="145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6" name="Rectangle 26"/>
            <p:cNvSpPr>
              <a:spLocks noChangeArrowheads="1"/>
            </p:cNvSpPr>
            <p:nvPr/>
          </p:nvSpPr>
          <p:spPr bwMode="auto">
            <a:xfrm>
              <a:off x="987" y="1765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30</a:t>
              </a:r>
            </a:p>
          </p:txBody>
        </p:sp>
        <p:sp>
          <p:nvSpPr>
            <p:cNvPr id="17437" name="Rectangle 27"/>
            <p:cNvSpPr>
              <a:spLocks noChangeArrowheads="1"/>
            </p:cNvSpPr>
            <p:nvPr/>
          </p:nvSpPr>
          <p:spPr bwMode="auto">
            <a:xfrm>
              <a:off x="987" y="2221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20</a:t>
              </a:r>
            </a:p>
          </p:txBody>
        </p:sp>
        <p:sp>
          <p:nvSpPr>
            <p:cNvPr id="17438" name="Rectangle 28"/>
            <p:cNvSpPr>
              <a:spLocks noChangeArrowheads="1"/>
            </p:cNvSpPr>
            <p:nvPr/>
          </p:nvSpPr>
          <p:spPr bwMode="auto">
            <a:xfrm>
              <a:off x="999" y="2655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10</a:t>
              </a:r>
            </a:p>
          </p:txBody>
        </p:sp>
        <p:sp>
          <p:nvSpPr>
            <p:cNvPr id="17439" name="Rectangle 29"/>
            <p:cNvSpPr>
              <a:spLocks noChangeArrowheads="1"/>
            </p:cNvSpPr>
            <p:nvPr/>
          </p:nvSpPr>
          <p:spPr bwMode="auto">
            <a:xfrm>
              <a:off x="1059" y="3063"/>
              <a:ext cx="22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0</a:t>
              </a:r>
            </a:p>
          </p:txBody>
        </p:sp>
        <p:sp>
          <p:nvSpPr>
            <p:cNvPr id="17440" name="Rectangle 30"/>
            <p:cNvSpPr>
              <a:spLocks noChangeArrowheads="1"/>
            </p:cNvSpPr>
            <p:nvPr/>
          </p:nvSpPr>
          <p:spPr bwMode="auto">
            <a:xfrm>
              <a:off x="1011" y="3279"/>
              <a:ext cx="28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-5</a:t>
              </a:r>
            </a:p>
          </p:txBody>
        </p:sp>
        <p:sp>
          <p:nvSpPr>
            <p:cNvPr id="17441" name="Rectangle 31"/>
            <p:cNvSpPr>
              <a:spLocks noChangeArrowheads="1"/>
            </p:cNvSpPr>
            <p:nvPr/>
          </p:nvSpPr>
          <p:spPr bwMode="auto">
            <a:xfrm>
              <a:off x="1464" y="2859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70</a:t>
              </a:r>
            </a:p>
          </p:txBody>
        </p:sp>
        <p:sp>
          <p:nvSpPr>
            <p:cNvPr id="17442" name="Rectangle 32"/>
            <p:cNvSpPr>
              <a:spLocks noChangeArrowheads="1"/>
            </p:cNvSpPr>
            <p:nvPr/>
          </p:nvSpPr>
          <p:spPr bwMode="auto">
            <a:xfrm>
              <a:off x="1896" y="2859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80</a:t>
              </a:r>
            </a:p>
          </p:txBody>
        </p:sp>
        <p:sp>
          <p:nvSpPr>
            <p:cNvPr id="17443" name="Rectangle 33"/>
            <p:cNvSpPr>
              <a:spLocks noChangeArrowheads="1"/>
            </p:cNvSpPr>
            <p:nvPr/>
          </p:nvSpPr>
          <p:spPr bwMode="auto">
            <a:xfrm>
              <a:off x="2316" y="2859"/>
              <a:ext cx="3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90</a:t>
              </a:r>
            </a:p>
          </p:txBody>
        </p:sp>
        <p:sp>
          <p:nvSpPr>
            <p:cNvPr id="17444" name="Rectangle 34"/>
            <p:cNvSpPr>
              <a:spLocks noChangeArrowheads="1"/>
            </p:cNvSpPr>
            <p:nvPr/>
          </p:nvSpPr>
          <p:spPr bwMode="auto">
            <a:xfrm>
              <a:off x="2727" y="2859"/>
              <a:ext cx="4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100</a:t>
              </a:r>
            </a:p>
          </p:txBody>
        </p:sp>
        <p:sp>
          <p:nvSpPr>
            <p:cNvPr id="17445" name="Rectangle 35"/>
            <p:cNvSpPr>
              <a:spLocks noChangeArrowheads="1"/>
            </p:cNvSpPr>
            <p:nvPr/>
          </p:nvSpPr>
          <p:spPr bwMode="auto">
            <a:xfrm>
              <a:off x="3159" y="3255"/>
              <a:ext cx="4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110</a:t>
              </a:r>
            </a:p>
          </p:txBody>
        </p:sp>
        <p:sp>
          <p:nvSpPr>
            <p:cNvPr id="17446" name="Rectangle 36"/>
            <p:cNvSpPr>
              <a:spLocks noChangeArrowheads="1"/>
            </p:cNvSpPr>
            <p:nvPr/>
          </p:nvSpPr>
          <p:spPr bwMode="auto">
            <a:xfrm>
              <a:off x="3591" y="3255"/>
              <a:ext cx="4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120</a:t>
              </a:r>
            </a:p>
          </p:txBody>
        </p:sp>
        <p:sp>
          <p:nvSpPr>
            <p:cNvPr id="17447" name="Rectangle 37"/>
            <p:cNvSpPr>
              <a:spLocks noChangeArrowheads="1"/>
            </p:cNvSpPr>
            <p:nvPr/>
          </p:nvSpPr>
          <p:spPr bwMode="auto">
            <a:xfrm>
              <a:off x="4023" y="3255"/>
              <a:ext cx="435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130</a:t>
              </a:r>
            </a:p>
          </p:txBody>
        </p:sp>
        <p:sp>
          <p:nvSpPr>
            <p:cNvPr id="17448" name="Rectangle 38"/>
            <p:cNvSpPr>
              <a:spLocks noChangeArrowheads="1"/>
            </p:cNvSpPr>
            <p:nvPr/>
          </p:nvSpPr>
          <p:spPr bwMode="auto">
            <a:xfrm>
              <a:off x="1335" y="1707"/>
              <a:ext cx="850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Profit ($)</a:t>
              </a:r>
            </a:p>
          </p:txBody>
        </p:sp>
        <p:sp>
          <p:nvSpPr>
            <p:cNvPr id="17449" name="Rectangle 39"/>
            <p:cNvSpPr>
              <a:spLocks noChangeArrowheads="1"/>
            </p:cNvSpPr>
            <p:nvPr/>
          </p:nvSpPr>
          <p:spPr bwMode="auto">
            <a:xfrm>
              <a:off x="3848" y="2667"/>
              <a:ext cx="1320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Terminal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stock price ($)</a:t>
              </a:r>
            </a:p>
          </p:txBody>
        </p:sp>
      </p:grpSp>
      <p:sp>
        <p:nvSpPr>
          <p:cNvPr id="17414" name="Slide Number Placeholder 4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8E8F9A1-B993-4105-9953-4A21679B77F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77200" cy="1524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Short Call  </a:t>
            </a:r>
            <a:br>
              <a:rPr lang="en-US" altLang="en-US" smtClean="0"/>
            </a:br>
            <a:r>
              <a:rPr lang="en-US" altLang="en-US" sz="2200" smtClean="0"/>
              <a:t>(Figure 9.3, page 208)</a:t>
            </a:r>
            <a:endParaRPr lang="en-US" altLang="en-US" smtClean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229600" cy="411480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</a:t>
            </a:r>
            <a:r>
              <a:rPr lang="en-US" altLang="en-US" sz="2400" smtClean="0"/>
              <a:t>Profit from writing one European call option: option price = $5, strike price = $100</a:t>
            </a:r>
          </a:p>
        </p:txBody>
      </p:sp>
      <p:grpSp>
        <p:nvGrpSpPr>
          <p:cNvPr id="18437" name="Group 4"/>
          <p:cNvGrpSpPr>
            <a:grpSpLocks/>
          </p:cNvGrpSpPr>
          <p:nvPr/>
        </p:nvGrpSpPr>
        <p:grpSpPr bwMode="auto">
          <a:xfrm>
            <a:off x="1492250" y="2619375"/>
            <a:ext cx="6626225" cy="3413125"/>
            <a:chOff x="940" y="1650"/>
            <a:chExt cx="4174" cy="2150"/>
          </a:xfrm>
        </p:grpSpPr>
        <p:sp>
          <p:nvSpPr>
            <p:cNvPr id="18439" name="Rectangle 5"/>
            <p:cNvSpPr>
              <a:spLocks noChangeArrowheads="1"/>
            </p:cNvSpPr>
            <p:nvPr/>
          </p:nvSpPr>
          <p:spPr bwMode="auto">
            <a:xfrm>
              <a:off x="940" y="3514"/>
              <a:ext cx="39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-30</a:t>
              </a:r>
            </a:p>
          </p:txBody>
        </p:sp>
        <p:sp>
          <p:nvSpPr>
            <p:cNvPr id="18440" name="Rectangle 6"/>
            <p:cNvSpPr>
              <a:spLocks noChangeArrowheads="1"/>
            </p:cNvSpPr>
            <p:nvPr/>
          </p:nvSpPr>
          <p:spPr bwMode="auto">
            <a:xfrm>
              <a:off x="940" y="3088"/>
              <a:ext cx="39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-20</a:t>
              </a:r>
            </a:p>
          </p:txBody>
        </p:sp>
        <p:sp>
          <p:nvSpPr>
            <p:cNvPr id="18441" name="Rectangle 7"/>
            <p:cNvSpPr>
              <a:spLocks noChangeArrowheads="1"/>
            </p:cNvSpPr>
            <p:nvPr/>
          </p:nvSpPr>
          <p:spPr bwMode="auto">
            <a:xfrm>
              <a:off x="940" y="2634"/>
              <a:ext cx="39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-10</a:t>
              </a:r>
            </a:p>
          </p:txBody>
        </p:sp>
        <p:sp>
          <p:nvSpPr>
            <p:cNvPr id="18442" name="Rectangle 8"/>
            <p:cNvSpPr>
              <a:spLocks noChangeArrowheads="1"/>
            </p:cNvSpPr>
            <p:nvPr/>
          </p:nvSpPr>
          <p:spPr bwMode="auto">
            <a:xfrm>
              <a:off x="1059" y="2217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0</a:t>
              </a:r>
            </a:p>
          </p:txBody>
        </p:sp>
        <p:sp>
          <p:nvSpPr>
            <p:cNvPr id="18443" name="Rectangle 9"/>
            <p:cNvSpPr>
              <a:spLocks noChangeArrowheads="1"/>
            </p:cNvSpPr>
            <p:nvPr/>
          </p:nvSpPr>
          <p:spPr bwMode="auto">
            <a:xfrm>
              <a:off x="1059" y="2014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5</a:t>
              </a:r>
            </a:p>
          </p:txBody>
        </p:sp>
        <p:sp>
          <p:nvSpPr>
            <p:cNvPr id="18444" name="Line 10"/>
            <p:cNvSpPr>
              <a:spLocks noChangeShapeType="1"/>
            </p:cNvSpPr>
            <p:nvPr/>
          </p:nvSpPr>
          <p:spPr bwMode="auto">
            <a:xfrm>
              <a:off x="1248" y="1706"/>
              <a:ext cx="0" cy="20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5" name="Line 11"/>
            <p:cNvSpPr>
              <a:spLocks noChangeShapeType="1"/>
            </p:cNvSpPr>
            <p:nvPr/>
          </p:nvSpPr>
          <p:spPr bwMode="auto">
            <a:xfrm>
              <a:off x="1530" y="2340"/>
              <a:ext cx="338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6" name="Line 12"/>
            <p:cNvSpPr>
              <a:spLocks noChangeShapeType="1"/>
            </p:cNvSpPr>
            <p:nvPr/>
          </p:nvSpPr>
          <p:spPr bwMode="auto">
            <a:xfrm flipV="1">
              <a:off x="1448" y="2246"/>
              <a:ext cx="36" cy="1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7" name="Line 13"/>
            <p:cNvSpPr>
              <a:spLocks noChangeShapeType="1"/>
            </p:cNvSpPr>
            <p:nvPr/>
          </p:nvSpPr>
          <p:spPr bwMode="auto">
            <a:xfrm flipH="1" flipV="1">
              <a:off x="1486" y="2248"/>
              <a:ext cx="39" cy="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8" name="Line 14"/>
            <p:cNvSpPr>
              <a:spLocks noChangeShapeType="1"/>
            </p:cNvSpPr>
            <p:nvPr/>
          </p:nvSpPr>
          <p:spPr bwMode="auto">
            <a:xfrm flipH="1" flipV="1">
              <a:off x="1392" y="2247"/>
              <a:ext cx="51" cy="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49" name="Line 15"/>
            <p:cNvSpPr>
              <a:spLocks noChangeShapeType="1"/>
            </p:cNvSpPr>
            <p:nvPr/>
          </p:nvSpPr>
          <p:spPr bwMode="auto">
            <a:xfrm flipH="1">
              <a:off x="1361" y="2257"/>
              <a:ext cx="38" cy="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Line 16"/>
            <p:cNvSpPr>
              <a:spLocks noChangeShapeType="1"/>
            </p:cNvSpPr>
            <p:nvPr/>
          </p:nvSpPr>
          <p:spPr bwMode="auto">
            <a:xfrm flipH="1">
              <a:off x="1245" y="2342"/>
              <a:ext cx="1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Line 17"/>
            <p:cNvSpPr>
              <a:spLocks noChangeShapeType="1"/>
            </p:cNvSpPr>
            <p:nvPr/>
          </p:nvSpPr>
          <p:spPr bwMode="auto">
            <a:xfrm>
              <a:off x="1596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Line 18"/>
            <p:cNvSpPr>
              <a:spLocks noChangeShapeType="1"/>
            </p:cNvSpPr>
            <p:nvPr/>
          </p:nvSpPr>
          <p:spPr bwMode="auto">
            <a:xfrm>
              <a:off x="2028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3" name="Line 19"/>
            <p:cNvSpPr>
              <a:spLocks noChangeShapeType="1"/>
            </p:cNvSpPr>
            <p:nvPr/>
          </p:nvSpPr>
          <p:spPr bwMode="auto">
            <a:xfrm>
              <a:off x="2457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Line 20"/>
            <p:cNvSpPr>
              <a:spLocks noChangeShapeType="1"/>
            </p:cNvSpPr>
            <p:nvPr/>
          </p:nvSpPr>
          <p:spPr bwMode="auto">
            <a:xfrm>
              <a:off x="2892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Line 21"/>
            <p:cNvSpPr>
              <a:spLocks noChangeShapeType="1"/>
            </p:cNvSpPr>
            <p:nvPr/>
          </p:nvSpPr>
          <p:spPr bwMode="auto">
            <a:xfrm>
              <a:off x="3324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6" name="Line 22"/>
            <p:cNvSpPr>
              <a:spLocks noChangeShapeType="1"/>
            </p:cNvSpPr>
            <p:nvPr/>
          </p:nvSpPr>
          <p:spPr bwMode="auto">
            <a:xfrm>
              <a:off x="3753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7" name="Line 23"/>
            <p:cNvSpPr>
              <a:spLocks noChangeShapeType="1"/>
            </p:cNvSpPr>
            <p:nvPr/>
          </p:nvSpPr>
          <p:spPr bwMode="auto">
            <a:xfrm>
              <a:off x="4185" y="2294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Line 24"/>
            <p:cNvSpPr>
              <a:spLocks noChangeShapeType="1"/>
            </p:cNvSpPr>
            <p:nvPr/>
          </p:nvSpPr>
          <p:spPr bwMode="auto">
            <a:xfrm>
              <a:off x="1254" y="2769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Rectangle 25"/>
            <p:cNvSpPr>
              <a:spLocks noChangeArrowheads="1"/>
            </p:cNvSpPr>
            <p:nvPr/>
          </p:nvSpPr>
          <p:spPr bwMode="auto">
            <a:xfrm>
              <a:off x="1476" y="2391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70</a:t>
              </a:r>
            </a:p>
          </p:txBody>
        </p:sp>
        <p:sp>
          <p:nvSpPr>
            <p:cNvPr id="18460" name="Rectangle 26"/>
            <p:cNvSpPr>
              <a:spLocks noChangeArrowheads="1"/>
            </p:cNvSpPr>
            <p:nvPr/>
          </p:nvSpPr>
          <p:spPr bwMode="auto">
            <a:xfrm>
              <a:off x="1908" y="2391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80</a:t>
              </a:r>
            </a:p>
          </p:txBody>
        </p:sp>
        <p:sp>
          <p:nvSpPr>
            <p:cNvPr id="18461" name="Rectangle 27"/>
            <p:cNvSpPr>
              <a:spLocks noChangeArrowheads="1"/>
            </p:cNvSpPr>
            <p:nvPr/>
          </p:nvSpPr>
          <p:spPr bwMode="auto">
            <a:xfrm>
              <a:off x="2340" y="2391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90</a:t>
              </a:r>
            </a:p>
          </p:txBody>
        </p:sp>
        <p:sp>
          <p:nvSpPr>
            <p:cNvPr id="18462" name="Rectangle 28"/>
            <p:cNvSpPr>
              <a:spLocks noChangeArrowheads="1"/>
            </p:cNvSpPr>
            <p:nvPr/>
          </p:nvSpPr>
          <p:spPr bwMode="auto">
            <a:xfrm>
              <a:off x="2727" y="2391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100</a:t>
              </a:r>
            </a:p>
          </p:txBody>
        </p:sp>
        <p:sp>
          <p:nvSpPr>
            <p:cNvPr id="18463" name="Rectangle 29"/>
            <p:cNvSpPr>
              <a:spLocks noChangeArrowheads="1"/>
            </p:cNvSpPr>
            <p:nvPr/>
          </p:nvSpPr>
          <p:spPr bwMode="auto">
            <a:xfrm>
              <a:off x="3159" y="1995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110</a:t>
              </a:r>
            </a:p>
          </p:txBody>
        </p:sp>
        <p:sp>
          <p:nvSpPr>
            <p:cNvPr id="18464" name="Rectangle 30"/>
            <p:cNvSpPr>
              <a:spLocks noChangeArrowheads="1"/>
            </p:cNvSpPr>
            <p:nvPr/>
          </p:nvSpPr>
          <p:spPr bwMode="auto">
            <a:xfrm>
              <a:off x="3591" y="1995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120</a:t>
              </a:r>
            </a:p>
          </p:txBody>
        </p:sp>
        <p:sp>
          <p:nvSpPr>
            <p:cNvPr id="18465" name="Rectangle 31"/>
            <p:cNvSpPr>
              <a:spLocks noChangeArrowheads="1"/>
            </p:cNvSpPr>
            <p:nvPr/>
          </p:nvSpPr>
          <p:spPr bwMode="auto">
            <a:xfrm>
              <a:off x="4023" y="1995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130</a:t>
              </a:r>
            </a:p>
          </p:txBody>
        </p:sp>
        <p:sp>
          <p:nvSpPr>
            <p:cNvPr id="18466" name="Rectangle 32"/>
            <p:cNvSpPr>
              <a:spLocks noChangeArrowheads="1"/>
            </p:cNvSpPr>
            <p:nvPr/>
          </p:nvSpPr>
          <p:spPr bwMode="auto">
            <a:xfrm>
              <a:off x="1335" y="1650"/>
              <a:ext cx="85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Profit ($)</a:t>
              </a:r>
            </a:p>
          </p:txBody>
        </p:sp>
        <p:sp>
          <p:nvSpPr>
            <p:cNvPr id="18467" name="Rectangle 33"/>
            <p:cNvSpPr>
              <a:spLocks noChangeArrowheads="1"/>
            </p:cNvSpPr>
            <p:nvPr/>
          </p:nvSpPr>
          <p:spPr bwMode="auto">
            <a:xfrm>
              <a:off x="3794" y="2397"/>
              <a:ext cx="1320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Terminal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stock price ($)</a:t>
              </a:r>
            </a:p>
          </p:txBody>
        </p:sp>
        <p:sp>
          <p:nvSpPr>
            <p:cNvPr id="18468" name="Line 34"/>
            <p:cNvSpPr>
              <a:spLocks noChangeShapeType="1"/>
            </p:cNvSpPr>
            <p:nvPr/>
          </p:nvSpPr>
          <p:spPr bwMode="auto">
            <a:xfrm flipH="1">
              <a:off x="1248" y="2136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9" name="Line 35"/>
            <p:cNvSpPr>
              <a:spLocks noChangeShapeType="1"/>
            </p:cNvSpPr>
            <p:nvPr/>
          </p:nvSpPr>
          <p:spPr bwMode="auto">
            <a:xfrm>
              <a:off x="1255" y="3205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0" name="Line 36"/>
            <p:cNvSpPr>
              <a:spLocks noChangeShapeType="1"/>
            </p:cNvSpPr>
            <p:nvPr/>
          </p:nvSpPr>
          <p:spPr bwMode="auto">
            <a:xfrm>
              <a:off x="1256" y="3639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1" name="Line 37"/>
            <p:cNvSpPr>
              <a:spLocks noChangeShapeType="1"/>
            </p:cNvSpPr>
            <p:nvPr/>
          </p:nvSpPr>
          <p:spPr bwMode="auto">
            <a:xfrm>
              <a:off x="1575" y="2160"/>
              <a:ext cx="1305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2" name="Line 38"/>
            <p:cNvSpPr>
              <a:spLocks noChangeShapeType="1"/>
            </p:cNvSpPr>
            <p:nvPr/>
          </p:nvSpPr>
          <p:spPr bwMode="auto">
            <a:xfrm>
              <a:off x="2886" y="2142"/>
              <a:ext cx="1528" cy="152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438" name="Slide Number Placeholder 4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7109460-6791-44A1-A42C-0643A32AC7DB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77200" cy="1524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Long Put  </a:t>
            </a:r>
            <a:br>
              <a:rPr lang="en-US" altLang="en-US" smtClean="0"/>
            </a:br>
            <a:r>
              <a:rPr lang="en-US" altLang="en-US" sz="2200" smtClean="0"/>
              <a:t>(Figure 9.2, page 208)</a:t>
            </a:r>
            <a:endParaRPr lang="en-US" altLang="en-US" smtClean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1714500"/>
            <a:ext cx="8134350" cy="411480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</a:t>
            </a:r>
            <a:r>
              <a:rPr lang="en-US" altLang="en-US" sz="2400" smtClean="0"/>
              <a:t>Profit from buying a European put option: option price = $7, strike price = $70</a:t>
            </a:r>
          </a:p>
        </p:txBody>
      </p:sp>
      <p:grpSp>
        <p:nvGrpSpPr>
          <p:cNvPr id="19461" name="Group 4"/>
          <p:cNvGrpSpPr>
            <a:grpSpLocks/>
          </p:cNvGrpSpPr>
          <p:nvPr/>
        </p:nvGrpSpPr>
        <p:grpSpPr bwMode="auto">
          <a:xfrm>
            <a:off x="1566863" y="2709863"/>
            <a:ext cx="6637337" cy="3132137"/>
            <a:chOff x="987" y="1707"/>
            <a:chExt cx="4181" cy="1973"/>
          </a:xfrm>
        </p:grpSpPr>
        <p:sp>
          <p:nvSpPr>
            <p:cNvPr id="19463" name="Line 5"/>
            <p:cNvSpPr>
              <a:spLocks noChangeShapeType="1"/>
            </p:cNvSpPr>
            <p:nvPr/>
          </p:nvSpPr>
          <p:spPr bwMode="auto">
            <a:xfrm>
              <a:off x="1248" y="1721"/>
              <a:ext cx="0" cy="19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4" name="Line 6"/>
            <p:cNvSpPr>
              <a:spLocks noChangeShapeType="1"/>
            </p:cNvSpPr>
            <p:nvPr/>
          </p:nvSpPr>
          <p:spPr bwMode="auto">
            <a:xfrm>
              <a:off x="1530" y="3206"/>
              <a:ext cx="33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5" name="Line 7"/>
            <p:cNvSpPr>
              <a:spLocks noChangeShapeType="1"/>
            </p:cNvSpPr>
            <p:nvPr/>
          </p:nvSpPr>
          <p:spPr bwMode="auto">
            <a:xfrm flipV="1">
              <a:off x="1448" y="3110"/>
              <a:ext cx="36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6" name="Line 8"/>
            <p:cNvSpPr>
              <a:spLocks noChangeShapeType="1"/>
            </p:cNvSpPr>
            <p:nvPr/>
          </p:nvSpPr>
          <p:spPr bwMode="auto">
            <a:xfrm flipH="1" flipV="1">
              <a:off x="1485" y="3113"/>
              <a:ext cx="42" cy="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7" name="Line 9"/>
            <p:cNvSpPr>
              <a:spLocks noChangeShapeType="1"/>
            </p:cNvSpPr>
            <p:nvPr/>
          </p:nvSpPr>
          <p:spPr bwMode="auto">
            <a:xfrm flipH="1" flipV="1">
              <a:off x="1392" y="3110"/>
              <a:ext cx="51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8" name="Line 10"/>
            <p:cNvSpPr>
              <a:spLocks noChangeShapeType="1"/>
            </p:cNvSpPr>
            <p:nvPr/>
          </p:nvSpPr>
          <p:spPr bwMode="auto">
            <a:xfrm flipH="1">
              <a:off x="1359" y="3121"/>
              <a:ext cx="40" cy="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9" name="Line 11"/>
            <p:cNvSpPr>
              <a:spLocks noChangeShapeType="1"/>
            </p:cNvSpPr>
            <p:nvPr/>
          </p:nvSpPr>
          <p:spPr bwMode="auto">
            <a:xfrm flipH="1">
              <a:off x="1245" y="3206"/>
              <a:ext cx="1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0" name="Line 12"/>
            <p:cNvSpPr>
              <a:spLocks noChangeShapeType="1"/>
            </p:cNvSpPr>
            <p:nvPr/>
          </p:nvSpPr>
          <p:spPr bwMode="auto">
            <a:xfrm>
              <a:off x="1253" y="2772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1" name="Line 13"/>
            <p:cNvSpPr>
              <a:spLocks noChangeShapeType="1"/>
            </p:cNvSpPr>
            <p:nvPr/>
          </p:nvSpPr>
          <p:spPr bwMode="auto">
            <a:xfrm>
              <a:off x="1256" y="2337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2" name="Line 14"/>
            <p:cNvSpPr>
              <a:spLocks noChangeShapeType="1"/>
            </p:cNvSpPr>
            <p:nvPr/>
          </p:nvSpPr>
          <p:spPr bwMode="auto">
            <a:xfrm>
              <a:off x="1252" y="1911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3" name="Line 15"/>
            <p:cNvSpPr>
              <a:spLocks noChangeShapeType="1"/>
            </p:cNvSpPr>
            <p:nvPr/>
          </p:nvSpPr>
          <p:spPr bwMode="auto">
            <a:xfrm>
              <a:off x="1596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4" name="Line 16"/>
            <p:cNvSpPr>
              <a:spLocks noChangeShapeType="1"/>
            </p:cNvSpPr>
            <p:nvPr/>
          </p:nvSpPr>
          <p:spPr bwMode="auto">
            <a:xfrm>
              <a:off x="2028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5" name="Line 17"/>
            <p:cNvSpPr>
              <a:spLocks noChangeShapeType="1"/>
            </p:cNvSpPr>
            <p:nvPr/>
          </p:nvSpPr>
          <p:spPr bwMode="auto">
            <a:xfrm>
              <a:off x="2457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6" name="Line 18"/>
            <p:cNvSpPr>
              <a:spLocks noChangeShapeType="1"/>
            </p:cNvSpPr>
            <p:nvPr/>
          </p:nvSpPr>
          <p:spPr bwMode="auto">
            <a:xfrm>
              <a:off x="2892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7" name="Line 19"/>
            <p:cNvSpPr>
              <a:spLocks noChangeShapeType="1"/>
            </p:cNvSpPr>
            <p:nvPr/>
          </p:nvSpPr>
          <p:spPr bwMode="auto">
            <a:xfrm>
              <a:off x="3324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8" name="Line 20"/>
            <p:cNvSpPr>
              <a:spLocks noChangeShapeType="1"/>
            </p:cNvSpPr>
            <p:nvPr/>
          </p:nvSpPr>
          <p:spPr bwMode="auto">
            <a:xfrm>
              <a:off x="3753" y="3160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9" name="Line 21"/>
            <p:cNvSpPr>
              <a:spLocks noChangeShapeType="1"/>
            </p:cNvSpPr>
            <p:nvPr/>
          </p:nvSpPr>
          <p:spPr bwMode="auto">
            <a:xfrm>
              <a:off x="4185" y="315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0" name="Line 22"/>
            <p:cNvSpPr>
              <a:spLocks noChangeShapeType="1"/>
            </p:cNvSpPr>
            <p:nvPr/>
          </p:nvSpPr>
          <p:spPr bwMode="auto">
            <a:xfrm>
              <a:off x="1253" y="3633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1" name="Line 23"/>
            <p:cNvSpPr>
              <a:spLocks noChangeShapeType="1"/>
            </p:cNvSpPr>
            <p:nvPr/>
          </p:nvSpPr>
          <p:spPr bwMode="auto">
            <a:xfrm flipH="1">
              <a:off x="1245" y="3420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2" name="Rectangle 24"/>
            <p:cNvSpPr>
              <a:spLocks noChangeArrowheads="1"/>
            </p:cNvSpPr>
            <p:nvPr/>
          </p:nvSpPr>
          <p:spPr bwMode="auto">
            <a:xfrm>
              <a:off x="987" y="1765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30</a:t>
              </a:r>
            </a:p>
          </p:txBody>
        </p:sp>
        <p:sp>
          <p:nvSpPr>
            <p:cNvPr id="19483" name="Rectangle 25"/>
            <p:cNvSpPr>
              <a:spLocks noChangeArrowheads="1"/>
            </p:cNvSpPr>
            <p:nvPr/>
          </p:nvSpPr>
          <p:spPr bwMode="auto">
            <a:xfrm>
              <a:off x="987" y="2221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20</a:t>
              </a:r>
            </a:p>
          </p:txBody>
        </p:sp>
        <p:sp>
          <p:nvSpPr>
            <p:cNvPr id="19484" name="Rectangle 26"/>
            <p:cNvSpPr>
              <a:spLocks noChangeArrowheads="1"/>
            </p:cNvSpPr>
            <p:nvPr/>
          </p:nvSpPr>
          <p:spPr bwMode="auto">
            <a:xfrm>
              <a:off x="999" y="2655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10</a:t>
              </a:r>
            </a:p>
          </p:txBody>
        </p:sp>
        <p:sp>
          <p:nvSpPr>
            <p:cNvPr id="19485" name="Rectangle 27"/>
            <p:cNvSpPr>
              <a:spLocks noChangeArrowheads="1"/>
            </p:cNvSpPr>
            <p:nvPr/>
          </p:nvSpPr>
          <p:spPr bwMode="auto">
            <a:xfrm>
              <a:off x="1059" y="3063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0</a:t>
              </a:r>
            </a:p>
          </p:txBody>
        </p:sp>
        <p:sp>
          <p:nvSpPr>
            <p:cNvPr id="19486" name="Rectangle 28"/>
            <p:cNvSpPr>
              <a:spLocks noChangeArrowheads="1"/>
            </p:cNvSpPr>
            <p:nvPr/>
          </p:nvSpPr>
          <p:spPr bwMode="auto">
            <a:xfrm>
              <a:off x="1011" y="3373"/>
              <a:ext cx="28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-7</a:t>
              </a:r>
            </a:p>
          </p:txBody>
        </p:sp>
        <p:sp>
          <p:nvSpPr>
            <p:cNvPr id="19487" name="Rectangle 29"/>
            <p:cNvSpPr>
              <a:spLocks noChangeArrowheads="1"/>
            </p:cNvSpPr>
            <p:nvPr/>
          </p:nvSpPr>
          <p:spPr bwMode="auto">
            <a:xfrm>
              <a:off x="2785" y="3219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70</a:t>
              </a:r>
            </a:p>
          </p:txBody>
        </p:sp>
        <p:sp>
          <p:nvSpPr>
            <p:cNvPr id="19488" name="Rectangle 30"/>
            <p:cNvSpPr>
              <a:spLocks noChangeArrowheads="1"/>
            </p:cNvSpPr>
            <p:nvPr/>
          </p:nvSpPr>
          <p:spPr bwMode="auto">
            <a:xfrm>
              <a:off x="2343" y="3219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60</a:t>
              </a:r>
            </a:p>
          </p:txBody>
        </p:sp>
        <p:sp>
          <p:nvSpPr>
            <p:cNvPr id="19489" name="Rectangle 31"/>
            <p:cNvSpPr>
              <a:spLocks noChangeArrowheads="1"/>
            </p:cNvSpPr>
            <p:nvPr/>
          </p:nvSpPr>
          <p:spPr bwMode="auto">
            <a:xfrm>
              <a:off x="1917" y="3219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50</a:t>
              </a:r>
            </a:p>
          </p:txBody>
        </p:sp>
        <p:sp>
          <p:nvSpPr>
            <p:cNvPr id="19490" name="Rectangle 32"/>
            <p:cNvSpPr>
              <a:spLocks noChangeArrowheads="1"/>
            </p:cNvSpPr>
            <p:nvPr/>
          </p:nvSpPr>
          <p:spPr bwMode="auto">
            <a:xfrm>
              <a:off x="1489" y="3219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40</a:t>
              </a:r>
            </a:p>
          </p:txBody>
        </p:sp>
        <p:sp>
          <p:nvSpPr>
            <p:cNvPr id="19491" name="Rectangle 33"/>
            <p:cNvSpPr>
              <a:spLocks noChangeArrowheads="1"/>
            </p:cNvSpPr>
            <p:nvPr/>
          </p:nvSpPr>
          <p:spPr bwMode="auto">
            <a:xfrm>
              <a:off x="3213" y="3219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80</a:t>
              </a:r>
            </a:p>
          </p:txBody>
        </p:sp>
        <p:sp>
          <p:nvSpPr>
            <p:cNvPr id="19492" name="Rectangle 34"/>
            <p:cNvSpPr>
              <a:spLocks noChangeArrowheads="1"/>
            </p:cNvSpPr>
            <p:nvPr/>
          </p:nvSpPr>
          <p:spPr bwMode="auto">
            <a:xfrm>
              <a:off x="3627" y="3219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90</a:t>
              </a:r>
            </a:p>
          </p:txBody>
        </p:sp>
        <p:sp>
          <p:nvSpPr>
            <p:cNvPr id="19493" name="Rectangle 35"/>
            <p:cNvSpPr>
              <a:spLocks noChangeArrowheads="1"/>
            </p:cNvSpPr>
            <p:nvPr/>
          </p:nvSpPr>
          <p:spPr bwMode="auto">
            <a:xfrm>
              <a:off x="4023" y="3219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100</a:t>
              </a:r>
            </a:p>
          </p:txBody>
        </p:sp>
        <p:sp>
          <p:nvSpPr>
            <p:cNvPr id="19494" name="Rectangle 36"/>
            <p:cNvSpPr>
              <a:spLocks noChangeArrowheads="1"/>
            </p:cNvSpPr>
            <p:nvPr/>
          </p:nvSpPr>
          <p:spPr bwMode="auto">
            <a:xfrm>
              <a:off x="1335" y="1707"/>
              <a:ext cx="85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Profit ($)</a:t>
              </a:r>
            </a:p>
          </p:txBody>
        </p:sp>
        <p:sp>
          <p:nvSpPr>
            <p:cNvPr id="19495" name="Rectangle 37"/>
            <p:cNvSpPr>
              <a:spLocks noChangeArrowheads="1"/>
            </p:cNvSpPr>
            <p:nvPr/>
          </p:nvSpPr>
          <p:spPr bwMode="auto">
            <a:xfrm>
              <a:off x="3848" y="2667"/>
              <a:ext cx="1320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Terminal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stock price ($)</a:t>
              </a:r>
            </a:p>
          </p:txBody>
        </p:sp>
        <p:sp>
          <p:nvSpPr>
            <p:cNvPr id="19496" name="Line 38"/>
            <p:cNvSpPr>
              <a:spLocks noChangeShapeType="1"/>
            </p:cNvSpPr>
            <p:nvPr/>
          </p:nvSpPr>
          <p:spPr bwMode="auto">
            <a:xfrm flipH="1">
              <a:off x="1211" y="3492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7" name="Line 39"/>
            <p:cNvSpPr>
              <a:spLocks noChangeShapeType="1"/>
            </p:cNvSpPr>
            <p:nvPr/>
          </p:nvSpPr>
          <p:spPr bwMode="auto">
            <a:xfrm>
              <a:off x="2925" y="3510"/>
              <a:ext cx="1699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8" name="Line 40"/>
            <p:cNvSpPr>
              <a:spLocks noChangeShapeType="1"/>
            </p:cNvSpPr>
            <p:nvPr/>
          </p:nvSpPr>
          <p:spPr bwMode="auto">
            <a:xfrm flipH="1" flipV="1">
              <a:off x="1513" y="2119"/>
              <a:ext cx="1402" cy="140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462" name="Slide Number Placeholder 4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299FFDB-725D-47AC-B588-F6F30FE511C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05800" cy="16002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Short Put </a:t>
            </a:r>
            <a:br>
              <a:rPr lang="en-US" altLang="en-US" smtClean="0"/>
            </a:br>
            <a:r>
              <a:rPr lang="en-US" altLang="en-US" sz="2200" smtClean="0"/>
              <a:t>(Figure 9.4, page 214)</a:t>
            </a:r>
            <a:endParaRPr lang="en-US" altLang="en-US" smtClean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172450" cy="411480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</a:t>
            </a:r>
            <a:r>
              <a:rPr lang="en-US" altLang="en-US" sz="2400" smtClean="0"/>
              <a:t>Profit from writing a European put option: option price = $7, strike price = $70</a:t>
            </a:r>
          </a:p>
        </p:txBody>
      </p:sp>
      <p:grpSp>
        <p:nvGrpSpPr>
          <p:cNvPr id="20485" name="Group 4"/>
          <p:cNvGrpSpPr>
            <a:grpSpLocks/>
          </p:cNvGrpSpPr>
          <p:nvPr/>
        </p:nvGrpSpPr>
        <p:grpSpPr bwMode="auto">
          <a:xfrm>
            <a:off x="1485900" y="2541588"/>
            <a:ext cx="6784975" cy="3535362"/>
            <a:chOff x="936" y="1601"/>
            <a:chExt cx="4274" cy="2227"/>
          </a:xfrm>
        </p:grpSpPr>
        <p:sp>
          <p:nvSpPr>
            <p:cNvPr id="20487" name="Rectangle 5"/>
            <p:cNvSpPr>
              <a:spLocks noChangeArrowheads="1"/>
            </p:cNvSpPr>
            <p:nvPr/>
          </p:nvSpPr>
          <p:spPr bwMode="auto">
            <a:xfrm>
              <a:off x="937" y="3542"/>
              <a:ext cx="39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-30</a:t>
              </a:r>
            </a:p>
          </p:txBody>
        </p:sp>
        <p:sp>
          <p:nvSpPr>
            <p:cNvPr id="20488" name="Rectangle 6"/>
            <p:cNvSpPr>
              <a:spLocks noChangeArrowheads="1"/>
            </p:cNvSpPr>
            <p:nvPr/>
          </p:nvSpPr>
          <p:spPr bwMode="auto">
            <a:xfrm>
              <a:off x="936" y="3115"/>
              <a:ext cx="39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-20</a:t>
              </a:r>
            </a:p>
          </p:txBody>
        </p:sp>
        <p:sp>
          <p:nvSpPr>
            <p:cNvPr id="20489" name="Rectangle 7"/>
            <p:cNvSpPr>
              <a:spLocks noChangeArrowheads="1"/>
            </p:cNvSpPr>
            <p:nvPr/>
          </p:nvSpPr>
          <p:spPr bwMode="auto">
            <a:xfrm>
              <a:off x="937" y="2683"/>
              <a:ext cx="39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-10</a:t>
              </a:r>
            </a:p>
          </p:txBody>
        </p:sp>
        <p:sp>
          <p:nvSpPr>
            <p:cNvPr id="20490" name="Rectangle 8"/>
            <p:cNvSpPr>
              <a:spLocks noChangeArrowheads="1"/>
            </p:cNvSpPr>
            <p:nvPr/>
          </p:nvSpPr>
          <p:spPr bwMode="auto">
            <a:xfrm>
              <a:off x="1053" y="1956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7</a:t>
              </a:r>
            </a:p>
          </p:txBody>
        </p:sp>
        <p:sp>
          <p:nvSpPr>
            <p:cNvPr id="20491" name="Line 9"/>
            <p:cNvSpPr>
              <a:spLocks noChangeShapeType="1"/>
            </p:cNvSpPr>
            <p:nvPr/>
          </p:nvSpPr>
          <p:spPr bwMode="auto">
            <a:xfrm>
              <a:off x="1248" y="1601"/>
              <a:ext cx="0" cy="20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2" name="Line 10"/>
            <p:cNvSpPr>
              <a:spLocks noChangeShapeType="1"/>
            </p:cNvSpPr>
            <p:nvPr/>
          </p:nvSpPr>
          <p:spPr bwMode="auto">
            <a:xfrm>
              <a:off x="1530" y="2396"/>
              <a:ext cx="33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3" name="Line 11"/>
            <p:cNvSpPr>
              <a:spLocks noChangeShapeType="1"/>
            </p:cNvSpPr>
            <p:nvPr/>
          </p:nvSpPr>
          <p:spPr bwMode="auto">
            <a:xfrm flipV="1">
              <a:off x="1448" y="2300"/>
              <a:ext cx="36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4" name="Line 12"/>
            <p:cNvSpPr>
              <a:spLocks noChangeShapeType="1"/>
            </p:cNvSpPr>
            <p:nvPr/>
          </p:nvSpPr>
          <p:spPr bwMode="auto">
            <a:xfrm flipH="1" flipV="1">
              <a:off x="1485" y="2303"/>
              <a:ext cx="42" cy="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5" name="Line 13"/>
            <p:cNvSpPr>
              <a:spLocks noChangeShapeType="1"/>
            </p:cNvSpPr>
            <p:nvPr/>
          </p:nvSpPr>
          <p:spPr bwMode="auto">
            <a:xfrm flipH="1" flipV="1">
              <a:off x="1392" y="2300"/>
              <a:ext cx="51" cy="1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6" name="Line 14"/>
            <p:cNvSpPr>
              <a:spLocks noChangeShapeType="1"/>
            </p:cNvSpPr>
            <p:nvPr/>
          </p:nvSpPr>
          <p:spPr bwMode="auto">
            <a:xfrm flipH="1">
              <a:off x="1359" y="2311"/>
              <a:ext cx="40" cy="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7" name="Line 15"/>
            <p:cNvSpPr>
              <a:spLocks noChangeShapeType="1"/>
            </p:cNvSpPr>
            <p:nvPr/>
          </p:nvSpPr>
          <p:spPr bwMode="auto">
            <a:xfrm flipH="1">
              <a:off x="1245" y="2396"/>
              <a:ext cx="11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8" name="Line 16"/>
            <p:cNvSpPr>
              <a:spLocks noChangeShapeType="1"/>
            </p:cNvSpPr>
            <p:nvPr/>
          </p:nvSpPr>
          <p:spPr bwMode="auto">
            <a:xfrm>
              <a:off x="1253" y="1962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9" name="Line 17"/>
            <p:cNvSpPr>
              <a:spLocks noChangeShapeType="1"/>
            </p:cNvSpPr>
            <p:nvPr/>
          </p:nvSpPr>
          <p:spPr bwMode="auto">
            <a:xfrm>
              <a:off x="1596" y="234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0" name="Line 18"/>
            <p:cNvSpPr>
              <a:spLocks noChangeShapeType="1"/>
            </p:cNvSpPr>
            <p:nvPr/>
          </p:nvSpPr>
          <p:spPr bwMode="auto">
            <a:xfrm>
              <a:off x="2028" y="234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1" name="Line 19"/>
            <p:cNvSpPr>
              <a:spLocks noChangeShapeType="1"/>
            </p:cNvSpPr>
            <p:nvPr/>
          </p:nvSpPr>
          <p:spPr bwMode="auto">
            <a:xfrm>
              <a:off x="2457" y="234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2" name="Line 20"/>
            <p:cNvSpPr>
              <a:spLocks noChangeShapeType="1"/>
            </p:cNvSpPr>
            <p:nvPr/>
          </p:nvSpPr>
          <p:spPr bwMode="auto">
            <a:xfrm>
              <a:off x="2892" y="234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3" name="Line 21"/>
            <p:cNvSpPr>
              <a:spLocks noChangeShapeType="1"/>
            </p:cNvSpPr>
            <p:nvPr/>
          </p:nvSpPr>
          <p:spPr bwMode="auto">
            <a:xfrm>
              <a:off x="3324" y="234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4" name="Line 22"/>
            <p:cNvSpPr>
              <a:spLocks noChangeShapeType="1"/>
            </p:cNvSpPr>
            <p:nvPr/>
          </p:nvSpPr>
          <p:spPr bwMode="auto">
            <a:xfrm>
              <a:off x="3753" y="2350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5" name="Line 23"/>
            <p:cNvSpPr>
              <a:spLocks noChangeShapeType="1"/>
            </p:cNvSpPr>
            <p:nvPr/>
          </p:nvSpPr>
          <p:spPr bwMode="auto">
            <a:xfrm>
              <a:off x="4185" y="2348"/>
              <a:ext cx="0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6" name="Line 24"/>
            <p:cNvSpPr>
              <a:spLocks noChangeShapeType="1"/>
            </p:cNvSpPr>
            <p:nvPr/>
          </p:nvSpPr>
          <p:spPr bwMode="auto">
            <a:xfrm>
              <a:off x="1253" y="2823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7" name="Line 25"/>
            <p:cNvSpPr>
              <a:spLocks noChangeShapeType="1"/>
            </p:cNvSpPr>
            <p:nvPr/>
          </p:nvSpPr>
          <p:spPr bwMode="auto">
            <a:xfrm flipH="1">
              <a:off x="1245" y="2177"/>
              <a:ext cx="3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8" name="Rectangle 26"/>
            <p:cNvSpPr>
              <a:spLocks noChangeArrowheads="1"/>
            </p:cNvSpPr>
            <p:nvPr/>
          </p:nvSpPr>
          <p:spPr bwMode="auto">
            <a:xfrm>
              <a:off x="1059" y="2253"/>
              <a:ext cx="22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0</a:t>
              </a:r>
            </a:p>
          </p:txBody>
        </p:sp>
        <p:sp>
          <p:nvSpPr>
            <p:cNvPr id="20509" name="Rectangle 27"/>
            <p:cNvSpPr>
              <a:spLocks noChangeArrowheads="1"/>
            </p:cNvSpPr>
            <p:nvPr/>
          </p:nvSpPr>
          <p:spPr bwMode="auto">
            <a:xfrm>
              <a:off x="2761" y="2402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70</a:t>
              </a:r>
            </a:p>
          </p:txBody>
        </p:sp>
        <p:sp>
          <p:nvSpPr>
            <p:cNvPr id="20510" name="Rectangle 28"/>
            <p:cNvSpPr>
              <a:spLocks noChangeArrowheads="1"/>
            </p:cNvSpPr>
            <p:nvPr/>
          </p:nvSpPr>
          <p:spPr bwMode="auto">
            <a:xfrm>
              <a:off x="2324" y="2080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60</a:t>
              </a:r>
            </a:p>
          </p:txBody>
        </p:sp>
        <p:sp>
          <p:nvSpPr>
            <p:cNvPr id="20511" name="Rectangle 29"/>
            <p:cNvSpPr>
              <a:spLocks noChangeArrowheads="1"/>
            </p:cNvSpPr>
            <p:nvPr/>
          </p:nvSpPr>
          <p:spPr bwMode="auto">
            <a:xfrm>
              <a:off x="1897" y="2080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50</a:t>
              </a:r>
            </a:p>
          </p:txBody>
        </p:sp>
        <p:sp>
          <p:nvSpPr>
            <p:cNvPr id="20512" name="Rectangle 30"/>
            <p:cNvSpPr>
              <a:spLocks noChangeArrowheads="1"/>
            </p:cNvSpPr>
            <p:nvPr/>
          </p:nvSpPr>
          <p:spPr bwMode="auto">
            <a:xfrm>
              <a:off x="1466" y="2080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40</a:t>
              </a:r>
            </a:p>
          </p:txBody>
        </p:sp>
        <p:sp>
          <p:nvSpPr>
            <p:cNvPr id="20513" name="Rectangle 31"/>
            <p:cNvSpPr>
              <a:spLocks noChangeArrowheads="1"/>
            </p:cNvSpPr>
            <p:nvPr/>
          </p:nvSpPr>
          <p:spPr bwMode="auto">
            <a:xfrm>
              <a:off x="3194" y="2402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80</a:t>
              </a:r>
            </a:p>
          </p:txBody>
        </p:sp>
        <p:sp>
          <p:nvSpPr>
            <p:cNvPr id="20514" name="Rectangle 32"/>
            <p:cNvSpPr>
              <a:spLocks noChangeArrowheads="1"/>
            </p:cNvSpPr>
            <p:nvPr/>
          </p:nvSpPr>
          <p:spPr bwMode="auto">
            <a:xfrm>
              <a:off x="3623" y="2402"/>
              <a:ext cx="32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90</a:t>
              </a:r>
            </a:p>
          </p:txBody>
        </p:sp>
        <p:sp>
          <p:nvSpPr>
            <p:cNvPr id="20515" name="Rectangle 33"/>
            <p:cNvSpPr>
              <a:spLocks noChangeArrowheads="1"/>
            </p:cNvSpPr>
            <p:nvPr/>
          </p:nvSpPr>
          <p:spPr bwMode="auto">
            <a:xfrm>
              <a:off x="4018" y="2402"/>
              <a:ext cx="435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100</a:t>
              </a:r>
            </a:p>
          </p:txBody>
        </p:sp>
        <p:sp>
          <p:nvSpPr>
            <p:cNvPr id="20516" name="Rectangle 34"/>
            <p:cNvSpPr>
              <a:spLocks noChangeArrowheads="1"/>
            </p:cNvSpPr>
            <p:nvPr/>
          </p:nvSpPr>
          <p:spPr bwMode="auto">
            <a:xfrm>
              <a:off x="1335" y="1689"/>
              <a:ext cx="85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Profit ($)</a:t>
              </a:r>
            </a:p>
          </p:txBody>
        </p:sp>
        <p:sp>
          <p:nvSpPr>
            <p:cNvPr id="20517" name="Rectangle 35"/>
            <p:cNvSpPr>
              <a:spLocks noChangeArrowheads="1"/>
            </p:cNvSpPr>
            <p:nvPr/>
          </p:nvSpPr>
          <p:spPr bwMode="auto">
            <a:xfrm>
              <a:off x="3890" y="1857"/>
              <a:ext cx="1320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Terminal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stock price ($)</a:t>
              </a:r>
            </a:p>
          </p:txBody>
        </p:sp>
        <p:sp>
          <p:nvSpPr>
            <p:cNvPr id="20518" name="Line 36"/>
            <p:cNvSpPr>
              <a:spLocks noChangeShapeType="1"/>
            </p:cNvSpPr>
            <p:nvPr/>
          </p:nvSpPr>
          <p:spPr bwMode="auto">
            <a:xfrm flipH="1">
              <a:off x="1211" y="2098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9" name="Line 37"/>
            <p:cNvSpPr>
              <a:spLocks noChangeShapeType="1"/>
            </p:cNvSpPr>
            <p:nvPr/>
          </p:nvSpPr>
          <p:spPr bwMode="auto">
            <a:xfrm>
              <a:off x="2909" y="2096"/>
              <a:ext cx="1269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0" name="Line 38"/>
            <p:cNvSpPr>
              <a:spLocks noChangeShapeType="1"/>
            </p:cNvSpPr>
            <p:nvPr/>
          </p:nvSpPr>
          <p:spPr bwMode="auto">
            <a:xfrm flipH="1">
              <a:off x="1509" y="2104"/>
              <a:ext cx="1408" cy="1344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" name="Line 39"/>
            <p:cNvSpPr>
              <a:spLocks noChangeShapeType="1"/>
            </p:cNvSpPr>
            <p:nvPr/>
          </p:nvSpPr>
          <p:spPr bwMode="auto">
            <a:xfrm>
              <a:off x="1253" y="3255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2" name="Line 40"/>
            <p:cNvSpPr>
              <a:spLocks noChangeShapeType="1"/>
            </p:cNvSpPr>
            <p:nvPr/>
          </p:nvSpPr>
          <p:spPr bwMode="auto">
            <a:xfrm>
              <a:off x="1253" y="3684"/>
              <a:ext cx="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486" name="Slide Number Placeholder 4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DAA99AA-C4A8-416E-9BF2-13F9DBC416C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55600"/>
            <a:ext cx="7772400" cy="912813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Payoffs from Options </a:t>
            </a:r>
            <a:br>
              <a:rPr lang="en-US" altLang="en-US" smtClean="0"/>
            </a:br>
            <a:r>
              <a:rPr lang="en-US" altLang="en-US" sz="2400" b="0" smtClean="0">
                <a:latin typeface="Arial" panose="020B0604020202020204" pitchFamily="34" charset="0"/>
              </a:rPr>
              <a:t>What is the Option Position in Each Case?</a:t>
            </a:r>
            <a:r>
              <a:rPr lang="en-US" altLang="en-US" sz="2400" smtClean="0"/>
              <a:t>  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K</a:t>
            </a:r>
            <a:r>
              <a:rPr lang="en-US" altLang="en-US" sz="2400" smtClean="0"/>
              <a:t> = Strike price, </a:t>
            </a:r>
            <a:r>
              <a:rPr lang="en-US" altLang="en-US" sz="2400" i="1" smtClean="0">
                <a:latin typeface="Times New Roman" panose="02020603050405020304" pitchFamily="18" charset="0"/>
              </a:rPr>
              <a:t>S</a:t>
            </a:r>
            <a:r>
              <a:rPr lang="en-US" altLang="en-US" sz="2400" i="1" baseline="-25000" smtClean="0">
                <a:latin typeface="Times New Roman" panose="02020603050405020304" pitchFamily="18" charset="0"/>
              </a:rPr>
              <a:t>T</a:t>
            </a:r>
            <a:r>
              <a:rPr lang="en-US" altLang="en-US" sz="2400" i="1" smtClean="0"/>
              <a:t> </a:t>
            </a:r>
            <a:r>
              <a:rPr lang="en-US" altLang="en-US" sz="2400" smtClean="0"/>
              <a:t>= Price of asset at maturity</a:t>
            </a:r>
          </a:p>
        </p:txBody>
      </p:sp>
      <p:grpSp>
        <p:nvGrpSpPr>
          <p:cNvPr id="21509" name="Group 4"/>
          <p:cNvGrpSpPr>
            <a:grpSpLocks/>
          </p:cNvGrpSpPr>
          <p:nvPr/>
        </p:nvGrpSpPr>
        <p:grpSpPr bwMode="auto">
          <a:xfrm>
            <a:off x="1600200" y="2043113"/>
            <a:ext cx="6013450" cy="3884612"/>
            <a:chOff x="1008" y="1287"/>
            <a:chExt cx="3788" cy="2447"/>
          </a:xfrm>
        </p:grpSpPr>
        <p:grpSp>
          <p:nvGrpSpPr>
            <p:cNvPr id="21511" name="Group 5"/>
            <p:cNvGrpSpPr>
              <a:grpSpLocks/>
            </p:cNvGrpSpPr>
            <p:nvPr/>
          </p:nvGrpSpPr>
          <p:grpSpPr bwMode="auto">
            <a:xfrm>
              <a:off x="1008" y="1385"/>
              <a:ext cx="1460" cy="1071"/>
              <a:chOff x="1008" y="1385"/>
              <a:chExt cx="1460" cy="1071"/>
            </a:xfrm>
          </p:grpSpPr>
          <p:sp>
            <p:nvSpPr>
              <p:cNvPr id="21541" name="Line 6"/>
              <p:cNvSpPr>
                <a:spLocks noChangeShapeType="1"/>
              </p:cNvSpPr>
              <p:nvPr/>
            </p:nvSpPr>
            <p:spPr bwMode="auto">
              <a:xfrm>
                <a:off x="1008" y="1385"/>
                <a:ext cx="0" cy="107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42" name="Line 7"/>
              <p:cNvSpPr>
                <a:spLocks noChangeShapeType="1"/>
              </p:cNvSpPr>
              <p:nvPr/>
            </p:nvSpPr>
            <p:spPr bwMode="auto">
              <a:xfrm>
                <a:off x="1013" y="1944"/>
                <a:ext cx="14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512" name="Group 8"/>
            <p:cNvGrpSpPr>
              <a:grpSpLocks/>
            </p:cNvGrpSpPr>
            <p:nvPr/>
          </p:nvGrpSpPr>
          <p:grpSpPr bwMode="auto">
            <a:xfrm>
              <a:off x="3228" y="1385"/>
              <a:ext cx="1460" cy="1071"/>
              <a:chOff x="3228" y="1385"/>
              <a:chExt cx="1460" cy="1071"/>
            </a:xfrm>
          </p:grpSpPr>
          <p:sp>
            <p:nvSpPr>
              <p:cNvPr id="21539" name="Line 9"/>
              <p:cNvSpPr>
                <a:spLocks noChangeShapeType="1"/>
              </p:cNvSpPr>
              <p:nvPr/>
            </p:nvSpPr>
            <p:spPr bwMode="auto">
              <a:xfrm>
                <a:off x="3228" y="1385"/>
                <a:ext cx="0" cy="107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40" name="Line 10"/>
              <p:cNvSpPr>
                <a:spLocks noChangeShapeType="1"/>
              </p:cNvSpPr>
              <p:nvPr/>
            </p:nvSpPr>
            <p:spPr bwMode="auto">
              <a:xfrm>
                <a:off x="3233" y="1944"/>
                <a:ext cx="14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513" name="Rectangle 11"/>
            <p:cNvSpPr>
              <a:spLocks noChangeArrowheads="1"/>
            </p:cNvSpPr>
            <p:nvPr/>
          </p:nvSpPr>
          <p:spPr bwMode="auto">
            <a:xfrm>
              <a:off x="1035" y="1287"/>
              <a:ext cx="65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Payoff</a:t>
              </a:r>
            </a:p>
          </p:txBody>
        </p:sp>
        <p:sp>
          <p:nvSpPr>
            <p:cNvPr id="21514" name="Rectangle 12"/>
            <p:cNvSpPr>
              <a:spLocks noChangeArrowheads="1"/>
            </p:cNvSpPr>
            <p:nvPr/>
          </p:nvSpPr>
          <p:spPr bwMode="auto">
            <a:xfrm>
              <a:off x="3267" y="1287"/>
              <a:ext cx="65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Payoff</a:t>
              </a:r>
            </a:p>
          </p:txBody>
        </p:sp>
        <p:sp>
          <p:nvSpPr>
            <p:cNvPr id="21515" name="Rectangle 13"/>
            <p:cNvSpPr>
              <a:spLocks noChangeArrowheads="1"/>
            </p:cNvSpPr>
            <p:nvPr/>
          </p:nvSpPr>
          <p:spPr bwMode="auto">
            <a:xfrm>
              <a:off x="2283" y="1959"/>
              <a:ext cx="28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S</a:t>
              </a:r>
              <a:r>
                <a:rPr lang="en-US" altLang="en-US" sz="2400" i="1" baseline="-250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1516" name="Rectangle 14"/>
            <p:cNvSpPr>
              <a:spLocks noChangeArrowheads="1"/>
            </p:cNvSpPr>
            <p:nvPr/>
          </p:nvSpPr>
          <p:spPr bwMode="auto">
            <a:xfrm>
              <a:off x="4515" y="1959"/>
              <a:ext cx="28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S</a:t>
              </a:r>
              <a:r>
                <a:rPr lang="en-US" altLang="en-US" sz="2400" i="1" baseline="-250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1517" name="Rectangle 15"/>
            <p:cNvSpPr>
              <a:spLocks noChangeArrowheads="1"/>
            </p:cNvSpPr>
            <p:nvPr/>
          </p:nvSpPr>
          <p:spPr bwMode="auto">
            <a:xfrm>
              <a:off x="1592" y="1947"/>
              <a:ext cx="24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21518" name="Rectangle 16"/>
            <p:cNvSpPr>
              <a:spLocks noChangeArrowheads="1"/>
            </p:cNvSpPr>
            <p:nvPr/>
          </p:nvSpPr>
          <p:spPr bwMode="auto">
            <a:xfrm>
              <a:off x="3824" y="1659"/>
              <a:ext cx="24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21519" name="Line 17"/>
            <p:cNvSpPr>
              <a:spLocks noChangeShapeType="1"/>
            </p:cNvSpPr>
            <p:nvPr/>
          </p:nvSpPr>
          <p:spPr bwMode="auto">
            <a:xfrm>
              <a:off x="1013" y="1944"/>
              <a:ext cx="6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0" name="Line 18"/>
            <p:cNvSpPr>
              <a:spLocks noChangeShapeType="1"/>
            </p:cNvSpPr>
            <p:nvPr/>
          </p:nvSpPr>
          <p:spPr bwMode="auto">
            <a:xfrm flipV="1">
              <a:off x="1701" y="1472"/>
              <a:ext cx="454" cy="4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1" name="Line 19"/>
            <p:cNvSpPr>
              <a:spLocks noChangeShapeType="1"/>
            </p:cNvSpPr>
            <p:nvPr/>
          </p:nvSpPr>
          <p:spPr bwMode="auto">
            <a:xfrm>
              <a:off x="3236" y="1944"/>
              <a:ext cx="6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522" name="Group 20"/>
            <p:cNvGrpSpPr>
              <a:grpSpLocks/>
            </p:cNvGrpSpPr>
            <p:nvPr/>
          </p:nvGrpSpPr>
          <p:grpSpPr bwMode="auto">
            <a:xfrm>
              <a:off x="1008" y="2663"/>
              <a:ext cx="1460" cy="1071"/>
              <a:chOff x="1008" y="2663"/>
              <a:chExt cx="1460" cy="1071"/>
            </a:xfrm>
          </p:grpSpPr>
          <p:sp>
            <p:nvSpPr>
              <p:cNvPr id="21537" name="Line 21"/>
              <p:cNvSpPr>
                <a:spLocks noChangeShapeType="1"/>
              </p:cNvSpPr>
              <p:nvPr/>
            </p:nvSpPr>
            <p:spPr bwMode="auto">
              <a:xfrm>
                <a:off x="1008" y="2663"/>
                <a:ext cx="0" cy="107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38" name="Line 22"/>
              <p:cNvSpPr>
                <a:spLocks noChangeShapeType="1"/>
              </p:cNvSpPr>
              <p:nvPr/>
            </p:nvSpPr>
            <p:spPr bwMode="auto">
              <a:xfrm>
                <a:off x="1013" y="3222"/>
                <a:ext cx="14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523" name="Group 23"/>
            <p:cNvGrpSpPr>
              <a:grpSpLocks/>
            </p:cNvGrpSpPr>
            <p:nvPr/>
          </p:nvGrpSpPr>
          <p:grpSpPr bwMode="auto">
            <a:xfrm>
              <a:off x="3228" y="2663"/>
              <a:ext cx="1460" cy="1071"/>
              <a:chOff x="3228" y="2663"/>
              <a:chExt cx="1460" cy="1071"/>
            </a:xfrm>
          </p:grpSpPr>
          <p:sp>
            <p:nvSpPr>
              <p:cNvPr id="21535" name="Line 24"/>
              <p:cNvSpPr>
                <a:spLocks noChangeShapeType="1"/>
              </p:cNvSpPr>
              <p:nvPr/>
            </p:nvSpPr>
            <p:spPr bwMode="auto">
              <a:xfrm>
                <a:off x="3228" y="2663"/>
                <a:ext cx="0" cy="107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36" name="Line 25"/>
              <p:cNvSpPr>
                <a:spLocks noChangeShapeType="1"/>
              </p:cNvSpPr>
              <p:nvPr/>
            </p:nvSpPr>
            <p:spPr bwMode="auto">
              <a:xfrm>
                <a:off x="3233" y="3222"/>
                <a:ext cx="14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524" name="Rectangle 26"/>
            <p:cNvSpPr>
              <a:spLocks noChangeArrowheads="1"/>
            </p:cNvSpPr>
            <p:nvPr/>
          </p:nvSpPr>
          <p:spPr bwMode="auto">
            <a:xfrm>
              <a:off x="1035" y="2577"/>
              <a:ext cx="65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Payoff</a:t>
              </a:r>
            </a:p>
          </p:txBody>
        </p:sp>
        <p:sp>
          <p:nvSpPr>
            <p:cNvPr id="21525" name="Rectangle 27"/>
            <p:cNvSpPr>
              <a:spLocks noChangeArrowheads="1"/>
            </p:cNvSpPr>
            <p:nvPr/>
          </p:nvSpPr>
          <p:spPr bwMode="auto">
            <a:xfrm>
              <a:off x="3267" y="2577"/>
              <a:ext cx="658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/>
                <a:t>Payoff</a:t>
              </a:r>
            </a:p>
          </p:txBody>
        </p:sp>
        <p:sp>
          <p:nvSpPr>
            <p:cNvPr id="21526" name="Rectangle 28"/>
            <p:cNvSpPr>
              <a:spLocks noChangeArrowheads="1"/>
            </p:cNvSpPr>
            <p:nvPr/>
          </p:nvSpPr>
          <p:spPr bwMode="auto">
            <a:xfrm>
              <a:off x="2283" y="3237"/>
              <a:ext cx="28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S</a:t>
              </a:r>
              <a:r>
                <a:rPr lang="en-US" altLang="en-US" sz="2400" i="1" baseline="-250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1527" name="Rectangle 29"/>
            <p:cNvSpPr>
              <a:spLocks noChangeArrowheads="1"/>
            </p:cNvSpPr>
            <p:nvPr/>
          </p:nvSpPr>
          <p:spPr bwMode="auto">
            <a:xfrm>
              <a:off x="4515" y="3237"/>
              <a:ext cx="281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S</a:t>
              </a:r>
              <a:r>
                <a:rPr lang="en-US" altLang="en-US" sz="2400" i="1" baseline="-250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1528" name="Rectangle 30"/>
            <p:cNvSpPr>
              <a:spLocks noChangeArrowheads="1"/>
            </p:cNvSpPr>
            <p:nvPr/>
          </p:nvSpPr>
          <p:spPr bwMode="auto">
            <a:xfrm>
              <a:off x="1592" y="3225"/>
              <a:ext cx="24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21529" name="Rectangle 31"/>
            <p:cNvSpPr>
              <a:spLocks noChangeArrowheads="1"/>
            </p:cNvSpPr>
            <p:nvPr/>
          </p:nvSpPr>
          <p:spPr bwMode="auto">
            <a:xfrm>
              <a:off x="3824" y="2937"/>
              <a:ext cx="24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21530" name="Line 32"/>
            <p:cNvSpPr>
              <a:spLocks noChangeShapeType="1"/>
            </p:cNvSpPr>
            <p:nvPr/>
          </p:nvSpPr>
          <p:spPr bwMode="auto">
            <a:xfrm flipV="1">
              <a:off x="3461" y="3214"/>
              <a:ext cx="455" cy="4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1" name="Line 33"/>
            <p:cNvSpPr>
              <a:spLocks noChangeShapeType="1"/>
            </p:cNvSpPr>
            <p:nvPr/>
          </p:nvSpPr>
          <p:spPr bwMode="auto">
            <a:xfrm>
              <a:off x="3932" y="3222"/>
              <a:ext cx="6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2" name="Line 34"/>
            <p:cNvSpPr>
              <a:spLocks noChangeShapeType="1"/>
            </p:cNvSpPr>
            <p:nvPr/>
          </p:nvSpPr>
          <p:spPr bwMode="auto">
            <a:xfrm>
              <a:off x="1710" y="3222"/>
              <a:ext cx="6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3" name="Line 35"/>
            <p:cNvSpPr>
              <a:spLocks noChangeShapeType="1"/>
            </p:cNvSpPr>
            <p:nvPr/>
          </p:nvSpPr>
          <p:spPr bwMode="auto">
            <a:xfrm flipH="1" flipV="1">
              <a:off x="1278" y="2799"/>
              <a:ext cx="437" cy="43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34" name="Line 36"/>
            <p:cNvSpPr>
              <a:spLocks noChangeShapeType="1"/>
            </p:cNvSpPr>
            <p:nvPr/>
          </p:nvSpPr>
          <p:spPr bwMode="auto">
            <a:xfrm flipH="1" flipV="1">
              <a:off x="3916" y="1933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10" name="Slide Number Placeholder 3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4EE5E66-7CED-4157-8671-3F94CA76F4D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Assets Underlying</a:t>
            </a:r>
            <a:br>
              <a:rPr lang="en-US" altLang="en-US" smtClean="0"/>
            </a:br>
            <a:r>
              <a:rPr lang="en-US" altLang="en-US" smtClean="0"/>
              <a:t>Exchange-Traded Options</a:t>
            </a:r>
            <a:br>
              <a:rPr lang="en-US" altLang="en-US" smtClean="0"/>
            </a:br>
            <a:r>
              <a:rPr lang="en-US" altLang="en-US" sz="2200" smtClean="0"/>
              <a:t>Page 210-211</a:t>
            </a:r>
            <a:endParaRPr lang="en-US" altLang="en-US" smtClean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47813" y="2276475"/>
            <a:ext cx="5710237" cy="3876675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Stocks</a:t>
            </a:r>
          </a:p>
          <a:p>
            <a:pPr eaLnBrk="1" hangingPunct="1"/>
            <a:r>
              <a:rPr lang="en-US" altLang="en-US" smtClean="0"/>
              <a:t>ETFs</a:t>
            </a:r>
          </a:p>
          <a:p>
            <a:pPr eaLnBrk="1" hangingPunct="1"/>
            <a:r>
              <a:rPr lang="en-US" altLang="en-US" smtClean="0"/>
              <a:t>Foreign Currency</a:t>
            </a:r>
          </a:p>
          <a:p>
            <a:pPr eaLnBrk="1" hangingPunct="1"/>
            <a:r>
              <a:rPr lang="en-US" altLang="en-US" smtClean="0"/>
              <a:t>Stock Indices</a:t>
            </a:r>
          </a:p>
          <a:p>
            <a:pPr eaLnBrk="1" hangingPunct="1"/>
            <a:r>
              <a:rPr lang="en-US" altLang="en-US" smtClean="0"/>
              <a:t>Futures</a:t>
            </a:r>
          </a:p>
        </p:txBody>
      </p:sp>
      <p:sp>
        <p:nvSpPr>
          <p:cNvPr id="2253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945F227-C292-4BD2-80D7-3379FCD7D8E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Specification of</a:t>
            </a:r>
            <a:br>
              <a:rPr lang="en-US" altLang="en-US" smtClean="0"/>
            </a:br>
            <a:r>
              <a:rPr lang="en-US" altLang="en-US" smtClean="0"/>
              <a:t>Exchange-Traded Options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4600" y="2046288"/>
            <a:ext cx="5627688" cy="4084637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Expiration date</a:t>
            </a:r>
          </a:p>
          <a:p>
            <a:pPr eaLnBrk="1" hangingPunct="1"/>
            <a:r>
              <a:rPr lang="en-US" altLang="en-US" smtClean="0"/>
              <a:t>Strike price</a:t>
            </a:r>
          </a:p>
          <a:p>
            <a:pPr eaLnBrk="1" hangingPunct="1"/>
            <a:r>
              <a:rPr lang="en-US" altLang="en-US" smtClean="0"/>
              <a:t>European or American</a:t>
            </a:r>
          </a:p>
          <a:p>
            <a:pPr eaLnBrk="1" hangingPunct="1"/>
            <a:r>
              <a:rPr lang="en-US" altLang="en-US" smtClean="0"/>
              <a:t>Call or Put (option class)</a:t>
            </a:r>
          </a:p>
        </p:txBody>
      </p:sp>
      <p:sp>
        <p:nvSpPr>
          <p:cNvPr id="2355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DB157094-ED23-452F-9A2A-66EA2B298A4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Terminology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557338"/>
            <a:ext cx="6972300" cy="3781425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3600" smtClean="0"/>
              <a:t> Moneyness :</a:t>
            </a:r>
          </a:p>
          <a:p>
            <a:pPr lvl="1" eaLnBrk="1" hangingPunct="1"/>
            <a:r>
              <a:rPr lang="en-US" altLang="en-US" sz="3600" smtClean="0"/>
              <a:t>At-the-money option</a:t>
            </a:r>
          </a:p>
          <a:p>
            <a:pPr lvl="1" eaLnBrk="1" hangingPunct="1"/>
            <a:r>
              <a:rPr lang="en-US" altLang="en-US" sz="3600" smtClean="0"/>
              <a:t>In-the-money option</a:t>
            </a:r>
          </a:p>
          <a:p>
            <a:pPr lvl="1" eaLnBrk="1" hangingPunct="1"/>
            <a:r>
              <a:rPr lang="en-US" altLang="en-US" sz="3600" smtClean="0"/>
              <a:t>Out-of-the-money option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n-US" altLang="en-US" sz="3600" smtClean="0"/>
          </a:p>
        </p:txBody>
      </p:sp>
      <p:sp>
        <p:nvSpPr>
          <p:cNvPr id="2458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C6833CB-BCD4-4CF2-A215-E96A55E16AE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Terminology</a:t>
            </a:r>
            <a:br>
              <a:rPr lang="en-US" altLang="en-US" smtClean="0"/>
            </a:br>
            <a:r>
              <a:rPr lang="en-US" altLang="en-US" sz="2600" smtClean="0"/>
              <a:t>(continued)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713" y="1916113"/>
            <a:ext cx="4749800" cy="3932237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3600" smtClean="0"/>
              <a:t> Option class</a:t>
            </a:r>
          </a:p>
          <a:p>
            <a:pPr eaLnBrk="1" hangingPunct="1"/>
            <a:r>
              <a:rPr lang="en-US" altLang="en-US" sz="3600" smtClean="0"/>
              <a:t> Option series</a:t>
            </a:r>
          </a:p>
          <a:p>
            <a:pPr eaLnBrk="1" hangingPunct="1"/>
            <a:r>
              <a:rPr lang="en-US" altLang="en-US" sz="3600" smtClean="0"/>
              <a:t> Intrinsic value</a:t>
            </a:r>
          </a:p>
          <a:p>
            <a:pPr eaLnBrk="1" hangingPunct="1"/>
            <a:r>
              <a:rPr lang="en-US" altLang="en-US" sz="3600" smtClean="0"/>
              <a:t> Time value</a:t>
            </a:r>
          </a:p>
        </p:txBody>
      </p:sp>
      <p:sp>
        <p:nvSpPr>
          <p:cNvPr id="2560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FFC01C0-D4B1-4B00-B400-65C843FE8A5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3600" smtClean="0"/>
              <a:t>Ways the CBOE Is Trying to Take Market Share from the OTC Market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>
                <a:cs typeface="Arial" panose="020B0604020202020204" pitchFamily="34" charset="0"/>
              </a:rPr>
              <a:t>Flex options</a:t>
            </a:r>
          </a:p>
          <a:p>
            <a:r>
              <a:rPr lang="en-CA" altLang="en-US" smtClean="0">
                <a:cs typeface="Arial" panose="020B0604020202020204" pitchFamily="34" charset="0"/>
              </a:rPr>
              <a:t>Binary options</a:t>
            </a:r>
          </a:p>
          <a:p>
            <a:r>
              <a:rPr lang="en-CA" altLang="en-US" smtClean="0">
                <a:cs typeface="Arial" panose="020B0604020202020204" pitchFamily="34" charset="0"/>
              </a:rPr>
              <a:t>Credit event binary options (CEBOs)</a:t>
            </a:r>
          </a:p>
          <a:p>
            <a:r>
              <a:rPr lang="en-CA" altLang="en-US" smtClean="0">
                <a:cs typeface="Arial" panose="020B0604020202020204" pitchFamily="34" charset="0"/>
              </a:rPr>
              <a:t>Doom options</a:t>
            </a: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/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B260945-DE98-47F5-9550-6E985FD2DDE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5888"/>
            <a:ext cx="8077200" cy="1524000"/>
          </a:xfrm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Dividends &amp; Stock Splits </a:t>
            </a:r>
            <a:br>
              <a:rPr lang="en-US" altLang="en-US" smtClean="0"/>
            </a:br>
            <a:r>
              <a:rPr lang="en-US" altLang="en-US" sz="2200" smtClean="0"/>
              <a:t>(Page 214-215)</a:t>
            </a:r>
            <a:endParaRPr lang="en-US" altLang="en-US" smtClean="0"/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1743075"/>
            <a:ext cx="7600950" cy="4352925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Suppose you own options with a strike price of </a:t>
            </a:r>
            <a:r>
              <a:rPr lang="en-US" sz="2800" i="1" dirty="0" smtClean="0">
                <a:latin typeface="Times New Roman" pitchFamily="18" charset="0"/>
              </a:rPr>
              <a:t>K</a:t>
            </a:r>
            <a:r>
              <a:rPr lang="en-US" sz="2800" dirty="0" smtClean="0"/>
              <a:t> to buy (or sell) </a:t>
            </a:r>
            <a:r>
              <a:rPr lang="en-US" sz="2800" i="1" dirty="0" smtClean="0">
                <a:latin typeface="+mj-lt"/>
              </a:rPr>
              <a:t>N</a:t>
            </a:r>
            <a:r>
              <a:rPr lang="en-US" sz="2800" dirty="0" smtClean="0"/>
              <a:t> shares: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No adjustments are made to the option terms for cash dividends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When there is an </a:t>
            </a:r>
            <a:r>
              <a:rPr lang="en-US" i="1" dirty="0" smtClean="0">
                <a:latin typeface="Times New Roman" pitchFamily="18" charset="0"/>
              </a:rPr>
              <a:t>n</a:t>
            </a:r>
            <a:r>
              <a:rPr lang="en-US" dirty="0" smtClean="0"/>
              <a:t>-for-</a:t>
            </a:r>
            <a:r>
              <a:rPr lang="en-US" i="1" dirty="0" smtClean="0">
                <a:latin typeface="Times New Roman" pitchFamily="18" charset="0"/>
              </a:rPr>
              <a:t>m</a:t>
            </a:r>
            <a:r>
              <a:rPr lang="en-US" dirty="0" smtClean="0"/>
              <a:t> stock split,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800" dirty="0" smtClean="0"/>
              <a:t>the strike price is reduced to </a:t>
            </a:r>
            <a:r>
              <a:rPr lang="en-US" sz="2800" i="1" dirty="0" err="1" smtClean="0">
                <a:latin typeface="Times New Roman" pitchFamily="18" charset="0"/>
              </a:rPr>
              <a:t>mK</a:t>
            </a:r>
            <a:r>
              <a:rPr lang="en-US" sz="2800" dirty="0" smtClean="0">
                <a:latin typeface="Times New Roman" pitchFamily="18" charset="0"/>
              </a:rPr>
              <a:t>/</a:t>
            </a:r>
            <a:r>
              <a:rPr lang="en-US" sz="2800" i="1" dirty="0" smtClean="0">
                <a:latin typeface="Times New Roman" pitchFamily="18" charset="0"/>
              </a:rPr>
              <a:t>n</a:t>
            </a:r>
            <a:r>
              <a:rPr lang="en-US" sz="2800" dirty="0" smtClean="0">
                <a:latin typeface="Times New Roman" pitchFamily="18" charset="0"/>
              </a:rPr>
              <a:t>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800" dirty="0" smtClean="0"/>
              <a:t>the no. of shares that can be bought (or sold) is increased to </a:t>
            </a:r>
            <a:r>
              <a:rPr lang="en-US" sz="2800" i="1" dirty="0" err="1" smtClean="0">
                <a:latin typeface="Times New Roman" pitchFamily="18" charset="0"/>
              </a:rPr>
              <a:t>nN</a:t>
            </a:r>
            <a:r>
              <a:rPr lang="en-US" sz="2800" dirty="0" smtClean="0">
                <a:latin typeface="Times New Roman" pitchFamily="18" charset="0"/>
              </a:rPr>
              <a:t>/</a:t>
            </a:r>
            <a:r>
              <a:rPr lang="en-US" sz="2800" i="1" dirty="0" smtClean="0">
                <a:latin typeface="Times New Roman" pitchFamily="18" charset="0"/>
              </a:rPr>
              <a:t>m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Stock dividends are handled in a manner similar to stock splits</a:t>
            </a:r>
          </a:p>
        </p:txBody>
      </p:sp>
      <p:sp>
        <p:nvSpPr>
          <p:cNvPr id="2765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672709E-4B06-4DF1-A158-E56440D68F5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Dividends &amp; Stock Splits</a:t>
            </a:r>
            <a:br>
              <a:rPr lang="en-US" altLang="en-US" smtClean="0"/>
            </a:br>
            <a:r>
              <a:rPr lang="en-US" altLang="en-US" sz="2600" smtClean="0"/>
              <a:t>(continued)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2016125"/>
            <a:ext cx="6989763" cy="4114800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Consider a call option to buy 100 shares for $20 per share</a:t>
            </a:r>
          </a:p>
          <a:p>
            <a:pPr eaLnBrk="1" hangingPunct="1"/>
            <a:r>
              <a:rPr lang="en-US" altLang="en-US" smtClean="0"/>
              <a:t>How should terms be adjusted:</a:t>
            </a:r>
          </a:p>
          <a:p>
            <a:pPr lvl="1" eaLnBrk="1" hangingPunct="1"/>
            <a:r>
              <a:rPr lang="en-US" altLang="en-US" sz="3200" smtClean="0"/>
              <a:t>for a 2-for-1 stock split?</a:t>
            </a:r>
          </a:p>
          <a:p>
            <a:pPr lvl="1" eaLnBrk="1" hangingPunct="1"/>
            <a:r>
              <a:rPr lang="en-US" altLang="en-US" sz="3200" smtClean="0"/>
              <a:t>for a 5% stock dividend?</a:t>
            </a:r>
          </a:p>
        </p:txBody>
      </p:sp>
      <p:sp>
        <p:nvSpPr>
          <p:cNvPr id="2867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09550E0-2E87-4037-BA65-026DFED4D51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 i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Market Makers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Most exchanges use market makers to facilitate options trading</a:t>
            </a:r>
          </a:p>
          <a:p>
            <a:pPr eaLnBrk="1" hangingPunct="1"/>
            <a:r>
              <a:rPr lang="en-US" altLang="en-US" smtClean="0"/>
              <a:t>A market maker quotes both bid and ask prices when requested</a:t>
            </a:r>
          </a:p>
          <a:p>
            <a:pPr eaLnBrk="1" hangingPunct="1"/>
            <a:r>
              <a:rPr lang="en-US" altLang="en-US" smtClean="0"/>
              <a:t>The market maker does not know whether the individual requesting the quotes wants to buy or sell</a:t>
            </a:r>
          </a:p>
        </p:txBody>
      </p:sp>
      <p:sp>
        <p:nvSpPr>
          <p:cNvPr id="2970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2A5F935-2C6A-402F-83F6-508F98B9924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476250"/>
            <a:ext cx="7239000" cy="762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Margin </a:t>
            </a:r>
            <a:r>
              <a:rPr lang="en-US" altLang="en-US" sz="2200" smtClean="0"/>
              <a:t>(Page 217-219)</a:t>
            </a:r>
            <a:endParaRPr lang="en-US" altLang="en-US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341438"/>
            <a:ext cx="7691437" cy="451485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Margin is required when options are sold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When a naked option is written the margin is the greater of:</a:t>
            </a:r>
          </a:p>
          <a:p>
            <a:pPr lvl="1" eaLnBrk="1" hangingPunct="1"/>
            <a:r>
              <a:rPr lang="en-US" altLang="en-US" smtClean="0">
                <a:cs typeface="Arial" panose="020B0604020202020204" pitchFamily="34" charset="0"/>
              </a:rPr>
              <a:t>A total of 100% of the proceeds of the sale plus 20% of the underlying share price less the amount (if any) by which the option is out of the money</a:t>
            </a:r>
          </a:p>
          <a:p>
            <a:pPr lvl="1" eaLnBrk="1" hangingPunct="1"/>
            <a:r>
              <a:rPr lang="en-US" altLang="en-US" smtClean="0">
                <a:cs typeface="Arial" panose="020B0604020202020204" pitchFamily="34" charset="0"/>
              </a:rPr>
              <a:t>A total of 100% of the proceeds of the sale plus 10% of the underlying share price (call) or exercise price (put)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For other trading strategies there are special rules</a:t>
            </a:r>
          </a:p>
        </p:txBody>
      </p:sp>
      <p:sp>
        <p:nvSpPr>
          <p:cNvPr id="307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3BF8A81-FA42-40A2-8A02-0233FBB7670E}" type="slidenum">
              <a:rPr lang="en-US" altLang="en-US" sz="14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Warrants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700213"/>
            <a:ext cx="7286625" cy="39624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Warrants are options that are issued by a</a:t>
            </a:r>
            <a:r>
              <a:rPr lang="en-CA" altLang="en-US" smtClean="0">
                <a:cs typeface="Arial" panose="020B0604020202020204" pitchFamily="34" charset="0"/>
              </a:rPr>
              <a:t> </a:t>
            </a:r>
            <a:r>
              <a:rPr lang="en-US" altLang="en-US" smtClean="0">
                <a:cs typeface="Arial" panose="020B0604020202020204" pitchFamily="34" charset="0"/>
              </a:rPr>
              <a:t>corporation or a financial institution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The number of warrants outstanding is determined by the size of the original issue </a:t>
            </a:r>
            <a:r>
              <a:rPr lang="en-CA" altLang="en-US" smtClean="0">
                <a:cs typeface="Arial" panose="020B0604020202020204" pitchFamily="34" charset="0"/>
              </a:rPr>
              <a:t>and</a:t>
            </a:r>
            <a:r>
              <a:rPr lang="en-US" altLang="en-US" smtClean="0">
                <a:cs typeface="Arial" panose="020B0604020202020204" pitchFamily="34" charset="0"/>
              </a:rPr>
              <a:t> changes only when they are exercised or when they expire</a:t>
            </a:r>
          </a:p>
        </p:txBody>
      </p:sp>
      <p:sp>
        <p:nvSpPr>
          <p:cNvPr id="317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4374891-A4A9-45F2-8950-56FEC49923C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Warrants</a:t>
            </a:r>
            <a:br>
              <a:rPr lang="en-US" altLang="en-US" smtClean="0"/>
            </a:br>
            <a:r>
              <a:rPr lang="en-US" altLang="en-US" sz="2600" smtClean="0"/>
              <a:t>(continued)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628775"/>
            <a:ext cx="7058025" cy="40386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The issuer settles up with the holder when a warrant is exercised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When call warrants are issued by a corporation on its own stock, exercise will usually lead to new treasury stock being issued</a:t>
            </a:r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2DD848E-AB9B-4996-839C-F65D49D94A0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88913"/>
            <a:ext cx="8440738" cy="1143000"/>
          </a:xfrm>
        </p:spPr>
        <p:txBody>
          <a:bodyPr/>
          <a:lstStyle/>
          <a:p>
            <a:pPr eaLnBrk="1" hangingPunct="1"/>
            <a:r>
              <a:rPr lang="en-US" altLang="en-US" sz="4000" smtClean="0"/>
              <a:t>Employee Stock Options</a:t>
            </a:r>
            <a:r>
              <a:rPr lang="en-US" altLang="en-US" smtClean="0"/>
              <a:t> </a:t>
            </a:r>
            <a:br>
              <a:rPr lang="en-US" altLang="en-US" smtClean="0"/>
            </a:br>
            <a:r>
              <a:rPr lang="en-US" altLang="en-US" sz="2400" smtClean="0"/>
              <a:t>(see also Chapter 14)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700213"/>
            <a:ext cx="8229600" cy="4411662"/>
          </a:xfrm>
        </p:spPr>
        <p:txBody>
          <a:bodyPr/>
          <a:lstStyle/>
          <a:p>
            <a:pPr eaLnBrk="1" hangingPunct="1"/>
            <a:r>
              <a:rPr lang="en-CA" altLang="en-US" sz="2800" smtClean="0">
                <a:cs typeface="Arial" panose="020B0604020202020204" pitchFamily="34" charset="0"/>
              </a:rPr>
              <a:t>Employee stock options are a form of remuneration</a:t>
            </a:r>
            <a:r>
              <a:rPr lang="en-US" altLang="en-US" sz="2800" smtClean="0">
                <a:cs typeface="Arial" panose="020B0604020202020204" pitchFamily="34" charset="0"/>
              </a:rPr>
              <a:t> issued by a company to </a:t>
            </a:r>
            <a:r>
              <a:rPr lang="en-CA" altLang="en-US" sz="2800" smtClean="0">
                <a:cs typeface="Arial" panose="020B0604020202020204" pitchFamily="34" charset="0"/>
              </a:rPr>
              <a:t>its </a:t>
            </a:r>
            <a:r>
              <a:rPr lang="en-US" altLang="en-US" sz="2800" smtClean="0">
                <a:cs typeface="Arial" panose="020B0604020202020204" pitchFamily="34" charset="0"/>
              </a:rPr>
              <a:t>executives</a:t>
            </a:r>
            <a:endParaRPr lang="en-CA" altLang="en-US" sz="2800" smtClean="0">
              <a:cs typeface="Arial" panose="020B0604020202020204" pitchFamily="34" charset="0"/>
            </a:endParaRPr>
          </a:p>
          <a:p>
            <a:pPr eaLnBrk="1" hangingPunct="1"/>
            <a:r>
              <a:rPr lang="en-CA" altLang="en-US" sz="2800" smtClean="0">
                <a:cs typeface="Arial" panose="020B0604020202020204" pitchFamily="34" charset="0"/>
              </a:rPr>
              <a:t>They are usually at the money when issued</a:t>
            </a:r>
            <a:endParaRPr lang="en-US" altLang="en-US" sz="2800" smtClean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800" smtClean="0">
                <a:cs typeface="Arial" panose="020B0604020202020204" pitchFamily="34" charset="0"/>
              </a:rPr>
              <a:t>When option</a:t>
            </a:r>
            <a:r>
              <a:rPr lang="en-CA" altLang="en-US" sz="2800" smtClean="0">
                <a:cs typeface="Arial" panose="020B0604020202020204" pitchFamily="34" charset="0"/>
              </a:rPr>
              <a:t>s</a:t>
            </a:r>
            <a:r>
              <a:rPr lang="en-US" altLang="en-US" sz="2800" smtClean="0">
                <a:cs typeface="Arial" panose="020B0604020202020204" pitchFamily="34" charset="0"/>
              </a:rPr>
              <a:t> </a:t>
            </a:r>
            <a:r>
              <a:rPr lang="en-CA" altLang="en-US" sz="2800" smtClean="0">
                <a:cs typeface="Arial" panose="020B0604020202020204" pitchFamily="34" charset="0"/>
              </a:rPr>
              <a:t>are</a:t>
            </a:r>
            <a:r>
              <a:rPr lang="en-US" altLang="en-US" sz="2800" smtClean="0">
                <a:cs typeface="Arial" panose="020B0604020202020204" pitchFamily="34" charset="0"/>
              </a:rPr>
              <a:t> exercised the company issues more stock </a:t>
            </a:r>
            <a:r>
              <a:rPr lang="en-CA" altLang="en-US" sz="2800" smtClean="0">
                <a:cs typeface="Arial" panose="020B0604020202020204" pitchFamily="34" charset="0"/>
              </a:rPr>
              <a:t>and sells it to the option holder for the strike price</a:t>
            </a:r>
          </a:p>
          <a:p>
            <a:pPr eaLnBrk="1" hangingPunct="1"/>
            <a:r>
              <a:rPr lang="en-CA" altLang="en-US" sz="2800" smtClean="0">
                <a:cs typeface="Arial" panose="020B0604020202020204" pitchFamily="34" charset="0"/>
              </a:rPr>
              <a:t>Expensed on the income statement</a:t>
            </a:r>
            <a:endParaRPr lang="en-US" altLang="en-US" sz="2800" smtClean="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CB9C0FF-5AC8-491F-B623-D1A22EB392BB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Convertible Bonds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628775"/>
            <a:ext cx="7762875" cy="403860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cs typeface="Arial" panose="020B0604020202020204" pitchFamily="34" charset="0"/>
              </a:rPr>
              <a:t>Convertible bonds are regular bonds that can be exchanged for equity at certain times in the future according to a predetermined exchange ratio</a:t>
            </a:r>
            <a:endParaRPr lang="en-CA" altLang="en-US" smtClean="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cs typeface="Arial" panose="020B0604020202020204" pitchFamily="34" charset="0"/>
              </a:rPr>
              <a:t>Usually a convertible is callable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cs typeface="Arial" panose="020B0604020202020204" pitchFamily="34" charset="0"/>
              </a:rPr>
              <a:t>The call provision is a way in which the issuer can force conversion at a time earlier than the holder might otherwise choose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348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9,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348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D63EAC9-FAB3-4783-AB09-D98FABBD4787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E149431-5143-42A7-A115-6E69094FA85F}"/>
</file>

<file path=customXml/itemProps2.xml><?xml version="1.0" encoding="utf-8"?>
<ds:datastoreItem xmlns:ds="http://schemas.openxmlformats.org/officeDocument/2006/customXml" ds:itemID="{D89921D6-6AA8-472C-98D7-E87EB666739F}"/>
</file>

<file path=customXml/itemProps3.xml><?xml version="1.0" encoding="utf-8"?>
<ds:datastoreItem xmlns:ds="http://schemas.openxmlformats.org/officeDocument/2006/customXml" ds:itemID="{05600246-9B0C-47C5-AC6C-982AC72B74BB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2302312667</TotalTime>
  <Pages>17</Pages>
  <Words>1175</Words>
  <Application>Microsoft Office PowerPoint</Application>
  <PresentationFormat>Letter Paper (8.5x11 in)</PresentationFormat>
  <Paragraphs>199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Times New Roman</vt:lpstr>
      <vt:lpstr>Wingdings</vt:lpstr>
      <vt:lpstr>Calibri</vt:lpstr>
      <vt:lpstr>1_Network</vt:lpstr>
      <vt:lpstr>Custom Design</vt:lpstr>
      <vt:lpstr>Mechanics of Options Markets</vt:lpstr>
      <vt:lpstr>Types of Options</vt:lpstr>
      <vt:lpstr>Option Positions</vt:lpstr>
      <vt:lpstr>Long Call  (Figure 9.1, Page 207)</vt:lpstr>
      <vt:lpstr>Short Call   (Figure 9.3, page 208)</vt:lpstr>
      <vt:lpstr>Long Put   (Figure 9.2, page 208)</vt:lpstr>
      <vt:lpstr>Short Put  (Figure 9.4, page 214)</vt:lpstr>
      <vt:lpstr>Payoffs from Options  What is the Option Position in Each Case?  </vt:lpstr>
      <vt:lpstr>Assets Underlying Exchange-Traded Options Page 210-211</vt:lpstr>
      <vt:lpstr>Specification of Exchange-Traded Options</vt:lpstr>
      <vt:lpstr>Terminology</vt:lpstr>
      <vt:lpstr>Terminology (continued)</vt:lpstr>
      <vt:lpstr>Ways the CBOE Is Trying to Take Market Share from the OTC Market</vt:lpstr>
      <vt:lpstr>Dividends &amp; Stock Splits  (Page 214-215)</vt:lpstr>
      <vt:lpstr>Dividends &amp; Stock Splits (continued)</vt:lpstr>
      <vt:lpstr>Market Makers</vt:lpstr>
      <vt:lpstr>Margin (Page 217-219)</vt:lpstr>
      <vt:lpstr>Warrants</vt:lpstr>
      <vt:lpstr>Warrants (continued)</vt:lpstr>
      <vt:lpstr>Employee Stock Options  (see also Chapter 14)</vt:lpstr>
      <vt:lpstr>Convertible Bonds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of Options Markets</dc:title>
  <dc:subject>Fundamentals of Futures and Options Markets, 9e</dc:subject>
  <dc:creator>John C. Hull</dc:creator>
  <cp:keywords>Chapter 9</cp:keywords>
  <dc:description>Copyright 2016 by John C. Hull.
All rights reserved. Published 2016</dc:description>
  <cp:lastModifiedBy>John Hull</cp:lastModifiedBy>
  <cp:revision>42</cp:revision>
  <cp:lastPrinted>2001-05-03T11:57:30Z</cp:lastPrinted>
  <dcterms:created xsi:type="dcterms:W3CDTF">1996-10-23T19:29:20Z</dcterms:created>
  <dcterms:modified xsi:type="dcterms:W3CDTF">2016-01-20T21:00:56Z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