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298" r:id="rId2"/>
    <p:sldId id="257" r:id="rId3"/>
    <p:sldId id="258" r:id="rId4"/>
    <p:sldId id="296" r:id="rId5"/>
    <p:sldId id="259" r:id="rId6"/>
    <p:sldId id="260" r:id="rId7"/>
    <p:sldId id="261" r:id="rId8"/>
    <p:sldId id="262" r:id="rId9"/>
    <p:sldId id="263" r:id="rId10"/>
    <p:sldId id="285" r:id="rId11"/>
    <p:sldId id="299" r:id="rId12"/>
    <p:sldId id="300" r:id="rId13"/>
    <p:sldId id="286" r:id="rId14"/>
    <p:sldId id="287" r:id="rId15"/>
    <p:sldId id="288" r:id="rId16"/>
    <p:sldId id="289" r:id="rId17"/>
    <p:sldId id="265" r:id="rId18"/>
    <p:sldId id="266" r:id="rId19"/>
    <p:sldId id="290" r:id="rId20"/>
    <p:sldId id="267" r:id="rId21"/>
    <p:sldId id="297" r:id="rId22"/>
  </p:sldIdLst>
  <p:sldSz cx="9144000" cy="6858000" type="letter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7" autoAdjust="0"/>
    <p:restoredTop sz="94604" autoAdjust="0"/>
  </p:normalViewPr>
  <p:slideViewPr>
    <p:cSldViewPr>
      <p:cViewPr varScale="1">
        <p:scale>
          <a:sx n="129" d="100"/>
          <a:sy n="129" d="100"/>
        </p:scale>
        <p:origin x="13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25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fld id="{60CF5BB5-80FF-47DA-9804-002CC965D2D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3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747321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ED89F0-4A2C-4910-98AE-C3D296AB7EBE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08178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C1F358-B6D7-4680-BA76-091CEE8DE808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4129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3CCA1F-269A-41FC-9F4A-0584D65CCE4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89592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5E8C49-7D17-44FC-9C5D-2969FFA8C3F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90925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DB7FB-B6CD-4BFC-BEA5-F6CB6384AA73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834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B57571-FDBE-456F-928D-7E52B18BE4A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51441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C5387A-F434-414E-B9CB-7D78023CA3E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5129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6C8D97-C41F-43A1-9CB3-4763EA1D59B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48237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BFE87A-402E-4670-9DDB-824069D83A17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04965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B46135-EA45-487A-99DF-37C32E4DD6F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5059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35142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FB8FA8-CEF6-4B1A-B1AF-83AC02F8F8D9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56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84DBCD-06F8-4D77-800A-BDD71BD715F6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31690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1B0734-E4EB-4D11-8355-C0286CA14E01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68156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6BCC45-3046-4F1A-B314-14825E51ED0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2750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57F4DA-9DB9-47F9-8328-0925AD801ABE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03993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CEEB4E-366A-42D0-ACDD-69114CBC1B11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36224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B35CED-D4A5-4FB9-849C-E0464072252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0029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15BC82-9A5D-462E-9527-96FC566CB9E8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37321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CDCCC6-6C5C-41F3-8C1D-83710BFEC6B8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5437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8B49A0-DF64-4101-83A2-9EC83C99C253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239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DCECFE1D-632F-429E-BABE-8C8A5B1FC2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30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0C5DD-D2FB-4442-B881-1AEB16AB4F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63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43EDD-63F9-4812-BEC8-53FAE9ED1D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72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2BD84-35F7-45BF-B9BA-993A5B2327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58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CC26B-058D-4972-BEAC-EF4D9FA42F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43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C6E8F-BA0A-40D0-9BC2-6064E32091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30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0BD0E-8105-4F58-8C21-35A3606A31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55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B92D4-8B50-46C0-B6E5-C733A82A2F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21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E0A6D-21EC-4BB8-8F3D-AD58C308FD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CDDA68-43D8-4EFB-B975-5E53CDBF64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3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B93C7-D754-44F7-9CAE-B60EDEB22B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93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18, Copyright © John C. Hull 2016</a:t>
            </a:r>
            <a:endParaRPr lang="en-US" altLang="en-US"/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7BC27164-4406-455B-9CFA-019A332BFE54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0571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Binomial Trees in Practice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18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FCA4B9-08FD-44BA-BB0C-523B7CE4383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Binomial Trees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1719263"/>
            <a:ext cx="7273925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Binomial trees are frequently used to approximate the movements in the price of a stock or other asset</a:t>
            </a:r>
          </a:p>
          <a:p>
            <a:pPr eaLnBrk="1" hangingPunct="1"/>
            <a:r>
              <a:rPr lang="en-US" altLang="en-US" sz="2800" smtClean="0"/>
              <a:t>In each small interval of time the stock price is assumed to move up by a proportional amount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u </a:t>
            </a:r>
            <a:r>
              <a:rPr lang="en-US" altLang="en-US" sz="2800" smtClean="0"/>
              <a:t>or to move down by a proportional amount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975E8C-9088-426C-93AB-32C19310BCE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Movements in Time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/>
              <a:t>t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200" smtClean="0"/>
              <a:t>(Figure 18.1, page 392</a:t>
            </a:r>
            <a:r>
              <a:rPr lang="en-US" altLang="en-US" sz="2200" b="0" smtClean="0"/>
              <a:t>)</a:t>
            </a:r>
            <a:endParaRPr lang="en-US" altLang="en-US" b="0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grpSp>
        <p:nvGrpSpPr>
          <p:cNvPr id="15365" name="Group 11"/>
          <p:cNvGrpSpPr>
            <a:grpSpLocks/>
          </p:cNvGrpSpPr>
          <p:nvPr/>
        </p:nvGrpSpPr>
        <p:grpSpPr bwMode="auto">
          <a:xfrm>
            <a:off x="2843213" y="2420938"/>
            <a:ext cx="3414712" cy="2041525"/>
            <a:chOff x="1824" y="2016"/>
            <a:chExt cx="2118" cy="1303"/>
          </a:xfrm>
        </p:grpSpPr>
        <p:sp>
          <p:nvSpPr>
            <p:cNvPr id="15367" name="Line 4"/>
            <p:cNvSpPr>
              <a:spLocks noChangeShapeType="1"/>
            </p:cNvSpPr>
            <p:nvPr/>
          </p:nvSpPr>
          <p:spPr bwMode="auto">
            <a:xfrm flipV="1">
              <a:off x="2147" y="2229"/>
              <a:ext cx="1268" cy="4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8" name="Line 5"/>
            <p:cNvSpPr>
              <a:spLocks noChangeShapeType="1"/>
            </p:cNvSpPr>
            <p:nvPr/>
          </p:nvSpPr>
          <p:spPr bwMode="auto">
            <a:xfrm>
              <a:off x="2160" y="2640"/>
              <a:ext cx="1351" cy="4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9" name="Rectangle 6"/>
            <p:cNvSpPr>
              <a:spLocks noChangeArrowheads="1"/>
            </p:cNvSpPr>
            <p:nvPr/>
          </p:nvSpPr>
          <p:spPr bwMode="auto">
            <a:xfrm>
              <a:off x="3446" y="2016"/>
              <a:ext cx="430" cy="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Su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</a:t>
              </a:r>
            </a:p>
          </p:txBody>
        </p:sp>
        <p:sp>
          <p:nvSpPr>
            <p:cNvPr id="15370" name="Rectangle 7"/>
            <p:cNvSpPr>
              <a:spLocks noChangeArrowheads="1"/>
            </p:cNvSpPr>
            <p:nvPr/>
          </p:nvSpPr>
          <p:spPr bwMode="auto">
            <a:xfrm>
              <a:off x="3440" y="2949"/>
              <a:ext cx="502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</a:t>
              </a:r>
              <a:r>
                <a:rPr lang="en-US" altLang="en-US" i="1">
                  <a:latin typeface="Times New Roman" panose="02020603050405020304" pitchFamily="18" charset="0"/>
                </a:rPr>
                <a:t>Sd</a:t>
              </a:r>
            </a:p>
          </p:txBody>
        </p:sp>
        <p:sp>
          <p:nvSpPr>
            <p:cNvPr id="15371" name="Rectangle 8"/>
            <p:cNvSpPr>
              <a:spLocks noChangeArrowheads="1"/>
            </p:cNvSpPr>
            <p:nvPr/>
          </p:nvSpPr>
          <p:spPr bwMode="auto">
            <a:xfrm>
              <a:off x="1824" y="2544"/>
              <a:ext cx="432" cy="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endParaRPr lang="en-US" altLang="en-US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</a:t>
              </a:r>
            </a:p>
          </p:txBody>
        </p:sp>
        <p:sp>
          <p:nvSpPr>
            <p:cNvPr id="15372" name="Rectangle 9"/>
            <p:cNvSpPr>
              <a:spLocks noChangeArrowheads="1"/>
            </p:cNvSpPr>
            <p:nvPr/>
          </p:nvSpPr>
          <p:spPr bwMode="auto">
            <a:xfrm rot="-1200000">
              <a:off x="2806" y="2029"/>
              <a:ext cx="24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5373" name="Rectangle 10"/>
            <p:cNvSpPr>
              <a:spLocks noChangeArrowheads="1"/>
            </p:cNvSpPr>
            <p:nvPr/>
          </p:nvSpPr>
          <p:spPr bwMode="auto">
            <a:xfrm rot="1140000">
              <a:off x="2447" y="2872"/>
              <a:ext cx="87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1 – </a:t>
              </a:r>
              <a:r>
                <a:rPr lang="en-US" altLang="en-US" i="1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15366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D391E4-0E09-4059-931F-D14F735295A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609600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Risk-Neutral Valuation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5020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We choose the tree parameters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/>
              <a:t>,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/>
              <a:t>, and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 so that the tree gives correct values for the mean and standard deviation of the stock price changes in a risk-neutral world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1FB0C6-DA5D-4CBD-AF44-A6EC9574F1F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1. Tree Parameters for a</a:t>
            </a:r>
            <a:br>
              <a:rPr lang="en-US" altLang="en-US" smtClean="0"/>
            </a:br>
            <a:r>
              <a:rPr lang="en-US" altLang="en-US" smtClean="0"/>
              <a:t>Nondividend Paying Stock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199313" cy="41148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dirty="0" smtClean="0"/>
              <a:t>Two conditions are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i="1" dirty="0" smtClean="0">
                <a:latin typeface="Times New Roman" pitchFamily="18" charset="0"/>
              </a:rPr>
              <a:t>e </a:t>
            </a:r>
            <a:r>
              <a:rPr lang="en-US" sz="2800" i="1" baseline="30000" dirty="0" err="1" smtClean="0">
                <a:latin typeface="Times New Roman" pitchFamily="18" charset="0"/>
              </a:rPr>
              <a:t>r</a:t>
            </a:r>
            <a:r>
              <a:rPr lang="en-US" sz="2800" baseline="30000" dirty="0" err="1" smtClean="0">
                <a:latin typeface="Symbol" pitchFamily="18" charset="2"/>
              </a:rPr>
              <a:t>D</a:t>
            </a:r>
            <a:r>
              <a:rPr lang="en-US" sz="2800" i="1" baseline="30000" dirty="0" err="1" smtClean="0">
                <a:latin typeface="Times New Roman" pitchFamily="18" charset="0"/>
              </a:rPr>
              <a:t>t</a:t>
            </a:r>
            <a:r>
              <a:rPr lang="en-US" sz="2800" baseline="30000" dirty="0" smtClean="0"/>
              <a:t> </a:t>
            </a:r>
            <a:r>
              <a:rPr lang="en-US" sz="2800" dirty="0" smtClean="0"/>
              <a:t>= </a:t>
            </a:r>
            <a:r>
              <a:rPr lang="en-US" sz="2800" i="1" dirty="0" err="1" smtClean="0">
                <a:latin typeface="Times New Roman" pitchFamily="18" charset="0"/>
              </a:rPr>
              <a:t>pu</a:t>
            </a:r>
            <a:r>
              <a:rPr lang="en-US" sz="2800" dirty="0" smtClean="0">
                <a:latin typeface="Times New Roman" pitchFamily="18" charset="0"/>
              </a:rPr>
              <a:t> + (1– </a:t>
            </a:r>
            <a:r>
              <a:rPr lang="en-US" sz="2800" i="1" dirty="0" smtClean="0">
                <a:latin typeface="Times New Roman" pitchFamily="18" charset="0"/>
              </a:rPr>
              <a:t>p</a:t>
            </a:r>
            <a:r>
              <a:rPr lang="en-US" sz="2800" dirty="0" smtClean="0">
                <a:latin typeface="Times New Roman" pitchFamily="18" charset="0"/>
              </a:rPr>
              <a:t>)</a:t>
            </a:r>
            <a:r>
              <a:rPr lang="en-US" sz="2800" i="1" dirty="0" smtClean="0">
                <a:latin typeface="Times New Roman" pitchFamily="18" charset="0"/>
              </a:rPr>
              <a:t>d</a:t>
            </a:r>
            <a:r>
              <a:rPr lang="en-US" sz="2800" i="1" dirty="0" smtClean="0"/>
              <a:t> </a:t>
            </a:r>
            <a:r>
              <a:rPr lang="en-US" sz="2800" dirty="0" smtClean="0"/>
              <a:t>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Symbol" pitchFamily="18" charset="2"/>
              </a:rPr>
              <a:t>s</a:t>
            </a:r>
            <a:r>
              <a:rPr lang="en-US" sz="2800" i="1" baseline="30000" dirty="0" smtClean="0"/>
              <a:t>2</a:t>
            </a:r>
            <a:r>
              <a:rPr lang="en-US" sz="2800" dirty="0" smtClean="0">
                <a:latin typeface="Symbol" pitchFamily="18" charset="2"/>
              </a:rPr>
              <a:t>D</a:t>
            </a:r>
            <a:r>
              <a:rPr lang="en-US" sz="2800" i="1" dirty="0" smtClean="0">
                <a:latin typeface="+mj-lt"/>
              </a:rPr>
              <a:t>t</a:t>
            </a:r>
            <a:r>
              <a:rPr lang="en-US" sz="2800" i="1" dirty="0" smtClean="0">
                <a:latin typeface="Times New Roman" pitchFamily="18" charset="0"/>
              </a:rPr>
              <a:t> </a:t>
            </a:r>
            <a:r>
              <a:rPr lang="en-US" sz="2800" dirty="0" smtClean="0"/>
              <a:t>= </a:t>
            </a:r>
            <a:r>
              <a:rPr lang="en-US" sz="2800" i="1" dirty="0" err="1" smtClean="0">
                <a:latin typeface="Times New Roman" pitchFamily="18" charset="0"/>
              </a:rPr>
              <a:t>pu</a:t>
            </a:r>
            <a:r>
              <a:rPr lang="en-US" sz="2800" dirty="0" smtClean="0">
                <a:latin typeface="Times New Roman" pitchFamily="18" charset="0"/>
              </a:rPr>
              <a:t> </a:t>
            </a:r>
            <a:r>
              <a:rPr lang="en-US" sz="2800" baseline="30000" dirty="0" smtClean="0">
                <a:latin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</a:rPr>
              <a:t> + (1– </a:t>
            </a:r>
            <a:r>
              <a:rPr lang="en-US" sz="2800" i="1" dirty="0" smtClean="0">
                <a:latin typeface="Times New Roman" pitchFamily="18" charset="0"/>
              </a:rPr>
              <a:t>p</a:t>
            </a:r>
            <a:r>
              <a:rPr lang="en-US" sz="2800" dirty="0" smtClean="0">
                <a:latin typeface="Times New Roman" pitchFamily="18" charset="0"/>
              </a:rPr>
              <a:t> )</a:t>
            </a:r>
            <a:r>
              <a:rPr lang="en-US" sz="2800" i="1" dirty="0" smtClean="0">
                <a:latin typeface="Times New Roman" pitchFamily="18" charset="0"/>
              </a:rPr>
              <a:t>d </a:t>
            </a:r>
            <a:r>
              <a:rPr lang="en-US" sz="2800" baseline="30000" dirty="0" smtClean="0">
                <a:latin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</a:rPr>
              <a:t> – [</a:t>
            </a:r>
            <a:r>
              <a:rPr lang="en-US" sz="2800" i="1" dirty="0" err="1" smtClean="0">
                <a:latin typeface="Times New Roman" pitchFamily="18" charset="0"/>
              </a:rPr>
              <a:t>pu</a:t>
            </a:r>
            <a:r>
              <a:rPr lang="en-US" sz="2800" dirty="0" smtClean="0">
                <a:latin typeface="Times New Roman" pitchFamily="18" charset="0"/>
              </a:rPr>
              <a:t> + (1– </a:t>
            </a:r>
            <a:r>
              <a:rPr lang="en-US" sz="2800" i="1" dirty="0" smtClean="0">
                <a:latin typeface="Times New Roman" pitchFamily="18" charset="0"/>
              </a:rPr>
              <a:t>p</a:t>
            </a:r>
            <a:r>
              <a:rPr lang="en-US" sz="2800" dirty="0" smtClean="0">
                <a:latin typeface="Times New Roman" pitchFamily="18" charset="0"/>
              </a:rPr>
              <a:t> )</a:t>
            </a:r>
            <a:r>
              <a:rPr lang="en-US" sz="2800" i="1" dirty="0" smtClean="0">
                <a:latin typeface="Times New Roman" pitchFamily="18" charset="0"/>
              </a:rPr>
              <a:t>d </a:t>
            </a:r>
            <a:r>
              <a:rPr lang="en-US" sz="2800" dirty="0" smtClean="0">
                <a:latin typeface="Times New Roman" pitchFamily="18" charset="0"/>
              </a:rPr>
              <a:t>]</a:t>
            </a:r>
            <a:r>
              <a:rPr lang="en-US" sz="2800" baseline="30000" dirty="0" smtClean="0">
                <a:latin typeface="Times New Roman" pitchFamily="18" charset="0"/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dirty="0" smtClean="0"/>
              <a:t>A further condition often imposed is </a:t>
            </a:r>
            <a:r>
              <a:rPr lang="en-US" i="1" dirty="0" smtClean="0">
                <a:latin typeface="Times New Roman" pitchFamily="18" charset="0"/>
              </a:rPr>
              <a:t>u </a:t>
            </a:r>
            <a:r>
              <a:rPr lang="en-US" dirty="0" smtClean="0">
                <a:latin typeface="Times New Roman" pitchFamily="18" charset="0"/>
              </a:rPr>
              <a:t>= 1/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sz="3600" dirty="0" smtClean="0"/>
              <a:t> 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1D7650-CA48-43F2-9E9D-CC86B465A06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7532687" cy="94138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2. Tree Parameters for a</a:t>
            </a:r>
            <a:br>
              <a:rPr lang="en-US" altLang="en-US" smtClean="0"/>
            </a:br>
            <a:r>
              <a:rPr lang="en-US" altLang="en-US" smtClean="0"/>
              <a:t>Nondividend Paying Stock</a:t>
            </a:r>
            <a:br>
              <a:rPr lang="en-US" altLang="en-US" smtClean="0"/>
            </a:br>
            <a:r>
              <a:rPr lang="en-US" altLang="en-US" sz="2200" smtClean="0"/>
              <a:t>(Equations 18.4 to 18.7, page 393)</a:t>
            </a:r>
            <a:endParaRPr lang="en-US" altLang="en-US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82775"/>
            <a:ext cx="8229600" cy="5715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When </a:t>
            </a:r>
            <a:r>
              <a:rPr lang="en-US" altLang="en-US" sz="2800" smtClean="0">
                <a:latin typeface="Symbol" panose="05050102010706020507" pitchFamily="18" charset="2"/>
              </a:rPr>
              <a:t>D</a:t>
            </a:r>
            <a:r>
              <a:rPr lang="en-US" altLang="en-US" sz="2800" i="1" smtClean="0"/>
              <a:t>t</a:t>
            </a:r>
            <a:r>
              <a:rPr lang="en-US" altLang="en-US" sz="2800" smtClean="0"/>
              <a:t> is small a solution to the equations is</a:t>
            </a:r>
          </a:p>
        </p:txBody>
      </p:sp>
      <p:graphicFrame>
        <p:nvGraphicFramePr>
          <p:cNvPr id="18437" name="Object 4"/>
          <p:cNvGraphicFramePr>
            <a:graphicFrameLocks/>
          </p:cNvGraphicFramePr>
          <p:nvPr/>
        </p:nvGraphicFramePr>
        <p:xfrm>
          <a:off x="3352800" y="2708275"/>
          <a:ext cx="25908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4" imgW="927100" imgH="1143000" progId="Equation.3">
                  <p:embed/>
                </p:oleObj>
              </mc:Choice>
              <mc:Fallback>
                <p:oleObj name="Equation" r:id="rId4" imgW="927100" imgH="11430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708275"/>
                        <a:ext cx="259080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7B3C36-966E-4B9B-9A56-45946B9504D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Stock Prices on the Tree</a:t>
            </a:r>
            <a:br>
              <a:rPr lang="en-US" altLang="en-US" smtClean="0"/>
            </a:br>
            <a:r>
              <a:rPr lang="en-US" altLang="en-US" sz="2200" smtClean="0"/>
              <a:t>(Figure 18.2, page 393)</a:t>
            </a:r>
            <a:endParaRPr lang="en-US" altLang="en-US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50215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19461" name="Rectangle 42"/>
          <p:cNvSpPr>
            <a:spLocks noChangeArrowheads="1"/>
          </p:cNvSpPr>
          <p:nvPr/>
        </p:nvSpPr>
        <p:spPr bwMode="auto">
          <a:xfrm>
            <a:off x="7380288" y="2608263"/>
            <a:ext cx="1223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u</a:t>
            </a:r>
            <a:r>
              <a:rPr lang="en-US" altLang="en-US" i="1"/>
              <a:t> </a:t>
            </a:r>
            <a:r>
              <a:rPr lang="en-US" altLang="en-US" i="1" baseline="30000"/>
              <a:t>2</a:t>
            </a:r>
            <a:r>
              <a:rPr lang="en-US" altLang="en-US" i="1"/>
              <a:t> </a:t>
            </a:r>
          </a:p>
        </p:txBody>
      </p:sp>
      <p:sp>
        <p:nvSpPr>
          <p:cNvPr id="19462" name="Rectangle 44"/>
          <p:cNvSpPr>
            <a:spLocks noChangeArrowheads="1"/>
          </p:cNvSpPr>
          <p:nvPr/>
        </p:nvSpPr>
        <p:spPr bwMode="auto">
          <a:xfrm>
            <a:off x="7308850" y="1484313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u</a:t>
            </a:r>
            <a:r>
              <a:rPr lang="en-US" altLang="en-US" i="1"/>
              <a:t> </a:t>
            </a:r>
            <a:r>
              <a:rPr lang="en-US" altLang="en-US" i="1" baseline="30000"/>
              <a:t>4</a:t>
            </a:r>
            <a:r>
              <a:rPr lang="en-US" altLang="en-US" i="1"/>
              <a:t> </a:t>
            </a:r>
          </a:p>
        </p:txBody>
      </p:sp>
      <p:sp>
        <p:nvSpPr>
          <p:cNvPr id="19463" name="Rectangle 45"/>
          <p:cNvSpPr>
            <a:spLocks noChangeArrowheads="1"/>
          </p:cNvSpPr>
          <p:nvPr/>
        </p:nvSpPr>
        <p:spPr bwMode="auto">
          <a:xfrm>
            <a:off x="7380288" y="4652963"/>
            <a:ext cx="1085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d </a:t>
            </a:r>
            <a:r>
              <a:rPr lang="en-US" altLang="en-US" i="1" baseline="30000"/>
              <a:t>2</a:t>
            </a:r>
            <a:r>
              <a:rPr lang="en-US" altLang="en-US" i="1"/>
              <a:t> </a:t>
            </a:r>
          </a:p>
        </p:txBody>
      </p:sp>
      <p:sp>
        <p:nvSpPr>
          <p:cNvPr id="19464" name="Rectangle 48"/>
          <p:cNvSpPr>
            <a:spLocks noChangeArrowheads="1"/>
          </p:cNvSpPr>
          <p:nvPr/>
        </p:nvSpPr>
        <p:spPr bwMode="auto">
          <a:xfrm>
            <a:off x="7380288" y="5589588"/>
            <a:ext cx="1368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d</a:t>
            </a:r>
            <a:r>
              <a:rPr lang="en-US" altLang="en-US" i="1"/>
              <a:t> </a:t>
            </a:r>
            <a:r>
              <a:rPr lang="en-US" altLang="en-US" i="1" baseline="30000"/>
              <a:t>4</a:t>
            </a:r>
            <a:r>
              <a:rPr lang="en-US" altLang="en-US" i="1"/>
              <a:t> </a:t>
            </a:r>
          </a:p>
        </p:txBody>
      </p:sp>
      <p:grpSp>
        <p:nvGrpSpPr>
          <p:cNvPr id="19465" name="Group 50"/>
          <p:cNvGrpSpPr>
            <a:grpSpLocks/>
          </p:cNvGrpSpPr>
          <p:nvPr/>
        </p:nvGrpSpPr>
        <p:grpSpPr bwMode="auto">
          <a:xfrm>
            <a:off x="633413" y="1776413"/>
            <a:ext cx="7361237" cy="4192587"/>
            <a:chOff x="399" y="1119"/>
            <a:chExt cx="4937" cy="2641"/>
          </a:xfrm>
        </p:grpSpPr>
        <p:grpSp>
          <p:nvGrpSpPr>
            <p:cNvPr id="19467" name="Group 34"/>
            <p:cNvGrpSpPr>
              <a:grpSpLocks/>
            </p:cNvGrpSpPr>
            <p:nvPr/>
          </p:nvGrpSpPr>
          <p:grpSpPr bwMode="auto">
            <a:xfrm>
              <a:off x="697" y="1143"/>
              <a:ext cx="4176" cy="2617"/>
              <a:chOff x="697" y="1143"/>
              <a:chExt cx="4176" cy="2617"/>
            </a:xfrm>
          </p:grpSpPr>
          <p:grpSp>
            <p:nvGrpSpPr>
              <p:cNvPr id="19479" name="Group 6"/>
              <p:cNvGrpSpPr>
                <a:grpSpLocks/>
              </p:cNvGrpSpPr>
              <p:nvPr/>
            </p:nvGrpSpPr>
            <p:grpSpPr bwMode="auto">
              <a:xfrm>
                <a:off x="697" y="2124"/>
                <a:ext cx="1044" cy="655"/>
                <a:chOff x="697" y="2124"/>
                <a:chExt cx="1044" cy="655"/>
              </a:xfrm>
            </p:grpSpPr>
            <p:sp>
              <p:nvSpPr>
                <p:cNvPr id="19507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697" y="2124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8" name="Line 5"/>
                <p:cNvSpPr>
                  <a:spLocks noChangeShapeType="1"/>
                </p:cNvSpPr>
                <p:nvPr/>
              </p:nvSpPr>
              <p:spPr bwMode="auto">
                <a:xfrm>
                  <a:off x="697" y="2451"/>
                  <a:ext cx="1044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0" name="Group 9"/>
              <p:cNvGrpSpPr>
                <a:grpSpLocks/>
              </p:cNvGrpSpPr>
              <p:nvPr/>
            </p:nvGrpSpPr>
            <p:grpSpPr bwMode="auto">
              <a:xfrm>
                <a:off x="1741" y="1797"/>
                <a:ext cx="1044" cy="654"/>
                <a:chOff x="1741" y="1797"/>
                <a:chExt cx="1044" cy="654"/>
              </a:xfrm>
            </p:grpSpPr>
            <p:sp>
              <p:nvSpPr>
                <p:cNvPr id="1950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741" y="1797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6" name="Line 8"/>
                <p:cNvSpPr>
                  <a:spLocks noChangeShapeType="1"/>
                </p:cNvSpPr>
                <p:nvPr/>
              </p:nvSpPr>
              <p:spPr bwMode="auto">
                <a:xfrm>
                  <a:off x="1741" y="2124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1" name="Group 12"/>
              <p:cNvGrpSpPr>
                <a:grpSpLocks/>
              </p:cNvGrpSpPr>
              <p:nvPr/>
            </p:nvGrpSpPr>
            <p:grpSpPr bwMode="auto">
              <a:xfrm>
                <a:off x="1741" y="2451"/>
                <a:ext cx="1044" cy="655"/>
                <a:chOff x="1741" y="2451"/>
                <a:chExt cx="1044" cy="655"/>
              </a:xfrm>
            </p:grpSpPr>
            <p:sp>
              <p:nvSpPr>
                <p:cNvPr id="19503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741" y="2451"/>
                  <a:ext cx="1044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4" name="Line 11"/>
                <p:cNvSpPr>
                  <a:spLocks noChangeShapeType="1"/>
                </p:cNvSpPr>
                <p:nvPr/>
              </p:nvSpPr>
              <p:spPr bwMode="auto">
                <a:xfrm>
                  <a:off x="1741" y="2779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2" name="Group 15"/>
              <p:cNvGrpSpPr>
                <a:grpSpLocks/>
              </p:cNvGrpSpPr>
              <p:nvPr/>
            </p:nvGrpSpPr>
            <p:grpSpPr bwMode="auto">
              <a:xfrm>
                <a:off x="2785" y="1470"/>
                <a:ext cx="1044" cy="654"/>
                <a:chOff x="2785" y="1470"/>
                <a:chExt cx="1044" cy="654"/>
              </a:xfrm>
            </p:grpSpPr>
            <p:sp>
              <p:nvSpPr>
                <p:cNvPr id="1950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785" y="1470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2" name="Line 14"/>
                <p:cNvSpPr>
                  <a:spLocks noChangeShapeType="1"/>
                </p:cNvSpPr>
                <p:nvPr/>
              </p:nvSpPr>
              <p:spPr bwMode="auto">
                <a:xfrm>
                  <a:off x="2785" y="1797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3" name="Group 18"/>
              <p:cNvGrpSpPr>
                <a:grpSpLocks/>
              </p:cNvGrpSpPr>
              <p:nvPr/>
            </p:nvGrpSpPr>
            <p:grpSpPr bwMode="auto">
              <a:xfrm>
                <a:off x="2785" y="2124"/>
                <a:ext cx="1044" cy="655"/>
                <a:chOff x="2785" y="2124"/>
                <a:chExt cx="1044" cy="655"/>
              </a:xfrm>
            </p:grpSpPr>
            <p:sp>
              <p:nvSpPr>
                <p:cNvPr id="19499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785" y="2124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0" name="Line 17"/>
                <p:cNvSpPr>
                  <a:spLocks noChangeShapeType="1"/>
                </p:cNvSpPr>
                <p:nvPr/>
              </p:nvSpPr>
              <p:spPr bwMode="auto">
                <a:xfrm>
                  <a:off x="2785" y="2451"/>
                  <a:ext cx="1044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4" name="Group 21"/>
              <p:cNvGrpSpPr>
                <a:grpSpLocks/>
              </p:cNvGrpSpPr>
              <p:nvPr/>
            </p:nvGrpSpPr>
            <p:grpSpPr bwMode="auto">
              <a:xfrm>
                <a:off x="2785" y="2779"/>
                <a:ext cx="1044" cy="654"/>
                <a:chOff x="2785" y="2779"/>
                <a:chExt cx="1044" cy="654"/>
              </a:xfrm>
            </p:grpSpPr>
            <p:sp>
              <p:nvSpPr>
                <p:cNvPr id="19497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785" y="2779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8" name="Line 20"/>
                <p:cNvSpPr>
                  <a:spLocks noChangeShapeType="1"/>
                </p:cNvSpPr>
                <p:nvPr/>
              </p:nvSpPr>
              <p:spPr bwMode="auto">
                <a:xfrm>
                  <a:off x="2785" y="3106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5" name="Group 24"/>
              <p:cNvGrpSpPr>
                <a:grpSpLocks/>
              </p:cNvGrpSpPr>
              <p:nvPr/>
            </p:nvGrpSpPr>
            <p:grpSpPr bwMode="auto">
              <a:xfrm>
                <a:off x="3829" y="3106"/>
                <a:ext cx="1044" cy="654"/>
                <a:chOff x="3829" y="3106"/>
                <a:chExt cx="1044" cy="654"/>
              </a:xfrm>
            </p:grpSpPr>
            <p:sp>
              <p:nvSpPr>
                <p:cNvPr id="19495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829" y="3106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6" name="Line 23"/>
                <p:cNvSpPr>
                  <a:spLocks noChangeShapeType="1"/>
                </p:cNvSpPr>
                <p:nvPr/>
              </p:nvSpPr>
              <p:spPr bwMode="auto">
                <a:xfrm>
                  <a:off x="3829" y="3433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6" name="Group 27"/>
              <p:cNvGrpSpPr>
                <a:grpSpLocks/>
              </p:cNvGrpSpPr>
              <p:nvPr/>
            </p:nvGrpSpPr>
            <p:grpSpPr bwMode="auto">
              <a:xfrm>
                <a:off x="3829" y="2451"/>
                <a:ext cx="1044" cy="655"/>
                <a:chOff x="3829" y="2451"/>
                <a:chExt cx="1044" cy="655"/>
              </a:xfrm>
            </p:grpSpPr>
            <p:sp>
              <p:nvSpPr>
                <p:cNvPr id="19493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3829" y="2451"/>
                  <a:ext cx="1044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4" name="Line 26"/>
                <p:cNvSpPr>
                  <a:spLocks noChangeShapeType="1"/>
                </p:cNvSpPr>
                <p:nvPr/>
              </p:nvSpPr>
              <p:spPr bwMode="auto">
                <a:xfrm>
                  <a:off x="3829" y="2779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7" name="Group 30"/>
              <p:cNvGrpSpPr>
                <a:grpSpLocks/>
              </p:cNvGrpSpPr>
              <p:nvPr/>
            </p:nvGrpSpPr>
            <p:grpSpPr bwMode="auto">
              <a:xfrm>
                <a:off x="3829" y="1797"/>
                <a:ext cx="1044" cy="654"/>
                <a:chOff x="3829" y="1797"/>
                <a:chExt cx="1044" cy="654"/>
              </a:xfrm>
            </p:grpSpPr>
            <p:sp>
              <p:nvSpPr>
                <p:cNvPr id="19491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829" y="1797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2" name="Line 29"/>
                <p:cNvSpPr>
                  <a:spLocks noChangeShapeType="1"/>
                </p:cNvSpPr>
                <p:nvPr/>
              </p:nvSpPr>
              <p:spPr bwMode="auto">
                <a:xfrm>
                  <a:off x="3829" y="2124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488" name="Group 33"/>
              <p:cNvGrpSpPr>
                <a:grpSpLocks/>
              </p:cNvGrpSpPr>
              <p:nvPr/>
            </p:nvGrpSpPr>
            <p:grpSpPr bwMode="auto">
              <a:xfrm>
                <a:off x="3829" y="1143"/>
                <a:ext cx="1044" cy="654"/>
                <a:chOff x="3829" y="1143"/>
                <a:chExt cx="1044" cy="654"/>
              </a:xfrm>
            </p:grpSpPr>
            <p:sp>
              <p:nvSpPr>
                <p:cNvPr id="19489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3829" y="1143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0" name="Line 32"/>
                <p:cNvSpPr>
                  <a:spLocks noChangeShapeType="1"/>
                </p:cNvSpPr>
                <p:nvPr/>
              </p:nvSpPr>
              <p:spPr bwMode="auto">
                <a:xfrm>
                  <a:off x="3829" y="1470"/>
                  <a:ext cx="1044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9468" name="Rectangle 35"/>
            <p:cNvSpPr>
              <a:spLocks noChangeArrowheads="1"/>
            </p:cNvSpPr>
            <p:nvPr/>
          </p:nvSpPr>
          <p:spPr bwMode="auto">
            <a:xfrm>
              <a:off x="399" y="2277"/>
              <a:ext cx="4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/>
                <a:t> </a:t>
              </a:r>
            </a:p>
          </p:txBody>
        </p:sp>
        <p:sp>
          <p:nvSpPr>
            <p:cNvPr id="19469" name="Rectangle 36"/>
            <p:cNvSpPr>
              <a:spLocks noChangeArrowheads="1"/>
            </p:cNvSpPr>
            <p:nvPr/>
          </p:nvSpPr>
          <p:spPr bwMode="auto">
            <a:xfrm>
              <a:off x="1599" y="1753"/>
              <a:ext cx="56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u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0" name="Rectangle 37"/>
            <p:cNvSpPr>
              <a:spLocks noChangeArrowheads="1"/>
            </p:cNvSpPr>
            <p:nvPr/>
          </p:nvSpPr>
          <p:spPr bwMode="auto">
            <a:xfrm>
              <a:off x="1551" y="2379"/>
              <a:ext cx="55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d </a:t>
              </a:r>
            </a:p>
          </p:txBody>
        </p:sp>
        <p:sp>
          <p:nvSpPr>
            <p:cNvPr id="19471" name="Rectangle 38"/>
            <p:cNvSpPr>
              <a:spLocks noChangeArrowheads="1"/>
            </p:cNvSpPr>
            <p:nvPr/>
          </p:nvSpPr>
          <p:spPr bwMode="auto">
            <a:xfrm>
              <a:off x="2634" y="2110"/>
              <a:ext cx="4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2" name="Rectangle 39"/>
            <p:cNvSpPr>
              <a:spLocks noChangeArrowheads="1"/>
            </p:cNvSpPr>
            <p:nvPr/>
          </p:nvSpPr>
          <p:spPr bwMode="auto">
            <a:xfrm>
              <a:off x="4911" y="2277"/>
              <a:ext cx="4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3" name="Rectangle 40"/>
            <p:cNvSpPr>
              <a:spLocks noChangeArrowheads="1"/>
            </p:cNvSpPr>
            <p:nvPr/>
          </p:nvSpPr>
          <p:spPr bwMode="auto">
            <a:xfrm>
              <a:off x="2536" y="1436"/>
              <a:ext cx="7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u</a:t>
              </a:r>
              <a:r>
                <a:rPr lang="en-US" altLang="en-US" i="1"/>
                <a:t> </a:t>
              </a:r>
              <a:r>
                <a:rPr lang="en-US" altLang="en-US" i="1" baseline="30000"/>
                <a:t>2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4" name="Rectangle 41"/>
            <p:cNvSpPr>
              <a:spLocks noChangeArrowheads="1"/>
            </p:cNvSpPr>
            <p:nvPr/>
          </p:nvSpPr>
          <p:spPr bwMode="auto">
            <a:xfrm>
              <a:off x="2582" y="2745"/>
              <a:ext cx="7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d</a:t>
              </a:r>
              <a:r>
                <a:rPr lang="en-US" altLang="en-US" i="1"/>
                <a:t> </a:t>
              </a:r>
              <a:r>
                <a:rPr lang="en-US" altLang="en-US" i="1" baseline="30000"/>
                <a:t>2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5" name="Rectangle 43"/>
            <p:cNvSpPr>
              <a:spLocks noChangeArrowheads="1"/>
            </p:cNvSpPr>
            <p:nvPr/>
          </p:nvSpPr>
          <p:spPr bwMode="auto">
            <a:xfrm>
              <a:off x="3592" y="1119"/>
              <a:ext cx="7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u</a:t>
              </a:r>
              <a:r>
                <a:rPr lang="en-US" altLang="en-US" i="1"/>
                <a:t> </a:t>
              </a:r>
              <a:r>
                <a:rPr lang="en-US" altLang="en-US" i="1" baseline="30000"/>
                <a:t>3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6" name="Rectangle 46"/>
            <p:cNvSpPr>
              <a:spLocks noChangeArrowheads="1"/>
            </p:cNvSpPr>
            <p:nvPr/>
          </p:nvSpPr>
          <p:spPr bwMode="auto">
            <a:xfrm>
              <a:off x="3695" y="1753"/>
              <a:ext cx="56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u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7" name="Rectangle 47"/>
            <p:cNvSpPr>
              <a:spLocks noChangeArrowheads="1"/>
            </p:cNvSpPr>
            <p:nvPr/>
          </p:nvSpPr>
          <p:spPr bwMode="auto">
            <a:xfrm>
              <a:off x="3646" y="2427"/>
              <a:ext cx="56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d</a:t>
              </a:r>
              <a:r>
                <a:rPr lang="en-US" altLang="en-US" i="1"/>
                <a:t> </a:t>
              </a:r>
            </a:p>
          </p:txBody>
        </p:sp>
        <p:sp>
          <p:nvSpPr>
            <p:cNvPr id="19478" name="Rectangle 49"/>
            <p:cNvSpPr>
              <a:spLocks noChangeArrowheads="1"/>
            </p:cNvSpPr>
            <p:nvPr/>
          </p:nvSpPr>
          <p:spPr bwMode="auto">
            <a:xfrm>
              <a:off x="3639" y="3102"/>
              <a:ext cx="7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d</a:t>
              </a:r>
              <a:r>
                <a:rPr lang="en-US" altLang="en-US" i="1"/>
                <a:t> </a:t>
              </a:r>
              <a:r>
                <a:rPr lang="en-US" altLang="en-US" i="1" baseline="30000"/>
                <a:t>3</a:t>
              </a:r>
              <a:r>
                <a:rPr lang="en-US" altLang="en-US" i="1"/>
                <a:t> </a:t>
              </a:r>
            </a:p>
          </p:txBody>
        </p:sp>
      </p:grpSp>
      <p:sp>
        <p:nvSpPr>
          <p:cNvPr id="19466" name="Slide Number Placeholder 5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4FAB27-5F7D-4161-B575-2436C3C5330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Backwards Induction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4425" y="1719263"/>
            <a:ext cx="6916738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We know the value of the option at the final nodes</a:t>
            </a:r>
          </a:p>
          <a:p>
            <a:pPr eaLnBrk="1" hangingPunct="1"/>
            <a:r>
              <a:rPr lang="en-US" altLang="en-US" smtClean="0"/>
              <a:t>We work back through the tree using risk-neutral valuation to calculate the value of the option at each node, testing for early exercise when appropriate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0C784B-A710-4B2A-BBB7-A042327F852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Example: Put Option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71625"/>
            <a:ext cx="8077200" cy="4752975"/>
          </a:xfrm>
          <a:noFill/>
        </p:spPr>
        <p:txBody>
          <a:bodyPr lIns="92075" tIns="46038" rIns="92075" bIns="46038"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50; 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/>
              <a:t> = 50; 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smtClean="0"/>
              <a:t> =10%;  </a:t>
            </a:r>
            <a:r>
              <a:rPr lang="en-US" altLang="en-US" smtClean="0">
                <a:latin typeface="Symbol" panose="05050102010706020507" pitchFamily="18" charset="2"/>
              </a:rPr>
              <a:t>s</a:t>
            </a:r>
            <a:r>
              <a:rPr lang="en-US" altLang="en-US" smtClean="0"/>
              <a:t> = 40%;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= 5 months = 0.4167;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>
                <a:latin typeface="Symbol" panose="05050102010706020507" pitchFamily="18" charset="2"/>
              </a:rPr>
              <a:t>	D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= 1 month = 0.0833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The parameters imply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	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>
                <a:latin typeface="Times New Roman" panose="02020603050405020304" pitchFamily="18" charset="0"/>
              </a:rPr>
              <a:t> = 1.1224; 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= 0.8909;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		a</a:t>
            </a:r>
            <a:r>
              <a:rPr lang="en-US" altLang="en-US" smtClean="0">
                <a:latin typeface="Times New Roman" panose="02020603050405020304" pitchFamily="18" charset="0"/>
              </a:rPr>
              <a:t> = 1.0084; 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>
                <a:latin typeface="Times New Roman" panose="02020603050405020304" pitchFamily="18" charset="0"/>
              </a:rPr>
              <a:t> = 0.5073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EAB19E-CF1A-409F-AD9A-2B0CA0925F5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93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 (continued)</a:t>
            </a:r>
            <a:br>
              <a:rPr lang="en-US" altLang="en-US" smtClean="0"/>
            </a:br>
            <a:r>
              <a:rPr lang="en-US" altLang="en-US" sz="2600" smtClean="0"/>
              <a:t>Figure 18.3, page 395</a:t>
            </a:r>
            <a:endParaRPr lang="en-US" altLang="en-US" smtClean="0"/>
          </a:p>
        </p:txBody>
      </p:sp>
      <p:pic>
        <p:nvPicPr>
          <p:cNvPr id="22532" name="Picture 3"/>
          <p:cNvPicPr>
            <a:picLocks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341438"/>
            <a:ext cx="6858000" cy="4800600"/>
          </a:xfrm>
          <a:noFill/>
        </p:spPr>
      </p:pic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E06A0D-ADC8-4364-8BBA-23FB813CCA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600" y="914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(continued; Figure 18.3, page 395)</a:t>
            </a: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sz="4000" dirty="0"/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18,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3EE8AB-2AE0-407F-9D7F-F4033D4C14D1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23557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76400"/>
            <a:ext cx="53340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Convergence of tree </a:t>
            </a:r>
            <a:r>
              <a:rPr lang="en-CA" altLang="en-US" sz="2400" smtClean="0"/>
              <a:t>(Figure 18.4, page 396)</a:t>
            </a:r>
          </a:p>
        </p:txBody>
      </p:sp>
      <p:sp>
        <p:nvSpPr>
          <p:cNvPr id="2457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F18E6F-013A-44AE-9DC6-ACC7A70F169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pic>
        <p:nvPicPr>
          <p:cNvPr id="2458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7632700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Calculation of Delta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Delta is calculated from the nodes at time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>
                <a:latin typeface="Times New Roman" panose="02020603050405020304" pitchFamily="18" charset="0"/>
              </a:rPr>
              <a:t>t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25605" name="Object 4"/>
          <p:cNvGraphicFramePr>
            <a:graphicFrameLocks/>
          </p:cNvGraphicFramePr>
          <p:nvPr/>
        </p:nvGraphicFramePr>
        <p:xfrm>
          <a:off x="1828800" y="3733800"/>
          <a:ext cx="4876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4" imgW="1828800" imgH="393700" progId="Equation.2">
                  <p:embed/>
                </p:oleObj>
              </mc:Choice>
              <mc:Fallback>
                <p:oleObj name="Equation" r:id="rId4" imgW="1828800" imgH="3937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33800"/>
                        <a:ext cx="4876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321B78-EB6E-4E76-9654-2A8D2301987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Calculation of Gamma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Gamma is calculated from the nodes at time 2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26629" name="Object 1024"/>
          <p:cNvGraphicFramePr>
            <a:graphicFrameLocks/>
          </p:cNvGraphicFramePr>
          <p:nvPr/>
        </p:nvGraphicFramePr>
        <p:xfrm>
          <a:off x="762000" y="3024188"/>
          <a:ext cx="8153400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4" imgW="3175000" imgH="800100" progId="Equation.2">
                  <p:embed/>
                </p:oleObj>
              </mc:Choice>
              <mc:Fallback>
                <p:oleObj name="Equation" r:id="rId4" imgW="3175000" imgH="800100" progId="Equation.2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24188"/>
                        <a:ext cx="8153400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B85D69-4E2E-4155-B3EA-48D37EB04D7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Calculation of Theta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Theta is calculated from the central nodes at times </a:t>
            </a:r>
            <a:r>
              <a:rPr lang="en-US" altLang="en-US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 and 2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27653" name="Object 4"/>
          <p:cNvGraphicFramePr>
            <a:graphicFrameLocks/>
          </p:cNvGraphicFramePr>
          <p:nvPr/>
        </p:nvGraphicFramePr>
        <p:xfrm>
          <a:off x="1203325" y="3155950"/>
          <a:ext cx="6440488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4" imgW="2298700" imgH="584200" progId="Equation.3">
                  <p:embed/>
                </p:oleObj>
              </mc:Choice>
              <mc:Fallback>
                <p:oleObj name="Equation" r:id="rId4" imgW="2298700" imgH="5842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3155950"/>
                        <a:ext cx="6440488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E705A5E-6236-40EE-A749-321FFEC729E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Calculation of Vega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We can proceed as follows</a:t>
            </a:r>
          </a:p>
          <a:p>
            <a:pPr eaLnBrk="1" hangingPunct="1"/>
            <a:r>
              <a:rPr lang="en-US" altLang="en-US" smtClean="0"/>
              <a:t>Construct a new tree with a volatility of 41% instead of 40%. </a:t>
            </a:r>
          </a:p>
          <a:p>
            <a:pPr eaLnBrk="1" hangingPunct="1"/>
            <a:r>
              <a:rPr lang="en-US" altLang="en-US" smtClean="0"/>
              <a:t>Value of option is 4.62</a:t>
            </a:r>
          </a:p>
          <a:p>
            <a:pPr eaLnBrk="1" hangingPunct="1"/>
            <a:r>
              <a:rPr lang="en-US" altLang="en-US" smtClean="0"/>
              <a:t>Vega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aphicFrame>
        <p:nvGraphicFramePr>
          <p:cNvPr id="28677" name="Object 1024"/>
          <p:cNvGraphicFramePr>
            <a:graphicFrameLocks/>
          </p:cNvGraphicFramePr>
          <p:nvPr/>
        </p:nvGraphicFramePr>
        <p:xfrm>
          <a:off x="1143000" y="4714875"/>
          <a:ext cx="4953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4" imgW="1816100" imgH="419100" progId="Equation.2">
                  <p:embed/>
                </p:oleObj>
              </mc:Choice>
              <mc:Fallback>
                <p:oleObj name="Equation" r:id="rId4" imgW="1816100" imgH="419100" progId="Equation.2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14875"/>
                        <a:ext cx="4953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2A4183-E3A3-4A00-8098-E39923C6FA8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Trees and Dividend Yields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When a stock price pays continuous dividends at rate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q</a:t>
            </a:r>
            <a:r>
              <a:rPr lang="en-US" altLang="en-US" sz="2800" smtClean="0"/>
              <a:t> we construct the tree in the same way but set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a</a:t>
            </a:r>
            <a:r>
              <a:rPr lang="en-US" altLang="en-US" sz="2800" smtClean="0"/>
              <a:t> =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e</a:t>
            </a:r>
            <a:r>
              <a:rPr lang="en-US" altLang="en-US" sz="2800" baseline="30000" smtClean="0"/>
              <a:t>(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 – q</a:t>
            </a:r>
            <a:r>
              <a:rPr lang="en-US" altLang="en-US" sz="2800" baseline="30000" smtClean="0"/>
              <a:t> )</a:t>
            </a:r>
            <a:r>
              <a:rPr lang="en-US" altLang="en-US" sz="2800" baseline="30000" smtClean="0">
                <a:latin typeface="Symbol" panose="05050102010706020507" pitchFamily="18" charset="2"/>
              </a:rPr>
              <a:t>D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t</a:t>
            </a:r>
            <a:endParaRPr lang="en-US" altLang="en-US" sz="2800" smtClean="0"/>
          </a:p>
          <a:p>
            <a:pPr lvl="1" eaLnBrk="1" hangingPunct="1"/>
            <a:r>
              <a:rPr lang="en-US" altLang="en-US" smtClean="0"/>
              <a:t>For options on stock indices,</a:t>
            </a:r>
            <a:r>
              <a:rPr lang="en-US" altLang="en-US" i="1" smtClean="0"/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i="1" smtClean="0"/>
              <a:t> </a:t>
            </a:r>
            <a:r>
              <a:rPr lang="en-US" altLang="en-US" smtClean="0"/>
              <a:t>equals the dividend yield on the index</a:t>
            </a:r>
          </a:p>
          <a:p>
            <a:pPr lvl="1" eaLnBrk="1" hangingPunct="1"/>
            <a:r>
              <a:rPr lang="en-US" altLang="en-US" smtClean="0"/>
              <a:t>For options on a foreign currency,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i="1" smtClean="0"/>
              <a:t> </a:t>
            </a:r>
            <a:r>
              <a:rPr lang="en-US" altLang="en-US" smtClean="0"/>
              <a:t>equals the foreign risk-free rate</a:t>
            </a:r>
          </a:p>
          <a:p>
            <a:pPr lvl="1" eaLnBrk="1" hangingPunct="1"/>
            <a:r>
              <a:rPr lang="en-US" altLang="en-US" smtClean="0"/>
              <a:t>For options on futures contracts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smtClean="0">
                <a:latin typeface="Times New Roman" panose="02020603050405020304" pitchFamily="18" charset="0"/>
              </a:rPr>
              <a:t> =</a:t>
            </a:r>
            <a:r>
              <a:rPr lang="en-US" altLang="en-US" i="1" smtClean="0">
                <a:latin typeface="Times New Roman" panose="02020603050405020304" pitchFamily="18" charset="0"/>
              </a:rPr>
              <a:t> r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3E740B-C8D8-42F4-BCEA-C478F614E92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Binomial Tree for Stock Paying Known Dollar Dividends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7993062" cy="39417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Procedure</a:t>
            </a:r>
            <a:r>
              <a:rPr lang="en-US" altLang="en-US" smtClean="0"/>
              <a:t>:</a:t>
            </a:r>
          </a:p>
          <a:p>
            <a:pPr lvl="1" eaLnBrk="1" hangingPunct="1"/>
            <a:r>
              <a:rPr lang="en-US" altLang="en-US" smtClean="0"/>
              <a:t>Draw the tree for the stock price less the present value of the dividends</a:t>
            </a:r>
          </a:p>
          <a:p>
            <a:pPr lvl="1" eaLnBrk="1" hangingPunct="1"/>
            <a:r>
              <a:rPr lang="en-US" altLang="en-US" smtClean="0"/>
              <a:t>Create a new tree by adding the present value of the dividends at each node</a:t>
            </a:r>
          </a:p>
          <a:p>
            <a:pPr eaLnBrk="1" hangingPunct="1"/>
            <a:r>
              <a:rPr lang="en-US" altLang="en-US" sz="2800" smtClean="0"/>
              <a:t>This ensures that the tree recombines and makes assumptions similar to those when the Black-Scholes-Merton model is used for European options</a:t>
            </a:r>
            <a:endParaRPr lang="en-US" altLang="en-US" smtClean="0"/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4EF551-5DF0-4C6D-A92C-66881DAAF7D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Extensions of Tree Approach </a:t>
            </a:r>
            <a:r>
              <a:rPr lang="en-US" altLang="en-US" sz="2400" smtClean="0"/>
              <a:t>(pages 405 to 407)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411662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800" dirty="0" smtClean="0"/>
              <a:t>Time dependent interest rates or dividend yields (</a:t>
            </a:r>
            <a:r>
              <a:rPr lang="en-US" sz="2800" i="1" dirty="0" smtClean="0">
                <a:latin typeface="+mj-lt"/>
              </a:rPr>
              <a:t>u </a:t>
            </a:r>
            <a:r>
              <a:rPr lang="en-US" sz="2800" dirty="0" smtClean="0"/>
              <a:t>and </a:t>
            </a:r>
            <a:r>
              <a:rPr lang="en-US" sz="2800" i="1" dirty="0" smtClean="0">
                <a:latin typeface="+mj-lt"/>
              </a:rPr>
              <a:t>d</a:t>
            </a:r>
            <a:r>
              <a:rPr lang="en-US" sz="2800" dirty="0" smtClean="0"/>
              <a:t> are unchanged and </a:t>
            </a:r>
            <a:r>
              <a:rPr lang="en-US" sz="2800" i="1" dirty="0" smtClean="0">
                <a:latin typeface="+mj-lt"/>
              </a:rPr>
              <a:t>p </a:t>
            </a:r>
            <a:r>
              <a:rPr lang="en-US" sz="2800" dirty="0" smtClean="0"/>
              <a:t>is calculated from forward rate values for </a:t>
            </a:r>
            <a:r>
              <a:rPr lang="en-US" sz="2800" i="1" dirty="0" smtClean="0">
                <a:latin typeface="+mj-lt"/>
              </a:rPr>
              <a:t>r</a:t>
            </a:r>
            <a:r>
              <a:rPr lang="en-US" sz="2800" dirty="0" smtClean="0"/>
              <a:t> and </a:t>
            </a:r>
            <a:r>
              <a:rPr lang="en-US" sz="2800" i="1" dirty="0" smtClean="0">
                <a:latin typeface="+mj-lt"/>
              </a:rPr>
              <a:t>q</a:t>
            </a:r>
            <a:r>
              <a:rPr lang="en-US" sz="2800" dirty="0" smtClean="0"/>
              <a:t>)</a:t>
            </a:r>
          </a:p>
          <a:p>
            <a:pPr eaLnBrk="1" hangingPunct="1">
              <a:defRPr/>
            </a:pPr>
            <a:r>
              <a:rPr lang="en-US" sz="2800" dirty="0" smtClean="0"/>
              <a:t>Time dependent volatilities (length of time steps varied so that </a:t>
            </a:r>
            <a:r>
              <a:rPr lang="en-US" sz="2800" i="1" dirty="0" smtClean="0">
                <a:latin typeface="+mj-lt"/>
              </a:rPr>
              <a:t>u</a:t>
            </a:r>
            <a:r>
              <a:rPr lang="en-US" sz="2800" dirty="0" smtClean="0"/>
              <a:t> and </a:t>
            </a:r>
            <a:r>
              <a:rPr lang="en-US" sz="2800" i="1" dirty="0" smtClean="0">
                <a:latin typeface="+mj-lt"/>
              </a:rPr>
              <a:t>d</a:t>
            </a:r>
            <a:r>
              <a:rPr lang="en-US" sz="2800" dirty="0" smtClean="0"/>
              <a:t> remain the same) </a:t>
            </a:r>
          </a:p>
          <a:p>
            <a:pPr eaLnBrk="1" hangingPunct="1">
              <a:defRPr/>
            </a:pPr>
            <a:r>
              <a:rPr lang="en-US" sz="2800" dirty="0" smtClean="0"/>
              <a:t>The control </a:t>
            </a:r>
            <a:r>
              <a:rPr lang="en-US" sz="2800" dirty="0" err="1" smtClean="0"/>
              <a:t>variate</a:t>
            </a:r>
            <a:r>
              <a:rPr lang="en-US" sz="2800" dirty="0" smtClean="0"/>
              <a:t> technique (European option price calculated from tree. Error in European option price assumed to be the same as error in American option price)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393392-B05E-43C0-A9F8-18FEE8C58F1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Alternative Binomial Tree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719263"/>
            <a:ext cx="7664450" cy="11430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Instead of setting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>
                <a:latin typeface="Times New Roman" panose="02020603050405020304" pitchFamily="18" charset="0"/>
              </a:rPr>
              <a:t> = 1/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 we can set each of the 2 probabilities to 0.5 and</a:t>
            </a:r>
          </a:p>
        </p:txBody>
      </p:sp>
      <p:graphicFrame>
        <p:nvGraphicFramePr>
          <p:cNvPr id="32773" name="Object 1024"/>
          <p:cNvGraphicFramePr>
            <a:graphicFrameLocks/>
          </p:cNvGraphicFramePr>
          <p:nvPr/>
        </p:nvGraphicFramePr>
        <p:xfrm>
          <a:off x="2565400" y="3352800"/>
          <a:ext cx="4394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4" imgW="1117115" imgH="482391" progId="Equation.3">
                  <p:embed/>
                </p:oleObj>
              </mc:Choice>
              <mc:Fallback>
                <p:oleObj name="Equation" r:id="rId4" imgW="1117115" imgH="482391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352800"/>
                        <a:ext cx="4394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ECC916-5AE6-4EE8-9396-55A0ADC5ACB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18, Copyright © John C. Hull 2016</a:t>
            </a:r>
            <a:endParaRPr lang="en-US" altLang="en-US" sz="1400" i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Monte Carlo Simulation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Monte Carlo simulation can be implemented by sampling paths through the tree randomly and calculating the payoff corresponding to each path</a:t>
            </a:r>
          </a:p>
          <a:p>
            <a:pPr eaLnBrk="1" hangingPunct="1"/>
            <a:r>
              <a:rPr lang="en-US" altLang="en-US" smtClean="0"/>
              <a:t>The value of the derivative is the mean of the PV of the payoff</a:t>
            </a:r>
          </a:p>
          <a:p>
            <a:pPr eaLnBrk="1" hangingPunct="1"/>
            <a:r>
              <a:rPr lang="en-US" altLang="en-US" smtClean="0"/>
              <a:t>See Example 18.5 on page 409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2717B7-BAD9-45D8-BD18-DE78F29205D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088676-F38B-41FD-A6F5-1E0468A9FD67}"/>
</file>

<file path=customXml/itemProps2.xml><?xml version="1.0" encoding="utf-8"?>
<ds:datastoreItem xmlns:ds="http://schemas.openxmlformats.org/officeDocument/2006/customXml" ds:itemID="{EE223754-0BD3-471A-8800-B2B36ADC8E75}"/>
</file>

<file path=customXml/itemProps3.xml><?xml version="1.0" encoding="utf-8"?>
<ds:datastoreItem xmlns:ds="http://schemas.openxmlformats.org/officeDocument/2006/customXml" ds:itemID="{902130C1-E39F-4617-8E81-48C05A2C25DE}"/>
</file>

<file path=docProps/app.xml><?xml version="1.0" encoding="utf-8"?>
<Properties xmlns="http://schemas.openxmlformats.org/officeDocument/2006/extended-properties" xmlns:vt="http://schemas.openxmlformats.org/officeDocument/2006/docPropsVTypes">
  <Template>Financial Risk Management6</Template>
  <TotalTime>212</TotalTime>
  <Pages>29</Pages>
  <Words>1007</Words>
  <Application>Microsoft Office PowerPoint</Application>
  <PresentationFormat>Letter Paper (8.5x11 in)</PresentationFormat>
  <Paragraphs>147</Paragraphs>
  <Slides>21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Times New Roman</vt:lpstr>
      <vt:lpstr>Wingdings</vt:lpstr>
      <vt:lpstr>Symbol</vt:lpstr>
      <vt:lpstr>1_Network</vt:lpstr>
      <vt:lpstr>Microsoft Equation 3.0</vt:lpstr>
      <vt:lpstr>Microsoft Equation 2.0</vt:lpstr>
      <vt:lpstr>Binomial Trees in Practice</vt:lpstr>
      <vt:lpstr>Binomial Trees</vt:lpstr>
      <vt:lpstr>Movements in Time Dt (Figure 18.1, page 392)</vt:lpstr>
      <vt:lpstr>Risk-Neutral Valuation</vt:lpstr>
      <vt:lpstr>1. Tree Parameters for a Nondividend Paying Stock</vt:lpstr>
      <vt:lpstr>2. Tree Parameters for a Nondividend Paying Stock (Equations 18.4 to 18.7, page 393)</vt:lpstr>
      <vt:lpstr>Stock Prices on the Tree (Figure 18.2, page 393)</vt:lpstr>
      <vt:lpstr>Backwards Induction</vt:lpstr>
      <vt:lpstr>Example: Put Option </vt:lpstr>
      <vt:lpstr>Example (continued) Figure 18.3, page 395</vt:lpstr>
      <vt:lpstr>Example (continued; Figure 18.3, page 395) </vt:lpstr>
      <vt:lpstr>Convergence of tree (Figure 18.4, page 396)</vt:lpstr>
      <vt:lpstr>Calculation of Delta</vt:lpstr>
      <vt:lpstr>Calculation of Gamma</vt:lpstr>
      <vt:lpstr>Calculation of Theta</vt:lpstr>
      <vt:lpstr>Calculation of Vega</vt:lpstr>
      <vt:lpstr>Trees and Dividend Yields</vt:lpstr>
      <vt:lpstr>Binomial Tree for Stock Paying Known Dollar Dividends</vt:lpstr>
      <vt:lpstr>Extensions of Tree Approach (pages 405 to 407)</vt:lpstr>
      <vt:lpstr>Alternative Binomial Tree </vt:lpstr>
      <vt:lpstr>Monte Carlo Simulation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Binomial Trees in Practice</dc:title>
  <dc:subject>Fundamentals of Futures and Options Markets, 9e</dc:subject>
  <dc:creator>John C. Hull</dc:creator>
  <cp:keywords>Chapter 18</cp:keywords>
  <dc:description>Copyright 2016 by John C. Hull.
All rights reserved. Published 2016.</dc:description>
  <cp:lastModifiedBy>John Hull</cp:lastModifiedBy>
  <cp:revision>40</cp:revision>
  <cp:lastPrinted>2001-05-03T14:32:06Z</cp:lastPrinted>
  <dcterms:created xsi:type="dcterms:W3CDTF">1996-07-04T19:15:26Z</dcterms:created>
  <dcterms:modified xsi:type="dcterms:W3CDTF">2016-01-20T21:04:46Z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