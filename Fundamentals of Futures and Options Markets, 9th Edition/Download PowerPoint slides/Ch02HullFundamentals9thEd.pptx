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notesSlides/notesSlide9.xml" ContentType="application/vnd.openxmlformats-officedocument.presentationml.notesSlide+xml"/>
  <Override PartName="/ppt/slideLayouts/slideLayout7.xml" ContentType="application/vnd.openxmlformats-officedocument.presentationml.slideLayou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3.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slideLayouts/slideLayout4.xml" ContentType="application/vnd.openxmlformats-officedocument.presentationml.slideLayout+xml"/>
  <Override PartName="/ppt/notesSlides/notesSlide19.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9"/>
  </p:notesMasterIdLst>
  <p:handoutMasterIdLst>
    <p:handoutMasterId r:id="rId30"/>
  </p:handoutMasterIdLst>
  <p:sldIdLst>
    <p:sldId id="278" r:id="rId2"/>
    <p:sldId id="258" r:id="rId3"/>
    <p:sldId id="305" r:id="rId4"/>
    <p:sldId id="259" r:id="rId5"/>
    <p:sldId id="283" r:id="rId6"/>
    <p:sldId id="284" r:id="rId7"/>
    <p:sldId id="262" r:id="rId8"/>
    <p:sldId id="306" r:id="rId9"/>
    <p:sldId id="285" r:id="rId10"/>
    <p:sldId id="286" r:id="rId11"/>
    <p:sldId id="299" r:id="rId12"/>
    <p:sldId id="301" r:id="rId13"/>
    <p:sldId id="307" r:id="rId14"/>
    <p:sldId id="302" r:id="rId15"/>
    <p:sldId id="303" r:id="rId16"/>
    <p:sldId id="298" r:id="rId17"/>
    <p:sldId id="263" r:id="rId18"/>
    <p:sldId id="294" r:id="rId19"/>
    <p:sldId id="266" r:id="rId20"/>
    <p:sldId id="297" r:id="rId21"/>
    <p:sldId id="267" r:id="rId22"/>
    <p:sldId id="268" r:id="rId23"/>
    <p:sldId id="269" r:id="rId24"/>
    <p:sldId id="273" r:id="rId25"/>
    <p:sldId id="274" r:id="rId26"/>
    <p:sldId id="279" r:id="rId27"/>
    <p:sldId id="276"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7" autoAdjust="0"/>
    <p:restoredTop sz="94681" autoAdjust="0"/>
  </p:normalViewPr>
  <p:slideViewPr>
    <p:cSldViewPr>
      <p:cViewPr varScale="1">
        <p:scale>
          <a:sx n="122" d="100"/>
          <a:sy n="122" d="100"/>
        </p:scale>
        <p:origin x="12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BBAC7853-BA72-41AF-9784-4B662C40AAFD}" type="slidenum">
              <a:rPr lang="en-US" altLang="en-US"/>
              <a:pPr>
                <a:defRPr/>
              </a:pPr>
              <a:t>‹#›</a:t>
            </a:fld>
            <a:endParaRPr lang="en-US" altLang="en-US"/>
          </a:p>
        </p:txBody>
      </p:sp>
    </p:spTree>
    <p:extLst>
      <p:ext uri="{BB962C8B-B14F-4D97-AF65-F5344CB8AC3E}">
        <p14:creationId xmlns:p14="http://schemas.microsoft.com/office/powerpoint/2010/main" val="4025851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1331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F8B95B21-B0A6-4F1A-81EF-199F6086AEAE}" type="slidenum">
              <a:rPr lang="en-US" altLang="en-US"/>
              <a:pPr>
                <a:defRPr/>
              </a:pPr>
              <a:t>‹#›</a:t>
            </a:fld>
            <a:endParaRPr lang="en-US" altLang="en-US"/>
          </a:p>
        </p:txBody>
      </p:sp>
    </p:spTree>
    <p:extLst>
      <p:ext uri="{BB962C8B-B14F-4D97-AF65-F5344CB8AC3E}">
        <p14:creationId xmlns:p14="http://schemas.microsoft.com/office/powerpoint/2010/main" val="35292727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166480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noTextEdit="1"/>
          </p:cNvSpPr>
          <p:nvPr>
            <p:ph type="sldImg"/>
          </p:nvPr>
        </p:nvSpPr>
        <p:spPr>
          <a:xfrm>
            <a:off x="1150938" y="692150"/>
            <a:ext cx="4556125" cy="3416300"/>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508535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noTextEdit="1"/>
          </p:cNvSpPr>
          <p:nvPr>
            <p:ph type="sldImg"/>
          </p:nvPr>
        </p:nvSpPr>
        <p:spPr>
          <a:xfrm>
            <a:off x="1150938" y="692150"/>
            <a:ext cx="4556125" cy="3416300"/>
          </a:xfrm>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ltLang="en-US" smtClean="0"/>
          </a:p>
        </p:txBody>
      </p:sp>
    </p:spTree>
    <p:extLst>
      <p:ext uri="{BB962C8B-B14F-4D97-AF65-F5344CB8AC3E}">
        <p14:creationId xmlns:p14="http://schemas.microsoft.com/office/powerpoint/2010/main" val="2234563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noTextEdit="1"/>
          </p:cNvSpPr>
          <p:nvPr>
            <p:ph type="sldImg"/>
          </p:nvPr>
        </p:nvSpPr>
        <p:spPr>
          <a:xfrm>
            <a:off x="1150938" y="692150"/>
            <a:ext cx="4556125" cy="3416300"/>
          </a:xfrm>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78239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noTextEdit="1"/>
          </p:cNvSpPr>
          <p:nvPr>
            <p:ph type="sldImg"/>
          </p:nvPr>
        </p:nvSpPr>
        <p:spPr>
          <a:xfrm>
            <a:off x="1150938" y="692150"/>
            <a:ext cx="4556125" cy="3416300"/>
          </a:xfrm>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ltLang="en-US" smtClean="0"/>
          </a:p>
        </p:txBody>
      </p:sp>
    </p:spTree>
    <p:extLst>
      <p:ext uri="{BB962C8B-B14F-4D97-AF65-F5344CB8AC3E}">
        <p14:creationId xmlns:p14="http://schemas.microsoft.com/office/powerpoint/2010/main" val="2836130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C189E8B-E0F3-494A-87FB-D4A75166D1F1}" type="slidenum">
              <a:rPr lang="en-US" altLang="en-US" smtClean="0"/>
              <a:pPr>
                <a:spcBef>
                  <a:spcPct val="0"/>
                </a:spcBef>
              </a:pPr>
              <a:t>6</a:t>
            </a:fld>
            <a:endParaRPr lang="en-US" altLang="en-US" smtClean="0"/>
          </a:p>
        </p:txBody>
      </p:sp>
    </p:spTree>
    <p:extLst>
      <p:ext uri="{BB962C8B-B14F-4D97-AF65-F5344CB8AC3E}">
        <p14:creationId xmlns:p14="http://schemas.microsoft.com/office/powerpoint/2010/main" val="2211248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noTextEdit="1"/>
          </p:cNvSpPr>
          <p:nvPr>
            <p:ph type="sldImg"/>
          </p:nvPr>
        </p:nvSpPr>
        <p:spPr>
          <a:xfrm>
            <a:off x="1150938" y="692150"/>
            <a:ext cx="4556125" cy="3416300"/>
          </a:xfrm>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734231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F94D9B4-A48E-4C57-83B2-332085E6C112}" type="slidenum">
              <a:rPr lang="en-US" altLang="en-US" smtClean="0"/>
              <a:pPr>
                <a:spcBef>
                  <a:spcPct val="0"/>
                </a:spcBef>
              </a:pPr>
              <a:t>9</a:t>
            </a:fld>
            <a:endParaRPr lang="en-US" altLang="en-US" smtClean="0"/>
          </a:p>
        </p:txBody>
      </p:sp>
    </p:spTree>
    <p:extLst>
      <p:ext uri="{BB962C8B-B14F-4D97-AF65-F5344CB8AC3E}">
        <p14:creationId xmlns:p14="http://schemas.microsoft.com/office/powerpoint/2010/main" val="2791264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095CF4-5608-405A-9CAE-B18F9D0D1567}" type="slidenum">
              <a:rPr lang="en-US" altLang="en-US" smtClean="0"/>
              <a:pPr>
                <a:spcBef>
                  <a:spcPct val="0"/>
                </a:spcBef>
              </a:pPr>
              <a:t>10</a:t>
            </a:fld>
            <a:endParaRPr lang="en-US" altLang="en-US" smtClean="0"/>
          </a:p>
        </p:txBody>
      </p:sp>
    </p:spTree>
    <p:extLst>
      <p:ext uri="{BB962C8B-B14F-4D97-AF65-F5344CB8AC3E}">
        <p14:creationId xmlns:p14="http://schemas.microsoft.com/office/powerpoint/2010/main" val="2437022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noTextEdit="1"/>
          </p:cNvSpPr>
          <p:nvPr>
            <p:ph type="sldImg"/>
          </p:nvPr>
        </p:nvSpPr>
        <p:spPr>
          <a:ln/>
        </p:spPr>
      </p:sp>
      <p:sp>
        <p:nvSpPr>
          <p:cNvPr id="358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ltLang="en-US" smtClean="0"/>
          </a:p>
        </p:txBody>
      </p:sp>
    </p:spTree>
    <p:extLst>
      <p:ext uri="{BB962C8B-B14F-4D97-AF65-F5344CB8AC3E}">
        <p14:creationId xmlns:p14="http://schemas.microsoft.com/office/powerpoint/2010/main" val="2725479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F4EBB79-672A-4294-BA92-612248B4B527}" type="slidenum">
              <a:rPr lang="en-US" altLang="en-US" smtClean="0"/>
              <a:pPr>
                <a:spcBef>
                  <a:spcPct val="0"/>
                </a:spcBef>
              </a:pPr>
              <a:t>12</a:t>
            </a:fld>
            <a:endParaRPr lang="en-US" altLang="en-US" smtClean="0"/>
          </a:p>
        </p:txBody>
      </p:sp>
    </p:spTree>
    <p:extLst>
      <p:ext uri="{BB962C8B-B14F-4D97-AF65-F5344CB8AC3E}">
        <p14:creationId xmlns:p14="http://schemas.microsoft.com/office/powerpoint/2010/main" val="1887156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C2E341-B14E-4DCC-8324-C2EE450C7129}" type="slidenum">
              <a:rPr lang="en-US" altLang="en-US" smtClean="0"/>
              <a:pPr>
                <a:spcBef>
                  <a:spcPct val="0"/>
                </a:spcBef>
              </a:pPr>
              <a:t>14</a:t>
            </a:fld>
            <a:endParaRPr lang="en-US" altLang="en-US" smtClean="0"/>
          </a:p>
        </p:txBody>
      </p:sp>
    </p:spTree>
    <p:extLst>
      <p:ext uri="{BB962C8B-B14F-4D97-AF65-F5344CB8AC3E}">
        <p14:creationId xmlns:p14="http://schemas.microsoft.com/office/powerpoint/2010/main" val="4210671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noTextEdit="1"/>
          </p:cNvSpPr>
          <p:nvPr>
            <p:ph type="sldImg"/>
          </p:nvPr>
        </p:nvSpPr>
        <p:spPr>
          <a:xfrm>
            <a:off x="1150938" y="692150"/>
            <a:ext cx="4556125" cy="3416300"/>
          </a:xfrm>
          <a:ln/>
        </p:spPr>
      </p:sp>
      <p:sp>
        <p:nvSpPr>
          <p:cNvPr id="430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CA" altLang="en-US" smtClean="0"/>
          </a:p>
        </p:txBody>
      </p:sp>
    </p:spTree>
    <p:extLst>
      <p:ext uri="{BB962C8B-B14F-4D97-AF65-F5344CB8AC3E}">
        <p14:creationId xmlns:p14="http://schemas.microsoft.com/office/powerpoint/2010/main" val="1406759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noTextEdit="1"/>
          </p:cNvSpPr>
          <p:nvPr>
            <p:ph type="sldImg"/>
          </p:nvPr>
        </p:nvSpPr>
        <p:spPr>
          <a:xfrm>
            <a:off x="1150938" y="692150"/>
            <a:ext cx="4556125" cy="3416300"/>
          </a:xfrm>
          <a:ln/>
        </p:spPr>
      </p:sp>
      <p:sp>
        <p:nvSpPr>
          <p:cNvPr id="460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58380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noTextEdit="1"/>
          </p:cNvSpPr>
          <p:nvPr>
            <p:ph type="sldImg"/>
          </p:nvPr>
        </p:nvSpPr>
        <p:spPr>
          <a:xfrm>
            <a:off x="1150938" y="692150"/>
            <a:ext cx="4556125" cy="3416300"/>
          </a:xfrm>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57188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03CA52-1E01-4288-9D09-6FBD48BA9844}" type="slidenum">
              <a:rPr lang="en-US" altLang="en-US" smtClean="0"/>
              <a:pPr>
                <a:spcBef>
                  <a:spcPct val="0"/>
                </a:spcBef>
              </a:pPr>
              <a:t>20</a:t>
            </a:fld>
            <a:endParaRPr lang="en-US" altLang="en-US" smtClean="0"/>
          </a:p>
        </p:txBody>
      </p:sp>
    </p:spTree>
    <p:extLst>
      <p:ext uri="{BB962C8B-B14F-4D97-AF65-F5344CB8AC3E}">
        <p14:creationId xmlns:p14="http://schemas.microsoft.com/office/powerpoint/2010/main" val="854388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noTextEdit="1"/>
          </p:cNvSpPr>
          <p:nvPr>
            <p:ph type="sldImg"/>
          </p:nvPr>
        </p:nvSpPr>
        <p:spPr>
          <a:xfrm>
            <a:off x="1150938" y="692150"/>
            <a:ext cx="4556125" cy="3416300"/>
          </a:xfrm>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000878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noTextEdit="1"/>
          </p:cNvSpPr>
          <p:nvPr>
            <p:ph type="sldImg"/>
          </p:nvPr>
        </p:nvSpPr>
        <p:spPr>
          <a:xfrm>
            <a:off x="1150938" y="692150"/>
            <a:ext cx="4556125" cy="3416300"/>
          </a:xfrm>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232135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734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10</a:t>
            </a:r>
          </a:p>
        </p:txBody>
      </p:sp>
      <p:sp>
        <p:nvSpPr>
          <p:cNvPr id="5734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734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7350" name="Rectangle 6"/>
          <p:cNvSpPr>
            <a:spLocks noChangeArrowheads="1" noTextEdit="1"/>
          </p:cNvSpPr>
          <p:nvPr>
            <p:ph type="sldImg"/>
          </p:nvPr>
        </p:nvSpPr>
        <p:spPr>
          <a:xfrm>
            <a:off x="1150938" y="692150"/>
            <a:ext cx="4556125" cy="3416300"/>
          </a:xfrm>
          <a:ln w="12700" cap="flat">
            <a:solidFill>
              <a:schemeClr val="tx1"/>
            </a:solidFill>
          </a:ln>
        </p:spPr>
      </p:sp>
      <p:sp>
        <p:nvSpPr>
          <p:cNvPr id="57351"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805843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939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14</a:t>
            </a:r>
          </a:p>
        </p:txBody>
      </p:sp>
      <p:sp>
        <p:nvSpPr>
          <p:cNvPr id="5939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939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59398" name="Rectangle 6"/>
          <p:cNvSpPr>
            <a:spLocks noChangeArrowheads="1" noTextEdit="1"/>
          </p:cNvSpPr>
          <p:nvPr>
            <p:ph type="sldImg"/>
          </p:nvPr>
        </p:nvSpPr>
        <p:spPr>
          <a:xfrm>
            <a:off x="1150938" y="692150"/>
            <a:ext cx="4556125" cy="3416300"/>
          </a:xfrm>
          <a:ln w="12700" cap="flat">
            <a:solidFill>
              <a:schemeClr val="tx1"/>
            </a:solidFill>
          </a:ln>
        </p:spPr>
      </p:sp>
      <p:sp>
        <p:nvSpPr>
          <p:cNvPr id="5939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089442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144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15</a:t>
            </a:r>
          </a:p>
        </p:txBody>
      </p:sp>
      <p:sp>
        <p:nvSpPr>
          <p:cNvPr id="6144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144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1446" name="Rectangle 6"/>
          <p:cNvSpPr>
            <a:spLocks noChangeArrowheads="1" noTextEdit="1"/>
          </p:cNvSpPr>
          <p:nvPr>
            <p:ph type="sldImg"/>
          </p:nvPr>
        </p:nvSpPr>
        <p:spPr>
          <a:xfrm>
            <a:off x="1150938" y="692150"/>
            <a:ext cx="4556125" cy="3416300"/>
          </a:xfrm>
          <a:ln w="12700" cap="flat">
            <a:solidFill>
              <a:schemeClr val="tx1"/>
            </a:solidFill>
          </a:ln>
        </p:spPr>
      </p:sp>
      <p:sp>
        <p:nvSpPr>
          <p:cNvPr id="6144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2283888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5CC27B-78C1-4AB6-829D-D6180BD4B387}" type="slidenum">
              <a:rPr lang="en-US" altLang="en-US" smtClean="0"/>
              <a:pPr>
                <a:spcBef>
                  <a:spcPct val="0"/>
                </a:spcBef>
              </a:pPr>
              <a:t>26</a:t>
            </a:fld>
            <a:endParaRPr lang="en-US" altLang="en-US" smtClean="0"/>
          </a:p>
        </p:txBody>
      </p:sp>
    </p:spTree>
    <p:extLst>
      <p:ext uri="{BB962C8B-B14F-4D97-AF65-F5344CB8AC3E}">
        <p14:creationId xmlns:p14="http://schemas.microsoft.com/office/powerpoint/2010/main" val="917967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553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r>
              <a:rPr lang="en-US" altLang="en-US" sz="1000" i="1"/>
              <a:t>17</a:t>
            </a:r>
          </a:p>
        </p:txBody>
      </p:sp>
      <p:sp>
        <p:nvSpPr>
          <p:cNvPr id="6554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554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endParaRPr lang="en-US" altLang="en-US" sz="1800">
              <a:latin typeface="Arial" panose="020B0604020202020204" pitchFamily="34" charset="0"/>
            </a:endParaRPr>
          </a:p>
        </p:txBody>
      </p:sp>
      <p:sp>
        <p:nvSpPr>
          <p:cNvPr id="65542" name="Rectangle 6"/>
          <p:cNvSpPr>
            <a:spLocks noChangeArrowheads="1" noTextEdit="1"/>
          </p:cNvSpPr>
          <p:nvPr>
            <p:ph type="sldImg"/>
          </p:nvPr>
        </p:nvSpPr>
        <p:spPr>
          <a:xfrm>
            <a:off x="1150938" y="692150"/>
            <a:ext cx="4556125" cy="3416300"/>
          </a:xfrm>
          <a:ln w="12700" cap="flat">
            <a:solidFill>
              <a:schemeClr val="tx1"/>
            </a:solidFill>
          </a:ln>
        </p:spPr>
      </p:sp>
      <p:sp>
        <p:nvSpPr>
          <p:cNvPr id="65543"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en-US" smtClean="0"/>
          </a:p>
        </p:txBody>
      </p:sp>
    </p:spTree>
    <p:extLst>
      <p:ext uri="{BB962C8B-B14F-4D97-AF65-F5344CB8AC3E}">
        <p14:creationId xmlns:p14="http://schemas.microsoft.com/office/powerpoint/2010/main" val="3842934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4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8704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pPr>
              <a:defRPr/>
            </a:pPr>
            <a:fld id="{691FEC16-CBE7-4DF5-AD8B-688AD39C4E2E}" type="slidenum">
              <a:rPr lang="en-US" altLang="en-US"/>
              <a:pPr>
                <a:defRPr/>
              </a:pPr>
              <a:t>‹#›</a:t>
            </a:fld>
            <a:endParaRPr lang="en-US" altLang="en-US"/>
          </a:p>
        </p:txBody>
      </p:sp>
    </p:spTree>
    <p:extLst>
      <p:ext uri="{BB962C8B-B14F-4D97-AF65-F5344CB8AC3E}">
        <p14:creationId xmlns:p14="http://schemas.microsoft.com/office/powerpoint/2010/main" val="79833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70242CBE-C731-48A5-9825-E70960AC2879}" type="slidenum">
              <a:rPr lang="en-US" altLang="en-US"/>
              <a:pPr>
                <a:defRPr/>
              </a:pPr>
              <a:t>‹#›</a:t>
            </a:fld>
            <a:endParaRPr lang="en-US" altLang="en-US"/>
          </a:p>
        </p:txBody>
      </p:sp>
    </p:spTree>
    <p:extLst>
      <p:ext uri="{BB962C8B-B14F-4D97-AF65-F5344CB8AC3E}">
        <p14:creationId xmlns:p14="http://schemas.microsoft.com/office/powerpoint/2010/main" val="341508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4EA81A1E-5379-4972-A227-B6294AB56BF0}" type="slidenum">
              <a:rPr lang="en-US" altLang="en-US"/>
              <a:pPr>
                <a:defRPr/>
              </a:pPr>
              <a:t>‹#›</a:t>
            </a:fld>
            <a:endParaRPr lang="en-US" altLang="en-US"/>
          </a:p>
        </p:txBody>
      </p:sp>
    </p:spTree>
    <p:extLst>
      <p:ext uri="{BB962C8B-B14F-4D97-AF65-F5344CB8AC3E}">
        <p14:creationId xmlns:p14="http://schemas.microsoft.com/office/powerpoint/2010/main" val="37557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067C7930-BAF5-4696-A1A9-34A72D74C486}" type="slidenum">
              <a:rPr lang="en-US" altLang="en-US"/>
              <a:pPr>
                <a:defRPr/>
              </a:pPr>
              <a:t>‹#›</a:t>
            </a:fld>
            <a:endParaRPr lang="en-US" altLang="en-US"/>
          </a:p>
        </p:txBody>
      </p:sp>
    </p:spTree>
    <p:extLst>
      <p:ext uri="{BB962C8B-B14F-4D97-AF65-F5344CB8AC3E}">
        <p14:creationId xmlns:p14="http://schemas.microsoft.com/office/powerpoint/2010/main" val="386834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pPr>
              <a:defRPr/>
            </a:pPr>
            <a:fld id="{0F283882-D32F-49A3-BEB2-9CFC5CE6FFB6}" type="slidenum">
              <a:rPr lang="en-US" altLang="en-US"/>
              <a:pPr>
                <a:defRPr/>
              </a:pPr>
              <a:t>‹#›</a:t>
            </a:fld>
            <a:endParaRPr lang="en-US" altLang="en-US"/>
          </a:p>
        </p:txBody>
      </p:sp>
    </p:spTree>
    <p:extLst>
      <p:ext uri="{BB962C8B-B14F-4D97-AF65-F5344CB8AC3E}">
        <p14:creationId xmlns:p14="http://schemas.microsoft.com/office/powerpoint/2010/main" val="2917821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pPr>
              <a:defRPr/>
            </a:pPr>
            <a:fld id="{16126CE4-F52F-4B74-84A1-4D9FEF5B4DA2}" type="slidenum">
              <a:rPr lang="en-US" altLang="en-US"/>
              <a:pPr>
                <a:defRPr/>
              </a:pPr>
              <a:t>‹#›</a:t>
            </a:fld>
            <a:endParaRPr lang="en-US" altLang="en-US"/>
          </a:p>
        </p:txBody>
      </p:sp>
    </p:spTree>
    <p:extLst>
      <p:ext uri="{BB962C8B-B14F-4D97-AF65-F5344CB8AC3E}">
        <p14:creationId xmlns:p14="http://schemas.microsoft.com/office/powerpoint/2010/main" val="2858046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pPr>
              <a:defRPr/>
            </a:pPr>
            <a:fld id="{EE7CAA45-EC54-48F6-B776-CDF36FA4BB5E}" type="slidenum">
              <a:rPr lang="en-US" altLang="en-US"/>
              <a:pPr>
                <a:defRPr/>
              </a:pPr>
              <a:t>‹#›</a:t>
            </a:fld>
            <a:endParaRPr lang="en-US" altLang="en-US"/>
          </a:p>
        </p:txBody>
      </p:sp>
    </p:spTree>
    <p:extLst>
      <p:ext uri="{BB962C8B-B14F-4D97-AF65-F5344CB8AC3E}">
        <p14:creationId xmlns:p14="http://schemas.microsoft.com/office/powerpoint/2010/main" val="230151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08F16F49-6968-405D-B259-415CF9078D36}" type="slidenum">
              <a:rPr lang="en-US" altLang="en-US"/>
              <a:pPr>
                <a:defRPr/>
              </a:pPr>
              <a:t>‹#›</a:t>
            </a:fld>
            <a:endParaRPr lang="en-US" altLang="en-US"/>
          </a:p>
        </p:txBody>
      </p:sp>
    </p:spTree>
    <p:extLst>
      <p:ext uri="{BB962C8B-B14F-4D97-AF65-F5344CB8AC3E}">
        <p14:creationId xmlns:p14="http://schemas.microsoft.com/office/powerpoint/2010/main" val="2939216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pPr>
              <a:defRPr/>
            </a:pPr>
            <a:fld id="{3F00BD22-B60B-4FDC-B125-BBBC51861B42}" type="slidenum">
              <a:rPr lang="en-US" altLang="en-US"/>
              <a:pPr>
                <a:defRPr/>
              </a:pPr>
              <a:t>‹#›</a:t>
            </a:fld>
            <a:endParaRPr lang="en-US" altLang="en-US"/>
          </a:p>
        </p:txBody>
      </p:sp>
    </p:spTree>
    <p:extLst>
      <p:ext uri="{BB962C8B-B14F-4D97-AF65-F5344CB8AC3E}">
        <p14:creationId xmlns:p14="http://schemas.microsoft.com/office/powerpoint/2010/main" val="888117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FDE88D82-F07F-4A22-AD20-94FE5E23A019}" type="slidenum">
              <a:rPr lang="en-US" altLang="en-US"/>
              <a:pPr>
                <a:defRPr/>
              </a:pPr>
              <a:t>‹#›</a:t>
            </a:fld>
            <a:endParaRPr lang="en-US" altLang="en-US"/>
          </a:p>
        </p:txBody>
      </p:sp>
    </p:spTree>
    <p:extLst>
      <p:ext uri="{BB962C8B-B14F-4D97-AF65-F5344CB8AC3E}">
        <p14:creationId xmlns:p14="http://schemas.microsoft.com/office/powerpoint/2010/main" val="2025623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CA" altLang="en-US"/>
              <a:t>Fundamentals of Futures and Options Markets, 9th Ed, Ch 2,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7F86E777-F3DA-4BF7-A219-31668FB8A032}" type="slidenum">
              <a:rPr lang="en-US" altLang="en-US"/>
              <a:pPr>
                <a:defRPr/>
              </a:pPr>
              <a:t>‹#›</a:t>
            </a:fld>
            <a:endParaRPr lang="en-US" altLang="en-US"/>
          </a:p>
        </p:txBody>
      </p:sp>
    </p:spTree>
    <p:extLst>
      <p:ext uri="{BB962C8B-B14F-4D97-AF65-F5344CB8AC3E}">
        <p14:creationId xmlns:p14="http://schemas.microsoft.com/office/powerpoint/2010/main" val="300857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8602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8602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i="1">
                <a:latin typeface="Arial" charset="0"/>
              </a:defRPr>
            </a:lvl1pPr>
          </a:lstStyle>
          <a:p>
            <a:pPr>
              <a:defRPr/>
            </a:pPr>
            <a:r>
              <a:rPr lang="en-CA" altLang="en-US"/>
              <a:t>Fundamentals of Futures and Options Markets, 9th Ed, Ch 2, Copyright © John C. Hull 2016</a:t>
            </a:r>
            <a:endParaRPr lang="en-US" altLang="en-US"/>
          </a:p>
        </p:txBody>
      </p:sp>
      <p:sp>
        <p:nvSpPr>
          <p:cNvPr id="8602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a:lvl1pPr>
          </a:lstStyle>
          <a:p>
            <a:pPr>
              <a:defRPr/>
            </a:pPr>
            <a:fld id="{852468C5-3BFF-45B3-9874-9290A56819A2}"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11"/>
          </p:nvPr>
        </p:nvSpPr>
        <p:spPr>
          <a:xfrm>
            <a:off x="323850" y="6248400"/>
            <a:ext cx="7605713"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15363" name="Rectangle 4"/>
          <p:cNvSpPr>
            <a:spLocks noGrp="1" noChangeArrowheads="1"/>
          </p:cNvSpPr>
          <p:nvPr>
            <p:ph type="ctrTitle"/>
          </p:nvPr>
        </p:nvSpPr>
        <p:spPr/>
        <p:txBody>
          <a:bodyPr/>
          <a:lstStyle/>
          <a:p>
            <a:pPr eaLnBrk="1" hangingPunct="1"/>
            <a:r>
              <a:rPr lang="en-US" altLang="en-US" smtClean="0"/>
              <a:t>Futures Markets and Central Counterparties</a:t>
            </a:r>
          </a:p>
        </p:txBody>
      </p:sp>
      <p:sp>
        <p:nvSpPr>
          <p:cNvPr id="15364" name="Rectangle 5"/>
          <p:cNvSpPr>
            <a:spLocks noGrp="1" noChangeArrowheads="1"/>
          </p:cNvSpPr>
          <p:nvPr>
            <p:ph type="subTitle" idx="1"/>
          </p:nvPr>
        </p:nvSpPr>
        <p:spPr/>
        <p:txBody>
          <a:bodyPr/>
          <a:lstStyle/>
          <a:p>
            <a:pPr eaLnBrk="1" hangingPunct="1"/>
            <a:r>
              <a:rPr lang="en-US" altLang="en-US" smtClean="0"/>
              <a:t>Chapter 2</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8F70C1B-85A2-47A5-B845-26040B6A9B9E}" type="slidenum">
              <a:rPr lang="en-US" altLang="en-US" sz="1800" smtClean="0"/>
              <a:pPr>
                <a:spcBef>
                  <a:spcPct val="0"/>
                </a:spcBef>
                <a:buClrTx/>
                <a:buSzTx/>
                <a:buFontTx/>
                <a:buNone/>
              </a:pPr>
              <a:t>1</a:t>
            </a:fld>
            <a:endParaRPr lang="en-US" altLang="en-US" sz="180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1741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741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17413" name="Rectangle 4"/>
          <p:cNvSpPr>
            <a:spLocks noGrp="1" noChangeArrowheads="1"/>
          </p:cNvSpPr>
          <p:nvPr>
            <p:ph type="title"/>
          </p:nvPr>
        </p:nvSpPr>
        <p:spPr>
          <a:noFill/>
        </p:spPr>
        <p:txBody>
          <a:bodyPr lIns="90488" tIns="44450" rIns="90488" bIns="44450" anchor="ctr"/>
          <a:lstStyle/>
          <a:p>
            <a:pPr eaLnBrk="1" hangingPunct="1"/>
            <a:r>
              <a:rPr lang="en-US" altLang="en-US" smtClean="0"/>
              <a:t>Futures Contracts</a:t>
            </a:r>
          </a:p>
        </p:txBody>
      </p:sp>
      <p:sp>
        <p:nvSpPr>
          <p:cNvPr id="17414" name="Rectangle 5"/>
          <p:cNvSpPr>
            <a:spLocks noGrp="1" noChangeArrowheads="1"/>
          </p:cNvSpPr>
          <p:nvPr>
            <p:ph type="body" idx="1"/>
          </p:nvPr>
        </p:nvSpPr>
        <p:spPr>
          <a:xfrm>
            <a:off x="685800" y="1628775"/>
            <a:ext cx="8458200" cy="4467225"/>
          </a:xfrm>
          <a:noFill/>
        </p:spPr>
        <p:txBody>
          <a:bodyPr lIns="90488" tIns="44450" rIns="90488" bIns="44450"/>
          <a:lstStyle/>
          <a:p>
            <a:pPr eaLnBrk="1" hangingPunct="1"/>
            <a:r>
              <a:rPr lang="en-US" altLang="en-US" smtClean="0"/>
              <a:t>Available on a wide range of underlyings</a:t>
            </a:r>
          </a:p>
          <a:p>
            <a:pPr eaLnBrk="1" hangingPunct="1"/>
            <a:r>
              <a:rPr lang="en-US" altLang="en-US" smtClean="0"/>
              <a:t>Exchange traded</a:t>
            </a:r>
          </a:p>
          <a:p>
            <a:pPr eaLnBrk="1" hangingPunct="1"/>
            <a:r>
              <a:rPr lang="en-US" altLang="en-US" smtClean="0"/>
              <a:t>Specifications need to be defined:</a:t>
            </a:r>
          </a:p>
          <a:p>
            <a:pPr lvl="1" eaLnBrk="1" hangingPunct="1"/>
            <a:r>
              <a:rPr lang="en-US" altLang="en-US" smtClean="0"/>
              <a:t>What can be delivered,</a:t>
            </a:r>
          </a:p>
          <a:p>
            <a:pPr lvl="1" eaLnBrk="1" hangingPunct="1"/>
            <a:r>
              <a:rPr lang="en-US" altLang="en-US" smtClean="0"/>
              <a:t>Where it can be delivered,</a:t>
            </a:r>
          </a:p>
          <a:p>
            <a:pPr lvl="1" eaLnBrk="1" hangingPunct="1"/>
            <a:r>
              <a:rPr lang="en-US" altLang="en-US" smtClean="0"/>
              <a:t>When it can be delivered</a:t>
            </a:r>
          </a:p>
          <a:p>
            <a:pPr eaLnBrk="1" hangingPunct="1"/>
            <a:r>
              <a:rPr lang="en-US" altLang="en-US" smtClean="0"/>
              <a:t>Settled daily</a:t>
            </a:r>
          </a:p>
        </p:txBody>
      </p:sp>
      <p:sp>
        <p:nvSpPr>
          <p:cNvPr id="1741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33C35DB-D2EC-4173-90DC-58DCDABD8E2D}" type="slidenum">
              <a:rPr lang="en-US" altLang="en-US" sz="1800" smtClean="0"/>
              <a:pPr>
                <a:spcBef>
                  <a:spcPct val="0"/>
                </a:spcBef>
                <a:buClrTx/>
                <a:buSzTx/>
                <a:buFontTx/>
                <a:buNone/>
              </a:pPr>
              <a:t>2</a:t>
            </a:fld>
            <a:endParaRPr lang="en-US" altLang="en-US" sz="1800" smtClean="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6838" y="333375"/>
            <a:ext cx="8135937" cy="1143000"/>
          </a:xfrm>
        </p:spPr>
        <p:txBody>
          <a:bodyPr lIns="92075" tIns="46038" rIns="92075" bIns="46038">
            <a:normAutofit/>
          </a:bodyPr>
          <a:lstStyle/>
          <a:p>
            <a:pPr eaLnBrk="1" fontAlgn="auto" hangingPunct="1">
              <a:spcAft>
                <a:spcPts val="0"/>
              </a:spcAft>
              <a:defRPr/>
            </a:pPr>
            <a:r>
              <a:rPr lang="en-US" dirty="0">
                <a:solidFill>
                  <a:schemeClr val="tx2">
                    <a:satMod val="130000"/>
                  </a:schemeClr>
                </a:solidFill>
              </a:rPr>
              <a:t>Convergence of Futures to </a:t>
            </a:r>
            <a:r>
              <a:rPr lang="en-US" dirty="0" smtClean="0">
                <a:solidFill>
                  <a:schemeClr val="tx2">
                    <a:satMod val="130000"/>
                  </a:schemeClr>
                </a:solidFill>
              </a:rPr>
              <a:t>Spot </a:t>
            </a:r>
            <a:r>
              <a:rPr lang="en-US" sz="2200" dirty="0" smtClean="0">
                <a:solidFill>
                  <a:schemeClr val="tx2">
                    <a:satMod val="130000"/>
                  </a:schemeClr>
                </a:solidFill>
              </a:rPr>
              <a:t>(Figure</a:t>
            </a:r>
            <a:r>
              <a:rPr lang="en-US" dirty="0" smtClean="0">
                <a:solidFill>
                  <a:schemeClr val="tx2">
                    <a:satMod val="130000"/>
                  </a:schemeClr>
                </a:solidFill>
              </a:rPr>
              <a:t> </a:t>
            </a:r>
            <a:r>
              <a:rPr lang="en-US" sz="2200" dirty="0">
                <a:solidFill>
                  <a:schemeClr val="tx2">
                    <a:satMod val="130000"/>
                  </a:schemeClr>
                </a:solidFill>
              </a:rPr>
              <a:t>2.1, page </a:t>
            </a:r>
            <a:r>
              <a:rPr lang="en-US" sz="2200" dirty="0" smtClean="0">
                <a:solidFill>
                  <a:schemeClr val="tx2">
                    <a:satMod val="130000"/>
                  </a:schemeClr>
                </a:solidFill>
              </a:rPr>
              <a:t>28)</a:t>
            </a:r>
            <a:endParaRPr lang="en-US" dirty="0">
              <a:solidFill>
                <a:schemeClr val="tx2">
                  <a:satMod val="130000"/>
                </a:schemeClr>
              </a:solidFill>
            </a:endParaRPr>
          </a:p>
        </p:txBody>
      </p:sp>
      <p:sp>
        <p:nvSpPr>
          <p:cNvPr id="19459" name="Rectangle 3"/>
          <p:cNvSpPr>
            <a:spLocks noGrp="1" noChangeArrowheads="1"/>
          </p:cNvSpPr>
          <p:nvPr>
            <p:ph idx="1"/>
          </p:nvPr>
        </p:nvSpPr>
        <p:spPr>
          <a:xfrm>
            <a:off x="4267200" y="1447800"/>
            <a:ext cx="4667250" cy="4800600"/>
          </a:xfrm>
        </p:spPr>
        <p:txBody>
          <a:bodyPr lIns="92075" tIns="46038" rIns="92075" bIns="46038"/>
          <a:lstStyle/>
          <a:p>
            <a:pPr eaLnBrk="1" hangingPunct="1">
              <a:buFont typeface="Wingdings" panose="05000000000000000000" pitchFamily="2" charset="2"/>
              <a:buNone/>
            </a:pPr>
            <a:r>
              <a:rPr lang="en-US" altLang="en-US" smtClean="0">
                <a:cs typeface="Arial" panose="020B0604020202020204" pitchFamily="34" charset="0"/>
              </a:rPr>
              <a:t> </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57B8397-B528-4A45-A032-76B44F1D5E56}" type="slidenum">
              <a:rPr lang="en-US" altLang="en-US" sz="1800" smtClean="0"/>
              <a:pPr>
                <a:spcBef>
                  <a:spcPct val="0"/>
                </a:spcBef>
                <a:buClrTx/>
                <a:buSzTx/>
                <a:buFontTx/>
                <a:buNone/>
              </a:pPr>
              <a:t>3</a:t>
            </a:fld>
            <a:endParaRPr lang="en-US" altLang="en-US" sz="1800" smtClean="0"/>
          </a:p>
        </p:txBody>
      </p:sp>
      <p:grpSp>
        <p:nvGrpSpPr>
          <p:cNvPr id="19462" name="Group 38"/>
          <p:cNvGrpSpPr>
            <a:grpSpLocks/>
          </p:cNvGrpSpPr>
          <p:nvPr/>
        </p:nvGrpSpPr>
        <p:grpSpPr bwMode="auto">
          <a:xfrm>
            <a:off x="1905000" y="2552700"/>
            <a:ext cx="6324600" cy="2857500"/>
            <a:chOff x="781050" y="2552700"/>
            <a:chExt cx="7705725" cy="3603625"/>
          </a:xfrm>
        </p:grpSpPr>
        <p:sp>
          <p:nvSpPr>
            <p:cNvPr id="19463" name="Line 4"/>
            <p:cNvSpPr>
              <a:spLocks noChangeShapeType="1"/>
            </p:cNvSpPr>
            <p:nvPr/>
          </p:nvSpPr>
          <p:spPr bwMode="auto">
            <a:xfrm>
              <a:off x="781050" y="2552700"/>
              <a:ext cx="0" cy="3048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4" name="Line 5"/>
            <p:cNvSpPr>
              <a:spLocks noChangeShapeType="1"/>
            </p:cNvSpPr>
            <p:nvPr/>
          </p:nvSpPr>
          <p:spPr bwMode="auto">
            <a:xfrm>
              <a:off x="781050" y="5600700"/>
              <a:ext cx="33528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5" name="Rectangle 6"/>
            <p:cNvSpPr>
              <a:spLocks noChangeArrowheads="1"/>
            </p:cNvSpPr>
            <p:nvPr/>
          </p:nvSpPr>
          <p:spPr bwMode="auto">
            <a:xfrm>
              <a:off x="3508375" y="51958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800">
                  <a:latin typeface="Times New Roman" panose="02020603050405020304" pitchFamily="18" charset="0"/>
                </a:rPr>
                <a:t>Time</a:t>
              </a:r>
            </a:p>
          </p:txBody>
        </p:sp>
        <p:grpSp>
          <p:nvGrpSpPr>
            <p:cNvPr id="19466" name="Group 7"/>
            <p:cNvGrpSpPr>
              <a:grpSpLocks/>
            </p:cNvGrpSpPr>
            <p:nvPr/>
          </p:nvGrpSpPr>
          <p:grpSpPr bwMode="auto">
            <a:xfrm>
              <a:off x="992188" y="3240088"/>
              <a:ext cx="2644775" cy="1566862"/>
              <a:chOff x="625" y="2041"/>
              <a:chExt cx="1666" cy="987"/>
            </a:xfrm>
          </p:grpSpPr>
          <p:grpSp>
            <p:nvGrpSpPr>
              <p:cNvPr id="19486" name="Group 8"/>
              <p:cNvGrpSpPr>
                <a:grpSpLocks/>
              </p:cNvGrpSpPr>
              <p:nvPr/>
            </p:nvGrpSpPr>
            <p:grpSpPr bwMode="auto">
              <a:xfrm>
                <a:off x="766" y="2041"/>
                <a:ext cx="1521" cy="680"/>
                <a:chOff x="766" y="2041"/>
                <a:chExt cx="1521" cy="680"/>
              </a:xfrm>
            </p:grpSpPr>
            <p:sp>
              <p:nvSpPr>
                <p:cNvPr id="19492" name="Arc 9"/>
                <p:cNvSpPr>
                  <a:spLocks/>
                </p:cNvSpPr>
                <p:nvPr/>
              </p:nvSpPr>
              <p:spPr bwMode="auto">
                <a:xfrm rot="-2820000">
                  <a:off x="766"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3" name="Arc 10"/>
                <p:cNvSpPr>
                  <a:spLocks/>
                </p:cNvSpPr>
                <p:nvPr/>
              </p:nvSpPr>
              <p:spPr bwMode="auto">
                <a:xfrm rot="2820000">
                  <a:off x="1759"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4" name="Line 11"/>
                <p:cNvSpPr>
                  <a:spLocks noChangeShapeType="1"/>
                </p:cNvSpPr>
                <p:nvPr/>
              </p:nvSpPr>
              <p:spPr bwMode="auto">
                <a:xfrm>
                  <a:off x="1579" y="2364"/>
                  <a:ext cx="75" cy="7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9487" name="Group 12"/>
              <p:cNvGrpSpPr>
                <a:grpSpLocks/>
              </p:cNvGrpSpPr>
              <p:nvPr/>
            </p:nvGrpSpPr>
            <p:grpSpPr bwMode="auto">
              <a:xfrm>
                <a:off x="778" y="2283"/>
                <a:ext cx="1513" cy="745"/>
                <a:chOff x="778" y="2283"/>
                <a:chExt cx="1513" cy="745"/>
              </a:xfrm>
            </p:grpSpPr>
            <p:sp>
              <p:nvSpPr>
                <p:cNvPr id="19489" name="Arc 13"/>
                <p:cNvSpPr>
                  <a:spLocks/>
                </p:cNvSpPr>
                <p:nvPr/>
              </p:nvSpPr>
              <p:spPr bwMode="auto">
                <a:xfrm rot="-3660000">
                  <a:off x="778"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0" name="Arc 14"/>
                <p:cNvSpPr>
                  <a:spLocks/>
                </p:cNvSpPr>
                <p:nvPr/>
              </p:nvSpPr>
              <p:spPr bwMode="auto">
                <a:xfrm rot="1980000">
                  <a:off x="1763"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91" name="Line 15"/>
                <p:cNvSpPr>
                  <a:spLocks noChangeShapeType="1"/>
                </p:cNvSpPr>
                <p:nvPr/>
              </p:nvSpPr>
              <p:spPr bwMode="auto">
                <a:xfrm>
                  <a:off x="1573" y="2563"/>
                  <a:ext cx="92" cy="5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9488" name="Line 16"/>
              <p:cNvSpPr>
                <a:spLocks noChangeShapeType="1"/>
              </p:cNvSpPr>
              <p:nvPr/>
            </p:nvSpPr>
            <p:spPr bwMode="auto">
              <a:xfrm flipH="1">
                <a:off x="625" y="2826"/>
                <a:ext cx="39" cy="6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9467" name="Line 17"/>
            <p:cNvSpPr>
              <a:spLocks noChangeShapeType="1"/>
            </p:cNvSpPr>
            <p:nvPr/>
          </p:nvSpPr>
          <p:spPr bwMode="auto">
            <a:xfrm>
              <a:off x="5067300" y="2552700"/>
              <a:ext cx="0" cy="3048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8" name="Line 18"/>
            <p:cNvSpPr>
              <a:spLocks noChangeShapeType="1"/>
            </p:cNvSpPr>
            <p:nvPr/>
          </p:nvSpPr>
          <p:spPr bwMode="auto">
            <a:xfrm>
              <a:off x="5067300" y="5600700"/>
              <a:ext cx="33528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9469" name="Rectangle 19"/>
            <p:cNvSpPr>
              <a:spLocks noChangeArrowheads="1"/>
            </p:cNvSpPr>
            <p:nvPr/>
          </p:nvSpPr>
          <p:spPr bwMode="auto">
            <a:xfrm>
              <a:off x="7794625" y="51958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800">
                  <a:latin typeface="Times New Roman" panose="02020603050405020304" pitchFamily="18" charset="0"/>
                </a:rPr>
                <a:t>Time</a:t>
              </a:r>
            </a:p>
          </p:txBody>
        </p:sp>
        <p:grpSp>
          <p:nvGrpSpPr>
            <p:cNvPr id="19470" name="Group 20"/>
            <p:cNvGrpSpPr>
              <a:grpSpLocks/>
            </p:cNvGrpSpPr>
            <p:nvPr/>
          </p:nvGrpSpPr>
          <p:grpSpPr bwMode="auto">
            <a:xfrm>
              <a:off x="5319713" y="3240088"/>
              <a:ext cx="2644775" cy="1566862"/>
              <a:chOff x="3351" y="2041"/>
              <a:chExt cx="1666" cy="987"/>
            </a:xfrm>
          </p:grpSpPr>
          <p:grpSp>
            <p:nvGrpSpPr>
              <p:cNvPr id="19477" name="Group 21"/>
              <p:cNvGrpSpPr>
                <a:grpSpLocks/>
              </p:cNvGrpSpPr>
              <p:nvPr/>
            </p:nvGrpSpPr>
            <p:grpSpPr bwMode="auto">
              <a:xfrm>
                <a:off x="3492" y="2041"/>
                <a:ext cx="1521" cy="680"/>
                <a:chOff x="3492" y="2041"/>
                <a:chExt cx="1521" cy="680"/>
              </a:xfrm>
            </p:grpSpPr>
            <p:sp>
              <p:nvSpPr>
                <p:cNvPr id="19483" name="Arc 22"/>
                <p:cNvSpPr>
                  <a:spLocks/>
                </p:cNvSpPr>
                <p:nvPr/>
              </p:nvSpPr>
              <p:spPr bwMode="auto">
                <a:xfrm rot="-2820000">
                  <a:off x="3492"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84" name="Arc 23"/>
                <p:cNvSpPr>
                  <a:spLocks/>
                </p:cNvSpPr>
                <p:nvPr/>
              </p:nvSpPr>
              <p:spPr bwMode="auto">
                <a:xfrm rot="2820000">
                  <a:off x="4485"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85" name="Line 24"/>
                <p:cNvSpPr>
                  <a:spLocks noChangeShapeType="1"/>
                </p:cNvSpPr>
                <p:nvPr/>
              </p:nvSpPr>
              <p:spPr bwMode="auto">
                <a:xfrm>
                  <a:off x="4305" y="2364"/>
                  <a:ext cx="75" cy="7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9478" name="Group 25"/>
              <p:cNvGrpSpPr>
                <a:grpSpLocks/>
              </p:cNvGrpSpPr>
              <p:nvPr/>
            </p:nvGrpSpPr>
            <p:grpSpPr bwMode="auto">
              <a:xfrm>
                <a:off x="3504" y="2283"/>
                <a:ext cx="1513" cy="745"/>
                <a:chOff x="3504" y="2283"/>
                <a:chExt cx="1513" cy="745"/>
              </a:xfrm>
            </p:grpSpPr>
            <p:sp>
              <p:nvSpPr>
                <p:cNvPr id="19480" name="Arc 26"/>
                <p:cNvSpPr>
                  <a:spLocks/>
                </p:cNvSpPr>
                <p:nvPr/>
              </p:nvSpPr>
              <p:spPr bwMode="auto">
                <a:xfrm rot="-3660000">
                  <a:off x="3504"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81" name="Arc 27"/>
                <p:cNvSpPr>
                  <a:spLocks/>
                </p:cNvSpPr>
                <p:nvPr/>
              </p:nvSpPr>
              <p:spPr bwMode="auto">
                <a:xfrm rot="1980000">
                  <a:off x="4489"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482" name="Line 28"/>
                <p:cNvSpPr>
                  <a:spLocks noChangeShapeType="1"/>
                </p:cNvSpPr>
                <p:nvPr/>
              </p:nvSpPr>
              <p:spPr bwMode="auto">
                <a:xfrm>
                  <a:off x="4299" y="2563"/>
                  <a:ext cx="92" cy="5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9479" name="Line 29"/>
              <p:cNvSpPr>
                <a:spLocks noChangeShapeType="1"/>
              </p:cNvSpPr>
              <p:nvPr/>
            </p:nvSpPr>
            <p:spPr bwMode="auto">
              <a:xfrm flipH="1">
                <a:off x="3351" y="2826"/>
                <a:ext cx="39" cy="6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9471" name="Rectangle 30"/>
            <p:cNvSpPr>
              <a:spLocks noChangeArrowheads="1"/>
            </p:cNvSpPr>
            <p:nvPr/>
          </p:nvSpPr>
          <p:spPr bwMode="auto">
            <a:xfrm>
              <a:off x="2327275" y="5699125"/>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latin typeface="Times New Roman" panose="02020603050405020304" pitchFamily="18" charset="0"/>
                </a:rPr>
                <a:t>(a)</a:t>
              </a:r>
            </a:p>
          </p:txBody>
        </p:sp>
        <p:sp>
          <p:nvSpPr>
            <p:cNvPr id="19472" name="Rectangle 31"/>
            <p:cNvSpPr>
              <a:spLocks noChangeArrowheads="1"/>
            </p:cNvSpPr>
            <p:nvPr/>
          </p:nvSpPr>
          <p:spPr bwMode="auto">
            <a:xfrm>
              <a:off x="6613525" y="5699125"/>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a:latin typeface="Times New Roman" panose="02020603050405020304" pitchFamily="18" charset="0"/>
                </a:rPr>
                <a:t>(b)</a:t>
              </a:r>
            </a:p>
          </p:txBody>
        </p:sp>
        <p:sp>
          <p:nvSpPr>
            <p:cNvPr id="19473" name="Rectangle 32"/>
            <p:cNvSpPr>
              <a:spLocks noChangeArrowheads="1"/>
            </p:cNvSpPr>
            <p:nvPr/>
          </p:nvSpPr>
          <p:spPr bwMode="auto">
            <a:xfrm>
              <a:off x="2736850" y="3298825"/>
              <a:ext cx="978482" cy="7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600">
                  <a:latin typeface="Times New Roman" panose="02020603050405020304" pitchFamily="18" charset="0"/>
                </a:rPr>
                <a:t>Futures</a:t>
              </a:r>
            </a:p>
            <a:p>
              <a:pPr algn="ctr">
                <a:spcBef>
                  <a:spcPct val="0"/>
                </a:spcBef>
                <a:buClrTx/>
                <a:buSzTx/>
                <a:buFontTx/>
                <a:buNone/>
              </a:pPr>
              <a:r>
                <a:rPr lang="en-US" altLang="en-US" sz="1600">
                  <a:latin typeface="Times New Roman" panose="02020603050405020304" pitchFamily="18" charset="0"/>
                </a:rPr>
                <a:t>Price</a:t>
              </a:r>
            </a:p>
          </p:txBody>
        </p:sp>
        <p:sp>
          <p:nvSpPr>
            <p:cNvPr id="19474" name="Rectangle 33"/>
            <p:cNvSpPr>
              <a:spLocks noChangeArrowheads="1"/>
            </p:cNvSpPr>
            <p:nvPr/>
          </p:nvSpPr>
          <p:spPr bwMode="auto">
            <a:xfrm>
              <a:off x="5827713" y="3994151"/>
              <a:ext cx="978482" cy="7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600">
                  <a:latin typeface="Times New Roman" panose="02020603050405020304" pitchFamily="18" charset="0"/>
                </a:rPr>
                <a:t>Futures</a:t>
              </a:r>
            </a:p>
            <a:p>
              <a:pPr algn="ctr">
                <a:spcBef>
                  <a:spcPct val="0"/>
                </a:spcBef>
                <a:buClrTx/>
                <a:buSzTx/>
                <a:buFontTx/>
                <a:buNone/>
              </a:pPr>
              <a:r>
                <a:rPr lang="en-US" altLang="en-US" sz="1600">
                  <a:latin typeface="Times New Roman" panose="02020603050405020304" pitchFamily="18" charset="0"/>
                </a:rPr>
                <a:t>Price</a:t>
              </a:r>
            </a:p>
          </p:txBody>
        </p:sp>
        <p:sp>
          <p:nvSpPr>
            <p:cNvPr id="19475" name="Rectangle 34"/>
            <p:cNvSpPr>
              <a:spLocks noChangeArrowheads="1"/>
            </p:cNvSpPr>
            <p:nvPr/>
          </p:nvSpPr>
          <p:spPr bwMode="auto">
            <a:xfrm>
              <a:off x="1260475" y="4098925"/>
              <a:ext cx="1263626" cy="42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600">
                  <a:latin typeface="Times New Roman" panose="02020603050405020304" pitchFamily="18" charset="0"/>
                </a:rPr>
                <a:t>Spot Price</a:t>
              </a:r>
            </a:p>
          </p:txBody>
        </p:sp>
        <p:sp>
          <p:nvSpPr>
            <p:cNvPr id="19476" name="Rectangle 35"/>
            <p:cNvSpPr>
              <a:spLocks noChangeArrowheads="1"/>
            </p:cNvSpPr>
            <p:nvPr/>
          </p:nvSpPr>
          <p:spPr bwMode="auto">
            <a:xfrm>
              <a:off x="6819900" y="3498850"/>
              <a:ext cx="1263626" cy="42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600">
                  <a:latin typeface="Times New Roman" panose="02020603050405020304" pitchFamily="18" charset="0"/>
                </a:rPr>
                <a:t>Spot Price</a:t>
              </a: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21507" name="Rectangle 2"/>
          <p:cNvSpPr>
            <a:spLocks noGrp="1" noChangeArrowheads="1"/>
          </p:cNvSpPr>
          <p:nvPr>
            <p:ph type="title"/>
          </p:nvPr>
        </p:nvSpPr>
        <p:spPr/>
        <p:txBody>
          <a:bodyPr/>
          <a:lstStyle/>
          <a:p>
            <a:pPr eaLnBrk="1" hangingPunct="1"/>
            <a:r>
              <a:rPr lang="en-US" altLang="en-US" smtClean="0"/>
              <a:t>Margin</a:t>
            </a:r>
          </a:p>
        </p:txBody>
      </p:sp>
      <p:sp>
        <p:nvSpPr>
          <p:cNvPr id="21508" name="Rectangle 3"/>
          <p:cNvSpPr>
            <a:spLocks noGrp="1" noChangeArrowheads="1"/>
          </p:cNvSpPr>
          <p:nvPr>
            <p:ph type="body" idx="1"/>
          </p:nvPr>
        </p:nvSpPr>
        <p:spPr/>
        <p:txBody>
          <a:bodyPr/>
          <a:lstStyle/>
          <a:p>
            <a:pPr eaLnBrk="1" hangingPunct="1"/>
            <a:r>
              <a:rPr lang="en-US" altLang="en-US" sz="2400" smtClean="0"/>
              <a:t>Margin is cash or marketable securities deposited by an investor with his or her broker</a:t>
            </a:r>
          </a:p>
          <a:p>
            <a:pPr eaLnBrk="1" hangingPunct="1"/>
            <a:r>
              <a:rPr lang="en-US" altLang="en-US" sz="2400" smtClean="0"/>
              <a:t>The balance in the margin account is adjusted to reflect daily settlement</a:t>
            </a:r>
          </a:p>
          <a:p>
            <a:pPr eaLnBrk="1" hangingPunct="1"/>
            <a:r>
              <a:rPr lang="en-US" altLang="en-US" sz="2400" smtClean="0"/>
              <a:t>Margin minimizes the possibility of a loss through a default on a contract</a:t>
            </a:r>
          </a:p>
          <a:p>
            <a:pPr eaLnBrk="1" hangingPunct="1"/>
            <a:r>
              <a:rPr lang="en-US" altLang="en-US" sz="2400" smtClean="0"/>
              <a:t>Retail traders provide initial margin and, when the balance in the margin account falls below a maintenance margin level, they must provide variation margin bringing balance back up to initial margin level.</a:t>
            </a: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3084F3F-7464-4776-A005-58EE8C1A797A}" type="slidenum">
              <a:rPr lang="en-US" altLang="en-US" sz="1800" smtClean="0"/>
              <a:pPr>
                <a:spcBef>
                  <a:spcPct val="0"/>
                </a:spcBef>
                <a:buClrTx/>
                <a:buSzTx/>
                <a:buFontTx/>
                <a:buNone/>
              </a:pPr>
              <a:t>4</a:t>
            </a:fld>
            <a:endParaRPr lang="en-US" altLang="en-US" sz="180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dirty="0">
                <a:solidFill>
                  <a:schemeClr val="tx2">
                    <a:satMod val="130000"/>
                  </a:schemeClr>
                </a:solidFill>
              </a:rPr>
              <a:t>Example of a Futures Trade </a:t>
            </a:r>
            <a:r>
              <a:rPr lang="en-US" sz="2200" dirty="0">
                <a:solidFill>
                  <a:schemeClr val="tx2">
                    <a:satMod val="130000"/>
                  </a:schemeClr>
                </a:solidFill>
              </a:rPr>
              <a:t>(page </a:t>
            </a:r>
            <a:r>
              <a:rPr lang="en-US" sz="2200" dirty="0" smtClean="0">
                <a:solidFill>
                  <a:schemeClr val="tx2">
                    <a:satMod val="130000"/>
                  </a:schemeClr>
                </a:solidFill>
              </a:rPr>
              <a:t>29-30)</a:t>
            </a:r>
            <a:endParaRPr lang="en-US" sz="2200" dirty="0">
              <a:solidFill>
                <a:schemeClr val="tx2">
                  <a:satMod val="130000"/>
                </a:schemeClr>
              </a:solidFill>
            </a:endParaRPr>
          </a:p>
        </p:txBody>
      </p:sp>
      <p:sp>
        <p:nvSpPr>
          <p:cNvPr id="23555" name="Rectangle 5"/>
          <p:cNvSpPr>
            <a:spLocks noGrp="1" noChangeArrowheads="1"/>
          </p:cNvSpPr>
          <p:nvPr>
            <p:ph idx="1"/>
          </p:nvPr>
        </p:nvSpPr>
        <p:spPr>
          <a:xfrm>
            <a:off x="395288" y="1700213"/>
            <a:ext cx="7162800" cy="3595687"/>
          </a:xfrm>
        </p:spPr>
        <p:txBody>
          <a:bodyPr lIns="90488" tIns="44450" rIns="90488" bIns="44450"/>
          <a:lstStyle/>
          <a:p>
            <a:pPr eaLnBrk="1" hangingPunct="1"/>
            <a:r>
              <a:rPr lang="en-US" altLang="en-US" smtClean="0">
                <a:cs typeface="Arial" panose="020B0604020202020204" pitchFamily="34" charset="0"/>
              </a:rPr>
              <a:t>A retail investor takes a long position in 2 December gold futures contracts </a:t>
            </a:r>
          </a:p>
          <a:p>
            <a:pPr lvl="1" eaLnBrk="1" hangingPunct="1"/>
            <a:r>
              <a:rPr lang="en-US" altLang="en-US" smtClean="0">
                <a:cs typeface="Arial" panose="020B0604020202020204" pitchFamily="34" charset="0"/>
              </a:rPr>
              <a:t>contract size is 100 oz.</a:t>
            </a:r>
          </a:p>
          <a:p>
            <a:pPr lvl="1" eaLnBrk="1" hangingPunct="1"/>
            <a:r>
              <a:rPr lang="en-US" altLang="en-US" smtClean="0">
                <a:cs typeface="Arial" panose="020B0604020202020204" pitchFamily="34" charset="0"/>
              </a:rPr>
              <a:t>futures price is US$1250</a:t>
            </a:r>
          </a:p>
          <a:p>
            <a:pPr lvl="1" eaLnBrk="1" hangingPunct="1"/>
            <a:r>
              <a:rPr lang="en-US" altLang="en-US" smtClean="0">
                <a:cs typeface="Arial" panose="020B0604020202020204" pitchFamily="34" charset="0"/>
              </a:rPr>
              <a:t>initial margin requirement is US$6,000/contract (US$12,000 in total)</a:t>
            </a:r>
          </a:p>
          <a:p>
            <a:pPr lvl="1" eaLnBrk="1" hangingPunct="1"/>
            <a:r>
              <a:rPr lang="en-US" altLang="en-US" smtClean="0">
                <a:cs typeface="Arial" panose="020B0604020202020204" pitchFamily="34" charset="0"/>
              </a:rPr>
              <a:t>maintenance margin is US$4,500/contract (US$9,000 in total)</a:t>
            </a: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FD7EBFA-E381-47D1-9458-3D98C7A2D4CF}" type="slidenum">
              <a:rPr lang="en-US" altLang="en-US" sz="1800" smtClean="0"/>
              <a:pPr>
                <a:spcBef>
                  <a:spcPct val="0"/>
                </a:spcBef>
                <a:buClrTx/>
                <a:buSzTx/>
                <a:buFontTx/>
                <a:buNone/>
              </a:pPr>
              <a:t>5</a:t>
            </a:fld>
            <a:endParaRPr lang="en-US" altLang="en-US" sz="1800" smtClean="0"/>
          </a:p>
        </p:txBody>
      </p:sp>
      <p:sp>
        <p:nvSpPr>
          <p:cNvPr id="2355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2355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CA" altLang="en-US" smtClean="0"/>
              <a:t>A Possible Outcome </a:t>
            </a:r>
            <a:r>
              <a:rPr lang="en-CA" altLang="en-US" sz="2000" smtClean="0"/>
              <a:t>(Table 2.1, page 30)</a:t>
            </a:r>
            <a:endParaRPr lang="en-US" altLang="en-US" sz="2000" smtClean="0"/>
          </a:p>
        </p:txBody>
      </p:sp>
      <p:sp>
        <p:nvSpPr>
          <p:cNvPr id="2560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C479E9F-9535-448C-8CC7-2A46CF46512B}" type="slidenum">
              <a:rPr lang="en-US" altLang="en-US" sz="1800" smtClean="0"/>
              <a:pPr>
                <a:spcBef>
                  <a:spcPct val="0"/>
                </a:spcBef>
                <a:buClrTx/>
                <a:buSzTx/>
                <a:buFontTx/>
                <a:buNone/>
              </a:pPr>
              <a:t>6</a:t>
            </a:fld>
            <a:endParaRPr lang="en-US" altLang="en-US" sz="1800" smtClean="0"/>
          </a:p>
        </p:txBody>
      </p:sp>
      <p:graphicFrame>
        <p:nvGraphicFramePr>
          <p:cNvPr id="5" name="Table 4"/>
          <p:cNvGraphicFramePr>
            <a:graphicFrameLocks noGrp="1"/>
          </p:cNvGraphicFramePr>
          <p:nvPr/>
        </p:nvGraphicFramePr>
        <p:xfrm>
          <a:off x="900113" y="1773238"/>
          <a:ext cx="7239000" cy="3932237"/>
        </p:xfrm>
        <a:graphic>
          <a:graphicData uri="http://schemas.openxmlformats.org/drawingml/2006/table">
            <a:tbl>
              <a:tblPr firstRow="1" bandRow="1">
                <a:tableStyleId>{5940675A-B579-460E-94D1-54222C63F5DA}</a:tableStyleId>
              </a:tblPr>
              <a:tblGrid>
                <a:gridCol w="609600"/>
                <a:gridCol w="1066800"/>
                <a:gridCol w="1066800"/>
                <a:gridCol w="1066800"/>
                <a:gridCol w="1066800"/>
                <a:gridCol w="1371600"/>
                <a:gridCol w="990600"/>
              </a:tblGrid>
              <a:tr h="640130">
                <a:tc>
                  <a:txBody>
                    <a:bodyPr/>
                    <a:lstStyle/>
                    <a:p>
                      <a:pPr algn="ctr"/>
                      <a:r>
                        <a:rPr lang="en-CA" sz="1800" dirty="0" smtClean="0"/>
                        <a:t>Day</a:t>
                      </a:r>
                      <a:endParaRPr lang="en-US" sz="1800" dirty="0"/>
                    </a:p>
                  </a:txBody>
                  <a:tcPr marT="45715" marB="45715"/>
                </a:tc>
                <a:tc>
                  <a:txBody>
                    <a:bodyPr/>
                    <a:lstStyle/>
                    <a:p>
                      <a:pPr algn="ctr"/>
                      <a:r>
                        <a:rPr lang="en-CA" sz="1800" dirty="0" smtClean="0"/>
                        <a:t>Trade</a:t>
                      </a:r>
                      <a:r>
                        <a:rPr lang="en-CA" sz="1800" baseline="0" dirty="0" smtClean="0"/>
                        <a:t> Price ($)</a:t>
                      </a:r>
                      <a:endParaRPr lang="en-US" sz="1800" dirty="0"/>
                    </a:p>
                  </a:txBody>
                  <a:tcPr marT="45715" marB="45715"/>
                </a:tc>
                <a:tc>
                  <a:txBody>
                    <a:bodyPr/>
                    <a:lstStyle/>
                    <a:p>
                      <a:pPr algn="ctr"/>
                      <a:r>
                        <a:rPr lang="en-CA" sz="1800" dirty="0" smtClean="0"/>
                        <a:t>Settle</a:t>
                      </a:r>
                      <a:r>
                        <a:rPr lang="en-CA" sz="1800" baseline="0" dirty="0" smtClean="0"/>
                        <a:t> </a:t>
                      </a:r>
                      <a:r>
                        <a:rPr lang="en-CA" sz="1800" dirty="0" smtClean="0"/>
                        <a:t>Price</a:t>
                      </a:r>
                      <a:r>
                        <a:rPr lang="en-CA" sz="1800" baseline="0" dirty="0" smtClean="0"/>
                        <a:t> </a:t>
                      </a:r>
                      <a:r>
                        <a:rPr lang="en-CA" sz="1800" dirty="0" smtClean="0"/>
                        <a:t>($)</a:t>
                      </a:r>
                      <a:endParaRPr lang="en-US" sz="1800" dirty="0"/>
                    </a:p>
                  </a:txBody>
                  <a:tcPr marT="45715" marB="45715"/>
                </a:tc>
                <a:tc>
                  <a:txBody>
                    <a:bodyPr/>
                    <a:lstStyle/>
                    <a:p>
                      <a:pPr algn="ctr"/>
                      <a:r>
                        <a:rPr lang="en-CA" sz="1800" dirty="0" smtClean="0"/>
                        <a:t>Daily Gain ($)</a:t>
                      </a:r>
                      <a:endParaRPr lang="en-US" sz="1800" dirty="0"/>
                    </a:p>
                  </a:txBody>
                  <a:tcPr marT="45715" marB="45715"/>
                </a:tc>
                <a:tc>
                  <a:txBody>
                    <a:bodyPr/>
                    <a:lstStyle/>
                    <a:p>
                      <a:pPr algn="ctr"/>
                      <a:r>
                        <a:rPr lang="en-CA" sz="1800" dirty="0" err="1" smtClean="0"/>
                        <a:t>Cumul</a:t>
                      </a:r>
                      <a:r>
                        <a:rPr lang="en-CA" sz="1800" dirty="0" smtClean="0"/>
                        <a:t>. Gain</a:t>
                      </a:r>
                      <a:r>
                        <a:rPr lang="en-CA" sz="1800" baseline="0" dirty="0" smtClean="0"/>
                        <a:t> ($)</a:t>
                      </a:r>
                      <a:endParaRPr lang="en-US" sz="1800" dirty="0"/>
                    </a:p>
                  </a:txBody>
                  <a:tcPr marT="45715" marB="45715"/>
                </a:tc>
                <a:tc>
                  <a:txBody>
                    <a:bodyPr/>
                    <a:lstStyle/>
                    <a:p>
                      <a:pPr algn="ctr"/>
                      <a:r>
                        <a:rPr lang="en-CA" sz="1800" dirty="0" smtClean="0"/>
                        <a:t>Margin Balance</a:t>
                      </a:r>
                      <a:r>
                        <a:rPr lang="en-CA" sz="1800" baseline="0" dirty="0" smtClean="0"/>
                        <a:t> </a:t>
                      </a:r>
                      <a:r>
                        <a:rPr lang="en-CA" sz="1800" dirty="0" smtClean="0"/>
                        <a:t>($)</a:t>
                      </a:r>
                      <a:endParaRPr lang="en-US" sz="1800" dirty="0"/>
                    </a:p>
                  </a:txBody>
                  <a:tcPr marT="45715" marB="45715"/>
                </a:tc>
                <a:tc>
                  <a:txBody>
                    <a:bodyPr/>
                    <a:lstStyle/>
                    <a:p>
                      <a:pPr algn="ctr"/>
                      <a:r>
                        <a:rPr lang="en-CA" sz="1800" dirty="0" smtClean="0"/>
                        <a:t>Margin Call ($)</a:t>
                      </a:r>
                      <a:endParaRPr lang="en-US" sz="1800" dirty="0"/>
                    </a:p>
                  </a:txBody>
                  <a:tcPr marT="45715" marB="45715"/>
                </a:tc>
              </a:tr>
              <a:tr h="365790">
                <a:tc>
                  <a:txBody>
                    <a:bodyPr/>
                    <a:lstStyle/>
                    <a:p>
                      <a:r>
                        <a:rPr lang="en-CA" sz="1600" dirty="0" smtClean="0"/>
                        <a:t>1</a:t>
                      </a:r>
                      <a:endParaRPr lang="en-US" sz="1600" dirty="0"/>
                    </a:p>
                  </a:txBody>
                  <a:tcPr marT="45715" marB="45715"/>
                </a:tc>
                <a:tc>
                  <a:txBody>
                    <a:bodyPr/>
                    <a:lstStyle/>
                    <a:p>
                      <a:pPr algn="r"/>
                      <a:r>
                        <a:rPr lang="en-CA" sz="1600" dirty="0" smtClean="0"/>
                        <a:t>1,250.00</a:t>
                      </a:r>
                      <a:endParaRPr lang="en-US" sz="1600" dirty="0"/>
                    </a:p>
                  </a:txBody>
                  <a:tcPr marT="45715" marB="45715"/>
                </a:tc>
                <a:tc>
                  <a:txBody>
                    <a:bodyPr/>
                    <a:lstStyle/>
                    <a:p>
                      <a:endParaRPr lang="en-US" sz="1600"/>
                    </a:p>
                  </a:txBody>
                  <a:tcPr marT="45715" marB="45715"/>
                </a:tc>
                <a:tc>
                  <a:txBody>
                    <a:bodyPr/>
                    <a:lstStyle/>
                    <a:p>
                      <a:endParaRPr lang="en-US" sz="1600" dirty="0"/>
                    </a:p>
                  </a:txBody>
                  <a:tcPr marT="45715" marB="45715"/>
                </a:tc>
                <a:tc>
                  <a:txBody>
                    <a:bodyPr/>
                    <a:lstStyle/>
                    <a:p>
                      <a:endParaRPr lang="en-US" sz="1600"/>
                    </a:p>
                  </a:txBody>
                  <a:tcPr marT="45715" marB="45715"/>
                </a:tc>
                <a:tc>
                  <a:txBody>
                    <a:bodyPr/>
                    <a:lstStyle/>
                    <a:p>
                      <a:pPr algn="ctr"/>
                      <a:r>
                        <a:rPr lang="en-CA" sz="1600" dirty="0" smtClean="0"/>
                        <a:t>12,000</a:t>
                      </a:r>
                      <a:endParaRPr lang="en-US" sz="1600" dirty="0"/>
                    </a:p>
                  </a:txBody>
                  <a:tcPr marT="45715" marB="45715"/>
                </a:tc>
                <a:tc>
                  <a:txBody>
                    <a:bodyPr/>
                    <a:lstStyle/>
                    <a:p>
                      <a:endParaRPr lang="en-US" sz="1600" dirty="0"/>
                    </a:p>
                  </a:txBody>
                  <a:tcPr marT="45715" marB="45715"/>
                </a:tc>
              </a:tr>
              <a:tr h="365790">
                <a:tc>
                  <a:txBody>
                    <a:bodyPr/>
                    <a:lstStyle/>
                    <a:p>
                      <a:r>
                        <a:rPr lang="en-CA" sz="1600" dirty="0" smtClean="0"/>
                        <a:t>1</a:t>
                      </a:r>
                      <a:endParaRPr lang="en-US" sz="1600" dirty="0"/>
                    </a:p>
                  </a:txBody>
                  <a:tcPr marT="45715" marB="45715"/>
                </a:tc>
                <a:tc>
                  <a:txBody>
                    <a:bodyPr/>
                    <a:lstStyle/>
                    <a:p>
                      <a:pPr algn="r"/>
                      <a:endParaRPr lang="en-US" sz="1600" dirty="0"/>
                    </a:p>
                  </a:txBody>
                  <a:tcPr marT="45715" marB="45715"/>
                </a:tc>
                <a:tc>
                  <a:txBody>
                    <a:bodyPr/>
                    <a:lstStyle/>
                    <a:p>
                      <a:r>
                        <a:rPr lang="en-CA" sz="1600" dirty="0" smtClean="0"/>
                        <a:t>1,241.00</a:t>
                      </a:r>
                      <a:endParaRPr lang="en-US" sz="1600" dirty="0"/>
                    </a:p>
                  </a:txBody>
                  <a:tcPr marT="45715" marB="45715"/>
                </a:tc>
                <a:tc>
                  <a:txBody>
                    <a:bodyPr/>
                    <a:lstStyle/>
                    <a:p>
                      <a:r>
                        <a:rPr lang="en-US" sz="1600" dirty="0" smtClean="0"/>
                        <a:t>−1,800</a:t>
                      </a:r>
                      <a:endParaRPr lang="en-US" sz="1600" dirty="0"/>
                    </a:p>
                  </a:txBody>
                  <a:tcPr marT="45715" marB="4571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− 1,800</a:t>
                      </a:r>
                    </a:p>
                  </a:txBody>
                  <a:tcPr marT="45715" marB="45715"/>
                </a:tc>
                <a:tc>
                  <a:txBody>
                    <a:bodyPr/>
                    <a:lstStyle/>
                    <a:p>
                      <a:pPr algn="ctr"/>
                      <a:r>
                        <a:rPr lang="en-CA" sz="1600" dirty="0" smtClean="0"/>
                        <a:t>10,200</a:t>
                      </a:r>
                      <a:endParaRPr lang="en-US" sz="1600" dirty="0"/>
                    </a:p>
                  </a:txBody>
                  <a:tcPr marT="45715" marB="45715"/>
                </a:tc>
                <a:tc>
                  <a:txBody>
                    <a:bodyPr/>
                    <a:lstStyle/>
                    <a:p>
                      <a:endParaRPr lang="en-US" sz="1600"/>
                    </a:p>
                  </a:txBody>
                  <a:tcPr marT="45715" marB="45715"/>
                </a:tc>
              </a:tr>
              <a:tr h="365790">
                <a:tc>
                  <a:txBody>
                    <a:bodyPr/>
                    <a:lstStyle/>
                    <a:p>
                      <a:r>
                        <a:rPr lang="en-CA" sz="1600" dirty="0" smtClean="0"/>
                        <a:t>2</a:t>
                      </a:r>
                      <a:endParaRPr lang="en-US" sz="1600" dirty="0"/>
                    </a:p>
                  </a:txBody>
                  <a:tcPr marT="45715" marB="45715"/>
                </a:tc>
                <a:tc>
                  <a:txBody>
                    <a:bodyPr/>
                    <a:lstStyle/>
                    <a:p>
                      <a:pPr algn="r"/>
                      <a:endParaRPr lang="en-US" sz="1600" dirty="0"/>
                    </a:p>
                  </a:txBody>
                  <a:tcPr marT="45715" marB="45715"/>
                </a:tc>
                <a:tc>
                  <a:txBody>
                    <a:bodyPr/>
                    <a:lstStyle/>
                    <a:p>
                      <a:r>
                        <a:rPr lang="en-CA" sz="1600" dirty="0" smtClean="0"/>
                        <a:t>1,238.30</a:t>
                      </a:r>
                      <a:endParaRPr lang="en-US" sz="1600" dirty="0"/>
                    </a:p>
                  </a:txBody>
                  <a:tcPr marT="45715" marB="45715"/>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  −540</a:t>
                      </a:r>
                    </a:p>
                  </a:txBody>
                  <a:tcPr marT="45715" marB="45715"/>
                </a:tc>
                <a:tc>
                  <a:txBody>
                    <a:bodyPr/>
                    <a:lstStyle/>
                    <a:p>
                      <a:pPr algn="ctr"/>
                      <a:r>
                        <a:rPr lang="en-CA" sz="1600" dirty="0" smtClean="0"/>
                        <a:t> </a:t>
                      </a:r>
                      <a:r>
                        <a:rPr lang="en-US" sz="1600" dirty="0" smtClean="0"/>
                        <a:t>−</a:t>
                      </a:r>
                      <a:r>
                        <a:rPr lang="en-CA" sz="1600" dirty="0" smtClean="0"/>
                        <a:t>2,340</a:t>
                      </a:r>
                      <a:endParaRPr lang="en-US" sz="1600" dirty="0"/>
                    </a:p>
                  </a:txBody>
                  <a:tcPr marT="45715" marB="45715"/>
                </a:tc>
                <a:tc>
                  <a:txBody>
                    <a:bodyPr/>
                    <a:lstStyle/>
                    <a:p>
                      <a:pPr algn="ctr"/>
                      <a:r>
                        <a:rPr lang="en-CA" sz="1600" dirty="0" smtClean="0"/>
                        <a:t>  9,660</a:t>
                      </a:r>
                      <a:endParaRPr lang="en-US" sz="1600" dirty="0"/>
                    </a:p>
                  </a:txBody>
                  <a:tcPr marT="45715" marB="45715"/>
                </a:tc>
                <a:tc>
                  <a:txBody>
                    <a:bodyPr/>
                    <a:lstStyle/>
                    <a:p>
                      <a:endParaRPr lang="en-US" sz="1600" dirty="0"/>
                    </a:p>
                  </a:txBody>
                  <a:tcPr marT="45715" marB="45715"/>
                </a:tc>
              </a:tr>
              <a:tr h="365790">
                <a:tc>
                  <a:txBody>
                    <a:bodyPr/>
                    <a:lstStyle/>
                    <a:p>
                      <a:pPr algn="ctr"/>
                      <a:r>
                        <a:rPr lang="en-CA" sz="1800" dirty="0" smtClean="0"/>
                        <a:t>…..</a:t>
                      </a:r>
                      <a:endParaRPr lang="en-US" sz="1800" dirty="0"/>
                    </a:p>
                  </a:txBody>
                  <a:tcPr marT="45715" marB="45715"/>
                </a:tc>
                <a:tc>
                  <a:txBody>
                    <a:bodyPr/>
                    <a:lstStyle/>
                    <a:p>
                      <a:pPr algn="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endParaRPr lang="en-US" sz="1600" dirty="0"/>
                    </a:p>
                  </a:txBody>
                  <a:tcPr marT="45715" marB="45715"/>
                </a:tc>
              </a:tr>
              <a:tr h="365790">
                <a:tc>
                  <a:txBody>
                    <a:bodyPr/>
                    <a:lstStyle/>
                    <a:p>
                      <a:r>
                        <a:rPr lang="en-CA" sz="1600" dirty="0" smtClean="0"/>
                        <a:t>6</a:t>
                      </a:r>
                      <a:endParaRPr lang="en-US" sz="1600" dirty="0"/>
                    </a:p>
                  </a:txBody>
                  <a:tcPr marT="45715" marB="45715"/>
                </a:tc>
                <a:tc>
                  <a:txBody>
                    <a:bodyPr/>
                    <a:lstStyle/>
                    <a:p>
                      <a:pPr algn="r"/>
                      <a:endParaRPr lang="en-US" sz="1600" dirty="0"/>
                    </a:p>
                  </a:txBody>
                  <a:tcPr marT="45715" marB="45715"/>
                </a:tc>
                <a:tc>
                  <a:txBody>
                    <a:bodyPr/>
                    <a:lstStyle/>
                    <a:p>
                      <a:r>
                        <a:rPr lang="en-CA" sz="1600" dirty="0" smtClean="0"/>
                        <a:t>1,236.20</a:t>
                      </a:r>
                      <a:endParaRPr lang="en-US" sz="1600" dirty="0"/>
                    </a:p>
                  </a:txBody>
                  <a:tcPr marT="45715" marB="45715"/>
                </a:tc>
                <a:tc>
                  <a:txBody>
                    <a:bodyPr/>
                    <a:lstStyle/>
                    <a:p>
                      <a:r>
                        <a:rPr lang="en-US" sz="1600" dirty="0" smtClean="0"/>
                        <a:t>  −</a:t>
                      </a:r>
                      <a:r>
                        <a:rPr lang="en-CA" sz="1600" dirty="0" smtClean="0"/>
                        <a:t>780</a:t>
                      </a:r>
                      <a:endParaRPr lang="en-US" sz="1600" dirty="0"/>
                    </a:p>
                  </a:txBody>
                  <a:tcPr marT="45715" marB="45715"/>
                </a:tc>
                <a:tc>
                  <a:txBody>
                    <a:bodyPr/>
                    <a:lstStyle/>
                    <a:p>
                      <a:pPr algn="ctr"/>
                      <a:r>
                        <a:rPr lang="en-US" sz="1600" dirty="0" smtClean="0"/>
                        <a:t> −2,760</a:t>
                      </a:r>
                      <a:endParaRPr lang="en-US" sz="1600" dirty="0"/>
                    </a:p>
                  </a:txBody>
                  <a:tcPr marT="45715" marB="45715"/>
                </a:tc>
                <a:tc>
                  <a:txBody>
                    <a:bodyPr/>
                    <a:lstStyle/>
                    <a:p>
                      <a:pPr algn="ctr"/>
                      <a:r>
                        <a:rPr lang="en-CA" sz="1600" dirty="0" smtClean="0"/>
                        <a:t>  9,240</a:t>
                      </a:r>
                      <a:endParaRPr lang="en-US" sz="1600" dirty="0"/>
                    </a:p>
                  </a:txBody>
                  <a:tcPr marT="45715" marB="45715"/>
                </a:tc>
                <a:tc>
                  <a:txBody>
                    <a:bodyPr/>
                    <a:lstStyle/>
                    <a:p>
                      <a:endParaRPr lang="en-US" sz="1600" dirty="0"/>
                    </a:p>
                  </a:txBody>
                  <a:tcPr marT="45715" marB="45715"/>
                </a:tc>
              </a:tr>
              <a:tr h="365790">
                <a:tc>
                  <a:txBody>
                    <a:bodyPr/>
                    <a:lstStyle/>
                    <a:p>
                      <a:r>
                        <a:rPr lang="en-CA" sz="1600" dirty="0" smtClean="0"/>
                        <a:t>7</a:t>
                      </a:r>
                      <a:endParaRPr lang="en-US" sz="1600" dirty="0"/>
                    </a:p>
                  </a:txBody>
                  <a:tcPr marT="45715" marB="45715"/>
                </a:tc>
                <a:tc>
                  <a:txBody>
                    <a:bodyPr/>
                    <a:lstStyle/>
                    <a:p>
                      <a:pPr algn="r"/>
                      <a:endParaRPr lang="en-US" sz="1600" dirty="0"/>
                    </a:p>
                  </a:txBody>
                  <a:tcPr marT="45715" marB="45715"/>
                </a:tc>
                <a:tc>
                  <a:txBody>
                    <a:bodyPr/>
                    <a:lstStyle/>
                    <a:p>
                      <a:r>
                        <a:rPr lang="en-CA" sz="1600" dirty="0" smtClean="0"/>
                        <a:t>1,229.90</a:t>
                      </a:r>
                      <a:endParaRPr lang="en-US" sz="1600" dirty="0"/>
                    </a:p>
                  </a:txBody>
                  <a:tcPr marT="45715" marB="45715"/>
                </a:tc>
                <a:tc>
                  <a:txBody>
                    <a:bodyPr/>
                    <a:lstStyle/>
                    <a:p>
                      <a:r>
                        <a:rPr lang="en-US" sz="1600" dirty="0" smtClean="0"/>
                        <a:t>−</a:t>
                      </a:r>
                      <a:r>
                        <a:rPr lang="en-CA" sz="1600" dirty="0" smtClean="0"/>
                        <a:t>1,260</a:t>
                      </a:r>
                      <a:endParaRPr lang="en-US" sz="1600" dirty="0"/>
                    </a:p>
                  </a:txBody>
                  <a:tcPr marT="45715" marB="45715"/>
                </a:tc>
                <a:tc>
                  <a:txBody>
                    <a:bodyPr/>
                    <a:lstStyle/>
                    <a:p>
                      <a:pPr algn="ctr"/>
                      <a:r>
                        <a:rPr lang="en-CA" sz="1600" dirty="0" smtClean="0"/>
                        <a:t> </a:t>
                      </a:r>
                      <a:r>
                        <a:rPr lang="en-US" sz="1600" dirty="0" smtClean="0"/>
                        <a:t>−</a:t>
                      </a:r>
                      <a:r>
                        <a:rPr lang="en-CA" sz="1600" dirty="0" smtClean="0"/>
                        <a:t>4,020</a:t>
                      </a:r>
                      <a:endParaRPr lang="en-US" sz="1600" dirty="0"/>
                    </a:p>
                  </a:txBody>
                  <a:tcPr marT="45715" marB="45715"/>
                </a:tc>
                <a:tc>
                  <a:txBody>
                    <a:bodyPr/>
                    <a:lstStyle/>
                    <a:p>
                      <a:pPr algn="ctr"/>
                      <a:r>
                        <a:rPr lang="en-CA" sz="1600" dirty="0" smtClean="0"/>
                        <a:t>  7,980</a:t>
                      </a:r>
                      <a:endParaRPr lang="en-US" sz="1600" dirty="0"/>
                    </a:p>
                  </a:txBody>
                  <a:tcPr marT="45715" marB="45715"/>
                </a:tc>
                <a:tc>
                  <a:txBody>
                    <a:bodyPr/>
                    <a:lstStyle/>
                    <a:p>
                      <a:r>
                        <a:rPr lang="en-CA" sz="1600" dirty="0" smtClean="0"/>
                        <a:t>4,020</a:t>
                      </a:r>
                      <a:endParaRPr lang="en-US" sz="1600" dirty="0"/>
                    </a:p>
                  </a:txBody>
                  <a:tcPr marT="45715" marB="45715"/>
                </a:tc>
              </a:tr>
              <a:tr h="365790">
                <a:tc>
                  <a:txBody>
                    <a:bodyPr/>
                    <a:lstStyle/>
                    <a:p>
                      <a:r>
                        <a:rPr lang="en-CA" sz="1600" dirty="0" smtClean="0"/>
                        <a:t>8</a:t>
                      </a:r>
                      <a:endParaRPr lang="en-US" sz="1600" dirty="0"/>
                    </a:p>
                  </a:txBody>
                  <a:tcPr marT="45715" marB="45715"/>
                </a:tc>
                <a:tc>
                  <a:txBody>
                    <a:bodyPr/>
                    <a:lstStyle/>
                    <a:p>
                      <a:pPr algn="r"/>
                      <a:endParaRPr lang="en-US" sz="1600" dirty="0"/>
                    </a:p>
                  </a:txBody>
                  <a:tcPr marT="45715" marB="45715"/>
                </a:tc>
                <a:tc>
                  <a:txBody>
                    <a:bodyPr/>
                    <a:lstStyle/>
                    <a:p>
                      <a:r>
                        <a:rPr lang="en-CA" sz="1600" dirty="0" smtClean="0"/>
                        <a:t>1,230.80</a:t>
                      </a:r>
                      <a:endParaRPr lang="en-US" sz="1600" dirty="0"/>
                    </a:p>
                  </a:txBody>
                  <a:tcPr marT="45715" marB="45715"/>
                </a:tc>
                <a:tc>
                  <a:txBody>
                    <a:bodyPr/>
                    <a:lstStyle/>
                    <a:p>
                      <a:r>
                        <a:rPr lang="en-CA" sz="1600" dirty="0" smtClean="0"/>
                        <a:t>     180</a:t>
                      </a:r>
                      <a:endParaRPr lang="en-US" sz="1600" dirty="0"/>
                    </a:p>
                  </a:txBody>
                  <a:tcPr marT="45715" marB="45715"/>
                </a:tc>
                <a:tc>
                  <a:txBody>
                    <a:bodyPr/>
                    <a:lstStyle/>
                    <a:p>
                      <a:pPr algn="ctr"/>
                      <a:r>
                        <a:rPr lang="en-US" sz="1600" dirty="0" smtClean="0"/>
                        <a:t> −3,840</a:t>
                      </a:r>
                      <a:endParaRPr lang="en-US" sz="1600" dirty="0"/>
                    </a:p>
                  </a:txBody>
                  <a:tcPr marT="45715" marB="45715"/>
                </a:tc>
                <a:tc>
                  <a:txBody>
                    <a:bodyPr/>
                    <a:lstStyle/>
                    <a:p>
                      <a:pPr algn="ctr"/>
                      <a:r>
                        <a:rPr lang="en-CA" sz="1600" dirty="0" smtClean="0"/>
                        <a:t>12,180</a:t>
                      </a:r>
                      <a:endParaRPr lang="en-US" sz="1600" dirty="0"/>
                    </a:p>
                  </a:txBody>
                  <a:tcPr marT="45715" marB="45715"/>
                </a:tc>
                <a:tc>
                  <a:txBody>
                    <a:bodyPr/>
                    <a:lstStyle/>
                    <a:p>
                      <a:endParaRPr lang="en-US" sz="1600" dirty="0"/>
                    </a:p>
                  </a:txBody>
                  <a:tcPr marT="45715" marB="45715"/>
                </a:tc>
              </a:tr>
              <a:tr h="365790">
                <a:tc>
                  <a:txBody>
                    <a:bodyPr/>
                    <a:lstStyle/>
                    <a:p>
                      <a:pPr algn="ctr"/>
                      <a:r>
                        <a:rPr lang="en-CA" sz="1600" dirty="0" smtClean="0"/>
                        <a:t>…..</a:t>
                      </a:r>
                      <a:endParaRPr lang="en-US" sz="1600" dirty="0"/>
                    </a:p>
                  </a:txBody>
                  <a:tcPr marT="45715" marB="45715"/>
                </a:tc>
                <a:tc>
                  <a:txBody>
                    <a:bodyPr/>
                    <a:lstStyle/>
                    <a:p>
                      <a:pPr algn="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r>
                        <a:rPr lang="en-CA" sz="1600" dirty="0" smtClean="0"/>
                        <a:t>……</a:t>
                      </a:r>
                      <a:endParaRPr lang="en-US" sz="1600" dirty="0"/>
                    </a:p>
                  </a:txBody>
                  <a:tcPr marT="45715" marB="45715"/>
                </a:tc>
                <a:tc>
                  <a:txBody>
                    <a:bodyPr/>
                    <a:lstStyle/>
                    <a:p>
                      <a:pPr algn="ctr"/>
                      <a:endParaRPr lang="en-US" sz="1600" dirty="0"/>
                    </a:p>
                  </a:txBody>
                  <a:tcPr marT="45715" marB="45715"/>
                </a:tc>
              </a:tr>
              <a:tr h="365790">
                <a:tc>
                  <a:txBody>
                    <a:bodyPr/>
                    <a:lstStyle/>
                    <a:p>
                      <a:r>
                        <a:rPr lang="en-CA" sz="1600" dirty="0" smtClean="0"/>
                        <a:t>16</a:t>
                      </a:r>
                      <a:endParaRPr lang="en-US" sz="1600" dirty="0"/>
                    </a:p>
                  </a:txBody>
                  <a:tcPr marT="45715" marB="45715"/>
                </a:tc>
                <a:tc>
                  <a:txBody>
                    <a:bodyPr/>
                    <a:lstStyle/>
                    <a:p>
                      <a:pPr algn="r"/>
                      <a:r>
                        <a:rPr lang="en-CA" sz="1600" dirty="0" smtClean="0"/>
                        <a:t>1,226.90</a:t>
                      </a:r>
                      <a:endParaRPr lang="en-US" sz="1600" dirty="0"/>
                    </a:p>
                  </a:txBody>
                  <a:tcPr marT="45715" marB="45715"/>
                </a:tc>
                <a:tc>
                  <a:txBody>
                    <a:bodyPr/>
                    <a:lstStyle/>
                    <a:p>
                      <a:endParaRPr lang="en-US" sz="1600" dirty="0"/>
                    </a:p>
                  </a:txBody>
                  <a:tcPr marT="45715" marB="45715"/>
                </a:tc>
                <a:tc>
                  <a:txBody>
                    <a:bodyPr/>
                    <a:lstStyle/>
                    <a:p>
                      <a:r>
                        <a:rPr lang="en-CA" sz="1600" dirty="0" smtClean="0"/>
                        <a:t>     780</a:t>
                      </a:r>
                      <a:endParaRPr lang="en-US" sz="1600" dirty="0"/>
                    </a:p>
                  </a:txBody>
                  <a:tcPr marT="45715" marB="45715"/>
                </a:tc>
                <a:tc>
                  <a:txBody>
                    <a:bodyPr/>
                    <a:lstStyle/>
                    <a:p>
                      <a:pPr algn="ctr"/>
                      <a:r>
                        <a:rPr lang="en-US" sz="1600" dirty="0" smtClean="0"/>
                        <a:t> −4,620</a:t>
                      </a:r>
                      <a:endParaRPr lang="en-US" sz="1600" dirty="0"/>
                    </a:p>
                  </a:txBody>
                  <a:tcPr marT="45715" marB="45715"/>
                </a:tc>
                <a:tc>
                  <a:txBody>
                    <a:bodyPr/>
                    <a:lstStyle/>
                    <a:p>
                      <a:pPr algn="ctr"/>
                      <a:r>
                        <a:rPr lang="en-CA" sz="1600" dirty="0" smtClean="0"/>
                        <a:t>15,180</a:t>
                      </a:r>
                      <a:endParaRPr lang="en-US" sz="1600" dirty="0"/>
                    </a:p>
                  </a:txBody>
                  <a:tcPr marT="45715" marB="45715"/>
                </a:tc>
                <a:tc>
                  <a:txBody>
                    <a:bodyPr/>
                    <a:lstStyle/>
                    <a:p>
                      <a:endParaRPr lang="en-US" sz="1600" dirty="0"/>
                    </a:p>
                  </a:txBody>
                  <a:tcPr marT="45715" marB="4571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2765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27653" name="Rectangle 4"/>
          <p:cNvSpPr>
            <a:spLocks noGrp="1" noChangeArrowheads="1"/>
          </p:cNvSpPr>
          <p:nvPr>
            <p:ph type="title"/>
          </p:nvPr>
        </p:nvSpPr>
        <p:spPr>
          <a:noFill/>
        </p:spPr>
        <p:txBody>
          <a:bodyPr lIns="90488" tIns="44450" rIns="90488" bIns="44450" anchor="ctr"/>
          <a:lstStyle/>
          <a:p>
            <a:pPr eaLnBrk="1" hangingPunct="1"/>
            <a:r>
              <a:rPr lang="en-US" altLang="en-US" smtClean="0"/>
              <a:t>Key Points About Futures</a:t>
            </a:r>
          </a:p>
        </p:txBody>
      </p:sp>
      <p:sp>
        <p:nvSpPr>
          <p:cNvPr id="27654" name="Rectangle 5"/>
          <p:cNvSpPr>
            <a:spLocks noGrp="1" noChangeArrowheads="1"/>
          </p:cNvSpPr>
          <p:nvPr>
            <p:ph type="body" idx="1"/>
          </p:nvPr>
        </p:nvSpPr>
        <p:spPr>
          <a:xfrm>
            <a:off x="714375" y="2000250"/>
            <a:ext cx="7072313" cy="3357563"/>
          </a:xfrm>
          <a:noFill/>
        </p:spPr>
        <p:txBody>
          <a:bodyPr lIns="90488" tIns="44450" rIns="90488" bIns="44450"/>
          <a:lstStyle/>
          <a:p>
            <a:pPr eaLnBrk="1" hangingPunct="1">
              <a:lnSpc>
                <a:spcPct val="90000"/>
              </a:lnSpc>
            </a:pPr>
            <a:r>
              <a:rPr lang="en-US" altLang="en-US" sz="2800" smtClean="0"/>
              <a:t>They are settled daily</a:t>
            </a:r>
          </a:p>
          <a:p>
            <a:pPr eaLnBrk="1" hangingPunct="1">
              <a:lnSpc>
                <a:spcPct val="90000"/>
              </a:lnSpc>
            </a:pPr>
            <a:r>
              <a:rPr lang="en-US" altLang="en-US" sz="2800" smtClean="0"/>
              <a:t>Closing out a futures position is easy. It involves entering into an offsetting trade</a:t>
            </a:r>
          </a:p>
          <a:p>
            <a:pPr eaLnBrk="1" hangingPunct="1">
              <a:lnSpc>
                <a:spcPct val="90000"/>
              </a:lnSpc>
            </a:pPr>
            <a:r>
              <a:rPr lang="en-US" altLang="en-US" sz="2800" smtClean="0"/>
              <a:t>Most contracts are closed out before maturity</a:t>
            </a:r>
          </a:p>
        </p:txBody>
      </p:sp>
      <p:sp>
        <p:nvSpPr>
          <p:cNvPr id="2765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E1A0C4B-7CEB-400F-B316-E0B919AB957D}" type="slidenum">
              <a:rPr lang="en-US" altLang="en-US" sz="1800" smtClean="0"/>
              <a:pPr>
                <a:spcBef>
                  <a:spcPct val="0"/>
                </a:spcBef>
                <a:buClrTx/>
                <a:buSzTx/>
                <a:buFontTx/>
                <a:buNone/>
              </a:pPr>
              <a:t>7</a:t>
            </a:fld>
            <a:endParaRPr lang="en-US" altLang="en-US" sz="1800" smtClean="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CA" altLang="en-US" smtClean="0"/>
              <a:t>Exchange Clearing House</a:t>
            </a:r>
          </a:p>
        </p:txBody>
      </p:sp>
      <p:sp>
        <p:nvSpPr>
          <p:cNvPr id="29699" name="Content Placeholder 2"/>
          <p:cNvSpPr>
            <a:spLocks noGrp="1"/>
          </p:cNvSpPr>
          <p:nvPr>
            <p:ph idx="1"/>
          </p:nvPr>
        </p:nvSpPr>
        <p:spPr/>
        <p:txBody>
          <a:bodyPr/>
          <a:lstStyle/>
          <a:p>
            <a:r>
              <a:rPr lang="en-CA" altLang="en-US" smtClean="0"/>
              <a:t>The exchange clearing house has members who provide initial margin and daily variation margin</a:t>
            </a:r>
          </a:p>
          <a:p>
            <a:r>
              <a:rPr lang="en-CA" altLang="en-US" smtClean="0"/>
              <a:t>Brokers who are not members must channel their business through a member. The member will then require margin from the broker</a:t>
            </a:r>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59375C3-6344-44BA-B683-D1BF7AC286F1}" type="slidenum">
              <a:rPr lang="en-US" altLang="en-US" sz="1800" smtClean="0"/>
              <a:pPr>
                <a:spcBef>
                  <a:spcPct val="0"/>
                </a:spcBef>
                <a:buClrTx/>
                <a:buSzTx/>
                <a:buFontTx/>
                <a:buNone/>
              </a:pPr>
              <a:t>8</a:t>
            </a:fld>
            <a:endParaRPr lang="en-US" altLang="en-US" sz="180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CA" altLang="en-US" sz="3600" smtClean="0"/>
              <a:t>Margin Cash Flows When Futures Price Increases</a:t>
            </a:r>
            <a:endParaRPr lang="en-US" altLang="en-US" sz="3600" smtClean="0"/>
          </a:p>
        </p:txBody>
      </p:sp>
      <p:sp>
        <p:nvSpPr>
          <p:cNvPr id="3072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CA53D2-31EF-440E-9B15-5D26ABA6016F}" type="slidenum">
              <a:rPr lang="en-US" altLang="en-US" sz="1800" smtClean="0"/>
              <a:pPr>
                <a:spcBef>
                  <a:spcPct val="0"/>
                </a:spcBef>
                <a:buClrTx/>
                <a:buSzTx/>
                <a:buFontTx/>
                <a:buNone/>
              </a:pPr>
              <a:t>9</a:t>
            </a:fld>
            <a:endParaRPr lang="en-US" altLang="en-US" sz="1800" smtClean="0"/>
          </a:p>
        </p:txBody>
      </p:sp>
      <p:pic>
        <p:nvPicPr>
          <p:cNvPr id="307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916113"/>
            <a:ext cx="575310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5294313"/>
            <a:ext cx="186531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1143000"/>
            <a:ext cx="8364538" cy="609600"/>
          </a:xfrm>
        </p:spPr>
        <p:txBody>
          <a:bodyPr/>
          <a:lstStyle/>
          <a:p>
            <a:pPr eaLnBrk="1" hangingPunct="1"/>
            <a:r>
              <a:rPr lang="en-CA" altLang="en-US" sz="3600" smtClean="0"/>
              <a:t>Margin Cash Flows When Futures </a:t>
            </a:r>
            <a:br>
              <a:rPr lang="en-CA" altLang="en-US" sz="3600" smtClean="0"/>
            </a:br>
            <a:r>
              <a:rPr lang="en-CA" altLang="en-US" sz="3600" smtClean="0"/>
              <a:t>Price Decreases</a:t>
            </a:r>
            <a:endParaRPr lang="en-US" altLang="en-US" sz="3600" smtClean="0"/>
          </a:p>
        </p:txBody>
      </p:sp>
      <p:sp>
        <p:nvSpPr>
          <p:cNvPr id="3277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327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C6DE9E-60C7-43AD-8983-37BD7F6C5E6B}" type="slidenum">
              <a:rPr lang="en-US" altLang="en-US" sz="1800" smtClean="0"/>
              <a:pPr>
                <a:spcBef>
                  <a:spcPct val="0"/>
                </a:spcBef>
                <a:buClrTx/>
                <a:buSzTx/>
                <a:buFontTx/>
                <a:buNone/>
              </a:pPr>
              <a:t>10</a:t>
            </a:fld>
            <a:endParaRPr lang="en-US" altLang="en-US" sz="1800" smtClean="0"/>
          </a:p>
        </p:txBody>
      </p:sp>
      <p:pic>
        <p:nvPicPr>
          <p:cNvPr id="3277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989138"/>
            <a:ext cx="575310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pPr eaLnBrk="1" fontAlgn="auto" hangingPunct="1">
              <a:spcAft>
                <a:spcPts val="0"/>
              </a:spcAft>
              <a:defRPr/>
            </a:pPr>
            <a:r>
              <a:rPr lang="en-US" dirty="0" smtClean="0">
                <a:solidFill>
                  <a:schemeClr val="tx2">
                    <a:satMod val="130000"/>
                  </a:schemeClr>
                </a:solidFill>
              </a:rPr>
              <a:t>OTC Markets: Bilateral Clearing</a:t>
            </a:r>
            <a:endParaRPr lang="en-US" dirty="0">
              <a:solidFill>
                <a:schemeClr val="tx2">
                  <a:satMod val="130000"/>
                </a:schemeClr>
              </a:solidFill>
            </a:endParaRPr>
          </a:p>
        </p:txBody>
      </p:sp>
      <p:sp>
        <p:nvSpPr>
          <p:cNvPr id="34819" name="Rectangle 3"/>
          <p:cNvSpPr>
            <a:spLocks noGrp="1" noChangeArrowheads="1"/>
          </p:cNvSpPr>
          <p:nvPr>
            <p:ph idx="1"/>
          </p:nvPr>
        </p:nvSpPr>
        <p:spPr>
          <a:xfrm>
            <a:off x="468313" y="1700213"/>
            <a:ext cx="7772400" cy="4052887"/>
          </a:xfrm>
        </p:spPr>
        <p:txBody>
          <a:bodyPr/>
          <a:lstStyle/>
          <a:p>
            <a:pPr eaLnBrk="1" hangingPunct="1"/>
            <a:r>
              <a:rPr lang="en-US" altLang="en-US" smtClean="0">
                <a:cs typeface="Arial" panose="020B0604020202020204" pitchFamily="34" charset="0"/>
              </a:rPr>
              <a:t>Transactions governed by an agreement, typically an ISDA Master Agreement, between two sides </a:t>
            </a:r>
          </a:p>
          <a:p>
            <a:pPr eaLnBrk="1" hangingPunct="1"/>
            <a:r>
              <a:rPr lang="en-US" altLang="en-US" smtClean="0">
                <a:cs typeface="Arial" panose="020B0604020202020204" pitchFamily="34" charset="0"/>
              </a:rPr>
              <a:t>A credit support annex (CSA) defines the collateral that has to be posted by each side</a:t>
            </a:r>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ED9DDD4-4E4E-40AC-8DAE-6303A324A4E5}" type="slidenum">
              <a:rPr lang="en-US" altLang="en-US" sz="1800" smtClean="0"/>
              <a:pPr>
                <a:spcBef>
                  <a:spcPct val="0"/>
                </a:spcBef>
                <a:buClrTx/>
                <a:buSzTx/>
                <a:buFontTx/>
                <a:buNone/>
              </a:pPr>
              <a:t>11</a:t>
            </a:fld>
            <a:endParaRPr lang="en-US" altLang="en-US" sz="18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CA" altLang="en-US" smtClean="0"/>
              <a:t>CCPs and OTC Markets</a:t>
            </a:r>
            <a:endParaRPr lang="en-US" altLang="en-US" smtClean="0"/>
          </a:p>
        </p:txBody>
      </p:sp>
      <p:sp>
        <p:nvSpPr>
          <p:cNvPr id="36867" name="Content Placeholder 4"/>
          <p:cNvSpPr>
            <a:spLocks noGrp="1"/>
          </p:cNvSpPr>
          <p:nvPr>
            <p:ph idx="1"/>
          </p:nvPr>
        </p:nvSpPr>
        <p:spPr>
          <a:xfrm>
            <a:off x="468313" y="1844675"/>
            <a:ext cx="8207375" cy="3900488"/>
          </a:xfrm>
        </p:spPr>
        <p:txBody>
          <a:bodyPr/>
          <a:lstStyle/>
          <a:p>
            <a:pPr eaLnBrk="1" hangingPunct="1"/>
            <a:r>
              <a:rPr lang="en-CA" altLang="en-US" smtClean="0">
                <a:cs typeface="Arial" panose="020B0604020202020204" pitchFamily="34" charset="0"/>
              </a:rPr>
              <a:t>Following the 2007-2009 crisis, there has been a requirement for standardized OTC derivatives transactions between financial institutions to be cleared centrally though clearing houses known as central counterparties (CCPs)</a:t>
            </a:r>
            <a:endParaRPr lang="en-US" altLang="en-US" smtClean="0">
              <a:cs typeface="Arial" panose="020B0604020202020204" pitchFamily="34" charset="0"/>
            </a:endParaRPr>
          </a:p>
        </p:txBody>
      </p:sp>
      <p:sp>
        <p:nvSpPr>
          <p:cNvPr id="36868"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3686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9705F0A-93D6-438C-AF44-A54AF1146795}" type="slidenum">
              <a:rPr lang="en-US" altLang="en-US" sz="1800" smtClean="0"/>
              <a:pPr>
                <a:spcBef>
                  <a:spcPct val="0"/>
                </a:spcBef>
                <a:buClrTx/>
                <a:buSzTx/>
                <a:buFontTx/>
                <a:buNone/>
              </a:pPr>
              <a:t>12</a:t>
            </a:fld>
            <a:endParaRPr lang="en-US" altLang="en-US" sz="180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CA" altLang="en-US" smtClean="0"/>
              <a:t>Operation of CCPs</a:t>
            </a:r>
          </a:p>
        </p:txBody>
      </p:sp>
      <p:sp>
        <p:nvSpPr>
          <p:cNvPr id="38915" name="Content Placeholder 2"/>
          <p:cNvSpPr>
            <a:spLocks noGrp="1"/>
          </p:cNvSpPr>
          <p:nvPr>
            <p:ph idx="1"/>
          </p:nvPr>
        </p:nvSpPr>
        <p:spPr/>
        <p:txBody>
          <a:bodyPr/>
          <a:lstStyle/>
          <a:p>
            <a:r>
              <a:rPr lang="en-CA" altLang="en-US" smtClean="0"/>
              <a:t>The operation of a CCP is very similar to that of an exchange clearing house</a:t>
            </a:r>
          </a:p>
          <a:p>
            <a:r>
              <a:rPr lang="en-CA" altLang="en-US" smtClean="0"/>
              <a:t>It has members who provide initial margin (based on their outstanding contracts with the CCP) and variation margin</a:t>
            </a:r>
          </a:p>
          <a:p>
            <a:r>
              <a:rPr lang="en-CA" altLang="en-US" smtClean="0"/>
              <a:t>If not a member, a company can clear its transactions through a member</a:t>
            </a:r>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48B1C96-EFED-43CA-AF3C-B639FFC1C035}" type="slidenum">
              <a:rPr lang="en-US" altLang="en-US" sz="1800" smtClean="0"/>
              <a:pPr>
                <a:spcBef>
                  <a:spcPct val="0"/>
                </a:spcBef>
                <a:buClrTx/>
                <a:buSzTx/>
                <a:buFontTx/>
                <a:buNone/>
              </a:pPr>
              <a:t>13</a:t>
            </a:fld>
            <a:endParaRPr lang="en-US" altLang="en-US" sz="180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CA" altLang="en-US" smtClean="0"/>
              <a:t>Bilateral Clearing vs Central Clearing </a:t>
            </a:r>
            <a:endParaRPr lang="en-US" altLang="en-US" smtClean="0"/>
          </a:p>
        </p:txBody>
      </p:sp>
      <p:sp>
        <p:nvSpPr>
          <p:cNvPr id="39939"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399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DEFC588-3E56-414E-85FA-A41020A9D883}" type="slidenum">
              <a:rPr lang="en-US" altLang="en-US" sz="1800" smtClean="0"/>
              <a:pPr>
                <a:spcBef>
                  <a:spcPct val="0"/>
                </a:spcBef>
                <a:buClrTx/>
                <a:buSzTx/>
                <a:buFontTx/>
                <a:buNone/>
              </a:pPr>
              <a:t>14</a:t>
            </a:fld>
            <a:endParaRPr lang="en-US" altLang="en-US" sz="1800" smtClean="0"/>
          </a:p>
        </p:txBody>
      </p:sp>
      <p:grpSp>
        <p:nvGrpSpPr>
          <p:cNvPr id="39941" name="Group 6"/>
          <p:cNvGrpSpPr>
            <a:grpSpLocks/>
          </p:cNvGrpSpPr>
          <p:nvPr/>
        </p:nvGrpSpPr>
        <p:grpSpPr bwMode="auto">
          <a:xfrm>
            <a:off x="765175" y="2205038"/>
            <a:ext cx="6827838" cy="2628900"/>
            <a:chOff x="1066800" y="2057400"/>
            <a:chExt cx="6827838" cy="2628900"/>
          </a:xfrm>
        </p:grpSpPr>
        <p:pic>
          <p:nvPicPr>
            <p:cNvPr id="3994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057400"/>
              <a:ext cx="6827838"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6"/>
            <p:cNvSpPr/>
            <p:nvPr/>
          </p:nvSpPr>
          <p:spPr>
            <a:xfrm>
              <a:off x="5562600" y="2971800"/>
              <a:ext cx="381000" cy="3048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r>
                <a:rPr lang="en-US" sz="1200" dirty="0"/>
                <a:t>CCCCCP</a:t>
              </a:r>
              <a:endParaRPr lang="en-CA" sz="1200" dirty="0"/>
            </a:p>
          </p:txBody>
        </p:sp>
        <p:sp>
          <p:nvSpPr>
            <p:cNvPr id="39944" name="TextBox 5"/>
            <p:cNvSpPr txBox="1">
              <a:spLocks noChangeArrowheads="1"/>
            </p:cNvSpPr>
            <p:nvPr/>
          </p:nvSpPr>
          <p:spPr bwMode="auto">
            <a:xfrm>
              <a:off x="5486400" y="2971800"/>
              <a:ext cx="1143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400">
                  <a:latin typeface="Calibri" panose="020F0502020204030204" pitchFamily="34" charset="0"/>
                  <a:cs typeface="Arial" panose="020B0604020202020204" pitchFamily="34" charset="0"/>
                </a:rPr>
                <a:t> CCP</a:t>
              </a:r>
              <a:endParaRPr lang="en-CA" altLang="en-US" sz="1400">
                <a:latin typeface="Calibri" panose="020F0502020204030204" pitchFamily="34" charset="0"/>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Grp="1" noChangeArrowheads="1"/>
          </p:cNvSpPr>
          <p:nvPr>
            <p:ph type="title"/>
          </p:nvPr>
        </p:nvSpPr>
        <p:spPr>
          <a:xfrm>
            <a:off x="457200" y="122238"/>
            <a:ext cx="7543800" cy="1074737"/>
          </a:xfrm>
        </p:spPr>
        <p:txBody>
          <a:bodyPr lIns="90488" tIns="44450" rIns="90488" bIns="44450"/>
          <a:lstStyle/>
          <a:p>
            <a:pPr eaLnBrk="1" fontAlgn="auto" hangingPunct="1">
              <a:spcAft>
                <a:spcPts val="0"/>
              </a:spcAft>
              <a:defRPr/>
            </a:pPr>
            <a:r>
              <a:rPr lang="en-US">
                <a:solidFill>
                  <a:schemeClr val="tx2">
                    <a:satMod val="130000"/>
                  </a:schemeClr>
                </a:solidFill>
              </a:rPr>
              <a:t>Some Terminology</a:t>
            </a:r>
          </a:p>
        </p:txBody>
      </p:sp>
      <p:sp>
        <p:nvSpPr>
          <p:cNvPr id="41987" name="Rectangle 5"/>
          <p:cNvSpPr>
            <a:spLocks noGrp="1" noChangeArrowheads="1"/>
          </p:cNvSpPr>
          <p:nvPr>
            <p:ph idx="1"/>
          </p:nvPr>
        </p:nvSpPr>
        <p:spPr>
          <a:xfrm>
            <a:off x="457200" y="1412875"/>
            <a:ext cx="8229600" cy="3997325"/>
          </a:xfrm>
        </p:spPr>
        <p:txBody>
          <a:bodyPr lIns="90488" tIns="44450" rIns="90488" bIns="44450"/>
          <a:lstStyle/>
          <a:p>
            <a:pPr eaLnBrk="1" hangingPunct="1"/>
            <a:r>
              <a:rPr lang="en-US" altLang="en-US" smtClean="0">
                <a:cs typeface="Arial" panose="020B0604020202020204" pitchFamily="34" charset="0"/>
              </a:rPr>
              <a:t>Open interest:  the total number of contracts outstanding </a:t>
            </a:r>
          </a:p>
          <a:p>
            <a:pPr lvl="1" eaLnBrk="1" hangingPunct="1"/>
            <a:r>
              <a:rPr lang="en-US" altLang="en-US" smtClean="0">
                <a:cs typeface="Arial" panose="020B0604020202020204" pitchFamily="34" charset="0"/>
              </a:rPr>
              <a:t>equal to number of long positions or number of short positions</a:t>
            </a:r>
          </a:p>
          <a:p>
            <a:pPr eaLnBrk="1" hangingPunct="1"/>
            <a:r>
              <a:rPr lang="en-US" altLang="en-US" smtClean="0">
                <a:cs typeface="Arial" panose="020B0604020202020204" pitchFamily="34" charset="0"/>
              </a:rPr>
              <a:t>Settlement price:  the price just before the final bell each day </a:t>
            </a:r>
          </a:p>
          <a:p>
            <a:pPr lvl="1" eaLnBrk="1" hangingPunct="1"/>
            <a:r>
              <a:rPr lang="en-US" altLang="en-US" smtClean="0">
                <a:cs typeface="Arial" panose="020B0604020202020204" pitchFamily="34" charset="0"/>
              </a:rPr>
              <a:t>used for the daily settlement process</a:t>
            </a:r>
          </a:p>
          <a:p>
            <a:pPr eaLnBrk="1" hangingPunct="1"/>
            <a:r>
              <a:rPr lang="en-US" altLang="en-US" smtClean="0">
                <a:cs typeface="Arial" panose="020B0604020202020204" pitchFamily="34" charset="0"/>
              </a:rPr>
              <a:t>Volume of trading:  the number of trades in one day</a:t>
            </a:r>
          </a:p>
        </p:txBody>
      </p:sp>
      <p:sp>
        <p:nvSpPr>
          <p:cNvPr id="4198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4198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44D23B-45D1-48F4-9643-FB143FEBC4E2}" type="slidenum">
              <a:rPr lang="en-US" altLang="en-US" sz="1800" smtClean="0"/>
              <a:pPr>
                <a:spcBef>
                  <a:spcPct val="0"/>
                </a:spcBef>
                <a:buClrTx/>
                <a:buSzTx/>
                <a:buFontTx/>
                <a:buNone/>
              </a:pPr>
              <a:t>15</a:t>
            </a:fld>
            <a:endParaRPr lang="en-US" altLang="en-US" sz="1800" smtClean="0"/>
          </a:p>
        </p:txBody>
      </p:sp>
      <p:sp>
        <p:nvSpPr>
          <p:cNvPr id="4199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4199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4403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D719069-7B0A-48A8-84D6-E47A44C1D1BB}" type="slidenum">
              <a:rPr lang="en-US" altLang="en-US" sz="1800" smtClean="0"/>
              <a:pPr>
                <a:spcBef>
                  <a:spcPct val="0"/>
                </a:spcBef>
                <a:buClrTx/>
                <a:buSzTx/>
                <a:buFontTx/>
                <a:buNone/>
              </a:pPr>
              <a:t>16</a:t>
            </a:fld>
            <a:endParaRPr lang="en-US" altLang="en-US" sz="1800" smtClean="0"/>
          </a:p>
        </p:txBody>
      </p:sp>
      <p:graphicFrame>
        <p:nvGraphicFramePr>
          <p:cNvPr id="5" name="Table 4"/>
          <p:cNvGraphicFramePr>
            <a:graphicFrameLocks noGrp="1"/>
          </p:cNvGraphicFramePr>
          <p:nvPr/>
        </p:nvGraphicFramePr>
        <p:xfrm>
          <a:off x="684213" y="2349500"/>
          <a:ext cx="7162800" cy="2433638"/>
        </p:xfrm>
        <a:graphic>
          <a:graphicData uri="http://schemas.openxmlformats.org/drawingml/2006/table">
            <a:tbl>
              <a:tblPr firstRow="1" bandRow="1">
                <a:tableStyleId>{5940675A-B579-460E-94D1-54222C63F5DA}</a:tableStyleId>
              </a:tblPr>
              <a:tblGrid>
                <a:gridCol w="1143000"/>
                <a:gridCol w="762000"/>
                <a:gridCol w="685800"/>
                <a:gridCol w="762000"/>
                <a:gridCol w="762000"/>
                <a:gridCol w="914400"/>
                <a:gridCol w="990600"/>
                <a:gridCol w="1143000"/>
              </a:tblGrid>
              <a:tr h="579135">
                <a:tc>
                  <a:txBody>
                    <a:bodyPr/>
                    <a:lstStyle/>
                    <a:p>
                      <a:pPr algn="ctr"/>
                      <a:endParaRPr lang="en-US" sz="1800" dirty="0"/>
                    </a:p>
                  </a:txBody>
                  <a:tcPr marT="45728" marB="45728"/>
                </a:tc>
                <a:tc>
                  <a:txBody>
                    <a:bodyPr/>
                    <a:lstStyle/>
                    <a:p>
                      <a:pPr algn="ctr"/>
                      <a:r>
                        <a:rPr lang="en-CA" sz="1600" dirty="0" smtClean="0"/>
                        <a:t>Open</a:t>
                      </a:r>
                      <a:endParaRPr lang="en-US" sz="1600" dirty="0"/>
                    </a:p>
                  </a:txBody>
                  <a:tcPr marT="45728" marB="45728"/>
                </a:tc>
                <a:tc>
                  <a:txBody>
                    <a:bodyPr/>
                    <a:lstStyle/>
                    <a:p>
                      <a:pPr algn="ctr"/>
                      <a:r>
                        <a:rPr lang="en-CA" sz="1600" dirty="0" smtClean="0"/>
                        <a:t>High</a:t>
                      </a:r>
                      <a:endParaRPr lang="en-US" sz="1600" dirty="0"/>
                    </a:p>
                  </a:txBody>
                  <a:tcPr marT="45728" marB="45728"/>
                </a:tc>
                <a:tc>
                  <a:txBody>
                    <a:bodyPr/>
                    <a:lstStyle/>
                    <a:p>
                      <a:pPr algn="ctr"/>
                      <a:r>
                        <a:rPr lang="en-CA" sz="1600" dirty="0" smtClean="0"/>
                        <a:t>Low</a:t>
                      </a:r>
                      <a:endParaRPr lang="en-US" sz="1600" dirty="0"/>
                    </a:p>
                  </a:txBody>
                  <a:tcPr marT="45728" marB="45728"/>
                </a:tc>
                <a:tc>
                  <a:txBody>
                    <a:bodyPr/>
                    <a:lstStyle/>
                    <a:p>
                      <a:pPr algn="ctr"/>
                      <a:r>
                        <a:rPr lang="en-CA" sz="1600" dirty="0" smtClean="0"/>
                        <a:t>Prior</a:t>
                      </a:r>
                    </a:p>
                    <a:p>
                      <a:pPr algn="ctr"/>
                      <a:r>
                        <a:rPr lang="en-CA" sz="1600" dirty="0" smtClean="0"/>
                        <a:t>settle</a:t>
                      </a:r>
                      <a:endParaRPr lang="en-US" sz="1600" dirty="0"/>
                    </a:p>
                  </a:txBody>
                  <a:tcPr marT="45728" marB="45728"/>
                </a:tc>
                <a:tc>
                  <a:txBody>
                    <a:bodyPr/>
                    <a:lstStyle/>
                    <a:p>
                      <a:pPr algn="ctr"/>
                      <a:r>
                        <a:rPr lang="en-CA" sz="1600" dirty="0" smtClean="0"/>
                        <a:t>Last</a:t>
                      </a:r>
                      <a:r>
                        <a:rPr lang="en-CA" sz="1600" baseline="0" dirty="0" smtClean="0"/>
                        <a:t> trade</a:t>
                      </a:r>
                      <a:endParaRPr lang="en-US" sz="1600" dirty="0"/>
                    </a:p>
                  </a:txBody>
                  <a:tcPr marT="45728" marB="45728"/>
                </a:tc>
                <a:tc>
                  <a:txBody>
                    <a:bodyPr/>
                    <a:lstStyle/>
                    <a:p>
                      <a:pPr algn="ctr"/>
                      <a:r>
                        <a:rPr lang="en-CA" sz="1600" dirty="0" smtClean="0"/>
                        <a:t>Change</a:t>
                      </a:r>
                      <a:endParaRPr lang="en-US" sz="1600" dirty="0"/>
                    </a:p>
                  </a:txBody>
                  <a:tcPr marT="45728" marB="45728"/>
                </a:tc>
                <a:tc>
                  <a:txBody>
                    <a:bodyPr/>
                    <a:lstStyle/>
                    <a:p>
                      <a:pPr algn="r"/>
                      <a:r>
                        <a:rPr lang="en-CA" sz="1600" dirty="0" smtClean="0"/>
                        <a:t>Volume</a:t>
                      </a:r>
                      <a:endParaRPr lang="en-US" sz="1600" dirty="0"/>
                    </a:p>
                  </a:txBody>
                  <a:tcPr marT="45728" marB="45728"/>
                </a:tc>
              </a:tr>
              <a:tr h="370901">
                <a:tc>
                  <a:txBody>
                    <a:bodyPr/>
                    <a:lstStyle/>
                    <a:p>
                      <a:pPr algn="ctr"/>
                      <a:r>
                        <a:rPr lang="en-CA" sz="1600" dirty="0" smtClean="0"/>
                        <a:t>Jun 2015</a:t>
                      </a:r>
                      <a:endParaRPr lang="en-US" sz="1600" dirty="0"/>
                    </a:p>
                  </a:txBody>
                  <a:tcPr marT="45728" marB="45728"/>
                </a:tc>
                <a:tc>
                  <a:txBody>
                    <a:bodyPr/>
                    <a:lstStyle/>
                    <a:p>
                      <a:pPr algn="ctr"/>
                      <a:r>
                        <a:rPr lang="en-CA" sz="1500" dirty="0" smtClean="0"/>
                        <a:t>61.23</a:t>
                      </a:r>
                      <a:endParaRPr lang="en-US" sz="1500" dirty="0"/>
                    </a:p>
                  </a:txBody>
                  <a:tcPr marT="45728" marB="45728"/>
                </a:tc>
                <a:tc>
                  <a:txBody>
                    <a:bodyPr/>
                    <a:lstStyle/>
                    <a:p>
                      <a:pPr algn="ctr"/>
                      <a:r>
                        <a:rPr lang="en-CA" sz="1500" dirty="0" smtClean="0"/>
                        <a:t>61.85</a:t>
                      </a:r>
                      <a:endParaRPr lang="en-US" sz="1500" dirty="0"/>
                    </a:p>
                  </a:txBody>
                  <a:tcPr marT="45728" marB="45728"/>
                </a:tc>
                <a:tc>
                  <a:txBody>
                    <a:bodyPr/>
                    <a:lstStyle/>
                    <a:p>
                      <a:pPr algn="ctr"/>
                      <a:r>
                        <a:rPr lang="en-CA" sz="1500" dirty="0" smtClean="0"/>
                        <a:t>60.19</a:t>
                      </a:r>
                      <a:endParaRPr lang="en-US" sz="1500" dirty="0"/>
                    </a:p>
                  </a:txBody>
                  <a:tcPr marT="45728" marB="45728"/>
                </a:tc>
                <a:tc>
                  <a:txBody>
                    <a:bodyPr/>
                    <a:lstStyle/>
                    <a:p>
                      <a:pPr algn="ctr"/>
                      <a:r>
                        <a:rPr lang="en-CA" sz="1500" dirty="0" smtClean="0"/>
                        <a:t>60.75</a:t>
                      </a:r>
                      <a:endParaRPr lang="en-US" sz="1500" dirty="0"/>
                    </a:p>
                  </a:txBody>
                  <a:tcPr marT="45728" marB="45728"/>
                </a:tc>
                <a:tc>
                  <a:txBody>
                    <a:bodyPr/>
                    <a:lstStyle/>
                    <a:p>
                      <a:pPr algn="ctr"/>
                      <a:r>
                        <a:rPr lang="en-CA" sz="1500" dirty="0" smtClean="0"/>
                        <a:t>60.20</a:t>
                      </a:r>
                      <a:endParaRPr lang="en-US" sz="1500" dirty="0"/>
                    </a:p>
                  </a:txBody>
                  <a:tcPr marT="45728" marB="45728"/>
                </a:tc>
                <a:tc>
                  <a:txBody>
                    <a:bodyPr/>
                    <a:lstStyle/>
                    <a:p>
                      <a:pPr algn="ctr"/>
                      <a:r>
                        <a:rPr lang="en-CA" sz="1500" dirty="0" smtClean="0"/>
                        <a:t>−0.55</a:t>
                      </a:r>
                      <a:endParaRPr lang="en-US" sz="1500" dirty="0"/>
                    </a:p>
                  </a:txBody>
                  <a:tcPr marT="45728" marB="45728"/>
                </a:tc>
                <a:tc>
                  <a:txBody>
                    <a:bodyPr/>
                    <a:lstStyle/>
                    <a:p>
                      <a:pPr algn="r"/>
                      <a:r>
                        <a:rPr lang="en-CA" sz="1500" dirty="0" smtClean="0"/>
                        <a:t>379,797</a:t>
                      </a:r>
                      <a:endParaRPr lang="en-US" sz="1500" dirty="0"/>
                    </a:p>
                  </a:txBody>
                  <a:tcPr marT="45728" marB="45728"/>
                </a:tc>
              </a:tr>
              <a:tr h="370901">
                <a:tc>
                  <a:txBody>
                    <a:bodyPr/>
                    <a:lstStyle/>
                    <a:p>
                      <a:pPr algn="ctr"/>
                      <a:r>
                        <a:rPr lang="en-CA" sz="1600" dirty="0" smtClean="0"/>
                        <a:t>Sept</a:t>
                      </a:r>
                      <a:r>
                        <a:rPr lang="en-CA" sz="1600" baseline="0" dirty="0" smtClean="0"/>
                        <a:t> 2015</a:t>
                      </a:r>
                      <a:endParaRPr lang="en-US" sz="1600" dirty="0"/>
                    </a:p>
                  </a:txBody>
                  <a:tcPr marT="45728" marB="45728"/>
                </a:tc>
                <a:tc>
                  <a:txBody>
                    <a:bodyPr/>
                    <a:lstStyle/>
                    <a:p>
                      <a:pPr algn="ctr"/>
                      <a:r>
                        <a:rPr lang="en-CA" sz="1500" dirty="0" smtClean="0"/>
                        <a:t>63.30</a:t>
                      </a:r>
                      <a:endParaRPr lang="en-US" sz="1500" dirty="0"/>
                    </a:p>
                  </a:txBody>
                  <a:tcPr marT="45728" marB="45728"/>
                </a:tc>
                <a:tc>
                  <a:txBody>
                    <a:bodyPr/>
                    <a:lstStyle/>
                    <a:p>
                      <a:pPr algn="ctr"/>
                      <a:r>
                        <a:rPr lang="en-CA" sz="1500" dirty="0" smtClean="0"/>
                        <a:t>63.49</a:t>
                      </a:r>
                      <a:endParaRPr lang="en-US" sz="1500" dirty="0"/>
                    </a:p>
                  </a:txBody>
                  <a:tcPr marT="45728" marB="45728"/>
                </a:tc>
                <a:tc>
                  <a:txBody>
                    <a:bodyPr/>
                    <a:lstStyle/>
                    <a:p>
                      <a:pPr algn="ctr"/>
                      <a:r>
                        <a:rPr lang="en-CA" sz="1500" dirty="0" smtClean="0"/>
                        <a:t>62.03</a:t>
                      </a:r>
                      <a:endParaRPr lang="en-US" sz="1500" dirty="0"/>
                    </a:p>
                  </a:txBody>
                  <a:tcPr marT="45728" marB="45728"/>
                </a:tc>
                <a:tc>
                  <a:txBody>
                    <a:bodyPr/>
                    <a:lstStyle/>
                    <a:p>
                      <a:pPr algn="ctr"/>
                      <a:r>
                        <a:rPr lang="en-CA" sz="1500" dirty="0" smtClean="0"/>
                        <a:t>62.58</a:t>
                      </a:r>
                      <a:endParaRPr lang="en-US" sz="1500" dirty="0"/>
                    </a:p>
                  </a:txBody>
                  <a:tcPr marT="45728" marB="45728"/>
                </a:tc>
                <a:tc>
                  <a:txBody>
                    <a:bodyPr/>
                    <a:lstStyle/>
                    <a:p>
                      <a:pPr algn="ctr"/>
                      <a:r>
                        <a:rPr lang="en-CA" sz="1500" dirty="0" smtClean="0"/>
                        <a:t>62.03</a:t>
                      </a:r>
                      <a:endParaRPr lang="en-US" sz="1500" dirty="0"/>
                    </a:p>
                  </a:txBody>
                  <a:tcPr marT="45728" marB="4572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500" dirty="0" smtClean="0"/>
                        <a:t>−0.55</a:t>
                      </a:r>
                      <a:endParaRPr lang="en-US" sz="1500" dirty="0" smtClean="0"/>
                    </a:p>
                  </a:txBody>
                  <a:tcPr marT="45728" marB="45728"/>
                </a:tc>
                <a:tc>
                  <a:txBody>
                    <a:bodyPr/>
                    <a:lstStyle/>
                    <a:p>
                      <a:pPr algn="r"/>
                      <a:r>
                        <a:rPr lang="en-CA" sz="1500" dirty="0" smtClean="0"/>
                        <a:t>39,663</a:t>
                      </a:r>
                      <a:endParaRPr lang="en-US" sz="1500" dirty="0"/>
                    </a:p>
                  </a:txBody>
                  <a:tcPr marT="45728" marB="45728"/>
                </a:tc>
              </a:tr>
              <a:tr h="370901">
                <a:tc>
                  <a:txBody>
                    <a:bodyPr/>
                    <a:lstStyle/>
                    <a:p>
                      <a:pPr algn="ctr"/>
                      <a:r>
                        <a:rPr lang="en-CA" sz="1600" baseline="0" dirty="0" smtClean="0"/>
                        <a:t>Dec 2015</a:t>
                      </a:r>
                      <a:endParaRPr lang="en-US" sz="1600" dirty="0"/>
                    </a:p>
                  </a:txBody>
                  <a:tcPr marT="45728" marB="45728"/>
                </a:tc>
                <a:tc>
                  <a:txBody>
                    <a:bodyPr/>
                    <a:lstStyle/>
                    <a:p>
                      <a:pPr algn="ctr"/>
                      <a:r>
                        <a:rPr lang="en-CA" sz="1500" dirty="0" smtClean="0"/>
                        <a:t>64.22</a:t>
                      </a:r>
                      <a:endParaRPr lang="en-US" sz="1500" dirty="0"/>
                    </a:p>
                  </a:txBody>
                  <a:tcPr marT="45728" marB="45728"/>
                </a:tc>
                <a:tc>
                  <a:txBody>
                    <a:bodyPr/>
                    <a:lstStyle/>
                    <a:p>
                      <a:pPr algn="ctr"/>
                      <a:r>
                        <a:rPr lang="en-CA" sz="1500" dirty="0" smtClean="0"/>
                        <a:t>64.39</a:t>
                      </a:r>
                      <a:endParaRPr lang="en-US" sz="1500" dirty="0"/>
                    </a:p>
                  </a:txBody>
                  <a:tcPr marT="45728" marB="45728"/>
                </a:tc>
                <a:tc>
                  <a:txBody>
                    <a:bodyPr/>
                    <a:lstStyle/>
                    <a:p>
                      <a:pPr algn="ctr"/>
                      <a:r>
                        <a:rPr lang="en-CA" sz="1500" dirty="0" smtClean="0"/>
                        <a:t>63.05</a:t>
                      </a:r>
                      <a:endParaRPr lang="en-US" sz="1500" dirty="0"/>
                    </a:p>
                  </a:txBody>
                  <a:tcPr marT="45728" marB="45728"/>
                </a:tc>
                <a:tc>
                  <a:txBody>
                    <a:bodyPr/>
                    <a:lstStyle/>
                    <a:p>
                      <a:pPr algn="ctr"/>
                      <a:r>
                        <a:rPr lang="en-CA" sz="1500" dirty="0" smtClean="0"/>
                        <a:t>63.58</a:t>
                      </a:r>
                      <a:endParaRPr lang="en-US" sz="1500" dirty="0"/>
                    </a:p>
                  </a:txBody>
                  <a:tcPr marT="45728" marB="45728"/>
                </a:tc>
                <a:tc>
                  <a:txBody>
                    <a:bodyPr/>
                    <a:lstStyle/>
                    <a:p>
                      <a:pPr algn="ctr"/>
                      <a:r>
                        <a:rPr lang="en-CA" sz="1500" dirty="0" smtClean="0"/>
                        <a:t>63.05</a:t>
                      </a:r>
                      <a:endParaRPr lang="en-US" sz="1500" dirty="0"/>
                    </a:p>
                  </a:txBody>
                  <a:tcPr marT="45728" marB="45728"/>
                </a:tc>
                <a:tc>
                  <a:txBody>
                    <a:bodyPr/>
                    <a:lstStyle/>
                    <a:p>
                      <a:pPr algn="ctr"/>
                      <a:r>
                        <a:rPr lang="en-CA" sz="1500" dirty="0" smtClean="0"/>
                        <a:t>−0.53</a:t>
                      </a:r>
                      <a:endParaRPr lang="en-US" sz="1500" dirty="0"/>
                    </a:p>
                  </a:txBody>
                  <a:tcPr marT="45728" marB="45728"/>
                </a:tc>
                <a:tc>
                  <a:txBody>
                    <a:bodyPr/>
                    <a:lstStyle/>
                    <a:p>
                      <a:pPr algn="r"/>
                      <a:r>
                        <a:rPr lang="en-CA" sz="1500" dirty="0" smtClean="0"/>
                        <a:t>54,902</a:t>
                      </a:r>
                      <a:endParaRPr lang="en-US" sz="1500" dirty="0"/>
                    </a:p>
                  </a:txBody>
                  <a:tcPr marT="45728" marB="45728"/>
                </a:tc>
              </a:tr>
              <a:tr h="370901">
                <a:tc>
                  <a:txBody>
                    <a:bodyPr/>
                    <a:lstStyle/>
                    <a:p>
                      <a:pPr algn="ctr"/>
                      <a:r>
                        <a:rPr lang="en-CA" sz="1600" dirty="0" smtClean="0"/>
                        <a:t>Dec 2016</a:t>
                      </a:r>
                      <a:endParaRPr lang="en-US" sz="1600" dirty="0"/>
                    </a:p>
                  </a:txBody>
                  <a:tcPr marT="45728" marB="45728"/>
                </a:tc>
                <a:tc>
                  <a:txBody>
                    <a:bodyPr/>
                    <a:lstStyle/>
                    <a:p>
                      <a:pPr algn="ctr"/>
                      <a:r>
                        <a:rPr lang="en-CA" sz="1500" dirty="0" smtClean="0"/>
                        <a:t>65.82</a:t>
                      </a:r>
                      <a:endParaRPr lang="en-US" sz="1500" dirty="0"/>
                    </a:p>
                  </a:txBody>
                  <a:tcPr marT="45728" marB="45728"/>
                </a:tc>
                <a:tc>
                  <a:txBody>
                    <a:bodyPr/>
                    <a:lstStyle/>
                    <a:p>
                      <a:pPr algn="ctr"/>
                      <a:r>
                        <a:rPr lang="en-CA" sz="1500" dirty="0" smtClean="0"/>
                        <a:t>65.99</a:t>
                      </a:r>
                      <a:endParaRPr lang="en-US" sz="1500" dirty="0"/>
                    </a:p>
                  </a:txBody>
                  <a:tcPr marT="45728" marB="45728"/>
                </a:tc>
                <a:tc>
                  <a:txBody>
                    <a:bodyPr/>
                    <a:lstStyle/>
                    <a:p>
                      <a:pPr algn="ctr"/>
                      <a:r>
                        <a:rPr lang="en-CA" sz="1500" dirty="0" smtClean="0"/>
                        <a:t>64.86</a:t>
                      </a:r>
                      <a:endParaRPr lang="en-US" sz="1500" dirty="0"/>
                    </a:p>
                  </a:txBody>
                  <a:tcPr marT="45728" marB="45728"/>
                </a:tc>
                <a:tc>
                  <a:txBody>
                    <a:bodyPr/>
                    <a:lstStyle/>
                    <a:p>
                      <a:pPr algn="ctr"/>
                      <a:r>
                        <a:rPr lang="en-CA" sz="1500" dirty="0" smtClean="0"/>
                        <a:t>65.48</a:t>
                      </a:r>
                      <a:endParaRPr lang="en-US" sz="1500" dirty="0"/>
                    </a:p>
                  </a:txBody>
                  <a:tcPr marT="45728" marB="45728"/>
                </a:tc>
                <a:tc>
                  <a:txBody>
                    <a:bodyPr/>
                    <a:lstStyle/>
                    <a:p>
                      <a:pPr algn="ctr"/>
                      <a:r>
                        <a:rPr lang="en-CA" sz="1500" dirty="0" smtClean="0"/>
                        <a:t>64.91</a:t>
                      </a:r>
                      <a:endParaRPr lang="en-US" sz="1500" dirty="0"/>
                    </a:p>
                  </a:txBody>
                  <a:tcPr marT="45728" marB="4572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500" dirty="0" smtClean="0"/>
                        <a:t>−0.57</a:t>
                      </a:r>
                      <a:endParaRPr lang="en-US" sz="1500" dirty="0" smtClean="0"/>
                    </a:p>
                  </a:txBody>
                  <a:tcPr marT="45728" marB="45728"/>
                </a:tc>
                <a:tc>
                  <a:txBody>
                    <a:bodyPr/>
                    <a:lstStyle/>
                    <a:p>
                      <a:pPr algn="r"/>
                      <a:r>
                        <a:rPr lang="en-CA" sz="1500" dirty="0" smtClean="0"/>
                        <a:t>20,212</a:t>
                      </a:r>
                      <a:endParaRPr lang="en-US" sz="1500" dirty="0"/>
                    </a:p>
                  </a:txBody>
                  <a:tcPr marT="45728" marB="45728"/>
                </a:tc>
              </a:tr>
              <a:tr h="370901">
                <a:tc>
                  <a:txBody>
                    <a:bodyPr/>
                    <a:lstStyle/>
                    <a:p>
                      <a:pPr algn="ctr"/>
                      <a:r>
                        <a:rPr lang="en-CA" sz="1600" dirty="0" smtClean="0"/>
                        <a:t>Dec 2017</a:t>
                      </a:r>
                      <a:endParaRPr lang="en-US" sz="1600" dirty="0"/>
                    </a:p>
                  </a:txBody>
                  <a:tcPr marT="45728" marB="45728"/>
                </a:tc>
                <a:tc>
                  <a:txBody>
                    <a:bodyPr/>
                    <a:lstStyle/>
                    <a:p>
                      <a:pPr algn="ctr"/>
                      <a:r>
                        <a:rPr lang="en-CA" sz="1500" dirty="0" smtClean="0"/>
                        <a:t>66.86</a:t>
                      </a:r>
                      <a:endParaRPr lang="en-US" sz="1500" dirty="0"/>
                    </a:p>
                  </a:txBody>
                  <a:tcPr marT="45728" marB="45728"/>
                </a:tc>
                <a:tc>
                  <a:txBody>
                    <a:bodyPr/>
                    <a:lstStyle/>
                    <a:p>
                      <a:pPr algn="ctr"/>
                      <a:r>
                        <a:rPr lang="en-CA" sz="1500" dirty="0" smtClean="0"/>
                        <a:t>67.08</a:t>
                      </a:r>
                      <a:endParaRPr lang="en-US" sz="1500" dirty="0"/>
                    </a:p>
                  </a:txBody>
                  <a:tcPr marT="45728" marB="45728"/>
                </a:tc>
                <a:tc>
                  <a:txBody>
                    <a:bodyPr/>
                    <a:lstStyle/>
                    <a:p>
                      <a:pPr algn="ctr"/>
                      <a:r>
                        <a:rPr lang="en-CA" sz="1500" dirty="0" smtClean="0"/>
                        <a:t>66.25</a:t>
                      </a:r>
                      <a:endParaRPr lang="en-US" sz="1500" dirty="0"/>
                    </a:p>
                  </a:txBody>
                  <a:tcPr marT="45728" marB="45728"/>
                </a:tc>
                <a:tc>
                  <a:txBody>
                    <a:bodyPr/>
                    <a:lstStyle/>
                    <a:p>
                      <a:pPr algn="ctr"/>
                      <a:r>
                        <a:rPr lang="en-CA" sz="1500" dirty="0" smtClean="0"/>
                        <a:t>66.83</a:t>
                      </a:r>
                      <a:endParaRPr lang="en-US" sz="1500" dirty="0"/>
                    </a:p>
                  </a:txBody>
                  <a:tcPr marT="45728" marB="45728"/>
                </a:tc>
                <a:tc>
                  <a:txBody>
                    <a:bodyPr/>
                    <a:lstStyle/>
                    <a:p>
                      <a:pPr algn="ctr"/>
                      <a:r>
                        <a:rPr lang="en-CA" sz="1500" dirty="0" smtClean="0"/>
                        <a:t>66.25</a:t>
                      </a:r>
                      <a:endParaRPr lang="en-US" sz="1500" dirty="0"/>
                    </a:p>
                  </a:txBody>
                  <a:tcPr marT="45728" marB="4572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500" dirty="0" smtClean="0"/>
                        <a:t>−0.58</a:t>
                      </a:r>
                      <a:endParaRPr lang="en-US" sz="1500" dirty="0" smtClean="0"/>
                    </a:p>
                  </a:txBody>
                  <a:tcPr marT="45728" marB="45728"/>
                </a:tc>
                <a:tc>
                  <a:txBody>
                    <a:bodyPr/>
                    <a:lstStyle/>
                    <a:p>
                      <a:pPr algn="r"/>
                      <a:r>
                        <a:rPr lang="en-CA" sz="1500" dirty="0" smtClean="0"/>
                        <a:t>  3,087</a:t>
                      </a:r>
                      <a:endParaRPr lang="en-US" sz="1500" dirty="0"/>
                    </a:p>
                  </a:txBody>
                  <a:tcPr marT="45728" marB="45728"/>
                </a:tc>
              </a:tr>
            </a:tbl>
          </a:graphicData>
        </a:graphic>
      </p:graphicFrame>
      <p:sp>
        <p:nvSpPr>
          <p:cNvPr id="44101" name="Title 1"/>
          <p:cNvSpPr>
            <a:spLocks noGrp="1"/>
          </p:cNvSpPr>
          <p:nvPr>
            <p:ph type="title"/>
          </p:nvPr>
        </p:nvSpPr>
        <p:spPr/>
        <p:txBody>
          <a:bodyPr/>
          <a:lstStyle/>
          <a:p>
            <a:pPr eaLnBrk="1" hangingPunct="1"/>
            <a:r>
              <a:rPr lang="en-CA" altLang="en-US" smtClean="0"/>
              <a:t>Crude Oil Trading on May 13, 2015 </a:t>
            </a:r>
            <a:r>
              <a:rPr lang="en-CA" altLang="en-US" sz="2400" smtClean="0"/>
              <a:t>(from Table 2.2, page 36)</a:t>
            </a:r>
            <a:endParaRPr lang="en-US" altLang="en-US" sz="24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45059" name="Rectangle 2"/>
          <p:cNvSpPr>
            <a:spLocks noGrp="1" noChangeArrowheads="1"/>
          </p:cNvSpPr>
          <p:nvPr>
            <p:ph type="title"/>
          </p:nvPr>
        </p:nvSpPr>
        <p:spPr/>
        <p:txBody>
          <a:bodyPr/>
          <a:lstStyle/>
          <a:p>
            <a:pPr eaLnBrk="1" hangingPunct="1"/>
            <a:r>
              <a:rPr lang="en-US" altLang="en-US" smtClean="0"/>
              <a:t>Delivery</a:t>
            </a:r>
          </a:p>
        </p:txBody>
      </p:sp>
      <p:sp>
        <p:nvSpPr>
          <p:cNvPr id="45060" name="Rectangle 3"/>
          <p:cNvSpPr>
            <a:spLocks noGrp="1" noChangeArrowheads="1"/>
          </p:cNvSpPr>
          <p:nvPr>
            <p:ph type="body" idx="1"/>
          </p:nvPr>
        </p:nvSpPr>
        <p:spPr>
          <a:xfrm>
            <a:off x="468313" y="1719263"/>
            <a:ext cx="8218487" cy="5138737"/>
          </a:xfrm>
        </p:spPr>
        <p:txBody>
          <a:bodyPr/>
          <a:lstStyle/>
          <a:p>
            <a:pPr eaLnBrk="1" hangingPunct="1"/>
            <a:r>
              <a:rPr lang="en-US" altLang="en-US" sz="2400" smtClean="0"/>
              <a:t>If a futures contract is not closed out before maturity, it is usually settled by delivering the assets underlying the contract. When there are alternatives about what is delivered, where it is delivered, and when it is delivered, the party with the short position chooses.</a:t>
            </a:r>
          </a:p>
          <a:p>
            <a:pPr eaLnBrk="1" hangingPunct="1"/>
            <a:r>
              <a:rPr lang="en-US" altLang="en-US" sz="2400" smtClean="0"/>
              <a:t> A few contracts (for example, those on stock indices and Eurodollars) are settled in cash </a:t>
            </a:r>
          </a:p>
          <a:p>
            <a:pPr eaLnBrk="1" hangingPunct="1"/>
            <a:r>
              <a:rPr lang="en-CA" altLang="en-US" sz="2400" smtClean="0"/>
              <a:t>When there is cash settlement contracts are traded until a predetermined time. All are then declared to be closed out.</a:t>
            </a:r>
            <a:endParaRPr lang="en-US" altLang="en-US" sz="2400" smtClean="0"/>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7655375-F719-4DBC-A52F-78802B89F94E}" type="slidenum">
              <a:rPr lang="en-US" altLang="en-US" sz="1800" smtClean="0"/>
              <a:pPr>
                <a:spcBef>
                  <a:spcPct val="0"/>
                </a:spcBef>
                <a:buClrTx/>
                <a:buSzTx/>
                <a:buFontTx/>
                <a:buNone/>
              </a:pPr>
              <a:t>17</a:t>
            </a:fld>
            <a:endParaRPr lang="en-US" altLang="en-US" sz="18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CA" altLang="en-US" smtClean="0"/>
              <a:t>Futures Price Patterns</a:t>
            </a:r>
            <a:endParaRPr lang="en-US" altLang="en-US" smtClean="0"/>
          </a:p>
        </p:txBody>
      </p:sp>
      <p:sp>
        <p:nvSpPr>
          <p:cNvPr id="3" name="Content Placeholder 2"/>
          <p:cNvSpPr>
            <a:spLocks noGrp="1"/>
          </p:cNvSpPr>
          <p:nvPr>
            <p:ph idx="1"/>
          </p:nvPr>
        </p:nvSpPr>
        <p:spPr/>
        <p:txBody>
          <a:bodyPr/>
          <a:lstStyle/>
          <a:p>
            <a:pPr>
              <a:defRPr/>
            </a:pPr>
            <a:r>
              <a:rPr lang="en-CA" dirty="0" smtClean="0"/>
              <a:t>Futures prices can be</a:t>
            </a:r>
          </a:p>
          <a:p>
            <a:pPr lvl="1">
              <a:defRPr/>
            </a:pPr>
            <a:r>
              <a:rPr lang="en-CA" dirty="0" smtClean="0"/>
              <a:t>an increasing function of maturity: normal market</a:t>
            </a:r>
          </a:p>
          <a:p>
            <a:pPr lvl="1">
              <a:defRPr/>
            </a:pPr>
            <a:r>
              <a:rPr lang="en-CA" dirty="0"/>
              <a:t>a</a:t>
            </a:r>
            <a:r>
              <a:rPr lang="en-CA" dirty="0" smtClean="0"/>
              <a:t> decreasing function of maturity: inverted market</a:t>
            </a:r>
          </a:p>
          <a:p>
            <a:pPr lvl="1">
              <a:defRPr/>
            </a:pPr>
            <a:r>
              <a:rPr lang="en-CA" dirty="0"/>
              <a:t>p</a:t>
            </a:r>
            <a:r>
              <a:rPr lang="en-CA" dirty="0" smtClean="0"/>
              <a:t>artly normal, partly inverted</a:t>
            </a:r>
          </a:p>
          <a:p>
            <a:pPr marL="344487" lvl="1" indent="0">
              <a:buFont typeface="Wingdings" panose="05000000000000000000" pitchFamily="2" charset="2"/>
              <a:buNone/>
              <a:defRPr/>
            </a:pPr>
            <a:endParaRPr lang="en-CA" dirty="0" smtClean="0"/>
          </a:p>
          <a:p>
            <a:pPr>
              <a:defRPr/>
            </a:pPr>
            <a:endParaRPr lang="en-US" dirty="0"/>
          </a:p>
        </p:txBody>
      </p:sp>
      <p:sp>
        <p:nvSpPr>
          <p:cNvPr id="471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1D2BE6B-54FB-4B7E-85AF-6FB192B17022}" type="slidenum">
              <a:rPr lang="en-US" altLang="en-US" sz="1800" smtClean="0"/>
              <a:pPr>
                <a:spcBef>
                  <a:spcPct val="0"/>
                </a:spcBef>
                <a:buClrTx/>
                <a:buSzTx/>
                <a:buFontTx/>
                <a:buNone/>
              </a:pPr>
              <a:t>18</a:t>
            </a:fld>
            <a:endParaRPr lang="en-US" altLang="en-US" sz="180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4813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813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48133" name="Rectangle 4"/>
          <p:cNvSpPr>
            <a:spLocks noGrp="1" noChangeArrowheads="1"/>
          </p:cNvSpPr>
          <p:nvPr>
            <p:ph type="title"/>
          </p:nvPr>
        </p:nvSpPr>
        <p:spPr>
          <a:noFill/>
        </p:spPr>
        <p:txBody>
          <a:bodyPr lIns="90488" tIns="44450" rIns="90488" bIns="44450" anchor="ctr"/>
          <a:lstStyle/>
          <a:p>
            <a:pPr eaLnBrk="1" hangingPunct="1"/>
            <a:r>
              <a:rPr lang="en-US" altLang="en-US" smtClean="0"/>
              <a:t>Questions</a:t>
            </a:r>
          </a:p>
        </p:txBody>
      </p:sp>
      <p:sp>
        <p:nvSpPr>
          <p:cNvPr id="48134" name="Rectangle 5"/>
          <p:cNvSpPr>
            <a:spLocks noGrp="1" noChangeArrowheads="1"/>
          </p:cNvSpPr>
          <p:nvPr>
            <p:ph type="body" idx="1"/>
          </p:nvPr>
        </p:nvSpPr>
        <p:spPr>
          <a:xfrm>
            <a:off x="1022350" y="1719263"/>
            <a:ext cx="7180263" cy="4411662"/>
          </a:xfrm>
          <a:noFill/>
        </p:spPr>
        <p:txBody>
          <a:bodyPr lIns="90488" tIns="44450" rIns="90488" bIns="44450"/>
          <a:lstStyle/>
          <a:p>
            <a:pPr eaLnBrk="1" hangingPunct="1"/>
            <a:r>
              <a:rPr lang="en-US" altLang="en-US" smtClean="0"/>
              <a:t>When a new trade is completed what are the possible effects on the open interest?</a:t>
            </a:r>
          </a:p>
          <a:p>
            <a:pPr eaLnBrk="1" hangingPunct="1"/>
            <a:r>
              <a:rPr lang="en-US" altLang="en-US" smtClean="0"/>
              <a:t>Can the volume of trading in a day be greater than the open interest?</a:t>
            </a:r>
          </a:p>
        </p:txBody>
      </p:sp>
      <p:sp>
        <p:nvSpPr>
          <p:cNvPr id="48135"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B7DE0D5-81DD-4A9A-9457-67E26DE03B62}" type="slidenum">
              <a:rPr lang="en-US" altLang="en-US" sz="1800" smtClean="0"/>
              <a:pPr>
                <a:spcBef>
                  <a:spcPct val="0"/>
                </a:spcBef>
                <a:buClrTx/>
                <a:buSzTx/>
                <a:buFontTx/>
                <a:buNone/>
              </a:pPr>
              <a:t>19</a:t>
            </a:fld>
            <a:endParaRPr lang="en-US" altLang="en-US" sz="180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838200"/>
            <a:ext cx="8229600" cy="1143000"/>
          </a:xfrm>
        </p:spPr>
        <p:txBody>
          <a:bodyPr/>
          <a:lstStyle/>
          <a:p>
            <a:pPr eaLnBrk="1" hangingPunct="1"/>
            <a:r>
              <a:rPr lang="en-CA" altLang="en-US" smtClean="0"/>
              <a:t>Types of Orders</a:t>
            </a:r>
            <a:endParaRPr lang="en-US" altLang="en-US" smtClean="0"/>
          </a:p>
        </p:txBody>
      </p:sp>
      <p:sp>
        <p:nvSpPr>
          <p:cNvPr id="50179" name="Content Placeholder 2"/>
          <p:cNvSpPr>
            <a:spLocks noGrp="1"/>
          </p:cNvSpPr>
          <p:nvPr>
            <p:ph sz="half" idx="2"/>
          </p:nvPr>
        </p:nvSpPr>
        <p:spPr/>
        <p:txBody>
          <a:bodyPr/>
          <a:lstStyle/>
          <a:p>
            <a:pPr eaLnBrk="1" hangingPunct="1"/>
            <a:r>
              <a:rPr lang="en-CA" altLang="en-US" sz="2800" smtClean="0"/>
              <a:t>Limit </a:t>
            </a:r>
          </a:p>
          <a:p>
            <a:pPr eaLnBrk="1" hangingPunct="1"/>
            <a:r>
              <a:rPr lang="en-CA" altLang="en-US" sz="2800" smtClean="0"/>
              <a:t>Stop-loss</a:t>
            </a:r>
          </a:p>
          <a:p>
            <a:pPr eaLnBrk="1" hangingPunct="1"/>
            <a:r>
              <a:rPr lang="en-CA" altLang="en-US" sz="2800" smtClean="0"/>
              <a:t>Stop-limit</a:t>
            </a:r>
          </a:p>
          <a:p>
            <a:pPr eaLnBrk="1" hangingPunct="1"/>
            <a:r>
              <a:rPr lang="en-CA" altLang="en-US" sz="2800" smtClean="0"/>
              <a:t>Market-if touched</a:t>
            </a:r>
          </a:p>
          <a:p>
            <a:pPr eaLnBrk="1" hangingPunct="1"/>
            <a:endParaRPr lang="en-US" altLang="en-US" smtClean="0"/>
          </a:p>
        </p:txBody>
      </p:sp>
      <p:sp>
        <p:nvSpPr>
          <p:cNvPr id="50180" name="Content Placeholder 7"/>
          <p:cNvSpPr>
            <a:spLocks noGrp="1"/>
          </p:cNvSpPr>
          <p:nvPr>
            <p:ph sz="quarter" idx="4"/>
          </p:nvPr>
        </p:nvSpPr>
        <p:spPr/>
        <p:txBody>
          <a:bodyPr/>
          <a:lstStyle/>
          <a:p>
            <a:pPr eaLnBrk="1" hangingPunct="1"/>
            <a:r>
              <a:rPr lang="en-CA" altLang="en-US" sz="2800" smtClean="0"/>
              <a:t>Discretionary</a:t>
            </a:r>
          </a:p>
          <a:p>
            <a:pPr eaLnBrk="1" hangingPunct="1"/>
            <a:r>
              <a:rPr lang="en-CA" altLang="en-US" sz="2800" smtClean="0"/>
              <a:t>Time of day</a:t>
            </a:r>
          </a:p>
          <a:p>
            <a:pPr eaLnBrk="1" hangingPunct="1"/>
            <a:r>
              <a:rPr lang="en-CA" altLang="en-US" sz="2800" smtClean="0"/>
              <a:t>Open</a:t>
            </a:r>
          </a:p>
          <a:p>
            <a:pPr eaLnBrk="1" hangingPunct="1"/>
            <a:r>
              <a:rPr lang="en-CA" altLang="en-US" sz="2800" smtClean="0"/>
              <a:t>Fill or kill</a:t>
            </a:r>
          </a:p>
          <a:p>
            <a:pPr eaLnBrk="1" hangingPunct="1"/>
            <a:endParaRPr lang="en-US" altLang="en-US" smtClean="0"/>
          </a:p>
        </p:txBody>
      </p:sp>
      <p:sp>
        <p:nvSpPr>
          <p:cNvPr id="50181"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smtClean="0"/>
          </a:p>
        </p:txBody>
      </p:sp>
      <p:sp>
        <p:nvSpPr>
          <p:cNvPr id="5018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F996763-E953-427B-94A4-7F09185FEF5E}" type="slidenum">
              <a:rPr lang="en-US" altLang="en-US" sz="1800" smtClean="0"/>
              <a:pPr>
                <a:spcBef>
                  <a:spcPct val="0"/>
                </a:spcBef>
                <a:buClrTx/>
                <a:buSzTx/>
                <a:buFontTx/>
                <a:buNone/>
              </a:pPr>
              <a:t>20</a:t>
            </a:fld>
            <a:endParaRPr lang="en-US" altLang="en-US" sz="180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52227"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2228"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2229" name="Rectangle 4"/>
          <p:cNvSpPr>
            <a:spLocks noGrp="1" noChangeArrowheads="1"/>
          </p:cNvSpPr>
          <p:nvPr>
            <p:ph type="title"/>
          </p:nvPr>
        </p:nvSpPr>
        <p:spPr>
          <a:noFill/>
        </p:spPr>
        <p:txBody>
          <a:bodyPr lIns="90488" tIns="44450" rIns="90488" bIns="44450" anchor="ctr"/>
          <a:lstStyle/>
          <a:p>
            <a:pPr eaLnBrk="1" hangingPunct="1"/>
            <a:r>
              <a:rPr lang="en-US" altLang="en-US" smtClean="0"/>
              <a:t>Regulation of Futures</a:t>
            </a:r>
          </a:p>
        </p:txBody>
      </p:sp>
      <p:sp>
        <p:nvSpPr>
          <p:cNvPr id="52230" name="Rectangle 5"/>
          <p:cNvSpPr>
            <a:spLocks noGrp="1" noChangeArrowheads="1"/>
          </p:cNvSpPr>
          <p:nvPr>
            <p:ph type="body" idx="1"/>
          </p:nvPr>
        </p:nvSpPr>
        <p:spPr>
          <a:xfrm>
            <a:off x="1368425" y="1728788"/>
            <a:ext cx="6408738" cy="4103687"/>
          </a:xfrm>
          <a:noFill/>
        </p:spPr>
        <p:txBody>
          <a:bodyPr lIns="90488" tIns="44450" rIns="90488" bIns="44450"/>
          <a:lstStyle/>
          <a:p>
            <a:pPr eaLnBrk="1" hangingPunct="1"/>
            <a:r>
              <a:rPr lang="en-US" altLang="en-US" smtClean="0"/>
              <a:t>Regulation is designed to protect the public interest</a:t>
            </a:r>
          </a:p>
          <a:p>
            <a:pPr eaLnBrk="1" hangingPunct="1"/>
            <a:r>
              <a:rPr lang="en-US" altLang="en-US" smtClean="0"/>
              <a:t>Regulators try to prevent questionable trading practices by either individuals on the floor of the exchange or outside groups</a:t>
            </a:r>
          </a:p>
        </p:txBody>
      </p:sp>
      <p:sp>
        <p:nvSpPr>
          <p:cNvPr id="52231"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B904CC5-CD97-489E-AFC0-EB05625C6764}" type="slidenum">
              <a:rPr lang="en-US" altLang="en-US" sz="1800" smtClean="0"/>
              <a:pPr>
                <a:spcBef>
                  <a:spcPct val="0"/>
                </a:spcBef>
                <a:buClrTx/>
                <a:buSzTx/>
                <a:buFontTx/>
                <a:buNone/>
              </a:pPr>
              <a:t>21</a:t>
            </a:fld>
            <a:endParaRPr lang="en-US" altLang="en-US" sz="1800"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5427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427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4277" name="Rectangle 4"/>
          <p:cNvSpPr>
            <a:spLocks noGrp="1" noChangeArrowheads="1"/>
          </p:cNvSpPr>
          <p:nvPr>
            <p:ph type="title"/>
          </p:nvPr>
        </p:nvSpPr>
        <p:spPr>
          <a:xfrm>
            <a:off x="457200" y="381000"/>
            <a:ext cx="8077200" cy="838200"/>
          </a:xfrm>
          <a:noFill/>
        </p:spPr>
        <p:txBody>
          <a:bodyPr lIns="90488" tIns="44450" rIns="90488" bIns="44450" anchor="ctr"/>
          <a:lstStyle/>
          <a:p>
            <a:pPr eaLnBrk="1" hangingPunct="1"/>
            <a:r>
              <a:rPr lang="en-US" altLang="en-US" smtClean="0"/>
              <a:t>Accounting &amp; Tax</a:t>
            </a:r>
          </a:p>
        </p:txBody>
      </p:sp>
      <p:sp>
        <p:nvSpPr>
          <p:cNvPr id="54278" name="Rectangle 5"/>
          <p:cNvSpPr>
            <a:spLocks noGrp="1" noChangeArrowheads="1"/>
          </p:cNvSpPr>
          <p:nvPr>
            <p:ph type="body" idx="1"/>
          </p:nvPr>
        </p:nvSpPr>
        <p:spPr>
          <a:xfrm>
            <a:off x="755650" y="1557338"/>
            <a:ext cx="7626350" cy="4241800"/>
          </a:xfrm>
          <a:noFill/>
        </p:spPr>
        <p:txBody>
          <a:bodyPr lIns="90488" tIns="44450" rIns="90488" bIns="44450"/>
          <a:lstStyle/>
          <a:p>
            <a:pPr eaLnBrk="1" hangingPunct="1"/>
            <a:r>
              <a:rPr lang="en-US" altLang="en-US" sz="2800" smtClean="0"/>
              <a:t>It is logical to recognize hedging  profits (losses) at the same time as the losses (profits) on the item being hedged</a:t>
            </a:r>
          </a:p>
          <a:p>
            <a:pPr eaLnBrk="1" hangingPunct="1"/>
            <a:r>
              <a:rPr lang="en-US" altLang="en-US" sz="2800" smtClean="0"/>
              <a:t>It is logical to recognize profits and losses from speculation  as they are incurred</a:t>
            </a:r>
          </a:p>
          <a:p>
            <a:pPr eaLnBrk="1" hangingPunct="1"/>
            <a:r>
              <a:rPr lang="en-US" altLang="en-US" sz="2800" smtClean="0"/>
              <a:t>Roughly speaking, this is what the accounting and tax treatment of futures in the U.S. and many other countries attempts to achieve</a:t>
            </a:r>
          </a:p>
        </p:txBody>
      </p:sp>
      <p:sp>
        <p:nvSpPr>
          <p:cNvPr id="5427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49BF6A2-FD3A-488A-B41D-13D8606BB1E1}" type="slidenum">
              <a:rPr lang="en-US" altLang="en-US" sz="1800" smtClean="0"/>
              <a:pPr>
                <a:spcBef>
                  <a:spcPct val="0"/>
                </a:spcBef>
                <a:buClrTx/>
                <a:buSzTx/>
                <a:buFontTx/>
                <a:buNone/>
              </a:pPr>
              <a:t>22</a:t>
            </a:fld>
            <a:endParaRPr lang="en-US" altLang="en-US" sz="1800" smtClean="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5632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632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6325" name="Rectangle 4"/>
          <p:cNvSpPr>
            <a:spLocks noGrp="1" noChangeArrowheads="1"/>
          </p:cNvSpPr>
          <p:nvPr>
            <p:ph type="title"/>
          </p:nvPr>
        </p:nvSpPr>
        <p:spPr>
          <a:noFill/>
        </p:spPr>
        <p:txBody>
          <a:bodyPr lIns="90488" tIns="44450" rIns="90488" bIns="44450" anchor="ctr"/>
          <a:lstStyle/>
          <a:p>
            <a:pPr eaLnBrk="1" hangingPunct="1"/>
            <a:r>
              <a:rPr lang="en-US" altLang="en-US" smtClean="0"/>
              <a:t>Forward Contracts</a:t>
            </a:r>
          </a:p>
        </p:txBody>
      </p:sp>
      <p:sp>
        <p:nvSpPr>
          <p:cNvPr id="56326" name="Rectangle 5"/>
          <p:cNvSpPr>
            <a:spLocks noGrp="1" noChangeArrowheads="1"/>
          </p:cNvSpPr>
          <p:nvPr>
            <p:ph type="body" idx="1"/>
          </p:nvPr>
        </p:nvSpPr>
        <p:spPr>
          <a:xfrm>
            <a:off x="838200" y="1684338"/>
            <a:ext cx="6770688" cy="4114800"/>
          </a:xfrm>
          <a:noFill/>
        </p:spPr>
        <p:txBody>
          <a:bodyPr lIns="90488" tIns="44450" rIns="90488" bIns="44450"/>
          <a:lstStyle/>
          <a:p>
            <a:pPr eaLnBrk="1" hangingPunct="1"/>
            <a:r>
              <a:rPr lang="en-US" altLang="en-US" sz="2800" smtClean="0"/>
              <a:t>A forward contract is an OTC agreement to buy or sell an asset at a certain time in the future for a certain price</a:t>
            </a:r>
          </a:p>
          <a:p>
            <a:pPr eaLnBrk="1" hangingPunct="1"/>
            <a:r>
              <a:rPr lang="en-US" altLang="en-US" sz="2800" smtClean="0"/>
              <a:t>There is no daily settlement (but collateral may have to be posted)</a:t>
            </a:r>
            <a:r>
              <a:rPr lang="en-US" altLang="en-US" sz="2800" i="1" smtClean="0"/>
              <a:t>. </a:t>
            </a:r>
            <a:r>
              <a:rPr lang="en-US" altLang="en-US" sz="2800" smtClean="0"/>
              <a:t>At the end of the life of the contract one party buys the asset for the agreed price from the other party</a:t>
            </a:r>
          </a:p>
          <a:p>
            <a:pPr eaLnBrk="1" hangingPunct="1"/>
            <a:endParaRPr lang="en-US" altLang="en-US" sz="2800" smtClean="0"/>
          </a:p>
          <a:p>
            <a:pPr eaLnBrk="1" hangingPunct="1"/>
            <a:endParaRPr lang="en-US" altLang="en-US" sz="2800" smtClean="0"/>
          </a:p>
        </p:txBody>
      </p:sp>
      <p:sp>
        <p:nvSpPr>
          <p:cNvPr id="56327"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F9A38DD-AC57-42C9-81C6-581FF5418F11}" type="slidenum">
              <a:rPr lang="en-US" altLang="en-US" sz="1800" smtClean="0"/>
              <a:pPr>
                <a:spcBef>
                  <a:spcPct val="0"/>
                </a:spcBef>
                <a:buClrTx/>
                <a:buSzTx/>
                <a:buFontTx/>
                <a:buNone/>
              </a:pPr>
              <a:t>23</a:t>
            </a:fld>
            <a:endParaRPr lang="en-US" altLang="en-US" sz="1800"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58371"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8372"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58373" name="Rectangle 4"/>
          <p:cNvSpPr>
            <a:spLocks noGrp="1" noChangeArrowheads="1"/>
          </p:cNvSpPr>
          <p:nvPr>
            <p:ph type="title"/>
          </p:nvPr>
        </p:nvSpPr>
        <p:spPr>
          <a:xfrm>
            <a:off x="457200" y="122238"/>
            <a:ext cx="7542213" cy="1295400"/>
          </a:xfrm>
          <a:noFill/>
        </p:spPr>
        <p:txBody>
          <a:bodyPr lIns="90488" tIns="44450" rIns="90488" bIns="44450" anchor="ctr"/>
          <a:lstStyle/>
          <a:p>
            <a:pPr eaLnBrk="1" hangingPunct="1"/>
            <a:r>
              <a:rPr lang="en-US" altLang="en-US" smtClean="0"/>
              <a:t>Profit from a Long Forward or Futures Position</a:t>
            </a:r>
          </a:p>
        </p:txBody>
      </p:sp>
      <p:grpSp>
        <p:nvGrpSpPr>
          <p:cNvPr id="58374" name="Group 5"/>
          <p:cNvGrpSpPr>
            <a:grpSpLocks/>
          </p:cNvGrpSpPr>
          <p:nvPr/>
        </p:nvGrpSpPr>
        <p:grpSpPr bwMode="auto">
          <a:xfrm>
            <a:off x="2187575" y="2112963"/>
            <a:ext cx="5600700" cy="3792537"/>
            <a:chOff x="1378" y="1331"/>
            <a:chExt cx="3528" cy="2389"/>
          </a:xfrm>
        </p:grpSpPr>
        <p:sp>
          <p:nvSpPr>
            <p:cNvPr id="58376" name="Line 6"/>
            <p:cNvSpPr>
              <a:spLocks noChangeShapeType="1"/>
            </p:cNvSpPr>
            <p:nvPr/>
          </p:nvSpPr>
          <p:spPr bwMode="auto">
            <a:xfrm>
              <a:off x="1378" y="1368"/>
              <a:ext cx="0" cy="2352"/>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8377" name="Line 7"/>
            <p:cNvSpPr>
              <a:spLocks noChangeShapeType="1"/>
            </p:cNvSpPr>
            <p:nvPr/>
          </p:nvSpPr>
          <p:spPr bwMode="auto">
            <a:xfrm>
              <a:off x="1378" y="2520"/>
              <a:ext cx="24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78" name="Line 8"/>
            <p:cNvSpPr>
              <a:spLocks noChangeShapeType="1"/>
            </p:cNvSpPr>
            <p:nvPr/>
          </p:nvSpPr>
          <p:spPr bwMode="auto">
            <a:xfrm flipV="1">
              <a:off x="1378" y="1440"/>
              <a:ext cx="2100" cy="210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9" name="Rectangle 9"/>
            <p:cNvSpPr>
              <a:spLocks noChangeArrowheads="1"/>
            </p:cNvSpPr>
            <p:nvPr/>
          </p:nvSpPr>
          <p:spPr bwMode="auto">
            <a:xfrm>
              <a:off x="1397" y="1331"/>
              <a:ext cx="637"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a:t>Profit</a:t>
              </a:r>
            </a:p>
          </p:txBody>
        </p:sp>
        <p:sp>
          <p:nvSpPr>
            <p:cNvPr id="58380" name="Rectangle 10"/>
            <p:cNvSpPr>
              <a:spLocks noChangeArrowheads="1"/>
            </p:cNvSpPr>
            <p:nvPr/>
          </p:nvSpPr>
          <p:spPr bwMode="auto">
            <a:xfrm>
              <a:off x="2896" y="2230"/>
              <a:ext cx="2010"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a:t>Price of Underlying</a:t>
              </a:r>
              <a:endParaRPr lang="en-US" altLang="en-US"/>
            </a:p>
            <a:p>
              <a:pPr>
                <a:spcBef>
                  <a:spcPct val="0"/>
                </a:spcBef>
                <a:buClrTx/>
                <a:buSzTx/>
                <a:buFontTx/>
                <a:buNone/>
              </a:pPr>
              <a:r>
                <a:rPr lang="en-US" altLang="en-US"/>
                <a:t>      </a:t>
              </a:r>
              <a:r>
                <a:rPr lang="en-US" altLang="en-US" sz="2800"/>
                <a:t>at Maturity</a:t>
              </a:r>
            </a:p>
          </p:txBody>
        </p:sp>
      </p:grpSp>
      <p:sp>
        <p:nvSpPr>
          <p:cNvPr id="58375"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3A722DC-E13E-4F75-9C35-35353C7100D8}" type="slidenum">
              <a:rPr lang="en-US" altLang="en-US" sz="1800" smtClean="0"/>
              <a:pPr>
                <a:spcBef>
                  <a:spcPct val="0"/>
                </a:spcBef>
                <a:buClrTx/>
                <a:buSzTx/>
                <a:buFontTx/>
                <a:buNone/>
              </a:pPr>
              <a:t>24</a:t>
            </a:fld>
            <a:endParaRPr lang="en-US" altLang="en-US" sz="1800" smtClean="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6041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042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0421" name="Rectangle 4"/>
          <p:cNvSpPr>
            <a:spLocks noGrp="1" noChangeArrowheads="1"/>
          </p:cNvSpPr>
          <p:nvPr>
            <p:ph type="title"/>
          </p:nvPr>
        </p:nvSpPr>
        <p:spPr>
          <a:noFill/>
        </p:spPr>
        <p:txBody>
          <a:bodyPr lIns="90488" tIns="44450" rIns="90488" bIns="44450" anchor="ctr"/>
          <a:lstStyle/>
          <a:p>
            <a:pPr eaLnBrk="1" hangingPunct="1"/>
            <a:r>
              <a:rPr lang="en-US" altLang="en-US" smtClean="0"/>
              <a:t>Profit from a Short Forward or Futures Position</a:t>
            </a:r>
          </a:p>
        </p:txBody>
      </p:sp>
      <p:grpSp>
        <p:nvGrpSpPr>
          <p:cNvPr id="60422" name="Group 5"/>
          <p:cNvGrpSpPr>
            <a:grpSpLocks/>
          </p:cNvGrpSpPr>
          <p:nvPr/>
        </p:nvGrpSpPr>
        <p:grpSpPr bwMode="auto">
          <a:xfrm>
            <a:off x="2187575" y="2112963"/>
            <a:ext cx="5600700" cy="3792537"/>
            <a:chOff x="1378" y="1331"/>
            <a:chExt cx="3528" cy="2389"/>
          </a:xfrm>
        </p:grpSpPr>
        <p:sp>
          <p:nvSpPr>
            <p:cNvPr id="60424" name="Line 6"/>
            <p:cNvSpPr>
              <a:spLocks noChangeShapeType="1"/>
            </p:cNvSpPr>
            <p:nvPr/>
          </p:nvSpPr>
          <p:spPr bwMode="auto">
            <a:xfrm>
              <a:off x="1378" y="1368"/>
              <a:ext cx="0" cy="2352"/>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0425" name="Line 7"/>
            <p:cNvSpPr>
              <a:spLocks noChangeShapeType="1"/>
            </p:cNvSpPr>
            <p:nvPr/>
          </p:nvSpPr>
          <p:spPr bwMode="auto">
            <a:xfrm>
              <a:off x="1378" y="2520"/>
              <a:ext cx="24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26" name="Rectangle 8"/>
            <p:cNvSpPr>
              <a:spLocks noChangeArrowheads="1"/>
            </p:cNvSpPr>
            <p:nvPr/>
          </p:nvSpPr>
          <p:spPr bwMode="auto">
            <a:xfrm>
              <a:off x="1397" y="1331"/>
              <a:ext cx="637"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a:t>Profit</a:t>
              </a:r>
            </a:p>
          </p:txBody>
        </p:sp>
        <p:sp>
          <p:nvSpPr>
            <p:cNvPr id="60427" name="Rectangle 9"/>
            <p:cNvSpPr>
              <a:spLocks noChangeArrowheads="1"/>
            </p:cNvSpPr>
            <p:nvPr/>
          </p:nvSpPr>
          <p:spPr bwMode="auto">
            <a:xfrm>
              <a:off x="2896" y="2230"/>
              <a:ext cx="2010"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800"/>
                <a:t>Price of Underlying</a:t>
              </a:r>
              <a:endParaRPr lang="en-US" altLang="en-US"/>
            </a:p>
            <a:p>
              <a:pPr>
                <a:spcBef>
                  <a:spcPct val="0"/>
                </a:spcBef>
                <a:buClrTx/>
                <a:buSzTx/>
                <a:buFontTx/>
                <a:buNone/>
              </a:pPr>
              <a:r>
                <a:rPr lang="en-US" altLang="en-US"/>
                <a:t>      </a:t>
              </a:r>
              <a:r>
                <a:rPr lang="en-US" altLang="en-US" sz="2800"/>
                <a:t>at Maturity</a:t>
              </a:r>
            </a:p>
          </p:txBody>
        </p:sp>
        <p:sp>
          <p:nvSpPr>
            <p:cNvPr id="60428" name="Line 10"/>
            <p:cNvSpPr>
              <a:spLocks noChangeShapeType="1"/>
            </p:cNvSpPr>
            <p:nvPr/>
          </p:nvSpPr>
          <p:spPr bwMode="auto">
            <a:xfrm>
              <a:off x="1378" y="1530"/>
              <a:ext cx="2070" cy="207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0423"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F3D028B-3B75-40D3-AE9B-E73C6779134C}" type="slidenum">
              <a:rPr lang="en-US" altLang="en-US" sz="1800" smtClean="0"/>
              <a:pPr>
                <a:spcBef>
                  <a:spcPct val="0"/>
                </a:spcBef>
                <a:buClrTx/>
                <a:buSzTx/>
                <a:buFontTx/>
                <a:buNone/>
              </a:pPr>
              <a:t>25</a:t>
            </a:fld>
            <a:endParaRPr lang="en-US" altLang="en-US" sz="1800"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t>Forward Contracts vs Futures Contracts </a:t>
            </a:r>
            <a:r>
              <a:rPr lang="en-US" altLang="en-US" sz="2400" smtClean="0"/>
              <a:t>(Table 2.3, page 43)</a:t>
            </a:r>
          </a:p>
        </p:txBody>
      </p:sp>
      <p:sp>
        <p:nvSpPr>
          <p:cNvPr id="62467"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6246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48C91A8-6B2A-450F-964F-BA6B08501CEF}" type="slidenum">
              <a:rPr lang="en-US" altLang="en-US" sz="1800" smtClean="0"/>
              <a:pPr>
                <a:spcBef>
                  <a:spcPct val="0"/>
                </a:spcBef>
                <a:buClrTx/>
                <a:buSzTx/>
                <a:buFontTx/>
                <a:buNone/>
              </a:pPr>
              <a:t>26</a:t>
            </a:fld>
            <a:endParaRPr lang="en-US" altLang="en-US" sz="1800" smtClean="0"/>
          </a:p>
        </p:txBody>
      </p:sp>
      <p:sp>
        <p:nvSpPr>
          <p:cNvPr id="62469" name="Content Placeholder 1"/>
          <p:cNvSpPr>
            <a:spLocks noGrp="1"/>
          </p:cNvSpPr>
          <p:nvPr>
            <p:ph idx="1"/>
          </p:nvPr>
        </p:nvSpPr>
        <p:spPr/>
        <p:txBody>
          <a:bodyPr/>
          <a:lstStyle/>
          <a:p>
            <a:pPr marL="0" indent="0">
              <a:buFont typeface="Wingdings" panose="05000000000000000000" pitchFamily="2" charset="2"/>
              <a:buNone/>
            </a:pPr>
            <a:r>
              <a:rPr lang="en-CA" altLang="en-US" smtClean="0"/>
              <a:t> </a:t>
            </a:r>
            <a:endParaRPr lang="en-US" altLang="en-US" smtClean="0"/>
          </a:p>
        </p:txBody>
      </p:sp>
      <p:grpSp>
        <p:nvGrpSpPr>
          <p:cNvPr id="62470" name="Group 34"/>
          <p:cNvGrpSpPr>
            <a:grpSpLocks/>
          </p:cNvGrpSpPr>
          <p:nvPr/>
        </p:nvGrpSpPr>
        <p:grpSpPr bwMode="auto">
          <a:xfrm>
            <a:off x="1371600" y="2057400"/>
            <a:ext cx="6940550" cy="3908425"/>
            <a:chOff x="968375" y="1905000"/>
            <a:chExt cx="7343775" cy="4060825"/>
          </a:xfrm>
        </p:grpSpPr>
        <p:sp>
          <p:nvSpPr>
            <p:cNvPr id="62471" name="Rectangle 14"/>
            <p:cNvSpPr>
              <a:spLocks noChangeArrowheads="1"/>
            </p:cNvSpPr>
            <p:nvPr/>
          </p:nvSpPr>
          <p:spPr bwMode="auto">
            <a:xfrm>
              <a:off x="6429375" y="5830888"/>
              <a:ext cx="12700" cy="4762"/>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72" name="Rectangle 5"/>
            <p:cNvSpPr>
              <a:spLocks noChangeArrowheads="1"/>
            </p:cNvSpPr>
            <p:nvPr/>
          </p:nvSpPr>
          <p:spPr bwMode="auto">
            <a:xfrm>
              <a:off x="968375" y="2557463"/>
              <a:ext cx="4016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Private contract between 2 parties</a:t>
              </a:r>
            </a:p>
          </p:txBody>
        </p:sp>
        <p:sp>
          <p:nvSpPr>
            <p:cNvPr id="62473" name="Rectangle 6"/>
            <p:cNvSpPr>
              <a:spLocks noChangeArrowheads="1"/>
            </p:cNvSpPr>
            <p:nvPr/>
          </p:nvSpPr>
          <p:spPr bwMode="auto">
            <a:xfrm>
              <a:off x="5824538" y="2557463"/>
              <a:ext cx="2100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Exchange traded</a:t>
              </a:r>
            </a:p>
          </p:txBody>
        </p:sp>
        <p:sp>
          <p:nvSpPr>
            <p:cNvPr id="62474" name="Rectangle 7"/>
            <p:cNvSpPr>
              <a:spLocks noChangeArrowheads="1"/>
            </p:cNvSpPr>
            <p:nvPr/>
          </p:nvSpPr>
          <p:spPr bwMode="auto">
            <a:xfrm>
              <a:off x="1563688" y="3090863"/>
              <a:ext cx="26908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Non-standard contract</a:t>
              </a:r>
            </a:p>
          </p:txBody>
        </p:sp>
        <p:sp>
          <p:nvSpPr>
            <p:cNvPr id="62475" name="Rectangle 8"/>
            <p:cNvSpPr>
              <a:spLocks noChangeArrowheads="1"/>
            </p:cNvSpPr>
            <p:nvPr/>
          </p:nvSpPr>
          <p:spPr bwMode="auto">
            <a:xfrm>
              <a:off x="5732463" y="3090863"/>
              <a:ext cx="21828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Standard contract</a:t>
              </a:r>
            </a:p>
          </p:txBody>
        </p:sp>
        <p:sp>
          <p:nvSpPr>
            <p:cNvPr id="62476" name="Rectangle 9"/>
            <p:cNvSpPr>
              <a:spLocks noChangeArrowheads="1"/>
            </p:cNvSpPr>
            <p:nvPr/>
          </p:nvSpPr>
          <p:spPr bwMode="auto">
            <a:xfrm>
              <a:off x="1111250" y="3625850"/>
              <a:ext cx="3810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Usually 1 specified delivery date</a:t>
              </a:r>
            </a:p>
          </p:txBody>
        </p:sp>
        <p:sp>
          <p:nvSpPr>
            <p:cNvPr id="62477" name="Rectangle 10"/>
            <p:cNvSpPr>
              <a:spLocks noChangeArrowheads="1"/>
            </p:cNvSpPr>
            <p:nvPr/>
          </p:nvSpPr>
          <p:spPr bwMode="auto">
            <a:xfrm>
              <a:off x="5464175" y="3625850"/>
              <a:ext cx="28479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Range of delivery dates</a:t>
              </a:r>
            </a:p>
          </p:txBody>
        </p:sp>
        <p:sp>
          <p:nvSpPr>
            <p:cNvPr id="62478" name="Rectangle 11"/>
            <p:cNvSpPr>
              <a:spLocks noChangeArrowheads="1"/>
            </p:cNvSpPr>
            <p:nvPr/>
          </p:nvSpPr>
          <p:spPr bwMode="auto">
            <a:xfrm>
              <a:off x="1792288" y="4160838"/>
              <a:ext cx="29987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Settled at end of contract</a:t>
              </a:r>
            </a:p>
          </p:txBody>
        </p:sp>
        <p:sp>
          <p:nvSpPr>
            <p:cNvPr id="62479" name="Rectangle 12"/>
            <p:cNvSpPr>
              <a:spLocks noChangeArrowheads="1"/>
            </p:cNvSpPr>
            <p:nvPr/>
          </p:nvSpPr>
          <p:spPr bwMode="auto">
            <a:xfrm>
              <a:off x="6037263" y="4160838"/>
              <a:ext cx="15652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Settled daily</a:t>
              </a:r>
            </a:p>
          </p:txBody>
        </p:sp>
        <p:sp>
          <p:nvSpPr>
            <p:cNvPr id="62480" name="Rectangle 13"/>
            <p:cNvSpPr>
              <a:spLocks noChangeArrowheads="1"/>
            </p:cNvSpPr>
            <p:nvPr/>
          </p:nvSpPr>
          <p:spPr bwMode="auto">
            <a:xfrm>
              <a:off x="1066800" y="5943600"/>
              <a:ext cx="3629025" cy="4763"/>
            </a:xfrm>
            <a:prstGeom prst="rect">
              <a:avLst/>
            </a:prstGeom>
            <a:solidFill>
              <a:srgbClr val="808080"/>
            </a:solidFill>
            <a:ln w="254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81" name="Rectangle 15"/>
            <p:cNvSpPr>
              <a:spLocks noChangeArrowheads="1"/>
            </p:cNvSpPr>
            <p:nvPr/>
          </p:nvSpPr>
          <p:spPr bwMode="auto">
            <a:xfrm>
              <a:off x="4648200" y="5943600"/>
              <a:ext cx="3473450" cy="4763"/>
            </a:xfrm>
            <a:prstGeom prst="rect">
              <a:avLst/>
            </a:prstGeom>
            <a:solidFill>
              <a:srgbClr val="808080"/>
            </a:solidFill>
            <a:ln w="254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82" name="Rectangle 16"/>
            <p:cNvSpPr>
              <a:spLocks noChangeArrowheads="1"/>
            </p:cNvSpPr>
            <p:nvPr/>
          </p:nvSpPr>
          <p:spPr bwMode="auto">
            <a:xfrm>
              <a:off x="1636713" y="4695825"/>
              <a:ext cx="2538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Delivery or final cash</a:t>
              </a:r>
            </a:p>
          </p:txBody>
        </p:sp>
        <p:sp>
          <p:nvSpPr>
            <p:cNvPr id="62483" name="Rectangle 17"/>
            <p:cNvSpPr>
              <a:spLocks noChangeArrowheads="1"/>
            </p:cNvSpPr>
            <p:nvPr/>
          </p:nvSpPr>
          <p:spPr bwMode="auto">
            <a:xfrm>
              <a:off x="1566863" y="4992688"/>
              <a:ext cx="30305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settlement usually occurs</a:t>
              </a:r>
            </a:p>
          </p:txBody>
        </p:sp>
        <p:sp>
          <p:nvSpPr>
            <p:cNvPr id="62484" name="Rectangle 19"/>
            <p:cNvSpPr>
              <a:spLocks noChangeArrowheads="1"/>
            </p:cNvSpPr>
            <p:nvPr/>
          </p:nvSpPr>
          <p:spPr bwMode="auto">
            <a:xfrm>
              <a:off x="5791200" y="4992688"/>
              <a:ext cx="19415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latin typeface="Times New Roman" panose="02020603050405020304" pitchFamily="18" charset="0"/>
                </a:rPr>
                <a:t>prior to maturity</a:t>
              </a:r>
            </a:p>
          </p:txBody>
        </p:sp>
        <p:sp>
          <p:nvSpPr>
            <p:cNvPr id="62485" name="Rectangle 20"/>
            <p:cNvSpPr>
              <a:spLocks noChangeArrowheads="1"/>
            </p:cNvSpPr>
            <p:nvPr/>
          </p:nvSpPr>
          <p:spPr bwMode="auto">
            <a:xfrm>
              <a:off x="1025525" y="1905000"/>
              <a:ext cx="3629025" cy="4763"/>
            </a:xfrm>
            <a:prstGeom prst="rect">
              <a:avLst/>
            </a:prstGeom>
            <a:solidFill>
              <a:srgbClr val="808080"/>
            </a:solidFill>
            <a:ln w="254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86" name="Rectangle 21"/>
            <p:cNvSpPr>
              <a:spLocks noChangeArrowheads="1"/>
            </p:cNvSpPr>
            <p:nvPr/>
          </p:nvSpPr>
          <p:spPr bwMode="auto">
            <a:xfrm>
              <a:off x="6429375" y="1905000"/>
              <a:ext cx="12700" cy="4763"/>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87" name="Rectangle 22"/>
            <p:cNvSpPr>
              <a:spLocks noChangeArrowheads="1"/>
            </p:cNvSpPr>
            <p:nvPr/>
          </p:nvSpPr>
          <p:spPr bwMode="auto">
            <a:xfrm>
              <a:off x="4699000" y="1905000"/>
              <a:ext cx="3473450" cy="4763"/>
            </a:xfrm>
            <a:prstGeom prst="rect">
              <a:avLst/>
            </a:prstGeom>
            <a:solidFill>
              <a:srgbClr val="808080"/>
            </a:solidFill>
            <a:ln w="254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88" name="Rectangle 23"/>
            <p:cNvSpPr>
              <a:spLocks noChangeArrowheads="1"/>
            </p:cNvSpPr>
            <p:nvPr/>
          </p:nvSpPr>
          <p:spPr bwMode="auto">
            <a:xfrm>
              <a:off x="2052638" y="2105025"/>
              <a:ext cx="16795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b="1">
                  <a:latin typeface="Times New Roman" panose="02020603050405020304" pitchFamily="18" charset="0"/>
                </a:rPr>
                <a:t>FORWARDS</a:t>
              </a:r>
            </a:p>
          </p:txBody>
        </p:sp>
        <p:sp>
          <p:nvSpPr>
            <p:cNvPr id="62489" name="Rectangle 24"/>
            <p:cNvSpPr>
              <a:spLocks noChangeArrowheads="1"/>
            </p:cNvSpPr>
            <p:nvPr/>
          </p:nvSpPr>
          <p:spPr bwMode="auto">
            <a:xfrm>
              <a:off x="6089650" y="2105025"/>
              <a:ext cx="1384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b="1">
                  <a:latin typeface="Times New Roman" panose="02020603050405020304" pitchFamily="18" charset="0"/>
                </a:rPr>
                <a:t>FUTURES</a:t>
              </a:r>
            </a:p>
          </p:txBody>
        </p:sp>
        <p:sp>
          <p:nvSpPr>
            <p:cNvPr id="62490" name="Rectangle 25"/>
            <p:cNvSpPr>
              <a:spLocks noChangeArrowheads="1"/>
            </p:cNvSpPr>
            <p:nvPr/>
          </p:nvSpPr>
          <p:spPr bwMode="auto">
            <a:xfrm>
              <a:off x="1019175" y="2497138"/>
              <a:ext cx="3641725" cy="12700"/>
            </a:xfrm>
            <a:prstGeom prst="rect">
              <a:avLst/>
            </a:prstGeom>
            <a:solidFill>
              <a:srgbClr val="808080"/>
            </a:solidFill>
            <a:ln w="127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91" name="Rectangle 26"/>
            <p:cNvSpPr>
              <a:spLocks noChangeArrowheads="1"/>
            </p:cNvSpPr>
            <p:nvPr/>
          </p:nvSpPr>
          <p:spPr bwMode="auto">
            <a:xfrm>
              <a:off x="6435725" y="2490788"/>
              <a:ext cx="25400" cy="2540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92" name="Rectangle 27"/>
            <p:cNvSpPr>
              <a:spLocks noChangeArrowheads="1"/>
            </p:cNvSpPr>
            <p:nvPr/>
          </p:nvSpPr>
          <p:spPr bwMode="auto">
            <a:xfrm>
              <a:off x="4687888" y="2497138"/>
              <a:ext cx="3497262" cy="12700"/>
            </a:xfrm>
            <a:prstGeom prst="rect">
              <a:avLst/>
            </a:prstGeom>
            <a:solidFill>
              <a:srgbClr val="808080"/>
            </a:solidFill>
            <a:ln w="12700">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latin typeface="Times New Roman" panose="02020603050405020304" pitchFamily="18" charset="0"/>
              </a:endParaRPr>
            </a:p>
          </p:txBody>
        </p:sp>
        <p:sp>
          <p:nvSpPr>
            <p:cNvPr id="62493" name="Text Box 30"/>
            <p:cNvSpPr txBox="1">
              <a:spLocks noChangeArrowheads="1"/>
            </p:cNvSpPr>
            <p:nvPr/>
          </p:nvSpPr>
          <p:spPr bwMode="auto">
            <a:xfrm>
              <a:off x="2057400" y="54864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1800">
                  <a:latin typeface="Times New Roman" panose="02020603050405020304" pitchFamily="18" charset="0"/>
                </a:rPr>
                <a:t>Some credit risk</a:t>
              </a:r>
            </a:p>
          </p:txBody>
        </p:sp>
        <p:sp>
          <p:nvSpPr>
            <p:cNvPr id="62494" name="Text Box 31"/>
            <p:cNvSpPr txBox="1">
              <a:spLocks noChangeArrowheads="1"/>
            </p:cNvSpPr>
            <p:nvPr/>
          </p:nvSpPr>
          <p:spPr bwMode="auto">
            <a:xfrm>
              <a:off x="5638800" y="5562600"/>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1800">
                  <a:latin typeface="Times New Roman" panose="02020603050405020304" pitchFamily="18" charset="0"/>
                </a:rPr>
                <a:t>Virtually no credit risk</a:t>
              </a:r>
            </a:p>
          </p:txBody>
        </p:sp>
        <p:sp>
          <p:nvSpPr>
            <p:cNvPr id="62495" name="Text Box 46"/>
            <p:cNvSpPr txBox="1">
              <a:spLocks noChangeArrowheads="1"/>
            </p:cNvSpPr>
            <p:nvPr/>
          </p:nvSpPr>
          <p:spPr bwMode="auto">
            <a:xfrm>
              <a:off x="5851525" y="55991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CA" altLang="en-US" sz="18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CA" altLang="en-US" sz="1400" smtClean="0"/>
              <a:t>Fundamentals of Futures and Options Markets, 9th Ed, Ch 2, Copyright © John C. Hull 2016</a:t>
            </a:r>
            <a:endParaRPr lang="en-US" altLang="en-US" sz="1400" i="0" smtClean="0"/>
          </a:p>
        </p:txBody>
      </p:sp>
      <p:sp>
        <p:nvSpPr>
          <p:cNvPr id="6451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451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64517" name="Rectangle 4"/>
          <p:cNvSpPr>
            <a:spLocks noGrp="1" noChangeArrowheads="1"/>
          </p:cNvSpPr>
          <p:nvPr>
            <p:ph type="title"/>
          </p:nvPr>
        </p:nvSpPr>
        <p:spPr>
          <a:xfrm>
            <a:off x="685800" y="188913"/>
            <a:ext cx="7772400" cy="1511300"/>
          </a:xfrm>
          <a:noFill/>
        </p:spPr>
        <p:txBody>
          <a:bodyPr lIns="90488" tIns="44450" rIns="90488" bIns="44450" anchor="ctr"/>
          <a:lstStyle/>
          <a:p>
            <a:pPr eaLnBrk="1" hangingPunct="1"/>
            <a:r>
              <a:rPr lang="en-US" altLang="en-US" smtClean="0"/>
              <a:t>Foreign Exchange Quotes</a:t>
            </a:r>
          </a:p>
        </p:txBody>
      </p:sp>
      <p:sp>
        <p:nvSpPr>
          <p:cNvPr id="64518" name="Rectangle 5"/>
          <p:cNvSpPr>
            <a:spLocks noGrp="1" noChangeArrowheads="1"/>
          </p:cNvSpPr>
          <p:nvPr>
            <p:ph type="body" idx="1"/>
          </p:nvPr>
        </p:nvSpPr>
        <p:spPr>
          <a:xfrm>
            <a:off x="685800" y="2133600"/>
            <a:ext cx="8210550" cy="4100513"/>
          </a:xfrm>
          <a:noFill/>
        </p:spPr>
        <p:txBody>
          <a:bodyPr lIns="90488" tIns="44450" rIns="90488" bIns="44450"/>
          <a:lstStyle/>
          <a:p>
            <a:pPr eaLnBrk="1" hangingPunct="1"/>
            <a:r>
              <a:rPr lang="en-US" altLang="en-US" sz="2800" smtClean="0"/>
              <a:t>Futures exchange rates are quoted as the number of USD per unit of the foreign currency</a:t>
            </a:r>
          </a:p>
          <a:p>
            <a:pPr eaLnBrk="1" hangingPunct="1"/>
            <a:r>
              <a:rPr lang="en-US" altLang="en-US" sz="2800" smtClean="0"/>
              <a:t>Forward exchange rates are quoted in the same way as spot exchange rates. This means that GBP, EUR, AUD, and NZD are USD per unit of foreign currency. Other currencies (e.g., CAD and JPY) are quoted as units of the foreign currency per USD.</a:t>
            </a:r>
          </a:p>
        </p:txBody>
      </p:sp>
      <p:sp>
        <p:nvSpPr>
          <p:cNvPr id="64519"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25C4D91-1236-4819-B4A9-7867CB855411}" type="slidenum">
              <a:rPr lang="en-US" altLang="en-US" sz="1800" smtClean="0"/>
              <a:pPr>
                <a:spcBef>
                  <a:spcPct val="0"/>
                </a:spcBef>
                <a:buClrTx/>
                <a:buSzTx/>
                <a:buFontTx/>
                <a:buNone/>
              </a:pPr>
              <a:t>27</a:t>
            </a:fld>
            <a:endParaRPr lang="en-US" altLang="en-US" sz="1800"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49B933-AD94-4657-A675-02694BDE4F15}"/>
</file>

<file path=customXml/itemProps2.xml><?xml version="1.0" encoding="utf-8"?>
<ds:datastoreItem xmlns:ds="http://schemas.openxmlformats.org/officeDocument/2006/customXml" ds:itemID="{5AE0AEDF-004A-4ABD-8E76-982CF47B9466}"/>
</file>

<file path=customXml/itemProps3.xml><?xml version="1.0" encoding="utf-8"?>
<ds:datastoreItem xmlns:ds="http://schemas.openxmlformats.org/officeDocument/2006/customXml" ds:itemID="{D0B20A1C-A9BF-4504-B4F2-306805938EA0}"/>
</file>

<file path=docProps/app.xml><?xml version="1.0" encoding="utf-8"?>
<Properties xmlns="http://schemas.openxmlformats.org/officeDocument/2006/extended-properties" xmlns:vt="http://schemas.openxmlformats.org/officeDocument/2006/docPropsVTypes">
  <Template>Ch03HullFundamentals5thEd</Template>
  <TotalTime>552</TotalTime>
  <Words>1702</Words>
  <Application>Microsoft Office PowerPoint</Application>
  <PresentationFormat>On-screen Show (4:3)</PresentationFormat>
  <Paragraphs>285</Paragraphs>
  <Slides>27</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Times New Roman</vt:lpstr>
      <vt:lpstr>Wingdings</vt:lpstr>
      <vt:lpstr>Calibri</vt:lpstr>
      <vt:lpstr>1_Network</vt:lpstr>
      <vt:lpstr>Futures Markets and Central Counterparties</vt:lpstr>
      <vt:lpstr>Futures Contracts</vt:lpstr>
      <vt:lpstr>Convergence of Futures to Spot (Figure 2.1, page 28)</vt:lpstr>
      <vt:lpstr>Margin</vt:lpstr>
      <vt:lpstr>Example of a Futures Trade (page 29-30)</vt:lpstr>
      <vt:lpstr>A Possible Outcome (Table 2.1, page 30)</vt:lpstr>
      <vt:lpstr>Key Points About Futures</vt:lpstr>
      <vt:lpstr>Exchange Clearing House</vt:lpstr>
      <vt:lpstr>Margin Cash Flows When Futures Price Increases</vt:lpstr>
      <vt:lpstr>Margin Cash Flows When Futures  Price Decreases</vt:lpstr>
      <vt:lpstr>OTC Markets: Bilateral Clearing</vt:lpstr>
      <vt:lpstr>CCPs and OTC Markets</vt:lpstr>
      <vt:lpstr>Operation of CCPs</vt:lpstr>
      <vt:lpstr>Bilateral Clearing vs Central Clearing </vt:lpstr>
      <vt:lpstr>Some Terminology</vt:lpstr>
      <vt:lpstr>Crude Oil Trading on May 13, 2015 (from Table 2.2, page 36)</vt:lpstr>
      <vt:lpstr>Delivery</vt:lpstr>
      <vt:lpstr>Futures Price Patterns</vt:lpstr>
      <vt:lpstr>Questions</vt:lpstr>
      <vt:lpstr>Types of Orders</vt:lpstr>
      <vt:lpstr>Regulation of Futures</vt:lpstr>
      <vt:lpstr>Accounting &amp; Tax</vt:lpstr>
      <vt:lpstr>Forward Contracts</vt:lpstr>
      <vt:lpstr>Profit from a Long Forward or Futures Position</vt:lpstr>
      <vt:lpstr>Profit from a Short Forward or Futures Position</vt:lpstr>
      <vt:lpstr>Forward Contracts vs Futures Contracts (Table 2.3, page 43)</vt:lpstr>
      <vt:lpstr>Foreign Exchange Quotes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Futures Markets and Central Counterparties</dc:title>
  <dc:subject>Fundamentals of Futures and Options Markets, 7E</dc:subject>
  <dc:creator>John C. Hull</dc:creator>
  <cp:keywords>Chapter 2</cp:keywords>
  <dc:description>Copyright 2016 by John C. Hull . All Rights Reserved. Published 2016.</dc:description>
  <cp:lastModifiedBy>John Hull</cp:lastModifiedBy>
  <cp:revision>47</cp:revision>
  <cp:lastPrinted>2001-05-03T04:31:37Z</cp:lastPrinted>
  <dcterms:created xsi:type="dcterms:W3CDTF">2001-03-27T16:50:53Z</dcterms:created>
  <dcterms:modified xsi:type="dcterms:W3CDTF">2016-01-20T20:58:22Z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