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2"/>
  </p:notesMasterIdLst>
  <p:handoutMasterIdLst>
    <p:handoutMasterId r:id="rId23"/>
  </p:handout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65" r:id="rId13"/>
    <p:sldId id="266" r:id="rId14"/>
    <p:sldId id="277" r:id="rId15"/>
    <p:sldId id="268" r:id="rId16"/>
    <p:sldId id="275" r:id="rId17"/>
    <p:sldId id="269" r:id="rId18"/>
    <p:sldId id="276" r:id="rId19"/>
    <p:sldId id="270" r:id="rId20"/>
    <p:sldId id="271" r:id="rId21"/>
  </p:sldIdLst>
  <p:sldSz cx="9144000" cy="6858000" type="letter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115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33795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0160001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53189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21043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56570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31564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95332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60906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08044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2526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10286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41834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625544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7766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39446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26656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50601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315148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0758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2810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12773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99273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CAC2B1C1-960C-4085-AAB8-AA3CC8BEEE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66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B1EEF-95B0-47F2-92BD-0147FAFA7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43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20126D-7961-4B49-90F6-5CE24DFBCE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329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6C95C8-D3D2-4DED-9A90-9329FC7814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118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7FCC7-F6B3-4579-B0DA-4EFDA6E8C6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675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3F2CA-9326-4E96-ACA8-2ACBEA41F4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547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CB223-16DC-43BF-B348-0625B3FA6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52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306AE-CB80-4ECE-91DB-368AE72785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98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450AA-4149-4020-AC79-7ACE6CE6B3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628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9BCEF-DE44-42BB-801C-6D518321AD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60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9812F-8982-4E6D-97F4-26389885FF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745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893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10, Copyright © John  C. Hull 2016</a:t>
            </a:r>
            <a:endParaRPr lang="en-US" altLang="en-US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fld id="{E8530380-AF57-4E6C-B495-5B856209369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9629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3850" y="404813"/>
            <a:ext cx="6781800" cy="2133600"/>
          </a:xfrm>
        </p:spPr>
        <p:txBody>
          <a:bodyPr/>
          <a:lstStyle/>
          <a:p>
            <a:pPr eaLnBrk="1" hangingPunct="1"/>
            <a:r>
              <a:rPr lang="en-US" altLang="en-US" smtClean="0"/>
              <a:t>Properties of Stock Options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900113" y="3068638"/>
            <a:ext cx="6248400" cy="23622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10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63D3E9-F4C4-4611-8B92-195AD173EDD2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1171575" y="28575"/>
            <a:ext cx="7315200" cy="172402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Notation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8175" y="1371600"/>
            <a:ext cx="3724275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c</a:t>
            </a:r>
            <a:r>
              <a:rPr lang="en-US" altLang="en-US" sz="2400" smtClean="0">
                <a:latin typeface="Times New Roman" panose="02020603050405020304" pitchFamily="18" charset="0"/>
              </a:rPr>
              <a:t> :</a:t>
            </a:r>
            <a:r>
              <a:rPr lang="en-US" altLang="en-US" sz="2400" smtClean="0"/>
              <a:t>	European call option price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p</a:t>
            </a:r>
            <a:r>
              <a:rPr lang="en-US" altLang="en-US" sz="2400" smtClean="0"/>
              <a:t> :	European put option price</a:t>
            </a:r>
          </a:p>
          <a:p>
            <a:pPr eaLnBrk="1" hangingPunct="1"/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/>
              <a:t>:	Stock price today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</a:t>
            </a:r>
            <a:r>
              <a:rPr lang="en-US" altLang="en-US" sz="2400" smtClean="0"/>
              <a:t> :	Strike price</a:t>
            </a:r>
          </a:p>
          <a:p>
            <a:pPr eaLnBrk="1" hangingPunct="1"/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/>
              <a:t>:	Life of option 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smtClean="0">
                <a:latin typeface="Symbol" panose="05050102010706020507" pitchFamily="18" charset="2"/>
              </a:rPr>
              <a:t></a:t>
            </a:r>
            <a:r>
              <a:rPr lang="en-US" altLang="en-US" sz="2400" smtClean="0"/>
              <a:t>:	Volatility of stock price</a:t>
            </a:r>
          </a:p>
        </p:txBody>
      </p:sp>
      <p:sp>
        <p:nvSpPr>
          <p:cNvPr id="1434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29125" y="1371600"/>
            <a:ext cx="413385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C</a:t>
            </a:r>
            <a:r>
              <a:rPr lang="en-US" altLang="en-US" sz="2400" smtClean="0"/>
              <a:t> :	American Call option price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P </a:t>
            </a:r>
            <a:r>
              <a:rPr lang="en-US" altLang="en-US" sz="2400" smtClean="0"/>
              <a:t>:	American Put option price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/>
              <a:t>:Stock price at option maturity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D</a:t>
            </a:r>
            <a:r>
              <a:rPr lang="en-US" altLang="en-US" sz="2400" smtClean="0"/>
              <a:t> :	Present value of dividends during option’s life</a:t>
            </a:r>
          </a:p>
          <a:p>
            <a:pPr eaLnBrk="1" hangingPunct="1"/>
            <a:r>
              <a:rPr lang="en-US" altLang="en-US" sz="2400" smtClean="0"/>
              <a:t>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r</a:t>
            </a:r>
            <a:r>
              <a:rPr lang="en-US" altLang="en-US" sz="2400" i="1" smtClean="0"/>
              <a:t> </a:t>
            </a:r>
            <a:r>
              <a:rPr lang="en-US" altLang="en-US" sz="2400" smtClean="0"/>
              <a:t>:	Risk-free rate for maturity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smtClean="0"/>
              <a:t> </a:t>
            </a:r>
            <a:r>
              <a:rPr lang="en-US" altLang="en-US" sz="2400" smtClean="0"/>
              <a:t>with cont. comp.</a:t>
            </a:r>
          </a:p>
        </p:txBody>
      </p:sp>
      <p:sp>
        <p:nvSpPr>
          <p:cNvPr id="143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7CD27B-62CC-4F1C-AC08-F3BB3B5DB966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514350"/>
            <a:ext cx="7829550" cy="85725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Effect of Variables on Option Pricing </a:t>
            </a:r>
            <a:r>
              <a:rPr lang="en-US" altLang="en-US" sz="2200" smtClean="0"/>
              <a:t>(Table 10.1, page 228)</a:t>
            </a:r>
            <a:endParaRPr lang="en-US" altLang="en-US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571625"/>
            <a:ext cx="3892550" cy="3902075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</a:t>
            </a:r>
          </a:p>
        </p:txBody>
      </p:sp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1422400" y="2819400"/>
            <a:ext cx="67040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366" name="Group 8"/>
          <p:cNvGrpSpPr>
            <a:grpSpLocks/>
          </p:cNvGrpSpPr>
          <p:nvPr/>
        </p:nvGrpSpPr>
        <p:grpSpPr bwMode="auto">
          <a:xfrm>
            <a:off x="1422400" y="2122488"/>
            <a:ext cx="6694488" cy="3579812"/>
            <a:chOff x="896" y="1337"/>
            <a:chExt cx="4217" cy="2255"/>
          </a:xfrm>
        </p:grpSpPr>
        <p:sp>
          <p:nvSpPr>
            <p:cNvPr id="15406" name="Rectangle 5"/>
            <p:cNvSpPr>
              <a:spLocks noChangeArrowheads="1"/>
            </p:cNvSpPr>
            <p:nvPr/>
          </p:nvSpPr>
          <p:spPr bwMode="auto">
            <a:xfrm>
              <a:off x="900" y="1337"/>
              <a:ext cx="4209" cy="2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07" name="Rectangle 6"/>
            <p:cNvSpPr>
              <a:spLocks noChangeArrowheads="1"/>
            </p:cNvSpPr>
            <p:nvPr/>
          </p:nvSpPr>
          <p:spPr bwMode="auto">
            <a:xfrm>
              <a:off x="896" y="1776"/>
              <a:ext cx="4217" cy="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08" name="Rectangle 7"/>
            <p:cNvSpPr>
              <a:spLocks noChangeArrowheads="1"/>
            </p:cNvSpPr>
            <p:nvPr/>
          </p:nvSpPr>
          <p:spPr bwMode="auto">
            <a:xfrm>
              <a:off x="900" y="3590"/>
              <a:ext cx="4209" cy="2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5367" name="Rectangle 9"/>
          <p:cNvSpPr>
            <a:spLocks noChangeArrowheads="1"/>
          </p:cNvSpPr>
          <p:nvPr/>
        </p:nvSpPr>
        <p:spPr bwMode="auto">
          <a:xfrm>
            <a:off x="3246438" y="2235200"/>
            <a:ext cx="36195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en-US" i="1">
              <a:solidFill>
                <a:srgbClr val="000000"/>
              </a:solidFill>
            </a:endParaRPr>
          </a:p>
        </p:txBody>
      </p:sp>
      <p:sp>
        <p:nvSpPr>
          <p:cNvPr id="15368" name="Rectangle 10"/>
          <p:cNvSpPr>
            <a:spLocks noChangeArrowheads="1"/>
          </p:cNvSpPr>
          <p:nvPr/>
        </p:nvSpPr>
        <p:spPr bwMode="auto">
          <a:xfrm>
            <a:off x="4532313" y="2235200"/>
            <a:ext cx="3841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endParaRPr lang="en-US" altLang="en-US" i="1">
              <a:solidFill>
                <a:srgbClr val="000000"/>
              </a:solidFill>
            </a:endParaRPr>
          </a:p>
        </p:txBody>
      </p:sp>
      <p:sp>
        <p:nvSpPr>
          <p:cNvPr id="15369" name="Rectangle 11"/>
          <p:cNvSpPr>
            <a:spLocks noChangeArrowheads="1"/>
          </p:cNvSpPr>
          <p:nvPr/>
        </p:nvSpPr>
        <p:spPr bwMode="auto">
          <a:xfrm>
            <a:off x="5818188" y="2235200"/>
            <a:ext cx="45243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endParaRPr lang="en-US" altLang="en-US" i="1">
              <a:solidFill>
                <a:srgbClr val="000000"/>
              </a:solidFill>
            </a:endParaRPr>
          </a:p>
        </p:txBody>
      </p:sp>
      <p:sp>
        <p:nvSpPr>
          <p:cNvPr id="15370" name="Rectangle 12"/>
          <p:cNvSpPr>
            <a:spLocks noChangeArrowheads="1"/>
          </p:cNvSpPr>
          <p:nvPr/>
        </p:nvSpPr>
        <p:spPr bwMode="auto">
          <a:xfrm>
            <a:off x="7108825" y="2235200"/>
            <a:ext cx="428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endParaRPr lang="en-US" altLang="en-US" i="1">
              <a:solidFill>
                <a:srgbClr val="000000"/>
              </a:solidFill>
            </a:endParaRPr>
          </a:p>
        </p:txBody>
      </p:sp>
      <p:grpSp>
        <p:nvGrpSpPr>
          <p:cNvPr id="15371" name="Group 21"/>
          <p:cNvGrpSpPr>
            <a:grpSpLocks/>
          </p:cNvGrpSpPr>
          <p:nvPr/>
        </p:nvGrpSpPr>
        <p:grpSpPr bwMode="auto">
          <a:xfrm>
            <a:off x="1219200" y="2235200"/>
            <a:ext cx="1670050" cy="3419475"/>
            <a:chOff x="1063" y="1408"/>
            <a:chExt cx="823" cy="2154"/>
          </a:xfrm>
        </p:grpSpPr>
        <p:sp>
          <p:nvSpPr>
            <p:cNvPr id="15398" name="Rectangle 13"/>
            <p:cNvSpPr>
              <a:spLocks noChangeArrowheads="1"/>
            </p:cNvSpPr>
            <p:nvPr/>
          </p:nvSpPr>
          <p:spPr bwMode="auto">
            <a:xfrm>
              <a:off x="1063" y="1408"/>
              <a:ext cx="823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</a:rPr>
                <a:t>Variable</a:t>
              </a:r>
            </a:p>
          </p:txBody>
        </p:sp>
        <p:grpSp>
          <p:nvGrpSpPr>
            <p:cNvPr id="15399" name="Group 20"/>
            <p:cNvGrpSpPr>
              <a:grpSpLocks/>
            </p:cNvGrpSpPr>
            <p:nvPr/>
          </p:nvGrpSpPr>
          <p:grpSpPr bwMode="auto">
            <a:xfrm>
              <a:off x="1255" y="1806"/>
              <a:ext cx="255" cy="1756"/>
              <a:chOff x="1255" y="1806"/>
              <a:chExt cx="255" cy="1756"/>
            </a:xfrm>
          </p:grpSpPr>
          <p:sp>
            <p:nvSpPr>
              <p:cNvPr id="15400" name="Rectangle 14"/>
              <p:cNvSpPr>
                <a:spLocks noChangeArrowheads="1"/>
              </p:cNvSpPr>
              <p:nvPr/>
            </p:nvSpPr>
            <p:spPr bwMode="auto">
              <a:xfrm>
                <a:off x="1255" y="1806"/>
                <a:ext cx="255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en-US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5401" name="Rectangle 15"/>
              <p:cNvSpPr>
                <a:spLocks noChangeArrowheads="1"/>
              </p:cNvSpPr>
              <p:nvPr/>
            </p:nvSpPr>
            <p:spPr bwMode="auto">
              <a:xfrm>
                <a:off x="1255" y="2085"/>
                <a:ext cx="223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K</a:t>
                </a:r>
                <a:endParaRPr lang="en-US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5402" name="Rectangle 16"/>
              <p:cNvSpPr>
                <a:spLocks noChangeArrowheads="1"/>
              </p:cNvSpPr>
              <p:nvPr/>
            </p:nvSpPr>
            <p:spPr bwMode="auto">
              <a:xfrm>
                <a:off x="1255" y="2364"/>
                <a:ext cx="200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15403" name="Rectangle 17"/>
              <p:cNvSpPr>
                <a:spLocks noChangeArrowheads="1"/>
              </p:cNvSpPr>
              <p:nvPr/>
            </p:nvSpPr>
            <p:spPr bwMode="auto">
              <a:xfrm>
                <a:off x="1255" y="2642"/>
                <a:ext cx="209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rgbClr val="000000"/>
                    </a:solidFill>
                    <a:latin typeface="Symbol" panose="05050102010706020507" pitchFamily="18" charset="2"/>
                  </a:rPr>
                  <a:t></a:t>
                </a:r>
              </a:p>
            </p:txBody>
          </p:sp>
          <p:sp>
            <p:nvSpPr>
              <p:cNvPr id="15404" name="Rectangle 18"/>
              <p:cNvSpPr>
                <a:spLocks noChangeArrowheads="1"/>
              </p:cNvSpPr>
              <p:nvPr/>
            </p:nvSpPr>
            <p:spPr bwMode="auto">
              <a:xfrm>
                <a:off x="1255" y="2920"/>
                <a:ext cx="167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r</a:t>
                </a:r>
                <a:endParaRPr lang="en-US" altLang="en-US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15405" name="Rectangle 19"/>
              <p:cNvSpPr>
                <a:spLocks noChangeArrowheads="1"/>
              </p:cNvSpPr>
              <p:nvPr/>
            </p:nvSpPr>
            <p:spPr bwMode="auto">
              <a:xfrm>
                <a:off x="1255" y="3199"/>
                <a:ext cx="234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en-US" i="1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5372" name="Rectangle 22"/>
          <p:cNvSpPr>
            <a:spLocks noChangeArrowheads="1"/>
          </p:cNvSpPr>
          <p:nvPr/>
        </p:nvSpPr>
        <p:spPr bwMode="auto">
          <a:xfrm>
            <a:off x="3184525" y="2716213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73" name="Rectangle 23"/>
          <p:cNvSpPr>
            <a:spLocks noChangeArrowheads="1"/>
          </p:cNvSpPr>
          <p:nvPr/>
        </p:nvSpPr>
        <p:spPr bwMode="auto">
          <a:xfrm>
            <a:off x="5770563" y="2716213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74" name="Rectangle 24"/>
          <p:cNvSpPr>
            <a:spLocks noChangeArrowheads="1"/>
          </p:cNvSpPr>
          <p:nvPr/>
        </p:nvSpPr>
        <p:spPr bwMode="auto">
          <a:xfrm>
            <a:off x="7050088" y="2620963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75" name="Rectangle 25"/>
          <p:cNvSpPr>
            <a:spLocks noChangeArrowheads="1"/>
          </p:cNvSpPr>
          <p:nvPr/>
        </p:nvSpPr>
        <p:spPr bwMode="auto">
          <a:xfrm>
            <a:off x="4478338" y="3159125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grpSp>
        <p:nvGrpSpPr>
          <p:cNvPr id="15376" name="Group 28"/>
          <p:cNvGrpSpPr>
            <a:grpSpLocks/>
          </p:cNvGrpSpPr>
          <p:nvPr/>
        </p:nvGrpSpPr>
        <p:grpSpPr bwMode="auto">
          <a:xfrm>
            <a:off x="3279775" y="3733800"/>
            <a:ext cx="1712913" cy="588963"/>
            <a:chOff x="2066" y="2352"/>
            <a:chExt cx="1079" cy="371"/>
          </a:xfrm>
        </p:grpSpPr>
        <p:sp>
          <p:nvSpPr>
            <p:cNvPr id="15396" name="Rectangle 26"/>
            <p:cNvSpPr>
              <a:spLocks noChangeArrowheads="1"/>
            </p:cNvSpPr>
            <p:nvPr/>
          </p:nvSpPr>
          <p:spPr bwMode="auto">
            <a:xfrm>
              <a:off x="2066" y="2352"/>
              <a:ext cx="264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</a:rPr>
                <a:t>?</a:t>
              </a:r>
            </a:p>
          </p:txBody>
        </p:sp>
        <p:sp>
          <p:nvSpPr>
            <p:cNvPr id="15397" name="Rectangle 27"/>
            <p:cNvSpPr>
              <a:spLocks noChangeArrowheads="1"/>
            </p:cNvSpPr>
            <p:nvPr/>
          </p:nvSpPr>
          <p:spPr bwMode="auto">
            <a:xfrm>
              <a:off x="2881" y="2352"/>
              <a:ext cx="264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</a:rPr>
                <a:t>?</a:t>
              </a:r>
            </a:p>
          </p:txBody>
        </p:sp>
      </p:grpSp>
      <p:sp>
        <p:nvSpPr>
          <p:cNvPr id="15377" name="Rectangle 29"/>
          <p:cNvSpPr>
            <a:spLocks noChangeArrowheads="1"/>
          </p:cNvSpPr>
          <p:nvPr/>
        </p:nvSpPr>
        <p:spPr bwMode="auto">
          <a:xfrm>
            <a:off x="5770563" y="3600450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78" name="Rectangle 30"/>
          <p:cNvSpPr>
            <a:spLocks noChangeArrowheads="1"/>
          </p:cNvSpPr>
          <p:nvPr/>
        </p:nvSpPr>
        <p:spPr bwMode="auto">
          <a:xfrm>
            <a:off x="7064375" y="3600450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79" name="Rectangle 31"/>
          <p:cNvSpPr>
            <a:spLocks noChangeArrowheads="1"/>
          </p:cNvSpPr>
          <p:nvPr/>
        </p:nvSpPr>
        <p:spPr bwMode="auto">
          <a:xfrm>
            <a:off x="3184525" y="4043363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80" name="Rectangle 32"/>
          <p:cNvSpPr>
            <a:spLocks noChangeArrowheads="1"/>
          </p:cNvSpPr>
          <p:nvPr/>
        </p:nvSpPr>
        <p:spPr bwMode="auto">
          <a:xfrm>
            <a:off x="4478338" y="4043363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81" name="Rectangle 33"/>
          <p:cNvSpPr>
            <a:spLocks noChangeArrowheads="1"/>
          </p:cNvSpPr>
          <p:nvPr/>
        </p:nvSpPr>
        <p:spPr bwMode="auto">
          <a:xfrm>
            <a:off x="5770563" y="4043363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82" name="Rectangle 34"/>
          <p:cNvSpPr>
            <a:spLocks noChangeArrowheads="1"/>
          </p:cNvSpPr>
          <p:nvPr/>
        </p:nvSpPr>
        <p:spPr bwMode="auto">
          <a:xfrm>
            <a:off x="7064375" y="4043363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83" name="Rectangle 35"/>
          <p:cNvSpPr>
            <a:spLocks noChangeArrowheads="1"/>
          </p:cNvSpPr>
          <p:nvPr/>
        </p:nvSpPr>
        <p:spPr bwMode="auto">
          <a:xfrm>
            <a:off x="3184525" y="4470400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84" name="Rectangle 36"/>
          <p:cNvSpPr>
            <a:spLocks noChangeArrowheads="1"/>
          </p:cNvSpPr>
          <p:nvPr/>
        </p:nvSpPr>
        <p:spPr bwMode="auto">
          <a:xfrm>
            <a:off x="4462463" y="4386263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85" name="Rectangle 37"/>
          <p:cNvSpPr>
            <a:spLocks noChangeArrowheads="1"/>
          </p:cNvSpPr>
          <p:nvPr/>
        </p:nvSpPr>
        <p:spPr bwMode="auto">
          <a:xfrm>
            <a:off x="5770563" y="4470400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86" name="Rectangle 38"/>
          <p:cNvSpPr>
            <a:spLocks noChangeArrowheads="1"/>
          </p:cNvSpPr>
          <p:nvPr/>
        </p:nvSpPr>
        <p:spPr bwMode="auto">
          <a:xfrm>
            <a:off x="7050088" y="4386263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87" name="Rectangle 39"/>
          <p:cNvSpPr>
            <a:spLocks noChangeArrowheads="1"/>
          </p:cNvSpPr>
          <p:nvPr/>
        </p:nvSpPr>
        <p:spPr bwMode="auto">
          <a:xfrm>
            <a:off x="4462463" y="2620963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88" name="Rectangle 40"/>
          <p:cNvSpPr>
            <a:spLocks noChangeArrowheads="1"/>
          </p:cNvSpPr>
          <p:nvPr/>
        </p:nvSpPr>
        <p:spPr bwMode="auto">
          <a:xfrm>
            <a:off x="3168650" y="3086100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89" name="Rectangle 41"/>
          <p:cNvSpPr>
            <a:spLocks noChangeArrowheads="1"/>
          </p:cNvSpPr>
          <p:nvPr/>
        </p:nvSpPr>
        <p:spPr bwMode="auto">
          <a:xfrm>
            <a:off x="5756275" y="3086100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90" name="Rectangle 42"/>
          <p:cNvSpPr>
            <a:spLocks noChangeArrowheads="1"/>
          </p:cNvSpPr>
          <p:nvPr/>
        </p:nvSpPr>
        <p:spPr bwMode="auto">
          <a:xfrm>
            <a:off x="7064375" y="3159125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91" name="Rectangle 43"/>
          <p:cNvSpPr>
            <a:spLocks noChangeArrowheads="1"/>
          </p:cNvSpPr>
          <p:nvPr/>
        </p:nvSpPr>
        <p:spPr bwMode="auto">
          <a:xfrm>
            <a:off x="3168650" y="4819650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92" name="Rectangle 44"/>
          <p:cNvSpPr>
            <a:spLocks noChangeArrowheads="1"/>
          </p:cNvSpPr>
          <p:nvPr/>
        </p:nvSpPr>
        <p:spPr bwMode="auto">
          <a:xfrm>
            <a:off x="4478338" y="4903788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93" name="Rectangle 45"/>
          <p:cNvSpPr>
            <a:spLocks noChangeArrowheads="1"/>
          </p:cNvSpPr>
          <p:nvPr/>
        </p:nvSpPr>
        <p:spPr bwMode="auto">
          <a:xfrm>
            <a:off x="5756275" y="4819650"/>
            <a:ext cx="708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–</a:t>
            </a:r>
          </a:p>
        </p:txBody>
      </p:sp>
      <p:sp>
        <p:nvSpPr>
          <p:cNvPr id="15394" name="Rectangle 46"/>
          <p:cNvSpPr>
            <a:spLocks noChangeArrowheads="1"/>
          </p:cNvSpPr>
          <p:nvPr/>
        </p:nvSpPr>
        <p:spPr bwMode="auto">
          <a:xfrm>
            <a:off x="7064375" y="4903788"/>
            <a:ext cx="593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5400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5395" name="Slide Number Placeholder 4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F5671A-B539-4F92-BEF6-FA842E5EA705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American vs European Options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92263" y="1719263"/>
            <a:ext cx="5959475" cy="4411662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An American option is worth at least as much as the corresponding European option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	</a:t>
            </a:r>
            <a:r>
              <a:rPr lang="en-US" altLang="en-US" i="1" smtClean="0">
                <a:latin typeface="Times New Roman" panose="02020603050405020304" pitchFamily="18" charset="0"/>
              </a:rPr>
              <a:t>C</a:t>
            </a:r>
            <a:r>
              <a:rPr lang="en-US" altLang="en-US" smtClean="0"/>
              <a:t> </a:t>
            </a:r>
            <a:r>
              <a:rPr lang="en-US" altLang="en-US" smtClean="0">
                <a:latin typeface="Symbol" panose="05050102010706020507" pitchFamily="18" charset="2"/>
              </a:rPr>
              <a:t></a:t>
            </a:r>
            <a:r>
              <a:rPr lang="en-US" altLang="en-US" smtClean="0"/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			P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</a:rPr>
              <a:t></a:t>
            </a:r>
            <a:r>
              <a:rPr lang="en-US" altLang="en-US" smtClean="0"/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/>
              <a:t>	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624133B-E43A-4A48-9E9D-3063B9FECAF6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5275"/>
            <a:ext cx="7772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Calls: An Arbitrage Opportunity?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2057400"/>
            <a:ext cx="7658100" cy="34290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Suppose that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	c</a:t>
            </a:r>
            <a:r>
              <a:rPr lang="en-US" altLang="en-US" smtClean="0"/>
              <a:t> = 3 			    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baseline="-25000" smtClean="0"/>
              <a:t> </a:t>
            </a:r>
            <a:r>
              <a:rPr lang="en-US" altLang="en-US" smtClean="0"/>
              <a:t>= 20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i="1" smtClean="0"/>
              <a:t> </a:t>
            </a:r>
            <a:r>
              <a:rPr lang="en-US" altLang="en-US" smtClean="0"/>
              <a:t>= 1 			    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smtClean="0"/>
              <a:t> </a:t>
            </a:r>
            <a:r>
              <a:rPr lang="en-US" altLang="en-US" smtClean="0"/>
              <a:t>= 10%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/>
              <a:t> = 18			    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= 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Is there an arbitrage opportunity?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89686A4-B9B2-4597-B4C8-911AA7A5AAD0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542925"/>
            <a:ext cx="7777163" cy="185737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Lower Bound for European Call Option Prices; No Dividends (</a:t>
            </a:r>
            <a:r>
              <a:rPr lang="en-US" altLang="en-US" sz="2200" smtClean="0"/>
              <a:t>Equation 10.4, page 233)</a:t>
            </a:r>
            <a:endParaRPr lang="en-US" altLang="en-US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6875" y="3025775"/>
            <a:ext cx="6792913" cy="155575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600" i="1" smtClean="0"/>
              <a:t> </a:t>
            </a:r>
            <a:r>
              <a:rPr lang="en-US" altLang="en-US" sz="3600" i="1" smtClean="0">
                <a:latin typeface="Times New Roman" panose="02020603050405020304" pitchFamily="18" charset="0"/>
              </a:rPr>
              <a:t>c</a:t>
            </a:r>
            <a:r>
              <a:rPr lang="en-US" altLang="en-US" sz="3600" smtClean="0"/>
              <a:t> </a:t>
            </a:r>
            <a:r>
              <a:rPr lang="en-US" altLang="en-US" sz="3600" smtClean="0">
                <a:latin typeface="Symbol" panose="05050102010706020507" pitchFamily="18" charset="2"/>
              </a:rPr>
              <a:t></a:t>
            </a:r>
            <a:r>
              <a:rPr lang="en-US" altLang="en-US" sz="3600" smtClean="0"/>
              <a:t> max(</a:t>
            </a:r>
            <a:r>
              <a:rPr lang="en-US" altLang="en-US" sz="3600" i="1" smtClean="0">
                <a:latin typeface="Times New Roman" panose="02020603050405020304" pitchFamily="18" charset="0"/>
              </a:rPr>
              <a:t>S</a:t>
            </a:r>
            <a:r>
              <a:rPr lang="en-US" altLang="en-US" sz="36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3600" i="1" smtClean="0">
                <a:latin typeface="Times New Roman" panose="02020603050405020304" pitchFamily="18" charset="0"/>
              </a:rPr>
              <a:t> – Ke </a:t>
            </a:r>
            <a:r>
              <a:rPr lang="en-US" altLang="en-US" sz="3600" i="1" baseline="30000" smtClean="0">
                <a:latin typeface="Times New Roman" panose="02020603050405020304" pitchFamily="18" charset="0"/>
              </a:rPr>
              <a:t>–rT</a:t>
            </a:r>
            <a:r>
              <a:rPr lang="en-US" altLang="en-US" sz="3600" i="1" smtClean="0">
                <a:latin typeface="Times New Roman" panose="02020603050405020304" pitchFamily="18" charset="0"/>
              </a:rPr>
              <a:t>, </a:t>
            </a:r>
            <a:r>
              <a:rPr lang="en-US" altLang="en-US" sz="3600" smtClean="0">
                <a:latin typeface="Times New Roman" panose="02020603050405020304" pitchFamily="18" charset="0"/>
              </a:rPr>
              <a:t>0)</a:t>
            </a:r>
            <a:endParaRPr lang="en-US" altLang="en-US" sz="3600" baseline="30000" smtClean="0"/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9893F73-5C48-4444-88E8-8A63772BF5C9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5275"/>
            <a:ext cx="7772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Puts: An Arbitrage Opportunity?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700213"/>
            <a:ext cx="5800725" cy="360045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Suppose that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/>
              <a:t>	= 1 			  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/>
              <a:t> 	= 37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i="1" smtClean="0"/>
              <a:t> </a:t>
            </a:r>
            <a:r>
              <a:rPr lang="en-US" altLang="en-US" smtClean="0"/>
              <a:t>	= 0.5 		   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r </a:t>
            </a:r>
            <a:r>
              <a:rPr lang="en-US" altLang="en-US" smtClean="0"/>
              <a:t>=5%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   K</a:t>
            </a:r>
            <a:r>
              <a:rPr lang="en-US" altLang="en-US" smtClean="0"/>
              <a:t> 	= 40 		   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/>
              <a:t>  = 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Is there an arbitrage opportunity?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BFACBC-E06D-43D0-A166-36C151EEEC36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Lower Bound for European Put Prices; No Dividends </a:t>
            </a:r>
            <a:br>
              <a:rPr lang="en-US" altLang="en-US" smtClean="0"/>
            </a:br>
            <a:r>
              <a:rPr lang="en-US" altLang="en-US" sz="2200" smtClean="0"/>
              <a:t>(Equation 10.5, page 235)</a:t>
            </a:r>
            <a:endParaRPr lang="en-US" altLang="en-US" smtClean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3350" y="2852738"/>
            <a:ext cx="6445250" cy="10922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600" i="1" smtClean="0"/>
              <a:t> </a:t>
            </a:r>
            <a:r>
              <a:rPr lang="en-US" altLang="en-US" sz="3600" i="1" smtClean="0">
                <a:latin typeface="Times New Roman" panose="02020603050405020304" pitchFamily="18" charset="0"/>
              </a:rPr>
              <a:t>p</a:t>
            </a:r>
            <a:r>
              <a:rPr lang="en-US" altLang="en-US" sz="3600" smtClean="0">
                <a:latin typeface="Times New Roman" panose="02020603050405020304" pitchFamily="18" charset="0"/>
              </a:rPr>
              <a:t> </a:t>
            </a:r>
            <a:r>
              <a:rPr lang="en-US" altLang="en-US" sz="3600" smtClean="0">
                <a:latin typeface="Symbol" panose="05050102010706020507" pitchFamily="18" charset="2"/>
              </a:rPr>
              <a:t></a:t>
            </a:r>
            <a:r>
              <a:rPr lang="en-US" altLang="en-US" sz="3600" smtClean="0"/>
              <a:t> max(</a:t>
            </a:r>
            <a:r>
              <a:rPr lang="en-US" altLang="en-US" sz="3600" i="1" smtClean="0">
                <a:latin typeface="Times New Roman" panose="02020603050405020304" pitchFamily="18" charset="0"/>
              </a:rPr>
              <a:t>Ke </a:t>
            </a:r>
            <a:r>
              <a:rPr lang="en-US" altLang="en-US" sz="3600" i="1" baseline="30000" smtClean="0">
                <a:latin typeface="Times New Roman" panose="02020603050405020304" pitchFamily="18" charset="0"/>
              </a:rPr>
              <a:t>–rT  </a:t>
            </a:r>
            <a:r>
              <a:rPr lang="en-US" altLang="en-US" sz="3600" i="1" smtClean="0">
                <a:latin typeface="Times New Roman" panose="02020603050405020304" pitchFamily="18" charset="0"/>
              </a:rPr>
              <a:t>– S</a:t>
            </a:r>
            <a:r>
              <a:rPr lang="en-US" altLang="en-US" sz="36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3600" smtClean="0">
                <a:latin typeface="Times New Roman" panose="02020603050405020304" pitchFamily="18" charset="0"/>
              </a:rPr>
              <a:t>, 0)</a:t>
            </a:r>
            <a:endParaRPr lang="en-US" altLang="en-US" sz="3600" baseline="-25000" smtClean="0">
              <a:latin typeface="Times New Roman" panose="02020603050405020304" pitchFamily="18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641405A-B5E3-4FB3-94AB-990C7AD8C317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609600"/>
            <a:ext cx="7772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Put-Call Parity; No Dividends 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0888" y="1981200"/>
            <a:ext cx="7843837" cy="4114800"/>
          </a:xfrm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2400" dirty="0" smtClean="0"/>
              <a:t>Consider the following 2 portfolios:</a:t>
            </a:r>
          </a:p>
          <a:p>
            <a:pPr lvl="1" eaLnBrk="1" hangingPunct="1">
              <a:defRPr/>
            </a:pPr>
            <a:r>
              <a:rPr lang="en-US" sz="2400" dirty="0" smtClean="0"/>
              <a:t>Portfolio A:  European call on a stock + zero-coupon bond that pays </a:t>
            </a:r>
            <a:r>
              <a:rPr lang="en-US" sz="2400" i="1" dirty="0" smtClean="0">
                <a:latin typeface="+mj-lt"/>
              </a:rPr>
              <a:t>K</a:t>
            </a:r>
            <a:r>
              <a:rPr lang="en-US" sz="2400" dirty="0" smtClean="0"/>
              <a:t> at time </a:t>
            </a:r>
            <a:r>
              <a:rPr lang="en-US" sz="2400" i="1" dirty="0" smtClean="0">
                <a:latin typeface="+mj-lt"/>
              </a:rPr>
              <a:t>T</a:t>
            </a:r>
          </a:p>
          <a:p>
            <a:pPr lvl="1" eaLnBrk="1" hangingPunct="1">
              <a:defRPr/>
            </a:pPr>
            <a:r>
              <a:rPr lang="en-US" sz="2400" dirty="0" smtClean="0"/>
              <a:t>Portfolio C:  European put on the stock + the stock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AE8B684-12B5-48A0-AAE5-6F256DBF06FA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Values of Portfolios</a:t>
            </a:r>
            <a:endParaRPr lang="en-US" altLang="en-US" smtClean="0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28750" y="2143125"/>
          <a:ext cx="6096000" cy="25955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5884"/>
                <a:gridCol w="2286016"/>
                <a:gridCol w="1285884"/>
                <a:gridCol w="1238216"/>
              </a:tblGrid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dirty="0" smtClean="0">
                          <a:latin typeface="+mj-lt"/>
                        </a:rPr>
                        <a:t> &gt;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dirty="0" smtClean="0">
                          <a:latin typeface="+mj-lt"/>
                        </a:rPr>
                        <a:t> &lt;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 A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Call option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1800" i="1" dirty="0" smtClean="0">
                          <a:latin typeface="+mj-lt"/>
                        </a:rPr>
                        <a:t> − 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0" dirty="0" smtClean="0">
                          <a:latin typeface="+mj-lt"/>
                        </a:rPr>
                        <a:t>0</a:t>
                      </a:r>
                      <a:endParaRPr lang="en-US" sz="1800" i="0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Zero-coupon bond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Total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Portfolio C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Put Option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0" dirty="0" smtClean="0">
                          <a:latin typeface="+mj-lt"/>
                        </a:rPr>
                        <a:t>0</a:t>
                      </a:r>
                      <a:endParaRPr lang="en-US" sz="1800" i="0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K− 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Share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79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Total</a:t>
                      </a:r>
                      <a:endParaRPr lang="en-US" sz="1800" dirty="0"/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S</a:t>
                      </a:r>
                      <a:r>
                        <a:rPr lang="en-CA" sz="1800" i="1" baseline="-25000" dirty="0" smtClean="0">
                          <a:latin typeface="+mj-lt"/>
                        </a:rPr>
                        <a:t>T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>
                          <a:latin typeface="+mj-lt"/>
                        </a:rPr>
                        <a:t>K</a:t>
                      </a:r>
                      <a:endParaRPr lang="en-US" sz="1800" i="1" dirty="0">
                        <a:latin typeface="+mj-lt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25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1F77DAA-78D5-47D4-BAB0-842F75E736CA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The Put-Call Parity Result </a:t>
            </a:r>
            <a:r>
              <a:rPr lang="en-US" altLang="en-US" sz="2400" smtClean="0"/>
              <a:t>(Equation 10.6, page 236)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Both are worth max(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,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/>
              <a:t> ) at the maturity of the options</a:t>
            </a:r>
          </a:p>
          <a:p>
            <a:pPr eaLnBrk="1" hangingPunct="1"/>
            <a:r>
              <a:rPr lang="en-US" altLang="en-US" smtClean="0"/>
              <a:t>They must therefore be worth the same today. This means that</a:t>
            </a:r>
            <a:r>
              <a:rPr lang="en-US" altLang="en-US" sz="3600" smtClean="0"/>
              <a:t>					</a:t>
            </a:r>
            <a:r>
              <a:rPr lang="en-US" altLang="en-US" sz="5400" i="1" smtClean="0">
                <a:latin typeface="Times New Roman" panose="02020603050405020304" pitchFamily="18" charset="0"/>
              </a:rPr>
              <a:t>c</a:t>
            </a:r>
            <a:r>
              <a:rPr lang="en-US" altLang="en-US" sz="5400" smtClean="0">
                <a:latin typeface="Times New Roman" panose="02020603050405020304" pitchFamily="18" charset="0"/>
              </a:rPr>
              <a:t> + </a:t>
            </a:r>
            <a:r>
              <a:rPr lang="en-US" altLang="en-US" sz="5400" i="1" smtClean="0">
                <a:latin typeface="Times New Roman" panose="02020603050405020304" pitchFamily="18" charset="0"/>
              </a:rPr>
              <a:t>Ke</a:t>
            </a:r>
            <a:r>
              <a:rPr lang="en-US" altLang="en-US" sz="5400" i="1" baseline="30000" smtClean="0">
                <a:latin typeface="Times New Roman" panose="02020603050405020304" pitchFamily="18" charset="0"/>
              </a:rPr>
              <a:t> -rT </a:t>
            </a:r>
            <a:r>
              <a:rPr lang="en-US" altLang="en-US" sz="5400" smtClean="0">
                <a:latin typeface="Times New Roman" panose="02020603050405020304" pitchFamily="18" charset="0"/>
              </a:rPr>
              <a:t>= </a:t>
            </a:r>
            <a:r>
              <a:rPr lang="en-US" altLang="en-US" sz="5400" i="1" smtClean="0">
                <a:latin typeface="Times New Roman" panose="02020603050405020304" pitchFamily="18" charset="0"/>
              </a:rPr>
              <a:t>p</a:t>
            </a:r>
            <a:r>
              <a:rPr lang="en-US" altLang="en-US" sz="5400" smtClean="0">
                <a:latin typeface="Times New Roman" panose="02020603050405020304" pitchFamily="18" charset="0"/>
              </a:rPr>
              <a:t> + </a:t>
            </a:r>
            <a:r>
              <a:rPr lang="en-US" altLang="en-US" sz="5400" i="1" smtClean="0">
                <a:latin typeface="Times New Roman" panose="02020603050405020304" pitchFamily="18" charset="0"/>
              </a:rPr>
              <a:t>S</a:t>
            </a:r>
            <a:r>
              <a:rPr lang="en-US" altLang="en-US" sz="5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5400" smtClean="0">
                <a:latin typeface="Times New Roman" panose="02020603050405020304" pitchFamily="18" charset="0"/>
              </a:rPr>
              <a:t> 	</a:t>
            </a:r>
            <a:r>
              <a:rPr lang="en-US" altLang="en-US" sz="3600" smtClean="0">
                <a:latin typeface="Times New Roman" panose="02020603050405020304" pitchFamily="18" charset="0"/>
              </a:rPr>
              <a:t>     </a:t>
            </a:r>
          </a:p>
          <a:p>
            <a:endParaRPr lang="en-US" altLang="en-US" smtClean="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BADAD8-561A-4C92-87C2-D70B2CBC1634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685800" y="295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>
                <a:solidFill>
                  <a:schemeClr val="tx2"/>
                </a:solidFill>
                <a:latin typeface="Times New Roman" panose="02020603050405020304" pitchFamily="18" charset="0"/>
              </a:rPr>
              <a:t>Arbitrage Opportunities</a:t>
            </a:r>
            <a:endParaRPr lang="en-US" altLang="en-US" sz="4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5950" y="1371600"/>
            <a:ext cx="5372100" cy="465772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Suppose that 	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c</a:t>
            </a:r>
            <a:r>
              <a:rPr lang="en-US" altLang="en-US" smtClean="0"/>
              <a:t>	= 3		   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>
                <a:latin typeface="Albertus Extra Bold" pitchFamily="34" charset="0"/>
              </a:rPr>
              <a:t>	</a:t>
            </a:r>
            <a:r>
              <a:rPr lang="en-US" altLang="en-US" smtClean="0"/>
              <a:t>= 31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i="1" smtClean="0"/>
              <a:t> </a:t>
            </a:r>
            <a:r>
              <a:rPr lang="en-US" altLang="en-US" smtClean="0"/>
              <a:t>	= 0.25          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smtClean="0"/>
              <a:t> </a:t>
            </a:r>
            <a:r>
              <a:rPr lang="en-US" altLang="en-US" smtClean="0"/>
              <a:t>= 10%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/>
              <a:t> 	=30 	            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= 0</a:t>
            </a:r>
          </a:p>
          <a:p>
            <a:pPr eaLnBrk="1" hangingPunct="1"/>
            <a:r>
              <a:rPr lang="en-US" altLang="en-US" smtClean="0"/>
              <a:t>What are the arbitrage  possibilities when			     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/>
              <a:t> = 2.25 ?			     </a:t>
            </a:r>
            <a:r>
              <a:rPr lang="en-US" altLang="en-US" i="1" smtClean="0">
                <a:latin typeface="Times New Roman" panose="02020603050405020304" pitchFamily="18" charset="0"/>
              </a:rPr>
              <a:t>p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= 1 ?</a:t>
            </a: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4D79BFB-868A-43BB-9F10-0988A230CE2D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Early Exercise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1575" y="1844675"/>
            <a:ext cx="7315200" cy="3960813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Usually there is some chance that an American option will be exercised early	</a:t>
            </a:r>
          </a:p>
          <a:p>
            <a:pPr eaLnBrk="1" hangingPunct="1"/>
            <a:r>
              <a:rPr lang="en-US" altLang="en-US" smtClean="0"/>
              <a:t>An exception is an American call on a non-dividend paying stock, which should never be exercised early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3200" smtClean="0"/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8FD7F16-BDD0-4C3E-82C1-2A4B3C212300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An Extreme Situation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172450" cy="3929062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For an American call option:	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i="1" dirty="0" smtClean="0">
                <a:latin typeface="+mj-lt"/>
              </a:rPr>
              <a:t>		S</a:t>
            </a:r>
            <a:r>
              <a:rPr lang="en-US" baseline="-25000" dirty="0" smtClean="0">
                <a:latin typeface="+mj-lt"/>
              </a:rPr>
              <a:t>0</a:t>
            </a:r>
            <a:r>
              <a:rPr lang="en-US" dirty="0" smtClean="0">
                <a:latin typeface="+mj-lt"/>
              </a:rPr>
              <a:t> = 100; </a:t>
            </a:r>
            <a:r>
              <a:rPr lang="en-US" i="1" dirty="0" smtClean="0">
                <a:latin typeface="+mj-lt"/>
              </a:rPr>
              <a:t>T </a:t>
            </a:r>
            <a:r>
              <a:rPr lang="en-US" dirty="0" smtClean="0">
                <a:latin typeface="+mj-lt"/>
              </a:rPr>
              <a:t>= 0.25; </a:t>
            </a:r>
            <a:r>
              <a:rPr lang="en-US" i="1" dirty="0" smtClean="0">
                <a:latin typeface="+mj-lt"/>
              </a:rPr>
              <a:t>K</a:t>
            </a:r>
            <a:r>
              <a:rPr lang="en-US" dirty="0" smtClean="0">
                <a:latin typeface="+mj-lt"/>
              </a:rPr>
              <a:t> = 60; </a:t>
            </a:r>
            <a:r>
              <a:rPr lang="en-US" i="1" dirty="0" smtClean="0">
                <a:latin typeface="+mj-lt"/>
              </a:rPr>
              <a:t>D</a:t>
            </a:r>
            <a:r>
              <a:rPr lang="en-US" dirty="0" smtClean="0">
                <a:latin typeface="+mj-lt"/>
              </a:rPr>
              <a:t> = 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dirty="0" smtClean="0"/>
              <a:t>Should you exercise immediately?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What should you do if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You want to hold the stock for the next 3 months?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You do not feel that the stock is worth holding for the next 3 months?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/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91E62A0-796D-4922-B1F8-104E1D5D7752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44525" y="414338"/>
            <a:ext cx="7285038" cy="917575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Reasons For Not Exercising a Call Early (No Dividends)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6713" y="2060575"/>
            <a:ext cx="6869112" cy="407035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 No income is sacrificed</a:t>
            </a:r>
          </a:p>
          <a:p>
            <a:pPr eaLnBrk="1" hangingPunct="1"/>
            <a:r>
              <a:rPr lang="en-US" altLang="en-US" smtClean="0"/>
              <a:t> You delay paying the strike price</a:t>
            </a:r>
          </a:p>
          <a:p>
            <a:pPr eaLnBrk="1" hangingPunct="1"/>
            <a:r>
              <a:rPr lang="en-US" altLang="en-US" smtClean="0"/>
              <a:t> Holding the call provides insurance against stock price falling below strike price </a:t>
            </a: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2A89D5-8B98-43CC-8E80-AF9C2A866DFA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3600" smtClean="0"/>
              <a:t>Bounds for European or American Call Options (No Dividends)</a:t>
            </a:r>
            <a:endParaRPr lang="en-US" altLang="en-US" sz="3600" smtClean="0"/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pic>
        <p:nvPicPr>
          <p:cNvPr id="2867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8813" y="1628775"/>
            <a:ext cx="5500687" cy="4421188"/>
          </a:xfrm>
          <a:noFill/>
        </p:spPr>
      </p:pic>
      <p:sp>
        <p:nvSpPr>
          <p:cNvPr id="28677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67AC8C-062C-43C8-B7E4-2F4B1A8FEB72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Should Puts Be Exercised </a:t>
            </a:r>
            <a:br>
              <a:rPr lang="en-US" altLang="en-US" smtClean="0"/>
            </a:br>
            <a:r>
              <a:rPr lang="en-US" altLang="en-US" smtClean="0"/>
              <a:t>Early ?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8238" y="1970088"/>
            <a:ext cx="6761162" cy="2925762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Are there any advantages to exercising an American put when		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	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/>
              <a:t>	= 60;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= 0.25;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smtClean="0"/>
              <a:t>=10%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/>
              <a:t>  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= 100;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= 0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3AA1B8-D0EB-49EA-819D-7A9CB126C1C9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3600" smtClean="0"/>
              <a:t>Bounds for European and American Put Options (No Dividends)</a:t>
            </a:r>
            <a:endParaRPr lang="en-US" altLang="en-US" sz="3600" smtClean="0"/>
          </a:p>
        </p:txBody>
      </p:sp>
      <p:sp>
        <p:nvSpPr>
          <p:cNvPr id="3072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2057400"/>
            <a:ext cx="8342312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0725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BD6227D-1E60-4B07-B6BA-15949BA82782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/>
          </a:p>
        </p:txBody>
      </p:sp>
      <p:sp>
        <p:nvSpPr>
          <p:cNvPr id="2" name="TextBox 1"/>
          <p:cNvSpPr txBox="1"/>
          <p:nvPr/>
        </p:nvSpPr>
        <p:spPr>
          <a:xfrm>
            <a:off x="2843213" y="4625975"/>
            <a:ext cx="865187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S</a:t>
            </a:r>
            <a:r>
              <a:rPr lang="en-CA" baseline="-25000" dirty="0">
                <a:latin typeface="Arial" charset="0"/>
              </a:rPr>
              <a:t>0</a:t>
            </a:r>
            <a:endParaRPr lang="en-US" dirty="0">
              <a:latin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40650" y="4625975"/>
            <a:ext cx="38417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CA" i="1" dirty="0">
                <a:latin typeface="+mj-lt"/>
              </a:rPr>
              <a:t>S</a:t>
            </a:r>
            <a:r>
              <a:rPr lang="en-CA" baseline="-25000" dirty="0">
                <a:latin typeface="Arial" charset="0"/>
              </a:rPr>
              <a:t>0</a:t>
            </a:r>
            <a:endParaRPr lang="en-US" dirty="0">
              <a:latin typeface="Arial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The Impact of Dividends on Lower Bounds to Option Prices</a:t>
            </a:r>
            <a:br>
              <a:rPr lang="en-US" altLang="en-US" smtClean="0"/>
            </a:br>
            <a:r>
              <a:rPr lang="en-US" altLang="en-US" sz="2200" smtClean="0"/>
              <a:t>(Equations 10.8 and 10.9, pages 243-244)</a:t>
            </a:r>
            <a:endParaRPr lang="en-US" altLang="en-US" smtClean="0"/>
          </a:p>
        </p:txBody>
      </p:sp>
      <p:graphicFrame>
        <p:nvGraphicFramePr>
          <p:cNvPr id="31748" name="Object 0">
            <a:hlinkClick r:id="" action="ppaction://ole?verb=0"/>
          </p:cNvPr>
          <p:cNvGraphicFramePr>
            <a:graphicFrameLocks/>
          </p:cNvGraphicFramePr>
          <p:nvPr/>
        </p:nvGraphicFramePr>
        <p:xfrm>
          <a:off x="1395413" y="2492375"/>
          <a:ext cx="59848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4" imgW="1676400" imgH="241300" progId="Equation.3">
                  <p:embed/>
                </p:oleObj>
              </mc:Choice>
              <mc:Fallback>
                <p:oleObj name="Equation" r:id="rId4" imgW="1676400" imgH="2413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2492375"/>
                        <a:ext cx="598487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1">
            <a:hlinkClick r:id="" action="ppaction://ole?verb=0"/>
          </p:cNvPr>
          <p:cNvGraphicFramePr>
            <a:graphicFrameLocks/>
          </p:cNvGraphicFramePr>
          <p:nvPr/>
        </p:nvGraphicFramePr>
        <p:xfrm>
          <a:off x="1476375" y="3857625"/>
          <a:ext cx="57594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6" imgW="1701800" imgH="241300" progId="Equation.3">
                  <p:embed/>
                </p:oleObj>
              </mc:Choice>
              <mc:Fallback>
                <p:oleObj name="Equation" r:id="rId6" imgW="1701800" imgH="241300" progId="Equation.3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57625"/>
                        <a:ext cx="575945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120C91-024E-4510-80C5-4D8F3061A046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10, Copyright © John  C. Hull 2016</a:t>
            </a:r>
            <a:endParaRPr lang="en-US" altLang="en-US" sz="1400" i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Extensions of Put-Call Parity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719263"/>
            <a:ext cx="7775575" cy="4411662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smtClean="0"/>
              <a:t>American options;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D</a:t>
            </a:r>
            <a:r>
              <a:rPr lang="en-US" altLang="en-US" sz="2400" smtClean="0"/>
              <a:t> = </a:t>
            </a:r>
            <a:r>
              <a:rPr lang="en-US" altLang="en-US" sz="24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/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smtClean="0">
                <a:latin typeface="Times New Roman" panose="02020603050405020304" pitchFamily="18" charset="0"/>
              </a:rPr>
              <a:t>     S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</a:t>
            </a:r>
            <a:r>
              <a:rPr lang="en-US" altLang="en-US" sz="2400" smtClean="0"/>
              <a:t> &lt;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C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P</a:t>
            </a:r>
            <a:r>
              <a:rPr lang="en-US" altLang="en-US" sz="2400" smtClean="0"/>
              <a:t> &lt;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Ke </a:t>
            </a:r>
            <a:r>
              <a:rPr lang="en-US" altLang="en-US" sz="2400" i="1" baseline="30000" smtClean="0">
                <a:latin typeface="Times New Roman" panose="02020603050405020304" pitchFamily="18" charset="0"/>
              </a:rPr>
              <a:t>-rT</a:t>
            </a:r>
            <a:r>
              <a:rPr lang="en-US" altLang="en-US" sz="2400" smtClean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smtClean="0"/>
              <a:t>      Equation 10.7 p. 239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i="1" smtClean="0"/>
          </a:p>
          <a:p>
            <a:pPr eaLnBrk="1" hangingPunct="1"/>
            <a:r>
              <a:rPr lang="en-US" altLang="en-US" sz="2400" smtClean="0"/>
              <a:t>European options;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D</a:t>
            </a:r>
            <a:r>
              <a:rPr lang="en-US" altLang="en-US" sz="2400" smtClean="0">
                <a:latin typeface="Times New Roman" panose="02020603050405020304" pitchFamily="18" charset="0"/>
              </a:rPr>
              <a:t> </a:t>
            </a:r>
            <a:r>
              <a:rPr lang="en-US" altLang="en-US" sz="2400" smtClean="0"/>
              <a:t>&gt; </a:t>
            </a:r>
            <a:r>
              <a:rPr lang="en-US" altLang="en-US" sz="24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/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smtClean="0">
                <a:latin typeface="Times New Roman" panose="02020603050405020304" pitchFamily="18" charset="0"/>
              </a:rPr>
              <a:t>    c</a:t>
            </a:r>
            <a:r>
              <a:rPr lang="en-US" altLang="en-US" sz="2400" smtClean="0">
                <a:latin typeface="Times New Roman" panose="02020603050405020304" pitchFamily="18" charset="0"/>
              </a:rPr>
              <a:t> +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D</a:t>
            </a:r>
            <a:r>
              <a:rPr lang="en-US" altLang="en-US" sz="2400" smtClean="0">
                <a:latin typeface="Times New Roman" panose="02020603050405020304" pitchFamily="18" charset="0"/>
              </a:rPr>
              <a:t> +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Ke </a:t>
            </a:r>
            <a:r>
              <a:rPr lang="en-US" altLang="en-US" sz="2400" i="1" baseline="30000" smtClean="0">
                <a:latin typeface="Times New Roman" panose="02020603050405020304" pitchFamily="18" charset="0"/>
              </a:rPr>
              <a:t>-rT</a:t>
            </a:r>
            <a:r>
              <a:rPr lang="en-US" altLang="en-US" sz="2400" smtClean="0">
                <a:latin typeface="Times New Roman" panose="02020603050405020304" pitchFamily="18" charset="0"/>
              </a:rPr>
              <a:t> =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p</a:t>
            </a:r>
            <a:r>
              <a:rPr lang="en-US" altLang="en-US" sz="2400" smtClean="0">
                <a:latin typeface="Times New Roman" panose="02020603050405020304" pitchFamily="18" charset="0"/>
              </a:rPr>
              <a:t> +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400" i="1" smtClean="0">
                <a:latin typeface="Times New Roman" panose="02020603050405020304" pitchFamily="18" charset="0"/>
              </a:rPr>
              <a:t>	</a:t>
            </a:r>
            <a:r>
              <a:rPr lang="en-US" altLang="en-US" sz="2400" i="1" smtClean="0"/>
              <a:t>	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smtClean="0"/>
              <a:t>     Equation 10.10  p. 244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smtClean="0"/>
          </a:p>
          <a:p>
            <a:pPr eaLnBrk="1" hangingPunct="1"/>
            <a:r>
              <a:rPr lang="en-US" altLang="en-US" sz="2400" smtClean="0"/>
              <a:t>American options;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D</a:t>
            </a:r>
            <a:r>
              <a:rPr lang="en-US" altLang="en-US" sz="2400" i="1" smtClean="0"/>
              <a:t> </a:t>
            </a:r>
            <a:r>
              <a:rPr lang="en-US" altLang="en-US" sz="2400" smtClean="0"/>
              <a:t>&gt; </a:t>
            </a:r>
            <a:r>
              <a:rPr lang="en-US" altLang="en-US" sz="24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/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smtClean="0">
                <a:latin typeface="Times New Roman" panose="02020603050405020304" pitchFamily="18" charset="0"/>
              </a:rPr>
              <a:t>    S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D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</a:t>
            </a:r>
            <a:r>
              <a:rPr lang="en-US" altLang="en-US" sz="2400" smtClean="0"/>
              <a:t> &lt;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C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P</a:t>
            </a:r>
            <a:r>
              <a:rPr lang="en-US" altLang="en-US" sz="2400" smtClean="0"/>
              <a:t> &lt;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400" smtClean="0">
                <a:latin typeface="Times New Roman" panose="02020603050405020304" pitchFamily="18" charset="0"/>
              </a:rPr>
              <a:t> -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Ke </a:t>
            </a:r>
            <a:r>
              <a:rPr lang="en-US" altLang="en-US" sz="2400" i="1" baseline="30000" smtClean="0">
                <a:latin typeface="Times New Roman" panose="02020603050405020304" pitchFamily="18" charset="0"/>
              </a:rPr>
              <a:t>-rT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smtClean="0"/>
              <a:t>     Equation 10.11  p. 244</a:t>
            </a: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3BF4B24-BA0F-4361-AA6A-5A63DDEA62A2}" type="slidenum">
              <a:rPr lang="en-US" altLang="en-US" sz="12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EED0D8-734B-43E5-AFE4-C108FA033EAA}"/>
</file>

<file path=customXml/itemProps2.xml><?xml version="1.0" encoding="utf-8"?>
<ds:datastoreItem xmlns:ds="http://schemas.openxmlformats.org/officeDocument/2006/customXml" ds:itemID="{AD2D0D66-C904-4508-B2A1-7E1C6971D2E7}"/>
</file>

<file path=customXml/itemProps3.xml><?xml version="1.0" encoding="utf-8"?>
<ds:datastoreItem xmlns:ds="http://schemas.openxmlformats.org/officeDocument/2006/customXml" ds:itemID="{9375706B-9106-4710-BFF1-BDE1DDEB34E9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443</TotalTime>
  <Pages>16</Pages>
  <Words>775</Words>
  <Application>Microsoft Office PowerPoint</Application>
  <PresentationFormat>Letter Paper (8.5x11 in)</PresentationFormat>
  <Paragraphs>184</Paragraphs>
  <Slides>20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Times New Roman</vt:lpstr>
      <vt:lpstr>Wingdings</vt:lpstr>
      <vt:lpstr>Symbol</vt:lpstr>
      <vt:lpstr>Albertus Extra Bold</vt:lpstr>
      <vt:lpstr>1_Network</vt:lpstr>
      <vt:lpstr>Microsoft Equation 3.0</vt:lpstr>
      <vt:lpstr>Properties of Stock Options</vt:lpstr>
      <vt:lpstr>Notation</vt:lpstr>
      <vt:lpstr>Effect of Variables on Option Pricing (Table 10.1, page 228)</vt:lpstr>
      <vt:lpstr>American vs European Options</vt:lpstr>
      <vt:lpstr>Calls: An Arbitrage Opportunity?</vt:lpstr>
      <vt:lpstr>Lower Bound for European Call Option Prices; No Dividends (Equation 10.4, page 233)</vt:lpstr>
      <vt:lpstr>Puts: An Arbitrage Opportunity?</vt:lpstr>
      <vt:lpstr>Lower Bound for European Put Prices; No Dividends  (Equation 10.5, page 235)</vt:lpstr>
      <vt:lpstr>Put-Call Parity; No Dividends  </vt:lpstr>
      <vt:lpstr>Values of Portfolios</vt:lpstr>
      <vt:lpstr>The Put-Call Parity Result (Equation 10.6, page 236)</vt:lpstr>
      <vt:lpstr>PowerPoint Presentation</vt:lpstr>
      <vt:lpstr>Early Exercise</vt:lpstr>
      <vt:lpstr>An Extreme Situation</vt:lpstr>
      <vt:lpstr>Reasons For Not Exercising a Call Early (No Dividends)</vt:lpstr>
      <vt:lpstr>Bounds for European or American Call Options (No Dividends)</vt:lpstr>
      <vt:lpstr>Should Puts Be Exercised  Early ?</vt:lpstr>
      <vt:lpstr>Bounds for European and American Put Options (No Dividends)</vt:lpstr>
      <vt:lpstr>The Impact of Dividends on Lower Bounds to Option Prices (Equations 10.8 and 10.9, pages 243-244)</vt:lpstr>
      <vt:lpstr>Extensions of Put-Call Parity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Properties of Stock Options</dc:title>
  <dc:subject>Fundamentals of Futures and Options Markets, 9e</dc:subject>
  <dc:creator>John C. Hull</dc:creator>
  <cp:keywords>Chapter 10</cp:keywords>
  <dc:description>Copyright 2016 by John C. Hull.
All rights reserved. Published 2010.</dc:description>
  <cp:lastModifiedBy>John Hull</cp:lastModifiedBy>
  <cp:revision>50</cp:revision>
  <cp:lastPrinted>1999-07-13T14:41:13Z</cp:lastPrinted>
  <dcterms:created xsi:type="dcterms:W3CDTF">1996-10-23T21:58:56Z</dcterms:created>
  <dcterms:modified xsi:type="dcterms:W3CDTF">2016-01-20T21:02:01Z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