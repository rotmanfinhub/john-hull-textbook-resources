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33"/>
  </p:notesMasterIdLst>
  <p:handoutMasterIdLst>
    <p:handoutMasterId r:id="rId34"/>
  </p:handoutMasterIdLst>
  <p:sldIdLst>
    <p:sldId id="281" r:id="rId2"/>
    <p:sldId id="258" r:id="rId3"/>
    <p:sldId id="259" r:id="rId4"/>
    <p:sldId id="260" r:id="rId5"/>
    <p:sldId id="261" r:id="rId6"/>
    <p:sldId id="291" r:id="rId7"/>
    <p:sldId id="286" r:id="rId8"/>
    <p:sldId id="292" r:id="rId9"/>
    <p:sldId id="287" r:id="rId10"/>
    <p:sldId id="263" r:id="rId11"/>
    <p:sldId id="305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266" r:id="rId20"/>
    <p:sldId id="267" r:id="rId21"/>
    <p:sldId id="268" r:id="rId22"/>
    <p:sldId id="269" r:id="rId23"/>
    <p:sldId id="295" r:id="rId24"/>
    <p:sldId id="288" r:id="rId25"/>
    <p:sldId id="294" r:id="rId26"/>
    <p:sldId id="296" r:id="rId27"/>
    <p:sldId id="297" r:id="rId28"/>
    <p:sldId id="272" r:id="rId29"/>
    <p:sldId id="283" r:id="rId30"/>
    <p:sldId id="284" r:id="rId31"/>
    <p:sldId id="290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12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B6A4F3D-5D23-4F44-8EAD-D63A89C03F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30968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73AD0FB-E6E9-450A-8FD9-4631319BBC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0446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35478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59340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1080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80318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10367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63312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882EC4F-BD0B-4C6B-B700-65B69CB375F5}" type="slidenum">
              <a:rPr lang="en-US" altLang="en-US"/>
              <a:pPr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0059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2770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368557B-6BA9-4A13-AA15-FC8FFD08B532}" type="slidenum">
              <a:rPr lang="en-US" altLang="en-US"/>
              <a:pPr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303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09472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38322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50662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ADDB69-0853-4ADF-B795-EC403853754C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1657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71243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11211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939627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146984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634686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51779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72846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941020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593205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B7DF46F-57C1-4D22-AA2C-1C5685B0182B}" type="slidenum">
              <a:rPr lang="en-US" altLang="en-US"/>
              <a:pPr eaLnBrk="1" hangingPunct="1"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98890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59E5F72-3399-4ABF-A45F-DE458DC59682}" type="slidenum">
              <a:rPr lang="en-US" altLang="en-US"/>
              <a:pPr eaLnBrk="1" hangingPunct="1"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5510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AFE17D2-70CC-40A0-A363-EC677CB51B51}" type="slidenum">
              <a:rPr lang="en-US" altLang="en-US"/>
              <a:pPr eaLnBrk="1" hangingPunct="1"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0373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184502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932347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923737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378426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F314DE4-B990-48E9-80C5-14748F1D00C0}" type="slidenum">
              <a:rPr lang="en-US" altLang="en-US"/>
              <a:pPr eaLnBrk="1" hangingPunct="1"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662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FFB1A108-8023-41F5-B413-1D5F40B2F6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325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2B896E-474D-4A8C-876D-F0EF094650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630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F4E75-D06D-4D4B-910B-7102F2D468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295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9A8D7-53DF-44EE-BD0B-AB2340A692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659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7A650A-391D-45FD-B6F9-11BA677BF4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7719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6C0CA0-4D3A-42D6-9511-C11F61E07D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95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A07944-C5A5-4F4F-96F8-CEBFAF5763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0233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8D8628-8BF1-4C0E-8111-205E91F662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47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57972D-F8B1-4D78-860B-274478D921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981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0AF4C4-3269-43B9-A745-23BD13F69B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920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E91F36-DF79-41B0-BD6F-D825BF9247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9264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C11DC0-24AE-4A5C-89AB-C017CB0142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58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821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CA" altLang="en-US"/>
              <a:t>Options, Futures, and Other Derivatives 9th Ediition, Copyright © John C. Hull 2016</a:t>
            </a:r>
            <a:endParaRPr lang="en-US" alt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9B6DBBF9-CE2D-4165-ABA0-B92ED1141E13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7485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Credit Derivatives</a:t>
            </a:r>
          </a:p>
        </p:txBody>
      </p:sp>
      <p:sp>
        <p:nvSpPr>
          <p:cNvPr id="1434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068638"/>
            <a:ext cx="6248400" cy="2362200"/>
          </a:xfrm>
        </p:spPr>
        <p:txBody>
          <a:bodyPr/>
          <a:lstStyle/>
          <a:p>
            <a:pPr eaLnBrk="1" hangingPunct="1"/>
            <a:r>
              <a:rPr lang="en-US" altLang="en-US" smtClean="0"/>
              <a:t>Chapter 23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50FAD9C-FF73-4B45-ACDF-88E8D45FEF0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Credit Derivatives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Derivatives where the payoff depends on the credit quality of a company or sovereign entity</a:t>
            </a:r>
          </a:p>
          <a:p>
            <a:pPr eaLnBrk="1" hangingPunct="1"/>
            <a:r>
              <a:rPr lang="en-US" altLang="en-US" smtClean="0"/>
              <a:t>The market started to grow fast in the late 1990s but has declined somewhat since the 2007-2009 crisis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2AD8926-448A-42FC-9797-679C363FA00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98500" y="136525"/>
            <a:ext cx="7062788" cy="1062038"/>
          </a:xfrm>
        </p:spPr>
        <p:txBody>
          <a:bodyPr/>
          <a:lstStyle/>
          <a:p>
            <a:pPr eaLnBrk="1" hangingPunct="1"/>
            <a:r>
              <a:rPr lang="en-US" altLang="en-US" smtClean="0"/>
              <a:t>Credit Default Swaps </a:t>
            </a:r>
            <a:r>
              <a:rPr lang="en-US" altLang="en-US" sz="2400" smtClean="0"/>
              <a:t>(page 497-505)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16100"/>
            <a:ext cx="7772400" cy="42862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Buyer of the instrument acquires protection from the seller against a default by a particular company or country (the reference entity)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Example: Buyer pays a premium of 90 bps per year for $100 million of 5-year protection against company 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Premium is known as the </a:t>
            </a:r>
            <a:r>
              <a:rPr lang="en-US" altLang="en-US" sz="2400" i="1" smtClean="0"/>
              <a:t>credit default spread</a:t>
            </a:r>
            <a:r>
              <a:rPr lang="en-US" altLang="en-US" sz="2400" smtClean="0"/>
              <a:t>.  It is paid for life of contract or until default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If there is a default, the buyer has the right to sell bonds with a face value of $100 million issued by company X for $100 million (Several bonds may be deliverable)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B4E839D-714D-44DE-A61D-18327BCC6EB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100013"/>
            <a:ext cx="7532687" cy="1296988"/>
          </a:xfrm>
        </p:spPr>
        <p:txBody>
          <a:bodyPr/>
          <a:lstStyle/>
          <a:p>
            <a:pPr eaLnBrk="1" hangingPunct="1"/>
            <a:r>
              <a:rPr lang="en-US" altLang="en-US" sz="3500" smtClean="0"/>
              <a:t>CDS Structure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614488"/>
            <a:ext cx="8229600" cy="44100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331913" y="2900363"/>
            <a:ext cx="1752600" cy="12525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Default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Protection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Buyer, A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6056313" y="2900363"/>
            <a:ext cx="1828800" cy="125253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Default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Protection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Seller, B</a:t>
            </a:r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>
            <a:off x="3084513" y="306705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 flipH="1">
            <a:off x="3084513" y="3819525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3678238" y="2565400"/>
            <a:ext cx="208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90 bps per year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2916238" y="3819525"/>
            <a:ext cx="34210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Payoff</a:t>
            </a:r>
            <a:r>
              <a:rPr lang="en-US" altLang="en-US" sz="1600"/>
              <a:t> if there is a default by reference entity=100(1-</a:t>
            </a:r>
            <a:r>
              <a:rPr lang="en-US" altLang="en-US" sz="1600" i="1">
                <a:latin typeface="Times New Roman" panose="02020603050405020304" pitchFamily="18" charset="0"/>
              </a:rPr>
              <a:t>R</a:t>
            </a:r>
            <a:r>
              <a:rPr lang="en-US" altLang="en-US" sz="1600"/>
              <a:t>)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827088" y="4652963"/>
            <a:ext cx="727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b="1"/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1331913" y="5084763"/>
            <a:ext cx="648017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Recovery rate, </a:t>
            </a:r>
            <a:r>
              <a:rPr lang="en-US" altLang="en-US" sz="1800" i="1">
                <a:latin typeface="Times New Roman" panose="02020603050405020304" pitchFamily="18" charset="0"/>
              </a:rPr>
              <a:t>R</a:t>
            </a:r>
            <a:r>
              <a:rPr lang="en-US" altLang="en-US" sz="1800"/>
              <a:t>, is the ratio of the value of the bond issued by reference entity immediately after default to the face value of the bond</a:t>
            </a:r>
          </a:p>
        </p:txBody>
      </p:sp>
      <p:sp>
        <p:nvSpPr>
          <p:cNvPr id="17421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960804E-2174-4AAD-A563-F97DDFADACE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Other Details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smtClean="0"/>
              <a:t>Payments are usually made quarterly in arrears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smtClean="0"/>
              <a:t>In the event of default there is a final accrual payment by the buyer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smtClean="0"/>
              <a:t>Settlement can be specified as delivery of the bonds or (more usually) a cash equivalent amount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smtClean="0"/>
              <a:t>An auction process usually determines a cash payout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smtClean="0"/>
              <a:t>Suppose payments are made quarterly in the example just considered. What are the cash flows if there is a default after 3 years and 1 month and recovery rate is 40%?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smtClean="0"/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F8554E6-A21D-457B-8903-29452FC6E65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76250"/>
            <a:ext cx="7086600" cy="838200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Attractions of the CDS Market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989138"/>
            <a:ext cx="7239000" cy="4003675"/>
          </a:xfrm>
        </p:spPr>
        <p:txBody>
          <a:bodyPr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Allows credit risks to be traded in the same way as market risks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Can be used to transfer credit risks to a third party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Can be used to diversify credit risks  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Options, Futures, and Other Derivatives 9th Ediition,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6CD0E11-8E8B-4CAF-8048-138FCC74BFE8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Moody’s Statistics on Recovery Rates (1982-2014) </a:t>
            </a:r>
            <a:r>
              <a:rPr lang="en-CA" altLang="en-US" sz="2400" smtClean="0"/>
              <a:t>Table 23.1 page 500</a:t>
            </a:r>
            <a:endParaRPr lang="en-US" altLang="en-US" sz="2400" smtClean="0"/>
          </a:p>
        </p:txBody>
      </p:sp>
      <p:sp>
        <p:nvSpPr>
          <p:cNvPr id="2048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57313" y="2428875"/>
          <a:ext cx="5786437" cy="2225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8937"/>
                <a:gridCol w="2857500"/>
              </a:tblGrid>
              <a:tr h="370946">
                <a:tc>
                  <a:txBody>
                    <a:bodyPr/>
                    <a:lstStyle/>
                    <a:p>
                      <a:r>
                        <a:rPr lang="en-CA" sz="1800" i="1" dirty="0" smtClean="0"/>
                        <a:t>Class</a:t>
                      </a:r>
                      <a:endParaRPr lang="en-US" sz="1800" i="1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i="1" dirty="0" smtClean="0"/>
                        <a:t>Average</a:t>
                      </a:r>
                      <a:r>
                        <a:rPr lang="en-CA" sz="1800" i="1" baseline="0" dirty="0" smtClean="0"/>
                        <a:t> r</a:t>
                      </a:r>
                      <a:r>
                        <a:rPr lang="en-CA" sz="1800" i="1" dirty="0" smtClean="0"/>
                        <a:t>ecovery rate (%)</a:t>
                      </a:r>
                      <a:endParaRPr lang="en-US" sz="1800" i="1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Senior secured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52.8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Senior unsecured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37.4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Senior subordinated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31.1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Subordinated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31.4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</a:tr>
              <a:tr h="37094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Junior subordinated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24.7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</a:tr>
            </a:tbl>
          </a:graphicData>
        </a:graphic>
      </p:graphicFrame>
      <p:sp>
        <p:nvSpPr>
          <p:cNvPr id="2050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F33DA2E-BF77-40B1-AAF0-A8E8609472D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7620000" cy="990600"/>
          </a:xfrm>
        </p:spPr>
        <p:txBody>
          <a:bodyPr/>
          <a:lstStyle/>
          <a:p>
            <a:pPr eaLnBrk="1" hangingPunct="1"/>
            <a:r>
              <a:rPr lang="en-US" altLang="en-US" sz="3500" smtClean="0"/>
              <a:t>CDSs and Bonds</a:t>
            </a:r>
            <a:endParaRPr lang="en-US" altLang="en-US" sz="2400" smtClean="0"/>
          </a:p>
        </p:txBody>
      </p:sp>
      <p:sp>
        <p:nvSpPr>
          <p:cNvPr id="21507" name="Content Placeholder 5"/>
          <p:cNvSpPr>
            <a:spLocks noGrp="1"/>
          </p:cNvSpPr>
          <p:nvPr>
            <p:ph idx="1"/>
          </p:nvPr>
        </p:nvSpPr>
        <p:spPr>
          <a:xfrm>
            <a:off x="539750" y="1484313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A 5-year bond plus a 5-year CDS produces a portfolio that is (approximately) risk-free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This shows that bond yield spreads should be close to CDS spreads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The CDS-bond basis is the excess of CDS spreads over the corresponding bond yield spreads. (Negative during the credit crisis)</a:t>
            </a: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Options, Futures, and Other Derivatives 9th Ediition,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56A7457-9184-4D87-B8D8-E379DAC19E38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The Payoff</a:t>
            </a:r>
            <a:endParaRPr lang="en-US" altLang="en-US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Usually there are a number of bonds that can be delivered in the event of a default</a:t>
            </a:r>
          </a:p>
          <a:p>
            <a:r>
              <a:rPr lang="en-CA" altLang="en-US" smtClean="0"/>
              <a:t>The protection buyer can choose to deliver the bond with the lowest price</a:t>
            </a:r>
          </a:p>
          <a:p>
            <a:r>
              <a:rPr lang="en-CA" altLang="en-US" smtClean="0"/>
              <a:t>But in practice an auction process is usually used to determine a cash payoff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17D1D72-5DF6-4B27-8EE4-07F73237F39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579438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Attractions of the CDS Market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27250"/>
            <a:ext cx="8229600" cy="4003675"/>
          </a:xfrm>
        </p:spPr>
        <p:txBody>
          <a:bodyPr/>
          <a:lstStyle/>
          <a:p>
            <a:pPr eaLnBrk="1" hangingPunct="1"/>
            <a:r>
              <a:rPr lang="en-US" altLang="en-US" smtClean="0"/>
              <a:t>Allows credit risks to be traded in the same way as market risks</a:t>
            </a:r>
          </a:p>
          <a:p>
            <a:pPr eaLnBrk="1" hangingPunct="1"/>
            <a:r>
              <a:rPr lang="en-US" altLang="en-US" smtClean="0"/>
              <a:t>Can be used to transfer credit risks to a third party</a:t>
            </a:r>
          </a:p>
          <a:p>
            <a:pPr eaLnBrk="1" hangingPunct="1"/>
            <a:r>
              <a:rPr lang="en-US" altLang="en-US" smtClean="0"/>
              <a:t>Can be used to diversify credit risks  </a:t>
            </a: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C52A457-F3C7-4428-874C-75C4133ED4C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Hazard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A hazard rate of </a:t>
            </a:r>
            <a:r>
              <a:rPr lang="en-CA" i="1" dirty="0" smtClean="0">
                <a:latin typeface="+mj-lt"/>
              </a:rPr>
              <a:t>h</a:t>
            </a:r>
            <a:r>
              <a:rPr lang="en-CA" dirty="0" smtClean="0"/>
              <a:t>(</a:t>
            </a:r>
            <a:r>
              <a:rPr lang="en-CA" i="1" dirty="0" smtClean="0">
                <a:latin typeface="+mj-lt"/>
              </a:rPr>
              <a:t>t</a:t>
            </a:r>
            <a:r>
              <a:rPr lang="en-CA" dirty="0" smtClean="0"/>
              <a:t>) at time </a:t>
            </a:r>
            <a:r>
              <a:rPr lang="en-CA" i="1" dirty="0" smtClean="0">
                <a:latin typeface="+mj-lt"/>
              </a:rPr>
              <a:t>t</a:t>
            </a:r>
            <a:r>
              <a:rPr lang="en-CA" dirty="0" smtClean="0"/>
              <a:t> means that there is a probability of </a:t>
            </a:r>
            <a:r>
              <a:rPr lang="en-CA" i="1" dirty="0" smtClean="0">
                <a:latin typeface="+mj-lt"/>
              </a:rPr>
              <a:t>h</a:t>
            </a:r>
            <a:r>
              <a:rPr lang="en-CA" dirty="0" smtClean="0"/>
              <a:t>(</a:t>
            </a:r>
            <a:r>
              <a:rPr lang="en-CA" i="1" dirty="0" smtClean="0">
                <a:latin typeface="+mj-lt"/>
              </a:rPr>
              <a:t>t</a:t>
            </a:r>
            <a:r>
              <a:rPr lang="en-CA" dirty="0" smtClean="0"/>
              <a:t>)</a:t>
            </a:r>
            <a:r>
              <a:rPr lang="en-CA" dirty="0" smtClean="0">
                <a:latin typeface="Symbol" panose="05050102010706020507" pitchFamily="18" charset="2"/>
              </a:rPr>
              <a:t>D</a:t>
            </a:r>
            <a:r>
              <a:rPr lang="en-CA" i="1" dirty="0" smtClean="0">
                <a:latin typeface="+mj-lt"/>
              </a:rPr>
              <a:t>t</a:t>
            </a:r>
            <a:r>
              <a:rPr lang="en-CA" dirty="0" smtClean="0"/>
              <a:t> of a default between times </a:t>
            </a:r>
            <a:r>
              <a:rPr lang="en-CA" i="1" dirty="0" smtClean="0">
                <a:latin typeface="+mj-lt"/>
              </a:rPr>
              <a:t>t</a:t>
            </a:r>
            <a:r>
              <a:rPr lang="en-CA" dirty="0" smtClean="0"/>
              <a:t> and </a:t>
            </a:r>
            <a:r>
              <a:rPr lang="en-CA" i="1" dirty="0" err="1" smtClean="0">
                <a:latin typeface="+mj-lt"/>
              </a:rPr>
              <a:t>t</a:t>
            </a:r>
            <a:r>
              <a:rPr lang="en-CA" dirty="0" err="1" smtClean="0"/>
              <a:t>+</a:t>
            </a:r>
            <a:r>
              <a:rPr lang="en-CA" dirty="0" err="1" smtClean="0">
                <a:latin typeface="Symbol" panose="05050102010706020507" pitchFamily="18" charset="2"/>
              </a:rPr>
              <a:t>D</a:t>
            </a:r>
            <a:r>
              <a:rPr lang="en-CA" i="1" dirty="0" err="1" smtClean="0">
                <a:latin typeface="+mj-lt"/>
              </a:rPr>
              <a:t>t</a:t>
            </a:r>
            <a:r>
              <a:rPr lang="en-CA" dirty="0" smtClean="0"/>
              <a:t> conditional on no earlier default</a:t>
            </a:r>
          </a:p>
          <a:p>
            <a:pPr>
              <a:defRPr/>
            </a:pPr>
            <a:r>
              <a:rPr lang="en-CA" dirty="0" smtClean="0"/>
              <a:t>The survival probability to time </a:t>
            </a:r>
            <a:r>
              <a:rPr lang="en-CA" i="1" dirty="0" smtClean="0">
                <a:latin typeface="+mj-lt"/>
              </a:rPr>
              <a:t>t</a:t>
            </a:r>
            <a:r>
              <a:rPr lang="en-CA" dirty="0" smtClean="0"/>
              <a:t> is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CA" dirty="0" smtClean="0"/>
          </a:p>
          <a:p>
            <a:pPr marL="360363" indent="0">
              <a:buFont typeface="Wingdings" panose="05000000000000000000" pitchFamily="2" charset="2"/>
              <a:buNone/>
              <a:defRPr/>
            </a:pPr>
            <a:r>
              <a:rPr lang="en-CA" dirty="0" smtClean="0"/>
              <a:t>where     is the average hazard rate up to time </a:t>
            </a:r>
            <a:r>
              <a:rPr lang="en-CA" i="1" dirty="0" smtClean="0">
                <a:latin typeface="+mj-lt"/>
              </a:rPr>
              <a:t>t</a:t>
            </a:r>
          </a:p>
          <a:p>
            <a:pPr marL="344487" lvl="1" indent="0">
              <a:buFont typeface="Wingdings" panose="05000000000000000000" pitchFamily="2" charset="2"/>
              <a:buNone/>
              <a:defRPr/>
            </a:pPr>
            <a:endParaRPr lang="en-CA" dirty="0"/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CA" altLang="en-US"/>
              <a:t>Options, Futures, and Other Derivatives 9th Ediition, Copyright © John C. Hull 2016</a:t>
            </a:r>
            <a:endParaRPr lang="en-US" altLang="en-US" i="0"/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577FF4-D104-45D5-A789-907D492425B6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  <p:graphicFrame>
        <p:nvGraphicFramePr>
          <p:cNvPr id="24582" name="Object 5"/>
          <p:cNvGraphicFramePr>
            <a:graphicFrameLocks noChangeAspect="1"/>
          </p:cNvGraphicFramePr>
          <p:nvPr/>
        </p:nvGraphicFramePr>
        <p:xfrm>
          <a:off x="3440113" y="4286250"/>
          <a:ext cx="771525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name="Equation" r:id="rId3" imgW="253800" imgH="215640" progId="Equation.DSMT4">
                  <p:embed/>
                </p:oleObj>
              </mc:Choice>
              <mc:Fallback>
                <p:oleObj name="Equation" r:id="rId3" imgW="253800" imgH="215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4286250"/>
                        <a:ext cx="771525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6"/>
          <p:cNvGraphicFramePr>
            <a:graphicFrameLocks noChangeAspect="1"/>
          </p:cNvGraphicFramePr>
          <p:nvPr/>
        </p:nvGraphicFramePr>
        <p:xfrm>
          <a:off x="2195513" y="5013325"/>
          <a:ext cx="2889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5" imgW="139680" imgH="203040" progId="Equation.DSMT4">
                  <p:embed/>
                </p:oleObj>
              </mc:Choice>
              <mc:Fallback>
                <p:oleObj name="Equation" r:id="rId5" imgW="139680" imgH="203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013325"/>
                        <a:ext cx="2889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CDS Valuation </a:t>
            </a:r>
            <a:r>
              <a:rPr lang="en-US" altLang="en-US" sz="2400" smtClean="0"/>
              <a:t>(page 501-503)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>
                <a:cs typeface="Arial" charset="0"/>
              </a:rPr>
              <a:t>Hazard rate for reference entity is 2%.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>
                <a:cs typeface="Arial" charset="0"/>
              </a:rPr>
              <a:t>Assume payments are made annually in arrears</a:t>
            </a:r>
            <a:r>
              <a:rPr lang="en-CA" altLang="en-US" dirty="0" smtClean="0">
                <a:cs typeface="Arial" charset="0"/>
              </a:rPr>
              <a:t>,</a:t>
            </a:r>
            <a:r>
              <a:rPr lang="en-US" altLang="en-US" dirty="0" smtClean="0">
                <a:cs typeface="Arial" charset="0"/>
              </a:rPr>
              <a:t> that defaults always happen half way through a year</a:t>
            </a:r>
            <a:r>
              <a:rPr lang="en-CA" altLang="en-US" dirty="0" smtClean="0">
                <a:cs typeface="Arial" charset="0"/>
              </a:rPr>
              <a:t>,</a:t>
            </a:r>
            <a:r>
              <a:rPr lang="en-US" altLang="en-US" dirty="0" smtClean="0">
                <a:cs typeface="Arial" charset="0"/>
              </a:rPr>
              <a:t> and that the expected recovery rate is 40%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smtClean="0">
                <a:cs typeface="Arial" charset="0"/>
              </a:rPr>
              <a:t>Let the breakeven CDS rate be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 </a:t>
            </a:r>
            <a:r>
              <a:rPr lang="en-US" altLang="en-US" dirty="0" smtClean="0">
                <a:cs typeface="Arial" charset="0"/>
              </a:rPr>
              <a:t>per dollar of notional principal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  <a:defRPr/>
            </a:pPr>
            <a:endParaRPr lang="en-US" altLang="en-US" dirty="0" smtClean="0">
              <a:cs typeface="Arial" charset="0"/>
            </a:endParaRP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/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D15E5DB-2B01-44DC-8D12-0FC0FF2F4D74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066800"/>
            <a:ext cx="6737350" cy="838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CA" sz="4000" dirty="0"/>
              <a:t>Unconditional Default and Survival Probabilities</a:t>
            </a:r>
            <a:r>
              <a:rPr lang="en-CA" dirty="0"/>
              <a:t> </a:t>
            </a:r>
            <a:r>
              <a:rPr lang="en-CA" sz="2200" dirty="0"/>
              <a:t>(Table </a:t>
            </a:r>
            <a:r>
              <a:rPr lang="en-CA" sz="2200" dirty="0" smtClean="0"/>
              <a:t>23.2)</a:t>
            </a:r>
            <a:endParaRPr lang="en-US" sz="2200" dirty="0"/>
          </a:p>
        </p:txBody>
      </p:sp>
      <p:sp>
        <p:nvSpPr>
          <p:cNvPr id="2662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/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8034220-DC30-4BF2-91F7-6F004CC326AB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graphicFrame>
        <p:nvGraphicFramePr>
          <p:cNvPr id="45099" name="Group 43"/>
          <p:cNvGraphicFramePr>
            <a:graphicFrameLocks noGrp="1"/>
          </p:cNvGraphicFramePr>
          <p:nvPr/>
        </p:nvGraphicFramePr>
        <p:xfrm>
          <a:off x="1828800" y="2400300"/>
          <a:ext cx="5257800" cy="3479800"/>
        </p:xfrm>
        <a:graphic>
          <a:graphicData uri="http://schemas.openxmlformats.org/drawingml/2006/table">
            <a:tbl>
              <a:tblPr/>
              <a:tblGrid>
                <a:gridCol w="1352550"/>
                <a:gridCol w="1847850"/>
                <a:gridCol w="2057400"/>
              </a:tblGrid>
              <a:tr h="8967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(years)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Survival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Probability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Default  Probability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6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0.9802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6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0.9608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0.9418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6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0.9231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6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0.9048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9" marB="46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Calculation of PV of Payments</a:t>
            </a:r>
            <a:r>
              <a:rPr lang="en-CA" altLang="en-US" smtClean="0"/>
              <a:t/>
            </a:r>
            <a:br>
              <a:rPr lang="en-CA" altLang="en-US" smtClean="0"/>
            </a:br>
            <a:r>
              <a:rPr lang="en-CA" altLang="en-US" sz="2200" smtClean="0"/>
              <a:t>(Table 23.3 Principal=$1)</a:t>
            </a:r>
            <a:endParaRPr lang="en-US" altLang="en-US" sz="2200" smtClean="0"/>
          </a:p>
        </p:txBody>
      </p:sp>
      <p:sp>
        <p:nvSpPr>
          <p:cNvPr id="2765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9621C22-867B-4CFB-9D9D-FDF69776D0F5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graphicFrame>
        <p:nvGraphicFramePr>
          <p:cNvPr id="5" name="Group 61"/>
          <p:cNvGraphicFramePr>
            <a:graphicFrameLocks/>
          </p:cNvGraphicFramePr>
          <p:nvPr/>
        </p:nvGraphicFramePr>
        <p:xfrm>
          <a:off x="914400" y="2362200"/>
          <a:ext cx="7086600" cy="3581400"/>
        </p:xfrm>
        <a:graphic>
          <a:graphicData uri="http://schemas.openxmlformats.org/drawingml/2006/table">
            <a:tbl>
              <a:tblPr/>
              <a:tblGrid>
                <a:gridCol w="1417594"/>
                <a:gridCol w="1319168"/>
                <a:gridCol w="1514652"/>
                <a:gridCol w="1417594"/>
                <a:gridCol w="1417594"/>
              </a:tblGrid>
              <a:tr h="826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(yrs)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Survival 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Expected Payment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Discount Factor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PV of Exp Pmt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0.9802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802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0.9512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324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608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0.9048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694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418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0.8607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106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231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0.8187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558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048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048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0.7788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047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1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0728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6934200" cy="1223963"/>
          </a:xfrm>
        </p:spPr>
        <p:txBody>
          <a:bodyPr/>
          <a:lstStyle/>
          <a:p>
            <a:pPr eaLnBrk="1" hangingPunct="1"/>
            <a:r>
              <a:rPr lang="en-CA" altLang="en-US" sz="3000" smtClean="0"/>
              <a:t/>
            </a:r>
            <a:br>
              <a:rPr lang="en-CA" altLang="en-US" sz="3000" smtClean="0"/>
            </a:br>
            <a:r>
              <a:rPr lang="en-CA" altLang="en-US" sz="3000" smtClean="0"/>
              <a:t/>
            </a:r>
            <a:br>
              <a:rPr lang="en-CA" altLang="en-US" sz="3000" smtClean="0"/>
            </a:br>
            <a:r>
              <a:rPr lang="en-CA" altLang="en-US" sz="3000" smtClean="0"/>
              <a:t/>
            </a:r>
            <a:br>
              <a:rPr lang="en-CA" altLang="en-US" sz="3000" smtClean="0"/>
            </a:br>
            <a:r>
              <a:rPr lang="en-CA" altLang="en-US" sz="4000" smtClean="0"/>
              <a:t>Present Value of Expected Payoff </a:t>
            </a:r>
            <a:r>
              <a:rPr lang="en-CA" altLang="en-US" sz="2000" smtClean="0"/>
              <a:t>(Table 23.4; Principal = $1)</a:t>
            </a:r>
            <a:endParaRPr lang="en-US" altLang="en-US" sz="2000" smtClean="0"/>
          </a:p>
        </p:txBody>
      </p:sp>
      <p:sp>
        <p:nvSpPr>
          <p:cNvPr id="2867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/>
          </a:p>
        </p:txBody>
      </p:sp>
      <p:sp>
        <p:nvSpPr>
          <p:cNvPr id="2867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B5E4A1-65BF-4894-BEF5-C51C1C36D57A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graphicFrame>
        <p:nvGraphicFramePr>
          <p:cNvPr id="23660" name="Group 108"/>
          <p:cNvGraphicFramePr>
            <a:graphicFrameLocks noGrp="1"/>
          </p:cNvGraphicFramePr>
          <p:nvPr/>
        </p:nvGraphicFramePr>
        <p:xfrm>
          <a:off x="1066800" y="2286000"/>
          <a:ext cx="6629400" cy="3505200"/>
        </p:xfrm>
        <a:graphic>
          <a:graphicData uri="http://schemas.openxmlformats.org/drawingml/2006/table">
            <a:tbl>
              <a:tblPr/>
              <a:tblGrid>
                <a:gridCol w="820783"/>
                <a:gridCol w="1073331"/>
                <a:gridCol w="757646"/>
                <a:gridCol w="1262743"/>
                <a:gridCol w="1199606"/>
                <a:gridCol w="1515291"/>
              </a:tblGrid>
              <a:tr h="7906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(yrs)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Default </a:t>
                      </a:r>
                      <a:r>
                        <a:rPr kumimoji="0" lang="en-CA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Probab</a:t>
                      </a: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Rec. Rate   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Expected Payoff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Discount Factor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PV of Exp. Payoff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19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0.0119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0.9753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19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0.9277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0.0108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0.8825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0.0101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0.0112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0.8395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7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0.0183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0.0110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0.7985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0.0088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2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0.0506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7924800" cy="1081088"/>
          </a:xfrm>
        </p:spPr>
        <p:txBody>
          <a:bodyPr/>
          <a:lstStyle/>
          <a:p>
            <a:pPr eaLnBrk="1" hangingPunct="1"/>
            <a:r>
              <a:rPr lang="en-CA" altLang="en-US" sz="3000" smtClean="0"/>
              <a:t/>
            </a:r>
            <a:br>
              <a:rPr lang="en-CA" altLang="en-US" sz="3000" smtClean="0"/>
            </a:br>
            <a:r>
              <a:rPr lang="en-CA" altLang="en-US" sz="3000" smtClean="0"/>
              <a:t/>
            </a:r>
            <a:br>
              <a:rPr lang="en-CA" altLang="en-US" sz="3000" smtClean="0"/>
            </a:br>
            <a:r>
              <a:rPr lang="en-CA" altLang="en-US" sz="4000" smtClean="0"/>
              <a:t>PV of Accrual Payment Made in Event of a Default. </a:t>
            </a:r>
            <a:r>
              <a:rPr lang="en-CA" altLang="en-US" sz="2000" smtClean="0"/>
              <a:t>(Table 23.5; Principal = $1)</a:t>
            </a:r>
            <a:endParaRPr lang="en-US" altLang="en-US" sz="2000" smtClean="0"/>
          </a:p>
        </p:txBody>
      </p:sp>
      <p:sp>
        <p:nvSpPr>
          <p:cNvPr id="2969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/>
          </a:p>
        </p:txBody>
      </p:sp>
      <p:sp>
        <p:nvSpPr>
          <p:cNvPr id="2970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7FD0207-A39F-4673-98DA-870EBA978048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graphicFrame>
        <p:nvGraphicFramePr>
          <p:cNvPr id="24650" name="Group 74"/>
          <p:cNvGraphicFramePr>
            <a:graphicFrameLocks noGrp="1"/>
          </p:cNvGraphicFramePr>
          <p:nvPr/>
        </p:nvGraphicFramePr>
        <p:xfrm>
          <a:off x="914400" y="2286000"/>
          <a:ext cx="6781800" cy="3657600"/>
        </p:xfrm>
        <a:graphic>
          <a:graphicData uri="http://schemas.openxmlformats.org/drawingml/2006/table">
            <a:tbl>
              <a:tblPr/>
              <a:tblGrid>
                <a:gridCol w="968829"/>
                <a:gridCol w="1245636"/>
                <a:gridCol w="1522445"/>
                <a:gridCol w="1314838"/>
                <a:gridCol w="1730051"/>
              </a:tblGrid>
              <a:tr h="804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Default </a:t>
                      </a:r>
                      <a:r>
                        <a:rPr kumimoji="0" lang="en-CA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Expected Accr Pmt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Disc Factor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PV of Pmt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3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0.0198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0.0099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0.9753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0.0097</a:t>
                      </a:r>
                      <a:r>
                        <a:rPr kumimoji="0" lang="en-CA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0.0194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0.0097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0.9277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0.0090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72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0.0190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0.0095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0.8825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0.0084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0.0186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0.0093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0.8395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0.0078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3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0.0183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0.0091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0.7985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0.0073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5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0.0422</a:t>
                      </a:r>
                      <a:r>
                        <a:rPr kumimoji="0" lang="en-C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Putting it all together</a:t>
            </a:r>
            <a:endParaRPr lang="en-US" altLang="en-US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81200"/>
            <a:ext cx="798195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altLang="en-US" smtClean="0">
                <a:cs typeface="Arial" panose="020B0604020202020204" pitchFamily="34" charset="0"/>
              </a:rPr>
              <a:t>PV of expected payments is 4.0728</a:t>
            </a:r>
            <a:r>
              <a:rPr lang="en-CA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s </a:t>
            </a:r>
            <a:r>
              <a:rPr lang="en-CA" altLang="en-US" smtClean="0">
                <a:cs typeface="Arial" panose="020B0604020202020204" pitchFamily="34" charset="0"/>
              </a:rPr>
              <a:t>+ 0.0422</a:t>
            </a:r>
            <a:r>
              <a:rPr lang="en-CA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s </a:t>
            </a:r>
            <a:r>
              <a:rPr lang="en-CA" altLang="en-US" smtClean="0">
                <a:cs typeface="Arial" panose="020B0604020202020204" pitchFamily="34" charset="0"/>
              </a:rPr>
              <a:t>= 4.1150</a:t>
            </a:r>
            <a:r>
              <a:rPr lang="en-CA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s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smtClean="0">
                <a:cs typeface="Arial" panose="020B0604020202020204" pitchFamily="34" charset="0"/>
              </a:rPr>
              <a:t>The breakeven CDS spread is given by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CA" altLang="en-US" smtClean="0">
                <a:cs typeface="Arial" panose="020B0604020202020204" pitchFamily="34" charset="0"/>
              </a:rPr>
              <a:t>	4.1150</a:t>
            </a:r>
            <a:r>
              <a:rPr lang="en-CA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s </a:t>
            </a:r>
            <a:r>
              <a:rPr lang="en-CA" altLang="en-US" smtClean="0">
                <a:cs typeface="Arial" panose="020B0604020202020204" pitchFamily="34" charset="0"/>
              </a:rPr>
              <a:t>= 0.0506 or </a:t>
            </a:r>
            <a:r>
              <a:rPr lang="en-CA" altLang="en-US" i="1" smtClean="0">
                <a:latin typeface="Times New Roman" panose="02020603050405020304" pitchFamily="18" charset="0"/>
                <a:cs typeface="Arial" panose="020B0604020202020204" pitchFamily="34" charset="0"/>
              </a:rPr>
              <a:t>s </a:t>
            </a:r>
            <a:r>
              <a:rPr lang="en-CA" altLang="en-US" smtClean="0">
                <a:cs typeface="Arial" panose="020B0604020202020204" pitchFamily="34" charset="0"/>
              </a:rPr>
              <a:t>= 0.0123 (123 bps)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smtClean="0">
                <a:cs typeface="Arial" panose="020B0604020202020204" pitchFamily="34" charset="0"/>
              </a:rPr>
              <a:t>The value of a swap  negotiated some time ago with a CDS spread of 150bps would be 4.1150×0.0150−0.0506 = 0.0111 per dollar of the principal.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/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7931E66-0E32-44A6-A132-BACFCD68C213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Implying Default Probabilities from CDS spreads</a:t>
            </a:r>
            <a:endParaRPr lang="en-US" altLang="en-US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00213"/>
            <a:ext cx="7772400" cy="4205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CA" altLang="en-US" smtClean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CA" altLang="en-US" sz="2400" smtClean="0">
                <a:cs typeface="Arial" panose="020B0604020202020204" pitchFamily="34" charset="0"/>
              </a:rPr>
              <a:t>Suppose that the mid market spread for a 5 year newly issued CDS is 100bps per year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sz="2400" smtClean="0">
                <a:cs typeface="Arial" panose="020B0604020202020204" pitchFamily="34" charset="0"/>
              </a:rPr>
              <a:t>We can reverse engineer our calculations to conclude that the hazard is 1.63% per year.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sz="2400" smtClean="0">
                <a:cs typeface="Arial" panose="020B0604020202020204" pitchFamily="34" charset="0"/>
              </a:rPr>
              <a:t>If probabilities are implied from CDS spreads and then used to value another CDS the result is not sensitive to the recovery rate providing the same recovery rate is used throughout</a:t>
            </a:r>
            <a:endParaRPr lang="en-US" altLang="en-US" sz="2400" smtClean="0">
              <a:cs typeface="Arial" panose="020B0604020202020204" pitchFamily="34" charset="0"/>
            </a:endParaRP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/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E3A4BC1-E6BF-43C3-A742-16FF2CA3B432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Other Credit Derivatives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CDS</a:t>
            </a:r>
          </a:p>
          <a:p>
            <a:pPr eaLnBrk="1" hangingPunct="1"/>
            <a:r>
              <a:rPr lang="en-US" altLang="en-US" smtClean="0"/>
              <a:t>First-to-default Basket CDS</a:t>
            </a:r>
          </a:p>
          <a:p>
            <a:pPr eaLnBrk="1" hangingPunct="1"/>
            <a:r>
              <a:rPr lang="en-US" altLang="en-US" smtClean="0"/>
              <a:t>Total return swap</a:t>
            </a:r>
          </a:p>
          <a:p>
            <a:pPr eaLnBrk="1" hangingPunct="1"/>
            <a:r>
              <a:rPr lang="en-US" altLang="en-US" smtClean="0"/>
              <a:t>Credit default option</a:t>
            </a:r>
          </a:p>
          <a:p>
            <a:pPr eaLnBrk="1" hangingPunct="1"/>
            <a:r>
              <a:rPr lang="en-US" altLang="en-US" smtClean="0"/>
              <a:t>Collateralized debt obligation</a:t>
            </a: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063D6A-B3F6-43E6-A201-E55F000A512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CDS </a:t>
            </a:r>
            <a:r>
              <a:rPr lang="en-US" altLang="en-US" sz="2400" smtClean="0"/>
              <a:t>(page 504-505)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payoff in the event of default is a fixed cash amount</a:t>
            </a:r>
            <a:endParaRPr lang="en-CA" altLang="en-US" smtClean="0"/>
          </a:p>
          <a:p>
            <a:pPr eaLnBrk="1" hangingPunct="1"/>
            <a:r>
              <a:rPr lang="en-CA" altLang="en-US" smtClean="0"/>
              <a:t>In our example the PV of the expected payoff for a binary swap is 0.0844 and the breakeven binary CDS spread is 205 bps</a:t>
            </a:r>
            <a:endParaRPr lang="en-US" altLang="en-US" smtClean="0"/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D63218F-933C-447E-B3D6-8282417F74F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6851650" cy="1295400"/>
          </a:xfrm>
        </p:spPr>
        <p:txBody>
          <a:bodyPr/>
          <a:lstStyle/>
          <a:p>
            <a:pPr eaLnBrk="1" hangingPunct="1"/>
            <a:r>
              <a:rPr lang="en-US" altLang="en-US" smtClean="0"/>
              <a:t>First to Default Basket CDS </a:t>
            </a:r>
            <a:r>
              <a:rPr lang="en-US" altLang="en-US" sz="2400" smtClean="0"/>
              <a:t>(page 505)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Similar to a regular CDS except that several reference entities are specified and there is a payoff when the first one defaults</a:t>
            </a:r>
          </a:p>
          <a:p>
            <a:pPr eaLnBrk="1" hangingPunct="1"/>
            <a:r>
              <a:rPr lang="en-US" altLang="en-US" sz="2800" smtClean="0"/>
              <a:t>This depends on “default correlation”</a:t>
            </a:r>
          </a:p>
          <a:p>
            <a:pPr eaLnBrk="1" hangingPunct="1"/>
            <a:r>
              <a:rPr lang="en-US" altLang="en-US" sz="2800" smtClean="0"/>
              <a:t>Second, third, and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n</a:t>
            </a:r>
            <a:r>
              <a:rPr lang="en-US" altLang="en-US" sz="2800" smtClean="0"/>
              <a:t>th to default deals are defined similarly</a:t>
            </a: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6BDA3BA-C0C6-49C7-A97C-736EC893F63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14363"/>
          </a:xfrm>
        </p:spPr>
        <p:txBody>
          <a:bodyPr/>
          <a:lstStyle/>
          <a:p>
            <a:pPr eaLnBrk="1" hangingPunct="1"/>
            <a:r>
              <a:rPr lang="en-US" altLang="en-US" smtClean="0"/>
              <a:t>Total Return Swap </a:t>
            </a:r>
            <a:r>
              <a:rPr lang="en-US" altLang="en-US" sz="2400" smtClean="0"/>
              <a:t>(pages 505-506)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412875"/>
            <a:ext cx="7340600" cy="3095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Agreement to exchange total return on a corporate bond for LIBOR plus a spread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At the end there is a payment reflecting the change in value of the bond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Usually used as financing tools by companies that want an investment in the corporate bond</a:t>
            </a:r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35846" name="Group 5"/>
          <p:cNvGrpSpPr>
            <a:grpSpLocks/>
          </p:cNvGrpSpPr>
          <p:nvPr/>
        </p:nvGrpSpPr>
        <p:grpSpPr bwMode="auto">
          <a:xfrm>
            <a:off x="684213" y="4648200"/>
            <a:ext cx="7164387" cy="1290638"/>
            <a:chOff x="528" y="1680"/>
            <a:chExt cx="4416" cy="935"/>
          </a:xfrm>
        </p:grpSpPr>
        <p:sp>
          <p:nvSpPr>
            <p:cNvPr id="35848" name="Rectangle 6"/>
            <p:cNvSpPr>
              <a:spLocks noChangeArrowheads="1"/>
            </p:cNvSpPr>
            <p:nvPr/>
          </p:nvSpPr>
          <p:spPr bwMode="auto">
            <a:xfrm>
              <a:off x="528" y="1776"/>
              <a:ext cx="1344" cy="7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Total Return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Payer</a:t>
              </a:r>
            </a:p>
          </p:txBody>
        </p:sp>
        <p:sp>
          <p:nvSpPr>
            <p:cNvPr id="35849" name="Rectangle 7"/>
            <p:cNvSpPr>
              <a:spLocks noChangeArrowheads="1"/>
            </p:cNvSpPr>
            <p:nvPr/>
          </p:nvSpPr>
          <p:spPr bwMode="auto">
            <a:xfrm>
              <a:off x="3600" y="1776"/>
              <a:ext cx="1344" cy="7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Total Return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Receiver</a:t>
              </a:r>
            </a:p>
          </p:txBody>
        </p:sp>
        <p:sp>
          <p:nvSpPr>
            <p:cNvPr id="35850" name="Line 8"/>
            <p:cNvSpPr>
              <a:spLocks noChangeShapeType="1"/>
            </p:cNvSpPr>
            <p:nvPr/>
          </p:nvSpPr>
          <p:spPr bwMode="auto">
            <a:xfrm>
              <a:off x="1920" y="1920"/>
              <a:ext cx="1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1" name="Line 9"/>
            <p:cNvSpPr>
              <a:spLocks noChangeShapeType="1"/>
            </p:cNvSpPr>
            <p:nvPr/>
          </p:nvSpPr>
          <p:spPr bwMode="auto">
            <a:xfrm flipH="1">
              <a:off x="1872" y="2304"/>
              <a:ext cx="17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52" name="Text Box 10"/>
            <p:cNvSpPr txBox="1">
              <a:spLocks noChangeArrowheads="1"/>
            </p:cNvSpPr>
            <p:nvPr/>
          </p:nvSpPr>
          <p:spPr bwMode="auto">
            <a:xfrm>
              <a:off x="1968" y="1680"/>
              <a:ext cx="148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/>
                <a:t>Total Return on Bond</a:t>
              </a:r>
            </a:p>
          </p:txBody>
        </p:sp>
        <p:sp>
          <p:nvSpPr>
            <p:cNvPr id="35853" name="Text Box 11"/>
            <p:cNvSpPr txBox="1">
              <a:spLocks noChangeArrowheads="1"/>
            </p:cNvSpPr>
            <p:nvPr/>
          </p:nvSpPr>
          <p:spPr bwMode="auto">
            <a:xfrm>
              <a:off x="2016" y="2349"/>
              <a:ext cx="148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/>
                <a:t>LIBOR plus 25bps</a:t>
              </a:r>
            </a:p>
          </p:txBody>
        </p:sp>
      </p:grpSp>
      <p:sp>
        <p:nvSpPr>
          <p:cNvPr id="35847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041B2B3-133D-49F2-A4CD-E4953AF4298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CDS Forwards and Options </a:t>
            </a:r>
            <a:r>
              <a:rPr lang="en-US" altLang="en-US" sz="2200" smtClean="0"/>
              <a:t>(page 506-507)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mtClean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cs typeface="Arial" panose="020B0604020202020204" pitchFamily="34" charset="0"/>
              </a:rPr>
              <a:t>Example: Forward contract to buy 5 year protection on Ford for 280 bps in one year. If Ford defaults during the one-year life the forward contract ceases to exist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cs typeface="Arial" panose="020B0604020202020204" pitchFamily="34" charset="0"/>
              </a:rPr>
              <a:t>Example: European option to buy 5 year protection on Ford for 280 bps in one year. If Ford defaults during the one-year life of the option, the option is knocked out </a:t>
            </a:r>
          </a:p>
        </p:txBody>
      </p:sp>
      <p:sp>
        <p:nvSpPr>
          <p:cNvPr id="368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Options, Futures, and Other Derivatives 9th Ediition,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C1714FC-CFA0-4F1F-96EE-ECA0AD106E9D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Credit Indices</a:t>
            </a:r>
            <a:endParaRPr lang="en-US" altLang="en-US" smtClean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CDX NA IG tracks the average CDS spread for a portfolio of 125 investment grade (rated BBB or above) North American companies</a:t>
            </a:r>
          </a:p>
          <a:p>
            <a:r>
              <a:rPr lang="en-CA" altLang="en-US" smtClean="0"/>
              <a:t>iTraxx Europe tracks the average CDS sppread for a portfolio of 125 investment grade European companies</a:t>
            </a:r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15FC9E6-A540-4B1E-843A-57E42F26C0C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Use of Fixed Coupons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200" smtClean="0">
                <a:cs typeface="Arial" panose="020B0604020202020204" pitchFamily="34" charset="0"/>
              </a:rPr>
              <a:t>Increasingly CDSs and CDS indices trade like bonds to facilitate trading</a:t>
            </a:r>
          </a:p>
          <a:p>
            <a:pPr eaLnBrk="1" hangingPunct="1"/>
            <a:r>
              <a:rPr lang="en-US" altLang="en-US" sz="2200" smtClean="0">
                <a:cs typeface="Arial" panose="020B0604020202020204" pitchFamily="34" charset="0"/>
              </a:rPr>
              <a:t>A coupon is specified</a:t>
            </a:r>
          </a:p>
          <a:p>
            <a:pPr eaLnBrk="1" hangingPunct="1"/>
            <a:r>
              <a:rPr lang="en-US" altLang="en-US" sz="2200" smtClean="0">
                <a:cs typeface="Arial" panose="020B0604020202020204" pitchFamily="34" charset="0"/>
              </a:rPr>
              <a:t>If spread is greater than coupon, the buyer of protection pays Notional Principal × Duration × (Spread−Coupon)</a:t>
            </a:r>
          </a:p>
          <a:p>
            <a:pPr eaLnBrk="1" hangingPunct="1"/>
            <a:r>
              <a:rPr lang="en-US" altLang="en-US" sz="2200" smtClean="0">
                <a:cs typeface="Arial" panose="020B0604020202020204" pitchFamily="34" charset="0"/>
              </a:rPr>
              <a:t>Otherwise the seller of protection pays </a:t>
            </a:r>
          </a:p>
          <a:p>
            <a:pPr eaLnBrk="1" hangingPunct="1">
              <a:buFontTx/>
              <a:buNone/>
            </a:pPr>
            <a:r>
              <a:rPr lang="en-US" altLang="en-US" sz="2200" smtClean="0">
                <a:cs typeface="Arial" panose="020B0604020202020204" pitchFamily="34" charset="0"/>
              </a:rPr>
              <a:t>		Notional Principal × Duration × (Coupon−Spread)</a:t>
            </a:r>
          </a:p>
          <a:p>
            <a:pPr eaLnBrk="1" hangingPunct="1"/>
            <a:r>
              <a:rPr lang="en-US" altLang="en-US" sz="2200" smtClean="0">
                <a:cs typeface="Arial" panose="020B0604020202020204" pitchFamily="34" charset="0"/>
              </a:rPr>
              <a:t>Duration is the amount the spread has to be multiplied by to  get the PV of spread payments. (In our example, it was 4.1150.)</a:t>
            </a:r>
          </a:p>
          <a:p>
            <a:pPr eaLnBrk="1" hangingPunct="1"/>
            <a:endParaRPr lang="en-US" altLang="en-US" sz="2400" smtClean="0">
              <a:cs typeface="Arial" panose="020B0604020202020204" pitchFamily="34" charset="0"/>
            </a:endParaRPr>
          </a:p>
          <a:p>
            <a:pPr eaLnBrk="1" hangingPunct="1"/>
            <a:endParaRPr lang="en-US" altLang="en-US" sz="2400" smtClean="0">
              <a:cs typeface="Arial" panose="020B0604020202020204" pitchFamily="34" charset="0"/>
            </a:endParaRPr>
          </a:p>
        </p:txBody>
      </p:sp>
      <p:sp>
        <p:nvSpPr>
          <p:cNvPr id="389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Options, Futures, and Other Derivatives 9th Ediition,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C0CD4F8-8008-48F7-A607-808E82480E46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Asset Backed Securities (ABSs)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Securities created from a portfolio of loans, bonds, credit card receivables, mortgages, auto loans, aircraft leases, music royalties, etc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Usually the income from the assets is tranched 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A “waterfall” defines how income is first used to pay the promised return to the senior tranche, then to the next most senior tranche, and so on.</a:t>
            </a: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Options, Futures, and Other Derivatives 9th Ediition,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72B912-226A-4364-84F8-978B080B8021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7134225" cy="1295400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Collateralized Debt Obligations </a:t>
            </a:r>
            <a:r>
              <a:rPr lang="en-US" altLang="en-US" sz="2200" smtClean="0"/>
              <a:t>(Page 509-510)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133600"/>
            <a:ext cx="8458200" cy="3657600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A cash CDO is an ABS where the underlying assets are debt obligations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A synthetic CDO involves forming a similar structure with short CDS contracts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In a synthetic CDO most junior tranche bears losses first. After it has been wiped out, the second most junior tranche bears losses, and so on</a:t>
            </a:r>
          </a:p>
        </p:txBody>
      </p:sp>
      <p:sp>
        <p:nvSpPr>
          <p:cNvPr id="409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>
                <a:cs typeface="Arial" panose="020B0604020202020204" pitchFamily="34" charset="0"/>
              </a:rPr>
              <a:t>Options, Futures, and Other Derivatives 9th Ediition,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409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562DD6-AAF5-4BED-965F-90F705163963}" type="slidenum">
              <a:rPr lang="en-US" altLang="en-US" sz="1800">
                <a:cs typeface="Arial" panose="020B0604020202020204" pitchFamily="34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80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1371600" y="1143000"/>
            <a:ext cx="1905000" cy="457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Short CDS 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Short CDS 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Short CDS 3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Wingdings 3" panose="05040102010807070707" pitchFamily="18" charset="2"/>
              </a:rPr>
              <a:t>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Short CDS 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Total Principal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=$100 million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Average spread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= 100bp</a:t>
            </a:r>
          </a:p>
        </p:txBody>
      </p:sp>
      <p:sp>
        <p:nvSpPr>
          <p:cNvPr id="41988" name="Rectangle 3"/>
          <p:cNvSpPr>
            <a:spLocks noChangeArrowheads="1"/>
          </p:cNvSpPr>
          <p:nvPr/>
        </p:nvSpPr>
        <p:spPr bwMode="auto">
          <a:xfrm>
            <a:off x="3733800" y="2590800"/>
            <a:ext cx="1219200" cy="16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SPV</a:t>
            </a:r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5791200" y="914400"/>
            <a:ext cx="2066925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Tranche 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$75 million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Spread = 8bp</a:t>
            </a:r>
          </a:p>
        </p:txBody>
      </p:sp>
      <p:sp>
        <p:nvSpPr>
          <p:cNvPr id="41990" name="Rectangle 5"/>
          <p:cNvSpPr>
            <a:spLocks noChangeArrowheads="1"/>
          </p:cNvSpPr>
          <p:nvPr/>
        </p:nvSpPr>
        <p:spPr bwMode="auto">
          <a:xfrm>
            <a:off x="5791200" y="2209800"/>
            <a:ext cx="2066925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Tranche 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$10 million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Spread = 40bp</a:t>
            </a:r>
          </a:p>
        </p:txBody>
      </p:sp>
      <p:sp>
        <p:nvSpPr>
          <p:cNvPr id="41991" name="Rectangle 6"/>
          <p:cNvSpPr>
            <a:spLocks noChangeArrowheads="1"/>
          </p:cNvSpPr>
          <p:nvPr/>
        </p:nvSpPr>
        <p:spPr bwMode="auto">
          <a:xfrm>
            <a:off x="5791200" y="3505200"/>
            <a:ext cx="2066925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Tranche 3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$10 million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Spread = 300bp </a:t>
            </a:r>
          </a:p>
        </p:txBody>
      </p:sp>
      <p:sp>
        <p:nvSpPr>
          <p:cNvPr id="41992" name="Rectangle 7"/>
          <p:cNvSpPr>
            <a:spLocks noChangeArrowheads="1"/>
          </p:cNvSpPr>
          <p:nvPr/>
        </p:nvSpPr>
        <p:spPr bwMode="auto">
          <a:xfrm>
            <a:off x="5791200" y="4800600"/>
            <a:ext cx="2066925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Tranche 4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$5 million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Spread = 800bp</a:t>
            </a:r>
          </a:p>
        </p:txBody>
      </p:sp>
      <p:sp>
        <p:nvSpPr>
          <p:cNvPr id="41993" name="Line 8"/>
          <p:cNvSpPr>
            <a:spLocks noChangeShapeType="1"/>
          </p:cNvSpPr>
          <p:nvPr/>
        </p:nvSpPr>
        <p:spPr bwMode="auto">
          <a:xfrm>
            <a:off x="3352800" y="3429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4" name="Line 9"/>
          <p:cNvSpPr>
            <a:spLocks noChangeShapeType="1"/>
          </p:cNvSpPr>
          <p:nvPr/>
        </p:nvSpPr>
        <p:spPr bwMode="auto">
          <a:xfrm flipV="1">
            <a:off x="5029200" y="1524000"/>
            <a:ext cx="762000" cy="1295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5" name="Line 10"/>
          <p:cNvSpPr>
            <a:spLocks noChangeShapeType="1"/>
          </p:cNvSpPr>
          <p:nvPr/>
        </p:nvSpPr>
        <p:spPr bwMode="auto">
          <a:xfrm flipV="1">
            <a:off x="4953000" y="28194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6" name="Line 11"/>
          <p:cNvSpPr>
            <a:spLocks noChangeShapeType="1"/>
          </p:cNvSpPr>
          <p:nvPr/>
        </p:nvSpPr>
        <p:spPr bwMode="auto">
          <a:xfrm>
            <a:off x="4953000" y="35814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7" name="Line 12"/>
          <p:cNvSpPr>
            <a:spLocks noChangeShapeType="1"/>
          </p:cNvSpPr>
          <p:nvPr/>
        </p:nvSpPr>
        <p:spPr bwMode="auto">
          <a:xfrm>
            <a:off x="5029200" y="4038600"/>
            <a:ext cx="762000" cy="1219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8" name="Rectangle 13"/>
          <p:cNvSpPr>
            <a:spLocks noGrp="1" noChangeArrowheads="1"/>
          </p:cNvSpPr>
          <p:nvPr>
            <p:ph type="title"/>
          </p:nvPr>
        </p:nvSpPr>
        <p:spPr>
          <a:xfrm>
            <a:off x="166688" y="44450"/>
            <a:ext cx="76962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Synthetic CDO Structure </a:t>
            </a:r>
            <a:r>
              <a:rPr lang="en-US" altLang="en-US" sz="2400" smtClean="0"/>
              <a:t>(Figure 23.3)</a:t>
            </a: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</p:txBody>
      </p:sp>
      <p:sp>
        <p:nvSpPr>
          <p:cNvPr id="41999" name="Slide Number Placeholder 1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C1DE2E8-48D3-4139-9251-9323C7BC528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Standard Tranches Are Created from Standard Portfolios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CDX NA IG:</a:t>
            </a:r>
          </a:p>
          <a:p>
            <a:pPr lvl="1" eaLnBrk="1" hangingPunct="1"/>
            <a:r>
              <a:rPr lang="en-US" altLang="en-US" smtClean="0"/>
              <a:t>Tranches: 0-3%, 3-7%, 7-10%, 10-15%, 15-30%, 30-100%</a:t>
            </a:r>
          </a:p>
          <a:p>
            <a:pPr eaLnBrk="1" hangingPunct="1"/>
            <a:r>
              <a:rPr lang="en-US" altLang="en-US" smtClean="0"/>
              <a:t>iTraxx Europe:</a:t>
            </a:r>
          </a:p>
          <a:p>
            <a:pPr lvl="1" eaLnBrk="1" hangingPunct="1"/>
            <a:r>
              <a:rPr lang="en-US" altLang="en-US" smtClean="0"/>
              <a:t>Tranches: 0-3%, 3-6%, 6-9%, 9-12%, 12-22%, 22-100%</a:t>
            </a:r>
          </a:p>
        </p:txBody>
      </p:sp>
      <p:sp>
        <p:nvSpPr>
          <p:cNvPr id="430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BCB98FC-43C1-4BE1-BC2E-4DAA64916DB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Single Tranche Trading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Where one tranche is traded without the other tranches being created</a:t>
            </a:r>
          </a:p>
          <a:p>
            <a:pPr eaLnBrk="1" hangingPunct="1"/>
            <a:r>
              <a:rPr lang="en-US" altLang="en-US" smtClean="0"/>
              <a:t>The synthetic CDO structure is used as a reference for defining the cash flows (but it is never actually created)</a:t>
            </a:r>
          </a:p>
        </p:txBody>
      </p:sp>
      <p:sp>
        <p:nvSpPr>
          <p:cNvPr id="440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192C516-D8BD-471E-96D9-48D579B793B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Mid-Market Quotes for iTraxx Europe </a:t>
            </a:r>
            <a:r>
              <a:rPr lang="en-US" altLang="en-US" sz="2400" smtClean="0"/>
              <a:t>(Table 23.7, page 511)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362200"/>
          <a:ext cx="7620000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7021"/>
                <a:gridCol w="891702"/>
                <a:gridCol w="891702"/>
                <a:gridCol w="972766"/>
                <a:gridCol w="1215957"/>
                <a:gridCol w="1297021"/>
                <a:gridCol w="1053830"/>
              </a:tblGrid>
              <a:tr h="5689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Tranche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0-3%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3-6%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6-9%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9-12%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12-22%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Jan 31, 2007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10.34%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41.59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11.95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5.60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2.00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23</a:t>
                      </a:r>
                      <a:endParaRPr lang="en-US" sz="1400" dirty="0"/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Jan 31, 2008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30.98%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316.90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212.40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140.00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73.60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77</a:t>
                      </a:r>
                      <a:endParaRPr lang="en-US" sz="1400" dirty="0"/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Jan 31, 2009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64.28%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1185.63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606.69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315.63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97.13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165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5105" name="Footer Placeholder 7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Options, Futures, and Other Derivatives 9th Ediition, Copyright © John C. Hull 2016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45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473B338-247E-4613-A08E-E54C85157A9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49429D-558E-4583-87D5-37AE003EF39E}"/>
</file>

<file path=customXml/itemProps2.xml><?xml version="1.0" encoding="utf-8"?>
<ds:datastoreItem xmlns:ds="http://schemas.openxmlformats.org/officeDocument/2006/customXml" ds:itemID="{1C882DB0-B285-40AC-A5AC-7FA6FB57CAE4}"/>
</file>

<file path=customXml/itemProps3.xml><?xml version="1.0" encoding="utf-8"?>
<ds:datastoreItem xmlns:ds="http://schemas.openxmlformats.org/officeDocument/2006/customXml" ds:itemID="{9F923CF6-2E4D-4C5F-BB5A-034D656B99A1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2558</TotalTime>
  <Words>2106</Words>
  <Application>Microsoft Office PowerPoint</Application>
  <PresentationFormat>On-screen Show (4:3)</PresentationFormat>
  <Paragraphs>381</Paragraphs>
  <Slides>31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Times New Roman</vt:lpstr>
      <vt:lpstr>Wingdings</vt:lpstr>
      <vt:lpstr>Symbol</vt:lpstr>
      <vt:lpstr>Wingdings 3</vt:lpstr>
      <vt:lpstr>1_Network</vt:lpstr>
      <vt:lpstr>MathType 6.0 Equation</vt:lpstr>
      <vt:lpstr>Credit Derivatives</vt:lpstr>
      <vt:lpstr>Credit Derivatives</vt:lpstr>
      <vt:lpstr>Credit Default Swaps (page 497-505)</vt:lpstr>
      <vt:lpstr>CDS Structure</vt:lpstr>
      <vt:lpstr>Other Details</vt:lpstr>
      <vt:lpstr>Attractions of the CDS Market</vt:lpstr>
      <vt:lpstr>Moody’s Statistics on Recovery Rates (1982-2014) Table 23.1 page 500</vt:lpstr>
      <vt:lpstr>CDSs and Bonds</vt:lpstr>
      <vt:lpstr>The Payoff</vt:lpstr>
      <vt:lpstr>Attractions of the CDS Market</vt:lpstr>
      <vt:lpstr>Hazard Rates</vt:lpstr>
      <vt:lpstr>CDS Valuation (page 501-503)</vt:lpstr>
      <vt:lpstr>Unconditional Default and Survival Probabilities (Table 23.2)</vt:lpstr>
      <vt:lpstr>Calculation of PV of Payments (Table 23.3 Principal=$1)</vt:lpstr>
      <vt:lpstr>   Present Value of Expected Payoff (Table 23.4; Principal = $1)</vt:lpstr>
      <vt:lpstr>  PV of Accrual Payment Made in Event of a Default. (Table 23.5; Principal = $1)</vt:lpstr>
      <vt:lpstr>Putting it all together</vt:lpstr>
      <vt:lpstr>Implying Default Probabilities from CDS spreads</vt:lpstr>
      <vt:lpstr>Other Credit Derivatives</vt:lpstr>
      <vt:lpstr>Binary CDS (page 504-505)</vt:lpstr>
      <vt:lpstr>First to Default Basket CDS (page 505)</vt:lpstr>
      <vt:lpstr>Total Return Swap (pages 505-506)</vt:lpstr>
      <vt:lpstr>CDS Forwards and Options (page 506-507)</vt:lpstr>
      <vt:lpstr>Credit Indices</vt:lpstr>
      <vt:lpstr>The Use of Fixed Coupons</vt:lpstr>
      <vt:lpstr>Asset Backed Securities (ABSs)</vt:lpstr>
      <vt:lpstr>Collateralized Debt Obligations (Page 509-510)</vt:lpstr>
      <vt:lpstr>Synthetic CDO Structure (Figure 23.3) </vt:lpstr>
      <vt:lpstr>Standard Tranches Are Created from Standard Portfolios</vt:lpstr>
      <vt:lpstr>Single Tranche Trading</vt:lpstr>
      <vt:lpstr>Mid-Market Quotes for iTraxx Europe (Table 23.7, page 511)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Derivatives</dc:title>
  <dc:subject>Fundamentals of Futures and Options Markets,9e</dc:subject>
  <dc:creator>John C.  Hull</dc:creator>
  <cp:keywords>Chapter 23</cp:keywords>
  <dc:description>Copyright 2016 by John C.Hull
All Rights Reserved. Published 2016.</dc:description>
  <cp:lastModifiedBy>John Hull</cp:lastModifiedBy>
  <cp:revision>37</cp:revision>
  <dcterms:created xsi:type="dcterms:W3CDTF">2004-01-28T22:56:25Z</dcterms:created>
  <dcterms:modified xsi:type="dcterms:W3CDTF">2016-01-20T21:06:41Z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