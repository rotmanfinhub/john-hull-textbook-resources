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15"/>
  </p:notesMasterIdLst>
  <p:handoutMasterIdLst>
    <p:handoutMasterId r:id="rId16"/>
  </p:handoutMasterIdLst>
  <p:sldIdLst>
    <p:sldId id="284" r:id="rId2"/>
    <p:sldId id="286" r:id="rId3"/>
    <p:sldId id="287" r:id="rId4"/>
    <p:sldId id="288" r:id="rId5"/>
    <p:sldId id="298" r:id="rId6"/>
    <p:sldId id="290" r:id="rId7"/>
    <p:sldId id="299" r:id="rId8"/>
    <p:sldId id="300" r:id="rId9"/>
    <p:sldId id="293" r:id="rId10"/>
    <p:sldId id="301" r:id="rId11"/>
    <p:sldId id="295" r:id="rId12"/>
    <p:sldId id="296" r:id="rId13"/>
    <p:sldId id="297" r:id="rId14"/>
  </p:sldIdLst>
  <p:sldSz cx="9144000" cy="6858000" type="letter"/>
  <p:notesSz cx="6858000" cy="92075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71" autoAdjust="0"/>
    <p:restoredTop sz="94581" autoAdjust="0"/>
  </p:normalViewPr>
  <p:slideViewPr>
    <p:cSldViewPr>
      <p:cViewPr varScale="1">
        <p:scale>
          <a:sx n="122" d="100"/>
          <a:sy n="122" d="100"/>
        </p:scale>
        <p:origin x="100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096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defTabSz="762000" eaLnBrk="0" hangingPunct="0">
              <a:defRPr sz="1000" i="1">
                <a:latin typeface="Times New Roman" pitchFamily="18" charset="0"/>
                <a:cs typeface="+mn-cs"/>
              </a:defRPr>
            </a:lvl1pPr>
          </a:lstStyle>
          <a:p>
            <a:pPr>
              <a:defRPr/>
            </a:pPr>
            <a:endParaRPr lang="en-US"/>
          </a:p>
        </p:txBody>
      </p:sp>
      <p:sp>
        <p:nvSpPr>
          <p:cNvPr id="2051" name="Rectangle 3"/>
          <p:cNvSpPr>
            <a:spLocks noGrp="1" noChangeArrowheads="1"/>
          </p:cNvSpPr>
          <p:nvPr>
            <p:ph type="dt" idx="1"/>
          </p:nvPr>
        </p:nvSpPr>
        <p:spPr bwMode="auto">
          <a:xfrm>
            <a:off x="3886200" y="0"/>
            <a:ext cx="2971800" cy="460375"/>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defTabSz="762000" eaLnBrk="0" hangingPunct="0">
              <a:defRPr sz="1000" i="1">
                <a:latin typeface="Times New Roman" pitchFamily="18" charset="0"/>
                <a:cs typeface="+mn-cs"/>
              </a:defRPr>
            </a:lvl1pPr>
          </a:lstStyle>
          <a:p>
            <a:pPr>
              <a:defRPr/>
            </a:pPr>
            <a:endParaRPr lang="en-US"/>
          </a:p>
        </p:txBody>
      </p:sp>
      <p:sp>
        <p:nvSpPr>
          <p:cNvPr id="2052" name="Rectangle 4"/>
          <p:cNvSpPr>
            <a:spLocks noGrp="1" noChangeArrowheads="1"/>
          </p:cNvSpPr>
          <p:nvPr>
            <p:ph type="ftr" sz="quarter" idx="4"/>
          </p:nvPr>
        </p:nvSpPr>
        <p:spPr bwMode="auto">
          <a:xfrm>
            <a:off x="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defTabSz="762000" eaLnBrk="0" hangingPunct="0">
              <a:defRPr sz="1000" i="1">
                <a:latin typeface="Times New Roman" pitchFamily="18" charset="0"/>
                <a:cs typeface="+mn-cs"/>
              </a:defRPr>
            </a:lvl1pPr>
          </a:lstStyle>
          <a:p>
            <a:pPr>
              <a:defRPr/>
            </a:pPr>
            <a:endParaRPr lang="en-US"/>
          </a:p>
        </p:txBody>
      </p:sp>
      <p:sp>
        <p:nvSpPr>
          <p:cNvPr id="2053" name="Rectangle 5"/>
          <p:cNvSpPr>
            <a:spLocks noGrp="1" noChangeArrowheads="1"/>
          </p:cNvSpPr>
          <p:nvPr>
            <p:ph type="sldNum" sz="quarter" idx="5"/>
          </p:nvPr>
        </p:nvSpPr>
        <p:spPr bwMode="auto">
          <a:xfrm>
            <a:off x="3886200" y="8747125"/>
            <a:ext cx="2971800" cy="460375"/>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defTabSz="762000" eaLnBrk="0" hangingPunct="0">
              <a:defRPr sz="1000" i="1">
                <a:latin typeface="Times New Roman" panose="02020603050405020304" pitchFamily="18" charset="0"/>
              </a:defRPr>
            </a:lvl1pPr>
          </a:lstStyle>
          <a:p>
            <a:fld id="{E88E9B4C-4D27-4ECC-B3E6-B94AEEBDC618}" type="slidenum">
              <a:rPr lang="en-US" altLang="en-US"/>
              <a:pPr/>
              <a:t>‹#›</a:t>
            </a:fld>
            <a:endParaRPr lang="en-US" altLang="en-US"/>
          </a:p>
        </p:txBody>
      </p:sp>
      <p:sp>
        <p:nvSpPr>
          <p:cNvPr id="2054" name="Rectangle 6"/>
          <p:cNvSpPr>
            <a:spLocks noGrp="1" noChangeArrowheads="1"/>
          </p:cNvSpPr>
          <p:nvPr>
            <p:ph type="body" sz="quarter" idx="3"/>
          </p:nvPr>
        </p:nvSpPr>
        <p:spPr bwMode="auto">
          <a:xfrm>
            <a:off x="914400" y="4373563"/>
            <a:ext cx="5029200" cy="414337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smtClean="0"/>
              <a:t>Click to edit Master notes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7655" name="Rectangle 7"/>
          <p:cNvSpPr>
            <a:spLocks noGrp="1" noRot="1" noChangeAspect="1" noChangeArrowheads="1" noTextEdit="1"/>
          </p:cNvSpPr>
          <p:nvPr>
            <p:ph type="sldImg" idx="2"/>
          </p:nvPr>
        </p:nvSpPr>
        <p:spPr bwMode="auto">
          <a:xfrm>
            <a:off x="1127125" y="692150"/>
            <a:ext cx="4603750" cy="34496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6785331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D146422-F18A-4BAC-A5DF-5D685D1ED84B}" type="slidenum">
              <a:rPr lang="en-US" altLang="en-US" sz="1000">
                <a:latin typeface="Times New Roman" panose="02020603050405020304" pitchFamily="18" charset="0"/>
              </a:rPr>
              <a:pPr>
                <a:spcBef>
                  <a:spcPct val="0"/>
                </a:spcBef>
              </a:pPr>
              <a:t>1</a:t>
            </a:fld>
            <a:endParaRPr lang="en-US" altLang="en-US" sz="1000">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xfrm>
            <a:off x="1128713" y="692150"/>
            <a:ext cx="4600575" cy="3449638"/>
          </a:xfrm>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653330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5DF906F-E4D3-4DFC-A6A6-6566534E9D06}" type="slidenum">
              <a:rPr lang="en-US" altLang="en-US" sz="1000">
                <a:latin typeface="Times New Roman" panose="02020603050405020304" pitchFamily="18" charset="0"/>
              </a:rPr>
              <a:pPr>
                <a:spcBef>
                  <a:spcPct val="0"/>
                </a:spcBef>
              </a:pPr>
              <a:t>2</a:t>
            </a:fld>
            <a:endParaRPr lang="en-US" altLang="en-US" sz="1000">
              <a:latin typeface="Times New Roman" panose="02020603050405020304" pitchFamily="18" charset="0"/>
            </a:endParaRPr>
          </a:p>
        </p:txBody>
      </p:sp>
      <p:sp>
        <p:nvSpPr>
          <p:cNvPr id="29699" name="Rectangle 2"/>
          <p:cNvSpPr>
            <a:spLocks noGrp="1" noRot="1" noChangeAspect="1" noChangeArrowheads="1" noTextEdit="1"/>
          </p:cNvSpPr>
          <p:nvPr>
            <p:ph type="sldImg"/>
          </p:nvPr>
        </p:nvSpPr>
        <p:spPr>
          <a:xfrm>
            <a:off x="1128713" y="692150"/>
            <a:ext cx="4600575" cy="3449638"/>
          </a:xfrm>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523491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0279101-84B3-40C5-917E-A1B2F856B405}" type="slidenum">
              <a:rPr lang="en-US" altLang="en-US" sz="1000">
                <a:latin typeface="Times New Roman" panose="02020603050405020304" pitchFamily="18" charset="0"/>
              </a:rPr>
              <a:pPr>
                <a:spcBef>
                  <a:spcPct val="0"/>
                </a:spcBef>
              </a:pPr>
              <a:t>3</a:t>
            </a:fld>
            <a:endParaRPr lang="en-US" altLang="en-US" sz="1000">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xfrm>
            <a:off x="1128713" y="692150"/>
            <a:ext cx="4600575" cy="3449638"/>
          </a:xfrm>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92257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C734BF4-3E4C-46EC-913F-AB6199495E2B}" type="slidenum">
              <a:rPr lang="en-US" altLang="en-US" sz="1000">
                <a:latin typeface="Times New Roman" panose="02020603050405020304" pitchFamily="18" charset="0"/>
              </a:rPr>
              <a:pPr>
                <a:spcBef>
                  <a:spcPct val="0"/>
                </a:spcBef>
              </a:pPr>
              <a:t>4</a:t>
            </a:fld>
            <a:endParaRPr lang="en-US" altLang="en-US" sz="1000">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a:xfrm>
            <a:off x="1128713" y="692150"/>
            <a:ext cx="4600575" cy="3449638"/>
          </a:xfrm>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212515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0CD6AE5-DD25-4F53-891A-A91E2D6E5F0D}" type="slidenum">
              <a:rPr lang="en-US" altLang="en-US" sz="1000">
                <a:latin typeface="Times New Roman" panose="02020603050405020304" pitchFamily="18" charset="0"/>
              </a:rPr>
              <a:pPr>
                <a:spcBef>
                  <a:spcPct val="0"/>
                </a:spcBef>
              </a:pPr>
              <a:t>5</a:t>
            </a:fld>
            <a:endParaRPr lang="en-US" altLang="en-US" sz="1000">
              <a:latin typeface="Times New Roman" panose="02020603050405020304" pitchFamily="18" charset="0"/>
            </a:endParaRPr>
          </a:p>
        </p:txBody>
      </p:sp>
      <p:sp>
        <p:nvSpPr>
          <p:cNvPr id="32771" name="Rectangle 2"/>
          <p:cNvSpPr>
            <a:spLocks noChangeArrowheads="1" noTextEdit="1"/>
          </p:cNvSpPr>
          <p:nvPr>
            <p:ph type="sldImg"/>
          </p:nvPr>
        </p:nvSpPr>
        <p:spPr>
          <a:xfrm>
            <a:off x="1128713" y="692150"/>
            <a:ext cx="4600575" cy="3449638"/>
          </a:xfrm>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698009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E1EFB89-F5E4-421C-9BCC-C3CFCA248117}" type="slidenum">
              <a:rPr lang="en-US" altLang="en-US" sz="1000">
                <a:latin typeface="Times New Roman" panose="02020603050405020304" pitchFamily="18" charset="0"/>
              </a:rPr>
              <a:pPr>
                <a:spcBef>
                  <a:spcPct val="0"/>
                </a:spcBef>
              </a:pPr>
              <a:t>6</a:t>
            </a:fld>
            <a:endParaRPr lang="en-US" altLang="en-US" sz="1000">
              <a:latin typeface="Times New Roman" panose="02020603050405020304" pitchFamily="18" charset="0"/>
            </a:endParaRPr>
          </a:p>
        </p:txBody>
      </p:sp>
      <p:sp>
        <p:nvSpPr>
          <p:cNvPr id="33795" name="Rectangle 2"/>
          <p:cNvSpPr>
            <a:spLocks noGrp="1" noRot="1" noChangeAspect="1" noChangeArrowheads="1" noTextEdit="1"/>
          </p:cNvSpPr>
          <p:nvPr>
            <p:ph type="sldImg"/>
          </p:nvPr>
        </p:nvSpPr>
        <p:spPr>
          <a:xfrm>
            <a:off x="1128713" y="692150"/>
            <a:ext cx="4600575" cy="3449638"/>
          </a:xfrm>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835640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0837FD1-3E34-4B03-94F7-45BFDBDC44B5}" type="slidenum">
              <a:rPr lang="en-US" altLang="en-US" sz="1000">
                <a:latin typeface="Times New Roman" panose="02020603050405020304" pitchFamily="18" charset="0"/>
              </a:rPr>
              <a:pPr>
                <a:spcBef>
                  <a:spcPct val="0"/>
                </a:spcBef>
              </a:pPr>
              <a:t>7</a:t>
            </a:fld>
            <a:endParaRPr lang="en-US" altLang="en-US" sz="1000">
              <a:latin typeface="Times New Roman" panose="02020603050405020304" pitchFamily="18" charset="0"/>
            </a:endParaRPr>
          </a:p>
        </p:txBody>
      </p:sp>
      <p:sp>
        <p:nvSpPr>
          <p:cNvPr id="34819" name="Rectangle 2"/>
          <p:cNvSpPr>
            <a:spLocks noChangeArrowheads="1" noTextEdit="1"/>
          </p:cNvSpPr>
          <p:nvPr>
            <p:ph type="sldImg"/>
          </p:nvPr>
        </p:nvSpPr>
        <p:spPr>
          <a:xfrm>
            <a:off x="1128713" y="692150"/>
            <a:ext cx="4600575" cy="3449638"/>
          </a:xfrm>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2267662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C326C24-A293-44BB-B30D-FECD3531B9FF}" type="slidenum">
              <a:rPr lang="en-US" altLang="en-US" sz="1000">
                <a:latin typeface="Times New Roman" panose="02020603050405020304" pitchFamily="18" charset="0"/>
              </a:rPr>
              <a:pPr>
                <a:spcBef>
                  <a:spcPct val="0"/>
                </a:spcBef>
              </a:pPr>
              <a:t>8</a:t>
            </a:fld>
            <a:endParaRPr lang="en-US" altLang="en-US" sz="1000">
              <a:latin typeface="Times New Roman" panose="02020603050405020304" pitchFamily="18" charset="0"/>
            </a:endParaRPr>
          </a:p>
        </p:txBody>
      </p:sp>
      <p:sp>
        <p:nvSpPr>
          <p:cNvPr id="35843" name="Rectangle 2"/>
          <p:cNvSpPr>
            <a:spLocks noChangeArrowheads="1" noTextEdit="1"/>
          </p:cNvSpPr>
          <p:nvPr>
            <p:ph type="sldImg"/>
          </p:nvPr>
        </p:nvSpPr>
        <p:spPr>
          <a:xfrm>
            <a:off x="1128713" y="692150"/>
            <a:ext cx="4600575" cy="344963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010789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8D50BE4-76B7-4D03-B6DA-70A86610F399}" type="slidenum">
              <a:rPr lang="en-US" altLang="en-US" sz="1000">
                <a:latin typeface="Times New Roman" panose="02020603050405020304" pitchFamily="18" charset="0"/>
              </a:rPr>
              <a:pPr>
                <a:spcBef>
                  <a:spcPct val="0"/>
                </a:spcBef>
              </a:pPr>
              <a:t>9</a:t>
            </a:fld>
            <a:endParaRPr lang="en-US" altLang="en-US" sz="1000">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xfrm>
            <a:off x="1128713" y="692150"/>
            <a:ext cx="4600575" cy="3449638"/>
          </a:xfrm>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241581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1128713" y="692150"/>
            <a:ext cx="4600575" cy="3449638"/>
          </a:xfrm>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7892"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DB8681F-7722-4EC0-B3BB-6389AD4FDA1E}" type="slidenum">
              <a:rPr lang="en-US" altLang="en-US" sz="1000">
                <a:latin typeface="Times New Roman" panose="02020603050405020304" pitchFamily="18" charset="0"/>
              </a:rPr>
              <a:pPr>
                <a:spcBef>
                  <a:spcPct val="0"/>
                </a:spcBef>
              </a:pPr>
              <a:t>10</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4137028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433357C-AF47-4D1A-BC32-0E8764EBB553}" type="slidenum">
              <a:rPr lang="en-US" altLang="en-US" sz="1000">
                <a:latin typeface="Times New Roman" panose="02020603050405020304" pitchFamily="18" charset="0"/>
              </a:rPr>
              <a:pPr>
                <a:spcBef>
                  <a:spcPct val="0"/>
                </a:spcBef>
              </a:pPr>
              <a:t>11</a:t>
            </a:fld>
            <a:endParaRPr lang="en-US" altLang="en-US" sz="1000">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xfrm>
            <a:off x="1128713" y="692150"/>
            <a:ext cx="4600575" cy="3449638"/>
          </a:xfrm>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9054286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94CDD2F-253D-4640-8842-DE320B235690}" type="slidenum">
              <a:rPr lang="en-US" altLang="en-US" sz="1000">
                <a:latin typeface="Times New Roman" panose="02020603050405020304" pitchFamily="18" charset="0"/>
              </a:rPr>
              <a:pPr>
                <a:spcBef>
                  <a:spcPct val="0"/>
                </a:spcBef>
              </a:pPr>
              <a:t>12</a:t>
            </a:fld>
            <a:endParaRPr lang="en-US" altLang="en-US" sz="100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xfrm>
            <a:off x="1128713" y="692150"/>
            <a:ext cx="4600575" cy="3449638"/>
          </a:xfrm>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563769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eaLnBrk="0" hangingPunct="0">
              <a:spcBef>
                <a:spcPct val="30000"/>
              </a:spcBef>
              <a:defRPr sz="1200">
                <a:solidFill>
                  <a:schemeClr val="tx1"/>
                </a:solidFill>
                <a:latin typeface="Arial" panose="020B0604020202020204" pitchFamily="34" charset="0"/>
              </a:defRPr>
            </a:lvl1pPr>
            <a:lvl2pPr marL="742950" indent="-285750" defTabSz="762000" eaLnBrk="0" hangingPunct="0">
              <a:spcBef>
                <a:spcPct val="30000"/>
              </a:spcBef>
              <a:defRPr sz="1200">
                <a:solidFill>
                  <a:schemeClr val="tx1"/>
                </a:solidFill>
                <a:latin typeface="Arial" panose="020B0604020202020204" pitchFamily="34" charset="0"/>
              </a:defRPr>
            </a:lvl2pPr>
            <a:lvl3pPr marL="1143000" indent="-228600" defTabSz="762000" eaLnBrk="0" hangingPunct="0">
              <a:spcBef>
                <a:spcPct val="30000"/>
              </a:spcBef>
              <a:defRPr sz="1200">
                <a:solidFill>
                  <a:schemeClr val="tx1"/>
                </a:solidFill>
                <a:latin typeface="Arial" panose="020B0604020202020204" pitchFamily="34" charset="0"/>
              </a:defRPr>
            </a:lvl3pPr>
            <a:lvl4pPr marL="1600200" indent="-228600" defTabSz="762000" eaLnBrk="0" hangingPunct="0">
              <a:spcBef>
                <a:spcPct val="30000"/>
              </a:spcBef>
              <a:defRPr sz="1200">
                <a:solidFill>
                  <a:schemeClr val="tx1"/>
                </a:solidFill>
                <a:latin typeface="Arial" panose="020B0604020202020204" pitchFamily="34" charset="0"/>
              </a:defRPr>
            </a:lvl4pPr>
            <a:lvl5pPr marL="2057400" indent="-228600" defTabSz="762000" eaLnBrk="0" hangingPunct="0">
              <a:spcBef>
                <a:spcPct val="30000"/>
              </a:spcBef>
              <a:defRPr sz="1200">
                <a:solidFill>
                  <a:schemeClr val="tx1"/>
                </a:solidFill>
                <a:latin typeface="Arial" panose="020B0604020202020204" pitchFamily="34" charset="0"/>
              </a:defRPr>
            </a:lvl5pPr>
            <a:lvl6pPr marL="2514600" indent="-228600" defTabSz="7620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C50D998-7339-4E5E-A9C2-4CEFEE2D43A1}" type="slidenum">
              <a:rPr lang="en-US" altLang="en-US" sz="1000">
                <a:latin typeface="Times New Roman" panose="02020603050405020304" pitchFamily="18" charset="0"/>
              </a:rPr>
              <a:pPr>
                <a:spcBef>
                  <a:spcPct val="0"/>
                </a:spcBef>
              </a:pPr>
              <a:t>13</a:t>
            </a:fld>
            <a:endParaRPr lang="en-US" altLang="en-US" sz="1000">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xfrm>
            <a:off x="1128713" y="692150"/>
            <a:ext cx="4600575" cy="3449638"/>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896688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7168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272338" cy="457200"/>
          </a:xfrm>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a:lvl1pPr>
          </a:lstStyle>
          <a:p>
            <a:fld id="{5756173B-2BFA-4FBB-BF9A-98BA5EC9E82F}" type="slidenum">
              <a:rPr lang="en-US" altLang="en-US"/>
              <a:pPr/>
              <a:t>‹#›</a:t>
            </a:fld>
            <a:endParaRPr lang="en-US" altLang="en-US"/>
          </a:p>
        </p:txBody>
      </p:sp>
    </p:spTree>
    <p:extLst>
      <p:ext uri="{BB962C8B-B14F-4D97-AF65-F5344CB8AC3E}">
        <p14:creationId xmlns:p14="http://schemas.microsoft.com/office/powerpoint/2010/main" val="3493564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20F12FD9-A5F6-401B-80C2-8A289E8AFBEF}" type="slidenum">
              <a:rPr lang="en-US" altLang="en-US"/>
              <a:pPr/>
              <a:t>‹#›</a:t>
            </a:fld>
            <a:endParaRPr lang="en-US" altLang="en-US"/>
          </a:p>
        </p:txBody>
      </p:sp>
    </p:spTree>
    <p:extLst>
      <p:ext uri="{BB962C8B-B14F-4D97-AF65-F5344CB8AC3E}">
        <p14:creationId xmlns:p14="http://schemas.microsoft.com/office/powerpoint/2010/main" val="2344807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A2C57D5F-1A62-44B3-8B98-08714D8A26CF}" type="slidenum">
              <a:rPr lang="en-US" altLang="en-US"/>
              <a:pPr/>
              <a:t>‹#›</a:t>
            </a:fld>
            <a:endParaRPr lang="en-US" altLang="en-US"/>
          </a:p>
        </p:txBody>
      </p:sp>
    </p:spTree>
    <p:extLst>
      <p:ext uri="{BB962C8B-B14F-4D97-AF65-F5344CB8AC3E}">
        <p14:creationId xmlns:p14="http://schemas.microsoft.com/office/powerpoint/2010/main" val="2287130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575DB60E-5522-4C0A-9F6E-7E5899FFBB79}" type="slidenum">
              <a:rPr lang="en-US" altLang="en-US"/>
              <a:pPr/>
              <a:t>‹#›</a:t>
            </a:fld>
            <a:endParaRPr lang="en-US" altLang="en-US"/>
          </a:p>
        </p:txBody>
      </p:sp>
    </p:spTree>
    <p:extLst>
      <p:ext uri="{BB962C8B-B14F-4D97-AF65-F5344CB8AC3E}">
        <p14:creationId xmlns:p14="http://schemas.microsoft.com/office/powerpoint/2010/main" val="527094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9" name="Slide Number Placeholder 8"/>
          <p:cNvSpPr>
            <a:spLocks noGrp="1"/>
          </p:cNvSpPr>
          <p:nvPr>
            <p:ph type="sldNum" sz="quarter" idx="12"/>
          </p:nvPr>
        </p:nvSpPr>
        <p:spPr/>
        <p:txBody>
          <a:bodyPr/>
          <a:lstStyle>
            <a:lvl1pPr>
              <a:defRPr/>
            </a:lvl1pPr>
          </a:lstStyle>
          <a:p>
            <a:fld id="{8DBF7FA6-81C4-4966-9F32-A458DE365D93}" type="slidenum">
              <a:rPr lang="en-US" altLang="en-US"/>
              <a:pPr/>
              <a:t>‹#›</a:t>
            </a:fld>
            <a:endParaRPr lang="en-US" altLang="en-US"/>
          </a:p>
        </p:txBody>
      </p:sp>
    </p:spTree>
    <p:extLst>
      <p:ext uri="{BB962C8B-B14F-4D97-AF65-F5344CB8AC3E}">
        <p14:creationId xmlns:p14="http://schemas.microsoft.com/office/powerpoint/2010/main" val="213126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5" name="Slide Number Placeholder 4"/>
          <p:cNvSpPr>
            <a:spLocks noGrp="1"/>
          </p:cNvSpPr>
          <p:nvPr>
            <p:ph type="sldNum" sz="quarter" idx="12"/>
          </p:nvPr>
        </p:nvSpPr>
        <p:spPr/>
        <p:txBody>
          <a:bodyPr/>
          <a:lstStyle>
            <a:lvl1pPr>
              <a:defRPr/>
            </a:lvl1pPr>
          </a:lstStyle>
          <a:p>
            <a:fld id="{E4E6AB43-BE05-4E3C-8EE7-E4B32598FD2E}" type="slidenum">
              <a:rPr lang="en-US" altLang="en-US"/>
              <a:pPr/>
              <a:t>‹#›</a:t>
            </a:fld>
            <a:endParaRPr lang="en-US" altLang="en-US"/>
          </a:p>
        </p:txBody>
      </p:sp>
    </p:spTree>
    <p:extLst>
      <p:ext uri="{BB962C8B-B14F-4D97-AF65-F5344CB8AC3E}">
        <p14:creationId xmlns:p14="http://schemas.microsoft.com/office/powerpoint/2010/main" val="1526641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4" name="Slide Number Placeholder 3"/>
          <p:cNvSpPr>
            <a:spLocks noGrp="1"/>
          </p:cNvSpPr>
          <p:nvPr>
            <p:ph type="sldNum" sz="quarter" idx="12"/>
          </p:nvPr>
        </p:nvSpPr>
        <p:spPr/>
        <p:txBody>
          <a:bodyPr/>
          <a:lstStyle>
            <a:lvl1pPr>
              <a:defRPr/>
            </a:lvl1pPr>
          </a:lstStyle>
          <a:p>
            <a:fld id="{C852C72C-0311-40CE-A6A6-5FEBD6B95213}" type="slidenum">
              <a:rPr lang="en-US" altLang="en-US"/>
              <a:pPr/>
              <a:t>‹#›</a:t>
            </a:fld>
            <a:endParaRPr lang="en-US" altLang="en-US"/>
          </a:p>
        </p:txBody>
      </p:sp>
    </p:spTree>
    <p:extLst>
      <p:ext uri="{BB962C8B-B14F-4D97-AF65-F5344CB8AC3E}">
        <p14:creationId xmlns:p14="http://schemas.microsoft.com/office/powerpoint/2010/main" val="3692013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4D057317-6194-4C5A-B3DF-E19010432829}" type="slidenum">
              <a:rPr lang="en-US" altLang="en-US"/>
              <a:pPr/>
              <a:t>‹#›</a:t>
            </a:fld>
            <a:endParaRPr lang="en-US" altLang="en-US"/>
          </a:p>
        </p:txBody>
      </p:sp>
    </p:spTree>
    <p:extLst>
      <p:ext uri="{BB962C8B-B14F-4D97-AF65-F5344CB8AC3E}">
        <p14:creationId xmlns:p14="http://schemas.microsoft.com/office/powerpoint/2010/main" val="3860245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85D17B94-D186-43FF-94D4-74240A88F464}" type="slidenum">
              <a:rPr lang="en-US" altLang="en-US"/>
              <a:pPr/>
              <a:t>‹#›</a:t>
            </a:fld>
            <a:endParaRPr lang="en-US" altLang="en-US"/>
          </a:p>
        </p:txBody>
      </p:sp>
    </p:spTree>
    <p:extLst>
      <p:ext uri="{BB962C8B-B14F-4D97-AF65-F5344CB8AC3E}">
        <p14:creationId xmlns:p14="http://schemas.microsoft.com/office/powerpoint/2010/main" val="2767329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0D1E1088-4F99-4A19-8106-3CB781A65A01}" type="slidenum">
              <a:rPr lang="en-US" altLang="en-US"/>
              <a:pPr/>
              <a:t>‹#›</a:t>
            </a:fld>
            <a:endParaRPr lang="en-US" altLang="en-US"/>
          </a:p>
        </p:txBody>
      </p:sp>
    </p:spTree>
    <p:extLst>
      <p:ext uri="{BB962C8B-B14F-4D97-AF65-F5344CB8AC3E}">
        <p14:creationId xmlns:p14="http://schemas.microsoft.com/office/powerpoint/2010/main" val="1491835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6" name="Slide Number Placeholder 5"/>
          <p:cNvSpPr>
            <a:spLocks noGrp="1"/>
          </p:cNvSpPr>
          <p:nvPr>
            <p:ph type="sldNum" sz="quarter" idx="12"/>
          </p:nvPr>
        </p:nvSpPr>
        <p:spPr/>
        <p:txBody>
          <a:bodyPr/>
          <a:lstStyle>
            <a:lvl1pPr>
              <a:defRPr/>
            </a:lvl1pPr>
          </a:lstStyle>
          <a:p>
            <a:fld id="{CEA9EB25-5322-4D31-8E02-145A2400ED65}" type="slidenum">
              <a:rPr lang="en-US" altLang="en-US"/>
              <a:pPr/>
              <a:t>‹#›</a:t>
            </a:fld>
            <a:endParaRPr lang="en-US" altLang="en-US"/>
          </a:p>
        </p:txBody>
      </p:sp>
    </p:spTree>
    <p:extLst>
      <p:ext uri="{BB962C8B-B14F-4D97-AF65-F5344CB8AC3E}">
        <p14:creationId xmlns:p14="http://schemas.microsoft.com/office/powerpoint/2010/main" val="3777268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CA" altLang="en-US"/>
              <a:t>Fundamentals of Futures and Options Markets,  9th Ed, Ch 14, Copyright © John  C. Hull 2016</a:t>
            </a:r>
            <a:endParaRPr lang="en-US" altLang="en-US" i="0"/>
          </a:p>
        </p:txBody>
      </p:sp>
      <p:sp>
        <p:nvSpPr>
          <p:cNvPr id="7" name="Slide Number Placeholder 6"/>
          <p:cNvSpPr>
            <a:spLocks noGrp="1"/>
          </p:cNvSpPr>
          <p:nvPr>
            <p:ph type="sldNum" sz="quarter" idx="12"/>
          </p:nvPr>
        </p:nvSpPr>
        <p:spPr/>
        <p:txBody>
          <a:bodyPr/>
          <a:lstStyle>
            <a:lvl1pPr>
              <a:defRPr/>
            </a:lvl1pPr>
          </a:lstStyle>
          <a:p>
            <a:fld id="{C0F67F3F-BF8B-461B-B613-F281A4D01B94}" type="slidenum">
              <a:rPr lang="en-US" altLang="en-US"/>
              <a:pPr/>
              <a:t>‹#›</a:t>
            </a:fld>
            <a:endParaRPr lang="en-US" altLang="en-US"/>
          </a:p>
        </p:txBody>
      </p:sp>
    </p:spTree>
    <p:extLst>
      <p:ext uri="{BB962C8B-B14F-4D97-AF65-F5344CB8AC3E}">
        <p14:creationId xmlns:p14="http://schemas.microsoft.com/office/powerpoint/2010/main" val="2807128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066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pitchFamily="34" charset="0"/>
                <a:cs typeface="+mn-cs"/>
              </a:defRPr>
            </a:lvl1pPr>
          </a:lstStyle>
          <a:p>
            <a:pPr>
              <a:defRPr/>
            </a:pPr>
            <a:endParaRPr lang="en-US" altLang="en-US"/>
          </a:p>
        </p:txBody>
      </p:sp>
      <p:sp>
        <p:nvSpPr>
          <p:cNvPr id="70662" name="Rectangle 6"/>
          <p:cNvSpPr>
            <a:spLocks noGrp="1" noChangeArrowheads="1"/>
          </p:cNvSpPr>
          <p:nvPr>
            <p:ph type="ftr" sz="quarter" idx="3"/>
          </p:nvPr>
        </p:nvSpPr>
        <p:spPr bwMode="auto">
          <a:xfrm>
            <a:off x="250825" y="6248400"/>
            <a:ext cx="7826375" cy="60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i="1" smtClean="0">
                <a:latin typeface="Arial" pitchFamily="34" charset="0"/>
                <a:cs typeface="+mn-cs"/>
              </a:defRPr>
            </a:lvl1pPr>
          </a:lstStyle>
          <a:p>
            <a:pPr>
              <a:defRPr/>
            </a:pPr>
            <a:r>
              <a:rPr lang="en-CA" altLang="en-US"/>
              <a:t>Fundamentals of Futures and Options Markets,  9th Ed, Ch 14, Copyright © John  C. Hull 2016</a:t>
            </a:r>
            <a:endParaRPr lang="en-US" altLang="en-US"/>
          </a:p>
        </p:txBody>
      </p:sp>
      <p:sp>
        <p:nvSpPr>
          <p:cNvPr id="7066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b="1"/>
            </a:lvl1pPr>
          </a:lstStyle>
          <a:p>
            <a:fld id="{C64FDDC8-278E-4D64-BADF-D3B8CC0AD254}" type="slidenum">
              <a:rPr lang="en-US" altLang="en-US"/>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39"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0"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1"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2"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3"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4"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8"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2"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7"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8"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59"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60"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61"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sp>
          <p:nvSpPr>
            <p:cNvPr id="1063"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smtClean="0"/>
            </a:p>
          </p:txBody>
        </p:sp>
      </p:grpSp>
    </p:spTree>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Lst>
  <p:timing>
    <p:tnLst>
      <p:par>
        <p:cTn id="1" dur="indefinite" restart="never" nodeType="tmRoot"/>
      </p:par>
    </p:tnLst>
  </p:timing>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p:cNvSpPr>
            <a:spLocks noGrp="1" noChangeArrowheads="1"/>
          </p:cNvSpPr>
          <p:nvPr>
            <p:ph type="ftr" sz="quarter" idx="11"/>
          </p:nvPr>
        </p:nvSpPr>
        <p:spPr>
          <a:xfrm>
            <a:off x="323850" y="6248400"/>
            <a:ext cx="7677150" cy="381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dirty="0" smtClean="0"/>
              <a:t>Fundamentals of Futures and Options Markets,  9th Ed, </a:t>
            </a:r>
            <a:r>
              <a:rPr lang="en-CA" altLang="en-US" dirty="0" err="1" smtClean="0"/>
              <a:t>Ch</a:t>
            </a:r>
            <a:r>
              <a:rPr lang="en-CA" altLang="en-US" dirty="0" smtClean="0"/>
              <a:t> 14, Copyright © John  C. Hull 2016</a:t>
            </a:r>
            <a:endParaRPr lang="en-US" altLang="en-US" i="0" dirty="0" smtClean="0"/>
          </a:p>
        </p:txBody>
      </p:sp>
      <p:sp>
        <p:nvSpPr>
          <p:cNvPr id="14339" name="Rectangle 4"/>
          <p:cNvSpPr>
            <a:spLocks noGrp="1" noChangeArrowheads="1"/>
          </p:cNvSpPr>
          <p:nvPr>
            <p:ph type="ctrTitle"/>
          </p:nvPr>
        </p:nvSpPr>
        <p:spPr/>
        <p:txBody>
          <a:bodyPr/>
          <a:lstStyle/>
          <a:p>
            <a:pPr eaLnBrk="1" hangingPunct="1"/>
            <a:r>
              <a:rPr lang="en-CA" altLang="en-US" sz="4400" smtClean="0"/>
              <a:t>Employee Stock Options</a:t>
            </a:r>
            <a:endParaRPr lang="en-US" altLang="en-US" sz="4400" smtClean="0"/>
          </a:p>
        </p:txBody>
      </p:sp>
      <p:sp>
        <p:nvSpPr>
          <p:cNvPr id="14340" name="Rectangle 5"/>
          <p:cNvSpPr>
            <a:spLocks noGrp="1" noChangeArrowheads="1"/>
          </p:cNvSpPr>
          <p:nvPr>
            <p:ph type="subTitle" idx="1"/>
          </p:nvPr>
        </p:nvSpPr>
        <p:spPr/>
        <p:txBody>
          <a:bodyPr/>
          <a:lstStyle/>
          <a:p>
            <a:pPr eaLnBrk="1" hangingPunct="1"/>
            <a:r>
              <a:rPr lang="en-US" altLang="en-US" smtClean="0"/>
              <a:t>Chapter 14</a:t>
            </a:r>
          </a:p>
        </p:txBody>
      </p:sp>
      <p:sp>
        <p:nvSpPr>
          <p:cNvPr id="14341"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5CC08765-EE09-4DFF-81B8-B809C3356A9D}" type="slidenum">
              <a:rPr lang="en-US" altLang="en-US" sz="1800"/>
              <a:pPr eaLnBrk="1" hangingPunct="1">
                <a:spcBef>
                  <a:spcPct val="0"/>
                </a:spcBef>
                <a:buClrTx/>
                <a:buSzTx/>
                <a:buFontTx/>
                <a:buNone/>
              </a:pPr>
              <a:t>1</a:t>
            </a:fld>
            <a:endParaRPr lang="en-US" altLang="en-US" sz="18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15363"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935F4464-011C-4BB1-BE41-D51DD238669B}" type="slidenum">
              <a:rPr lang="en-US" altLang="en-US" sz="1800"/>
              <a:pPr eaLnBrk="1" hangingPunct="1">
                <a:spcBef>
                  <a:spcPct val="0"/>
                </a:spcBef>
                <a:buClrTx/>
                <a:buSzTx/>
                <a:buFontTx/>
                <a:buNone/>
              </a:pPr>
              <a:t>2</a:t>
            </a:fld>
            <a:endParaRPr lang="en-US" altLang="en-US" sz="1800"/>
          </a:p>
        </p:txBody>
      </p:sp>
      <p:sp>
        <p:nvSpPr>
          <p:cNvPr id="15364" name="Rectangle 2"/>
          <p:cNvSpPr>
            <a:spLocks noGrp="1" noChangeArrowheads="1"/>
          </p:cNvSpPr>
          <p:nvPr>
            <p:ph type="title"/>
          </p:nvPr>
        </p:nvSpPr>
        <p:spPr/>
        <p:txBody>
          <a:bodyPr/>
          <a:lstStyle/>
          <a:p>
            <a:r>
              <a:rPr lang="en-US" altLang="en-US" smtClean="0"/>
              <a:t>Nature of Employee Stock Options</a:t>
            </a:r>
          </a:p>
        </p:txBody>
      </p:sp>
      <p:sp>
        <p:nvSpPr>
          <p:cNvPr id="15365" name="Rectangle 3"/>
          <p:cNvSpPr>
            <a:spLocks noGrp="1" noChangeArrowheads="1"/>
          </p:cNvSpPr>
          <p:nvPr>
            <p:ph type="body" idx="1"/>
          </p:nvPr>
        </p:nvSpPr>
        <p:spPr>
          <a:xfrm>
            <a:off x="609600" y="1828800"/>
            <a:ext cx="7467600" cy="4419600"/>
          </a:xfrm>
        </p:spPr>
        <p:txBody>
          <a:bodyPr/>
          <a:lstStyle/>
          <a:p>
            <a:r>
              <a:rPr lang="en-US" altLang="en-US" smtClean="0"/>
              <a:t>Employee stock options are call options issued by a company on its own stock</a:t>
            </a:r>
          </a:p>
          <a:p>
            <a:r>
              <a:rPr lang="en-US" altLang="en-US" smtClean="0"/>
              <a:t>They are often at-the-money at the time of issue</a:t>
            </a:r>
          </a:p>
          <a:p>
            <a:r>
              <a:rPr lang="en-US" altLang="en-US" smtClean="0"/>
              <a:t>They often last as long as 10 years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16387"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C9BEAA3-BF12-4F1C-A2D0-6C27703D8A64}" type="slidenum">
              <a:rPr lang="en-US" altLang="en-US" sz="1800"/>
              <a:pPr eaLnBrk="1" hangingPunct="1">
                <a:spcBef>
                  <a:spcPct val="0"/>
                </a:spcBef>
                <a:buClrTx/>
                <a:buSzTx/>
                <a:buFontTx/>
                <a:buNone/>
              </a:pPr>
              <a:t>3</a:t>
            </a:fld>
            <a:endParaRPr lang="en-US" altLang="en-US" sz="1800"/>
          </a:p>
        </p:txBody>
      </p:sp>
      <p:sp>
        <p:nvSpPr>
          <p:cNvPr id="16388" name="Rectangle 2"/>
          <p:cNvSpPr>
            <a:spLocks noGrp="1" noChangeArrowheads="1"/>
          </p:cNvSpPr>
          <p:nvPr>
            <p:ph type="title"/>
          </p:nvPr>
        </p:nvSpPr>
        <p:spPr/>
        <p:txBody>
          <a:bodyPr/>
          <a:lstStyle/>
          <a:p>
            <a:r>
              <a:rPr lang="en-US" altLang="en-US" smtClean="0"/>
              <a:t>Typical Features of Employee Stock Options </a:t>
            </a:r>
            <a:r>
              <a:rPr lang="en-US" altLang="en-US" sz="2400" smtClean="0"/>
              <a:t>(page 319)</a:t>
            </a:r>
          </a:p>
        </p:txBody>
      </p:sp>
      <p:sp>
        <p:nvSpPr>
          <p:cNvPr id="16389" name="Rectangle 3"/>
          <p:cNvSpPr>
            <a:spLocks noGrp="1" noChangeArrowheads="1"/>
          </p:cNvSpPr>
          <p:nvPr>
            <p:ph type="body" idx="1"/>
          </p:nvPr>
        </p:nvSpPr>
        <p:spPr>
          <a:xfrm>
            <a:off x="838200" y="1752600"/>
            <a:ext cx="8096250" cy="4495800"/>
          </a:xfrm>
        </p:spPr>
        <p:txBody>
          <a:bodyPr/>
          <a:lstStyle/>
          <a:p>
            <a:pPr>
              <a:lnSpc>
                <a:spcPct val="90000"/>
              </a:lnSpc>
            </a:pPr>
            <a:r>
              <a:rPr lang="en-US" altLang="en-US" sz="2600" smtClean="0"/>
              <a:t>There is a vesting period during which options cannot be exercised</a:t>
            </a:r>
          </a:p>
          <a:p>
            <a:pPr>
              <a:lnSpc>
                <a:spcPct val="90000"/>
              </a:lnSpc>
            </a:pPr>
            <a:r>
              <a:rPr lang="en-US" altLang="en-US" sz="2600" smtClean="0"/>
              <a:t>When employees leave during the vesting period options are forfeited</a:t>
            </a:r>
          </a:p>
          <a:p>
            <a:pPr>
              <a:lnSpc>
                <a:spcPct val="90000"/>
              </a:lnSpc>
            </a:pPr>
            <a:r>
              <a:rPr lang="en-US" altLang="en-US" sz="2600" smtClean="0"/>
              <a:t>When employees leave after the vesting period in-the-money options are exercised immediately and out of the money options are forfeited</a:t>
            </a:r>
          </a:p>
          <a:p>
            <a:pPr>
              <a:lnSpc>
                <a:spcPct val="90000"/>
              </a:lnSpc>
            </a:pPr>
            <a:r>
              <a:rPr lang="en-US" altLang="en-US" sz="2600" smtClean="0"/>
              <a:t>Employees are not permitted to sell options</a:t>
            </a:r>
          </a:p>
          <a:p>
            <a:pPr>
              <a:lnSpc>
                <a:spcPct val="90000"/>
              </a:lnSpc>
            </a:pPr>
            <a:r>
              <a:rPr lang="en-US" altLang="en-US" sz="2600" smtClean="0"/>
              <a:t>When options are exercised the company issues new shares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17411"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B68BE313-D42A-43F2-ABEB-1D1CB3B23B69}" type="slidenum">
              <a:rPr lang="en-US" altLang="en-US" sz="1800"/>
              <a:pPr eaLnBrk="1" hangingPunct="1">
                <a:spcBef>
                  <a:spcPct val="0"/>
                </a:spcBef>
                <a:buClrTx/>
                <a:buSzTx/>
                <a:buFontTx/>
                <a:buNone/>
              </a:pPr>
              <a:t>4</a:t>
            </a:fld>
            <a:endParaRPr lang="en-US" altLang="en-US" sz="1800"/>
          </a:p>
        </p:txBody>
      </p:sp>
      <p:sp>
        <p:nvSpPr>
          <p:cNvPr id="17412" name="Rectangle 2"/>
          <p:cNvSpPr>
            <a:spLocks noGrp="1" noChangeArrowheads="1"/>
          </p:cNvSpPr>
          <p:nvPr>
            <p:ph type="title"/>
          </p:nvPr>
        </p:nvSpPr>
        <p:spPr/>
        <p:txBody>
          <a:bodyPr/>
          <a:lstStyle/>
          <a:p>
            <a:r>
              <a:rPr lang="en-US" altLang="en-US" smtClean="0"/>
              <a:t>Exercise Decision</a:t>
            </a:r>
          </a:p>
        </p:txBody>
      </p:sp>
      <p:sp>
        <p:nvSpPr>
          <p:cNvPr id="17413" name="Rectangle 3"/>
          <p:cNvSpPr>
            <a:spLocks noGrp="1" noChangeArrowheads="1"/>
          </p:cNvSpPr>
          <p:nvPr>
            <p:ph type="body" idx="1"/>
          </p:nvPr>
        </p:nvSpPr>
        <p:spPr/>
        <p:txBody>
          <a:bodyPr/>
          <a:lstStyle/>
          <a:p>
            <a:r>
              <a:rPr lang="en-US" altLang="en-US" smtClean="0"/>
              <a:t>To realize cash from an employee stock option the employee must exercise the options and sell the underlying shares</a:t>
            </a:r>
          </a:p>
          <a:p>
            <a:r>
              <a:rPr lang="en-US" altLang="en-US" smtClean="0"/>
              <a:t>Even when the underlying stock pays no dividends, an employee stock option (unlike a regular call option) is often exercised early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mtClean="0"/>
              <a:t>Drawbacks of Employee Stock Options</a:t>
            </a:r>
          </a:p>
        </p:txBody>
      </p:sp>
      <p:sp>
        <p:nvSpPr>
          <p:cNvPr id="18435" name="Rectangle 3"/>
          <p:cNvSpPr>
            <a:spLocks noGrp="1" noChangeArrowheads="1"/>
          </p:cNvSpPr>
          <p:nvPr>
            <p:ph idx="1"/>
          </p:nvPr>
        </p:nvSpPr>
        <p:spPr>
          <a:xfrm>
            <a:off x="533400" y="2209800"/>
            <a:ext cx="8172450" cy="4648200"/>
          </a:xfrm>
        </p:spPr>
        <p:txBody>
          <a:bodyPr/>
          <a:lstStyle/>
          <a:p>
            <a:pPr eaLnBrk="1" hangingPunct="1"/>
            <a:r>
              <a:rPr lang="en-US" altLang="en-US" sz="2400" smtClean="0">
                <a:cs typeface="Arial" panose="020B0604020202020204" pitchFamily="34" charset="0"/>
              </a:rPr>
              <a:t>Gain to executives from good performance is much greater than the penalty for bad performance</a:t>
            </a:r>
          </a:p>
          <a:p>
            <a:pPr eaLnBrk="1" hangingPunct="1"/>
            <a:r>
              <a:rPr lang="en-US" altLang="en-US" sz="2400" smtClean="0">
                <a:cs typeface="Arial" panose="020B0604020202020204" pitchFamily="34" charset="0"/>
              </a:rPr>
              <a:t>Executives do very well when the stock market as a whole goes up, even if their firm does relatively poorly</a:t>
            </a:r>
          </a:p>
          <a:p>
            <a:pPr eaLnBrk="1" hangingPunct="1"/>
            <a:r>
              <a:rPr lang="en-US" altLang="en-US" sz="2400" smtClean="0">
                <a:cs typeface="Arial" panose="020B0604020202020204" pitchFamily="34" charset="0"/>
              </a:rPr>
              <a:t>Executives are encouraged to focus on short-term performance at the expense of long-term performance</a:t>
            </a:r>
          </a:p>
          <a:p>
            <a:pPr eaLnBrk="1" hangingPunct="1"/>
            <a:r>
              <a:rPr lang="en-US" altLang="en-US" sz="2400" smtClean="0">
                <a:cs typeface="Arial" panose="020B0604020202020204" pitchFamily="34" charset="0"/>
              </a:rPr>
              <a:t>Executives are tempted to time announcements or take other decisions that maximize the value of the options</a:t>
            </a:r>
          </a:p>
        </p:txBody>
      </p:sp>
      <p:sp>
        <p:nvSpPr>
          <p:cNvPr id="18436"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18437"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E694DCFB-10F2-4EF0-BC04-91839DAD324E}" type="slidenum">
              <a:rPr lang="en-US" altLang="en-US" sz="1800"/>
              <a:pPr eaLnBrk="1" hangingPunct="1">
                <a:spcBef>
                  <a:spcPct val="0"/>
                </a:spcBef>
                <a:buClrTx/>
                <a:buSzTx/>
                <a:buFontTx/>
                <a:buNone/>
              </a:pPr>
              <a:t>5</a:t>
            </a:fld>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19459"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22FDB70A-F716-4C3A-83A2-A649FF378EB1}" type="slidenum">
              <a:rPr lang="en-US" altLang="en-US" sz="1800"/>
              <a:pPr eaLnBrk="1" hangingPunct="1">
                <a:spcBef>
                  <a:spcPct val="0"/>
                </a:spcBef>
                <a:buClrTx/>
                <a:buSzTx/>
                <a:buFontTx/>
                <a:buNone/>
              </a:pPr>
              <a:t>6</a:t>
            </a:fld>
            <a:endParaRPr lang="en-US" altLang="en-US" sz="1800"/>
          </a:p>
        </p:txBody>
      </p:sp>
      <p:sp>
        <p:nvSpPr>
          <p:cNvPr id="19460" name="Rectangle 2"/>
          <p:cNvSpPr>
            <a:spLocks noGrp="1" noChangeArrowheads="1"/>
          </p:cNvSpPr>
          <p:nvPr>
            <p:ph type="title"/>
          </p:nvPr>
        </p:nvSpPr>
        <p:spPr/>
        <p:txBody>
          <a:bodyPr/>
          <a:lstStyle/>
          <a:p>
            <a:r>
              <a:rPr lang="en-US" altLang="en-US" smtClean="0"/>
              <a:t>Accounting for Employee Stock Options</a:t>
            </a:r>
          </a:p>
        </p:txBody>
      </p:sp>
      <p:sp>
        <p:nvSpPr>
          <p:cNvPr id="19461" name="Rectangle 3"/>
          <p:cNvSpPr>
            <a:spLocks noGrp="1" noChangeArrowheads="1"/>
          </p:cNvSpPr>
          <p:nvPr>
            <p:ph type="body" idx="1"/>
          </p:nvPr>
        </p:nvSpPr>
        <p:spPr>
          <a:xfrm>
            <a:off x="762000" y="1600200"/>
            <a:ext cx="8172450" cy="4648200"/>
          </a:xfrm>
        </p:spPr>
        <p:txBody>
          <a:bodyPr/>
          <a:lstStyle/>
          <a:p>
            <a:r>
              <a:rPr lang="en-US" altLang="en-US" sz="2800" smtClean="0"/>
              <a:t>Prior to 1995 the cost of an employee stock option on the income statement was its intrinsic value on the issue date</a:t>
            </a:r>
          </a:p>
          <a:p>
            <a:r>
              <a:rPr lang="en-US" altLang="en-US" sz="2800" smtClean="0"/>
              <a:t>After 1995 a “fair value” had to be reported in the notes (but expensing fair value on the income statement was optional)</a:t>
            </a:r>
          </a:p>
          <a:p>
            <a:r>
              <a:rPr lang="en-US" altLang="en-US" sz="2800" smtClean="0"/>
              <a:t>Since 2005 both FASB and IASB have required the fair value of options to be charged against income at the time of issue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04800" y="381000"/>
            <a:ext cx="7467600" cy="1143000"/>
          </a:xfrm>
        </p:spPr>
        <p:txBody>
          <a:bodyPr/>
          <a:lstStyle/>
          <a:p>
            <a:pPr eaLnBrk="1" hangingPunct="1"/>
            <a:r>
              <a:rPr lang="en-CA" altLang="en-US" smtClean="0"/>
              <a:t>Traditional At-the-Money Call Options</a:t>
            </a:r>
            <a:endParaRPr lang="en-US" altLang="en-US" smtClean="0"/>
          </a:p>
        </p:txBody>
      </p:sp>
      <p:sp>
        <p:nvSpPr>
          <p:cNvPr id="20483" name="Rectangle 3"/>
          <p:cNvSpPr>
            <a:spLocks noGrp="1" noChangeArrowheads="1"/>
          </p:cNvSpPr>
          <p:nvPr>
            <p:ph idx="1"/>
          </p:nvPr>
        </p:nvSpPr>
        <p:spPr>
          <a:xfrm>
            <a:off x="228600" y="1676400"/>
            <a:ext cx="8305800" cy="4114800"/>
          </a:xfrm>
        </p:spPr>
        <p:txBody>
          <a:bodyPr/>
          <a:lstStyle/>
          <a:p>
            <a:pPr eaLnBrk="1" hangingPunct="1"/>
            <a:r>
              <a:rPr lang="en-US" altLang="en-US" smtClean="0">
                <a:cs typeface="Arial" panose="020B0604020202020204" pitchFamily="34" charset="0"/>
              </a:rPr>
              <a:t>The attraction of at-the-money call options used to be that they led to no expense on the income statement because they had zero intrinsic value on the exercise date</a:t>
            </a:r>
          </a:p>
          <a:p>
            <a:pPr eaLnBrk="1" hangingPunct="1"/>
            <a:r>
              <a:rPr lang="en-US" altLang="en-US" smtClean="0">
                <a:cs typeface="Arial" panose="020B0604020202020204" pitchFamily="34" charset="0"/>
              </a:rPr>
              <a:t>Other plans were liable to lead an expense</a:t>
            </a:r>
          </a:p>
          <a:p>
            <a:pPr eaLnBrk="1" hangingPunct="1"/>
            <a:r>
              <a:rPr lang="en-US" altLang="en-US" smtClean="0">
                <a:cs typeface="Arial" panose="020B0604020202020204" pitchFamily="34" charset="0"/>
              </a:rPr>
              <a:t>Now that the accounting rules have changed some companies are considering other types of plans</a:t>
            </a:r>
          </a:p>
        </p:txBody>
      </p:sp>
      <p:sp>
        <p:nvSpPr>
          <p:cNvPr id="20484"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20485"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F94844BB-E908-41DA-BB50-74F83EF86068}" type="slidenum">
              <a:rPr lang="en-US" altLang="en-US" sz="1800"/>
              <a:pPr eaLnBrk="1" hangingPunct="1">
                <a:spcBef>
                  <a:spcPct val="0"/>
                </a:spcBef>
                <a:buClrTx/>
                <a:buSzTx/>
                <a:buFontTx/>
                <a:buNone/>
              </a:pPr>
              <a:t>7</a:t>
            </a:fld>
            <a:endParaRPr lang="en-US"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28600" y="228600"/>
            <a:ext cx="8001000" cy="1143000"/>
          </a:xfrm>
        </p:spPr>
        <p:txBody>
          <a:bodyPr/>
          <a:lstStyle/>
          <a:p>
            <a:pPr eaLnBrk="1" hangingPunct="1"/>
            <a:r>
              <a:rPr lang="en-US" altLang="en-US" smtClean="0"/>
              <a:t>Nontraditional Plans </a:t>
            </a:r>
            <a:r>
              <a:rPr lang="en-US" altLang="en-US" sz="2700" smtClean="0"/>
              <a:t>page 322</a:t>
            </a:r>
            <a:r>
              <a:rPr lang="en-US" altLang="en-US" smtClean="0"/>
              <a:t> </a:t>
            </a:r>
            <a:endParaRPr lang="en-US" altLang="en-US" sz="2800" smtClean="0"/>
          </a:p>
        </p:txBody>
      </p:sp>
      <p:sp>
        <p:nvSpPr>
          <p:cNvPr id="21507" name="Rectangle 3"/>
          <p:cNvSpPr>
            <a:spLocks noGrp="1" noChangeArrowheads="1"/>
          </p:cNvSpPr>
          <p:nvPr>
            <p:ph idx="1"/>
          </p:nvPr>
        </p:nvSpPr>
        <p:spPr>
          <a:xfrm>
            <a:off x="533400" y="1828800"/>
            <a:ext cx="7772400" cy="4114800"/>
          </a:xfrm>
        </p:spPr>
        <p:txBody>
          <a:bodyPr/>
          <a:lstStyle/>
          <a:p>
            <a:pPr eaLnBrk="1" hangingPunct="1"/>
            <a:r>
              <a:rPr lang="en-US" altLang="en-US" smtClean="0">
                <a:cs typeface="Arial" panose="020B0604020202020204" pitchFamily="34" charset="0"/>
              </a:rPr>
              <a:t>Strike price is linked to stock index so that the company’s stock price has to outperform the index for options to move in the money</a:t>
            </a:r>
          </a:p>
          <a:p>
            <a:pPr eaLnBrk="1" hangingPunct="1"/>
            <a:r>
              <a:rPr lang="en-US" altLang="en-US" smtClean="0">
                <a:cs typeface="Arial" panose="020B0604020202020204" pitchFamily="34" charset="0"/>
              </a:rPr>
              <a:t>Strike price increases in a predetermined way</a:t>
            </a:r>
          </a:p>
          <a:p>
            <a:pPr eaLnBrk="1" hangingPunct="1"/>
            <a:r>
              <a:rPr lang="en-US" altLang="en-US" smtClean="0">
                <a:cs typeface="Arial" panose="020B0604020202020204" pitchFamily="34" charset="0"/>
              </a:rPr>
              <a:t>Options vest only if specified profit targets are met</a:t>
            </a:r>
          </a:p>
        </p:txBody>
      </p:sp>
      <p:sp>
        <p:nvSpPr>
          <p:cNvPr id="2150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21509"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DFE9FB1-65C8-4A27-B05E-9A39CF0745FB}" type="slidenum">
              <a:rPr lang="en-US" altLang="en-US" sz="1800"/>
              <a:pPr eaLnBrk="1" hangingPunct="1">
                <a:spcBef>
                  <a:spcPct val="0"/>
                </a:spcBef>
                <a:buClrTx/>
                <a:buSzTx/>
                <a:buFontTx/>
                <a:buNone/>
              </a:pPr>
              <a:t>8</a:t>
            </a:fld>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22531"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8FBAEE5C-419E-4758-9FB5-D374D29A1B95}" type="slidenum">
              <a:rPr lang="en-US" altLang="en-US" sz="1800"/>
              <a:pPr eaLnBrk="1" hangingPunct="1">
                <a:spcBef>
                  <a:spcPct val="0"/>
                </a:spcBef>
                <a:buClrTx/>
                <a:buSzTx/>
                <a:buFontTx/>
                <a:buNone/>
              </a:pPr>
              <a:t>9</a:t>
            </a:fld>
            <a:endParaRPr lang="en-US" altLang="en-US" sz="1800"/>
          </a:p>
        </p:txBody>
      </p:sp>
      <p:sp>
        <p:nvSpPr>
          <p:cNvPr id="22532" name="Rectangle 2"/>
          <p:cNvSpPr>
            <a:spLocks noGrp="1" noChangeArrowheads="1"/>
          </p:cNvSpPr>
          <p:nvPr>
            <p:ph type="title"/>
          </p:nvPr>
        </p:nvSpPr>
        <p:spPr/>
        <p:txBody>
          <a:bodyPr/>
          <a:lstStyle/>
          <a:p>
            <a:r>
              <a:rPr lang="en-US" altLang="en-US" smtClean="0"/>
              <a:t>Valuation of Employee Stock Options</a:t>
            </a:r>
          </a:p>
        </p:txBody>
      </p:sp>
      <p:sp>
        <p:nvSpPr>
          <p:cNvPr id="22533" name="Rectangle 3"/>
          <p:cNvSpPr>
            <a:spLocks noGrp="1" noChangeArrowheads="1"/>
          </p:cNvSpPr>
          <p:nvPr>
            <p:ph type="body" idx="1"/>
          </p:nvPr>
        </p:nvSpPr>
        <p:spPr>
          <a:xfrm>
            <a:off x="533400" y="1981200"/>
            <a:ext cx="7620000" cy="4267200"/>
          </a:xfrm>
        </p:spPr>
        <p:txBody>
          <a:bodyPr/>
          <a:lstStyle/>
          <a:p>
            <a:pPr>
              <a:lnSpc>
                <a:spcPct val="90000"/>
              </a:lnSpc>
              <a:buFont typeface="Wingdings" panose="05000000000000000000" pitchFamily="2" charset="2"/>
              <a:buNone/>
            </a:pPr>
            <a:r>
              <a:rPr lang="en-CA" altLang="en-US" sz="2800" smtClean="0"/>
              <a:t>Alternatives:</a:t>
            </a:r>
            <a:endParaRPr lang="en-US" altLang="en-US" sz="2800" smtClean="0"/>
          </a:p>
          <a:p>
            <a:pPr>
              <a:lnSpc>
                <a:spcPct val="90000"/>
              </a:lnSpc>
            </a:pPr>
            <a:r>
              <a:rPr lang="en-US" altLang="en-US" sz="2800" smtClean="0"/>
              <a:t>Use Black-Scholes-Merton with time to maturity equal to an estimate of expected life (there is no theoretical justification for the time to maturity adjustment but it does not seem to work too badly in practice)</a:t>
            </a:r>
          </a:p>
          <a:p>
            <a:pPr>
              <a:lnSpc>
                <a:spcPct val="90000"/>
              </a:lnSpc>
            </a:pPr>
            <a:r>
              <a:rPr lang="en-CA" altLang="en-US" sz="2800" smtClean="0"/>
              <a:t>Use a more sophisticated approach involving binomial  trees</a:t>
            </a:r>
            <a:endParaRPr lang="en-US" altLang="en-US" sz="280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28600"/>
            <a:ext cx="7543800" cy="1295400"/>
          </a:xfrm>
        </p:spPr>
        <p:txBody>
          <a:bodyPr/>
          <a:lstStyle/>
          <a:p>
            <a:pPr eaLnBrk="1" hangingPunct="1"/>
            <a:r>
              <a:rPr lang="en-CA" altLang="en-US" smtClean="0"/>
              <a:t>Example of the Use of Black-Scholes-Merton </a:t>
            </a:r>
            <a:r>
              <a:rPr lang="en-CA" altLang="en-US" sz="2000" smtClean="0"/>
              <a:t>(Example 14.1, page 323)</a:t>
            </a:r>
            <a:endParaRPr lang="en-US" altLang="en-US" sz="2000" smtClean="0"/>
          </a:p>
        </p:txBody>
      </p:sp>
      <p:sp>
        <p:nvSpPr>
          <p:cNvPr id="3" name="Content Placeholder 2"/>
          <p:cNvSpPr>
            <a:spLocks noGrp="1"/>
          </p:cNvSpPr>
          <p:nvPr>
            <p:ph idx="1"/>
          </p:nvPr>
        </p:nvSpPr>
        <p:spPr>
          <a:xfrm>
            <a:off x="457200" y="1981200"/>
            <a:ext cx="7696200" cy="4114800"/>
          </a:xfrm>
        </p:spPr>
        <p:txBody>
          <a:bodyPr/>
          <a:lstStyle/>
          <a:p>
            <a:pPr eaLnBrk="1" hangingPunct="1">
              <a:lnSpc>
                <a:spcPct val="90000"/>
              </a:lnSpc>
              <a:defRPr/>
            </a:pPr>
            <a:r>
              <a:rPr lang="en-CA" sz="2400" dirty="0" smtClean="0"/>
              <a:t>A company issues one million10-year ATM options</a:t>
            </a:r>
          </a:p>
          <a:p>
            <a:pPr lvl="1" eaLnBrk="1" hangingPunct="1">
              <a:lnSpc>
                <a:spcPct val="90000"/>
              </a:lnSpc>
              <a:defRPr/>
            </a:pPr>
            <a:r>
              <a:rPr lang="en-CA" sz="2400" dirty="0" smtClean="0"/>
              <a:t>stock price is $30. </a:t>
            </a:r>
          </a:p>
          <a:p>
            <a:pPr lvl="1" eaLnBrk="1" hangingPunct="1">
              <a:lnSpc>
                <a:spcPct val="90000"/>
              </a:lnSpc>
              <a:defRPr/>
            </a:pPr>
            <a:r>
              <a:rPr lang="en-CA" sz="2000" dirty="0" smtClean="0"/>
              <a:t>It estimates the long term volatility using historical data to be 25% and the average time to exercise to be 4.5 years</a:t>
            </a:r>
          </a:p>
          <a:p>
            <a:pPr lvl="1" eaLnBrk="1" hangingPunct="1">
              <a:lnSpc>
                <a:spcPct val="90000"/>
              </a:lnSpc>
              <a:defRPr/>
            </a:pPr>
            <a:r>
              <a:rPr lang="en-CA" sz="2000" dirty="0" smtClean="0"/>
              <a:t>The 4.5 year interest rate is 5% and dividends during the next 4.5 years are estimated to have a PV of $4</a:t>
            </a:r>
          </a:p>
          <a:p>
            <a:pPr eaLnBrk="1" hangingPunct="1">
              <a:lnSpc>
                <a:spcPct val="90000"/>
              </a:lnSpc>
              <a:defRPr/>
            </a:pPr>
            <a:r>
              <a:rPr lang="en-CA" sz="2400" dirty="0" smtClean="0"/>
              <a:t>Using BSM with </a:t>
            </a:r>
            <a:r>
              <a:rPr lang="en-CA" sz="2400" i="1" dirty="0" smtClean="0">
                <a:latin typeface="+mj-lt"/>
              </a:rPr>
              <a:t>S</a:t>
            </a:r>
            <a:r>
              <a:rPr lang="en-CA" sz="2400" baseline="-25000" dirty="0" smtClean="0"/>
              <a:t>0</a:t>
            </a:r>
            <a:r>
              <a:rPr lang="en-CA" sz="2400" dirty="0" smtClean="0"/>
              <a:t> =26, </a:t>
            </a:r>
            <a:r>
              <a:rPr lang="en-CA" sz="2400" i="1" dirty="0" smtClean="0">
                <a:latin typeface="+mj-lt"/>
              </a:rPr>
              <a:t>K</a:t>
            </a:r>
            <a:r>
              <a:rPr lang="en-CA" sz="2400" dirty="0" smtClean="0"/>
              <a:t>=30, </a:t>
            </a:r>
            <a:r>
              <a:rPr lang="en-CA" sz="2400" i="1" dirty="0" smtClean="0">
                <a:latin typeface="+mj-lt"/>
              </a:rPr>
              <a:t>r</a:t>
            </a:r>
            <a:r>
              <a:rPr lang="en-CA" sz="2400" dirty="0" smtClean="0"/>
              <a:t>=5%, </a:t>
            </a:r>
            <a:r>
              <a:rPr lang="en-CA" sz="2400" dirty="0" smtClean="0">
                <a:latin typeface="Symbol" pitchFamily="18" charset="2"/>
              </a:rPr>
              <a:t>s</a:t>
            </a:r>
            <a:r>
              <a:rPr lang="en-CA" sz="2400" dirty="0" smtClean="0"/>
              <a:t>=25%, and </a:t>
            </a:r>
            <a:r>
              <a:rPr lang="en-CA" sz="2400" i="1" dirty="0" smtClean="0">
                <a:latin typeface="+mj-lt"/>
              </a:rPr>
              <a:t>T</a:t>
            </a:r>
            <a:r>
              <a:rPr lang="en-CA" sz="2400" dirty="0" smtClean="0"/>
              <a:t>=4.5 years gives value of each option equal to $6.31</a:t>
            </a:r>
          </a:p>
          <a:p>
            <a:pPr eaLnBrk="1" hangingPunct="1">
              <a:lnSpc>
                <a:spcPct val="90000"/>
              </a:lnSpc>
              <a:defRPr/>
            </a:pPr>
            <a:r>
              <a:rPr lang="en-CA" sz="2400" dirty="0" smtClean="0"/>
              <a:t>The income statement expense would be $6.31 million</a:t>
            </a:r>
            <a:endParaRPr lang="en-US" sz="2400" dirty="0" smtClean="0"/>
          </a:p>
          <a:p>
            <a:pPr eaLnBrk="1" hangingPunct="1">
              <a:defRPr/>
            </a:pPr>
            <a:endParaRPr lang="en-US" dirty="0"/>
          </a:p>
        </p:txBody>
      </p:sp>
      <p:sp>
        <p:nvSpPr>
          <p:cNvPr id="23556" name="Footer Placeholder 3"/>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smtClean="0"/>
              <a:t>Fundamentals of Futures and Options Markets,  9th Ed, Ch 14, Copyright © John  C. Hull 2016</a:t>
            </a:r>
            <a:endParaRPr lang="en-US" smtClean="0"/>
          </a:p>
        </p:txBody>
      </p:sp>
      <p:sp>
        <p:nvSpPr>
          <p:cNvPr id="23557" name="Slide Number Placeholder 4"/>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606574B8-1CBC-47DD-A719-69C4CB0B5504}" type="slidenum">
              <a:rPr lang="en-US" altLang="en-US" sz="1800"/>
              <a:pPr eaLnBrk="1" hangingPunct="1">
                <a:spcBef>
                  <a:spcPct val="0"/>
                </a:spcBef>
                <a:buClrTx/>
                <a:buSzTx/>
                <a:buFontTx/>
                <a:buNone/>
              </a:pPr>
              <a:t>10</a:t>
            </a:fld>
            <a:endParaRPr lang="en-US" alt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24579"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C29A43A6-3318-4A9E-B256-ED8E06CD27F3}" type="slidenum">
              <a:rPr lang="en-US" altLang="en-US" sz="1800"/>
              <a:pPr eaLnBrk="1" hangingPunct="1">
                <a:spcBef>
                  <a:spcPct val="0"/>
                </a:spcBef>
                <a:buClrTx/>
                <a:buSzTx/>
                <a:buFontTx/>
                <a:buNone/>
              </a:pPr>
              <a:t>11</a:t>
            </a:fld>
            <a:endParaRPr lang="en-US" altLang="en-US" sz="1800"/>
          </a:p>
        </p:txBody>
      </p:sp>
      <p:sp>
        <p:nvSpPr>
          <p:cNvPr id="24580" name="Rectangle 2"/>
          <p:cNvSpPr>
            <a:spLocks noGrp="1" noChangeArrowheads="1"/>
          </p:cNvSpPr>
          <p:nvPr>
            <p:ph type="title"/>
          </p:nvPr>
        </p:nvSpPr>
        <p:spPr/>
        <p:txBody>
          <a:bodyPr/>
          <a:lstStyle/>
          <a:p>
            <a:r>
              <a:rPr lang="en-US" altLang="en-US" smtClean="0"/>
              <a:t>Dilution</a:t>
            </a:r>
          </a:p>
        </p:txBody>
      </p:sp>
      <p:sp>
        <p:nvSpPr>
          <p:cNvPr id="24581" name="Rectangle 3"/>
          <p:cNvSpPr>
            <a:spLocks noGrp="1" noChangeArrowheads="1"/>
          </p:cNvSpPr>
          <p:nvPr>
            <p:ph type="body" idx="1"/>
          </p:nvPr>
        </p:nvSpPr>
        <p:spPr>
          <a:xfrm>
            <a:off x="457200" y="1719263"/>
            <a:ext cx="7543800" cy="4411662"/>
          </a:xfrm>
        </p:spPr>
        <p:txBody>
          <a:bodyPr/>
          <a:lstStyle/>
          <a:p>
            <a:r>
              <a:rPr lang="en-US" altLang="en-US" sz="2800" smtClean="0"/>
              <a:t>Employee stock options are liable to dilute the interests of shareholders because new shares are bought at below market price</a:t>
            </a:r>
          </a:p>
          <a:p>
            <a:r>
              <a:rPr lang="en-US" altLang="en-US" sz="2800" smtClean="0"/>
              <a:t>However this dilution takes place at the time the market hears that the options have been granted (Business Snapshot 14.1)</a:t>
            </a:r>
          </a:p>
          <a:p>
            <a:r>
              <a:rPr lang="en-US" altLang="en-US" sz="2800" smtClean="0"/>
              <a:t>It does not take place at the time the options are exercised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25603"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4E67A3FE-3FDF-4014-A058-5111CAD293AC}" type="slidenum">
              <a:rPr lang="en-US" altLang="en-US" sz="1800"/>
              <a:pPr eaLnBrk="1" hangingPunct="1">
                <a:spcBef>
                  <a:spcPct val="0"/>
                </a:spcBef>
                <a:buClrTx/>
                <a:buSzTx/>
                <a:buFontTx/>
                <a:buNone/>
              </a:pPr>
              <a:t>12</a:t>
            </a:fld>
            <a:endParaRPr lang="en-US" altLang="en-US" sz="1800"/>
          </a:p>
        </p:txBody>
      </p:sp>
      <p:sp>
        <p:nvSpPr>
          <p:cNvPr id="25604" name="Rectangle 2"/>
          <p:cNvSpPr>
            <a:spLocks noGrp="1" noChangeArrowheads="1"/>
          </p:cNvSpPr>
          <p:nvPr>
            <p:ph type="title"/>
          </p:nvPr>
        </p:nvSpPr>
        <p:spPr/>
        <p:txBody>
          <a:bodyPr/>
          <a:lstStyle/>
          <a:p>
            <a:r>
              <a:rPr lang="en-US" altLang="en-US" smtClean="0"/>
              <a:t>Backdating</a:t>
            </a:r>
          </a:p>
        </p:txBody>
      </p:sp>
      <p:sp>
        <p:nvSpPr>
          <p:cNvPr id="25605" name="Rectangle 3"/>
          <p:cNvSpPr>
            <a:spLocks noGrp="1" noChangeArrowheads="1"/>
          </p:cNvSpPr>
          <p:nvPr>
            <p:ph type="body" idx="1"/>
          </p:nvPr>
        </p:nvSpPr>
        <p:spPr/>
        <p:txBody>
          <a:bodyPr/>
          <a:lstStyle/>
          <a:p>
            <a:r>
              <a:rPr lang="en-US" altLang="en-US" smtClean="0"/>
              <a:t>Backdating appears to have been a widespread practice in the United States</a:t>
            </a:r>
          </a:p>
          <a:p>
            <a:r>
              <a:rPr lang="en-US" altLang="en-US" smtClean="0"/>
              <a:t>A company might take the decision to issue at-the-money options on April 30 when the stock price is $50 and then backdate the grant date to April 3 when the stock price is $42</a:t>
            </a:r>
          </a:p>
          <a:p>
            <a:r>
              <a:rPr lang="en-US" altLang="en-US" smtClean="0"/>
              <a:t>Why would they do this?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smtClean="0"/>
              <a:t>Academic Research Exposed Backdating </a:t>
            </a:r>
            <a:r>
              <a:rPr lang="en-US" altLang="en-US" sz="2000" smtClean="0"/>
              <a:t>(See research by Yermack, Lie, and Heron)</a:t>
            </a:r>
          </a:p>
        </p:txBody>
      </p:sp>
      <p:sp>
        <p:nvSpPr>
          <p:cNvPr id="26628" name="Footer Placeholder 4"/>
          <p:cNvSpPr>
            <a:spLocks noGrp="1"/>
          </p:cNvSpPr>
          <p:nvPr>
            <p:ph type="ftr" sz="quarter" idx="1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CA" altLang="en-US" smtClean="0"/>
              <a:t>Fundamentals of Futures and Options Markets,  9th Ed, Ch 14, Copyright © John  C. Hull 2016</a:t>
            </a:r>
            <a:endParaRPr lang="en-US" altLang="en-US" smtClean="0"/>
          </a:p>
        </p:txBody>
      </p:sp>
      <p:sp>
        <p:nvSpPr>
          <p:cNvPr id="26629"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fld id="{AA6589C1-661C-4689-8E3F-4B8A5C71C25E}" type="slidenum">
              <a:rPr lang="en-US" altLang="en-US" sz="1800"/>
              <a:pPr eaLnBrk="1" hangingPunct="1">
                <a:spcBef>
                  <a:spcPct val="0"/>
                </a:spcBef>
                <a:buClrTx/>
                <a:buSzTx/>
                <a:buFontTx/>
                <a:buNone/>
              </a:pPr>
              <a:t>13</a:t>
            </a:fld>
            <a:endParaRPr lang="en-US" altLang="en-US" sz="1800"/>
          </a:p>
        </p:txBody>
      </p:sp>
      <p:sp>
        <p:nvSpPr>
          <p:cNvPr id="2" name="Content Placeholder 1"/>
          <p:cNvSpPr>
            <a:spLocks noGrp="1"/>
          </p:cNvSpPr>
          <p:nvPr>
            <p:ph idx="1"/>
          </p:nvPr>
        </p:nvSpPr>
        <p:spPr>
          <a:xfrm>
            <a:off x="457200" y="1524000"/>
            <a:ext cx="8229600" cy="4411663"/>
          </a:xfrm>
        </p:spPr>
        <p:txBody>
          <a:bodyPr/>
          <a:lstStyle/>
          <a:p>
            <a:r>
              <a:rPr lang="en-CA" altLang="en-US" sz="2800" smtClean="0"/>
              <a:t>Academics have shown that stock prices on grant dates are on average lower than on the subsequent 30 days</a:t>
            </a:r>
          </a:p>
          <a:p>
            <a:r>
              <a:rPr lang="en-CA" altLang="en-US" sz="2800" smtClean="0"/>
              <a:t>This could not have happened by chance and led the SEC to require stock option grants to be reported within two business days of the grant date.</a:t>
            </a:r>
          </a:p>
          <a:p>
            <a:r>
              <a:rPr lang="en-CA" altLang="en-US" sz="2800" smtClean="0"/>
              <a:t>Backdating has led to numerous lawsuits</a:t>
            </a:r>
          </a:p>
          <a:p>
            <a:r>
              <a:rPr lang="en-CA" altLang="en-US" sz="2800" smtClean="0"/>
              <a:t>Who loses and who gains when grants are backdated?  </a:t>
            </a:r>
          </a:p>
          <a:p>
            <a:endParaRPr lang="en-CA" altLang="en-US" smtClean="0"/>
          </a:p>
        </p:txBody>
      </p:sp>
    </p:spTree>
  </p:cSld>
  <p:clrMapOvr>
    <a:masterClrMapping/>
  </p:clrMapOvr>
</p:sld>
</file>

<file path=ppt/theme/theme1.xml><?xml version="1.0" encoding="utf-8"?>
<a:theme xmlns:a="http://schemas.openxmlformats.org/drawingml/2006/main" name="1_Network">
  <a:themeElements>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1_Networ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4C310B5-F175-417B-8D4D-98EB9C576093}"/>
</file>

<file path=customXml/itemProps2.xml><?xml version="1.0" encoding="utf-8"?>
<ds:datastoreItem xmlns:ds="http://schemas.openxmlformats.org/officeDocument/2006/customXml" ds:itemID="{0DD9E9D2-89D8-427A-AED3-28A6818938CC}"/>
</file>

<file path=customXml/itemProps3.xml><?xml version="1.0" encoding="utf-8"?>
<ds:datastoreItem xmlns:ds="http://schemas.openxmlformats.org/officeDocument/2006/customXml" ds:itemID="{1FFB68B4-B75F-43BC-B3FE-4A4B6280AB3D}"/>
</file>

<file path=docProps/app.xml><?xml version="1.0" encoding="utf-8"?>
<Properties xmlns="http://schemas.openxmlformats.org/officeDocument/2006/extended-properties" xmlns:vt="http://schemas.openxmlformats.org/officeDocument/2006/docPropsVTypes">
  <Template>Ch02HullFundamentals5thEd</Template>
  <TotalTime>440</TotalTime>
  <Pages>18</Pages>
  <Words>1035</Words>
  <Application>Microsoft Office PowerPoint</Application>
  <PresentationFormat>Letter Paper (8.5x11 in)</PresentationFormat>
  <Paragraphs>95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Wingdings</vt:lpstr>
      <vt:lpstr>Symbol</vt:lpstr>
      <vt:lpstr>1_Network</vt:lpstr>
      <vt:lpstr>Employee Stock Options</vt:lpstr>
      <vt:lpstr>Nature of Employee Stock Options</vt:lpstr>
      <vt:lpstr>Typical Features of Employee Stock Options (page 319)</vt:lpstr>
      <vt:lpstr>Exercise Decision</vt:lpstr>
      <vt:lpstr>Drawbacks of Employee Stock Options</vt:lpstr>
      <vt:lpstr>Accounting for Employee Stock Options</vt:lpstr>
      <vt:lpstr>Traditional At-the-Money Call Options</vt:lpstr>
      <vt:lpstr>Nontraditional Plans page 322 </vt:lpstr>
      <vt:lpstr>Valuation of Employee Stock Options</vt:lpstr>
      <vt:lpstr>Example of the Use of Black-Scholes-Merton (Example 14.1, page 323)</vt:lpstr>
      <vt:lpstr>Dilution</vt:lpstr>
      <vt:lpstr>Backdating</vt:lpstr>
      <vt:lpstr>Academic Research Exposed Backdating (See research by Yermack, Lie, and Heron)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Stock Options</dc:title>
  <dc:subject>Fundamentals of Futures and Options Markets, 9e</dc:subject>
  <dc:creator>John C. Hull</dc:creator>
  <cp:keywords>Chapter 14</cp:keywords>
  <dc:description>Copyright 2016 by John C. Hull.
All rights reserved. Published 2016.</dc:description>
  <cp:lastModifiedBy>John Hull</cp:lastModifiedBy>
  <cp:revision>47</cp:revision>
  <cp:lastPrinted>2001-05-03T13:08:45Z</cp:lastPrinted>
  <dcterms:created xsi:type="dcterms:W3CDTF">1996-07-02T05:06:26Z</dcterms:created>
  <dcterms:modified xsi:type="dcterms:W3CDTF">2016-01-20T21:03:21Z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