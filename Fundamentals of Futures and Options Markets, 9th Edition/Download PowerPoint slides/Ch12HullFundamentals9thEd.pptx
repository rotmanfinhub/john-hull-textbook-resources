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5.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28"/>
  </p:notesMasterIdLst>
  <p:handoutMasterIdLst>
    <p:handoutMasterId r:id="rId29"/>
  </p:handoutMasterIdLst>
  <p:sldIdLst>
    <p:sldId id="276" r:id="rId2"/>
    <p:sldId id="257" r:id="rId3"/>
    <p:sldId id="258" r:id="rId4"/>
    <p:sldId id="279" r:id="rId5"/>
    <p:sldId id="260" r:id="rId6"/>
    <p:sldId id="261" r:id="rId7"/>
    <p:sldId id="289" r:id="rId8"/>
    <p:sldId id="280" r:id="rId9"/>
    <p:sldId id="290" r:id="rId10"/>
    <p:sldId id="281" r:id="rId11"/>
    <p:sldId id="282" r:id="rId12"/>
    <p:sldId id="291" r:id="rId13"/>
    <p:sldId id="292" r:id="rId14"/>
    <p:sldId id="293" r:id="rId15"/>
    <p:sldId id="268" r:id="rId16"/>
    <p:sldId id="269" r:id="rId17"/>
    <p:sldId id="270" r:id="rId18"/>
    <p:sldId id="271" r:id="rId19"/>
    <p:sldId id="284" r:id="rId20"/>
    <p:sldId id="285" r:id="rId21"/>
    <p:sldId id="274" r:id="rId22"/>
    <p:sldId id="275" r:id="rId23"/>
    <p:sldId id="286" r:id="rId24"/>
    <p:sldId id="287" r:id="rId25"/>
    <p:sldId id="278" r:id="rId26"/>
    <p:sldId id="288" r:id="rId27"/>
  </p:sldIdLst>
  <p:sldSz cx="9144000" cy="6858000" type="letter"/>
  <p:notesSz cx="6858000" cy="92075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122" d="100"/>
          <a:sy n="122" d="100"/>
        </p:scale>
        <p:origin x="120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012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defTabSz="7620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defTabSz="762000" eaLnBrk="0" hangingPunct="0">
              <a:defRPr sz="1000" i="1">
                <a:latin typeface="Times New Roman" panose="02020603050405020304" pitchFamily="18" charset="0"/>
              </a:defRPr>
            </a:lvl1pPr>
          </a:lstStyle>
          <a:p>
            <a:fld id="{314CF672-1138-4CA2-AC3C-16ADF2D5E169}" type="slidenum">
              <a:rPr lang="en-US" altLang="en-US"/>
              <a:pPr/>
              <a:t>‹#›</a:t>
            </a:fld>
            <a:endParaRPr lang="en-US" altLang="en-US"/>
          </a:p>
        </p:txBody>
      </p:sp>
      <p:sp>
        <p:nvSpPr>
          <p:cNvPr id="2054" name="Rectangle 6"/>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smtClean="0"/>
              <a:t>Click to edit Master notes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39943" name="Rectangle 7"/>
          <p:cNvSpPr>
            <a:spLocks noChangeArrowheads="1" noTextEdit="1"/>
          </p:cNvSpPr>
          <p:nvPr>
            <p:ph type="sldImg" idx="2"/>
          </p:nvPr>
        </p:nvSpPr>
        <p:spPr bwMode="auto">
          <a:xfrm>
            <a:off x="1127125" y="692150"/>
            <a:ext cx="4603750" cy="34496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97143887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8143587-876C-4B1D-A728-67747D0313EA}" type="slidenum">
              <a:rPr lang="en-US" altLang="en-US" sz="1000"/>
              <a:pPr>
                <a:spcBef>
                  <a:spcPct val="0"/>
                </a:spcBef>
              </a:pPr>
              <a:t>1</a:t>
            </a:fld>
            <a:endParaRPr lang="en-US" altLang="en-US" sz="1000"/>
          </a:p>
        </p:txBody>
      </p:sp>
      <p:sp>
        <p:nvSpPr>
          <p:cNvPr id="40963" name="Rectangle 2"/>
          <p:cNvSpPr>
            <a:spLocks noChangeArrowheads="1" noTextEdit="1"/>
          </p:cNvSpPr>
          <p:nvPr>
            <p:ph type="sldImg"/>
          </p:nvPr>
        </p:nvSpPr>
        <p:spPr>
          <a:xfrm>
            <a:off x="1128713" y="692150"/>
            <a:ext cx="4600575" cy="344963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114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C5EE56-B8F2-41B2-B7F0-20C44F7237E8}" type="slidenum">
              <a:rPr lang="en-US" altLang="en-US" sz="1000"/>
              <a:pPr>
                <a:spcBef>
                  <a:spcPct val="0"/>
                </a:spcBef>
              </a:pPr>
              <a:t>2</a:t>
            </a:fld>
            <a:endParaRPr lang="en-US" altLang="en-US" sz="1000"/>
          </a:p>
        </p:txBody>
      </p:sp>
      <p:sp>
        <p:nvSpPr>
          <p:cNvPr id="41987" name="Rectangle 2"/>
          <p:cNvSpPr>
            <a:spLocks noChangeArrowheads="1" noTextEdit="1"/>
          </p:cNvSpPr>
          <p:nvPr>
            <p:ph type="sldImg"/>
          </p:nvPr>
        </p:nvSpPr>
        <p:spPr>
          <a:xfrm>
            <a:off x="1128713" y="692150"/>
            <a:ext cx="4600575" cy="3449638"/>
          </a:xfrm>
          <a:ln cap="flat"/>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957406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E62EF4-82B1-4B57-8ABD-EFDFE0C5CF72}" type="slidenum">
              <a:rPr lang="en-US" altLang="en-US" sz="1000"/>
              <a:pPr>
                <a:spcBef>
                  <a:spcPct val="0"/>
                </a:spcBef>
              </a:pPr>
              <a:t>3</a:t>
            </a:fld>
            <a:endParaRPr lang="en-US" altLang="en-US" sz="1000"/>
          </a:p>
        </p:txBody>
      </p:sp>
      <p:sp>
        <p:nvSpPr>
          <p:cNvPr id="43011" name="Rectangle 2"/>
          <p:cNvSpPr>
            <a:spLocks noChangeArrowheads="1" noTextEdit="1"/>
          </p:cNvSpPr>
          <p:nvPr>
            <p:ph type="sldImg"/>
          </p:nvPr>
        </p:nvSpPr>
        <p:spPr>
          <a:xfrm>
            <a:off x="1128713" y="692150"/>
            <a:ext cx="4600575" cy="3449638"/>
          </a:xfrm>
          <a:ln cap="flat"/>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221883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3781B9B-99B9-460F-8EB0-FB8C61265DEC}" type="slidenum">
              <a:rPr lang="en-US" altLang="en-US" sz="1000"/>
              <a:pPr>
                <a:spcBef>
                  <a:spcPct val="0"/>
                </a:spcBef>
              </a:pPr>
              <a:t>4</a:t>
            </a:fld>
            <a:endParaRPr lang="en-US" altLang="en-US" sz="1000"/>
          </a:p>
        </p:txBody>
      </p:sp>
      <p:sp>
        <p:nvSpPr>
          <p:cNvPr id="44035" name="Rectangle 2"/>
          <p:cNvSpPr>
            <a:spLocks noChangeArrowheads="1" noTextEdit="1"/>
          </p:cNvSpPr>
          <p:nvPr>
            <p:ph type="sldImg"/>
          </p:nvPr>
        </p:nvSpPr>
        <p:spPr>
          <a:xfrm>
            <a:off x="1130300" y="692150"/>
            <a:ext cx="4597400" cy="3449638"/>
          </a:xfrm>
          <a:ln cap="flat"/>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880042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2FAA408-CB5C-4EAE-9B94-3297B377C317}" type="slidenum">
              <a:rPr lang="en-US" altLang="en-US" sz="1000"/>
              <a:pPr>
                <a:spcBef>
                  <a:spcPct val="0"/>
                </a:spcBef>
              </a:pPr>
              <a:t>5</a:t>
            </a:fld>
            <a:endParaRPr lang="en-US" altLang="en-US" sz="1000"/>
          </a:p>
        </p:txBody>
      </p:sp>
      <p:sp>
        <p:nvSpPr>
          <p:cNvPr id="45059" name="Rectangle 2"/>
          <p:cNvSpPr>
            <a:spLocks noChangeArrowheads="1" noTextEdit="1"/>
          </p:cNvSpPr>
          <p:nvPr>
            <p:ph type="sldImg"/>
          </p:nvPr>
        </p:nvSpPr>
        <p:spPr>
          <a:xfrm>
            <a:off x="1128713" y="692150"/>
            <a:ext cx="4600575" cy="3449638"/>
          </a:xfrm>
          <a:ln cap="flat"/>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752200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936A0C-5DF8-4433-BBC2-AD808256CEB6}" type="slidenum">
              <a:rPr lang="en-US" altLang="en-US" sz="1000"/>
              <a:pPr>
                <a:spcBef>
                  <a:spcPct val="0"/>
                </a:spcBef>
              </a:pPr>
              <a:t>6</a:t>
            </a:fld>
            <a:endParaRPr lang="en-US" altLang="en-US" sz="1000"/>
          </a:p>
        </p:txBody>
      </p:sp>
      <p:sp>
        <p:nvSpPr>
          <p:cNvPr id="46083" name="Rectangle 2"/>
          <p:cNvSpPr>
            <a:spLocks noChangeArrowheads="1" noTextEdit="1"/>
          </p:cNvSpPr>
          <p:nvPr>
            <p:ph type="sldImg"/>
          </p:nvPr>
        </p:nvSpPr>
        <p:spPr>
          <a:xfrm>
            <a:off x="1128713" y="692150"/>
            <a:ext cx="4600575" cy="3449638"/>
          </a:xfrm>
          <a:ln cap="flat"/>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384950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C301755-CDAC-4C33-8CE6-6E1D86E70CE3}" type="slidenum">
              <a:rPr lang="en-US" altLang="en-US" sz="1000"/>
              <a:pPr>
                <a:spcBef>
                  <a:spcPct val="0"/>
                </a:spcBef>
              </a:pPr>
              <a:t>7</a:t>
            </a:fld>
            <a:endParaRPr lang="en-US" altLang="en-US" sz="1000"/>
          </a:p>
        </p:txBody>
      </p:sp>
      <p:sp>
        <p:nvSpPr>
          <p:cNvPr id="47107" name="Rectangle 2"/>
          <p:cNvSpPr>
            <a:spLocks noChangeArrowheads="1" noTextEdit="1"/>
          </p:cNvSpPr>
          <p:nvPr>
            <p:ph type="sldImg"/>
          </p:nvPr>
        </p:nvSpPr>
        <p:spPr>
          <a:xfrm>
            <a:off x="1128713" y="692150"/>
            <a:ext cx="4600575" cy="3449638"/>
          </a:xfrm>
          <a:ln cap="flat"/>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073049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2A02C1-7090-4568-A06B-18EC08279DED}" type="slidenum">
              <a:rPr lang="en-US" altLang="en-US" sz="1000"/>
              <a:pPr>
                <a:spcBef>
                  <a:spcPct val="0"/>
                </a:spcBef>
              </a:pPr>
              <a:t>8</a:t>
            </a:fld>
            <a:endParaRPr lang="en-US" altLang="en-US" sz="1000"/>
          </a:p>
        </p:txBody>
      </p:sp>
      <p:sp>
        <p:nvSpPr>
          <p:cNvPr id="48131" name="Rectangle 2"/>
          <p:cNvSpPr>
            <a:spLocks noChangeArrowheads="1" noTextEdit="1"/>
          </p:cNvSpPr>
          <p:nvPr>
            <p:ph type="sldImg"/>
          </p:nvPr>
        </p:nvSpPr>
        <p:spPr>
          <a:xfrm>
            <a:off x="1130300" y="692150"/>
            <a:ext cx="4597400" cy="3449638"/>
          </a:xfrm>
          <a:ln cap="flat"/>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2334098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0998169-C5EB-4F75-BC66-0B0D82B4ADC3}" type="slidenum">
              <a:rPr lang="en-US" altLang="en-US" sz="1000"/>
              <a:pPr>
                <a:spcBef>
                  <a:spcPct val="0"/>
                </a:spcBef>
              </a:pPr>
              <a:t>9</a:t>
            </a:fld>
            <a:endParaRPr lang="en-US" altLang="en-US" sz="1000"/>
          </a:p>
        </p:txBody>
      </p:sp>
      <p:sp>
        <p:nvSpPr>
          <p:cNvPr id="49155" name="Rectangle 2"/>
          <p:cNvSpPr>
            <a:spLocks noChangeArrowheads="1" noTextEdit="1"/>
          </p:cNvSpPr>
          <p:nvPr>
            <p:ph type="sldImg"/>
          </p:nvPr>
        </p:nvSpPr>
        <p:spPr>
          <a:xfrm>
            <a:off x="1128713" y="692150"/>
            <a:ext cx="4600575" cy="3449638"/>
          </a:xfrm>
          <a:ln cap="flat"/>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480139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6F21FF-C0E0-4395-BBB0-73BA3A25493F}" type="slidenum">
              <a:rPr lang="en-US" altLang="en-US" sz="1000"/>
              <a:pPr>
                <a:spcBef>
                  <a:spcPct val="0"/>
                </a:spcBef>
              </a:pPr>
              <a:t>10</a:t>
            </a:fld>
            <a:endParaRPr lang="en-US" altLang="en-US" sz="1000"/>
          </a:p>
        </p:txBody>
      </p:sp>
      <p:sp>
        <p:nvSpPr>
          <p:cNvPr id="50179" name="Rectangle 2"/>
          <p:cNvSpPr>
            <a:spLocks noChangeArrowheads="1" noTextEdit="1"/>
          </p:cNvSpPr>
          <p:nvPr>
            <p:ph type="sldImg"/>
          </p:nvPr>
        </p:nvSpPr>
        <p:spPr>
          <a:xfrm>
            <a:off x="1130300" y="692150"/>
            <a:ext cx="4597400" cy="3449638"/>
          </a:xfrm>
          <a:ln cap="flat"/>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8178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1C95D8-D537-42B4-AE03-B25A577A7B41}" type="slidenum">
              <a:rPr lang="en-US" altLang="en-US" sz="1000"/>
              <a:pPr>
                <a:spcBef>
                  <a:spcPct val="0"/>
                </a:spcBef>
              </a:pPr>
              <a:t>11</a:t>
            </a:fld>
            <a:endParaRPr lang="en-US" altLang="en-US" sz="1000"/>
          </a:p>
        </p:txBody>
      </p:sp>
      <p:sp>
        <p:nvSpPr>
          <p:cNvPr id="51203" name="Rectangle 2"/>
          <p:cNvSpPr>
            <a:spLocks noChangeArrowheads="1" noTextEdit="1"/>
          </p:cNvSpPr>
          <p:nvPr>
            <p:ph type="sldImg"/>
          </p:nvPr>
        </p:nvSpPr>
        <p:spPr>
          <a:xfrm>
            <a:off x="1130300" y="692150"/>
            <a:ext cx="4597400" cy="3449638"/>
          </a:xfrm>
          <a:ln cap="flat"/>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4164606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6A6352-A8C9-4435-BAAF-47AA740B3CC1}" type="slidenum">
              <a:rPr lang="en-US" altLang="en-US" sz="1000"/>
              <a:pPr>
                <a:spcBef>
                  <a:spcPct val="0"/>
                </a:spcBef>
              </a:pPr>
              <a:t>12</a:t>
            </a:fld>
            <a:endParaRPr lang="en-US" altLang="en-US" sz="1000"/>
          </a:p>
        </p:txBody>
      </p:sp>
      <p:sp>
        <p:nvSpPr>
          <p:cNvPr id="52227" name="Rectangle 2"/>
          <p:cNvSpPr>
            <a:spLocks noChangeArrowheads="1" noTextEdit="1"/>
          </p:cNvSpPr>
          <p:nvPr>
            <p:ph type="sldImg"/>
          </p:nvPr>
        </p:nvSpPr>
        <p:spPr>
          <a:xfrm>
            <a:off x="1130300" y="692150"/>
            <a:ext cx="4597400" cy="3449638"/>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774618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7E069A4-515B-43A1-8412-54694E16991A}" type="slidenum">
              <a:rPr lang="en-US" altLang="en-US" sz="1000"/>
              <a:pPr>
                <a:spcBef>
                  <a:spcPct val="0"/>
                </a:spcBef>
              </a:pPr>
              <a:t>14</a:t>
            </a:fld>
            <a:endParaRPr lang="en-US" altLang="en-US" sz="1000"/>
          </a:p>
        </p:txBody>
      </p:sp>
      <p:sp>
        <p:nvSpPr>
          <p:cNvPr id="53251" name="Rectangle 2"/>
          <p:cNvSpPr>
            <a:spLocks noChangeArrowheads="1" noTextEdit="1"/>
          </p:cNvSpPr>
          <p:nvPr>
            <p:ph type="sldImg"/>
          </p:nvPr>
        </p:nvSpPr>
        <p:spPr>
          <a:xfrm>
            <a:off x="1128713" y="692150"/>
            <a:ext cx="4600575" cy="3449638"/>
          </a:xfrm>
          <a:ln cap="flat"/>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853054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4D86234-108A-4BD5-81D4-5D60FF9380F8}" type="slidenum">
              <a:rPr lang="en-US" altLang="en-US" sz="1000"/>
              <a:pPr>
                <a:spcBef>
                  <a:spcPct val="0"/>
                </a:spcBef>
              </a:pPr>
              <a:t>15</a:t>
            </a:fld>
            <a:endParaRPr lang="en-US" altLang="en-US" sz="1000"/>
          </a:p>
        </p:txBody>
      </p:sp>
      <p:sp>
        <p:nvSpPr>
          <p:cNvPr id="54275" name="Rectangle 2"/>
          <p:cNvSpPr>
            <a:spLocks noChangeArrowheads="1" noTextEdit="1"/>
          </p:cNvSpPr>
          <p:nvPr>
            <p:ph type="sldImg"/>
          </p:nvPr>
        </p:nvSpPr>
        <p:spPr>
          <a:xfrm>
            <a:off x="1128713" y="692150"/>
            <a:ext cx="4600575" cy="3449638"/>
          </a:xfrm>
          <a:ln cap="flat"/>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631097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9D8B4C8-B69D-486E-9C70-8F51C06B07A1}" type="slidenum">
              <a:rPr lang="en-US" altLang="en-US" sz="1000"/>
              <a:pPr>
                <a:spcBef>
                  <a:spcPct val="0"/>
                </a:spcBef>
              </a:pPr>
              <a:t>16</a:t>
            </a:fld>
            <a:endParaRPr lang="en-US" altLang="en-US" sz="1000"/>
          </a:p>
        </p:txBody>
      </p:sp>
      <p:sp>
        <p:nvSpPr>
          <p:cNvPr id="55299" name="Rectangle 2"/>
          <p:cNvSpPr>
            <a:spLocks noChangeArrowheads="1" noTextEdit="1"/>
          </p:cNvSpPr>
          <p:nvPr>
            <p:ph type="sldImg"/>
          </p:nvPr>
        </p:nvSpPr>
        <p:spPr>
          <a:xfrm>
            <a:off x="1128713" y="692150"/>
            <a:ext cx="4600575" cy="3449638"/>
          </a:xfrm>
          <a:ln cap="flat"/>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3776599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78819F8-732C-4378-9927-7DE6747AC3C1}" type="slidenum">
              <a:rPr lang="en-US" altLang="en-US" sz="1000"/>
              <a:pPr>
                <a:spcBef>
                  <a:spcPct val="0"/>
                </a:spcBef>
              </a:pPr>
              <a:t>17</a:t>
            </a:fld>
            <a:endParaRPr lang="en-US" altLang="en-US" sz="1000"/>
          </a:p>
        </p:txBody>
      </p:sp>
      <p:sp>
        <p:nvSpPr>
          <p:cNvPr id="56323" name="Rectangle 2"/>
          <p:cNvSpPr>
            <a:spLocks noChangeArrowheads="1" noTextEdit="1"/>
          </p:cNvSpPr>
          <p:nvPr>
            <p:ph type="sldImg"/>
          </p:nvPr>
        </p:nvSpPr>
        <p:spPr>
          <a:xfrm>
            <a:off x="1128713" y="692150"/>
            <a:ext cx="4600575" cy="3449638"/>
          </a:xfrm>
          <a:ln cap="flat"/>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207553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844C257-3434-401E-8A59-936608DBDBC4}" type="slidenum">
              <a:rPr lang="en-US" altLang="en-US" sz="1000"/>
              <a:pPr>
                <a:spcBef>
                  <a:spcPct val="0"/>
                </a:spcBef>
              </a:pPr>
              <a:t>18</a:t>
            </a:fld>
            <a:endParaRPr lang="en-US" altLang="en-US" sz="1000"/>
          </a:p>
        </p:txBody>
      </p:sp>
      <p:sp>
        <p:nvSpPr>
          <p:cNvPr id="57347" name="Rectangle 2"/>
          <p:cNvSpPr>
            <a:spLocks noChangeArrowheads="1" noTextEdit="1"/>
          </p:cNvSpPr>
          <p:nvPr>
            <p:ph type="sldImg"/>
          </p:nvPr>
        </p:nvSpPr>
        <p:spPr>
          <a:xfrm>
            <a:off x="1128713" y="692150"/>
            <a:ext cx="4600575" cy="3449638"/>
          </a:xfrm>
          <a:ln cap="flat"/>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613614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69325C9-54AE-4FFE-B50D-AE214220F5B6}" type="slidenum">
              <a:rPr lang="en-US" altLang="en-US" sz="1000"/>
              <a:pPr>
                <a:spcBef>
                  <a:spcPct val="0"/>
                </a:spcBef>
              </a:pPr>
              <a:t>19</a:t>
            </a:fld>
            <a:endParaRPr lang="en-US" altLang="en-US" sz="1000"/>
          </a:p>
        </p:txBody>
      </p:sp>
      <p:sp>
        <p:nvSpPr>
          <p:cNvPr id="58371" name="Rectangle 2"/>
          <p:cNvSpPr>
            <a:spLocks noChangeArrowheads="1" noTextEdit="1"/>
          </p:cNvSpPr>
          <p:nvPr>
            <p:ph type="sldImg"/>
          </p:nvPr>
        </p:nvSpPr>
        <p:spPr>
          <a:xfrm>
            <a:off x="1130300" y="692150"/>
            <a:ext cx="4597400" cy="3449638"/>
          </a:xfrm>
          <a:ln cap="flat"/>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3282123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B7D01F1-A0D7-4DC3-8280-15E2D9401B96}" type="slidenum">
              <a:rPr lang="en-US" altLang="en-US" sz="1000"/>
              <a:pPr>
                <a:spcBef>
                  <a:spcPct val="0"/>
                </a:spcBef>
              </a:pPr>
              <a:t>20</a:t>
            </a:fld>
            <a:endParaRPr lang="en-US" altLang="en-US" sz="1000"/>
          </a:p>
        </p:txBody>
      </p:sp>
      <p:sp>
        <p:nvSpPr>
          <p:cNvPr id="59395" name="Rectangle 2"/>
          <p:cNvSpPr>
            <a:spLocks noChangeArrowheads="1" noTextEdit="1"/>
          </p:cNvSpPr>
          <p:nvPr>
            <p:ph type="sldImg"/>
          </p:nvPr>
        </p:nvSpPr>
        <p:spPr>
          <a:xfrm>
            <a:off x="1130300" y="692150"/>
            <a:ext cx="4597400" cy="3449638"/>
          </a:xfrm>
          <a:ln cap="flat"/>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smtClean="0"/>
          </a:p>
        </p:txBody>
      </p:sp>
    </p:spTree>
    <p:extLst>
      <p:ext uri="{BB962C8B-B14F-4D97-AF65-F5344CB8AC3E}">
        <p14:creationId xmlns:p14="http://schemas.microsoft.com/office/powerpoint/2010/main" val="3411813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EF0FA07-98C8-49E3-88A8-1725C96CB29F}" type="slidenum">
              <a:rPr lang="en-US" altLang="en-US" sz="1000"/>
              <a:pPr>
                <a:spcBef>
                  <a:spcPct val="0"/>
                </a:spcBef>
              </a:pPr>
              <a:t>21</a:t>
            </a:fld>
            <a:endParaRPr lang="en-US" altLang="en-US" sz="1000"/>
          </a:p>
        </p:txBody>
      </p:sp>
      <p:sp>
        <p:nvSpPr>
          <p:cNvPr id="60419" name="Rectangle 2"/>
          <p:cNvSpPr>
            <a:spLocks noChangeArrowheads="1" noTextEdit="1"/>
          </p:cNvSpPr>
          <p:nvPr>
            <p:ph type="sldImg"/>
          </p:nvPr>
        </p:nvSpPr>
        <p:spPr>
          <a:xfrm>
            <a:off x="1128713" y="692150"/>
            <a:ext cx="4600575" cy="3449638"/>
          </a:xfrm>
          <a:ln cap="flat"/>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smtClean="0"/>
          </a:p>
        </p:txBody>
      </p:sp>
    </p:spTree>
    <p:extLst>
      <p:ext uri="{BB962C8B-B14F-4D97-AF65-F5344CB8AC3E}">
        <p14:creationId xmlns:p14="http://schemas.microsoft.com/office/powerpoint/2010/main" val="1587759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982697E-162A-42EE-8A61-A4467716965C}" type="slidenum">
              <a:rPr lang="en-US" altLang="en-US" sz="1000"/>
              <a:pPr>
                <a:spcBef>
                  <a:spcPct val="0"/>
                </a:spcBef>
              </a:pPr>
              <a:t>22</a:t>
            </a:fld>
            <a:endParaRPr lang="en-US" altLang="en-US" sz="1000"/>
          </a:p>
        </p:txBody>
      </p:sp>
      <p:sp>
        <p:nvSpPr>
          <p:cNvPr id="61443" name="Rectangle 2"/>
          <p:cNvSpPr>
            <a:spLocks noChangeArrowheads="1" noTextEdit="1"/>
          </p:cNvSpPr>
          <p:nvPr>
            <p:ph type="sldImg"/>
          </p:nvPr>
        </p:nvSpPr>
        <p:spPr>
          <a:xfrm>
            <a:off x="1128713" y="692150"/>
            <a:ext cx="4600575" cy="3449638"/>
          </a:xfrm>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958071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xfrm>
            <a:off x="1128713" y="692150"/>
            <a:ext cx="4600575" cy="3449638"/>
          </a:xfrm>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DC44AF-0536-486E-94D8-7CF0608D0860}" type="slidenum">
              <a:rPr lang="en-US" altLang="en-US" sz="1000"/>
              <a:pPr>
                <a:spcBef>
                  <a:spcPct val="0"/>
                </a:spcBef>
              </a:pPr>
              <a:t>23</a:t>
            </a:fld>
            <a:endParaRPr lang="en-US" altLang="en-US" sz="1000"/>
          </a:p>
        </p:txBody>
      </p:sp>
    </p:spTree>
    <p:extLst>
      <p:ext uri="{BB962C8B-B14F-4D97-AF65-F5344CB8AC3E}">
        <p14:creationId xmlns:p14="http://schemas.microsoft.com/office/powerpoint/2010/main" val="715005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00DA246-08A3-48B4-8755-6EAD97F5DA69}" type="slidenum">
              <a:rPr lang="en-US" altLang="en-US" sz="1000"/>
              <a:pPr>
                <a:spcBef>
                  <a:spcPct val="0"/>
                </a:spcBef>
              </a:pPr>
              <a:t>24</a:t>
            </a:fld>
            <a:endParaRPr lang="en-US" altLang="en-US" sz="1000"/>
          </a:p>
        </p:txBody>
      </p:sp>
      <p:sp>
        <p:nvSpPr>
          <p:cNvPr id="63491" name="Rectangle 2"/>
          <p:cNvSpPr>
            <a:spLocks noChangeArrowheads="1" noTextEdit="1"/>
          </p:cNvSpPr>
          <p:nvPr>
            <p:ph type="sldImg"/>
          </p:nvPr>
        </p:nvSpPr>
        <p:spPr>
          <a:xfrm>
            <a:off x="1130300" y="692150"/>
            <a:ext cx="4597400" cy="3449638"/>
          </a:xfrm>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smtClean="0"/>
          </a:p>
        </p:txBody>
      </p:sp>
    </p:spTree>
    <p:extLst>
      <p:ext uri="{BB962C8B-B14F-4D97-AF65-F5344CB8AC3E}">
        <p14:creationId xmlns:p14="http://schemas.microsoft.com/office/powerpoint/2010/main" val="2136696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xfrm>
            <a:off x="1128713" y="692150"/>
            <a:ext cx="4600575" cy="3449638"/>
          </a:xfrm>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Times New Roman" panose="02020603050405020304" pitchFamily="18" charset="0"/>
              </a:defRPr>
            </a:lvl1pPr>
            <a:lvl2pPr marL="742950" indent="-285750" defTabSz="762000" eaLnBrk="0" hangingPunct="0">
              <a:spcBef>
                <a:spcPct val="30000"/>
              </a:spcBef>
              <a:defRPr sz="1200">
                <a:solidFill>
                  <a:schemeClr val="tx1"/>
                </a:solidFill>
                <a:latin typeface="Times New Roman" panose="02020603050405020304" pitchFamily="18" charset="0"/>
              </a:defRPr>
            </a:lvl2pPr>
            <a:lvl3pPr marL="1143000" indent="-228600" defTabSz="762000" eaLnBrk="0" hangingPunct="0">
              <a:spcBef>
                <a:spcPct val="30000"/>
              </a:spcBef>
              <a:defRPr sz="1200">
                <a:solidFill>
                  <a:schemeClr val="tx1"/>
                </a:solidFill>
                <a:latin typeface="Times New Roman" panose="02020603050405020304" pitchFamily="18" charset="0"/>
              </a:defRPr>
            </a:lvl3pPr>
            <a:lvl4pPr marL="1600200" indent="-228600" defTabSz="762000" eaLnBrk="0" hangingPunct="0">
              <a:spcBef>
                <a:spcPct val="30000"/>
              </a:spcBef>
              <a:defRPr sz="1200">
                <a:solidFill>
                  <a:schemeClr val="tx1"/>
                </a:solidFill>
                <a:latin typeface="Times New Roman" panose="02020603050405020304" pitchFamily="18" charset="0"/>
              </a:defRPr>
            </a:lvl4pPr>
            <a:lvl5pPr marL="2057400" indent="-228600" defTabSz="762000" eaLnBrk="0" hangingPunct="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EE42DF8-018A-43B0-A5D3-57A2CE68DB0B}" type="slidenum">
              <a:rPr lang="en-US" altLang="en-US" sz="1000"/>
              <a:pPr>
                <a:spcBef>
                  <a:spcPct val="0"/>
                </a:spcBef>
              </a:pPr>
              <a:t>25</a:t>
            </a:fld>
            <a:endParaRPr lang="en-US" altLang="en-US" sz="1000"/>
          </a:p>
        </p:txBody>
      </p:sp>
    </p:spTree>
    <p:extLst>
      <p:ext uri="{BB962C8B-B14F-4D97-AF65-F5344CB8AC3E}">
        <p14:creationId xmlns:p14="http://schemas.microsoft.com/office/powerpoint/2010/main" val="2439646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27"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52228"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fld id="{E6418178-AE9B-4C3E-B8D2-B1B160EE3395}" type="slidenum">
              <a:rPr lang="en-US" altLang="en-US"/>
              <a:pPr/>
              <a:t>‹#›</a:t>
            </a:fld>
            <a:endParaRPr lang="en-US" altLang="en-US"/>
          </a:p>
        </p:txBody>
      </p:sp>
    </p:spTree>
    <p:extLst>
      <p:ext uri="{BB962C8B-B14F-4D97-AF65-F5344CB8AC3E}">
        <p14:creationId xmlns:p14="http://schemas.microsoft.com/office/powerpoint/2010/main" val="969823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730879EA-3CA0-461E-89B8-2BED1228213D}" type="slidenum">
              <a:rPr lang="en-US" altLang="en-US"/>
              <a:pPr/>
              <a:t>‹#›</a:t>
            </a:fld>
            <a:endParaRPr lang="en-US" altLang="en-US"/>
          </a:p>
        </p:txBody>
      </p:sp>
    </p:spTree>
    <p:extLst>
      <p:ext uri="{BB962C8B-B14F-4D97-AF65-F5344CB8AC3E}">
        <p14:creationId xmlns:p14="http://schemas.microsoft.com/office/powerpoint/2010/main" val="69544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55741A5B-EE43-44AB-BB29-E0796DD092AF}" type="slidenum">
              <a:rPr lang="en-US" altLang="en-US"/>
              <a:pPr/>
              <a:t>‹#›</a:t>
            </a:fld>
            <a:endParaRPr lang="en-US" altLang="en-US"/>
          </a:p>
        </p:txBody>
      </p:sp>
    </p:spTree>
    <p:extLst>
      <p:ext uri="{BB962C8B-B14F-4D97-AF65-F5344CB8AC3E}">
        <p14:creationId xmlns:p14="http://schemas.microsoft.com/office/powerpoint/2010/main" val="388907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FB67B9F5-F1F4-4350-9921-81CA3FE39D75}" type="slidenum">
              <a:rPr lang="en-US" altLang="en-US"/>
              <a:pPr/>
              <a:t>‹#›</a:t>
            </a:fld>
            <a:endParaRPr lang="en-US" altLang="en-US"/>
          </a:p>
        </p:txBody>
      </p:sp>
    </p:spTree>
    <p:extLst>
      <p:ext uri="{BB962C8B-B14F-4D97-AF65-F5344CB8AC3E}">
        <p14:creationId xmlns:p14="http://schemas.microsoft.com/office/powerpoint/2010/main" val="2041010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9" name="Slide Number Placeholder 8"/>
          <p:cNvSpPr>
            <a:spLocks noGrp="1"/>
          </p:cNvSpPr>
          <p:nvPr>
            <p:ph type="sldNum" sz="quarter" idx="12"/>
          </p:nvPr>
        </p:nvSpPr>
        <p:spPr/>
        <p:txBody>
          <a:bodyPr/>
          <a:lstStyle>
            <a:lvl1pPr>
              <a:defRPr/>
            </a:lvl1pPr>
          </a:lstStyle>
          <a:p>
            <a:fld id="{4778996B-6163-4643-898D-603BF599679F}" type="slidenum">
              <a:rPr lang="en-US" altLang="en-US"/>
              <a:pPr/>
              <a:t>‹#›</a:t>
            </a:fld>
            <a:endParaRPr lang="en-US" altLang="en-US"/>
          </a:p>
        </p:txBody>
      </p:sp>
    </p:spTree>
    <p:extLst>
      <p:ext uri="{BB962C8B-B14F-4D97-AF65-F5344CB8AC3E}">
        <p14:creationId xmlns:p14="http://schemas.microsoft.com/office/powerpoint/2010/main" val="151160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5" name="Slide Number Placeholder 4"/>
          <p:cNvSpPr>
            <a:spLocks noGrp="1"/>
          </p:cNvSpPr>
          <p:nvPr>
            <p:ph type="sldNum" sz="quarter" idx="12"/>
          </p:nvPr>
        </p:nvSpPr>
        <p:spPr/>
        <p:txBody>
          <a:bodyPr/>
          <a:lstStyle>
            <a:lvl1pPr>
              <a:defRPr/>
            </a:lvl1pPr>
          </a:lstStyle>
          <a:p>
            <a:fld id="{C41AEE4D-370E-4DC2-9933-A8F66383094A}" type="slidenum">
              <a:rPr lang="en-US" altLang="en-US"/>
              <a:pPr/>
              <a:t>‹#›</a:t>
            </a:fld>
            <a:endParaRPr lang="en-US" altLang="en-US"/>
          </a:p>
        </p:txBody>
      </p:sp>
    </p:spTree>
    <p:extLst>
      <p:ext uri="{BB962C8B-B14F-4D97-AF65-F5344CB8AC3E}">
        <p14:creationId xmlns:p14="http://schemas.microsoft.com/office/powerpoint/2010/main" val="4190843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4" name="Slide Number Placeholder 3"/>
          <p:cNvSpPr>
            <a:spLocks noGrp="1"/>
          </p:cNvSpPr>
          <p:nvPr>
            <p:ph type="sldNum" sz="quarter" idx="12"/>
          </p:nvPr>
        </p:nvSpPr>
        <p:spPr/>
        <p:txBody>
          <a:bodyPr/>
          <a:lstStyle>
            <a:lvl1pPr>
              <a:defRPr/>
            </a:lvl1pPr>
          </a:lstStyle>
          <a:p>
            <a:fld id="{0A21F221-4E83-4CA6-8EC6-EC47DAFD0E3D}" type="slidenum">
              <a:rPr lang="en-US" altLang="en-US"/>
              <a:pPr/>
              <a:t>‹#›</a:t>
            </a:fld>
            <a:endParaRPr lang="en-US" altLang="en-US"/>
          </a:p>
        </p:txBody>
      </p:sp>
    </p:spTree>
    <p:extLst>
      <p:ext uri="{BB962C8B-B14F-4D97-AF65-F5344CB8AC3E}">
        <p14:creationId xmlns:p14="http://schemas.microsoft.com/office/powerpoint/2010/main" val="265750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21ECC759-B80F-472C-B47B-C48DB74A983E}" type="slidenum">
              <a:rPr lang="en-US" altLang="en-US"/>
              <a:pPr/>
              <a:t>‹#›</a:t>
            </a:fld>
            <a:endParaRPr lang="en-US" altLang="en-US"/>
          </a:p>
        </p:txBody>
      </p:sp>
    </p:spTree>
    <p:extLst>
      <p:ext uri="{BB962C8B-B14F-4D97-AF65-F5344CB8AC3E}">
        <p14:creationId xmlns:p14="http://schemas.microsoft.com/office/powerpoint/2010/main" val="95593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6C0D75E6-FFA6-4D6B-8B8B-ABD16D85AB57}" type="slidenum">
              <a:rPr lang="en-US" altLang="en-US"/>
              <a:pPr/>
              <a:t>‹#›</a:t>
            </a:fld>
            <a:endParaRPr lang="en-US" altLang="en-US"/>
          </a:p>
        </p:txBody>
      </p:sp>
    </p:spTree>
    <p:extLst>
      <p:ext uri="{BB962C8B-B14F-4D97-AF65-F5344CB8AC3E}">
        <p14:creationId xmlns:p14="http://schemas.microsoft.com/office/powerpoint/2010/main" val="4061550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B507FF99-0A23-4BD1-A1B1-765C65D0C089}" type="slidenum">
              <a:rPr lang="en-US" altLang="en-US"/>
              <a:pPr/>
              <a:t>‹#›</a:t>
            </a:fld>
            <a:endParaRPr lang="en-US" altLang="en-US"/>
          </a:p>
        </p:txBody>
      </p:sp>
    </p:spTree>
    <p:extLst>
      <p:ext uri="{BB962C8B-B14F-4D97-AF65-F5344CB8AC3E}">
        <p14:creationId xmlns:p14="http://schemas.microsoft.com/office/powerpoint/2010/main" val="2956993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CD89C0E0-87EF-4326-9858-58757DBE84BA}" type="slidenum">
              <a:rPr lang="en-US" altLang="en-US"/>
              <a:pPr/>
              <a:t>‹#›</a:t>
            </a:fld>
            <a:endParaRPr lang="en-US" altLang="en-US"/>
          </a:p>
        </p:txBody>
      </p:sp>
    </p:spTree>
    <p:extLst>
      <p:ext uri="{BB962C8B-B14F-4D97-AF65-F5344CB8AC3E}">
        <p14:creationId xmlns:p14="http://schemas.microsoft.com/office/powerpoint/2010/main" val="3709582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51205"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defRPr>
            </a:lvl1pPr>
          </a:lstStyle>
          <a:p>
            <a:pPr>
              <a:defRPr/>
            </a:pPr>
            <a:endParaRPr lang="en-US" altLang="en-US"/>
          </a:p>
        </p:txBody>
      </p:sp>
      <p:sp>
        <p:nvSpPr>
          <p:cNvPr id="51206"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i="1" smtClean="0">
                <a:latin typeface="Arial" charset="0"/>
              </a:defRPr>
            </a:lvl1pPr>
          </a:lstStyle>
          <a:p>
            <a:pPr>
              <a:defRPr/>
            </a:pPr>
            <a:r>
              <a:rPr lang="en-CA" altLang="en-US"/>
              <a:t>Fundamentals of Futures and Options Markets, 9th Ed, Ch 12, Copyright © John C. Hull 2016</a:t>
            </a:r>
            <a:endParaRPr lang="en-US" altLang="en-US"/>
          </a:p>
        </p:txBody>
      </p:sp>
      <p:sp>
        <p:nvSpPr>
          <p:cNvPr id="51207"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b="1"/>
            </a:lvl1pPr>
          </a:lstStyle>
          <a:p>
            <a:fld id="{05F50B78-682F-48BC-9FD4-D18345FD345F}"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9" name="Oval 15"/>
            <p:cNvSpPr>
              <a:spLocks noChangeArrowheads="1"/>
            </p:cNvSpPr>
            <p:nvPr/>
          </p:nvSpPr>
          <p:spPr bwMode="auto">
            <a:xfrm>
              <a:off x="5472" y="1072"/>
              <a:ext cx="74"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0" name="Oval 16"/>
            <p:cNvSpPr>
              <a:spLocks noChangeArrowheads="1"/>
            </p:cNvSpPr>
            <p:nvPr/>
          </p:nvSpPr>
          <p:spPr bwMode="auto">
            <a:xfrm>
              <a:off x="5136" y="1184"/>
              <a:ext cx="80"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1" name="Oval 17"/>
            <p:cNvSpPr>
              <a:spLocks noChangeArrowheads="1"/>
            </p:cNvSpPr>
            <p:nvPr/>
          </p:nvSpPr>
          <p:spPr bwMode="auto">
            <a:xfrm>
              <a:off x="5248" y="1184"/>
              <a:ext cx="79"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2" name="Oval 18"/>
            <p:cNvSpPr>
              <a:spLocks noChangeArrowheads="1"/>
            </p:cNvSpPr>
            <p:nvPr/>
          </p:nvSpPr>
          <p:spPr bwMode="auto">
            <a:xfrm>
              <a:off x="5360" y="1184"/>
              <a:ext cx="76"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3" name="Oval 19"/>
            <p:cNvSpPr>
              <a:spLocks noChangeArrowheads="1"/>
            </p:cNvSpPr>
            <p:nvPr/>
          </p:nvSpPr>
          <p:spPr bwMode="auto">
            <a:xfrm>
              <a:off x="5472" y="1184"/>
              <a:ext cx="74"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4" name="Oval 20"/>
            <p:cNvSpPr>
              <a:spLocks noChangeArrowheads="1"/>
            </p:cNvSpPr>
            <p:nvPr/>
          </p:nvSpPr>
          <p:spPr bwMode="auto">
            <a:xfrm>
              <a:off x="5584" y="1184"/>
              <a:ext cx="80" cy="7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8" name="Oval 24"/>
            <p:cNvSpPr>
              <a:spLocks noChangeArrowheads="1"/>
            </p:cNvSpPr>
            <p:nvPr/>
          </p:nvSpPr>
          <p:spPr bwMode="auto">
            <a:xfrm>
              <a:off x="5472" y="1296"/>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2" name="Oval 28"/>
            <p:cNvSpPr>
              <a:spLocks noChangeArrowheads="1"/>
            </p:cNvSpPr>
            <p:nvPr/>
          </p:nvSpPr>
          <p:spPr bwMode="auto">
            <a:xfrm>
              <a:off x="5472" y="1408"/>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7" name="Oval 33"/>
            <p:cNvSpPr>
              <a:spLocks noChangeArrowheads="1"/>
            </p:cNvSpPr>
            <p:nvPr/>
          </p:nvSpPr>
          <p:spPr bwMode="auto">
            <a:xfrm>
              <a:off x="5472" y="1520"/>
              <a:ext cx="74"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1" name="Oval 37"/>
            <p:cNvSpPr>
              <a:spLocks noChangeArrowheads="1"/>
            </p:cNvSpPr>
            <p:nvPr/>
          </p:nvSpPr>
          <p:spPr bwMode="auto">
            <a:xfrm>
              <a:off x="5472" y="1632"/>
              <a:ext cx="74"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3" name="Oval 39"/>
            <p:cNvSpPr>
              <a:spLocks noChangeArrowheads="1"/>
            </p:cNvSpPr>
            <p:nvPr/>
          </p:nvSpPr>
          <p:spPr bwMode="auto">
            <a:xfrm>
              <a:off x="5472" y="1744"/>
              <a:ext cx="74"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11"/>
          </p:nvPr>
        </p:nvSpPr>
        <p:spPr>
          <a:xfrm>
            <a:off x="323850" y="6248400"/>
            <a:ext cx="767715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13315" name="Rectangle 4"/>
          <p:cNvSpPr>
            <a:spLocks noGrp="1" noChangeArrowheads="1"/>
          </p:cNvSpPr>
          <p:nvPr>
            <p:ph type="ctrTitle"/>
          </p:nvPr>
        </p:nvSpPr>
        <p:spPr/>
        <p:txBody>
          <a:bodyPr/>
          <a:lstStyle/>
          <a:p>
            <a:pPr eaLnBrk="1" hangingPunct="1"/>
            <a:r>
              <a:rPr lang="en-US" altLang="en-US" smtClean="0"/>
              <a:t>Introduction to Binomial Trees</a:t>
            </a:r>
          </a:p>
        </p:txBody>
      </p:sp>
      <p:sp>
        <p:nvSpPr>
          <p:cNvPr id="13316" name="Rectangle 5"/>
          <p:cNvSpPr>
            <a:spLocks noGrp="1" noChangeArrowheads="1"/>
          </p:cNvSpPr>
          <p:nvPr>
            <p:ph type="subTitle" idx="1"/>
          </p:nvPr>
        </p:nvSpPr>
        <p:spPr/>
        <p:txBody>
          <a:bodyPr/>
          <a:lstStyle/>
          <a:p>
            <a:pPr eaLnBrk="1" hangingPunct="1"/>
            <a:r>
              <a:rPr lang="en-US" altLang="en-US" smtClean="0"/>
              <a:t>Chapter 12</a:t>
            </a: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374BD9C-76E1-4A12-BBA5-94CFE0353F5F}" type="slidenum">
              <a:rPr lang="en-US" altLang="en-US" sz="1800"/>
              <a:pPr eaLnBrk="1" hangingPunct="1">
                <a:spcBef>
                  <a:spcPct val="0"/>
                </a:spcBef>
                <a:buClrTx/>
                <a:buSzTx/>
                <a:buFontTx/>
                <a:buNone/>
              </a:pPr>
              <a:t>1</a:t>
            </a:fld>
            <a:endParaRPr lang="en-US" altLang="en-US" sz="18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14339" name="Rectangle 2"/>
          <p:cNvSpPr>
            <a:spLocks noGrp="1" noChangeArrowheads="1"/>
          </p:cNvSpPr>
          <p:nvPr>
            <p:ph type="title"/>
          </p:nvPr>
        </p:nvSpPr>
        <p:spPr>
          <a:noFill/>
        </p:spPr>
        <p:txBody>
          <a:bodyPr lIns="92075" tIns="46038" rIns="92075" bIns="46038" anchor="ctr"/>
          <a:lstStyle/>
          <a:p>
            <a:pPr eaLnBrk="1" hangingPunct="1"/>
            <a:r>
              <a:rPr lang="en-US" altLang="en-US" smtClean="0"/>
              <a:t>A Simple Binomial Model</a:t>
            </a:r>
            <a:br>
              <a:rPr lang="en-US" altLang="en-US" smtClean="0"/>
            </a:br>
            <a:endParaRPr lang="en-US" altLang="en-US" smtClean="0"/>
          </a:p>
        </p:txBody>
      </p:sp>
      <p:sp>
        <p:nvSpPr>
          <p:cNvPr id="14340" name="Rectangle 3"/>
          <p:cNvSpPr>
            <a:spLocks noGrp="1" noChangeArrowheads="1"/>
          </p:cNvSpPr>
          <p:nvPr>
            <p:ph type="body" idx="1"/>
          </p:nvPr>
        </p:nvSpPr>
        <p:spPr>
          <a:noFill/>
        </p:spPr>
        <p:txBody>
          <a:bodyPr lIns="92075" tIns="46038" rIns="92075" bIns="46038"/>
          <a:lstStyle/>
          <a:p>
            <a:pPr eaLnBrk="1" hangingPunct="1"/>
            <a:r>
              <a:rPr lang="en-US" altLang="en-US" smtClean="0"/>
              <a:t>A stock price is currently $20</a:t>
            </a:r>
          </a:p>
          <a:p>
            <a:pPr eaLnBrk="1" hangingPunct="1"/>
            <a:r>
              <a:rPr lang="en-US" altLang="en-US" smtClean="0"/>
              <a:t>In three months it will be either $22 or $18</a:t>
            </a:r>
          </a:p>
        </p:txBody>
      </p:sp>
      <p:sp>
        <p:nvSpPr>
          <p:cNvPr id="14341" name="Line 4"/>
          <p:cNvSpPr>
            <a:spLocks noChangeShapeType="1"/>
          </p:cNvSpPr>
          <p:nvPr/>
        </p:nvSpPr>
        <p:spPr bwMode="auto">
          <a:xfrm flipV="1">
            <a:off x="3338513" y="4035425"/>
            <a:ext cx="2111375" cy="6159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342" name="Line 5"/>
          <p:cNvSpPr>
            <a:spLocks noChangeShapeType="1"/>
          </p:cNvSpPr>
          <p:nvPr/>
        </p:nvSpPr>
        <p:spPr bwMode="auto">
          <a:xfrm>
            <a:off x="3338513" y="4625975"/>
            <a:ext cx="2111375" cy="61753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4343" name="Rectangle 6"/>
          <p:cNvSpPr>
            <a:spLocks noChangeArrowheads="1"/>
          </p:cNvSpPr>
          <p:nvPr/>
        </p:nvSpPr>
        <p:spPr bwMode="auto">
          <a:xfrm>
            <a:off x="5657850" y="3719513"/>
            <a:ext cx="2886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Stock Price = $22</a:t>
            </a:r>
          </a:p>
          <a:p>
            <a:pPr>
              <a:spcBef>
                <a:spcPct val="0"/>
              </a:spcBef>
              <a:buClrTx/>
              <a:buSzTx/>
              <a:buFontTx/>
              <a:buNone/>
            </a:pPr>
            <a:endParaRPr lang="en-US" altLang="en-US" sz="2400"/>
          </a:p>
        </p:txBody>
      </p:sp>
      <p:sp>
        <p:nvSpPr>
          <p:cNvPr id="14344" name="Rectangle 7"/>
          <p:cNvSpPr>
            <a:spLocks noChangeArrowheads="1"/>
          </p:cNvSpPr>
          <p:nvPr/>
        </p:nvSpPr>
        <p:spPr bwMode="auto">
          <a:xfrm>
            <a:off x="5572125" y="5057775"/>
            <a:ext cx="331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Stock Price = $18</a:t>
            </a:r>
          </a:p>
        </p:txBody>
      </p:sp>
      <p:sp>
        <p:nvSpPr>
          <p:cNvPr id="14345" name="Rectangle 8"/>
          <p:cNvSpPr>
            <a:spLocks noChangeArrowheads="1"/>
          </p:cNvSpPr>
          <p:nvPr/>
        </p:nvSpPr>
        <p:spPr bwMode="auto">
          <a:xfrm>
            <a:off x="571500" y="4519613"/>
            <a:ext cx="2849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Stock price = $20</a:t>
            </a:r>
          </a:p>
        </p:txBody>
      </p:sp>
      <p:sp>
        <p:nvSpPr>
          <p:cNvPr id="14346"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DE22F5F4-A7BB-42FE-BA3D-77E4CC0A1C05}" type="slidenum">
              <a:rPr lang="en-US" altLang="en-US" sz="1800"/>
              <a:pPr eaLnBrk="1" hangingPunct="1">
                <a:spcBef>
                  <a:spcPct val="0"/>
                </a:spcBef>
                <a:buClrTx/>
                <a:buSzTx/>
                <a:buFontTx/>
                <a:buNone/>
              </a:pPr>
              <a:t>2</a:t>
            </a:fld>
            <a:endParaRPr lang="en-US" altLang="en-US" sz="180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15363" name="Line 2"/>
          <p:cNvSpPr>
            <a:spLocks noChangeShapeType="1"/>
          </p:cNvSpPr>
          <p:nvPr/>
        </p:nvSpPr>
        <p:spPr bwMode="auto">
          <a:xfrm flipV="1">
            <a:off x="3338513" y="3595688"/>
            <a:ext cx="2111375" cy="8159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5364" name="Line 3"/>
          <p:cNvSpPr>
            <a:spLocks noChangeShapeType="1"/>
          </p:cNvSpPr>
          <p:nvPr/>
        </p:nvSpPr>
        <p:spPr bwMode="auto">
          <a:xfrm>
            <a:off x="3338513" y="4375150"/>
            <a:ext cx="2111375" cy="8159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5365" name="Rectangle 4"/>
          <p:cNvSpPr>
            <a:spLocks noChangeArrowheads="1"/>
          </p:cNvSpPr>
          <p:nvPr/>
        </p:nvSpPr>
        <p:spPr bwMode="auto">
          <a:xfrm>
            <a:off x="5657850" y="3194050"/>
            <a:ext cx="2886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Stock Price = $22</a:t>
            </a:r>
          </a:p>
          <a:p>
            <a:pPr>
              <a:spcBef>
                <a:spcPct val="0"/>
              </a:spcBef>
              <a:buClrTx/>
              <a:buSzTx/>
              <a:buFontTx/>
              <a:buNone/>
            </a:pPr>
            <a:r>
              <a:rPr lang="en-US" altLang="en-US" sz="2400"/>
              <a:t>Option Price = $1</a:t>
            </a:r>
          </a:p>
        </p:txBody>
      </p:sp>
      <p:sp>
        <p:nvSpPr>
          <p:cNvPr id="15366" name="Rectangle 5"/>
          <p:cNvSpPr>
            <a:spLocks noChangeArrowheads="1"/>
          </p:cNvSpPr>
          <p:nvPr/>
        </p:nvSpPr>
        <p:spPr bwMode="auto">
          <a:xfrm>
            <a:off x="5572125" y="4702175"/>
            <a:ext cx="3314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Stock Price = $18</a:t>
            </a:r>
          </a:p>
          <a:p>
            <a:pPr>
              <a:spcBef>
                <a:spcPct val="0"/>
              </a:spcBef>
              <a:buClrTx/>
              <a:buSzTx/>
              <a:buFontTx/>
              <a:buNone/>
            </a:pPr>
            <a:r>
              <a:rPr lang="en-US" altLang="en-US" sz="2400"/>
              <a:t>Option Price = $0</a:t>
            </a:r>
          </a:p>
        </p:txBody>
      </p:sp>
      <p:sp>
        <p:nvSpPr>
          <p:cNvPr id="15367" name="Rectangle 6"/>
          <p:cNvSpPr>
            <a:spLocks noChangeArrowheads="1"/>
          </p:cNvSpPr>
          <p:nvPr/>
        </p:nvSpPr>
        <p:spPr bwMode="auto">
          <a:xfrm>
            <a:off x="685800" y="4029075"/>
            <a:ext cx="273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Stock price = $20</a:t>
            </a:r>
          </a:p>
          <a:p>
            <a:pPr>
              <a:spcBef>
                <a:spcPct val="0"/>
              </a:spcBef>
              <a:buClrTx/>
              <a:buSzTx/>
              <a:buFontTx/>
              <a:buNone/>
            </a:pPr>
            <a:r>
              <a:rPr lang="en-US" altLang="en-US" sz="2400"/>
              <a:t>Option Price=?</a:t>
            </a:r>
          </a:p>
        </p:txBody>
      </p:sp>
      <p:sp>
        <p:nvSpPr>
          <p:cNvPr id="15368" name="Rectangle 7"/>
          <p:cNvSpPr>
            <a:spLocks noGrp="1" noChangeArrowheads="1"/>
          </p:cNvSpPr>
          <p:nvPr>
            <p:ph type="title"/>
          </p:nvPr>
        </p:nvSpPr>
        <p:spPr>
          <a:noFill/>
        </p:spPr>
        <p:txBody>
          <a:bodyPr lIns="92075" tIns="46038" rIns="92075" bIns="46038" anchor="ctr"/>
          <a:lstStyle/>
          <a:p>
            <a:pPr eaLnBrk="1" hangingPunct="1"/>
            <a:r>
              <a:rPr lang="en-US" altLang="en-US" smtClean="0"/>
              <a:t>A Call Option (</a:t>
            </a:r>
            <a:r>
              <a:rPr lang="en-US" altLang="en-US" sz="2200" smtClean="0"/>
              <a:t>Figure 12.1, page 269)</a:t>
            </a:r>
          </a:p>
        </p:txBody>
      </p:sp>
      <p:sp>
        <p:nvSpPr>
          <p:cNvPr id="15369" name="Rectangle 8"/>
          <p:cNvSpPr>
            <a:spLocks noGrp="1" noChangeArrowheads="1"/>
          </p:cNvSpPr>
          <p:nvPr>
            <p:ph type="body" idx="1"/>
          </p:nvPr>
        </p:nvSpPr>
        <p:spPr>
          <a:xfrm>
            <a:off x="628650" y="1981200"/>
            <a:ext cx="7886700" cy="4114800"/>
          </a:xfrm>
          <a:noFill/>
        </p:spPr>
        <p:txBody>
          <a:bodyPr lIns="92075" tIns="46038" rIns="92075" bIns="46038"/>
          <a:lstStyle/>
          <a:p>
            <a:pPr eaLnBrk="1" hangingPunct="1">
              <a:buFont typeface="Wingdings" panose="05000000000000000000" pitchFamily="2" charset="2"/>
              <a:buNone/>
            </a:pPr>
            <a:r>
              <a:rPr lang="en-US" altLang="en-US" sz="2400" smtClean="0"/>
              <a:t>	A 3-month call option on the stock has a strike price of 21. </a:t>
            </a:r>
          </a:p>
          <a:p>
            <a:pPr eaLnBrk="1" hangingPunct="1">
              <a:buFont typeface="Wingdings" panose="05000000000000000000" pitchFamily="2" charset="2"/>
              <a:buNone/>
            </a:pPr>
            <a:r>
              <a:rPr lang="en-US" altLang="en-US" sz="2400" smtClean="0"/>
              <a:t>	</a:t>
            </a:r>
          </a:p>
        </p:txBody>
      </p:sp>
      <p:sp>
        <p:nvSpPr>
          <p:cNvPr id="15370"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DB298E9D-6080-4D3A-A028-D41E74723847}" type="slidenum">
              <a:rPr lang="en-US" altLang="en-US" sz="1800"/>
              <a:pPr eaLnBrk="1" hangingPunct="1">
                <a:spcBef>
                  <a:spcPct val="0"/>
                </a:spcBef>
                <a:buClrTx/>
                <a:buSzTx/>
                <a:buFontTx/>
                <a:buNone/>
              </a:pPr>
              <a:t>3</a:t>
            </a:fld>
            <a:endParaRPr lang="en-US" altLang="en-US" sz="1800"/>
          </a:p>
        </p:txBody>
      </p:sp>
      <p:sp>
        <p:nvSpPr>
          <p:cNvPr id="15371" name="TextBox 1"/>
          <p:cNvSpPr txBox="1">
            <a:spLocks noChangeArrowheads="1"/>
          </p:cNvSpPr>
          <p:nvPr/>
        </p:nvSpPr>
        <p:spPr bwMode="auto">
          <a:xfrm>
            <a:off x="3962400" y="3271838"/>
            <a:ext cx="914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Up Move</a:t>
            </a:r>
            <a:endParaRPr lang="en-US" altLang="en-US" sz="1800"/>
          </a:p>
        </p:txBody>
      </p:sp>
      <p:sp>
        <p:nvSpPr>
          <p:cNvPr id="15372" name="TextBox 2"/>
          <p:cNvSpPr txBox="1">
            <a:spLocks noChangeArrowheads="1"/>
          </p:cNvSpPr>
          <p:nvPr/>
        </p:nvSpPr>
        <p:spPr bwMode="auto">
          <a:xfrm>
            <a:off x="4038600" y="4851400"/>
            <a:ext cx="83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Down Move</a:t>
            </a:r>
            <a:endParaRPr lang="en-US" altLang="en-US" sz="180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title"/>
          </p:nvPr>
        </p:nvSpPr>
        <p:spPr>
          <a:xfrm>
            <a:off x="381000" y="838200"/>
            <a:ext cx="7239000" cy="762000"/>
          </a:xfrm>
        </p:spPr>
        <p:txBody>
          <a:bodyPr lIns="92075" tIns="46038" rIns="92075" bIns="46038"/>
          <a:lstStyle/>
          <a:p>
            <a:pPr eaLnBrk="1" hangingPunct="1"/>
            <a:r>
              <a:rPr lang="en-US" altLang="en-US" smtClean="0"/>
              <a:t>Setting Up a Riskless Portfolio</a:t>
            </a:r>
          </a:p>
        </p:txBody>
      </p:sp>
      <p:sp>
        <p:nvSpPr>
          <p:cNvPr id="16387" name="Rectangle 2"/>
          <p:cNvSpPr>
            <a:spLocks noGrp="1" noChangeArrowheads="1"/>
          </p:cNvSpPr>
          <p:nvPr>
            <p:ph idx="1"/>
          </p:nvPr>
        </p:nvSpPr>
        <p:spPr>
          <a:xfrm>
            <a:off x="838200" y="1828800"/>
            <a:ext cx="6858000" cy="3124200"/>
          </a:xfrm>
        </p:spPr>
        <p:txBody>
          <a:bodyPr lIns="92075" tIns="46038" rIns="92075" bIns="46038"/>
          <a:lstStyle/>
          <a:p>
            <a:pPr eaLnBrk="1" hangingPunct="1">
              <a:lnSpc>
                <a:spcPct val="90000"/>
              </a:lnSpc>
            </a:pPr>
            <a:r>
              <a:rPr lang="en-US" altLang="en-US" sz="2400" smtClean="0">
                <a:cs typeface="Arial" panose="020B0604020202020204" pitchFamily="34" charset="0"/>
              </a:rPr>
              <a:t>For a  portfolio that is long </a:t>
            </a:r>
            <a:r>
              <a:rPr lang="en-US" altLang="en-US" sz="2400" smtClean="0">
                <a:latin typeface="Symbol" panose="05050102010706020507" pitchFamily="18" charset="2"/>
                <a:cs typeface="Arial" panose="020B0604020202020204" pitchFamily="34" charset="0"/>
              </a:rPr>
              <a:t>D</a:t>
            </a:r>
            <a:r>
              <a:rPr lang="en-US" altLang="en-US" sz="2400" smtClean="0">
                <a:cs typeface="Arial" panose="020B0604020202020204" pitchFamily="34" charset="0"/>
              </a:rPr>
              <a:t> shares and a short 1 call option values are																																								</a:t>
            </a:r>
          </a:p>
          <a:p>
            <a:pPr eaLnBrk="1" hangingPunct="1">
              <a:lnSpc>
                <a:spcPct val="90000"/>
              </a:lnSpc>
              <a:buFont typeface="Wingdings" panose="05000000000000000000" pitchFamily="2" charset="2"/>
              <a:buNone/>
            </a:pPr>
            <a:endParaRPr lang="en-US" altLang="en-US" smtClean="0">
              <a:cs typeface="Arial" panose="020B0604020202020204" pitchFamily="34" charset="0"/>
            </a:endParaRPr>
          </a:p>
          <a:p>
            <a:pPr eaLnBrk="1" hangingPunct="1">
              <a:lnSpc>
                <a:spcPct val="90000"/>
              </a:lnSpc>
            </a:pPr>
            <a:r>
              <a:rPr lang="en-US" altLang="en-US" smtClean="0">
                <a:cs typeface="Arial" panose="020B0604020202020204" pitchFamily="34" charset="0"/>
              </a:rPr>
              <a:t>Portfolio is riskless when  22</a:t>
            </a:r>
            <a:r>
              <a:rPr lang="en-US" altLang="en-US" smtClean="0">
                <a:latin typeface="Symbol" panose="05050102010706020507" pitchFamily="18" charset="2"/>
                <a:cs typeface="Arial" panose="020B0604020202020204" pitchFamily="34" charset="0"/>
              </a:rPr>
              <a:t>D </a:t>
            </a:r>
            <a:r>
              <a:rPr lang="en-US" altLang="en-US" smtClean="0">
                <a:cs typeface="Arial" panose="020B0604020202020204" pitchFamily="34" charset="0"/>
              </a:rPr>
              <a:t>– 1 = 18</a:t>
            </a:r>
            <a:r>
              <a:rPr lang="en-US" altLang="en-US" smtClean="0">
                <a:latin typeface="Symbol" panose="05050102010706020507" pitchFamily="18" charset="2"/>
                <a:cs typeface="Arial" panose="020B0604020202020204" pitchFamily="34" charset="0"/>
              </a:rPr>
              <a:t>D</a:t>
            </a:r>
            <a:r>
              <a:rPr lang="en-US" altLang="en-US" smtClean="0">
                <a:cs typeface="Arial" panose="020B0604020202020204" pitchFamily="34" charset="0"/>
              </a:rPr>
              <a:t>  or  </a:t>
            </a:r>
            <a:r>
              <a:rPr lang="en-US" altLang="en-US" smtClean="0">
                <a:latin typeface="Symbol" panose="05050102010706020507" pitchFamily="18" charset="2"/>
                <a:cs typeface="Arial" panose="020B0604020202020204" pitchFamily="34" charset="0"/>
              </a:rPr>
              <a:t>D</a:t>
            </a:r>
            <a:r>
              <a:rPr lang="en-US" altLang="en-US" smtClean="0">
                <a:cs typeface="Arial" panose="020B0604020202020204" pitchFamily="34" charset="0"/>
              </a:rPr>
              <a:t> = 0.25</a:t>
            </a:r>
          </a:p>
        </p:txBody>
      </p:sp>
      <p:sp>
        <p:nvSpPr>
          <p:cNvPr id="1638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163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328D235-24D4-4481-B946-2C26E3C54ADE}" type="slidenum">
              <a:rPr lang="en-US" altLang="en-US" sz="1800"/>
              <a:pPr eaLnBrk="1" hangingPunct="1">
                <a:spcBef>
                  <a:spcPct val="0"/>
                </a:spcBef>
                <a:buClrTx/>
                <a:buSzTx/>
                <a:buFontTx/>
                <a:buNone/>
              </a:pPr>
              <a:t>4</a:t>
            </a:fld>
            <a:endParaRPr lang="en-US" altLang="en-US" sz="1800"/>
          </a:p>
        </p:txBody>
      </p:sp>
      <p:grpSp>
        <p:nvGrpSpPr>
          <p:cNvPr id="16390" name="Group 8"/>
          <p:cNvGrpSpPr>
            <a:grpSpLocks/>
          </p:cNvGrpSpPr>
          <p:nvPr/>
        </p:nvGrpSpPr>
        <p:grpSpPr bwMode="auto">
          <a:xfrm>
            <a:off x="2057400" y="2803525"/>
            <a:ext cx="4191000" cy="1654175"/>
            <a:chOff x="1563" y="1766"/>
            <a:chExt cx="2634" cy="1042"/>
          </a:xfrm>
        </p:grpSpPr>
        <p:sp>
          <p:nvSpPr>
            <p:cNvPr id="16393" name="Line 3"/>
            <p:cNvSpPr>
              <a:spLocks noChangeShapeType="1"/>
            </p:cNvSpPr>
            <p:nvPr/>
          </p:nvSpPr>
          <p:spPr bwMode="auto">
            <a:xfrm>
              <a:off x="2197" y="2240"/>
              <a:ext cx="1263" cy="40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6394" name="Rectangle 4"/>
            <p:cNvSpPr>
              <a:spLocks noChangeArrowheads="1"/>
            </p:cNvSpPr>
            <p:nvPr/>
          </p:nvSpPr>
          <p:spPr bwMode="auto">
            <a:xfrm>
              <a:off x="3435" y="1766"/>
              <a:ext cx="7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t>22</a:t>
              </a:r>
              <a:r>
                <a:rPr lang="en-US" altLang="en-US" sz="2400">
                  <a:latin typeface="Symbol" panose="05050102010706020507" pitchFamily="18" charset="2"/>
                </a:rPr>
                <a:t>D </a:t>
              </a:r>
              <a:r>
                <a:rPr lang="en-US" altLang="en-US" sz="2400"/>
                <a:t>– 1</a:t>
              </a:r>
            </a:p>
          </p:txBody>
        </p:sp>
        <p:sp>
          <p:nvSpPr>
            <p:cNvPr id="16395" name="Rectangle 5"/>
            <p:cNvSpPr>
              <a:spLocks noChangeArrowheads="1"/>
            </p:cNvSpPr>
            <p:nvPr/>
          </p:nvSpPr>
          <p:spPr bwMode="auto">
            <a:xfrm>
              <a:off x="3435" y="2520"/>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t>18</a:t>
              </a:r>
              <a:r>
                <a:rPr lang="en-US" altLang="en-US" sz="2400">
                  <a:latin typeface="Symbol" panose="05050102010706020507" pitchFamily="18" charset="2"/>
                </a:rPr>
                <a:t>D</a:t>
              </a:r>
            </a:p>
          </p:txBody>
        </p:sp>
        <p:sp>
          <p:nvSpPr>
            <p:cNvPr id="16396" name="Rectangle 6"/>
            <p:cNvSpPr>
              <a:spLocks noChangeArrowheads="1"/>
            </p:cNvSpPr>
            <p:nvPr/>
          </p:nvSpPr>
          <p:spPr bwMode="auto">
            <a:xfrm>
              <a:off x="1563" y="2136"/>
              <a:ext cx="73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6397" name="Line 7"/>
            <p:cNvSpPr>
              <a:spLocks noChangeShapeType="1"/>
            </p:cNvSpPr>
            <p:nvPr/>
          </p:nvSpPr>
          <p:spPr bwMode="auto">
            <a:xfrm flipV="1">
              <a:off x="2197" y="1837"/>
              <a:ext cx="1263" cy="40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16391" name="TextBox 1"/>
          <p:cNvSpPr txBox="1">
            <a:spLocks noChangeArrowheads="1"/>
          </p:cNvSpPr>
          <p:nvPr/>
        </p:nvSpPr>
        <p:spPr bwMode="auto">
          <a:xfrm>
            <a:off x="3581400" y="2622550"/>
            <a:ext cx="83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Up Move</a:t>
            </a:r>
            <a:endParaRPr lang="en-US" altLang="en-US" sz="1800"/>
          </a:p>
        </p:txBody>
      </p:sp>
      <p:sp>
        <p:nvSpPr>
          <p:cNvPr id="16392" name="TextBox 3"/>
          <p:cNvSpPr txBox="1">
            <a:spLocks noChangeArrowheads="1"/>
          </p:cNvSpPr>
          <p:nvPr/>
        </p:nvSpPr>
        <p:spPr bwMode="auto">
          <a:xfrm>
            <a:off x="3536950" y="3867150"/>
            <a:ext cx="106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Down Move</a:t>
            </a:r>
            <a:endParaRPr lang="en-US" altLang="en-US" sz="180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smtClean="0"/>
              <a:t>Valuing the Portfolio</a:t>
            </a:r>
            <a:br>
              <a:rPr lang="en-US" altLang="en-US" smtClean="0"/>
            </a:br>
            <a:r>
              <a:rPr lang="en-US" altLang="en-US" sz="3000" smtClean="0"/>
              <a:t>(Risk-Free Rate is 12%)</a:t>
            </a:r>
          </a:p>
        </p:txBody>
      </p:sp>
      <p:sp>
        <p:nvSpPr>
          <p:cNvPr id="22532" name="Rectangle 3"/>
          <p:cNvSpPr>
            <a:spLocks noGrp="1" noChangeArrowheads="1"/>
          </p:cNvSpPr>
          <p:nvPr>
            <p:ph type="body" idx="1"/>
          </p:nvPr>
        </p:nvSpPr>
        <p:spPr>
          <a:xfrm>
            <a:off x="487363" y="1765300"/>
            <a:ext cx="8169275" cy="4365625"/>
          </a:xfrm>
        </p:spPr>
        <p:txBody>
          <a:bodyPr lIns="92075" tIns="46038" rIns="92075" bIns="46038"/>
          <a:lstStyle/>
          <a:p>
            <a:pPr eaLnBrk="1" hangingPunct="1">
              <a:defRPr/>
            </a:pPr>
            <a:r>
              <a:rPr lang="en-US" dirty="0" smtClean="0"/>
              <a:t>The riskless portfolio is: </a:t>
            </a:r>
          </a:p>
          <a:p>
            <a:pPr eaLnBrk="1" hangingPunct="1">
              <a:buFont typeface="Wingdings" panose="05000000000000000000" pitchFamily="2" charset="2"/>
              <a:buNone/>
              <a:defRPr/>
            </a:pPr>
            <a:r>
              <a:rPr lang="en-US" dirty="0" smtClean="0"/>
              <a:t>			long 0.25 shares					short 1 call option</a:t>
            </a:r>
          </a:p>
          <a:p>
            <a:pPr eaLnBrk="1" hangingPunct="1">
              <a:defRPr/>
            </a:pPr>
            <a:r>
              <a:rPr lang="en-US" dirty="0" smtClean="0"/>
              <a:t>The value of the portfolio in 3 months is 			22 </a:t>
            </a:r>
            <a:r>
              <a:rPr lang="en-US" dirty="0" smtClean="0">
                <a:latin typeface="Symbol" pitchFamily="18" charset="2"/>
              </a:rPr>
              <a:t>´ </a:t>
            </a:r>
            <a:r>
              <a:rPr lang="en-US" dirty="0" smtClean="0"/>
              <a:t>0.25 – 1 = 4.50</a:t>
            </a:r>
          </a:p>
          <a:p>
            <a:pPr eaLnBrk="1" hangingPunct="1">
              <a:defRPr/>
            </a:pPr>
            <a:r>
              <a:rPr lang="en-US" dirty="0" smtClean="0"/>
              <a:t>The value of the portfolio today is 				4.5</a:t>
            </a:r>
            <a:r>
              <a:rPr lang="en-US" i="1" dirty="0" smtClean="0">
                <a:latin typeface="+mj-lt"/>
              </a:rPr>
              <a:t>e</a:t>
            </a:r>
            <a:r>
              <a:rPr lang="en-US" dirty="0" smtClean="0"/>
              <a:t> </a:t>
            </a:r>
            <a:r>
              <a:rPr lang="en-US" baseline="30000" dirty="0" smtClean="0"/>
              <a:t>– 0.12</a:t>
            </a:r>
            <a:r>
              <a:rPr lang="en-US" baseline="30000" dirty="0" smtClean="0">
                <a:latin typeface="Symbol" pitchFamily="18" charset="2"/>
              </a:rPr>
              <a:t>´</a:t>
            </a:r>
            <a:r>
              <a:rPr lang="en-US" baseline="30000" dirty="0" smtClean="0"/>
              <a:t>0.25 </a:t>
            </a:r>
            <a:r>
              <a:rPr lang="en-US" dirty="0" smtClean="0"/>
              <a:t>= 4.3670</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E61A2FD-93E9-4520-96CA-1763EC21BD59}" type="slidenum">
              <a:rPr lang="en-US" altLang="en-US" sz="1800"/>
              <a:pPr eaLnBrk="1" hangingPunct="1">
                <a:spcBef>
                  <a:spcPct val="0"/>
                </a:spcBef>
                <a:buClrTx/>
                <a:buSzTx/>
                <a:buFontTx/>
                <a:buNone/>
              </a:pPr>
              <a:t>5</a:t>
            </a:fld>
            <a:endParaRPr lang="en-US" altLang="en-US" sz="180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18435" name="Rectangle 2"/>
          <p:cNvSpPr>
            <a:spLocks noGrp="1" noChangeArrowheads="1"/>
          </p:cNvSpPr>
          <p:nvPr>
            <p:ph type="title"/>
          </p:nvPr>
        </p:nvSpPr>
        <p:spPr>
          <a:xfrm>
            <a:off x="457200" y="381000"/>
            <a:ext cx="8077200" cy="1066800"/>
          </a:xfrm>
          <a:noFill/>
        </p:spPr>
        <p:txBody>
          <a:bodyPr lIns="92075" tIns="46038" rIns="92075" bIns="46038" anchor="ctr"/>
          <a:lstStyle/>
          <a:p>
            <a:pPr eaLnBrk="1" hangingPunct="1"/>
            <a:r>
              <a:rPr lang="en-US" altLang="en-US" smtClean="0"/>
              <a:t>Valuing the Option</a:t>
            </a:r>
          </a:p>
        </p:txBody>
      </p:sp>
      <p:sp>
        <p:nvSpPr>
          <p:cNvPr id="18436" name="Rectangle 3"/>
          <p:cNvSpPr>
            <a:spLocks noGrp="1" noChangeArrowheads="1"/>
          </p:cNvSpPr>
          <p:nvPr>
            <p:ph type="body" idx="1"/>
          </p:nvPr>
        </p:nvSpPr>
        <p:spPr>
          <a:xfrm>
            <a:off x="1000125" y="1447800"/>
            <a:ext cx="7143750" cy="4572000"/>
          </a:xfrm>
          <a:noFill/>
        </p:spPr>
        <p:txBody>
          <a:bodyPr lIns="92075" tIns="46038" rIns="92075" bIns="46038"/>
          <a:lstStyle/>
          <a:p>
            <a:pPr eaLnBrk="1" hangingPunct="1"/>
            <a:r>
              <a:rPr lang="en-US" altLang="en-US" smtClean="0"/>
              <a:t>The portfolio that is </a:t>
            </a:r>
          </a:p>
          <a:p>
            <a:pPr eaLnBrk="1" hangingPunct="1">
              <a:buFont typeface="Wingdings" panose="05000000000000000000" pitchFamily="2" charset="2"/>
              <a:buNone/>
            </a:pPr>
            <a:r>
              <a:rPr lang="en-US" altLang="en-US" i="1" smtClean="0"/>
              <a:t>		</a:t>
            </a:r>
            <a:r>
              <a:rPr lang="en-US" altLang="en-US" smtClean="0"/>
              <a:t>long  0.25 shares				short  1 option			</a:t>
            </a:r>
          </a:p>
          <a:p>
            <a:pPr eaLnBrk="1" hangingPunct="1">
              <a:buFont typeface="Wingdings" panose="05000000000000000000" pitchFamily="2" charset="2"/>
              <a:buNone/>
            </a:pPr>
            <a:r>
              <a:rPr lang="en-US" altLang="en-US" smtClean="0"/>
              <a:t>   is worth 4.367</a:t>
            </a:r>
          </a:p>
          <a:p>
            <a:pPr eaLnBrk="1" hangingPunct="1"/>
            <a:r>
              <a:rPr lang="en-US" altLang="en-US" smtClean="0"/>
              <a:t>The value of the shares is  				5.000 (= 0.25 </a:t>
            </a:r>
            <a:r>
              <a:rPr lang="en-US" altLang="en-US" smtClean="0">
                <a:latin typeface="Symbol" panose="05050102010706020507" pitchFamily="18" charset="2"/>
              </a:rPr>
              <a:t>´ </a:t>
            </a:r>
            <a:r>
              <a:rPr lang="en-US" altLang="en-US" smtClean="0"/>
              <a:t>20 )</a:t>
            </a:r>
          </a:p>
          <a:p>
            <a:pPr eaLnBrk="1" hangingPunct="1"/>
            <a:r>
              <a:rPr lang="en-US" altLang="en-US" smtClean="0"/>
              <a:t>The value of the option is therefore  		0.633 (= 5.000 – 4.367 )</a:t>
            </a: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D895B336-A3A4-48A4-BEE9-E486F7054B68}" type="slidenum">
              <a:rPr lang="en-US" altLang="en-US" sz="1800"/>
              <a:pPr eaLnBrk="1" hangingPunct="1">
                <a:spcBef>
                  <a:spcPct val="0"/>
                </a:spcBef>
                <a:buClrTx/>
                <a:buSzTx/>
                <a:buFontTx/>
                <a:buNone/>
              </a:pPr>
              <a:t>6</a:t>
            </a:fld>
            <a:endParaRPr lang="en-US" altLang="en-US" sz="180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p:spPr>
        <p:txBody>
          <a:bodyPr lIns="92075" tIns="46038" rIns="92075" bIns="46038" anchor="ctr"/>
          <a:lstStyle/>
          <a:p>
            <a:pPr eaLnBrk="1" hangingPunct="1"/>
            <a:r>
              <a:rPr lang="en-US" altLang="en-US" smtClean="0"/>
              <a:t>Generalization </a:t>
            </a:r>
            <a:r>
              <a:rPr lang="en-US" altLang="en-US" sz="2000" smtClean="0"/>
              <a:t>(Figure 12.2, page 270)</a:t>
            </a:r>
          </a:p>
        </p:txBody>
      </p:sp>
      <p:sp>
        <p:nvSpPr>
          <p:cNvPr id="19459" name="Rectangle 3"/>
          <p:cNvSpPr>
            <a:spLocks noGrp="1" noChangeArrowheads="1"/>
          </p:cNvSpPr>
          <p:nvPr>
            <p:ph type="body" idx="1"/>
          </p:nvPr>
        </p:nvSpPr>
        <p:spPr>
          <a:xfrm>
            <a:off x="619125" y="1719263"/>
            <a:ext cx="7905750" cy="4411662"/>
          </a:xfrm>
          <a:noFill/>
        </p:spPr>
        <p:txBody>
          <a:bodyPr lIns="92075" tIns="46038" rIns="92075" bIns="46038"/>
          <a:lstStyle/>
          <a:p>
            <a:pPr eaLnBrk="1" hangingPunct="1">
              <a:buFont typeface="Wingdings" panose="05000000000000000000" pitchFamily="2" charset="2"/>
              <a:buNone/>
            </a:pPr>
            <a:r>
              <a:rPr lang="en-US" altLang="en-US" smtClean="0"/>
              <a:t>	A derivative lasts for time </a:t>
            </a:r>
            <a:r>
              <a:rPr lang="en-US" altLang="en-US" i="1" smtClean="0">
                <a:latin typeface="Times New Roman" panose="02020603050405020304" pitchFamily="18" charset="0"/>
              </a:rPr>
              <a:t>T</a:t>
            </a:r>
            <a:r>
              <a:rPr lang="en-US" altLang="en-US" smtClean="0"/>
              <a:t> and is dependent on a stock</a:t>
            </a:r>
          </a:p>
        </p:txBody>
      </p:sp>
      <p:grpSp>
        <p:nvGrpSpPr>
          <p:cNvPr id="19460" name="Group 9"/>
          <p:cNvGrpSpPr>
            <a:grpSpLocks/>
          </p:cNvGrpSpPr>
          <p:nvPr/>
        </p:nvGrpSpPr>
        <p:grpSpPr bwMode="auto">
          <a:xfrm>
            <a:off x="2133600" y="2941638"/>
            <a:ext cx="3094038" cy="2525712"/>
            <a:chOff x="2602" y="2285"/>
            <a:chExt cx="1949" cy="1591"/>
          </a:xfrm>
        </p:grpSpPr>
        <p:sp>
          <p:nvSpPr>
            <p:cNvPr id="19465" name="Line 4"/>
            <p:cNvSpPr>
              <a:spLocks noChangeShapeType="1"/>
            </p:cNvSpPr>
            <p:nvPr/>
          </p:nvSpPr>
          <p:spPr bwMode="auto">
            <a:xfrm flipV="1">
              <a:off x="2852" y="2612"/>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9466" name="Line 5"/>
            <p:cNvSpPr>
              <a:spLocks noChangeShapeType="1"/>
            </p:cNvSpPr>
            <p:nvPr/>
          </p:nvSpPr>
          <p:spPr bwMode="auto">
            <a:xfrm>
              <a:off x="2852" y="3072"/>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9467" name="Rectangle 6"/>
            <p:cNvSpPr>
              <a:spLocks noChangeArrowheads="1"/>
            </p:cNvSpPr>
            <p:nvPr/>
          </p:nvSpPr>
          <p:spPr bwMode="auto">
            <a:xfrm>
              <a:off x="4090" y="2285"/>
              <a:ext cx="461"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i="1">
                  <a:latin typeface="Times New Roman" panose="02020603050405020304" pitchFamily="18" charset="0"/>
                </a:rPr>
                <a:t>S</a:t>
              </a:r>
              <a:r>
                <a:rPr lang="en-US" altLang="en-US" baseline="-25000">
                  <a:latin typeface="Times New Roman" panose="02020603050405020304" pitchFamily="18" charset="0"/>
                </a:rPr>
                <a:t>0</a:t>
              </a:r>
              <a:r>
                <a:rPr lang="en-US" altLang="en-US" i="1">
                  <a:latin typeface="Times New Roman" panose="02020603050405020304" pitchFamily="18" charset="0"/>
                </a:rPr>
                <a:t>u</a:t>
              </a:r>
              <a:endParaRPr lang="en-US" altLang="en-US">
                <a:latin typeface="Times New Roman" panose="02020603050405020304" pitchFamily="18" charset="0"/>
              </a:endParaRPr>
            </a:p>
            <a:p>
              <a:pPr>
                <a:spcBef>
                  <a:spcPct val="0"/>
                </a:spcBef>
                <a:buClrTx/>
                <a:buSzTx/>
                <a:buFontTx/>
                <a:buNone/>
              </a:pPr>
              <a:r>
                <a:rPr lang="en-US" altLang="en-US">
                  <a:latin typeface="Times New Roman" panose="02020603050405020304" pitchFamily="18" charset="0"/>
                </a:rPr>
                <a:t> ƒ</a:t>
              </a:r>
              <a:r>
                <a:rPr lang="en-US" altLang="en-US" i="1" baseline="-25000">
                  <a:latin typeface="Times New Roman" panose="02020603050405020304" pitchFamily="18" charset="0"/>
                </a:rPr>
                <a:t>u</a:t>
              </a:r>
              <a:endParaRPr lang="en-US" altLang="en-US" i="1" baseline="-25000"/>
            </a:p>
          </p:txBody>
        </p:sp>
        <p:sp>
          <p:nvSpPr>
            <p:cNvPr id="19468" name="Rectangle 7"/>
            <p:cNvSpPr>
              <a:spLocks noChangeArrowheads="1"/>
            </p:cNvSpPr>
            <p:nvPr/>
          </p:nvSpPr>
          <p:spPr bwMode="auto">
            <a:xfrm>
              <a:off x="4090" y="3197"/>
              <a:ext cx="461"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i="1">
                  <a:latin typeface="Times New Roman" panose="02020603050405020304" pitchFamily="18" charset="0"/>
                </a:rPr>
                <a:t>S</a:t>
              </a:r>
              <a:r>
                <a:rPr lang="en-US" altLang="en-US" baseline="-25000">
                  <a:latin typeface="Times New Roman" panose="02020603050405020304" pitchFamily="18" charset="0"/>
                </a:rPr>
                <a:t>0</a:t>
              </a:r>
              <a:r>
                <a:rPr lang="en-US" altLang="en-US" i="1">
                  <a:latin typeface="Times New Roman" panose="02020603050405020304" pitchFamily="18" charset="0"/>
                </a:rPr>
                <a:t>d</a:t>
              </a:r>
            </a:p>
            <a:p>
              <a:pPr>
                <a:spcBef>
                  <a:spcPct val="0"/>
                </a:spcBef>
                <a:buClrTx/>
                <a:buSzTx/>
                <a:buFontTx/>
                <a:buNone/>
              </a:pPr>
              <a:r>
                <a:rPr lang="en-US" altLang="en-US">
                  <a:latin typeface="Times New Roman" panose="02020603050405020304" pitchFamily="18" charset="0"/>
                </a:rPr>
                <a:t> ƒ</a:t>
              </a:r>
              <a:r>
                <a:rPr lang="en-US" altLang="en-US" i="1" baseline="-25000">
                  <a:latin typeface="Times New Roman" panose="02020603050405020304" pitchFamily="18" charset="0"/>
                </a:rPr>
                <a:t>d</a:t>
              </a:r>
              <a:endParaRPr lang="en-US" altLang="en-US" i="1" baseline="-25000"/>
            </a:p>
          </p:txBody>
        </p:sp>
        <p:sp>
          <p:nvSpPr>
            <p:cNvPr id="19469" name="Rectangle 8"/>
            <p:cNvSpPr>
              <a:spLocks noChangeArrowheads="1"/>
            </p:cNvSpPr>
            <p:nvPr/>
          </p:nvSpPr>
          <p:spPr bwMode="auto">
            <a:xfrm>
              <a:off x="2602" y="2765"/>
              <a:ext cx="3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i="1">
                  <a:latin typeface="Times New Roman" panose="02020603050405020304" pitchFamily="18" charset="0"/>
                </a:rPr>
                <a:t>S</a:t>
              </a:r>
              <a:r>
                <a:rPr lang="en-US" altLang="en-US" baseline="-25000">
                  <a:latin typeface="Times New Roman" panose="02020603050405020304" pitchFamily="18" charset="0"/>
                </a:rPr>
                <a:t>0</a:t>
              </a:r>
              <a:endParaRPr lang="en-US" altLang="en-US">
                <a:latin typeface="Times New Roman" panose="02020603050405020304" pitchFamily="18" charset="0"/>
              </a:endParaRPr>
            </a:p>
            <a:p>
              <a:pPr>
                <a:spcBef>
                  <a:spcPct val="0"/>
                </a:spcBef>
                <a:buClrTx/>
                <a:buSzTx/>
                <a:buFontTx/>
                <a:buNone/>
              </a:pPr>
              <a:r>
                <a:rPr lang="en-US" altLang="en-US">
                  <a:latin typeface="Times New Roman" panose="02020603050405020304" pitchFamily="18" charset="0"/>
                </a:rPr>
                <a:t>ƒ</a:t>
              </a:r>
              <a:endParaRPr lang="en-US" altLang="en-US"/>
            </a:p>
          </p:txBody>
        </p:sp>
      </p:grpSp>
      <p:sp>
        <p:nvSpPr>
          <p:cNvPr id="19461" name="Slide Number Placeholder 1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240F95C8-6F47-4BCF-B770-187B2F2C64F4}" type="slidenum">
              <a:rPr lang="en-US" altLang="en-US" sz="1800"/>
              <a:pPr eaLnBrk="1" hangingPunct="1">
                <a:spcBef>
                  <a:spcPct val="0"/>
                </a:spcBef>
                <a:buClrTx/>
                <a:buSzTx/>
                <a:buFontTx/>
                <a:buNone/>
              </a:pPr>
              <a:t>7</a:t>
            </a:fld>
            <a:endParaRPr lang="en-US" altLang="en-US" sz="1800"/>
          </a:p>
        </p:txBody>
      </p:sp>
      <p:sp>
        <p:nvSpPr>
          <p:cNvPr id="19462" name="TextBox 1"/>
          <p:cNvSpPr txBox="1">
            <a:spLocks noChangeArrowheads="1"/>
          </p:cNvSpPr>
          <p:nvPr/>
        </p:nvSpPr>
        <p:spPr bwMode="auto">
          <a:xfrm>
            <a:off x="3113088" y="3136900"/>
            <a:ext cx="83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Up Move</a:t>
            </a:r>
            <a:endParaRPr lang="en-US" altLang="en-US" sz="1800"/>
          </a:p>
        </p:txBody>
      </p:sp>
      <p:sp>
        <p:nvSpPr>
          <p:cNvPr id="19463" name="TextBox 2"/>
          <p:cNvSpPr txBox="1">
            <a:spLocks noChangeArrowheads="1"/>
          </p:cNvSpPr>
          <p:nvPr/>
        </p:nvSpPr>
        <p:spPr bwMode="auto">
          <a:xfrm>
            <a:off x="3113088" y="4613275"/>
            <a:ext cx="83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Down Move</a:t>
            </a:r>
            <a:endParaRPr lang="en-US" altLang="en-US" sz="1800"/>
          </a:p>
        </p:txBody>
      </p:sp>
      <p:sp>
        <p:nvSpPr>
          <p:cNvPr id="19464"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12, Copyright © John C. Hull 2016</a:t>
            </a:r>
            <a:endParaRPr lang="en-US" altLang="en-US" i="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152400"/>
            <a:ext cx="7772400" cy="1050925"/>
          </a:xfrm>
        </p:spPr>
        <p:txBody>
          <a:bodyPr lIns="92075" tIns="46038" rIns="92075" bIns="46038"/>
          <a:lstStyle/>
          <a:p>
            <a:pPr eaLnBrk="1" hangingPunct="1"/>
            <a:r>
              <a:rPr lang="en-US" altLang="en-US" smtClean="0"/>
              <a:t>Generalization </a:t>
            </a:r>
            <a:r>
              <a:rPr lang="en-US" altLang="en-US" sz="2600" smtClean="0"/>
              <a:t>(continued)</a:t>
            </a:r>
          </a:p>
        </p:txBody>
      </p:sp>
      <p:sp>
        <p:nvSpPr>
          <p:cNvPr id="1028" name="Rectangle 3"/>
          <p:cNvSpPr>
            <a:spLocks noGrp="1" noChangeArrowheads="1"/>
          </p:cNvSpPr>
          <p:nvPr>
            <p:ph idx="1"/>
          </p:nvPr>
        </p:nvSpPr>
        <p:spPr>
          <a:xfrm>
            <a:off x="457200" y="1395413"/>
            <a:ext cx="8229600" cy="4410075"/>
          </a:xfrm>
        </p:spPr>
        <p:txBody>
          <a:bodyPr lIns="92075" tIns="46038" rIns="92075" bIns="46038"/>
          <a:lstStyle/>
          <a:p>
            <a:pPr eaLnBrk="1" hangingPunct="1">
              <a:defRPr/>
            </a:pPr>
            <a:r>
              <a:rPr lang="en-US" sz="2400" dirty="0" smtClean="0">
                <a:cs typeface="Arial" charset="0"/>
              </a:rPr>
              <a:t>Value of a portfolio that is long </a:t>
            </a:r>
            <a:r>
              <a:rPr lang="en-US" sz="2400" dirty="0" smtClean="0">
                <a:latin typeface="Symbol" pitchFamily="18" charset="2"/>
                <a:cs typeface="Arial" charset="0"/>
              </a:rPr>
              <a:t>D</a:t>
            </a:r>
            <a:r>
              <a:rPr lang="en-US" sz="2400" dirty="0" smtClean="0">
                <a:cs typeface="Arial" charset="0"/>
              </a:rPr>
              <a:t> shares and short 1 derivative:																							</a:t>
            </a:r>
          </a:p>
          <a:p>
            <a:pPr eaLnBrk="1" hangingPunct="1">
              <a:buFontTx/>
              <a:buNone/>
              <a:defRPr/>
            </a:pPr>
            <a:endParaRPr lang="en-US" sz="2400" dirty="0" smtClean="0">
              <a:cs typeface="Arial" charset="0"/>
            </a:endParaRPr>
          </a:p>
          <a:p>
            <a:pPr marL="0" indent="0" eaLnBrk="1" hangingPunct="1">
              <a:buFont typeface="Wingdings" panose="05000000000000000000" pitchFamily="2" charset="2"/>
              <a:buNone/>
              <a:defRPr/>
            </a:pPr>
            <a:endParaRPr lang="en-CA" sz="2400" dirty="0" smtClean="0">
              <a:cs typeface="Arial" charset="0"/>
            </a:endParaRPr>
          </a:p>
          <a:p>
            <a:pPr marL="0" indent="0" eaLnBrk="1" hangingPunct="1">
              <a:buFont typeface="Wingdings" panose="05000000000000000000" pitchFamily="2" charset="2"/>
              <a:buNone/>
              <a:defRPr/>
            </a:pPr>
            <a:endParaRPr lang="en-CA" sz="2400" dirty="0">
              <a:cs typeface="Arial" charset="0"/>
            </a:endParaRPr>
          </a:p>
          <a:p>
            <a:pPr marL="0" indent="0" eaLnBrk="1" hangingPunct="1">
              <a:buFont typeface="Wingdings" panose="05000000000000000000" pitchFamily="2" charset="2"/>
              <a:buNone/>
              <a:defRPr/>
            </a:pPr>
            <a:endParaRPr lang="en-US" sz="2400" dirty="0" smtClean="0">
              <a:cs typeface="Arial" charset="0"/>
            </a:endParaRPr>
          </a:p>
          <a:p>
            <a:pPr eaLnBrk="1" hangingPunct="1">
              <a:defRPr/>
            </a:pPr>
            <a:r>
              <a:rPr lang="en-US" sz="2400" dirty="0" smtClean="0">
                <a:cs typeface="Arial" charset="0"/>
              </a:rPr>
              <a:t>The portfolio is riskless when </a:t>
            </a:r>
            <a:r>
              <a:rPr lang="en-US" sz="2400" i="1" dirty="0" smtClean="0">
                <a:latin typeface="Times New Roman" pitchFamily="18" charset="0"/>
                <a:cs typeface="Arial" charset="0"/>
              </a:rPr>
              <a:t>S</a:t>
            </a:r>
            <a:r>
              <a:rPr lang="en-CA" sz="2400" baseline="-25000" dirty="0" smtClean="0">
                <a:latin typeface="Times New Roman" pitchFamily="18" charset="0"/>
                <a:cs typeface="Arial" charset="0"/>
              </a:rPr>
              <a:t>0</a:t>
            </a:r>
            <a:r>
              <a:rPr lang="en-US" sz="2400" i="1" dirty="0" err="1" smtClean="0">
                <a:latin typeface="Times New Roman" pitchFamily="18" charset="0"/>
                <a:cs typeface="Arial" charset="0"/>
              </a:rPr>
              <a:t>u</a:t>
            </a:r>
            <a:r>
              <a:rPr lang="en-US" sz="2400" dirty="0" err="1" smtClean="0">
                <a:latin typeface="Symbol" pitchFamily="18" charset="2"/>
                <a:cs typeface="Arial" charset="0"/>
              </a:rPr>
              <a:t>D</a:t>
            </a:r>
            <a:r>
              <a:rPr lang="en-US" sz="2400" dirty="0" smtClean="0">
                <a:latin typeface="Symbol" pitchFamily="18" charset="2"/>
                <a:cs typeface="Arial" charset="0"/>
              </a:rPr>
              <a:t> </a:t>
            </a:r>
            <a:r>
              <a:rPr lang="en-US" sz="2400" dirty="0" smtClean="0">
                <a:cs typeface="Arial" charset="0"/>
              </a:rPr>
              <a:t>– </a:t>
            </a:r>
            <a:r>
              <a:rPr lang="en-US" sz="2400" dirty="0" err="1" smtClean="0">
                <a:latin typeface="Times New Roman" pitchFamily="18" charset="0"/>
                <a:cs typeface="Arial" charset="0"/>
              </a:rPr>
              <a:t>ƒ</a:t>
            </a:r>
            <a:r>
              <a:rPr lang="en-US" sz="2400" i="1" baseline="-25000" dirty="0" err="1" smtClean="0">
                <a:latin typeface="Times New Roman" pitchFamily="18" charset="0"/>
                <a:cs typeface="Arial" charset="0"/>
              </a:rPr>
              <a:t>u</a:t>
            </a:r>
            <a:r>
              <a:rPr lang="en-US" sz="2400" i="1" baseline="-25000" dirty="0" smtClean="0">
                <a:latin typeface="Times New Roman" pitchFamily="18" charset="0"/>
                <a:cs typeface="Arial" charset="0"/>
              </a:rPr>
              <a:t> </a:t>
            </a:r>
            <a:r>
              <a:rPr lang="en-US" sz="2400" dirty="0" smtClean="0">
                <a:cs typeface="Arial" charset="0"/>
              </a:rPr>
              <a:t>= </a:t>
            </a:r>
            <a:r>
              <a:rPr lang="en-US" sz="2400" i="1" dirty="0" smtClean="0">
                <a:latin typeface="Times New Roman" pitchFamily="18" charset="0"/>
                <a:cs typeface="Arial" charset="0"/>
              </a:rPr>
              <a:t>S</a:t>
            </a:r>
            <a:r>
              <a:rPr lang="en-CA" sz="2400" baseline="-25000" dirty="0" smtClean="0">
                <a:latin typeface="Times New Roman" pitchFamily="18" charset="0"/>
                <a:cs typeface="Arial" charset="0"/>
              </a:rPr>
              <a:t>0</a:t>
            </a:r>
            <a:r>
              <a:rPr lang="en-US" sz="2400" i="1" dirty="0" err="1" smtClean="0">
                <a:latin typeface="Times New Roman" pitchFamily="18" charset="0"/>
                <a:cs typeface="Arial" charset="0"/>
              </a:rPr>
              <a:t>d</a:t>
            </a:r>
            <a:r>
              <a:rPr lang="en-US" sz="2400" dirty="0" err="1" smtClean="0">
                <a:latin typeface="Symbol" pitchFamily="18" charset="2"/>
                <a:cs typeface="Arial" charset="0"/>
              </a:rPr>
              <a:t>D</a:t>
            </a:r>
            <a:r>
              <a:rPr lang="en-US" sz="2400" dirty="0" smtClean="0">
                <a:latin typeface="Symbol" pitchFamily="18" charset="2"/>
                <a:cs typeface="Arial" charset="0"/>
              </a:rPr>
              <a:t> </a:t>
            </a:r>
            <a:r>
              <a:rPr lang="en-US" sz="2400" dirty="0" smtClean="0">
                <a:cs typeface="Arial" charset="0"/>
              </a:rPr>
              <a:t>– </a:t>
            </a:r>
            <a:r>
              <a:rPr lang="en-US" sz="2400" dirty="0" err="1" smtClean="0">
                <a:latin typeface="Times New Roman" pitchFamily="18" charset="0"/>
                <a:cs typeface="Arial" charset="0"/>
              </a:rPr>
              <a:t>ƒ</a:t>
            </a:r>
            <a:r>
              <a:rPr lang="en-US" sz="2400" i="1" baseline="-25000" dirty="0" err="1" smtClean="0">
                <a:latin typeface="Times New Roman" pitchFamily="18" charset="0"/>
                <a:cs typeface="Arial" charset="0"/>
              </a:rPr>
              <a:t>d</a:t>
            </a:r>
            <a:r>
              <a:rPr lang="en-US" sz="2400" dirty="0" smtClean="0">
                <a:cs typeface="Arial" charset="0"/>
              </a:rPr>
              <a:t>  or</a:t>
            </a: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0B017D7-FEDF-4E50-AABC-F0E8A6F7DC9F}" type="slidenum">
              <a:rPr lang="en-US" altLang="en-US" sz="1800"/>
              <a:pPr eaLnBrk="1" hangingPunct="1">
                <a:spcBef>
                  <a:spcPct val="0"/>
                </a:spcBef>
                <a:buClrTx/>
                <a:buSzTx/>
                <a:buFontTx/>
                <a:buNone/>
              </a:pPr>
              <a:t>8</a:t>
            </a:fld>
            <a:endParaRPr lang="en-US" altLang="en-US" sz="1800"/>
          </a:p>
        </p:txBody>
      </p:sp>
      <p:graphicFrame>
        <p:nvGraphicFramePr>
          <p:cNvPr id="20486" name="Object 0"/>
          <p:cNvGraphicFramePr>
            <a:graphicFrameLocks/>
          </p:cNvGraphicFramePr>
          <p:nvPr/>
        </p:nvGraphicFramePr>
        <p:xfrm>
          <a:off x="3328988" y="5091113"/>
          <a:ext cx="2295525" cy="1019175"/>
        </p:xfrm>
        <a:graphic>
          <a:graphicData uri="http://schemas.openxmlformats.org/presentationml/2006/ole">
            <mc:AlternateContent xmlns:mc="http://schemas.openxmlformats.org/markup-compatibility/2006">
              <mc:Choice xmlns:v="urn:schemas-microsoft-com:vml" Requires="v">
                <p:oleObj spid="_x0000_s20494" name="Equation" r:id="rId4" imgW="952087" imgH="444307" progId="Equation.3">
                  <p:embed/>
                </p:oleObj>
              </mc:Choice>
              <mc:Fallback>
                <p:oleObj name="Equation" r:id="rId4" imgW="952087" imgH="444307" progId="Equation.3">
                  <p:embed/>
                  <p:pic>
                    <p:nvPicPr>
                      <p:cNvPr id="0" name="Object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8988" y="5091113"/>
                        <a:ext cx="229552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7" name="Line 5"/>
          <p:cNvSpPr>
            <a:spLocks noChangeShapeType="1"/>
          </p:cNvSpPr>
          <p:nvPr/>
        </p:nvSpPr>
        <p:spPr bwMode="auto">
          <a:xfrm>
            <a:off x="2819400" y="3352800"/>
            <a:ext cx="2124075"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88" name="Rectangle 6"/>
          <p:cNvSpPr>
            <a:spLocks noChangeArrowheads="1"/>
          </p:cNvSpPr>
          <p:nvPr/>
        </p:nvSpPr>
        <p:spPr bwMode="auto">
          <a:xfrm>
            <a:off x="4984750" y="2286000"/>
            <a:ext cx="167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i="1">
                <a:latin typeface="Times New Roman" panose="02020603050405020304" pitchFamily="18" charset="0"/>
              </a:rPr>
              <a:t>S</a:t>
            </a:r>
            <a:r>
              <a:rPr lang="en-CA" altLang="en-US" sz="2400" baseline="-25000">
                <a:latin typeface="Times New Roman" panose="02020603050405020304" pitchFamily="18" charset="0"/>
              </a:rPr>
              <a:t>0</a:t>
            </a:r>
            <a:r>
              <a:rPr lang="en-US" altLang="en-US" sz="2400" i="1">
                <a:latin typeface="Times New Roman" panose="02020603050405020304" pitchFamily="18" charset="0"/>
              </a:rPr>
              <a:t>u</a:t>
            </a:r>
            <a:r>
              <a:rPr lang="en-US" altLang="en-US" sz="2400">
                <a:latin typeface="Symbol" panose="05050102010706020507" pitchFamily="18" charset="2"/>
              </a:rPr>
              <a:t>D </a:t>
            </a:r>
            <a:r>
              <a:rPr lang="en-US" altLang="en-US" sz="2400"/>
              <a:t>– </a:t>
            </a:r>
            <a:r>
              <a:rPr lang="en-US" altLang="en-US" sz="2400">
                <a:latin typeface="Times New Roman" panose="02020603050405020304" pitchFamily="18" charset="0"/>
              </a:rPr>
              <a:t>ƒ</a:t>
            </a:r>
            <a:r>
              <a:rPr lang="en-US" altLang="en-US" sz="2400" i="1" baseline="-25000">
                <a:latin typeface="Times New Roman" panose="02020603050405020304" pitchFamily="18" charset="0"/>
              </a:rPr>
              <a:t>u</a:t>
            </a:r>
          </a:p>
        </p:txBody>
      </p:sp>
      <p:sp>
        <p:nvSpPr>
          <p:cNvPr id="20489" name="Rectangle 7"/>
          <p:cNvSpPr>
            <a:spLocks noChangeArrowheads="1"/>
          </p:cNvSpPr>
          <p:nvPr/>
        </p:nvSpPr>
        <p:spPr bwMode="auto">
          <a:xfrm>
            <a:off x="4943475" y="3856038"/>
            <a:ext cx="184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i="1">
                <a:latin typeface="Times New Roman" panose="02020603050405020304" pitchFamily="18" charset="0"/>
              </a:rPr>
              <a:t>S</a:t>
            </a:r>
            <a:r>
              <a:rPr lang="en-CA" altLang="en-US" sz="2400" baseline="-25000">
                <a:latin typeface="Times New Roman" panose="02020603050405020304" pitchFamily="18" charset="0"/>
              </a:rPr>
              <a:t>0</a:t>
            </a:r>
            <a:r>
              <a:rPr lang="en-US" altLang="en-US" sz="2400" i="1">
                <a:latin typeface="Times New Roman" panose="02020603050405020304" pitchFamily="18" charset="0"/>
              </a:rPr>
              <a:t>d</a:t>
            </a:r>
            <a:r>
              <a:rPr lang="en-US" altLang="en-US" sz="2400">
                <a:latin typeface="Symbol" panose="05050102010706020507" pitchFamily="18" charset="2"/>
              </a:rPr>
              <a:t>D </a:t>
            </a:r>
            <a:r>
              <a:rPr lang="en-US" altLang="en-US" sz="2400"/>
              <a:t>– </a:t>
            </a:r>
            <a:r>
              <a:rPr lang="en-US" altLang="en-US" sz="2400">
                <a:latin typeface="Times New Roman" panose="02020603050405020304" pitchFamily="18" charset="0"/>
              </a:rPr>
              <a:t>ƒ</a:t>
            </a:r>
            <a:r>
              <a:rPr lang="en-US" altLang="en-US" sz="2400" i="1" baseline="-25000">
                <a:latin typeface="Times New Roman" panose="02020603050405020304" pitchFamily="18" charset="0"/>
              </a:rPr>
              <a:t>d</a:t>
            </a:r>
          </a:p>
        </p:txBody>
      </p:sp>
      <p:sp>
        <p:nvSpPr>
          <p:cNvPr id="20490" name="Rectangle 8"/>
          <p:cNvSpPr>
            <a:spLocks noChangeArrowheads="1"/>
          </p:cNvSpPr>
          <p:nvPr/>
        </p:nvSpPr>
        <p:spPr bwMode="auto">
          <a:xfrm>
            <a:off x="2292350" y="3371850"/>
            <a:ext cx="115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0491" name="Line 9"/>
          <p:cNvSpPr>
            <a:spLocks noChangeShapeType="1"/>
          </p:cNvSpPr>
          <p:nvPr/>
        </p:nvSpPr>
        <p:spPr bwMode="auto">
          <a:xfrm flipV="1">
            <a:off x="2841625" y="2514600"/>
            <a:ext cx="2101850" cy="8572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0492" name="TextBox 1"/>
          <p:cNvSpPr txBox="1">
            <a:spLocks noChangeArrowheads="1"/>
          </p:cNvSpPr>
          <p:nvPr/>
        </p:nvSpPr>
        <p:spPr bwMode="auto">
          <a:xfrm>
            <a:off x="3435350" y="2286000"/>
            <a:ext cx="892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Up Move</a:t>
            </a:r>
            <a:endParaRPr lang="en-US" altLang="en-US" sz="1800"/>
          </a:p>
        </p:txBody>
      </p:sp>
      <p:sp>
        <p:nvSpPr>
          <p:cNvPr id="20493" name="TextBox 12"/>
          <p:cNvSpPr txBox="1">
            <a:spLocks noChangeArrowheads="1"/>
          </p:cNvSpPr>
          <p:nvPr/>
        </p:nvSpPr>
        <p:spPr bwMode="auto">
          <a:xfrm>
            <a:off x="3446463" y="3829050"/>
            <a:ext cx="892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Down Move</a:t>
            </a:r>
            <a:endParaRPr lang="en-US" altLang="en-US" sz="180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530225"/>
            <a:ext cx="7772400" cy="1143000"/>
          </a:xfrm>
          <a:noFill/>
        </p:spPr>
        <p:txBody>
          <a:bodyPr lIns="92075" tIns="46038" rIns="92075" bIns="46038" anchor="ctr"/>
          <a:lstStyle/>
          <a:p>
            <a:pPr eaLnBrk="1" hangingPunct="1"/>
            <a:r>
              <a:rPr lang="en-US" altLang="en-US" smtClean="0"/>
              <a:t>Generalization</a:t>
            </a:r>
            <a:br>
              <a:rPr lang="en-US" altLang="en-US" smtClean="0"/>
            </a:br>
            <a:r>
              <a:rPr lang="en-US" altLang="en-US" sz="2600" smtClean="0"/>
              <a:t>(continued)</a:t>
            </a:r>
          </a:p>
        </p:txBody>
      </p:sp>
      <p:sp>
        <p:nvSpPr>
          <p:cNvPr id="21507" name="Rectangle 3"/>
          <p:cNvSpPr>
            <a:spLocks noGrp="1" noChangeArrowheads="1"/>
          </p:cNvSpPr>
          <p:nvPr>
            <p:ph type="body" idx="1"/>
          </p:nvPr>
        </p:nvSpPr>
        <p:spPr>
          <a:xfrm>
            <a:off x="1401763" y="1790700"/>
            <a:ext cx="6342062" cy="4368800"/>
          </a:xfrm>
          <a:noFill/>
        </p:spPr>
        <p:txBody>
          <a:bodyPr lIns="92075" tIns="46038" rIns="92075" bIns="46038"/>
          <a:lstStyle/>
          <a:p>
            <a:pPr eaLnBrk="1" hangingPunct="1"/>
            <a:r>
              <a:rPr lang="en-US" altLang="en-US" smtClean="0"/>
              <a:t>Value of the portfolio at time </a:t>
            </a:r>
            <a:r>
              <a:rPr lang="en-US" altLang="en-US" i="1" smtClean="0">
                <a:latin typeface="Times New Roman" panose="02020603050405020304" pitchFamily="18" charset="0"/>
              </a:rPr>
              <a:t>T</a:t>
            </a:r>
            <a:r>
              <a:rPr lang="en-US" altLang="en-US" smtClean="0">
                <a:latin typeface="Times New Roman" panose="02020603050405020304" pitchFamily="18" charset="0"/>
              </a:rPr>
              <a:t> </a:t>
            </a:r>
            <a:r>
              <a:rPr lang="en-US" altLang="en-US" smtClean="0"/>
              <a:t>is 	</a:t>
            </a:r>
            <a:r>
              <a:rPr lang="en-US" altLang="en-US" i="1" smtClean="0">
                <a:latin typeface="Times New Roman" panose="02020603050405020304" pitchFamily="18" charset="0"/>
              </a:rPr>
              <a:t>S</a:t>
            </a:r>
            <a:r>
              <a:rPr lang="en-US" altLang="en-US" baseline="-25000" smtClean="0">
                <a:latin typeface="Times New Roman" panose="02020603050405020304" pitchFamily="18" charset="0"/>
              </a:rPr>
              <a:t>0</a:t>
            </a:r>
            <a:r>
              <a:rPr lang="en-US" altLang="en-US" i="1" smtClean="0">
                <a:latin typeface="Times New Roman" panose="02020603050405020304" pitchFamily="18" charset="0"/>
              </a:rPr>
              <a:t>u</a:t>
            </a:r>
            <a:r>
              <a:rPr lang="en-US" altLang="en-US" smtClean="0"/>
              <a:t> </a:t>
            </a:r>
            <a:r>
              <a:rPr lang="en-US" altLang="en-US" smtClean="0">
                <a:latin typeface="Symbol" panose="05050102010706020507" pitchFamily="18" charset="2"/>
              </a:rPr>
              <a:t>D </a:t>
            </a:r>
            <a:r>
              <a:rPr lang="en-US" altLang="en-US" smtClean="0"/>
              <a:t>– </a:t>
            </a:r>
            <a:r>
              <a:rPr lang="en-US" altLang="en-US" smtClean="0">
                <a:latin typeface="Times New Roman" panose="02020603050405020304" pitchFamily="18" charset="0"/>
              </a:rPr>
              <a:t>ƒ</a:t>
            </a:r>
            <a:r>
              <a:rPr lang="en-US" altLang="en-US" i="1" baseline="-25000" smtClean="0">
                <a:latin typeface="Times New Roman" panose="02020603050405020304" pitchFamily="18" charset="0"/>
              </a:rPr>
              <a:t>u</a:t>
            </a:r>
            <a:endParaRPr lang="en-US" altLang="en-US" smtClean="0"/>
          </a:p>
          <a:p>
            <a:pPr eaLnBrk="1" hangingPunct="1"/>
            <a:r>
              <a:rPr lang="en-US" altLang="en-US" smtClean="0"/>
              <a:t>Value of the portfolio today is 	  </a:t>
            </a:r>
            <a:r>
              <a:rPr lang="en-US" altLang="en-US" smtClean="0">
                <a:latin typeface="Times New Roman" panose="02020603050405020304" pitchFamily="18" charset="0"/>
              </a:rPr>
              <a:t>(</a:t>
            </a:r>
            <a:r>
              <a:rPr lang="en-US" altLang="en-US" i="1" smtClean="0">
                <a:latin typeface="Times New Roman" panose="02020603050405020304" pitchFamily="18" charset="0"/>
              </a:rPr>
              <a:t>S</a:t>
            </a:r>
            <a:r>
              <a:rPr lang="en-US" altLang="en-US" baseline="-25000" smtClean="0">
                <a:latin typeface="Times New Roman" panose="02020603050405020304" pitchFamily="18" charset="0"/>
              </a:rPr>
              <a:t>0</a:t>
            </a:r>
            <a:r>
              <a:rPr lang="en-US" altLang="en-US" i="1" smtClean="0">
                <a:latin typeface="Times New Roman" panose="02020603050405020304" pitchFamily="18" charset="0"/>
              </a:rPr>
              <a:t>u</a:t>
            </a:r>
            <a:r>
              <a:rPr lang="en-US" altLang="en-US" smtClean="0">
                <a:latin typeface="Times New Roman" panose="02020603050405020304" pitchFamily="18" charset="0"/>
              </a:rPr>
              <a:t> </a:t>
            </a:r>
            <a:r>
              <a:rPr lang="en-US" altLang="en-US" smtClean="0">
                <a:latin typeface="Symbol" panose="05050102010706020507" pitchFamily="18" charset="2"/>
              </a:rPr>
              <a:t>D</a:t>
            </a:r>
            <a:r>
              <a:rPr lang="en-US" altLang="en-US" smtClean="0">
                <a:latin typeface="Times New Roman" panose="02020603050405020304" pitchFamily="18" charset="0"/>
              </a:rPr>
              <a:t> – ƒ</a:t>
            </a:r>
            <a:r>
              <a:rPr lang="en-US" altLang="en-US" i="1" baseline="-25000" smtClean="0">
                <a:latin typeface="Times New Roman" panose="02020603050405020304" pitchFamily="18" charset="0"/>
              </a:rPr>
              <a:t>u</a:t>
            </a:r>
            <a:r>
              <a:rPr lang="en-US" altLang="en-US" smtClean="0">
                <a:latin typeface="Times New Roman" panose="02020603050405020304" pitchFamily="18" charset="0"/>
              </a:rPr>
              <a:t> )</a:t>
            </a:r>
            <a:r>
              <a:rPr lang="en-US" altLang="en-US" i="1" smtClean="0">
                <a:latin typeface="Times New Roman" panose="02020603050405020304" pitchFamily="18" charset="0"/>
              </a:rPr>
              <a:t>e</a:t>
            </a:r>
            <a:r>
              <a:rPr lang="en-US" altLang="en-US" baseline="30000" smtClean="0">
                <a:latin typeface="Times New Roman" panose="02020603050405020304" pitchFamily="18" charset="0"/>
              </a:rPr>
              <a:t>–</a:t>
            </a:r>
            <a:r>
              <a:rPr lang="en-US" altLang="en-US" i="1" baseline="30000" smtClean="0">
                <a:latin typeface="Times New Roman" panose="02020603050405020304" pitchFamily="18" charset="0"/>
              </a:rPr>
              <a:t>rT</a:t>
            </a:r>
            <a:endParaRPr lang="en-US" altLang="en-US" smtClean="0">
              <a:latin typeface="Times New Roman" panose="02020603050405020304" pitchFamily="18" charset="0"/>
            </a:endParaRPr>
          </a:p>
          <a:p>
            <a:pPr eaLnBrk="1" hangingPunct="1"/>
            <a:r>
              <a:rPr lang="en-US" altLang="en-US" smtClean="0"/>
              <a:t>Another expression for the portfolio value today is </a:t>
            </a:r>
            <a:r>
              <a:rPr lang="en-US" altLang="en-US" i="1" smtClean="0">
                <a:latin typeface="Times New Roman" panose="02020603050405020304" pitchFamily="18" charset="0"/>
              </a:rPr>
              <a:t>S</a:t>
            </a:r>
            <a:r>
              <a:rPr lang="en-US" altLang="en-US" baseline="-25000" smtClean="0">
                <a:latin typeface="Times New Roman" panose="02020603050405020304" pitchFamily="18" charset="0"/>
              </a:rPr>
              <a:t>0</a:t>
            </a:r>
            <a:r>
              <a:rPr lang="en-US" altLang="en-US" smtClean="0">
                <a:latin typeface="Symbol" panose="05050102010706020507" pitchFamily="18" charset="2"/>
              </a:rPr>
              <a:t>D </a:t>
            </a:r>
            <a:r>
              <a:rPr lang="en-US" altLang="en-US" smtClean="0"/>
              <a:t>– </a:t>
            </a:r>
            <a:r>
              <a:rPr lang="en-US" altLang="en-US" i="1" smtClean="0">
                <a:latin typeface="Times New Roman" panose="02020603050405020304" pitchFamily="18" charset="0"/>
              </a:rPr>
              <a:t>f</a:t>
            </a:r>
            <a:endParaRPr lang="en-US" altLang="en-US" smtClean="0">
              <a:latin typeface="Symbol" panose="05050102010706020507" pitchFamily="18" charset="2"/>
            </a:endParaRPr>
          </a:p>
          <a:p>
            <a:pPr eaLnBrk="1" hangingPunct="1"/>
            <a:r>
              <a:rPr lang="en-US" altLang="en-US" smtClean="0"/>
              <a:t>Hence 						</a:t>
            </a:r>
            <a:r>
              <a:rPr lang="en-US" altLang="en-US" smtClean="0">
                <a:latin typeface="Times New Roman" panose="02020603050405020304" pitchFamily="18" charset="0"/>
              </a:rPr>
              <a:t>ƒ = </a:t>
            </a:r>
            <a:r>
              <a:rPr lang="en-US" altLang="en-US" i="1" smtClean="0">
                <a:latin typeface="Times New Roman" panose="02020603050405020304" pitchFamily="18" charset="0"/>
              </a:rPr>
              <a:t>S</a:t>
            </a:r>
            <a:r>
              <a:rPr lang="en-US" altLang="en-US" baseline="-25000" smtClean="0">
                <a:latin typeface="Times New Roman" panose="02020603050405020304" pitchFamily="18" charset="0"/>
              </a:rPr>
              <a:t>0</a:t>
            </a:r>
            <a:r>
              <a:rPr lang="en-US" altLang="en-US" smtClean="0">
                <a:latin typeface="Symbol" panose="05050102010706020507" pitchFamily="18" charset="2"/>
              </a:rPr>
              <a:t>D </a:t>
            </a:r>
            <a:r>
              <a:rPr lang="en-US" altLang="en-US" smtClean="0"/>
              <a:t>– (</a:t>
            </a:r>
            <a:r>
              <a:rPr lang="en-US" altLang="en-US" i="1" smtClean="0">
                <a:latin typeface="Times New Roman" panose="02020603050405020304" pitchFamily="18" charset="0"/>
              </a:rPr>
              <a:t>S</a:t>
            </a:r>
            <a:r>
              <a:rPr lang="en-US" altLang="en-US" baseline="-25000" smtClean="0">
                <a:latin typeface="Times New Roman" panose="02020603050405020304" pitchFamily="18" charset="0"/>
              </a:rPr>
              <a:t>0</a:t>
            </a:r>
            <a:r>
              <a:rPr lang="en-US" altLang="en-US" i="1" smtClean="0">
                <a:latin typeface="Times New Roman" panose="02020603050405020304" pitchFamily="18" charset="0"/>
              </a:rPr>
              <a:t>u</a:t>
            </a:r>
            <a:r>
              <a:rPr lang="en-US" altLang="en-US" smtClean="0"/>
              <a:t> </a:t>
            </a:r>
            <a:r>
              <a:rPr lang="en-US" altLang="en-US" smtClean="0">
                <a:latin typeface="Symbol" panose="05050102010706020507" pitchFamily="18" charset="2"/>
              </a:rPr>
              <a:t>D </a:t>
            </a:r>
            <a:r>
              <a:rPr lang="en-US" altLang="en-US" smtClean="0"/>
              <a:t>– </a:t>
            </a:r>
            <a:r>
              <a:rPr lang="en-US" altLang="en-US" smtClean="0">
                <a:latin typeface="Times New Roman" panose="02020603050405020304" pitchFamily="18" charset="0"/>
              </a:rPr>
              <a:t>ƒ</a:t>
            </a:r>
            <a:r>
              <a:rPr lang="en-US" altLang="en-US" i="1" baseline="-25000" smtClean="0">
                <a:latin typeface="Times New Roman" panose="02020603050405020304" pitchFamily="18" charset="0"/>
              </a:rPr>
              <a:t>u</a:t>
            </a:r>
            <a:r>
              <a:rPr lang="en-US" altLang="en-US" i="1" smtClean="0">
                <a:latin typeface="Times New Roman" panose="02020603050405020304" pitchFamily="18" charset="0"/>
              </a:rPr>
              <a:t> </a:t>
            </a:r>
            <a:r>
              <a:rPr lang="en-US" altLang="en-US" smtClean="0">
                <a:latin typeface="Times New Roman" panose="02020603050405020304" pitchFamily="18" charset="0"/>
              </a:rPr>
              <a:t>)</a:t>
            </a:r>
            <a:r>
              <a:rPr lang="en-US" altLang="en-US" i="1" smtClean="0">
                <a:latin typeface="Times New Roman" panose="02020603050405020304" pitchFamily="18" charset="0"/>
              </a:rPr>
              <a:t>e</a:t>
            </a:r>
            <a:r>
              <a:rPr lang="en-US" altLang="en-US" baseline="30000" smtClean="0">
                <a:latin typeface="Times New Roman" panose="02020603050405020304" pitchFamily="18" charset="0"/>
              </a:rPr>
              <a:t>–</a:t>
            </a:r>
            <a:r>
              <a:rPr lang="en-US" altLang="en-US" i="1" baseline="30000" smtClean="0">
                <a:latin typeface="Times New Roman" panose="02020603050405020304" pitchFamily="18" charset="0"/>
              </a:rPr>
              <a:t>rT</a:t>
            </a:r>
            <a:r>
              <a:rPr lang="en-US" altLang="en-US" i="1" smtClean="0"/>
              <a:t> </a:t>
            </a:r>
          </a:p>
        </p:txBody>
      </p:sp>
      <p:sp>
        <p:nvSpPr>
          <p:cNvPr id="2150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62080E5C-DD1E-4DD1-9DBE-7235A25B2C70}" type="slidenum">
              <a:rPr lang="en-US" altLang="en-US" sz="1800"/>
              <a:pPr eaLnBrk="1" hangingPunct="1">
                <a:spcBef>
                  <a:spcPct val="0"/>
                </a:spcBef>
                <a:buClrTx/>
                <a:buSzTx/>
                <a:buFontTx/>
                <a:buNone/>
              </a:pPr>
              <a:t>9</a:t>
            </a:fld>
            <a:endParaRPr lang="en-US" altLang="en-US" sz="1800"/>
          </a:p>
        </p:txBody>
      </p:sp>
      <p:sp>
        <p:nvSpPr>
          <p:cNvPr id="21509"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12, Copyright © John C. Hull 2016</a:t>
            </a:r>
            <a:endParaRPr lang="en-US" altLang="en-US" i="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lIns="92075" tIns="46038" rIns="92075" bIns="46038"/>
          <a:lstStyle/>
          <a:p>
            <a:pPr eaLnBrk="1" hangingPunct="1"/>
            <a:r>
              <a:rPr lang="en-US" altLang="en-US" smtClean="0"/>
              <a:t>Generalization</a:t>
            </a:r>
            <a:br>
              <a:rPr lang="en-US" altLang="en-US" smtClean="0"/>
            </a:br>
            <a:r>
              <a:rPr lang="en-US" altLang="en-US" sz="2600" smtClean="0"/>
              <a:t>(continued)</a:t>
            </a:r>
          </a:p>
        </p:txBody>
      </p:sp>
      <p:sp>
        <p:nvSpPr>
          <p:cNvPr id="22531" name="Rectangle 3"/>
          <p:cNvSpPr>
            <a:spLocks noGrp="1" noChangeArrowheads="1"/>
          </p:cNvSpPr>
          <p:nvPr>
            <p:ph idx="1"/>
          </p:nvPr>
        </p:nvSpPr>
        <p:spPr>
          <a:xfrm>
            <a:off x="304800" y="1828800"/>
            <a:ext cx="10469563" cy="4086225"/>
          </a:xfrm>
        </p:spPr>
        <p:txBody>
          <a:bodyPr lIns="92075" tIns="46038" rIns="92075" bIns="46038"/>
          <a:lstStyle/>
          <a:p>
            <a:pPr eaLnBrk="1" hangingPunct="1"/>
            <a:endParaRPr lang="en-US" altLang="en-US" smtClean="0">
              <a:cs typeface="Arial" panose="020B0604020202020204" pitchFamily="34" charset="0"/>
            </a:endParaRPr>
          </a:p>
          <a:p>
            <a:pPr eaLnBrk="1" hangingPunct="1">
              <a:buFontTx/>
              <a:buNone/>
            </a:pPr>
            <a:r>
              <a:rPr lang="en-US" altLang="en-US" smtClean="0">
                <a:cs typeface="Arial" panose="020B0604020202020204" pitchFamily="34" charset="0"/>
              </a:rPr>
              <a:t>	Substituting for </a:t>
            </a:r>
            <a:r>
              <a:rPr lang="en-US" altLang="en-US" smtClean="0">
                <a:latin typeface="Symbol" panose="05050102010706020507" pitchFamily="18" charset="2"/>
                <a:cs typeface="Arial" panose="020B0604020202020204" pitchFamily="34" charset="0"/>
              </a:rPr>
              <a:t>D</a:t>
            </a:r>
            <a:r>
              <a:rPr lang="en-US" altLang="en-US" smtClean="0">
                <a:cs typeface="Arial" panose="020B0604020202020204" pitchFamily="34" charset="0"/>
              </a:rPr>
              <a:t> we obtain</a:t>
            </a:r>
          </a:p>
          <a:p>
            <a:pPr eaLnBrk="1" hangingPunct="1">
              <a:buFont typeface="Wingdings" panose="05000000000000000000" pitchFamily="2" charset="2"/>
              <a:buNone/>
            </a:pPr>
            <a:r>
              <a:rPr lang="en-US" altLang="en-US" smtClean="0">
                <a:latin typeface="Times New Roman" panose="02020603050405020304" pitchFamily="18" charset="0"/>
                <a:cs typeface="Arial" panose="020B0604020202020204" pitchFamily="34" charset="0"/>
              </a:rPr>
              <a:t>                ƒ = [ </a:t>
            </a:r>
            <a:r>
              <a:rPr lang="en-US" altLang="en-US" i="1" smtClean="0">
                <a:latin typeface="Times New Roman" panose="02020603050405020304" pitchFamily="18" charset="0"/>
                <a:cs typeface="Arial" panose="020B0604020202020204" pitchFamily="34" charset="0"/>
              </a:rPr>
              <a:t>p</a:t>
            </a:r>
            <a:r>
              <a:rPr lang="en-US" altLang="en-US" smtClean="0">
                <a:latin typeface="Times New Roman" panose="02020603050405020304" pitchFamily="18" charset="0"/>
                <a:cs typeface="Arial" panose="020B0604020202020204" pitchFamily="34" charset="0"/>
              </a:rPr>
              <a:t>ƒ</a:t>
            </a:r>
            <a:r>
              <a:rPr lang="en-US" altLang="en-US" i="1" baseline="-25000" smtClean="0">
                <a:latin typeface="Times New Roman" panose="02020603050405020304" pitchFamily="18" charset="0"/>
                <a:cs typeface="Arial" panose="020B0604020202020204" pitchFamily="34" charset="0"/>
              </a:rPr>
              <a:t>u</a:t>
            </a:r>
            <a:r>
              <a:rPr lang="en-US" altLang="en-US" smtClean="0">
                <a:latin typeface="Times New Roman" panose="02020603050405020304" pitchFamily="18" charset="0"/>
                <a:cs typeface="Arial" panose="020B0604020202020204" pitchFamily="34" charset="0"/>
              </a:rPr>
              <a:t> + (1 – </a:t>
            </a:r>
            <a:r>
              <a:rPr lang="en-US" altLang="en-US" i="1" smtClean="0">
                <a:latin typeface="Times New Roman" panose="02020603050405020304" pitchFamily="18" charset="0"/>
                <a:cs typeface="Arial" panose="020B0604020202020204" pitchFamily="34" charset="0"/>
              </a:rPr>
              <a:t>p</a:t>
            </a:r>
            <a:r>
              <a:rPr lang="en-US" altLang="en-US" smtClean="0">
                <a:latin typeface="Times New Roman" panose="02020603050405020304" pitchFamily="18" charset="0"/>
                <a:cs typeface="Arial" panose="020B0604020202020204" pitchFamily="34" charset="0"/>
              </a:rPr>
              <a:t>)ƒ</a:t>
            </a:r>
            <a:r>
              <a:rPr lang="en-US" altLang="en-US" i="1" baseline="-25000" smtClean="0">
                <a:latin typeface="Times New Roman" panose="02020603050405020304" pitchFamily="18" charset="0"/>
                <a:cs typeface="Arial" panose="020B0604020202020204" pitchFamily="34" charset="0"/>
              </a:rPr>
              <a:t>d</a:t>
            </a:r>
            <a:r>
              <a:rPr lang="en-US" altLang="en-US" smtClean="0">
                <a:latin typeface="Times New Roman" panose="02020603050405020304" pitchFamily="18" charset="0"/>
                <a:cs typeface="Arial" panose="020B0604020202020204" pitchFamily="34" charset="0"/>
              </a:rPr>
              <a:t> ]</a:t>
            </a:r>
            <a:r>
              <a:rPr lang="en-US" altLang="en-US" i="1" smtClean="0">
                <a:latin typeface="Times New Roman" panose="02020603050405020304" pitchFamily="18" charset="0"/>
                <a:cs typeface="Arial" panose="020B0604020202020204" pitchFamily="34" charset="0"/>
              </a:rPr>
              <a:t>e</a:t>
            </a:r>
            <a:r>
              <a:rPr lang="en-US" altLang="en-US" baseline="30000" smtClean="0">
                <a:latin typeface="Times New Roman" panose="02020603050405020304" pitchFamily="18" charset="0"/>
                <a:cs typeface="Arial" panose="020B0604020202020204" pitchFamily="34" charset="0"/>
              </a:rPr>
              <a:t>–</a:t>
            </a:r>
            <a:r>
              <a:rPr lang="en-US" altLang="en-US" i="1" baseline="30000" smtClean="0">
                <a:latin typeface="Times New Roman" panose="02020603050405020304" pitchFamily="18" charset="0"/>
                <a:cs typeface="Arial" panose="020B0604020202020204" pitchFamily="34" charset="0"/>
              </a:rPr>
              <a:t>rT</a:t>
            </a:r>
            <a:r>
              <a:rPr lang="en-US" altLang="en-US" smtClean="0">
                <a:cs typeface="Arial" panose="020B0604020202020204" pitchFamily="34" charset="0"/>
              </a:rPr>
              <a:t>	</a:t>
            </a:r>
          </a:p>
          <a:p>
            <a:pPr eaLnBrk="1" hangingPunct="1">
              <a:buFont typeface="Wingdings" panose="05000000000000000000" pitchFamily="2" charset="2"/>
              <a:buNone/>
            </a:pPr>
            <a:endParaRPr lang="en-US" altLang="en-US" smtClean="0">
              <a:cs typeface="Arial" panose="020B0604020202020204" pitchFamily="34" charset="0"/>
            </a:endParaRPr>
          </a:p>
          <a:p>
            <a:pPr eaLnBrk="1" hangingPunct="1">
              <a:buFont typeface="Wingdings" panose="05000000000000000000" pitchFamily="2" charset="2"/>
              <a:buNone/>
            </a:pPr>
            <a:r>
              <a:rPr lang="en-US" altLang="en-US" smtClean="0">
                <a:cs typeface="Arial" panose="020B0604020202020204" pitchFamily="34" charset="0"/>
              </a:rPr>
              <a:t>    where   </a:t>
            </a: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9E6D4E17-D174-4E7D-96A3-EF2B23BB0038}" type="slidenum">
              <a:rPr lang="en-US" altLang="en-US" sz="1800"/>
              <a:pPr eaLnBrk="1" hangingPunct="1">
                <a:spcBef>
                  <a:spcPct val="0"/>
                </a:spcBef>
                <a:buClrTx/>
                <a:buSzTx/>
                <a:buFontTx/>
                <a:buNone/>
              </a:pPr>
              <a:t>10</a:t>
            </a:fld>
            <a:endParaRPr lang="en-US" altLang="en-US" sz="1800"/>
          </a:p>
        </p:txBody>
      </p:sp>
      <p:graphicFrame>
        <p:nvGraphicFramePr>
          <p:cNvPr id="22534" name="Object 5"/>
          <p:cNvGraphicFramePr>
            <a:graphicFrameLocks noChangeAspect="1"/>
          </p:cNvGraphicFramePr>
          <p:nvPr/>
        </p:nvGraphicFramePr>
        <p:xfrm>
          <a:off x="2743200" y="4419600"/>
          <a:ext cx="2066925" cy="1066800"/>
        </p:xfrm>
        <a:graphic>
          <a:graphicData uri="http://schemas.openxmlformats.org/presentationml/2006/ole">
            <mc:AlternateContent xmlns:mc="http://schemas.openxmlformats.org/markup-compatibility/2006">
              <mc:Choice xmlns:v="urn:schemas-microsoft-com:vml" Requires="v">
                <p:oleObj spid="_x0000_s22535" name="Equation" r:id="rId4" imgW="736600" imgH="419100" progId="Equation.2">
                  <p:embed/>
                </p:oleObj>
              </mc:Choice>
              <mc:Fallback>
                <p:oleObj name="Equation" r:id="rId4" imgW="736600" imgH="419100" progId="Equation.2">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4419600"/>
                        <a:ext cx="20669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04800"/>
            <a:ext cx="7772400" cy="1066800"/>
          </a:xfrm>
        </p:spPr>
        <p:txBody>
          <a:bodyPr lIns="92075" tIns="46038" rIns="92075" bIns="46038"/>
          <a:lstStyle/>
          <a:p>
            <a:pPr eaLnBrk="1" hangingPunct="1"/>
            <a:r>
              <a:rPr lang="en-US" altLang="en-US" i="1" smtClean="0"/>
              <a:t>p</a:t>
            </a:r>
            <a:r>
              <a:rPr lang="en-US" altLang="en-US" smtClean="0"/>
              <a:t> as a Probability</a:t>
            </a:r>
          </a:p>
        </p:txBody>
      </p:sp>
      <p:sp>
        <p:nvSpPr>
          <p:cNvPr id="23555" name="Rectangle 3"/>
          <p:cNvSpPr>
            <a:spLocks noGrp="1" noChangeArrowheads="1"/>
          </p:cNvSpPr>
          <p:nvPr>
            <p:ph idx="1"/>
          </p:nvPr>
        </p:nvSpPr>
        <p:spPr>
          <a:xfrm>
            <a:off x="533400" y="1752600"/>
            <a:ext cx="7848600" cy="3452813"/>
          </a:xfrm>
        </p:spPr>
        <p:txBody>
          <a:bodyPr lIns="92075" tIns="46038" rIns="92075" bIns="46038"/>
          <a:lstStyle/>
          <a:p>
            <a:pPr eaLnBrk="1" hangingPunct="1"/>
            <a:r>
              <a:rPr lang="en-US" altLang="en-US" sz="2400" smtClean="0">
                <a:cs typeface="Arial" panose="020B0604020202020204" pitchFamily="34" charset="0"/>
              </a:rPr>
              <a:t>It is natural to interpret </a:t>
            </a:r>
            <a:r>
              <a:rPr lang="en-US" altLang="en-US" sz="2400" i="1" smtClean="0">
                <a:latin typeface="Times New Roman" panose="02020603050405020304" pitchFamily="18" charset="0"/>
                <a:cs typeface="Arial" panose="020B0604020202020204" pitchFamily="34" charset="0"/>
              </a:rPr>
              <a:t>p</a:t>
            </a:r>
            <a:r>
              <a:rPr lang="en-US" altLang="en-US" sz="2400" smtClean="0">
                <a:cs typeface="Arial" panose="020B0604020202020204" pitchFamily="34" charset="0"/>
              </a:rPr>
              <a:t> and 1−</a:t>
            </a:r>
            <a:r>
              <a:rPr lang="en-US" altLang="en-US" sz="2400" i="1" smtClean="0">
                <a:latin typeface="Times New Roman" panose="02020603050405020304" pitchFamily="18" charset="0"/>
                <a:cs typeface="Arial" panose="020B0604020202020204" pitchFamily="34" charset="0"/>
              </a:rPr>
              <a:t>p</a:t>
            </a:r>
            <a:r>
              <a:rPr lang="en-US" altLang="en-US" sz="2400" smtClean="0">
                <a:cs typeface="Arial" panose="020B0604020202020204" pitchFamily="34" charset="0"/>
              </a:rPr>
              <a:t> as the probabilities of up and down movements</a:t>
            </a:r>
            <a:r>
              <a:rPr lang="en-US" altLang="en-US" sz="2400" smtClean="0">
                <a:latin typeface="Times New Roman" panose="02020603050405020304" pitchFamily="18" charset="0"/>
                <a:cs typeface="Arial" panose="020B0604020202020204" pitchFamily="34" charset="0"/>
              </a:rPr>
              <a:t>	</a:t>
            </a:r>
          </a:p>
          <a:p>
            <a:pPr eaLnBrk="1" hangingPunct="1"/>
            <a:r>
              <a:rPr lang="en-US" altLang="en-US" sz="2400" smtClean="0">
                <a:cs typeface="Arial" panose="020B0604020202020204" pitchFamily="34" charset="0"/>
              </a:rPr>
              <a:t>The value of a derivative is then its expected payoff in discounted at the risk-free rate</a:t>
            </a:r>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3300D34-E26B-401C-BE56-EEBE08047C6A}" type="slidenum">
              <a:rPr lang="en-US" altLang="en-US" sz="1800"/>
              <a:pPr eaLnBrk="1" hangingPunct="1">
                <a:spcBef>
                  <a:spcPct val="0"/>
                </a:spcBef>
                <a:buClrTx/>
                <a:buSzTx/>
                <a:buFontTx/>
                <a:buNone/>
              </a:pPr>
              <a:t>11</a:t>
            </a:fld>
            <a:endParaRPr lang="en-US" altLang="en-US" sz="1800"/>
          </a:p>
        </p:txBody>
      </p:sp>
      <p:grpSp>
        <p:nvGrpSpPr>
          <p:cNvPr id="23558" name="Group 13"/>
          <p:cNvGrpSpPr>
            <a:grpSpLocks/>
          </p:cNvGrpSpPr>
          <p:nvPr/>
        </p:nvGrpSpPr>
        <p:grpSpPr bwMode="auto">
          <a:xfrm>
            <a:off x="2971800" y="3352800"/>
            <a:ext cx="3027363" cy="2533650"/>
            <a:chOff x="3402014" y="3716339"/>
            <a:chExt cx="3027363" cy="2322513"/>
          </a:xfrm>
        </p:grpSpPr>
        <p:grpSp>
          <p:nvGrpSpPr>
            <p:cNvPr id="23559" name="Group 9"/>
            <p:cNvGrpSpPr>
              <a:grpSpLocks/>
            </p:cNvGrpSpPr>
            <p:nvPr/>
          </p:nvGrpSpPr>
          <p:grpSpPr bwMode="auto">
            <a:xfrm>
              <a:off x="3402014" y="3716339"/>
              <a:ext cx="3027363" cy="2322513"/>
              <a:chOff x="2143" y="2341"/>
              <a:chExt cx="1907" cy="1463"/>
            </a:xfrm>
          </p:grpSpPr>
          <p:sp>
            <p:nvSpPr>
              <p:cNvPr id="23562" name="Line 4"/>
              <p:cNvSpPr>
                <a:spLocks noChangeShapeType="1"/>
              </p:cNvSpPr>
              <p:nvPr/>
            </p:nvSpPr>
            <p:spPr bwMode="auto">
              <a:xfrm flipV="1">
                <a:off x="2393" y="2668"/>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563" name="Line 5"/>
              <p:cNvSpPr>
                <a:spLocks noChangeShapeType="1"/>
              </p:cNvSpPr>
              <p:nvPr/>
            </p:nvSpPr>
            <p:spPr bwMode="auto">
              <a:xfrm>
                <a:off x="2393" y="3128"/>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564" name="Rectangle 6"/>
              <p:cNvSpPr>
                <a:spLocks noChangeArrowheads="1"/>
              </p:cNvSpPr>
              <p:nvPr/>
            </p:nvSpPr>
            <p:spPr bwMode="auto">
              <a:xfrm>
                <a:off x="3631" y="2341"/>
                <a:ext cx="419"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i="1">
                    <a:latin typeface="Times New Roman" panose="02020603050405020304" pitchFamily="18" charset="0"/>
                  </a:rPr>
                  <a:t>S</a:t>
                </a:r>
                <a:r>
                  <a:rPr lang="en-CA" altLang="en-US" sz="2800" baseline="-25000">
                    <a:latin typeface="Times New Roman" panose="02020603050405020304" pitchFamily="18" charset="0"/>
                  </a:rPr>
                  <a:t>0</a:t>
                </a:r>
                <a:r>
                  <a:rPr lang="en-US" altLang="en-US" sz="2800" i="1">
                    <a:latin typeface="Times New Roman" panose="02020603050405020304" pitchFamily="18" charset="0"/>
                  </a:rPr>
                  <a:t>u</a:t>
                </a:r>
                <a:endParaRPr lang="en-US" altLang="en-US" sz="2800"/>
              </a:p>
              <a:p>
                <a:pPr>
                  <a:spcBef>
                    <a:spcPct val="0"/>
                  </a:spcBef>
                  <a:buClrTx/>
                  <a:buSzTx/>
                  <a:buFontTx/>
                  <a:buNone/>
                </a:pPr>
                <a:r>
                  <a:rPr lang="en-US" altLang="en-US" sz="2800"/>
                  <a:t> </a:t>
                </a:r>
                <a:r>
                  <a:rPr lang="en-US" altLang="en-US" sz="2800">
                    <a:latin typeface="Times New Roman" panose="02020603050405020304" pitchFamily="18" charset="0"/>
                  </a:rPr>
                  <a:t>ƒ</a:t>
                </a:r>
                <a:r>
                  <a:rPr lang="en-US" altLang="en-US" sz="2800" i="1" baseline="-25000">
                    <a:latin typeface="Times New Roman" panose="02020603050405020304" pitchFamily="18" charset="0"/>
                  </a:rPr>
                  <a:t>u</a:t>
                </a:r>
              </a:p>
            </p:txBody>
          </p:sp>
          <p:sp>
            <p:nvSpPr>
              <p:cNvPr id="23565" name="Rectangle 7"/>
              <p:cNvSpPr>
                <a:spLocks noChangeArrowheads="1"/>
              </p:cNvSpPr>
              <p:nvPr/>
            </p:nvSpPr>
            <p:spPr bwMode="auto">
              <a:xfrm>
                <a:off x="3631" y="3253"/>
                <a:ext cx="419"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i="1">
                    <a:latin typeface="Times New Roman" panose="02020603050405020304" pitchFamily="18" charset="0"/>
                  </a:rPr>
                  <a:t>S</a:t>
                </a:r>
                <a:r>
                  <a:rPr lang="en-CA" altLang="en-US" sz="2800" baseline="-25000">
                    <a:latin typeface="Times New Roman" panose="02020603050405020304" pitchFamily="18" charset="0"/>
                  </a:rPr>
                  <a:t>0</a:t>
                </a:r>
                <a:r>
                  <a:rPr lang="en-US" altLang="en-US" sz="2800" i="1">
                    <a:latin typeface="Times New Roman" panose="02020603050405020304" pitchFamily="18" charset="0"/>
                  </a:rPr>
                  <a:t>d</a:t>
                </a:r>
              </a:p>
              <a:p>
                <a:pPr>
                  <a:spcBef>
                    <a:spcPct val="0"/>
                  </a:spcBef>
                  <a:buClrTx/>
                  <a:buSzTx/>
                  <a:buFontTx/>
                  <a:buNone/>
                </a:pPr>
                <a:r>
                  <a:rPr lang="en-US" altLang="en-US" sz="2800"/>
                  <a:t> </a:t>
                </a:r>
                <a:r>
                  <a:rPr lang="en-US" altLang="en-US" sz="2800">
                    <a:latin typeface="Times New Roman" panose="02020603050405020304" pitchFamily="18" charset="0"/>
                  </a:rPr>
                  <a:t>ƒ</a:t>
                </a:r>
                <a:r>
                  <a:rPr lang="en-US" altLang="en-US" sz="2800" i="1" baseline="-25000">
                    <a:latin typeface="Times New Roman" panose="02020603050405020304" pitchFamily="18" charset="0"/>
                  </a:rPr>
                  <a:t>d</a:t>
                </a:r>
              </a:p>
            </p:txBody>
          </p:sp>
          <p:sp>
            <p:nvSpPr>
              <p:cNvPr id="23566" name="Rectangle 8"/>
              <p:cNvSpPr>
                <a:spLocks noChangeArrowheads="1"/>
              </p:cNvSpPr>
              <p:nvPr/>
            </p:nvSpPr>
            <p:spPr bwMode="auto">
              <a:xfrm>
                <a:off x="2143" y="2821"/>
                <a:ext cx="306"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i="1">
                    <a:latin typeface="Times New Roman" panose="02020603050405020304" pitchFamily="18" charset="0"/>
                  </a:rPr>
                  <a:t>S</a:t>
                </a:r>
                <a:r>
                  <a:rPr lang="en-CA" altLang="en-US" sz="2800" baseline="-25000">
                    <a:latin typeface="Times New Roman" panose="02020603050405020304" pitchFamily="18" charset="0"/>
                  </a:rPr>
                  <a:t>0</a:t>
                </a:r>
                <a:endParaRPr lang="en-US" altLang="en-US" sz="2800"/>
              </a:p>
              <a:p>
                <a:pPr>
                  <a:spcBef>
                    <a:spcPct val="0"/>
                  </a:spcBef>
                  <a:buClrTx/>
                  <a:buSzTx/>
                  <a:buFontTx/>
                  <a:buNone/>
                </a:pPr>
                <a:r>
                  <a:rPr lang="en-US" altLang="en-US" sz="2800">
                    <a:latin typeface="Times New Roman" panose="02020603050405020304" pitchFamily="18" charset="0"/>
                  </a:rPr>
                  <a:t>ƒ</a:t>
                </a:r>
              </a:p>
            </p:txBody>
          </p:sp>
        </p:grpSp>
        <p:sp>
          <p:nvSpPr>
            <p:cNvPr id="23560" name="Rectangle 10"/>
            <p:cNvSpPr>
              <a:spLocks noChangeArrowheads="1"/>
            </p:cNvSpPr>
            <p:nvPr/>
          </p:nvSpPr>
          <p:spPr bwMode="auto">
            <a:xfrm rot="-1200000">
              <a:off x="4530545" y="4112026"/>
              <a:ext cx="365485" cy="480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800" i="1">
                  <a:latin typeface="Times New Roman" panose="02020603050405020304" pitchFamily="18" charset="0"/>
                </a:rPr>
                <a:t>p</a:t>
              </a:r>
            </a:p>
          </p:txBody>
        </p:sp>
        <p:sp>
          <p:nvSpPr>
            <p:cNvPr id="23561" name="Rectangle 11"/>
            <p:cNvSpPr>
              <a:spLocks noChangeArrowheads="1"/>
            </p:cNvSpPr>
            <p:nvPr/>
          </p:nvSpPr>
          <p:spPr bwMode="auto">
            <a:xfrm rot="1140000">
              <a:off x="4078218" y="5424091"/>
              <a:ext cx="1297671" cy="480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800"/>
                <a:t>(1</a:t>
              </a:r>
              <a:r>
                <a:rPr lang="en-US" altLang="en-US" sz="2800">
                  <a:latin typeface="Symbol" panose="05050102010706020507" pitchFamily="18" charset="2"/>
                </a:rPr>
                <a:t> </a:t>
              </a:r>
              <a:r>
                <a:rPr lang="en-US" altLang="en-US" sz="2800"/>
                <a:t>– </a:t>
              </a:r>
              <a:r>
                <a:rPr lang="en-US" altLang="en-US" sz="2800" i="1">
                  <a:latin typeface="Times New Roman" panose="02020603050405020304" pitchFamily="18" charset="0"/>
                </a:rPr>
                <a:t>p</a:t>
              </a:r>
              <a:r>
                <a:rPr lang="en-US" altLang="en-US" sz="2800">
                  <a:latin typeface="Times New Roman" panose="02020603050405020304" pitchFamily="18" charset="0"/>
                </a:rPr>
                <a:t> )</a:t>
              </a:r>
            </a:p>
          </p:txBody>
        </p:sp>
      </p:gr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smtClean="0"/>
              <a:t>Risk-Neutral Valuation</a:t>
            </a:r>
          </a:p>
        </p:txBody>
      </p:sp>
      <p:sp>
        <p:nvSpPr>
          <p:cNvPr id="25603" name="Rectangle 3"/>
          <p:cNvSpPr>
            <a:spLocks noGrp="1" noChangeArrowheads="1"/>
          </p:cNvSpPr>
          <p:nvPr>
            <p:ph idx="1"/>
          </p:nvPr>
        </p:nvSpPr>
        <p:spPr/>
        <p:txBody>
          <a:bodyPr/>
          <a:lstStyle/>
          <a:p>
            <a:pPr eaLnBrk="1" hangingPunct="1">
              <a:lnSpc>
                <a:spcPct val="90000"/>
              </a:lnSpc>
              <a:defRPr/>
            </a:pPr>
            <a:r>
              <a:rPr lang="en-US" sz="2800" dirty="0" smtClean="0">
                <a:cs typeface="Arial" charset="0"/>
              </a:rPr>
              <a:t>When the probability of an up and down movements are </a:t>
            </a:r>
            <a:r>
              <a:rPr lang="en-US" sz="2800" i="1" dirty="0" smtClean="0">
                <a:latin typeface="Times New Roman" pitchFamily="18" charset="0"/>
                <a:cs typeface="Arial" charset="0"/>
              </a:rPr>
              <a:t>p</a:t>
            </a:r>
            <a:r>
              <a:rPr lang="en-US" sz="2800" dirty="0" smtClean="0">
                <a:cs typeface="Arial" charset="0"/>
              </a:rPr>
              <a:t> and 1-</a:t>
            </a:r>
            <a:r>
              <a:rPr lang="en-US" sz="2800" i="1" dirty="0" smtClean="0">
                <a:latin typeface="Times New Roman" pitchFamily="18" charset="0"/>
                <a:cs typeface="Arial" charset="0"/>
              </a:rPr>
              <a:t>p</a:t>
            </a:r>
            <a:r>
              <a:rPr lang="en-US" sz="2800" dirty="0" smtClean="0">
                <a:cs typeface="Arial" charset="0"/>
              </a:rPr>
              <a:t> the expected stock price at time </a:t>
            </a:r>
            <a:r>
              <a:rPr lang="en-US" sz="2800" i="1" dirty="0" smtClean="0">
                <a:latin typeface="Times New Roman" pitchFamily="18" charset="0"/>
                <a:cs typeface="Arial" charset="0"/>
              </a:rPr>
              <a:t>T</a:t>
            </a:r>
            <a:r>
              <a:rPr lang="en-US" sz="2800" dirty="0" smtClean="0">
                <a:cs typeface="Arial" charset="0"/>
              </a:rPr>
              <a:t> is </a:t>
            </a:r>
            <a:r>
              <a:rPr lang="en-US" sz="2800" i="1" dirty="0" smtClean="0">
                <a:latin typeface="Times New Roman" pitchFamily="18" charset="0"/>
                <a:cs typeface="Arial" charset="0"/>
              </a:rPr>
              <a:t>S</a:t>
            </a:r>
            <a:r>
              <a:rPr lang="en-US" sz="2800" baseline="-25000" dirty="0" smtClean="0">
                <a:latin typeface="Times New Roman" pitchFamily="18" charset="0"/>
                <a:cs typeface="Arial" charset="0"/>
              </a:rPr>
              <a:t>0</a:t>
            </a:r>
            <a:r>
              <a:rPr lang="en-US" sz="2800" i="1" dirty="0" smtClean="0">
                <a:latin typeface="Times New Roman" pitchFamily="18" charset="0"/>
                <a:cs typeface="Arial" charset="0"/>
              </a:rPr>
              <a:t>e</a:t>
            </a:r>
            <a:r>
              <a:rPr lang="en-US" sz="2800" i="1" baseline="30000" dirty="0" smtClean="0">
                <a:latin typeface="Times New Roman" pitchFamily="18" charset="0"/>
                <a:cs typeface="Arial" charset="0"/>
              </a:rPr>
              <a:t>rT</a:t>
            </a:r>
          </a:p>
          <a:p>
            <a:pPr eaLnBrk="1" hangingPunct="1">
              <a:lnSpc>
                <a:spcPct val="90000"/>
              </a:lnSpc>
              <a:defRPr/>
            </a:pPr>
            <a:r>
              <a:rPr lang="en-US" sz="2800" dirty="0" smtClean="0">
                <a:cs typeface="Arial" charset="0"/>
              </a:rPr>
              <a:t>This shows that a holder of the stock earns the risk-free rate on average</a:t>
            </a:r>
          </a:p>
          <a:p>
            <a:pPr eaLnBrk="1" hangingPunct="1">
              <a:lnSpc>
                <a:spcPct val="90000"/>
              </a:lnSpc>
              <a:defRPr/>
            </a:pPr>
            <a:r>
              <a:rPr lang="en-CA" sz="2800" dirty="0" smtClean="0">
                <a:cs typeface="Arial" charset="0"/>
              </a:rPr>
              <a:t>The probabilities </a:t>
            </a:r>
            <a:r>
              <a:rPr lang="en-CA" sz="2800" i="1" dirty="0" smtClean="0">
                <a:latin typeface="+mj-lt"/>
                <a:cs typeface="Arial" charset="0"/>
              </a:rPr>
              <a:t>p</a:t>
            </a:r>
            <a:r>
              <a:rPr lang="en-CA" sz="2800" dirty="0" smtClean="0">
                <a:cs typeface="Arial" charset="0"/>
              </a:rPr>
              <a:t> and 1−</a:t>
            </a:r>
            <a:r>
              <a:rPr lang="en-CA" sz="2800" i="1" dirty="0" smtClean="0">
                <a:latin typeface="+mj-lt"/>
                <a:cs typeface="Arial" charset="0"/>
              </a:rPr>
              <a:t>p</a:t>
            </a:r>
            <a:r>
              <a:rPr lang="en-CA" sz="2800" dirty="0" smtClean="0">
                <a:cs typeface="Arial" charset="0"/>
              </a:rPr>
              <a:t> are consistent with a risk-neutral world where investors require no compensation for the risks they are taking</a:t>
            </a:r>
            <a:endParaRPr lang="en-US" sz="2800" dirty="0" smtClean="0">
              <a:cs typeface="Arial" charset="0"/>
            </a:endParaRPr>
          </a:p>
        </p:txBody>
      </p:sp>
      <p:sp>
        <p:nvSpPr>
          <p:cNvPr id="2458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8BC693C-0D07-496A-A33B-CA8A3DDA78C4}" type="slidenum">
              <a:rPr lang="en-US" altLang="en-US" sz="1800"/>
              <a:pPr eaLnBrk="1" hangingPunct="1">
                <a:spcBef>
                  <a:spcPct val="0"/>
                </a:spcBef>
                <a:buClrTx/>
                <a:buSzTx/>
                <a:buFontTx/>
                <a:buNone/>
              </a:pPr>
              <a:t>12</a:t>
            </a:fld>
            <a:endParaRPr lang="en-US" altLang="en-US" sz="1800"/>
          </a:p>
        </p:txBody>
      </p:sp>
      <p:sp>
        <p:nvSpPr>
          <p:cNvPr id="24581"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12, Copyright © John C. Hull 2016</a:t>
            </a:r>
            <a:endParaRPr lang="en-US" altLang="en-US" i="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CA" altLang="en-US" smtClean="0"/>
              <a:t>Risk-Neutral Valuation continued</a:t>
            </a:r>
            <a:endParaRPr lang="en-US" altLang="en-US" smtClean="0"/>
          </a:p>
        </p:txBody>
      </p:sp>
      <p:sp>
        <p:nvSpPr>
          <p:cNvPr id="3" name="Content Placeholder 2"/>
          <p:cNvSpPr>
            <a:spLocks noGrp="1"/>
          </p:cNvSpPr>
          <p:nvPr>
            <p:ph idx="1"/>
          </p:nvPr>
        </p:nvSpPr>
        <p:spPr>
          <a:xfrm>
            <a:off x="457200" y="1295400"/>
            <a:ext cx="8229600" cy="4411663"/>
          </a:xfrm>
        </p:spPr>
        <p:txBody>
          <a:bodyPr/>
          <a:lstStyle/>
          <a:p>
            <a:pPr marL="0" indent="0" eaLnBrk="1" hangingPunct="1">
              <a:lnSpc>
                <a:spcPct val="90000"/>
              </a:lnSpc>
              <a:buFont typeface="Wingdings" panose="05000000000000000000" pitchFamily="2" charset="2"/>
              <a:buNone/>
              <a:defRPr/>
            </a:pPr>
            <a:endParaRPr lang="en-US" dirty="0" smtClean="0">
              <a:cs typeface="Arial" charset="0"/>
            </a:endParaRPr>
          </a:p>
          <a:p>
            <a:pPr eaLnBrk="1" hangingPunct="1">
              <a:lnSpc>
                <a:spcPct val="90000"/>
              </a:lnSpc>
              <a:defRPr/>
            </a:pPr>
            <a:r>
              <a:rPr lang="en-CA" dirty="0" smtClean="0">
                <a:cs typeface="Arial" charset="0"/>
              </a:rPr>
              <a:t>The one-step binomial tree illustrates the general result that we can assume the world is risk-neutral when valuing derivatives.</a:t>
            </a:r>
            <a:endParaRPr lang="en-US" dirty="0" smtClean="0">
              <a:cs typeface="Arial" charset="0"/>
            </a:endParaRPr>
          </a:p>
          <a:p>
            <a:pPr eaLnBrk="1" hangingPunct="1">
              <a:lnSpc>
                <a:spcPct val="90000"/>
              </a:lnSpc>
              <a:defRPr/>
            </a:pPr>
            <a:r>
              <a:rPr lang="en-US" dirty="0" smtClean="0">
                <a:cs typeface="Arial" charset="0"/>
              </a:rPr>
              <a:t>Specifically, we can assume that the expected return on the underlying asset is the risk-free rate and discount the derivative’s expected payoff at the risk-free rate</a:t>
            </a:r>
          </a:p>
          <a:p>
            <a:pPr>
              <a:defRPr/>
            </a:pPr>
            <a:endParaRPr lang="en-US" dirty="0"/>
          </a:p>
        </p:txBody>
      </p:sp>
      <p:sp>
        <p:nvSpPr>
          <p:cNvPr id="256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BF97D20-85D2-492B-9F0D-A0398B292158}" type="slidenum">
              <a:rPr lang="en-US" altLang="en-US" sz="1800"/>
              <a:pPr eaLnBrk="1" hangingPunct="1">
                <a:spcBef>
                  <a:spcPct val="0"/>
                </a:spcBef>
                <a:buClrTx/>
                <a:buSzTx/>
                <a:buFontTx/>
                <a:buNone/>
              </a:pPr>
              <a:t>13</a:t>
            </a:fld>
            <a:endParaRPr lang="en-US" altLang="en-US" sz="1800"/>
          </a:p>
        </p:txBody>
      </p:sp>
      <p:sp>
        <p:nvSpPr>
          <p:cNvPr id="25605"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12, Copyright © John C. Hull 2016</a:t>
            </a:r>
            <a:endParaRPr lang="en-US" altLang="en-US" i="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p:spPr>
        <p:txBody>
          <a:bodyPr lIns="92075" tIns="46038" rIns="92075" bIns="46038" anchor="ctr"/>
          <a:lstStyle/>
          <a:p>
            <a:pPr eaLnBrk="1" hangingPunct="1"/>
            <a:r>
              <a:rPr lang="en-US" altLang="en-US" smtClean="0"/>
              <a:t>Irrelevance of Stock’s Expected Return</a:t>
            </a:r>
          </a:p>
        </p:txBody>
      </p:sp>
      <p:sp>
        <p:nvSpPr>
          <p:cNvPr id="26627" name="Rectangle 3"/>
          <p:cNvSpPr>
            <a:spLocks noGrp="1" noChangeArrowheads="1"/>
          </p:cNvSpPr>
          <p:nvPr>
            <p:ph type="body" idx="1"/>
          </p:nvPr>
        </p:nvSpPr>
        <p:spPr>
          <a:xfrm>
            <a:off x="487363" y="1719263"/>
            <a:ext cx="8169275" cy="4411662"/>
          </a:xfrm>
          <a:noFill/>
        </p:spPr>
        <p:txBody>
          <a:bodyPr lIns="92075" tIns="46038" rIns="92075" bIns="46038"/>
          <a:lstStyle/>
          <a:p>
            <a:pPr eaLnBrk="1" hangingPunct="1">
              <a:buFont typeface="Wingdings" panose="05000000000000000000" pitchFamily="2" charset="2"/>
              <a:buNone/>
            </a:pPr>
            <a:r>
              <a:rPr lang="en-US" altLang="en-US" smtClean="0"/>
              <a:t>	When we are valuing an option in terms of the underlying stock the expected return on the stock (which is given by the actual probabilities of up and down movements) is irrelevant</a:t>
            </a:r>
          </a:p>
        </p:txBody>
      </p:sp>
      <p:sp>
        <p:nvSpPr>
          <p:cNvPr id="2662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DEA9FA52-8AE6-4DF3-BBA9-9F3369599C43}" type="slidenum">
              <a:rPr lang="en-US" altLang="en-US" sz="1800"/>
              <a:pPr eaLnBrk="1" hangingPunct="1">
                <a:spcBef>
                  <a:spcPct val="0"/>
                </a:spcBef>
                <a:buClrTx/>
                <a:buSzTx/>
                <a:buFontTx/>
                <a:buNone/>
              </a:pPr>
              <a:t>14</a:t>
            </a:fld>
            <a:endParaRPr lang="en-US" altLang="en-US" sz="1800"/>
          </a:p>
        </p:txBody>
      </p:sp>
      <p:sp>
        <p:nvSpPr>
          <p:cNvPr id="26629"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12, Copyright © John C. Hull 2016</a:t>
            </a:r>
            <a:endParaRPr lang="en-US" altLang="en-US" i="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27651" name="Rectangle 2"/>
          <p:cNvSpPr>
            <a:spLocks noGrp="1" noChangeArrowheads="1"/>
          </p:cNvSpPr>
          <p:nvPr>
            <p:ph type="title"/>
          </p:nvPr>
        </p:nvSpPr>
        <p:spPr>
          <a:xfrm>
            <a:off x="609600" y="141288"/>
            <a:ext cx="7772400" cy="1143000"/>
          </a:xfrm>
          <a:noFill/>
        </p:spPr>
        <p:txBody>
          <a:bodyPr lIns="92075" tIns="46038" rIns="92075" bIns="46038" anchor="ctr"/>
          <a:lstStyle/>
          <a:p>
            <a:pPr eaLnBrk="1" hangingPunct="1"/>
            <a:r>
              <a:rPr lang="en-US" altLang="en-US" smtClean="0"/>
              <a:t>Original Example Revisited</a:t>
            </a:r>
          </a:p>
        </p:txBody>
      </p:sp>
      <p:sp>
        <p:nvSpPr>
          <p:cNvPr id="27652" name="Rectangle 3"/>
          <p:cNvSpPr>
            <a:spLocks noGrp="1" noChangeArrowheads="1"/>
          </p:cNvSpPr>
          <p:nvPr>
            <p:ph type="body" idx="1"/>
          </p:nvPr>
        </p:nvSpPr>
        <p:spPr>
          <a:xfrm>
            <a:off x="838200" y="2682875"/>
            <a:ext cx="6538913" cy="3889375"/>
          </a:xfrm>
          <a:noFill/>
        </p:spPr>
        <p:txBody>
          <a:bodyPr lIns="92075" tIns="46038" rIns="92075" bIns="46038"/>
          <a:lstStyle/>
          <a:p>
            <a:pPr eaLnBrk="1" hangingPunct="1">
              <a:buFont typeface="Wingdings" panose="05000000000000000000" pitchFamily="2" charset="2"/>
              <a:buNone/>
            </a:pPr>
            <a:r>
              <a:rPr lang="en-US" altLang="en-US" smtClean="0"/>
              <a:t>																					</a:t>
            </a:r>
          </a:p>
          <a:p>
            <a:pPr eaLnBrk="1" hangingPunct="1"/>
            <a:r>
              <a:rPr lang="en-US" altLang="en-US" sz="2400" smtClean="0"/>
              <a:t>Since </a:t>
            </a:r>
            <a:r>
              <a:rPr lang="en-US" altLang="en-US" sz="2400" i="1" smtClean="0">
                <a:latin typeface="Times New Roman" panose="02020603050405020304" pitchFamily="18" charset="0"/>
              </a:rPr>
              <a:t>p</a:t>
            </a:r>
            <a:r>
              <a:rPr lang="en-US" altLang="en-US" sz="2400" smtClean="0"/>
              <a:t> is a risk-neutral probability	20</a:t>
            </a:r>
            <a:r>
              <a:rPr lang="en-US" altLang="en-US" sz="2400" i="1" smtClean="0">
                <a:latin typeface="Times New Roman" panose="02020603050405020304" pitchFamily="18" charset="0"/>
              </a:rPr>
              <a:t>e</a:t>
            </a:r>
            <a:r>
              <a:rPr lang="en-US" altLang="en-US" sz="2400" baseline="30000" smtClean="0"/>
              <a:t>0.12 </a:t>
            </a:r>
            <a:r>
              <a:rPr lang="en-US" altLang="en-US" sz="2400" baseline="30000" smtClean="0">
                <a:latin typeface="Symbol" panose="05050102010706020507" pitchFamily="18" charset="2"/>
              </a:rPr>
              <a:t>´</a:t>
            </a:r>
            <a:r>
              <a:rPr lang="en-US" altLang="en-US" sz="2400" baseline="30000" smtClean="0"/>
              <a:t>0.25 </a:t>
            </a:r>
            <a:r>
              <a:rPr lang="en-US" altLang="en-US" sz="2400" smtClean="0"/>
              <a:t>= </a:t>
            </a:r>
            <a:r>
              <a:rPr lang="en-US" altLang="en-US" sz="2400" smtClean="0">
                <a:latin typeface="Times New Roman" panose="02020603050405020304" pitchFamily="18" charset="0"/>
              </a:rPr>
              <a:t>22</a:t>
            </a:r>
            <a:r>
              <a:rPr lang="en-US" altLang="en-US" sz="2400" i="1" smtClean="0">
                <a:latin typeface="Times New Roman" panose="02020603050405020304" pitchFamily="18" charset="0"/>
              </a:rPr>
              <a:t>p</a:t>
            </a:r>
            <a:r>
              <a:rPr lang="en-US" altLang="en-US" sz="2400" smtClean="0">
                <a:latin typeface="Times New Roman" panose="02020603050405020304" pitchFamily="18" charset="0"/>
              </a:rPr>
              <a:t> + 18(1 – </a:t>
            </a:r>
            <a:r>
              <a:rPr lang="en-US" altLang="en-US" sz="2400" i="1" smtClean="0">
                <a:latin typeface="Times New Roman" panose="02020603050405020304" pitchFamily="18" charset="0"/>
              </a:rPr>
              <a:t>p</a:t>
            </a:r>
            <a:r>
              <a:rPr lang="en-US" altLang="en-US" sz="2400" smtClean="0">
                <a:latin typeface="Times New Roman" panose="02020603050405020304" pitchFamily="18" charset="0"/>
              </a:rPr>
              <a:t> ); </a:t>
            </a:r>
            <a:r>
              <a:rPr lang="en-US" altLang="en-US" sz="2400" i="1" smtClean="0">
                <a:latin typeface="Times New Roman" panose="02020603050405020304" pitchFamily="18" charset="0"/>
              </a:rPr>
              <a:t>p</a:t>
            </a:r>
            <a:r>
              <a:rPr lang="en-US" altLang="en-US" sz="2400" smtClean="0"/>
              <a:t> = 0.6523</a:t>
            </a:r>
          </a:p>
        </p:txBody>
      </p:sp>
      <p:graphicFrame>
        <p:nvGraphicFramePr>
          <p:cNvPr id="27653" name="Object 0"/>
          <p:cNvGraphicFramePr>
            <a:graphicFrameLocks/>
          </p:cNvGraphicFramePr>
          <p:nvPr/>
        </p:nvGraphicFramePr>
        <p:xfrm>
          <a:off x="1954213" y="3886200"/>
          <a:ext cx="4648200" cy="755650"/>
        </p:xfrm>
        <a:graphic>
          <a:graphicData uri="http://schemas.openxmlformats.org/presentationml/2006/ole">
            <mc:AlternateContent xmlns:mc="http://schemas.openxmlformats.org/markup-compatibility/2006">
              <mc:Choice xmlns:v="urn:schemas-microsoft-com:vml" Requires="v">
                <p:oleObj spid="_x0000_s27663" name="Equation" r:id="rId4" imgW="2311400" imgH="419100" progId="Equation.3">
                  <p:embed/>
                </p:oleObj>
              </mc:Choice>
              <mc:Fallback>
                <p:oleObj name="Equation" r:id="rId4" imgW="2311400" imgH="419100" progId="Equation.3">
                  <p:embed/>
                  <p:pic>
                    <p:nvPicPr>
                      <p:cNvPr id="0" name="Object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4213" y="3886200"/>
                        <a:ext cx="46482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7654" name="Group 1"/>
          <p:cNvGrpSpPr>
            <a:grpSpLocks/>
          </p:cNvGrpSpPr>
          <p:nvPr/>
        </p:nvGrpSpPr>
        <p:grpSpPr bwMode="auto">
          <a:xfrm>
            <a:off x="1876425" y="1284288"/>
            <a:ext cx="4152900" cy="2178050"/>
            <a:chOff x="3562350" y="1225550"/>
            <a:chExt cx="4152900" cy="2177839"/>
          </a:xfrm>
        </p:grpSpPr>
        <p:sp>
          <p:nvSpPr>
            <p:cNvPr id="27656" name="Line 5"/>
            <p:cNvSpPr>
              <a:spLocks noChangeShapeType="1"/>
            </p:cNvSpPr>
            <p:nvPr/>
          </p:nvSpPr>
          <p:spPr bwMode="auto">
            <a:xfrm flipV="1">
              <a:off x="3959225" y="1654175"/>
              <a:ext cx="2005013" cy="7302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7657" name="Line 6"/>
            <p:cNvSpPr>
              <a:spLocks noChangeShapeType="1"/>
            </p:cNvSpPr>
            <p:nvPr/>
          </p:nvSpPr>
          <p:spPr bwMode="auto">
            <a:xfrm>
              <a:off x="3959225" y="2384425"/>
              <a:ext cx="2005013" cy="7302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7658" name="Rectangle 7"/>
            <p:cNvSpPr>
              <a:spLocks noChangeArrowheads="1"/>
            </p:cNvSpPr>
            <p:nvPr/>
          </p:nvSpPr>
          <p:spPr bwMode="auto">
            <a:xfrm>
              <a:off x="5924550" y="1225550"/>
              <a:ext cx="1288814"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S</a:t>
              </a:r>
              <a:r>
                <a:rPr lang="en-US" altLang="en-US" sz="2400" baseline="-25000">
                  <a:latin typeface="Times New Roman" panose="02020603050405020304" pitchFamily="18" charset="0"/>
                </a:rPr>
                <a:t>0</a:t>
              </a:r>
              <a:r>
                <a:rPr lang="en-US" altLang="en-US" sz="2400" i="1">
                  <a:latin typeface="Times New Roman" panose="02020603050405020304" pitchFamily="18" charset="0"/>
                </a:rPr>
                <a:t>u</a:t>
              </a:r>
              <a:r>
                <a:rPr lang="en-US" altLang="en-US" sz="2400"/>
                <a:t> = 22</a:t>
              </a:r>
              <a:endParaRPr lang="en-US" altLang="en-US" sz="2400" i="1"/>
            </a:p>
            <a:p>
              <a:pPr>
                <a:spcBef>
                  <a:spcPct val="0"/>
                </a:spcBef>
                <a:buClrTx/>
                <a:buSzTx/>
                <a:buFontTx/>
                <a:buNone/>
              </a:pPr>
              <a:r>
                <a:rPr lang="en-US" altLang="en-US" sz="2400"/>
                <a:t> </a:t>
              </a:r>
              <a:r>
                <a:rPr lang="en-US" altLang="en-US" sz="2400">
                  <a:latin typeface="Times New Roman" panose="02020603050405020304" pitchFamily="18" charset="0"/>
                </a:rPr>
                <a:t>ƒ</a:t>
              </a:r>
              <a:r>
                <a:rPr lang="en-US" altLang="en-US" sz="2400" i="1" baseline="-25000">
                  <a:latin typeface="Times New Roman" panose="02020603050405020304" pitchFamily="18" charset="0"/>
                </a:rPr>
                <a:t>u</a:t>
              </a:r>
              <a:r>
                <a:rPr lang="en-US" altLang="en-US" sz="2400"/>
                <a:t> = 1</a:t>
              </a:r>
            </a:p>
          </p:txBody>
        </p:sp>
        <p:sp>
          <p:nvSpPr>
            <p:cNvPr id="27659" name="Rectangle 8"/>
            <p:cNvSpPr>
              <a:spLocks noChangeArrowheads="1"/>
            </p:cNvSpPr>
            <p:nvPr/>
          </p:nvSpPr>
          <p:spPr bwMode="auto">
            <a:xfrm>
              <a:off x="6029325" y="2571750"/>
              <a:ext cx="1685925"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S</a:t>
              </a:r>
              <a:r>
                <a:rPr lang="en-US" altLang="en-US" sz="2400" baseline="-25000">
                  <a:latin typeface="Times New Roman" panose="02020603050405020304" pitchFamily="18" charset="0"/>
                </a:rPr>
                <a:t>0</a:t>
              </a:r>
              <a:r>
                <a:rPr lang="en-US" altLang="en-US" sz="2400" i="1">
                  <a:latin typeface="Times New Roman" panose="02020603050405020304" pitchFamily="18" charset="0"/>
                </a:rPr>
                <a:t>d</a:t>
              </a:r>
              <a:r>
                <a:rPr lang="en-US" altLang="en-US" sz="2400"/>
                <a:t> = 18</a:t>
              </a:r>
              <a:endParaRPr lang="en-US" altLang="en-US" sz="2400" i="1"/>
            </a:p>
            <a:p>
              <a:pPr>
                <a:spcBef>
                  <a:spcPct val="0"/>
                </a:spcBef>
                <a:buClrTx/>
                <a:buSzTx/>
                <a:buFontTx/>
                <a:buNone/>
              </a:pPr>
              <a:r>
                <a:rPr lang="en-US" altLang="en-US" sz="2400"/>
                <a:t> </a:t>
              </a:r>
              <a:r>
                <a:rPr lang="en-US" altLang="en-US" sz="2400">
                  <a:latin typeface="Times New Roman" panose="02020603050405020304" pitchFamily="18" charset="0"/>
                </a:rPr>
                <a:t>ƒ</a:t>
              </a:r>
              <a:r>
                <a:rPr lang="en-US" altLang="en-US" sz="2400" i="1" baseline="-25000">
                  <a:latin typeface="Times New Roman" panose="02020603050405020304" pitchFamily="18" charset="0"/>
                </a:rPr>
                <a:t>d</a:t>
              </a:r>
              <a:r>
                <a:rPr lang="en-US" altLang="en-US" sz="2400"/>
                <a:t> = 0</a:t>
              </a:r>
            </a:p>
          </p:txBody>
        </p:sp>
        <p:sp>
          <p:nvSpPr>
            <p:cNvPr id="27660" name="Rectangle 9"/>
            <p:cNvSpPr>
              <a:spLocks noChangeArrowheads="1"/>
            </p:cNvSpPr>
            <p:nvPr/>
          </p:nvSpPr>
          <p:spPr bwMode="auto">
            <a:xfrm>
              <a:off x="3562350" y="1987550"/>
              <a:ext cx="442429" cy="83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S</a:t>
              </a:r>
              <a:r>
                <a:rPr lang="en-US" altLang="en-US" sz="2400" baseline="-25000">
                  <a:latin typeface="Times New Roman" panose="02020603050405020304" pitchFamily="18" charset="0"/>
                </a:rPr>
                <a:t>0</a:t>
              </a:r>
              <a:endParaRPr lang="en-US" altLang="en-US" sz="2400"/>
            </a:p>
            <a:p>
              <a:pPr>
                <a:spcBef>
                  <a:spcPct val="0"/>
                </a:spcBef>
                <a:buClrTx/>
                <a:buSzTx/>
                <a:buFontTx/>
                <a:buNone/>
              </a:pPr>
              <a:r>
                <a:rPr lang="en-US" altLang="en-US" sz="2400">
                  <a:latin typeface="Times New Roman" panose="02020603050405020304" pitchFamily="18" charset="0"/>
                </a:rPr>
                <a:t>ƒ</a:t>
              </a:r>
            </a:p>
          </p:txBody>
        </p:sp>
        <p:sp>
          <p:nvSpPr>
            <p:cNvPr id="27661" name="Rectangle 10"/>
            <p:cNvSpPr>
              <a:spLocks noChangeArrowheads="1"/>
            </p:cNvSpPr>
            <p:nvPr/>
          </p:nvSpPr>
          <p:spPr bwMode="auto">
            <a:xfrm rot="-1200000">
              <a:off x="4706938" y="1571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i="1">
                  <a:latin typeface="Times New Roman" panose="02020603050405020304" pitchFamily="18" charset="0"/>
                </a:rPr>
                <a:t>p</a:t>
              </a:r>
            </a:p>
          </p:txBody>
        </p:sp>
        <p:sp>
          <p:nvSpPr>
            <p:cNvPr id="27662" name="Rectangle 11"/>
            <p:cNvSpPr>
              <a:spLocks noChangeArrowheads="1"/>
            </p:cNvSpPr>
            <p:nvPr/>
          </p:nvSpPr>
          <p:spPr bwMode="auto">
            <a:xfrm rot="1140000">
              <a:off x="4248150" y="2803525"/>
              <a:ext cx="112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t>(1</a:t>
              </a:r>
              <a:r>
                <a:rPr lang="en-US" altLang="en-US" sz="2400">
                  <a:latin typeface="Symbol" panose="05050102010706020507" pitchFamily="18" charset="2"/>
                </a:rPr>
                <a:t> </a:t>
              </a:r>
              <a:r>
                <a:rPr lang="en-US" altLang="en-US" sz="2400"/>
                <a:t>– </a:t>
              </a:r>
              <a:r>
                <a:rPr lang="en-US" altLang="en-US" sz="2400" i="1">
                  <a:latin typeface="Times New Roman" panose="02020603050405020304" pitchFamily="18" charset="0"/>
                </a:rPr>
                <a:t>p</a:t>
              </a:r>
              <a:r>
                <a:rPr lang="en-US" altLang="en-US" sz="2400"/>
                <a:t> )</a:t>
              </a:r>
            </a:p>
          </p:txBody>
        </p:sp>
      </p:grpSp>
      <p:sp>
        <p:nvSpPr>
          <p:cNvPr id="27655" name="Slide Number Placeholder 1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CDE6A18-9969-488B-BDAD-CAD995E164B4}" type="slidenum">
              <a:rPr lang="en-US" altLang="en-US" sz="1800"/>
              <a:pPr eaLnBrk="1" hangingPunct="1">
                <a:spcBef>
                  <a:spcPct val="0"/>
                </a:spcBef>
                <a:buClrTx/>
                <a:buSzTx/>
                <a:buFontTx/>
                <a:buNone/>
              </a:pPr>
              <a:t>15</a:t>
            </a:fld>
            <a:endParaRPr lang="en-US" altLang="en-US" sz="180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28675" name="Rectangle 2"/>
          <p:cNvSpPr>
            <a:spLocks noGrp="1" noChangeArrowheads="1"/>
          </p:cNvSpPr>
          <p:nvPr>
            <p:ph type="title"/>
          </p:nvPr>
        </p:nvSpPr>
        <p:spPr>
          <a:xfrm>
            <a:off x="381000" y="0"/>
            <a:ext cx="7543800" cy="1295400"/>
          </a:xfrm>
          <a:noFill/>
        </p:spPr>
        <p:txBody>
          <a:bodyPr lIns="92075" tIns="46038" rIns="92075" bIns="46038" anchor="ctr"/>
          <a:lstStyle/>
          <a:p>
            <a:pPr eaLnBrk="1" hangingPunct="1"/>
            <a:r>
              <a:rPr lang="en-US" altLang="en-US" smtClean="0"/>
              <a:t>Valuing the Option Using Risk-Neutral Valuation</a:t>
            </a:r>
          </a:p>
        </p:txBody>
      </p:sp>
      <p:sp>
        <p:nvSpPr>
          <p:cNvPr id="28676" name="Rectangle 3"/>
          <p:cNvSpPr>
            <a:spLocks noGrp="1" noChangeArrowheads="1"/>
          </p:cNvSpPr>
          <p:nvPr>
            <p:ph type="body" idx="1"/>
          </p:nvPr>
        </p:nvSpPr>
        <p:spPr>
          <a:xfrm>
            <a:off x="685800" y="1447800"/>
            <a:ext cx="6778625" cy="4411663"/>
          </a:xfrm>
          <a:noFill/>
        </p:spPr>
        <p:txBody>
          <a:bodyPr lIns="92075" tIns="46038" rIns="92075" bIns="46038"/>
          <a:lstStyle/>
          <a:p>
            <a:pPr eaLnBrk="1" hangingPunct="1">
              <a:buFont typeface="Wingdings" panose="05000000000000000000" pitchFamily="2" charset="2"/>
              <a:buNone/>
            </a:pPr>
            <a:r>
              <a:rPr lang="en-US" altLang="en-US" smtClean="0"/>
              <a:t>																						</a:t>
            </a:r>
          </a:p>
          <a:p>
            <a:pPr eaLnBrk="1" hangingPunct="1">
              <a:buFont typeface="Wingdings" panose="05000000000000000000" pitchFamily="2" charset="2"/>
              <a:buNone/>
            </a:pPr>
            <a:r>
              <a:rPr lang="en-US" altLang="en-US" sz="2800" smtClean="0"/>
              <a:t>	</a:t>
            </a:r>
          </a:p>
          <a:p>
            <a:pPr eaLnBrk="1" hangingPunct="1">
              <a:buFont typeface="Wingdings" panose="05000000000000000000" pitchFamily="2" charset="2"/>
              <a:buNone/>
            </a:pPr>
            <a:r>
              <a:rPr lang="en-US" altLang="en-US" sz="2800" smtClean="0"/>
              <a:t>	</a:t>
            </a:r>
          </a:p>
          <a:p>
            <a:pPr eaLnBrk="1" hangingPunct="1">
              <a:buFont typeface="Wingdings" panose="05000000000000000000" pitchFamily="2" charset="2"/>
              <a:buNone/>
            </a:pPr>
            <a:r>
              <a:rPr lang="en-US" altLang="en-US" sz="2800" smtClean="0"/>
              <a:t>The value of the option is 		</a:t>
            </a:r>
          </a:p>
          <a:p>
            <a:pPr eaLnBrk="1" hangingPunct="1">
              <a:buFont typeface="Wingdings" panose="05000000000000000000" pitchFamily="2" charset="2"/>
              <a:buNone/>
            </a:pPr>
            <a:r>
              <a:rPr lang="en-US" altLang="en-US" sz="2800" i="1" smtClean="0">
                <a:latin typeface="Times New Roman" panose="02020603050405020304" pitchFamily="18" charset="0"/>
              </a:rPr>
              <a:t>e</a:t>
            </a:r>
            <a:r>
              <a:rPr lang="en-US" altLang="en-US" sz="2800" baseline="30000" smtClean="0"/>
              <a:t>–0.12</a:t>
            </a:r>
            <a:r>
              <a:rPr lang="en-US" altLang="en-US" sz="2800" baseline="30000" smtClean="0">
                <a:latin typeface="Symbol" panose="05050102010706020507" pitchFamily="18" charset="2"/>
              </a:rPr>
              <a:t>´</a:t>
            </a:r>
            <a:r>
              <a:rPr lang="en-US" altLang="en-US" sz="2800" baseline="30000" smtClean="0"/>
              <a:t>0.25 </a:t>
            </a:r>
            <a:r>
              <a:rPr lang="en-US" altLang="en-US" sz="2800" smtClean="0"/>
              <a:t>[0.6523</a:t>
            </a:r>
            <a:r>
              <a:rPr lang="en-US" altLang="en-US" sz="2800" smtClean="0">
                <a:latin typeface="Symbol" panose="05050102010706020507" pitchFamily="18" charset="2"/>
              </a:rPr>
              <a:t>´</a:t>
            </a:r>
            <a:r>
              <a:rPr lang="en-US" altLang="en-US" sz="2800" smtClean="0"/>
              <a:t>1 + 0.3477</a:t>
            </a:r>
            <a:r>
              <a:rPr lang="en-US" altLang="en-US" sz="2800" smtClean="0">
                <a:latin typeface="Symbol" panose="05050102010706020507" pitchFamily="18" charset="2"/>
              </a:rPr>
              <a:t>´</a:t>
            </a:r>
            <a:r>
              <a:rPr lang="en-US" altLang="en-US" sz="2800" smtClean="0"/>
              <a:t>0] </a:t>
            </a:r>
          </a:p>
          <a:p>
            <a:pPr eaLnBrk="1" hangingPunct="1">
              <a:buFont typeface="Wingdings" panose="05000000000000000000" pitchFamily="2" charset="2"/>
              <a:buNone/>
            </a:pPr>
            <a:r>
              <a:rPr lang="en-US" altLang="en-US" sz="2800" smtClean="0"/>
              <a:t>    = 0.633</a:t>
            </a:r>
          </a:p>
        </p:txBody>
      </p:sp>
      <p:grpSp>
        <p:nvGrpSpPr>
          <p:cNvPr id="28677" name="Group 11"/>
          <p:cNvGrpSpPr>
            <a:grpSpLocks/>
          </p:cNvGrpSpPr>
          <p:nvPr/>
        </p:nvGrpSpPr>
        <p:grpSpPr bwMode="auto">
          <a:xfrm>
            <a:off x="2292350" y="1624013"/>
            <a:ext cx="3651250" cy="2279650"/>
            <a:chOff x="2208" y="1210"/>
            <a:chExt cx="2300" cy="1436"/>
          </a:xfrm>
        </p:grpSpPr>
        <p:sp>
          <p:nvSpPr>
            <p:cNvPr id="28679" name="Line 4"/>
            <p:cNvSpPr>
              <a:spLocks noChangeShapeType="1"/>
            </p:cNvSpPr>
            <p:nvPr/>
          </p:nvSpPr>
          <p:spPr bwMode="auto">
            <a:xfrm flipV="1">
              <a:off x="2458" y="1480"/>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8680" name="Line 5"/>
            <p:cNvSpPr>
              <a:spLocks noChangeShapeType="1"/>
            </p:cNvSpPr>
            <p:nvPr/>
          </p:nvSpPr>
          <p:spPr bwMode="auto">
            <a:xfrm>
              <a:off x="2458" y="1940"/>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8681" name="Rectangle 6"/>
            <p:cNvSpPr>
              <a:spLocks noChangeArrowheads="1"/>
            </p:cNvSpPr>
            <p:nvPr/>
          </p:nvSpPr>
          <p:spPr bwMode="auto">
            <a:xfrm>
              <a:off x="3696" y="1210"/>
              <a:ext cx="81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S</a:t>
              </a:r>
              <a:r>
                <a:rPr lang="en-US" altLang="en-US" sz="2400" baseline="-25000">
                  <a:latin typeface="Times New Roman" panose="02020603050405020304" pitchFamily="18" charset="0"/>
                </a:rPr>
                <a:t>0</a:t>
              </a:r>
              <a:r>
                <a:rPr lang="en-US" altLang="en-US" sz="2400" i="1">
                  <a:latin typeface="Times New Roman" panose="02020603050405020304" pitchFamily="18" charset="0"/>
                </a:rPr>
                <a:t>u</a:t>
              </a:r>
              <a:r>
                <a:rPr lang="en-US" altLang="en-US" sz="2400"/>
                <a:t> = 22</a:t>
              </a:r>
              <a:endParaRPr lang="en-US" altLang="en-US" sz="2400" i="1"/>
            </a:p>
            <a:p>
              <a:pPr>
                <a:spcBef>
                  <a:spcPct val="0"/>
                </a:spcBef>
                <a:buClrTx/>
                <a:buSzTx/>
                <a:buFontTx/>
                <a:buNone/>
              </a:pPr>
              <a:r>
                <a:rPr lang="en-US" altLang="en-US" sz="2400"/>
                <a:t> </a:t>
              </a:r>
              <a:r>
                <a:rPr lang="en-US" altLang="en-US" sz="2400">
                  <a:latin typeface="Times New Roman" panose="02020603050405020304" pitchFamily="18" charset="0"/>
                </a:rPr>
                <a:t>ƒ</a:t>
              </a:r>
              <a:r>
                <a:rPr lang="en-US" altLang="en-US" sz="2400" i="1" baseline="-25000">
                  <a:latin typeface="Times New Roman" panose="02020603050405020304" pitchFamily="18" charset="0"/>
                </a:rPr>
                <a:t>u</a:t>
              </a:r>
              <a:r>
                <a:rPr lang="en-US" altLang="en-US" sz="2400"/>
                <a:t> = 1</a:t>
              </a:r>
            </a:p>
          </p:txBody>
        </p:sp>
        <p:sp>
          <p:nvSpPr>
            <p:cNvPr id="28682" name="Rectangle 7"/>
            <p:cNvSpPr>
              <a:spLocks noChangeArrowheads="1"/>
            </p:cNvSpPr>
            <p:nvPr/>
          </p:nvSpPr>
          <p:spPr bwMode="auto">
            <a:xfrm>
              <a:off x="3696" y="2122"/>
              <a:ext cx="81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S</a:t>
              </a:r>
              <a:r>
                <a:rPr lang="en-US" altLang="en-US" sz="2400" baseline="-25000">
                  <a:latin typeface="Times New Roman" panose="02020603050405020304" pitchFamily="18" charset="0"/>
                </a:rPr>
                <a:t>0</a:t>
              </a:r>
              <a:r>
                <a:rPr lang="en-US" altLang="en-US" sz="2400" i="1">
                  <a:latin typeface="Times New Roman" panose="02020603050405020304" pitchFamily="18" charset="0"/>
                </a:rPr>
                <a:t>d</a:t>
              </a:r>
              <a:r>
                <a:rPr lang="en-US" altLang="en-US" sz="2400"/>
                <a:t> = 18</a:t>
              </a:r>
              <a:endParaRPr lang="en-US" altLang="en-US" sz="2400" i="1"/>
            </a:p>
            <a:p>
              <a:pPr>
                <a:spcBef>
                  <a:spcPct val="0"/>
                </a:spcBef>
                <a:buClrTx/>
                <a:buSzTx/>
                <a:buFontTx/>
                <a:buNone/>
              </a:pPr>
              <a:r>
                <a:rPr lang="en-US" altLang="en-US" sz="2400"/>
                <a:t> </a:t>
              </a:r>
              <a:r>
                <a:rPr lang="en-US" altLang="en-US" sz="2400">
                  <a:latin typeface="Times New Roman" panose="02020603050405020304" pitchFamily="18" charset="0"/>
                </a:rPr>
                <a:t>ƒ</a:t>
              </a:r>
              <a:r>
                <a:rPr lang="en-US" altLang="en-US" sz="2400" i="1" baseline="-25000">
                  <a:latin typeface="Times New Roman" panose="02020603050405020304" pitchFamily="18" charset="0"/>
                </a:rPr>
                <a:t>d</a:t>
              </a:r>
              <a:r>
                <a:rPr lang="en-US" altLang="en-US" sz="2400"/>
                <a:t> = 0</a:t>
              </a:r>
            </a:p>
          </p:txBody>
        </p:sp>
        <p:sp>
          <p:nvSpPr>
            <p:cNvPr id="28683" name="Rectangle 8"/>
            <p:cNvSpPr>
              <a:spLocks noChangeArrowheads="1"/>
            </p:cNvSpPr>
            <p:nvPr/>
          </p:nvSpPr>
          <p:spPr bwMode="auto">
            <a:xfrm>
              <a:off x="2208" y="1690"/>
              <a:ext cx="279"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S</a:t>
              </a:r>
              <a:r>
                <a:rPr lang="en-US" altLang="en-US" sz="2400" baseline="-25000">
                  <a:latin typeface="Times New Roman" panose="02020603050405020304" pitchFamily="18" charset="0"/>
                </a:rPr>
                <a:t>0</a:t>
              </a:r>
              <a:endParaRPr lang="en-US" altLang="en-US" sz="2400"/>
            </a:p>
            <a:p>
              <a:pPr>
                <a:spcBef>
                  <a:spcPct val="0"/>
                </a:spcBef>
                <a:buClrTx/>
                <a:buSzTx/>
                <a:buFontTx/>
                <a:buNone/>
              </a:pPr>
              <a:r>
                <a:rPr lang="en-US" altLang="en-US" sz="2400">
                  <a:latin typeface="Times New Roman" panose="02020603050405020304" pitchFamily="18" charset="0"/>
                </a:rPr>
                <a:t>ƒ</a:t>
              </a:r>
            </a:p>
          </p:txBody>
        </p:sp>
        <p:sp>
          <p:nvSpPr>
            <p:cNvPr id="28684" name="Rectangle 9"/>
            <p:cNvSpPr>
              <a:spLocks noChangeArrowheads="1"/>
            </p:cNvSpPr>
            <p:nvPr/>
          </p:nvSpPr>
          <p:spPr bwMode="auto">
            <a:xfrm rot="-1200000">
              <a:off x="2438" y="1451"/>
              <a:ext cx="7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t>0.6523</a:t>
              </a:r>
            </a:p>
          </p:txBody>
        </p:sp>
        <p:sp>
          <p:nvSpPr>
            <p:cNvPr id="28685" name="Rectangle 10"/>
            <p:cNvSpPr>
              <a:spLocks noChangeArrowheads="1"/>
            </p:cNvSpPr>
            <p:nvPr/>
          </p:nvSpPr>
          <p:spPr bwMode="auto">
            <a:xfrm rot="1140000">
              <a:off x="2440" y="2219"/>
              <a:ext cx="7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t>0.3477</a:t>
              </a:r>
            </a:p>
          </p:txBody>
        </p:sp>
      </p:grpSp>
      <p:sp>
        <p:nvSpPr>
          <p:cNvPr id="28678" name="Slide Number Placeholder 1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82918DE-BFC3-4DEC-B863-CE168944F0E5}" type="slidenum">
              <a:rPr lang="en-US" altLang="en-US" sz="1800"/>
              <a:pPr eaLnBrk="1" hangingPunct="1">
                <a:spcBef>
                  <a:spcPct val="0"/>
                </a:spcBef>
                <a:buClrTx/>
                <a:buSzTx/>
                <a:buFontTx/>
                <a:buNone/>
              </a:pPr>
              <a:t>16</a:t>
            </a:fld>
            <a:endParaRPr lang="en-US" altLang="en-US" sz="180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29699" name="Rectangle 2"/>
          <p:cNvSpPr>
            <a:spLocks noGrp="1" noChangeArrowheads="1"/>
          </p:cNvSpPr>
          <p:nvPr>
            <p:ph type="title"/>
          </p:nvPr>
        </p:nvSpPr>
        <p:spPr>
          <a:xfrm>
            <a:off x="685800" y="0"/>
            <a:ext cx="7772400" cy="1143000"/>
          </a:xfrm>
          <a:noFill/>
        </p:spPr>
        <p:txBody>
          <a:bodyPr lIns="92075" tIns="46038" rIns="92075" bIns="46038" anchor="ctr"/>
          <a:lstStyle/>
          <a:p>
            <a:pPr eaLnBrk="1" hangingPunct="1"/>
            <a:r>
              <a:rPr lang="en-US" altLang="en-US" smtClean="0"/>
              <a:t>A Two-Step Example</a:t>
            </a:r>
            <a:br>
              <a:rPr lang="en-US" altLang="en-US" smtClean="0"/>
            </a:br>
            <a:r>
              <a:rPr lang="en-US" altLang="en-US" sz="2200" smtClean="0"/>
              <a:t>Figure 12.3, page 275</a:t>
            </a:r>
            <a:endParaRPr lang="en-US" altLang="en-US" smtClean="0"/>
          </a:p>
        </p:txBody>
      </p:sp>
      <p:sp>
        <p:nvSpPr>
          <p:cNvPr id="29700" name="Rectangle 3"/>
          <p:cNvSpPr>
            <a:spLocks noGrp="1" noChangeArrowheads="1"/>
          </p:cNvSpPr>
          <p:nvPr>
            <p:ph type="body" idx="1"/>
          </p:nvPr>
        </p:nvSpPr>
        <p:spPr>
          <a:xfrm>
            <a:off x="1009650" y="1076325"/>
            <a:ext cx="5494338" cy="4995863"/>
          </a:xfrm>
        </p:spPr>
        <p:txBody>
          <a:bodyPr lIns="92075" tIns="46038" rIns="92075" bIns="46038"/>
          <a:lstStyle/>
          <a:p>
            <a:pPr eaLnBrk="1" hangingPunct="1">
              <a:buFont typeface="Wingdings" panose="05000000000000000000" pitchFamily="2" charset="2"/>
              <a:buNone/>
              <a:defRPr/>
            </a:pPr>
            <a:r>
              <a:rPr lang="en-US" dirty="0" smtClean="0"/>
              <a:t>																												</a:t>
            </a:r>
          </a:p>
          <a:p>
            <a:pPr eaLnBrk="1" hangingPunct="1">
              <a:buFont typeface="Wingdings" panose="05000000000000000000" pitchFamily="2" charset="2"/>
              <a:buNone/>
              <a:defRPr/>
            </a:pPr>
            <a:endParaRPr lang="en-US" dirty="0" smtClean="0"/>
          </a:p>
          <a:p>
            <a:pPr eaLnBrk="1" hangingPunct="1">
              <a:defRPr/>
            </a:pPr>
            <a:r>
              <a:rPr lang="en-US" dirty="0" smtClean="0"/>
              <a:t>Each time step is 3 months</a:t>
            </a:r>
          </a:p>
          <a:p>
            <a:pPr eaLnBrk="1" hangingPunct="1">
              <a:defRPr/>
            </a:pPr>
            <a:r>
              <a:rPr lang="en-US" i="1" dirty="0" smtClean="0">
                <a:latin typeface="+mj-lt"/>
              </a:rPr>
              <a:t>K</a:t>
            </a:r>
            <a:r>
              <a:rPr lang="en-US" dirty="0" smtClean="0"/>
              <a:t>=21, </a:t>
            </a:r>
            <a:r>
              <a:rPr lang="en-US" i="1" dirty="0" smtClean="0">
                <a:latin typeface="+mj-lt"/>
              </a:rPr>
              <a:t>r </a:t>
            </a:r>
            <a:r>
              <a:rPr lang="en-US" dirty="0" smtClean="0"/>
              <a:t>=12%</a:t>
            </a:r>
          </a:p>
        </p:txBody>
      </p:sp>
      <p:grpSp>
        <p:nvGrpSpPr>
          <p:cNvPr id="29701" name="Group 20"/>
          <p:cNvGrpSpPr>
            <a:grpSpLocks/>
          </p:cNvGrpSpPr>
          <p:nvPr/>
        </p:nvGrpSpPr>
        <p:grpSpPr bwMode="auto">
          <a:xfrm>
            <a:off x="1409700" y="1122363"/>
            <a:ext cx="5324475" cy="3409950"/>
            <a:chOff x="1425" y="724"/>
            <a:chExt cx="3354" cy="2147"/>
          </a:xfrm>
        </p:grpSpPr>
        <p:sp>
          <p:nvSpPr>
            <p:cNvPr id="29703" name="Rectangle 4"/>
            <p:cNvSpPr>
              <a:spLocks noChangeArrowheads="1"/>
            </p:cNvSpPr>
            <p:nvPr/>
          </p:nvSpPr>
          <p:spPr bwMode="auto">
            <a:xfrm>
              <a:off x="1425" y="1625"/>
              <a:ext cx="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20</a:t>
              </a:r>
            </a:p>
          </p:txBody>
        </p:sp>
        <p:grpSp>
          <p:nvGrpSpPr>
            <p:cNvPr id="29704" name="Group 14"/>
            <p:cNvGrpSpPr>
              <a:grpSpLocks/>
            </p:cNvGrpSpPr>
            <p:nvPr/>
          </p:nvGrpSpPr>
          <p:grpSpPr bwMode="auto">
            <a:xfrm>
              <a:off x="1735" y="881"/>
              <a:ext cx="2507" cy="1820"/>
              <a:chOff x="1735" y="881"/>
              <a:chExt cx="2507" cy="1820"/>
            </a:xfrm>
          </p:grpSpPr>
          <p:grpSp>
            <p:nvGrpSpPr>
              <p:cNvPr id="29710" name="Group 7"/>
              <p:cNvGrpSpPr>
                <a:grpSpLocks/>
              </p:cNvGrpSpPr>
              <p:nvPr/>
            </p:nvGrpSpPr>
            <p:grpSpPr bwMode="auto">
              <a:xfrm>
                <a:off x="1735" y="1331"/>
                <a:ext cx="1263" cy="920"/>
                <a:chOff x="1735" y="1331"/>
                <a:chExt cx="1263" cy="920"/>
              </a:xfrm>
            </p:grpSpPr>
            <p:sp>
              <p:nvSpPr>
                <p:cNvPr id="29717" name="Line 5"/>
                <p:cNvSpPr>
                  <a:spLocks noChangeShapeType="1"/>
                </p:cNvSpPr>
                <p:nvPr/>
              </p:nvSpPr>
              <p:spPr bwMode="auto">
                <a:xfrm flipV="1">
                  <a:off x="1735" y="1331"/>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9718" name="Line 6"/>
                <p:cNvSpPr>
                  <a:spLocks noChangeShapeType="1"/>
                </p:cNvSpPr>
                <p:nvPr/>
              </p:nvSpPr>
              <p:spPr bwMode="auto">
                <a:xfrm>
                  <a:off x="1735" y="1791"/>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11" name="Group 10"/>
              <p:cNvGrpSpPr>
                <a:grpSpLocks/>
              </p:cNvGrpSpPr>
              <p:nvPr/>
            </p:nvGrpSpPr>
            <p:grpSpPr bwMode="auto">
              <a:xfrm>
                <a:off x="2979" y="881"/>
                <a:ext cx="1263" cy="920"/>
                <a:chOff x="2979" y="881"/>
                <a:chExt cx="1263" cy="920"/>
              </a:xfrm>
            </p:grpSpPr>
            <p:sp>
              <p:nvSpPr>
                <p:cNvPr id="29715" name="Line 8"/>
                <p:cNvSpPr>
                  <a:spLocks noChangeShapeType="1"/>
                </p:cNvSpPr>
                <p:nvPr/>
              </p:nvSpPr>
              <p:spPr bwMode="auto">
                <a:xfrm flipV="1">
                  <a:off x="2979" y="881"/>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9716" name="Line 9"/>
                <p:cNvSpPr>
                  <a:spLocks noChangeShapeType="1"/>
                </p:cNvSpPr>
                <p:nvPr/>
              </p:nvSpPr>
              <p:spPr bwMode="auto">
                <a:xfrm>
                  <a:off x="2979" y="1341"/>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712" name="Group 13"/>
              <p:cNvGrpSpPr>
                <a:grpSpLocks/>
              </p:cNvGrpSpPr>
              <p:nvPr/>
            </p:nvGrpSpPr>
            <p:grpSpPr bwMode="auto">
              <a:xfrm>
                <a:off x="2973" y="1781"/>
                <a:ext cx="1263" cy="920"/>
                <a:chOff x="2973" y="1781"/>
                <a:chExt cx="1263" cy="920"/>
              </a:xfrm>
            </p:grpSpPr>
            <p:sp>
              <p:nvSpPr>
                <p:cNvPr id="29713" name="Line 11"/>
                <p:cNvSpPr>
                  <a:spLocks noChangeShapeType="1"/>
                </p:cNvSpPr>
                <p:nvPr/>
              </p:nvSpPr>
              <p:spPr bwMode="auto">
                <a:xfrm flipV="1">
                  <a:off x="2973" y="1781"/>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9714" name="Line 12"/>
                <p:cNvSpPr>
                  <a:spLocks noChangeShapeType="1"/>
                </p:cNvSpPr>
                <p:nvPr/>
              </p:nvSpPr>
              <p:spPr bwMode="auto">
                <a:xfrm>
                  <a:off x="2973" y="2241"/>
                  <a:ext cx="1263" cy="46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9705" name="Rectangle 15"/>
            <p:cNvSpPr>
              <a:spLocks noChangeArrowheads="1"/>
            </p:cNvSpPr>
            <p:nvPr/>
          </p:nvSpPr>
          <p:spPr bwMode="auto">
            <a:xfrm>
              <a:off x="2716" y="1039"/>
              <a:ext cx="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22</a:t>
              </a:r>
            </a:p>
          </p:txBody>
        </p:sp>
        <p:sp>
          <p:nvSpPr>
            <p:cNvPr id="29706" name="Rectangle 16"/>
            <p:cNvSpPr>
              <a:spLocks noChangeArrowheads="1"/>
            </p:cNvSpPr>
            <p:nvPr/>
          </p:nvSpPr>
          <p:spPr bwMode="auto">
            <a:xfrm>
              <a:off x="2725" y="2227"/>
              <a:ext cx="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18</a:t>
              </a:r>
            </a:p>
          </p:txBody>
        </p:sp>
        <p:sp>
          <p:nvSpPr>
            <p:cNvPr id="29707" name="Rectangle 17"/>
            <p:cNvSpPr>
              <a:spLocks noChangeArrowheads="1"/>
            </p:cNvSpPr>
            <p:nvPr/>
          </p:nvSpPr>
          <p:spPr bwMode="auto">
            <a:xfrm>
              <a:off x="4165" y="724"/>
              <a:ext cx="61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24.2</a:t>
              </a:r>
            </a:p>
          </p:txBody>
        </p:sp>
        <p:sp>
          <p:nvSpPr>
            <p:cNvPr id="29708" name="Rectangle 18"/>
            <p:cNvSpPr>
              <a:spLocks noChangeArrowheads="1"/>
            </p:cNvSpPr>
            <p:nvPr/>
          </p:nvSpPr>
          <p:spPr bwMode="auto">
            <a:xfrm>
              <a:off x="4165" y="1615"/>
              <a:ext cx="61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19.8</a:t>
              </a:r>
            </a:p>
          </p:txBody>
        </p:sp>
        <p:sp>
          <p:nvSpPr>
            <p:cNvPr id="29709" name="Rectangle 19"/>
            <p:cNvSpPr>
              <a:spLocks noChangeArrowheads="1"/>
            </p:cNvSpPr>
            <p:nvPr/>
          </p:nvSpPr>
          <p:spPr bwMode="auto">
            <a:xfrm>
              <a:off x="4165" y="2506"/>
              <a:ext cx="61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16.2</a:t>
              </a:r>
            </a:p>
          </p:txBody>
        </p:sp>
      </p:grpSp>
      <p:sp>
        <p:nvSpPr>
          <p:cNvPr id="29702" name="Slide Number Placeholder 2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27DA2E2-A188-4D26-ABF4-B2229315A181}" type="slidenum">
              <a:rPr lang="en-US" altLang="en-US" sz="1800"/>
              <a:pPr eaLnBrk="1" hangingPunct="1">
                <a:spcBef>
                  <a:spcPct val="0"/>
                </a:spcBef>
                <a:buClrTx/>
                <a:buSzTx/>
                <a:buFontTx/>
                <a:buNone/>
              </a:pPr>
              <a:t>17</a:t>
            </a:fld>
            <a:endParaRPr lang="en-US" altLang="en-US" sz="180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30723" name="Rectangle 2"/>
          <p:cNvSpPr>
            <a:spLocks noGrp="1" noChangeArrowheads="1"/>
          </p:cNvSpPr>
          <p:nvPr>
            <p:ph type="title"/>
          </p:nvPr>
        </p:nvSpPr>
        <p:spPr>
          <a:xfrm>
            <a:off x="460375" y="3175"/>
            <a:ext cx="7772400" cy="1143000"/>
          </a:xfrm>
          <a:noFill/>
        </p:spPr>
        <p:txBody>
          <a:bodyPr lIns="92075" tIns="46038" rIns="92075" bIns="46038" anchor="ctr"/>
          <a:lstStyle/>
          <a:p>
            <a:pPr eaLnBrk="1" hangingPunct="1"/>
            <a:r>
              <a:rPr lang="en-US" altLang="en-US" smtClean="0"/>
              <a:t>Valuing a Call Option</a:t>
            </a:r>
            <a:br>
              <a:rPr lang="en-US" altLang="en-US" smtClean="0"/>
            </a:br>
            <a:r>
              <a:rPr lang="en-US" altLang="en-US" sz="2200" smtClean="0"/>
              <a:t>Figure 12.4, page 275</a:t>
            </a:r>
            <a:endParaRPr lang="en-US" altLang="en-US" smtClean="0"/>
          </a:p>
        </p:txBody>
      </p:sp>
      <p:sp>
        <p:nvSpPr>
          <p:cNvPr id="30724" name="Rectangle 3"/>
          <p:cNvSpPr>
            <a:spLocks noGrp="1" noChangeArrowheads="1"/>
          </p:cNvSpPr>
          <p:nvPr>
            <p:ph type="body" idx="1"/>
          </p:nvPr>
        </p:nvSpPr>
        <p:spPr>
          <a:xfrm>
            <a:off x="819150" y="1146175"/>
            <a:ext cx="7548563" cy="5059363"/>
          </a:xfrm>
          <a:noFill/>
        </p:spPr>
        <p:txBody>
          <a:bodyPr lIns="92075" tIns="46038" rIns="92075" bIns="46038"/>
          <a:lstStyle/>
          <a:p>
            <a:pPr eaLnBrk="1" hangingPunct="1">
              <a:buFont typeface="Wingdings" panose="05000000000000000000" pitchFamily="2" charset="2"/>
              <a:buNone/>
            </a:pPr>
            <a:r>
              <a:rPr lang="en-US" altLang="en-US" smtClean="0"/>
              <a:t>																																							</a:t>
            </a:r>
          </a:p>
          <a:p>
            <a:pPr eaLnBrk="1" hangingPunct="1">
              <a:buFont typeface="Wingdings" panose="05000000000000000000" pitchFamily="2" charset="2"/>
              <a:buNone/>
            </a:pPr>
            <a:endParaRPr lang="en-US" altLang="en-US" sz="2400" smtClean="0"/>
          </a:p>
          <a:p>
            <a:pPr eaLnBrk="1" hangingPunct="1"/>
            <a:r>
              <a:rPr lang="en-US" altLang="en-US" sz="2400" smtClean="0"/>
              <a:t>Value at node B 							= </a:t>
            </a:r>
            <a:r>
              <a:rPr lang="en-US" altLang="en-US" sz="2400" i="1" smtClean="0">
                <a:latin typeface="Times New Roman" panose="02020603050405020304" pitchFamily="18" charset="0"/>
              </a:rPr>
              <a:t>e</a:t>
            </a:r>
            <a:r>
              <a:rPr lang="en-US" altLang="en-US" sz="2400" baseline="30000" smtClean="0"/>
              <a:t>–0.12</a:t>
            </a:r>
            <a:r>
              <a:rPr lang="en-US" altLang="en-US" sz="2400" baseline="30000" smtClean="0">
                <a:latin typeface="Symbol" panose="05050102010706020507" pitchFamily="18" charset="2"/>
              </a:rPr>
              <a:t>´</a:t>
            </a:r>
            <a:r>
              <a:rPr lang="en-US" altLang="en-US" sz="2400" baseline="30000" smtClean="0"/>
              <a:t>0.25</a:t>
            </a:r>
            <a:r>
              <a:rPr lang="en-US" altLang="en-US" sz="2400" smtClean="0"/>
              <a:t>(0.6523</a:t>
            </a:r>
            <a:r>
              <a:rPr lang="en-US" altLang="en-US" sz="2400" smtClean="0">
                <a:latin typeface="Symbol" panose="05050102010706020507" pitchFamily="18" charset="2"/>
              </a:rPr>
              <a:t>´</a:t>
            </a:r>
            <a:r>
              <a:rPr lang="en-US" altLang="en-US" sz="2400" smtClean="0"/>
              <a:t>3.2 + 0.3477</a:t>
            </a:r>
            <a:r>
              <a:rPr lang="en-US" altLang="en-US" sz="2400" smtClean="0">
                <a:latin typeface="Symbol" panose="05050102010706020507" pitchFamily="18" charset="2"/>
              </a:rPr>
              <a:t>´</a:t>
            </a:r>
            <a:r>
              <a:rPr lang="en-US" altLang="en-US" sz="2400" smtClean="0"/>
              <a:t>0) = 2.0257</a:t>
            </a:r>
          </a:p>
          <a:p>
            <a:pPr eaLnBrk="1" hangingPunct="1"/>
            <a:r>
              <a:rPr lang="en-US" altLang="en-US" sz="2400" smtClean="0"/>
              <a:t>Value at node A 							= </a:t>
            </a:r>
            <a:r>
              <a:rPr lang="en-US" altLang="en-US" sz="2400" i="1" smtClean="0">
                <a:latin typeface="Times New Roman" panose="02020603050405020304" pitchFamily="18" charset="0"/>
              </a:rPr>
              <a:t>e</a:t>
            </a:r>
            <a:r>
              <a:rPr lang="en-US" altLang="en-US" sz="2400" baseline="30000" smtClean="0"/>
              <a:t>–0.12</a:t>
            </a:r>
            <a:r>
              <a:rPr lang="en-US" altLang="en-US" sz="2400" baseline="30000" smtClean="0">
                <a:latin typeface="Symbol" panose="05050102010706020507" pitchFamily="18" charset="2"/>
              </a:rPr>
              <a:t>´</a:t>
            </a:r>
            <a:r>
              <a:rPr lang="en-US" altLang="en-US" sz="2400" baseline="30000" smtClean="0"/>
              <a:t>0.25</a:t>
            </a:r>
            <a:r>
              <a:rPr lang="en-US" altLang="en-US" sz="2400" smtClean="0"/>
              <a:t>(0.6523</a:t>
            </a:r>
            <a:r>
              <a:rPr lang="en-US" altLang="en-US" sz="2400" smtClean="0">
                <a:latin typeface="Symbol" panose="05050102010706020507" pitchFamily="18" charset="2"/>
              </a:rPr>
              <a:t>´</a:t>
            </a:r>
            <a:r>
              <a:rPr lang="en-US" altLang="en-US" sz="2400" smtClean="0"/>
              <a:t>2.0257 + 0.3477</a:t>
            </a:r>
            <a:r>
              <a:rPr lang="en-US" altLang="en-US" sz="2400" smtClean="0">
                <a:latin typeface="Symbol" panose="05050102010706020507" pitchFamily="18" charset="2"/>
              </a:rPr>
              <a:t>´</a:t>
            </a:r>
            <a:r>
              <a:rPr lang="en-US" altLang="en-US" sz="2400" smtClean="0"/>
              <a:t>0)</a:t>
            </a:r>
          </a:p>
          <a:p>
            <a:pPr eaLnBrk="1" hangingPunct="1">
              <a:buFont typeface="Wingdings" panose="05000000000000000000" pitchFamily="2" charset="2"/>
              <a:buNone/>
            </a:pPr>
            <a:r>
              <a:rPr lang="en-US" altLang="en-US" sz="2400" smtClean="0"/>
              <a:t>       	=  1.2823</a:t>
            </a:r>
          </a:p>
          <a:p>
            <a:pPr eaLnBrk="1" hangingPunct="1">
              <a:buFont typeface="Wingdings" panose="05000000000000000000" pitchFamily="2" charset="2"/>
              <a:buNone/>
            </a:pPr>
            <a:endParaRPr lang="en-US" altLang="en-US" sz="2400" smtClean="0"/>
          </a:p>
        </p:txBody>
      </p:sp>
      <p:grpSp>
        <p:nvGrpSpPr>
          <p:cNvPr id="30725" name="Group 1"/>
          <p:cNvGrpSpPr>
            <a:grpSpLocks/>
          </p:cNvGrpSpPr>
          <p:nvPr/>
        </p:nvGrpSpPr>
        <p:grpSpPr bwMode="auto">
          <a:xfrm>
            <a:off x="1125538" y="898525"/>
            <a:ext cx="5492750" cy="3063875"/>
            <a:chOff x="2132013" y="1143000"/>
            <a:chExt cx="5492750" cy="3063875"/>
          </a:xfrm>
        </p:grpSpPr>
        <p:sp>
          <p:nvSpPr>
            <p:cNvPr id="30727" name="Rectangle 4"/>
            <p:cNvSpPr>
              <a:spLocks noChangeArrowheads="1"/>
            </p:cNvSpPr>
            <p:nvPr/>
          </p:nvSpPr>
          <p:spPr bwMode="auto">
            <a:xfrm>
              <a:off x="2132013" y="2290763"/>
              <a:ext cx="1117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400"/>
                <a:t>20</a:t>
              </a:r>
            </a:p>
            <a:p>
              <a:pPr algn="r">
                <a:spcBef>
                  <a:spcPct val="0"/>
                </a:spcBef>
                <a:buClrTx/>
                <a:buSzTx/>
                <a:buFontTx/>
                <a:buNone/>
              </a:pPr>
              <a:r>
                <a:rPr lang="en-US" altLang="en-US" sz="2400"/>
                <a:t>1.2823</a:t>
              </a:r>
            </a:p>
          </p:txBody>
        </p:sp>
        <p:grpSp>
          <p:nvGrpSpPr>
            <p:cNvPr id="30728" name="Group 14"/>
            <p:cNvGrpSpPr>
              <a:grpSpLocks/>
            </p:cNvGrpSpPr>
            <p:nvPr/>
          </p:nvGrpSpPr>
          <p:grpSpPr bwMode="auto">
            <a:xfrm>
              <a:off x="3044825" y="1590675"/>
              <a:ext cx="3979863" cy="2212975"/>
              <a:chOff x="1934" y="986"/>
              <a:chExt cx="2507" cy="1394"/>
            </a:xfrm>
          </p:grpSpPr>
          <p:grpSp>
            <p:nvGrpSpPr>
              <p:cNvPr id="30742" name="Group 7"/>
              <p:cNvGrpSpPr>
                <a:grpSpLocks/>
              </p:cNvGrpSpPr>
              <p:nvPr/>
            </p:nvGrpSpPr>
            <p:grpSpPr bwMode="auto">
              <a:xfrm>
                <a:off x="1934" y="1331"/>
                <a:ext cx="1263" cy="705"/>
                <a:chOff x="1934" y="1331"/>
                <a:chExt cx="1263" cy="705"/>
              </a:xfrm>
            </p:grpSpPr>
            <p:sp>
              <p:nvSpPr>
                <p:cNvPr id="30749" name="Line 5"/>
                <p:cNvSpPr>
                  <a:spLocks noChangeShapeType="1"/>
                </p:cNvSpPr>
                <p:nvPr/>
              </p:nvSpPr>
              <p:spPr bwMode="auto">
                <a:xfrm flipV="1">
                  <a:off x="1934" y="1331"/>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750" name="Line 6"/>
                <p:cNvSpPr>
                  <a:spLocks noChangeShapeType="1"/>
                </p:cNvSpPr>
                <p:nvPr/>
              </p:nvSpPr>
              <p:spPr bwMode="auto">
                <a:xfrm>
                  <a:off x="1934" y="1683"/>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0743" name="Group 10"/>
              <p:cNvGrpSpPr>
                <a:grpSpLocks/>
              </p:cNvGrpSpPr>
              <p:nvPr/>
            </p:nvGrpSpPr>
            <p:grpSpPr bwMode="auto">
              <a:xfrm>
                <a:off x="3178" y="986"/>
                <a:ext cx="1263" cy="705"/>
                <a:chOff x="3178" y="986"/>
                <a:chExt cx="1263" cy="705"/>
              </a:xfrm>
            </p:grpSpPr>
            <p:sp>
              <p:nvSpPr>
                <p:cNvPr id="30747" name="Line 8"/>
                <p:cNvSpPr>
                  <a:spLocks noChangeShapeType="1"/>
                </p:cNvSpPr>
                <p:nvPr/>
              </p:nvSpPr>
              <p:spPr bwMode="auto">
                <a:xfrm flipV="1">
                  <a:off x="3178" y="986"/>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748" name="Line 9"/>
                <p:cNvSpPr>
                  <a:spLocks noChangeShapeType="1"/>
                </p:cNvSpPr>
                <p:nvPr/>
              </p:nvSpPr>
              <p:spPr bwMode="auto">
                <a:xfrm>
                  <a:off x="3178" y="1339"/>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0744" name="Group 13"/>
              <p:cNvGrpSpPr>
                <a:grpSpLocks/>
              </p:cNvGrpSpPr>
              <p:nvPr/>
            </p:nvGrpSpPr>
            <p:grpSpPr bwMode="auto">
              <a:xfrm>
                <a:off x="3172" y="1675"/>
                <a:ext cx="1263" cy="705"/>
                <a:chOff x="3172" y="1675"/>
                <a:chExt cx="1263" cy="705"/>
              </a:xfrm>
            </p:grpSpPr>
            <p:sp>
              <p:nvSpPr>
                <p:cNvPr id="30745" name="Line 11"/>
                <p:cNvSpPr>
                  <a:spLocks noChangeShapeType="1"/>
                </p:cNvSpPr>
                <p:nvPr/>
              </p:nvSpPr>
              <p:spPr bwMode="auto">
                <a:xfrm flipV="1">
                  <a:off x="3172" y="1675"/>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746" name="Line 12"/>
                <p:cNvSpPr>
                  <a:spLocks noChangeShapeType="1"/>
                </p:cNvSpPr>
                <p:nvPr/>
              </p:nvSpPr>
              <p:spPr bwMode="auto">
                <a:xfrm>
                  <a:off x="3172" y="2028"/>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0729" name="Rectangle 15"/>
            <p:cNvSpPr>
              <a:spLocks noChangeArrowheads="1"/>
            </p:cNvSpPr>
            <p:nvPr/>
          </p:nvSpPr>
          <p:spPr bwMode="auto">
            <a:xfrm>
              <a:off x="4729163" y="1714500"/>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22</a:t>
              </a:r>
            </a:p>
          </p:txBody>
        </p:sp>
        <p:sp>
          <p:nvSpPr>
            <p:cNvPr id="30730" name="Rectangle 16"/>
            <p:cNvSpPr>
              <a:spLocks noChangeArrowheads="1"/>
            </p:cNvSpPr>
            <p:nvPr/>
          </p:nvSpPr>
          <p:spPr bwMode="auto">
            <a:xfrm>
              <a:off x="4829175" y="2822575"/>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18</a:t>
              </a:r>
            </a:p>
          </p:txBody>
        </p:sp>
        <p:sp>
          <p:nvSpPr>
            <p:cNvPr id="30731" name="Rectangle 17"/>
            <p:cNvSpPr>
              <a:spLocks noChangeArrowheads="1"/>
            </p:cNvSpPr>
            <p:nvPr/>
          </p:nvSpPr>
          <p:spPr bwMode="auto">
            <a:xfrm>
              <a:off x="6846888" y="1143000"/>
              <a:ext cx="777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400"/>
                <a:t>24.2</a:t>
              </a:r>
            </a:p>
            <a:p>
              <a:pPr algn="r">
                <a:spcBef>
                  <a:spcPct val="0"/>
                </a:spcBef>
                <a:buClrTx/>
                <a:buSzTx/>
                <a:buFontTx/>
                <a:buNone/>
              </a:pPr>
              <a:r>
                <a:rPr lang="en-US" altLang="en-US" sz="2400"/>
                <a:t>3.2</a:t>
              </a:r>
            </a:p>
          </p:txBody>
        </p:sp>
        <p:sp>
          <p:nvSpPr>
            <p:cNvPr id="30732" name="Rectangle 18"/>
            <p:cNvSpPr>
              <a:spLocks noChangeArrowheads="1"/>
            </p:cNvSpPr>
            <p:nvPr/>
          </p:nvSpPr>
          <p:spPr bwMode="auto">
            <a:xfrm>
              <a:off x="6846888" y="2246313"/>
              <a:ext cx="777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400"/>
                <a:t>19.8</a:t>
              </a:r>
            </a:p>
            <a:p>
              <a:pPr algn="r">
                <a:spcBef>
                  <a:spcPct val="0"/>
                </a:spcBef>
                <a:buClrTx/>
                <a:buSzTx/>
                <a:buFontTx/>
                <a:buNone/>
              </a:pPr>
              <a:r>
                <a:rPr lang="en-US" altLang="en-US" sz="2400"/>
                <a:t>0.0</a:t>
              </a:r>
            </a:p>
          </p:txBody>
        </p:sp>
        <p:sp>
          <p:nvSpPr>
            <p:cNvPr id="30733" name="Rectangle 19"/>
            <p:cNvSpPr>
              <a:spLocks noChangeArrowheads="1"/>
            </p:cNvSpPr>
            <p:nvPr/>
          </p:nvSpPr>
          <p:spPr bwMode="auto">
            <a:xfrm>
              <a:off x="6846888" y="3384550"/>
              <a:ext cx="777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400"/>
                <a:t>16.2</a:t>
              </a:r>
            </a:p>
            <a:p>
              <a:pPr algn="r">
                <a:spcBef>
                  <a:spcPct val="0"/>
                </a:spcBef>
                <a:buClrTx/>
                <a:buSzTx/>
                <a:buFontTx/>
                <a:buNone/>
              </a:pPr>
              <a:r>
                <a:rPr lang="en-US" altLang="en-US" sz="2400"/>
                <a:t>0.0</a:t>
              </a:r>
            </a:p>
          </p:txBody>
        </p:sp>
        <p:sp>
          <p:nvSpPr>
            <p:cNvPr id="30734" name="Rectangle 20"/>
            <p:cNvSpPr>
              <a:spLocks noChangeArrowheads="1"/>
            </p:cNvSpPr>
            <p:nvPr/>
          </p:nvSpPr>
          <p:spPr bwMode="auto">
            <a:xfrm>
              <a:off x="4473575" y="2309813"/>
              <a:ext cx="111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2.0257</a:t>
              </a:r>
            </a:p>
          </p:txBody>
        </p:sp>
        <p:sp>
          <p:nvSpPr>
            <p:cNvPr id="30735" name="Rectangle 21"/>
            <p:cNvSpPr>
              <a:spLocks noChangeArrowheads="1"/>
            </p:cNvSpPr>
            <p:nvPr/>
          </p:nvSpPr>
          <p:spPr bwMode="auto">
            <a:xfrm>
              <a:off x="4791075" y="3332163"/>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0.0</a:t>
              </a:r>
            </a:p>
          </p:txBody>
        </p:sp>
        <p:sp>
          <p:nvSpPr>
            <p:cNvPr id="30736" name="Rectangle 22"/>
            <p:cNvSpPr>
              <a:spLocks noChangeArrowheads="1"/>
            </p:cNvSpPr>
            <p:nvPr/>
          </p:nvSpPr>
          <p:spPr bwMode="auto">
            <a:xfrm>
              <a:off x="3375025" y="2506663"/>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A</a:t>
              </a:r>
            </a:p>
          </p:txBody>
        </p:sp>
        <p:sp>
          <p:nvSpPr>
            <p:cNvPr id="30737" name="Rectangle 23"/>
            <p:cNvSpPr>
              <a:spLocks noChangeArrowheads="1"/>
            </p:cNvSpPr>
            <p:nvPr/>
          </p:nvSpPr>
          <p:spPr bwMode="auto">
            <a:xfrm>
              <a:off x="5410200" y="198437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B</a:t>
              </a:r>
            </a:p>
          </p:txBody>
        </p:sp>
        <p:sp>
          <p:nvSpPr>
            <p:cNvPr id="30738" name="Rectangle 24"/>
            <p:cNvSpPr>
              <a:spLocks noChangeArrowheads="1"/>
            </p:cNvSpPr>
            <p:nvPr/>
          </p:nvSpPr>
          <p:spPr bwMode="auto">
            <a:xfrm>
              <a:off x="5410200" y="3071813"/>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C</a:t>
              </a:r>
            </a:p>
          </p:txBody>
        </p:sp>
        <p:sp>
          <p:nvSpPr>
            <p:cNvPr id="30739" name="Rectangle 25"/>
            <p:cNvSpPr>
              <a:spLocks noChangeArrowheads="1"/>
            </p:cNvSpPr>
            <p:nvPr/>
          </p:nvSpPr>
          <p:spPr bwMode="auto">
            <a:xfrm>
              <a:off x="6249988" y="139065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D</a:t>
              </a:r>
            </a:p>
          </p:txBody>
        </p:sp>
        <p:sp>
          <p:nvSpPr>
            <p:cNvPr id="30740" name="Rectangle 26"/>
            <p:cNvSpPr>
              <a:spLocks noChangeArrowheads="1"/>
            </p:cNvSpPr>
            <p:nvPr/>
          </p:nvSpPr>
          <p:spPr bwMode="auto">
            <a:xfrm>
              <a:off x="6172200" y="25146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E</a:t>
              </a:r>
            </a:p>
          </p:txBody>
        </p:sp>
        <p:sp>
          <p:nvSpPr>
            <p:cNvPr id="30741" name="Rectangle 27"/>
            <p:cNvSpPr>
              <a:spLocks noChangeArrowheads="1"/>
            </p:cNvSpPr>
            <p:nvPr/>
          </p:nvSpPr>
          <p:spPr bwMode="auto">
            <a:xfrm>
              <a:off x="6315075" y="3714750"/>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F</a:t>
              </a:r>
            </a:p>
          </p:txBody>
        </p:sp>
      </p:grpSp>
      <p:sp>
        <p:nvSpPr>
          <p:cNvPr id="30726" name="Slide Number Placeholder 2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54C8B32-9311-4350-B292-A6C9A0298B41}" type="slidenum">
              <a:rPr lang="en-US" altLang="en-US" sz="1800"/>
              <a:pPr eaLnBrk="1" hangingPunct="1">
                <a:spcBef>
                  <a:spcPct val="0"/>
                </a:spcBef>
                <a:buClrTx/>
                <a:buSzTx/>
                <a:buFontTx/>
                <a:buNone/>
              </a:pPr>
              <a:t>18</a:t>
            </a:fld>
            <a:endParaRPr lang="en-US" altLang="en-US" sz="180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lIns="92075" tIns="46038" rIns="92075" bIns="46038"/>
          <a:lstStyle/>
          <a:p>
            <a:pPr eaLnBrk="1" hangingPunct="1"/>
            <a:r>
              <a:rPr lang="en-US" altLang="en-US" sz="4000" smtClean="0"/>
              <a:t>A Put Option Example</a:t>
            </a:r>
            <a:r>
              <a:rPr lang="en-US" altLang="en-US" smtClean="0"/>
              <a:t/>
            </a:r>
            <a:br>
              <a:rPr lang="en-US" altLang="en-US" smtClean="0"/>
            </a:br>
            <a:r>
              <a:rPr lang="en-US" altLang="en-US" sz="2200" smtClean="0"/>
              <a:t>Figure 12.7, page 278</a:t>
            </a:r>
            <a:endParaRPr lang="en-US" altLang="en-US" smtClean="0"/>
          </a:p>
        </p:txBody>
      </p:sp>
      <p:sp>
        <p:nvSpPr>
          <p:cNvPr id="24579" name="Rectangle 3"/>
          <p:cNvSpPr>
            <a:spLocks noGrp="1" noChangeArrowheads="1"/>
          </p:cNvSpPr>
          <p:nvPr>
            <p:ph idx="1"/>
          </p:nvPr>
        </p:nvSpPr>
        <p:spPr>
          <a:xfrm>
            <a:off x="990600" y="4724400"/>
            <a:ext cx="6172200" cy="1219200"/>
          </a:xfrm>
        </p:spPr>
        <p:txBody>
          <a:bodyPr lIns="92075" tIns="46038" rIns="92075" bIns="46038"/>
          <a:lstStyle/>
          <a:p>
            <a:pPr eaLnBrk="1" hangingPunct="1">
              <a:buFont typeface="Wingdings" panose="05000000000000000000" pitchFamily="2" charset="2"/>
              <a:buNone/>
              <a:defRPr/>
            </a:pPr>
            <a:r>
              <a:rPr lang="en-US" sz="2400" i="1" dirty="0" smtClean="0">
                <a:latin typeface="Times New Roman" pitchFamily="18" charset="0"/>
                <a:cs typeface="Arial" charset="0"/>
              </a:rPr>
              <a:t>K </a:t>
            </a:r>
            <a:r>
              <a:rPr lang="en-US" sz="2400" dirty="0" smtClean="0">
                <a:cs typeface="Arial" charset="0"/>
              </a:rPr>
              <a:t>= 52, time step</a:t>
            </a:r>
            <a:r>
              <a:rPr lang="en-US" sz="2400" i="1" dirty="0" smtClean="0">
                <a:latin typeface="Times New Roman" pitchFamily="18" charset="0"/>
                <a:cs typeface="Arial" charset="0"/>
              </a:rPr>
              <a:t> </a:t>
            </a:r>
            <a:r>
              <a:rPr lang="en-US" sz="2400" dirty="0" smtClean="0">
                <a:cs typeface="Arial" charset="0"/>
              </a:rPr>
              <a:t>=1yr</a:t>
            </a:r>
          </a:p>
          <a:p>
            <a:pPr eaLnBrk="1" hangingPunct="1">
              <a:buFont typeface="Wingdings" panose="05000000000000000000" pitchFamily="2" charset="2"/>
              <a:buNone/>
              <a:defRPr/>
            </a:pPr>
            <a:r>
              <a:rPr lang="en-US" sz="2400" i="1" dirty="0" smtClean="0">
                <a:latin typeface="Times New Roman" pitchFamily="18" charset="0"/>
                <a:cs typeface="Arial" charset="0"/>
              </a:rPr>
              <a:t>r </a:t>
            </a:r>
            <a:r>
              <a:rPr lang="en-US" sz="2400" dirty="0" smtClean="0">
                <a:cs typeface="Arial" charset="0"/>
              </a:rPr>
              <a:t>= 5%, </a:t>
            </a:r>
            <a:r>
              <a:rPr lang="en-US" sz="2400" i="1" dirty="0" smtClean="0">
                <a:latin typeface="+mj-lt"/>
                <a:cs typeface="Arial" charset="0"/>
              </a:rPr>
              <a:t>u </a:t>
            </a:r>
            <a:r>
              <a:rPr lang="en-US" sz="2400" dirty="0" smtClean="0">
                <a:cs typeface="Arial" charset="0"/>
              </a:rPr>
              <a:t>=1.32, </a:t>
            </a:r>
            <a:r>
              <a:rPr lang="en-US" sz="2400" i="1" dirty="0" smtClean="0">
                <a:latin typeface="+mj-lt"/>
                <a:cs typeface="Arial" charset="0"/>
              </a:rPr>
              <a:t>d </a:t>
            </a:r>
            <a:r>
              <a:rPr lang="en-US" sz="2400" dirty="0" smtClean="0">
                <a:cs typeface="Arial" charset="0"/>
              </a:rPr>
              <a:t>= 0.8, </a:t>
            </a:r>
            <a:r>
              <a:rPr lang="en-US" sz="2400" i="1" dirty="0" smtClean="0">
                <a:latin typeface="+mj-lt"/>
                <a:cs typeface="Arial" charset="0"/>
              </a:rPr>
              <a:t>p </a:t>
            </a:r>
            <a:r>
              <a:rPr lang="en-US" sz="2400" dirty="0" smtClean="0">
                <a:cs typeface="Arial" charset="0"/>
              </a:rPr>
              <a:t>= 0.6282</a:t>
            </a:r>
            <a:r>
              <a:rPr lang="en-US" dirty="0" smtClean="0">
                <a:cs typeface="Arial" charset="0"/>
              </a:rPr>
              <a:t>							</a:t>
            </a:r>
          </a:p>
        </p:txBody>
      </p:sp>
      <p:sp>
        <p:nvSpPr>
          <p:cNvPr id="3174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317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F4683C51-CA57-4AB3-B558-82DEA7F1840A}" type="slidenum">
              <a:rPr lang="en-US" altLang="en-US" sz="1800"/>
              <a:pPr eaLnBrk="1" hangingPunct="1">
                <a:spcBef>
                  <a:spcPct val="0"/>
                </a:spcBef>
                <a:buClrTx/>
                <a:buSzTx/>
                <a:buFontTx/>
                <a:buNone/>
              </a:pPr>
              <a:t>19</a:t>
            </a:fld>
            <a:endParaRPr lang="en-US" altLang="en-US" sz="1800"/>
          </a:p>
        </p:txBody>
      </p:sp>
      <p:grpSp>
        <p:nvGrpSpPr>
          <p:cNvPr id="31750" name="Group 28"/>
          <p:cNvGrpSpPr>
            <a:grpSpLocks/>
          </p:cNvGrpSpPr>
          <p:nvPr/>
        </p:nvGrpSpPr>
        <p:grpSpPr bwMode="auto">
          <a:xfrm>
            <a:off x="1524000" y="1905000"/>
            <a:ext cx="4618038" cy="2384425"/>
            <a:chOff x="1620" y="1426"/>
            <a:chExt cx="3271" cy="1858"/>
          </a:xfrm>
        </p:grpSpPr>
        <p:sp>
          <p:nvSpPr>
            <p:cNvPr id="31751" name="Rectangle 4"/>
            <p:cNvSpPr>
              <a:spLocks noChangeArrowheads="1"/>
            </p:cNvSpPr>
            <p:nvPr/>
          </p:nvSpPr>
          <p:spPr bwMode="auto">
            <a:xfrm>
              <a:off x="1620" y="2149"/>
              <a:ext cx="687"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50</a:t>
              </a:r>
            </a:p>
            <a:p>
              <a:pPr algn="r">
                <a:spcBef>
                  <a:spcPct val="0"/>
                </a:spcBef>
                <a:buClrTx/>
                <a:buSzTx/>
                <a:buFontTx/>
                <a:buNone/>
              </a:pPr>
              <a:r>
                <a:rPr lang="en-US" altLang="en-US" sz="2000"/>
                <a:t>4.1923</a:t>
              </a:r>
            </a:p>
          </p:txBody>
        </p:sp>
        <p:grpSp>
          <p:nvGrpSpPr>
            <p:cNvPr id="31752" name="Group 14"/>
            <p:cNvGrpSpPr>
              <a:grpSpLocks/>
            </p:cNvGrpSpPr>
            <p:nvPr/>
          </p:nvGrpSpPr>
          <p:grpSpPr bwMode="auto">
            <a:xfrm>
              <a:off x="2140" y="1708"/>
              <a:ext cx="2507" cy="1394"/>
              <a:chOff x="2140" y="1708"/>
              <a:chExt cx="2507" cy="1394"/>
            </a:xfrm>
          </p:grpSpPr>
          <p:grpSp>
            <p:nvGrpSpPr>
              <p:cNvPr id="31760" name="Group 7"/>
              <p:cNvGrpSpPr>
                <a:grpSpLocks/>
              </p:cNvGrpSpPr>
              <p:nvPr/>
            </p:nvGrpSpPr>
            <p:grpSpPr bwMode="auto">
              <a:xfrm>
                <a:off x="2140" y="2053"/>
                <a:ext cx="1263" cy="705"/>
                <a:chOff x="2140" y="2053"/>
                <a:chExt cx="1263" cy="705"/>
              </a:xfrm>
            </p:grpSpPr>
            <p:sp>
              <p:nvSpPr>
                <p:cNvPr id="31767" name="Line 5"/>
                <p:cNvSpPr>
                  <a:spLocks noChangeShapeType="1"/>
                </p:cNvSpPr>
                <p:nvPr/>
              </p:nvSpPr>
              <p:spPr bwMode="auto">
                <a:xfrm flipV="1">
                  <a:off x="2140" y="2053"/>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1768" name="Line 6"/>
                <p:cNvSpPr>
                  <a:spLocks noChangeShapeType="1"/>
                </p:cNvSpPr>
                <p:nvPr/>
              </p:nvSpPr>
              <p:spPr bwMode="auto">
                <a:xfrm>
                  <a:off x="2140" y="2405"/>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1761" name="Group 10"/>
              <p:cNvGrpSpPr>
                <a:grpSpLocks/>
              </p:cNvGrpSpPr>
              <p:nvPr/>
            </p:nvGrpSpPr>
            <p:grpSpPr bwMode="auto">
              <a:xfrm>
                <a:off x="3384" y="1708"/>
                <a:ext cx="1263" cy="705"/>
                <a:chOff x="3384" y="1708"/>
                <a:chExt cx="1263" cy="705"/>
              </a:xfrm>
            </p:grpSpPr>
            <p:sp>
              <p:nvSpPr>
                <p:cNvPr id="31765" name="Line 8"/>
                <p:cNvSpPr>
                  <a:spLocks noChangeShapeType="1"/>
                </p:cNvSpPr>
                <p:nvPr/>
              </p:nvSpPr>
              <p:spPr bwMode="auto">
                <a:xfrm flipV="1">
                  <a:off x="3384" y="1708"/>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1766" name="Line 9"/>
                <p:cNvSpPr>
                  <a:spLocks noChangeShapeType="1"/>
                </p:cNvSpPr>
                <p:nvPr/>
              </p:nvSpPr>
              <p:spPr bwMode="auto">
                <a:xfrm>
                  <a:off x="3384" y="2061"/>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1762" name="Group 13"/>
              <p:cNvGrpSpPr>
                <a:grpSpLocks/>
              </p:cNvGrpSpPr>
              <p:nvPr/>
            </p:nvGrpSpPr>
            <p:grpSpPr bwMode="auto">
              <a:xfrm>
                <a:off x="3378" y="2397"/>
                <a:ext cx="1263" cy="705"/>
                <a:chOff x="3378" y="2397"/>
                <a:chExt cx="1263" cy="705"/>
              </a:xfrm>
            </p:grpSpPr>
            <p:sp>
              <p:nvSpPr>
                <p:cNvPr id="31763" name="Line 11"/>
                <p:cNvSpPr>
                  <a:spLocks noChangeShapeType="1"/>
                </p:cNvSpPr>
                <p:nvPr/>
              </p:nvSpPr>
              <p:spPr bwMode="auto">
                <a:xfrm flipV="1">
                  <a:off x="3378" y="2397"/>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1764" name="Line 12"/>
                <p:cNvSpPr>
                  <a:spLocks noChangeShapeType="1"/>
                </p:cNvSpPr>
                <p:nvPr/>
              </p:nvSpPr>
              <p:spPr bwMode="auto">
                <a:xfrm>
                  <a:off x="3378" y="2750"/>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1753" name="Rectangle 15"/>
            <p:cNvSpPr>
              <a:spLocks noChangeArrowheads="1"/>
            </p:cNvSpPr>
            <p:nvPr/>
          </p:nvSpPr>
          <p:spPr bwMode="auto">
            <a:xfrm>
              <a:off x="3201" y="1786"/>
              <a:ext cx="2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60</a:t>
              </a:r>
            </a:p>
          </p:txBody>
        </p:sp>
        <p:sp>
          <p:nvSpPr>
            <p:cNvPr id="31754" name="Rectangle 16"/>
            <p:cNvSpPr>
              <a:spLocks noChangeArrowheads="1"/>
            </p:cNvSpPr>
            <p:nvPr/>
          </p:nvSpPr>
          <p:spPr bwMode="auto">
            <a:xfrm>
              <a:off x="3264" y="2484"/>
              <a:ext cx="2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40</a:t>
              </a:r>
            </a:p>
          </p:txBody>
        </p:sp>
        <p:sp>
          <p:nvSpPr>
            <p:cNvPr id="31755" name="Rectangle 17"/>
            <p:cNvSpPr>
              <a:spLocks noChangeArrowheads="1"/>
            </p:cNvSpPr>
            <p:nvPr/>
          </p:nvSpPr>
          <p:spPr bwMode="auto">
            <a:xfrm>
              <a:off x="4594" y="1426"/>
              <a:ext cx="29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72</a:t>
              </a:r>
            </a:p>
            <a:p>
              <a:pPr algn="r">
                <a:spcBef>
                  <a:spcPct val="0"/>
                </a:spcBef>
                <a:buClrTx/>
                <a:buSzTx/>
                <a:buFontTx/>
                <a:buNone/>
              </a:pPr>
              <a:r>
                <a:rPr lang="en-US" altLang="en-US" sz="2000"/>
                <a:t>0</a:t>
              </a:r>
            </a:p>
          </p:txBody>
        </p:sp>
        <p:sp>
          <p:nvSpPr>
            <p:cNvPr id="31756" name="Rectangle 18"/>
            <p:cNvSpPr>
              <a:spLocks noChangeArrowheads="1"/>
            </p:cNvSpPr>
            <p:nvPr/>
          </p:nvSpPr>
          <p:spPr bwMode="auto">
            <a:xfrm>
              <a:off x="4594" y="2121"/>
              <a:ext cx="29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48</a:t>
              </a:r>
            </a:p>
            <a:p>
              <a:pPr algn="r">
                <a:spcBef>
                  <a:spcPct val="0"/>
                </a:spcBef>
                <a:buClrTx/>
                <a:buSzTx/>
                <a:buFontTx/>
                <a:buNone/>
              </a:pPr>
              <a:r>
                <a:rPr lang="en-US" altLang="en-US" sz="2000"/>
                <a:t>4</a:t>
              </a:r>
            </a:p>
          </p:txBody>
        </p:sp>
        <p:sp>
          <p:nvSpPr>
            <p:cNvPr id="31757" name="Rectangle 19"/>
            <p:cNvSpPr>
              <a:spLocks noChangeArrowheads="1"/>
            </p:cNvSpPr>
            <p:nvPr/>
          </p:nvSpPr>
          <p:spPr bwMode="auto">
            <a:xfrm>
              <a:off x="4594" y="2838"/>
              <a:ext cx="29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32</a:t>
              </a:r>
            </a:p>
            <a:p>
              <a:pPr algn="r">
                <a:spcBef>
                  <a:spcPct val="0"/>
                </a:spcBef>
                <a:buClrTx/>
                <a:buSzTx/>
                <a:buFontTx/>
                <a:buNone/>
              </a:pPr>
              <a:r>
                <a:rPr lang="en-US" altLang="en-US" sz="2000"/>
                <a:t>20</a:t>
              </a:r>
            </a:p>
          </p:txBody>
        </p:sp>
        <p:sp>
          <p:nvSpPr>
            <p:cNvPr id="31758" name="Rectangle 20"/>
            <p:cNvSpPr>
              <a:spLocks noChangeArrowheads="1"/>
            </p:cNvSpPr>
            <p:nvPr/>
          </p:nvSpPr>
          <p:spPr bwMode="auto">
            <a:xfrm>
              <a:off x="3040" y="2079"/>
              <a:ext cx="68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1.4147</a:t>
              </a:r>
            </a:p>
          </p:txBody>
        </p:sp>
        <p:sp>
          <p:nvSpPr>
            <p:cNvPr id="31759" name="Rectangle 21"/>
            <p:cNvSpPr>
              <a:spLocks noChangeArrowheads="1"/>
            </p:cNvSpPr>
            <p:nvPr/>
          </p:nvSpPr>
          <p:spPr bwMode="auto">
            <a:xfrm>
              <a:off x="3067" y="2792"/>
              <a:ext cx="766"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9.4636</a:t>
              </a:r>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lIns="92075" tIns="46038" rIns="92075" bIns="46038"/>
          <a:lstStyle/>
          <a:p>
            <a:pPr eaLnBrk="1" hangingPunct="1"/>
            <a:r>
              <a:rPr lang="en-US" altLang="en-US" smtClean="0"/>
              <a:t>What Happens When the Put Option is American </a:t>
            </a:r>
            <a:r>
              <a:rPr lang="en-US" altLang="en-US" sz="2200" smtClean="0"/>
              <a:t>(Figure 12.8, page 279)</a:t>
            </a:r>
            <a:endParaRPr lang="en-US" altLang="en-US" smtClean="0"/>
          </a:p>
        </p:txBody>
      </p:sp>
      <p:sp>
        <p:nvSpPr>
          <p:cNvPr id="32771" name="Rectangle 3"/>
          <p:cNvSpPr>
            <a:spLocks noGrp="1" noChangeArrowheads="1"/>
          </p:cNvSpPr>
          <p:nvPr>
            <p:ph idx="1"/>
          </p:nvPr>
        </p:nvSpPr>
        <p:spPr/>
        <p:txBody>
          <a:bodyPr lIns="92075" tIns="46038" rIns="92075" bIns="46038"/>
          <a:lstStyle/>
          <a:p>
            <a:pPr eaLnBrk="1" hangingPunct="1">
              <a:buFont typeface="Wingdings" panose="05000000000000000000" pitchFamily="2" charset="2"/>
              <a:buNone/>
            </a:pPr>
            <a:r>
              <a:rPr lang="en-US" altLang="en-US" smtClean="0">
                <a:cs typeface="Arial" panose="020B0604020202020204" pitchFamily="34" charset="0"/>
              </a:rPr>
              <a:t> </a:t>
            </a:r>
          </a:p>
        </p:txBody>
      </p:sp>
      <p:sp>
        <p:nvSpPr>
          <p:cNvPr id="327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BEB0118-D4E4-4C86-A748-974A00A2F22C}" type="slidenum">
              <a:rPr lang="en-US" altLang="en-US" sz="1800"/>
              <a:pPr eaLnBrk="1" hangingPunct="1">
                <a:spcBef>
                  <a:spcPct val="0"/>
                </a:spcBef>
                <a:buClrTx/>
                <a:buSzTx/>
                <a:buFontTx/>
                <a:buNone/>
              </a:pPr>
              <a:t>20</a:t>
            </a:fld>
            <a:endParaRPr lang="en-US" altLang="en-US" sz="1800"/>
          </a:p>
        </p:txBody>
      </p:sp>
      <p:grpSp>
        <p:nvGrpSpPr>
          <p:cNvPr id="32774" name="Group 28"/>
          <p:cNvGrpSpPr>
            <a:grpSpLocks/>
          </p:cNvGrpSpPr>
          <p:nvPr/>
        </p:nvGrpSpPr>
        <p:grpSpPr bwMode="auto">
          <a:xfrm>
            <a:off x="2667000" y="2095500"/>
            <a:ext cx="5314950" cy="2949575"/>
            <a:chOff x="1680" y="1320"/>
            <a:chExt cx="3348" cy="1858"/>
          </a:xfrm>
        </p:grpSpPr>
        <p:sp>
          <p:nvSpPr>
            <p:cNvPr id="32776" name="Rectangle 4"/>
            <p:cNvSpPr>
              <a:spLocks noChangeArrowheads="1"/>
            </p:cNvSpPr>
            <p:nvPr/>
          </p:nvSpPr>
          <p:spPr bwMode="auto">
            <a:xfrm>
              <a:off x="1680" y="2043"/>
              <a:ext cx="67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2000"/>
                <a:t>50</a:t>
              </a:r>
            </a:p>
            <a:p>
              <a:pPr algn="ctr">
                <a:spcBef>
                  <a:spcPct val="0"/>
                </a:spcBef>
                <a:buClrTx/>
                <a:buSzTx/>
                <a:buFontTx/>
                <a:buNone/>
              </a:pPr>
              <a:r>
                <a:rPr lang="en-US" altLang="en-US" sz="2000"/>
                <a:t>5.0894</a:t>
              </a:r>
            </a:p>
          </p:txBody>
        </p:sp>
        <p:grpSp>
          <p:nvGrpSpPr>
            <p:cNvPr id="32777" name="Group 14"/>
            <p:cNvGrpSpPr>
              <a:grpSpLocks/>
            </p:cNvGrpSpPr>
            <p:nvPr/>
          </p:nvGrpSpPr>
          <p:grpSpPr bwMode="auto">
            <a:xfrm>
              <a:off x="2277" y="1602"/>
              <a:ext cx="2507" cy="1394"/>
              <a:chOff x="2277" y="1602"/>
              <a:chExt cx="2507" cy="1394"/>
            </a:xfrm>
          </p:grpSpPr>
          <p:grpSp>
            <p:nvGrpSpPr>
              <p:cNvPr id="32786" name="Group 7"/>
              <p:cNvGrpSpPr>
                <a:grpSpLocks/>
              </p:cNvGrpSpPr>
              <p:nvPr/>
            </p:nvGrpSpPr>
            <p:grpSpPr bwMode="auto">
              <a:xfrm>
                <a:off x="2277" y="1968"/>
                <a:ext cx="1290" cy="684"/>
                <a:chOff x="2277" y="1968"/>
                <a:chExt cx="1290" cy="684"/>
              </a:xfrm>
            </p:grpSpPr>
            <p:sp>
              <p:nvSpPr>
                <p:cNvPr id="32793" name="Line 5"/>
                <p:cNvSpPr>
                  <a:spLocks noChangeShapeType="1"/>
                </p:cNvSpPr>
                <p:nvPr/>
              </p:nvSpPr>
              <p:spPr bwMode="auto">
                <a:xfrm flipV="1">
                  <a:off x="2304" y="1968"/>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2794" name="Line 6"/>
                <p:cNvSpPr>
                  <a:spLocks noChangeShapeType="1"/>
                </p:cNvSpPr>
                <p:nvPr/>
              </p:nvSpPr>
              <p:spPr bwMode="auto">
                <a:xfrm>
                  <a:off x="2277" y="2299"/>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2787" name="Group 10"/>
              <p:cNvGrpSpPr>
                <a:grpSpLocks/>
              </p:cNvGrpSpPr>
              <p:nvPr/>
            </p:nvGrpSpPr>
            <p:grpSpPr bwMode="auto">
              <a:xfrm>
                <a:off x="3521" y="1602"/>
                <a:ext cx="1263" cy="705"/>
                <a:chOff x="3521" y="1602"/>
                <a:chExt cx="1263" cy="705"/>
              </a:xfrm>
            </p:grpSpPr>
            <p:sp>
              <p:nvSpPr>
                <p:cNvPr id="32791" name="Line 8"/>
                <p:cNvSpPr>
                  <a:spLocks noChangeShapeType="1"/>
                </p:cNvSpPr>
                <p:nvPr/>
              </p:nvSpPr>
              <p:spPr bwMode="auto">
                <a:xfrm flipV="1">
                  <a:off x="3521" y="1602"/>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2792" name="Line 9"/>
                <p:cNvSpPr>
                  <a:spLocks noChangeShapeType="1"/>
                </p:cNvSpPr>
                <p:nvPr/>
              </p:nvSpPr>
              <p:spPr bwMode="auto">
                <a:xfrm>
                  <a:off x="3521" y="1955"/>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2788" name="Group 13"/>
              <p:cNvGrpSpPr>
                <a:grpSpLocks/>
              </p:cNvGrpSpPr>
              <p:nvPr/>
            </p:nvGrpSpPr>
            <p:grpSpPr bwMode="auto">
              <a:xfrm>
                <a:off x="3515" y="2291"/>
                <a:ext cx="1263" cy="705"/>
                <a:chOff x="3515" y="2291"/>
                <a:chExt cx="1263" cy="705"/>
              </a:xfrm>
            </p:grpSpPr>
            <p:sp>
              <p:nvSpPr>
                <p:cNvPr id="32789" name="Line 11"/>
                <p:cNvSpPr>
                  <a:spLocks noChangeShapeType="1"/>
                </p:cNvSpPr>
                <p:nvPr/>
              </p:nvSpPr>
              <p:spPr bwMode="auto">
                <a:xfrm flipV="1">
                  <a:off x="3515" y="2291"/>
                  <a:ext cx="1263" cy="35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2790" name="Line 12"/>
                <p:cNvSpPr>
                  <a:spLocks noChangeShapeType="1"/>
                </p:cNvSpPr>
                <p:nvPr/>
              </p:nvSpPr>
              <p:spPr bwMode="auto">
                <a:xfrm>
                  <a:off x="3515" y="2644"/>
                  <a:ext cx="1263" cy="352"/>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2778" name="Rectangle 15"/>
            <p:cNvSpPr>
              <a:spLocks noChangeArrowheads="1"/>
            </p:cNvSpPr>
            <p:nvPr/>
          </p:nvSpPr>
          <p:spPr bwMode="auto">
            <a:xfrm>
              <a:off x="3338" y="1680"/>
              <a:ext cx="2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60</a:t>
              </a:r>
            </a:p>
          </p:txBody>
        </p:sp>
        <p:sp>
          <p:nvSpPr>
            <p:cNvPr id="32779" name="Rectangle 16"/>
            <p:cNvSpPr>
              <a:spLocks noChangeArrowheads="1"/>
            </p:cNvSpPr>
            <p:nvPr/>
          </p:nvSpPr>
          <p:spPr bwMode="auto">
            <a:xfrm>
              <a:off x="3401" y="2378"/>
              <a:ext cx="2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40</a:t>
              </a:r>
            </a:p>
          </p:txBody>
        </p:sp>
        <p:sp>
          <p:nvSpPr>
            <p:cNvPr id="32780" name="Rectangle 17"/>
            <p:cNvSpPr>
              <a:spLocks noChangeArrowheads="1"/>
            </p:cNvSpPr>
            <p:nvPr/>
          </p:nvSpPr>
          <p:spPr bwMode="auto">
            <a:xfrm>
              <a:off x="4731" y="1320"/>
              <a:ext cx="29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72</a:t>
              </a:r>
            </a:p>
            <a:p>
              <a:pPr algn="r">
                <a:spcBef>
                  <a:spcPct val="0"/>
                </a:spcBef>
                <a:buClrTx/>
                <a:buSzTx/>
                <a:buFontTx/>
                <a:buNone/>
              </a:pPr>
              <a:r>
                <a:rPr lang="en-US" altLang="en-US" sz="2000"/>
                <a:t>0</a:t>
              </a:r>
            </a:p>
          </p:txBody>
        </p:sp>
        <p:sp>
          <p:nvSpPr>
            <p:cNvPr id="32781" name="Rectangle 18"/>
            <p:cNvSpPr>
              <a:spLocks noChangeArrowheads="1"/>
            </p:cNvSpPr>
            <p:nvPr/>
          </p:nvSpPr>
          <p:spPr bwMode="auto">
            <a:xfrm>
              <a:off x="4731" y="2015"/>
              <a:ext cx="29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48</a:t>
              </a:r>
            </a:p>
            <a:p>
              <a:pPr algn="r">
                <a:spcBef>
                  <a:spcPct val="0"/>
                </a:spcBef>
                <a:buClrTx/>
                <a:buSzTx/>
                <a:buFontTx/>
                <a:buNone/>
              </a:pPr>
              <a:r>
                <a:rPr lang="en-US" altLang="en-US" sz="2000"/>
                <a:t>4</a:t>
              </a:r>
            </a:p>
          </p:txBody>
        </p:sp>
        <p:sp>
          <p:nvSpPr>
            <p:cNvPr id="32782" name="Rectangle 19"/>
            <p:cNvSpPr>
              <a:spLocks noChangeArrowheads="1"/>
            </p:cNvSpPr>
            <p:nvPr/>
          </p:nvSpPr>
          <p:spPr bwMode="auto">
            <a:xfrm>
              <a:off x="4731" y="2732"/>
              <a:ext cx="29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a:spcBef>
                  <a:spcPct val="0"/>
                </a:spcBef>
                <a:buClrTx/>
                <a:buSzTx/>
                <a:buFontTx/>
                <a:buNone/>
              </a:pPr>
              <a:r>
                <a:rPr lang="en-US" altLang="en-US" sz="2000"/>
                <a:t>32</a:t>
              </a:r>
            </a:p>
            <a:p>
              <a:pPr algn="r">
                <a:spcBef>
                  <a:spcPct val="0"/>
                </a:spcBef>
                <a:buClrTx/>
                <a:buSzTx/>
                <a:buFontTx/>
                <a:buNone/>
              </a:pPr>
              <a:r>
                <a:rPr lang="en-US" altLang="en-US" sz="2000"/>
                <a:t>20</a:t>
              </a:r>
            </a:p>
          </p:txBody>
        </p:sp>
        <p:sp>
          <p:nvSpPr>
            <p:cNvPr id="32783" name="Rectangle 20"/>
            <p:cNvSpPr>
              <a:spLocks noChangeArrowheads="1"/>
            </p:cNvSpPr>
            <p:nvPr/>
          </p:nvSpPr>
          <p:spPr bwMode="auto">
            <a:xfrm>
              <a:off x="3177" y="2016"/>
              <a:ext cx="6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1.4147</a:t>
              </a:r>
            </a:p>
          </p:txBody>
        </p:sp>
        <p:sp>
          <p:nvSpPr>
            <p:cNvPr id="32784" name="Rectangle 21"/>
            <p:cNvSpPr>
              <a:spLocks noChangeArrowheads="1"/>
            </p:cNvSpPr>
            <p:nvPr/>
          </p:nvSpPr>
          <p:spPr bwMode="auto">
            <a:xfrm>
              <a:off x="3337" y="2688"/>
              <a:ext cx="4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12.0</a:t>
              </a:r>
            </a:p>
          </p:txBody>
        </p:sp>
        <p:sp>
          <p:nvSpPr>
            <p:cNvPr id="32785" name="Rectangle 24"/>
            <p:cNvSpPr>
              <a:spLocks noChangeArrowheads="1"/>
            </p:cNvSpPr>
            <p:nvPr/>
          </p:nvSpPr>
          <p:spPr bwMode="auto">
            <a:xfrm>
              <a:off x="3699" y="2535"/>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t>C</a:t>
              </a:r>
            </a:p>
          </p:txBody>
        </p:sp>
      </p:grpSp>
      <p:sp>
        <p:nvSpPr>
          <p:cNvPr id="32775" name="TextBox 30"/>
          <p:cNvSpPr txBox="1">
            <a:spLocks noChangeArrowheads="1"/>
          </p:cNvSpPr>
          <p:nvPr/>
        </p:nvSpPr>
        <p:spPr bwMode="auto">
          <a:xfrm>
            <a:off x="533400" y="4114800"/>
            <a:ext cx="3048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The American feature increases the value at node C from 9.4636 to 12.0000.</a:t>
            </a:r>
          </a:p>
          <a:p>
            <a:pPr eaLnBrk="1" hangingPunct="1">
              <a:spcBef>
                <a:spcPct val="0"/>
              </a:spcBef>
              <a:buClrTx/>
              <a:buSzTx/>
              <a:buFontTx/>
              <a:buNone/>
            </a:pPr>
            <a:endParaRPr lang="en-CA" altLang="en-US" sz="1800"/>
          </a:p>
          <a:p>
            <a:pPr eaLnBrk="1" hangingPunct="1">
              <a:spcBef>
                <a:spcPct val="0"/>
              </a:spcBef>
              <a:buClrTx/>
              <a:buSzTx/>
              <a:buFontTx/>
              <a:buNone/>
            </a:pPr>
            <a:r>
              <a:rPr lang="en-CA" altLang="en-US" sz="1800"/>
              <a:t>This increases the value of the option from 4.1923 to 5.0894.</a:t>
            </a:r>
            <a:endParaRPr lang="en-US" altLang="en-US" sz="180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33795" name="Rectangle 2"/>
          <p:cNvSpPr>
            <a:spLocks noGrp="1" noChangeArrowheads="1"/>
          </p:cNvSpPr>
          <p:nvPr>
            <p:ph type="title"/>
          </p:nvPr>
        </p:nvSpPr>
        <p:spPr>
          <a:noFill/>
        </p:spPr>
        <p:txBody>
          <a:bodyPr lIns="92075" tIns="46038" rIns="92075" bIns="46038" anchor="ctr"/>
          <a:lstStyle/>
          <a:p>
            <a:pPr eaLnBrk="1" hangingPunct="1"/>
            <a:r>
              <a:rPr lang="en-US" altLang="en-US" smtClean="0"/>
              <a:t>Delta</a:t>
            </a:r>
          </a:p>
        </p:txBody>
      </p:sp>
      <p:sp>
        <p:nvSpPr>
          <p:cNvPr id="33796" name="Rectangle 3"/>
          <p:cNvSpPr>
            <a:spLocks noGrp="1" noChangeArrowheads="1"/>
          </p:cNvSpPr>
          <p:nvPr>
            <p:ph type="body" idx="1"/>
          </p:nvPr>
        </p:nvSpPr>
        <p:spPr>
          <a:xfrm>
            <a:off x="1092200" y="1719263"/>
            <a:ext cx="6959600" cy="4411662"/>
          </a:xfrm>
          <a:noFill/>
        </p:spPr>
        <p:txBody>
          <a:bodyPr lIns="92075" tIns="46038" rIns="92075" bIns="46038"/>
          <a:lstStyle/>
          <a:p>
            <a:pPr eaLnBrk="1" hangingPunct="1"/>
            <a:r>
              <a:rPr lang="en-US" altLang="en-US" smtClean="0"/>
              <a:t>Delta (</a:t>
            </a:r>
            <a:r>
              <a:rPr lang="en-US" altLang="en-US" smtClean="0">
                <a:latin typeface="Symbol" panose="05050102010706020507" pitchFamily="18" charset="2"/>
              </a:rPr>
              <a:t>D</a:t>
            </a:r>
            <a:r>
              <a:rPr lang="en-US" altLang="en-US" smtClean="0"/>
              <a:t>) is the ratio of the change in the price of a stock option to the change in the price of the underlying stock</a:t>
            </a:r>
          </a:p>
          <a:p>
            <a:pPr eaLnBrk="1" hangingPunct="1"/>
            <a:r>
              <a:rPr lang="en-US" altLang="en-US" smtClean="0"/>
              <a:t>The value of </a:t>
            </a:r>
            <a:r>
              <a:rPr lang="en-US" altLang="en-US" smtClean="0">
                <a:latin typeface="Symbol" panose="05050102010706020507" pitchFamily="18" charset="2"/>
              </a:rPr>
              <a:t>D</a:t>
            </a:r>
            <a:r>
              <a:rPr lang="en-US" altLang="en-US" smtClean="0"/>
              <a:t> varies from node to node</a:t>
            </a:r>
          </a:p>
        </p:txBody>
      </p:sp>
      <p:sp>
        <p:nvSpPr>
          <p:cNvPr id="337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27C72375-39F4-4EA5-A795-F7A5347AAC3D}" type="slidenum">
              <a:rPr lang="en-US" altLang="en-US" sz="1800"/>
              <a:pPr eaLnBrk="1" hangingPunct="1">
                <a:spcBef>
                  <a:spcPct val="0"/>
                </a:spcBef>
                <a:buClrTx/>
                <a:buSzTx/>
                <a:buFontTx/>
                <a:buNone/>
              </a:pPr>
              <a:t>21</a:t>
            </a:fld>
            <a:endParaRPr lang="en-US" altLang="en-US" sz="180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34819" name="Rectangle 2"/>
          <p:cNvSpPr>
            <a:spLocks noGrp="1" noChangeArrowheads="1"/>
          </p:cNvSpPr>
          <p:nvPr>
            <p:ph type="title"/>
          </p:nvPr>
        </p:nvSpPr>
        <p:spPr/>
        <p:txBody>
          <a:bodyPr/>
          <a:lstStyle/>
          <a:p>
            <a:pPr eaLnBrk="1" hangingPunct="1"/>
            <a:r>
              <a:rPr lang="en-US" altLang="en-US" smtClean="0"/>
              <a:t>Choosing </a:t>
            </a:r>
            <a:r>
              <a:rPr lang="en-US" altLang="en-US" i="1" smtClean="0"/>
              <a:t>u </a:t>
            </a:r>
            <a:r>
              <a:rPr lang="en-US" altLang="en-US" smtClean="0"/>
              <a:t>and </a:t>
            </a:r>
            <a:r>
              <a:rPr lang="en-US" altLang="en-US" i="1" smtClean="0"/>
              <a:t>d</a:t>
            </a:r>
            <a:endParaRPr lang="en-US" altLang="en-US" smtClean="0"/>
          </a:p>
        </p:txBody>
      </p:sp>
      <p:sp>
        <p:nvSpPr>
          <p:cNvPr id="34820"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en-US" smtClean="0"/>
              <a:t>	One way of matching the volatility is to set</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a:t>
            </a:r>
          </a:p>
          <a:p>
            <a:pPr eaLnBrk="1" hangingPunct="1">
              <a:buFont typeface="Wingdings" panose="05000000000000000000" pitchFamily="2" charset="2"/>
              <a:buNone/>
            </a:pPr>
            <a:r>
              <a:rPr lang="en-US" altLang="en-US" smtClean="0"/>
              <a:t>	where </a:t>
            </a:r>
            <a:r>
              <a:rPr lang="en-US" altLang="en-US" smtClean="0">
                <a:latin typeface="Symbol" panose="05050102010706020507" pitchFamily="18" charset="2"/>
              </a:rPr>
              <a:t>s</a:t>
            </a:r>
            <a:r>
              <a:rPr lang="en-US" altLang="en-US" smtClean="0"/>
              <a:t> is the volatility and</a:t>
            </a:r>
            <a:r>
              <a:rPr lang="en-US" altLang="en-US" smtClean="0">
                <a:latin typeface="Symbol" panose="05050102010706020507" pitchFamily="18" charset="2"/>
              </a:rPr>
              <a:t> D</a:t>
            </a:r>
            <a:r>
              <a:rPr lang="en-US" altLang="en-US" i="1" smtClean="0">
                <a:latin typeface="Times New Roman" panose="02020603050405020304" pitchFamily="18" charset="0"/>
              </a:rPr>
              <a:t>t</a:t>
            </a:r>
            <a:r>
              <a:rPr lang="en-US" altLang="en-US" smtClean="0"/>
              <a:t> is the length of the time step. This is the approach used by Cox, Ross, and Rubinstein (1979)</a:t>
            </a:r>
          </a:p>
        </p:txBody>
      </p:sp>
      <p:graphicFrame>
        <p:nvGraphicFramePr>
          <p:cNvPr id="34821" name="Object 1024"/>
          <p:cNvGraphicFramePr>
            <a:graphicFrameLocks noChangeAspect="1"/>
          </p:cNvGraphicFramePr>
          <p:nvPr/>
        </p:nvGraphicFramePr>
        <p:xfrm>
          <a:off x="2752725" y="2638425"/>
          <a:ext cx="3106738" cy="1123950"/>
        </p:xfrm>
        <a:graphic>
          <a:graphicData uri="http://schemas.openxmlformats.org/presentationml/2006/ole">
            <mc:AlternateContent xmlns:mc="http://schemas.openxmlformats.org/markup-compatibility/2006">
              <mc:Choice xmlns:v="urn:schemas-microsoft-com:vml" Requires="v">
                <p:oleObj spid="_x0000_s34823" name="Equation" r:id="rId4" imgW="977900" imgH="508000" progId="Equation.3">
                  <p:embed/>
                </p:oleObj>
              </mc:Choice>
              <mc:Fallback>
                <p:oleObj name="Equation" r:id="rId4" imgW="977900" imgH="508000" progId="Equation.3">
                  <p:embed/>
                  <p:pic>
                    <p:nvPicPr>
                      <p:cNvPr id="0"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2725" y="2638425"/>
                        <a:ext cx="3106738" cy="112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A4D6B1AA-9692-466C-A8D3-EA7B32F410FE}" type="slidenum">
              <a:rPr lang="en-US" altLang="en-US" sz="1800"/>
              <a:pPr eaLnBrk="1" hangingPunct="1">
                <a:spcBef>
                  <a:spcPct val="0"/>
                </a:spcBef>
                <a:buClrTx/>
                <a:buSzTx/>
                <a:buFontTx/>
                <a:buNone/>
              </a:pPr>
              <a:t>22</a:t>
            </a:fld>
            <a:endParaRPr lang="en-US" altLang="en-US" sz="18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CA" altLang="en-US" smtClean="0"/>
              <a:t>Assets Other than Non-Dividend Paying Stocks</a:t>
            </a:r>
            <a:endParaRPr lang="en-US" altLang="en-US" smtClean="0"/>
          </a:p>
        </p:txBody>
      </p:sp>
      <p:sp>
        <p:nvSpPr>
          <p:cNvPr id="3" name="Content Placeholder 2"/>
          <p:cNvSpPr>
            <a:spLocks noGrp="1"/>
          </p:cNvSpPr>
          <p:nvPr>
            <p:ph idx="1"/>
          </p:nvPr>
        </p:nvSpPr>
        <p:spPr>
          <a:xfrm>
            <a:off x="533400" y="2514600"/>
            <a:ext cx="7772400" cy="4114800"/>
          </a:xfrm>
        </p:spPr>
        <p:txBody>
          <a:bodyPr/>
          <a:lstStyle/>
          <a:p>
            <a:pPr eaLnBrk="1" hangingPunct="1">
              <a:defRPr/>
            </a:pPr>
            <a:r>
              <a:rPr lang="en-CA" dirty="0" smtClean="0"/>
              <a:t>For options on stock indices, currencies and futures the basic procedure for constructing the tree is the same except for the calculation of </a:t>
            </a:r>
            <a:r>
              <a:rPr lang="en-CA" i="1" dirty="0" smtClean="0">
                <a:latin typeface="+mj-lt"/>
              </a:rPr>
              <a:t>p</a:t>
            </a:r>
            <a:endParaRPr lang="en-US" i="1" dirty="0">
              <a:latin typeface="+mj-lt"/>
            </a:endParaRPr>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3855E17-725E-49AE-9D32-C1D33575E695}" type="slidenum">
              <a:rPr lang="en-US" altLang="en-US" sz="1800"/>
              <a:pPr eaLnBrk="1" hangingPunct="1">
                <a:spcBef>
                  <a:spcPct val="0"/>
                </a:spcBef>
                <a:buClrTx/>
                <a:buSzTx/>
                <a:buFontTx/>
                <a:buNone/>
              </a:pPr>
              <a:t>23</a:t>
            </a:fld>
            <a:endParaRPr lang="en-US" altLang="en-US"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mtClean="0"/>
              <a:t>The Probability of an Up Move</a:t>
            </a:r>
          </a:p>
        </p:txBody>
      </p:sp>
      <p:graphicFrame>
        <p:nvGraphicFramePr>
          <p:cNvPr id="36867" name="Object 4"/>
          <p:cNvGraphicFramePr>
            <a:graphicFrameLocks noChangeAspect="1"/>
          </p:cNvGraphicFramePr>
          <p:nvPr>
            <p:ph idx="1"/>
          </p:nvPr>
        </p:nvGraphicFramePr>
        <p:xfrm>
          <a:off x="1295400" y="1887538"/>
          <a:ext cx="5867400" cy="4071937"/>
        </p:xfrm>
        <a:graphic>
          <a:graphicData uri="http://schemas.openxmlformats.org/presentationml/2006/ole">
            <mc:AlternateContent xmlns:mc="http://schemas.openxmlformats.org/markup-compatibility/2006">
              <mc:Choice xmlns:v="urn:schemas-microsoft-com:vml" Requires="v">
                <p:oleObj spid="_x0000_s36870" name="Equation" r:id="rId4" imgW="3111500" imgH="2159000" progId="Equation.3">
                  <p:embed/>
                </p:oleObj>
              </mc:Choice>
              <mc:Fallback>
                <p:oleObj name="Equation" r:id="rId4" imgW="3111500" imgH="2159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1887538"/>
                        <a:ext cx="5867400" cy="407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a:cs typeface="Arial" panose="020B0604020202020204" pitchFamily="34" charset="0"/>
            </a:endParaRPr>
          </a:p>
        </p:txBody>
      </p:sp>
      <p:sp>
        <p:nvSpPr>
          <p:cNvPr id="368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3DDD161B-CAF5-4555-9B21-0A5B77F47239}" type="slidenum">
              <a:rPr lang="en-US" altLang="en-US" sz="1800"/>
              <a:pPr eaLnBrk="1" hangingPunct="1">
                <a:spcBef>
                  <a:spcPct val="0"/>
                </a:spcBef>
                <a:buClrTx/>
                <a:buSzTx/>
                <a:buFontTx/>
                <a:buNone/>
              </a:pPr>
              <a:t>24</a:t>
            </a:fld>
            <a:endParaRPr lang="en-US" altLang="en-US" sz="180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CA" altLang="en-US" smtClean="0"/>
              <a:t>Increasing the Time Steps</a:t>
            </a:r>
            <a:endParaRPr lang="en-US" altLang="en-US" smtClean="0"/>
          </a:p>
        </p:txBody>
      </p:sp>
      <p:sp>
        <p:nvSpPr>
          <p:cNvPr id="37891" name="Content Placeholder 2"/>
          <p:cNvSpPr>
            <a:spLocks noGrp="1"/>
          </p:cNvSpPr>
          <p:nvPr>
            <p:ph idx="1"/>
          </p:nvPr>
        </p:nvSpPr>
        <p:spPr/>
        <p:txBody>
          <a:bodyPr/>
          <a:lstStyle/>
          <a:p>
            <a:r>
              <a:rPr lang="en-CA" altLang="en-US" smtClean="0"/>
              <a:t>In practice at least 30 time steps are necessary to give good option values</a:t>
            </a:r>
          </a:p>
          <a:p>
            <a:r>
              <a:rPr lang="en-CA" altLang="en-US" smtClean="0"/>
              <a:t>DerivaGem allows up to 500 time steps to be used</a:t>
            </a:r>
            <a:endParaRPr lang="en-US" altLang="en-US" smtClean="0"/>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154A9FD-2CF4-4D1C-B69D-E4B79B2EC58E}" type="slidenum">
              <a:rPr lang="en-US" altLang="en-US" sz="1800"/>
              <a:pPr eaLnBrk="1" hangingPunct="1">
                <a:spcBef>
                  <a:spcPct val="0"/>
                </a:spcBef>
                <a:buClrTx/>
                <a:buSzTx/>
                <a:buFontTx/>
                <a:buNone/>
              </a:pPr>
              <a:t>25</a:t>
            </a:fld>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CA" altLang="en-US" smtClean="0"/>
              <a:t>The Black-Scholes-Merton Model</a:t>
            </a:r>
            <a:endParaRPr lang="en-US" altLang="en-US" smtClean="0"/>
          </a:p>
        </p:txBody>
      </p:sp>
      <p:sp>
        <p:nvSpPr>
          <p:cNvPr id="38915" name="Content Placeholder 2"/>
          <p:cNvSpPr>
            <a:spLocks noGrp="1"/>
          </p:cNvSpPr>
          <p:nvPr>
            <p:ph idx="1"/>
          </p:nvPr>
        </p:nvSpPr>
        <p:spPr/>
        <p:txBody>
          <a:bodyPr/>
          <a:lstStyle/>
          <a:p>
            <a:r>
              <a:rPr lang="en-CA" altLang="en-US" smtClean="0"/>
              <a:t>The BSM model can be derived by looking at what happens to the price of a European call option as the time step tends to zero</a:t>
            </a:r>
          </a:p>
          <a:p>
            <a:r>
              <a:rPr lang="en-CA" altLang="en-US" smtClean="0"/>
              <a:t>See Appendix to Chapter 12</a:t>
            </a:r>
            <a:endParaRPr lang="en-US" altLang="en-US" smtClean="0"/>
          </a:p>
        </p:txBody>
      </p:sp>
      <p:sp>
        <p:nvSpPr>
          <p:cNvPr id="389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12, Copyright © John C. Hull 2016</a:t>
            </a:r>
            <a:endParaRPr lang="en-US" altLang="en-US" sz="1400" i="0"/>
          </a:p>
        </p:txBody>
      </p:sp>
      <p:sp>
        <p:nvSpPr>
          <p:cNvPr id="3891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5D64D86-7637-428D-952E-8500596B0812}" type="slidenum">
              <a:rPr lang="en-US" altLang="en-US" sz="1800"/>
              <a:pPr eaLnBrk="1" hangingPunct="1">
                <a:spcBef>
                  <a:spcPct val="0"/>
                </a:spcBef>
                <a:buClrTx/>
                <a:buSzTx/>
                <a:buFontTx/>
                <a:buNone/>
              </a:pPr>
              <a:t>26</a:t>
            </a:fld>
            <a:endParaRPr lang="en-US" altLang="en-US" sz="1800"/>
          </a:p>
        </p:txBody>
      </p:sp>
    </p:spTree>
  </p:cSld>
  <p:clrMapOvr>
    <a:masterClrMapping/>
  </p:clrMapOvr>
</p:sld>
</file>

<file path=ppt/theme/theme1.xml><?xml version="1.0" encoding="utf-8"?>
<a:theme xmlns:a="http://schemas.openxmlformats.org/drawingml/2006/main" name="1_Network">
  <a:themeElements>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1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D3073A-F7A8-4012-89FD-5522767CC3CE}"/>
</file>

<file path=customXml/itemProps2.xml><?xml version="1.0" encoding="utf-8"?>
<ds:datastoreItem xmlns:ds="http://schemas.openxmlformats.org/officeDocument/2006/customXml" ds:itemID="{7B9AAB98-929C-45EC-A625-9F0F7E3AC041}"/>
</file>

<file path=customXml/itemProps3.xml><?xml version="1.0" encoding="utf-8"?>
<ds:datastoreItem xmlns:ds="http://schemas.openxmlformats.org/officeDocument/2006/customXml" ds:itemID="{F66BDCB4-24D1-4059-A0E0-A55B381AA136}"/>
</file>

<file path=docProps/app.xml><?xml version="1.0" encoding="utf-8"?>
<Properties xmlns="http://schemas.openxmlformats.org/officeDocument/2006/extended-properties" xmlns:vt="http://schemas.openxmlformats.org/officeDocument/2006/docPropsVTypes">
  <Template>Ch02HullFundamentals5thEd</Template>
  <TotalTime>82</TotalTime>
  <Pages>19</Pages>
  <Words>1234</Words>
  <Application>Microsoft Office PowerPoint</Application>
  <PresentationFormat>Letter Paper (8.5x11 in)</PresentationFormat>
  <Paragraphs>279</Paragraphs>
  <Slides>26</Slides>
  <Notes>24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3" baseType="lpstr">
      <vt:lpstr>Arial</vt:lpstr>
      <vt:lpstr>Times New Roman</vt:lpstr>
      <vt:lpstr>Wingdings</vt:lpstr>
      <vt:lpstr>Symbol</vt:lpstr>
      <vt:lpstr>1_Network</vt:lpstr>
      <vt:lpstr>Microsoft Equation 3.0</vt:lpstr>
      <vt:lpstr>Microsoft Equation 2.0</vt:lpstr>
      <vt:lpstr>Introduction to Binomial Trees</vt:lpstr>
      <vt:lpstr>A Simple Binomial Model </vt:lpstr>
      <vt:lpstr>A Call Option (Figure 12.1, page 269)</vt:lpstr>
      <vt:lpstr>Setting Up a Riskless Portfolio</vt:lpstr>
      <vt:lpstr>Valuing the Portfolio (Risk-Free Rate is 12%)</vt:lpstr>
      <vt:lpstr>Valuing the Option</vt:lpstr>
      <vt:lpstr>Generalization (Figure 12.2, page 270)</vt:lpstr>
      <vt:lpstr>Generalization (continued)</vt:lpstr>
      <vt:lpstr>Generalization (continued)</vt:lpstr>
      <vt:lpstr>Generalization (continued)</vt:lpstr>
      <vt:lpstr>p as a Probability</vt:lpstr>
      <vt:lpstr>Risk-Neutral Valuation</vt:lpstr>
      <vt:lpstr>Risk-Neutral Valuation continued</vt:lpstr>
      <vt:lpstr>Irrelevance of Stock’s Expected Return</vt:lpstr>
      <vt:lpstr>Original Example Revisited</vt:lpstr>
      <vt:lpstr>Valuing the Option Using Risk-Neutral Valuation</vt:lpstr>
      <vt:lpstr>A Two-Step Example Figure 12.3, page 275</vt:lpstr>
      <vt:lpstr>Valuing a Call Option Figure 12.4, page 275</vt:lpstr>
      <vt:lpstr>A Put Option Example Figure 12.7, page 278</vt:lpstr>
      <vt:lpstr>What Happens When the Put Option is American (Figure 12.8, page 279)</vt:lpstr>
      <vt:lpstr>Delta</vt:lpstr>
      <vt:lpstr>Choosing u and d</vt:lpstr>
      <vt:lpstr>Assets Other than Non-Dividend Paying Stocks</vt:lpstr>
      <vt:lpstr>The Probability of an Up Move</vt:lpstr>
      <vt:lpstr>Increasing the Time Steps</vt:lpstr>
      <vt:lpstr>The Black-Scholes-Merton Model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Binomial Trees</dc:title>
  <dc:subject>Fundamentals of Futures and Options Markets, 9e</dc:subject>
  <dc:creator>John C. Hull</dc:creator>
  <cp:keywords>Chapter 12</cp:keywords>
  <dc:description>Copyright 2016 by John C. Hull.
All rights reserved. Published 2016.</dc:description>
  <cp:lastModifiedBy>John Hull</cp:lastModifiedBy>
  <cp:revision>44</cp:revision>
  <cp:lastPrinted>1999-07-13T14:54:24Z</cp:lastPrinted>
  <dcterms:created xsi:type="dcterms:W3CDTF">1996-10-27T19:50:50Z</dcterms:created>
  <dcterms:modified xsi:type="dcterms:W3CDTF">2016-01-20T21:02:38Z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