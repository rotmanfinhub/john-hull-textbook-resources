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6.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notesSlides/notesSlide11.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0"/>
  </p:notesMasterIdLst>
  <p:handoutMasterIdLst>
    <p:handoutMasterId r:id="rId21"/>
  </p:handoutMasterIdLst>
  <p:sldIdLst>
    <p:sldId id="275" r:id="rId2"/>
    <p:sldId id="258" r:id="rId3"/>
    <p:sldId id="259" r:id="rId4"/>
    <p:sldId id="260" r:id="rId5"/>
    <p:sldId id="262" r:id="rId6"/>
    <p:sldId id="278" r:id="rId7"/>
    <p:sldId id="279" r:id="rId8"/>
    <p:sldId id="265" r:id="rId9"/>
    <p:sldId id="274" r:id="rId10"/>
    <p:sldId id="286" r:id="rId11"/>
    <p:sldId id="288" r:id="rId12"/>
    <p:sldId id="289" r:id="rId13"/>
    <p:sldId id="269" r:id="rId14"/>
    <p:sldId id="271" r:id="rId15"/>
    <p:sldId id="270" r:id="rId16"/>
    <p:sldId id="283" r:id="rId17"/>
    <p:sldId id="284" r:id="rId18"/>
    <p:sldId id="285"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122" d="100"/>
          <a:sy n="122" d="100"/>
        </p:scale>
        <p:origin x="120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23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23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Tree>
    <p:extLst>
      <p:ext uri="{BB962C8B-B14F-4D97-AF65-F5344CB8AC3E}">
        <p14:creationId xmlns:p14="http://schemas.microsoft.com/office/powerpoint/2010/main" val="1135710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1331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BEA0E6D5-882A-4700-A492-600F4C3BBF4E}" type="slidenum">
              <a:rPr lang="en-US" altLang="en-US"/>
              <a:pPr>
                <a:defRPr/>
              </a:pPr>
              <a:t>‹#›</a:t>
            </a:fld>
            <a:endParaRPr lang="en-US" altLang="en-US"/>
          </a:p>
        </p:txBody>
      </p:sp>
    </p:spTree>
    <p:extLst>
      <p:ext uri="{BB962C8B-B14F-4D97-AF65-F5344CB8AC3E}">
        <p14:creationId xmlns:p14="http://schemas.microsoft.com/office/powerpoint/2010/main" val="34176514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661905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ChangeArrowheads="1" noTextEdit="1"/>
          </p:cNvSpPr>
          <p:nvPr>
            <p:ph type="sldImg"/>
          </p:nvPr>
        </p:nvSpPr>
        <p:spPr>
          <a:ln/>
        </p:spPr>
      </p:sp>
      <p:sp>
        <p:nvSpPr>
          <p:cNvPr id="1843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426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noTextEdit="1"/>
          </p:cNvSpPr>
          <p:nvPr>
            <p:ph type="sldImg"/>
          </p:nvPr>
        </p:nvSpPr>
        <p:spPr>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356050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71982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25342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noTextEdit="1"/>
          </p:cNvSpPr>
          <p:nvPr>
            <p:ph type="sldImg"/>
          </p:nvPr>
        </p:nvSpPr>
        <p:spPr>
          <a:ln/>
        </p:spPr>
      </p:sp>
      <p:sp>
        <p:nvSpPr>
          <p:cNvPr id="26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smtClean="0"/>
          </a:p>
        </p:txBody>
      </p:sp>
    </p:spTree>
    <p:extLst>
      <p:ext uri="{BB962C8B-B14F-4D97-AF65-F5344CB8AC3E}">
        <p14:creationId xmlns:p14="http://schemas.microsoft.com/office/powerpoint/2010/main" val="4076074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E47A9C4-940C-4E06-B9FE-61D42CD1C214}" type="slidenum">
              <a:rPr lang="en-US" altLang="en-US" smtClean="0"/>
              <a:pPr>
                <a:spcBef>
                  <a:spcPct val="0"/>
                </a:spcBef>
              </a:pPr>
              <a:t>7</a:t>
            </a:fld>
            <a:endParaRPr lang="en-US" altLang="en-US" smtClean="0"/>
          </a:p>
        </p:txBody>
      </p:sp>
    </p:spTree>
    <p:extLst>
      <p:ext uri="{BB962C8B-B14F-4D97-AF65-F5344CB8AC3E}">
        <p14:creationId xmlns:p14="http://schemas.microsoft.com/office/powerpoint/2010/main" val="3637909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2578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noTextEdit="1"/>
          </p:cNvSpPr>
          <p:nvPr>
            <p:ph type="sldImg"/>
          </p:nvPr>
        </p:nvSpPr>
        <p:spPr>
          <a:xfrm>
            <a:off x="1150938" y="692150"/>
            <a:ext cx="4556125" cy="3416300"/>
          </a:xfrm>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965787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FBAE928-9E05-415A-A979-EC9D7C196DD6}" type="slidenum">
              <a:rPr lang="en-US" altLang="en-US" smtClean="0"/>
              <a:pPr>
                <a:spcBef>
                  <a:spcPct val="0"/>
                </a:spcBef>
              </a:pPr>
              <a:t>10</a:t>
            </a:fld>
            <a:endParaRPr lang="en-US" altLang="en-US" smtClean="0"/>
          </a:p>
        </p:txBody>
      </p:sp>
    </p:spTree>
    <p:extLst>
      <p:ext uri="{BB962C8B-B14F-4D97-AF65-F5344CB8AC3E}">
        <p14:creationId xmlns:p14="http://schemas.microsoft.com/office/powerpoint/2010/main" val="344044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491D9C-F2D8-4D88-8250-7E7D5F087D8E}" type="slidenum">
              <a:rPr lang="en-US" altLang="en-US" smtClean="0"/>
              <a:pPr>
                <a:spcBef>
                  <a:spcPct val="0"/>
                </a:spcBef>
              </a:pPr>
              <a:t>12</a:t>
            </a:fld>
            <a:endParaRPr lang="en-US" altLang="en-US" smtClean="0"/>
          </a:p>
        </p:txBody>
      </p:sp>
    </p:spTree>
    <p:extLst>
      <p:ext uri="{BB962C8B-B14F-4D97-AF65-F5344CB8AC3E}">
        <p14:creationId xmlns:p14="http://schemas.microsoft.com/office/powerpoint/2010/main" val="251549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26"/>
          <p:cNvSpPr>
            <a:spLocks noChangeArrowheads="1" noTextEdit="1"/>
          </p:cNvSpPr>
          <p:nvPr>
            <p:ph type="sldImg"/>
          </p:nvPr>
        </p:nvSpPr>
        <p:spPr>
          <a:ln/>
        </p:spPr>
      </p:sp>
      <p:sp>
        <p:nvSpPr>
          <p:cNvPr id="39939"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545731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noTextEdit="1"/>
          </p:cNvSpPr>
          <p:nvPr>
            <p:ph type="sldImg"/>
          </p:nvPr>
        </p:nvSpPr>
        <p:spPr>
          <a:ln/>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63907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88239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noTextEdit="1"/>
          </p:cNvSpPr>
          <p:nvPr>
            <p:ph type="sldImg"/>
          </p:nvPr>
        </p:nvSpPr>
        <p:spPr>
          <a:ln/>
        </p:spPr>
      </p:sp>
      <p:sp>
        <p:nvSpPr>
          <p:cNvPr id="460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444764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smtClean="0"/>
          </a:p>
        </p:txBody>
      </p:sp>
    </p:spTree>
    <p:extLst>
      <p:ext uri="{BB962C8B-B14F-4D97-AF65-F5344CB8AC3E}">
        <p14:creationId xmlns:p14="http://schemas.microsoft.com/office/powerpoint/2010/main" val="2548366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E01ABE-2887-4E04-B777-1D64A3DF5B47}" type="slidenum">
              <a:rPr lang="en-US" altLang="en-US" smtClean="0"/>
              <a:pPr>
                <a:spcBef>
                  <a:spcPct val="0"/>
                </a:spcBef>
              </a:pPr>
              <a:t>18</a:t>
            </a:fld>
            <a:endParaRPr lang="en-US" altLang="en-US" smtClean="0"/>
          </a:p>
        </p:txBody>
      </p:sp>
    </p:spTree>
    <p:extLst>
      <p:ext uri="{BB962C8B-B14F-4D97-AF65-F5344CB8AC3E}">
        <p14:creationId xmlns:p14="http://schemas.microsoft.com/office/powerpoint/2010/main" val="1729771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35"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44036"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pPr>
              <a:defRPr/>
            </a:pPr>
            <a:fld id="{3256406E-BA4C-4924-BEE6-45A2A046D9E2}" type="slidenum">
              <a:rPr lang="en-US" altLang="en-US"/>
              <a:pPr>
                <a:defRPr/>
              </a:pPr>
              <a:t>‹#›</a:t>
            </a:fld>
            <a:endParaRPr lang="en-US" altLang="en-US"/>
          </a:p>
        </p:txBody>
      </p:sp>
    </p:spTree>
    <p:extLst>
      <p:ext uri="{BB962C8B-B14F-4D97-AF65-F5344CB8AC3E}">
        <p14:creationId xmlns:p14="http://schemas.microsoft.com/office/powerpoint/2010/main" val="180901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566E9DCF-6521-43E9-8F64-6ADCA4F01BAE}" type="slidenum">
              <a:rPr lang="en-US" altLang="en-US"/>
              <a:pPr>
                <a:defRPr/>
              </a:pPr>
              <a:t>‹#›</a:t>
            </a:fld>
            <a:endParaRPr lang="en-US" altLang="en-US"/>
          </a:p>
        </p:txBody>
      </p:sp>
    </p:spTree>
    <p:extLst>
      <p:ext uri="{BB962C8B-B14F-4D97-AF65-F5344CB8AC3E}">
        <p14:creationId xmlns:p14="http://schemas.microsoft.com/office/powerpoint/2010/main" val="3103910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24D03C70-E79A-436F-866B-FC0078224F88}" type="slidenum">
              <a:rPr lang="en-US" altLang="en-US"/>
              <a:pPr>
                <a:defRPr/>
              </a:pPr>
              <a:t>‹#›</a:t>
            </a:fld>
            <a:endParaRPr lang="en-US" altLang="en-US"/>
          </a:p>
        </p:txBody>
      </p:sp>
    </p:spTree>
    <p:extLst>
      <p:ext uri="{BB962C8B-B14F-4D97-AF65-F5344CB8AC3E}">
        <p14:creationId xmlns:p14="http://schemas.microsoft.com/office/powerpoint/2010/main" val="191432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E034828D-51B7-40B5-8BE5-FA15D0051F97}" type="slidenum">
              <a:rPr lang="en-US" altLang="en-US"/>
              <a:pPr>
                <a:defRPr/>
              </a:pPr>
              <a:t>‹#›</a:t>
            </a:fld>
            <a:endParaRPr lang="en-US" altLang="en-US"/>
          </a:p>
        </p:txBody>
      </p:sp>
    </p:spTree>
    <p:extLst>
      <p:ext uri="{BB962C8B-B14F-4D97-AF65-F5344CB8AC3E}">
        <p14:creationId xmlns:p14="http://schemas.microsoft.com/office/powerpoint/2010/main" val="2494718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pPr>
              <a:defRPr/>
            </a:pPr>
            <a:fld id="{D81D310C-4088-4654-89AC-F98069AB91AA}" type="slidenum">
              <a:rPr lang="en-US" altLang="en-US"/>
              <a:pPr>
                <a:defRPr/>
              </a:pPr>
              <a:t>‹#›</a:t>
            </a:fld>
            <a:endParaRPr lang="en-US" altLang="en-US"/>
          </a:p>
        </p:txBody>
      </p:sp>
    </p:spTree>
    <p:extLst>
      <p:ext uri="{BB962C8B-B14F-4D97-AF65-F5344CB8AC3E}">
        <p14:creationId xmlns:p14="http://schemas.microsoft.com/office/powerpoint/2010/main" val="1241859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pPr>
              <a:defRPr/>
            </a:pPr>
            <a:fld id="{486BBA2C-F930-4A12-B140-7E91EB4601C1}" type="slidenum">
              <a:rPr lang="en-US" altLang="en-US"/>
              <a:pPr>
                <a:defRPr/>
              </a:pPr>
              <a:t>‹#›</a:t>
            </a:fld>
            <a:endParaRPr lang="en-US" altLang="en-US"/>
          </a:p>
        </p:txBody>
      </p:sp>
    </p:spTree>
    <p:extLst>
      <p:ext uri="{BB962C8B-B14F-4D97-AF65-F5344CB8AC3E}">
        <p14:creationId xmlns:p14="http://schemas.microsoft.com/office/powerpoint/2010/main" val="415633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pPr>
              <a:defRPr/>
            </a:pPr>
            <a:fld id="{8AB87F74-3398-4B5E-AF1F-F1CE0D49D7CD}" type="slidenum">
              <a:rPr lang="en-US" altLang="en-US"/>
              <a:pPr>
                <a:defRPr/>
              </a:pPr>
              <a:t>‹#›</a:t>
            </a:fld>
            <a:endParaRPr lang="en-US" altLang="en-US"/>
          </a:p>
        </p:txBody>
      </p:sp>
    </p:spTree>
    <p:extLst>
      <p:ext uri="{BB962C8B-B14F-4D97-AF65-F5344CB8AC3E}">
        <p14:creationId xmlns:p14="http://schemas.microsoft.com/office/powerpoint/2010/main" val="142835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229E56A2-ABFF-4370-9E6B-1973EC0F4211}" type="slidenum">
              <a:rPr lang="en-US" altLang="en-US"/>
              <a:pPr>
                <a:defRPr/>
              </a:pPr>
              <a:t>‹#›</a:t>
            </a:fld>
            <a:endParaRPr lang="en-US" altLang="en-US"/>
          </a:p>
        </p:txBody>
      </p:sp>
    </p:spTree>
    <p:extLst>
      <p:ext uri="{BB962C8B-B14F-4D97-AF65-F5344CB8AC3E}">
        <p14:creationId xmlns:p14="http://schemas.microsoft.com/office/powerpoint/2010/main" val="3819906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BE01B4DD-11FB-40C9-9F20-25B3948FE82E}" type="slidenum">
              <a:rPr lang="en-US" altLang="en-US"/>
              <a:pPr>
                <a:defRPr/>
              </a:pPr>
              <a:t>‹#›</a:t>
            </a:fld>
            <a:endParaRPr lang="en-US" altLang="en-US"/>
          </a:p>
        </p:txBody>
      </p:sp>
    </p:spTree>
    <p:extLst>
      <p:ext uri="{BB962C8B-B14F-4D97-AF65-F5344CB8AC3E}">
        <p14:creationId xmlns:p14="http://schemas.microsoft.com/office/powerpoint/2010/main" val="356274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98885ECD-B5E1-4954-8705-ED5BFCDF0FEE}" type="slidenum">
              <a:rPr lang="en-US" altLang="en-US"/>
              <a:pPr>
                <a:defRPr/>
              </a:pPr>
              <a:t>‹#›</a:t>
            </a:fld>
            <a:endParaRPr lang="en-US" altLang="en-US"/>
          </a:p>
        </p:txBody>
      </p:sp>
    </p:spTree>
    <p:extLst>
      <p:ext uri="{BB962C8B-B14F-4D97-AF65-F5344CB8AC3E}">
        <p14:creationId xmlns:p14="http://schemas.microsoft.com/office/powerpoint/2010/main" val="3781712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Ch3,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0F7131B2-99ED-441D-9F75-843AA177173C}" type="slidenum">
              <a:rPr lang="en-US" altLang="en-US"/>
              <a:pPr>
                <a:defRPr/>
              </a:pPr>
              <a:t>‹#›</a:t>
            </a:fld>
            <a:endParaRPr lang="en-US" altLang="en-US"/>
          </a:p>
        </p:txBody>
      </p:sp>
    </p:spTree>
    <p:extLst>
      <p:ext uri="{BB962C8B-B14F-4D97-AF65-F5344CB8AC3E}">
        <p14:creationId xmlns:p14="http://schemas.microsoft.com/office/powerpoint/2010/main" val="3475917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3013"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43014"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i="1">
                <a:latin typeface="Arial" charset="0"/>
              </a:defRPr>
            </a:lvl1pPr>
          </a:lstStyle>
          <a:p>
            <a:pPr>
              <a:defRPr/>
            </a:pPr>
            <a:r>
              <a:rPr lang="en-CA" altLang="en-US"/>
              <a:t>Fundamentals of Futures and Options Markets, 9th Ed, Ch3, Copyright © John C. Hull 2016</a:t>
            </a:r>
            <a:endParaRPr lang="en-US" altLang="en-US"/>
          </a:p>
        </p:txBody>
      </p:sp>
      <p:sp>
        <p:nvSpPr>
          <p:cNvPr id="43015"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pPr>
              <a:defRPr/>
            </a:pPr>
            <a:fld id="{EDA830FB-F87B-4C4F-99F2-09389AA13055}"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8.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0.wmf"/><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11"/>
          </p:nvPr>
        </p:nvSpPr>
        <p:spPr>
          <a:xfrm>
            <a:off x="323850" y="6248400"/>
            <a:ext cx="760095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15363" name="Rectangle 4"/>
          <p:cNvSpPr>
            <a:spLocks noGrp="1" noChangeArrowheads="1"/>
          </p:cNvSpPr>
          <p:nvPr>
            <p:ph type="ctrTitle"/>
          </p:nvPr>
        </p:nvSpPr>
        <p:spPr/>
        <p:txBody>
          <a:bodyPr/>
          <a:lstStyle/>
          <a:p>
            <a:pPr eaLnBrk="1" hangingPunct="1"/>
            <a:r>
              <a:rPr lang="en-US" altLang="en-US" smtClean="0"/>
              <a:t>Hedging Strategies Using Futures</a:t>
            </a:r>
          </a:p>
        </p:txBody>
      </p:sp>
      <p:sp>
        <p:nvSpPr>
          <p:cNvPr id="15364" name="Rectangle 5"/>
          <p:cNvSpPr>
            <a:spLocks noGrp="1" noChangeArrowheads="1"/>
          </p:cNvSpPr>
          <p:nvPr>
            <p:ph type="subTitle" idx="1"/>
          </p:nvPr>
        </p:nvSpPr>
        <p:spPr>
          <a:xfrm>
            <a:off x="914400" y="3048000"/>
            <a:ext cx="6248400" cy="2362200"/>
          </a:xfrm>
        </p:spPr>
        <p:txBody>
          <a:bodyPr/>
          <a:lstStyle/>
          <a:p>
            <a:pPr eaLnBrk="1" hangingPunct="1"/>
            <a:r>
              <a:rPr lang="en-US" altLang="en-US" smtClean="0"/>
              <a:t>Chapter 3</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8F81482-CD52-4188-B81E-69BA4766DB33}" type="slidenum">
              <a:rPr lang="en-US" altLang="en-US" sz="1800" smtClean="0"/>
              <a:pPr>
                <a:spcBef>
                  <a:spcPct val="0"/>
                </a:spcBef>
                <a:buClrTx/>
                <a:buSzTx/>
                <a:buFontTx/>
                <a:buNone/>
              </a:pPr>
              <a:t>1</a:t>
            </a:fld>
            <a:endParaRPr lang="en-US" altLang="en-US" sz="180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17411" name="Rectangle 2"/>
          <p:cNvSpPr>
            <a:spLocks noGrp="1" noChangeArrowheads="1"/>
          </p:cNvSpPr>
          <p:nvPr>
            <p:ph type="title"/>
          </p:nvPr>
        </p:nvSpPr>
        <p:spPr>
          <a:noFill/>
        </p:spPr>
        <p:txBody>
          <a:bodyPr lIns="90488" tIns="44450" rIns="90488" bIns="44450" anchor="ctr"/>
          <a:lstStyle/>
          <a:p>
            <a:pPr eaLnBrk="1" hangingPunct="1"/>
            <a:r>
              <a:rPr lang="en-US" altLang="en-US" smtClean="0"/>
              <a:t>Long &amp; Short Hedges</a:t>
            </a:r>
          </a:p>
        </p:txBody>
      </p:sp>
      <p:sp>
        <p:nvSpPr>
          <p:cNvPr id="17412" name="Rectangle 3"/>
          <p:cNvSpPr>
            <a:spLocks noGrp="1" noChangeArrowheads="1"/>
          </p:cNvSpPr>
          <p:nvPr>
            <p:ph type="body" idx="1"/>
          </p:nvPr>
        </p:nvSpPr>
        <p:spPr>
          <a:xfrm>
            <a:off x="593725" y="1760538"/>
            <a:ext cx="7956550" cy="4411662"/>
          </a:xfrm>
          <a:noFill/>
        </p:spPr>
        <p:txBody>
          <a:bodyPr lIns="90488" tIns="44450" rIns="90488" bIns="44450"/>
          <a:lstStyle/>
          <a:p>
            <a:pPr eaLnBrk="1" hangingPunct="1"/>
            <a:r>
              <a:rPr lang="en-US" altLang="en-US" smtClean="0"/>
              <a:t>A long futures hedge is appropriate when you know you will purchase an asset in the future and want to lock in the price</a:t>
            </a:r>
          </a:p>
          <a:p>
            <a:pPr eaLnBrk="1" hangingPunct="1"/>
            <a:r>
              <a:rPr lang="en-US" altLang="en-US" smtClean="0"/>
              <a:t>A short futures hedge is appropriate when you know you will sell an asset in the future and want to lock in the price</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88A91ED-9EFE-490E-A02B-31F371524907}" type="slidenum">
              <a:rPr lang="en-US" altLang="en-US" sz="1800" smtClean="0"/>
              <a:pPr>
                <a:spcBef>
                  <a:spcPct val="0"/>
                </a:spcBef>
                <a:buClrTx/>
                <a:buSzTx/>
                <a:buFontTx/>
                <a:buNone/>
              </a:pPr>
              <a:t>2</a:t>
            </a:fld>
            <a:endParaRPr lang="en-US" altLang="en-US" sz="1800" smtClean="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19459" name="Rectangle 2"/>
          <p:cNvSpPr>
            <a:spLocks noGrp="1" noChangeArrowheads="1"/>
          </p:cNvSpPr>
          <p:nvPr>
            <p:ph type="title"/>
          </p:nvPr>
        </p:nvSpPr>
        <p:spPr>
          <a:noFill/>
        </p:spPr>
        <p:txBody>
          <a:bodyPr lIns="90488" tIns="44450" rIns="90488" bIns="44450" anchor="ctr"/>
          <a:lstStyle/>
          <a:p>
            <a:pPr eaLnBrk="1" hangingPunct="1"/>
            <a:r>
              <a:rPr lang="en-US" altLang="en-US" smtClean="0"/>
              <a:t>Arguments in Favor of Hedging</a:t>
            </a:r>
          </a:p>
        </p:txBody>
      </p:sp>
      <p:sp>
        <p:nvSpPr>
          <p:cNvPr id="19460" name="Rectangle 3"/>
          <p:cNvSpPr>
            <a:spLocks noGrp="1" noChangeArrowheads="1"/>
          </p:cNvSpPr>
          <p:nvPr>
            <p:ph type="body" idx="1"/>
          </p:nvPr>
        </p:nvSpPr>
        <p:spPr>
          <a:xfrm>
            <a:off x="381000" y="1371600"/>
            <a:ext cx="7772400" cy="4114800"/>
          </a:xfrm>
          <a:noFill/>
        </p:spPr>
        <p:txBody>
          <a:bodyPr lIns="90488" tIns="44450" rIns="90488" bIns="44450"/>
          <a:lstStyle/>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Companies should focus on the main business they are in and take steps to minimize risks arising from interest rates, exchange rates, and other market variables</a:t>
            </a:r>
          </a:p>
          <a:p>
            <a:pPr eaLnBrk="1" hangingPunct="1">
              <a:buFont typeface="Wingdings" panose="05000000000000000000" pitchFamily="2" charset="2"/>
              <a:buNone/>
            </a:pPr>
            <a:endParaRPr lang="en-US" altLang="en-US" sz="2800" smtClean="0"/>
          </a:p>
          <a:p>
            <a:pPr lvl="1" eaLnBrk="1" hangingPunct="1">
              <a:buFont typeface="Wingdings" panose="05000000000000000000" pitchFamily="2" charset="2"/>
              <a:buNone/>
            </a:pPr>
            <a:endParaRPr lang="en-US" altLang="en-US" smtClean="0"/>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0C4B67D-7D88-4F02-A4E8-8796A37E4E17}" type="slidenum">
              <a:rPr lang="en-US" altLang="en-US" sz="1800" smtClean="0"/>
              <a:pPr>
                <a:spcBef>
                  <a:spcPct val="0"/>
                </a:spcBef>
                <a:buClrTx/>
                <a:buSzTx/>
                <a:buFontTx/>
                <a:buNone/>
              </a:pPr>
              <a:t>3</a:t>
            </a:fld>
            <a:endParaRPr lang="en-US" altLang="en-US" sz="1800" smtClean="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21507" name="Rectangle 2"/>
          <p:cNvSpPr>
            <a:spLocks noGrp="1" noChangeArrowheads="1"/>
          </p:cNvSpPr>
          <p:nvPr>
            <p:ph type="title"/>
          </p:nvPr>
        </p:nvSpPr>
        <p:spPr>
          <a:noFill/>
        </p:spPr>
        <p:txBody>
          <a:bodyPr lIns="90488" tIns="44450" rIns="90488" bIns="44450" anchor="ctr"/>
          <a:lstStyle/>
          <a:p>
            <a:pPr eaLnBrk="1" hangingPunct="1"/>
            <a:r>
              <a:rPr lang="en-US" altLang="en-US" smtClean="0"/>
              <a:t>Arguments against Hedging</a:t>
            </a:r>
          </a:p>
        </p:txBody>
      </p:sp>
      <p:sp>
        <p:nvSpPr>
          <p:cNvPr id="21508" name="Rectangle 3"/>
          <p:cNvSpPr>
            <a:spLocks noGrp="1" noChangeArrowheads="1"/>
          </p:cNvSpPr>
          <p:nvPr>
            <p:ph type="body" idx="1"/>
          </p:nvPr>
        </p:nvSpPr>
        <p:spPr>
          <a:noFill/>
        </p:spPr>
        <p:txBody>
          <a:bodyPr lIns="90488" tIns="44450" rIns="90488" bIns="44450"/>
          <a:lstStyle/>
          <a:p>
            <a:pPr eaLnBrk="1" hangingPunct="1"/>
            <a:r>
              <a:rPr lang="en-US" altLang="en-US" smtClean="0"/>
              <a:t>Shareholders are usually well diversified and can make their own hedging decisions</a:t>
            </a:r>
          </a:p>
          <a:p>
            <a:pPr eaLnBrk="1" hangingPunct="1"/>
            <a:r>
              <a:rPr lang="en-US" altLang="en-US" smtClean="0"/>
              <a:t>It may increase risk to hedge when competitors do not</a:t>
            </a:r>
          </a:p>
          <a:p>
            <a:pPr eaLnBrk="1" hangingPunct="1"/>
            <a:r>
              <a:rPr lang="en-US" altLang="en-US" smtClean="0"/>
              <a:t>Explaining a situation where there is a loss on the hedge and a gain on the underlying can be difficult</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1518D90-60FC-45F3-8A55-AFA5C746C6ED}" type="slidenum">
              <a:rPr lang="en-US" altLang="en-US" sz="1800" smtClean="0"/>
              <a:pPr>
                <a:spcBef>
                  <a:spcPct val="0"/>
                </a:spcBef>
                <a:buClrTx/>
                <a:buSzTx/>
                <a:buFontTx/>
                <a:buNone/>
              </a:pPr>
              <a:t>4</a:t>
            </a:fld>
            <a:endParaRPr lang="en-US" altLang="en-US" sz="1800" smtClean="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23555" name="Rectangle 2"/>
          <p:cNvSpPr>
            <a:spLocks noGrp="1" noChangeArrowheads="1"/>
          </p:cNvSpPr>
          <p:nvPr>
            <p:ph type="title"/>
          </p:nvPr>
        </p:nvSpPr>
        <p:spPr>
          <a:noFill/>
        </p:spPr>
        <p:txBody>
          <a:bodyPr lIns="90488" tIns="44450" rIns="90488" bIns="44450" anchor="ctr"/>
          <a:lstStyle/>
          <a:p>
            <a:pPr eaLnBrk="1" hangingPunct="1"/>
            <a:r>
              <a:rPr lang="en-US" altLang="en-US" smtClean="0"/>
              <a:t>Basis Risk</a:t>
            </a:r>
          </a:p>
        </p:txBody>
      </p:sp>
      <p:sp>
        <p:nvSpPr>
          <p:cNvPr id="23556" name="Rectangle 3"/>
          <p:cNvSpPr>
            <a:spLocks noGrp="1" noChangeArrowheads="1"/>
          </p:cNvSpPr>
          <p:nvPr>
            <p:ph type="body" idx="1"/>
          </p:nvPr>
        </p:nvSpPr>
        <p:spPr>
          <a:xfrm>
            <a:off x="1455738" y="1719263"/>
            <a:ext cx="6232525" cy="4411662"/>
          </a:xfrm>
          <a:noFill/>
        </p:spPr>
        <p:txBody>
          <a:bodyPr lIns="90488" tIns="44450" rIns="90488" bIns="44450"/>
          <a:lstStyle/>
          <a:p>
            <a:pPr eaLnBrk="1" hangingPunct="1"/>
            <a:r>
              <a:rPr lang="en-US" altLang="en-US" smtClean="0"/>
              <a:t>Basis is the difference between spot &amp; futures</a:t>
            </a:r>
          </a:p>
          <a:p>
            <a:pPr eaLnBrk="1" hangingPunct="1"/>
            <a:r>
              <a:rPr lang="en-US" altLang="en-US" smtClean="0"/>
              <a:t>Basis risk arises because of the uncertainty about the basis when the hedge is closed out</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53EC21B-7F67-4096-B02F-EE97003307EB}" type="slidenum">
              <a:rPr lang="en-US" altLang="en-US" sz="1800" smtClean="0"/>
              <a:pPr>
                <a:spcBef>
                  <a:spcPct val="0"/>
                </a:spcBef>
                <a:buClrTx/>
                <a:buSzTx/>
                <a:buFontTx/>
                <a:buNone/>
              </a:pPr>
              <a:t>5</a:t>
            </a:fld>
            <a:endParaRPr lang="en-US" altLang="en-US" sz="1800" smtClean="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46063" y="930275"/>
            <a:ext cx="7772400" cy="746125"/>
          </a:xfrm>
        </p:spPr>
        <p:txBody>
          <a:bodyPr lIns="90488" tIns="44450" rIns="90488" bIns="44450"/>
          <a:lstStyle/>
          <a:p>
            <a:pPr eaLnBrk="1" hangingPunct="1"/>
            <a:r>
              <a:rPr lang="en-US" altLang="en-US" sz="3600" smtClean="0"/>
              <a:t>Long Hedge for Purchase of an Asset </a:t>
            </a:r>
          </a:p>
        </p:txBody>
      </p:sp>
      <p:sp>
        <p:nvSpPr>
          <p:cNvPr id="16388" name="Rectangle 3"/>
          <p:cNvSpPr>
            <a:spLocks noGrp="1" noChangeArrowheads="1"/>
          </p:cNvSpPr>
          <p:nvPr>
            <p:ph idx="1"/>
          </p:nvPr>
        </p:nvSpPr>
        <p:spPr>
          <a:xfrm>
            <a:off x="533400" y="1828800"/>
            <a:ext cx="7947025" cy="3970338"/>
          </a:xfrm>
        </p:spPr>
        <p:txBody>
          <a:bodyPr lIns="90488" tIns="44450" rIns="90488" bIns="44450"/>
          <a:lstStyle/>
          <a:p>
            <a:pPr eaLnBrk="1" hangingPunct="1">
              <a:lnSpc>
                <a:spcPct val="90000"/>
              </a:lnSpc>
              <a:defRPr/>
            </a:pPr>
            <a:r>
              <a:rPr lang="en-CA" sz="2400" dirty="0" smtClean="0"/>
              <a:t>Define</a:t>
            </a:r>
            <a:endParaRPr lang="en-US" sz="2400" dirty="0" smtClean="0"/>
          </a:p>
          <a:p>
            <a:pPr lvl="2" eaLnBrk="1" hangingPunct="1">
              <a:lnSpc>
                <a:spcPct val="90000"/>
              </a:lnSpc>
              <a:buFont typeface="Wingdings" panose="05000000000000000000" pitchFamily="2" charset="2"/>
              <a:buNone/>
              <a:defRPr/>
            </a:pPr>
            <a:r>
              <a:rPr lang="en-US" i="1" dirty="0" smtClean="0">
                <a:latin typeface="+mj-lt"/>
              </a:rPr>
              <a:t>F</a:t>
            </a:r>
            <a:r>
              <a:rPr lang="en-US" baseline="-25000" dirty="0" smtClean="0"/>
              <a:t>1</a:t>
            </a:r>
            <a:r>
              <a:rPr lang="en-US" i="1" baseline="-25000" dirty="0" smtClean="0"/>
              <a:t> </a:t>
            </a:r>
            <a:r>
              <a:rPr lang="en-US" dirty="0" smtClean="0"/>
              <a:t>: </a:t>
            </a:r>
            <a:r>
              <a:rPr lang="en-US" i="1" dirty="0" smtClean="0"/>
              <a:t> </a:t>
            </a:r>
            <a:r>
              <a:rPr lang="en-US" dirty="0" smtClean="0"/>
              <a:t>Futures price at time hedge is set up</a:t>
            </a:r>
          </a:p>
          <a:p>
            <a:pPr lvl="2" eaLnBrk="1" hangingPunct="1">
              <a:lnSpc>
                <a:spcPct val="90000"/>
              </a:lnSpc>
              <a:buFont typeface="Wingdings" panose="05000000000000000000" pitchFamily="2" charset="2"/>
              <a:buNone/>
              <a:defRPr/>
            </a:pPr>
            <a:r>
              <a:rPr lang="en-US" i="1" dirty="0" smtClean="0">
                <a:latin typeface="+mj-lt"/>
              </a:rPr>
              <a:t>F</a:t>
            </a:r>
            <a:r>
              <a:rPr lang="en-US" baseline="-25000" dirty="0" smtClean="0"/>
              <a:t>2</a:t>
            </a:r>
            <a:r>
              <a:rPr lang="en-US" i="1" dirty="0" smtClean="0"/>
              <a:t> </a:t>
            </a:r>
            <a:r>
              <a:rPr lang="en-US" dirty="0" smtClean="0"/>
              <a:t>: </a:t>
            </a:r>
            <a:r>
              <a:rPr lang="en-US" i="1" dirty="0" smtClean="0"/>
              <a:t> </a:t>
            </a:r>
            <a:r>
              <a:rPr lang="en-US" dirty="0" smtClean="0"/>
              <a:t>Futures price at time asset is purchased</a:t>
            </a:r>
          </a:p>
          <a:p>
            <a:pPr lvl="2" eaLnBrk="1" hangingPunct="1">
              <a:lnSpc>
                <a:spcPct val="90000"/>
              </a:lnSpc>
              <a:buFont typeface="Wingdings" panose="05000000000000000000" pitchFamily="2" charset="2"/>
              <a:buNone/>
              <a:defRPr/>
            </a:pPr>
            <a:r>
              <a:rPr lang="en-US" i="1" dirty="0" smtClean="0">
                <a:latin typeface="+mj-lt"/>
              </a:rPr>
              <a:t>S</a:t>
            </a:r>
            <a:r>
              <a:rPr lang="en-US" baseline="-25000" dirty="0" smtClean="0"/>
              <a:t>2</a:t>
            </a:r>
            <a:r>
              <a:rPr lang="en-US" i="1" baseline="-25000" dirty="0" smtClean="0"/>
              <a:t> </a:t>
            </a:r>
            <a:r>
              <a:rPr lang="en-US" i="1" dirty="0" smtClean="0"/>
              <a:t> </a:t>
            </a:r>
            <a:r>
              <a:rPr lang="en-US" dirty="0" smtClean="0"/>
              <a:t>: </a:t>
            </a:r>
            <a:r>
              <a:rPr lang="en-US" i="1" dirty="0" smtClean="0"/>
              <a:t> </a:t>
            </a:r>
            <a:r>
              <a:rPr lang="en-US" dirty="0" smtClean="0"/>
              <a:t>Asset price at time of purchase</a:t>
            </a:r>
          </a:p>
          <a:p>
            <a:pPr lvl="2" eaLnBrk="1" hangingPunct="1">
              <a:lnSpc>
                <a:spcPct val="90000"/>
              </a:lnSpc>
              <a:buFont typeface="Wingdings" panose="05000000000000000000" pitchFamily="2" charset="2"/>
              <a:buNone/>
              <a:defRPr/>
            </a:pPr>
            <a:r>
              <a:rPr lang="en-CA" i="1" dirty="0" smtClean="0">
                <a:latin typeface="Times New Roman" pitchFamily="18" charset="0"/>
                <a:cs typeface="Times New Roman" pitchFamily="18" charset="0"/>
              </a:rPr>
              <a:t>b</a:t>
            </a:r>
            <a:r>
              <a:rPr lang="en-CA" i="1" baseline="-25000" dirty="0" smtClean="0">
                <a:latin typeface="Times New Roman" pitchFamily="18" charset="0"/>
                <a:cs typeface="Times New Roman" pitchFamily="18" charset="0"/>
              </a:rPr>
              <a:t>2</a:t>
            </a:r>
            <a:r>
              <a:rPr lang="en-CA" i="1" dirty="0" smtClean="0">
                <a:latin typeface="Times New Roman" pitchFamily="18" charset="0"/>
                <a:cs typeface="Times New Roman" pitchFamily="18" charset="0"/>
              </a:rPr>
              <a:t> </a:t>
            </a:r>
            <a:r>
              <a:rPr lang="en-CA" dirty="0" smtClean="0"/>
              <a:t>  :  Basis at time of purchase</a:t>
            </a:r>
            <a:endParaRPr lang="en-US" dirty="0" smtClean="0"/>
          </a:p>
          <a:p>
            <a:pPr lvl="2" eaLnBrk="1" hangingPunct="1">
              <a:lnSpc>
                <a:spcPct val="90000"/>
              </a:lnSpc>
              <a:buFont typeface="Wingdings" panose="05000000000000000000" pitchFamily="2" charset="2"/>
              <a:buNone/>
              <a:defRPr/>
            </a:pPr>
            <a:endParaRPr lang="en-US" dirty="0" smtClean="0"/>
          </a:p>
          <a:p>
            <a:pPr lvl="2" eaLnBrk="1" hangingPunct="1">
              <a:lnSpc>
                <a:spcPct val="90000"/>
              </a:lnSpc>
              <a:buFont typeface="Wingdings" panose="05000000000000000000" pitchFamily="2" charset="2"/>
              <a:buNone/>
              <a:defRPr/>
            </a:pPr>
            <a:endParaRPr lang="en-US" sz="2800" dirty="0" smtClean="0"/>
          </a:p>
          <a:p>
            <a:pPr lvl="2" eaLnBrk="1" hangingPunct="1">
              <a:lnSpc>
                <a:spcPct val="90000"/>
              </a:lnSpc>
              <a:buFont typeface="Wingdings" panose="05000000000000000000" pitchFamily="2" charset="2"/>
              <a:buNone/>
              <a:defRPr/>
            </a:pPr>
            <a:endParaRPr lang="en-US" sz="2800" dirty="0" smtClean="0"/>
          </a:p>
        </p:txBody>
      </p:sp>
      <p:sp>
        <p:nvSpPr>
          <p:cNvPr id="2560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A1A05AB-8761-4593-879C-EEDC9789327D}" type="slidenum">
              <a:rPr lang="en-US" altLang="en-US" sz="1800" smtClean="0"/>
              <a:pPr>
                <a:spcBef>
                  <a:spcPct val="0"/>
                </a:spcBef>
                <a:buClrTx/>
                <a:buSzTx/>
                <a:buFontTx/>
                <a:buNone/>
              </a:pPr>
              <a:t>6</a:t>
            </a:fld>
            <a:endParaRPr lang="en-US" altLang="en-US" sz="1800" smtClean="0"/>
          </a:p>
        </p:txBody>
      </p:sp>
      <p:graphicFrame>
        <p:nvGraphicFramePr>
          <p:cNvPr id="6" name="Table 5"/>
          <p:cNvGraphicFramePr>
            <a:graphicFrameLocks noGrp="1"/>
          </p:cNvGraphicFramePr>
          <p:nvPr/>
        </p:nvGraphicFramePr>
        <p:xfrm>
          <a:off x="1295400" y="4267200"/>
          <a:ext cx="6096000" cy="1412875"/>
        </p:xfrm>
        <a:graphic>
          <a:graphicData uri="http://schemas.openxmlformats.org/drawingml/2006/table">
            <a:tbl>
              <a:tblPr firstRow="1" bandRow="1">
                <a:tableStyleId>{5940675A-B579-460E-94D1-54222C63F5DA}</a:tableStyleId>
              </a:tblPr>
              <a:tblGrid>
                <a:gridCol w="3048000"/>
                <a:gridCol w="3048000"/>
              </a:tblGrid>
              <a:tr h="406583">
                <a:tc>
                  <a:txBody>
                    <a:bodyPr/>
                    <a:lstStyle/>
                    <a:p>
                      <a:r>
                        <a:rPr lang="en-CA" sz="1800" dirty="0" smtClean="0"/>
                        <a:t>Cost of asset</a:t>
                      </a:r>
                      <a:endParaRPr lang="en-US" sz="1800" dirty="0"/>
                    </a:p>
                  </a:txBody>
                  <a:tcPr marT="45741" marB="45741"/>
                </a:tc>
                <a:tc>
                  <a:txBody>
                    <a:bodyPr/>
                    <a:lstStyle/>
                    <a:p>
                      <a:r>
                        <a:rPr lang="en-CA" sz="1800" i="1" dirty="0" smtClean="0">
                          <a:latin typeface="Times New Roman" pitchFamily="18" charset="0"/>
                          <a:cs typeface="Times New Roman" pitchFamily="18" charset="0"/>
                        </a:rPr>
                        <a:t>S</a:t>
                      </a:r>
                      <a:r>
                        <a:rPr lang="en-CA" sz="1800" baseline="-25000" dirty="0" smtClean="0"/>
                        <a:t>2</a:t>
                      </a:r>
                      <a:endParaRPr lang="en-US" sz="1800" dirty="0"/>
                    </a:p>
                  </a:txBody>
                  <a:tcPr marT="45741" marB="45741"/>
                </a:tc>
              </a:tr>
              <a:tr h="365924">
                <a:tc>
                  <a:txBody>
                    <a:bodyPr/>
                    <a:lstStyle/>
                    <a:p>
                      <a:r>
                        <a:rPr lang="en-CA" sz="1800" dirty="0" smtClean="0"/>
                        <a:t>Gain on Futures</a:t>
                      </a:r>
                      <a:endParaRPr lang="en-US" sz="1800" dirty="0"/>
                    </a:p>
                  </a:txBody>
                  <a:tcPr marT="45741" marB="45741"/>
                </a:tc>
                <a:tc>
                  <a:txBody>
                    <a:bodyPr/>
                    <a:lstStyle/>
                    <a:p>
                      <a:r>
                        <a:rPr lang="en-CA" sz="1800" i="1" baseline="0" dirty="0" smtClean="0">
                          <a:latin typeface="Times New Roman" pitchFamily="18" charset="0"/>
                          <a:cs typeface="Times New Roman" pitchFamily="18" charset="0"/>
                        </a:rPr>
                        <a:t>F</a:t>
                      </a:r>
                      <a:r>
                        <a:rPr lang="en-CA" sz="1800" baseline="-25000" dirty="0" smtClean="0"/>
                        <a:t>2</a:t>
                      </a:r>
                      <a:r>
                        <a:rPr lang="en-CA" sz="1800" baseline="0" dirty="0" smtClean="0"/>
                        <a:t> −</a:t>
                      </a:r>
                      <a:r>
                        <a:rPr lang="en-CA" sz="1800" i="1" baseline="0" dirty="0" smtClean="0">
                          <a:latin typeface="Times New Roman" pitchFamily="18" charset="0"/>
                          <a:cs typeface="Times New Roman" pitchFamily="18" charset="0"/>
                        </a:rPr>
                        <a:t>F</a:t>
                      </a:r>
                      <a:r>
                        <a:rPr lang="en-CA" sz="1800" baseline="-25000" dirty="0" smtClean="0"/>
                        <a:t>1</a:t>
                      </a:r>
                      <a:r>
                        <a:rPr lang="en-CA" sz="1800" dirty="0" smtClean="0"/>
                        <a:t> </a:t>
                      </a:r>
                      <a:endParaRPr lang="en-US" sz="1800" dirty="0"/>
                    </a:p>
                  </a:txBody>
                  <a:tcPr marT="45741" marB="45741"/>
                </a:tc>
              </a:tr>
              <a:tr h="640368">
                <a:tc>
                  <a:txBody>
                    <a:bodyPr/>
                    <a:lstStyle/>
                    <a:p>
                      <a:r>
                        <a:rPr lang="en-CA" sz="1800" dirty="0" smtClean="0"/>
                        <a:t>Net </a:t>
                      </a:r>
                      <a:r>
                        <a:rPr lang="en-CA" sz="1800" baseline="0" dirty="0" smtClean="0"/>
                        <a:t> amount paid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smtClean="0">
                          <a:latin typeface="Times New Roman" pitchFamily="18" charset="0"/>
                          <a:cs typeface="Times New Roman" pitchFamily="18" charset="0"/>
                        </a:rPr>
                        <a:t>S</a:t>
                      </a:r>
                      <a:r>
                        <a:rPr lang="en-CA" sz="1800" baseline="-25000" dirty="0" smtClean="0"/>
                        <a:t>2  </a:t>
                      </a:r>
                      <a:r>
                        <a:rPr lang="en-CA" sz="1800" baseline="0" dirty="0" smtClean="0"/>
                        <a:t>−</a:t>
                      </a:r>
                      <a:r>
                        <a:rPr lang="en-CA" sz="1800" baseline="-25000" dirty="0" smtClean="0"/>
                        <a:t>  </a:t>
                      </a:r>
                      <a:r>
                        <a:rPr lang="en-CA" sz="1800" baseline="0" dirty="0" smtClean="0"/>
                        <a:t>(</a:t>
                      </a:r>
                      <a:r>
                        <a:rPr lang="en-CA" sz="1800" i="1" baseline="0" dirty="0" smtClean="0">
                          <a:latin typeface="Times New Roman" pitchFamily="18" charset="0"/>
                          <a:cs typeface="Times New Roman" pitchFamily="18" charset="0"/>
                        </a:rPr>
                        <a:t>F</a:t>
                      </a:r>
                      <a:r>
                        <a:rPr lang="en-CA" sz="1800" baseline="-25000" dirty="0" smtClean="0"/>
                        <a:t>2</a:t>
                      </a:r>
                      <a:r>
                        <a:rPr lang="en-CA" sz="1800" baseline="0" dirty="0" smtClean="0"/>
                        <a:t> −</a:t>
                      </a:r>
                      <a:r>
                        <a:rPr lang="en-CA" sz="1800" i="1" baseline="0" dirty="0" smtClean="0">
                          <a:latin typeface="Times New Roman" pitchFamily="18" charset="0"/>
                          <a:cs typeface="Times New Roman" pitchFamily="18" charset="0"/>
                        </a:rPr>
                        <a:t>F</a:t>
                      </a:r>
                      <a:r>
                        <a:rPr lang="en-CA" sz="1800" baseline="-25000" dirty="0" smtClean="0"/>
                        <a:t>1</a:t>
                      </a:r>
                      <a:r>
                        <a:rPr lang="en-CA" sz="1800" baseline="0" dirty="0" smtClean="0"/>
                        <a:t>)</a:t>
                      </a:r>
                      <a:r>
                        <a:rPr lang="en-CA" sz="1800" dirty="0" smtClean="0"/>
                        <a:t> =</a:t>
                      </a:r>
                      <a:r>
                        <a:rPr lang="en-CA" sz="1800" i="1" dirty="0" smtClean="0">
                          <a:latin typeface="Times New Roman" pitchFamily="18" charset="0"/>
                          <a:cs typeface="Times New Roman" pitchFamily="18" charset="0"/>
                        </a:rPr>
                        <a:t>F</a:t>
                      </a:r>
                      <a:r>
                        <a:rPr lang="en-CA" sz="1800" i="0" baseline="-25000" dirty="0" smtClean="0">
                          <a:latin typeface="+mn-lt"/>
                          <a:cs typeface="+mn-cs"/>
                        </a:rPr>
                        <a:t>1</a:t>
                      </a:r>
                      <a:r>
                        <a:rPr lang="en-CA" sz="1800" dirty="0" smtClean="0"/>
                        <a:t> + </a:t>
                      </a:r>
                      <a:r>
                        <a:rPr lang="en-CA" sz="1800" i="1" dirty="0" smtClean="0">
                          <a:latin typeface="Times New Roman" pitchFamily="18" charset="0"/>
                          <a:cs typeface="Times New Roman" pitchFamily="18" charset="0"/>
                        </a:rPr>
                        <a:t>b</a:t>
                      </a:r>
                      <a:r>
                        <a:rPr lang="en-CA" sz="1800" i="1" baseline="-25000" dirty="0" smtClean="0">
                          <a:latin typeface="Times New Roman" pitchFamily="18" charset="0"/>
                          <a:cs typeface="Times New Roman" pitchFamily="18" charset="0"/>
                        </a:rPr>
                        <a:t>2</a:t>
                      </a:r>
                      <a:endParaRPr lang="en-US" sz="1800" i="1" dirty="0" smtClean="0">
                        <a:latin typeface="Times New Roman" pitchFamily="18" charset="0"/>
                        <a:cs typeface="Times New Roman" pitchFamily="18" charset="0"/>
                      </a:endParaRPr>
                    </a:p>
                    <a:p>
                      <a:endParaRPr lang="en-US" sz="1800" dirty="0"/>
                    </a:p>
                  </a:txBody>
                  <a:tcPr marT="45741" marB="45741"/>
                </a:tc>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sz="3600" smtClean="0"/>
              <a:t>Short Hedge for Sale of an Asset </a:t>
            </a:r>
          </a:p>
        </p:txBody>
      </p:sp>
      <p:sp>
        <p:nvSpPr>
          <p:cNvPr id="2765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276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1BEA4AE-E5A3-4569-B223-6BAB4E48B698}" type="slidenum">
              <a:rPr lang="en-US" altLang="en-US" sz="1800" smtClean="0"/>
              <a:pPr>
                <a:spcBef>
                  <a:spcPct val="0"/>
                </a:spcBef>
                <a:buClrTx/>
                <a:buSzTx/>
                <a:buFontTx/>
                <a:buNone/>
              </a:pPr>
              <a:t>7</a:t>
            </a:fld>
            <a:endParaRPr lang="en-US" altLang="en-US" sz="1800" smtClean="0"/>
          </a:p>
        </p:txBody>
      </p:sp>
      <p:sp>
        <p:nvSpPr>
          <p:cNvPr id="5" name="Rectangle 3"/>
          <p:cNvSpPr txBox="1">
            <a:spLocks noChangeArrowheads="1"/>
          </p:cNvSpPr>
          <p:nvPr/>
        </p:nvSpPr>
        <p:spPr>
          <a:xfrm>
            <a:off x="533400" y="2057400"/>
            <a:ext cx="7947025" cy="3741738"/>
          </a:xfrm>
          <a:prstGeom prst="rect">
            <a:avLst/>
          </a:prstGeom>
        </p:spPr>
        <p:txBody>
          <a:bodyPr lIns="90488" tIns="44450" rIns="90488" bIns="44450"/>
          <a:lstStyle/>
          <a:p>
            <a:pPr marL="342900" indent="-342900" eaLnBrk="1" hangingPunct="1">
              <a:lnSpc>
                <a:spcPct val="90000"/>
              </a:lnSpc>
              <a:spcBef>
                <a:spcPct val="20000"/>
              </a:spcBef>
              <a:buFontTx/>
              <a:buBlip>
                <a:blip r:embed="rId3"/>
              </a:buBlip>
              <a:defRPr/>
            </a:pPr>
            <a:r>
              <a:rPr lang="en-CA" sz="2400" kern="0" dirty="0">
                <a:latin typeface="+mn-lt"/>
              </a:rPr>
              <a:t>Define</a:t>
            </a:r>
            <a:endParaRPr lang="en-US" sz="2400" kern="0" dirty="0">
              <a:latin typeface="+mn-lt"/>
            </a:endParaRPr>
          </a:p>
          <a:p>
            <a:pPr marL="1143000" lvl="2" indent="-228600" eaLnBrk="1" hangingPunct="1">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1</a:t>
            </a:r>
            <a:r>
              <a:rPr lang="en-US" sz="2400" i="1" kern="0" baseline="-25000" dirty="0">
                <a:latin typeface="+mn-lt"/>
              </a:rPr>
              <a:t> </a:t>
            </a:r>
            <a:r>
              <a:rPr lang="en-US" sz="2400" kern="0" dirty="0">
                <a:latin typeface="+mn-lt"/>
              </a:rPr>
              <a:t>: </a:t>
            </a:r>
            <a:r>
              <a:rPr lang="en-US" sz="2400" i="1" kern="0" dirty="0">
                <a:latin typeface="+mn-lt"/>
              </a:rPr>
              <a:t> </a:t>
            </a:r>
            <a:r>
              <a:rPr lang="en-US" sz="2400" kern="0" dirty="0">
                <a:latin typeface="+mn-lt"/>
              </a:rPr>
              <a:t>Futures price at time hedge is set up</a:t>
            </a:r>
          </a:p>
          <a:p>
            <a:pPr marL="1143000" lvl="2" indent="-228600" eaLnBrk="1" hangingPunct="1">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2</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Futures price at time asset is sold</a:t>
            </a:r>
          </a:p>
          <a:p>
            <a:pPr marL="1143000" lvl="2" indent="-228600" eaLnBrk="1" hangingPunct="1">
              <a:lnSpc>
                <a:spcPct val="90000"/>
              </a:lnSpc>
              <a:spcBef>
                <a:spcPct val="20000"/>
              </a:spcBef>
              <a:buFont typeface="Wingdings" pitchFamily="2" charset="2"/>
              <a:buNone/>
              <a:defRPr/>
            </a:pPr>
            <a:r>
              <a:rPr lang="en-US" sz="2400" i="1" kern="0" dirty="0">
                <a:latin typeface="+mj-lt"/>
              </a:rPr>
              <a:t>S</a:t>
            </a:r>
            <a:r>
              <a:rPr lang="en-US" sz="2400" kern="0" baseline="-25000" dirty="0">
                <a:latin typeface="+mn-lt"/>
              </a:rPr>
              <a:t>2</a:t>
            </a:r>
            <a:r>
              <a:rPr lang="en-US" sz="2400" i="1" kern="0" baseline="-25000" dirty="0">
                <a:latin typeface="+mn-lt"/>
              </a:rPr>
              <a:t> </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Asset price at time of sale</a:t>
            </a:r>
          </a:p>
          <a:p>
            <a:pPr marL="1143000" lvl="2" indent="-228600" eaLnBrk="1" hangingPunct="1">
              <a:lnSpc>
                <a:spcPct val="90000"/>
              </a:lnSpc>
              <a:spcBef>
                <a:spcPct val="20000"/>
              </a:spcBef>
              <a:buFont typeface="Wingdings" pitchFamily="2" charset="2"/>
              <a:buNone/>
              <a:defRPr/>
            </a:pPr>
            <a:r>
              <a:rPr lang="en-CA" sz="2400" i="1" kern="0" dirty="0">
                <a:latin typeface="Times New Roman" pitchFamily="18" charset="0"/>
                <a:cs typeface="Times New Roman" pitchFamily="18" charset="0"/>
              </a:rPr>
              <a:t>b</a:t>
            </a:r>
            <a:r>
              <a:rPr lang="en-CA" sz="2400" i="1" kern="0" baseline="-25000" dirty="0">
                <a:latin typeface="Times New Roman" pitchFamily="18" charset="0"/>
                <a:cs typeface="Times New Roman" pitchFamily="18" charset="0"/>
              </a:rPr>
              <a:t>2</a:t>
            </a:r>
            <a:r>
              <a:rPr lang="en-CA" sz="2400" i="1" kern="0" dirty="0">
                <a:latin typeface="Times New Roman" pitchFamily="18" charset="0"/>
                <a:cs typeface="Times New Roman" pitchFamily="18" charset="0"/>
              </a:rPr>
              <a:t> </a:t>
            </a:r>
            <a:r>
              <a:rPr lang="en-CA" sz="2400" kern="0" dirty="0">
                <a:latin typeface="+mn-lt"/>
              </a:rPr>
              <a:t> :  Basis at time of sale</a:t>
            </a:r>
            <a:endParaRPr lang="en-US" sz="2400" kern="0" dirty="0">
              <a:latin typeface="+mn-lt"/>
            </a:endParaRPr>
          </a:p>
          <a:p>
            <a:pPr marL="1143000" lvl="2" indent="-228600" eaLnBrk="1" hangingPunct="1">
              <a:lnSpc>
                <a:spcPct val="90000"/>
              </a:lnSpc>
              <a:spcBef>
                <a:spcPct val="20000"/>
              </a:spcBef>
              <a:buFont typeface="Wingdings" pitchFamily="2" charset="2"/>
              <a:buNone/>
              <a:defRPr/>
            </a:pPr>
            <a:endParaRPr lang="en-US" sz="2400" kern="0" dirty="0">
              <a:latin typeface="+mn-lt"/>
            </a:endParaRPr>
          </a:p>
          <a:p>
            <a:pPr marL="1143000" lvl="2" indent="-228600" eaLnBrk="1" hangingPunct="1">
              <a:lnSpc>
                <a:spcPct val="90000"/>
              </a:lnSpc>
              <a:spcBef>
                <a:spcPct val="20000"/>
              </a:spcBef>
              <a:buFont typeface="Wingdings" pitchFamily="2" charset="2"/>
              <a:buNone/>
              <a:defRPr/>
            </a:pPr>
            <a:endParaRPr lang="en-US" sz="2800" kern="0" dirty="0">
              <a:latin typeface="+mn-lt"/>
            </a:endParaRPr>
          </a:p>
          <a:p>
            <a:pPr marL="1143000" lvl="2" indent="-228600" eaLnBrk="1" hangingPunct="1">
              <a:lnSpc>
                <a:spcPct val="90000"/>
              </a:lnSpc>
              <a:spcBef>
                <a:spcPct val="20000"/>
              </a:spcBef>
              <a:buFont typeface="Wingdings" pitchFamily="2" charset="2"/>
              <a:buNone/>
              <a:defRPr/>
            </a:pPr>
            <a:endParaRPr lang="en-US" sz="2800" kern="0" dirty="0">
              <a:latin typeface="+mn-lt"/>
            </a:endParaRPr>
          </a:p>
        </p:txBody>
      </p:sp>
      <p:graphicFrame>
        <p:nvGraphicFramePr>
          <p:cNvPr id="7" name="Table 6"/>
          <p:cNvGraphicFramePr>
            <a:graphicFrameLocks noGrp="1"/>
          </p:cNvGraphicFramePr>
          <p:nvPr/>
        </p:nvGraphicFramePr>
        <p:xfrm>
          <a:off x="1295400" y="4419600"/>
          <a:ext cx="6096000" cy="1412875"/>
        </p:xfrm>
        <a:graphic>
          <a:graphicData uri="http://schemas.openxmlformats.org/drawingml/2006/table">
            <a:tbl>
              <a:tblPr firstRow="1" bandRow="1">
                <a:tableStyleId>{5940675A-B579-460E-94D1-54222C63F5DA}</a:tableStyleId>
              </a:tblPr>
              <a:tblGrid>
                <a:gridCol w="3048000"/>
                <a:gridCol w="3048000"/>
              </a:tblGrid>
              <a:tr h="406583">
                <a:tc>
                  <a:txBody>
                    <a:bodyPr/>
                    <a:lstStyle/>
                    <a:p>
                      <a:r>
                        <a:rPr lang="en-CA" sz="1800" dirty="0" smtClean="0"/>
                        <a:t>Price</a:t>
                      </a:r>
                      <a:r>
                        <a:rPr lang="en-CA" sz="1800" baseline="0" dirty="0" smtClean="0"/>
                        <a:t> </a:t>
                      </a:r>
                      <a:r>
                        <a:rPr lang="en-CA" sz="1800" dirty="0" smtClean="0"/>
                        <a:t>of asset</a:t>
                      </a:r>
                      <a:endParaRPr lang="en-US" sz="1800" dirty="0"/>
                    </a:p>
                  </a:txBody>
                  <a:tcPr marT="45741" marB="45741"/>
                </a:tc>
                <a:tc>
                  <a:txBody>
                    <a:bodyPr/>
                    <a:lstStyle/>
                    <a:p>
                      <a:r>
                        <a:rPr lang="en-CA" sz="1800" i="1" dirty="0" smtClean="0">
                          <a:latin typeface="Times New Roman" pitchFamily="18" charset="0"/>
                          <a:cs typeface="Times New Roman" pitchFamily="18" charset="0"/>
                        </a:rPr>
                        <a:t>S</a:t>
                      </a:r>
                      <a:r>
                        <a:rPr lang="en-CA" sz="1800" baseline="-25000" dirty="0" smtClean="0"/>
                        <a:t>2</a:t>
                      </a:r>
                      <a:endParaRPr lang="en-US" sz="1800" dirty="0"/>
                    </a:p>
                  </a:txBody>
                  <a:tcPr marT="45741" marB="45741"/>
                </a:tc>
              </a:tr>
              <a:tr h="365924">
                <a:tc>
                  <a:txBody>
                    <a:bodyPr/>
                    <a:lstStyle/>
                    <a:p>
                      <a:r>
                        <a:rPr lang="en-CA" sz="1800" dirty="0" smtClean="0"/>
                        <a:t>Gain on Futures</a:t>
                      </a:r>
                      <a:endParaRPr lang="en-US" sz="1800" dirty="0"/>
                    </a:p>
                  </a:txBody>
                  <a:tcPr marT="45741" marB="45741"/>
                </a:tc>
                <a:tc>
                  <a:txBody>
                    <a:bodyPr/>
                    <a:lstStyle/>
                    <a:p>
                      <a:r>
                        <a:rPr lang="en-CA" sz="1800" i="1" baseline="0" dirty="0" smtClean="0">
                          <a:latin typeface="Times New Roman" pitchFamily="18" charset="0"/>
                          <a:cs typeface="Times New Roman" pitchFamily="18" charset="0"/>
                        </a:rPr>
                        <a:t>F</a:t>
                      </a:r>
                      <a:r>
                        <a:rPr lang="en-CA" sz="1800" i="0" baseline="-25000" dirty="0" smtClean="0">
                          <a:latin typeface="+mn-lt"/>
                          <a:cs typeface="+mn-cs"/>
                        </a:rPr>
                        <a:t>1</a:t>
                      </a:r>
                      <a:r>
                        <a:rPr lang="en-CA" sz="1800" baseline="0" dirty="0" smtClean="0"/>
                        <a:t> −</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2</a:t>
                      </a:r>
                      <a:r>
                        <a:rPr lang="en-CA" sz="1800" dirty="0" smtClean="0"/>
                        <a:t> </a:t>
                      </a:r>
                      <a:endParaRPr lang="en-US" sz="1800" dirty="0"/>
                    </a:p>
                  </a:txBody>
                  <a:tcPr marT="45741" marB="45741"/>
                </a:tc>
              </a:tr>
              <a:tr h="640368">
                <a:tc>
                  <a:txBody>
                    <a:bodyPr/>
                    <a:lstStyle/>
                    <a:p>
                      <a:r>
                        <a:rPr lang="en-CA" sz="1800" dirty="0" smtClean="0"/>
                        <a:t>Net amount</a:t>
                      </a:r>
                      <a:r>
                        <a:rPr lang="en-CA" sz="1800" baseline="0" dirty="0" smtClean="0"/>
                        <a:t> received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smtClean="0">
                          <a:latin typeface="Times New Roman" pitchFamily="18" charset="0"/>
                          <a:cs typeface="Times New Roman" pitchFamily="18" charset="0"/>
                        </a:rPr>
                        <a:t>S</a:t>
                      </a:r>
                      <a:r>
                        <a:rPr lang="en-CA" sz="1800" baseline="-25000" dirty="0" smtClean="0"/>
                        <a:t>2  </a:t>
                      </a:r>
                      <a:r>
                        <a:rPr lang="en-CA" sz="1800" baseline="0" dirty="0" smtClean="0"/>
                        <a:t>+</a:t>
                      </a:r>
                      <a:r>
                        <a:rPr lang="en-CA" sz="1800" baseline="-25000" dirty="0" smtClean="0"/>
                        <a:t>  </a:t>
                      </a:r>
                      <a:r>
                        <a:rPr lang="en-CA" sz="1800" baseline="0" dirty="0" smtClean="0"/>
                        <a:t>(</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1</a:t>
                      </a:r>
                      <a:r>
                        <a:rPr lang="en-CA" sz="1800" baseline="0" dirty="0" smtClean="0"/>
                        <a:t> −</a:t>
                      </a:r>
                      <a:r>
                        <a:rPr lang="en-CA" sz="1800" i="1" baseline="0" dirty="0" smtClean="0">
                          <a:latin typeface="Times New Roman" pitchFamily="18" charset="0"/>
                          <a:cs typeface="Times New Roman" pitchFamily="18" charset="0"/>
                        </a:rPr>
                        <a:t>F</a:t>
                      </a:r>
                      <a:r>
                        <a:rPr lang="en-CA" sz="1800" i="0" baseline="-25000" dirty="0" smtClean="0">
                          <a:latin typeface="+mn-lt"/>
                          <a:cs typeface="+mn-cs"/>
                        </a:rPr>
                        <a:t>2</a:t>
                      </a:r>
                      <a:r>
                        <a:rPr lang="en-CA" sz="1800" baseline="0" dirty="0" smtClean="0"/>
                        <a:t>)</a:t>
                      </a:r>
                      <a:r>
                        <a:rPr lang="en-CA" sz="1800" dirty="0" smtClean="0"/>
                        <a:t> =</a:t>
                      </a:r>
                      <a:r>
                        <a:rPr lang="en-CA" sz="1800" i="1" dirty="0" smtClean="0">
                          <a:latin typeface="Times New Roman" pitchFamily="18" charset="0"/>
                          <a:cs typeface="Times New Roman" pitchFamily="18" charset="0"/>
                        </a:rPr>
                        <a:t>F</a:t>
                      </a:r>
                      <a:r>
                        <a:rPr lang="en-CA" sz="1800" i="0" baseline="-25000" dirty="0" smtClean="0">
                          <a:latin typeface="+mn-lt"/>
                          <a:cs typeface="+mn-cs"/>
                        </a:rPr>
                        <a:t>1</a:t>
                      </a:r>
                      <a:r>
                        <a:rPr lang="en-CA" sz="1800" dirty="0" smtClean="0"/>
                        <a:t> + </a:t>
                      </a:r>
                      <a:r>
                        <a:rPr lang="en-CA" sz="1800" i="1" dirty="0" smtClean="0">
                          <a:latin typeface="Times New Roman" pitchFamily="18" charset="0"/>
                          <a:cs typeface="Times New Roman" pitchFamily="18" charset="0"/>
                        </a:rPr>
                        <a:t>b</a:t>
                      </a:r>
                      <a:r>
                        <a:rPr lang="en-CA" sz="1800" i="1" baseline="-25000" dirty="0" smtClean="0">
                          <a:latin typeface="Times New Roman" pitchFamily="18" charset="0"/>
                          <a:cs typeface="Times New Roman" pitchFamily="18" charset="0"/>
                        </a:rPr>
                        <a:t>2</a:t>
                      </a:r>
                      <a:endParaRPr lang="en-US" sz="1800" i="1" dirty="0" smtClean="0">
                        <a:latin typeface="Times New Roman" pitchFamily="18" charset="0"/>
                        <a:cs typeface="Times New Roman" pitchFamily="18" charset="0"/>
                      </a:endParaRPr>
                    </a:p>
                    <a:p>
                      <a:endParaRPr lang="en-US" sz="1800" dirty="0"/>
                    </a:p>
                  </a:txBody>
                  <a:tcPr marT="45741" marB="45741"/>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29699" name="Rectangle 2"/>
          <p:cNvSpPr>
            <a:spLocks noGrp="1" noChangeArrowheads="1"/>
          </p:cNvSpPr>
          <p:nvPr>
            <p:ph type="title"/>
          </p:nvPr>
        </p:nvSpPr>
        <p:spPr>
          <a:noFill/>
        </p:spPr>
        <p:txBody>
          <a:bodyPr lIns="90488" tIns="44450" rIns="90488" bIns="44450" anchor="ctr"/>
          <a:lstStyle/>
          <a:p>
            <a:pPr eaLnBrk="1" hangingPunct="1"/>
            <a:r>
              <a:rPr lang="en-US" altLang="en-US" smtClean="0"/>
              <a:t>Choice of Contract</a:t>
            </a:r>
          </a:p>
        </p:txBody>
      </p:sp>
      <p:sp>
        <p:nvSpPr>
          <p:cNvPr id="29700" name="Rectangle 3"/>
          <p:cNvSpPr>
            <a:spLocks noGrp="1" noChangeArrowheads="1"/>
          </p:cNvSpPr>
          <p:nvPr>
            <p:ph type="body" idx="1"/>
          </p:nvPr>
        </p:nvSpPr>
        <p:spPr>
          <a:noFill/>
        </p:spPr>
        <p:txBody>
          <a:bodyPr lIns="90488" tIns="44450" rIns="90488" bIns="44450"/>
          <a:lstStyle/>
          <a:p>
            <a:pPr eaLnBrk="1" hangingPunct="1"/>
            <a:r>
              <a:rPr lang="en-US" altLang="en-US" smtClean="0"/>
              <a:t>Choose a delivery month that is as close as possible to, but later than, the end of the life of the hedge</a:t>
            </a:r>
          </a:p>
          <a:p>
            <a:pPr eaLnBrk="1" hangingPunct="1"/>
            <a:r>
              <a:rPr lang="en-US" altLang="en-US" smtClean="0"/>
              <a:t>When there is no futures contract on the asset being hedged, choose the contract whose futures price is most highly correlated with the asset price. There are then 2 components to basis</a:t>
            </a:r>
          </a:p>
          <a:p>
            <a:pPr eaLnBrk="1" hangingPunct="1">
              <a:buFont typeface="Wingdings" panose="05000000000000000000" pitchFamily="2" charset="2"/>
              <a:buNone/>
            </a:pPr>
            <a:endParaRPr lang="en-US" altLang="en-US" smtClean="0"/>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94865DB-B7FB-447C-8C86-EDBF999E2F41}" type="slidenum">
              <a:rPr lang="en-US" altLang="en-US" sz="1800" smtClean="0"/>
              <a:pPr>
                <a:spcBef>
                  <a:spcPct val="0"/>
                </a:spcBef>
                <a:buClrTx/>
                <a:buSzTx/>
                <a:buFontTx/>
                <a:buNone/>
              </a:pPr>
              <a:t>8</a:t>
            </a:fld>
            <a:endParaRPr lang="en-US" altLang="en-US" sz="1800" smtClean="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31747" name="Rectangle 2"/>
          <p:cNvSpPr>
            <a:spLocks noGrp="1" noChangeArrowheads="1"/>
          </p:cNvSpPr>
          <p:nvPr>
            <p:ph type="title"/>
          </p:nvPr>
        </p:nvSpPr>
        <p:spPr>
          <a:noFill/>
        </p:spPr>
        <p:txBody>
          <a:bodyPr lIns="92075" tIns="46038" rIns="92075" bIns="46038" anchor="ctr"/>
          <a:lstStyle/>
          <a:p>
            <a:pPr eaLnBrk="1" hangingPunct="1"/>
            <a:r>
              <a:rPr lang="en-US" altLang="en-US" smtClean="0"/>
              <a:t>Optimal Hedge Ratio</a:t>
            </a:r>
          </a:p>
        </p:txBody>
      </p:sp>
      <p:sp>
        <p:nvSpPr>
          <p:cNvPr id="31748" name="Rectangle 3"/>
          <p:cNvSpPr>
            <a:spLocks noGrp="1" noChangeArrowheads="1"/>
          </p:cNvSpPr>
          <p:nvPr>
            <p:ph type="body" idx="1"/>
          </p:nvPr>
        </p:nvSpPr>
        <p:spPr>
          <a:xfrm>
            <a:off x="457200" y="1371600"/>
            <a:ext cx="7753350" cy="4572000"/>
          </a:xfrm>
          <a:noFill/>
        </p:spPr>
        <p:txBody>
          <a:bodyPr lIns="92075" tIns="46038" rIns="92075" bIns="46038"/>
          <a:lstStyle/>
          <a:p>
            <a:pPr eaLnBrk="1" hangingPunct="1">
              <a:buFont typeface="Wingdings" panose="05000000000000000000" pitchFamily="2" charset="2"/>
              <a:buNone/>
            </a:pPr>
            <a:r>
              <a:rPr lang="en-US" altLang="en-US" sz="2400" smtClean="0"/>
              <a:t>	Proportion of the exposure that should optimally be hedged is											</a:t>
            </a:r>
          </a:p>
          <a:p>
            <a:pPr eaLnBrk="1" hangingPunct="1">
              <a:buFont typeface="Wingdings" panose="05000000000000000000" pitchFamily="2" charset="2"/>
              <a:buNone/>
            </a:pPr>
            <a:r>
              <a:rPr lang="en-US" altLang="en-US" sz="2400" smtClean="0"/>
              <a:t>	</a:t>
            </a:r>
          </a:p>
          <a:p>
            <a:pPr eaLnBrk="1" hangingPunct="1">
              <a:buFont typeface="Wingdings" panose="05000000000000000000" pitchFamily="2" charset="2"/>
              <a:buNone/>
            </a:pPr>
            <a:r>
              <a:rPr lang="en-US" altLang="en-US" sz="2400" smtClean="0"/>
              <a:t>	where </a:t>
            </a:r>
          </a:p>
          <a:p>
            <a:pPr eaLnBrk="1" hangingPunct="1">
              <a:buFont typeface="Wingdings" panose="05000000000000000000" pitchFamily="2" charset="2"/>
              <a:buNone/>
            </a:pPr>
            <a:r>
              <a:rPr lang="en-US" altLang="en-US" sz="2400" smtClean="0">
                <a:latin typeface="Symbol" panose="05050102010706020507" pitchFamily="18" charset="2"/>
              </a:rPr>
              <a:t>	s</a:t>
            </a:r>
            <a:r>
              <a:rPr lang="en-US" altLang="en-US" sz="2400" i="1" baseline="-25000" smtClean="0">
                <a:latin typeface="Times New Roman" panose="02020603050405020304" pitchFamily="18" charset="0"/>
              </a:rPr>
              <a:t>S</a:t>
            </a:r>
            <a:r>
              <a:rPr lang="en-US" altLang="en-US" sz="2400" smtClean="0">
                <a:latin typeface="Times New Roman" panose="02020603050405020304" pitchFamily="18" charset="0"/>
              </a:rPr>
              <a:t> </a:t>
            </a:r>
            <a:r>
              <a:rPr lang="en-US" altLang="en-US" sz="2400" smtClean="0"/>
              <a:t>is the standard deviation of </a:t>
            </a:r>
            <a:r>
              <a:rPr lang="en-US" altLang="en-US" sz="2400" smtClean="0">
                <a:latin typeface="Symbol" panose="05050102010706020507" pitchFamily="18" charset="2"/>
              </a:rPr>
              <a:t>D</a:t>
            </a:r>
            <a:r>
              <a:rPr lang="en-US" altLang="en-US" sz="2400" i="1" smtClean="0">
                <a:latin typeface="Times New Roman" panose="02020603050405020304" pitchFamily="18" charset="0"/>
              </a:rPr>
              <a:t>S</a:t>
            </a:r>
            <a:r>
              <a:rPr lang="en-US" altLang="en-US" sz="2400" smtClean="0"/>
              <a:t>, the change in the spot price during the hedging period, </a:t>
            </a:r>
          </a:p>
          <a:p>
            <a:pPr eaLnBrk="1" hangingPunct="1">
              <a:buFont typeface="Wingdings" panose="05000000000000000000" pitchFamily="2" charset="2"/>
              <a:buNone/>
            </a:pPr>
            <a:r>
              <a:rPr lang="en-US" altLang="en-US" sz="2400" smtClean="0"/>
              <a:t>	</a:t>
            </a:r>
            <a:r>
              <a:rPr lang="en-US" altLang="en-US" sz="2400" smtClean="0">
                <a:latin typeface="Symbol" panose="05050102010706020507" pitchFamily="18" charset="2"/>
              </a:rPr>
              <a:t>s</a:t>
            </a:r>
            <a:r>
              <a:rPr lang="en-US" altLang="en-US" sz="2400" i="1" baseline="-25000" smtClean="0">
                <a:latin typeface="Times New Roman" panose="02020603050405020304" pitchFamily="18" charset="0"/>
              </a:rPr>
              <a:t>F</a:t>
            </a:r>
            <a:r>
              <a:rPr lang="en-US" altLang="en-US" sz="2400" smtClean="0"/>
              <a:t> is the standard deviation of </a:t>
            </a:r>
            <a:r>
              <a:rPr lang="en-US" altLang="en-US" sz="2400" smtClean="0">
                <a:latin typeface="Symbol" panose="05050102010706020507" pitchFamily="18" charset="2"/>
              </a:rPr>
              <a:t>D</a:t>
            </a:r>
            <a:r>
              <a:rPr lang="en-US" altLang="en-US" sz="2400" i="1" smtClean="0">
                <a:latin typeface="Times New Roman" panose="02020603050405020304" pitchFamily="18" charset="0"/>
              </a:rPr>
              <a:t>F</a:t>
            </a:r>
            <a:r>
              <a:rPr lang="en-US" altLang="en-US" sz="2400" smtClean="0"/>
              <a:t>, the change in the futures price during the hedging period</a:t>
            </a:r>
          </a:p>
          <a:p>
            <a:pPr eaLnBrk="1" hangingPunct="1">
              <a:buFont typeface="Wingdings" panose="05000000000000000000" pitchFamily="2" charset="2"/>
              <a:buNone/>
            </a:pPr>
            <a:r>
              <a:rPr lang="en-US" altLang="en-US" sz="2400" smtClean="0"/>
              <a:t>	</a:t>
            </a:r>
            <a:r>
              <a:rPr lang="en-US" altLang="en-US" sz="2400" smtClean="0">
                <a:latin typeface="Symbol" panose="05050102010706020507" pitchFamily="18" charset="2"/>
              </a:rPr>
              <a:t>r</a:t>
            </a:r>
            <a:r>
              <a:rPr lang="en-US" altLang="en-US" sz="2400" smtClean="0"/>
              <a:t> is the coefficient of correlation between </a:t>
            </a:r>
            <a:r>
              <a:rPr lang="en-US" altLang="en-US" sz="2400" smtClean="0">
                <a:latin typeface="Symbol" panose="05050102010706020507" pitchFamily="18" charset="2"/>
              </a:rPr>
              <a:t>D</a:t>
            </a:r>
            <a:r>
              <a:rPr lang="en-US" altLang="en-US" sz="2400" i="1" smtClean="0">
                <a:latin typeface="Times New Roman" panose="02020603050405020304" pitchFamily="18" charset="0"/>
              </a:rPr>
              <a:t>S</a:t>
            </a:r>
            <a:r>
              <a:rPr lang="en-US" altLang="en-US" sz="2400" smtClean="0"/>
              <a:t> and </a:t>
            </a:r>
            <a:r>
              <a:rPr lang="en-US" altLang="en-US" sz="2400" smtClean="0">
                <a:latin typeface="Symbol" panose="05050102010706020507" pitchFamily="18" charset="2"/>
              </a:rPr>
              <a:t>D</a:t>
            </a:r>
            <a:r>
              <a:rPr lang="en-US" altLang="en-US" sz="2400" i="1" smtClean="0">
                <a:latin typeface="Times New Roman" panose="02020603050405020304" pitchFamily="18" charset="0"/>
              </a:rPr>
              <a:t>F</a:t>
            </a:r>
            <a:r>
              <a:rPr lang="en-US" altLang="en-US" sz="2400" smtClean="0"/>
              <a:t>.</a:t>
            </a:r>
          </a:p>
          <a:p>
            <a:pPr eaLnBrk="1" hangingPunct="1">
              <a:buFont typeface="Wingdings" panose="05000000000000000000" pitchFamily="2" charset="2"/>
              <a:buNone/>
            </a:pPr>
            <a:r>
              <a:rPr lang="en-US" altLang="en-US" sz="2400" i="1" smtClean="0"/>
              <a:t>	</a:t>
            </a:r>
          </a:p>
        </p:txBody>
      </p:sp>
      <p:graphicFrame>
        <p:nvGraphicFramePr>
          <p:cNvPr id="31749" name="Object 4"/>
          <p:cNvGraphicFramePr>
            <a:graphicFrameLocks noChangeAspect="1"/>
          </p:cNvGraphicFramePr>
          <p:nvPr/>
        </p:nvGraphicFramePr>
        <p:xfrm>
          <a:off x="3106738" y="2362200"/>
          <a:ext cx="1406525" cy="838200"/>
        </p:xfrm>
        <a:graphic>
          <a:graphicData uri="http://schemas.openxmlformats.org/presentationml/2006/ole">
            <mc:AlternateContent xmlns:mc="http://schemas.openxmlformats.org/markup-compatibility/2006">
              <mc:Choice xmlns:v="urn:schemas-microsoft-com:vml" Requires="v">
                <p:oleObj spid="_x0000_s31751" name="Equation" r:id="rId4" imgW="672808" imgH="431613" progId="Equation.3">
                  <p:embed/>
                </p:oleObj>
              </mc:Choice>
              <mc:Fallback>
                <p:oleObj name="Equation" r:id="rId4" imgW="672808"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6738" y="2362200"/>
                        <a:ext cx="14065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BCAAA58-5591-42BA-9A84-4B7EBE6940ED}" type="slidenum">
              <a:rPr lang="en-US" altLang="en-US" sz="1800" smtClean="0"/>
              <a:pPr>
                <a:spcBef>
                  <a:spcPct val="0"/>
                </a:spcBef>
                <a:buClrTx/>
                <a:buSzTx/>
                <a:buFontTx/>
                <a:buNone/>
              </a:pPr>
              <a:t>9</a:t>
            </a:fld>
            <a:endParaRPr lang="en-US" altLang="en-US" sz="1800" smtClean="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42913" y="-282575"/>
            <a:ext cx="7543800" cy="1295400"/>
          </a:xfrm>
        </p:spPr>
        <p:txBody>
          <a:bodyPr/>
          <a:lstStyle/>
          <a:p>
            <a:pPr eaLnBrk="1" hangingPunct="1"/>
            <a:r>
              <a:rPr lang="en-CA" altLang="en-US" smtClean="0"/>
              <a:t>Example 3.5 </a:t>
            </a:r>
            <a:r>
              <a:rPr lang="en-CA" altLang="en-US" sz="2400" smtClean="0"/>
              <a:t>(Page 62)</a:t>
            </a:r>
            <a:endParaRPr lang="en-US" altLang="en-US" sz="2400" smtClean="0"/>
          </a:p>
        </p:txBody>
      </p:sp>
      <p:sp>
        <p:nvSpPr>
          <p:cNvPr id="3" name="Content Placeholder 2"/>
          <p:cNvSpPr>
            <a:spLocks noGrp="1"/>
          </p:cNvSpPr>
          <p:nvPr>
            <p:ph idx="1"/>
          </p:nvPr>
        </p:nvSpPr>
        <p:spPr>
          <a:xfrm>
            <a:off x="368300" y="1219200"/>
            <a:ext cx="8229600" cy="4411663"/>
          </a:xfrm>
        </p:spPr>
        <p:txBody>
          <a:bodyPr/>
          <a:lstStyle/>
          <a:p>
            <a:pPr eaLnBrk="1" hangingPunct="1">
              <a:defRPr/>
            </a:pPr>
            <a:r>
              <a:rPr lang="en-CA" sz="2800" dirty="0" smtClean="0"/>
              <a:t>Airline will purchase 2 million gallons of jet fuel in one month and hedges using heating oil futures</a:t>
            </a:r>
          </a:p>
          <a:p>
            <a:pPr eaLnBrk="1" hangingPunct="1">
              <a:defRPr/>
            </a:pPr>
            <a:r>
              <a:rPr lang="en-CA" sz="2800" dirty="0" smtClean="0"/>
              <a:t>From historical data </a:t>
            </a:r>
            <a:r>
              <a:rPr lang="en-CA" sz="2800" dirty="0" err="1" smtClean="0">
                <a:latin typeface="Symbol" pitchFamily="18" charset="2"/>
              </a:rPr>
              <a:t>s</a:t>
            </a:r>
            <a:r>
              <a:rPr lang="en-CA" sz="2800" i="1" baseline="-25000" dirty="0" err="1" smtClean="0">
                <a:latin typeface="+mj-lt"/>
              </a:rPr>
              <a:t>F</a:t>
            </a:r>
            <a:r>
              <a:rPr lang="en-CA" sz="2800" dirty="0" smtClean="0"/>
              <a:t> =0.0313, </a:t>
            </a:r>
            <a:r>
              <a:rPr lang="en-CA" sz="2800" dirty="0" err="1" smtClean="0">
                <a:latin typeface="Symbol" pitchFamily="18" charset="2"/>
              </a:rPr>
              <a:t>s</a:t>
            </a:r>
            <a:r>
              <a:rPr lang="en-CA" sz="2800" i="1" baseline="-25000" dirty="0" err="1" smtClean="0">
                <a:latin typeface="+mj-lt"/>
              </a:rPr>
              <a:t>S</a:t>
            </a:r>
            <a:r>
              <a:rPr lang="en-CA" sz="2800" dirty="0" smtClean="0"/>
              <a:t> =0.0263, and </a:t>
            </a:r>
            <a:r>
              <a:rPr lang="en-CA" sz="2800" dirty="0" smtClean="0">
                <a:latin typeface="Symbol" pitchFamily="18" charset="2"/>
              </a:rPr>
              <a:t>r</a:t>
            </a:r>
            <a:r>
              <a:rPr lang="en-CA" sz="2800" dirty="0" smtClean="0"/>
              <a:t>= 0.928</a:t>
            </a:r>
          </a:p>
          <a:p>
            <a:pPr marL="0" indent="0" eaLnBrk="1" hangingPunct="1">
              <a:buFont typeface="Wingdings" panose="05000000000000000000" pitchFamily="2" charset="2"/>
              <a:buNone/>
              <a:defRPr/>
            </a:pPr>
            <a:endParaRPr lang="en-CA" dirty="0" smtClean="0"/>
          </a:p>
          <a:p>
            <a:pPr eaLnBrk="1" hangingPunct="1">
              <a:defRPr/>
            </a:pPr>
            <a:r>
              <a:rPr lang="en-CA" sz="2800" dirty="0" smtClean="0"/>
              <a:t>Optimal number of contracts is     0.78×2,000,000/42,000 which rounds to 37</a:t>
            </a:r>
          </a:p>
          <a:p>
            <a:pPr eaLnBrk="1" hangingPunct="1">
              <a:defRPr/>
            </a:pPr>
            <a:endParaRPr lang="en-CA" sz="2800" dirty="0" smtClean="0"/>
          </a:p>
          <a:p>
            <a:pPr marL="0" indent="0" eaLnBrk="1" hangingPunct="1">
              <a:buFont typeface="Wingdings" panose="05000000000000000000" pitchFamily="2" charset="2"/>
              <a:buNone/>
              <a:defRPr/>
            </a:pPr>
            <a:r>
              <a:rPr lang="en-CA" dirty="0" smtClean="0"/>
              <a:t> </a:t>
            </a:r>
          </a:p>
          <a:p>
            <a:pPr eaLnBrk="1" hangingPunct="1">
              <a:buFontTx/>
              <a:buNone/>
              <a:defRPr/>
            </a:pPr>
            <a:endParaRPr lang="en-US" dirty="0"/>
          </a:p>
        </p:txBody>
      </p:sp>
      <p:sp>
        <p:nvSpPr>
          <p:cNvPr id="337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337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4E59173-8AF7-493C-9871-B2E4DA89545B}" type="slidenum">
              <a:rPr lang="en-US" altLang="en-US" sz="1400" smtClean="0"/>
              <a:pPr>
                <a:spcBef>
                  <a:spcPct val="0"/>
                </a:spcBef>
                <a:buClrTx/>
                <a:buSzTx/>
                <a:buFontTx/>
                <a:buNone/>
              </a:pPr>
              <a:t>10</a:t>
            </a:fld>
            <a:endParaRPr lang="en-US" altLang="en-US" sz="1400" smtClean="0"/>
          </a:p>
        </p:txBody>
      </p:sp>
      <p:graphicFrame>
        <p:nvGraphicFramePr>
          <p:cNvPr id="33798" name="Object 3"/>
          <p:cNvGraphicFramePr>
            <a:graphicFrameLocks noChangeAspect="1"/>
          </p:cNvGraphicFramePr>
          <p:nvPr/>
        </p:nvGraphicFramePr>
        <p:xfrm>
          <a:off x="2646363" y="3276600"/>
          <a:ext cx="3673475" cy="881063"/>
        </p:xfrm>
        <a:graphic>
          <a:graphicData uri="http://schemas.openxmlformats.org/presentationml/2006/ole">
            <mc:AlternateContent xmlns:mc="http://schemas.openxmlformats.org/markup-compatibility/2006">
              <mc:Choice xmlns:v="urn:schemas-microsoft-com:vml" Requires="v">
                <p:oleObj spid="_x0000_s33799" name="Equation" r:id="rId4" imgW="1637589" imgH="393529" progId="Equation.DSMT4">
                  <p:embed/>
                </p:oleObj>
              </mc:Choice>
              <mc:Fallback>
                <p:oleObj name="Equation" r:id="rId4" imgW="1637589" imgH="39352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6363" y="3276600"/>
                        <a:ext cx="3673475"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28600" y="914400"/>
            <a:ext cx="8229600" cy="1143000"/>
          </a:xfrm>
        </p:spPr>
        <p:txBody>
          <a:bodyPr/>
          <a:lstStyle/>
          <a:p>
            <a:r>
              <a:rPr lang="en-CA" altLang="en-US" smtClean="0"/>
              <a:t>Alternative Definition of Optimal Hedge Ratio</a:t>
            </a:r>
          </a:p>
        </p:txBody>
      </p:sp>
      <p:sp>
        <p:nvSpPr>
          <p:cNvPr id="3" name="Content Placeholder 2"/>
          <p:cNvSpPr>
            <a:spLocks noGrp="1"/>
          </p:cNvSpPr>
          <p:nvPr>
            <p:ph idx="1"/>
          </p:nvPr>
        </p:nvSpPr>
        <p:spPr>
          <a:xfrm>
            <a:off x="762000" y="2133600"/>
            <a:ext cx="7772400" cy="4114800"/>
          </a:xfrm>
        </p:spPr>
        <p:txBody>
          <a:bodyPr/>
          <a:lstStyle/>
          <a:p>
            <a:pPr>
              <a:defRPr/>
            </a:pPr>
            <a:r>
              <a:rPr lang="en-CA" dirty="0" smtClean="0"/>
              <a:t>Optimal hedge ratio is</a:t>
            </a:r>
          </a:p>
          <a:p>
            <a:pPr marL="0" indent="0">
              <a:buFontTx/>
              <a:buNone/>
              <a:defRPr/>
            </a:pPr>
            <a:endParaRPr lang="en-CA" dirty="0" smtClean="0"/>
          </a:p>
          <a:p>
            <a:pPr marL="0" indent="0">
              <a:buFontTx/>
              <a:buNone/>
              <a:defRPr/>
            </a:pPr>
            <a:endParaRPr lang="en-CA" dirty="0" smtClean="0"/>
          </a:p>
          <a:p>
            <a:pPr marL="0" indent="0">
              <a:buFontTx/>
              <a:buNone/>
              <a:defRPr/>
            </a:pPr>
            <a:r>
              <a:rPr lang="en-CA" dirty="0"/>
              <a:t> </a:t>
            </a:r>
            <a:r>
              <a:rPr lang="en-CA" dirty="0" smtClean="0"/>
              <a:t>   where variables are defined as follows</a:t>
            </a:r>
          </a:p>
          <a:p>
            <a:pPr marL="0" indent="0">
              <a:buFontTx/>
              <a:buNone/>
              <a:defRPr/>
            </a:pPr>
            <a:endParaRPr lang="en-CA" dirty="0" smtClean="0"/>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9F54F1A-4653-4E73-978B-D7DB29BF842D}" type="slidenum">
              <a:rPr lang="en-US" altLang="en-US" sz="1400" smtClean="0"/>
              <a:pPr>
                <a:spcBef>
                  <a:spcPct val="0"/>
                </a:spcBef>
                <a:buClrTx/>
                <a:buSzTx/>
                <a:buFontTx/>
                <a:buNone/>
              </a:pPr>
              <a:t>11</a:t>
            </a:fld>
            <a:endParaRPr lang="en-US" altLang="en-US" sz="1400" smtClean="0"/>
          </a:p>
        </p:txBody>
      </p:sp>
      <p:graphicFrame>
        <p:nvGraphicFramePr>
          <p:cNvPr id="35846" name="Object 5"/>
          <p:cNvGraphicFramePr>
            <a:graphicFrameLocks noChangeAspect="1"/>
          </p:cNvGraphicFramePr>
          <p:nvPr/>
        </p:nvGraphicFramePr>
        <p:xfrm>
          <a:off x="3352800" y="2743200"/>
          <a:ext cx="1273175" cy="838200"/>
        </p:xfrm>
        <a:graphic>
          <a:graphicData uri="http://schemas.openxmlformats.org/presentationml/2006/ole">
            <mc:AlternateContent xmlns:mc="http://schemas.openxmlformats.org/markup-compatibility/2006">
              <mc:Choice xmlns:v="urn:schemas-microsoft-com:vml" Requires="v">
                <p:oleObj spid="_x0000_s35864" name="Equation" r:id="rId3" imgW="609336" imgH="431613" progId="Equation.DSMT4">
                  <p:embed/>
                </p:oleObj>
              </mc:Choice>
              <mc:Fallback>
                <p:oleObj name="Equation" r:id="rId3" imgW="609336" imgH="431613"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743200"/>
                        <a:ext cx="127317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Table 7"/>
          <p:cNvGraphicFramePr>
            <a:graphicFrameLocks noGrp="1"/>
          </p:cNvGraphicFramePr>
          <p:nvPr/>
        </p:nvGraphicFramePr>
        <p:xfrm>
          <a:off x="1295400" y="4419600"/>
          <a:ext cx="6096000" cy="1539875"/>
        </p:xfrm>
        <a:graphic>
          <a:graphicData uri="http://schemas.openxmlformats.org/drawingml/2006/table">
            <a:tbl>
              <a:tblPr firstRow="1" bandRow="1">
                <a:tableStyleId>{5940675A-B579-460E-94D1-54222C63F5DA}</a:tableStyleId>
              </a:tblPr>
              <a:tblGrid>
                <a:gridCol w="762000"/>
                <a:gridCol w="5334000"/>
              </a:tblGrid>
              <a:tr h="640209">
                <a:tc>
                  <a:txBody>
                    <a:bodyPr/>
                    <a:lstStyle/>
                    <a:p>
                      <a:endParaRPr lang="en-CA" sz="1800" dirty="0"/>
                    </a:p>
                  </a:txBody>
                  <a:tcPr marT="45761" marB="45761"/>
                </a:tc>
                <a:tc>
                  <a:txBody>
                    <a:bodyPr/>
                    <a:lstStyle/>
                    <a:p>
                      <a:r>
                        <a:rPr lang="en-CA" sz="1800" dirty="0" smtClean="0"/>
                        <a:t>Correlation between percentage daily changes for spot and futures</a:t>
                      </a:r>
                      <a:endParaRPr lang="en-CA" sz="1800" dirty="0"/>
                    </a:p>
                  </a:txBody>
                  <a:tcPr marT="45761" marB="45761"/>
                </a:tc>
              </a:tr>
              <a:tr h="457351">
                <a:tc>
                  <a:txBody>
                    <a:bodyPr/>
                    <a:lstStyle/>
                    <a:p>
                      <a:endParaRPr lang="en-CA" sz="1800" dirty="0"/>
                    </a:p>
                  </a:txBody>
                  <a:tcPr marT="45761" marB="45761"/>
                </a:tc>
                <a:tc>
                  <a:txBody>
                    <a:bodyPr/>
                    <a:lstStyle/>
                    <a:p>
                      <a:r>
                        <a:rPr lang="en-CA" sz="1800" dirty="0" smtClean="0"/>
                        <a:t>SD</a:t>
                      </a:r>
                      <a:r>
                        <a:rPr lang="en-CA" sz="1800" baseline="0" dirty="0" smtClean="0"/>
                        <a:t> of percentage daily changes in spot</a:t>
                      </a:r>
                      <a:endParaRPr lang="en-CA" sz="1800" dirty="0"/>
                    </a:p>
                  </a:txBody>
                  <a:tcPr marT="45761" marB="45761"/>
                </a:tc>
              </a:tr>
              <a:tr h="442315">
                <a:tc>
                  <a:txBody>
                    <a:bodyPr/>
                    <a:lstStyle/>
                    <a:p>
                      <a:endParaRPr lang="en-CA" sz="1800" dirty="0"/>
                    </a:p>
                  </a:txBody>
                  <a:tcPr marT="45761" marB="45761"/>
                </a:tc>
                <a:tc>
                  <a:txBody>
                    <a:bodyPr/>
                    <a:lstStyle/>
                    <a:p>
                      <a:r>
                        <a:rPr lang="en-CA" sz="1800" dirty="0" smtClean="0"/>
                        <a:t>SD of percentage daily changes in futures</a:t>
                      </a:r>
                      <a:endParaRPr lang="en-CA" sz="1800" dirty="0"/>
                    </a:p>
                  </a:txBody>
                  <a:tcPr marT="45761" marB="45761"/>
                </a:tc>
              </a:tr>
            </a:tbl>
          </a:graphicData>
        </a:graphic>
      </p:graphicFrame>
      <p:graphicFrame>
        <p:nvGraphicFramePr>
          <p:cNvPr id="35861" name="Object 8"/>
          <p:cNvGraphicFramePr>
            <a:graphicFrameLocks noChangeAspect="1"/>
          </p:cNvGraphicFramePr>
          <p:nvPr/>
        </p:nvGraphicFramePr>
        <p:xfrm>
          <a:off x="1447800" y="4419600"/>
          <a:ext cx="735013" cy="520700"/>
        </p:xfrm>
        <a:graphic>
          <a:graphicData uri="http://schemas.openxmlformats.org/presentationml/2006/ole">
            <mc:AlternateContent xmlns:mc="http://schemas.openxmlformats.org/markup-compatibility/2006">
              <mc:Choice xmlns:v="urn:schemas-microsoft-com:vml" Requires="v">
                <p:oleObj spid="_x0000_s35865" name="Equation" r:id="rId5" imgW="152268" imgH="215713" progId="Equation.DSMT4">
                  <p:embed/>
                </p:oleObj>
              </mc:Choice>
              <mc:Fallback>
                <p:oleObj name="Equation" r:id="rId5" imgW="152268" imgH="215713"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419600"/>
                        <a:ext cx="735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2" name="Object 9"/>
          <p:cNvGraphicFramePr>
            <a:graphicFrameLocks noChangeAspect="1"/>
          </p:cNvGraphicFramePr>
          <p:nvPr/>
        </p:nvGraphicFramePr>
        <p:xfrm>
          <a:off x="1524000" y="4953000"/>
          <a:ext cx="427038" cy="552450"/>
        </p:xfrm>
        <a:graphic>
          <a:graphicData uri="http://schemas.openxmlformats.org/presentationml/2006/ole">
            <mc:AlternateContent xmlns:mc="http://schemas.openxmlformats.org/markup-compatibility/2006">
              <mc:Choice xmlns:v="urn:schemas-microsoft-com:vml" Requires="v">
                <p:oleObj spid="_x0000_s35866" name="Equation" r:id="rId7" imgW="203112" imgH="228501" progId="Equation.DSMT4">
                  <p:embed/>
                </p:oleObj>
              </mc:Choice>
              <mc:Fallback>
                <p:oleObj name="Equation" r:id="rId7" imgW="203112" imgH="228501"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4953000"/>
                        <a:ext cx="42703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3" name="Object 1"/>
          <p:cNvGraphicFramePr>
            <a:graphicFrameLocks noChangeAspect="1"/>
          </p:cNvGraphicFramePr>
          <p:nvPr/>
        </p:nvGraphicFramePr>
        <p:xfrm>
          <a:off x="1524000" y="5410200"/>
          <a:ext cx="454025" cy="552450"/>
        </p:xfrm>
        <a:graphic>
          <a:graphicData uri="http://schemas.openxmlformats.org/presentationml/2006/ole">
            <mc:AlternateContent xmlns:mc="http://schemas.openxmlformats.org/markup-compatibility/2006">
              <mc:Choice xmlns:v="urn:schemas-microsoft-com:vml" Requires="v">
                <p:oleObj spid="_x0000_s35867" name="Equation" r:id="rId9" imgW="215806" imgH="228501" progId="Equation.DSMT4">
                  <p:embed/>
                </p:oleObj>
              </mc:Choice>
              <mc:Fallback>
                <p:oleObj name="Equation" r:id="rId9" imgW="215806" imgH="228501"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5410200"/>
                        <a:ext cx="4540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CA" altLang="en-US" smtClean="0"/>
              <a:t>Optimal Number of Contracts</a:t>
            </a:r>
            <a:endParaRPr lang="en-US" altLang="en-US" smtClean="0"/>
          </a:p>
        </p:txBody>
      </p:sp>
      <p:graphicFrame>
        <p:nvGraphicFramePr>
          <p:cNvPr id="6" name="Content Placeholder 5"/>
          <p:cNvGraphicFramePr>
            <a:graphicFrameLocks noGrp="1"/>
          </p:cNvGraphicFramePr>
          <p:nvPr>
            <p:ph idx="1"/>
          </p:nvPr>
        </p:nvGraphicFramePr>
        <p:xfrm>
          <a:off x="685800" y="2147888"/>
          <a:ext cx="7772400" cy="1482725"/>
        </p:xfrm>
        <a:graphic>
          <a:graphicData uri="http://schemas.openxmlformats.org/drawingml/2006/table">
            <a:tbl>
              <a:tblPr firstRow="1" bandRow="1">
                <a:tableStyleId>{2D5ABB26-0587-4C30-8999-92F81FD0307C}</a:tableStyleId>
              </a:tblPr>
              <a:tblGrid>
                <a:gridCol w="1219200"/>
                <a:gridCol w="6553200"/>
              </a:tblGrid>
              <a:tr h="370681">
                <a:tc>
                  <a:txBody>
                    <a:bodyPr/>
                    <a:lstStyle/>
                    <a:p>
                      <a:r>
                        <a:rPr lang="en-CA" sz="1800" i="1" dirty="0" smtClean="0">
                          <a:latin typeface="Times New Roman" pitchFamily="18" charset="0"/>
                          <a:cs typeface="Times New Roman" pitchFamily="18" charset="0"/>
                        </a:rPr>
                        <a:t>Q</a:t>
                      </a:r>
                      <a:r>
                        <a:rPr lang="en-CA" sz="1800" i="1" baseline="-25000" dirty="0" smtClean="0">
                          <a:latin typeface="Times New Roman" pitchFamily="18" charset="0"/>
                          <a:cs typeface="Times New Roman" pitchFamily="18" charset="0"/>
                        </a:rPr>
                        <a:t>A </a:t>
                      </a:r>
                      <a:endParaRPr lang="en-US" sz="1800" i="1" dirty="0">
                        <a:latin typeface="Times New Roman" pitchFamily="18" charset="0"/>
                        <a:cs typeface="Times New Roman" pitchFamily="18" charset="0"/>
                      </a:endParaRPr>
                    </a:p>
                  </a:txBody>
                  <a:tcPr marT="45700" marB="45700"/>
                </a:tc>
                <a:tc>
                  <a:txBody>
                    <a:bodyPr/>
                    <a:lstStyle/>
                    <a:p>
                      <a:r>
                        <a:rPr lang="en-CA" sz="1800" dirty="0" smtClean="0"/>
                        <a:t>Size of position being hedged (units)</a:t>
                      </a:r>
                      <a:endParaRPr lang="en-US" sz="1800" dirty="0"/>
                    </a:p>
                  </a:txBody>
                  <a:tcPr marT="45700" marB="45700"/>
                </a:tc>
              </a:tr>
              <a:tr h="370681">
                <a:tc>
                  <a:txBody>
                    <a:bodyPr/>
                    <a:lstStyle/>
                    <a:p>
                      <a:r>
                        <a:rPr lang="en-CA" sz="1800" i="1" dirty="0" smtClean="0">
                          <a:latin typeface="Times New Roman" pitchFamily="18" charset="0"/>
                          <a:cs typeface="Times New Roman" pitchFamily="18" charset="0"/>
                        </a:rPr>
                        <a:t>Q</a:t>
                      </a:r>
                      <a:r>
                        <a:rPr lang="en-CA" sz="1800" i="1" baseline="-25000" dirty="0" smtClean="0">
                          <a:latin typeface="Times New Roman" pitchFamily="18" charset="0"/>
                          <a:cs typeface="Times New Roman" pitchFamily="18" charset="0"/>
                        </a:rPr>
                        <a:t>F</a:t>
                      </a:r>
                      <a:endParaRPr lang="en-US" sz="1800" i="1" dirty="0">
                        <a:latin typeface="Times New Roman" pitchFamily="18" charset="0"/>
                        <a:cs typeface="Times New Roman" pitchFamily="18" charset="0"/>
                      </a:endParaRPr>
                    </a:p>
                  </a:txBody>
                  <a:tcPr marT="45700" marB="45700"/>
                </a:tc>
                <a:tc>
                  <a:txBody>
                    <a:bodyPr/>
                    <a:lstStyle/>
                    <a:p>
                      <a:r>
                        <a:rPr lang="en-CA" sz="1800" dirty="0" smtClean="0"/>
                        <a:t>Size of one futures contract  (units)</a:t>
                      </a:r>
                      <a:endParaRPr lang="en-US" sz="1800" dirty="0"/>
                    </a:p>
                  </a:txBody>
                  <a:tcPr marT="45700" marB="45700"/>
                </a:tc>
              </a:tr>
              <a:tr h="370681">
                <a:tc>
                  <a:txBody>
                    <a:bodyPr/>
                    <a:lstStyle/>
                    <a:p>
                      <a:r>
                        <a:rPr lang="en-CA" sz="1800" i="1" dirty="0" smtClean="0">
                          <a:latin typeface="Times New Roman" pitchFamily="18" charset="0"/>
                          <a:cs typeface="Times New Roman" pitchFamily="18" charset="0"/>
                        </a:rPr>
                        <a:t>V</a:t>
                      </a:r>
                      <a:r>
                        <a:rPr lang="en-CA" sz="1800" i="1" baseline="-25000" dirty="0" smtClean="0">
                          <a:latin typeface="Times New Roman" pitchFamily="18" charset="0"/>
                          <a:cs typeface="Times New Roman" pitchFamily="18" charset="0"/>
                        </a:rPr>
                        <a:t>A</a:t>
                      </a:r>
                      <a:endParaRPr lang="en-US" sz="1800" i="1" dirty="0">
                        <a:latin typeface="Times New Roman" pitchFamily="18" charset="0"/>
                        <a:cs typeface="Times New Roman" pitchFamily="18" charset="0"/>
                      </a:endParaRPr>
                    </a:p>
                  </a:txBody>
                  <a:tcPr marT="45700" marB="45700"/>
                </a:tc>
                <a:tc>
                  <a:txBody>
                    <a:bodyPr/>
                    <a:lstStyle/>
                    <a:p>
                      <a:r>
                        <a:rPr lang="en-CA" sz="1800" dirty="0" smtClean="0"/>
                        <a:t>Value of position being hedged (=spot price  time </a:t>
                      </a:r>
                      <a:r>
                        <a:rPr lang="en-CA" sz="1800" i="1" dirty="0" smtClean="0">
                          <a:latin typeface="+mj-lt"/>
                        </a:rPr>
                        <a:t>Q</a:t>
                      </a:r>
                      <a:r>
                        <a:rPr lang="en-CA" sz="1800" i="1" baseline="-25000" dirty="0" smtClean="0">
                          <a:latin typeface="+mj-lt"/>
                        </a:rPr>
                        <a:t>A</a:t>
                      </a:r>
                      <a:r>
                        <a:rPr lang="en-CA" sz="1800" i="1" dirty="0" smtClean="0"/>
                        <a:t>)</a:t>
                      </a:r>
                      <a:endParaRPr lang="en-US" sz="1800" i="1" dirty="0"/>
                    </a:p>
                  </a:txBody>
                  <a:tcPr marT="45700" marB="45700"/>
                </a:tc>
              </a:tr>
              <a:tr h="370681">
                <a:tc>
                  <a:txBody>
                    <a:bodyPr/>
                    <a:lstStyle/>
                    <a:p>
                      <a:r>
                        <a:rPr lang="en-CA" sz="1800" i="1" dirty="0" smtClean="0">
                          <a:latin typeface="Times New Roman" pitchFamily="18" charset="0"/>
                          <a:cs typeface="Times New Roman" pitchFamily="18" charset="0"/>
                        </a:rPr>
                        <a:t>V</a:t>
                      </a:r>
                      <a:r>
                        <a:rPr lang="en-CA" sz="1800" i="1" baseline="-25000" dirty="0" smtClean="0">
                          <a:latin typeface="Times New Roman" pitchFamily="18" charset="0"/>
                          <a:cs typeface="Times New Roman" pitchFamily="18" charset="0"/>
                        </a:rPr>
                        <a:t>F</a:t>
                      </a:r>
                      <a:endParaRPr lang="en-US" sz="1800" i="1" dirty="0">
                        <a:latin typeface="Times New Roman" pitchFamily="18" charset="0"/>
                        <a:cs typeface="Times New Roman" pitchFamily="18" charset="0"/>
                      </a:endParaRPr>
                    </a:p>
                  </a:txBody>
                  <a:tcPr marT="45700" marB="45700"/>
                </a:tc>
                <a:tc>
                  <a:txBody>
                    <a:bodyPr/>
                    <a:lstStyle/>
                    <a:p>
                      <a:r>
                        <a:rPr lang="en-CA" sz="1800" dirty="0" smtClean="0"/>
                        <a:t>Value of one futures contract  (=futures price times </a:t>
                      </a:r>
                      <a:r>
                        <a:rPr lang="en-CA" sz="1800" i="1" dirty="0" smtClean="0">
                          <a:latin typeface="+mj-lt"/>
                        </a:rPr>
                        <a:t>Q</a:t>
                      </a:r>
                      <a:r>
                        <a:rPr lang="en-CA" sz="1800" i="1" baseline="-25000" dirty="0" smtClean="0">
                          <a:latin typeface="+mj-lt"/>
                        </a:rPr>
                        <a:t>F</a:t>
                      </a:r>
                      <a:r>
                        <a:rPr lang="en-CA" sz="1800" i="1" dirty="0" smtClean="0">
                          <a:latin typeface="+mj-lt"/>
                        </a:rPr>
                        <a:t>)</a:t>
                      </a:r>
                    </a:p>
                  </a:txBody>
                  <a:tcPr marT="45700" marB="45700"/>
                </a:tc>
              </a:tr>
            </a:tbl>
          </a:graphicData>
        </a:graphic>
      </p:graphicFrame>
      <p:sp>
        <p:nvSpPr>
          <p:cNvPr id="3687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368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C57A825-DF35-4B6C-AE4E-5881D61254AA}" type="slidenum">
              <a:rPr lang="en-US" altLang="en-US" sz="1400" smtClean="0"/>
              <a:pPr>
                <a:spcBef>
                  <a:spcPct val="0"/>
                </a:spcBef>
                <a:buClrTx/>
                <a:buSzTx/>
                <a:buFontTx/>
                <a:buNone/>
              </a:pPr>
              <a:t>12</a:t>
            </a:fld>
            <a:endParaRPr lang="en-US" altLang="en-US" sz="1400" smtClean="0"/>
          </a:p>
        </p:txBody>
      </p:sp>
      <p:sp>
        <p:nvSpPr>
          <p:cNvPr id="36878" name="TextBox 6"/>
          <p:cNvSpPr txBox="1">
            <a:spLocks noChangeArrowheads="1"/>
          </p:cNvSpPr>
          <p:nvPr/>
        </p:nvSpPr>
        <p:spPr bwMode="auto">
          <a:xfrm>
            <a:off x="381000" y="4114800"/>
            <a:ext cx="3581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Optimal  number of contracts if no adjustment for daily settlement</a:t>
            </a:r>
          </a:p>
          <a:p>
            <a:pPr eaLnBrk="1" hangingPunct="1">
              <a:spcBef>
                <a:spcPct val="0"/>
              </a:spcBef>
              <a:buClrTx/>
              <a:buSzTx/>
              <a:buFontTx/>
              <a:buNone/>
            </a:pPr>
            <a:endParaRPr lang="en-CA" altLang="en-US" sz="1800"/>
          </a:p>
          <a:p>
            <a:pPr eaLnBrk="1" hangingPunct="1">
              <a:spcBef>
                <a:spcPct val="0"/>
              </a:spcBef>
              <a:buClrTx/>
              <a:buSzTx/>
              <a:buFontTx/>
              <a:buNone/>
            </a:pPr>
            <a:endParaRPr lang="en-CA" altLang="en-US" sz="1800"/>
          </a:p>
          <a:p>
            <a:pPr eaLnBrk="1" hangingPunct="1">
              <a:spcBef>
                <a:spcPct val="0"/>
              </a:spcBef>
              <a:buClrTx/>
              <a:buSzTx/>
              <a:buFontTx/>
              <a:buNone/>
            </a:pPr>
            <a:endParaRPr lang="en-CA" altLang="en-US" sz="1800"/>
          </a:p>
          <a:p>
            <a:pPr eaLnBrk="1" hangingPunct="1">
              <a:spcBef>
                <a:spcPct val="0"/>
              </a:spcBef>
              <a:buClrTx/>
              <a:buSzTx/>
              <a:buFontTx/>
              <a:buNone/>
            </a:pPr>
            <a:endParaRPr lang="en-CA" altLang="en-US" sz="1800"/>
          </a:p>
          <a:p>
            <a:pPr eaLnBrk="1" hangingPunct="1">
              <a:spcBef>
                <a:spcPct val="0"/>
              </a:spcBef>
              <a:buClrTx/>
              <a:buSzTx/>
              <a:buFontTx/>
              <a:buNone/>
            </a:pPr>
            <a:endParaRPr lang="en-US" altLang="en-US" sz="1800"/>
          </a:p>
        </p:txBody>
      </p:sp>
      <p:graphicFrame>
        <p:nvGraphicFramePr>
          <p:cNvPr id="36879" name="Object 2"/>
          <p:cNvGraphicFramePr>
            <a:graphicFrameLocks noChangeAspect="1"/>
          </p:cNvGraphicFramePr>
          <p:nvPr/>
        </p:nvGraphicFramePr>
        <p:xfrm>
          <a:off x="1131888" y="4876800"/>
          <a:ext cx="1049337" cy="914400"/>
        </p:xfrm>
        <a:graphic>
          <a:graphicData uri="http://schemas.openxmlformats.org/presentationml/2006/ole">
            <mc:AlternateContent xmlns:mc="http://schemas.openxmlformats.org/markup-compatibility/2006">
              <mc:Choice xmlns:v="urn:schemas-microsoft-com:vml" Requires="v">
                <p:oleObj spid="_x0000_s36882" name="Equation" r:id="rId4" imgW="495085" imgH="431613" progId="Equation.3">
                  <p:embed/>
                </p:oleObj>
              </mc:Choice>
              <mc:Fallback>
                <p:oleObj name="Equation" r:id="rId4" imgW="495085" imgH="431613"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1888" y="4876800"/>
                        <a:ext cx="1049337"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0" name="TextBox 8"/>
          <p:cNvSpPr txBox="1">
            <a:spLocks noChangeArrowheads="1"/>
          </p:cNvSpPr>
          <p:nvPr/>
        </p:nvSpPr>
        <p:spPr bwMode="auto">
          <a:xfrm>
            <a:off x="4953000" y="3886200"/>
            <a:ext cx="3429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Optimal number of contracts after “tailing adjustment” to allow or daily settlement of futures</a:t>
            </a:r>
            <a:endParaRPr lang="en-US" altLang="en-US" sz="1800"/>
          </a:p>
        </p:txBody>
      </p:sp>
      <p:graphicFrame>
        <p:nvGraphicFramePr>
          <p:cNvPr id="36881" name="Object 3"/>
          <p:cNvGraphicFramePr>
            <a:graphicFrameLocks noChangeAspect="1"/>
          </p:cNvGraphicFramePr>
          <p:nvPr/>
        </p:nvGraphicFramePr>
        <p:xfrm>
          <a:off x="6138863" y="4987925"/>
          <a:ext cx="960437" cy="1044575"/>
        </p:xfrm>
        <a:graphic>
          <a:graphicData uri="http://schemas.openxmlformats.org/presentationml/2006/ole">
            <mc:AlternateContent xmlns:mc="http://schemas.openxmlformats.org/markup-compatibility/2006">
              <mc:Choice xmlns:v="urn:schemas-microsoft-com:vml" Requires="v">
                <p:oleObj spid="_x0000_s36883" name="Equation" r:id="rId6" imgW="431613" imgH="469696" progId="Equation.DSMT4">
                  <p:embed/>
                </p:oleObj>
              </mc:Choice>
              <mc:Fallback>
                <p:oleObj name="Equation" r:id="rId6" imgW="431613" imgH="469696"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8863" y="4987925"/>
                        <a:ext cx="960437"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38915" name="Rectangle 2"/>
          <p:cNvSpPr>
            <a:spLocks noGrp="1" noChangeArrowheads="1"/>
          </p:cNvSpPr>
          <p:nvPr>
            <p:ph type="title"/>
          </p:nvPr>
        </p:nvSpPr>
        <p:spPr/>
        <p:txBody>
          <a:bodyPr/>
          <a:lstStyle/>
          <a:p>
            <a:pPr eaLnBrk="1" hangingPunct="1"/>
            <a:r>
              <a:rPr lang="en-US" altLang="en-US" smtClean="0"/>
              <a:t>Hedging Using Index Futures</a:t>
            </a:r>
            <a:br>
              <a:rPr lang="en-US" altLang="en-US" smtClean="0"/>
            </a:br>
            <a:r>
              <a:rPr lang="en-US" altLang="en-US" sz="2200" smtClean="0"/>
              <a:t>(Page 65)</a:t>
            </a:r>
            <a:endParaRPr lang="en-US" altLang="en-US" smtClean="0"/>
          </a:p>
        </p:txBody>
      </p:sp>
      <p:sp>
        <p:nvSpPr>
          <p:cNvPr id="38916" name="Rectangle 3"/>
          <p:cNvSpPr>
            <a:spLocks noGrp="1" noChangeArrowheads="1"/>
          </p:cNvSpPr>
          <p:nvPr>
            <p:ph type="body" idx="1"/>
          </p:nvPr>
        </p:nvSpPr>
        <p:spPr>
          <a:xfrm>
            <a:off x="457200" y="1447800"/>
            <a:ext cx="7239000" cy="4683125"/>
          </a:xfrm>
        </p:spPr>
        <p:txBody>
          <a:bodyPr/>
          <a:lstStyle/>
          <a:p>
            <a:pPr eaLnBrk="1" hangingPunct="1">
              <a:buFont typeface="Wingdings" panose="05000000000000000000" pitchFamily="2" charset="2"/>
              <a:buNone/>
            </a:pPr>
            <a:r>
              <a:rPr lang="en-US" altLang="en-US" smtClean="0"/>
              <a:t>	To hedge the risk in a portfolio the number of contracts that should be shorted is</a:t>
            </a:r>
          </a:p>
          <a:p>
            <a:pPr eaLnBrk="1" hangingPunct="1">
              <a:buFont typeface="Wingdings" panose="05000000000000000000" pitchFamily="2" charset="2"/>
              <a:buNone/>
            </a:pPr>
            <a:endParaRPr lang="en-US" altLang="en-US" smtClean="0"/>
          </a:p>
          <a:p>
            <a:pPr eaLnBrk="1" hangingPunct="1"/>
            <a:endParaRPr lang="en-US" altLang="en-US" smtClean="0"/>
          </a:p>
          <a:p>
            <a:pPr eaLnBrk="1" hangingPunct="1">
              <a:buFont typeface="Wingdings" panose="05000000000000000000" pitchFamily="2" charset="2"/>
              <a:buNone/>
            </a:pPr>
            <a:r>
              <a:rPr lang="en-US" altLang="en-US" smtClean="0"/>
              <a:t>	where </a:t>
            </a:r>
            <a:r>
              <a:rPr lang="en-US" altLang="en-US" i="1" smtClean="0">
                <a:latin typeface="Times New Roman" panose="02020603050405020304" pitchFamily="18" charset="0"/>
              </a:rPr>
              <a:t>V</a:t>
            </a:r>
            <a:r>
              <a:rPr lang="en-US" altLang="en-US" i="1" baseline="-25000" smtClean="0">
                <a:latin typeface="Times New Roman" panose="02020603050405020304" pitchFamily="18" charset="0"/>
              </a:rPr>
              <a:t>A</a:t>
            </a:r>
            <a:r>
              <a:rPr lang="en-US" altLang="en-US" smtClean="0"/>
              <a:t> is the current value of the portfolio, </a:t>
            </a:r>
            <a:r>
              <a:rPr lang="en-US" altLang="en-US" smtClean="0">
                <a:latin typeface="Symbol" panose="05050102010706020507" pitchFamily="18" charset="2"/>
              </a:rPr>
              <a:t>b </a:t>
            </a:r>
            <a:r>
              <a:rPr lang="en-US" altLang="en-US" smtClean="0"/>
              <a:t>is its beta, and </a:t>
            </a:r>
            <a:r>
              <a:rPr lang="en-US" altLang="en-US" i="1" smtClean="0">
                <a:latin typeface="Times New Roman" panose="02020603050405020304" pitchFamily="18" charset="0"/>
              </a:rPr>
              <a:t>V</a:t>
            </a:r>
            <a:r>
              <a:rPr lang="en-US" altLang="en-US" i="1" baseline="-25000" smtClean="0">
                <a:latin typeface="Times New Roman" panose="02020603050405020304" pitchFamily="18" charset="0"/>
              </a:rPr>
              <a:t>F</a:t>
            </a:r>
            <a:r>
              <a:rPr lang="en-US" altLang="en-US" smtClean="0"/>
              <a:t> is the current value of one futures (=futures price times contract size)</a:t>
            </a:r>
          </a:p>
        </p:txBody>
      </p:sp>
      <p:graphicFrame>
        <p:nvGraphicFramePr>
          <p:cNvPr id="38917" name="Object 7"/>
          <p:cNvGraphicFramePr>
            <a:graphicFrameLocks noChangeAspect="1"/>
          </p:cNvGraphicFramePr>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spid="_x0000_s38920" name="Equation" r:id="rId4" imgW="114151" imgH="164885" progId="Equation.DSMT4">
                  <p:embed/>
                </p:oleObj>
              </mc:Choice>
              <mc:Fallback>
                <p:oleObj name="Equation" r:id="rId4" imgW="114151" imgH="164885"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46450"/>
                        <a:ext cx="1143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8"/>
          <p:cNvGraphicFramePr>
            <a:graphicFrameLocks noChangeAspect="1"/>
          </p:cNvGraphicFramePr>
          <p:nvPr/>
        </p:nvGraphicFramePr>
        <p:xfrm>
          <a:off x="3429000" y="2971800"/>
          <a:ext cx="1003300" cy="1235075"/>
        </p:xfrm>
        <a:graphic>
          <a:graphicData uri="http://schemas.openxmlformats.org/presentationml/2006/ole">
            <mc:AlternateContent xmlns:mc="http://schemas.openxmlformats.org/markup-compatibility/2006">
              <mc:Choice xmlns:v="urn:schemas-microsoft-com:vml" Requires="v">
                <p:oleObj spid="_x0000_s38921" name="Equation" r:id="rId6" imgW="330057" imgH="406224" progId="Equation.3">
                  <p:embed/>
                </p:oleObj>
              </mc:Choice>
              <mc:Fallback>
                <p:oleObj name="Equation" r:id="rId6" imgW="330057" imgH="406224"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2971800"/>
                        <a:ext cx="100330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FE7B8B4-DFF6-4B96-9E40-71D786AD7BC7}" type="slidenum">
              <a:rPr lang="en-US" altLang="en-US" sz="1800" smtClean="0"/>
              <a:pPr>
                <a:spcBef>
                  <a:spcPct val="0"/>
                </a:spcBef>
                <a:buClrTx/>
                <a:buSzTx/>
                <a:buFontTx/>
                <a:buNone/>
              </a:pPr>
              <a:t>13</a:t>
            </a:fld>
            <a:endParaRPr lang="en-US" altLang="en-US" sz="180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40963" name="Rectangle 1026"/>
          <p:cNvSpPr>
            <a:spLocks noGrp="1" noChangeArrowheads="1"/>
          </p:cNvSpPr>
          <p:nvPr>
            <p:ph type="title"/>
          </p:nvPr>
        </p:nvSpPr>
        <p:spPr/>
        <p:txBody>
          <a:bodyPr/>
          <a:lstStyle/>
          <a:p>
            <a:pPr eaLnBrk="1" hangingPunct="1"/>
            <a:r>
              <a:rPr lang="en-US" altLang="en-US" smtClean="0"/>
              <a:t>Example</a:t>
            </a:r>
          </a:p>
        </p:txBody>
      </p:sp>
      <p:sp>
        <p:nvSpPr>
          <p:cNvPr id="40964" name="Rectangle 1027"/>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en-US" smtClean="0"/>
              <a:t>	Futures price of S&amp;P 500 is 1,000</a:t>
            </a:r>
          </a:p>
          <a:p>
            <a:pPr eaLnBrk="1" hangingPunct="1">
              <a:lnSpc>
                <a:spcPct val="90000"/>
              </a:lnSpc>
              <a:buFont typeface="Wingdings" panose="05000000000000000000" pitchFamily="2" charset="2"/>
              <a:buNone/>
            </a:pPr>
            <a:r>
              <a:rPr lang="en-US" altLang="en-US" smtClean="0"/>
              <a:t>	Size of portfolio is $5 million</a:t>
            </a:r>
          </a:p>
          <a:p>
            <a:pPr eaLnBrk="1" hangingPunct="1">
              <a:lnSpc>
                <a:spcPct val="90000"/>
              </a:lnSpc>
              <a:buFont typeface="Wingdings" panose="05000000000000000000" pitchFamily="2" charset="2"/>
              <a:buNone/>
            </a:pPr>
            <a:r>
              <a:rPr lang="en-US" altLang="en-US" smtClean="0"/>
              <a:t>	Beta of portfolio is 1.5</a:t>
            </a:r>
          </a:p>
          <a:p>
            <a:pPr eaLnBrk="1" hangingPunct="1">
              <a:lnSpc>
                <a:spcPct val="90000"/>
              </a:lnSpc>
              <a:buFont typeface="Wingdings" panose="05000000000000000000" pitchFamily="2" charset="2"/>
              <a:buNone/>
            </a:pPr>
            <a:r>
              <a:rPr lang="en-US" altLang="en-US" smtClean="0"/>
              <a:t>	One contract is on $250 times the index</a:t>
            </a:r>
          </a:p>
          <a:p>
            <a:pPr eaLnBrk="1" hangingPunct="1">
              <a:lnSpc>
                <a:spcPct val="90000"/>
              </a:lnSpc>
              <a:buFont typeface="Wingdings" panose="05000000000000000000" pitchFamily="2" charset="2"/>
              <a:buNone/>
            </a:pPr>
            <a:endParaRPr lang="en-US" altLang="en-US" smtClean="0"/>
          </a:p>
          <a:p>
            <a:pPr eaLnBrk="1" hangingPunct="1">
              <a:lnSpc>
                <a:spcPct val="90000"/>
              </a:lnSpc>
              <a:buFont typeface="Wingdings" panose="05000000000000000000" pitchFamily="2" charset="2"/>
              <a:buNone/>
            </a:pPr>
            <a:r>
              <a:rPr lang="en-US" altLang="en-US" smtClean="0"/>
              <a:t>	What position in futures contracts on the S&amp;P 500 is necessary to hedge the portfolio?</a:t>
            </a:r>
          </a:p>
          <a:p>
            <a:pPr eaLnBrk="1" hangingPunct="1">
              <a:lnSpc>
                <a:spcPct val="90000"/>
              </a:lnSpc>
              <a:buFont typeface="Wingdings" panose="05000000000000000000" pitchFamily="2" charset="2"/>
              <a:buNone/>
            </a:pPr>
            <a:endParaRPr lang="en-US" altLang="en-US" smtClean="0"/>
          </a:p>
        </p:txBody>
      </p:sp>
      <p:sp>
        <p:nvSpPr>
          <p:cNvPr id="409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F215E87-E8C7-4A00-B859-4DAAC4D8C8D8}" type="slidenum">
              <a:rPr lang="en-US" altLang="en-US" sz="1800" smtClean="0"/>
              <a:pPr>
                <a:spcBef>
                  <a:spcPct val="0"/>
                </a:spcBef>
                <a:buClrTx/>
                <a:buSzTx/>
                <a:buFontTx/>
                <a:buNone/>
              </a:pPr>
              <a:t>14</a:t>
            </a:fld>
            <a:endParaRPr lang="en-US" altLang="en-US" sz="180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i="0" smtClean="0"/>
          </a:p>
        </p:txBody>
      </p:sp>
      <p:sp>
        <p:nvSpPr>
          <p:cNvPr id="43011" name="Rectangle 2"/>
          <p:cNvSpPr>
            <a:spLocks noGrp="1" noChangeArrowheads="1"/>
          </p:cNvSpPr>
          <p:nvPr>
            <p:ph type="title"/>
          </p:nvPr>
        </p:nvSpPr>
        <p:spPr/>
        <p:txBody>
          <a:bodyPr/>
          <a:lstStyle/>
          <a:p>
            <a:pPr eaLnBrk="1" hangingPunct="1"/>
            <a:r>
              <a:rPr lang="en-US" altLang="en-US" smtClean="0"/>
              <a:t>Changing Beta</a:t>
            </a:r>
          </a:p>
        </p:txBody>
      </p:sp>
      <p:sp>
        <p:nvSpPr>
          <p:cNvPr id="43012" name="Rectangle 3"/>
          <p:cNvSpPr>
            <a:spLocks noGrp="1" noChangeArrowheads="1"/>
          </p:cNvSpPr>
          <p:nvPr>
            <p:ph type="body" idx="1"/>
          </p:nvPr>
        </p:nvSpPr>
        <p:spPr>
          <a:xfrm>
            <a:off x="457200" y="1963738"/>
            <a:ext cx="8229600" cy="4167187"/>
          </a:xfrm>
        </p:spPr>
        <p:txBody>
          <a:bodyPr/>
          <a:lstStyle/>
          <a:p>
            <a:pPr eaLnBrk="1" hangingPunct="1"/>
            <a:r>
              <a:rPr lang="en-US" altLang="en-US" smtClean="0"/>
              <a:t>What position is necessary to reduce the beta of the portfolio to 0.75?</a:t>
            </a:r>
          </a:p>
          <a:p>
            <a:pPr eaLnBrk="1" hangingPunct="1"/>
            <a:r>
              <a:rPr lang="en-US" altLang="en-US" smtClean="0"/>
              <a:t>What position is necessary to increase the beta of the portfolio to 2.0?</a:t>
            </a:r>
          </a:p>
        </p:txBody>
      </p:sp>
      <p:sp>
        <p:nvSpPr>
          <p:cNvPr id="430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6BE3EAA-F7C4-4F13-818F-8E940108CACA}" type="slidenum">
              <a:rPr lang="en-US" altLang="en-US" sz="1800" smtClean="0"/>
              <a:pPr>
                <a:spcBef>
                  <a:spcPct val="0"/>
                </a:spcBef>
                <a:buClrTx/>
                <a:buSzTx/>
                <a:buFontTx/>
                <a:buNone/>
              </a:pPr>
              <a:t>15</a:t>
            </a:fld>
            <a:endParaRPr lang="en-US" altLang="en-US" sz="180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smtClean="0"/>
              <a:t>Why Hedge Equity Returns?</a:t>
            </a:r>
          </a:p>
        </p:txBody>
      </p:sp>
      <p:sp>
        <p:nvSpPr>
          <p:cNvPr id="45059" name="Rectangle 3"/>
          <p:cNvSpPr>
            <a:spLocks noGrp="1" noChangeArrowheads="1"/>
          </p:cNvSpPr>
          <p:nvPr>
            <p:ph idx="1"/>
          </p:nvPr>
        </p:nvSpPr>
        <p:spPr/>
        <p:txBody>
          <a:bodyPr/>
          <a:lstStyle/>
          <a:p>
            <a:pPr eaLnBrk="1" hangingPunct="1">
              <a:lnSpc>
                <a:spcPct val="90000"/>
              </a:lnSpc>
            </a:pPr>
            <a:r>
              <a:rPr lang="en-US" altLang="en-US" sz="2800" smtClean="0">
                <a:cs typeface="Arial" panose="020B0604020202020204" pitchFamily="34" charset="0"/>
              </a:rPr>
              <a:t>May want to be out of the market for a while. Hedging avoids the costs of selling and repurchasing the portfolio</a:t>
            </a:r>
          </a:p>
          <a:p>
            <a:pPr eaLnBrk="1" hangingPunct="1">
              <a:lnSpc>
                <a:spcPct val="90000"/>
              </a:lnSpc>
            </a:pPr>
            <a:r>
              <a:rPr lang="en-US" altLang="en-US" sz="2800" smtClean="0">
                <a:cs typeface="Arial" panose="020B0604020202020204" pitchFamily="34" charset="0"/>
              </a:rPr>
              <a:t>Suppose stocks in your portfolio have an average beta of 1.0, but you feel they have been chosen well and will outperform the market in both good and bad times. Hedging ensures that the return you earn is the risk-free return plus the excess return of your portfolio over the market.</a:t>
            </a:r>
          </a:p>
        </p:txBody>
      </p:sp>
      <p:sp>
        <p:nvSpPr>
          <p:cNvPr id="4506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033D70C-04D7-413F-8A2E-9F7134439B6D}" type="slidenum">
              <a:rPr lang="en-US" altLang="en-US" sz="1800" smtClean="0"/>
              <a:pPr>
                <a:spcBef>
                  <a:spcPct val="0"/>
                </a:spcBef>
                <a:buClrTx/>
                <a:buSzTx/>
                <a:buFontTx/>
                <a:buNone/>
              </a:pPr>
              <a:t>16</a:t>
            </a:fld>
            <a:endParaRPr lang="en-US" altLang="en-US" sz="180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04800" y="228600"/>
            <a:ext cx="7086600" cy="990600"/>
          </a:xfrm>
        </p:spPr>
        <p:txBody>
          <a:bodyPr lIns="90488" tIns="44450" rIns="90488" bIns="44450"/>
          <a:lstStyle/>
          <a:p>
            <a:pPr eaLnBrk="1" hangingPunct="1"/>
            <a:r>
              <a:rPr lang="en-US" altLang="en-US" sz="4000" smtClean="0"/>
              <a:t>Stack and Roll </a:t>
            </a:r>
            <a:r>
              <a:rPr lang="en-US" altLang="en-US" sz="2200" smtClean="0"/>
              <a:t>(page 69-70)</a:t>
            </a:r>
          </a:p>
        </p:txBody>
      </p:sp>
      <p:sp>
        <p:nvSpPr>
          <p:cNvPr id="47107" name="Rectangle 3"/>
          <p:cNvSpPr>
            <a:spLocks noGrp="1" noChangeArrowheads="1"/>
          </p:cNvSpPr>
          <p:nvPr>
            <p:ph idx="1"/>
          </p:nvPr>
        </p:nvSpPr>
        <p:spPr>
          <a:xfrm>
            <a:off x="609600" y="1600200"/>
            <a:ext cx="7297738" cy="3746500"/>
          </a:xfrm>
        </p:spPr>
        <p:txBody>
          <a:bodyPr lIns="90488" tIns="44450" rIns="90488" bIns="44450"/>
          <a:lstStyle/>
          <a:p>
            <a:pPr eaLnBrk="1" hangingPunct="1"/>
            <a:r>
              <a:rPr lang="en-US" altLang="en-US" sz="2800" smtClean="0">
                <a:cs typeface="Arial" panose="020B0604020202020204" pitchFamily="34" charset="0"/>
              </a:rPr>
              <a:t>We can roll futures contracts forward to hedge future exposures</a:t>
            </a:r>
          </a:p>
          <a:p>
            <a:pPr eaLnBrk="1" hangingPunct="1"/>
            <a:r>
              <a:rPr lang="en-CA" altLang="en-US" sz="2800" smtClean="0">
                <a:cs typeface="Arial" panose="020B0604020202020204" pitchFamily="34" charset="0"/>
              </a:rPr>
              <a:t>Initially we enter into futures contracts to hedge exposures up to a time horizon</a:t>
            </a:r>
          </a:p>
          <a:p>
            <a:pPr eaLnBrk="1" hangingPunct="1"/>
            <a:r>
              <a:rPr lang="en-CA" altLang="en-US" sz="2800" smtClean="0">
                <a:cs typeface="Arial" panose="020B0604020202020204" pitchFamily="34" charset="0"/>
              </a:rPr>
              <a:t>Just before maturity we close them out an replace them with new contract reflect the new exposure</a:t>
            </a:r>
          </a:p>
          <a:p>
            <a:pPr eaLnBrk="1" hangingPunct="1"/>
            <a:r>
              <a:rPr lang="en-CA" altLang="en-US" sz="2800" smtClean="0">
                <a:cs typeface="Arial" panose="020B0604020202020204" pitchFamily="34" charset="0"/>
              </a:rPr>
              <a:t>etc</a:t>
            </a:r>
          </a:p>
          <a:p>
            <a:pPr eaLnBrk="1" hangingPunct="1"/>
            <a:endParaRPr lang="en-US" altLang="en-US" smtClean="0">
              <a:cs typeface="Arial" panose="020B0604020202020204" pitchFamily="34" charset="0"/>
            </a:endParaRPr>
          </a:p>
        </p:txBody>
      </p:sp>
      <p:sp>
        <p:nvSpPr>
          <p:cNvPr id="4710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471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45F574C-C479-4BDD-B78A-FFE26B1C1210}" type="slidenum">
              <a:rPr lang="en-US" altLang="en-US" sz="1800" smtClean="0"/>
              <a:pPr>
                <a:spcBef>
                  <a:spcPct val="0"/>
                </a:spcBef>
                <a:buClrTx/>
                <a:buSzTx/>
                <a:buFontTx/>
                <a:buNone/>
              </a:pPr>
              <a:t>17</a:t>
            </a:fld>
            <a:endParaRPr lang="en-US" altLang="en-US" sz="1800" smtClean="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228600" y="304800"/>
            <a:ext cx="7772400" cy="1050925"/>
          </a:xfrm>
        </p:spPr>
        <p:txBody>
          <a:bodyPr/>
          <a:lstStyle/>
          <a:p>
            <a:pPr eaLnBrk="1" hangingPunct="1"/>
            <a:r>
              <a:rPr lang="en-CA" altLang="en-US" smtClean="0"/>
              <a:t>Liquidity Issues </a:t>
            </a:r>
            <a:r>
              <a:rPr lang="en-CA" altLang="en-US" sz="2400" smtClean="0"/>
              <a:t>(See Business Snapshot 3.2)</a:t>
            </a:r>
            <a:endParaRPr lang="en-US" altLang="en-US" sz="2400" smtClean="0"/>
          </a:p>
        </p:txBody>
      </p:sp>
      <p:sp>
        <p:nvSpPr>
          <p:cNvPr id="49155" name="Content Placeholder 2"/>
          <p:cNvSpPr>
            <a:spLocks noGrp="1"/>
          </p:cNvSpPr>
          <p:nvPr>
            <p:ph idx="1"/>
          </p:nvPr>
        </p:nvSpPr>
        <p:spPr>
          <a:xfrm>
            <a:off x="609600" y="1447800"/>
            <a:ext cx="7772400" cy="4357688"/>
          </a:xfrm>
        </p:spPr>
        <p:txBody>
          <a:bodyPr/>
          <a:lstStyle/>
          <a:p>
            <a:pPr eaLnBrk="1" hangingPunct="1"/>
            <a:r>
              <a:rPr lang="en-CA" altLang="en-US" sz="2800" smtClean="0">
                <a:cs typeface="Arial" panose="020B0604020202020204" pitchFamily="34" charset="0"/>
              </a:rPr>
              <a:t>In any hedging situation there is a danger that losses will be realized on the hedge while the gains on the underlying exposure are unrealized</a:t>
            </a:r>
          </a:p>
          <a:p>
            <a:pPr eaLnBrk="1" hangingPunct="1"/>
            <a:r>
              <a:rPr lang="en-CA" altLang="en-US" sz="2800" smtClean="0">
                <a:cs typeface="Arial" panose="020B0604020202020204" pitchFamily="34" charset="0"/>
              </a:rPr>
              <a:t>This can create liquidity problems</a:t>
            </a:r>
          </a:p>
          <a:p>
            <a:pPr eaLnBrk="1" hangingPunct="1"/>
            <a:r>
              <a:rPr lang="en-CA" altLang="en-US" sz="2800" smtClean="0">
                <a:cs typeface="Arial" panose="020B0604020202020204" pitchFamily="34" charset="0"/>
              </a:rPr>
              <a:t>One example is Metallgesellschaft which sold long term fixed-price contracts on heating oil and gasoline and hedged using stack and roll</a:t>
            </a:r>
          </a:p>
          <a:p>
            <a:pPr eaLnBrk="1" hangingPunct="1"/>
            <a:r>
              <a:rPr lang="en-CA" altLang="en-US" sz="2800" smtClean="0">
                <a:cs typeface="Arial" panose="020B0604020202020204" pitchFamily="34" charset="0"/>
              </a:rPr>
              <a:t>The price of oil fell.....</a:t>
            </a:r>
            <a:endParaRPr lang="en-US" altLang="en-US" sz="2800" smtClean="0">
              <a:cs typeface="Arial" panose="020B0604020202020204" pitchFamily="34" charset="0"/>
            </a:endParaRPr>
          </a:p>
        </p:txBody>
      </p:sp>
      <p:sp>
        <p:nvSpPr>
          <p:cNvPr id="491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Ch3, Copyright © John C. Hull 2016</a:t>
            </a:r>
            <a:endParaRPr lang="en-US" altLang="en-US" sz="1400" smtClean="0"/>
          </a:p>
        </p:txBody>
      </p:sp>
      <p:sp>
        <p:nvSpPr>
          <p:cNvPr id="491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3A07DA3-61E9-4538-A44D-E8D7C27458A7}" type="slidenum">
              <a:rPr lang="en-US" altLang="en-US" sz="1800" smtClean="0"/>
              <a:pPr>
                <a:spcBef>
                  <a:spcPct val="0"/>
                </a:spcBef>
                <a:buClrTx/>
                <a:buSzTx/>
                <a:buFontTx/>
                <a:buNone/>
              </a:pPr>
              <a:t>18</a:t>
            </a:fld>
            <a:endParaRPr lang="en-US" altLang="en-US" sz="1800" smtClean="0"/>
          </a:p>
        </p:txBody>
      </p:sp>
    </p:spTree>
  </p:cSld>
  <p:clrMapOvr>
    <a:masterClrMapping/>
  </p:clrMapOvr>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9426870-81B4-4777-89AE-AF3995F363CD}"/>
</file>

<file path=customXml/itemProps2.xml><?xml version="1.0" encoding="utf-8"?>
<ds:datastoreItem xmlns:ds="http://schemas.openxmlformats.org/officeDocument/2006/customXml" ds:itemID="{019F90ED-752C-407A-90C7-AD50451287A2}"/>
</file>

<file path=customXml/itemProps3.xml><?xml version="1.0" encoding="utf-8"?>
<ds:datastoreItem xmlns:ds="http://schemas.openxmlformats.org/officeDocument/2006/customXml" ds:itemID="{92CB294B-00FC-4CD6-BB15-62FE1C214BB6}"/>
</file>

<file path=docProps/app.xml><?xml version="1.0" encoding="utf-8"?>
<Properties xmlns="http://schemas.openxmlformats.org/officeDocument/2006/extended-properties" xmlns:vt="http://schemas.openxmlformats.org/officeDocument/2006/docPropsVTypes">
  <Template>Ch02HullFundamentals5thEd</Template>
  <TotalTime>332</TotalTime>
  <Words>1086</Words>
  <Application>Microsoft Office PowerPoint</Application>
  <PresentationFormat>On-screen Show (4:3)</PresentationFormat>
  <Paragraphs>149</Paragraphs>
  <Slides>18</Slides>
  <Notes>17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18</vt:i4>
      </vt:variant>
    </vt:vector>
  </HeadingPairs>
  <TitlesOfParts>
    <vt:vector size="25" baseType="lpstr">
      <vt:lpstr>Arial</vt:lpstr>
      <vt:lpstr>Times New Roman</vt:lpstr>
      <vt:lpstr>Wingdings</vt:lpstr>
      <vt:lpstr>Symbol</vt:lpstr>
      <vt:lpstr>1_Network</vt:lpstr>
      <vt:lpstr>Microsoft Equation 3.0</vt:lpstr>
      <vt:lpstr>MathType 6.0 Equation</vt:lpstr>
      <vt:lpstr>Hedging Strategies Using Futures</vt:lpstr>
      <vt:lpstr>Long &amp; Short Hedges</vt:lpstr>
      <vt:lpstr>Arguments in Favor of Hedging</vt:lpstr>
      <vt:lpstr>Arguments against Hedging</vt:lpstr>
      <vt:lpstr>Basis Risk</vt:lpstr>
      <vt:lpstr>Long Hedge for Purchase of an Asset </vt:lpstr>
      <vt:lpstr>Short Hedge for Sale of an Asset </vt:lpstr>
      <vt:lpstr>Choice of Contract</vt:lpstr>
      <vt:lpstr>Optimal Hedge Ratio</vt:lpstr>
      <vt:lpstr>Example 3.5 (Page 62)</vt:lpstr>
      <vt:lpstr>Alternative Definition of Optimal Hedge Ratio</vt:lpstr>
      <vt:lpstr>Optimal Number of Contracts</vt:lpstr>
      <vt:lpstr>Hedging Using Index Futures (Page 65)</vt:lpstr>
      <vt:lpstr>Example</vt:lpstr>
      <vt:lpstr>Changing Beta</vt:lpstr>
      <vt:lpstr>Why Hedge Equity Returns?</vt:lpstr>
      <vt:lpstr>Stack and Roll (page 69-70)</vt:lpstr>
      <vt:lpstr>Liquidity Issues (See Business Snapshot 3.2)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Hedging Strategies Using Futures</dc:title>
  <dc:subject>Fundamentals of Futures and Options Markets, 7E</dc:subject>
  <dc:creator>John C. Hull</dc:creator>
  <cp:keywords>Chapter 3</cp:keywords>
  <dc:description>Copyright 2016 by John C. Hull. All Rights Reserved. Published 2016.</dc:description>
  <cp:lastModifiedBy>John Hull</cp:lastModifiedBy>
  <cp:revision>32</cp:revision>
  <cp:lastPrinted>2001-05-03T11:09:51Z</cp:lastPrinted>
  <dcterms:created xsi:type="dcterms:W3CDTF">2001-03-27T18:56:54Z</dcterms:created>
  <dcterms:modified xsi:type="dcterms:W3CDTF">2016-01-20T20:58:43Z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