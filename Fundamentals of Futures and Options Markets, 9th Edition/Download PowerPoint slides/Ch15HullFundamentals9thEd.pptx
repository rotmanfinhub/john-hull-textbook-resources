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slides/slide23.xml" ContentType="application/vnd.openxmlformats-officedocument.presentationml.slide+xml"/>
  <Override PartName="/ppt/slides/slide1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2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20.xml" ContentType="application/vnd.openxmlformats-officedocument.presentationml.slide+xml"/>
  <Override PartName="/ppt/slides/slide6.xml" ContentType="application/vnd.openxmlformats-officedocument.presentationml.slide+xml"/>
  <Override PartName="/ppt/slides/slide18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3.xml" ContentType="application/vnd.openxmlformats-officedocument.presentationml.slide+xml"/>
  <Override PartName="/ppt/slides/slide19.xml" ContentType="application/vnd.openxmlformats-officedocument.presentationml.slide+xml"/>
  <Override PartName="/ppt/slides/slide14.xml" ContentType="application/vnd.openxmlformats-officedocument.presentationml.slide+xml"/>
  <Override PartName="/ppt/slides/slide17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notesSlides/notesSlide2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7.xml" ContentType="application/vnd.openxmlformats-officedocument.presentationml.notesSlid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6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0" r:id="rId1"/>
  </p:sldMasterIdLst>
  <p:notesMasterIdLst>
    <p:notesMasterId r:id="rId26"/>
  </p:notesMasterIdLst>
  <p:handoutMasterIdLst>
    <p:handoutMasterId r:id="rId27"/>
  </p:handoutMasterIdLst>
  <p:sldIdLst>
    <p:sldId id="295" r:id="rId2"/>
    <p:sldId id="264" r:id="rId3"/>
    <p:sldId id="265" r:id="rId4"/>
    <p:sldId id="266" r:id="rId5"/>
    <p:sldId id="300" r:id="rId6"/>
    <p:sldId id="268" r:id="rId7"/>
    <p:sldId id="269" r:id="rId8"/>
    <p:sldId id="270" r:id="rId9"/>
    <p:sldId id="272" r:id="rId10"/>
    <p:sldId id="296" r:id="rId11"/>
    <p:sldId id="297" r:id="rId12"/>
    <p:sldId id="258" r:id="rId13"/>
    <p:sldId id="259" r:id="rId14"/>
    <p:sldId id="260" r:id="rId15"/>
    <p:sldId id="261" r:id="rId16"/>
    <p:sldId id="271" r:id="rId17"/>
    <p:sldId id="299" r:id="rId18"/>
    <p:sldId id="301" r:id="rId19"/>
    <p:sldId id="273" r:id="rId20"/>
    <p:sldId id="274" r:id="rId21"/>
    <p:sldId id="275" r:id="rId22"/>
    <p:sldId id="276" r:id="rId23"/>
    <p:sldId id="262" r:id="rId24"/>
    <p:sldId id="263" r:id="rId2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1" autoAdjust="0"/>
  </p:normalViewPr>
  <p:slideViewPr>
    <p:cSldViewPr>
      <p:cViewPr varScale="1">
        <p:scale>
          <a:sx n="122" d="100"/>
          <a:sy n="122" d="100"/>
        </p:scale>
        <p:origin x="1206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33863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7892" name="Rectangle 4"/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0"/>
            <a:r>
              <a:rPr lang="en-US" noProof="0" smtClean="0"/>
              <a:t>Second level</a:t>
            </a:r>
          </a:p>
          <a:p>
            <a:pPr lvl="0"/>
            <a:r>
              <a:rPr lang="en-US" noProof="0" smtClean="0"/>
              <a:t>Third level</a:t>
            </a:r>
          </a:p>
          <a:p>
            <a:pPr lvl="0"/>
            <a:r>
              <a:rPr lang="en-US" noProof="0" smtClean="0"/>
              <a:t>Fourth level</a:t>
            </a:r>
          </a:p>
          <a:p>
            <a:pPr lvl="0"/>
            <a:r>
              <a:rPr lang="en-US" noProof="0" smtClean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 New Roman" panose="02020603050405020304" pitchFamily="18" charset="0"/>
              </a:defRPr>
            </a:lvl1pPr>
          </a:lstStyle>
          <a:p>
            <a:fld id="{404E8D26-4F07-40B1-BBE6-57FF36668C6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997940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742950" indent="-28575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F9E29BC9-5CA7-451F-91E4-1736B0FD4F1B}" type="slidenum">
              <a:rPr lang="en-US" altLang="en-US"/>
              <a:pPr>
                <a:spcBef>
                  <a:spcPct val="0"/>
                </a:spcBef>
              </a:pPr>
              <a:t>1</a:t>
            </a:fld>
            <a:endParaRPr lang="en-US" altLang="en-US"/>
          </a:p>
        </p:txBody>
      </p:sp>
      <p:sp>
        <p:nvSpPr>
          <p:cNvPr id="38915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5616427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358F7399-DB3C-4844-AFF6-E4E523A582AE}" type="slidenum">
              <a:rPr lang="en-US" altLang="en-US"/>
              <a:pPr>
                <a:spcBef>
                  <a:spcPct val="0"/>
                </a:spcBef>
              </a:pPr>
              <a:t>2</a:t>
            </a:fld>
            <a:endParaRPr lang="en-US" altLang="en-US"/>
          </a:p>
        </p:txBody>
      </p:sp>
      <p:sp>
        <p:nvSpPr>
          <p:cNvPr id="39939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44588" y="687388"/>
            <a:ext cx="4568825" cy="3425825"/>
          </a:xfrm>
          <a:ln w="12700" cap="flat">
            <a:solidFill>
              <a:schemeClr val="tx1"/>
            </a:solidFill>
          </a:ln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pPr>
              <a:spcBef>
                <a:spcPct val="0"/>
              </a:spcBef>
            </a:pPr>
            <a:endParaRPr lang="en-US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32344713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B5858448-4750-4675-9CCA-0CEAB05BE940}" type="slidenum">
              <a:rPr lang="en-US" altLang="en-US"/>
              <a:pPr>
                <a:spcBef>
                  <a:spcPct val="0"/>
                </a:spcBef>
              </a:pPr>
              <a:t>3</a:t>
            </a:fld>
            <a:endParaRPr lang="en-US" altLang="en-US"/>
          </a:p>
        </p:txBody>
      </p:sp>
      <p:sp>
        <p:nvSpPr>
          <p:cNvPr id="40963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44588" y="687388"/>
            <a:ext cx="4568825" cy="3425825"/>
          </a:xfrm>
          <a:ln w="12700" cap="flat">
            <a:solidFill>
              <a:schemeClr val="tx1"/>
            </a:solidFill>
          </a:ln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pPr>
              <a:spcBef>
                <a:spcPct val="0"/>
              </a:spcBef>
            </a:pPr>
            <a:endParaRPr lang="en-US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18600374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26260374-4CED-4989-855C-4522761D598B}" type="slidenum">
              <a:rPr lang="en-US" altLang="en-US"/>
              <a:pPr>
                <a:spcBef>
                  <a:spcPct val="0"/>
                </a:spcBef>
              </a:pPr>
              <a:t>4</a:t>
            </a:fld>
            <a:endParaRPr lang="en-US" altLang="en-US"/>
          </a:p>
        </p:txBody>
      </p:sp>
      <p:sp>
        <p:nvSpPr>
          <p:cNvPr id="41987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44588" y="687388"/>
            <a:ext cx="4568825" cy="3425825"/>
          </a:xfrm>
          <a:ln w="12700" cap="flat">
            <a:solidFill>
              <a:schemeClr val="tx1"/>
            </a:solidFill>
          </a:ln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pPr>
              <a:spcBef>
                <a:spcPct val="0"/>
              </a:spcBef>
            </a:pPr>
            <a:endParaRPr lang="en-US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25631225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31B588B6-7041-4E7E-A187-F71C80714607}" type="slidenum">
              <a:rPr lang="en-US" altLang="en-US"/>
              <a:pPr>
                <a:spcBef>
                  <a:spcPct val="0"/>
                </a:spcBef>
              </a:pPr>
              <a:t>5</a:t>
            </a:fld>
            <a:endParaRPr lang="en-US" altLang="en-US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7388"/>
            <a:ext cx="4568825" cy="3425825"/>
          </a:xfrm>
          <a:ln cap="flat">
            <a:solidFill>
              <a:schemeClr val="tx1"/>
            </a:solidFill>
          </a:ln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pPr eaLnBrk="1" hangingPunct="1">
              <a:spcBef>
                <a:spcPct val="0"/>
              </a:spcBef>
            </a:pPr>
            <a:endParaRPr lang="en-CA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3232411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49F0CD30-8DA5-4F5E-A02E-84F21745EA19}" type="slidenum">
              <a:rPr lang="en-US" altLang="en-US"/>
              <a:pPr>
                <a:spcBef>
                  <a:spcPct val="0"/>
                </a:spcBef>
              </a:pPr>
              <a:t>6</a:t>
            </a:fld>
            <a:endParaRPr lang="en-US" altLang="en-US"/>
          </a:p>
        </p:txBody>
      </p:sp>
      <p:sp>
        <p:nvSpPr>
          <p:cNvPr id="44035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44588" y="687388"/>
            <a:ext cx="4568825" cy="3425825"/>
          </a:xfrm>
          <a:ln w="12700" cap="flat">
            <a:solidFill>
              <a:schemeClr val="tx1"/>
            </a:solidFill>
          </a:ln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pPr>
              <a:spcBef>
                <a:spcPct val="0"/>
              </a:spcBef>
            </a:pPr>
            <a:endParaRPr lang="en-US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35013806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37B7FF32-771F-4C84-AB1B-6AB41957F8FE}" type="slidenum">
              <a:rPr lang="en-US" altLang="en-US"/>
              <a:pPr>
                <a:spcBef>
                  <a:spcPct val="0"/>
                </a:spcBef>
              </a:pPr>
              <a:t>7</a:t>
            </a:fld>
            <a:endParaRPr lang="en-US" altLang="en-US"/>
          </a:p>
        </p:txBody>
      </p:sp>
      <p:sp>
        <p:nvSpPr>
          <p:cNvPr id="45059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44588" y="687388"/>
            <a:ext cx="4568825" cy="3425825"/>
          </a:xfrm>
          <a:ln w="12700" cap="flat">
            <a:solidFill>
              <a:schemeClr val="tx1"/>
            </a:solidFill>
          </a:ln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pPr>
              <a:spcBef>
                <a:spcPct val="0"/>
              </a:spcBef>
            </a:pPr>
            <a:endParaRPr lang="en-US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1316147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69AE64F6-F4CE-4BF1-ACBD-94FB1237ED23}" type="slidenum">
              <a:rPr lang="en-US" altLang="en-US"/>
              <a:pPr>
                <a:spcBef>
                  <a:spcPct val="0"/>
                </a:spcBef>
              </a:pPr>
              <a:t>8</a:t>
            </a:fld>
            <a:endParaRPr lang="en-US" altLang="en-US"/>
          </a:p>
        </p:txBody>
      </p:sp>
      <p:sp>
        <p:nvSpPr>
          <p:cNvPr id="46083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44588" y="687388"/>
            <a:ext cx="4568825" cy="3425825"/>
          </a:xfrm>
          <a:ln w="12700" cap="flat">
            <a:solidFill>
              <a:schemeClr val="tx1"/>
            </a:solidFill>
          </a:ln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pPr>
              <a:spcBef>
                <a:spcPct val="0"/>
              </a:spcBef>
            </a:pPr>
            <a:endParaRPr lang="en-US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9761813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5A5234C5-4E2F-4139-9D54-844E42195741}" type="slidenum">
              <a:rPr lang="en-US" altLang="en-US"/>
              <a:pPr>
                <a:spcBef>
                  <a:spcPct val="0"/>
                </a:spcBef>
              </a:pPr>
              <a:t>9</a:t>
            </a:fld>
            <a:endParaRPr lang="en-US" altLang="en-US"/>
          </a:p>
        </p:txBody>
      </p:sp>
      <p:sp>
        <p:nvSpPr>
          <p:cNvPr id="47107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44588" y="687388"/>
            <a:ext cx="4568825" cy="3425825"/>
          </a:xfrm>
          <a:ln w="12700" cap="flat">
            <a:solidFill>
              <a:schemeClr val="tx1"/>
            </a:solidFill>
          </a:ln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pPr>
              <a:spcBef>
                <a:spcPct val="0"/>
              </a:spcBef>
            </a:pPr>
            <a:endParaRPr lang="en-US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13738674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D952B097-76D1-4E37-B67E-BC4118CEC28C}" type="slidenum">
              <a:rPr lang="en-US" altLang="en-US"/>
              <a:pPr>
                <a:spcBef>
                  <a:spcPct val="0"/>
                </a:spcBef>
              </a:pPr>
              <a:t>10</a:t>
            </a:fld>
            <a:endParaRPr lang="en-US" altLang="en-US"/>
          </a:p>
        </p:txBody>
      </p:sp>
      <p:sp>
        <p:nvSpPr>
          <p:cNvPr id="48131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5390265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283E3717-655E-496B-BA2F-F97315FA76C5}" type="slidenum">
              <a:rPr lang="en-US" altLang="en-US"/>
              <a:pPr>
                <a:spcBef>
                  <a:spcPct val="0"/>
                </a:spcBef>
              </a:pPr>
              <a:t>11</a:t>
            </a:fld>
            <a:endParaRPr lang="en-US" altLang="en-US"/>
          </a:p>
        </p:txBody>
      </p:sp>
      <p:sp>
        <p:nvSpPr>
          <p:cNvPr id="49155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2449004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1ED879C7-5904-4744-939D-791F3892C36C}" type="slidenum">
              <a:rPr lang="en-US" altLang="en-US"/>
              <a:pPr>
                <a:spcBef>
                  <a:spcPct val="0"/>
                </a:spcBef>
              </a:pPr>
              <a:t>12</a:t>
            </a:fld>
            <a:endParaRPr lang="en-US" altLang="en-US"/>
          </a:p>
        </p:txBody>
      </p:sp>
      <p:sp>
        <p:nvSpPr>
          <p:cNvPr id="50179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44588" y="687388"/>
            <a:ext cx="4568825" cy="3425825"/>
          </a:xfrm>
          <a:ln w="12700" cap="flat">
            <a:solidFill>
              <a:schemeClr val="tx1"/>
            </a:solidFill>
          </a:ln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pPr>
              <a:spcBef>
                <a:spcPct val="0"/>
              </a:spcBef>
            </a:pPr>
            <a:endParaRPr lang="en-US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30159105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3585538C-97DB-4B57-AF0C-31E9F53EFDC2}" type="slidenum">
              <a:rPr lang="en-US" altLang="en-US"/>
              <a:pPr>
                <a:spcBef>
                  <a:spcPct val="0"/>
                </a:spcBef>
              </a:pPr>
              <a:t>13</a:t>
            </a:fld>
            <a:endParaRPr lang="en-US" altLang="en-US"/>
          </a:p>
        </p:txBody>
      </p:sp>
      <p:sp>
        <p:nvSpPr>
          <p:cNvPr id="51203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44588" y="687388"/>
            <a:ext cx="4568825" cy="3425825"/>
          </a:xfrm>
          <a:ln w="12700" cap="flat">
            <a:solidFill>
              <a:schemeClr val="tx1"/>
            </a:solidFill>
          </a:ln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pPr>
              <a:spcBef>
                <a:spcPct val="0"/>
              </a:spcBef>
            </a:pPr>
            <a:endParaRPr lang="en-US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39299483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DCB73581-C4C3-4F6B-BCB5-15DD66ACAEED}" type="slidenum">
              <a:rPr lang="en-US" altLang="en-US"/>
              <a:pPr>
                <a:spcBef>
                  <a:spcPct val="0"/>
                </a:spcBef>
              </a:pPr>
              <a:t>14</a:t>
            </a:fld>
            <a:endParaRPr lang="en-US" altLang="en-US"/>
          </a:p>
        </p:txBody>
      </p:sp>
      <p:sp>
        <p:nvSpPr>
          <p:cNvPr id="52227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44588" y="687388"/>
            <a:ext cx="4568825" cy="3425825"/>
          </a:xfrm>
          <a:ln w="12700" cap="flat">
            <a:solidFill>
              <a:schemeClr val="tx1"/>
            </a:solidFill>
          </a:ln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pPr>
              <a:spcBef>
                <a:spcPct val="0"/>
              </a:spcBef>
            </a:pPr>
            <a:endParaRPr lang="en-US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24873877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1FBC48A4-AAD2-4DF0-8623-3E90C7CD7F1B}" type="slidenum">
              <a:rPr lang="en-US" altLang="en-US"/>
              <a:pPr>
                <a:spcBef>
                  <a:spcPct val="0"/>
                </a:spcBef>
              </a:pPr>
              <a:t>15</a:t>
            </a:fld>
            <a:endParaRPr lang="en-US" altLang="en-US"/>
          </a:p>
        </p:txBody>
      </p:sp>
      <p:sp>
        <p:nvSpPr>
          <p:cNvPr id="53251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44588" y="687388"/>
            <a:ext cx="4568825" cy="3425825"/>
          </a:xfrm>
          <a:ln w="12700" cap="flat">
            <a:solidFill>
              <a:schemeClr val="tx1"/>
            </a:solidFill>
          </a:ln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pPr>
              <a:spcBef>
                <a:spcPct val="0"/>
              </a:spcBef>
            </a:pPr>
            <a:endParaRPr lang="en-US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91600236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32B9C716-4E3B-42C5-A155-601EA5D89A1B}" type="slidenum">
              <a:rPr lang="en-US" altLang="en-US"/>
              <a:pPr>
                <a:spcBef>
                  <a:spcPct val="0"/>
                </a:spcBef>
              </a:pPr>
              <a:t>16</a:t>
            </a:fld>
            <a:endParaRPr lang="en-US" altLang="en-US"/>
          </a:p>
        </p:txBody>
      </p:sp>
      <p:sp>
        <p:nvSpPr>
          <p:cNvPr id="54275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44588" y="687388"/>
            <a:ext cx="4568825" cy="3425825"/>
          </a:xfrm>
          <a:ln w="12700" cap="flat">
            <a:solidFill>
              <a:schemeClr val="tx1"/>
            </a:solidFill>
          </a:ln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pPr>
              <a:spcBef>
                <a:spcPct val="0"/>
              </a:spcBef>
            </a:pPr>
            <a:endParaRPr lang="en-US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290775305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529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553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3FDEDB26-F40A-47A4-9DED-ABB1D24AB12F}" type="slidenum">
              <a:rPr lang="en-US" altLang="en-US"/>
              <a:pPr>
                <a:spcBef>
                  <a:spcPct val="0"/>
                </a:spcBef>
              </a:pPr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4833159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632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5632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F7F0466-F112-4E8E-885D-8D5BD30AC172}" type="slidenum">
              <a:rPr lang="en-US" altLang="en-US"/>
              <a:pPr>
                <a:spcBef>
                  <a:spcPct val="0"/>
                </a:spcBef>
              </a:pPr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0474880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296F145E-2116-4A41-9321-E3683801DFB3}" type="slidenum">
              <a:rPr lang="en-US" altLang="en-US"/>
              <a:pPr>
                <a:spcBef>
                  <a:spcPct val="0"/>
                </a:spcBef>
              </a:pPr>
              <a:t>19</a:t>
            </a:fld>
            <a:endParaRPr lang="en-US" altLang="en-US"/>
          </a:p>
        </p:txBody>
      </p:sp>
      <p:sp>
        <p:nvSpPr>
          <p:cNvPr id="57347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44588" y="687388"/>
            <a:ext cx="4568825" cy="3425825"/>
          </a:xfrm>
          <a:ln w="12700" cap="flat">
            <a:solidFill>
              <a:schemeClr val="tx1"/>
            </a:solidFill>
          </a:ln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pPr>
              <a:spcBef>
                <a:spcPct val="0"/>
              </a:spcBef>
            </a:pPr>
            <a:endParaRPr lang="en-US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343083442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3EF70389-EF61-41FC-A523-C4DB77499411}" type="slidenum">
              <a:rPr lang="en-US" altLang="en-US"/>
              <a:pPr>
                <a:spcBef>
                  <a:spcPct val="0"/>
                </a:spcBef>
              </a:pPr>
              <a:t>20</a:t>
            </a:fld>
            <a:endParaRPr lang="en-US" altLang="en-US"/>
          </a:p>
        </p:txBody>
      </p:sp>
      <p:sp>
        <p:nvSpPr>
          <p:cNvPr id="58371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44588" y="687388"/>
            <a:ext cx="4568825" cy="3425825"/>
          </a:xfrm>
          <a:ln w="12700" cap="flat">
            <a:solidFill>
              <a:schemeClr val="tx1"/>
            </a:solidFill>
          </a:ln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pPr>
              <a:spcBef>
                <a:spcPct val="0"/>
              </a:spcBef>
            </a:pPr>
            <a:endParaRPr lang="en-US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74279836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4AEEF431-9C76-412C-A534-F05C446BF0F7}" type="slidenum">
              <a:rPr lang="en-US" altLang="en-US"/>
              <a:pPr>
                <a:spcBef>
                  <a:spcPct val="0"/>
                </a:spcBef>
              </a:pPr>
              <a:t>21</a:t>
            </a:fld>
            <a:endParaRPr lang="en-US" altLang="en-US"/>
          </a:p>
        </p:txBody>
      </p:sp>
      <p:sp>
        <p:nvSpPr>
          <p:cNvPr id="59395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44588" y="687388"/>
            <a:ext cx="4568825" cy="3425825"/>
          </a:xfrm>
          <a:ln w="12700" cap="flat">
            <a:solidFill>
              <a:schemeClr val="tx1"/>
            </a:solidFill>
          </a:ln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pPr>
              <a:spcBef>
                <a:spcPct val="0"/>
              </a:spcBef>
            </a:pPr>
            <a:endParaRPr lang="en-US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237247723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FEB24C9E-3458-4EF5-894D-0F797F8B9143}" type="slidenum">
              <a:rPr lang="en-US" altLang="en-US"/>
              <a:pPr>
                <a:spcBef>
                  <a:spcPct val="0"/>
                </a:spcBef>
              </a:pPr>
              <a:t>22</a:t>
            </a:fld>
            <a:endParaRPr lang="en-US" altLang="en-US"/>
          </a:p>
        </p:txBody>
      </p:sp>
      <p:sp>
        <p:nvSpPr>
          <p:cNvPr id="60419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44588" y="687388"/>
            <a:ext cx="4568825" cy="3425825"/>
          </a:xfrm>
          <a:ln w="12700" cap="flat">
            <a:solidFill>
              <a:schemeClr val="tx1"/>
            </a:solidFill>
          </a:ln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pPr>
              <a:spcBef>
                <a:spcPct val="0"/>
              </a:spcBef>
            </a:pPr>
            <a:endParaRPr lang="en-US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97053173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1E918D13-366E-44E5-A941-BD2867D1CA58}" type="slidenum">
              <a:rPr lang="en-US" altLang="en-US"/>
              <a:pPr>
                <a:spcBef>
                  <a:spcPct val="0"/>
                </a:spcBef>
              </a:pPr>
              <a:t>23</a:t>
            </a:fld>
            <a:endParaRPr lang="en-US" altLang="en-US"/>
          </a:p>
        </p:txBody>
      </p:sp>
      <p:sp>
        <p:nvSpPr>
          <p:cNvPr id="61443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44588" y="687388"/>
            <a:ext cx="4568825" cy="3425825"/>
          </a:xfrm>
          <a:ln w="12700" cap="flat">
            <a:solidFill>
              <a:schemeClr val="tx1"/>
            </a:solidFill>
          </a:ln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pPr>
              <a:spcBef>
                <a:spcPct val="0"/>
              </a:spcBef>
            </a:pPr>
            <a:endParaRPr lang="en-US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79061395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505EE71F-1DA2-45A1-A6FA-FF570BAC165F}" type="slidenum">
              <a:rPr lang="en-US" altLang="en-US"/>
              <a:pPr>
                <a:spcBef>
                  <a:spcPct val="0"/>
                </a:spcBef>
              </a:pPr>
              <a:t>24</a:t>
            </a:fld>
            <a:endParaRPr lang="en-US" altLang="en-US"/>
          </a:p>
        </p:txBody>
      </p:sp>
      <p:sp>
        <p:nvSpPr>
          <p:cNvPr id="62467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44588" y="687388"/>
            <a:ext cx="4568825" cy="3425825"/>
          </a:xfrm>
          <a:ln w="12700" cap="flat">
            <a:solidFill>
              <a:schemeClr val="tx1"/>
            </a:solidFill>
          </a:ln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/>
          <a:p>
            <a:pPr>
              <a:spcBef>
                <a:spcPct val="0"/>
              </a:spcBef>
            </a:pPr>
            <a:endParaRPr lang="en-US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40633776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7493000" y="2992438"/>
            <a:ext cx="1338263" cy="2189162"/>
            <a:chOff x="4704" y="1885"/>
            <a:chExt cx="843" cy="1379"/>
          </a:xfrm>
        </p:grpSpPr>
        <p:sp>
          <p:nvSpPr>
            <p:cNvPr id="6" name="Oval 9"/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7" name="Oval 10"/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8" name="Oval 11"/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9" name="Oval 12"/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" name="Oval 13"/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1" name="Oval 14"/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2" name="Oval 15"/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3" name="Oval 16"/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4" name="Oval 17"/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5" name="Oval 18"/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6" name="Oval 19"/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7" name="Oval 20"/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8" name="Oval 21"/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9" name="Oval 22"/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" name="Oval 23"/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1" name="Oval 24"/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2" name="Oval 25"/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3" name="Oval 26"/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4" name="Oval 27"/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5" name="Oval 28"/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6" name="Oval 29"/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7" name="Oval 30"/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8" name="Oval 31"/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9" name="Oval 32"/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0" name="Oval 33"/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1" name="Oval 34"/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2" name="Oval 35"/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3" name="Oval 36"/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4" name="Oval 37"/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5" name="Oval 38"/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6" name="Oval 39"/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sp>
        <p:nvSpPr>
          <p:cNvPr id="37" name="Line 40"/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101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15913" y="466725"/>
            <a:ext cx="6781800" cy="2133600"/>
          </a:xfrm>
        </p:spPr>
        <p:txBody>
          <a:bodyPr/>
          <a:lstStyle>
            <a:lvl1pPr algn="r">
              <a:defRPr sz="4800"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17101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3400"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38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9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23850" y="6248400"/>
            <a:ext cx="7272338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15, Copyright © John C. Hull 2016</a:t>
            </a:r>
            <a:endParaRPr lang="en-US" altLang="en-US" i="0"/>
          </a:p>
        </p:txBody>
      </p:sp>
      <p:sp>
        <p:nvSpPr>
          <p:cNvPr id="40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37288"/>
            <a:ext cx="2133600" cy="468312"/>
          </a:xfrm>
        </p:spPr>
        <p:txBody>
          <a:bodyPr/>
          <a:lstStyle>
            <a:lvl1pPr>
              <a:defRPr/>
            </a:lvl1pPr>
          </a:lstStyle>
          <a:p>
            <a:fld id="{D5A8EDC4-7BD4-48A0-BC6C-8E09314C2E2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046991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15, Copyright © John C. Hull 2016</a:t>
            </a:r>
            <a:endParaRPr lang="en-US" altLang="en-US" i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12B8E41-C3C7-482C-B4E1-49346C99E4F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28553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15, Copyright © John C. Hull 2016</a:t>
            </a:r>
            <a:endParaRPr lang="en-US" altLang="en-US" i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8BC87A3-8343-46E3-B810-9B394EE6002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58562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15, Copyright © John C. Hull 2016</a:t>
            </a:r>
            <a:endParaRPr lang="en-US" altLang="en-US" i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4F30AB-B245-4FCC-A901-1B86B5A54A7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87461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15, Copyright © John C. Hull 2016</a:t>
            </a:r>
            <a:endParaRPr lang="en-US" altLang="en-US" i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18F45A2-198C-42F2-B39D-3D2F60269C4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23394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15, Copyright © John C. Hull 2016</a:t>
            </a:r>
            <a:endParaRPr lang="en-US" altLang="en-US" i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A31F31-C0EA-4D45-A0A7-70CB86717C1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510322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15, Copyright © John C. Hull 2016</a:t>
            </a:r>
            <a:endParaRPr lang="en-US" altLang="en-US" i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7A8F53-B68C-4CE5-8731-391C4114911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639370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15, Copyright © John C. Hull 2016</a:t>
            </a:r>
            <a:endParaRPr lang="en-US" altLang="en-US" i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8A34704-EB8B-42C6-B9E1-97C532BF088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114465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15, Copyright © John C. Hull 2016</a:t>
            </a:r>
            <a:endParaRPr lang="en-US" altLang="en-US" i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14FF13-F55C-4543-9BA6-C058292812F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857073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15, Copyright © John C. Hull 2016</a:t>
            </a:r>
            <a:endParaRPr lang="en-US" altLang="en-US" i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6B38B8-FA55-447A-B9AC-02B8B3C2BAC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653600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22238"/>
            <a:ext cx="2057400" cy="600868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019800" cy="600868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15, Copyright © John C. Hull 2016</a:t>
            </a:r>
            <a:endParaRPr lang="en-US" altLang="en-US" i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30D4AC-C192-41C9-AA43-06DD651249D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46653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2"/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19263"/>
            <a:ext cx="8229600" cy="441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6998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latin typeface="Arial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6999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50825" y="6248400"/>
            <a:ext cx="75612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i="1" smtClean="0">
                <a:latin typeface="Arial" pitchFamily="34" charset="0"/>
              </a:defRPr>
            </a:lvl1pPr>
          </a:lstStyle>
          <a:p>
            <a:pPr>
              <a:defRPr/>
            </a:pPr>
            <a:r>
              <a:rPr lang="en-CA" altLang="en-US"/>
              <a:t>Fundamentals of Futures and Options Markets, 9th Ed, Ch 15, Copyright © John C. Hull 2016</a:t>
            </a:r>
            <a:endParaRPr lang="en-US" altLang="en-US"/>
          </a:p>
        </p:txBody>
      </p:sp>
      <p:sp>
        <p:nvSpPr>
          <p:cNvPr id="16999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b="1"/>
            </a:lvl1pPr>
          </a:lstStyle>
          <a:p>
            <a:fld id="{F7BB4BFB-E5CD-4B3A-AE62-9F57D9E1851E}" type="slidenum">
              <a:rPr lang="en-US" altLang="en-US"/>
              <a:pPr/>
              <a:t>‹#›</a:t>
            </a:fld>
            <a:endParaRPr lang="en-US" altLang="en-US"/>
          </a:p>
        </p:txBody>
      </p:sp>
      <p:grpSp>
        <p:nvGrpSpPr>
          <p:cNvPr id="1032" name="Group 8"/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1033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34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79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35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76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36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37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79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38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76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39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74" cy="7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40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74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41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79" cy="74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42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76" cy="7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43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74" cy="7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44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7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45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46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47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76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48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74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49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50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51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76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52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74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53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54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7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55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79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56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76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57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74" cy="79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58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59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79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60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76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61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74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62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79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63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74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p:timing>
    <p:tnLst>
      <p:par>
        <p:cTn id="1" dur="indefinite" restart="never" nodeType="tmRoot"/>
      </p:par>
    </p:tnLst>
  </p:timing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800">
          <a:solidFill>
            <a:schemeClr val="tx1"/>
          </a:solidFill>
          <a:latin typeface="+mn-lt"/>
        </a:defRPr>
      </a:lvl2pPr>
      <a:lvl3pPr marL="987425" indent="-29368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400">
          <a:solidFill>
            <a:schemeClr val="tx1"/>
          </a:solidFill>
          <a:latin typeface="+mn-lt"/>
        </a:defRPr>
      </a:lvl3pPr>
      <a:lvl4pPr marL="1281113" indent="-2921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4pPr>
      <a:lvl5pPr marL="1598613" indent="-3159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0558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130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29702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4274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notesSlide" Target="../notesSlides/notesSlide14.xml"/><Relationship Id="rId7" Type="http://schemas.openxmlformats.org/officeDocument/2006/relationships/image" Target="../media/image3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2.w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4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5.wmf"/><Relationship Id="rId4" Type="http://schemas.openxmlformats.org/officeDocument/2006/relationships/oleObject" Target="../embeddings/oleObject5.bin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6.wmf"/><Relationship Id="rId4" Type="http://schemas.openxmlformats.org/officeDocument/2006/relationships/oleObject" Target="../embeddings/oleObject6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7" Type="http://schemas.openxmlformats.org/officeDocument/2006/relationships/image" Target="../media/image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8.bin"/><Relationship Id="rId5" Type="http://schemas.openxmlformats.org/officeDocument/2006/relationships/image" Target="../media/image7.wmf"/><Relationship Id="rId4" Type="http://schemas.openxmlformats.org/officeDocument/2006/relationships/oleObject" Target="../embeddings/oleObject7.bin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9.wmf"/><Relationship Id="rId4" Type="http://schemas.openxmlformats.org/officeDocument/2006/relationships/oleObject" Target="../embeddings/oleObject9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7" Type="http://schemas.openxmlformats.org/officeDocument/2006/relationships/image" Target="../media/image1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11.bin"/><Relationship Id="rId5" Type="http://schemas.openxmlformats.org/officeDocument/2006/relationships/image" Target="../media/image10.wmf"/><Relationship Id="rId4" Type="http://schemas.openxmlformats.org/officeDocument/2006/relationships/oleObject" Target="../embeddings/oleObject10.bin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12.wmf"/><Relationship Id="rId4" Type="http://schemas.openxmlformats.org/officeDocument/2006/relationships/oleObject" Target="../embeddings/oleObject12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23850" y="6248400"/>
            <a:ext cx="7600950" cy="6096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15, Copyright © John C. Hull 2016</a:t>
            </a:r>
            <a:endParaRPr lang="en-US" altLang="en-US" sz="1400" i="0"/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Options on Stock Indices and Currencies</a:t>
            </a:r>
          </a:p>
        </p:txBody>
      </p:sp>
      <p:sp>
        <p:nvSpPr>
          <p:cNvPr id="1331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276600"/>
            <a:ext cx="6248400" cy="2362200"/>
          </a:xfrm>
        </p:spPr>
        <p:txBody>
          <a:bodyPr/>
          <a:lstStyle/>
          <a:p>
            <a:pPr eaLnBrk="1" hangingPunct="1"/>
            <a:r>
              <a:rPr lang="en-US" altLang="en-US" smtClean="0"/>
              <a:t>Chapter 15</a:t>
            </a:r>
          </a:p>
        </p:txBody>
      </p:sp>
      <p:sp>
        <p:nvSpPr>
          <p:cNvPr id="1331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F8874F6A-1E92-4F5D-9BC1-DE18210CEF68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en-US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15, Copyright © John C. Hull 2016</a:t>
            </a:r>
            <a:endParaRPr lang="en-US" altLang="en-US" sz="1400" i="0"/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077200" cy="11430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mtClean="0"/>
              <a:t>Index Options</a:t>
            </a:r>
          </a:p>
        </p:txBody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36638" y="1685925"/>
            <a:ext cx="7556500" cy="4114800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90000"/>
              </a:lnSpc>
            </a:pPr>
            <a:r>
              <a:rPr lang="en-US" altLang="en-US" sz="2800" smtClean="0"/>
              <a:t>The most popular indices underlying options in the U.S. are</a:t>
            </a:r>
            <a:r>
              <a:rPr lang="en-US" altLang="en-US" smtClean="0"/>
              <a:t> </a:t>
            </a:r>
          </a:p>
          <a:p>
            <a:pPr lvl="1" eaLnBrk="1" hangingPunct="1">
              <a:lnSpc>
                <a:spcPct val="90000"/>
              </a:lnSpc>
              <a:buClr>
                <a:schemeClr val="tx1"/>
              </a:buClr>
            </a:pPr>
            <a:r>
              <a:rPr lang="en-US" altLang="en-US" sz="2400" smtClean="0"/>
              <a:t>The S&amp;P 100 Index (OEX and XEO)</a:t>
            </a:r>
          </a:p>
          <a:p>
            <a:pPr lvl="1" eaLnBrk="1" hangingPunct="1">
              <a:lnSpc>
                <a:spcPct val="90000"/>
              </a:lnSpc>
              <a:buClr>
                <a:schemeClr val="tx1"/>
              </a:buClr>
            </a:pPr>
            <a:r>
              <a:rPr lang="en-US" altLang="en-US" sz="2400" smtClean="0"/>
              <a:t>The S&amp;P 500 Index (SPX)</a:t>
            </a:r>
          </a:p>
          <a:p>
            <a:pPr lvl="1" eaLnBrk="1" hangingPunct="1">
              <a:lnSpc>
                <a:spcPct val="90000"/>
              </a:lnSpc>
              <a:buClr>
                <a:schemeClr val="tx1"/>
              </a:buClr>
            </a:pPr>
            <a:r>
              <a:rPr lang="en-US" altLang="en-US" sz="2400" smtClean="0"/>
              <a:t>The Dow Jones Index times 0.01 (DJX)</a:t>
            </a:r>
          </a:p>
          <a:p>
            <a:pPr lvl="1" eaLnBrk="1" hangingPunct="1">
              <a:lnSpc>
                <a:spcPct val="90000"/>
              </a:lnSpc>
              <a:buClr>
                <a:schemeClr val="tx1"/>
              </a:buClr>
            </a:pPr>
            <a:r>
              <a:rPr lang="en-US" altLang="en-US" sz="2400" smtClean="0"/>
              <a:t>The Nasdaq 100 Index (NDX)</a:t>
            </a:r>
          </a:p>
          <a:p>
            <a:pPr lvl="1" eaLnBrk="1" hangingPunct="1"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endParaRPr lang="en-US" altLang="en-US" sz="2400" smtClean="0"/>
          </a:p>
          <a:p>
            <a:pPr eaLnBrk="1" hangingPunct="1">
              <a:lnSpc>
                <a:spcPct val="90000"/>
              </a:lnSpc>
            </a:pPr>
            <a:r>
              <a:rPr lang="en-US" altLang="en-US" sz="2800" smtClean="0"/>
              <a:t>Contracts are on 100 times index; they are settled in cash; OEX is American; the XEO and all other options are European.</a:t>
            </a:r>
          </a:p>
          <a:p>
            <a:pPr lvl="1" eaLnBrk="1" hangingPunct="1"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endParaRPr lang="en-US" altLang="en-US" smtClean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mtClean="0"/>
              <a:t>				</a:t>
            </a:r>
          </a:p>
        </p:txBody>
      </p:sp>
      <p:sp>
        <p:nvSpPr>
          <p:cNvPr id="1434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4EBEC3D6-A4BD-46AD-AB73-A2150A457720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en-US" sz="1800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15, Copyright © John C. Hull 2016</a:t>
            </a:r>
            <a:endParaRPr lang="en-US" altLang="en-US" sz="1400" i="0"/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mtClean="0"/>
              <a:t>Index Option Example</a:t>
            </a:r>
          </a:p>
        </p:txBody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08063" y="1931988"/>
            <a:ext cx="6970712" cy="3902075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en-US" smtClean="0"/>
              <a:t>Consider a call option on an index with a strike price of 1260</a:t>
            </a:r>
          </a:p>
          <a:p>
            <a:pPr eaLnBrk="1" hangingPunct="1"/>
            <a:r>
              <a:rPr lang="en-US" altLang="en-US" smtClean="0"/>
              <a:t>Suppose 1 contract is exercised when the index level is 1280</a:t>
            </a:r>
          </a:p>
          <a:p>
            <a:pPr eaLnBrk="1" hangingPunct="1"/>
            <a:r>
              <a:rPr lang="en-US" altLang="en-US" smtClean="0"/>
              <a:t>What is the payoff?</a:t>
            </a:r>
          </a:p>
        </p:txBody>
      </p:sp>
      <p:sp>
        <p:nvSpPr>
          <p:cNvPr id="1536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AC0AA3E5-0F0F-41BB-9179-A514D816A450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en-US" sz="1800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15, Copyright © John C. Hull 2016</a:t>
            </a:r>
            <a:endParaRPr lang="en-US" altLang="en-US" sz="1400" i="0"/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>
          <a:xfrm>
            <a:off x="752475" y="588963"/>
            <a:ext cx="7772400" cy="11430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mtClean="0"/>
              <a:t>Using Index Options for Portfolio Insurance</a:t>
            </a:r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968500"/>
            <a:ext cx="8458200" cy="3746500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90000"/>
              </a:lnSpc>
            </a:pPr>
            <a:r>
              <a:rPr lang="en-US" altLang="en-US" sz="2800" smtClean="0"/>
              <a:t>Suppose the value of the index is </a:t>
            </a:r>
            <a:r>
              <a:rPr lang="en-US" altLang="en-US" sz="2800" i="1" smtClean="0">
                <a:latin typeface="Times New Roman" panose="02020603050405020304" pitchFamily="18" charset="0"/>
              </a:rPr>
              <a:t>S</a:t>
            </a:r>
            <a:r>
              <a:rPr lang="en-US" altLang="en-US" sz="2800" baseline="-25000" smtClean="0">
                <a:latin typeface="Times New Roman" panose="02020603050405020304" pitchFamily="18" charset="0"/>
              </a:rPr>
              <a:t>0</a:t>
            </a:r>
            <a:r>
              <a:rPr lang="en-US" altLang="en-US" sz="2800" smtClean="0"/>
              <a:t> and the strike price is </a:t>
            </a:r>
            <a:r>
              <a:rPr lang="en-US" altLang="en-US" sz="2800" i="1" smtClean="0">
                <a:latin typeface="Times New Roman" panose="02020603050405020304" pitchFamily="18" charset="0"/>
              </a:rPr>
              <a:t>K</a:t>
            </a:r>
            <a:endParaRPr lang="en-US" altLang="en-US" sz="2800" smtClean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800" smtClean="0"/>
              <a:t>If a portfolio has a </a:t>
            </a:r>
            <a:r>
              <a:rPr lang="en-US" altLang="en-US" sz="2800" smtClean="0">
                <a:latin typeface="Symbol" panose="05050102010706020507" pitchFamily="18" charset="2"/>
              </a:rPr>
              <a:t>b</a:t>
            </a:r>
            <a:r>
              <a:rPr lang="en-US" altLang="en-US" sz="2800" smtClean="0"/>
              <a:t> of 1.0, the portfolio insurance is obtained by buying 1 put option contract on the index for each 100</a:t>
            </a:r>
            <a:r>
              <a:rPr lang="en-US" altLang="en-US" sz="2800" i="1" smtClean="0">
                <a:latin typeface="Times New Roman" panose="02020603050405020304" pitchFamily="18" charset="0"/>
              </a:rPr>
              <a:t>S</a:t>
            </a:r>
            <a:r>
              <a:rPr lang="en-US" altLang="en-US" sz="2800" baseline="-25000" smtClean="0">
                <a:latin typeface="Times New Roman" panose="02020603050405020304" pitchFamily="18" charset="0"/>
              </a:rPr>
              <a:t>0</a:t>
            </a:r>
            <a:r>
              <a:rPr lang="en-US" altLang="en-US" sz="2800" smtClean="0"/>
              <a:t> dollars held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smtClean="0"/>
              <a:t>If the </a:t>
            </a:r>
            <a:r>
              <a:rPr lang="en-US" altLang="en-US" sz="2800" smtClean="0">
                <a:latin typeface="Symbol" panose="05050102010706020507" pitchFamily="18" charset="2"/>
              </a:rPr>
              <a:t>b</a:t>
            </a:r>
            <a:r>
              <a:rPr lang="en-US" altLang="en-US" sz="2800" smtClean="0"/>
              <a:t> is not 1.0, the portfolio manager buys </a:t>
            </a:r>
            <a:r>
              <a:rPr lang="en-US" altLang="en-US" sz="2800" smtClean="0">
                <a:latin typeface="Symbol" panose="05050102010706020507" pitchFamily="18" charset="2"/>
              </a:rPr>
              <a:t>b</a:t>
            </a:r>
            <a:r>
              <a:rPr lang="en-US" altLang="en-US" sz="2800" smtClean="0"/>
              <a:t> put options for each 100</a:t>
            </a:r>
            <a:r>
              <a:rPr lang="en-US" altLang="en-US" sz="2800" i="1" smtClean="0">
                <a:latin typeface="Times New Roman" panose="02020603050405020304" pitchFamily="18" charset="0"/>
              </a:rPr>
              <a:t>S</a:t>
            </a:r>
            <a:r>
              <a:rPr lang="en-US" altLang="en-US" sz="2800" baseline="-25000" smtClean="0">
                <a:latin typeface="Times New Roman" panose="02020603050405020304" pitchFamily="18" charset="0"/>
              </a:rPr>
              <a:t>0</a:t>
            </a:r>
            <a:r>
              <a:rPr lang="en-US" altLang="en-US" sz="2800" smtClean="0"/>
              <a:t> dollars held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smtClean="0"/>
              <a:t>In both cases, </a:t>
            </a:r>
            <a:r>
              <a:rPr lang="en-US" altLang="en-US" sz="2800" i="1" smtClean="0">
                <a:latin typeface="Times New Roman" panose="02020603050405020304" pitchFamily="18" charset="0"/>
              </a:rPr>
              <a:t>K</a:t>
            </a:r>
            <a:r>
              <a:rPr lang="en-US" altLang="en-US" sz="2800" smtClean="0">
                <a:latin typeface="Times New Roman" panose="02020603050405020304" pitchFamily="18" charset="0"/>
              </a:rPr>
              <a:t> </a:t>
            </a:r>
            <a:r>
              <a:rPr lang="en-US" altLang="en-US" sz="2800" smtClean="0"/>
              <a:t>is chosen to give the appropriate insurance level</a:t>
            </a:r>
          </a:p>
        </p:txBody>
      </p:sp>
      <p:sp>
        <p:nvSpPr>
          <p:cNvPr id="1638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54363BE7-4EB9-466D-8A3F-35FA0DFBE86F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en-US" sz="1800"/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solidFill>
                  <a:schemeClr val="tx2">
                    <a:satMod val="130000"/>
                  </a:schemeClr>
                </a:solidFill>
              </a:rPr>
              <a:t>Example 1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lang="en-US" altLang="en-US" smtClean="0">
                <a:cs typeface="Arial" panose="020B0604020202020204" pitchFamily="34" charset="0"/>
              </a:rPr>
              <a:t>Portfolio has a beta of 1.0</a:t>
            </a:r>
          </a:p>
          <a:p>
            <a:pPr eaLnBrk="1" hangingPunct="1"/>
            <a:r>
              <a:rPr lang="en-US" altLang="en-US" smtClean="0">
                <a:cs typeface="Arial" panose="020B0604020202020204" pitchFamily="34" charset="0"/>
              </a:rPr>
              <a:t>It is currently worth $500,000</a:t>
            </a:r>
          </a:p>
          <a:p>
            <a:pPr eaLnBrk="1" hangingPunct="1"/>
            <a:r>
              <a:rPr lang="en-US" altLang="en-US" smtClean="0">
                <a:cs typeface="Arial" panose="020B0604020202020204" pitchFamily="34" charset="0"/>
              </a:rPr>
              <a:t>The index currently stands at 1000</a:t>
            </a:r>
          </a:p>
          <a:p>
            <a:pPr eaLnBrk="1" hangingPunct="1"/>
            <a:r>
              <a:rPr lang="en-US" altLang="en-US" smtClean="0">
                <a:cs typeface="Arial" panose="020B0604020202020204" pitchFamily="34" charset="0"/>
              </a:rPr>
              <a:t>What trade is necessary to provide insurance against the portfolio value falling below $450,000?</a:t>
            </a:r>
          </a:p>
        </p:txBody>
      </p:sp>
      <p:sp>
        <p:nvSpPr>
          <p:cNvPr id="1741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15, Copyright © John C. Hull 2016</a:t>
            </a:r>
            <a:endParaRPr lang="en-US" altLang="en-US" sz="1400"/>
          </a:p>
        </p:txBody>
      </p:sp>
      <p:sp>
        <p:nvSpPr>
          <p:cNvPr id="1741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FF9D752C-454C-4813-9537-218EBA14AB7D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en-US" sz="180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15, Copyright © John C. Hull 2016</a:t>
            </a:r>
            <a:endParaRPr lang="en-US" altLang="en-US" sz="1400" i="0"/>
          </a:p>
        </p:txBody>
      </p:sp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mtClean="0"/>
              <a:t>Example 2 </a:t>
            </a:r>
          </a:p>
        </p:txBody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93863"/>
            <a:ext cx="7772400" cy="4402137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en-US" smtClean="0"/>
              <a:t>Portfolio has a beta of 2.0</a:t>
            </a:r>
          </a:p>
          <a:p>
            <a:pPr eaLnBrk="1" hangingPunct="1"/>
            <a:r>
              <a:rPr lang="en-US" altLang="en-US" smtClean="0"/>
              <a:t>It is currently worth $500,000 and index stands at 1000</a:t>
            </a:r>
          </a:p>
          <a:p>
            <a:pPr eaLnBrk="1" hangingPunct="1"/>
            <a:r>
              <a:rPr lang="en-US" altLang="en-US" smtClean="0"/>
              <a:t>The risk-free rate is 12% per annum</a:t>
            </a:r>
          </a:p>
          <a:p>
            <a:pPr eaLnBrk="1" hangingPunct="1"/>
            <a:r>
              <a:rPr lang="en-US" altLang="en-US" smtClean="0"/>
              <a:t>The dividend yield on both the portfolio and the index is 4%</a:t>
            </a:r>
          </a:p>
          <a:p>
            <a:pPr eaLnBrk="1" hangingPunct="1"/>
            <a:r>
              <a:rPr lang="en-US" altLang="en-US" smtClean="0"/>
              <a:t>How many put option contracts should be purchased for portfolio insurance? </a:t>
            </a:r>
          </a:p>
        </p:txBody>
      </p:sp>
      <p:sp>
        <p:nvSpPr>
          <p:cNvPr id="1843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167D2145-DAC2-4159-B522-F6F0C8D5F6FE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en-US" sz="1800"/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15, Copyright © John C. Hull 2016</a:t>
            </a:r>
            <a:endParaRPr lang="en-US" altLang="en-US" sz="1400" i="0"/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1752600"/>
            <a:ext cx="7772400" cy="4572000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en-US" smtClean="0"/>
              <a:t>If index rises to 1040, it provides a 40/1000 or 4% return in 3 months</a:t>
            </a:r>
          </a:p>
          <a:p>
            <a:pPr eaLnBrk="1" hangingPunct="1"/>
            <a:r>
              <a:rPr lang="en-US" altLang="en-US" smtClean="0"/>
              <a:t>Total return (incl. dividends)=5%</a:t>
            </a:r>
          </a:p>
          <a:p>
            <a:pPr eaLnBrk="1" hangingPunct="1"/>
            <a:r>
              <a:rPr lang="en-US" altLang="en-US" smtClean="0"/>
              <a:t>Excess return over risk-free rate=2%</a:t>
            </a:r>
          </a:p>
          <a:p>
            <a:pPr eaLnBrk="1" hangingPunct="1"/>
            <a:r>
              <a:rPr lang="en-US" altLang="en-US" smtClean="0"/>
              <a:t>Excess return for portfolio=4%</a:t>
            </a:r>
          </a:p>
          <a:p>
            <a:pPr eaLnBrk="1" hangingPunct="1"/>
            <a:r>
              <a:rPr lang="en-US" altLang="en-US" smtClean="0"/>
              <a:t>Increase in Portfolio Value=4+3</a:t>
            </a:r>
            <a:r>
              <a:rPr lang="en-US" altLang="en-US" i="1" smtClean="0">
                <a:cs typeface="Arial" panose="020B0604020202020204" pitchFamily="34" charset="0"/>
              </a:rPr>
              <a:t>–</a:t>
            </a:r>
            <a:r>
              <a:rPr lang="en-US" altLang="en-US" smtClean="0"/>
              <a:t>1=6%</a:t>
            </a:r>
          </a:p>
          <a:p>
            <a:pPr eaLnBrk="1" hangingPunct="1"/>
            <a:r>
              <a:rPr lang="en-US" altLang="en-US" smtClean="0"/>
              <a:t>Portfolio value=$530,000</a:t>
            </a:r>
          </a:p>
        </p:txBody>
      </p:sp>
      <p:sp>
        <p:nvSpPr>
          <p:cNvPr id="19460" name="Rectangle 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z="3200" smtClean="0"/>
              <a:t>Calculating Relation Between Index Level and Portfolio Value in 3 months</a:t>
            </a:r>
            <a:r>
              <a:rPr lang="en-US" altLang="en-US" sz="3000" smtClean="0"/>
              <a:t> </a:t>
            </a:r>
          </a:p>
        </p:txBody>
      </p:sp>
      <p:sp>
        <p:nvSpPr>
          <p:cNvPr id="1946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45DC5D63-2BB5-4118-BCAC-E4DF824A1519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en-US" sz="1800"/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15, Copyright © John C. Hull 2016</a:t>
            </a:r>
            <a:endParaRPr lang="en-US" altLang="en-US" sz="1400" i="0"/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mtClean="0"/>
              <a:t>Determining the Strike Price </a:t>
            </a:r>
            <a:r>
              <a:rPr lang="en-US" altLang="en-US" sz="2200" smtClean="0"/>
              <a:t>(Table 15.2, page 330)</a:t>
            </a:r>
            <a:r>
              <a:rPr lang="en-US" altLang="en-US" smtClean="0"/>
              <a:t/>
            </a:r>
            <a:br>
              <a:rPr lang="en-US" altLang="en-US" smtClean="0"/>
            </a:br>
            <a:endParaRPr lang="en-US" altLang="en-US" smtClean="0"/>
          </a:p>
        </p:txBody>
      </p:sp>
      <p:graphicFrame>
        <p:nvGraphicFramePr>
          <p:cNvPr id="20484" name="Object 3"/>
          <p:cNvGraphicFramePr>
            <a:graphicFrameLocks/>
          </p:cNvGraphicFramePr>
          <p:nvPr>
            <p:ph type="body" idx="1"/>
          </p:nvPr>
        </p:nvGraphicFramePr>
        <p:xfrm>
          <a:off x="609600" y="1676400"/>
          <a:ext cx="7181850" cy="426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7" name="Document" r:id="rId4" imgW="7819957" imgH="4610010" progId="Word.Document.8">
                  <p:embed/>
                </p:oleObj>
              </mc:Choice>
              <mc:Fallback>
                <p:oleObj name="Document" r:id="rId4" imgW="7819957" imgH="4610010" progId="Word.Document.8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1676400"/>
                        <a:ext cx="7181850" cy="426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5" name="Rectangle 4"/>
          <p:cNvSpPr>
            <a:spLocks noChangeArrowheads="1"/>
          </p:cNvSpPr>
          <p:nvPr/>
        </p:nvSpPr>
        <p:spPr bwMode="auto">
          <a:xfrm>
            <a:off x="571500" y="5257800"/>
            <a:ext cx="8339138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An option with a strike price of 960 will provide protection against a 10% decline in the portfolio value</a:t>
            </a:r>
          </a:p>
        </p:txBody>
      </p:sp>
      <p:sp>
        <p:nvSpPr>
          <p:cNvPr id="20486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F1FD9FB3-C84C-4F83-BC21-F6C615661AF8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en-US" sz="1800"/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15, Copyright © John C. Hull 2016</a:t>
            </a:r>
            <a:endParaRPr lang="en-US" altLang="en-US" sz="1400" i="0"/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609600"/>
            <a:ext cx="7772400" cy="11430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mtClean="0"/>
              <a:t>Currency Options</a:t>
            </a:r>
          </a:p>
        </p:txBody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7575" y="1727200"/>
            <a:ext cx="7462838" cy="4114800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en-US" sz="2800" smtClean="0"/>
              <a:t>Currency options trade on the NASDAQ OMX</a:t>
            </a:r>
          </a:p>
          <a:p>
            <a:pPr eaLnBrk="1" hangingPunct="1"/>
            <a:r>
              <a:rPr lang="en-US" altLang="en-US" sz="2800" smtClean="0"/>
              <a:t>There also exists an active over-the-counter (OTC) market</a:t>
            </a:r>
          </a:p>
          <a:p>
            <a:pPr eaLnBrk="1" hangingPunct="1"/>
            <a:r>
              <a:rPr lang="en-US" altLang="en-US" sz="2800" smtClean="0"/>
              <a:t>Currency options are used by corporations to buy insurance when they have an FX exposure</a:t>
            </a:r>
          </a:p>
          <a:p>
            <a:pPr algn="ctr" eaLnBrk="1" hangingPunct="1">
              <a:buFont typeface="Wingdings" panose="05000000000000000000" pitchFamily="2" charset="2"/>
              <a:buNone/>
            </a:pPr>
            <a:endParaRPr lang="en-US" altLang="en-US" sz="2800" smtClean="0"/>
          </a:p>
        </p:txBody>
      </p:sp>
      <p:sp>
        <p:nvSpPr>
          <p:cNvPr id="2150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A3E6CF4A-64C6-4086-A9EA-2858352E9D81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en-US" sz="1800"/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15, Copyright © John C. Hull 2016</a:t>
            </a:r>
            <a:endParaRPr lang="en-US" altLang="en-US" sz="1400" i="0"/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Range Forward Contracts</a:t>
            </a:r>
          </a:p>
        </p:txBody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 smtClean="0"/>
              <a:t>Have the effect of ensuring that the exchange rate paid or received will lie within a certain range</a:t>
            </a:r>
          </a:p>
          <a:p>
            <a:pPr eaLnBrk="1" hangingPunct="1"/>
            <a:r>
              <a:rPr lang="en-US" altLang="en-US" sz="2800" smtClean="0"/>
              <a:t>When currency is to be paid it involves selling a put with strike </a:t>
            </a:r>
            <a:r>
              <a:rPr lang="en-US" altLang="en-US" sz="2800" i="1" smtClean="0">
                <a:latin typeface="Times New Roman" panose="02020603050405020304" pitchFamily="18" charset="0"/>
              </a:rPr>
              <a:t>K</a:t>
            </a:r>
            <a:r>
              <a:rPr lang="en-US" altLang="en-US" sz="2800" baseline="-25000" smtClean="0"/>
              <a:t>1</a:t>
            </a:r>
            <a:r>
              <a:rPr lang="en-US" altLang="en-US" sz="2800" smtClean="0"/>
              <a:t> and buying a call with strike </a:t>
            </a:r>
            <a:r>
              <a:rPr lang="en-US" altLang="en-US" sz="2800" i="1" smtClean="0">
                <a:latin typeface="Times New Roman" panose="02020603050405020304" pitchFamily="18" charset="0"/>
              </a:rPr>
              <a:t>K</a:t>
            </a:r>
            <a:r>
              <a:rPr lang="en-US" altLang="en-US" sz="2800" baseline="-25000" smtClean="0"/>
              <a:t>2</a:t>
            </a:r>
          </a:p>
          <a:p>
            <a:pPr eaLnBrk="1" hangingPunct="1"/>
            <a:r>
              <a:rPr lang="en-US" altLang="en-US" sz="2800" smtClean="0"/>
              <a:t>When currency is to be received it involves buying a put with strike </a:t>
            </a:r>
            <a:r>
              <a:rPr lang="en-US" altLang="en-US" sz="2800" i="1" smtClean="0">
                <a:latin typeface="Times New Roman" panose="02020603050405020304" pitchFamily="18" charset="0"/>
              </a:rPr>
              <a:t>K</a:t>
            </a:r>
            <a:r>
              <a:rPr lang="en-US" altLang="en-US" sz="2800" baseline="-25000" smtClean="0"/>
              <a:t>1</a:t>
            </a:r>
            <a:r>
              <a:rPr lang="en-US" altLang="en-US" sz="2800" smtClean="0"/>
              <a:t> and selling a call with strike </a:t>
            </a:r>
            <a:r>
              <a:rPr lang="en-US" altLang="en-US" sz="2800" i="1" smtClean="0">
                <a:latin typeface="Times New Roman" panose="02020603050405020304" pitchFamily="18" charset="0"/>
              </a:rPr>
              <a:t>K</a:t>
            </a:r>
            <a:r>
              <a:rPr lang="en-US" altLang="en-US" sz="2800" baseline="-25000" smtClean="0"/>
              <a:t>2</a:t>
            </a:r>
          </a:p>
          <a:p>
            <a:pPr eaLnBrk="1" hangingPunct="1"/>
            <a:r>
              <a:rPr lang="en-US" altLang="en-US" sz="2800" smtClean="0"/>
              <a:t>Normally the price of the put equals the price of the call </a:t>
            </a:r>
          </a:p>
        </p:txBody>
      </p:sp>
      <p:sp>
        <p:nvSpPr>
          <p:cNvPr id="2253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3A7F1903-68DC-4F99-A119-C8F55B774682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en-US" sz="1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15, Copyright © John C. Hull 2016</a:t>
            </a:r>
            <a:endParaRPr lang="en-US" altLang="en-US" sz="1400" i="0"/>
          </a:p>
        </p:txBody>
      </p:sp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Range Forward Contract </a:t>
            </a:r>
            <a:r>
              <a:rPr lang="en-US" altLang="en-US" sz="2400" smtClean="0"/>
              <a:t>continued</a:t>
            </a:r>
            <a:br>
              <a:rPr lang="en-US" altLang="en-US" sz="2400" smtClean="0"/>
            </a:br>
            <a:r>
              <a:rPr lang="en-US" altLang="en-US" sz="2400" smtClean="0"/>
              <a:t>Figure 15.1, page 332</a:t>
            </a:r>
          </a:p>
        </p:txBody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mtClean="0"/>
              <a:t> </a:t>
            </a:r>
          </a:p>
        </p:txBody>
      </p:sp>
      <p:sp>
        <p:nvSpPr>
          <p:cNvPr id="23557" name="Line 4"/>
          <p:cNvSpPr>
            <a:spLocks noChangeShapeType="1"/>
          </p:cNvSpPr>
          <p:nvPr/>
        </p:nvSpPr>
        <p:spPr bwMode="auto">
          <a:xfrm>
            <a:off x="685800" y="2438400"/>
            <a:ext cx="0" cy="1905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2075" tIns="46038" rIns="92075" bIns="46038">
            <a:spAutoFit/>
          </a:bodyPr>
          <a:lstStyle/>
          <a:p>
            <a:endParaRPr lang="en-US"/>
          </a:p>
        </p:txBody>
      </p:sp>
      <p:sp>
        <p:nvSpPr>
          <p:cNvPr id="23558" name="Line 5"/>
          <p:cNvSpPr>
            <a:spLocks noChangeShapeType="1"/>
          </p:cNvSpPr>
          <p:nvPr/>
        </p:nvSpPr>
        <p:spPr bwMode="auto">
          <a:xfrm>
            <a:off x="685800" y="3352800"/>
            <a:ext cx="2590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2075" tIns="46038" rIns="92075" bIns="46038">
            <a:spAutoFit/>
          </a:bodyPr>
          <a:lstStyle/>
          <a:p>
            <a:endParaRPr lang="en-US"/>
          </a:p>
        </p:txBody>
      </p:sp>
      <p:sp>
        <p:nvSpPr>
          <p:cNvPr id="23559" name="Line 6"/>
          <p:cNvSpPr>
            <a:spLocks noChangeShapeType="1"/>
          </p:cNvSpPr>
          <p:nvPr/>
        </p:nvSpPr>
        <p:spPr bwMode="auto">
          <a:xfrm>
            <a:off x="685800" y="2590800"/>
            <a:ext cx="76200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2075" tIns="46038" rIns="92075" bIns="46038">
            <a:spAutoFit/>
          </a:bodyPr>
          <a:lstStyle/>
          <a:p>
            <a:endParaRPr lang="en-US"/>
          </a:p>
        </p:txBody>
      </p:sp>
      <p:sp>
        <p:nvSpPr>
          <p:cNvPr id="23560" name="Line 7"/>
          <p:cNvSpPr>
            <a:spLocks noChangeShapeType="1"/>
          </p:cNvSpPr>
          <p:nvPr/>
        </p:nvSpPr>
        <p:spPr bwMode="auto">
          <a:xfrm>
            <a:off x="1447800" y="3352800"/>
            <a:ext cx="990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>
            <a:spAutoFit/>
          </a:bodyPr>
          <a:lstStyle/>
          <a:p>
            <a:endParaRPr lang="en-US"/>
          </a:p>
        </p:txBody>
      </p:sp>
      <p:sp>
        <p:nvSpPr>
          <p:cNvPr id="23561" name="Line 8"/>
          <p:cNvSpPr>
            <a:spLocks noChangeShapeType="1"/>
          </p:cNvSpPr>
          <p:nvPr/>
        </p:nvSpPr>
        <p:spPr bwMode="auto">
          <a:xfrm>
            <a:off x="2438400" y="3352800"/>
            <a:ext cx="6096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>
            <a:spAutoFit/>
          </a:bodyPr>
          <a:lstStyle/>
          <a:p>
            <a:endParaRPr lang="en-US"/>
          </a:p>
        </p:txBody>
      </p:sp>
      <p:sp>
        <p:nvSpPr>
          <p:cNvPr id="23562" name="Text Box 9"/>
          <p:cNvSpPr txBox="1">
            <a:spLocks noChangeArrowheads="1"/>
          </p:cNvSpPr>
          <p:nvPr/>
        </p:nvSpPr>
        <p:spPr bwMode="auto">
          <a:xfrm>
            <a:off x="609600" y="2133600"/>
            <a:ext cx="1143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/>
              <a:t>Payoff</a:t>
            </a:r>
          </a:p>
        </p:txBody>
      </p:sp>
      <p:sp>
        <p:nvSpPr>
          <p:cNvPr id="23563" name="Text Box 10"/>
          <p:cNvSpPr txBox="1">
            <a:spLocks noChangeArrowheads="1"/>
          </p:cNvSpPr>
          <p:nvPr/>
        </p:nvSpPr>
        <p:spPr bwMode="auto">
          <a:xfrm>
            <a:off x="2743200" y="2743200"/>
            <a:ext cx="10668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/>
              <a:t>Asset Price</a:t>
            </a:r>
          </a:p>
        </p:txBody>
      </p:sp>
      <p:sp>
        <p:nvSpPr>
          <p:cNvPr id="23564" name="Text Box 11"/>
          <p:cNvSpPr txBox="1">
            <a:spLocks noChangeArrowheads="1"/>
          </p:cNvSpPr>
          <p:nvPr/>
        </p:nvSpPr>
        <p:spPr bwMode="auto">
          <a:xfrm>
            <a:off x="1295400" y="33528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i="1">
                <a:latin typeface="Times New Roman" panose="02020603050405020304" pitchFamily="18" charset="0"/>
              </a:rPr>
              <a:t>K</a:t>
            </a:r>
            <a:r>
              <a:rPr lang="en-US" altLang="en-US" sz="1800" baseline="-25000"/>
              <a:t>1</a:t>
            </a:r>
            <a:endParaRPr lang="en-US" altLang="en-US" sz="1800"/>
          </a:p>
        </p:txBody>
      </p:sp>
      <p:sp>
        <p:nvSpPr>
          <p:cNvPr id="23565" name="Text Box 12"/>
          <p:cNvSpPr txBox="1">
            <a:spLocks noChangeArrowheads="1"/>
          </p:cNvSpPr>
          <p:nvPr/>
        </p:nvSpPr>
        <p:spPr bwMode="auto">
          <a:xfrm>
            <a:off x="2209800" y="3352800"/>
            <a:ext cx="609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i="1">
                <a:latin typeface="Times New Roman" panose="02020603050405020304" pitchFamily="18" charset="0"/>
              </a:rPr>
              <a:t>K</a:t>
            </a:r>
            <a:r>
              <a:rPr lang="en-US" altLang="en-US" sz="1800" baseline="-25000"/>
              <a:t>2</a:t>
            </a:r>
            <a:endParaRPr lang="en-US" altLang="en-US" sz="1800"/>
          </a:p>
        </p:txBody>
      </p:sp>
      <p:sp>
        <p:nvSpPr>
          <p:cNvPr id="23566" name="Line 13"/>
          <p:cNvSpPr>
            <a:spLocks noChangeShapeType="1"/>
          </p:cNvSpPr>
          <p:nvPr/>
        </p:nvSpPr>
        <p:spPr bwMode="auto">
          <a:xfrm>
            <a:off x="5105400" y="2362200"/>
            <a:ext cx="0" cy="1828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2075" tIns="46038" rIns="92075" bIns="46038">
            <a:spAutoFit/>
          </a:bodyPr>
          <a:lstStyle/>
          <a:p>
            <a:endParaRPr lang="en-US"/>
          </a:p>
        </p:txBody>
      </p:sp>
      <p:sp>
        <p:nvSpPr>
          <p:cNvPr id="23567" name="Line 14"/>
          <p:cNvSpPr>
            <a:spLocks noChangeShapeType="1"/>
          </p:cNvSpPr>
          <p:nvPr/>
        </p:nvSpPr>
        <p:spPr bwMode="auto">
          <a:xfrm>
            <a:off x="5105400" y="3352800"/>
            <a:ext cx="2667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2075" tIns="46038" rIns="92075" bIns="46038">
            <a:spAutoFit/>
          </a:bodyPr>
          <a:lstStyle/>
          <a:p>
            <a:endParaRPr lang="en-US"/>
          </a:p>
        </p:txBody>
      </p:sp>
      <p:sp>
        <p:nvSpPr>
          <p:cNvPr id="23568" name="Line 15"/>
          <p:cNvSpPr>
            <a:spLocks noChangeShapeType="1"/>
          </p:cNvSpPr>
          <p:nvPr/>
        </p:nvSpPr>
        <p:spPr bwMode="auto">
          <a:xfrm flipV="1">
            <a:off x="5105400" y="3352800"/>
            <a:ext cx="83820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2075" tIns="46038" rIns="92075" bIns="46038">
            <a:spAutoFit/>
          </a:bodyPr>
          <a:lstStyle/>
          <a:p>
            <a:endParaRPr lang="en-US"/>
          </a:p>
        </p:txBody>
      </p:sp>
      <p:sp>
        <p:nvSpPr>
          <p:cNvPr id="23569" name="Line 16"/>
          <p:cNvSpPr>
            <a:spLocks noChangeShapeType="1"/>
          </p:cNvSpPr>
          <p:nvPr/>
        </p:nvSpPr>
        <p:spPr bwMode="auto">
          <a:xfrm>
            <a:off x="5943600" y="3352800"/>
            <a:ext cx="914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2075" tIns="46038" rIns="92075" bIns="46038">
            <a:spAutoFit/>
          </a:bodyPr>
          <a:lstStyle/>
          <a:p>
            <a:endParaRPr lang="en-US"/>
          </a:p>
        </p:txBody>
      </p:sp>
      <p:sp>
        <p:nvSpPr>
          <p:cNvPr id="23570" name="Line 17"/>
          <p:cNvSpPr>
            <a:spLocks noChangeShapeType="1"/>
          </p:cNvSpPr>
          <p:nvPr/>
        </p:nvSpPr>
        <p:spPr bwMode="auto">
          <a:xfrm flipV="1">
            <a:off x="6858000" y="2743200"/>
            <a:ext cx="68580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2075" tIns="46038" rIns="92075" bIns="46038">
            <a:spAutoFit/>
          </a:bodyPr>
          <a:lstStyle/>
          <a:p>
            <a:endParaRPr lang="en-US"/>
          </a:p>
        </p:txBody>
      </p:sp>
      <p:sp>
        <p:nvSpPr>
          <p:cNvPr id="23571" name="Text Box 18"/>
          <p:cNvSpPr txBox="1">
            <a:spLocks noChangeArrowheads="1"/>
          </p:cNvSpPr>
          <p:nvPr/>
        </p:nvSpPr>
        <p:spPr bwMode="auto">
          <a:xfrm>
            <a:off x="5105400" y="2286000"/>
            <a:ext cx="990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/>
              <a:t>Payoff</a:t>
            </a:r>
          </a:p>
        </p:txBody>
      </p:sp>
      <p:sp>
        <p:nvSpPr>
          <p:cNvPr id="23572" name="Text Box 19"/>
          <p:cNvSpPr txBox="1">
            <a:spLocks noChangeArrowheads="1"/>
          </p:cNvSpPr>
          <p:nvPr/>
        </p:nvSpPr>
        <p:spPr bwMode="auto">
          <a:xfrm>
            <a:off x="7543800" y="3352800"/>
            <a:ext cx="99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/>
              <a:t>Asset Price</a:t>
            </a:r>
          </a:p>
        </p:txBody>
      </p:sp>
      <p:sp>
        <p:nvSpPr>
          <p:cNvPr id="23573" name="Text Box 20"/>
          <p:cNvSpPr txBox="1">
            <a:spLocks noChangeArrowheads="1"/>
          </p:cNvSpPr>
          <p:nvPr/>
        </p:nvSpPr>
        <p:spPr bwMode="auto">
          <a:xfrm>
            <a:off x="5851525" y="3352800"/>
            <a:ext cx="5492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i="1">
                <a:latin typeface="Times New Roman" panose="02020603050405020304" pitchFamily="18" charset="0"/>
              </a:rPr>
              <a:t>K</a:t>
            </a:r>
            <a:r>
              <a:rPr lang="en-US" altLang="en-US" sz="1800" baseline="-25000"/>
              <a:t>1</a:t>
            </a:r>
            <a:endParaRPr lang="en-US" altLang="en-US" sz="1800"/>
          </a:p>
        </p:txBody>
      </p:sp>
      <p:sp>
        <p:nvSpPr>
          <p:cNvPr id="23574" name="Text Box 21"/>
          <p:cNvSpPr txBox="1">
            <a:spLocks noChangeArrowheads="1"/>
          </p:cNvSpPr>
          <p:nvPr/>
        </p:nvSpPr>
        <p:spPr bwMode="auto">
          <a:xfrm>
            <a:off x="6629400" y="33528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i="1">
                <a:latin typeface="Times New Roman" panose="02020603050405020304" pitchFamily="18" charset="0"/>
              </a:rPr>
              <a:t>K</a:t>
            </a:r>
            <a:r>
              <a:rPr lang="en-US" altLang="en-US" sz="1800" baseline="-25000"/>
              <a:t>2</a:t>
            </a:r>
            <a:endParaRPr lang="en-US" altLang="en-US" sz="1800"/>
          </a:p>
        </p:txBody>
      </p:sp>
      <p:sp>
        <p:nvSpPr>
          <p:cNvPr id="23575" name="Text Box 22"/>
          <p:cNvSpPr txBox="1">
            <a:spLocks noChangeArrowheads="1"/>
          </p:cNvSpPr>
          <p:nvPr/>
        </p:nvSpPr>
        <p:spPr bwMode="auto">
          <a:xfrm>
            <a:off x="990600" y="4876800"/>
            <a:ext cx="14478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/>
              <a:t>Short Position</a:t>
            </a:r>
          </a:p>
        </p:txBody>
      </p:sp>
      <p:sp>
        <p:nvSpPr>
          <p:cNvPr id="23576" name="Text Box 23"/>
          <p:cNvSpPr txBox="1">
            <a:spLocks noChangeArrowheads="1"/>
          </p:cNvSpPr>
          <p:nvPr/>
        </p:nvSpPr>
        <p:spPr bwMode="auto">
          <a:xfrm>
            <a:off x="6019800" y="4800600"/>
            <a:ext cx="1371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/>
              <a:t>Long Position</a:t>
            </a:r>
          </a:p>
        </p:txBody>
      </p:sp>
      <p:sp>
        <p:nvSpPr>
          <p:cNvPr id="23577" name="Slide Number Placeholder 2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B2769396-011D-4934-95FA-B1AF92D6DF93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en-US" sz="1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15, Copyright © John C. Hull 2016</a:t>
            </a:r>
            <a:endParaRPr lang="en-US" altLang="en-US" sz="1400" i="0"/>
          </a:p>
        </p:txBody>
      </p:sp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>
          <a:xfrm>
            <a:off x="711200" y="355600"/>
            <a:ext cx="7772400" cy="11430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mtClean="0"/>
              <a:t>European Options on Stocks</a:t>
            </a:r>
            <a:br>
              <a:rPr lang="en-US" altLang="en-US" smtClean="0"/>
            </a:br>
            <a:r>
              <a:rPr lang="en-US" altLang="en-US" smtClean="0"/>
              <a:t>with Known Dividend Yields</a:t>
            </a:r>
          </a:p>
        </p:txBody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85838" y="1295400"/>
            <a:ext cx="7224712" cy="4864100"/>
          </a:xfrm>
          <a:noFill/>
        </p:spPr>
        <p:txBody>
          <a:bodyPr lIns="92075" tIns="46038" rIns="92075" bIns="46038"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 smtClean="0"/>
              <a:t>	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mtClean="0"/>
              <a:t>	We get the same probability distribution for the stock price at time </a:t>
            </a:r>
            <a:r>
              <a:rPr lang="en-US" altLang="en-US" i="1" smtClean="0">
                <a:latin typeface="Times New Roman" panose="02020603050405020304" pitchFamily="18" charset="0"/>
              </a:rPr>
              <a:t>T</a:t>
            </a:r>
            <a:r>
              <a:rPr lang="en-US" altLang="en-US" smtClean="0">
                <a:latin typeface="Times New Roman" panose="02020603050405020304" pitchFamily="18" charset="0"/>
              </a:rPr>
              <a:t> </a:t>
            </a:r>
            <a:r>
              <a:rPr lang="en-US" altLang="en-US" smtClean="0"/>
              <a:t>in each of the following cases: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mtClean="0"/>
              <a:t>	1.	The stock starts at price </a:t>
            </a:r>
            <a:r>
              <a:rPr lang="en-US" altLang="en-US" i="1" smtClean="0">
                <a:latin typeface="Times New Roman" panose="02020603050405020304" pitchFamily="18" charset="0"/>
              </a:rPr>
              <a:t>S</a:t>
            </a:r>
            <a:r>
              <a:rPr lang="en-US" altLang="en-US" baseline="-25000" smtClean="0">
                <a:latin typeface="Times New Roman" panose="02020603050405020304" pitchFamily="18" charset="0"/>
              </a:rPr>
              <a:t>0</a:t>
            </a:r>
            <a:r>
              <a:rPr lang="en-US" altLang="en-US" smtClean="0"/>
              <a:t> and provides a dividend yield = </a:t>
            </a:r>
            <a:r>
              <a:rPr lang="en-US" altLang="en-US" i="1" smtClean="0">
                <a:latin typeface="Times New Roman" panose="02020603050405020304" pitchFamily="18" charset="0"/>
              </a:rPr>
              <a:t>q</a:t>
            </a:r>
            <a:endParaRPr lang="en-US" altLang="en-US" smtClean="0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mtClean="0"/>
              <a:t>	2.	The stock starts at price </a:t>
            </a:r>
            <a:r>
              <a:rPr lang="en-US" altLang="en-US" i="1" smtClean="0">
                <a:latin typeface="Times New Roman" panose="02020603050405020304" pitchFamily="18" charset="0"/>
              </a:rPr>
              <a:t>S</a:t>
            </a:r>
            <a:r>
              <a:rPr lang="en-US" altLang="en-US" baseline="-25000" smtClean="0">
                <a:latin typeface="Times New Roman" panose="02020603050405020304" pitchFamily="18" charset="0"/>
              </a:rPr>
              <a:t>0</a:t>
            </a:r>
            <a:r>
              <a:rPr lang="en-US" altLang="en-US" i="1" smtClean="0">
                <a:latin typeface="Times New Roman" panose="02020603050405020304" pitchFamily="18" charset="0"/>
              </a:rPr>
              <a:t>e</a:t>
            </a:r>
            <a:r>
              <a:rPr lang="en-US" altLang="en-US" baseline="30000" smtClean="0">
                <a:latin typeface="Times New Roman" panose="02020603050405020304" pitchFamily="18" charset="0"/>
              </a:rPr>
              <a:t>–</a:t>
            </a:r>
            <a:r>
              <a:rPr lang="en-US" altLang="en-US" i="1" baseline="30000" smtClean="0">
                <a:latin typeface="Times New Roman" panose="02020603050405020304" pitchFamily="18" charset="0"/>
              </a:rPr>
              <a:t>qT</a:t>
            </a:r>
            <a:r>
              <a:rPr lang="en-US" altLang="en-US" baseline="30000" smtClean="0"/>
              <a:t> </a:t>
            </a:r>
            <a:r>
              <a:rPr lang="en-US" altLang="en-US" smtClean="0"/>
              <a:t>and provides no income</a:t>
            </a:r>
            <a:endParaRPr lang="en-US" altLang="en-US" u="sng" smtClean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u="sng" smtClean="0"/>
          </a:p>
        </p:txBody>
      </p:sp>
      <p:sp>
        <p:nvSpPr>
          <p:cNvPr id="2458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0B2CBD43-3D6A-4FDA-BDB8-6FED7717FF6E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en-US" sz="1800"/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15, Copyright © John C. Hull 2016</a:t>
            </a:r>
            <a:endParaRPr lang="en-US" altLang="en-US" sz="1400" i="0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7467600" cy="11430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mtClean="0"/>
              <a:t>European Options on Stocks</a:t>
            </a:r>
            <a:br>
              <a:rPr lang="en-US" altLang="en-US" smtClean="0"/>
            </a:br>
            <a:r>
              <a:rPr lang="en-US" altLang="en-US" smtClean="0"/>
              <a:t>Paying Dividend Yield</a:t>
            </a:r>
            <a:br>
              <a:rPr lang="en-US" altLang="en-US" smtClean="0"/>
            </a:br>
            <a:r>
              <a:rPr lang="en-US" altLang="en-US" smtClean="0"/>
              <a:t>continued</a:t>
            </a:r>
          </a:p>
        </p:txBody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024063"/>
            <a:ext cx="8229600" cy="4106862"/>
          </a:xfrm>
          <a:noFill/>
        </p:spPr>
        <p:txBody>
          <a:bodyPr lIns="92075" tIns="46038" rIns="92075" bIns="46038"/>
          <a:lstStyle/>
          <a:p>
            <a:pPr eaLnBrk="1" hangingPunct="1">
              <a:buFont typeface="Wingdings" panose="05000000000000000000" pitchFamily="2" charset="2"/>
              <a:buNone/>
            </a:pPr>
            <a:endParaRPr lang="en-US" altLang="en-US" sz="2400" u="sng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 smtClean="0"/>
              <a:t>	</a:t>
            </a:r>
            <a:r>
              <a:rPr lang="en-US" altLang="en-US" smtClean="0"/>
              <a:t>We can value European options by reducing the stock price to </a:t>
            </a:r>
            <a:r>
              <a:rPr lang="en-US" altLang="en-US" i="1" smtClean="0">
                <a:latin typeface="Times New Roman" panose="02020603050405020304" pitchFamily="18" charset="0"/>
              </a:rPr>
              <a:t>S</a:t>
            </a:r>
            <a:r>
              <a:rPr lang="en-US" altLang="en-US" baseline="-25000" smtClean="0">
                <a:latin typeface="Times New Roman" panose="02020603050405020304" pitchFamily="18" charset="0"/>
              </a:rPr>
              <a:t>0</a:t>
            </a:r>
            <a:r>
              <a:rPr lang="en-US" altLang="en-US" i="1" smtClean="0">
                <a:latin typeface="Times New Roman" panose="02020603050405020304" pitchFamily="18" charset="0"/>
              </a:rPr>
              <a:t>e</a:t>
            </a:r>
            <a:r>
              <a:rPr lang="en-US" altLang="en-US" baseline="30000" smtClean="0">
                <a:latin typeface="Times New Roman" panose="02020603050405020304" pitchFamily="18" charset="0"/>
              </a:rPr>
              <a:t>–</a:t>
            </a:r>
            <a:r>
              <a:rPr lang="en-US" altLang="en-US" i="1" baseline="30000" smtClean="0">
                <a:latin typeface="Times New Roman" panose="02020603050405020304" pitchFamily="18" charset="0"/>
              </a:rPr>
              <a:t>qT</a:t>
            </a:r>
            <a:r>
              <a:rPr lang="en-US" altLang="en-US" baseline="30000" smtClean="0"/>
              <a:t> </a:t>
            </a:r>
            <a:r>
              <a:rPr lang="en-US" altLang="en-US" smtClean="0"/>
              <a:t>and then behaving as though there is no dividend</a:t>
            </a:r>
          </a:p>
        </p:txBody>
      </p:sp>
      <p:sp>
        <p:nvSpPr>
          <p:cNvPr id="2560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3C36B79D-5E5C-4B46-B30F-FF30F87D6A60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US" altLang="en-US" sz="1800"/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15, Copyright © John C. Hull 2016</a:t>
            </a:r>
            <a:endParaRPr lang="en-US" altLang="en-US" sz="1400" i="0"/>
          </a:p>
        </p:txBody>
      </p:sp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mtClean="0"/>
              <a:t>Extension of Chapter 10 Results</a:t>
            </a:r>
            <a:br>
              <a:rPr lang="en-US" altLang="en-US" smtClean="0"/>
            </a:br>
            <a:r>
              <a:rPr lang="en-US" altLang="en-US" sz="2200" smtClean="0"/>
              <a:t>(Equations 15.1 to 15.3, page 334)</a:t>
            </a:r>
            <a:endParaRPr lang="en-US" altLang="en-US" smtClean="0"/>
          </a:p>
        </p:txBody>
      </p:sp>
      <p:graphicFrame>
        <p:nvGraphicFramePr>
          <p:cNvPr id="26628" name="Object 3"/>
          <p:cNvGraphicFramePr>
            <a:graphicFrameLocks/>
          </p:cNvGraphicFramePr>
          <p:nvPr/>
        </p:nvGraphicFramePr>
        <p:xfrm>
          <a:off x="2041525" y="2343150"/>
          <a:ext cx="4738688" cy="704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5" name="Equation" r:id="rId4" imgW="1663700" imgH="241300" progId="Equation.3">
                  <p:embed/>
                </p:oleObj>
              </mc:Choice>
              <mc:Fallback>
                <p:oleObj name="Equation" r:id="rId4" imgW="1663700" imgH="241300" progId="Equation.3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1525" y="2343150"/>
                        <a:ext cx="4738688" cy="704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29" name="Rectangle 4"/>
          <p:cNvSpPr>
            <a:spLocks noChangeArrowheads="1"/>
          </p:cNvSpPr>
          <p:nvPr/>
        </p:nvSpPr>
        <p:spPr bwMode="auto">
          <a:xfrm>
            <a:off x="1249363" y="1905000"/>
            <a:ext cx="45291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/>
              <a:t>Lower Bound for calls:</a:t>
            </a:r>
          </a:p>
        </p:txBody>
      </p:sp>
      <p:sp>
        <p:nvSpPr>
          <p:cNvPr id="26630" name="Rectangle 5"/>
          <p:cNvSpPr>
            <a:spLocks noChangeArrowheads="1"/>
          </p:cNvSpPr>
          <p:nvPr/>
        </p:nvSpPr>
        <p:spPr bwMode="auto">
          <a:xfrm>
            <a:off x="1335088" y="3216275"/>
            <a:ext cx="330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/>
              <a:t>Lower Bound for puts</a:t>
            </a:r>
          </a:p>
        </p:txBody>
      </p:sp>
      <p:graphicFrame>
        <p:nvGraphicFramePr>
          <p:cNvPr id="26631" name="Object 6"/>
          <p:cNvGraphicFramePr>
            <a:graphicFrameLocks/>
          </p:cNvGraphicFramePr>
          <p:nvPr/>
        </p:nvGraphicFramePr>
        <p:xfrm>
          <a:off x="1825625" y="3867150"/>
          <a:ext cx="5072063" cy="704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6" name="Equation" r:id="rId6" imgW="1688367" imgH="241195" progId="Equation.3">
                  <p:embed/>
                </p:oleObj>
              </mc:Choice>
              <mc:Fallback>
                <p:oleObj name="Equation" r:id="rId6" imgW="1688367" imgH="241195" progId="Equation.3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5625" y="3867150"/>
                        <a:ext cx="5072063" cy="704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2" name="Rectangle 7"/>
          <p:cNvSpPr>
            <a:spLocks noChangeArrowheads="1"/>
          </p:cNvSpPr>
          <p:nvPr/>
        </p:nvSpPr>
        <p:spPr bwMode="auto">
          <a:xfrm>
            <a:off x="1524000" y="4719638"/>
            <a:ext cx="30686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/>
              <a:t>Put Call Parity</a:t>
            </a:r>
          </a:p>
        </p:txBody>
      </p:sp>
      <p:graphicFrame>
        <p:nvGraphicFramePr>
          <p:cNvPr id="26633" name="Object 8"/>
          <p:cNvGraphicFramePr>
            <a:graphicFrameLocks/>
          </p:cNvGraphicFramePr>
          <p:nvPr/>
        </p:nvGraphicFramePr>
        <p:xfrm>
          <a:off x="2667000" y="5334000"/>
          <a:ext cx="3435350" cy="642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7" name="Equation" r:id="rId8" imgW="1358310" imgH="241195" progId="Equation.3">
                  <p:embed/>
                </p:oleObj>
              </mc:Choice>
              <mc:Fallback>
                <p:oleObj name="Equation" r:id="rId8" imgW="1358310" imgH="241195" progId="Equation.3">
                  <p:embed/>
                  <p:pic>
                    <p:nvPicPr>
                      <p:cNvPr id="0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5334000"/>
                        <a:ext cx="3435350" cy="642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4" name="Slide Number Placeholder 10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0EB83CBF-7739-45FF-922D-2DC65CD183A4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en-US" sz="1800"/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15, Copyright © John C. Hull 2016</a:t>
            </a:r>
            <a:endParaRPr lang="en-US" altLang="en-US" sz="1400" i="0"/>
          </a:p>
        </p:txBody>
      </p:sp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546100"/>
            <a:ext cx="7772400" cy="11430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mtClean="0"/>
              <a:t>Extension of Chapter 13 Results </a:t>
            </a:r>
            <a:r>
              <a:rPr lang="en-US" altLang="en-US" sz="2200" smtClean="0"/>
              <a:t>(Equations 15.4 and 15.5, page 335)</a:t>
            </a:r>
            <a:endParaRPr lang="en-US" altLang="en-US" smtClean="0"/>
          </a:p>
        </p:txBody>
      </p:sp>
      <p:graphicFrame>
        <p:nvGraphicFramePr>
          <p:cNvPr id="27652" name="Object 0"/>
          <p:cNvGraphicFramePr>
            <a:graphicFrameLocks/>
          </p:cNvGraphicFramePr>
          <p:nvPr/>
        </p:nvGraphicFramePr>
        <p:xfrm>
          <a:off x="1219200" y="2336800"/>
          <a:ext cx="6172200" cy="3100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4" name="Equation" r:id="rId4" imgW="2590800" imgH="1498600" progId="Equation.3">
                  <p:embed/>
                </p:oleObj>
              </mc:Choice>
              <mc:Fallback>
                <p:oleObj name="Equation" r:id="rId4" imgW="2590800" imgH="1498600" progId="Equation.3">
                  <p:embed/>
                  <p:pic>
                    <p:nvPicPr>
                      <p:cNvPr id="0" name="Object 0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2336800"/>
                        <a:ext cx="6172200" cy="3100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93362AA2-7E89-49BE-A7E7-5C59333DAD1A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en-US" sz="1800"/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15, Copyright © John C. Hull 2016</a:t>
            </a:r>
            <a:endParaRPr lang="en-US" altLang="en-US" sz="1400" i="0"/>
          </a:p>
        </p:txBody>
      </p:sp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mtClean="0"/>
              <a:t>Valuing European Index Options</a:t>
            </a:r>
          </a:p>
        </p:txBody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8000" y="1981200"/>
            <a:ext cx="7726363" cy="4114800"/>
          </a:xfrm>
          <a:noFill/>
        </p:spPr>
        <p:txBody>
          <a:bodyPr lIns="92075" tIns="46038" rIns="92075" bIns="46038"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mtClean="0"/>
              <a:t>	We can use the formula for an option on a stock paying a continuous dividend yield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mtClean="0"/>
              <a:t>	Set </a:t>
            </a:r>
            <a:r>
              <a:rPr lang="en-US" altLang="en-US" i="1" smtClean="0">
                <a:latin typeface="Times New Roman" panose="02020603050405020304" pitchFamily="18" charset="0"/>
              </a:rPr>
              <a:t>S</a:t>
            </a:r>
            <a:r>
              <a:rPr lang="en-US" altLang="en-US" baseline="-25000" smtClean="0">
                <a:latin typeface="Times New Roman" panose="02020603050405020304" pitchFamily="18" charset="0"/>
              </a:rPr>
              <a:t>0</a:t>
            </a:r>
            <a:r>
              <a:rPr lang="en-US" altLang="en-US" smtClean="0"/>
              <a:t> = current index level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mtClean="0"/>
              <a:t>	Set </a:t>
            </a:r>
            <a:r>
              <a:rPr lang="en-US" altLang="en-US" i="1" smtClean="0">
                <a:latin typeface="Times New Roman" panose="02020603050405020304" pitchFamily="18" charset="0"/>
              </a:rPr>
              <a:t>q</a:t>
            </a:r>
            <a:r>
              <a:rPr lang="en-US" altLang="en-US" smtClean="0"/>
              <a:t> = average dividend yield expected during the life of the option</a:t>
            </a:r>
          </a:p>
        </p:txBody>
      </p:sp>
      <p:sp>
        <p:nvSpPr>
          <p:cNvPr id="2867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7500D206-C598-4A8C-BF59-53CF4D027ACA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US" altLang="en-US" sz="1800"/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en-US" smtClean="0"/>
              <a:t>Using Forward/Futures Index Prices</a:t>
            </a:r>
            <a:r>
              <a:rPr lang="en-CA" altLang="en-US" i="1" baseline="30000" smtClean="0"/>
              <a:t>  </a:t>
            </a:r>
            <a:r>
              <a:rPr lang="en-CA" altLang="en-US" sz="2400" smtClean="0"/>
              <a:t>(equations 15.6 and 15.7, page 337)</a:t>
            </a:r>
            <a:endParaRPr lang="en-US" altLang="en-US" sz="2400" smtClean="0"/>
          </a:p>
        </p:txBody>
      </p:sp>
      <p:sp>
        <p:nvSpPr>
          <p:cNvPr id="29699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15, Copyright © John C. Hull 2016</a:t>
            </a:r>
            <a:endParaRPr lang="en-US" altLang="en-US" sz="1400" i="0"/>
          </a:p>
        </p:txBody>
      </p:sp>
      <p:sp>
        <p:nvSpPr>
          <p:cNvPr id="29700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836772AB-9977-4082-A6DD-45C84442CE70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US" altLang="en-US" sz="1800"/>
          </a:p>
        </p:txBody>
      </p:sp>
      <p:graphicFrame>
        <p:nvGraphicFramePr>
          <p:cNvPr id="29701" name="Object 5"/>
          <p:cNvGraphicFramePr>
            <a:graphicFrameLocks/>
          </p:cNvGraphicFramePr>
          <p:nvPr>
            <p:ph idx="1"/>
          </p:nvPr>
        </p:nvGraphicFramePr>
        <p:xfrm>
          <a:off x="1503363" y="2116138"/>
          <a:ext cx="4710112" cy="3540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2" name="Equation" r:id="rId4" imgW="1841500" imgH="1384300" progId="Equation.3">
                  <p:embed/>
                </p:oleObj>
              </mc:Choice>
              <mc:Fallback>
                <p:oleObj name="Equation" r:id="rId4" imgW="1841500" imgH="1384300" progId="Equation.3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3363" y="2116138"/>
                        <a:ext cx="4710112" cy="3540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 smtClean="0"/>
              <a:t>Implied Dividend Yields</a:t>
            </a:r>
          </a:p>
        </p:txBody>
      </p:sp>
      <p:sp>
        <p:nvSpPr>
          <p:cNvPr id="5125" name="Content Placeholder 2"/>
          <p:cNvSpPr>
            <a:spLocks noGrp="1"/>
          </p:cNvSpPr>
          <p:nvPr>
            <p:ph idx="1"/>
          </p:nvPr>
        </p:nvSpPr>
        <p:spPr>
          <a:xfrm>
            <a:off x="685800" y="1905000"/>
            <a:ext cx="8077200" cy="4205288"/>
          </a:xfrm>
        </p:spPr>
        <p:txBody>
          <a:bodyPr/>
          <a:lstStyle/>
          <a:p>
            <a:pPr eaLnBrk="1" hangingPunct="1">
              <a:defRPr/>
            </a:pPr>
            <a:r>
              <a:rPr lang="en-US" sz="2400" dirty="0" smtClean="0">
                <a:cs typeface="Arial" charset="0"/>
              </a:rPr>
              <a:t>From European calls and puts with the same strike price and time to maturity</a:t>
            </a:r>
          </a:p>
          <a:p>
            <a:pPr eaLnBrk="1" hangingPunct="1">
              <a:buFontTx/>
              <a:buNone/>
              <a:defRPr/>
            </a:pPr>
            <a:endParaRPr lang="en-US" dirty="0" smtClean="0">
              <a:cs typeface="Arial" charset="0"/>
            </a:endParaRPr>
          </a:p>
          <a:p>
            <a:pPr eaLnBrk="1" hangingPunct="1">
              <a:buFontTx/>
              <a:buNone/>
              <a:defRPr/>
            </a:pPr>
            <a:endParaRPr lang="en-US" sz="2400" dirty="0" smtClean="0">
              <a:cs typeface="Arial" charset="0"/>
            </a:endParaRPr>
          </a:p>
          <a:p>
            <a:pPr eaLnBrk="1" hangingPunct="1">
              <a:defRPr/>
            </a:pPr>
            <a:r>
              <a:rPr lang="en-US" sz="2400" dirty="0" smtClean="0">
                <a:cs typeface="Arial" charset="0"/>
              </a:rPr>
              <a:t>These formulas allow term structures of dividend yields to be </a:t>
            </a:r>
          </a:p>
          <a:p>
            <a:pPr eaLnBrk="1" hangingPunct="1">
              <a:defRPr/>
            </a:pPr>
            <a:r>
              <a:rPr lang="en-US" sz="2400" dirty="0" smtClean="0">
                <a:cs typeface="Arial" charset="0"/>
              </a:rPr>
              <a:t>OTC European options are typically valued using the forward prices (Estimates of </a:t>
            </a:r>
            <a:r>
              <a:rPr lang="en-US" sz="2400" i="1" dirty="0" smtClean="0">
                <a:latin typeface="+mj-lt"/>
                <a:cs typeface="Arial" charset="0"/>
              </a:rPr>
              <a:t>q</a:t>
            </a:r>
            <a:r>
              <a:rPr lang="en-US" sz="2400" dirty="0" smtClean="0">
                <a:cs typeface="Arial" charset="0"/>
              </a:rPr>
              <a:t> are not then required)</a:t>
            </a:r>
          </a:p>
          <a:p>
            <a:pPr eaLnBrk="1" hangingPunct="1">
              <a:defRPr/>
            </a:pPr>
            <a:r>
              <a:rPr lang="en-US" sz="2400" dirty="0" smtClean="0">
                <a:cs typeface="Arial" charset="0"/>
              </a:rPr>
              <a:t>American options require the dividend yield term structure</a:t>
            </a:r>
          </a:p>
        </p:txBody>
      </p:sp>
      <p:sp>
        <p:nvSpPr>
          <p:cNvPr id="30724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15, Copyright © John C. Hull 2016</a:t>
            </a:r>
            <a:endParaRPr lang="en-US" altLang="en-US" sz="1400"/>
          </a:p>
        </p:txBody>
      </p:sp>
      <p:sp>
        <p:nvSpPr>
          <p:cNvPr id="3072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9736F5BA-8E8C-4300-9CD9-A9C38BD4790A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US" altLang="en-US" sz="1800"/>
          </a:p>
        </p:txBody>
      </p:sp>
      <p:graphicFrame>
        <p:nvGraphicFramePr>
          <p:cNvPr id="30726" name="Object 2"/>
          <p:cNvGraphicFramePr>
            <a:graphicFrameLocks noChangeAspect="1"/>
          </p:cNvGraphicFramePr>
          <p:nvPr/>
        </p:nvGraphicFramePr>
        <p:xfrm>
          <a:off x="4514850" y="3338513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8" name="Equation" r:id="rId4" imgW="114102" imgH="177492" progId="Equation.DSMT4">
                  <p:embed/>
                </p:oleObj>
              </mc:Choice>
              <mc:Fallback>
                <p:oleObj name="Equation" r:id="rId4" imgW="114102" imgH="177492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4850" y="3338513"/>
                        <a:ext cx="114300" cy="17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7" name="Object 8"/>
          <p:cNvGraphicFramePr>
            <a:graphicFrameLocks noChangeAspect="1"/>
          </p:cNvGraphicFramePr>
          <p:nvPr/>
        </p:nvGraphicFramePr>
        <p:xfrm>
          <a:off x="2174875" y="2971800"/>
          <a:ext cx="3182938" cy="849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9" name="Equation" r:id="rId6" imgW="1714500" imgH="457200" progId="Equation.3">
                  <p:embed/>
                </p:oleObj>
              </mc:Choice>
              <mc:Fallback>
                <p:oleObj name="Equation" r:id="rId6" imgW="1714500" imgH="4572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4875" y="2971800"/>
                        <a:ext cx="3182938" cy="849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15, Copyright © John C. Hull 2016</a:t>
            </a:r>
            <a:endParaRPr lang="en-US" altLang="en-US" sz="1400" i="0"/>
          </a:p>
        </p:txBody>
      </p:sp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077200" cy="13716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mtClean="0"/>
              <a:t>Currency Options: The Foreign Interest Rate</a:t>
            </a:r>
          </a:p>
        </p:txBody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00200"/>
            <a:ext cx="7772400" cy="4495800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en-US" smtClean="0"/>
              <a:t>We denote the foreign interest rate by </a:t>
            </a:r>
            <a:r>
              <a:rPr lang="en-US" altLang="en-US" i="1" smtClean="0">
                <a:latin typeface="Times New Roman" panose="02020603050405020304" pitchFamily="18" charset="0"/>
              </a:rPr>
              <a:t>r</a:t>
            </a:r>
            <a:r>
              <a:rPr lang="en-US" altLang="en-US" i="1" baseline="-25000" smtClean="0">
                <a:latin typeface="Times New Roman" panose="02020603050405020304" pitchFamily="18" charset="0"/>
              </a:rPr>
              <a:t>f</a:t>
            </a:r>
          </a:p>
          <a:p>
            <a:pPr eaLnBrk="1" hangingPunct="1"/>
            <a:r>
              <a:rPr lang="en-US" altLang="en-US" smtClean="0"/>
              <a:t>The return measured in the domestic currency from investing in the foreign currency is </a:t>
            </a:r>
            <a:r>
              <a:rPr lang="en-US" altLang="en-US" i="1" smtClean="0">
                <a:latin typeface="Times New Roman" panose="02020603050405020304" pitchFamily="18" charset="0"/>
              </a:rPr>
              <a:t>r</a:t>
            </a:r>
            <a:r>
              <a:rPr lang="en-US" altLang="en-US" i="1" baseline="-25000" smtClean="0">
                <a:latin typeface="Times New Roman" panose="02020603050405020304" pitchFamily="18" charset="0"/>
              </a:rPr>
              <a:t>f </a:t>
            </a:r>
            <a:r>
              <a:rPr lang="en-US" altLang="en-US" i="1" smtClean="0">
                <a:latin typeface="Times New Roman" panose="02020603050405020304" pitchFamily="18" charset="0"/>
              </a:rPr>
              <a:t> </a:t>
            </a:r>
            <a:r>
              <a:rPr lang="en-US" altLang="en-US" smtClean="0"/>
              <a:t>times the value of the investment</a:t>
            </a:r>
          </a:p>
          <a:p>
            <a:pPr eaLnBrk="1" hangingPunct="1"/>
            <a:r>
              <a:rPr lang="en-US" altLang="en-US" smtClean="0"/>
              <a:t>This shows that the foreign currency provides a yield at rate </a:t>
            </a:r>
            <a:r>
              <a:rPr lang="en-US" altLang="en-US" i="1" smtClean="0">
                <a:latin typeface="Times New Roman" panose="02020603050405020304" pitchFamily="18" charset="0"/>
              </a:rPr>
              <a:t>r</a:t>
            </a:r>
            <a:r>
              <a:rPr lang="en-US" altLang="en-US" i="1" baseline="-25000" smtClean="0">
                <a:latin typeface="Times New Roman" panose="02020603050405020304" pitchFamily="18" charset="0"/>
              </a:rPr>
              <a:t>f</a:t>
            </a:r>
          </a:p>
        </p:txBody>
      </p:sp>
      <p:sp>
        <p:nvSpPr>
          <p:cNvPr id="3174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EC60DA3F-3BD4-4926-9800-65ABC8292E89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en-US" altLang="en-US" sz="1800"/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15, Copyright © John C. Hull 2016</a:t>
            </a:r>
            <a:endParaRPr lang="en-US" altLang="en-US" sz="1400" i="0"/>
          </a:p>
        </p:txBody>
      </p:sp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81000"/>
            <a:ext cx="7543800" cy="12192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z="3500" smtClean="0"/>
              <a:t>Valuing European Currency Options</a:t>
            </a:r>
          </a:p>
        </p:txBody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74700" y="1143000"/>
            <a:ext cx="7340600" cy="4783138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u="sng" smtClean="0"/>
          </a:p>
          <a:p>
            <a:pPr eaLnBrk="1" hangingPunct="1">
              <a:lnSpc>
                <a:spcPct val="90000"/>
              </a:lnSpc>
            </a:pPr>
            <a:r>
              <a:rPr lang="en-US" altLang="en-US" smtClean="0"/>
              <a:t>We can use the formula for an option on a stock paying a continuous dividend yield :</a:t>
            </a:r>
          </a:p>
          <a:p>
            <a:pPr lvl="2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3200" smtClean="0"/>
              <a:t> Set </a:t>
            </a:r>
            <a:r>
              <a:rPr lang="en-US" altLang="en-US" sz="3200" i="1" smtClean="0">
                <a:latin typeface="Times New Roman" panose="02020603050405020304" pitchFamily="18" charset="0"/>
              </a:rPr>
              <a:t>S</a:t>
            </a:r>
            <a:r>
              <a:rPr lang="en-US" altLang="en-US" sz="3200" baseline="-25000" smtClean="0">
                <a:latin typeface="Times New Roman" panose="02020603050405020304" pitchFamily="18" charset="0"/>
              </a:rPr>
              <a:t>0</a:t>
            </a:r>
            <a:r>
              <a:rPr lang="en-US" altLang="en-US" sz="3200" smtClean="0">
                <a:latin typeface="Times New Roman" panose="02020603050405020304" pitchFamily="18" charset="0"/>
              </a:rPr>
              <a:t> </a:t>
            </a:r>
            <a:r>
              <a:rPr lang="en-US" altLang="en-US" sz="3200" smtClean="0"/>
              <a:t>= current exchange rate</a:t>
            </a:r>
          </a:p>
          <a:p>
            <a:pPr lvl="2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3200" smtClean="0"/>
              <a:t> Set </a:t>
            </a:r>
            <a:r>
              <a:rPr lang="en-US" altLang="en-US" sz="3200" i="1" smtClean="0">
                <a:latin typeface="Times New Roman" panose="02020603050405020304" pitchFamily="18" charset="0"/>
              </a:rPr>
              <a:t>q </a:t>
            </a:r>
            <a:r>
              <a:rPr lang="en-US" altLang="en-US" sz="3200" smtClean="0">
                <a:latin typeface="Times New Roman" panose="02020603050405020304" pitchFamily="18" charset="0"/>
              </a:rPr>
              <a:t>= </a:t>
            </a:r>
            <a:r>
              <a:rPr lang="en-US" altLang="en-US" sz="3200" i="1" smtClean="0">
                <a:latin typeface="Times New Roman" panose="02020603050405020304" pitchFamily="18" charset="0"/>
              </a:rPr>
              <a:t>r</a:t>
            </a:r>
            <a:r>
              <a:rPr lang="en-US" altLang="en-US" sz="3200" baseline="-25000" smtClean="0">
                <a:latin typeface="Times New Roman" panose="02020603050405020304" pitchFamily="18" charset="0"/>
              </a:rPr>
              <a:t>ƒ</a:t>
            </a:r>
            <a:endParaRPr lang="en-US" altLang="en-US" sz="3200" smtClean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mtClean="0"/>
          </a:p>
        </p:txBody>
      </p:sp>
      <p:sp>
        <p:nvSpPr>
          <p:cNvPr id="3277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15A62507-6938-457D-A348-F9384ED3D15E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US" altLang="en-US" sz="1800"/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15, Copyright © John C. Hull 2016</a:t>
            </a:r>
            <a:endParaRPr lang="en-US" altLang="en-US" sz="1400" i="0"/>
          </a:p>
        </p:txBody>
      </p:sp>
      <p:sp>
        <p:nvSpPr>
          <p:cNvPr id="33795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mtClean="0"/>
              <a:t>Formulas for European Currency Options </a:t>
            </a:r>
            <a:br>
              <a:rPr lang="en-US" altLang="en-US" smtClean="0"/>
            </a:br>
            <a:r>
              <a:rPr lang="en-US" altLang="en-US" sz="2200" smtClean="0"/>
              <a:t>(Equations 15.8 and 15.9 page 338)</a:t>
            </a:r>
            <a:endParaRPr lang="en-US" altLang="en-US" smtClean="0"/>
          </a:p>
        </p:txBody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2075" tIns="46038" rIns="92075" bIns="46038"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mtClean="0"/>
              <a:t> </a:t>
            </a:r>
          </a:p>
        </p:txBody>
      </p:sp>
      <p:graphicFrame>
        <p:nvGraphicFramePr>
          <p:cNvPr id="33797" name="Object 0"/>
          <p:cNvGraphicFramePr>
            <a:graphicFrameLocks/>
          </p:cNvGraphicFramePr>
          <p:nvPr/>
        </p:nvGraphicFramePr>
        <p:xfrm>
          <a:off x="1073150" y="2209800"/>
          <a:ext cx="7072313" cy="3762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99" name="Equation" r:id="rId4" imgW="2679700" imgH="1676400" progId="Equation.3">
                  <p:embed/>
                </p:oleObj>
              </mc:Choice>
              <mc:Fallback>
                <p:oleObj name="Equation" r:id="rId4" imgW="2679700" imgH="1676400" progId="Equation.3">
                  <p:embed/>
                  <p:pic>
                    <p:nvPicPr>
                      <p:cNvPr id="0" name="Object 0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3150" y="2209800"/>
                        <a:ext cx="7072313" cy="3762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798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452C7ED4-3601-48A2-8570-7DDC080A7823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en-US" altLang="en-US" sz="1800"/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15, Copyright © John C. Hull 2016</a:t>
            </a:r>
            <a:endParaRPr lang="en-US" altLang="en-US" sz="1400" i="0"/>
          </a:p>
        </p:txBody>
      </p:sp>
      <p:sp>
        <p:nvSpPr>
          <p:cNvPr id="3481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1554162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mtClean="0"/>
              <a:t>Using Forward/Futures Exchange Rates</a:t>
            </a:r>
            <a:br>
              <a:rPr lang="en-US" altLang="en-US" smtClean="0"/>
            </a:br>
            <a:r>
              <a:rPr lang="en-US" altLang="en-US" sz="2200" smtClean="0"/>
              <a:t>(Equations 15.10 and 15.11, page 339)</a:t>
            </a:r>
            <a:r>
              <a:rPr lang="en-US" altLang="en-US" smtClean="0"/>
              <a:t> </a:t>
            </a:r>
          </a:p>
        </p:txBody>
      </p:sp>
      <p:graphicFrame>
        <p:nvGraphicFramePr>
          <p:cNvPr id="34820" name="Object 3"/>
          <p:cNvGraphicFramePr>
            <a:graphicFrameLocks/>
          </p:cNvGraphicFramePr>
          <p:nvPr/>
        </p:nvGraphicFramePr>
        <p:xfrm>
          <a:off x="2743200" y="1981200"/>
          <a:ext cx="3186113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24" name="Equation" r:id="rId4" imgW="876300" imgH="241300" progId="Equation.2">
                  <p:embed/>
                </p:oleObj>
              </mc:Choice>
              <mc:Fallback>
                <p:oleObj name="Equation" r:id="rId4" imgW="876300" imgH="241300" progId="Equation.2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1981200"/>
                        <a:ext cx="3186113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1" name="Rectangle 4"/>
          <p:cNvSpPr>
            <a:spLocks noChangeArrowheads="1"/>
          </p:cNvSpPr>
          <p:nvPr/>
        </p:nvSpPr>
        <p:spPr bwMode="auto">
          <a:xfrm>
            <a:off x="1270000" y="2011363"/>
            <a:ext cx="1566863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/>
              <a:t>Using</a:t>
            </a:r>
          </a:p>
        </p:txBody>
      </p:sp>
      <p:graphicFrame>
        <p:nvGraphicFramePr>
          <p:cNvPr id="34822" name="Object 5"/>
          <p:cNvGraphicFramePr>
            <a:graphicFrameLocks/>
          </p:cNvGraphicFramePr>
          <p:nvPr/>
        </p:nvGraphicFramePr>
        <p:xfrm>
          <a:off x="1633538" y="2971800"/>
          <a:ext cx="5038725" cy="289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25" name="Equation" r:id="rId6" imgW="1917700" imgH="1193800" progId="Equation.3">
                  <p:embed/>
                </p:oleObj>
              </mc:Choice>
              <mc:Fallback>
                <p:oleObj name="Equation" r:id="rId6" imgW="1917700" imgH="1193800" progId="Equation.3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3538" y="2971800"/>
                        <a:ext cx="5038725" cy="289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3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58CD415D-4641-4D68-AD4E-B008B59712D9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en-US" altLang="en-US" sz="1800"/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15, Copyright © John C. Hull 2016</a:t>
            </a:r>
            <a:endParaRPr lang="en-US" altLang="en-US" sz="1400" i="0"/>
          </a:p>
        </p:txBody>
      </p:sp>
      <p:sp>
        <p:nvSpPr>
          <p:cNvPr id="35843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mtClean="0"/>
              <a:t>The Binomial Model for American Options</a:t>
            </a:r>
          </a:p>
        </p:txBody>
      </p:sp>
      <p:sp>
        <p:nvSpPr>
          <p:cNvPr id="35844" name="Line 3"/>
          <p:cNvSpPr>
            <a:spLocks noChangeShapeType="1"/>
          </p:cNvSpPr>
          <p:nvPr/>
        </p:nvSpPr>
        <p:spPr bwMode="auto">
          <a:xfrm flipV="1">
            <a:off x="3298825" y="2425700"/>
            <a:ext cx="2036763" cy="7921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845" name="Line 4"/>
          <p:cNvSpPr>
            <a:spLocks noChangeShapeType="1"/>
          </p:cNvSpPr>
          <p:nvPr/>
        </p:nvSpPr>
        <p:spPr bwMode="auto">
          <a:xfrm>
            <a:off x="3298825" y="3217863"/>
            <a:ext cx="2036763" cy="79216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846" name="Rectangle 5"/>
          <p:cNvSpPr>
            <a:spLocks noChangeArrowheads="1"/>
          </p:cNvSpPr>
          <p:nvPr/>
        </p:nvSpPr>
        <p:spPr bwMode="auto">
          <a:xfrm>
            <a:off x="5295900" y="1866900"/>
            <a:ext cx="7239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i="1">
                <a:latin typeface="Times New Roman" panose="02020603050405020304" pitchFamily="18" charset="0"/>
              </a:rPr>
              <a:t>S</a:t>
            </a:r>
            <a:r>
              <a:rPr lang="en-US" altLang="en-US" baseline="-25000">
                <a:latin typeface="Times New Roman" panose="02020603050405020304" pitchFamily="18" charset="0"/>
              </a:rPr>
              <a:t>0</a:t>
            </a:r>
            <a:r>
              <a:rPr lang="en-US" altLang="en-US" i="1">
                <a:latin typeface="Times New Roman" panose="02020603050405020304" pitchFamily="18" charset="0"/>
              </a:rPr>
              <a:t>u</a:t>
            </a:r>
            <a:endParaRPr lang="en-US" altLang="en-US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/>
              <a:t> </a:t>
            </a:r>
            <a:r>
              <a:rPr lang="en-US" altLang="en-US">
                <a:latin typeface="Times New Roman" panose="02020603050405020304" pitchFamily="18" charset="0"/>
              </a:rPr>
              <a:t>ƒ</a:t>
            </a:r>
            <a:r>
              <a:rPr lang="en-US" altLang="en-US" i="1" baseline="-25000">
                <a:latin typeface="Times New Roman" panose="02020603050405020304" pitchFamily="18" charset="0"/>
              </a:rPr>
              <a:t>u</a:t>
            </a:r>
          </a:p>
        </p:txBody>
      </p:sp>
      <p:sp>
        <p:nvSpPr>
          <p:cNvPr id="35847" name="Rectangle 6"/>
          <p:cNvSpPr>
            <a:spLocks noChangeArrowheads="1"/>
          </p:cNvSpPr>
          <p:nvPr/>
        </p:nvSpPr>
        <p:spPr bwMode="auto">
          <a:xfrm>
            <a:off x="5295900" y="3435350"/>
            <a:ext cx="7239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i="1">
                <a:latin typeface="Times New Roman" panose="02020603050405020304" pitchFamily="18" charset="0"/>
              </a:rPr>
              <a:t>S</a:t>
            </a:r>
            <a:r>
              <a:rPr lang="en-US" altLang="en-US" baseline="-25000">
                <a:latin typeface="Times New Roman" panose="02020603050405020304" pitchFamily="18" charset="0"/>
              </a:rPr>
              <a:t>0</a:t>
            </a:r>
            <a:r>
              <a:rPr lang="en-US" altLang="en-US" i="1">
                <a:latin typeface="Times New Roman" panose="02020603050405020304" pitchFamily="18" charset="0"/>
              </a:rPr>
              <a:t>d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/>
              <a:t> </a:t>
            </a:r>
            <a:r>
              <a:rPr lang="en-US" altLang="en-US">
                <a:latin typeface="Times New Roman" panose="02020603050405020304" pitchFamily="18" charset="0"/>
              </a:rPr>
              <a:t>ƒ</a:t>
            </a:r>
            <a:r>
              <a:rPr lang="en-US" altLang="en-US" i="1" baseline="-25000">
                <a:latin typeface="Times New Roman" panose="02020603050405020304" pitchFamily="18" charset="0"/>
              </a:rPr>
              <a:t>d</a:t>
            </a:r>
          </a:p>
        </p:txBody>
      </p:sp>
      <p:sp>
        <p:nvSpPr>
          <p:cNvPr id="35848" name="Rectangle 7"/>
          <p:cNvSpPr>
            <a:spLocks noChangeArrowheads="1"/>
          </p:cNvSpPr>
          <p:nvPr/>
        </p:nvSpPr>
        <p:spPr bwMode="auto">
          <a:xfrm>
            <a:off x="2819400" y="2692400"/>
            <a:ext cx="611188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i="1">
                <a:latin typeface="Times New Roman" panose="02020603050405020304" pitchFamily="18" charset="0"/>
              </a:rPr>
              <a:t>S</a:t>
            </a:r>
            <a:r>
              <a:rPr lang="en-US" altLang="en-US" baseline="-25000"/>
              <a:t>0</a:t>
            </a:r>
            <a:endParaRPr lang="en-US" altLang="en-US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/>
              <a:t> </a:t>
            </a:r>
            <a:r>
              <a:rPr lang="en-US" altLang="en-US">
                <a:latin typeface="Times New Roman" panose="02020603050405020304" pitchFamily="18" charset="0"/>
              </a:rPr>
              <a:t>ƒ</a:t>
            </a:r>
          </a:p>
        </p:txBody>
      </p:sp>
      <p:sp>
        <p:nvSpPr>
          <p:cNvPr id="35849" name="Rectangle 8"/>
          <p:cNvSpPr>
            <a:spLocks noChangeArrowheads="1"/>
          </p:cNvSpPr>
          <p:nvPr/>
        </p:nvSpPr>
        <p:spPr bwMode="auto">
          <a:xfrm rot="-1200000">
            <a:off x="4062413" y="2241550"/>
            <a:ext cx="3873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ClrTx/>
              <a:buSzTx/>
              <a:buFontTx/>
              <a:buNone/>
            </a:pPr>
            <a:r>
              <a:rPr lang="en-US" altLang="en-US" i="1">
                <a:latin typeface="Times New Roman" panose="02020603050405020304" pitchFamily="18" charset="0"/>
              </a:rPr>
              <a:t>p</a:t>
            </a:r>
          </a:p>
        </p:txBody>
      </p:sp>
      <p:sp>
        <p:nvSpPr>
          <p:cNvPr id="35850" name="Rectangle 9"/>
          <p:cNvSpPr>
            <a:spLocks noChangeArrowheads="1"/>
          </p:cNvSpPr>
          <p:nvPr/>
        </p:nvSpPr>
        <p:spPr bwMode="auto">
          <a:xfrm rot="1140000">
            <a:off x="3579813" y="3698875"/>
            <a:ext cx="14382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ClrTx/>
              <a:buSzTx/>
              <a:buFontTx/>
              <a:buNone/>
            </a:pPr>
            <a:r>
              <a:rPr lang="en-US" altLang="en-US"/>
              <a:t>(1</a:t>
            </a:r>
            <a:r>
              <a:rPr lang="en-US" altLang="en-US">
                <a:latin typeface="Symbol" panose="05050102010706020507" pitchFamily="18" charset="2"/>
              </a:rPr>
              <a:t> </a:t>
            </a:r>
            <a:r>
              <a:rPr lang="en-US" altLang="en-US"/>
              <a:t>– </a:t>
            </a:r>
            <a:r>
              <a:rPr lang="en-US" altLang="en-US" i="1">
                <a:latin typeface="Times New Roman" panose="02020603050405020304" pitchFamily="18" charset="0"/>
              </a:rPr>
              <a:t>p</a:t>
            </a:r>
            <a:r>
              <a:rPr lang="en-US" altLang="en-US"/>
              <a:t> )</a:t>
            </a:r>
          </a:p>
        </p:txBody>
      </p:sp>
      <p:sp>
        <p:nvSpPr>
          <p:cNvPr id="35851" name="Rectangle 10"/>
          <p:cNvSpPr>
            <a:spLocks noChangeArrowheads="1"/>
          </p:cNvSpPr>
          <p:nvPr/>
        </p:nvSpPr>
        <p:spPr bwMode="auto">
          <a:xfrm>
            <a:off x="762000" y="5283200"/>
            <a:ext cx="6248400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marL="342900" indent="-3429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4"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200" i="1">
                <a:latin typeface="Times New Roman" panose="02020603050405020304" pitchFamily="18" charset="0"/>
              </a:rPr>
              <a:t>f = e</a:t>
            </a:r>
            <a:r>
              <a:rPr lang="en-US" altLang="en-US" sz="3200" i="1" baseline="30000">
                <a:latin typeface="Times New Roman" panose="02020603050405020304" pitchFamily="18" charset="0"/>
              </a:rPr>
              <a:t>-r</a:t>
            </a:r>
            <a:r>
              <a:rPr lang="en-US" altLang="en-US" sz="3200" baseline="30000">
                <a:latin typeface="Symbol" panose="05050102010706020507" pitchFamily="18" charset="2"/>
              </a:rPr>
              <a:t>D</a:t>
            </a:r>
            <a:r>
              <a:rPr lang="en-US" altLang="en-US" sz="3200" i="1" baseline="30000">
                <a:latin typeface="Times New Roman" panose="02020603050405020304" pitchFamily="18" charset="0"/>
              </a:rPr>
              <a:t>t</a:t>
            </a:r>
            <a:r>
              <a:rPr lang="en-US" altLang="en-US" sz="3200">
                <a:latin typeface="Times New Roman" panose="02020603050405020304" pitchFamily="18" charset="0"/>
              </a:rPr>
              <a:t>[</a:t>
            </a:r>
            <a:r>
              <a:rPr lang="en-US" altLang="en-US" sz="3200" i="1">
                <a:latin typeface="Times New Roman" panose="02020603050405020304" pitchFamily="18" charset="0"/>
              </a:rPr>
              <a:t>pf</a:t>
            </a:r>
            <a:r>
              <a:rPr lang="en-US" altLang="en-US" sz="3200" i="1" baseline="-25000">
                <a:latin typeface="Times New Roman" panose="02020603050405020304" pitchFamily="18" charset="0"/>
              </a:rPr>
              <a:t>u</a:t>
            </a:r>
            <a:r>
              <a:rPr lang="en-US" altLang="en-US" sz="3200" i="1">
                <a:latin typeface="Times New Roman" panose="02020603050405020304" pitchFamily="18" charset="0"/>
              </a:rPr>
              <a:t>+</a:t>
            </a:r>
            <a:r>
              <a:rPr lang="en-US" altLang="en-US" sz="3200">
                <a:latin typeface="Times New Roman" panose="02020603050405020304" pitchFamily="18" charset="0"/>
              </a:rPr>
              <a:t>(</a:t>
            </a:r>
            <a:r>
              <a:rPr lang="en-US" altLang="en-US" sz="3200" i="1">
                <a:latin typeface="Times New Roman" panose="02020603050405020304" pitchFamily="18" charset="0"/>
              </a:rPr>
              <a:t>1</a:t>
            </a:r>
            <a:r>
              <a:rPr lang="en-US" altLang="en-US" sz="3200" i="1">
                <a:cs typeface="Arial" panose="020B0604020202020204" pitchFamily="34" charset="0"/>
              </a:rPr>
              <a:t>–</a:t>
            </a:r>
            <a:r>
              <a:rPr lang="en-US" altLang="en-US" sz="3200" i="1">
                <a:latin typeface="Times New Roman" panose="02020603050405020304" pitchFamily="18" charset="0"/>
              </a:rPr>
              <a:t> p</a:t>
            </a:r>
            <a:r>
              <a:rPr lang="en-US" altLang="en-US" sz="3200">
                <a:latin typeface="Times New Roman" panose="02020603050405020304" pitchFamily="18" charset="0"/>
              </a:rPr>
              <a:t>)</a:t>
            </a:r>
            <a:r>
              <a:rPr lang="en-US" altLang="en-US" sz="3200" i="1">
                <a:latin typeface="Times New Roman" panose="02020603050405020304" pitchFamily="18" charset="0"/>
              </a:rPr>
              <a:t>f</a:t>
            </a:r>
            <a:r>
              <a:rPr lang="en-US" altLang="en-US" sz="3200" i="1" baseline="-25000">
                <a:latin typeface="Times New Roman" panose="02020603050405020304" pitchFamily="18" charset="0"/>
              </a:rPr>
              <a:t>d </a:t>
            </a:r>
            <a:r>
              <a:rPr lang="en-US" altLang="en-US" sz="3200">
                <a:latin typeface="Times New Roman" panose="02020603050405020304" pitchFamily="18" charset="0"/>
              </a:rPr>
              <a:t>]</a:t>
            </a:r>
          </a:p>
        </p:txBody>
      </p:sp>
      <p:sp>
        <p:nvSpPr>
          <p:cNvPr id="35852" name="Slide Number Placeholder 1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ADB05F84-AC00-469E-B4E3-0DA69A7615DC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lang="en-US" altLang="en-US" sz="1800"/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15, Copyright © John C. Hull 2016</a:t>
            </a:r>
            <a:endParaRPr lang="en-US" altLang="en-US" sz="1400" i="0"/>
          </a:p>
        </p:txBody>
      </p:sp>
      <p:sp>
        <p:nvSpPr>
          <p:cNvPr id="3686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81000"/>
            <a:ext cx="8077200" cy="11430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mtClean="0"/>
              <a:t>The Binomial Model</a:t>
            </a:r>
            <a:br>
              <a:rPr lang="en-US" altLang="en-US" smtClean="0"/>
            </a:br>
            <a:r>
              <a:rPr lang="en-US" altLang="en-US" sz="2200" smtClean="0"/>
              <a:t>continued</a:t>
            </a:r>
            <a:endParaRPr lang="en-US" altLang="en-US" smtClean="0"/>
          </a:p>
        </p:txBody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00200"/>
            <a:ext cx="7772400" cy="4191000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90000"/>
              </a:lnSpc>
            </a:pPr>
            <a:endParaRPr lang="en-US" altLang="en-US" smtClean="0"/>
          </a:p>
          <a:p>
            <a:pPr eaLnBrk="1" hangingPunct="1">
              <a:lnSpc>
                <a:spcPct val="90000"/>
              </a:lnSpc>
            </a:pPr>
            <a:endParaRPr lang="en-US" altLang="en-US" smtClean="0"/>
          </a:p>
          <a:p>
            <a:pPr eaLnBrk="1" hangingPunct="1">
              <a:lnSpc>
                <a:spcPct val="90000"/>
              </a:lnSpc>
            </a:pPr>
            <a:endParaRPr lang="en-US" altLang="en-US" i="1" baseline="30000" smtClean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mtClean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mtClean="0"/>
              <a:t>			</a:t>
            </a:r>
          </a:p>
        </p:txBody>
      </p:sp>
      <p:graphicFrame>
        <p:nvGraphicFramePr>
          <p:cNvPr id="36869" name="Object 0"/>
          <p:cNvGraphicFramePr>
            <a:graphicFrameLocks/>
          </p:cNvGraphicFramePr>
          <p:nvPr/>
        </p:nvGraphicFramePr>
        <p:xfrm>
          <a:off x="685800" y="1905000"/>
          <a:ext cx="7407275" cy="3614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71" name="Equation" r:id="rId4" imgW="2133600" imgH="1092200" progId="Equation.3">
                  <p:embed/>
                </p:oleObj>
              </mc:Choice>
              <mc:Fallback>
                <p:oleObj name="Equation" r:id="rId4" imgW="2133600" imgH="1092200" progId="Equation.3">
                  <p:embed/>
                  <p:pic>
                    <p:nvPicPr>
                      <p:cNvPr id="0" name="Object 0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1905000"/>
                        <a:ext cx="7407275" cy="3614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70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226B6193-A47A-4098-BF9A-10FDAE1D359A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lang="en-US" altLang="en-US" sz="1800"/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1_Network">
  <a:themeElements>
    <a:clrScheme name="1_Network 9">
      <a:dk1>
        <a:srgbClr val="000000"/>
      </a:dk1>
      <a:lt1>
        <a:srgbClr val="FFFFFF"/>
      </a:lt1>
      <a:dk2>
        <a:srgbClr val="7C1302"/>
      </a:dk2>
      <a:lt2>
        <a:srgbClr val="CC9900"/>
      </a:lt2>
      <a:accent1>
        <a:srgbClr val="CC9900"/>
      </a:accent1>
      <a:accent2>
        <a:srgbClr val="CC3300"/>
      </a:accent2>
      <a:accent3>
        <a:srgbClr val="FFFFFF"/>
      </a:accent3>
      <a:accent4>
        <a:srgbClr val="000000"/>
      </a:accent4>
      <a:accent5>
        <a:srgbClr val="E2CAAA"/>
      </a:accent5>
      <a:accent6>
        <a:srgbClr val="B92D00"/>
      </a:accent6>
      <a:hlink>
        <a:srgbClr val="808080"/>
      </a:hlink>
      <a:folHlink>
        <a:srgbClr val="CCCC66"/>
      </a:folHlink>
    </a:clrScheme>
    <a:fontScheme name="1_Network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2075" tIns="46038" rIns="92075" bIns="46038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2075" tIns="46038" rIns="92075" bIns="46038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1_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4DB470C54600C46B1B0C1FE5EDD1D1B" ma:contentTypeVersion="3" ma:contentTypeDescription="Create a new document." ma:contentTypeScope="" ma:versionID="14dc9d57259abab41c863f8d0f9e2276">
  <xsd:schema xmlns:xsd="http://www.w3.org/2001/XMLSchema" xmlns:xs="http://www.w3.org/2001/XMLSchema" xmlns:p="http://schemas.microsoft.com/office/2006/metadata/properties" xmlns:ns2="cd351f98-0ba7-41cd-87bd-5169e413bab1" targetNamespace="http://schemas.microsoft.com/office/2006/metadata/properties" ma:root="true" ma:fieldsID="f27d059874946e97d17eaa08f9af4415" ns2:_="">
    <xsd:import namespace="cd351f98-0ba7-41cd-87bd-5169e413bab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351f98-0ba7-41cd-87bd-5169e413bab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3DDC658-EFE2-4CFE-BC56-4CC90EF02616}"/>
</file>

<file path=customXml/itemProps2.xml><?xml version="1.0" encoding="utf-8"?>
<ds:datastoreItem xmlns:ds="http://schemas.openxmlformats.org/officeDocument/2006/customXml" ds:itemID="{A7FAC641-FCB7-4B04-B45C-3D8E2E15E360}"/>
</file>

<file path=customXml/itemProps3.xml><?xml version="1.0" encoding="utf-8"?>
<ds:datastoreItem xmlns:ds="http://schemas.openxmlformats.org/officeDocument/2006/customXml" ds:itemID="{CD4C8DA3-3E0D-4055-A76F-4502A67BE712}"/>
</file>

<file path=docProps/app.xml><?xml version="1.0" encoding="utf-8"?>
<Properties xmlns="http://schemas.openxmlformats.org/officeDocument/2006/extended-properties" xmlns:vt="http://schemas.openxmlformats.org/officeDocument/2006/docPropsVTypes">
  <Template>Ch02HullFundamentals5thEd</Template>
  <TotalTime>503</TotalTime>
  <Words>1257</Words>
  <Application>Microsoft Office PowerPoint</Application>
  <PresentationFormat>On-screen Show (4:3)</PresentationFormat>
  <Paragraphs>188</Paragraphs>
  <Slides>24</Slides>
  <Notes>24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4</vt:i4>
      </vt:variant>
      <vt:variant>
        <vt:lpstr>Slide Titles</vt:lpstr>
      </vt:variant>
      <vt:variant>
        <vt:i4>24</vt:i4>
      </vt:variant>
    </vt:vector>
  </HeadingPairs>
  <TitlesOfParts>
    <vt:vector size="33" baseType="lpstr">
      <vt:lpstr>Arial</vt:lpstr>
      <vt:lpstr>Times New Roman</vt:lpstr>
      <vt:lpstr>Wingdings</vt:lpstr>
      <vt:lpstr>Symbol</vt:lpstr>
      <vt:lpstr>1_Network</vt:lpstr>
      <vt:lpstr>Microsoft Word Document</vt:lpstr>
      <vt:lpstr>Microsoft Equation 3.0</vt:lpstr>
      <vt:lpstr>MathType 6.0 Equation</vt:lpstr>
      <vt:lpstr>Microsoft Equation 2.0</vt:lpstr>
      <vt:lpstr>Options on Stock Indices and Currencies</vt:lpstr>
      <vt:lpstr>Index Options</vt:lpstr>
      <vt:lpstr>Index Option Example</vt:lpstr>
      <vt:lpstr>Using Index Options for Portfolio Insurance</vt:lpstr>
      <vt:lpstr>Example 1</vt:lpstr>
      <vt:lpstr>Example 2 </vt:lpstr>
      <vt:lpstr>Calculating Relation Between Index Level and Portfolio Value in 3 months </vt:lpstr>
      <vt:lpstr>Determining the Strike Price (Table 15.2, page 330) </vt:lpstr>
      <vt:lpstr>Currency Options</vt:lpstr>
      <vt:lpstr>Range Forward Contracts</vt:lpstr>
      <vt:lpstr>Range Forward Contract continued Figure 15.1, page 332</vt:lpstr>
      <vt:lpstr>European Options on Stocks with Known Dividend Yields</vt:lpstr>
      <vt:lpstr>European Options on Stocks Paying Dividend Yield continued</vt:lpstr>
      <vt:lpstr>Extension of Chapter 10 Results (Equations 15.1 to 15.3, page 334)</vt:lpstr>
      <vt:lpstr>Extension of Chapter 13 Results (Equations 15.4 and 15.5, page 335)</vt:lpstr>
      <vt:lpstr>Valuing European Index Options</vt:lpstr>
      <vt:lpstr>Using Forward/Futures Index Prices  (equations 15.6 and 15.7, page 337)</vt:lpstr>
      <vt:lpstr>Implied Dividend Yields</vt:lpstr>
      <vt:lpstr>Currency Options: The Foreign Interest Rate</vt:lpstr>
      <vt:lpstr>Valuing European Currency Options</vt:lpstr>
      <vt:lpstr>Formulas for European Currency Options  (Equations 15.8 and 15.9 page 338)</vt:lpstr>
      <vt:lpstr>Using Forward/Futures Exchange Rates (Equations 15.10 and 15.11, page 339) </vt:lpstr>
      <vt:lpstr>The Binomial Model for American Options</vt:lpstr>
      <vt:lpstr>The Binomial Model continued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Options on Stock Indices and Currencies</dc:title>
  <dc:subject>Fundamentals of Futures and Options Markets, 9e</dc:subject>
  <dc:creator>John C. Hull</dc:creator>
  <cp:keywords>Chapter 15</cp:keywords>
  <dc:description>Copyright 2016 by John C. Hull. All Rights Reserved. Published 2016.</dc:description>
  <cp:lastModifiedBy>John Hull</cp:lastModifiedBy>
  <cp:revision>36</cp:revision>
  <cp:lastPrinted>2001-05-03T13:16:40Z</cp:lastPrinted>
  <dcterms:created xsi:type="dcterms:W3CDTF">1999-07-02T13:34:17Z</dcterms:created>
  <dcterms:modified xsi:type="dcterms:W3CDTF">2016-01-20T21:03:41Z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0x01010034DB470C54600C46B1B0C1FE5EDD1D1B</vt:lpwstr>
  </property>
</Properties>
</file>