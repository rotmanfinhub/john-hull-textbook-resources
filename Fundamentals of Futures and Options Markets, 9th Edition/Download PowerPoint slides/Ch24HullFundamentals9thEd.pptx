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2"/>
  </p:notesMasterIdLst>
  <p:handoutMasterIdLst>
    <p:handoutMasterId r:id="rId13"/>
  </p:handoutMasterIdLst>
  <p:sldIdLst>
    <p:sldId id="270" r:id="rId2"/>
    <p:sldId id="261" r:id="rId3"/>
    <p:sldId id="271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22" d="100"/>
          <a:sy n="122" d="100"/>
        </p:scale>
        <p:origin x="12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B1610AD-23D0-4854-B9E1-DD5477CE72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376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C1E755B-890D-4A88-8A20-C8FFC697B9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8213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7591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8053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70210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37883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6952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7703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64785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67093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97939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1194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33D26748-2569-454B-89CB-8C5B16E57B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78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7CD97-72BF-403E-87E5-1FCEBEB2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90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850FB-70DB-4B7A-ABF5-3CBB9E5528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30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E5AEC-991E-4329-BD6B-12902B2A54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51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6EC82-F69E-44E3-A275-2E3B38F6F4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1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977B8-C9A5-4719-B328-18EF305051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96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2F3FF-37E7-4FA6-94D4-6035E03FE8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42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2A7AA-5E36-4006-8399-4DA2633670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56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CA5BC-03B9-4A29-ABD7-EECB12C64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283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84B5CE-849C-4415-866D-EEEB399077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6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0A618-F316-4510-B859-93EAF5E0A5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47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24, Copyright © John C. Hull 2016</a:t>
            </a:r>
            <a:endParaRPr lang="en-US" alt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29BF1D8F-08EA-4D46-8BBE-79F71ACDEC4C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5247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Weather, Energy, and Insurance Derivatives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124200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24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49EDDC-1DF3-4292-B66E-9426A957F83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Weather Derivatives: Definitions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Heating degree days (HDD): For each day this is max(0, 65 </a:t>
            </a:r>
            <a:r>
              <a:rPr lang="en-US" altLang="en-US" sz="2800" smtClean="0">
                <a:cs typeface="Arial" panose="020B0604020202020204" pitchFamily="34" charset="0"/>
              </a:rPr>
              <a:t>–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A</a:t>
            </a:r>
            <a:r>
              <a:rPr lang="en-US" altLang="en-US" sz="2800" smtClean="0"/>
              <a:t>) where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A</a:t>
            </a:r>
            <a:r>
              <a:rPr lang="en-US" altLang="en-US" sz="2800" smtClean="0"/>
              <a:t> is the average of the highest and lowest temperature in </a:t>
            </a:r>
            <a:r>
              <a:rPr lang="en-US" altLang="en-US" sz="2800" smtClean="0">
                <a:cs typeface="Arial" panose="020B0604020202020204" pitchFamily="34" charset="0"/>
              </a:rPr>
              <a:t>ºF.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Cooling Degree Days (CDD): For each day this is max(0,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A </a:t>
            </a:r>
            <a:r>
              <a:rPr lang="en-US" altLang="en-US" sz="2800" smtClean="0">
                <a:cs typeface="Arial" panose="020B0604020202020204" pitchFamily="34" charset="0"/>
              </a:rPr>
              <a:t>– </a:t>
            </a:r>
            <a:r>
              <a:rPr lang="en-US" altLang="en-US" sz="2800" smtClean="0"/>
              <a:t>65)</a:t>
            </a:r>
          </a:p>
          <a:p>
            <a:pPr eaLnBrk="1" hangingPunct="1"/>
            <a:r>
              <a:rPr lang="en-CA" altLang="en-US" sz="2800" smtClean="0"/>
              <a:t>Contracts specify weather station to be used</a:t>
            </a:r>
            <a:endParaRPr lang="en-US" altLang="en-US" sz="2800" smtClean="0"/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C8CDB1-0B39-4614-A453-7C1AACFBB55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Weather Derivatives: Products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smtClean="0"/>
              <a:t>A typical product is a forward contract or an option on the cumulative CDD or HDD during a month</a:t>
            </a:r>
          </a:p>
          <a:p>
            <a:pPr>
              <a:lnSpc>
                <a:spcPct val="90000"/>
              </a:lnSpc>
            </a:pPr>
            <a:r>
              <a:rPr lang="en-US" altLang="en-US" sz="2800" smtClean="0"/>
              <a:t>Weather derivatives are often used by energy companies to hedge the volume of energy required for heating or cooling during a particular month</a:t>
            </a:r>
          </a:p>
          <a:p>
            <a:pPr>
              <a:lnSpc>
                <a:spcPct val="90000"/>
              </a:lnSpc>
            </a:pPr>
            <a:r>
              <a:rPr lang="en-US" altLang="en-US" sz="2800" smtClean="0"/>
              <a:t>How would you value an option on August CDD at a particular weather station?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26DBE3-72D5-47E8-A996-98BD111F47B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Energy Derivatives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Main energy sources:</a:t>
            </a:r>
          </a:p>
          <a:p>
            <a:pPr eaLnBrk="1" hangingPunct="1"/>
            <a:r>
              <a:rPr lang="en-US" altLang="en-US" smtClean="0"/>
              <a:t>Oil</a:t>
            </a:r>
          </a:p>
          <a:p>
            <a:pPr eaLnBrk="1" hangingPunct="1"/>
            <a:r>
              <a:rPr lang="en-US" altLang="en-US" smtClean="0"/>
              <a:t>Gas</a:t>
            </a:r>
          </a:p>
          <a:p>
            <a:pPr eaLnBrk="1" hangingPunct="1"/>
            <a:r>
              <a:rPr lang="en-US" altLang="en-US" smtClean="0"/>
              <a:t>Electricity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18B603-B9A6-4FFB-BB3F-955DD38E577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Oil Derivatives </a:t>
            </a:r>
            <a:r>
              <a:rPr lang="en-US" altLang="en-US" sz="2400" smtClean="0"/>
              <a:t>(pages 516-517)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Virtually all derivatives available on stocks and stock indices are also available in the OTC market with oil as the underlying asset</a:t>
            </a:r>
          </a:p>
          <a:p>
            <a:pPr eaLnBrk="1" hangingPunct="1"/>
            <a:r>
              <a:rPr lang="en-US" altLang="en-US" sz="2800" smtClean="0"/>
              <a:t>Futures and futures options traded on the CME Group and the Intercontinental Exchange (ICE) are also popular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BC3B98-A1EE-4BD8-B464-4F3A26B8C48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Natural Gas Derivatives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A typical OTC contract is for the delivery of a specified amount of natural gas at a roughly uniform rate to specified location during a month. </a:t>
            </a:r>
          </a:p>
          <a:p>
            <a:pPr eaLnBrk="1" hangingPunct="1"/>
            <a:r>
              <a:rPr lang="en-US" altLang="en-US" sz="2800" smtClean="0"/>
              <a:t>CME Group and ICE trade contracts that require delivery of 10,000 million British thermal units of natural gas to a specified location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4A6C27-B90E-4FF8-8B29-92D5ECE58D3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Electricity Derivatives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Electricity is an unusual commodity in that it cannot be stored</a:t>
            </a:r>
          </a:p>
          <a:p>
            <a:pPr eaLnBrk="1" hangingPunct="1"/>
            <a:r>
              <a:rPr lang="en-US" altLang="en-US" smtClean="0"/>
              <a:t>The U.S is divided into about 140 control areas and a market for electricity is created by trading between control areas.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FBFB8E-AB1E-4383-B440-CFCB1E923E2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Electricity Derivatives </a:t>
            </a:r>
            <a:r>
              <a:rPr lang="en-US" altLang="en-US" sz="2600" smtClean="0"/>
              <a:t>continued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/>
              <a:t>A typical contract allows one side to receive a specified number of megawatt hours for a specified price at a specified location during a particular month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/>
              <a:t>Types of contracts:</a:t>
            </a:r>
          </a:p>
          <a:p>
            <a:pPr marL="990600" lvl="1" indent="-646113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mtClean="0"/>
              <a:t>   5</a:t>
            </a:r>
            <a:r>
              <a:rPr lang="en-US" altLang="en-US" smtClean="0">
                <a:cs typeface="Arial" panose="020B0604020202020204" pitchFamily="34" charset="0"/>
              </a:rPr>
              <a:t>x8,  5x16, 7x24, daily or monthly exercise, </a:t>
            </a:r>
          </a:p>
          <a:p>
            <a:pPr marL="990600" lvl="1" indent="-646113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  swing options</a:t>
            </a:r>
            <a:endParaRPr lang="en-US" altLang="en-US" smtClean="0"/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mtClean="0"/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C63745-1FF8-4E90-BEFD-646C0769335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an Energy Producer Hedges Risks </a:t>
            </a:r>
            <a:r>
              <a:rPr lang="en-US" altLang="en-US" sz="2400" smtClean="0"/>
              <a:t>(pages 518-519)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en-US" smtClean="0"/>
              <a:t>Estimate a relationship of the form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</a:t>
            </a:r>
            <a:r>
              <a:rPr lang="en-US" altLang="en-US" i="1" smtClean="0">
                <a:latin typeface="Times New Roman" panose="02020603050405020304" pitchFamily="18" charset="0"/>
              </a:rPr>
              <a:t>Y=a+bP+cT+</a:t>
            </a:r>
            <a:r>
              <a:rPr lang="en-US" altLang="en-US" smtClean="0">
                <a:latin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where </a:t>
            </a:r>
            <a:r>
              <a:rPr lang="en-US" altLang="en-US" i="1" smtClean="0">
                <a:latin typeface="Times New Roman" panose="02020603050405020304" pitchFamily="18" charset="0"/>
              </a:rPr>
              <a:t>Y</a:t>
            </a:r>
            <a:r>
              <a:rPr lang="en-US" altLang="en-US" smtClean="0"/>
              <a:t> is the monthly profit,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/>
              <a:t> is the average energy prices,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is temperature, and </a:t>
            </a:r>
            <a:r>
              <a:rPr lang="en-US" altLang="en-US" smtClean="0">
                <a:latin typeface="Symbol" panose="05050102010706020507" pitchFamily="18" charset="2"/>
              </a:rPr>
              <a:t>e </a:t>
            </a:r>
            <a:r>
              <a:rPr lang="en-US" altLang="en-US" smtClean="0"/>
              <a:t>is an error term</a:t>
            </a:r>
          </a:p>
          <a:p>
            <a:pPr eaLnBrk="1" hangingPunct="1"/>
            <a:r>
              <a:rPr lang="en-US" altLang="en-US" smtClean="0"/>
              <a:t>Take a position of –</a:t>
            </a:r>
            <a:r>
              <a:rPr lang="en-US" altLang="en-US" i="1" smtClean="0">
                <a:latin typeface="Times New Roman" panose="02020603050405020304" pitchFamily="18" charset="0"/>
              </a:rPr>
              <a:t>b</a:t>
            </a:r>
            <a:r>
              <a:rPr lang="en-US" altLang="en-US" smtClean="0"/>
              <a:t> in energy forwards and –</a:t>
            </a:r>
            <a:r>
              <a:rPr lang="en-US" altLang="en-US" i="1" smtClean="0">
                <a:latin typeface="Times New Roman" panose="02020603050405020304" pitchFamily="18" charset="0"/>
              </a:rPr>
              <a:t>c</a:t>
            </a:r>
            <a:r>
              <a:rPr lang="en-US" altLang="en-US" smtClean="0"/>
              <a:t> in weather forwards.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B2FA13-4D33-4946-AE70-13A63FF9AE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24,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en-US" smtClean="0"/>
              <a:t>Insurance Derivatives </a:t>
            </a:r>
            <a:r>
              <a:rPr lang="en-US" altLang="en-US" sz="2400" smtClean="0"/>
              <a:t>(pages 519-520)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CAT bonds are an alternative to traditional reinsurance</a:t>
            </a:r>
          </a:p>
          <a:p>
            <a:pPr eaLnBrk="1" hangingPunct="1"/>
            <a:r>
              <a:rPr lang="en-US" altLang="en-US" sz="2800" smtClean="0"/>
              <a:t>This is a bond issued by a subsidiary of an insurance company that pays a higher-than-normal interest rate.</a:t>
            </a:r>
          </a:p>
          <a:p>
            <a:pPr eaLnBrk="1" hangingPunct="1"/>
            <a:r>
              <a:rPr lang="en-US" altLang="en-US" sz="2800" smtClean="0"/>
              <a:t>If claims of a certain type are above a certain level the interest and possibly the principal on the bond are used to meet claims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9ED390-7E3D-4620-89EA-91DF920EB50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482440-02B2-48FA-A8B5-E11E68F81BC2}"/>
</file>

<file path=customXml/itemProps2.xml><?xml version="1.0" encoding="utf-8"?>
<ds:datastoreItem xmlns:ds="http://schemas.openxmlformats.org/officeDocument/2006/customXml" ds:itemID="{B94E3CC1-B95C-499F-91DF-834E1DD406DD}"/>
</file>

<file path=customXml/itemProps3.xml><?xml version="1.0" encoding="utf-8"?>
<ds:datastoreItem xmlns:ds="http://schemas.openxmlformats.org/officeDocument/2006/customXml" ds:itemID="{EEBEB389-22A7-4A37-9F2C-D5E822FF65CA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310</TotalTime>
  <Words>604</Words>
  <Application>Microsoft Office PowerPoint</Application>
  <PresentationFormat>On-screen Show (4:3)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Wingdings</vt:lpstr>
      <vt:lpstr>Symbol</vt:lpstr>
      <vt:lpstr>1_Network</vt:lpstr>
      <vt:lpstr>Weather, Energy, and Insurance Derivatives</vt:lpstr>
      <vt:lpstr>Weather Derivatives: Definitions</vt:lpstr>
      <vt:lpstr>Weather Derivatives: Products</vt:lpstr>
      <vt:lpstr>Energy Derivatives</vt:lpstr>
      <vt:lpstr>Oil Derivatives (pages 516-517)</vt:lpstr>
      <vt:lpstr>Natural Gas Derivatives</vt:lpstr>
      <vt:lpstr>Electricity Derivatives</vt:lpstr>
      <vt:lpstr>Electricity Derivatives continued</vt:lpstr>
      <vt:lpstr>How an Energy Producer Hedges Risks (pages 518-519)</vt:lpstr>
      <vt:lpstr>Insurance Derivatives (pages 519-520)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Weather, Energy, and Insurance Derivatives</dc:title>
  <dc:subject>Fundamentals of Futures and Options Markets, 9e</dc:subject>
  <dc:creator>John C. Hull</dc:creator>
  <cp:keywords>Chapter 24</cp:keywords>
  <dc:description>Copyright 2016 by John C. Hull. All Rights Reserved. Published 2016.</dc:description>
  <cp:lastModifiedBy>John Hull</cp:lastModifiedBy>
  <cp:revision>15</cp:revision>
  <dcterms:created xsi:type="dcterms:W3CDTF">2001-03-28T20:53:14Z</dcterms:created>
  <dcterms:modified xsi:type="dcterms:W3CDTF">2016-01-20T21:07:08Z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