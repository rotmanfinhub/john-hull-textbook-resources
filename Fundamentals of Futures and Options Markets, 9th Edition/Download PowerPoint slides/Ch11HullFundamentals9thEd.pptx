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4.xml" ContentType="application/vnd.openxmlformats-officedocument.presentationml.slide+xml"/>
  <Override PartName="/ppt/slides/slide18.xml" ContentType="application/vnd.openxmlformats-officedocument.presentationml.slide+xml"/>
  <Override PartName="/ppt/slides/slide17.xml" ContentType="application/vnd.openxmlformats-officedocument.presentationml.slide+xml"/>
  <Override PartName="/ppt/slides/slide12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heme/theme3.xml" ContentType="application/vnd.openxmlformats-officedocument.theme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20"/>
  </p:notesMasterIdLst>
  <p:handoutMasterIdLst>
    <p:handoutMasterId r:id="rId21"/>
  </p:handoutMasterIdLst>
  <p:sldIdLst>
    <p:sldId id="270" r:id="rId2"/>
    <p:sldId id="272" r:id="rId3"/>
    <p:sldId id="273" r:id="rId4"/>
    <p:sldId id="274" r:id="rId5"/>
    <p:sldId id="258" r:id="rId6"/>
    <p:sldId id="259" r:id="rId7"/>
    <p:sldId id="260" r:id="rId8"/>
    <p:sldId id="262" r:id="rId9"/>
    <p:sldId id="261" r:id="rId10"/>
    <p:sldId id="271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5" r:id="rId19"/>
  </p:sldIdLst>
  <p:sldSz cx="9144000" cy="6858000" type="letter"/>
  <p:notesSz cx="6858000" cy="92075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5" autoAdjust="0"/>
    <p:restoredTop sz="94681" autoAdjust="0"/>
  </p:normalViewPr>
  <p:slideViewPr>
    <p:cSldViewPr>
      <p:cViewPr varScale="1">
        <p:scale>
          <a:sx n="122" d="100"/>
          <a:sy n="122" d="100"/>
        </p:scale>
        <p:origin x="120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172466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defTabSz="7620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t" anchorCtr="0" compatLnSpc="1">
            <a:prstTxWarp prst="textNoShape">
              <a:avLst/>
            </a:prstTxWarp>
          </a:bodyPr>
          <a:lstStyle>
            <a:lvl1pPr algn="r" defTabSz="7620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747125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defTabSz="762000" eaLnBrk="0" hangingPunct="0">
              <a:defRPr sz="1000" i="1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747125"/>
            <a:ext cx="29718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9050" tIns="0" rIns="19050" bIns="0" numCol="1" anchor="b" anchorCtr="0" compatLnSpc="1">
            <a:prstTxWarp prst="textNoShape">
              <a:avLst/>
            </a:prstTxWarp>
          </a:bodyPr>
          <a:lstStyle>
            <a:lvl1pPr algn="r" defTabSz="762000" eaLnBrk="0" hangingPunct="0">
              <a:defRPr sz="1000" i="1">
                <a:latin typeface="Times New Roman" panose="02020603050405020304" pitchFamily="18" charset="0"/>
              </a:defRPr>
            </a:lvl1pPr>
          </a:lstStyle>
          <a:p>
            <a:fld id="{B5AF8D78-6946-4D12-92F9-8EDBDA32075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73563"/>
            <a:ext cx="5029200" cy="4143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notes styles</a:t>
            </a:r>
          </a:p>
          <a:p>
            <a:pPr lvl="0"/>
            <a:r>
              <a:rPr lang="en-US" noProof="0" smtClean="0"/>
              <a:t>Second Level</a:t>
            </a:r>
          </a:p>
          <a:p>
            <a:pPr lvl="0"/>
            <a:r>
              <a:rPr lang="en-US" noProof="0" smtClean="0"/>
              <a:t>Third Level</a:t>
            </a:r>
          </a:p>
          <a:p>
            <a:pPr lvl="0"/>
            <a:r>
              <a:rPr lang="en-US" noProof="0" smtClean="0"/>
              <a:t>Fourth Level</a:t>
            </a:r>
          </a:p>
          <a:p>
            <a:pPr lvl="0"/>
            <a:r>
              <a:rPr lang="en-US" noProof="0" smtClean="0"/>
              <a:t>Fifth Level</a:t>
            </a:r>
          </a:p>
        </p:txBody>
      </p:sp>
      <p:sp>
        <p:nvSpPr>
          <p:cNvPr id="31751" name="Rectangle 7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1127125" y="692150"/>
            <a:ext cx="4603750" cy="3449638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</p:spTree>
    <p:extLst>
      <p:ext uri="{BB962C8B-B14F-4D97-AF65-F5344CB8AC3E}">
        <p14:creationId xmlns:p14="http://schemas.microsoft.com/office/powerpoint/2010/main" val="27683616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742950" indent="-28575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11430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6002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2057400" indent="-228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0F8D58B-E167-4A8B-A5D8-F914AD556A60}" type="slidenum">
              <a:rPr lang="en-US" altLang="en-US" sz="1000"/>
              <a:pPr>
                <a:spcBef>
                  <a:spcPct val="0"/>
                </a:spcBef>
              </a:pPr>
              <a:t>1</a:t>
            </a:fld>
            <a:endParaRPr lang="en-US" altLang="en-US" sz="1000"/>
          </a:p>
        </p:txBody>
      </p:sp>
      <p:sp>
        <p:nvSpPr>
          <p:cNvPr id="3277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327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11527569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A24DF835-9423-4738-9B07-2820B7135B1E}" type="slidenum">
              <a:rPr lang="en-US" altLang="en-US" sz="1000"/>
              <a:pPr>
                <a:spcBef>
                  <a:spcPct val="0"/>
                </a:spcBef>
              </a:pPr>
              <a:t>2</a:t>
            </a:fld>
            <a:endParaRPr lang="en-US" altLang="en-US" sz="1000"/>
          </a:p>
        </p:txBody>
      </p:sp>
      <p:sp>
        <p:nvSpPr>
          <p:cNvPr id="3379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30300" y="692150"/>
            <a:ext cx="4597400" cy="3449638"/>
          </a:xfrm>
          <a:ln cap="flat"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CA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7732572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3481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ABD9A1E-E31C-4197-BD1D-1124AEFFFFF5}" type="slidenum">
              <a:rPr lang="en-US" altLang="en-US" sz="1000"/>
              <a:pPr>
                <a:spcBef>
                  <a:spcPct val="0"/>
                </a:spcBef>
              </a:pPr>
              <a:t>3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27578042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0D6BD66-F605-40CA-84FF-C59A80CF4306}" type="slidenum">
              <a:rPr lang="en-US" altLang="en-US" sz="1000"/>
              <a:pPr>
                <a:spcBef>
                  <a:spcPct val="0"/>
                </a:spcBef>
              </a:pPr>
              <a:t>4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16163585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71B2DDD-93BE-45B4-9F74-6A6B91FB02E6}" type="slidenum">
              <a:rPr lang="en-US" altLang="en-US" sz="1000"/>
              <a:pPr>
                <a:spcBef>
                  <a:spcPct val="0"/>
                </a:spcBef>
              </a:pPr>
              <a:t>5</a:t>
            </a:fld>
            <a:endParaRPr lang="en-US" altLang="en-US" sz="1000"/>
          </a:p>
        </p:txBody>
      </p:sp>
      <p:sp>
        <p:nvSpPr>
          <p:cNvPr id="3686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6986548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B7D4530-295B-4C46-9115-6737D3016569}" type="slidenum">
              <a:rPr lang="en-US" altLang="en-US" sz="1000"/>
              <a:pPr>
                <a:spcBef>
                  <a:spcPct val="0"/>
                </a:spcBef>
              </a:pPr>
              <a:t>6</a:t>
            </a:fld>
            <a:endParaRPr lang="en-US" altLang="en-US" sz="1000"/>
          </a:p>
        </p:txBody>
      </p:sp>
      <p:sp>
        <p:nvSpPr>
          <p:cNvPr id="3789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232606602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247BB98-F569-43F7-88FF-82A577731FCF}" type="slidenum">
              <a:rPr lang="en-US" altLang="en-US" sz="1000"/>
              <a:pPr>
                <a:spcBef>
                  <a:spcPct val="0"/>
                </a:spcBef>
              </a:pPr>
              <a:t>7</a:t>
            </a:fld>
            <a:endParaRPr lang="en-US" altLang="en-US" sz="1000"/>
          </a:p>
        </p:txBody>
      </p:sp>
      <p:sp>
        <p:nvSpPr>
          <p:cNvPr id="3891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7319974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F5E144F-36FD-4226-91EC-9418038200B0}" type="slidenum">
              <a:rPr lang="en-US" altLang="en-US" sz="1000"/>
              <a:pPr>
                <a:spcBef>
                  <a:spcPct val="0"/>
                </a:spcBef>
              </a:pPr>
              <a:t>8</a:t>
            </a:fld>
            <a:endParaRPr lang="en-US" altLang="en-US" sz="1000"/>
          </a:p>
        </p:txBody>
      </p:sp>
      <p:sp>
        <p:nvSpPr>
          <p:cNvPr id="3993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0082379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32BE7B69-6C71-40BC-BB3E-A5C995F866A5}" type="slidenum">
              <a:rPr lang="en-US" altLang="en-US" sz="1000"/>
              <a:pPr>
                <a:spcBef>
                  <a:spcPct val="0"/>
                </a:spcBef>
              </a:pPr>
              <a:t>9</a:t>
            </a:fld>
            <a:endParaRPr lang="en-US" altLang="en-US" sz="1000"/>
          </a:p>
        </p:txBody>
      </p:sp>
      <p:sp>
        <p:nvSpPr>
          <p:cNvPr id="4096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51673712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DC5D8C6-4B0A-4D8B-989B-B68613802F2D}" type="slidenum">
              <a:rPr lang="en-US" altLang="en-US" sz="1000"/>
              <a:pPr>
                <a:spcBef>
                  <a:spcPct val="0"/>
                </a:spcBef>
              </a:pPr>
              <a:t>10</a:t>
            </a:fld>
            <a:endParaRPr lang="en-US" altLang="en-US" sz="1000"/>
          </a:p>
        </p:txBody>
      </p:sp>
      <p:sp>
        <p:nvSpPr>
          <p:cNvPr id="4198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</p:spTree>
    <p:extLst>
      <p:ext uri="{BB962C8B-B14F-4D97-AF65-F5344CB8AC3E}">
        <p14:creationId xmlns:p14="http://schemas.microsoft.com/office/powerpoint/2010/main" val="352682872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AAF4418-A312-42DE-9F89-085686422008}" type="slidenum">
              <a:rPr lang="en-US" altLang="en-US" sz="1000"/>
              <a:pPr>
                <a:spcBef>
                  <a:spcPct val="0"/>
                </a:spcBef>
              </a:pPr>
              <a:t>11</a:t>
            </a:fld>
            <a:endParaRPr lang="en-US" altLang="en-US" sz="1000"/>
          </a:p>
        </p:txBody>
      </p:sp>
      <p:sp>
        <p:nvSpPr>
          <p:cNvPr id="4301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81534019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C8BE903-D33E-4283-BC65-BC55A18F8B58}" type="slidenum">
              <a:rPr lang="en-US" altLang="en-US" sz="1000"/>
              <a:pPr>
                <a:spcBef>
                  <a:spcPct val="0"/>
                </a:spcBef>
              </a:pPr>
              <a:t>12</a:t>
            </a:fld>
            <a:endParaRPr lang="en-US" altLang="en-US" sz="1000"/>
          </a:p>
        </p:txBody>
      </p:sp>
      <p:sp>
        <p:nvSpPr>
          <p:cNvPr id="4403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9527208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C09D276-EC25-4949-B368-2F89259FEC08}" type="slidenum">
              <a:rPr lang="en-US" altLang="en-US" sz="1000"/>
              <a:pPr>
                <a:spcBef>
                  <a:spcPct val="0"/>
                </a:spcBef>
              </a:pPr>
              <a:t>13</a:t>
            </a:fld>
            <a:endParaRPr lang="en-US" altLang="en-US" sz="1000"/>
          </a:p>
        </p:txBody>
      </p:sp>
      <p:sp>
        <p:nvSpPr>
          <p:cNvPr id="45059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5324435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2C4B6AD6-4FF0-4642-93E7-E106C0A2C9FC}" type="slidenum">
              <a:rPr lang="en-US" altLang="en-US" sz="1000"/>
              <a:pPr>
                <a:spcBef>
                  <a:spcPct val="0"/>
                </a:spcBef>
              </a:pPr>
              <a:t>14</a:t>
            </a:fld>
            <a:endParaRPr lang="en-US" altLang="en-US" sz="1000"/>
          </a:p>
        </p:txBody>
      </p:sp>
      <p:sp>
        <p:nvSpPr>
          <p:cNvPr id="46083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34308055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63B4BAC-0B82-46CD-A36F-E47EAC8804BA}" type="slidenum">
              <a:rPr lang="en-US" altLang="en-US" sz="1000"/>
              <a:pPr>
                <a:spcBef>
                  <a:spcPct val="0"/>
                </a:spcBef>
              </a:pPr>
              <a:t>15</a:t>
            </a:fld>
            <a:endParaRPr lang="en-US" altLang="en-US" sz="1000"/>
          </a:p>
        </p:txBody>
      </p:sp>
      <p:sp>
        <p:nvSpPr>
          <p:cNvPr id="4710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2127894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7B9F3A0-C87F-4722-9141-7A8048D94CB8}" type="slidenum">
              <a:rPr lang="en-US" altLang="en-US" sz="1000"/>
              <a:pPr>
                <a:spcBef>
                  <a:spcPct val="0"/>
                </a:spcBef>
              </a:pPr>
              <a:t>16</a:t>
            </a:fld>
            <a:endParaRPr lang="en-US" altLang="en-US" sz="1000"/>
          </a:p>
        </p:txBody>
      </p:sp>
      <p:sp>
        <p:nvSpPr>
          <p:cNvPr id="48131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8121904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5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5ED40A4-5DE4-4F66-B5A3-09D21EAD28DB}" type="slidenum">
              <a:rPr lang="en-US" altLang="en-US" sz="1000"/>
              <a:pPr>
                <a:spcBef>
                  <a:spcPct val="0"/>
                </a:spcBef>
              </a:pPr>
              <a:t>17</a:t>
            </a:fld>
            <a:endParaRPr lang="en-US" altLang="en-US" sz="1000"/>
          </a:p>
        </p:txBody>
      </p:sp>
      <p:sp>
        <p:nvSpPr>
          <p:cNvPr id="49155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 cap="flat"/>
        </p:spPr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>
              <a:spcBef>
                <a:spcPct val="0"/>
              </a:spcBef>
            </a:pPr>
            <a:endParaRPr lang="en-US" altLang="en-US" sz="2400" smtClean="0"/>
          </a:p>
        </p:txBody>
      </p:sp>
    </p:spTree>
    <p:extLst>
      <p:ext uri="{BB962C8B-B14F-4D97-AF65-F5344CB8AC3E}">
        <p14:creationId xmlns:p14="http://schemas.microsoft.com/office/powerpoint/2010/main" val="18088288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1128713" y="692150"/>
            <a:ext cx="4600575" cy="3449638"/>
          </a:xfrm>
          <a:ln/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smtClean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762000" eaLnBrk="0" hangingPunct="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7620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1370A53-CC5A-4216-991B-45E515C5628A}" type="slidenum">
              <a:rPr lang="en-US" altLang="en-US" sz="1000"/>
              <a:pPr>
                <a:spcBef>
                  <a:spcPct val="0"/>
                </a:spcBef>
              </a:pPr>
              <a:t>18</a:t>
            </a:fld>
            <a:endParaRPr lang="en-US" altLang="en-US" sz="1000"/>
          </a:p>
        </p:txBody>
      </p:sp>
    </p:spTree>
    <p:extLst>
      <p:ext uri="{BB962C8B-B14F-4D97-AF65-F5344CB8AC3E}">
        <p14:creationId xmlns:p14="http://schemas.microsoft.com/office/powerpoint/2010/main" val="2336776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Line 2"/>
          <p:cNvSpPr>
            <a:spLocks noChangeShapeType="1"/>
          </p:cNvSpPr>
          <p:nvPr/>
        </p:nvSpPr>
        <p:spPr bwMode="auto">
          <a:xfrm>
            <a:off x="7315200" y="1066800"/>
            <a:ext cx="0" cy="449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5" name="Group 8"/>
          <p:cNvGrpSpPr>
            <a:grpSpLocks/>
          </p:cNvGrpSpPr>
          <p:nvPr/>
        </p:nvGrpSpPr>
        <p:grpSpPr bwMode="auto">
          <a:xfrm>
            <a:off x="7493000" y="2992438"/>
            <a:ext cx="1338263" cy="2189162"/>
            <a:chOff x="4704" y="1885"/>
            <a:chExt cx="843" cy="1379"/>
          </a:xfrm>
        </p:grpSpPr>
        <p:sp>
          <p:nvSpPr>
            <p:cNvPr id="6" name="Oval 9"/>
            <p:cNvSpPr>
              <a:spLocks noChangeArrowheads="1"/>
            </p:cNvSpPr>
            <p:nvPr/>
          </p:nvSpPr>
          <p:spPr bwMode="auto">
            <a:xfrm>
              <a:off x="4704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7" name="Oval 10"/>
            <p:cNvSpPr>
              <a:spLocks noChangeArrowheads="1"/>
            </p:cNvSpPr>
            <p:nvPr/>
          </p:nvSpPr>
          <p:spPr bwMode="auto">
            <a:xfrm>
              <a:off x="4883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8" name="Oval 11"/>
            <p:cNvSpPr>
              <a:spLocks noChangeArrowheads="1"/>
            </p:cNvSpPr>
            <p:nvPr/>
          </p:nvSpPr>
          <p:spPr bwMode="auto">
            <a:xfrm>
              <a:off x="5062" y="1885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9" name="Oval 12"/>
            <p:cNvSpPr>
              <a:spLocks noChangeArrowheads="1"/>
            </p:cNvSpPr>
            <p:nvPr/>
          </p:nvSpPr>
          <p:spPr bwMode="auto">
            <a:xfrm>
              <a:off x="4704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" name="Oval 13"/>
            <p:cNvSpPr>
              <a:spLocks noChangeArrowheads="1"/>
            </p:cNvSpPr>
            <p:nvPr/>
          </p:nvSpPr>
          <p:spPr bwMode="auto">
            <a:xfrm>
              <a:off x="4883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1" name="Oval 14"/>
            <p:cNvSpPr>
              <a:spLocks noChangeArrowheads="1"/>
            </p:cNvSpPr>
            <p:nvPr/>
          </p:nvSpPr>
          <p:spPr bwMode="auto">
            <a:xfrm>
              <a:off x="5062" y="2064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2" name="Oval 15"/>
            <p:cNvSpPr>
              <a:spLocks noChangeArrowheads="1"/>
            </p:cNvSpPr>
            <p:nvPr/>
          </p:nvSpPr>
          <p:spPr bwMode="auto">
            <a:xfrm>
              <a:off x="5241" y="2064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3" name="Oval 16"/>
            <p:cNvSpPr>
              <a:spLocks noChangeArrowheads="1"/>
            </p:cNvSpPr>
            <p:nvPr/>
          </p:nvSpPr>
          <p:spPr bwMode="auto">
            <a:xfrm>
              <a:off x="4704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4" name="Oval 17"/>
            <p:cNvSpPr>
              <a:spLocks noChangeArrowheads="1"/>
            </p:cNvSpPr>
            <p:nvPr/>
          </p:nvSpPr>
          <p:spPr bwMode="auto">
            <a:xfrm>
              <a:off x="4883" y="2243"/>
              <a:ext cx="127" cy="12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5" name="Oval 18"/>
            <p:cNvSpPr>
              <a:spLocks noChangeArrowheads="1"/>
            </p:cNvSpPr>
            <p:nvPr/>
          </p:nvSpPr>
          <p:spPr bwMode="auto">
            <a:xfrm>
              <a:off x="5062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6" name="Oval 19"/>
            <p:cNvSpPr>
              <a:spLocks noChangeArrowheads="1"/>
            </p:cNvSpPr>
            <p:nvPr/>
          </p:nvSpPr>
          <p:spPr bwMode="auto">
            <a:xfrm>
              <a:off x="5241" y="2243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7" name="Oval 20"/>
            <p:cNvSpPr>
              <a:spLocks noChangeArrowheads="1"/>
            </p:cNvSpPr>
            <p:nvPr/>
          </p:nvSpPr>
          <p:spPr bwMode="auto">
            <a:xfrm>
              <a:off x="5420" y="2243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8" name="Oval 21"/>
            <p:cNvSpPr>
              <a:spLocks noChangeArrowheads="1"/>
            </p:cNvSpPr>
            <p:nvPr/>
          </p:nvSpPr>
          <p:spPr bwMode="auto">
            <a:xfrm>
              <a:off x="4704" y="2421"/>
              <a:ext cx="127" cy="128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9" name="Oval 22"/>
            <p:cNvSpPr>
              <a:spLocks noChangeArrowheads="1"/>
            </p:cNvSpPr>
            <p:nvPr/>
          </p:nvSpPr>
          <p:spPr bwMode="auto">
            <a:xfrm>
              <a:off x="4883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0" name="Oval 23"/>
            <p:cNvSpPr>
              <a:spLocks noChangeArrowheads="1"/>
            </p:cNvSpPr>
            <p:nvPr/>
          </p:nvSpPr>
          <p:spPr bwMode="auto">
            <a:xfrm>
              <a:off x="5062" y="2421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1" name="Oval 24"/>
            <p:cNvSpPr>
              <a:spLocks noChangeArrowheads="1"/>
            </p:cNvSpPr>
            <p:nvPr/>
          </p:nvSpPr>
          <p:spPr bwMode="auto">
            <a:xfrm>
              <a:off x="5241" y="2421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2" name="Oval 25"/>
            <p:cNvSpPr>
              <a:spLocks noChangeArrowheads="1"/>
            </p:cNvSpPr>
            <p:nvPr/>
          </p:nvSpPr>
          <p:spPr bwMode="auto">
            <a:xfrm>
              <a:off x="4704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3" name="Oval 26"/>
            <p:cNvSpPr>
              <a:spLocks noChangeArrowheads="1"/>
            </p:cNvSpPr>
            <p:nvPr/>
          </p:nvSpPr>
          <p:spPr bwMode="auto">
            <a:xfrm>
              <a:off x="4883" y="2600"/>
              <a:ext cx="127" cy="128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4" name="Oval 27"/>
            <p:cNvSpPr>
              <a:spLocks noChangeArrowheads="1"/>
            </p:cNvSpPr>
            <p:nvPr/>
          </p:nvSpPr>
          <p:spPr bwMode="auto">
            <a:xfrm>
              <a:off x="5062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5" name="Oval 28"/>
            <p:cNvSpPr>
              <a:spLocks noChangeArrowheads="1"/>
            </p:cNvSpPr>
            <p:nvPr/>
          </p:nvSpPr>
          <p:spPr bwMode="auto">
            <a:xfrm>
              <a:off x="5241" y="2600"/>
              <a:ext cx="127" cy="128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6" name="Oval 29"/>
            <p:cNvSpPr>
              <a:spLocks noChangeArrowheads="1"/>
            </p:cNvSpPr>
            <p:nvPr/>
          </p:nvSpPr>
          <p:spPr bwMode="auto">
            <a:xfrm>
              <a:off x="5420" y="2600"/>
              <a:ext cx="127" cy="128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7" name="Oval 30"/>
            <p:cNvSpPr>
              <a:spLocks noChangeArrowheads="1"/>
            </p:cNvSpPr>
            <p:nvPr/>
          </p:nvSpPr>
          <p:spPr bwMode="auto">
            <a:xfrm>
              <a:off x="4704" y="2779"/>
              <a:ext cx="127" cy="12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8" name="Oval 31"/>
            <p:cNvSpPr>
              <a:spLocks noChangeArrowheads="1"/>
            </p:cNvSpPr>
            <p:nvPr/>
          </p:nvSpPr>
          <p:spPr bwMode="auto">
            <a:xfrm>
              <a:off x="4883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5062" y="2779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5241" y="2779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1" name="Oval 34"/>
            <p:cNvSpPr>
              <a:spLocks noChangeArrowheads="1"/>
            </p:cNvSpPr>
            <p:nvPr/>
          </p:nvSpPr>
          <p:spPr bwMode="auto">
            <a:xfrm>
              <a:off x="4704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2" name="Oval 35"/>
            <p:cNvSpPr>
              <a:spLocks noChangeArrowheads="1"/>
            </p:cNvSpPr>
            <p:nvPr/>
          </p:nvSpPr>
          <p:spPr bwMode="auto">
            <a:xfrm>
              <a:off x="4883" y="2958"/>
              <a:ext cx="127" cy="12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3" name="Oval 36"/>
            <p:cNvSpPr>
              <a:spLocks noChangeArrowheads="1"/>
            </p:cNvSpPr>
            <p:nvPr/>
          </p:nvSpPr>
          <p:spPr bwMode="auto">
            <a:xfrm>
              <a:off x="5062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4" name="Oval 37"/>
            <p:cNvSpPr>
              <a:spLocks noChangeArrowheads="1"/>
            </p:cNvSpPr>
            <p:nvPr/>
          </p:nvSpPr>
          <p:spPr bwMode="auto">
            <a:xfrm>
              <a:off x="5241" y="2958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5" name="Oval 38"/>
            <p:cNvSpPr>
              <a:spLocks noChangeArrowheads="1"/>
            </p:cNvSpPr>
            <p:nvPr/>
          </p:nvSpPr>
          <p:spPr bwMode="auto">
            <a:xfrm>
              <a:off x="4883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36" name="Oval 39"/>
            <p:cNvSpPr>
              <a:spLocks noChangeArrowheads="1"/>
            </p:cNvSpPr>
            <p:nvPr/>
          </p:nvSpPr>
          <p:spPr bwMode="auto">
            <a:xfrm>
              <a:off x="5241" y="3137"/>
              <a:ext cx="127" cy="127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</p:grpSp>
      <p:sp>
        <p:nvSpPr>
          <p:cNvPr id="37" name="Line 40"/>
          <p:cNvSpPr>
            <a:spLocks noChangeShapeType="1"/>
          </p:cNvSpPr>
          <p:nvPr/>
        </p:nvSpPr>
        <p:spPr bwMode="auto">
          <a:xfrm>
            <a:off x="304800" y="2819400"/>
            <a:ext cx="8229600" cy="0"/>
          </a:xfrm>
          <a:prstGeom prst="line">
            <a:avLst/>
          </a:prstGeom>
          <a:noFill/>
          <a:ln w="63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315913" y="466725"/>
            <a:ext cx="6781800" cy="2133600"/>
          </a:xfrm>
        </p:spPr>
        <p:txBody>
          <a:bodyPr/>
          <a:lstStyle>
            <a:lvl1pPr algn="r">
              <a:defRPr sz="48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4301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849313" y="3049588"/>
            <a:ext cx="6248400" cy="2362200"/>
          </a:xfrm>
        </p:spPr>
        <p:txBody>
          <a:bodyPr/>
          <a:lstStyle>
            <a:lvl1pPr marL="0" indent="0" algn="r">
              <a:buFont typeface="Wingdings" pitchFamily="2" charset="2"/>
              <a:buNone/>
              <a:defRPr sz="3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38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9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272338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11, Copyright © John C. Hull 2016</a:t>
            </a:r>
            <a:endParaRPr lang="en-US" altLang="en-US" i="0"/>
          </a:p>
        </p:txBody>
      </p:sp>
      <p:sp>
        <p:nvSpPr>
          <p:cNvPr id="40" name="Rectangle 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237288"/>
            <a:ext cx="2133600" cy="468312"/>
          </a:xfrm>
        </p:spPr>
        <p:txBody>
          <a:bodyPr/>
          <a:lstStyle>
            <a:lvl1pPr>
              <a:defRPr/>
            </a:lvl1pPr>
          </a:lstStyle>
          <a:p>
            <a:fld id="{BAD1E113-EEAC-45A3-BFA7-05408E3ED85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7863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11,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5B64F25-1C7B-440E-A1BD-16810C8A2D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4296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11,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209F1A-C0E6-4977-B3A6-C565AF4C04C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1003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263"/>
            <a:ext cx="4038600" cy="441166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11,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89F87E-6DDA-46E3-80C9-A867AE4E25E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56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11, Copyright © John C. Hull 2016</a:t>
            </a:r>
            <a:endParaRPr lang="en-US" altLang="en-US" i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34F92A-A845-424E-B722-91B37B2049D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81675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11, Copyright © John C. Hull 2016</a:t>
            </a:r>
            <a:endParaRPr lang="en-US" altLang="en-US" i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D91755-1D96-4D4D-83EF-BD08E57DC2F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84842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11, Copyright © John C. Hull 2016</a:t>
            </a:r>
            <a:endParaRPr lang="en-US" altLang="en-US" i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F4AD8D6-DCF0-4832-824C-39D98234CEC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7665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11,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B819E8-DC47-459F-A9BE-412AE3E3C55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0158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11, Copyright © John C. Hull 2016</a:t>
            </a:r>
            <a:endParaRPr lang="en-US" altLang="en-US" i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BC520CD-9E0E-46F6-B341-E887CBDB2A6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70146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11,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41D46C-C067-4C03-87D6-861374DA07B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0637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22238"/>
            <a:ext cx="2057400" cy="600868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22238"/>
            <a:ext cx="6019800" cy="6008687"/>
          </a:xfrm>
        </p:spPr>
        <p:txBody>
          <a:bodyPr vert="eaVert"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11, Copyright © John C. Hull 2016</a:t>
            </a:r>
            <a:endParaRPr lang="en-US" altLang="en-US" i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94EC5E-F5E3-4FE9-9A31-1743884985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000040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>
            <a:spLocks noChangeShapeType="1"/>
          </p:cNvSpPr>
          <p:nvPr/>
        </p:nvSpPr>
        <p:spPr bwMode="auto">
          <a:xfrm>
            <a:off x="7962900" y="152400"/>
            <a:ext cx="0" cy="1524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22238"/>
            <a:ext cx="754380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719263"/>
            <a:ext cx="8229600" cy="4411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4198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latin typeface="Arial" charset="0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199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50825" y="6248400"/>
            <a:ext cx="7561263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i="1" smtClean="0">
                <a:latin typeface="Arial" charset="0"/>
              </a:defRPr>
            </a:lvl1pPr>
          </a:lstStyle>
          <a:p>
            <a:pPr>
              <a:defRPr/>
            </a:pPr>
            <a:r>
              <a:rPr lang="en-CA" altLang="en-US"/>
              <a:t>Fundamentals of Futures and Options Markets, 9th Ed, Ch 11, Copyright © John C. Hull 2016</a:t>
            </a:r>
            <a:endParaRPr lang="en-US" altLang="en-US"/>
          </a:p>
        </p:txBody>
      </p:sp>
      <p:sp>
        <p:nvSpPr>
          <p:cNvPr id="4199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b="1"/>
            </a:lvl1pPr>
          </a:lstStyle>
          <a:p>
            <a:fld id="{60702DE9-C405-4997-8013-D0EA646156F8}" type="slidenum">
              <a:rPr lang="en-US" altLang="en-US"/>
              <a:pPr/>
              <a:t>‹#›</a:t>
            </a:fld>
            <a:endParaRPr lang="en-US" altLang="en-US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8153400" y="152400"/>
            <a:ext cx="792163" cy="1295400"/>
            <a:chOff x="5136" y="960"/>
            <a:chExt cx="528" cy="864"/>
          </a:xfrm>
        </p:grpSpPr>
        <p:sp>
          <p:nvSpPr>
            <p:cNvPr id="1033" name="Oval 9"/>
            <p:cNvSpPr>
              <a:spLocks noChangeArrowheads="1"/>
            </p:cNvSpPr>
            <p:nvPr/>
          </p:nvSpPr>
          <p:spPr bwMode="auto">
            <a:xfrm>
              <a:off x="5136" y="960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4" name="Oval 10"/>
            <p:cNvSpPr>
              <a:spLocks noChangeArrowheads="1"/>
            </p:cNvSpPr>
            <p:nvPr/>
          </p:nvSpPr>
          <p:spPr bwMode="auto">
            <a:xfrm>
              <a:off x="5248" y="960"/>
              <a:ext cx="79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5" name="Oval 11"/>
            <p:cNvSpPr>
              <a:spLocks noChangeArrowheads="1"/>
            </p:cNvSpPr>
            <p:nvPr/>
          </p:nvSpPr>
          <p:spPr bwMode="auto">
            <a:xfrm>
              <a:off x="5360" y="960"/>
              <a:ext cx="76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6" name="Oval 12"/>
            <p:cNvSpPr>
              <a:spLocks noChangeArrowheads="1"/>
            </p:cNvSpPr>
            <p:nvPr/>
          </p:nvSpPr>
          <p:spPr bwMode="auto">
            <a:xfrm>
              <a:off x="5136" y="1072"/>
              <a:ext cx="80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7" name="Oval 13"/>
            <p:cNvSpPr>
              <a:spLocks noChangeArrowheads="1"/>
            </p:cNvSpPr>
            <p:nvPr/>
          </p:nvSpPr>
          <p:spPr bwMode="auto">
            <a:xfrm>
              <a:off x="5248" y="1072"/>
              <a:ext cx="79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8" name="Oval 14"/>
            <p:cNvSpPr>
              <a:spLocks noChangeArrowheads="1"/>
            </p:cNvSpPr>
            <p:nvPr/>
          </p:nvSpPr>
          <p:spPr bwMode="auto">
            <a:xfrm>
              <a:off x="5360" y="1072"/>
              <a:ext cx="76" cy="77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39" name="Oval 15"/>
            <p:cNvSpPr>
              <a:spLocks noChangeArrowheads="1"/>
            </p:cNvSpPr>
            <p:nvPr/>
          </p:nvSpPr>
          <p:spPr bwMode="auto">
            <a:xfrm>
              <a:off x="5472" y="1072"/>
              <a:ext cx="74" cy="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0" name="Oval 16"/>
            <p:cNvSpPr>
              <a:spLocks noChangeArrowheads="1"/>
            </p:cNvSpPr>
            <p:nvPr/>
          </p:nvSpPr>
          <p:spPr bwMode="auto">
            <a:xfrm>
              <a:off x="5136" y="1184"/>
              <a:ext cx="80" cy="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1" name="Oval 17"/>
            <p:cNvSpPr>
              <a:spLocks noChangeArrowheads="1"/>
            </p:cNvSpPr>
            <p:nvPr/>
          </p:nvSpPr>
          <p:spPr bwMode="auto">
            <a:xfrm>
              <a:off x="5248" y="1184"/>
              <a:ext cx="79" cy="74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2" name="Oval 18"/>
            <p:cNvSpPr>
              <a:spLocks noChangeArrowheads="1"/>
            </p:cNvSpPr>
            <p:nvPr/>
          </p:nvSpPr>
          <p:spPr bwMode="auto">
            <a:xfrm>
              <a:off x="5360" y="1184"/>
              <a:ext cx="76" cy="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3" name="Oval 19"/>
            <p:cNvSpPr>
              <a:spLocks noChangeArrowheads="1"/>
            </p:cNvSpPr>
            <p:nvPr/>
          </p:nvSpPr>
          <p:spPr bwMode="auto">
            <a:xfrm>
              <a:off x="5472" y="1184"/>
              <a:ext cx="74" cy="7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4" name="Oval 20"/>
            <p:cNvSpPr>
              <a:spLocks noChangeArrowheads="1"/>
            </p:cNvSpPr>
            <p:nvPr/>
          </p:nvSpPr>
          <p:spPr bwMode="auto">
            <a:xfrm>
              <a:off x="5584" y="1184"/>
              <a:ext cx="80" cy="7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5" name="Oval 21"/>
            <p:cNvSpPr>
              <a:spLocks noChangeArrowheads="1"/>
            </p:cNvSpPr>
            <p:nvPr/>
          </p:nvSpPr>
          <p:spPr bwMode="auto">
            <a:xfrm>
              <a:off x="5136" y="1296"/>
              <a:ext cx="80" cy="8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6" name="Oval 22"/>
            <p:cNvSpPr>
              <a:spLocks noChangeArrowheads="1"/>
            </p:cNvSpPr>
            <p:nvPr/>
          </p:nvSpPr>
          <p:spPr bwMode="auto">
            <a:xfrm>
              <a:off x="5248" y="1296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7" name="Oval 23"/>
            <p:cNvSpPr>
              <a:spLocks noChangeArrowheads="1"/>
            </p:cNvSpPr>
            <p:nvPr/>
          </p:nvSpPr>
          <p:spPr bwMode="auto">
            <a:xfrm>
              <a:off x="5360" y="1296"/>
              <a:ext cx="76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8" name="Oval 24"/>
            <p:cNvSpPr>
              <a:spLocks noChangeArrowheads="1"/>
            </p:cNvSpPr>
            <p:nvPr/>
          </p:nvSpPr>
          <p:spPr bwMode="auto">
            <a:xfrm>
              <a:off x="5472" y="1296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49" name="Oval 25"/>
            <p:cNvSpPr>
              <a:spLocks noChangeArrowheads="1"/>
            </p:cNvSpPr>
            <p:nvPr/>
          </p:nvSpPr>
          <p:spPr bwMode="auto">
            <a:xfrm>
              <a:off x="5136" y="1408"/>
              <a:ext cx="80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0" name="Oval 26"/>
            <p:cNvSpPr>
              <a:spLocks noChangeArrowheads="1"/>
            </p:cNvSpPr>
            <p:nvPr/>
          </p:nvSpPr>
          <p:spPr bwMode="auto">
            <a:xfrm>
              <a:off x="5248" y="1408"/>
              <a:ext cx="79" cy="8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1" name="Oval 27"/>
            <p:cNvSpPr>
              <a:spLocks noChangeArrowheads="1"/>
            </p:cNvSpPr>
            <p:nvPr/>
          </p:nvSpPr>
          <p:spPr bwMode="auto">
            <a:xfrm>
              <a:off x="5360" y="1408"/>
              <a:ext cx="76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2" name="Oval 28"/>
            <p:cNvSpPr>
              <a:spLocks noChangeArrowheads="1"/>
            </p:cNvSpPr>
            <p:nvPr/>
          </p:nvSpPr>
          <p:spPr bwMode="auto">
            <a:xfrm>
              <a:off x="5472" y="1408"/>
              <a:ext cx="74" cy="8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3" name="Oval 29"/>
            <p:cNvSpPr>
              <a:spLocks noChangeArrowheads="1"/>
            </p:cNvSpPr>
            <p:nvPr/>
          </p:nvSpPr>
          <p:spPr bwMode="auto">
            <a:xfrm>
              <a:off x="5584" y="1408"/>
              <a:ext cx="80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4" name="Oval 30"/>
            <p:cNvSpPr>
              <a:spLocks noChangeArrowheads="1"/>
            </p:cNvSpPr>
            <p:nvPr/>
          </p:nvSpPr>
          <p:spPr bwMode="auto">
            <a:xfrm>
              <a:off x="5136" y="1520"/>
              <a:ext cx="80" cy="79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5" name="Oval 31"/>
            <p:cNvSpPr>
              <a:spLocks noChangeArrowheads="1"/>
            </p:cNvSpPr>
            <p:nvPr/>
          </p:nvSpPr>
          <p:spPr bwMode="auto">
            <a:xfrm>
              <a:off x="5248" y="1520"/>
              <a:ext cx="79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6" name="Oval 32"/>
            <p:cNvSpPr>
              <a:spLocks noChangeArrowheads="1"/>
            </p:cNvSpPr>
            <p:nvPr/>
          </p:nvSpPr>
          <p:spPr bwMode="auto">
            <a:xfrm>
              <a:off x="5360" y="1520"/>
              <a:ext cx="76" cy="79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7" name="Oval 33"/>
            <p:cNvSpPr>
              <a:spLocks noChangeArrowheads="1"/>
            </p:cNvSpPr>
            <p:nvPr/>
          </p:nvSpPr>
          <p:spPr bwMode="auto">
            <a:xfrm>
              <a:off x="5472" y="1520"/>
              <a:ext cx="74" cy="79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8" name="Oval 34"/>
            <p:cNvSpPr>
              <a:spLocks noChangeArrowheads="1"/>
            </p:cNvSpPr>
            <p:nvPr/>
          </p:nvSpPr>
          <p:spPr bwMode="auto">
            <a:xfrm>
              <a:off x="5136" y="1632"/>
              <a:ext cx="80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59" name="Oval 35"/>
            <p:cNvSpPr>
              <a:spLocks noChangeArrowheads="1"/>
            </p:cNvSpPr>
            <p:nvPr/>
          </p:nvSpPr>
          <p:spPr bwMode="auto">
            <a:xfrm>
              <a:off x="5248" y="1632"/>
              <a:ext cx="79" cy="75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0" name="Oval 36"/>
            <p:cNvSpPr>
              <a:spLocks noChangeArrowheads="1"/>
            </p:cNvSpPr>
            <p:nvPr/>
          </p:nvSpPr>
          <p:spPr bwMode="auto">
            <a:xfrm>
              <a:off x="5360" y="1632"/>
              <a:ext cx="76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1" name="Oval 37"/>
            <p:cNvSpPr>
              <a:spLocks noChangeArrowheads="1"/>
            </p:cNvSpPr>
            <p:nvPr/>
          </p:nvSpPr>
          <p:spPr bwMode="auto">
            <a:xfrm>
              <a:off x="5472" y="1632"/>
              <a:ext cx="74" cy="75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2" name="Oval 38"/>
            <p:cNvSpPr>
              <a:spLocks noChangeArrowheads="1"/>
            </p:cNvSpPr>
            <p:nvPr/>
          </p:nvSpPr>
          <p:spPr bwMode="auto">
            <a:xfrm>
              <a:off x="5248" y="1744"/>
              <a:ext cx="79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  <p:sp>
          <p:nvSpPr>
            <p:cNvPr id="1063" name="Oval 39"/>
            <p:cNvSpPr>
              <a:spLocks noChangeArrowheads="1"/>
            </p:cNvSpPr>
            <p:nvPr/>
          </p:nvSpPr>
          <p:spPr bwMode="auto">
            <a:xfrm>
              <a:off x="5472" y="1744"/>
              <a:ext cx="74" cy="80"/>
            </a:xfrm>
            <a:prstGeom prst="ellipse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defRPr/>
              </a:pPr>
              <a:endParaRPr lang="en-US" altLang="en-US" smtClean="0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05" r:id="rId1"/>
    <p:sldLayoutId id="2147483806" r:id="rId2"/>
    <p:sldLayoutId id="2147483807" r:id="rId3"/>
    <p:sldLayoutId id="2147483808" r:id="rId4"/>
    <p:sldLayoutId id="2147483809" r:id="rId5"/>
    <p:sldLayoutId id="2147483810" r:id="rId6"/>
    <p:sldLayoutId id="2147483811" r:id="rId7"/>
    <p:sldLayoutId id="2147483812" r:id="rId8"/>
    <p:sldLayoutId id="2147483813" r:id="rId9"/>
    <p:sldLayoutId id="2147483814" r:id="rId10"/>
    <p:sldLayoutId id="2147483815" r:id="rId11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0000"/>
        <a:buFont typeface="Wingdings" panose="05000000000000000000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692150" indent="-3476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sz="2800">
          <a:solidFill>
            <a:schemeClr val="tx1"/>
          </a:solidFill>
          <a:latin typeface="+mn-lt"/>
        </a:defRPr>
      </a:lvl2pPr>
      <a:lvl3pPr marL="987425" indent="-29368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0000"/>
        <a:buFont typeface="Wingdings" panose="05000000000000000000" pitchFamily="2" charset="2"/>
        <a:buChar char="l"/>
        <a:defRPr sz="2400">
          <a:solidFill>
            <a:schemeClr val="tx1"/>
          </a:solidFill>
          <a:latin typeface="+mn-lt"/>
        </a:defRPr>
      </a:lvl3pPr>
      <a:lvl4pPr marL="1281113" indent="-2921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75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1598613" indent="-315913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0558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130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29702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427413" indent="-315913" algn="l" rtl="0" fontAlgn="base">
        <a:spcBef>
          <a:spcPct val="20000"/>
        </a:spcBef>
        <a:spcAft>
          <a:spcPct val="0"/>
        </a:spcAft>
        <a:buClr>
          <a:schemeClr val="folHlink"/>
        </a:buClr>
        <a:buSzPct val="80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6"/>
          <p:cNvSpPr>
            <a:spLocks noGrp="1" noChangeArrowheads="1"/>
          </p:cNvSpPr>
          <p:nvPr>
            <p:ph type="ftr" sz="quarter" idx="11"/>
          </p:nvPr>
        </p:nvSpPr>
        <p:spPr>
          <a:xfrm>
            <a:off x="323850" y="6248400"/>
            <a:ext cx="7748588" cy="457200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11, Copyright © John C. Hull 2016</a:t>
            </a:r>
            <a:endParaRPr lang="en-US" altLang="en-US" sz="1400" i="0"/>
          </a:p>
        </p:txBody>
      </p:sp>
      <p:sp>
        <p:nvSpPr>
          <p:cNvPr id="13315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Trading Strategies Involving Options</a:t>
            </a:r>
          </a:p>
        </p:txBody>
      </p:sp>
      <p:sp>
        <p:nvSpPr>
          <p:cNvPr id="13316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Chapter 11</a:t>
            </a: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10F14EED-B094-4297-B7F8-498B663C0EEB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</a:t>
            </a:fld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 lIns="92075" tIns="46038" rIns="92075" bIns="46038"/>
          <a:lstStyle/>
          <a:p>
            <a:pPr eaLnBrk="1" hangingPunct="1"/>
            <a:r>
              <a:rPr lang="en-US" altLang="en-US" smtClean="0"/>
              <a:t>Strategies to be Considered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539750" y="1412875"/>
            <a:ext cx="7543800" cy="4191000"/>
          </a:xfrm>
        </p:spPr>
        <p:txBody>
          <a:bodyPr lIns="92075" tIns="46038" rIns="92075" bIns="46038"/>
          <a:lstStyle/>
          <a:p>
            <a:pPr eaLnBrk="1" hangingPunct="1"/>
            <a:endParaRPr lang="en-US" altLang="en-US" smtClean="0">
              <a:cs typeface="Arial" panose="020B0604020202020204" pitchFamily="34" charset="0"/>
            </a:endParaRPr>
          </a:p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Bond plus option to create principal protected note</a:t>
            </a:r>
            <a:endParaRPr lang="en-US" altLang="en-US" smtClean="0">
              <a:cs typeface="Arial" panose="020B0604020202020204" pitchFamily="34" charset="0"/>
            </a:endParaRPr>
          </a:p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Stock plus option</a:t>
            </a:r>
            <a:endParaRPr lang="en-US" altLang="en-US" smtClean="0">
              <a:cs typeface="Arial" panose="020B0604020202020204" pitchFamily="34" charset="0"/>
            </a:endParaRP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Two or more options of the same type (a spread) </a:t>
            </a:r>
          </a:p>
          <a:p>
            <a:pPr eaLnBrk="1" hangingPunct="1"/>
            <a:r>
              <a:rPr lang="en-US" altLang="en-US" smtClean="0">
                <a:cs typeface="Arial" panose="020B0604020202020204" pitchFamily="34" charset="0"/>
              </a:rPr>
              <a:t>Two or more options of different types (a combination)</a:t>
            </a:r>
          </a:p>
        </p:txBody>
      </p:sp>
      <p:sp>
        <p:nvSpPr>
          <p:cNvPr id="1434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11, Copyright © John C. Hull 2016</a:t>
            </a:r>
            <a:endParaRPr lang="en-US" altLang="en-US" sz="1400">
              <a:cs typeface="Arial" panose="020B0604020202020204" pitchFamily="34" charset="0"/>
            </a:endParaRPr>
          </a:p>
        </p:txBody>
      </p:sp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284AB272-9811-44DE-9DFB-5EEF14F5B910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Principal Protected Note</a:t>
            </a:r>
            <a:endParaRPr lang="en-US" altLang="en-US" smtClean="0"/>
          </a:p>
        </p:txBody>
      </p:sp>
      <p:sp>
        <p:nvSpPr>
          <p:cNvPr id="1536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Allows investor to take a risky position without risking any principal</a:t>
            </a:r>
          </a:p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Example: $1000 instrument consisting of</a:t>
            </a:r>
          </a:p>
          <a:p>
            <a:pPr lvl="1" eaLnBrk="1" hangingPunct="1"/>
            <a:r>
              <a:rPr lang="en-CA" altLang="en-US" smtClean="0">
                <a:cs typeface="Arial" panose="020B0604020202020204" pitchFamily="34" charset="0"/>
              </a:rPr>
              <a:t>3-year zero-coupon bond with principal of $1000</a:t>
            </a:r>
          </a:p>
          <a:p>
            <a:pPr lvl="1" eaLnBrk="1" hangingPunct="1"/>
            <a:r>
              <a:rPr lang="en-CA" altLang="en-US" smtClean="0">
                <a:cs typeface="Arial" panose="020B0604020202020204" pitchFamily="34" charset="0"/>
              </a:rPr>
              <a:t>3-year at-the-money call option on a stock portfolio currently worth $1000</a:t>
            </a:r>
          </a:p>
        </p:txBody>
      </p:sp>
      <p:sp>
        <p:nvSpPr>
          <p:cNvPr id="1536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11, Copyright © John C. Hull 2016</a:t>
            </a:r>
            <a:endParaRPr lang="en-US" altLang="en-US" sz="1400"/>
          </a:p>
        </p:txBody>
      </p:sp>
      <p:sp>
        <p:nvSpPr>
          <p:cNvPr id="1536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F380E01C-7A4E-4D7D-A3A4-974AAA936419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Principal Protected Notes </a:t>
            </a:r>
            <a:r>
              <a:rPr lang="en-CA" altLang="en-US" sz="2400" smtClean="0"/>
              <a:t>continued</a:t>
            </a:r>
            <a:endParaRPr lang="en-US" altLang="en-US" sz="2400" smtClean="0"/>
          </a:p>
        </p:txBody>
      </p:sp>
      <p:sp>
        <p:nvSpPr>
          <p:cNvPr id="1638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Viability depends on</a:t>
            </a:r>
          </a:p>
          <a:p>
            <a:pPr lvl="1" eaLnBrk="1" hangingPunct="1"/>
            <a:r>
              <a:rPr lang="en-CA" altLang="en-US" smtClean="0">
                <a:cs typeface="Arial" panose="020B0604020202020204" pitchFamily="34" charset="0"/>
              </a:rPr>
              <a:t>Level of dividends</a:t>
            </a:r>
          </a:p>
          <a:p>
            <a:pPr lvl="1" eaLnBrk="1" hangingPunct="1"/>
            <a:r>
              <a:rPr lang="en-CA" altLang="en-US" smtClean="0">
                <a:cs typeface="Arial" panose="020B0604020202020204" pitchFamily="34" charset="0"/>
              </a:rPr>
              <a:t>Level of interest rates</a:t>
            </a:r>
          </a:p>
          <a:p>
            <a:pPr lvl="1" eaLnBrk="1" hangingPunct="1"/>
            <a:r>
              <a:rPr lang="en-CA" altLang="en-US" smtClean="0">
                <a:cs typeface="Arial" panose="020B0604020202020204" pitchFamily="34" charset="0"/>
              </a:rPr>
              <a:t>Volatility of the portfolio</a:t>
            </a:r>
            <a:endParaRPr lang="en-US" altLang="en-US" smtClean="0">
              <a:cs typeface="Arial" panose="020B0604020202020204" pitchFamily="34" charset="0"/>
            </a:endParaRPr>
          </a:p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Variations on standard product</a:t>
            </a:r>
          </a:p>
          <a:p>
            <a:pPr lvl="1" eaLnBrk="1" hangingPunct="1"/>
            <a:r>
              <a:rPr lang="en-CA" altLang="en-US" smtClean="0">
                <a:cs typeface="Arial" panose="020B0604020202020204" pitchFamily="34" charset="0"/>
              </a:rPr>
              <a:t>Out of the money strike price</a:t>
            </a:r>
          </a:p>
          <a:p>
            <a:pPr lvl="1" eaLnBrk="1" hangingPunct="1"/>
            <a:r>
              <a:rPr lang="en-CA" altLang="en-US" smtClean="0">
                <a:cs typeface="Arial" panose="020B0604020202020204" pitchFamily="34" charset="0"/>
              </a:rPr>
              <a:t>Caps on investor return</a:t>
            </a:r>
          </a:p>
          <a:p>
            <a:pPr lvl="1" eaLnBrk="1" hangingPunct="1"/>
            <a:r>
              <a:rPr lang="en-CA" altLang="en-US" smtClean="0">
                <a:cs typeface="Arial" panose="020B0604020202020204" pitchFamily="34" charset="0"/>
              </a:rPr>
              <a:t>Knock outs, averaging features, etc</a:t>
            </a:r>
          </a:p>
          <a:p>
            <a:pPr lvl="1" eaLnBrk="1" hangingPunct="1"/>
            <a:endParaRPr lang="en-CA" altLang="en-US" smtClean="0">
              <a:cs typeface="Arial" panose="020B0604020202020204" pitchFamily="34" charset="0"/>
            </a:endParaRPr>
          </a:p>
          <a:p>
            <a:pPr lvl="1" eaLnBrk="1" hangingPunct="1"/>
            <a:endParaRPr lang="en-CA" altLang="en-US" smtClean="0">
              <a:cs typeface="Arial" panose="020B0604020202020204" pitchFamily="34" charset="0"/>
            </a:endParaRPr>
          </a:p>
        </p:txBody>
      </p:sp>
      <p:sp>
        <p:nvSpPr>
          <p:cNvPr id="16388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11, Copyright © John C. Hull 2016</a:t>
            </a:r>
            <a:endParaRPr lang="en-US" altLang="en-US" sz="1400"/>
          </a:p>
        </p:txBody>
      </p:sp>
      <p:sp>
        <p:nvSpPr>
          <p:cNvPr id="16389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01C5FF1-4E36-4082-9968-F2D9C265DB59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11, Copyright © John C. Hull 2016</a:t>
            </a:r>
            <a:endParaRPr lang="en-US" altLang="en-US" sz="1400" i="0"/>
          </a:p>
        </p:txBody>
      </p:sp>
      <p:sp>
        <p:nvSpPr>
          <p:cNvPr id="17411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23825"/>
            <a:ext cx="7772400" cy="1143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z="3500" smtClean="0"/>
              <a:t>Positions in an Option &amp; the Underlying </a:t>
            </a:r>
            <a:r>
              <a:rPr lang="en-US" altLang="en-US" sz="2000" smtClean="0"/>
              <a:t>(Figure 11.1, page 252)</a:t>
            </a:r>
            <a:endParaRPr lang="en-US" altLang="en-US" sz="3500" smtClean="0"/>
          </a:p>
        </p:txBody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230313" y="1189038"/>
            <a:ext cx="3521075" cy="4538662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smtClean="0"/>
              <a:t> </a:t>
            </a:r>
          </a:p>
        </p:txBody>
      </p:sp>
      <p:sp>
        <p:nvSpPr>
          <p:cNvPr id="17413" name="Line 4"/>
          <p:cNvSpPr>
            <a:spLocks noChangeShapeType="1"/>
          </p:cNvSpPr>
          <p:nvPr/>
        </p:nvSpPr>
        <p:spPr bwMode="auto">
          <a:xfrm>
            <a:off x="1716088" y="1785938"/>
            <a:ext cx="0" cy="20716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4" name="Line 5"/>
          <p:cNvSpPr>
            <a:spLocks noChangeShapeType="1"/>
          </p:cNvSpPr>
          <p:nvPr/>
        </p:nvSpPr>
        <p:spPr bwMode="auto">
          <a:xfrm>
            <a:off x="1716088" y="2887663"/>
            <a:ext cx="2374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5" name="Rectangle 6"/>
          <p:cNvSpPr>
            <a:spLocks noChangeArrowheads="1"/>
          </p:cNvSpPr>
          <p:nvPr/>
        </p:nvSpPr>
        <p:spPr bwMode="auto">
          <a:xfrm>
            <a:off x="1752600" y="1935163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Profit</a:t>
            </a:r>
          </a:p>
        </p:txBody>
      </p:sp>
      <p:sp>
        <p:nvSpPr>
          <p:cNvPr id="17416" name="Rectangle 7"/>
          <p:cNvSpPr>
            <a:spLocks noChangeArrowheads="1"/>
          </p:cNvSpPr>
          <p:nvPr/>
        </p:nvSpPr>
        <p:spPr bwMode="auto">
          <a:xfrm>
            <a:off x="3784600" y="2894013"/>
            <a:ext cx="511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</a:rPr>
              <a:t>S</a:t>
            </a:r>
            <a:r>
              <a:rPr lang="en-US" altLang="en-US" sz="2400" i="1" baseline="-250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7417" name="Rectangle 8"/>
          <p:cNvSpPr>
            <a:spLocks noChangeArrowheads="1"/>
          </p:cNvSpPr>
          <p:nvPr/>
        </p:nvSpPr>
        <p:spPr bwMode="auto">
          <a:xfrm>
            <a:off x="2632075" y="2924175"/>
            <a:ext cx="317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17418" name="Line 9"/>
          <p:cNvSpPr>
            <a:spLocks noChangeShapeType="1"/>
          </p:cNvSpPr>
          <p:nvPr/>
        </p:nvSpPr>
        <p:spPr bwMode="auto">
          <a:xfrm flipV="1">
            <a:off x="1716088" y="2541588"/>
            <a:ext cx="1114425" cy="1055687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19" name="Line 10"/>
          <p:cNvSpPr>
            <a:spLocks noChangeShapeType="1"/>
          </p:cNvSpPr>
          <p:nvPr/>
        </p:nvSpPr>
        <p:spPr bwMode="auto">
          <a:xfrm>
            <a:off x="2843213" y="2565400"/>
            <a:ext cx="827087" cy="0"/>
          </a:xfrm>
          <a:prstGeom prst="line">
            <a:avLst/>
          </a:prstGeom>
          <a:noFill/>
          <a:ln w="25400">
            <a:solidFill>
              <a:srgbClr val="FF66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0" name="Line 11"/>
          <p:cNvSpPr>
            <a:spLocks noChangeShapeType="1"/>
          </p:cNvSpPr>
          <p:nvPr/>
        </p:nvSpPr>
        <p:spPr bwMode="auto">
          <a:xfrm flipV="1">
            <a:off x="2825750" y="2840038"/>
            <a:ext cx="0" cy="4762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1" name="Line 12"/>
          <p:cNvSpPr>
            <a:spLocks noChangeShapeType="1"/>
          </p:cNvSpPr>
          <p:nvPr/>
        </p:nvSpPr>
        <p:spPr bwMode="auto">
          <a:xfrm>
            <a:off x="1720850" y="2779713"/>
            <a:ext cx="11049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2" name="Line 13"/>
          <p:cNvSpPr>
            <a:spLocks noChangeShapeType="1"/>
          </p:cNvSpPr>
          <p:nvPr/>
        </p:nvSpPr>
        <p:spPr bwMode="auto">
          <a:xfrm>
            <a:off x="2825750" y="2760663"/>
            <a:ext cx="850900" cy="804862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3" name="Line 14"/>
          <p:cNvSpPr>
            <a:spLocks noChangeShapeType="1"/>
          </p:cNvSpPr>
          <p:nvPr/>
        </p:nvSpPr>
        <p:spPr bwMode="auto">
          <a:xfrm flipH="1">
            <a:off x="1720850" y="1854200"/>
            <a:ext cx="1941513" cy="1836738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4" name="Line 15"/>
          <p:cNvSpPr>
            <a:spLocks noChangeShapeType="1"/>
          </p:cNvSpPr>
          <p:nvPr/>
        </p:nvSpPr>
        <p:spPr bwMode="auto">
          <a:xfrm>
            <a:off x="5316538" y="1785938"/>
            <a:ext cx="0" cy="20716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5" name="Line 16"/>
          <p:cNvSpPr>
            <a:spLocks noChangeShapeType="1"/>
          </p:cNvSpPr>
          <p:nvPr/>
        </p:nvSpPr>
        <p:spPr bwMode="auto">
          <a:xfrm>
            <a:off x="5316538" y="2887663"/>
            <a:ext cx="23733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26" name="Rectangle 17"/>
          <p:cNvSpPr>
            <a:spLocks noChangeArrowheads="1"/>
          </p:cNvSpPr>
          <p:nvPr/>
        </p:nvSpPr>
        <p:spPr bwMode="auto">
          <a:xfrm>
            <a:off x="5410200" y="1828800"/>
            <a:ext cx="10668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Profit</a:t>
            </a:r>
          </a:p>
        </p:txBody>
      </p:sp>
      <p:sp>
        <p:nvSpPr>
          <p:cNvPr id="17427" name="Rectangle 18"/>
          <p:cNvSpPr>
            <a:spLocks noChangeArrowheads="1"/>
          </p:cNvSpPr>
          <p:nvPr/>
        </p:nvSpPr>
        <p:spPr bwMode="auto">
          <a:xfrm>
            <a:off x="7402513" y="2894013"/>
            <a:ext cx="511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</a:rPr>
              <a:t>S</a:t>
            </a:r>
            <a:r>
              <a:rPr lang="en-US" altLang="en-US" sz="2400" i="1" baseline="-250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7428" name="Rectangle 19"/>
          <p:cNvSpPr>
            <a:spLocks noChangeArrowheads="1"/>
          </p:cNvSpPr>
          <p:nvPr/>
        </p:nvSpPr>
        <p:spPr bwMode="auto">
          <a:xfrm>
            <a:off x="6226175" y="2444750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17429" name="Line 20"/>
          <p:cNvSpPr>
            <a:spLocks noChangeShapeType="1"/>
          </p:cNvSpPr>
          <p:nvPr/>
        </p:nvSpPr>
        <p:spPr bwMode="auto">
          <a:xfrm>
            <a:off x="6443663" y="3213100"/>
            <a:ext cx="76835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0" name="Line 21"/>
          <p:cNvSpPr>
            <a:spLocks noChangeShapeType="1"/>
          </p:cNvSpPr>
          <p:nvPr/>
        </p:nvSpPr>
        <p:spPr bwMode="auto">
          <a:xfrm flipH="1" flipV="1">
            <a:off x="5326063" y="2149475"/>
            <a:ext cx="1120775" cy="106045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1" name="Line 22"/>
          <p:cNvSpPr>
            <a:spLocks noChangeShapeType="1"/>
          </p:cNvSpPr>
          <p:nvPr/>
        </p:nvSpPr>
        <p:spPr bwMode="auto">
          <a:xfrm>
            <a:off x="5326063" y="2995613"/>
            <a:ext cx="1112837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2" name="Line 23"/>
          <p:cNvSpPr>
            <a:spLocks noChangeShapeType="1"/>
          </p:cNvSpPr>
          <p:nvPr/>
        </p:nvSpPr>
        <p:spPr bwMode="auto">
          <a:xfrm flipV="1">
            <a:off x="6438900" y="2290763"/>
            <a:ext cx="744538" cy="70485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3" name="Line 24"/>
          <p:cNvSpPr>
            <a:spLocks noChangeShapeType="1"/>
          </p:cNvSpPr>
          <p:nvPr/>
        </p:nvSpPr>
        <p:spPr bwMode="auto">
          <a:xfrm>
            <a:off x="5326063" y="2020888"/>
            <a:ext cx="1930400" cy="18288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4" name="Line 25"/>
          <p:cNvSpPr>
            <a:spLocks noChangeShapeType="1"/>
          </p:cNvSpPr>
          <p:nvPr/>
        </p:nvSpPr>
        <p:spPr bwMode="auto">
          <a:xfrm flipV="1">
            <a:off x="6438900" y="2844800"/>
            <a:ext cx="0" cy="428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5" name="Line 26"/>
          <p:cNvSpPr>
            <a:spLocks noChangeShapeType="1"/>
          </p:cNvSpPr>
          <p:nvPr/>
        </p:nvSpPr>
        <p:spPr bwMode="auto">
          <a:xfrm>
            <a:off x="1716088" y="4040188"/>
            <a:ext cx="0" cy="20605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6" name="Line 27"/>
          <p:cNvSpPr>
            <a:spLocks noChangeShapeType="1"/>
          </p:cNvSpPr>
          <p:nvPr/>
        </p:nvSpPr>
        <p:spPr bwMode="auto">
          <a:xfrm>
            <a:off x="1716088" y="5126038"/>
            <a:ext cx="23749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37" name="Rectangle 28"/>
          <p:cNvSpPr>
            <a:spLocks noChangeArrowheads="1"/>
          </p:cNvSpPr>
          <p:nvPr/>
        </p:nvSpPr>
        <p:spPr bwMode="auto">
          <a:xfrm>
            <a:off x="1752600" y="3962400"/>
            <a:ext cx="838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Profit</a:t>
            </a:r>
          </a:p>
        </p:txBody>
      </p:sp>
      <p:sp>
        <p:nvSpPr>
          <p:cNvPr id="17438" name="Rectangle 29"/>
          <p:cNvSpPr>
            <a:spLocks noChangeArrowheads="1"/>
          </p:cNvSpPr>
          <p:nvPr/>
        </p:nvSpPr>
        <p:spPr bwMode="auto">
          <a:xfrm>
            <a:off x="3784600" y="5132388"/>
            <a:ext cx="511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</a:rPr>
              <a:t>S</a:t>
            </a:r>
            <a:r>
              <a:rPr lang="en-US" altLang="en-US" sz="2400" i="1" baseline="-250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7439" name="Rectangle 30"/>
          <p:cNvSpPr>
            <a:spLocks noChangeArrowheads="1"/>
          </p:cNvSpPr>
          <p:nvPr/>
        </p:nvSpPr>
        <p:spPr bwMode="auto">
          <a:xfrm>
            <a:off x="2663825" y="4676775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17440" name="Line 31"/>
          <p:cNvSpPr>
            <a:spLocks noChangeShapeType="1"/>
          </p:cNvSpPr>
          <p:nvPr/>
        </p:nvSpPr>
        <p:spPr bwMode="auto">
          <a:xfrm>
            <a:off x="1692275" y="5229225"/>
            <a:ext cx="1141413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1" name="Line 32"/>
          <p:cNvSpPr>
            <a:spLocks noChangeShapeType="1"/>
          </p:cNvSpPr>
          <p:nvPr/>
        </p:nvSpPr>
        <p:spPr bwMode="auto">
          <a:xfrm flipV="1">
            <a:off x="2855913" y="4498975"/>
            <a:ext cx="782637" cy="73977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2" name="Line 33"/>
          <p:cNvSpPr>
            <a:spLocks noChangeShapeType="1"/>
          </p:cNvSpPr>
          <p:nvPr/>
        </p:nvSpPr>
        <p:spPr bwMode="auto">
          <a:xfrm flipV="1">
            <a:off x="2870200" y="5080000"/>
            <a:ext cx="0" cy="412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3" name="Line 34"/>
          <p:cNvSpPr>
            <a:spLocks noChangeShapeType="1"/>
          </p:cNvSpPr>
          <p:nvPr/>
        </p:nvSpPr>
        <p:spPr bwMode="auto">
          <a:xfrm flipH="1" flipV="1">
            <a:off x="1692275" y="4221163"/>
            <a:ext cx="1154113" cy="1090612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4" name="Line 35"/>
          <p:cNvSpPr>
            <a:spLocks noChangeShapeType="1"/>
          </p:cNvSpPr>
          <p:nvPr/>
        </p:nvSpPr>
        <p:spPr bwMode="auto">
          <a:xfrm>
            <a:off x="2870200" y="5346700"/>
            <a:ext cx="742950" cy="3175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5" name="Line 36"/>
          <p:cNvSpPr>
            <a:spLocks noChangeShapeType="1"/>
          </p:cNvSpPr>
          <p:nvPr/>
        </p:nvSpPr>
        <p:spPr bwMode="auto">
          <a:xfrm flipV="1">
            <a:off x="1720850" y="4264025"/>
            <a:ext cx="1922463" cy="1806575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6" name="Line 37"/>
          <p:cNvSpPr>
            <a:spLocks noChangeShapeType="1"/>
          </p:cNvSpPr>
          <p:nvPr/>
        </p:nvSpPr>
        <p:spPr bwMode="auto">
          <a:xfrm>
            <a:off x="5316538" y="4035425"/>
            <a:ext cx="0" cy="20621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7" name="Line 38"/>
          <p:cNvSpPr>
            <a:spLocks noChangeShapeType="1"/>
          </p:cNvSpPr>
          <p:nvPr/>
        </p:nvSpPr>
        <p:spPr bwMode="auto">
          <a:xfrm>
            <a:off x="5316538" y="5126038"/>
            <a:ext cx="23733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48" name="Rectangle 39"/>
          <p:cNvSpPr>
            <a:spLocks noChangeArrowheads="1"/>
          </p:cNvSpPr>
          <p:nvPr/>
        </p:nvSpPr>
        <p:spPr bwMode="auto">
          <a:xfrm>
            <a:off x="5334000" y="3886200"/>
            <a:ext cx="10255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Profit</a:t>
            </a:r>
          </a:p>
        </p:txBody>
      </p:sp>
      <p:sp>
        <p:nvSpPr>
          <p:cNvPr id="17449" name="Rectangle 40"/>
          <p:cNvSpPr>
            <a:spLocks noChangeArrowheads="1"/>
          </p:cNvSpPr>
          <p:nvPr/>
        </p:nvSpPr>
        <p:spPr bwMode="auto">
          <a:xfrm>
            <a:off x="7402513" y="5132388"/>
            <a:ext cx="511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</a:rPr>
              <a:t>S</a:t>
            </a:r>
            <a:r>
              <a:rPr lang="en-US" altLang="en-US" sz="2400" i="1" baseline="-250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7450" name="Rectangle 41"/>
          <p:cNvSpPr>
            <a:spLocks noChangeArrowheads="1"/>
          </p:cNvSpPr>
          <p:nvPr/>
        </p:nvSpPr>
        <p:spPr bwMode="auto">
          <a:xfrm>
            <a:off x="6226175" y="5106988"/>
            <a:ext cx="387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17451" name="Line 42"/>
          <p:cNvSpPr>
            <a:spLocks noChangeShapeType="1"/>
          </p:cNvSpPr>
          <p:nvPr/>
        </p:nvSpPr>
        <p:spPr bwMode="auto">
          <a:xfrm>
            <a:off x="5314950" y="5029200"/>
            <a:ext cx="1128713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52" name="Line 43"/>
          <p:cNvSpPr>
            <a:spLocks noChangeShapeType="1"/>
          </p:cNvSpPr>
          <p:nvPr/>
        </p:nvSpPr>
        <p:spPr bwMode="auto">
          <a:xfrm flipH="1" flipV="1">
            <a:off x="6443663" y="5013325"/>
            <a:ext cx="903287" cy="8556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53" name="Line 44"/>
          <p:cNvSpPr>
            <a:spLocks noChangeShapeType="1"/>
          </p:cNvSpPr>
          <p:nvPr/>
        </p:nvSpPr>
        <p:spPr bwMode="auto">
          <a:xfrm>
            <a:off x="5295900" y="4127500"/>
            <a:ext cx="2051050" cy="1943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54" name="Line 45"/>
          <p:cNvSpPr>
            <a:spLocks noChangeShapeType="1"/>
          </p:cNvSpPr>
          <p:nvPr/>
        </p:nvSpPr>
        <p:spPr bwMode="auto">
          <a:xfrm flipV="1">
            <a:off x="6438900" y="5080000"/>
            <a:ext cx="0" cy="41275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55" name="Line 46"/>
          <p:cNvSpPr>
            <a:spLocks noChangeShapeType="1"/>
          </p:cNvSpPr>
          <p:nvPr/>
        </p:nvSpPr>
        <p:spPr bwMode="auto">
          <a:xfrm>
            <a:off x="6437313" y="4910138"/>
            <a:ext cx="88265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56" name="Line 47"/>
          <p:cNvSpPr>
            <a:spLocks noChangeShapeType="1"/>
          </p:cNvSpPr>
          <p:nvPr/>
        </p:nvSpPr>
        <p:spPr bwMode="auto">
          <a:xfrm flipH="1">
            <a:off x="5326063" y="4887913"/>
            <a:ext cx="1112837" cy="10541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457" name="Rectangle 48"/>
          <p:cNvSpPr>
            <a:spLocks noChangeArrowheads="1"/>
          </p:cNvSpPr>
          <p:nvPr/>
        </p:nvSpPr>
        <p:spPr bwMode="auto">
          <a:xfrm>
            <a:off x="2516188" y="3486150"/>
            <a:ext cx="542925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(a)</a:t>
            </a:r>
          </a:p>
        </p:txBody>
      </p:sp>
      <p:sp>
        <p:nvSpPr>
          <p:cNvPr id="17458" name="Rectangle 49"/>
          <p:cNvSpPr>
            <a:spLocks noChangeArrowheads="1"/>
          </p:cNvSpPr>
          <p:nvPr/>
        </p:nvSpPr>
        <p:spPr bwMode="auto">
          <a:xfrm>
            <a:off x="6105525" y="3622675"/>
            <a:ext cx="495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(b)</a:t>
            </a:r>
          </a:p>
        </p:txBody>
      </p:sp>
      <p:sp>
        <p:nvSpPr>
          <p:cNvPr id="17459" name="Rectangle 50"/>
          <p:cNvSpPr>
            <a:spLocks noChangeArrowheads="1"/>
          </p:cNvSpPr>
          <p:nvPr/>
        </p:nvSpPr>
        <p:spPr bwMode="auto">
          <a:xfrm>
            <a:off x="2584450" y="5851525"/>
            <a:ext cx="481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(c)</a:t>
            </a:r>
          </a:p>
        </p:txBody>
      </p:sp>
      <p:sp>
        <p:nvSpPr>
          <p:cNvPr id="17460" name="Rectangle 51"/>
          <p:cNvSpPr>
            <a:spLocks noChangeArrowheads="1"/>
          </p:cNvSpPr>
          <p:nvPr/>
        </p:nvSpPr>
        <p:spPr bwMode="auto">
          <a:xfrm>
            <a:off x="6105525" y="5851525"/>
            <a:ext cx="4953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000"/>
              <a:t>(d)</a:t>
            </a:r>
          </a:p>
        </p:txBody>
      </p:sp>
      <p:sp>
        <p:nvSpPr>
          <p:cNvPr id="17461" name="Slide Number Placeholder 5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5E6C8D8B-B76D-4609-A5AA-0290D8C5612B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11, Copyright © John C. Hull 2016</a:t>
            </a:r>
            <a:endParaRPr lang="en-US" altLang="en-US" sz="1400" i="0"/>
          </a:p>
        </p:txBody>
      </p:sp>
      <p:sp>
        <p:nvSpPr>
          <p:cNvPr id="1843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Bull Spread Using Calls</a:t>
            </a:r>
            <a:br>
              <a:rPr lang="en-US" altLang="en-US" smtClean="0"/>
            </a:br>
            <a:r>
              <a:rPr lang="en-US" altLang="en-US" sz="2000" smtClean="0"/>
              <a:t>(Figure 11.2, page 253)</a:t>
            </a:r>
            <a:endParaRPr lang="en-US" altLang="en-US" smtClean="0"/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35138" y="1752600"/>
            <a:ext cx="4114800" cy="2438400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smtClean="0"/>
              <a:t> </a:t>
            </a:r>
          </a:p>
        </p:txBody>
      </p:sp>
      <p:sp>
        <p:nvSpPr>
          <p:cNvPr id="18437" name="Line 4"/>
          <p:cNvSpPr>
            <a:spLocks noChangeShapeType="1"/>
          </p:cNvSpPr>
          <p:nvPr/>
        </p:nvSpPr>
        <p:spPr bwMode="auto">
          <a:xfrm>
            <a:off x="2192338" y="2286000"/>
            <a:ext cx="0" cy="3657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8" name="Line 5"/>
          <p:cNvSpPr>
            <a:spLocks noChangeShapeType="1"/>
          </p:cNvSpPr>
          <p:nvPr/>
        </p:nvSpPr>
        <p:spPr bwMode="auto">
          <a:xfrm>
            <a:off x="2192338" y="41148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39" name="Line 6"/>
          <p:cNvSpPr>
            <a:spLocks noChangeShapeType="1"/>
          </p:cNvSpPr>
          <p:nvPr/>
        </p:nvSpPr>
        <p:spPr bwMode="auto">
          <a:xfrm flipV="1">
            <a:off x="4021138" y="40386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0" name="Line 7"/>
          <p:cNvSpPr>
            <a:spLocks noChangeShapeType="1"/>
          </p:cNvSpPr>
          <p:nvPr/>
        </p:nvSpPr>
        <p:spPr bwMode="auto">
          <a:xfrm flipV="1">
            <a:off x="5849938" y="40386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1" name="Rectangle 8"/>
          <p:cNvSpPr>
            <a:spLocks noChangeArrowheads="1"/>
          </p:cNvSpPr>
          <p:nvPr/>
        </p:nvSpPr>
        <p:spPr bwMode="auto">
          <a:xfrm>
            <a:off x="3776663" y="4084638"/>
            <a:ext cx="588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K</a:t>
            </a:r>
            <a:r>
              <a:rPr lang="en-US" altLang="en-US" i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18442" name="Rectangle 9"/>
          <p:cNvSpPr>
            <a:spLocks noChangeArrowheads="1"/>
          </p:cNvSpPr>
          <p:nvPr/>
        </p:nvSpPr>
        <p:spPr bwMode="auto">
          <a:xfrm>
            <a:off x="5181600" y="4084638"/>
            <a:ext cx="14843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marL="342900" indent="-342900"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lvl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3200" i="1">
                <a:latin typeface="Times New Roman" panose="02020603050405020304" pitchFamily="18" charset="0"/>
              </a:rPr>
              <a:t>K</a:t>
            </a:r>
            <a:r>
              <a:rPr lang="en-US" altLang="en-US" sz="3200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18443" name="Rectangle 10"/>
          <p:cNvSpPr>
            <a:spLocks noChangeArrowheads="1"/>
          </p:cNvSpPr>
          <p:nvPr/>
        </p:nvSpPr>
        <p:spPr bwMode="auto">
          <a:xfrm>
            <a:off x="2176463" y="2332038"/>
            <a:ext cx="11334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Profit</a:t>
            </a:r>
          </a:p>
        </p:txBody>
      </p:sp>
      <p:sp>
        <p:nvSpPr>
          <p:cNvPr id="18444" name="Rectangle 11"/>
          <p:cNvSpPr>
            <a:spLocks noChangeArrowheads="1"/>
          </p:cNvSpPr>
          <p:nvPr/>
        </p:nvSpPr>
        <p:spPr bwMode="auto">
          <a:xfrm>
            <a:off x="6900863" y="3505200"/>
            <a:ext cx="56673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S</a:t>
            </a:r>
            <a:r>
              <a:rPr lang="en-US" altLang="en-US" i="1" baseline="-250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18445" name="Line 12"/>
          <p:cNvSpPr>
            <a:spLocks noChangeShapeType="1"/>
          </p:cNvSpPr>
          <p:nvPr/>
        </p:nvSpPr>
        <p:spPr bwMode="auto">
          <a:xfrm flipV="1">
            <a:off x="3929063" y="3000375"/>
            <a:ext cx="2000250" cy="21431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6" name="Line 13"/>
          <p:cNvSpPr>
            <a:spLocks noChangeShapeType="1"/>
          </p:cNvSpPr>
          <p:nvPr/>
        </p:nvSpPr>
        <p:spPr bwMode="auto">
          <a:xfrm flipV="1">
            <a:off x="3929063" y="2571750"/>
            <a:ext cx="2857500" cy="3000375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7" name="Line 14"/>
          <p:cNvSpPr>
            <a:spLocks noChangeShapeType="1"/>
          </p:cNvSpPr>
          <p:nvPr/>
        </p:nvSpPr>
        <p:spPr bwMode="auto">
          <a:xfrm flipH="1" flipV="1">
            <a:off x="2214563" y="5572125"/>
            <a:ext cx="17145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8" name="Line 15"/>
          <p:cNvSpPr>
            <a:spLocks noChangeShapeType="1"/>
          </p:cNvSpPr>
          <p:nvPr/>
        </p:nvSpPr>
        <p:spPr bwMode="auto">
          <a:xfrm flipH="1">
            <a:off x="2214563" y="5143500"/>
            <a:ext cx="17145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49" name="Line 16"/>
          <p:cNvSpPr>
            <a:spLocks noChangeShapeType="1"/>
          </p:cNvSpPr>
          <p:nvPr/>
        </p:nvSpPr>
        <p:spPr bwMode="auto">
          <a:xfrm>
            <a:off x="5929313" y="3000375"/>
            <a:ext cx="1147762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0" name="Line 17"/>
          <p:cNvSpPr>
            <a:spLocks noChangeShapeType="1"/>
          </p:cNvSpPr>
          <p:nvPr/>
        </p:nvSpPr>
        <p:spPr bwMode="auto">
          <a:xfrm flipH="1">
            <a:off x="2192338" y="3657600"/>
            <a:ext cx="3657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1" name="Line 18"/>
          <p:cNvSpPr>
            <a:spLocks noChangeShapeType="1"/>
          </p:cNvSpPr>
          <p:nvPr/>
        </p:nvSpPr>
        <p:spPr bwMode="auto">
          <a:xfrm>
            <a:off x="5849938" y="3657600"/>
            <a:ext cx="1219200" cy="1219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452" name="Slide Number Placeholder 2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8C26D93-8CFC-47EA-A079-6FF1A2130780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11, Copyright © John C. Hull 2016</a:t>
            </a:r>
            <a:endParaRPr lang="en-US" altLang="en-US" sz="1400" i="0"/>
          </a:p>
        </p:txBody>
      </p:sp>
      <p:sp>
        <p:nvSpPr>
          <p:cNvPr id="1945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Bull Spread Using Puts</a:t>
            </a:r>
            <a:br>
              <a:rPr lang="en-US" altLang="en-US" smtClean="0"/>
            </a:br>
            <a:r>
              <a:rPr lang="en-US" altLang="en-US" sz="2000" smtClean="0"/>
              <a:t>Figure 11.3, page 254</a:t>
            </a:r>
            <a:endParaRPr lang="en-US" altLang="en-US" smtClean="0"/>
          </a:p>
        </p:txBody>
      </p:sp>
      <p:grpSp>
        <p:nvGrpSpPr>
          <p:cNvPr id="19460" name="Group 19"/>
          <p:cNvGrpSpPr>
            <a:grpSpLocks/>
          </p:cNvGrpSpPr>
          <p:nvPr/>
        </p:nvGrpSpPr>
        <p:grpSpPr bwMode="auto">
          <a:xfrm>
            <a:off x="1643063" y="1785938"/>
            <a:ext cx="5708650" cy="4286250"/>
            <a:chOff x="949" y="1104"/>
            <a:chExt cx="3596" cy="2700"/>
          </a:xfrm>
        </p:grpSpPr>
        <p:sp>
          <p:nvSpPr>
            <p:cNvPr id="19462" name="Rectangle 3"/>
            <p:cNvSpPr>
              <a:spLocks noChangeArrowheads="1"/>
            </p:cNvSpPr>
            <p:nvPr/>
          </p:nvSpPr>
          <p:spPr bwMode="auto">
            <a:xfrm>
              <a:off x="949" y="1104"/>
              <a:ext cx="2592" cy="1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19463" name="Line 4"/>
            <p:cNvSpPr>
              <a:spLocks noChangeShapeType="1"/>
            </p:cNvSpPr>
            <p:nvPr/>
          </p:nvSpPr>
          <p:spPr bwMode="auto">
            <a:xfrm>
              <a:off x="1242" y="1440"/>
              <a:ext cx="0" cy="2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4" name="Line 5"/>
            <p:cNvSpPr>
              <a:spLocks noChangeShapeType="1"/>
            </p:cNvSpPr>
            <p:nvPr/>
          </p:nvSpPr>
          <p:spPr bwMode="auto">
            <a:xfrm>
              <a:off x="1242" y="2592"/>
              <a:ext cx="32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5" name="Line 6"/>
            <p:cNvSpPr>
              <a:spLocks noChangeShapeType="1"/>
            </p:cNvSpPr>
            <p:nvPr/>
          </p:nvSpPr>
          <p:spPr bwMode="auto">
            <a:xfrm flipV="1">
              <a:off x="2394" y="2544"/>
              <a:ext cx="0" cy="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6" name="Line 7"/>
            <p:cNvSpPr>
              <a:spLocks noChangeShapeType="1"/>
            </p:cNvSpPr>
            <p:nvPr/>
          </p:nvSpPr>
          <p:spPr bwMode="auto">
            <a:xfrm flipV="1">
              <a:off x="3546" y="2544"/>
              <a:ext cx="0" cy="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67" name="Rectangle 8"/>
            <p:cNvSpPr>
              <a:spLocks noChangeArrowheads="1"/>
            </p:cNvSpPr>
            <p:nvPr/>
          </p:nvSpPr>
          <p:spPr bwMode="auto">
            <a:xfrm>
              <a:off x="2254" y="2189"/>
              <a:ext cx="491" cy="3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i="1">
                  <a:latin typeface="Times New Roman" panose="02020603050405020304" pitchFamily="18" charset="0"/>
                </a:rPr>
                <a:t>K</a:t>
              </a:r>
              <a:r>
                <a:rPr lang="en-US" altLang="en-US" i="1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9468" name="Rectangle 9"/>
            <p:cNvSpPr>
              <a:spLocks noChangeArrowheads="1"/>
            </p:cNvSpPr>
            <p:nvPr/>
          </p:nvSpPr>
          <p:spPr bwMode="auto">
            <a:xfrm>
              <a:off x="3392" y="2189"/>
              <a:ext cx="37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i="1">
                  <a:latin typeface="Times New Roman" panose="02020603050405020304" pitchFamily="18" charset="0"/>
                </a:rPr>
                <a:t>K</a:t>
              </a:r>
              <a:r>
                <a:rPr lang="en-US" altLang="en-US" i="1" baseline="-2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9469" name="Rectangle 10"/>
            <p:cNvSpPr>
              <a:spLocks noChangeArrowheads="1"/>
            </p:cNvSpPr>
            <p:nvPr/>
          </p:nvSpPr>
          <p:spPr bwMode="auto">
            <a:xfrm>
              <a:off x="1232" y="1469"/>
              <a:ext cx="71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Profit</a:t>
              </a:r>
            </a:p>
          </p:txBody>
        </p:sp>
        <p:sp>
          <p:nvSpPr>
            <p:cNvPr id="19470" name="Rectangle 11"/>
            <p:cNvSpPr>
              <a:spLocks noChangeArrowheads="1"/>
            </p:cNvSpPr>
            <p:nvPr/>
          </p:nvSpPr>
          <p:spPr bwMode="auto">
            <a:xfrm>
              <a:off x="4208" y="2189"/>
              <a:ext cx="33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i="1">
                  <a:latin typeface="Times New Roman" panose="02020603050405020304" pitchFamily="18" charset="0"/>
                </a:rPr>
                <a:t>S</a:t>
              </a:r>
              <a:r>
                <a:rPr lang="en-US" altLang="en-US" i="1" baseline="-25000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19471" name="Line 12"/>
            <p:cNvSpPr>
              <a:spLocks noChangeShapeType="1"/>
            </p:cNvSpPr>
            <p:nvPr/>
          </p:nvSpPr>
          <p:spPr bwMode="auto">
            <a:xfrm flipV="1">
              <a:off x="2344" y="2016"/>
              <a:ext cx="1202" cy="124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2" name="Line 13"/>
            <p:cNvSpPr>
              <a:spLocks noChangeShapeType="1"/>
            </p:cNvSpPr>
            <p:nvPr/>
          </p:nvSpPr>
          <p:spPr bwMode="auto">
            <a:xfrm flipH="1">
              <a:off x="1219" y="3264"/>
              <a:ext cx="115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3" name="Line 14"/>
            <p:cNvSpPr>
              <a:spLocks noChangeShapeType="1"/>
            </p:cNvSpPr>
            <p:nvPr/>
          </p:nvSpPr>
          <p:spPr bwMode="auto">
            <a:xfrm>
              <a:off x="3546" y="2016"/>
              <a:ext cx="82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4" name="Line 15"/>
            <p:cNvSpPr>
              <a:spLocks noChangeShapeType="1"/>
            </p:cNvSpPr>
            <p:nvPr/>
          </p:nvSpPr>
          <p:spPr bwMode="auto">
            <a:xfrm flipH="1">
              <a:off x="1579" y="1779"/>
              <a:ext cx="1935" cy="202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5" name="Line 16"/>
            <p:cNvSpPr>
              <a:spLocks noChangeShapeType="1"/>
            </p:cNvSpPr>
            <p:nvPr/>
          </p:nvSpPr>
          <p:spPr bwMode="auto">
            <a:xfrm>
              <a:off x="3514" y="1779"/>
              <a:ext cx="90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6" name="Line 17"/>
            <p:cNvSpPr>
              <a:spLocks noChangeShapeType="1"/>
            </p:cNvSpPr>
            <p:nvPr/>
          </p:nvSpPr>
          <p:spPr bwMode="auto">
            <a:xfrm flipH="1" flipV="1">
              <a:off x="1350" y="1710"/>
              <a:ext cx="1039" cy="114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9477" name="Line 18"/>
            <p:cNvSpPr>
              <a:spLocks noChangeShapeType="1"/>
            </p:cNvSpPr>
            <p:nvPr/>
          </p:nvSpPr>
          <p:spPr bwMode="auto">
            <a:xfrm>
              <a:off x="2389" y="2859"/>
              <a:ext cx="198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19461" name="Slide Number Placeholder 2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3D4BEC4-C6DE-40F6-8553-98DCB2631218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11, Copyright © John C. Hull 2016</a:t>
            </a:r>
            <a:endParaRPr lang="en-US" altLang="en-US" sz="1400" i="0"/>
          </a:p>
        </p:txBody>
      </p:sp>
      <p:sp>
        <p:nvSpPr>
          <p:cNvPr id="20483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609600"/>
            <a:ext cx="7772400" cy="12192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Bear Spread Using Puts</a:t>
            </a:r>
            <a:br>
              <a:rPr lang="en-US" altLang="en-US" smtClean="0"/>
            </a:br>
            <a:r>
              <a:rPr lang="en-US" altLang="en-US" sz="2000" smtClean="0"/>
              <a:t>Figure 11.4, page 255</a:t>
            </a:r>
            <a:endParaRPr lang="en-US" altLang="en-US" smtClean="0"/>
          </a:p>
        </p:txBody>
      </p:sp>
      <p:grpSp>
        <p:nvGrpSpPr>
          <p:cNvPr id="20484" name="Group 19"/>
          <p:cNvGrpSpPr>
            <a:grpSpLocks/>
          </p:cNvGrpSpPr>
          <p:nvPr/>
        </p:nvGrpSpPr>
        <p:grpSpPr bwMode="auto">
          <a:xfrm>
            <a:off x="1731963" y="1600200"/>
            <a:ext cx="5708650" cy="4191000"/>
            <a:chOff x="1091" y="1008"/>
            <a:chExt cx="3596" cy="2640"/>
          </a:xfrm>
        </p:grpSpPr>
        <p:sp>
          <p:nvSpPr>
            <p:cNvPr id="20486" name="Rectangle 3"/>
            <p:cNvSpPr>
              <a:spLocks noChangeArrowheads="1"/>
            </p:cNvSpPr>
            <p:nvPr/>
          </p:nvSpPr>
          <p:spPr bwMode="auto">
            <a:xfrm>
              <a:off x="1091" y="1008"/>
              <a:ext cx="2592" cy="15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/>
            </a:p>
          </p:txBody>
        </p:sp>
        <p:sp>
          <p:nvSpPr>
            <p:cNvPr id="20487" name="Line 4"/>
            <p:cNvSpPr>
              <a:spLocks noChangeShapeType="1"/>
            </p:cNvSpPr>
            <p:nvPr/>
          </p:nvSpPr>
          <p:spPr bwMode="auto">
            <a:xfrm>
              <a:off x="1384" y="1344"/>
              <a:ext cx="0" cy="230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stealth" w="med" len="lg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8" name="Line 5"/>
            <p:cNvSpPr>
              <a:spLocks noChangeShapeType="1"/>
            </p:cNvSpPr>
            <p:nvPr/>
          </p:nvSpPr>
          <p:spPr bwMode="auto">
            <a:xfrm>
              <a:off x="1384" y="2496"/>
              <a:ext cx="32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 type="none" w="sm" len="sm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89" name="Line 6"/>
            <p:cNvSpPr>
              <a:spLocks noChangeShapeType="1"/>
            </p:cNvSpPr>
            <p:nvPr/>
          </p:nvSpPr>
          <p:spPr bwMode="auto">
            <a:xfrm flipV="1">
              <a:off x="2536" y="2448"/>
              <a:ext cx="0" cy="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0" name="Line 7"/>
            <p:cNvSpPr>
              <a:spLocks noChangeShapeType="1"/>
            </p:cNvSpPr>
            <p:nvPr/>
          </p:nvSpPr>
          <p:spPr bwMode="auto">
            <a:xfrm flipV="1">
              <a:off x="3688" y="2448"/>
              <a:ext cx="0" cy="4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1" name="Rectangle 8"/>
            <p:cNvSpPr>
              <a:spLocks noChangeArrowheads="1"/>
            </p:cNvSpPr>
            <p:nvPr/>
          </p:nvSpPr>
          <p:spPr bwMode="auto">
            <a:xfrm>
              <a:off x="2382" y="2477"/>
              <a:ext cx="37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i="1">
                  <a:latin typeface="Times New Roman" panose="02020603050405020304" pitchFamily="18" charset="0"/>
                </a:rPr>
                <a:t>K</a:t>
              </a:r>
              <a:r>
                <a:rPr lang="en-US" altLang="en-US" i="1" baseline="-250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20492" name="Rectangle 9"/>
            <p:cNvSpPr>
              <a:spLocks noChangeArrowheads="1"/>
            </p:cNvSpPr>
            <p:nvPr/>
          </p:nvSpPr>
          <p:spPr bwMode="auto">
            <a:xfrm>
              <a:off x="3534" y="2477"/>
              <a:ext cx="371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i="1">
                  <a:latin typeface="Times New Roman" panose="02020603050405020304" pitchFamily="18" charset="0"/>
                </a:rPr>
                <a:t>K</a:t>
              </a:r>
              <a:r>
                <a:rPr lang="en-US" altLang="en-US" i="1" baseline="-250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20493" name="Rectangle 10"/>
            <p:cNvSpPr>
              <a:spLocks noChangeArrowheads="1"/>
            </p:cNvSpPr>
            <p:nvPr/>
          </p:nvSpPr>
          <p:spPr bwMode="auto">
            <a:xfrm>
              <a:off x="1374" y="1373"/>
              <a:ext cx="714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/>
                <a:t>Profit</a:t>
              </a:r>
            </a:p>
          </p:txBody>
        </p:sp>
        <p:sp>
          <p:nvSpPr>
            <p:cNvPr id="20494" name="Rectangle 11"/>
            <p:cNvSpPr>
              <a:spLocks noChangeArrowheads="1"/>
            </p:cNvSpPr>
            <p:nvPr/>
          </p:nvSpPr>
          <p:spPr bwMode="auto">
            <a:xfrm>
              <a:off x="4350" y="2477"/>
              <a:ext cx="337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92075" tIns="46038" rIns="92075" bIns="46038">
              <a:spAutoFit/>
            </a:bodyPr>
            <a:lstStyle>
              <a:lvl1pPr eaLnBrk="0" hangingPunct="0">
                <a:spcBef>
                  <a:spcPct val="20000"/>
                </a:spcBef>
                <a:buClr>
                  <a:schemeClr val="tx2"/>
                </a:buClr>
                <a:buSzPct val="70000"/>
                <a:buFont typeface="Wingdings" panose="05000000000000000000" pitchFamily="2" charset="2"/>
                <a:buChar char="l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spcBef>
                  <a:spcPct val="20000"/>
                </a:spcBef>
                <a:buClr>
                  <a:schemeClr val="accent2"/>
                </a:buClr>
                <a:buSzPct val="70000"/>
                <a:buFont typeface="Wingdings" panose="05000000000000000000" pitchFamily="2" charset="2"/>
                <a:buChar char="l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spcBef>
                  <a:spcPct val="20000"/>
                </a:spcBef>
                <a:buClr>
                  <a:schemeClr val="accent1"/>
                </a:buClr>
                <a:buSzPct val="70000"/>
                <a:buFont typeface="Wingdings" panose="05000000000000000000" pitchFamily="2" charset="2"/>
                <a:buChar char="l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spcBef>
                  <a:spcPct val="20000"/>
                </a:spcBef>
                <a:buClr>
                  <a:schemeClr val="tx2"/>
                </a:buClr>
                <a:buSzPct val="75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spcBef>
                  <a:spcPct val="20000"/>
                </a:spcBef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folHlink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i="1">
                  <a:latin typeface="Times New Roman" panose="02020603050405020304" pitchFamily="18" charset="0"/>
                </a:rPr>
                <a:t>S</a:t>
              </a:r>
              <a:r>
                <a:rPr lang="en-US" altLang="en-US" i="1" baseline="-25000">
                  <a:latin typeface="Times New Roman" panose="02020603050405020304" pitchFamily="18" charset="0"/>
                </a:rPr>
                <a:t>T</a:t>
              </a:r>
            </a:p>
          </p:txBody>
        </p:sp>
        <p:sp>
          <p:nvSpPr>
            <p:cNvPr id="20495" name="Line 12"/>
            <p:cNvSpPr>
              <a:spLocks noChangeShapeType="1"/>
            </p:cNvSpPr>
            <p:nvPr/>
          </p:nvSpPr>
          <p:spPr bwMode="auto">
            <a:xfrm>
              <a:off x="1390" y="1920"/>
              <a:ext cx="1152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6" name="Line 13"/>
            <p:cNvSpPr>
              <a:spLocks noChangeShapeType="1"/>
            </p:cNvSpPr>
            <p:nvPr/>
          </p:nvSpPr>
          <p:spPr bwMode="auto">
            <a:xfrm>
              <a:off x="2542" y="1920"/>
              <a:ext cx="1152" cy="115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7" name="Line 14"/>
            <p:cNvSpPr>
              <a:spLocks noChangeShapeType="1"/>
            </p:cNvSpPr>
            <p:nvPr/>
          </p:nvSpPr>
          <p:spPr bwMode="auto">
            <a:xfrm>
              <a:off x="3694" y="3072"/>
              <a:ext cx="816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8" name="Line 15"/>
            <p:cNvSpPr>
              <a:spLocks noChangeShapeType="1"/>
            </p:cNvSpPr>
            <p:nvPr/>
          </p:nvSpPr>
          <p:spPr bwMode="auto">
            <a:xfrm flipH="1" flipV="1">
              <a:off x="1935" y="1530"/>
              <a:ext cx="1755" cy="175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499" name="Line 16"/>
            <p:cNvSpPr>
              <a:spLocks noChangeShapeType="1"/>
            </p:cNvSpPr>
            <p:nvPr/>
          </p:nvSpPr>
          <p:spPr bwMode="auto">
            <a:xfrm flipV="1">
              <a:off x="3690" y="3285"/>
              <a:ext cx="732" cy="15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0" name="Line 17"/>
            <p:cNvSpPr>
              <a:spLocks noChangeShapeType="1"/>
            </p:cNvSpPr>
            <p:nvPr/>
          </p:nvSpPr>
          <p:spPr bwMode="auto">
            <a:xfrm flipH="1">
              <a:off x="1392" y="2250"/>
              <a:ext cx="1128" cy="111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0501" name="Line 18"/>
            <p:cNvSpPr>
              <a:spLocks noChangeShapeType="1"/>
            </p:cNvSpPr>
            <p:nvPr/>
          </p:nvSpPr>
          <p:spPr bwMode="auto">
            <a:xfrm>
              <a:off x="2520" y="2250"/>
              <a:ext cx="196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0485" name="Slide Number Placeholder 21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A6083E5E-991A-4747-83E5-086B6C9D598F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11, Copyright © John C. Hull 2016</a:t>
            </a:r>
            <a:endParaRPr lang="en-US" altLang="en-US" sz="1400" i="0"/>
          </a:p>
        </p:txBody>
      </p:sp>
      <p:sp>
        <p:nvSpPr>
          <p:cNvPr id="2150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Bear Spread Using Calls</a:t>
            </a:r>
            <a:br>
              <a:rPr lang="en-US" altLang="en-US" smtClean="0"/>
            </a:br>
            <a:r>
              <a:rPr lang="en-US" altLang="en-US" sz="2000" smtClean="0"/>
              <a:t>Figure 11.5, page 256</a:t>
            </a:r>
            <a:endParaRPr lang="en-US" altLang="en-US" smtClean="0"/>
          </a:p>
        </p:txBody>
      </p:sp>
      <p:sp>
        <p:nvSpPr>
          <p:cNvPr id="21508" name="Rectangle 3"/>
          <p:cNvSpPr>
            <a:spLocks noChangeArrowheads="1"/>
          </p:cNvSpPr>
          <p:nvPr/>
        </p:nvSpPr>
        <p:spPr bwMode="auto">
          <a:xfrm>
            <a:off x="1752600" y="1676400"/>
            <a:ext cx="4114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1509" name="Line 4"/>
          <p:cNvSpPr>
            <a:spLocks noChangeShapeType="1"/>
          </p:cNvSpPr>
          <p:nvPr/>
        </p:nvSpPr>
        <p:spPr bwMode="auto">
          <a:xfrm>
            <a:off x="2217738" y="2209800"/>
            <a:ext cx="0" cy="3657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0" name="Line 5"/>
          <p:cNvSpPr>
            <a:spLocks noChangeShapeType="1"/>
          </p:cNvSpPr>
          <p:nvPr/>
        </p:nvSpPr>
        <p:spPr bwMode="auto">
          <a:xfrm>
            <a:off x="2217738" y="40386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1" name="Line 6"/>
          <p:cNvSpPr>
            <a:spLocks noChangeShapeType="1"/>
          </p:cNvSpPr>
          <p:nvPr/>
        </p:nvSpPr>
        <p:spPr bwMode="auto">
          <a:xfrm flipV="1">
            <a:off x="4046538" y="39624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2" name="Line 7"/>
          <p:cNvSpPr>
            <a:spLocks noChangeShapeType="1"/>
          </p:cNvSpPr>
          <p:nvPr/>
        </p:nvSpPr>
        <p:spPr bwMode="auto">
          <a:xfrm flipV="1">
            <a:off x="5875338" y="39624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3" name="Rectangle 8"/>
          <p:cNvSpPr>
            <a:spLocks noChangeArrowheads="1"/>
          </p:cNvSpPr>
          <p:nvPr/>
        </p:nvSpPr>
        <p:spPr bwMode="auto">
          <a:xfrm>
            <a:off x="3802063" y="3398838"/>
            <a:ext cx="588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K</a:t>
            </a:r>
            <a:r>
              <a:rPr lang="en-US" altLang="en-US" i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1514" name="Rectangle 9"/>
          <p:cNvSpPr>
            <a:spLocks noChangeArrowheads="1"/>
          </p:cNvSpPr>
          <p:nvPr/>
        </p:nvSpPr>
        <p:spPr bwMode="auto">
          <a:xfrm>
            <a:off x="5630863" y="3398838"/>
            <a:ext cx="588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K</a:t>
            </a:r>
            <a:r>
              <a:rPr lang="en-US" altLang="en-US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1515" name="Rectangle 10"/>
          <p:cNvSpPr>
            <a:spLocks noChangeArrowheads="1"/>
          </p:cNvSpPr>
          <p:nvPr/>
        </p:nvSpPr>
        <p:spPr bwMode="auto">
          <a:xfrm>
            <a:off x="2201863" y="1643063"/>
            <a:ext cx="1370012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Profit</a:t>
            </a:r>
          </a:p>
        </p:txBody>
      </p:sp>
      <p:sp>
        <p:nvSpPr>
          <p:cNvPr id="21516" name="Rectangle 11"/>
          <p:cNvSpPr>
            <a:spLocks noChangeArrowheads="1"/>
          </p:cNvSpPr>
          <p:nvPr/>
        </p:nvSpPr>
        <p:spPr bwMode="auto">
          <a:xfrm>
            <a:off x="7002463" y="3398838"/>
            <a:ext cx="5349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S</a:t>
            </a:r>
            <a:r>
              <a:rPr lang="en-US" altLang="en-US" i="1" baseline="-250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1517" name="Line 12"/>
          <p:cNvSpPr>
            <a:spLocks noChangeShapeType="1"/>
          </p:cNvSpPr>
          <p:nvPr/>
        </p:nvSpPr>
        <p:spPr bwMode="auto">
          <a:xfrm>
            <a:off x="2286000" y="2643188"/>
            <a:ext cx="17145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8" name="Line 13"/>
          <p:cNvSpPr>
            <a:spLocks noChangeShapeType="1"/>
          </p:cNvSpPr>
          <p:nvPr/>
        </p:nvSpPr>
        <p:spPr bwMode="auto">
          <a:xfrm>
            <a:off x="4000500" y="2643188"/>
            <a:ext cx="3119438" cy="3119437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19" name="Line 14"/>
          <p:cNvSpPr>
            <a:spLocks noChangeShapeType="1"/>
          </p:cNvSpPr>
          <p:nvPr/>
        </p:nvSpPr>
        <p:spPr bwMode="auto">
          <a:xfrm>
            <a:off x="2227263" y="3124200"/>
            <a:ext cx="1828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0" name="Line 15"/>
          <p:cNvSpPr>
            <a:spLocks noChangeShapeType="1"/>
          </p:cNvSpPr>
          <p:nvPr/>
        </p:nvSpPr>
        <p:spPr bwMode="auto">
          <a:xfrm>
            <a:off x="4056063" y="3124200"/>
            <a:ext cx="1828800" cy="1828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1" name="Line 16"/>
          <p:cNvSpPr>
            <a:spLocks noChangeShapeType="1"/>
          </p:cNvSpPr>
          <p:nvPr/>
        </p:nvSpPr>
        <p:spPr bwMode="auto">
          <a:xfrm>
            <a:off x="5884863" y="4953000"/>
            <a:ext cx="12954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2" name="Line 17"/>
          <p:cNvSpPr>
            <a:spLocks noChangeShapeType="1"/>
          </p:cNvSpPr>
          <p:nvPr/>
        </p:nvSpPr>
        <p:spPr bwMode="auto">
          <a:xfrm flipH="1" flipV="1">
            <a:off x="2214563" y="4572000"/>
            <a:ext cx="364331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3" name="Line 18"/>
          <p:cNvSpPr>
            <a:spLocks noChangeShapeType="1"/>
          </p:cNvSpPr>
          <p:nvPr/>
        </p:nvSpPr>
        <p:spPr bwMode="auto">
          <a:xfrm flipV="1">
            <a:off x="5857875" y="3357563"/>
            <a:ext cx="1295400" cy="1214437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524" name="Slide Number Placeholder 2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91D30F1B-A6F8-474C-A3EA-DAFBB9B70CC6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11, Copyright © John C. Hull 2016</a:t>
            </a:r>
            <a:endParaRPr lang="en-US" altLang="en-US" sz="1400" i="0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Box Spread</a:t>
            </a:r>
          </a:p>
        </p:txBody>
      </p:sp>
      <p:sp>
        <p:nvSpPr>
          <p:cNvPr id="225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A combination of a bull call spread and a bear put spread</a:t>
            </a:r>
          </a:p>
          <a:p>
            <a:pPr eaLnBrk="1" hangingPunct="1"/>
            <a:r>
              <a:rPr lang="en-US" altLang="en-US" smtClean="0"/>
              <a:t>If all options are European a box spread is worth the present value of the difference between the strike prices</a:t>
            </a:r>
          </a:p>
          <a:p>
            <a:pPr eaLnBrk="1" hangingPunct="1"/>
            <a:r>
              <a:rPr lang="en-US" altLang="en-US" smtClean="0"/>
              <a:t>If they are American this is not necessarily so (see Business Snapshot 11.1)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22533" name="Slide Number Placeholder 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FA64813-1147-46CF-8D43-554748642C05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8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11, Copyright © John C. Hull 2016</a:t>
            </a:r>
            <a:endParaRPr lang="en-US" altLang="en-US" sz="1400" i="0"/>
          </a:p>
        </p:txBody>
      </p:sp>
      <p:sp>
        <p:nvSpPr>
          <p:cNvPr id="23555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Butterfly Spread Using Calls</a:t>
            </a:r>
            <a:br>
              <a:rPr lang="en-US" altLang="en-US" smtClean="0"/>
            </a:br>
            <a:r>
              <a:rPr lang="en-US" altLang="en-US" sz="2200" smtClean="0"/>
              <a:t>Figure 11.6, page 258</a:t>
            </a:r>
            <a:endParaRPr lang="en-US" altLang="en-US" smtClean="0"/>
          </a:p>
        </p:txBody>
      </p:sp>
      <p:sp>
        <p:nvSpPr>
          <p:cNvPr id="23556" name="Rectangle 3"/>
          <p:cNvSpPr>
            <a:spLocks noChangeArrowheads="1"/>
          </p:cNvSpPr>
          <p:nvPr/>
        </p:nvSpPr>
        <p:spPr bwMode="auto">
          <a:xfrm>
            <a:off x="1749425" y="1676400"/>
            <a:ext cx="4114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3557" name="Line 4"/>
          <p:cNvSpPr>
            <a:spLocks noChangeShapeType="1"/>
          </p:cNvSpPr>
          <p:nvPr/>
        </p:nvSpPr>
        <p:spPr bwMode="auto">
          <a:xfrm>
            <a:off x="2214563" y="2209800"/>
            <a:ext cx="0" cy="3657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8" name="Line 5"/>
          <p:cNvSpPr>
            <a:spLocks noChangeShapeType="1"/>
          </p:cNvSpPr>
          <p:nvPr/>
        </p:nvSpPr>
        <p:spPr bwMode="auto">
          <a:xfrm>
            <a:off x="2214563" y="40386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59" name="Line 6"/>
          <p:cNvSpPr>
            <a:spLocks noChangeShapeType="1"/>
          </p:cNvSpPr>
          <p:nvPr/>
        </p:nvSpPr>
        <p:spPr bwMode="auto">
          <a:xfrm flipV="1">
            <a:off x="4043363" y="39624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0" name="Line 7"/>
          <p:cNvSpPr>
            <a:spLocks noChangeShapeType="1"/>
          </p:cNvSpPr>
          <p:nvPr/>
        </p:nvSpPr>
        <p:spPr bwMode="auto">
          <a:xfrm flipV="1">
            <a:off x="5872163" y="39624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1" name="Rectangle 8"/>
          <p:cNvSpPr>
            <a:spLocks noChangeArrowheads="1"/>
          </p:cNvSpPr>
          <p:nvPr/>
        </p:nvSpPr>
        <p:spPr bwMode="auto">
          <a:xfrm>
            <a:off x="3798888" y="3475038"/>
            <a:ext cx="588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K</a:t>
            </a:r>
            <a:r>
              <a:rPr lang="en-US" altLang="en-US" i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3562" name="Rectangle 9"/>
          <p:cNvSpPr>
            <a:spLocks noChangeArrowheads="1"/>
          </p:cNvSpPr>
          <p:nvPr/>
        </p:nvSpPr>
        <p:spPr bwMode="auto">
          <a:xfrm>
            <a:off x="5627688" y="3475038"/>
            <a:ext cx="588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K</a:t>
            </a:r>
            <a:r>
              <a:rPr lang="en-US" altLang="en-US" i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3563" name="Rectangle 10"/>
          <p:cNvSpPr>
            <a:spLocks noChangeArrowheads="1"/>
          </p:cNvSpPr>
          <p:nvPr/>
        </p:nvSpPr>
        <p:spPr bwMode="auto">
          <a:xfrm>
            <a:off x="2198688" y="1928813"/>
            <a:ext cx="113347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Profit</a:t>
            </a:r>
          </a:p>
        </p:txBody>
      </p:sp>
      <p:sp>
        <p:nvSpPr>
          <p:cNvPr id="23564" name="Rectangle 11"/>
          <p:cNvSpPr>
            <a:spLocks noChangeArrowheads="1"/>
          </p:cNvSpPr>
          <p:nvPr/>
        </p:nvSpPr>
        <p:spPr bwMode="auto">
          <a:xfrm>
            <a:off x="6923088" y="3475038"/>
            <a:ext cx="5349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S</a:t>
            </a:r>
            <a:r>
              <a:rPr lang="en-US" altLang="en-US" i="1" baseline="-250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3565" name="Line 12"/>
          <p:cNvSpPr>
            <a:spLocks noChangeShapeType="1"/>
          </p:cNvSpPr>
          <p:nvPr/>
        </p:nvSpPr>
        <p:spPr bwMode="auto">
          <a:xfrm flipV="1">
            <a:off x="4957763" y="39624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6" name="Rectangle 13"/>
          <p:cNvSpPr>
            <a:spLocks noChangeArrowheads="1"/>
          </p:cNvSpPr>
          <p:nvPr/>
        </p:nvSpPr>
        <p:spPr bwMode="auto">
          <a:xfrm>
            <a:off x="4713288" y="3475038"/>
            <a:ext cx="588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K</a:t>
            </a:r>
            <a:r>
              <a:rPr lang="en-US" altLang="en-US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3567" name="Line 14"/>
          <p:cNvSpPr>
            <a:spLocks noChangeShapeType="1"/>
          </p:cNvSpPr>
          <p:nvPr/>
        </p:nvSpPr>
        <p:spPr bwMode="auto">
          <a:xfrm flipH="1">
            <a:off x="2227263" y="4495800"/>
            <a:ext cx="3657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8" name="Line 15"/>
          <p:cNvSpPr>
            <a:spLocks noChangeShapeType="1"/>
          </p:cNvSpPr>
          <p:nvPr/>
        </p:nvSpPr>
        <p:spPr bwMode="auto">
          <a:xfrm flipV="1">
            <a:off x="5884863" y="2428875"/>
            <a:ext cx="2044700" cy="2066925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69" name="Line 16"/>
          <p:cNvSpPr>
            <a:spLocks noChangeShapeType="1"/>
          </p:cNvSpPr>
          <p:nvPr/>
        </p:nvSpPr>
        <p:spPr bwMode="auto">
          <a:xfrm flipV="1">
            <a:off x="4056063" y="1785938"/>
            <a:ext cx="3159125" cy="3167062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0" name="Line 17"/>
          <p:cNvSpPr>
            <a:spLocks noChangeShapeType="1"/>
          </p:cNvSpPr>
          <p:nvPr/>
        </p:nvSpPr>
        <p:spPr bwMode="auto">
          <a:xfrm flipH="1">
            <a:off x="2227263" y="4953000"/>
            <a:ext cx="18288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1" name="Line 18"/>
          <p:cNvSpPr>
            <a:spLocks noChangeShapeType="1"/>
          </p:cNvSpPr>
          <p:nvPr/>
        </p:nvSpPr>
        <p:spPr bwMode="auto">
          <a:xfrm>
            <a:off x="2227263" y="2971800"/>
            <a:ext cx="2743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2" name="Line 19"/>
          <p:cNvSpPr>
            <a:spLocks noChangeShapeType="1"/>
          </p:cNvSpPr>
          <p:nvPr/>
        </p:nvSpPr>
        <p:spPr bwMode="auto">
          <a:xfrm>
            <a:off x="4970463" y="2971800"/>
            <a:ext cx="1314450" cy="27432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3" name="Line 20"/>
          <p:cNvSpPr>
            <a:spLocks noChangeShapeType="1"/>
          </p:cNvSpPr>
          <p:nvPr/>
        </p:nvSpPr>
        <p:spPr bwMode="auto">
          <a:xfrm>
            <a:off x="2227263" y="4343400"/>
            <a:ext cx="1828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4" name="Line 21"/>
          <p:cNvSpPr>
            <a:spLocks noChangeShapeType="1"/>
          </p:cNvSpPr>
          <p:nvPr/>
        </p:nvSpPr>
        <p:spPr bwMode="auto">
          <a:xfrm flipV="1">
            <a:off x="4056063" y="3429000"/>
            <a:ext cx="914400" cy="914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5" name="Line 22"/>
          <p:cNvSpPr>
            <a:spLocks noChangeShapeType="1"/>
          </p:cNvSpPr>
          <p:nvPr/>
        </p:nvSpPr>
        <p:spPr bwMode="auto">
          <a:xfrm>
            <a:off x="4970463" y="3429000"/>
            <a:ext cx="914400" cy="914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6" name="Line 23"/>
          <p:cNvSpPr>
            <a:spLocks noChangeShapeType="1"/>
          </p:cNvSpPr>
          <p:nvPr/>
        </p:nvSpPr>
        <p:spPr bwMode="auto">
          <a:xfrm>
            <a:off x="5884863" y="4343400"/>
            <a:ext cx="13716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577" name="Slide Number Placeholder 2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E49FDAE4-576E-4CBB-A70A-0DCBB89AAD5A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11, Copyright © John C. Hull 2016</a:t>
            </a:r>
            <a:endParaRPr lang="en-US" altLang="en-US" sz="1400" i="0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Butterfly Spread Using Puts</a:t>
            </a:r>
            <a:br>
              <a:rPr lang="en-US" altLang="en-US" smtClean="0"/>
            </a:br>
            <a:r>
              <a:rPr lang="en-US" altLang="en-US" sz="2200" smtClean="0"/>
              <a:t>Figure 11.7, page 259</a:t>
            </a:r>
            <a:endParaRPr lang="en-US" altLang="en-US" smtClean="0"/>
          </a:p>
        </p:txBody>
      </p:sp>
      <p:sp>
        <p:nvSpPr>
          <p:cNvPr id="24580" name="Rectangle 3"/>
          <p:cNvSpPr>
            <a:spLocks noChangeArrowheads="1"/>
          </p:cNvSpPr>
          <p:nvPr/>
        </p:nvSpPr>
        <p:spPr bwMode="auto">
          <a:xfrm>
            <a:off x="1749425" y="1676400"/>
            <a:ext cx="4114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4581" name="Line 4"/>
          <p:cNvSpPr>
            <a:spLocks noChangeShapeType="1"/>
          </p:cNvSpPr>
          <p:nvPr/>
        </p:nvSpPr>
        <p:spPr bwMode="auto">
          <a:xfrm>
            <a:off x="2214563" y="2209800"/>
            <a:ext cx="0" cy="3657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2" name="Line 5"/>
          <p:cNvSpPr>
            <a:spLocks noChangeShapeType="1"/>
          </p:cNvSpPr>
          <p:nvPr/>
        </p:nvSpPr>
        <p:spPr bwMode="auto">
          <a:xfrm>
            <a:off x="2214563" y="40386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3" name="Line 6"/>
          <p:cNvSpPr>
            <a:spLocks noChangeShapeType="1"/>
          </p:cNvSpPr>
          <p:nvPr/>
        </p:nvSpPr>
        <p:spPr bwMode="auto">
          <a:xfrm flipV="1">
            <a:off x="4043363" y="39624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4" name="Line 7"/>
          <p:cNvSpPr>
            <a:spLocks noChangeShapeType="1"/>
          </p:cNvSpPr>
          <p:nvPr/>
        </p:nvSpPr>
        <p:spPr bwMode="auto">
          <a:xfrm flipV="1">
            <a:off x="5872163" y="39624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85" name="Rectangle 8"/>
          <p:cNvSpPr>
            <a:spLocks noChangeArrowheads="1"/>
          </p:cNvSpPr>
          <p:nvPr/>
        </p:nvSpPr>
        <p:spPr bwMode="auto">
          <a:xfrm>
            <a:off x="3798888" y="3475038"/>
            <a:ext cx="588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K</a:t>
            </a:r>
            <a:r>
              <a:rPr lang="en-US" altLang="en-US" i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4586" name="Rectangle 9"/>
          <p:cNvSpPr>
            <a:spLocks noChangeArrowheads="1"/>
          </p:cNvSpPr>
          <p:nvPr/>
        </p:nvSpPr>
        <p:spPr bwMode="auto">
          <a:xfrm>
            <a:off x="5627688" y="3475038"/>
            <a:ext cx="588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K</a:t>
            </a:r>
            <a:r>
              <a:rPr lang="en-US" altLang="en-US" i="1" baseline="-250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4587" name="Rectangle 10"/>
          <p:cNvSpPr>
            <a:spLocks noChangeArrowheads="1"/>
          </p:cNvSpPr>
          <p:nvPr/>
        </p:nvSpPr>
        <p:spPr bwMode="auto">
          <a:xfrm>
            <a:off x="928688" y="2255838"/>
            <a:ext cx="2403475" cy="585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Profit</a:t>
            </a:r>
          </a:p>
        </p:txBody>
      </p:sp>
      <p:sp>
        <p:nvSpPr>
          <p:cNvPr id="24588" name="Rectangle 11"/>
          <p:cNvSpPr>
            <a:spLocks noChangeArrowheads="1"/>
          </p:cNvSpPr>
          <p:nvPr/>
        </p:nvSpPr>
        <p:spPr bwMode="auto">
          <a:xfrm>
            <a:off x="6923088" y="3475038"/>
            <a:ext cx="5349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S</a:t>
            </a:r>
            <a:r>
              <a:rPr lang="en-US" altLang="en-US" i="1" baseline="-250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4589" name="Line 12"/>
          <p:cNvSpPr>
            <a:spLocks noChangeShapeType="1"/>
          </p:cNvSpPr>
          <p:nvPr/>
        </p:nvSpPr>
        <p:spPr bwMode="auto">
          <a:xfrm flipV="1">
            <a:off x="4957763" y="39624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0" name="Rectangle 13"/>
          <p:cNvSpPr>
            <a:spLocks noChangeArrowheads="1"/>
          </p:cNvSpPr>
          <p:nvPr/>
        </p:nvSpPr>
        <p:spPr bwMode="auto">
          <a:xfrm>
            <a:off x="4713288" y="3475038"/>
            <a:ext cx="588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K</a:t>
            </a:r>
            <a:r>
              <a:rPr lang="en-US" altLang="en-US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4591" name="Line 14"/>
          <p:cNvSpPr>
            <a:spLocks noChangeShapeType="1"/>
          </p:cNvSpPr>
          <p:nvPr/>
        </p:nvSpPr>
        <p:spPr bwMode="auto">
          <a:xfrm flipH="1">
            <a:off x="4000500" y="4495800"/>
            <a:ext cx="3238500" cy="4763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2" name="Line 15"/>
          <p:cNvSpPr>
            <a:spLocks noChangeShapeType="1"/>
          </p:cNvSpPr>
          <p:nvPr/>
        </p:nvSpPr>
        <p:spPr bwMode="auto">
          <a:xfrm flipH="1" flipV="1">
            <a:off x="5857875" y="4929188"/>
            <a:ext cx="1381125" cy="23812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3" name="Line 16"/>
          <p:cNvSpPr>
            <a:spLocks noChangeShapeType="1"/>
          </p:cNvSpPr>
          <p:nvPr/>
        </p:nvSpPr>
        <p:spPr bwMode="auto">
          <a:xfrm>
            <a:off x="4929188" y="2928938"/>
            <a:ext cx="2786062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4" name="Line 17"/>
          <p:cNvSpPr>
            <a:spLocks noChangeShapeType="1"/>
          </p:cNvSpPr>
          <p:nvPr/>
        </p:nvSpPr>
        <p:spPr bwMode="auto">
          <a:xfrm>
            <a:off x="2227263" y="4343400"/>
            <a:ext cx="1828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5" name="Line 18"/>
          <p:cNvSpPr>
            <a:spLocks noChangeShapeType="1"/>
          </p:cNvSpPr>
          <p:nvPr/>
        </p:nvSpPr>
        <p:spPr bwMode="auto">
          <a:xfrm flipV="1">
            <a:off x="4056063" y="3429000"/>
            <a:ext cx="914400" cy="914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6" name="Line 19"/>
          <p:cNvSpPr>
            <a:spLocks noChangeShapeType="1"/>
          </p:cNvSpPr>
          <p:nvPr/>
        </p:nvSpPr>
        <p:spPr bwMode="auto">
          <a:xfrm>
            <a:off x="4970463" y="3429000"/>
            <a:ext cx="914400" cy="914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7" name="Line 20"/>
          <p:cNvSpPr>
            <a:spLocks noChangeShapeType="1"/>
          </p:cNvSpPr>
          <p:nvPr/>
        </p:nvSpPr>
        <p:spPr bwMode="auto">
          <a:xfrm>
            <a:off x="5884863" y="4343400"/>
            <a:ext cx="13716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8" name="Line 21"/>
          <p:cNvSpPr>
            <a:spLocks noChangeShapeType="1"/>
          </p:cNvSpPr>
          <p:nvPr/>
        </p:nvSpPr>
        <p:spPr bwMode="auto">
          <a:xfrm flipH="1" flipV="1">
            <a:off x="2209800" y="2667000"/>
            <a:ext cx="1828800" cy="18288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599" name="Line 22"/>
          <p:cNvSpPr>
            <a:spLocks noChangeShapeType="1"/>
          </p:cNvSpPr>
          <p:nvPr/>
        </p:nvSpPr>
        <p:spPr bwMode="auto">
          <a:xfrm flipH="1" flipV="1">
            <a:off x="3276600" y="2362200"/>
            <a:ext cx="2590800" cy="25908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0" name="Line 23"/>
          <p:cNvSpPr>
            <a:spLocks noChangeShapeType="1"/>
          </p:cNvSpPr>
          <p:nvPr/>
        </p:nvSpPr>
        <p:spPr bwMode="auto">
          <a:xfrm flipH="1">
            <a:off x="3563938" y="2971800"/>
            <a:ext cx="1389062" cy="28956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601" name="Slide Number Placeholder 25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0F486D6B-1D9B-4DF8-ABB7-ABAEF96D80FF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11, Copyright © John C. Hull 2016</a:t>
            </a:r>
            <a:endParaRPr lang="en-US" altLang="en-US" sz="1400" i="0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Calendar Spread Using Calls</a:t>
            </a:r>
            <a:br>
              <a:rPr lang="en-US" altLang="en-US" smtClean="0"/>
            </a:br>
            <a:r>
              <a:rPr lang="en-US" altLang="en-US" sz="2200" smtClean="0"/>
              <a:t>Figure 11.8, page 260</a:t>
            </a:r>
            <a:endParaRPr lang="en-US" altLang="en-US" smtClean="0"/>
          </a:p>
        </p:txBody>
      </p:sp>
      <p:sp>
        <p:nvSpPr>
          <p:cNvPr id="25604" name="Rectangle 3"/>
          <p:cNvSpPr>
            <a:spLocks noChangeArrowheads="1"/>
          </p:cNvSpPr>
          <p:nvPr/>
        </p:nvSpPr>
        <p:spPr bwMode="auto">
          <a:xfrm>
            <a:off x="1863725" y="1638300"/>
            <a:ext cx="4114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5605" name="Line 4"/>
          <p:cNvSpPr>
            <a:spLocks noChangeShapeType="1"/>
          </p:cNvSpPr>
          <p:nvPr/>
        </p:nvSpPr>
        <p:spPr bwMode="auto">
          <a:xfrm>
            <a:off x="2284413" y="2171700"/>
            <a:ext cx="0" cy="3657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06" name="Line 5"/>
          <p:cNvSpPr>
            <a:spLocks noChangeShapeType="1"/>
          </p:cNvSpPr>
          <p:nvPr/>
        </p:nvSpPr>
        <p:spPr bwMode="auto">
          <a:xfrm>
            <a:off x="2284413" y="4000500"/>
            <a:ext cx="49974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07" name="Rectangle 6"/>
          <p:cNvSpPr>
            <a:spLocks noChangeArrowheads="1"/>
          </p:cNvSpPr>
          <p:nvPr/>
        </p:nvSpPr>
        <p:spPr bwMode="auto">
          <a:xfrm>
            <a:off x="2268538" y="2217738"/>
            <a:ext cx="11334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Profit</a:t>
            </a:r>
          </a:p>
        </p:txBody>
      </p:sp>
      <p:sp>
        <p:nvSpPr>
          <p:cNvPr id="25608" name="Rectangle 7"/>
          <p:cNvSpPr>
            <a:spLocks noChangeArrowheads="1"/>
          </p:cNvSpPr>
          <p:nvPr/>
        </p:nvSpPr>
        <p:spPr bwMode="auto">
          <a:xfrm>
            <a:off x="6735763" y="3427413"/>
            <a:ext cx="5349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S</a:t>
            </a:r>
            <a:r>
              <a:rPr lang="en-US" altLang="en-US" i="1" baseline="-250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5609" name="Line 8"/>
          <p:cNvSpPr>
            <a:spLocks noChangeShapeType="1"/>
          </p:cNvSpPr>
          <p:nvPr/>
        </p:nvSpPr>
        <p:spPr bwMode="auto">
          <a:xfrm flipV="1">
            <a:off x="5027613" y="39243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0" name="Rectangle 9"/>
          <p:cNvSpPr>
            <a:spLocks noChangeArrowheads="1"/>
          </p:cNvSpPr>
          <p:nvPr/>
        </p:nvSpPr>
        <p:spPr bwMode="auto">
          <a:xfrm>
            <a:off x="4783138" y="3970338"/>
            <a:ext cx="4556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25611" name="Line 10"/>
          <p:cNvSpPr>
            <a:spLocks noChangeShapeType="1"/>
          </p:cNvSpPr>
          <p:nvPr/>
        </p:nvSpPr>
        <p:spPr bwMode="auto">
          <a:xfrm flipH="1">
            <a:off x="2279650" y="3086100"/>
            <a:ext cx="2743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2" name="Line 11"/>
          <p:cNvSpPr>
            <a:spLocks noChangeShapeType="1"/>
          </p:cNvSpPr>
          <p:nvPr/>
        </p:nvSpPr>
        <p:spPr bwMode="auto">
          <a:xfrm>
            <a:off x="5022850" y="3086100"/>
            <a:ext cx="2028825" cy="2028825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3" name="Line 12"/>
          <p:cNvSpPr>
            <a:spLocks noChangeShapeType="1"/>
          </p:cNvSpPr>
          <p:nvPr/>
        </p:nvSpPr>
        <p:spPr bwMode="auto">
          <a:xfrm>
            <a:off x="2281238" y="4924425"/>
            <a:ext cx="33337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4" name="Line 13"/>
          <p:cNvSpPr>
            <a:spLocks noChangeShapeType="1"/>
          </p:cNvSpPr>
          <p:nvPr/>
        </p:nvSpPr>
        <p:spPr bwMode="auto">
          <a:xfrm>
            <a:off x="2446338" y="4922838"/>
            <a:ext cx="42862" cy="158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5" name="Line 14"/>
          <p:cNvSpPr>
            <a:spLocks noChangeShapeType="1"/>
          </p:cNvSpPr>
          <p:nvPr/>
        </p:nvSpPr>
        <p:spPr bwMode="auto">
          <a:xfrm>
            <a:off x="2638425" y="4919663"/>
            <a:ext cx="460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6" name="Line 15"/>
          <p:cNvSpPr>
            <a:spLocks noChangeShapeType="1"/>
          </p:cNvSpPr>
          <p:nvPr/>
        </p:nvSpPr>
        <p:spPr bwMode="auto">
          <a:xfrm>
            <a:off x="2828925" y="4910138"/>
            <a:ext cx="4603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7" name="Line 16"/>
          <p:cNvSpPr>
            <a:spLocks noChangeShapeType="1"/>
          </p:cNvSpPr>
          <p:nvPr/>
        </p:nvSpPr>
        <p:spPr bwMode="auto">
          <a:xfrm>
            <a:off x="3024188" y="4894263"/>
            <a:ext cx="381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8" name="Line 17"/>
          <p:cNvSpPr>
            <a:spLocks noChangeShapeType="1"/>
          </p:cNvSpPr>
          <p:nvPr/>
        </p:nvSpPr>
        <p:spPr bwMode="auto">
          <a:xfrm>
            <a:off x="3209925" y="4875213"/>
            <a:ext cx="476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19" name="Line 18"/>
          <p:cNvSpPr>
            <a:spLocks noChangeShapeType="1"/>
          </p:cNvSpPr>
          <p:nvPr/>
        </p:nvSpPr>
        <p:spPr bwMode="auto">
          <a:xfrm flipV="1">
            <a:off x="3400425" y="4848225"/>
            <a:ext cx="38100" cy="31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0" name="Line 19"/>
          <p:cNvSpPr>
            <a:spLocks noChangeShapeType="1"/>
          </p:cNvSpPr>
          <p:nvPr/>
        </p:nvSpPr>
        <p:spPr bwMode="auto">
          <a:xfrm flipV="1">
            <a:off x="3589338" y="4818063"/>
            <a:ext cx="52387" cy="6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1" name="Line 20"/>
          <p:cNvSpPr>
            <a:spLocks noChangeShapeType="1"/>
          </p:cNvSpPr>
          <p:nvPr/>
        </p:nvSpPr>
        <p:spPr bwMode="auto">
          <a:xfrm flipV="1">
            <a:off x="3775075" y="4784725"/>
            <a:ext cx="38100" cy="4763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2" name="Line 21"/>
          <p:cNvSpPr>
            <a:spLocks noChangeShapeType="1"/>
          </p:cNvSpPr>
          <p:nvPr/>
        </p:nvSpPr>
        <p:spPr bwMode="auto">
          <a:xfrm flipV="1">
            <a:off x="3960813" y="4751388"/>
            <a:ext cx="44450" cy="6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3" name="Line 22"/>
          <p:cNvSpPr>
            <a:spLocks noChangeShapeType="1"/>
          </p:cNvSpPr>
          <p:nvPr/>
        </p:nvSpPr>
        <p:spPr bwMode="auto">
          <a:xfrm flipV="1">
            <a:off x="4146550" y="4708525"/>
            <a:ext cx="44450" cy="9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4" name="Line 23"/>
          <p:cNvSpPr>
            <a:spLocks noChangeShapeType="1"/>
          </p:cNvSpPr>
          <p:nvPr/>
        </p:nvSpPr>
        <p:spPr bwMode="auto">
          <a:xfrm flipV="1">
            <a:off x="4332288" y="4657725"/>
            <a:ext cx="39687" cy="12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5" name="Line 24"/>
          <p:cNvSpPr>
            <a:spLocks noChangeShapeType="1"/>
          </p:cNvSpPr>
          <p:nvPr/>
        </p:nvSpPr>
        <p:spPr bwMode="auto">
          <a:xfrm flipV="1">
            <a:off x="4514850" y="4613275"/>
            <a:ext cx="41275" cy="95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6" name="Line 25"/>
          <p:cNvSpPr>
            <a:spLocks noChangeShapeType="1"/>
          </p:cNvSpPr>
          <p:nvPr/>
        </p:nvSpPr>
        <p:spPr bwMode="auto">
          <a:xfrm flipV="1">
            <a:off x="4697413" y="4552950"/>
            <a:ext cx="42862" cy="127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7" name="Line 26"/>
          <p:cNvSpPr>
            <a:spLocks noChangeShapeType="1"/>
          </p:cNvSpPr>
          <p:nvPr/>
        </p:nvSpPr>
        <p:spPr bwMode="auto">
          <a:xfrm flipV="1">
            <a:off x="4873625" y="4495800"/>
            <a:ext cx="47625" cy="142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8" name="Line 27"/>
          <p:cNvSpPr>
            <a:spLocks noChangeShapeType="1"/>
          </p:cNvSpPr>
          <p:nvPr/>
        </p:nvSpPr>
        <p:spPr bwMode="auto">
          <a:xfrm flipV="1">
            <a:off x="5056188" y="4432300"/>
            <a:ext cx="42862" cy="142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29" name="Line 28"/>
          <p:cNvSpPr>
            <a:spLocks noChangeShapeType="1"/>
          </p:cNvSpPr>
          <p:nvPr/>
        </p:nvSpPr>
        <p:spPr bwMode="auto">
          <a:xfrm flipV="1">
            <a:off x="5232400" y="4362450"/>
            <a:ext cx="42863" cy="142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30" name="Line 29"/>
          <p:cNvSpPr>
            <a:spLocks noChangeShapeType="1"/>
          </p:cNvSpPr>
          <p:nvPr/>
        </p:nvSpPr>
        <p:spPr bwMode="auto">
          <a:xfrm flipV="1">
            <a:off x="5408613" y="4286250"/>
            <a:ext cx="38100" cy="142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31" name="Line 30"/>
          <p:cNvSpPr>
            <a:spLocks noChangeShapeType="1"/>
          </p:cNvSpPr>
          <p:nvPr/>
        </p:nvSpPr>
        <p:spPr bwMode="auto">
          <a:xfrm flipV="1">
            <a:off x="5583238" y="4203700"/>
            <a:ext cx="38100" cy="19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32" name="Line 31"/>
          <p:cNvSpPr>
            <a:spLocks noChangeShapeType="1"/>
          </p:cNvSpPr>
          <p:nvPr/>
        </p:nvSpPr>
        <p:spPr bwMode="auto">
          <a:xfrm flipV="1">
            <a:off x="5749925" y="4117975"/>
            <a:ext cx="39688" cy="190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33" name="Line 32"/>
          <p:cNvSpPr>
            <a:spLocks noChangeShapeType="1"/>
          </p:cNvSpPr>
          <p:nvPr/>
        </p:nvSpPr>
        <p:spPr bwMode="auto">
          <a:xfrm flipV="1">
            <a:off x="5918200" y="4022725"/>
            <a:ext cx="38100" cy="206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34" name="Line 33"/>
          <p:cNvSpPr>
            <a:spLocks noChangeShapeType="1"/>
          </p:cNvSpPr>
          <p:nvPr/>
        </p:nvSpPr>
        <p:spPr bwMode="auto">
          <a:xfrm flipV="1">
            <a:off x="6078538" y="3924300"/>
            <a:ext cx="38100" cy="222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35" name="Line 34"/>
          <p:cNvSpPr>
            <a:spLocks noChangeShapeType="1"/>
          </p:cNvSpPr>
          <p:nvPr/>
        </p:nvSpPr>
        <p:spPr bwMode="auto">
          <a:xfrm flipV="1">
            <a:off x="6237288" y="3822700"/>
            <a:ext cx="36512" cy="206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36" name="Line 35"/>
          <p:cNvSpPr>
            <a:spLocks noChangeShapeType="1"/>
          </p:cNvSpPr>
          <p:nvPr/>
        </p:nvSpPr>
        <p:spPr bwMode="auto">
          <a:xfrm flipV="1">
            <a:off x="6392863" y="3713163"/>
            <a:ext cx="30162" cy="2381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37" name="Line 36"/>
          <p:cNvSpPr>
            <a:spLocks noChangeShapeType="1"/>
          </p:cNvSpPr>
          <p:nvPr/>
        </p:nvSpPr>
        <p:spPr bwMode="auto">
          <a:xfrm flipV="1">
            <a:off x="6545263" y="3590925"/>
            <a:ext cx="30162" cy="269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38" name="Line 37"/>
          <p:cNvSpPr>
            <a:spLocks noChangeShapeType="1"/>
          </p:cNvSpPr>
          <p:nvPr/>
        </p:nvSpPr>
        <p:spPr bwMode="auto">
          <a:xfrm flipV="1">
            <a:off x="6683375" y="3467100"/>
            <a:ext cx="39688" cy="3333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39" name="Line 38"/>
          <p:cNvSpPr>
            <a:spLocks noChangeShapeType="1"/>
          </p:cNvSpPr>
          <p:nvPr/>
        </p:nvSpPr>
        <p:spPr bwMode="auto">
          <a:xfrm flipV="1">
            <a:off x="6821488" y="3325813"/>
            <a:ext cx="49212" cy="41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40" name="Line 39"/>
          <p:cNvSpPr>
            <a:spLocks noChangeShapeType="1"/>
          </p:cNvSpPr>
          <p:nvPr/>
        </p:nvSpPr>
        <p:spPr bwMode="auto">
          <a:xfrm flipV="1">
            <a:off x="7021513" y="3130550"/>
            <a:ext cx="38100" cy="4127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5641" name="Line 40"/>
          <p:cNvSpPr>
            <a:spLocks noChangeShapeType="1"/>
          </p:cNvSpPr>
          <p:nvPr/>
        </p:nvSpPr>
        <p:spPr bwMode="auto">
          <a:xfrm flipV="1">
            <a:off x="3033713" y="4057650"/>
            <a:ext cx="193675" cy="17463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5642" name="Group 55"/>
          <p:cNvGrpSpPr>
            <a:grpSpLocks/>
          </p:cNvGrpSpPr>
          <p:nvPr/>
        </p:nvGrpSpPr>
        <p:grpSpPr bwMode="auto">
          <a:xfrm>
            <a:off x="2268538" y="3644900"/>
            <a:ext cx="2732087" cy="457200"/>
            <a:chOff x="1443" y="2298"/>
            <a:chExt cx="1721" cy="288"/>
          </a:xfrm>
        </p:grpSpPr>
        <p:sp>
          <p:nvSpPr>
            <p:cNvPr id="25650" name="Line 41"/>
            <p:cNvSpPr>
              <a:spLocks noChangeShapeType="1"/>
            </p:cNvSpPr>
            <p:nvPr/>
          </p:nvSpPr>
          <p:spPr bwMode="auto">
            <a:xfrm>
              <a:off x="1443" y="2586"/>
              <a:ext cx="101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51" name="Line 42"/>
            <p:cNvSpPr>
              <a:spLocks noChangeShapeType="1"/>
            </p:cNvSpPr>
            <p:nvPr/>
          </p:nvSpPr>
          <p:spPr bwMode="auto">
            <a:xfrm flipV="1">
              <a:off x="1547" y="2583"/>
              <a:ext cx="120" cy="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52" name="Line 43"/>
            <p:cNvSpPr>
              <a:spLocks noChangeShapeType="1"/>
            </p:cNvSpPr>
            <p:nvPr/>
          </p:nvSpPr>
          <p:spPr bwMode="auto">
            <a:xfrm flipV="1">
              <a:off x="1668" y="2577"/>
              <a:ext cx="125" cy="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53" name="Line 44"/>
            <p:cNvSpPr>
              <a:spLocks noChangeShapeType="1"/>
            </p:cNvSpPr>
            <p:nvPr/>
          </p:nvSpPr>
          <p:spPr bwMode="auto">
            <a:xfrm flipV="1">
              <a:off x="1788" y="2568"/>
              <a:ext cx="122" cy="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54" name="Line 45"/>
            <p:cNvSpPr>
              <a:spLocks noChangeShapeType="1"/>
            </p:cNvSpPr>
            <p:nvPr/>
          </p:nvSpPr>
          <p:spPr bwMode="auto">
            <a:xfrm flipV="1">
              <a:off x="2028" y="2541"/>
              <a:ext cx="122" cy="1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55" name="Line 46"/>
            <p:cNvSpPr>
              <a:spLocks noChangeShapeType="1"/>
            </p:cNvSpPr>
            <p:nvPr/>
          </p:nvSpPr>
          <p:spPr bwMode="auto">
            <a:xfrm flipV="1">
              <a:off x="2148" y="2526"/>
              <a:ext cx="125" cy="1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56" name="Line 47"/>
            <p:cNvSpPr>
              <a:spLocks noChangeShapeType="1"/>
            </p:cNvSpPr>
            <p:nvPr/>
          </p:nvSpPr>
          <p:spPr bwMode="auto">
            <a:xfrm flipV="1">
              <a:off x="2267" y="2502"/>
              <a:ext cx="123" cy="2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57" name="Line 48"/>
            <p:cNvSpPr>
              <a:spLocks noChangeShapeType="1"/>
            </p:cNvSpPr>
            <p:nvPr/>
          </p:nvSpPr>
          <p:spPr bwMode="auto">
            <a:xfrm flipV="1">
              <a:off x="2384" y="2481"/>
              <a:ext cx="123" cy="2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58" name="Line 49"/>
            <p:cNvSpPr>
              <a:spLocks noChangeShapeType="1"/>
            </p:cNvSpPr>
            <p:nvPr/>
          </p:nvSpPr>
          <p:spPr bwMode="auto">
            <a:xfrm flipV="1">
              <a:off x="2501" y="2457"/>
              <a:ext cx="120" cy="2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59" name="Line 50"/>
            <p:cNvSpPr>
              <a:spLocks noChangeShapeType="1"/>
            </p:cNvSpPr>
            <p:nvPr/>
          </p:nvSpPr>
          <p:spPr bwMode="auto">
            <a:xfrm flipV="1">
              <a:off x="2618" y="2427"/>
              <a:ext cx="120" cy="2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60" name="Line 51"/>
            <p:cNvSpPr>
              <a:spLocks noChangeShapeType="1"/>
            </p:cNvSpPr>
            <p:nvPr/>
          </p:nvSpPr>
          <p:spPr bwMode="auto">
            <a:xfrm flipV="1">
              <a:off x="2735" y="2397"/>
              <a:ext cx="120" cy="2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61" name="Line 52"/>
            <p:cNvSpPr>
              <a:spLocks noChangeShapeType="1"/>
            </p:cNvSpPr>
            <p:nvPr/>
          </p:nvSpPr>
          <p:spPr bwMode="auto">
            <a:xfrm flipV="1">
              <a:off x="2850" y="2364"/>
              <a:ext cx="119" cy="3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62" name="Line 53"/>
            <p:cNvSpPr>
              <a:spLocks noChangeShapeType="1"/>
            </p:cNvSpPr>
            <p:nvPr/>
          </p:nvSpPr>
          <p:spPr bwMode="auto">
            <a:xfrm flipV="1">
              <a:off x="2965" y="2325"/>
              <a:ext cx="118" cy="3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63" name="Line 54"/>
            <p:cNvSpPr>
              <a:spLocks noChangeShapeType="1"/>
            </p:cNvSpPr>
            <p:nvPr/>
          </p:nvSpPr>
          <p:spPr bwMode="auto">
            <a:xfrm flipV="1">
              <a:off x="3076" y="2298"/>
              <a:ext cx="88" cy="2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5643" name="Group 61"/>
          <p:cNvGrpSpPr>
            <a:grpSpLocks/>
          </p:cNvGrpSpPr>
          <p:nvPr/>
        </p:nvGrpSpPr>
        <p:grpSpPr bwMode="auto">
          <a:xfrm>
            <a:off x="5022850" y="3648075"/>
            <a:ext cx="2019300" cy="571500"/>
            <a:chOff x="3164" y="2298"/>
            <a:chExt cx="1272" cy="360"/>
          </a:xfrm>
        </p:grpSpPr>
        <p:sp>
          <p:nvSpPr>
            <p:cNvPr id="25645" name="Line 56"/>
            <p:cNvSpPr>
              <a:spLocks noChangeShapeType="1"/>
            </p:cNvSpPr>
            <p:nvPr/>
          </p:nvSpPr>
          <p:spPr bwMode="auto">
            <a:xfrm>
              <a:off x="3164" y="2298"/>
              <a:ext cx="722" cy="28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6" name="Line 57"/>
            <p:cNvSpPr>
              <a:spLocks noChangeShapeType="1"/>
            </p:cNvSpPr>
            <p:nvPr/>
          </p:nvSpPr>
          <p:spPr bwMode="auto">
            <a:xfrm>
              <a:off x="3887" y="2589"/>
              <a:ext cx="96" cy="3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7" name="Line 58"/>
            <p:cNvSpPr>
              <a:spLocks noChangeShapeType="1"/>
            </p:cNvSpPr>
            <p:nvPr/>
          </p:nvSpPr>
          <p:spPr bwMode="auto">
            <a:xfrm>
              <a:off x="3977" y="2616"/>
              <a:ext cx="111" cy="2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8" name="Line 59"/>
            <p:cNvSpPr>
              <a:spLocks noChangeShapeType="1"/>
            </p:cNvSpPr>
            <p:nvPr/>
          </p:nvSpPr>
          <p:spPr bwMode="auto">
            <a:xfrm>
              <a:off x="4085" y="2643"/>
              <a:ext cx="111" cy="1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49" name="Line 60"/>
            <p:cNvSpPr>
              <a:spLocks noChangeShapeType="1"/>
            </p:cNvSpPr>
            <p:nvPr/>
          </p:nvSpPr>
          <p:spPr bwMode="auto">
            <a:xfrm>
              <a:off x="4199" y="2658"/>
              <a:ext cx="23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5644" name="Slide Number Placeholder 6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C4F19CEE-E1A0-40A4-976C-E86D546015D1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11, Copyright © John C. Hull 2016</a:t>
            </a:r>
            <a:endParaRPr lang="en-US" altLang="en-US" sz="1400" i="0"/>
          </a:p>
        </p:txBody>
      </p:sp>
      <p:sp>
        <p:nvSpPr>
          <p:cNvPr id="26627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Calendar Spread Using Puts</a:t>
            </a:r>
            <a:br>
              <a:rPr lang="en-US" altLang="en-US" smtClean="0"/>
            </a:br>
            <a:r>
              <a:rPr lang="en-US" altLang="en-US" sz="2200" smtClean="0"/>
              <a:t>Figure 11.9, page 260</a:t>
            </a:r>
            <a:endParaRPr lang="en-US" altLang="en-US" smtClean="0"/>
          </a:p>
        </p:txBody>
      </p:sp>
      <p:sp>
        <p:nvSpPr>
          <p:cNvPr id="26628" name="Rectangle 3"/>
          <p:cNvSpPr>
            <a:spLocks noChangeArrowheads="1"/>
          </p:cNvSpPr>
          <p:nvPr/>
        </p:nvSpPr>
        <p:spPr bwMode="auto">
          <a:xfrm>
            <a:off x="1863725" y="1638300"/>
            <a:ext cx="4114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6629" name="Line 4"/>
          <p:cNvSpPr>
            <a:spLocks noChangeShapeType="1"/>
          </p:cNvSpPr>
          <p:nvPr/>
        </p:nvSpPr>
        <p:spPr bwMode="auto">
          <a:xfrm>
            <a:off x="2284413" y="2171700"/>
            <a:ext cx="0" cy="3657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0" name="Line 5"/>
          <p:cNvSpPr>
            <a:spLocks noChangeShapeType="1"/>
          </p:cNvSpPr>
          <p:nvPr/>
        </p:nvSpPr>
        <p:spPr bwMode="auto">
          <a:xfrm>
            <a:off x="2284413" y="4000500"/>
            <a:ext cx="499745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1" name="Rectangle 6"/>
          <p:cNvSpPr>
            <a:spLocks noChangeArrowheads="1"/>
          </p:cNvSpPr>
          <p:nvPr/>
        </p:nvSpPr>
        <p:spPr bwMode="auto">
          <a:xfrm>
            <a:off x="2268538" y="2217738"/>
            <a:ext cx="11334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Profit</a:t>
            </a:r>
          </a:p>
        </p:txBody>
      </p:sp>
      <p:sp>
        <p:nvSpPr>
          <p:cNvPr id="26632" name="Rectangle 7"/>
          <p:cNvSpPr>
            <a:spLocks noChangeArrowheads="1"/>
          </p:cNvSpPr>
          <p:nvPr/>
        </p:nvSpPr>
        <p:spPr bwMode="auto">
          <a:xfrm>
            <a:off x="6735763" y="3427413"/>
            <a:ext cx="5349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S</a:t>
            </a:r>
            <a:r>
              <a:rPr lang="en-US" altLang="en-US" i="1" baseline="-250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6633" name="Line 8"/>
          <p:cNvSpPr>
            <a:spLocks noChangeShapeType="1"/>
          </p:cNvSpPr>
          <p:nvPr/>
        </p:nvSpPr>
        <p:spPr bwMode="auto">
          <a:xfrm flipV="1">
            <a:off x="4313238" y="39243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4" name="Rectangle 9"/>
          <p:cNvSpPr>
            <a:spLocks noChangeArrowheads="1"/>
          </p:cNvSpPr>
          <p:nvPr/>
        </p:nvSpPr>
        <p:spPr bwMode="auto">
          <a:xfrm>
            <a:off x="4068763" y="3970338"/>
            <a:ext cx="4556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K</a:t>
            </a:r>
          </a:p>
        </p:txBody>
      </p:sp>
      <p:grpSp>
        <p:nvGrpSpPr>
          <p:cNvPr id="26635" name="Group 12"/>
          <p:cNvGrpSpPr>
            <a:grpSpLocks/>
          </p:cNvGrpSpPr>
          <p:nvPr/>
        </p:nvGrpSpPr>
        <p:grpSpPr bwMode="auto">
          <a:xfrm>
            <a:off x="2286000" y="3086100"/>
            <a:ext cx="4772025" cy="2028825"/>
            <a:chOff x="1440" y="1944"/>
            <a:chExt cx="3006" cy="1278"/>
          </a:xfrm>
        </p:grpSpPr>
        <p:sp>
          <p:nvSpPr>
            <p:cNvPr id="26687" name="Line 10"/>
            <p:cNvSpPr>
              <a:spLocks noChangeShapeType="1"/>
            </p:cNvSpPr>
            <p:nvPr/>
          </p:nvSpPr>
          <p:spPr bwMode="auto">
            <a:xfrm>
              <a:off x="2718" y="1944"/>
              <a:ext cx="1728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88" name="Line 11"/>
            <p:cNvSpPr>
              <a:spLocks noChangeShapeType="1"/>
            </p:cNvSpPr>
            <p:nvPr/>
          </p:nvSpPr>
          <p:spPr bwMode="auto">
            <a:xfrm flipH="1">
              <a:off x="1440" y="1944"/>
              <a:ext cx="1278" cy="1278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sysDot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636" name="Line 13"/>
          <p:cNvSpPr>
            <a:spLocks noChangeShapeType="1"/>
          </p:cNvSpPr>
          <p:nvPr/>
        </p:nvSpPr>
        <p:spPr bwMode="auto">
          <a:xfrm flipH="1">
            <a:off x="7019925" y="4924425"/>
            <a:ext cx="36513" cy="174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7" name="Line 14"/>
          <p:cNvSpPr>
            <a:spLocks noChangeShapeType="1"/>
          </p:cNvSpPr>
          <p:nvPr/>
        </p:nvSpPr>
        <p:spPr bwMode="auto">
          <a:xfrm flipH="1">
            <a:off x="6848475" y="4922838"/>
            <a:ext cx="42863" cy="158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8" name="Line 15"/>
          <p:cNvSpPr>
            <a:spLocks noChangeShapeType="1"/>
          </p:cNvSpPr>
          <p:nvPr/>
        </p:nvSpPr>
        <p:spPr bwMode="auto">
          <a:xfrm flipH="1">
            <a:off x="6653213" y="4919663"/>
            <a:ext cx="460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39" name="Line 16"/>
          <p:cNvSpPr>
            <a:spLocks noChangeShapeType="1"/>
          </p:cNvSpPr>
          <p:nvPr/>
        </p:nvSpPr>
        <p:spPr bwMode="auto">
          <a:xfrm flipH="1">
            <a:off x="6462713" y="4910138"/>
            <a:ext cx="46037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0" name="Line 17"/>
          <p:cNvSpPr>
            <a:spLocks noChangeShapeType="1"/>
          </p:cNvSpPr>
          <p:nvPr/>
        </p:nvSpPr>
        <p:spPr bwMode="auto">
          <a:xfrm flipH="1">
            <a:off x="6275388" y="4894263"/>
            <a:ext cx="38100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1" name="Line 18"/>
          <p:cNvSpPr>
            <a:spLocks noChangeShapeType="1"/>
          </p:cNvSpPr>
          <p:nvPr/>
        </p:nvSpPr>
        <p:spPr bwMode="auto">
          <a:xfrm flipH="1">
            <a:off x="6080125" y="4875213"/>
            <a:ext cx="47625" cy="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2" name="Line 19"/>
          <p:cNvSpPr>
            <a:spLocks noChangeShapeType="1"/>
          </p:cNvSpPr>
          <p:nvPr/>
        </p:nvSpPr>
        <p:spPr bwMode="auto">
          <a:xfrm flipH="1" flipV="1">
            <a:off x="5899150" y="4848225"/>
            <a:ext cx="38100" cy="31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3" name="Line 20"/>
          <p:cNvSpPr>
            <a:spLocks noChangeShapeType="1"/>
          </p:cNvSpPr>
          <p:nvPr/>
        </p:nvSpPr>
        <p:spPr bwMode="auto">
          <a:xfrm flipH="1" flipV="1">
            <a:off x="5695950" y="4818063"/>
            <a:ext cx="52388" cy="63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4" name="Line 21"/>
          <p:cNvSpPr>
            <a:spLocks noChangeShapeType="1"/>
          </p:cNvSpPr>
          <p:nvPr/>
        </p:nvSpPr>
        <p:spPr bwMode="auto">
          <a:xfrm flipH="1" flipV="1">
            <a:off x="5524500" y="4784725"/>
            <a:ext cx="38100" cy="4763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5" name="Line 22"/>
          <p:cNvSpPr>
            <a:spLocks noChangeShapeType="1"/>
          </p:cNvSpPr>
          <p:nvPr/>
        </p:nvSpPr>
        <p:spPr bwMode="auto">
          <a:xfrm flipH="1" flipV="1">
            <a:off x="5332413" y="4751388"/>
            <a:ext cx="44450" cy="63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6" name="Line 23"/>
          <p:cNvSpPr>
            <a:spLocks noChangeShapeType="1"/>
          </p:cNvSpPr>
          <p:nvPr/>
        </p:nvSpPr>
        <p:spPr bwMode="auto">
          <a:xfrm flipH="1" flipV="1">
            <a:off x="5146675" y="4708525"/>
            <a:ext cx="44450" cy="95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7" name="Line 24"/>
          <p:cNvSpPr>
            <a:spLocks noChangeShapeType="1"/>
          </p:cNvSpPr>
          <p:nvPr/>
        </p:nvSpPr>
        <p:spPr bwMode="auto">
          <a:xfrm flipH="1" flipV="1">
            <a:off x="4965700" y="4657725"/>
            <a:ext cx="39688" cy="127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8" name="Line 25"/>
          <p:cNvSpPr>
            <a:spLocks noChangeShapeType="1"/>
          </p:cNvSpPr>
          <p:nvPr/>
        </p:nvSpPr>
        <p:spPr bwMode="auto">
          <a:xfrm flipH="1" flipV="1">
            <a:off x="4781550" y="4613275"/>
            <a:ext cx="41275" cy="95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49" name="Line 26"/>
          <p:cNvSpPr>
            <a:spLocks noChangeShapeType="1"/>
          </p:cNvSpPr>
          <p:nvPr/>
        </p:nvSpPr>
        <p:spPr bwMode="auto">
          <a:xfrm flipH="1" flipV="1">
            <a:off x="4597400" y="4552950"/>
            <a:ext cx="42863" cy="1270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50" name="Line 27"/>
          <p:cNvSpPr>
            <a:spLocks noChangeShapeType="1"/>
          </p:cNvSpPr>
          <p:nvPr/>
        </p:nvSpPr>
        <p:spPr bwMode="auto">
          <a:xfrm flipH="1" flipV="1">
            <a:off x="4416425" y="4495800"/>
            <a:ext cx="47625" cy="142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51" name="Line 28"/>
          <p:cNvSpPr>
            <a:spLocks noChangeShapeType="1"/>
          </p:cNvSpPr>
          <p:nvPr/>
        </p:nvSpPr>
        <p:spPr bwMode="auto">
          <a:xfrm flipH="1" flipV="1">
            <a:off x="4238625" y="4432300"/>
            <a:ext cx="42863" cy="142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52" name="Line 29"/>
          <p:cNvSpPr>
            <a:spLocks noChangeShapeType="1"/>
          </p:cNvSpPr>
          <p:nvPr/>
        </p:nvSpPr>
        <p:spPr bwMode="auto">
          <a:xfrm flipH="1" flipV="1">
            <a:off x="4062413" y="4362450"/>
            <a:ext cx="42862" cy="142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53" name="Line 30"/>
          <p:cNvSpPr>
            <a:spLocks noChangeShapeType="1"/>
          </p:cNvSpPr>
          <p:nvPr/>
        </p:nvSpPr>
        <p:spPr bwMode="auto">
          <a:xfrm flipH="1" flipV="1">
            <a:off x="3890963" y="4286250"/>
            <a:ext cx="38100" cy="142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54" name="Line 31"/>
          <p:cNvSpPr>
            <a:spLocks noChangeShapeType="1"/>
          </p:cNvSpPr>
          <p:nvPr/>
        </p:nvSpPr>
        <p:spPr bwMode="auto">
          <a:xfrm flipH="1" flipV="1">
            <a:off x="3708400" y="4221163"/>
            <a:ext cx="71438" cy="71437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55" name="Line 32"/>
          <p:cNvSpPr>
            <a:spLocks noChangeShapeType="1"/>
          </p:cNvSpPr>
          <p:nvPr/>
        </p:nvSpPr>
        <p:spPr bwMode="auto">
          <a:xfrm flipH="1" flipV="1">
            <a:off x="3548063" y="4117975"/>
            <a:ext cx="39687" cy="19050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56" name="Line 33"/>
          <p:cNvSpPr>
            <a:spLocks noChangeShapeType="1"/>
          </p:cNvSpPr>
          <p:nvPr/>
        </p:nvSpPr>
        <p:spPr bwMode="auto">
          <a:xfrm flipH="1" flipV="1">
            <a:off x="3381375" y="4022725"/>
            <a:ext cx="38100" cy="20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57" name="Line 34"/>
          <p:cNvSpPr>
            <a:spLocks noChangeShapeType="1"/>
          </p:cNvSpPr>
          <p:nvPr/>
        </p:nvSpPr>
        <p:spPr bwMode="auto">
          <a:xfrm flipH="1" flipV="1">
            <a:off x="3221038" y="3924300"/>
            <a:ext cx="38100" cy="2222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58" name="Line 35"/>
          <p:cNvSpPr>
            <a:spLocks noChangeShapeType="1"/>
          </p:cNvSpPr>
          <p:nvPr/>
        </p:nvSpPr>
        <p:spPr bwMode="auto">
          <a:xfrm flipH="1" flipV="1">
            <a:off x="3063875" y="3822700"/>
            <a:ext cx="36513" cy="206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59" name="Line 36"/>
          <p:cNvSpPr>
            <a:spLocks noChangeShapeType="1"/>
          </p:cNvSpPr>
          <p:nvPr/>
        </p:nvSpPr>
        <p:spPr bwMode="auto">
          <a:xfrm flipH="1" flipV="1">
            <a:off x="2914650" y="3713163"/>
            <a:ext cx="30163" cy="23812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60" name="Line 37"/>
          <p:cNvSpPr>
            <a:spLocks noChangeShapeType="1"/>
          </p:cNvSpPr>
          <p:nvPr/>
        </p:nvSpPr>
        <p:spPr bwMode="auto">
          <a:xfrm flipH="1" flipV="1">
            <a:off x="2762250" y="3590925"/>
            <a:ext cx="30163" cy="2698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61" name="Line 38"/>
          <p:cNvSpPr>
            <a:spLocks noChangeShapeType="1"/>
          </p:cNvSpPr>
          <p:nvPr/>
        </p:nvSpPr>
        <p:spPr bwMode="auto">
          <a:xfrm flipH="1" flipV="1">
            <a:off x="2614613" y="3467100"/>
            <a:ext cx="39687" cy="33338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62" name="Line 39"/>
          <p:cNvSpPr>
            <a:spLocks noChangeShapeType="1"/>
          </p:cNvSpPr>
          <p:nvPr/>
        </p:nvSpPr>
        <p:spPr bwMode="auto">
          <a:xfrm flipH="1" flipV="1">
            <a:off x="2466975" y="3325813"/>
            <a:ext cx="49213" cy="412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6663" name="Line 40"/>
          <p:cNvSpPr>
            <a:spLocks noChangeShapeType="1"/>
          </p:cNvSpPr>
          <p:nvPr/>
        </p:nvSpPr>
        <p:spPr bwMode="auto">
          <a:xfrm flipH="1" flipV="1">
            <a:off x="2278063" y="3130550"/>
            <a:ext cx="38100" cy="41275"/>
          </a:xfrm>
          <a:prstGeom prst="line">
            <a:avLst/>
          </a:prstGeom>
          <a:noFill/>
          <a:ln w="12700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grpSp>
        <p:nvGrpSpPr>
          <p:cNvPr id="26664" name="Group 57"/>
          <p:cNvGrpSpPr>
            <a:grpSpLocks/>
          </p:cNvGrpSpPr>
          <p:nvPr/>
        </p:nvGrpSpPr>
        <p:grpSpPr bwMode="auto">
          <a:xfrm>
            <a:off x="4314825" y="3648075"/>
            <a:ext cx="2732088" cy="457200"/>
            <a:chOff x="2718" y="2298"/>
            <a:chExt cx="1721" cy="288"/>
          </a:xfrm>
        </p:grpSpPr>
        <p:sp>
          <p:nvSpPr>
            <p:cNvPr id="26672" name="Line 42"/>
            <p:cNvSpPr>
              <a:spLocks noChangeShapeType="1"/>
            </p:cNvSpPr>
            <p:nvPr/>
          </p:nvSpPr>
          <p:spPr bwMode="auto">
            <a:xfrm flipH="1" flipV="1">
              <a:off x="3846" y="2556"/>
              <a:ext cx="122" cy="1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3" name="Line 43"/>
            <p:cNvSpPr>
              <a:spLocks noChangeShapeType="1"/>
            </p:cNvSpPr>
            <p:nvPr/>
          </p:nvSpPr>
          <p:spPr bwMode="auto">
            <a:xfrm flipH="1">
              <a:off x="4338" y="2586"/>
              <a:ext cx="101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4" name="Line 44"/>
            <p:cNvSpPr>
              <a:spLocks noChangeShapeType="1"/>
            </p:cNvSpPr>
            <p:nvPr/>
          </p:nvSpPr>
          <p:spPr bwMode="auto">
            <a:xfrm flipH="1" flipV="1">
              <a:off x="4215" y="2583"/>
              <a:ext cx="120" cy="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5" name="Line 45"/>
            <p:cNvSpPr>
              <a:spLocks noChangeShapeType="1"/>
            </p:cNvSpPr>
            <p:nvPr/>
          </p:nvSpPr>
          <p:spPr bwMode="auto">
            <a:xfrm flipH="1" flipV="1">
              <a:off x="4089" y="2577"/>
              <a:ext cx="125" cy="6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6" name="Line 46"/>
            <p:cNvSpPr>
              <a:spLocks noChangeShapeType="1"/>
            </p:cNvSpPr>
            <p:nvPr/>
          </p:nvSpPr>
          <p:spPr bwMode="auto">
            <a:xfrm flipH="1" flipV="1">
              <a:off x="3972" y="2568"/>
              <a:ext cx="122" cy="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7" name="Line 47"/>
            <p:cNvSpPr>
              <a:spLocks noChangeShapeType="1"/>
            </p:cNvSpPr>
            <p:nvPr/>
          </p:nvSpPr>
          <p:spPr bwMode="auto">
            <a:xfrm flipH="1" flipV="1">
              <a:off x="3732" y="2541"/>
              <a:ext cx="122" cy="1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8" name="Line 48"/>
            <p:cNvSpPr>
              <a:spLocks noChangeShapeType="1"/>
            </p:cNvSpPr>
            <p:nvPr/>
          </p:nvSpPr>
          <p:spPr bwMode="auto">
            <a:xfrm flipH="1" flipV="1">
              <a:off x="3609" y="2526"/>
              <a:ext cx="125" cy="1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9" name="Line 49"/>
            <p:cNvSpPr>
              <a:spLocks noChangeShapeType="1"/>
            </p:cNvSpPr>
            <p:nvPr/>
          </p:nvSpPr>
          <p:spPr bwMode="auto">
            <a:xfrm flipH="1" flipV="1">
              <a:off x="3492" y="2502"/>
              <a:ext cx="123" cy="21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80" name="Line 50"/>
            <p:cNvSpPr>
              <a:spLocks noChangeShapeType="1"/>
            </p:cNvSpPr>
            <p:nvPr/>
          </p:nvSpPr>
          <p:spPr bwMode="auto">
            <a:xfrm flipH="1" flipV="1">
              <a:off x="3375" y="2481"/>
              <a:ext cx="123" cy="2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81" name="Line 51"/>
            <p:cNvSpPr>
              <a:spLocks noChangeShapeType="1"/>
            </p:cNvSpPr>
            <p:nvPr/>
          </p:nvSpPr>
          <p:spPr bwMode="auto">
            <a:xfrm flipH="1" flipV="1">
              <a:off x="3261" y="2457"/>
              <a:ext cx="120" cy="2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82" name="Line 52"/>
            <p:cNvSpPr>
              <a:spLocks noChangeShapeType="1"/>
            </p:cNvSpPr>
            <p:nvPr/>
          </p:nvSpPr>
          <p:spPr bwMode="auto">
            <a:xfrm flipH="1" flipV="1">
              <a:off x="3144" y="2427"/>
              <a:ext cx="120" cy="2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83" name="Line 53"/>
            <p:cNvSpPr>
              <a:spLocks noChangeShapeType="1"/>
            </p:cNvSpPr>
            <p:nvPr/>
          </p:nvSpPr>
          <p:spPr bwMode="auto">
            <a:xfrm flipH="1" flipV="1">
              <a:off x="3027" y="2397"/>
              <a:ext cx="120" cy="29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84" name="Line 54"/>
            <p:cNvSpPr>
              <a:spLocks noChangeShapeType="1"/>
            </p:cNvSpPr>
            <p:nvPr/>
          </p:nvSpPr>
          <p:spPr bwMode="auto">
            <a:xfrm flipH="1" flipV="1">
              <a:off x="2913" y="2364"/>
              <a:ext cx="119" cy="3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85" name="Line 55"/>
            <p:cNvSpPr>
              <a:spLocks noChangeShapeType="1"/>
            </p:cNvSpPr>
            <p:nvPr/>
          </p:nvSpPr>
          <p:spPr bwMode="auto">
            <a:xfrm flipH="1" flipV="1">
              <a:off x="2799" y="2325"/>
              <a:ext cx="118" cy="35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86" name="Line 56"/>
            <p:cNvSpPr>
              <a:spLocks noChangeShapeType="1"/>
            </p:cNvSpPr>
            <p:nvPr/>
          </p:nvSpPr>
          <p:spPr bwMode="auto">
            <a:xfrm flipH="1" flipV="1">
              <a:off x="2718" y="2298"/>
              <a:ext cx="88" cy="27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grpSp>
        <p:nvGrpSpPr>
          <p:cNvPr id="26665" name="Group 64"/>
          <p:cNvGrpSpPr>
            <a:grpSpLocks/>
          </p:cNvGrpSpPr>
          <p:nvPr/>
        </p:nvGrpSpPr>
        <p:grpSpPr bwMode="auto">
          <a:xfrm>
            <a:off x="2295525" y="3648075"/>
            <a:ext cx="2019300" cy="571500"/>
            <a:chOff x="1446" y="2298"/>
            <a:chExt cx="1272" cy="360"/>
          </a:xfrm>
        </p:grpSpPr>
        <p:sp>
          <p:nvSpPr>
            <p:cNvPr id="26667" name="Line 59"/>
            <p:cNvSpPr>
              <a:spLocks noChangeShapeType="1"/>
            </p:cNvSpPr>
            <p:nvPr/>
          </p:nvSpPr>
          <p:spPr bwMode="auto">
            <a:xfrm flipH="1">
              <a:off x="1996" y="2298"/>
              <a:ext cx="722" cy="288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8" name="Line 60"/>
            <p:cNvSpPr>
              <a:spLocks noChangeShapeType="1"/>
            </p:cNvSpPr>
            <p:nvPr/>
          </p:nvSpPr>
          <p:spPr bwMode="auto">
            <a:xfrm flipH="1">
              <a:off x="1899" y="2589"/>
              <a:ext cx="96" cy="3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69" name="Line 61"/>
            <p:cNvSpPr>
              <a:spLocks noChangeShapeType="1"/>
            </p:cNvSpPr>
            <p:nvPr/>
          </p:nvSpPr>
          <p:spPr bwMode="auto">
            <a:xfrm flipH="1">
              <a:off x="1794" y="2616"/>
              <a:ext cx="111" cy="24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0" name="Line 62"/>
            <p:cNvSpPr>
              <a:spLocks noChangeShapeType="1"/>
            </p:cNvSpPr>
            <p:nvPr/>
          </p:nvSpPr>
          <p:spPr bwMode="auto">
            <a:xfrm flipH="1">
              <a:off x="1686" y="2643"/>
              <a:ext cx="111" cy="12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71" name="Line 63"/>
            <p:cNvSpPr>
              <a:spLocks noChangeShapeType="1"/>
            </p:cNvSpPr>
            <p:nvPr/>
          </p:nvSpPr>
          <p:spPr bwMode="auto">
            <a:xfrm flipH="1">
              <a:off x="1446" y="2658"/>
              <a:ext cx="237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26666" name="Slide Number Placeholder 6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6C082AE-690B-45CE-BE4B-8094A8C67C65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11, Copyright © John C. Hull 2016</a:t>
            </a:r>
            <a:endParaRPr lang="en-US" altLang="en-US" sz="1400" i="0"/>
          </a:p>
        </p:txBody>
      </p:sp>
      <p:sp>
        <p:nvSpPr>
          <p:cNvPr id="27651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A Straddle Combination</a:t>
            </a:r>
            <a:br>
              <a:rPr lang="en-US" altLang="en-US" smtClean="0"/>
            </a:br>
            <a:r>
              <a:rPr lang="en-US" altLang="en-US" sz="2200" smtClean="0"/>
              <a:t>Figure 11.10, page 261</a:t>
            </a:r>
            <a:endParaRPr lang="en-US" altLang="en-US" smtClean="0"/>
          </a:p>
        </p:txBody>
      </p:sp>
      <p:sp>
        <p:nvSpPr>
          <p:cNvPr id="27652" name="Rectangle 3"/>
          <p:cNvSpPr>
            <a:spLocks noChangeArrowheads="1"/>
          </p:cNvSpPr>
          <p:nvPr/>
        </p:nvSpPr>
        <p:spPr bwMode="auto">
          <a:xfrm>
            <a:off x="1749425" y="1676400"/>
            <a:ext cx="4114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7653" name="Line 4"/>
          <p:cNvSpPr>
            <a:spLocks noChangeShapeType="1"/>
          </p:cNvSpPr>
          <p:nvPr/>
        </p:nvSpPr>
        <p:spPr bwMode="auto">
          <a:xfrm>
            <a:off x="2214563" y="2209800"/>
            <a:ext cx="0" cy="3657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4" name="Line 5"/>
          <p:cNvSpPr>
            <a:spLocks noChangeShapeType="1"/>
          </p:cNvSpPr>
          <p:nvPr/>
        </p:nvSpPr>
        <p:spPr bwMode="auto">
          <a:xfrm>
            <a:off x="2214563" y="40386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5" name="Rectangle 6"/>
          <p:cNvSpPr>
            <a:spLocks noChangeArrowheads="1"/>
          </p:cNvSpPr>
          <p:nvPr/>
        </p:nvSpPr>
        <p:spPr bwMode="auto">
          <a:xfrm>
            <a:off x="2198688" y="2255838"/>
            <a:ext cx="11334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Profit</a:t>
            </a:r>
          </a:p>
        </p:txBody>
      </p:sp>
      <p:sp>
        <p:nvSpPr>
          <p:cNvPr id="27656" name="Rectangle 7"/>
          <p:cNvSpPr>
            <a:spLocks noChangeArrowheads="1"/>
          </p:cNvSpPr>
          <p:nvPr/>
        </p:nvSpPr>
        <p:spPr bwMode="auto">
          <a:xfrm>
            <a:off x="6923088" y="4046538"/>
            <a:ext cx="5349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S</a:t>
            </a:r>
            <a:r>
              <a:rPr lang="en-US" altLang="en-US" i="1" baseline="-250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7657" name="Line 8"/>
          <p:cNvSpPr>
            <a:spLocks noChangeShapeType="1"/>
          </p:cNvSpPr>
          <p:nvPr/>
        </p:nvSpPr>
        <p:spPr bwMode="auto">
          <a:xfrm flipV="1">
            <a:off x="4957763" y="39624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58" name="Rectangle 9"/>
          <p:cNvSpPr>
            <a:spLocks noChangeArrowheads="1"/>
          </p:cNvSpPr>
          <p:nvPr/>
        </p:nvSpPr>
        <p:spPr bwMode="auto">
          <a:xfrm>
            <a:off x="4713288" y="4046538"/>
            <a:ext cx="45561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27659" name="Line 10"/>
          <p:cNvSpPr>
            <a:spLocks noChangeShapeType="1"/>
          </p:cNvSpPr>
          <p:nvPr/>
        </p:nvSpPr>
        <p:spPr bwMode="auto">
          <a:xfrm flipH="1">
            <a:off x="2209800" y="4495800"/>
            <a:ext cx="27432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60" name="Line 11"/>
          <p:cNvSpPr>
            <a:spLocks noChangeShapeType="1"/>
          </p:cNvSpPr>
          <p:nvPr/>
        </p:nvSpPr>
        <p:spPr bwMode="auto">
          <a:xfrm flipV="1">
            <a:off x="4953000" y="2209800"/>
            <a:ext cx="2286000" cy="22860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61" name="Line 12"/>
          <p:cNvSpPr>
            <a:spLocks noChangeShapeType="1"/>
          </p:cNvSpPr>
          <p:nvPr/>
        </p:nvSpPr>
        <p:spPr bwMode="auto">
          <a:xfrm>
            <a:off x="4953000" y="4953000"/>
            <a:ext cx="22860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62" name="Line 13"/>
          <p:cNvSpPr>
            <a:spLocks noChangeShapeType="1"/>
          </p:cNvSpPr>
          <p:nvPr/>
        </p:nvSpPr>
        <p:spPr bwMode="auto">
          <a:xfrm flipH="1" flipV="1">
            <a:off x="2667000" y="2667000"/>
            <a:ext cx="2286000" cy="22860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63" name="Line 14"/>
          <p:cNvSpPr>
            <a:spLocks noChangeShapeType="1"/>
          </p:cNvSpPr>
          <p:nvPr/>
        </p:nvSpPr>
        <p:spPr bwMode="auto">
          <a:xfrm flipV="1">
            <a:off x="4953000" y="3124200"/>
            <a:ext cx="2286000" cy="22860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64" name="Line 15"/>
          <p:cNvSpPr>
            <a:spLocks noChangeShapeType="1"/>
          </p:cNvSpPr>
          <p:nvPr/>
        </p:nvSpPr>
        <p:spPr bwMode="auto">
          <a:xfrm flipH="1" flipV="1">
            <a:off x="2195513" y="2636838"/>
            <a:ext cx="2743200" cy="27432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7665" name="Slide Number Placeholder 17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6FC68D20-F817-4C1E-87AE-79B30BFC4B5A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11, Copyright © John C. Hull 2016</a:t>
            </a:r>
            <a:endParaRPr lang="en-US" altLang="en-US" sz="1400" i="0"/>
          </a:p>
        </p:txBody>
      </p:sp>
      <p:sp>
        <p:nvSpPr>
          <p:cNvPr id="28675" name="Rectangle 2"/>
          <p:cNvSpPr>
            <a:spLocks noGrp="1" noChangeArrowheads="1"/>
          </p:cNvSpPr>
          <p:nvPr>
            <p:ph type="title"/>
          </p:nvPr>
        </p:nvSpPr>
        <p:spPr>
          <a:xfrm>
            <a:off x="571500" y="609600"/>
            <a:ext cx="7772400" cy="1143000"/>
          </a:xfrm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Strip &amp; Strap</a:t>
            </a:r>
            <a:br>
              <a:rPr lang="en-US" altLang="en-US" smtClean="0"/>
            </a:br>
            <a:r>
              <a:rPr lang="en-US" altLang="en-US" sz="2200" smtClean="0"/>
              <a:t>Figure  11.11, page 262</a:t>
            </a:r>
            <a:endParaRPr lang="en-US" altLang="en-US" smtClean="0"/>
          </a:p>
        </p:txBody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28700" y="1752600"/>
            <a:ext cx="3505200" cy="2209800"/>
          </a:xfrm>
          <a:noFill/>
        </p:spPr>
        <p:txBody>
          <a:bodyPr lIns="92075" tIns="46038" rIns="92075" bIns="46038"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400" smtClean="0"/>
              <a:t> </a:t>
            </a:r>
          </a:p>
        </p:txBody>
      </p:sp>
      <p:sp>
        <p:nvSpPr>
          <p:cNvPr id="28677" name="Line 4"/>
          <p:cNvSpPr>
            <a:spLocks noChangeShapeType="1"/>
          </p:cNvSpPr>
          <p:nvPr/>
        </p:nvSpPr>
        <p:spPr bwMode="auto">
          <a:xfrm>
            <a:off x="1485900" y="2362200"/>
            <a:ext cx="0" cy="342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8" name="Line 5"/>
          <p:cNvSpPr>
            <a:spLocks noChangeShapeType="1"/>
          </p:cNvSpPr>
          <p:nvPr/>
        </p:nvSpPr>
        <p:spPr bwMode="auto">
          <a:xfrm>
            <a:off x="1485900" y="4572000"/>
            <a:ext cx="2971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79" name="Rectangle 6"/>
          <p:cNvSpPr>
            <a:spLocks noChangeArrowheads="1"/>
          </p:cNvSpPr>
          <p:nvPr/>
        </p:nvSpPr>
        <p:spPr bwMode="auto">
          <a:xfrm>
            <a:off x="1470025" y="2255838"/>
            <a:ext cx="11334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Profit</a:t>
            </a:r>
          </a:p>
        </p:txBody>
      </p:sp>
      <p:sp>
        <p:nvSpPr>
          <p:cNvPr id="28680" name="Rectangle 7"/>
          <p:cNvSpPr>
            <a:spLocks noChangeArrowheads="1"/>
          </p:cNvSpPr>
          <p:nvPr/>
        </p:nvSpPr>
        <p:spPr bwMode="auto">
          <a:xfrm>
            <a:off x="2689225" y="4008438"/>
            <a:ext cx="4556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28681" name="Rectangle 8"/>
          <p:cNvSpPr>
            <a:spLocks noChangeArrowheads="1"/>
          </p:cNvSpPr>
          <p:nvPr/>
        </p:nvSpPr>
        <p:spPr bwMode="auto">
          <a:xfrm>
            <a:off x="3908425" y="4008438"/>
            <a:ext cx="5349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S</a:t>
            </a:r>
            <a:r>
              <a:rPr lang="en-US" altLang="en-US" i="1" baseline="-250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8682" name="Line 9"/>
          <p:cNvSpPr>
            <a:spLocks noChangeShapeType="1"/>
          </p:cNvSpPr>
          <p:nvPr/>
        </p:nvSpPr>
        <p:spPr bwMode="auto">
          <a:xfrm flipV="1">
            <a:off x="2857500" y="44958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3" name="Line 10"/>
          <p:cNvSpPr>
            <a:spLocks noChangeShapeType="1"/>
          </p:cNvSpPr>
          <p:nvPr/>
        </p:nvSpPr>
        <p:spPr bwMode="auto">
          <a:xfrm flipV="1">
            <a:off x="2857500" y="3581400"/>
            <a:ext cx="1447800" cy="1447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4" name="Line 11"/>
          <p:cNvSpPr>
            <a:spLocks noChangeShapeType="1"/>
          </p:cNvSpPr>
          <p:nvPr/>
        </p:nvSpPr>
        <p:spPr bwMode="auto">
          <a:xfrm flipH="1" flipV="1">
            <a:off x="1825625" y="2708275"/>
            <a:ext cx="1031875" cy="2320925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5" name="Line 12"/>
          <p:cNvSpPr>
            <a:spLocks noChangeShapeType="1"/>
          </p:cNvSpPr>
          <p:nvPr/>
        </p:nvSpPr>
        <p:spPr bwMode="auto">
          <a:xfrm>
            <a:off x="4914900" y="2362200"/>
            <a:ext cx="0" cy="3429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6" name="Line 13"/>
          <p:cNvSpPr>
            <a:spLocks noChangeShapeType="1"/>
          </p:cNvSpPr>
          <p:nvPr/>
        </p:nvSpPr>
        <p:spPr bwMode="auto">
          <a:xfrm>
            <a:off x="4914900" y="4572000"/>
            <a:ext cx="29718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87" name="Rectangle 14"/>
          <p:cNvSpPr>
            <a:spLocks noChangeArrowheads="1"/>
          </p:cNvSpPr>
          <p:nvPr/>
        </p:nvSpPr>
        <p:spPr bwMode="auto">
          <a:xfrm>
            <a:off x="4899025" y="2255838"/>
            <a:ext cx="11334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Profit</a:t>
            </a:r>
          </a:p>
        </p:txBody>
      </p:sp>
      <p:sp>
        <p:nvSpPr>
          <p:cNvPr id="28688" name="Rectangle 15"/>
          <p:cNvSpPr>
            <a:spLocks noChangeArrowheads="1"/>
          </p:cNvSpPr>
          <p:nvPr/>
        </p:nvSpPr>
        <p:spPr bwMode="auto">
          <a:xfrm>
            <a:off x="6118225" y="4008438"/>
            <a:ext cx="4556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K</a:t>
            </a:r>
          </a:p>
        </p:txBody>
      </p:sp>
      <p:sp>
        <p:nvSpPr>
          <p:cNvPr id="28689" name="Rectangle 16"/>
          <p:cNvSpPr>
            <a:spLocks noChangeArrowheads="1"/>
          </p:cNvSpPr>
          <p:nvPr/>
        </p:nvSpPr>
        <p:spPr bwMode="auto">
          <a:xfrm>
            <a:off x="7337425" y="4008438"/>
            <a:ext cx="534988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S</a:t>
            </a:r>
            <a:r>
              <a:rPr lang="en-US" altLang="en-US" i="1" baseline="-250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8690" name="Line 17"/>
          <p:cNvSpPr>
            <a:spLocks noChangeShapeType="1"/>
          </p:cNvSpPr>
          <p:nvPr/>
        </p:nvSpPr>
        <p:spPr bwMode="auto">
          <a:xfrm flipV="1">
            <a:off x="6286500" y="44958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91" name="Line 18"/>
          <p:cNvSpPr>
            <a:spLocks noChangeShapeType="1"/>
          </p:cNvSpPr>
          <p:nvPr/>
        </p:nvSpPr>
        <p:spPr bwMode="auto">
          <a:xfrm flipH="1" flipV="1">
            <a:off x="4914900" y="3657600"/>
            <a:ext cx="1371600" cy="13716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92" name="Line 19"/>
          <p:cNvSpPr>
            <a:spLocks noChangeShapeType="1"/>
          </p:cNvSpPr>
          <p:nvPr/>
        </p:nvSpPr>
        <p:spPr bwMode="auto">
          <a:xfrm flipV="1">
            <a:off x="6286500" y="2459038"/>
            <a:ext cx="1143000" cy="2570162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8693" name="Rectangle 20"/>
          <p:cNvSpPr>
            <a:spLocks noChangeArrowheads="1"/>
          </p:cNvSpPr>
          <p:nvPr/>
        </p:nvSpPr>
        <p:spPr bwMode="auto">
          <a:xfrm>
            <a:off x="2536825" y="5380038"/>
            <a:ext cx="10191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Strip</a:t>
            </a:r>
          </a:p>
        </p:txBody>
      </p:sp>
      <p:sp>
        <p:nvSpPr>
          <p:cNvPr id="28694" name="Rectangle 21"/>
          <p:cNvSpPr>
            <a:spLocks noChangeArrowheads="1"/>
          </p:cNvSpPr>
          <p:nvPr/>
        </p:nvSpPr>
        <p:spPr bwMode="auto">
          <a:xfrm>
            <a:off x="5889625" y="5380038"/>
            <a:ext cx="115570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Strap</a:t>
            </a:r>
          </a:p>
        </p:txBody>
      </p:sp>
      <p:sp>
        <p:nvSpPr>
          <p:cNvPr id="28695" name="Slide Number Placeholder 2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4D79CDD5-A930-4D1B-9795-188FB57FD3A6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16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Footer Placeholder 4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11, Copyright © John C. Hull 2016</a:t>
            </a:r>
            <a:endParaRPr lang="en-US" altLang="en-US" sz="1400" i="0"/>
          </a:p>
        </p:txBody>
      </p:sp>
      <p:sp>
        <p:nvSpPr>
          <p:cNvPr id="29699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 lIns="92075" tIns="46038" rIns="92075" bIns="46038" anchor="ctr"/>
          <a:lstStyle/>
          <a:p>
            <a:pPr eaLnBrk="1" hangingPunct="1"/>
            <a:r>
              <a:rPr lang="en-US" altLang="en-US" smtClean="0"/>
              <a:t>A Strangle Combination</a:t>
            </a:r>
            <a:br>
              <a:rPr lang="en-US" altLang="en-US" smtClean="0"/>
            </a:br>
            <a:r>
              <a:rPr lang="en-US" altLang="en-US" sz="2200" smtClean="0"/>
              <a:t>Figure 11.12, page 263</a:t>
            </a:r>
            <a:endParaRPr lang="en-US" altLang="en-US" smtClean="0"/>
          </a:p>
        </p:txBody>
      </p:sp>
      <p:sp>
        <p:nvSpPr>
          <p:cNvPr id="29700" name="Rectangle 3"/>
          <p:cNvSpPr>
            <a:spLocks noChangeArrowheads="1"/>
          </p:cNvSpPr>
          <p:nvPr/>
        </p:nvSpPr>
        <p:spPr bwMode="auto">
          <a:xfrm>
            <a:off x="1749425" y="1676400"/>
            <a:ext cx="4114800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9701" name="Line 4"/>
          <p:cNvSpPr>
            <a:spLocks noChangeShapeType="1"/>
          </p:cNvSpPr>
          <p:nvPr/>
        </p:nvSpPr>
        <p:spPr bwMode="auto">
          <a:xfrm>
            <a:off x="2214563" y="2209800"/>
            <a:ext cx="0" cy="3657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med" len="lg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2" name="Line 5"/>
          <p:cNvSpPr>
            <a:spLocks noChangeShapeType="1"/>
          </p:cNvSpPr>
          <p:nvPr/>
        </p:nvSpPr>
        <p:spPr bwMode="auto">
          <a:xfrm>
            <a:off x="2214563" y="4038600"/>
            <a:ext cx="51816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3" name="Line 6"/>
          <p:cNvSpPr>
            <a:spLocks noChangeShapeType="1"/>
          </p:cNvSpPr>
          <p:nvPr/>
        </p:nvSpPr>
        <p:spPr bwMode="auto">
          <a:xfrm flipV="1">
            <a:off x="4043363" y="39624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4" name="Line 7"/>
          <p:cNvSpPr>
            <a:spLocks noChangeShapeType="1"/>
          </p:cNvSpPr>
          <p:nvPr/>
        </p:nvSpPr>
        <p:spPr bwMode="auto">
          <a:xfrm flipV="1">
            <a:off x="5872163" y="3962400"/>
            <a:ext cx="0" cy="762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05" name="Rectangle 8"/>
          <p:cNvSpPr>
            <a:spLocks noChangeArrowheads="1"/>
          </p:cNvSpPr>
          <p:nvPr/>
        </p:nvSpPr>
        <p:spPr bwMode="auto">
          <a:xfrm>
            <a:off x="3798888" y="3475038"/>
            <a:ext cx="588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K</a:t>
            </a:r>
            <a:r>
              <a:rPr lang="en-US" altLang="en-US" i="1" baseline="-250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9706" name="Rectangle 9"/>
          <p:cNvSpPr>
            <a:spLocks noChangeArrowheads="1"/>
          </p:cNvSpPr>
          <p:nvPr/>
        </p:nvSpPr>
        <p:spPr bwMode="auto">
          <a:xfrm>
            <a:off x="5627688" y="3475038"/>
            <a:ext cx="588962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K</a:t>
            </a:r>
            <a:r>
              <a:rPr lang="en-US" altLang="en-US" i="1" baseline="-250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9707" name="Rectangle 10"/>
          <p:cNvSpPr>
            <a:spLocks noChangeArrowheads="1"/>
          </p:cNvSpPr>
          <p:nvPr/>
        </p:nvSpPr>
        <p:spPr bwMode="auto">
          <a:xfrm>
            <a:off x="2198688" y="2255838"/>
            <a:ext cx="11318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/>
              <a:t>Profit</a:t>
            </a:r>
          </a:p>
        </p:txBody>
      </p:sp>
      <p:sp>
        <p:nvSpPr>
          <p:cNvPr id="29708" name="Rectangle 11"/>
          <p:cNvSpPr>
            <a:spLocks noChangeArrowheads="1"/>
          </p:cNvSpPr>
          <p:nvPr/>
        </p:nvSpPr>
        <p:spPr bwMode="auto">
          <a:xfrm>
            <a:off x="6923088" y="4084638"/>
            <a:ext cx="534987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2075" tIns="46038" rIns="92075" bIns="46038">
            <a:spAutoFit/>
          </a:bodyPr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i="1">
                <a:latin typeface="Times New Roman" panose="02020603050405020304" pitchFamily="18" charset="0"/>
              </a:rPr>
              <a:t>S</a:t>
            </a:r>
            <a:r>
              <a:rPr lang="en-US" altLang="en-US" i="1" baseline="-25000">
                <a:latin typeface="Times New Roman" panose="02020603050405020304" pitchFamily="18" charset="0"/>
              </a:rPr>
              <a:t>T</a:t>
            </a:r>
          </a:p>
        </p:txBody>
      </p:sp>
      <p:sp>
        <p:nvSpPr>
          <p:cNvPr id="29709" name="Line 12"/>
          <p:cNvSpPr>
            <a:spLocks noChangeShapeType="1"/>
          </p:cNvSpPr>
          <p:nvPr/>
        </p:nvSpPr>
        <p:spPr bwMode="auto">
          <a:xfrm flipH="1" flipV="1">
            <a:off x="4000500" y="4714875"/>
            <a:ext cx="3086100" cy="9525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0" name="Line 13"/>
          <p:cNvSpPr>
            <a:spLocks noChangeShapeType="1"/>
          </p:cNvSpPr>
          <p:nvPr/>
        </p:nvSpPr>
        <p:spPr bwMode="auto">
          <a:xfrm flipH="1" flipV="1">
            <a:off x="2209800" y="2895600"/>
            <a:ext cx="1828800" cy="18288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1" name="Line 14"/>
          <p:cNvSpPr>
            <a:spLocks noChangeShapeType="1"/>
          </p:cNvSpPr>
          <p:nvPr/>
        </p:nvSpPr>
        <p:spPr bwMode="auto">
          <a:xfrm flipH="1">
            <a:off x="2209800" y="4495800"/>
            <a:ext cx="3657600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2" name="Line 15"/>
          <p:cNvSpPr>
            <a:spLocks noChangeShapeType="1"/>
          </p:cNvSpPr>
          <p:nvPr/>
        </p:nvSpPr>
        <p:spPr bwMode="auto">
          <a:xfrm flipV="1">
            <a:off x="5867400" y="3200400"/>
            <a:ext cx="1295400" cy="1295400"/>
          </a:xfrm>
          <a:prstGeom prst="line">
            <a:avLst/>
          </a:prstGeom>
          <a:noFill/>
          <a:ln w="12700">
            <a:solidFill>
              <a:schemeClr val="tx1"/>
            </a:solidFill>
            <a:prstDash val="sysDot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3" name="Line 16"/>
          <p:cNvSpPr>
            <a:spLocks noChangeShapeType="1"/>
          </p:cNvSpPr>
          <p:nvPr/>
        </p:nvSpPr>
        <p:spPr bwMode="auto">
          <a:xfrm flipH="1" flipV="1">
            <a:off x="2209800" y="3352800"/>
            <a:ext cx="1828800" cy="18288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4" name="Line 17"/>
          <p:cNvSpPr>
            <a:spLocks noChangeShapeType="1"/>
          </p:cNvSpPr>
          <p:nvPr/>
        </p:nvSpPr>
        <p:spPr bwMode="auto">
          <a:xfrm flipV="1">
            <a:off x="5867400" y="3505200"/>
            <a:ext cx="1676400" cy="167640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5" name="Line 18"/>
          <p:cNvSpPr>
            <a:spLocks noChangeShapeType="1"/>
          </p:cNvSpPr>
          <p:nvPr/>
        </p:nvSpPr>
        <p:spPr bwMode="auto">
          <a:xfrm flipH="1">
            <a:off x="4038600" y="5181600"/>
            <a:ext cx="1828800" cy="0"/>
          </a:xfrm>
          <a:prstGeom prst="line">
            <a:avLst/>
          </a:prstGeom>
          <a:noFill/>
          <a:ln w="25400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9716" name="Slide Number Placeholder 20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8601665F-99F1-42A0-9A2D-949E90578BD0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17</a:t>
            </a:fld>
            <a:endParaRPr lang="en-US" altLang="en-US" sz="1800"/>
          </a:p>
        </p:txBody>
      </p:sp>
    </p:spTree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CA" altLang="en-US" smtClean="0"/>
              <a:t>Other Payoff Patterns</a:t>
            </a:r>
            <a:endParaRPr lang="en-US" altLang="en-US" smtClean="0"/>
          </a:p>
        </p:txBody>
      </p:sp>
      <p:sp>
        <p:nvSpPr>
          <p:cNvPr id="3072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When the strike prices are close together a butterfly spread provides a payoff consisting of a small “spike”</a:t>
            </a:r>
          </a:p>
          <a:p>
            <a:pPr eaLnBrk="1" hangingPunct="1"/>
            <a:r>
              <a:rPr lang="en-CA" altLang="en-US" smtClean="0">
                <a:cs typeface="Arial" panose="020B0604020202020204" pitchFamily="34" charset="0"/>
              </a:rPr>
              <a:t>If options with all strike prices were available any payoff pattern could (at least approximately) be created by combining the spikes obtained from different butterfly spreads</a:t>
            </a:r>
            <a:endParaRPr lang="en-US" altLang="en-US" smtClean="0">
              <a:cs typeface="Arial" panose="020B0604020202020204" pitchFamily="34" charset="0"/>
            </a:endParaRPr>
          </a:p>
        </p:txBody>
      </p:sp>
      <p:sp>
        <p:nvSpPr>
          <p:cNvPr id="30724" name="Footer Placeholder 3"/>
          <p:cNvSpPr>
            <a:spLocks noGrp="1"/>
          </p:cNvSpPr>
          <p:nvPr>
            <p:ph type="ftr" sz="quarter" idx="1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CA" altLang="en-US" sz="1400"/>
              <a:t>Fundamentals of Futures and Options Markets, 9th Ed, Ch 11, Copyright © John C. Hull 2016</a:t>
            </a:r>
            <a:endParaRPr lang="en-US" altLang="en-US" sz="1400"/>
          </a:p>
        </p:txBody>
      </p:sp>
      <p:sp>
        <p:nvSpPr>
          <p:cNvPr id="30725" name="Slide Number Placeholder 4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tx2"/>
              </a:buClr>
              <a:buSzPct val="70000"/>
              <a:buFont typeface="Wingdings" panose="05000000000000000000" pitchFamily="2" charset="2"/>
              <a:buChar char="l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l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70000"/>
              <a:buFont typeface="Wingdings" panose="05000000000000000000" pitchFamily="2" charset="2"/>
              <a:buChar char="l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tx2"/>
              </a:buClr>
              <a:buSzPct val="75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fld id="{B9263795-F706-41C0-8BA8-6244760C5C55}" type="slidenum">
              <a:rPr lang="en-US" altLang="en-US" sz="1800"/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t>18</a:t>
            </a:fld>
            <a:endParaRPr lang="en-US" altLang="en-US" sz="1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Network">
  <a:themeElements>
    <a:clrScheme name="1_Network 9">
      <a:dk1>
        <a:srgbClr val="000000"/>
      </a:dk1>
      <a:lt1>
        <a:srgbClr val="FFFFFF"/>
      </a:lt1>
      <a:dk2>
        <a:srgbClr val="7C1302"/>
      </a:dk2>
      <a:lt2>
        <a:srgbClr val="CC9900"/>
      </a:lt2>
      <a:accent1>
        <a:srgbClr val="CC9900"/>
      </a:accent1>
      <a:accent2>
        <a:srgbClr val="CC3300"/>
      </a:accent2>
      <a:accent3>
        <a:srgbClr val="FFFFFF"/>
      </a:accent3>
      <a:accent4>
        <a:srgbClr val="000000"/>
      </a:accent4>
      <a:accent5>
        <a:srgbClr val="E2CAAA"/>
      </a:accent5>
      <a:accent6>
        <a:srgbClr val="B92D00"/>
      </a:accent6>
      <a:hlink>
        <a:srgbClr val="808080"/>
      </a:hlink>
      <a:folHlink>
        <a:srgbClr val="CCCC66"/>
      </a:folHlink>
    </a:clrScheme>
    <a:fontScheme name="1_Network">
      <a:majorFont>
        <a:latin typeface="Times New Roman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2075" tIns="46038" rIns="92075" bIns="46038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Network 1">
        <a:dk1>
          <a:srgbClr val="4F747B"/>
        </a:dk1>
        <a:lt1>
          <a:srgbClr val="FFFFFF"/>
        </a:lt1>
        <a:dk2>
          <a:srgbClr val="000000"/>
        </a:dk2>
        <a:lt2>
          <a:srgbClr val="C0C0C0"/>
        </a:lt2>
        <a:accent1>
          <a:srgbClr val="859868"/>
        </a:accent1>
        <a:accent2>
          <a:srgbClr val="5F5F5F"/>
        </a:accent2>
        <a:accent3>
          <a:srgbClr val="AAAAAA"/>
        </a:accent3>
        <a:accent4>
          <a:srgbClr val="DADADA"/>
        </a:accent4>
        <a:accent5>
          <a:srgbClr val="C2CAB9"/>
        </a:accent5>
        <a:accent6>
          <a:srgbClr val="555555"/>
        </a:accent6>
        <a:hlink>
          <a:srgbClr val="5F5F5F"/>
        </a:hlink>
        <a:folHlink>
          <a:srgbClr val="BA121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2">
        <a:dk1>
          <a:srgbClr val="3C0000"/>
        </a:dk1>
        <a:lt1>
          <a:srgbClr val="FFFFFF"/>
        </a:lt1>
        <a:dk2>
          <a:srgbClr val="4D0B0B"/>
        </a:dk2>
        <a:lt2>
          <a:srgbClr val="FFFFFF"/>
        </a:lt2>
        <a:accent1>
          <a:srgbClr val="666633"/>
        </a:accent1>
        <a:accent2>
          <a:srgbClr val="CC3300"/>
        </a:accent2>
        <a:accent3>
          <a:srgbClr val="B2AAAA"/>
        </a:accent3>
        <a:accent4>
          <a:srgbClr val="DADADA"/>
        </a:accent4>
        <a:accent5>
          <a:srgbClr val="B8B8AD"/>
        </a:accent5>
        <a:accent6>
          <a:srgbClr val="B92D00"/>
        </a:accent6>
        <a:hlink>
          <a:srgbClr val="CC9900"/>
        </a:hlink>
        <a:folHlink>
          <a:srgbClr val="CC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3">
        <a:dk1>
          <a:srgbClr val="666699"/>
        </a:dk1>
        <a:lt1>
          <a:srgbClr val="FFFFFF"/>
        </a:lt1>
        <a:dk2>
          <a:srgbClr val="15192B"/>
        </a:dk2>
        <a:lt2>
          <a:srgbClr val="CCCCFF"/>
        </a:lt2>
        <a:accent1>
          <a:srgbClr val="4F893D"/>
        </a:accent1>
        <a:accent2>
          <a:srgbClr val="666699"/>
        </a:accent2>
        <a:accent3>
          <a:srgbClr val="AAABAC"/>
        </a:accent3>
        <a:accent4>
          <a:srgbClr val="DADADA"/>
        </a:accent4>
        <a:accent5>
          <a:srgbClr val="B2C4AF"/>
        </a:accent5>
        <a:accent6>
          <a:srgbClr val="5C5C8A"/>
        </a:accent6>
        <a:hlink>
          <a:srgbClr val="CC9900"/>
        </a:hlink>
        <a:folHlink>
          <a:srgbClr val="4837C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4">
        <a:dk1>
          <a:srgbClr val="666699"/>
        </a:dk1>
        <a:lt1>
          <a:srgbClr val="FFFFFF"/>
        </a:lt1>
        <a:dk2>
          <a:srgbClr val="86001A"/>
        </a:dk2>
        <a:lt2>
          <a:srgbClr val="CCCC66"/>
        </a:lt2>
        <a:accent1>
          <a:srgbClr val="FF3300"/>
        </a:accent1>
        <a:accent2>
          <a:srgbClr val="FF6600"/>
        </a:accent2>
        <a:accent3>
          <a:srgbClr val="C3AAAB"/>
        </a:accent3>
        <a:accent4>
          <a:srgbClr val="DADADA"/>
        </a:accent4>
        <a:accent5>
          <a:srgbClr val="FFADAA"/>
        </a:accent5>
        <a:accent6>
          <a:srgbClr val="E75C00"/>
        </a:accent6>
        <a:hlink>
          <a:srgbClr val="CC9900"/>
        </a:hlink>
        <a:folHlink>
          <a:srgbClr val="FF0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5">
        <a:dk1>
          <a:srgbClr val="666699"/>
        </a:dk1>
        <a:lt1>
          <a:srgbClr val="FFFFFF"/>
        </a:lt1>
        <a:dk2>
          <a:srgbClr val="000054"/>
        </a:dk2>
        <a:lt2>
          <a:srgbClr val="FFFFFF"/>
        </a:lt2>
        <a:accent1>
          <a:srgbClr val="3333FF"/>
        </a:accent1>
        <a:accent2>
          <a:srgbClr val="006699"/>
        </a:accent2>
        <a:accent3>
          <a:srgbClr val="AAAAB3"/>
        </a:accent3>
        <a:accent4>
          <a:srgbClr val="DADADA"/>
        </a:accent4>
        <a:accent5>
          <a:srgbClr val="ADADFF"/>
        </a:accent5>
        <a:accent6>
          <a:srgbClr val="005C8A"/>
        </a:accent6>
        <a:hlink>
          <a:srgbClr val="669900"/>
        </a:hlink>
        <a:folHlink>
          <a:srgbClr val="0000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6">
        <a:dk1>
          <a:srgbClr val="808080"/>
        </a:dk1>
        <a:lt1>
          <a:srgbClr val="FFFFFF"/>
        </a:lt1>
        <a:dk2>
          <a:srgbClr val="30054B"/>
        </a:dk2>
        <a:lt2>
          <a:srgbClr val="FFFFFF"/>
        </a:lt2>
        <a:accent1>
          <a:srgbClr val="797B9B"/>
        </a:accent1>
        <a:accent2>
          <a:srgbClr val="6B4FB1"/>
        </a:accent2>
        <a:accent3>
          <a:srgbClr val="ADAAB1"/>
        </a:accent3>
        <a:accent4>
          <a:srgbClr val="DADADA"/>
        </a:accent4>
        <a:accent5>
          <a:srgbClr val="BEBFCB"/>
        </a:accent5>
        <a:accent6>
          <a:srgbClr val="6047A0"/>
        </a:accent6>
        <a:hlink>
          <a:srgbClr val="7AACCE"/>
        </a:hlink>
        <a:folHlink>
          <a:srgbClr val="D8D8E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7">
        <a:dk1>
          <a:srgbClr val="808080"/>
        </a:dk1>
        <a:lt1>
          <a:srgbClr val="FFFFCC"/>
        </a:lt1>
        <a:dk2>
          <a:srgbClr val="29527B"/>
        </a:dk2>
        <a:lt2>
          <a:srgbClr val="FFFFFF"/>
        </a:lt2>
        <a:accent1>
          <a:srgbClr val="CCCC00"/>
        </a:accent1>
        <a:accent2>
          <a:srgbClr val="669999"/>
        </a:accent2>
        <a:accent3>
          <a:srgbClr val="ACB3BF"/>
        </a:accent3>
        <a:accent4>
          <a:srgbClr val="DADAAE"/>
        </a:accent4>
        <a:accent5>
          <a:srgbClr val="E2E2AA"/>
        </a:accent5>
        <a:accent6>
          <a:srgbClr val="5C8A8A"/>
        </a:accent6>
        <a:hlink>
          <a:srgbClr val="D8D8EC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8">
        <a:dk1>
          <a:srgbClr val="666699"/>
        </a:dk1>
        <a:lt1>
          <a:srgbClr val="FFFFFF"/>
        </a:lt1>
        <a:dk2>
          <a:srgbClr val="476949"/>
        </a:dk2>
        <a:lt2>
          <a:srgbClr val="FFFFFF"/>
        </a:lt2>
        <a:accent1>
          <a:srgbClr val="CC6600"/>
        </a:accent1>
        <a:accent2>
          <a:srgbClr val="CC9900"/>
        </a:accent2>
        <a:accent3>
          <a:srgbClr val="B1B9B1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452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Network 9">
        <a:dk1>
          <a:srgbClr val="000000"/>
        </a:dk1>
        <a:lt1>
          <a:srgbClr val="FFFFFF"/>
        </a:lt1>
        <a:dk2>
          <a:srgbClr val="7C1302"/>
        </a:dk2>
        <a:lt2>
          <a:srgbClr val="CC9900"/>
        </a:lt2>
        <a:accent1>
          <a:srgbClr val="CC9900"/>
        </a:accent1>
        <a:accent2>
          <a:srgbClr val="CC3300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B92D00"/>
        </a:accent6>
        <a:hlink>
          <a:srgbClr val="808080"/>
        </a:hlink>
        <a:folHlink>
          <a:srgbClr val="CC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Network 10">
        <a:dk1>
          <a:srgbClr val="000000"/>
        </a:dk1>
        <a:lt1>
          <a:srgbClr val="FFFFFF"/>
        </a:lt1>
        <a:dk2>
          <a:srgbClr val="330066"/>
        </a:dk2>
        <a:lt2>
          <a:srgbClr val="808080"/>
        </a:lt2>
        <a:accent1>
          <a:srgbClr val="CCCC00"/>
        </a:accent1>
        <a:accent2>
          <a:srgbClr val="669999"/>
        </a:accent2>
        <a:accent3>
          <a:srgbClr val="FFFFFF"/>
        </a:accent3>
        <a:accent4>
          <a:srgbClr val="000000"/>
        </a:accent4>
        <a:accent5>
          <a:srgbClr val="E2E2AA"/>
        </a:accent5>
        <a:accent6>
          <a:srgbClr val="5C8A8A"/>
        </a:accent6>
        <a:hlink>
          <a:srgbClr val="7E9CE8"/>
        </a:hlink>
        <a:folHlink>
          <a:srgbClr val="D8D8E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4DB470C54600C46B1B0C1FE5EDD1D1B" ma:contentTypeVersion="3" ma:contentTypeDescription="Create a new document." ma:contentTypeScope="" ma:versionID="14dc9d57259abab41c863f8d0f9e2276">
  <xsd:schema xmlns:xsd="http://www.w3.org/2001/XMLSchema" xmlns:xs="http://www.w3.org/2001/XMLSchema" xmlns:p="http://schemas.microsoft.com/office/2006/metadata/properties" xmlns:ns2="cd351f98-0ba7-41cd-87bd-5169e413bab1" targetNamespace="http://schemas.microsoft.com/office/2006/metadata/properties" ma:root="true" ma:fieldsID="f27d059874946e97d17eaa08f9af4415" ns2:_="">
    <xsd:import namespace="cd351f98-0ba7-41cd-87bd-5169e413bab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d351f98-0ba7-41cd-87bd-5169e413bab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0F559FBA-C809-40B2-94D9-25E44993398E}"/>
</file>

<file path=customXml/itemProps2.xml><?xml version="1.0" encoding="utf-8"?>
<ds:datastoreItem xmlns:ds="http://schemas.openxmlformats.org/officeDocument/2006/customXml" ds:itemID="{BAD3370D-5341-4BDE-8409-DC37C34E289E}"/>
</file>

<file path=customXml/itemProps3.xml><?xml version="1.0" encoding="utf-8"?>
<ds:datastoreItem xmlns:ds="http://schemas.openxmlformats.org/officeDocument/2006/customXml" ds:itemID="{48D93CD9-7610-4DB6-865C-D39310AE88CB}"/>
</file>

<file path=docProps/app.xml><?xml version="1.0" encoding="utf-8"?>
<Properties xmlns="http://schemas.openxmlformats.org/officeDocument/2006/extended-properties" xmlns:vt="http://schemas.openxmlformats.org/officeDocument/2006/docPropsVTypes">
  <Template>Ch02HullFundamentals5thEd</Template>
  <TotalTime>74</TotalTime>
  <Pages>14</Pages>
  <Words>749</Words>
  <Application>Microsoft Office PowerPoint</Application>
  <PresentationFormat>Letter Paper (8.5x11 in)</PresentationFormat>
  <Paragraphs>161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Times New Roman</vt:lpstr>
      <vt:lpstr>Wingdings</vt:lpstr>
      <vt:lpstr>1_Network</vt:lpstr>
      <vt:lpstr>Trading Strategies Involving Options</vt:lpstr>
      <vt:lpstr>Strategies to be Considered</vt:lpstr>
      <vt:lpstr>Principal Protected Note</vt:lpstr>
      <vt:lpstr>Principal Protected Notes continued</vt:lpstr>
      <vt:lpstr>Positions in an Option &amp; the Underlying (Figure 11.1, page 252)</vt:lpstr>
      <vt:lpstr>Bull Spread Using Calls (Figure 11.2, page 253)</vt:lpstr>
      <vt:lpstr>Bull Spread Using Puts Figure 11.3, page 254</vt:lpstr>
      <vt:lpstr>Bear Spread Using Puts Figure 11.4, page 255</vt:lpstr>
      <vt:lpstr>Bear Spread Using Calls Figure 11.5, page 256</vt:lpstr>
      <vt:lpstr>Box Spread</vt:lpstr>
      <vt:lpstr>Butterfly Spread Using Calls Figure 11.6, page 258</vt:lpstr>
      <vt:lpstr>Butterfly Spread Using Puts Figure 11.7, page 259</vt:lpstr>
      <vt:lpstr>Calendar Spread Using Calls Figure 11.8, page 260</vt:lpstr>
      <vt:lpstr>Calendar Spread Using Puts Figure 11.9, page 260</vt:lpstr>
      <vt:lpstr>A Straddle Combination Figure 11.10, page 261</vt:lpstr>
      <vt:lpstr>Strip &amp; Strap Figure  11.11, page 262</vt:lpstr>
      <vt:lpstr>A Strangle Combination Figure 11.12, page 263</vt:lpstr>
      <vt:lpstr>Other Payoff Patterns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Trading Strategies Involving Options</dc:title>
  <dc:subject>Fundamentals of Futures and Options Markets, 9e</dc:subject>
  <dc:creator>John C. Hull</dc:creator>
  <cp:keywords>Chapter 11</cp:keywords>
  <dc:description>Copyright 2016 by John C. Hull.
All rights reserved. Published 2016.</dc:description>
  <cp:lastModifiedBy>John Hull</cp:lastModifiedBy>
  <cp:revision>34</cp:revision>
  <cp:lastPrinted>1999-07-13T14:45:52Z</cp:lastPrinted>
  <dcterms:created xsi:type="dcterms:W3CDTF">1996-10-23T22:40:52Z</dcterms:created>
  <dcterms:modified xsi:type="dcterms:W3CDTF">2016-01-20T21:02:19Z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0x01010034DB470C54600C46B1B0C1FE5EDD1D1B</vt:lpwstr>
  </property>
</Properties>
</file>