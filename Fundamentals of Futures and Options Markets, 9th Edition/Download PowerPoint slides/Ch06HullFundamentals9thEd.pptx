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25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32"/>
  </p:notesMasterIdLst>
  <p:handoutMasterIdLst>
    <p:handoutMasterId r:id="rId33"/>
  </p:handoutMasterIdLst>
  <p:sldIdLst>
    <p:sldId id="319" r:id="rId2"/>
    <p:sldId id="339" r:id="rId3"/>
    <p:sldId id="264" r:id="rId4"/>
    <p:sldId id="340" r:id="rId5"/>
    <p:sldId id="341" r:id="rId6"/>
    <p:sldId id="342" r:id="rId7"/>
    <p:sldId id="343" r:id="rId8"/>
    <p:sldId id="267" r:id="rId9"/>
    <p:sldId id="318" r:id="rId10"/>
    <p:sldId id="344" r:id="rId11"/>
    <p:sldId id="317" r:id="rId12"/>
    <p:sldId id="316" r:id="rId13"/>
    <p:sldId id="345" r:id="rId14"/>
    <p:sldId id="325" r:id="rId15"/>
    <p:sldId id="346" r:id="rId16"/>
    <p:sldId id="337" r:id="rId17"/>
    <p:sldId id="336" r:id="rId18"/>
    <p:sldId id="347" r:id="rId19"/>
    <p:sldId id="330" r:id="rId20"/>
    <p:sldId id="331" r:id="rId21"/>
    <p:sldId id="348" r:id="rId22"/>
    <p:sldId id="333" r:id="rId23"/>
    <p:sldId id="271" r:id="rId24"/>
    <p:sldId id="272" r:id="rId25"/>
    <p:sldId id="273" r:id="rId26"/>
    <p:sldId id="349" r:id="rId27"/>
    <p:sldId id="320" r:id="rId28"/>
    <p:sldId id="323" r:id="rId29"/>
    <p:sldId id="350" r:id="rId30"/>
    <p:sldId id="351" r:id="rId31"/>
  </p:sldIdLst>
  <p:sldSz cx="9144000" cy="6858000" type="letter"/>
  <p:notesSz cx="6858000" cy="9207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5" autoAdjust="0"/>
    <p:restoredTop sz="94681" autoAdjust="0"/>
  </p:normalViewPr>
  <p:slideViewPr>
    <p:cSldViewPr>
      <p:cViewPr varScale="1">
        <p:scale>
          <a:sx n="122" d="100"/>
          <a:sy n="122" d="100"/>
        </p:scale>
        <p:origin x="12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5" d="100"/>
          <a:sy n="45" d="100"/>
        </p:scale>
        <p:origin x="-1296" y="-96"/>
      </p:cViewPr>
      <p:guideLst>
        <p:guide orient="horz" pos="290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2525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1775B3E-5351-4BED-8813-49017F66E3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3563"/>
            <a:ext cx="5029200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14343" name="Rectangle 7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27125" y="692150"/>
            <a:ext cx="4603750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901464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E66DB71-CD1F-4669-84B9-897AFA406D3B}" type="slidenum">
              <a:rPr lang="en-US" altLang="en-US" sz="1000"/>
              <a:pPr>
                <a:spcBef>
                  <a:spcPct val="0"/>
                </a:spcBef>
              </a:pPr>
              <a:t>1</a:t>
            </a:fld>
            <a:endParaRPr lang="en-US" altLang="en-US" sz="1000"/>
          </a:p>
        </p:txBody>
      </p:sp>
      <p:sp>
        <p:nvSpPr>
          <p:cNvPr id="1638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1834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498F41D-1924-4471-8BAF-C7DBE69D3D92}" type="slidenum">
              <a:rPr lang="en-US" altLang="en-US" sz="1000"/>
              <a:pPr>
                <a:spcBef>
                  <a:spcPct val="0"/>
                </a:spcBef>
              </a:pPr>
              <a:t>2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4138302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FB5AA1F-9F88-4025-8934-428DFDF789E7}" type="slidenum">
              <a:rPr lang="en-US" altLang="en-US" sz="1000"/>
              <a:pPr>
                <a:spcBef>
                  <a:spcPct val="0"/>
                </a:spcBef>
              </a:pPr>
              <a:t>3</a:t>
            </a:fld>
            <a:endParaRPr lang="en-US" altLang="en-US" sz="1000"/>
          </a:p>
        </p:txBody>
      </p:sp>
      <p:sp>
        <p:nvSpPr>
          <p:cNvPr id="2048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67403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53E36B8-6B18-4373-91BE-09C8B72154E7}" type="slidenum">
              <a:rPr lang="en-US" altLang="en-US" sz="1000"/>
              <a:pPr>
                <a:spcBef>
                  <a:spcPct val="0"/>
                </a:spcBef>
              </a:pPr>
              <a:t>4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8464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A0FDA48-4214-481A-A3C5-C9FC2EF146FA}" type="slidenum">
              <a:rPr lang="en-US" altLang="en-US" sz="1000"/>
              <a:pPr>
                <a:spcBef>
                  <a:spcPct val="0"/>
                </a:spcBef>
              </a:pPr>
              <a:t>5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1436777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5590F72-94DB-4BCA-9CA0-F66BC721F637}" type="slidenum">
              <a:rPr lang="en-US" altLang="en-US" sz="1000"/>
              <a:pPr>
                <a:spcBef>
                  <a:spcPct val="0"/>
                </a:spcBef>
              </a:pPr>
              <a:t>6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3718605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57DB121-C78A-4E58-A1AD-EEF496656EFD}" type="slidenum">
              <a:rPr lang="en-US" altLang="en-US" sz="1000"/>
              <a:pPr>
                <a:spcBef>
                  <a:spcPct val="0"/>
                </a:spcBef>
              </a:pPr>
              <a:t>7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2093475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9CE2308-7055-4475-8092-AF53DB0BCC9E}" type="slidenum">
              <a:rPr lang="en-US" altLang="en-US" sz="1000"/>
              <a:pPr>
                <a:spcBef>
                  <a:spcPct val="0"/>
                </a:spcBef>
              </a:pPr>
              <a:t>8</a:t>
            </a:fld>
            <a:endParaRPr lang="en-US" altLang="en-US" sz="1000"/>
          </a:p>
        </p:txBody>
      </p:sp>
      <p:sp>
        <p:nvSpPr>
          <p:cNvPr id="3072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860125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6E22486-C8AE-4763-8728-64BF9D51AFC6}" type="slidenum">
              <a:rPr lang="en-US" altLang="en-US" sz="1000"/>
              <a:pPr>
                <a:spcBef>
                  <a:spcPct val="0"/>
                </a:spcBef>
              </a:pPr>
              <a:t>9</a:t>
            </a:fld>
            <a:endParaRPr lang="en-US" altLang="en-US" sz="1000"/>
          </a:p>
        </p:txBody>
      </p:sp>
      <p:sp>
        <p:nvSpPr>
          <p:cNvPr id="3277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25187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B76ACE1-62C0-4F4A-9F37-E01162B57ECE}" type="slidenum">
              <a:rPr lang="en-US" altLang="en-US" sz="1000"/>
              <a:pPr>
                <a:spcBef>
                  <a:spcPct val="0"/>
                </a:spcBef>
              </a:pPr>
              <a:t>10</a:t>
            </a:fld>
            <a:endParaRPr lang="en-US" altLang="en-US" sz="1000"/>
          </a:p>
        </p:txBody>
      </p:sp>
      <p:sp>
        <p:nvSpPr>
          <p:cNvPr id="3481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53084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62539C9-F406-4822-86C4-3112A0DCE30B}" type="slidenum">
              <a:rPr lang="en-US" altLang="en-US" sz="1000"/>
              <a:pPr>
                <a:spcBef>
                  <a:spcPct val="0"/>
                </a:spcBef>
              </a:pPr>
              <a:t>11</a:t>
            </a:fld>
            <a:endParaRPr lang="en-US" altLang="en-US" sz="1000"/>
          </a:p>
        </p:txBody>
      </p:sp>
      <p:sp>
        <p:nvSpPr>
          <p:cNvPr id="3686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65219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0452B6B-42F0-4D27-93B0-5F1E3D320701}" type="slidenum">
              <a:rPr lang="en-US" altLang="en-US" sz="1000"/>
              <a:pPr>
                <a:spcBef>
                  <a:spcPct val="0"/>
                </a:spcBef>
              </a:pPr>
              <a:t>12</a:t>
            </a:fld>
            <a:endParaRPr lang="en-US" altLang="en-US" sz="1000"/>
          </a:p>
        </p:txBody>
      </p:sp>
      <p:sp>
        <p:nvSpPr>
          <p:cNvPr id="38915" name="Rectangle 1026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3891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08901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71DB0EA-7121-4FFE-B792-79C0122ACC4B}" type="slidenum">
              <a:rPr lang="en-US" altLang="en-US" sz="1000"/>
              <a:pPr>
                <a:spcBef>
                  <a:spcPct val="0"/>
                </a:spcBef>
              </a:pPr>
              <a:t>13</a:t>
            </a:fld>
            <a:endParaRPr lang="en-US" altLang="en-US" sz="1000"/>
          </a:p>
        </p:txBody>
      </p:sp>
      <p:sp>
        <p:nvSpPr>
          <p:cNvPr id="4096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027726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4357BE1-1EF0-4C26-AAA4-029E455C64B1}" type="slidenum">
              <a:rPr lang="en-US" altLang="en-US" sz="1000"/>
              <a:pPr>
                <a:spcBef>
                  <a:spcPct val="0"/>
                </a:spcBef>
              </a:pPr>
              <a:t>14</a:t>
            </a:fld>
            <a:endParaRPr lang="en-US" altLang="en-US" sz="1000"/>
          </a:p>
        </p:txBody>
      </p:sp>
      <p:sp>
        <p:nvSpPr>
          <p:cNvPr id="4301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165714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839C956-3BC1-45B1-A2CA-5DB3EC0285DD}" type="slidenum">
              <a:rPr lang="en-US" altLang="en-US" sz="1000"/>
              <a:pPr>
                <a:spcBef>
                  <a:spcPct val="0"/>
                </a:spcBef>
              </a:pPr>
              <a:t>15</a:t>
            </a:fld>
            <a:endParaRPr lang="en-US" altLang="en-US" sz="1000"/>
          </a:p>
        </p:txBody>
      </p:sp>
      <p:sp>
        <p:nvSpPr>
          <p:cNvPr id="4505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821134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34C6916-E90F-412D-83A8-83CB23DA6313}" type="slidenum">
              <a:rPr lang="en-US" altLang="en-US" sz="1000"/>
              <a:pPr>
                <a:spcBef>
                  <a:spcPct val="0"/>
                </a:spcBef>
              </a:pPr>
              <a:t>16</a:t>
            </a:fld>
            <a:endParaRPr lang="en-US" altLang="en-US" sz="1000"/>
          </a:p>
        </p:txBody>
      </p:sp>
      <p:sp>
        <p:nvSpPr>
          <p:cNvPr id="4710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9285767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45ADBA6-AE70-4C3D-B779-E0567DDF7E0D}" type="slidenum">
              <a:rPr lang="en-US" altLang="en-US" sz="1000"/>
              <a:pPr>
                <a:spcBef>
                  <a:spcPct val="0"/>
                </a:spcBef>
              </a:pPr>
              <a:t>17</a:t>
            </a:fld>
            <a:endParaRPr lang="en-US" altLang="en-US" sz="1000"/>
          </a:p>
        </p:txBody>
      </p:sp>
      <p:sp>
        <p:nvSpPr>
          <p:cNvPr id="4915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499467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F21E24A-6B8C-4A6B-8662-FA24031ACD36}" type="slidenum">
              <a:rPr lang="en-US" altLang="en-US" sz="1000"/>
              <a:pPr>
                <a:spcBef>
                  <a:spcPct val="0"/>
                </a:spcBef>
              </a:pPr>
              <a:t>18</a:t>
            </a:fld>
            <a:endParaRPr lang="en-US" altLang="en-US" sz="1000"/>
          </a:p>
        </p:txBody>
      </p:sp>
      <p:sp>
        <p:nvSpPr>
          <p:cNvPr id="5120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8872295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86C9BC2-402E-41DA-9B41-BC7C0A5A0609}" type="slidenum">
              <a:rPr lang="en-US" altLang="en-US" sz="1000"/>
              <a:pPr>
                <a:spcBef>
                  <a:spcPct val="0"/>
                </a:spcBef>
              </a:pPr>
              <a:t>19</a:t>
            </a:fld>
            <a:endParaRPr lang="en-US" altLang="en-US" sz="1000"/>
          </a:p>
        </p:txBody>
      </p:sp>
      <p:sp>
        <p:nvSpPr>
          <p:cNvPr id="5325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3329639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FDA370D-F31D-4718-ADCB-9324000FA086}" type="slidenum">
              <a:rPr lang="en-US" altLang="en-US" sz="1000"/>
              <a:pPr>
                <a:spcBef>
                  <a:spcPct val="0"/>
                </a:spcBef>
              </a:pPr>
              <a:t>20</a:t>
            </a:fld>
            <a:endParaRPr lang="en-US" altLang="en-US" sz="1000"/>
          </a:p>
        </p:txBody>
      </p:sp>
      <p:sp>
        <p:nvSpPr>
          <p:cNvPr id="5529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4186448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FBD5CA-6B34-42AB-BDEB-B45AFEE98A88}" type="slidenum">
              <a:rPr lang="en-US" altLang="en-US" sz="1000"/>
              <a:pPr>
                <a:spcBef>
                  <a:spcPct val="0"/>
                </a:spcBef>
              </a:pPr>
              <a:t>21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5717448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84EEBCF-0D63-401E-A184-7DCD03D58DE3}" type="slidenum">
              <a:rPr lang="en-US" altLang="en-US" sz="1000"/>
              <a:pPr>
                <a:spcBef>
                  <a:spcPct val="0"/>
                </a:spcBef>
              </a:pPr>
              <a:t>22</a:t>
            </a:fld>
            <a:endParaRPr lang="en-US" altLang="en-US" sz="1000"/>
          </a:p>
        </p:txBody>
      </p:sp>
      <p:sp>
        <p:nvSpPr>
          <p:cNvPr id="5939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501711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64F823D-6293-4670-9585-405D33507BDB}" type="slidenum">
              <a:rPr lang="en-US" altLang="en-US" sz="1000"/>
              <a:pPr>
                <a:spcBef>
                  <a:spcPct val="0"/>
                </a:spcBef>
              </a:pPr>
              <a:t>23</a:t>
            </a:fld>
            <a:endParaRPr lang="en-US" altLang="en-US" sz="1000"/>
          </a:p>
        </p:txBody>
      </p:sp>
      <p:sp>
        <p:nvSpPr>
          <p:cNvPr id="6144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161074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CECA027-B0F9-4E7D-9DA4-FC9DD3818C35}" type="slidenum">
              <a:rPr lang="en-US" altLang="en-US" sz="1000"/>
              <a:pPr>
                <a:spcBef>
                  <a:spcPct val="0"/>
                </a:spcBef>
              </a:pPr>
              <a:t>24</a:t>
            </a:fld>
            <a:endParaRPr lang="en-US" altLang="en-US" sz="1000"/>
          </a:p>
        </p:txBody>
      </p:sp>
      <p:sp>
        <p:nvSpPr>
          <p:cNvPr id="6349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042417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9E2BAE3-552B-4DBF-8873-F012BC506A0E}" type="slidenum">
              <a:rPr lang="en-US" altLang="en-US" sz="1000"/>
              <a:pPr>
                <a:spcBef>
                  <a:spcPct val="0"/>
                </a:spcBef>
              </a:pPr>
              <a:t>25</a:t>
            </a:fld>
            <a:endParaRPr lang="en-US" altLang="en-US" sz="1000"/>
          </a:p>
        </p:txBody>
      </p:sp>
      <p:sp>
        <p:nvSpPr>
          <p:cNvPr id="6553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8566450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DFC99F2-C907-470E-BCDF-26CB794A70D1}" type="slidenum">
              <a:rPr lang="en-US" altLang="en-US" sz="1000"/>
              <a:pPr>
                <a:spcBef>
                  <a:spcPct val="0"/>
                </a:spcBef>
              </a:pPr>
              <a:t>26</a:t>
            </a:fld>
            <a:endParaRPr lang="en-US" altLang="en-US" sz="1000"/>
          </a:p>
        </p:txBody>
      </p:sp>
      <p:sp>
        <p:nvSpPr>
          <p:cNvPr id="6758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6986281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809FFA3-80CF-40DB-89E8-5F47E60E04AD}" type="slidenum">
              <a:rPr lang="en-US" altLang="en-US" sz="1000"/>
              <a:pPr>
                <a:spcBef>
                  <a:spcPct val="0"/>
                </a:spcBef>
              </a:pPr>
              <a:t>27</a:t>
            </a:fld>
            <a:endParaRPr lang="en-US" altLang="en-US" sz="1000"/>
          </a:p>
        </p:txBody>
      </p:sp>
      <p:sp>
        <p:nvSpPr>
          <p:cNvPr id="6963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160131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573DC8C-17A8-4822-993C-900B335C3373}" type="slidenum">
              <a:rPr lang="en-US" altLang="en-US" sz="1000"/>
              <a:pPr>
                <a:spcBef>
                  <a:spcPct val="0"/>
                </a:spcBef>
              </a:pPr>
              <a:t>28</a:t>
            </a:fld>
            <a:endParaRPr lang="en-US" altLang="en-US" sz="1000"/>
          </a:p>
        </p:txBody>
      </p:sp>
      <p:sp>
        <p:nvSpPr>
          <p:cNvPr id="7168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23357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C830E77-EF0E-4CDF-9FF3-BB9AFA2144FA}" type="slidenum">
              <a:rPr lang="en-US" altLang="en-US" sz="1000"/>
              <a:pPr>
                <a:spcBef>
                  <a:spcPct val="0"/>
                </a:spcBef>
              </a:pPr>
              <a:t>29</a:t>
            </a:fld>
            <a:endParaRPr lang="en-US" altLang="en-US" sz="1000"/>
          </a:p>
        </p:txBody>
      </p:sp>
      <p:sp>
        <p:nvSpPr>
          <p:cNvPr id="7373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4496294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996A94C-B583-4D15-AD1D-0377D30CFC31}" type="slidenum">
              <a:rPr lang="en-US" altLang="en-US" sz="1000"/>
              <a:pPr>
                <a:spcBef>
                  <a:spcPct val="0"/>
                </a:spcBef>
              </a:pPr>
              <a:t>30</a:t>
            </a:fld>
            <a:endParaRPr lang="en-US" altLang="en-US" sz="1000"/>
          </a:p>
        </p:txBody>
      </p:sp>
      <p:sp>
        <p:nvSpPr>
          <p:cNvPr id="7577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246186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6, Copyright © John 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F6F25C6-0095-40CF-A7B0-9EF5B6BC4B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037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6,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4E1DF9-D55F-4AB7-871E-ECEAA2B070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510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6,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6784C61-BB6C-49D4-A45C-D4FF0D5ED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4759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6,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017B36F-32FC-42BD-8B4F-045D2967F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639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6, Copyright © John 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31D3E15-D71E-4EEA-9D7E-B2FE6AE4CC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4734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6, Copyright © John 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DF8BF1A-5469-4666-8679-BF68FF8247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514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6, Copyright © John 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78C418-2CD6-4FAF-B63E-CFDCA1A437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47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6,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9F05C6C-5BD7-49A7-92DD-0846F64AF5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846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6,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3D2E30D-F9B9-4FF7-A502-0E4239378B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424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6,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AB22D73-AB9A-4617-9289-F314CB8BDF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8892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6,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54FA252-E627-4D49-A38D-D4E84DD708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2024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6,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46082CA-38A6-468A-91F4-16D2717F04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02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957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i="1" smtClean="0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Fundamentals of Futures and Options Markets, 9th Ed, Ch 6, Copyright © John  C. Hull 2016</a:t>
            </a:r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 smtClean="0"/>
            </a:lvl1pPr>
          </a:lstStyle>
          <a:p>
            <a:pPr>
              <a:defRPr/>
            </a:pPr>
            <a:r>
              <a:rPr lang="en-US" altLang="en-US"/>
              <a:t>6.</a:t>
            </a:r>
            <a:fld id="{2B2B2E73-4EBB-48BC-84E3-B01344A311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5342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 i="0"/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Interest Rate Futures</a:t>
            </a:r>
          </a:p>
        </p:txBody>
      </p:sp>
      <p:sp>
        <p:nvSpPr>
          <p:cNvPr id="15364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6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06BF9F-778E-41F2-86E2-B8355CE9C7D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Day Count Convention</a:t>
            </a:r>
            <a:endParaRPr lang="en-US" altLang="en-US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Defines: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the period of time to which the interest rate applies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The period of time used to calculate accrued interest (relevant when the instrument is bought of sold)</a:t>
            </a: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1CB4C9-78BC-4B2F-86EF-683809283FC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 i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Day Count Conventions </a:t>
            </a:r>
            <a:br>
              <a:rPr lang="en-US" altLang="en-US" smtClean="0"/>
            </a:br>
            <a:r>
              <a:rPr lang="en-US" altLang="en-US" smtClean="0"/>
              <a:t>in the U.S. </a:t>
            </a:r>
            <a:r>
              <a:rPr lang="en-US" altLang="en-US" sz="2200" smtClean="0"/>
              <a:t>(Page 136-137)</a:t>
            </a:r>
            <a:endParaRPr lang="en-US" altLang="en-US" smtClean="0"/>
          </a:p>
        </p:txBody>
      </p:sp>
      <p:graphicFrame>
        <p:nvGraphicFramePr>
          <p:cNvPr id="36912" name="Group 48"/>
          <p:cNvGraphicFramePr>
            <a:graphicFrameLocks noGrp="1"/>
          </p:cNvGraphicFramePr>
          <p:nvPr>
            <p:ph sz="half" idx="2"/>
          </p:nvPr>
        </p:nvGraphicFramePr>
        <p:xfrm>
          <a:off x="684213" y="2781300"/>
          <a:ext cx="8064500" cy="1792288"/>
        </p:xfrm>
        <a:graphic>
          <a:graphicData uri="http://schemas.openxmlformats.org/drawingml/2006/table">
            <a:tbl>
              <a:tblPr/>
              <a:tblGrid>
                <a:gridCol w="4608512"/>
                <a:gridCol w="3455988"/>
              </a:tblGrid>
              <a:tr h="576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Treasury Bonds: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Actual/Actual (in period)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Corporate Bonds: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30/360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97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Money Market Instruments: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Actual/360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467" name="Rectangle 2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smtClean="0"/>
              <a:t> </a:t>
            </a:r>
          </a:p>
        </p:txBody>
      </p:sp>
      <p:sp>
        <p:nvSpPr>
          <p:cNvPr id="1946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D8DF07-9464-48C2-B1A8-FBC62EC0B39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250825" y="-171450"/>
            <a:ext cx="7772400" cy="1387475"/>
          </a:xfrm>
        </p:spPr>
        <p:txBody>
          <a:bodyPr/>
          <a:lstStyle/>
          <a:p>
            <a:pPr eaLnBrk="1" hangingPunct="1"/>
            <a:r>
              <a:rPr lang="en-CA" altLang="en-US" smtClean="0"/>
              <a:t>Examples</a:t>
            </a:r>
            <a:endParaRPr lang="en-US" altLang="en-US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611188" y="1268413"/>
            <a:ext cx="7772400" cy="4433887"/>
          </a:xfrm>
        </p:spPr>
        <p:txBody>
          <a:bodyPr/>
          <a:lstStyle/>
          <a:p>
            <a:pPr eaLnBrk="1" hangingPunct="1"/>
            <a:r>
              <a:rPr lang="en-CA" altLang="en-US" sz="2800" smtClean="0">
                <a:cs typeface="Arial" panose="020B0604020202020204" pitchFamily="34" charset="0"/>
              </a:rPr>
              <a:t>Bond: 8% Actual/ Actual in period. </a:t>
            </a:r>
          </a:p>
          <a:p>
            <a:pPr lvl="1" eaLnBrk="1" hangingPunct="1"/>
            <a:r>
              <a:rPr lang="en-CA" altLang="en-US" sz="2400" smtClean="0">
                <a:cs typeface="Arial" panose="020B0604020202020204" pitchFamily="34" charset="0"/>
              </a:rPr>
              <a:t>4% is earned between coupon payment dates. Accruals on an Actual basis. When coupons are paid on March 1 and Sept  1, how much interest is earned between March 1 and April 1?</a:t>
            </a:r>
          </a:p>
          <a:p>
            <a:pPr eaLnBrk="1" hangingPunct="1"/>
            <a:r>
              <a:rPr lang="en-CA" altLang="en-US" sz="2800" smtClean="0">
                <a:cs typeface="Arial" panose="020B0604020202020204" pitchFamily="34" charset="0"/>
              </a:rPr>
              <a:t>Bond: 8% 30/360</a:t>
            </a:r>
          </a:p>
          <a:p>
            <a:pPr lvl="1" eaLnBrk="1" hangingPunct="1"/>
            <a:r>
              <a:rPr lang="en-CA" altLang="en-US" sz="2400" smtClean="0">
                <a:cs typeface="Arial" panose="020B0604020202020204" pitchFamily="34" charset="0"/>
              </a:rPr>
              <a:t>Assumes 30 days per month and 360 days per year. When coupons are paid on March 1 and Sept  1, how much interest is earned between March 1 and April 1?</a:t>
            </a:r>
          </a:p>
          <a:p>
            <a:pPr lvl="1"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F1C04D-A453-4821-88FC-7291BADD9FB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Examples </a:t>
            </a:r>
            <a:r>
              <a:rPr lang="en-CA" altLang="en-US" sz="2400" smtClean="0"/>
              <a:t>continued</a:t>
            </a:r>
            <a:endParaRPr lang="en-US" altLang="en-US" sz="2400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T-Bill: 8% Actual/360: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8% is earned in 360 days. Accrual calculated by dividing the actual number of days in the period by 360. How much interest is earned between March 1 and April 1?</a:t>
            </a: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9BC0B9-84E5-4149-9830-D55A2EAC1D6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50825" y="333375"/>
            <a:ext cx="8212138" cy="1143000"/>
          </a:xfrm>
        </p:spPr>
        <p:txBody>
          <a:bodyPr/>
          <a:lstStyle/>
          <a:p>
            <a:pPr eaLnBrk="1" hangingPunct="1"/>
            <a:r>
              <a:rPr lang="en-CA" altLang="en-US" smtClean="0"/>
              <a:t>The February Effect </a:t>
            </a:r>
            <a:r>
              <a:rPr lang="en-CA" altLang="en-US" sz="2400" smtClean="0"/>
              <a:t>(Business Snapshot 6.1, page 137)</a:t>
            </a:r>
            <a:endParaRPr lang="en-US" altLang="en-US" sz="2400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250825" y="1989138"/>
            <a:ext cx="8229600" cy="4411662"/>
          </a:xfrm>
        </p:spPr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How many days of interest are earned between February 28, 2017 and March 1, 2017 when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day count is Actual/Actual in period?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day count is 30/360?</a:t>
            </a: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FEE9FC-7880-4B99-9D9E-1A4472C639C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Treasury Bill Prices in the US</a:t>
            </a:r>
            <a:endParaRPr lang="en-US" altLang="en-US" smtClean="0"/>
          </a:p>
        </p:txBody>
      </p:sp>
      <p:sp>
        <p:nvSpPr>
          <p:cNvPr id="2765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</a:p>
        </p:txBody>
      </p:sp>
      <p:sp>
        <p:nvSpPr>
          <p:cNvPr id="2765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E7FADA-C000-4F86-A0E3-9108C49E6A2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  <p:graphicFrame>
        <p:nvGraphicFramePr>
          <p:cNvPr id="27653" name="Content Placeholder 5"/>
          <p:cNvGraphicFramePr>
            <a:graphicFrameLocks noChangeAspect="1"/>
          </p:cNvGraphicFramePr>
          <p:nvPr>
            <p:ph idx="1"/>
          </p:nvPr>
        </p:nvGraphicFramePr>
        <p:xfrm>
          <a:off x="1295400" y="2133600"/>
          <a:ext cx="4702175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4" imgW="1485900" imgH="698500" progId="Equation.3">
                  <p:embed/>
                </p:oleObj>
              </mc:Choice>
              <mc:Fallback>
                <p:oleObj name="Equation" r:id="rId4" imgW="1485900" imgH="698500" progId="Equation.3">
                  <p:embed/>
                  <p:pic>
                    <p:nvPicPr>
                      <p:cNvPr id="0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133600"/>
                        <a:ext cx="4702175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 i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60960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Treasury Bond Price Quotes</a:t>
            </a:r>
            <a:br>
              <a:rPr lang="en-US" altLang="en-US" smtClean="0"/>
            </a:br>
            <a:r>
              <a:rPr lang="en-US" altLang="en-US" smtClean="0"/>
              <a:t>in the U.S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1825" y="2924175"/>
            <a:ext cx="8013700" cy="2752725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Cash price = Quoted price +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                         Accrued Interest			</a:t>
            </a: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713E66-5B49-454B-B455-E65516B140C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 i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60960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Treasury Bond Futures</a:t>
            </a:r>
            <a:br>
              <a:rPr lang="en-US" altLang="en-US" smtClean="0"/>
            </a:br>
            <a:r>
              <a:rPr lang="en-US" altLang="en-US" sz="2200" smtClean="0"/>
              <a:t>Pages 139-143</a:t>
            </a:r>
            <a:endParaRPr lang="en-US" altLang="en-US" smtClean="0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1825" y="2043113"/>
            <a:ext cx="8013700" cy="3633787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	Cash price received by party with short position =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Most Recent Settlement Price × Conversion factor + Accrued interest</a:t>
            </a: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724C67-75D7-4003-A3AA-76BB2A352E5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Arial" charset="0"/>
              </a:rPr>
              <a:t>Most recent settlement price = 90.00</a:t>
            </a:r>
          </a:p>
          <a:p>
            <a:pPr eaLnBrk="1" hangingPunct="1">
              <a:defRPr/>
            </a:pPr>
            <a:r>
              <a:rPr lang="en-US" dirty="0" smtClean="0">
                <a:cs typeface="Arial" charset="0"/>
              </a:rPr>
              <a:t>Conversion factor of bond delivered = 1.3800</a:t>
            </a:r>
          </a:p>
          <a:p>
            <a:pPr eaLnBrk="1" hangingPunct="1">
              <a:defRPr/>
            </a:pPr>
            <a:r>
              <a:rPr lang="en-US" dirty="0" smtClean="0">
                <a:cs typeface="Arial" charset="0"/>
              </a:rPr>
              <a:t>Accrued interest on bond =3.00</a:t>
            </a:r>
          </a:p>
          <a:p>
            <a:pPr eaLnBrk="1" hangingPunct="1">
              <a:defRPr/>
            </a:pPr>
            <a:r>
              <a:rPr lang="en-US" dirty="0" smtClean="0">
                <a:cs typeface="Arial" charset="0"/>
              </a:rPr>
              <a:t>Price received for bond is     	</a:t>
            </a:r>
            <a:r>
              <a:rPr lang="en-US" dirty="0" smtClean="0">
                <a:latin typeface="+mj-lt"/>
                <a:cs typeface="Arial" charset="0"/>
              </a:rPr>
              <a:t>1.3800×90.00+3.00 = $127.20</a:t>
            </a:r>
            <a:r>
              <a:rPr lang="en-US" dirty="0" smtClean="0">
                <a:cs typeface="Arial" charset="0"/>
              </a:rPr>
              <a:t>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>
                <a:cs typeface="Arial" charset="0"/>
              </a:rPr>
              <a:t>    per $100 of principal</a:t>
            </a:r>
          </a:p>
        </p:txBody>
      </p:sp>
      <p:sp>
        <p:nvSpPr>
          <p:cNvPr id="337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3DF9C6-8E68-44D4-AB5A-262B23248D0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 i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Conversion Factor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The conversion factor for a bond is approximately equal to the value of the bond on the assumption that the yield curve is flat at 6% with semiannual compounding </a:t>
            </a:r>
          </a:p>
        </p:txBody>
      </p:sp>
      <p:sp>
        <p:nvSpPr>
          <p:cNvPr id="358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B0B52E-8AE1-41B9-ABD5-9A1AA4A072C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 i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CBOT</a:t>
            </a:r>
            <a:br>
              <a:rPr lang="en-US" altLang="en-US" smtClean="0"/>
            </a:br>
            <a:r>
              <a:rPr lang="en-US" altLang="en-US" smtClean="0"/>
              <a:t>T-Bonds &amp; T-Notes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1884363"/>
            <a:ext cx="7281862" cy="4105275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Factors that affect the futures price:</a:t>
            </a:r>
          </a:p>
          <a:p>
            <a:pPr lvl="1" eaLnBrk="1" hangingPunct="1"/>
            <a:r>
              <a:rPr lang="en-US" altLang="en-US" sz="3200" smtClean="0"/>
              <a:t>Delivery can be made any time during the delivery month</a:t>
            </a:r>
          </a:p>
          <a:p>
            <a:pPr lvl="1" eaLnBrk="1" hangingPunct="1"/>
            <a:r>
              <a:rPr lang="en-US" altLang="en-US" sz="3200" smtClean="0"/>
              <a:t>Any of a range of eligible bonds can be delivered</a:t>
            </a:r>
          </a:p>
          <a:p>
            <a:pPr lvl="1" eaLnBrk="1" hangingPunct="1"/>
            <a:r>
              <a:rPr lang="en-US" altLang="en-US" sz="3200" smtClean="0"/>
              <a:t>The wild card play</a:t>
            </a: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F753DF-6F10-4B85-972F-509A43F9E0C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Eurodollar Futures </a:t>
            </a:r>
            <a:r>
              <a:rPr lang="en-US" altLang="en-US" sz="2200" smtClean="0"/>
              <a:t>(Pages 143-148)</a:t>
            </a:r>
            <a:endParaRPr lang="en-US" altLang="en-US" smtClean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A Eurodollar is a dollar deposited in a bank outside the United States 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Eurodollar futures are futures on the 3-month Eurodollar deposit rate (same as 3-month LIBOR rate)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One contract is on the rate earned on $1 million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A change of one basis point or 0.01 in a Eurodollar futures quote corresponds to a contract price change of $25 </a:t>
            </a:r>
          </a:p>
        </p:txBody>
      </p:sp>
      <p:sp>
        <p:nvSpPr>
          <p:cNvPr id="399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2B97F2-0E80-4B4A-9539-AFA269F9B59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r>
              <a:rPr lang="en-US" altLang="en-US" smtClean="0"/>
              <a:t>Eurodollar Futures continued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en-US" sz="2800" smtClean="0"/>
              <a:t>A Eurodollar futures contract is settled in cash</a:t>
            </a:r>
          </a:p>
          <a:p>
            <a:r>
              <a:rPr lang="en-US" altLang="en-US" sz="2800" smtClean="0"/>
              <a:t>When it expires (on the third Wednesday of the delivery month) the final settlement price is 100 minus the actual three month LIBOR rate</a:t>
            </a: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68F1C6-0ED7-4A85-917F-4626D5777A1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476250"/>
            <a:ext cx="7772400" cy="898525"/>
          </a:xfrm>
        </p:spPr>
        <p:txBody>
          <a:bodyPr/>
          <a:lstStyle/>
          <a:p>
            <a:pPr eaLnBrk="1" hangingPunct="1"/>
            <a:r>
              <a:rPr lang="en-CA" altLang="en-US" smtClean="0"/>
              <a:t>Example</a:t>
            </a:r>
          </a:p>
        </p:txBody>
      </p:sp>
      <p:sp>
        <p:nvSpPr>
          <p:cNvPr id="4403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440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9F1C6F-3B91-4835-ABE5-35C2151B509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  <p:graphicFrame>
        <p:nvGraphicFramePr>
          <p:cNvPr id="118812" name="Group 28"/>
          <p:cNvGraphicFramePr>
            <a:graphicFrameLocks noGrp="1"/>
          </p:cNvGraphicFramePr>
          <p:nvPr/>
        </p:nvGraphicFramePr>
        <p:xfrm>
          <a:off x="1258888" y="1628775"/>
          <a:ext cx="6096000" cy="390525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518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</a:t>
                      </a: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Quote</a:t>
                      </a: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3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Nov 1  </a:t>
                      </a: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97.12</a:t>
                      </a: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9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Nov 2</a:t>
                      </a: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97.23</a:t>
                      </a: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9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Nov 3</a:t>
                      </a: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96.98</a:t>
                      </a: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3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…….</a:t>
                      </a: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……</a:t>
                      </a: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9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 21</a:t>
                      </a: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97.42</a:t>
                      </a: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Example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en-US" sz="2800" smtClean="0"/>
              <a:t>Suppose you buy (take a long position in) a contract on November 1</a:t>
            </a:r>
          </a:p>
          <a:p>
            <a:r>
              <a:rPr lang="en-CA" altLang="en-US" sz="2800" smtClean="0"/>
              <a:t>The contract expires on December 21</a:t>
            </a:r>
          </a:p>
          <a:p>
            <a:r>
              <a:rPr lang="en-CA" altLang="en-US" sz="2800" smtClean="0"/>
              <a:t>The prices are as shown</a:t>
            </a:r>
          </a:p>
          <a:p>
            <a:r>
              <a:rPr lang="en-CA" altLang="en-US" sz="2800" smtClean="0"/>
              <a:t>How much do you gain or lose a) on the first day, b) on the second day, c) over the whole time until expiration?</a:t>
            </a:r>
          </a:p>
        </p:txBody>
      </p:sp>
      <p:sp>
        <p:nvSpPr>
          <p:cNvPr id="460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FB142B-0630-414C-BDDC-F5A6FACF9F0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Example </a:t>
            </a:r>
            <a:r>
              <a:rPr lang="en-CA" altLang="en-US" sz="2400" smtClean="0"/>
              <a:t>continued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en-US" sz="2800" smtClean="0"/>
              <a:t>If on Nov. 1 you know that you will have   $1 million to invest on for three months on Dec 21, the contract locks in a rate of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CA" altLang="en-US" sz="2800" smtClean="0"/>
              <a:t>			   100 - 97.12 = 2.88%</a:t>
            </a:r>
          </a:p>
          <a:p>
            <a:r>
              <a:rPr lang="en-CA" altLang="en-US" sz="2800" smtClean="0"/>
              <a:t>In the example you earn 100 – 97.42 = 2.58% on $1 million for three months   (=$6,450) and make a gain day by day on the futures contract of 30</a:t>
            </a:r>
            <a:r>
              <a:rPr lang="en-CA" altLang="en-US" sz="2800" smtClean="0">
                <a:cs typeface="Arial" panose="020B0604020202020204" pitchFamily="34" charset="0"/>
              </a:rPr>
              <a:t>×$25 =$750 </a:t>
            </a:r>
            <a:endParaRPr lang="en-CA" altLang="en-US" sz="2800" smtClean="0"/>
          </a:p>
        </p:txBody>
      </p:sp>
      <p:sp>
        <p:nvSpPr>
          <p:cNvPr id="481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AF7EA9-85D8-4B49-8FF8-B9195E89898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Formula for Contract Value </a:t>
            </a:r>
            <a:r>
              <a:rPr lang="en-CA" altLang="en-US" sz="1800" smtClean="0"/>
              <a:t>(page 142)</a:t>
            </a:r>
          </a:p>
        </p:txBody>
      </p:sp>
      <p:sp>
        <p:nvSpPr>
          <p:cNvPr id="5017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501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B3BC75-B99A-42F4-A053-1F0983FBD8A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  <p:sp>
        <p:nvSpPr>
          <p:cNvPr id="25605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Arial" charset="0"/>
              </a:rPr>
              <a:t>If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Q</a:t>
            </a:r>
            <a:r>
              <a:rPr lang="en-US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dirty="0" smtClean="0">
                <a:cs typeface="Arial" charset="0"/>
              </a:rPr>
              <a:t>is the quoted price of a Eurodollar futures contract, the value of one contract is </a:t>
            </a:r>
          </a:p>
          <a:p>
            <a:pPr marL="0" indent="0" algn="ctr"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>
                <a:latin typeface="+mj-lt"/>
                <a:cs typeface="Arial" charset="0"/>
              </a:rPr>
              <a:t>10,000[100-0.25(100-</a:t>
            </a:r>
            <a:r>
              <a:rPr lang="en-US" i="1" dirty="0" smtClean="0">
                <a:latin typeface="+mj-lt"/>
                <a:cs typeface="Arial" charset="0"/>
              </a:rPr>
              <a:t>Q</a:t>
            </a:r>
            <a:r>
              <a:rPr lang="en-US" dirty="0" smtClean="0">
                <a:latin typeface="+mj-lt"/>
                <a:cs typeface="Arial" charset="0"/>
              </a:rPr>
              <a:t>)]</a:t>
            </a:r>
            <a:endParaRPr lang="en-CA" i="1" dirty="0" smtClean="0">
              <a:latin typeface="+mj-lt"/>
              <a:cs typeface="Arial" charset="0"/>
            </a:endParaRPr>
          </a:p>
          <a:p>
            <a:pPr eaLnBrk="1" hangingPunct="1">
              <a:defRPr/>
            </a:pPr>
            <a:r>
              <a:rPr lang="en-CA" dirty="0" smtClean="0">
                <a:cs typeface="Arial" charset="0"/>
              </a:rPr>
              <a:t>This corresponds to the $25 per basis point rule</a:t>
            </a:r>
            <a:endParaRPr lang="en-US" dirty="0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r>
              <a:rPr lang="en-US" altLang="en-US" smtClean="0"/>
              <a:t>Forward Rates and Eurodollar Futures </a:t>
            </a:r>
            <a:r>
              <a:rPr lang="en-US" altLang="en-US" sz="2200" smtClean="0"/>
              <a:t>(Page 147-148)</a:t>
            </a:r>
            <a:endParaRPr lang="en-US" altLang="en-US" smtClean="0"/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28775"/>
            <a:ext cx="7499350" cy="4495800"/>
          </a:xfrm>
          <a:noFill/>
        </p:spPr>
        <p:txBody>
          <a:bodyPr lIns="92075" tIns="46038" rIns="92075" bIns="46038"/>
          <a:lstStyle/>
          <a:p>
            <a:r>
              <a:rPr lang="en-US" altLang="en-US" sz="2800" smtClean="0"/>
              <a:t>Eurodollar futures contracts last as long as 10 years</a:t>
            </a:r>
          </a:p>
          <a:p>
            <a:r>
              <a:rPr lang="en-US" altLang="en-US" sz="2800" smtClean="0"/>
              <a:t>For Eurodollar futures lasting beyond two years we cannot assume that the forward rate equals the futures rate</a:t>
            </a:r>
          </a:p>
        </p:txBody>
      </p:sp>
      <p:sp>
        <p:nvSpPr>
          <p:cNvPr id="522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31020B-FD4E-4435-A7AF-FD92FEE68E5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7543800" cy="1295400"/>
          </a:xfrm>
        </p:spPr>
        <p:txBody>
          <a:bodyPr/>
          <a:lstStyle/>
          <a:p>
            <a:r>
              <a:rPr lang="en-CA" altLang="en-US" smtClean="0"/>
              <a:t>There are Two Reasons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00213"/>
            <a:ext cx="7499350" cy="4648200"/>
          </a:xfrm>
        </p:spPr>
        <p:txBody>
          <a:bodyPr/>
          <a:lstStyle/>
          <a:p>
            <a:r>
              <a:rPr lang="en-CA" altLang="en-US" sz="2800" smtClean="0"/>
              <a:t>Futures is settled daily where forward is settled once</a:t>
            </a:r>
          </a:p>
          <a:p>
            <a:r>
              <a:rPr lang="en-CA" altLang="en-US" sz="2800" smtClean="0"/>
              <a:t>Futures is settled at the beginning of the underlying three-month period; FRA is settled at the end of the underlying three- month period </a:t>
            </a:r>
          </a:p>
        </p:txBody>
      </p:sp>
      <p:sp>
        <p:nvSpPr>
          <p:cNvPr id="542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F230998-8663-4911-A577-3E48EF706BD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Forward Rates and Eurodollar Futures continued 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395288" y="1844675"/>
            <a:ext cx="8001000" cy="3810000"/>
          </a:xfrm>
        </p:spPr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 A “convexity adjustment” often made is</a:t>
            </a:r>
          </a:p>
          <a:p>
            <a:pPr algn="ctr" eaLnBrk="1" hangingPunct="1">
              <a:buFontTx/>
              <a:buNone/>
            </a:pPr>
            <a:r>
              <a:rPr lang="en-CA" altLang="en-US" smtClean="0">
                <a:cs typeface="Arial" panose="020B0604020202020204" pitchFamily="34" charset="0"/>
              </a:rPr>
              <a:t>Forward Rate = Futures Rate−0.5</a:t>
            </a:r>
            <a:r>
              <a:rPr lang="en-CA" altLang="en-US" smtClean="0">
                <a:latin typeface="Symbol" panose="05050102010706020507" pitchFamily="18" charset="2"/>
                <a:cs typeface="Arial" panose="020B0604020202020204" pitchFamily="34" charset="0"/>
              </a:rPr>
              <a:t>s</a:t>
            </a:r>
            <a:r>
              <a:rPr lang="en-CA" altLang="en-US" baseline="30000" smtClean="0">
                <a:cs typeface="Arial" panose="020B0604020202020204" pitchFamily="34" charset="0"/>
              </a:rPr>
              <a:t>2</a:t>
            </a:r>
            <a:r>
              <a:rPr lang="en-CA" altLang="en-US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CA" altLang="en-US" baseline="-25000" smtClean="0">
                <a:cs typeface="Arial" panose="020B0604020202020204" pitchFamily="34" charset="0"/>
              </a:rPr>
              <a:t>1</a:t>
            </a:r>
            <a:r>
              <a:rPr lang="en-CA" altLang="en-US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CA" altLang="en-US" baseline="-25000" smtClean="0">
                <a:cs typeface="Arial" panose="020B0604020202020204" pitchFamily="34" charset="0"/>
              </a:rPr>
              <a:t>2 </a:t>
            </a:r>
            <a:endParaRPr lang="en-CA" altLang="en-US" smtClean="0">
              <a:cs typeface="Arial" panose="020B0604020202020204" pitchFamily="34" charset="0"/>
            </a:endParaRPr>
          </a:p>
          <a:p>
            <a:pPr lvl="1" eaLnBrk="1" hangingPunct="1"/>
            <a:r>
              <a:rPr lang="en-CA" altLang="en-US" i="1" smtClean="0">
                <a:cs typeface="Arial" panose="020B0604020202020204" pitchFamily="34" charset="0"/>
              </a:rPr>
              <a:t>T</a:t>
            </a:r>
            <a:r>
              <a:rPr lang="en-CA" altLang="en-US" i="1" baseline="-25000" smtClean="0">
                <a:cs typeface="Arial" panose="020B0604020202020204" pitchFamily="34" charset="0"/>
              </a:rPr>
              <a:t>1 </a:t>
            </a:r>
            <a:r>
              <a:rPr lang="en-CA" altLang="en-US" smtClean="0">
                <a:cs typeface="Arial" panose="020B0604020202020204" pitchFamily="34" charset="0"/>
              </a:rPr>
              <a:t>is the start of period covered by the forward/futures rate</a:t>
            </a:r>
          </a:p>
          <a:p>
            <a:pPr lvl="1" eaLnBrk="1" hangingPunct="1"/>
            <a:r>
              <a:rPr lang="en-CA" altLang="en-US" i="1" smtClean="0">
                <a:cs typeface="Arial" panose="020B0604020202020204" pitchFamily="34" charset="0"/>
              </a:rPr>
              <a:t>T</a:t>
            </a:r>
            <a:r>
              <a:rPr lang="en-CA" altLang="en-US" i="1" baseline="-25000" smtClean="0">
                <a:cs typeface="Arial" panose="020B0604020202020204" pitchFamily="34" charset="0"/>
              </a:rPr>
              <a:t>2 </a:t>
            </a:r>
            <a:r>
              <a:rPr lang="en-CA" altLang="en-US" smtClean="0">
                <a:cs typeface="Arial" panose="020B0604020202020204" pitchFamily="34" charset="0"/>
              </a:rPr>
              <a:t>is the end of period covered by the forward/futures rate (90 days later that </a:t>
            </a:r>
            <a:r>
              <a:rPr lang="en-CA" altLang="en-US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CA" altLang="en-US" baseline="-25000" smtClean="0">
                <a:cs typeface="Arial" panose="020B0604020202020204" pitchFamily="34" charset="0"/>
              </a:rPr>
              <a:t>1</a:t>
            </a:r>
            <a:r>
              <a:rPr lang="en-CA" altLang="en-US" smtClean="0">
                <a:cs typeface="Arial" panose="020B0604020202020204" pitchFamily="34" charset="0"/>
              </a:rPr>
              <a:t>)</a:t>
            </a:r>
          </a:p>
          <a:p>
            <a:pPr eaLnBrk="1" hangingPunct="1"/>
            <a:r>
              <a:rPr lang="en-CA" altLang="en-US" smtClean="0">
                <a:latin typeface="Symbol" panose="05050102010706020507" pitchFamily="18" charset="2"/>
                <a:cs typeface="Arial" panose="020B0604020202020204" pitchFamily="34" charset="0"/>
              </a:rPr>
              <a:t>s</a:t>
            </a:r>
            <a:r>
              <a:rPr lang="en-CA" altLang="en-US" smtClean="0">
                <a:cs typeface="Arial" panose="020B0604020202020204" pitchFamily="34" charset="0"/>
              </a:rPr>
              <a:t> is the standard deviation of the change in the short rate per year</a:t>
            </a:r>
          </a:p>
          <a:p>
            <a:pPr eaLnBrk="1" hangingPunct="1"/>
            <a:endParaRPr lang="en-CA" altLang="en-US" i="1" smtClean="0">
              <a:cs typeface="Arial" panose="020B0604020202020204" pitchFamily="34" charset="0"/>
            </a:endParaRPr>
          </a:p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563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</a:p>
        </p:txBody>
      </p:sp>
      <p:sp>
        <p:nvSpPr>
          <p:cNvPr id="563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3B6218-BE2E-4F3B-BE5E-CFC9EFA5E51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122238"/>
            <a:ext cx="6553200" cy="1249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CA" dirty="0"/>
              <a:t>Convexity Adjustment when </a:t>
            </a:r>
            <a:r>
              <a:rPr lang="en-CA" dirty="0">
                <a:latin typeface="Symbol" pitchFamily="18" charset="2"/>
              </a:rPr>
              <a:t>s</a:t>
            </a:r>
            <a:r>
              <a:rPr lang="en-CA" dirty="0"/>
              <a:t>=0.012 </a:t>
            </a:r>
            <a:r>
              <a:rPr lang="en-CA" sz="2200" dirty="0" smtClean="0"/>
              <a:t>(Example 6.4, page147)</a:t>
            </a:r>
            <a:endParaRPr lang="en-CA" sz="2200" dirty="0"/>
          </a:p>
        </p:txBody>
      </p:sp>
      <p:graphicFrame>
        <p:nvGraphicFramePr>
          <p:cNvPr id="125981" name="Group 29"/>
          <p:cNvGraphicFramePr>
            <a:graphicFrameLocks noGrp="1"/>
          </p:cNvGraphicFramePr>
          <p:nvPr/>
        </p:nvGraphicFramePr>
        <p:xfrm>
          <a:off x="1524000" y="1905000"/>
          <a:ext cx="6096000" cy="3935413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9456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Maturity of  Futures</a:t>
                      </a:r>
                    </a:p>
                  </a:txBody>
                  <a:tcPr marL="92075" marR="92075" marT="46045" marB="460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Convexity Adjustment (bps)</a:t>
                      </a:r>
                    </a:p>
                  </a:txBody>
                  <a:tcPr marL="92075" marR="92075" marT="46045" marB="460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2075" marR="92075" marT="46045" marB="460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3.2</a:t>
                      </a:r>
                    </a:p>
                  </a:txBody>
                  <a:tcPr marL="92075" marR="92075" marT="46045" marB="460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5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2075" marR="92075" marT="46045" marB="460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12.2</a:t>
                      </a:r>
                    </a:p>
                  </a:txBody>
                  <a:tcPr marL="92075" marR="92075" marT="46045" marB="460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5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2075" marR="92075" marT="46045" marB="460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27.0</a:t>
                      </a:r>
                    </a:p>
                  </a:txBody>
                  <a:tcPr marL="92075" marR="92075" marT="46045" marB="460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92075" marR="92075" marT="46045" marB="460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47.5</a:t>
                      </a:r>
                    </a:p>
                  </a:txBody>
                  <a:tcPr marL="92075" marR="92075" marT="46045" marB="460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5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2075" marR="92075" marT="46045" marB="460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73.8</a:t>
                      </a:r>
                    </a:p>
                  </a:txBody>
                  <a:tcPr marL="92075" marR="92075" marT="46045" marB="460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3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0E8EB5-F954-4CC7-A801-CED5C4F4E5B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 i="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17500" y="1727200"/>
            <a:ext cx="8813800" cy="4114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smtClean="0"/>
              <a:t>Duration of a bond that provides cash flow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c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i</a:t>
            </a:r>
            <a:r>
              <a:rPr lang="en-US" altLang="en-US" sz="2400" baseline="-25000" smtClean="0"/>
              <a:t> </a:t>
            </a:r>
            <a:r>
              <a:rPr lang="en-US" altLang="en-US" sz="2400" smtClean="0"/>
              <a:t>at time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i</a:t>
            </a:r>
            <a:r>
              <a:rPr lang="en-US" altLang="en-US" sz="2400" smtClean="0"/>
              <a:t> is														</a:t>
            </a:r>
          </a:p>
          <a:p>
            <a:pPr lvl="4"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	where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B </a:t>
            </a:r>
            <a:r>
              <a:rPr lang="en-US" altLang="en-US" sz="2400" smtClean="0"/>
              <a:t>is its price and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y</a:t>
            </a:r>
            <a:r>
              <a:rPr lang="en-US" altLang="en-US" sz="2400" smtClean="0"/>
              <a:t> is its yield (continuously compounded)</a:t>
            </a:r>
          </a:p>
          <a:p>
            <a:pPr eaLnBrk="1" hangingPunct="1"/>
            <a:r>
              <a:rPr lang="en-US" altLang="en-US" sz="2400" smtClean="0"/>
              <a:t>This leads to 													</a:t>
            </a:r>
          </a:p>
        </p:txBody>
      </p:sp>
      <p:graphicFrame>
        <p:nvGraphicFramePr>
          <p:cNvPr id="60420" name="Object 3"/>
          <p:cNvGraphicFramePr>
            <a:graphicFrameLocks/>
          </p:cNvGraphicFramePr>
          <p:nvPr/>
        </p:nvGraphicFramePr>
        <p:xfrm>
          <a:off x="2857500" y="2286000"/>
          <a:ext cx="2895600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4" name="Equation" r:id="rId4" imgW="825500" imgH="482600" progId="Equation.3">
                  <p:embed/>
                </p:oleObj>
              </mc:Choice>
              <mc:Fallback>
                <p:oleObj name="Equation" r:id="rId4" imgW="825500" imgH="4826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2286000"/>
                        <a:ext cx="2895600" cy="1354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1" name="Object 4"/>
          <p:cNvGraphicFramePr>
            <a:graphicFrameLocks/>
          </p:cNvGraphicFramePr>
          <p:nvPr/>
        </p:nvGraphicFramePr>
        <p:xfrm>
          <a:off x="2571750" y="5000625"/>
          <a:ext cx="3167063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5" name="Equation" r:id="rId6" imgW="799753" imgH="393529" progId="Equation.3">
                  <p:embed/>
                </p:oleObj>
              </mc:Choice>
              <mc:Fallback>
                <p:oleObj name="Equation" r:id="rId6" imgW="799753" imgH="39352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5000625"/>
                        <a:ext cx="3167063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Rectangle 5"/>
          <p:cNvSpPr>
            <a:spLocks noGrp="1" noChangeArrowheads="1"/>
          </p:cNvSpPr>
          <p:nvPr>
            <p:ph type="title"/>
          </p:nvPr>
        </p:nvSpPr>
        <p:spPr>
          <a:xfrm>
            <a:off x="444500" y="260350"/>
            <a:ext cx="7813675" cy="1008063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Duration </a:t>
            </a:r>
            <a:r>
              <a:rPr lang="en-US" altLang="en-US" sz="2400" smtClean="0"/>
              <a:t>(page 148-152)</a:t>
            </a:r>
          </a:p>
        </p:txBody>
      </p:sp>
      <p:sp>
        <p:nvSpPr>
          <p:cNvPr id="6042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755D3E-4B74-4D74-BCCB-4AB952823D9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 i="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772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Duration Continued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7244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When the yield </a:t>
            </a:r>
            <a:r>
              <a:rPr lang="en-US" altLang="en-US" i="1" smtClean="0">
                <a:latin typeface="Times New Roman" panose="02020603050405020304" pitchFamily="18" charset="0"/>
              </a:rPr>
              <a:t>y</a:t>
            </a:r>
            <a:r>
              <a:rPr lang="en-US" altLang="en-US" smtClean="0"/>
              <a:t> is expressed with compounding </a:t>
            </a:r>
            <a:r>
              <a:rPr lang="en-US" altLang="en-US" i="1" smtClean="0">
                <a:latin typeface="Times New Roman" panose="02020603050405020304" pitchFamily="18" charset="0"/>
              </a:rPr>
              <a:t>m</a:t>
            </a:r>
            <a:r>
              <a:rPr lang="en-US" altLang="en-US" smtClean="0"/>
              <a:t> times per year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/>
            <a:r>
              <a:rPr lang="en-US" altLang="en-US" smtClean="0"/>
              <a:t>The expression </a:t>
            </a:r>
          </a:p>
          <a:p>
            <a:pPr eaLnBrk="1" hangingPunct="1"/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is referred to as the “modified duration”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graphicFrame>
        <p:nvGraphicFramePr>
          <p:cNvPr id="62469" name="Object 4"/>
          <p:cNvGraphicFramePr>
            <a:graphicFrameLocks/>
          </p:cNvGraphicFramePr>
          <p:nvPr/>
        </p:nvGraphicFramePr>
        <p:xfrm>
          <a:off x="3019425" y="2514600"/>
          <a:ext cx="23447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2" name="Equation" r:id="rId4" imgW="990170" imgH="431613" progId="Equation.3">
                  <p:embed/>
                </p:oleObj>
              </mc:Choice>
              <mc:Fallback>
                <p:oleObj name="Equation" r:id="rId4" imgW="990170" imgH="431613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2514600"/>
                        <a:ext cx="234473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5"/>
          <p:cNvGraphicFramePr>
            <a:graphicFrameLocks/>
          </p:cNvGraphicFramePr>
          <p:nvPr/>
        </p:nvGraphicFramePr>
        <p:xfrm>
          <a:off x="3581400" y="4191000"/>
          <a:ext cx="1600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3" name="Equation" r:id="rId6" imgW="520474" imgH="431613" progId="Equation.2">
                  <p:embed/>
                </p:oleObj>
              </mc:Choice>
              <mc:Fallback>
                <p:oleObj name="Equation" r:id="rId6" imgW="520474" imgH="431613" progId="Equation.2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191000"/>
                        <a:ext cx="16002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DAB8D4-E10A-4D91-BC3F-CE355299498C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 i="0"/>
          </a:p>
        </p:txBody>
      </p:sp>
      <p:sp>
        <p:nvSpPr>
          <p:cNvPr id="64515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Duration Matching</a:t>
            </a:r>
          </a:p>
        </p:txBody>
      </p:sp>
      <p:sp>
        <p:nvSpPr>
          <p:cNvPr id="6451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98500" y="2052638"/>
            <a:ext cx="8064500" cy="3767137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This involves hedging against interest rate risk by matching the durations of assets and liabilities</a:t>
            </a:r>
          </a:p>
          <a:p>
            <a:pPr eaLnBrk="1" hangingPunct="1"/>
            <a:r>
              <a:rPr lang="en-US" altLang="en-US" smtClean="0"/>
              <a:t>It provides protection against small parallel shifts in the zero curve</a:t>
            </a:r>
          </a:p>
        </p:txBody>
      </p:sp>
      <p:sp>
        <p:nvSpPr>
          <p:cNvPr id="645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6CC2F5-F649-406E-AD8C-585A8BF1E31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Use of Eurodollar Futures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One contract locks in an interest rate on $1 million for a future 3-month period 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How many contracts are necessary to lock in an interest rate on $1 million for a future six-month period?</a:t>
            </a:r>
          </a:p>
        </p:txBody>
      </p:sp>
      <p:sp>
        <p:nvSpPr>
          <p:cNvPr id="665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665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E1A501-799E-4FEE-B808-C1DAE73A5EE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 i="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Duration-Based Hedge Ratio</a:t>
            </a:r>
          </a:p>
        </p:txBody>
      </p:sp>
      <p:graphicFrame>
        <p:nvGraphicFramePr>
          <p:cNvPr id="68612" name="Object 4"/>
          <p:cNvGraphicFramePr>
            <a:graphicFrameLocks noChangeAspect="1"/>
          </p:cNvGraphicFramePr>
          <p:nvPr>
            <p:ph sz="half" idx="1"/>
          </p:nvPr>
        </p:nvGraphicFramePr>
        <p:xfrm>
          <a:off x="4067175" y="1785938"/>
          <a:ext cx="1009650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3" name="Equation" r:id="rId4" imgW="418918" imgH="406224" progId="Equation.3">
                  <p:embed/>
                </p:oleObj>
              </mc:Choice>
              <mc:Fallback>
                <p:oleObj name="Equation" r:id="rId4" imgW="418918" imgH="4062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1785938"/>
                        <a:ext cx="1009650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83" name="Group 55"/>
          <p:cNvGraphicFramePr>
            <a:graphicFrameLocks noGrp="1"/>
          </p:cNvGraphicFramePr>
          <p:nvPr>
            <p:ph sz="half" idx="2"/>
          </p:nvPr>
        </p:nvGraphicFramePr>
        <p:xfrm>
          <a:off x="684213" y="2808288"/>
          <a:ext cx="8004175" cy="2935287"/>
        </p:xfrm>
        <a:graphic>
          <a:graphicData uri="http://schemas.openxmlformats.org/drawingml/2006/table">
            <a:tbl>
              <a:tblPr/>
              <a:tblGrid>
                <a:gridCol w="838200"/>
                <a:gridCol w="7165975"/>
              </a:tblGrid>
              <a:tr h="608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CA" sz="28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en-US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Contract Price for Interest Rate Futures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096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2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en-US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Duration of Asset Underlying Futures at Maturity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 of portfolio being Hedged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8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2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endParaRPr kumimoji="0" lang="en-US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Duration of Portfolio at Hedge Maturity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862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25DE03-D273-463E-A49F-874542EF5F5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 i="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</a:t>
            </a:r>
            <a:r>
              <a:rPr lang="en-US" altLang="en-US" sz="2400" smtClean="0"/>
              <a:t>(page 153-154)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Three month hedge is required for a $10 million portfolio. Duration of the portfolio in 3 months will be 6.8 years.</a:t>
            </a:r>
          </a:p>
          <a:p>
            <a:pPr eaLnBrk="1" hangingPunct="1"/>
            <a:r>
              <a:rPr lang="en-US" altLang="en-US" sz="2400" smtClean="0"/>
              <a:t>3-month T-bond futures price is 93-02 so that contract price is $93,062.50</a:t>
            </a:r>
          </a:p>
          <a:p>
            <a:pPr eaLnBrk="1" hangingPunct="1"/>
            <a:r>
              <a:rPr lang="en-US" altLang="en-US" sz="2400" smtClean="0"/>
              <a:t>Duration of cheapest to deliver bond in 3 months is 9.2 years</a:t>
            </a:r>
          </a:p>
          <a:p>
            <a:pPr eaLnBrk="1" hangingPunct="1"/>
            <a:r>
              <a:rPr lang="en-US" altLang="en-US" sz="2400" smtClean="0"/>
              <a:t>Number of contracts for a 3-month hedge is  </a:t>
            </a:r>
          </a:p>
        </p:txBody>
      </p:sp>
      <p:graphicFrame>
        <p:nvGraphicFramePr>
          <p:cNvPr id="70661" name="Object 4"/>
          <p:cNvGraphicFramePr>
            <a:graphicFrameLocks noChangeAspect="1"/>
          </p:cNvGraphicFramePr>
          <p:nvPr/>
        </p:nvGraphicFramePr>
        <p:xfrm>
          <a:off x="2057400" y="4724400"/>
          <a:ext cx="34290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3" name="Equation" r:id="rId4" imgW="1536700" imgH="419100" progId="Equation.3">
                  <p:embed/>
                </p:oleObj>
              </mc:Choice>
              <mc:Fallback>
                <p:oleObj name="Equation" r:id="rId4" imgW="15367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724400"/>
                        <a:ext cx="34290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6BDBD1-5F78-40C7-BD2A-7770DABC9D1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Limitations of Duration-Based Hedging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773238"/>
            <a:ext cx="7943850" cy="3886200"/>
          </a:xfrm>
        </p:spPr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Assumes that only parallel shift in yield curve take place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Assumes that yield curve changes are small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When T-Bond futures is used assumes there will be no change in the cheapest-to-deliver bond</a:t>
            </a:r>
          </a:p>
        </p:txBody>
      </p:sp>
      <p:sp>
        <p:nvSpPr>
          <p:cNvPr id="727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727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E60B4D-C1BB-4D37-952A-AD7CEDDC011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GAP Management </a:t>
            </a:r>
            <a:r>
              <a:rPr lang="en-CA" altLang="en-US" sz="2200" smtClean="0"/>
              <a:t>(Business Snapshot 6.3, page 152)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CA" altLang="en-US" smtClean="0">
                <a:cs typeface="Arial" panose="020B0604020202020204" pitchFamily="34" charset="0"/>
              </a:rPr>
              <a:t>	This is a more sophisticated approach used by financial institutions to hedge interest rates. It involves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Bucketing the zero curve 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Hedging exposure to situation where rates corresponding to one bucket change and all other rates stay the same</a:t>
            </a:r>
            <a:r>
              <a:rPr lang="en-CA" altLang="en-US" sz="2000" smtClean="0">
                <a:cs typeface="Arial" panose="020B0604020202020204" pitchFamily="34" charset="0"/>
              </a:rPr>
              <a:t> </a:t>
            </a:r>
          </a:p>
        </p:txBody>
      </p:sp>
      <p:sp>
        <p:nvSpPr>
          <p:cNvPr id="747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Fundamentals of Futures and Options Markets, 9th Ed, Ch 6, Copyright © John 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747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EEA4C0-28D5-4886-9F8C-C195D85B58EC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9E9A65-4492-41A7-9083-B930D261B921}"/>
</file>

<file path=customXml/itemProps2.xml><?xml version="1.0" encoding="utf-8"?>
<ds:datastoreItem xmlns:ds="http://schemas.openxmlformats.org/officeDocument/2006/customXml" ds:itemID="{18DA119F-A664-4FC7-A5E0-E3DEF1A5979A}"/>
</file>

<file path=customXml/itemProps3.xml><?xml version="1.0" encoding="utf-8"?>
<ds:datastoreItem xmlns:ds="http://schemas.openxmlformats.org/officeDocument/2006/customXml" ds:itemID="{57594BF0-A620-4192-9430-1B060BD12B19}"/>
</file>

<file path=docProps/app.xml><?xml version="1.0" encoding="utf-8"?>
<Properties xmlns="http://schemas.openxmlformats.org/officeDocument/2006/extended-properties" xmlns:vt="http://schemas.openxmlformats.org/officeDocument/2006/docPropsVTypes">
  <Template>Ch02HullFundamentals5thEd</Template>
  <TotalTime>189</TotalTime>
  <Pages>18</Pages>
  <Words>1676</Words>
  <Application>Microsoft Office PowerPoint</Application>
  <PresentationFormat>Letter Paper (8.5x11 in)</PresentationFormat>
  <Paragraphs>238</Paragraphs>
  <Slides>30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Times New Roman</vt:lpstr>
      <vt:lpstr>Wingdings</vt:lpstr>
      <vt:lpstr>Wingdings 2</vt:lpstr>
      <vt:lpstr>Symbol</vt:lpstr>
      <vt:lpstr>1_Network</vt:lpstr>
      <vt:lpstr>Microsoft Equation 3.0</vt:lpstr>
      <vt:lpstr>Microsoft Equation 2.0</vt:lpstr>
      <vt:lpstr>Interest Rate Futures</vt:lpstr>
      <vt:lpstr>Day Count Convention</vt:lpstr>
      <vt:lpstr>Day Count Conventions  in the U.S. (Page 136-137)</vt:lpstr>
      <vt:lpstr>Examples</vt:lpstr>
      <vt:lpstr>Examples continued</vt:lpstr>
      <vt:lpstr>The February Effect (Business Snapshot 6.1, page 137)</vt:lpstr>
      <vt:lpstr>Treasury Bill Prices in the US</vt:lpstr>
      <vt:lpstr>Treasury Bond Price Quotes in the U.S</vt:lpstr>
      <vt:lpstr>Treasury Bond Futures Pages 139-143</vt:lpstr>
      <vt:lpstr>Example</vt:lpstr>
      <vt:lpstr>Conversion Factor</vt:lpstr>
      <vt:lpstr>CBOT T-Bonds &amp; T-Notes</vt:lpstr>
      <vt:lpstr>Eurodollar Futures (Pages 143-148)</vt:lpstr>
      <vt:lpstr>Eurodollar Futures continued</vt:lpstr>
      <vt:lpstr>Example</vt:lpstr>
      <vt:lpstr>Example</vt:lpstr>
      <vt:lpstr>Example continued</vt:lpstr>
      <vt:lpstr>Formula for Contract Value (page 142)</vt:lpstr>
      <vt:lpstr>Forward Rates and Eurodollar Futures (Page 147-148)</vt:lpstr>
      <vt:lpstr>There are Two Reasons</vt:lpstr>
      <vt:lpstr>Forward Rates and Eurodollar Futures continued </vt:lpstr>
      <vt:lpstr>Convexity Adjustment when s=0.012 (Example 6.4, page147)</vt:lpstr>
      <vt:lpstr>Duration (page 148-152)</vt:lpstr>
      <vt:lpstr>Duration Continued</vt:lpstr>
      <vt:lpstr>Duration Matching</vt:lpstr>
      <vt:lpstr>Use of Eurodollar Futures</vt:lpstr>
      <vt:lpstr>Duration-Based Hedge Ratio</vt:lpstr>
      <vt:lpstr>Example (page 153-154)</vt:lpstr>
      <vt:lpstr>Limitations of Duration-Based Hedging</vt:lpstr>
      <vt:lpstr>GAP Management (Business Snapshot 6.3, page 152)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Interest Rate Futures</dc:title>
  <dc:subject>Fundamentals of Futures and Options Markets, 9e</dc:subject>
  <dc:creator>John C. Hull</dc:creator>
  <cp:keywords>Chapter 6</cp:keywords>
  <dc:description>Copyright 2016 by John C. Hull.
All rights reserved. Published 2016.</dc:description>
  <cp:lastModifiedBy>John Hull</cp:lastModifiedBy>
  <cp:revision>53</cp:revision>
  <cp:lastPrinted>1999-07-13T17:49:14Z</cp:lastPrinted>
  <dcterms:created xsi:type="dcterms:W3CDTF">1997-05-25T01:13:38Z</dcterms:created>
  <dcterms:modified xsi:type="dcterms:W3CDTF">2016-01-20T20:59:50Z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