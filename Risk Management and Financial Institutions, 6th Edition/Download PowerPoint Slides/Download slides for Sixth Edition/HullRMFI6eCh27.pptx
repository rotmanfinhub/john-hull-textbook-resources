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3"/>
  </p:notesMasterIdLst>
  <p:handoutMasterIdLst>
    <p:handoutMasterId r:id="rId24"/>
  </p:handoutMasterIdLst>
  <p:sldIdLst>
    <p:sldId id="256" r:id="rId2"/>
    <p:sldId id="353" r:id="rId3"/>
    <p:sldId id="354" r:id="rId4"/>
    <p:sldId id="355" r:id="rId5"/>
    <p:sldId id="357" r:id="rId6"/>
    <p:sldId id="388" r:id="rId7"/>
    <p:sldId id="358" r:id="rId8"/>
    <p:sldId id="360" r:id="rId9"/>
    <p:sldId id="361" r:id="rId10"/>
    <p:sldId id="362" r:id="rId11"/>
    <p:sldId id="363" r:id="rId12"/>
    <p:sldId id="365" r:id="rId13"/>
    <p:sldId id="366" r:id="rId14"/>
    <p:sldId id="371" r:id="rId15"/>
    <p:sldId id="372" r:id="rId16"/>
    <p:sldId id="373" r:id="rId17"/>
    <p:sldId id="374" r:id="rId18"/>
    <p:sldId id="375" r:id="rId19"/>
    <p:sldId id="389" r:id="rId20"/>
    <p:sldId id="377" r:id="rId21"/>
    <p:sldId id="380" r:id="rId22"/>
  </p:sldIdLst>
  <p:sldSz cx="9144000" cy="6858000" type="overhead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9" autoAdjust="0"/>
    <p:restoredTop sz="94647" autoAdjust="0"/>
  </p:normalViewPr>
  <p:slideViewPr>
    <p:cSldViewPr snapToGrid="0">
      <p:cViewPr varScale="1">
        <p:scale>
          <a:sx n="132" d="100"/>
          <a:sy n="132" d="100"/>
        </p:scale>
        <p:origin x="912" y="114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CD2B226B-2D8F-448E-BE30-0834E2F54275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3C3C2899-2A2D-4786-A7E5-E36A232E0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26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D6B317A3-3B11-4327-AD54-E2BE34BCF561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09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8D544DE1-7500-47D4-9C3D-C6EF76595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4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509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544DE1-7500-47D4-9C3D-C6EF765954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2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1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2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4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9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1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6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51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1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2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6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8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9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7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17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6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6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5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1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  <a:cs typeface="+mn-cs"/>
              </a:defRPr>
            </a:lvl1pPr>
          </a:lstStyle>
          <a:p>
            <a:r>
              <a:rPr lang="en-US"/>
              <a:t>3/31/2008</a:t>
            </a:r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  <a:cs typeface="+mn-cs"/>
              </a:defRPr>
            </a:lvl1pPr>
          </a:lstStyle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fld id="{CE0F1EE8-0DBA-4D91-B27C-248760297A9D}" type="slidenum">
              <a:rPr lang="en-US" smtClean="0"/>
              <a:t>‹#›</a:t>
            </a:fld>
            <a:endParaRPr 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2" y="152401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Fundamental Review of the Trading Book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Chapter 27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Risk Management and Financial Institutions 6e, Chapter 27,  Copyright © John C. Hull 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3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History of the Determination of Market Risk Capital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67" y="1572954"/>
            <a:ext cx="7772400" cy="4114800"/>
          </a:xfrm>
        </p:spPr>
        <p:txBody>
          <a:bodyPr/>
          <a:lstStyle/>
          <a:p>
            <a:r>
              <a:rPr lang="en-CA" sz="2800" dirty="0"/>
              <a:t>Basel I: Capital based on 10-day 99% </a:t>
            </a:r>
            <a:r>
              <a:rPr lang="en-CA" sz="2800" dirty="0" err="1"/>
              <a:t>VaR</a:t>
            </a:r>
            <a:r>
              <a:rPr lang="en-CA" sz="2800" dirty="0"/>
              <a:t> (minimum multiplier=3)</a:t>
            </a:r>
          </a:p>
          <a:p>
            <a:r>
              <a:rPr lang="en-CA" sz="2800" dirty="0"/>
              <a:t>Basel II.5: </a:t>
            </a:r>
          </a:p>
          <a:p>
            <a:pPr lvl="1"/>
            <a:r>
              <a:rPr lang="en-CA" sz="2400" dirty="0"/>
              <a:t>Capital based on 10-day 99% </a:t>
            </a:r>
            <a:r>
              <a:rPr lang="en-CA" sz="2400" dirty="0" err="1"/>
              <a:t>VaR</a:t>
            </a:r>
            <a:r>
              <a:rPr lang="en-CA" sz="2400" dirty="0"/>
              <a:t> and 10-day 99% stressed </a:t>
            </a:r>
            <a:r>
              <a:rPr lang="en-CA" sz="2400" dirty="0" err="1"/>
              <a:t>VaR</a:t>
            </a:r>
            <a:endParaRPr lang="en-CA" sz="2400" dirty="0"/>
          </a:p>
          <a:p>
            <a:pPr lvl="1"/>
            <a:r>
              <a:rPr lang="en-CA" sz="2400" dirty="0"/>
              <a:t>Incremental risk charge for credit instruments to prevent regulatory arbitrage between banking book and trading book</a:t>
            </a:r>
          </a:p>
          <a:p>
            <a:pPr lvl="1"/>
            <a:r>
              <a:rPr lang="en-CA" sz="2400" dirty="0"/>
              <a:t>Comprehensive risk measure for correlation-dependent instruments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9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FRTB Background</a:t>
            </a:r>
            <a:endParaRPr lang="en-US" altLang="en-US" dirty="0"/>
          </a:p>
        </p:txBody>
      </p:sp>
      <p:sp>
        <p:nvSpPr>
          <p:cNvPr id="95235" name="Content Placeholder 2"/>
          <p:cNvSpPr>
            <a:spLocks noGrp="1"/>
          </p:cNvSpPr>
          <p:nvPr>
            <p:ph idx="1"/>
          </p:nvPr>
        </p:nvSpPr>
        <p:spPr>
          <a:xfrm>
            <a:off x="882869" y="1718441"/>
            <a:ext cx="6591876" cy="4791897"/>
          </a:xfrm>
        </p:spPr>
        <p:txBody>
          <a:bodyPr/>
          <a:lstStyle/>
          <a:p>
            <a:r>
              <a:rPr lang="en-CA" altLang="en-US" dirty="0"/>
              <a:t>First proposed in 2012</a:t>
            </a:r>
          </a:p>
          <a:p>
            <a:r>
              <a:rPr lang="en-CA" altLang="en-US" dirty="0"/>
              <a:t>Final rules published in 2019</a:t>
            </a:r>
          </a:p>
          <a:p>
            <a:r>
              <a:rPr lang="en-CA" altLang="en-US" dirty="0"/>
              <a:t>Implementation starting in 2023</a:t>
            </a:r>
          </a:p>
        </p:txBody>
      </p:sp>
      <p:sp>
        <p:nvSpPr>
          <p:cNvPr id="952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Risk Management and Financial Institutions 6e, Chapter 27,  Copyright © John C. Hull 2023</a:t>
            </a:r>
          </a:p>
        </p:txBody>
      </p:sp>
      <p:sp>
        <p:nvSpPr>
          <p:cNvPr id="952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F8EB6B-C870-4777-97AD-62D074214BE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Use of Expected Shortfall</a:t>
            </a:r>
          </a:p>
        </p:txBody>
      </p:sp>
      <p:sp>
        <p:nvSpPr>
          <p:cNvPr id="962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z="2800" dirty="0" err="1"/>
              <a:t>VaR</a:t>
            </a:r>
            <a:r>
              <a:rPr lang="en-CA" altLang="en-US" sz="2800" dirty="0"/>
              <a:t> with a 99% confidence level is being replaced by ES with a 97.5% confidence level</a:t>
            </a:r>
          </a:p>
          <a:p>
            <a:r>
              <a:rPr lang="en-CA" altLang="en-US" sz="2800" dirty="0"/>
              <a:t>The two measures are almost exactly the same when applied to normal distributions but the second measure is higher for distributions with heavier tails than the normal distribution</a:t>
            </a:r>
          </a:p>
          <a:p>
            <a:r>
              <a:rPr lang="en-CA" altLang="en-US" sz="2800" dirty="0"/>
              <a:t>ES (97.5% confidence) to be based on a stressed period of 250 days</a:t>
            </a:r>
          </a:p>
          <a:p>
            <a:endParaRPr lang="en-CA" altLang="en-US" dirty="0"/>
          </a:p>
        </p:txBody>
      </p:sp>
      <p:sp>
        <p:nvSpPr>
          <p:cNvPr id="962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Risk Management and Financial Institutions 6e, Chapter 27,  Copyright © John C. Hull 2023</a:t>
            </a:r>
          </a:p>
        </p:txBody>
      </p:sp>
      <p:sp>
        <p:nvSpPr>
          <p:cNvPr id="962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D69C15-922E-4A66-87CC-A5EFD1147036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The Shocks to Market Variables</a:t>
            </a:r>
          </a:p>
        </p:txBody>
      </p:sp>
      <p:sp>
        <p:nvSpPr>
          <p:cNvPr id="983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The 10-day time horizon used for </a:t>
            </a:r>
            <a:r>
              <a:rPr lang="en-CA" altLang="en-US" dirty="0" err="1"/>
              <a:t>VaR</a:t>
            </a:r>
            <a:r>
              <a:rPr lang="en-CA" altLang="en-US" dirty="0"/>
              <a:t> in Basel I and Basel II.5 is being replaced by a calculation where the time horizon used for a market variable (risk factor) in ES calculations depends on its liquidity</a:t>
            </a:r>
          </a:p>
          <a:p>
            <a:r>
              <a:rPr lang="en-CA" altLang="en-US" dirty="0"/>
              <a:t>Time horizons of 10, 20, 40, 60, and 120 days are used</a:t>
            </a:r>
          </a:p>
        </p:txBody>
      </p:sp>
      <p:sp>
        <p:nvSpPr>
          <p:cNvPr id="983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Risk Management and Financial Institutions 6e, Chapter 27,  Copyright © John C. Hull 2023</a:t>
            </a:r>
          </a:p>
        </p:txBody>
      </p:sp>
      <p:sp>
        <p:nvSpPr>
          <p:cNvPr id="983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6B5105-DA80-4C29-A5FB-E005160DECA6}" type="slidenum">
              <a:rPr lang="en-US" altLang="en-US" sz="18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993228" y="315310"/>
            <a:ext cx="4871544" cy="1087821"/>
          </a:xfrm>
        </p:spPr>
        <p:txBody>
          <a:bodyPr/>
          <a:lstStyle/>
          <a:p>
            <a:pPr eaLnBrk="1" hangingPunct="1"/>
            <a:r>
              <a:rPr lang="en-CA" altLang="en-US" dirty="0">
                <a:cs typeface="Century Gothic" panose="020B0502020202020204" pitchFamily="34" charset="0"/>
              </a:rPr>
              <a:t>Examples </a:t>
            </a:r>
            <a:r>
              <a:rPr lang="en-CA" altLang="en-US" sz="2000" dirty="0">
                <a:cs typeface="Century Gothic" panose="020B0502020202020204" pitchFamily="34" charset="0"/>
              </a:rPr>
              <a:t>(Table 27.1)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407056"/>
              </p:ext>
            </p:extLst>
          </p:nvPr>
        </p:nvGraphicFramePr>
        <p:xfrm>
          <a:off x="1340068" y="1734208"/>
          <a:ext cx="5575082" cy="4240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7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54">
                <a:tc>
                  <a:txBody>
                    <a:bodyPr/>
                    <a:lstStyle/>
                    <a:p>
                      <a:r>
                        <a:rPr lang="en-CA" sz="2000" b="1" dirty="0"/>
                        <a:t>Risk Factor</a:t>
                      </a:r>
                    </a:p>
                  </a:txBody>
                  <a:tcPr marL="48578" marR="48578" marT="34310" marB="343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1" dirty="0"/>
                        <a:t>Time Horizon</a:t>
                      </a:r>
                    </a:p>
                  </a:txBody>
                  <a:tcPr marL="48578" marR="48578" marT="34310" marB="343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54">
                <a:tc>
                  <a:txBody>
                    <a:bodyPr/>
                    <a:lstStyle/>
                    <a:p>
                      <a:r>
                        <a:rPr lang="en-CA" sz="2000" dirty="0"/>
                        <a:t>Equity price (large cap)</a:t>
                      </a:r>
                    </a:p>
                  </a:txBody>
                  <a:tcPr marL="48578" marR="48578" marT="34310" marB="343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10 days</a:t>
                      </a:r>
                    </a:p>
                  </a:txBody>
                  <a:tcPr marL="48578" marR="48578" marT="34310" marB="343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54">
                <a:tc>
                  <a:txBody>
                    <a:bodyPr/>
                    <a:lstStyle/>
                    <a:p>
                      <a:r>
                        <a:rPr lang="en-CA" sz="2000" dirty="0"/>
                        <a:t>Precious metal</a:t>
                      </a:r>
                      <a:r>
                        <a:rPr lang="en-CA" sz="2000" baseline="0" dirty="0"/>
                        <a:t> price</a:t>
                      </a:r>
                      <a:endParaRPr lang="en-CA" sz="2000" dirty="0"/>
                    </a:p>
                  </a:txBody>
                  <a:tcPr marL="48578" marR="48578" marT="34310" marB="343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20 days</a:t>
                      </a:r>
                    </a:p>
                  </a:txBody>
                  <a:tcPr marL="48578" marR="48578" marT="34310" marB="3431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750">
                <a:tc>
                  <a:txBody>
                    <a:bodyPr/>
                    <a:lstStyle/>
                    <a:p>
                      <a:r>
                        <a:rPr lang="en-CA" sz="2000" dirty="0"/>
                        <a:t>Credit</a:t>
                      </a:r>
                      <a:r>
                        <a:rPr lang="en-CA" sz="2000" baseline="0" dirty="0"/>
                        <a:t> spread corporate (investment grade)</a:t>
                      </a:r>
                      <a:endParaRPr lang="en-CA" sz="2000" dirty="0"/>
                    </a:p>
                  </a:txBody>
                  <a:tcPr marL="48578" marR="48578" marT="34310" marB="343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40 days</a:t>
                      </a:r>
                    </a:p>
                  </a:txBody>
                  <a:tcPr marL="48578" marR="48578" marT="34310" marB="3431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54">
                <a:tc>
                  <a:txBody>
                    <a:bodyPr/>
                    <a:lstStyle/>
                    <a:p>
                      <a:r>
                        <a:rPr lang="en-CA" sz="2000" dirty="0"/>
                        <a:t>Interest rate volatility</a:t>
                      </a:r>
                    </a:p>
                  </a:txBody>
                  <a:tcPr marL="48578" marR="48578" marT="34310" marB="343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60 days</a:t>
                      </a:r>
                    </a:p>
                  </a:txBody>
                  <a:tcPr marL="48578" marR="48578" marT="34310" marB="3431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5552">
                <a:tc>
                  <a:txBody>
                    <a:bodyPr/>
                    <a:lstStyle/>
                    <a:p>
                      <a:r>
                        <a:rPr lang="en-CA" sz="2000" dirty="0"/>
                        <a:t>Credit spread volatility</a:t>
                      </a:r>
                    </a:p>
                  </a:txBody>
                  <a:tcPr marL="48578" marR="48578" marT="34310" marB="3431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dirty="0"/>
                        <a:t>120 days</a:t>
                      </a:r>
                    </a:p>
                  </a:txBody>
                  <a:tcPr marL="48578" marR="48578" marT="34310" marB="3431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Calculations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Standardized approach</a:t>
            </a:r>
          </a:p>
          <a:p>
            <a:r>
              <a:rPr lang="en-CA" dirty="0"/>
              <a:t>Internal models approach</a:t>
            </a:r>
          </a:p>
          <a:p>
            <a:pPr marL="0" indent="0">
              <a:buNone/>
            </a:pPr>
            <a:r>
              <a:rPr lang="en-CA" dirty="0"/>
              <a:t>Banks must provide results for both approaches if they have been approved for the internal models approach.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2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 dirty="0"/>
              <a:t>Standardized Approach </a:t>
            </a:r>
            <a:r>
              <a:rPr lang="en-CA" sz="2000" dirty="0"/>
              <a:t>(Section 27.2)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719263"/>
            <a:ext cx="8450317" cy="4411662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Sum of:</a:t>
            </a:r>
          </a:p>
          <a:p>
            <a:r>
              <a:rPr lang="en-CA" sz="3000" dirty="0"/>
              <a:t>A risk charge based on weighted sensitivities, which is sum of</a:t>
            </a:r>
            <a:r>
              <a:rPr lang="en-US" sz="3000" dirty="0"/>
              <a:t> </a:t>
            </a:r>
          </a:p>
          <a:p>
            <a:pPr lvl="1"/>
            <a:r>
              <a:rPr lang="en-CA" dirty="0"/>
              <a:t>Delta measure</a:t>
            </a:r>
          </a:p>
          <a:p>
            <a:pPr lvl="1"/>
            <a:r>
              <a:rPr lang="en-CA" dirty="0"/>
              <a:t>Vega measure</a:t>
            </a:r>
          </a:p>
          <a:p>
            <a:pPr lvl="1"/>
            <a:r>
              <a:rPr lang="en-CA" dirty="0"/>
              <a:t>Curvature measure</a:t>
            </a:r>
            <a:endParaRPr lang="en-US" dirty="0"/>
          </a:p>
          <a:p>
            <a:r>
              <a:rPr lang="en-CA" dirty="0"/>
              <a:t>A default risk charge</a:t>
            </a:r>
          </a:p>
          <a:p>
            <a:r>
              <a:rPr lang="en-CA" dirty="0"/>
              <a:t>A residual risk add on</a:t>
            </a:r>
            <a:endParaRPr lang="en-US" dirty="0"/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5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126" y="378482"/>
            <a:ext cx="7772400" cy="1143000"/>
          </a:xfrm>
        </p:spPr>
        <p:txBody>
          <a:bodyPr/>
          <a:lstStyle/>
          <a:p>
            <a:r>
              <a:rPr lang="en-CA" dirty="0"/>
              <a:t>Delta and Vega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1482"/>
            <a:ext cx="7772400" cy="4114800"/>
          </a:xfrm>
        </p:spPr>
        <p:txBody>
          <a:bodyPr/>
          <a:lstStyle/>
          <a:p>
            <a:r>
              <a:rPr lang="en-CA" sz="2200" dirty="0"/>
              <a:t>Capital charge has the form</a:t>
            </a:r>
          </a:p>
          <a:p>
            <a:pPr marL="0" indent="0">
              <a:buNone/>
            </a:pPr>
            <a:endParaRPr lang="en-CA" sz="2200" dirty="0"/>
          </a:p>
          <a:p>
            <a:endParaRPr lang="en-CA" sz="2200" dirty="0"/>
          </a:p>
          <a:p>
            <a:r>
              <a:rPr lang="en-CA" sz="2200" dirty="0"/>
              <a:t>The weights</a:t>
            </a:r>
            <a:r>
              <a:rPr lang="en-CA" sz="2200" i="1" dirty="0">
                <a:latin typeface="+mj-lt"/>
              </a:rPr>
              <a:t> W</a:t>
            </a:r>
            <a:r>
              <a:rPr lang="en-CA" sz="2200" i="1" baseline="-25000" dirty="0">
                <a:latin typeface="+mj-lt"/>
              </a:rPr>
              <a:t>i</a:t>
            </a:r>
            <a:r>
              <a:rPr lang="en-CA" sz="2200" i="1" dirty="0">
                <a:latin typeface="+mj-lt"/>
              </a:rPr>
              <a:t> </a:t>
            </a:r>
            <a:r>
              <a:rPr lang="en-CA" sz="2200" dirty="0"/>
              <a:t>and correlations </a:t>
            </a:r>
            <a:r>
              <a:rPr lang="en-CA" sz="2200" dirty="0" err="1">
                <a:latin typeface="Symbol" panose="05050102010706020507" pitchFamily="18" charset="2"/>
              </a:rPr>
              <a:t>r</a:t>
            </a:r>
            <a:r>
              <a:rPr lang="en-CA" sz="2200" i="1" baseline="-25000" dirty="0" err="1">
                <a:latin typeface="+mj-lt"/>
              </a:rPr>
              <a:t>ij</a:t>
            </a:r>
            <a:r>
              <a:rPr lang="en-CA" sz="2200" dirty="0"/>
              <a:t> are set by Basel. The “deltas” are determined by the bank.</a:t>
            </a:r>
          </a:p>
          <a:p>
            <a:r>
              <a:rPr lang="en-CA" sz="2200" dirty="0"/>
              <a:t>The weights are standard deviations or volatilities of daily changes in stressed markets multiplied by a factor to give confidence level over the liquidity horizon</a:t>
            </a:r>
          </a:p>
          <a:p>
            <a:r>
              <a:rPr lang="en-US" sz="2200" dirty="0"/>
              <a:t>Example: If daily volatility is 2% and liquidity horizon is 20 days, risk weight might be estimated as </a:t>
            </a:r>
            <a:endParaRPr lang="en-CA" sz="2200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679933"/>
              </p:ext>
            </p:extLst>
          </p:nvPr>
        </p:nvGraphicFramePr>
        <p:xfrm>
          <a:off x="2706137" y="1812058"/>
          <a:ext cx="2691363" cy="931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231560" imgH="495000" progId="Equation.3">
                  <p:embed/>
                </p:oleObj>
              </mc:Choice>
              <mc:Fallback>
                <p:oleObj name="Equation" r:id="rId3" imgW="1231560" imgH="495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6137" y="1812058"/>
                        <a:ext cx="2691363" cy="931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800425"/>
              </p:ext>
            </p:extLst>
          </p:nvPr>
        </p:nvGraphicFramePr>
        <p:xfrm>
          <a:off x="2467459" y="5361140"/>
          <a:ext cx="4085741" cy="565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650960" imgH="228600" progId="Equation.3">
                  <p:embed/>
                </p:oleObj>
              </mc:Choice>
              <mc:Fallback>
                <p:oleObj name="Equation" r:id="rId5" imgW="165096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67459" y="5361140"/>
                        <a:ext cx="4085741" cy="565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523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903" y="469079"/>
            <a:ext cx="7543800" cy="1295400"/>
          </a:xfrm>
        </p:spPr>
        <p:txBody>
          <a:bodyPr/>
          <a:lstStyle/>
          <a:p>
            <a:r>
              <a:rPr lang="en-CA" dirty="0"/>
              <a:t>Weighted Sensitivities: Curvature Risk Charge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35" y="1395248"/>
            <a:ext cx="7772400" cy="4114800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r>
              <a:rPr lang="en-CA" sz="2400" dirty="0"/>
              <a:t>Banks test the effect of making changes equal to </a:t>
            </a:r>
            <a:r>
              <a:rPr lang="en-CA" sz="2400" i="1" dirty="0">
                <a:latin typeface="+mj-lt"/>
              </a:rPr>
              <a:t>W</a:t>
            </a:r>
            <a:r>
              <a:rPr lang="en-CA" sz="2400" i="1" baseline="-25000" dirty="0">
                <a:latin typeface="+mj-lt"/>
              </a:rPr>
              <a:t>i</a:t>
            </a:r>
            <a:r>
              <a:rPr lang="en-CA" sz="2400" dirty="0"/>
              <a:t>  to the risk factors</a:t>
            </a:r>
          </a:p>
          <a:p>
            <a:r>
              <a:rPr lang="en-CA" sz="2400" dirty="0"/>
              <a:t>They take out the delta effect to determine an incremental curvature effect </a:t>
            </a:r>
          </a:p>
          <a:p>
            <a:r>
              <a:rPr lang="en-CA" sz="2400" dirty="0"/>
              <a:t>Some diversification taken into account when curvatures are aggregated</a:t>
            </a:r>
          </a:p>
          <a:p>
            <a:r>
              <a:rPr lang="en-CA" sz="2400" dirty="0"/>
              <a:t>Positive curvature effects are counted as zero</a:t>
            </a:r>
          </a:p>
          <a:p>
            <a:r>
              <a:rPr lang="en-CA" sz="2400" dirty="0"/>
              <a:t>When there is a term structure the curvature risk charge is determined by making a single parallel shift</a:t>
            </a:r>
          </a:p>
          <a:p>
            <a:endParaRPr lang="en-CA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7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Curvature Risk Charge 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0" y="2149475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CA" sz="1400" dirty="0"/>
              <a:t> </a:t>
            </a:r>
            <a:endParaRPr lang="en-US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11</a:t>
            </a:fld>
            <a:endParaRPr 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4988"/>
            <a:ext cx="9002110" cy="368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88276" y="5490125"/>
            <a:ext cx="2916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Curvature risk charge = 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8124" y="5490125"/>
            <a:ext cx="316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 curvature risk charge</a:t>
            </a:r>
          </a:p>
        </p:txBody>
      </p:sp>
    </p:spTree>
    <p:extLst>
      <p:ext uri="{BB962C8B-B14F-4D97-AF65-F5344CB8AC3E}">
        <p14:creationId xmlns:p14="http://schemas.microsoft.com/office/powerpoint/2010/main" val="77453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Default Risk Charge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Credit spreads are handled using the delta/</a:t>
            </a:r>
            <a:r>
              <a:rPr lang="en-CA" sz="2800" dirty="0" err="1"/>
              <a:t>vega</a:t>
            </a:r>
            <a:r>
              <a:rPr lang="en-CA" sz="2800" dirty="0"/>
              <a:t>/curvature calculations</a:t>
            </a:r>
          </a:p>
          <a:p>
            <a:r>
              <a:rPr lang="en-CA" sz="2800" dirty="0"/>
              <a:t>Jump to default handled by a separate default risk charge</a:t>
            </a:r>
          </a:p>
          <a:p>
            <a:r>
              <a:rPr lang="en-CA" sz="2800" dirty="0"/>
              <a:t>Multiply each net exposure by loss given default and a default weight (both specified by Basel)</a:t>
            </a:r>
          </a:p>
          <a:p>
            <a:r>
              <a:rPr lang="en-CA" sz="2800" dirty="0"/>
              <a:t>Example: LGD for senior debt is 75%, and default weight for A-rated counterparty is 3%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0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Residual Risk Add 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Considers risks not well handled by the delta/gamma/curvature approach (e.g. exotics)</a:t>
            </a:r>
          </a:p>
          <a:p>
            <a:r>
              <a:rPr lang="en-CA" dirty="0"/>
              <a:t>Notional amount is multiplied by a risk weight (1% for exotics)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60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Internal Models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altLang="en-US" dirty="0"/>
              <a:t>Calculation is to be based on overlapping 10-day periods and five ES calculations:</a:t>
            </a:r>
          </a:p>
          <a:p>
            <a:pPr lvl="1">
              <a:defRPr/>
            </a:pPr>
            <a:r>
              <a:rPr lang="en-CA" altLang="en-US" sz="2200" dirty="0"/>
              <a:t>All variable changed (ES</a:t>
            </a:r>
            <a:r>
              <a:rPr lang="en-CA" altLang="en-US" sz="2200" baseline="-25000" dirty="0"/>
              <a:t>1</a:t>
            </a:r>
            <a:r>
              <a:rPr lang="en-CA" altLang="en-US" sz="2200" dirty="0"/>
              <a:t>)</a:t>
            </a:r>
          </a:p>
          <a:p>
            <a:pPr lvl="1">
              <a:defRPr/>
            </a:pPr>
            <a:r>
              <a:rPr lang="en-CA" altLang="en-US" sz="2200" dirty="0"/>
              <a:t>All variable except those with a time horizon of 10 days are changed (ES</a:t>
            </a:r>
            <a:r>
              <a:rPr lang="en-CA" altLang="en-US" sz="2200" baseline="-25000" dirty="0"/>
              <a:t>2</a:t>
            </a:r>
            <a:r>
              <a:rPr lang="en-CA" altLang="en-US" sz="2200" dirty="0"/>
              <a:t>)</a:t>
            </a:r>
          </a:p>
          <a:p>
            <a:pPr lvl="1">
              <a:defRPr/>
            </a:pPr>
            <a:r>
              <a:rPr lang="en-CA" altLang="en-US" sz="2200" dirty="0"/>
              <a:t>All variables except those with time horizons of 10 and 20 days are changed (ES</a:t>
            </a:r>
            <a:r>
              <a:rPr lang="en-CA" altLang="en-US" sz="2200" baseline="-25000" dirty="0"/>
              <a:t>3</a:t>
            </a:r>
            <a:r>
              <a:rPr lang="en-CA" altLang="en-US" sz="2200" dirty="0"/>
              <a:t>)</a:t>
            </a:r>
          </a:p>
          <a:p>
            <a:pPr lvl="1">
              <a:defRPr/>
            </a:pPr>
            <a:r>
              <a:rPr lang="en-CA" altLang="en-US" sz="2200" dirty="0"/>
              <a:t>All variables except those with time horizons of 10, 20, and 40 days are changed (ES</a:t>
            </a:r>
            <a:r>
              <a:rPr lang="en-CA" altLang="en-US" sz="2200" baseline="-25000" dirty="0"/>
              <a:t>4</a:t>
            </a:r>
            <a:r>
              <a:rPr lang="en-CA" altLang="en-US" sz="2200" dirty="0"/>
              <a:t>)</a:t>
            </a:r>
          </a:p>
          <a:p>
            <a:pPr lvl="1">
              <a:defRPr/>
            </a:pPr>
            <a:r>
              <a:rPr lang="en-CA" altLang="en-US" sz="2200" dirty="0"/>
              <a:t>All variables except those with time horizons of 10, 20, 40, and 60 days are changed (ES</a:t>
            </a:r>
            <a:r>
              <a:rPr lang="en-CA" altLang="en-US" sz="2200" baseline="-25000" dirty="0"/>
              <a:t>5</a:t>
            </a:r>
            <a:r>
              <a:rPr lang="en-CA" altLang="en-US" sz="2200" dirty="0"/>
              <a:t>)</a:t>
            </a:r>
          </a:p>
          <a:p>
            <a:pPr lvl="1">
              <a:defRPr/>
            </a:pPr>
            <a:endParaRPr lang="en-CA" altLang="en-US" dirty="0"/>
          </a:p>
          <a:p>
            <a:pPr lvl="1">
              <a:defRPr/>
            </a:pPr>
            <a:endParaRPr lang="en-CA" alt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02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Calculation </a:t>
            </a:r>
            <a:r>
              <a:rPr lang="en-CA" altLang="en-US" sz="2600" dirty="0"/>
              <a:t>continued</a:t>
            </a:r>
          </a:p>
        </p:txBody>
      </p:sp>
      <p:graphicFrame>
        <p:nvGraphicFramePr>
          <p:cNvPr id="11267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579719"/>
              </p:ext>
            </p:extLst>
          </p:nvPr>
        </p:nvGraphicFramePr>
        <p:xfrm>
          <a:off x="1529256" y="1663371"/>
          <a:ext cx="5202620" cy="141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400300" imgH="609600" progId="Equation.DSMT4">
                  <p:embed/>
                </p:oleObj>
              </mc:Choice>
              <mc:Fallback>
                <p:oleObj name="Equation" r:id="rId3" imgW="2400300" imgH="6096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256" y="1663371"/>
                        <a:ext cx="5202620" cy="1414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27,  Copyright © John C. Hull 2023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5769F7-FE81-454B-BD41-09CE7D000D2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  <p:sp>
        <p:nvSpPr>
          <p:cNvPr id="7" name="TextBox 6"/>
          <p:cNvSpPr txBox="1"/>
          <p:nvPr/>
        </p:nvSpPr>
        <p:spPr>
          <a:xfrm>
            <a:off x="1245476" y="3578772"/>
            <a:ext cx="5813741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CA" sz="2800" dirty="0">
                <a:latin typeface="Arial" charset="0"/>
                <a:cs typeface="Arial" charset="0"/>
              </a:rPr>
              <a:t>where </a:t>
            </a:r>
            <a:r>
              <a:rPr lang="en-CA" sz="2800" dirty="0" err="1">
                <a:latin typeface="+mj-lt"/>
                <a:cs typeface="Arial" charset="0"/>
              </a:rPr>
              <a:t>LH</a:t>
            </a:r>
            <a:r>
              <a:rPr lang="en-CA" sz="2800" i="1" baseline="-25000" dirty="0" err="1">
                <a:latin typeface="+mj-lt"/>
                <a:cs typeface="Arial" charset="0"/>
              </a:rPr>
              <a:t>j</a:t>
            </a:r>
            <a:r>
              <a:rPr lang="en-CA" sz="2800" dirty="0">
                <a:latin typeface="Arial" charset="0"/>
                <a:cs typeface="Arial" charset="0"/>
              </a:rPr>
              <a:t> is the liquidity horizon in days  for the </a:t>
            </a:r>
            <a:r>
              <a:rPr lang="en-CA" sz="2800" i="1" dirty="0" err="1">
                <a:latin typeface="+mj-lt"/>
                <a:cs typeface="Arial" charset="0"/>
              </a:rPr>
              <a:t>j</a:t>
            </a:r>
            <a:r>
              <a:rPr lang="en-CA" sz="2800" dirty="0" err="1">
                <a:latin typeface="Arial" charset="0"/>
                <a:cs typeface="Arial" charset="0"/>
              </a:rPr>
              <a:t>th</a:t>
            </a:r>
            <a:r>
              <a:rPr lang="en-CA" sz="2800" dirty="0">
                <a:latin typeface="Arial" charset="0"/>
                <a:cs typeface="Arial" charset="0"/>
              </a:rPr>
              <a:t> category so that</a:t>
            </a:r>
          </a:p>
          <a:p>
            <a:pPr>
              <a:spcBef>
                <a:spcPts val="1800"/>
              </a:spcBef>
              <a:defRPr/>
            </a:pPr>
            <a:r>
              <a:rPr lang="en-CA" sz="2800" dirty="0">
                <a:latin typeface="+mj-lt"/>
                <a:cs typeface="Arial" charset="0"/>
              </a:rPr>
              <a:t>LH</a:t>
            </a:r>
            <a:r>
              <a:rPr lang="en-CA" sz="2800" baseline="-25000" dirty="0">
                <a:latin typeface="+mj-lt"/>
                <a:cs typeface="Arial" charset="0"/>
              </a:rPr>
              <a:t>1</a:t>
            </a:r>
            <a:r>
              <a:rPr lang="en-CA" sz="2800" dirty="0">
                <a:latin typeface="+mj-lt"/>
                <a:cs typeface="Arial" charset="0"/>
              </a:rPr>
              <a:t>=10, LH</a:t>
            </a:r>
            <a:r>
              <a:rPr lang="en-CA" sz="2800" baseline="-25000" dirty="0">
                <a:latin typeface="+mj-lt"/>
                <a:cs typeface="Arial" charset="0"/>
              </a:rPr>
              <a:t>2</a:t>
            </a:r>
            <a:r>
              <a:rPr lang="en-CA" sz="2800" dirty="0">
                <a:latin typeface="+mj-lt"/>
                <a:cs typeface="Arial" charset="0"/>
              </a:rPr>
              <a:t>=20, LH</a:t>
            </a:r>
            <a:r>
              <a:rPr lang="en-CA" sz="2800" baseline="-25000" dirty="0">
                <a:latin typeface="+mj-lt"/>
                <a:cs typeface="Arial" charset="0"/>
              </a:rPr>
              <a:t>3</a:t>
            </a:r>
            <a:r>
              <a:rPr lang="en-CA" sz="2800" dirty="0">
                <a:latin typeface="+mj-lt"/>
                <a:cs typeface="Arial" charset="0"/>
              </a:rPr>
              <a:t>=40, LH</a:t>
            </a:r>
            <a:r>
              <a:rPr lang="en-CA" sz="2800" baseline="-25000" dirty="0">
                <a:latin typeface="+mj-lt"/>
                <a:cs typeface="Arial" charset="0"/>
              </a:rPr>
              <a:t>4</a:t>
            </a:r>
            <a:r>
              <a:rPr lang="en-CA" sz="2800" dirty="0">
                <a:latin typeface="+mj-lt"/>
                <a:cs typeface="Arial" charset="0"/>
              </a:rPr>
              <a:t>=60, and LH</a:t>
            </a:r>
            <a:r>
              <a:rPr lang="en-CA" sz="2800" baseline="-25000" dirty="0">
                <a:latin typeface="+mj-lt"/>
                <a:cs typeface="Arial" charset="0"/>
              </a:rPr>
              <a:t>5</a:t>
            </a:r>
            <a:r>
              <a:rPr lang="en-CA" sz="2800" dirty="0">
                <a:latin typeface="+mj-lt"/>
                <a:cs typeface="Arial" charset="0"/>
              </a:rPr>
              <a:t>=120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Components of the Final ES</a:t>
            </a:r>
            <a:endParaRPr lang="en-US" altLang="en-US"/>
          </a:p>
        </p:txBody>
      </p:sp>
      <p:sp>
        <p:nvSpPr>
          <p:cNvPr id="12291" name="Content Placeholder 6"/>
          <p:cNvSpPr>
            <a:spLocks noGrp="1"/>
          </p:cNvSpPr>
          <p:nvPr>
            <p:ph idx="1"/>
          </p:nvPr>
        </p:nvSpPr>
        <p:spPr>
          <a:xfrm>
            <a:off x="1393031" y="1833565"/>
            <a:ext cx="5630467" cy="3995737"/>
          </a:xfrm>
        </p:spPr>
        <p:txBody>
          <a:bodyPr/>
          <a:lstStyle/>
          <a:p>
            <a:pPr marL="0" indent="0">
              <a:buNone/>
            </a:pPr>
            <a:r>
              <a:rPr lang="en-CA" altLang="en-US" sz="2400"/>
              <a:t>                                                                                      </a:t>
            </a:r>
            <a:endParaRPr lang="en-US" altLang="en-US" sz="2400"/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27,  Copyright © John C. Hull 2023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1932974-4A4E-4FA3-B843-FB8194B4AFE4}" type="slidenum">
              <a:rPr lang="en-US" altLang="en-US"/>
              <a:pPr/>
              <a:t>16</a:t>
            </a:fld>
            <a:endParaRPr lang="en-US" altLang="en-US"/>
          </a:p>
        </p:txBody>
      </p:sp>
      <p:graphicFrame>
        <p:nvGraphicFramePr>
          <p:cNvPr id="122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84425"/>
              </p:ext>
            </p:extLst>
          </p:nvPr>
        </p:nvGraphicFramePr>
        <p:xfrm>
          <a:off x="717550" y="1676400"/>
          <a:ext cx="7078663" cy="383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3797280" imgH="2234880" progId="Equation.DSMT4">
                  <p:embed/>
                </p:oleObj>
              </mc:Choice>
              <mc:Fallback>
                <p:oleObj name="Equation" r:id="rId3" imgW="3797280" imgH="223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1676400"/>
                        <a:ext cx="7078663" cy="38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Aggregating Components</a:t>
            </a:r>
            <a:endParaRPr lang="en-US" alt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Assume that changes in one period are independent of change other period</a:t>
            </a:r>
          </a:p>
          <a:p>
            <a:r>
              <a:rPr lang="en-CA" altLang="en-US" dirty="0"/>
              <a:t>An approximation to the total ES that we are interested is then obtained by taking the square root of the sum of the squares of the component ESs</a:t>
            </a:r>
            <a:endParaRPr lang="en-US" altLang="en-US" dirty="0"/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27,  Copyright © John C. Hull 2023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9BADEC-DCC7-45CA-ACB3-6F72B99002B2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16433" y="137896"/>
            <a:ext cx="5829300" cy="1143000"/>
          </a:xfrm>
        </p:spPr>
        <p:txBody>
          <a:bodyPr/>
          <a:lstStyle/>
          <a:p>
            <a:r>
              <a:rPr lang="en-CA" altLang="en-US" dirty="0"/>
              <a:t>Other Details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51338" y="1524001"/>
            <a:ext cx="7394028" cy="4411663"/>
          </a:xfrm>
        </p:spPr>
        <p:txBody>
          <a:bodyPr/>
          <a:lstStyle/>
          <a:p>
            <a:r>
              <a:rPr lang="en-CA" altLang="en-US" sz="2400" dirty="0"/>
              <a:t>Calculations based on stressed periods</a:t>
            </a:r>
          </a:p>
          <a:p>
            <a:r>
              <a:rPr lang="en-CA" altLang="en-US" sz="2400" dirty="0"/>
              <a:t>Search for stressed periods can  involve a subset of market variables providing these account for 75% of the current ES</a:t>
            </a:r>
          </a:p>
          <a:p>
            <a:r>
              <a:rPr lang="en-CA" altLang="en-US" sz="2400" dirty="0"/>
              <a:t>Partial ESs must be calculated for risk classes. Capital under the internal models approach is a multiplier of the weighted average of a) the total ES and b) the sum of the partial ESs</a:t>
            </a:r>
          </a:p>
          <a:p>
            <a:r>
              <a:rPr lang="en-CA" altLang="en-US" sz="2400" dirty="0"/>
              <a:t>Current one-day </a:t>
            </a:r>
            <a:r>
              <a:rPr lang="en-CA" altLang="en-US" sz="2400" dirty="0" err="1"/>
              <a:t>VaR</a:t>
            </a:r>
            <a:r>
              <a:rPr lang="en-CA" altLang="en-US" sz="2400" dirty="0"/>
              <a:t> (99% and 97.5% confidence levels) are </a:t>
            </a:r>
            <a:r>
              <a:rPr lang="en-CA" altLang="en-US" sz="2400" dirty="0" err="1"/>
              <a:t>backtested</a:t>
            </a:r>
            <a:endParaRPr lang="en-CA" altLang="en-US" sz="2400" dirty="0"/>
          </a:p>
          <a:p>
            <a:r>
              <a:rPr lang="en-CA" altLang="en-US" sz="2400" dirty="0"/>
              <a:t>P&amp;L attribution tests must be carried out </a:t>
            </a:r>
          </a:p>
          <a:p>
            <a:pPr marL="0" indent="0">
              <a:buNone/>
            </a:pPr>
            <a:endParaRPr lang="en-CA" altLang="en-US" dirty="0"/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27,  Copyright © John C. Hull 2023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11B6C8-A165-4244-B43B-A5CD034D64E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Details </a:t>
            </a:r>
            <a:r>
              <a:rPr lang="en-CA" sz="32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0528"/>
            <a:ext cx="8229600" cy="4411662"/>
          </a:xfrm>
        </p:spPr>
        <p:txBody>
          <a:bodyPr/>
          <a:lstStyle/>
          <a:p>
            <a:r>
              <a:rPr lang="en-CA" sz="2800" dirty="0"/>
              <a:t>Standardized approach must be used if number of exceptions is greater than 12 at 99% confidence or 30 at 97.5% confidence </a:t>
            </a:r>
          </a:p>
          <a:p>
            <a:r>
              <a:rPr lang="en-CA" sz="2800" dirty="0"/>
              <a:t>P&amp;L attribution tests based on:</a:t>
            </a:r>
          </a:p>
          <a:p>
            <a:pPr lvl="1"/>
            <a:r>
              <a:rPr lang="en-CA" sz="2400" dirty="0"/>
              <a:t>(Mean unexplained by model)/(SD of daily change)…should be between -10% and +10%</a:t>
            </a:r>
          </a:p>
          <a:p>
            <a:pPr lvl="1"/>
            <a:r>
              <a:rPr lang="en-CA" sz="2400" dirty="0"/>
              <a:t>(Variance unexplained by model)/(variance of daily change)…should be less than 20%</a:t>
            </a:r>
          </a:p>
          <a:p>
            <a:r>
              <a:rPr lang="en-CA" sz="2800" dirty="0"/>
              <a:t>Special rules for “non-</a:t>
            </a:r>
            <a:r>
              <a:rPr lang="en-CA" sz="2800" dirty="0" err="1"/>
              <a:t>modelable</a:t>
            </a:r>
            <a:r>
              <a:rPr lang="en-CA" sz="2800" dirty="0"/>
              <a:t>” risk factors involving stress tests</a:t>
            </a:r>
          </a:p>
          <a:p>
            <a:pPr marL="457200" lvl="1" indent="0">
              <a:buNone/>
            </a:pPr>
            <a:endParaRPr lang="en-CA" dirty="0"/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Risk Management and Financial Institutions 6e, Chapter 27,  Copyright © John C. Hull 2023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F1EE8-0DBA-4D91-B27C-248760297A9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80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228600" y="655637"/>
            <a:ext cx="7772400" cy="1143000"/>
          </a:xfrm>
        </p:spPr>
        <p:txBody>
          <a:bodyPr/>
          <a:lstStyle/>
          <a:p>
            <a:r>
              <a:rPr lang="en-CA" altLang="en-US" dirty="0"/>
              <a:t>Internal Models Approach: Credit Trades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28601" y="1874839"/>
            <a:ext cx="7277100" cy="4411663"/>
          </a:xfrm>
        </p:spPr>
        <p:txBody>
          <a:bodyPr/>
          <a:lstStyle/>
          <a:p>
            <a:r>
              <a:rPr lang="en-CA" altLang="en-US" sz="3200" dirty="0"/>
              <a:t>Jump to default risk is handled similarly to Basel II with capital based on one-year 99.9% </a:t>
            </a:r>
            <a:r>
              <a:rPr lang="en-CA" altLang="en-US" sz="3200" dirty="0" err="1"/>
              <a:t>VaR</a:t>
            </a:r>
            <a:endParaRPr lang="en-CA" altLang="en-US" sz="3200" dirty="0"/>
          </a:p>
          <a:p>
            <a:r>
              <a:rPr lang="en-CA" altLang="en-US" sz="3200" dirty="0"/>
              <a:t>Spread risk is handled along side other market risks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27,  Copyright © John C. Hull 2023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F89B1F-8043-430B-B931-F8EECC824E7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Trading Book vs. Banking Book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FRTB makes the distinction between the trading book and the banking book clearer (to avoid arbitrage)</a:t>
            </a:r>
          </a:p>
          <a:p>
            <a:r>
              <a:rPr lang="en-CA" altLang="en-US" dirty="0"/>
              <a:t>It has rules covering the (very rare) situations when instruments can be moved from one book to another (There is no capital advantage to the bank when this happens)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Risk Management and Financial Institutions 6e, Chapter 27,  Copyright © John C. Hull 2023</a:t>
            </a:r>
            <a:endParaRPr lang="en-US" dirty="0"/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B087AE-9306-4874-9C1A-2E7E0F178B5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07">
  <a:themeElements>
    <a:clrScheme name="HullRMFICh07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7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7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7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7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B8C5A8-AC47-4E98-B833-6E950AA2DCDE}"/>
</file>

<file path=customXml/itemProps2.xml><?xml version="1.0" encoding="utf-8"?>
<ds:datastoreItem xmlns:ds="http://schemas.openxmlformats.org/officeDocument/2006/customXml" ds:itemID="{7D3DFC2F-6201-4D9C-A967-183B8FD47DC0}"/>
</file>

<file path=customXml/itemProps3.xml><?xml version="1.0" encoding="utf-8"?>
<ds:datastoreItem xmlns:ds="http://schemas.openxmlformats.org/officeDocument/2006/customXml" ds:itemID="{2BE59CE3-B25D-494E-BCB9-119F2726ED5E}"/>
</file>

<file path=docProps/app.xml><?xml version="1.0" encoding="utf-8"?>
<Properties xmlns="http://schemas.openxmlformats.org/officeDocument/2006/extended-properties" xmlns:vt="http://schemas.openxmlformats.org/officeDocument/2006/docPropsVTypes">
  <Template>HullRMFI5eCh17</Template>
  <TotalTime>641</TotalTime>
  <Words>1384</Words>
  <Application>Microsoft Office PowerPoint</Application>
  <PresentationFormat>Overhead</PresentationFormat>
  <Paragraphs>150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Wingdings</vt:lpstr>
      <vt:lpstr>HullRMFICh07</vt:lpstr>
      <vt:lpstr>Equation</vt:lpstr>
      <vt:lpstr>Fundamental Review of the Trading Book</vt:lpstr>
      <vt:lpstr>History of the Determination of Market Risk Capital</vt:lpstr>
      <vt:lpstr>FRTB Background</vt:lpstr>
      <vt:lpstr>Use of Expected Shortfall</vt:lpstr>
      <vt:lpstr>The Shocks to Market Variables</vt:lpstr>
      <vt:lpstr>Examples (Table 27.1)</vt:lpstr>
      <vt:lpstr>Calculations</vt:lpstr>
      <vt:lpstr>Standardized Approach (Section 27.2)</vt:lpstr>
      <vt:lpstr>Delta and Vega</vt:lpstr>
      <vt:lpstr>Weighted Sensitivities: Curvature Risk Charge</vt:lpstr>
      <vt:lpstr>Curvature Risk Charge Calculation</vt:lpstr>
      <vt:lpstr>Default Risk Charge</vt:lpstr>
      <vt:lpstr>Residual Risk Add On</vt:lpstr>
      <vt:lpstr>The Internal Models Approach</vt:lpstr>
      <vt:lpstr>Calculation continued</vt:lpstr>
      <vt:lpstr>Components of the Final ES</vt:lpstr>
      <vt:lpstr>Aggregating Components</vt:lpstr>
      <vt:lpstr>Other Details</vt:lpstr>
      <vt:lpstr>Other Details continued</vt:lpstr>
      <vt:lpstr>Internal Models Approach: Credit Trades</vt:lpstr>
      <vt:lpstr>Trading Book vs. Banking Book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Review of the Trading Book</dc:title>
  <dc:subject>Chapter 18</dc:subject>
  <dc:creator>John Hull</dc:creator>
  <cp:keywords>5th edition</cp:keywords>
  <dc:description>Copyright 2018 by John Hull._x000d_
All rights reserved.</dc:description>
  <cp:lastModifiedBy>John Hull</cp:lastModifiedBy>
  <cp:revision>55</cp:revision>
  <cp:lastPrinted>2017-05-19T18:43:15Z</cp:lastPrinted>
  <dcterms:created xsi:type="dcterms:W3CDTF">2017-05-17T15:46:40Z</dcterms:created>
  <dcterms:modified xsi:type="dcterms:W3CDTF">2022-12-01T21:48:07Z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