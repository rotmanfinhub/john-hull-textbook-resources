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4" r:id="rId1"/>
  </p:sldMasterIdLst>
  <p:notesMasterIdLst>
    <p:notesMasterId r:id="rId12"/>
  </p:notesMasterIdLst>
  <p:handoutMasterIdLst>
    <p:handoutMasterId r:id="rId13"/>
  </p:handoutMasterIdLst>
  <p:sldIdLst>
    <p:sldId id="256" r:id="rId2"/>
    <p:sldId id="257" r:id="rId3"/>
    <p:sldId id="259" r:id="rId4"/>
    <p:sldId id="258" r:id="rId5"/>
    <p:sldId id="260" r:id="rId6"/>
    <p:sldId id="261" r:id="rId7"/>
    <p:sldId id="262" r:id="rId8"/>
    <p:sldId id="263" r:id="rId9"/>
    <p:sldId id="264" r:id="rId10"/>
    <p:sldId id="265" r:id="rId11"/>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32" d="100"/>
          <a:sy n="132" d="100"/>
        </p:scale>
        <p:origin x="936"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1" d="100"/>
          <a:sy n="81" d="100"/>
        </p:scale>
        <p:origin x="-1968" y="-102"/>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l" defTabSz="966788" eaLnBrk="0" hangingPunct="0">
              <a:defRPr sz="1300">
                <a:latin typeface="Times New Roman" pitchFamily="18" charset="0"/>
              </a:defRPr>
            </a:lvl1pPr>
          </a:lstStyle>
          <a:p>
            <a:pPr>
              <a:defRPr/>
            </a:pPr>
            <a:endParaRPr lang="en-US"/>
          </a:p>
        </p:txBody>
      </p:sp>
      <p:sp>
        <p:nvSpPr>
          <p:cNvPr id="15363" name="Rectangle 3"/>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0" hangingPunct="0">
              <a:defRPr sz="1300">
                <a:latin typeface="Times New Roman" pitchFamily="18" charset="0"/>
              </a:defRPr>
            </a:lvl1pPr>
          </a:lstStyle>
          <a:p>
            <a:pPr>
              <a:defRPr/>
            </a:pPr>
            <a:endParaRPr lang="en-US"/>
          </a:p>
        </p:txBody>
      </p:sp>
      <p:sp>
        <p:nvSpPr>
          <p:cNvPr id="15364" name="Rectangle 4"/>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l" defTabSz="966788" eaLnBrk="0" hangingPunct="0">
              <a:defRPr sz="1300">
                <a:latin typeface="Times New Roman" pitchFamily="18" charset="0"/>
              </a:defRPr>
            </a:lvl1pPr>
          </a:lstStyle>
          <a:p>
            <a:pPr>
              <a:defRPr/>
            </a:pPr>
            <a:endParaRPr lang="en-US"/>
          </a:p>
        </p:txBody>
      </p:sp>
      <p:sp>
        <p:nvSpPr>
          <p:cNvPr id="15365" name="Rectangle 5"/>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atin typeface="Times New Roman" panose="02020603050405020304" pitchFamily="18" charset="0"/>
              </a:defRPr>
            </a:lvl1pPr>
          </a:lstStyle>
          <a:p>
            <a:fld id="{FABB4ACD-5D27-4EDE-BA40-6F7D0E389AAC}" type="slidenum">
              <a:rPr lang="en-US" altLang="en-US"/>
              <a:pPr/>
              <a:t>‹#›</a:t>
            </a:fld>
            <a:endParaRPr lang="en-US" altLang="en-US"/>
          </a:p>
        </p:txBody>
      </p:sp>
    </p:spTree>
    <p:extLst>
      <p:ext uri="{BB962C8B-B14F-4D97-AF65-F5344CB8AC3E}">
        <p14:creationId xmlns:p14="http://schemas.microsoft.com/office/powerpoint/2010/main" val="3862944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l" defTabSz="966788" eaLnBrk="0" hangingPunct="0">
              <a:defRPr sz="1300">
                <a:latin typeface="Times New Roman" pitchFamily="18" charset="0"/>
              </a:defRPr>
            </a:lvl1pPr>
          </a:lstStyle>
          <a:p>
            <a:pPr>
              <a:defRPr/>
            </a:pPr>
            <a:endParaRPr lang="en-US"/>
          </a:p>
        </p:txBody>
      </p:sp>
      <p:sp>
        <p:nvSpPr>
          <p:cNvPr id="12291"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0" hangingPunct="0">
              <a:defRPr sz="1300">
                <a:latin typeface="Times New Roman" pitchFamily="18" charset="0"/>
              </a:defRPr>
            </a:lvl1pPr>
          </a:lstStyle>
          <a:p>
            <a:pPr>
              <a:defRPr/>
            </a:pPr>
            <a:endParaRPr lang="en-US"/>
          </a:p>
        </p:txBody>
      </p:sp>
      <p:sp>
        <p:nvSpPr>
          <p:cNvPr id="23556"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294" name="Rectangle 6"/>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l" defTabSz="966788" eaLnBrk="0" hangingPunct="0">
              <a:defRPr sz="1300">
                <a:latin typeface="Times New Roman" pitchFamily="18" charset="0"/>
              </a:defRPr>
            </a:lvl1pPr>
          </a:lstStyle>
          <a:p>
            <a:pPr>
              <a:defRPr/>
            </a:pPr>
            <a:endParaRPr lang="en-US"/>
          </a:p>
        </p:txBody>
      </p:sp>
      <p:sp>
        <p:nvSpPr>
          <p:cNvPr id="12295" name="Rectangle 7"/>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atin typeface="Times New Roman" panose="02020603050405020304" pitchFamily="18" charset="0"/>
              </a:defRPr>
            </a:lvl1pPr>
          </a:lstStyle>
          <a:p>
            <a:fld id="{280FAC94-C347-4A30-958D-0EB7EFEC915E}" type="slidenum">
              <a:rPr lang="en-US" altLang="en-US"/>
              <a:pPr/>
              <a:t>‹#›</a:t>
            </a:fld>
            <a:endParaRPr lang="en-US" altLang="en-US"/>
          </a:p>
        </p:txBody>
      </p:sp>
    </p:spTree>
    <p:extLst>
      <p:ext uri="{BB962C8B-B14F-4D97-AF65-F5344CB8AC3E}">
        <p14:creationId xmlns:p14="http://schemas.microsoft.com/office/powerpoint/2010/main" val="220385790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23421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7" name="Oval 10"/>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8" name="Oval 11"/>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9" name="Oval 12"/>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 name="Oval 13"/>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1" name="Oval 14"/>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2" name="Oval 15"/>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3" name="Oval 16"/>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4" name="Oval 17"/>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5" name="Oval 18"/>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6" name="Oval 19"/>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7" name="Oval 20"/>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8" name="Oval 21"/>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9" name="Oval 22"/>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20" name="Oval 23"/>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21" name="Oval 24"/>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22" name="Oval 25"/>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23" name="Oval 26"/>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24" name="Oval 27"/>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25" name="Oval 28"/>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26" name="Oval 29"/>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27" name="Oval 30"/>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28" name="Oval 31"/>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29" name="Oval 32"/>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30" name="Oval 33"/>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31" name="Oval 34"/>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32" name="Oval 35"/>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33" name="Oval 36"/>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34" name="Oval 37"/>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35" name="Oval 38"/>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36" name="Oval 39"/>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3779" name="Rectangle 3"/>
          <p:cNvSpPr>
            <a:spLocks noGrp="1" noChangeArrowheads="1"/>
          </p:cNvSpPr>
          <p:nvPr>
            <p:ph type="ctrTitle"/>
          </p:nvPr>
        </p:nvSpPr>
        <p:spPr>
          <a:xfrm>
            <a:off x="315913" y="466725"/>
            <a:ext cx="6781800" cy="2133600"/>
          </a:xfrm>
        </p:spPr>
        <p:txBody>
          <a:bodyPr/>
          <a:lstStyle>
            <a:lvl1pPr algn="r">
              <a:defRPr sz="4800"/>
            </a:lvl1pPr>
          </a:lstStyle>
          <a:p>
            <a:r>
              <a:rPr lang="en-US" altLang="en-US"/>
              <a:t>Click to edit Master title style</a:t>
            </a:r>
          </a:p>
        </p:txBody>
      </p:sp>
      <p:sp>
        <p:nvSpPr>
          <p:cNvPr id="203780"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400"/>
            </a:lvl1pPr>
          </a:lstStyle>
          <a:p>
            <a:r>
              <a:rPr lang="en-US" altLang="en-US"/>
              <a:t>Click to edit Master subtitle style</a:t>
            </a:r>
          </a:p>
        </p:txBody>
      </p:sp>
      <p:sp>
        <p:nvSpPr>
          <p:cNvPr id="38" name="Rectangle 5"/>
          <p:cNvSpPr>
            <a:spLocks noGrp="1" noChangeArrowheads="1"/>
          </p:cNvSpPr>
          <p:nvPr>
            <p:ph type="dt" sz="half" idx="10"/>
          </p:nvPr>
        </p:nvSpPr>
        <p:spPr/>
        <p:txBody>
          <a:bodyPr/>
          <a:lstStyle>
            <a:lvl1pPr>
              <a:defRPr/>
            </a:lvl1pPr>
          </a:lstStyle>
          <a:p>
            <a:pPr>
              <a:defRPr/>
            </a:pPr>
            <a:endParaRPr lang="en-US" altLang="en-US"/>
          </a:p>
        </p:txBody>
      </p:sp>
      <p:sp>
        <p:nvSpPr>
          <p:cNvPr id="39" name="Rectangle 6"/>
          <p:cNvSpPr>
            <a:spLocks noGrp="1" noChangeArrowheads="1"/>
          </p:cNvSpPr>
          <p:nvPr>
            <p:ph type="ftr" sz="quarter" idx="11"/>
          </p:nvPr>
        </p:nvSpPr>
        <p:spPr>
          <a:xfrm>
            <a:off x="323850" y="6248400"/>
            <a:ext cx="7677150" cy="457200"/>
          </a:xfrm>
        </p:spPr>
        <p:txBody>
          <a:bodyPr/>
          <a:lstStyle>
            <a:lvl1pPr>
              <a:defRPr/>
            </a:lvl1pPr>
          </a:lstStyle>
          <a:p>
            <a:pPr>
              <a:defRPr/>
            </a:pPr>
            <a:r>
              <a:rPr lang="en-US" altLang="en-US"/>
              <a:t>Risk Management and Financial Institutions 6e, Chapter 24,  Copyright © John C. Hull 2023</a:t>
            </a:r>
            <a:endParaRPr lang="en-US" altLang="en-US" i="0"/>
          </a:p>
        </p:txBody>
      </p:sp>
      <p:sp>
        <p:nvSpPr>
          <p:cNvPr id="40" name="Rectangle 7"/>
          <p:cNvSpPr>
            <a:spLocks noGrp="1" noChangeArrowheads="1"/>
          </p:cNvSpPr>
          <p:nvPr>
            <p:ph type="sldNum" sz="quarter" idx="12"/>
          </p:nvPr>
        </p:nvSpPr>
        <p:spPr>
          <a:xfrm>
            <a:off x="6553200" y="6237288"/>
            <a:ext cx="2133600" cy="468312"/>
          </a:xfrm>
        </p:spPr>
        <p:txBody>
          <a:bodyPr/>
          <a:lstStyle>
            <a:lvl1pPr>
              <a:defRPr/>
            </a:lvl1pPr>
          </a:lstStyle>
          <a:p>
            <a:fld id="{7C2FD6EB-D0D2-435C-B434-48D2309DF609}" type="slidenum">
              <a:rPr lang="en-US" altLang="en-US"/>
              <a:pPr/>
              <a:t>‹#›</a:t>
            </a:fld>
            <a:endParaRPr lang="en-US" altLang="en-US"/>
          </a:p>
        </p:txBody>
      </p:sp>
    </p:spTree>
    <p:extLst>
      <p:ext uri="{BB962C8B-B14F-4D97-AF65-F5344CB8AC3E}">
        <p14:creationId xmlns:p14="http://schemas.microsoft.com/office/powerpoint/2010/main" val="3642190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Risk Management and Financial Institutions 6e, Chapter 24,  Copyright © John C. Hull 2023</a:t>
            </a:r>
            <a:endParaRPr lang="en-US" altLang="en-US" i="0">
              <a:cs typeface="Arial" charset="0"/>
            </a:endParaRPr>
          </a:p>
        </p:txBody>
      </p:sp>
      <p:sp>
        <p:nvSpPr>
          <p:cNvPr id="6" name="Slide Number Placeholder 5"/>
          <p:cNvSpPr>
            <a:spLocks noGrp="1"/>
          </p:cNvSpPr>
          <p:nvPr>
            <p:ph type="sldNum" sz="quarter" idx="12"/>
          </p:nvPr>
        </p:nvSpPr>
        <p:spPr/>
        <p:txBody>
          <a:bodyPr/>
          <a:lstStyle>
            <a:lvl1pPr>
              <a:defRPr/>
            </a:lvl1pPr>
          </a:lstStyle>
          <a:p>
            <a:fld id="{DE356834-70EA-4F75-8B4C-A14390A1BE55}" type="slidenum">
              <a:rPr lang="en-US" altLang="en-US"/>
              <a:pPr/>
              <a:t>‹#›</a:t>
            </a:fld>
            <a:endParaRPr lang="en-US" altLang="en-US"/>
          </a:p>
        </p:txBody>
      </p:sp>
    </p:spTree>
    <p:extLst>
      <p:ext uri="{BB962C8B-B14F-4D97-AF65-F5344CB8AC3E}">
        <p14:creationId xmlns:p14="http://schemas.microsoft.com/office/powerpoint/2010/main" val="1282304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Risk Management and Financial Institutions 6e, Chapter 24,  Copyright © John C. Hull 2023</a:t>
            </a:r>
            <a:endParaRPr lang="en-US" altLang="en-US" i="0">
              <a:cs typeface="Arial" charset="0"/>
            </a:endParaRPr>
          </a:p>
        </p:txBody>
      </p:sp>
      <p:sp>
        <p:nvSpPr>
          <p:cNvPr id="6" name="Slide Number Placeholder 5"/>
          <p:cNvSpPr>
            <a:spLocks noGrp="1"/>
          </p:cNvSpPr>
          <p:nvPr>
            <p:ph type="sldNum" sz="quarter" idx="12"/>
          </p:nvPr>
        </p:nvSpPr>
        <p:spPr/>
        <p:txBody>
          <a:bodyPr/>
          <a:lstStyle>
            <a:lvl1pPr>
              <a:defRPr/>
            </a:lvl1pPr>
          </a:lstStyle>
          <a:p>
            <a:fld id="{605DB604-7068-497E-8F00-5026C64FCA0F}" type="slidenum">
              <a:rPr lang="en-US" altLang="en-US"/>
              <a:pPr/>
              <a:t>‹#›</a:t>
            </a:fld>
            <a:endParaRPr lang="en-US" altLang="en-US"/>
          </a:p>
        </p:txBody>
      </p:sp>
    </p:spTree>
    <p:extLst>
      <p:ext uri="{BB962C8B-B14F-4D97-AF65-F5344CB8AC3E}">
        <p14:creationId xmlns:p14="http://schemas.microsoft.com/office/powerpoint/2010/main" val="586188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US" altLang="en-US"/>
              <a:t>Risk Management and Financial Institutions 6e, Chapter 24,  Copyright © John C. Hull 2023</a:t>
            </a:r>
            <a:endParaRPr lang="en-US" altLang="en-US" i="0">
              <a:cs typeface="Arial" charset="0"/>
            </a:endParaRPr>
          </a:p>
        </p:txBody>
      </p:sp>
      <p:sp>
        <p:nvSpPr>
          <p:cNvPr id="7" name="Slide Number Placeholder 6"/>
          <p:cNvSpPr>
            <a:spLocks noGrp="1"/>
          </p:cNvSpPr>
          <p:nvPr>
            <p:ph type="sldNum" sz="quarter" idx="12"/>
          </p:nvPr>
        </p:nvSpPr>
        <p:spPr/>
        <p:txBody>
          <a:bodyPr/>
          <a:lstStyle>
            <a:lvl1pPr>
              <a:defRPr/>
            </a:lvl1pPr>
          </a:lstStyle>
          <a:p>
            <a:fld id="{DF0AEDE7-B238-46C5-AF28-AB7BAB8BE157}" type="slidenum">
              <a:rPr lang="en-US" altLang="en-US"/>
              <a:pPr/>
              <a:t>‹#›</a:t>
            </a:fld>
            <a:endParaRPr lang="en-US" altLang="en-US"/>
          </a:p>
        </p:txBody>
      </p:sp>
    </p:spTree>
    <p:extLst>
      <p:ext uri="{BB962C8B-B14F-4D97-AF65-F5344CB8AC3E}">
        <p14:creationId xmlns:p14="http://schemas.microsoft.com/office/powerpoint/2010/main" val="3997372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pPr>
              <a:defRPr/>
            </a:pPr>
            <a:endParaRPr lang="en-US" altLang="en-US"/>
          </a:p>
        </p:txBody>
      </p:sp>
      <p:sp>
        <p:nvSpPr>
          <p:cNvPr id="8" name="Footer Placeholder 7"/>
          <p:cNvSpPr>
            <a:spLocks noGrp="1"/>
          </p:cNvSpPr>
          <p:nvPr>
            <p:ph type="ftr" sz="quarter" idx="11"/>
          </p:nvPr>
        </p:nvSpPr>
        <p:spPr/>
        <p:txBody>
          <a:bodyPr/>
          <a:lstStyle>
            <a:lvl1pPr>
              <a:defRPr/>
            </a:lvl1pPr>
          </a:lstStyle>
          <a:p>
            <a:pPr>
              <a:defRPr/>
            </a:pPr>
            <a:r>
              <a:rPr lang="en-US" altLang="en-US"/>
              <a:t>Risk Management and Financial Institutions 6e, Chapter 24,  Copyright © John C. Hull 2023</a:t>
            </a:r>
            <a:endParaRPr lang="en-US" altLang="en-US" i="0">
              <a:cs typeface="Arial" charset="0"/>
            </a:endParaRPr>
          </a:p>
        </p:txBody>
      </p:sp>
      <p:sp>
        <p:nvSpPr>
          <p:cNvPr id="9" name="Slide Number Placeholder 8"/>
          <p:cNvSpPr>
            <a:spLocks noGrp="1"/>
          </p:cNvSpPr>
          <p:nvPr>
            <p:ph type="sldNum" sz="quarter" idx="12"/>
          </p:nvPr>
        </p:nvSpPr>
        <p:spPr/>
        <p:txBody>
          <a:bodyPr/>
          <a:lstStyle>
            <a:lvl1pPr>
              <a:defRPr/>
            </a:lvl1pPr>
          </a:lstStyle>
          <a:p>
            <a:fld id="{2810175F-E575-41BE-B647-58C5CA996E7D}" type="slidenum">
              <a:rPr lang="en-US" altLang="en-US"/>
              <a:pPr/>
              <a:t>‹#›</a:t>
            </a:fld>
            <a:endParaRPr lang="en-US" altLang="en-US"/>
          </a:p>
        </p:txBody>
      </p:sp>
    </p:spTree>
    <p:extLst>
      <p:ext uri="{BB962C8B-B14F-4D97-AF65-F5344CB8AC3E}">
        <p14:creationId xmlns:p14="http://schemas.microsoft.com/office/powerpoint/2010/main" val="696133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pPr>
              <a:defRPr/>
            </a:pPr>
            <a:endParaRPr lang="en-US" altLang="en-US"/>
          </a:p>
        </p:txBody>
      </p:sp>
      <p:sp>
        <p:nvSpPr>
          <p:cNvPr id="4" name="Footer Placeholder 3"/>
          <p:cNvSpPr>
            <a:spLocks noGrp="1"/>
          </p:cNvSpPr>
          <p:nvPr>
            <p:ph type="ftr" sz="quarter" idx="11"/>
          </p:nvPr>
        </p:nvSpPr>
        <p:spPr/>
        <p:txBody>
          <a:bodyPr/>
          <a:lstStyle>
            <a:lvl1pPr>
              <a:defRPr/>
            </a:lvl1pPr>
          </a:lstStyle>
          <a:p>
            <a:pPr>
              <a:defRPr/>
            </a:pPr>
            <a:r>
              <a:rPr lang="en-US" altLang="en-US"/>
              <a:t>Risk Management and Financial Institutions 6e, Chapter 24,  Copyright © John C. Hull 2023</a:t>
            </a:r>
            <a:endParaRPr lang="en-US" altLang="en-US" i="0">
              <a:cs typeface="Arial" charset="0"/>
            </a:endParaRPr>
          </a:p>
        </p:txBody>
      </p:sp>
      <p:sp>
        <p:nvSpPr>
          <p:cNvPr id="5" name="Slide Number Placeholder 4"/>
          <p:cNvSpPr>
            <a:spLocks noGrp="1"/>
          </p:cNvSpPr>
          <p:nvPr>
            <p:ph type="sldNum" sz="quarter" idx="12"/>
          </p:nvPr>
        </p:nvSpPr>
        <p:spPr/>
        <p:txBody>
          <a:bodyPr/>
          <a:lstStyle>
            <a:lvl1pPr>
              <a:defRPr/>
            </a:lvl1pPr>
          </a:lstStyle>
          <a:p>
            <a:fld id="{04AD2371-E715-4D31-AB2B-25947258BDAA}" type="slidenum">
              <a:rPr lang="en-US" altLang="en-US"/>
              <a:pPr/>
              <a:t>‹#›</a:t>
            </a:fld>
            <a:endParaRPr lang="en-US" altLang="en-US"/>
          </a:p>
        </p:txBody>
      </p:sp>
    </p:spTree>
    <p:extLst>
      <p:ext uri="{BB962C8B-B14F-4D97-AF65-F5344CB8AC3E}">
        <p14:creationId xmlns:p14="http://schemas.microsoft.com/office/powerpoint/2010/main" val="4057284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ltLang="en-US"/>
          </a:p>
        </p:txBody>
      </p:sp>
      <p:sp>
        <p:nvSpPr>
          <p:cNvPr id="3" name="Footer Placeholder 2"/>
          <p:cNvSpPr>
            <a:spLocks noGrp="1"/>
          </p:cNvSpPr>
          <p:nvPr>
            <p:ph type="ftr" sz="quarter" idx="11"/>
          </p:nvPr>
        </p:nvSpPr>
        <p:spPr/>
        <p:txBody>
          <a:bodyPr/>
          <a:lstStyle>
            <a:lvl1pPr>
              <a:defRPr/>
            </a:lvl1pPr>
          </a:lstStyle>
          <a:p>
            <a:pPr>
              <a:defRPr/>
            </a:pPr>
            <a:r>
              <a:rPr lang="en-US" altLang="en-US"/>
              <a:t>Risk Management and Financial Institutions 6e, Chapter 24,  Copyright © John C. Hull 2023</a:t>
            </a:r>
            <a:endParaRPr lang="en-US" altLang="en-US" i="0">
              <a:cs typeface="Arial" charset="0"/>
            </a:endParaRPr>
          </a:p>
        </p:txBody>
      </p:sp>
      <p:sp>
        <p:nvSpPr>
          <p:cNvPr id="4" name="Slide Number Placeholder 3"/>
          <p:cNvSpPr>
            <a:spLocks noGrp="1"/>
          </p:cNvSpPr>
          <p:nvPr>
            <p:ph type="sldNum" sz="quarter" idx="12"/>
          </p:nvPr>
        </p:nvSpPr>
        <p:spPr/>
        <p:txBody>
          <a:bodyPr/>
          <a:lstStyle>
            <a:lvl1pPr>
              <a:defRPr/>
            </a:lvl1pPr>
          </a:lstStyle>
          <a:p>
            <a:fld id="{7267FB9C-865F-4537-AFAC-FE0B001A5278}" type="slidenum">
              <a:rPr lang="en-US" altLang="en-US"/>
              <a:pPr/>
              <a:t>‹#›</a:t>
            </a:fld>
            <a:endParaRPr lang="en-US" altLang="en-US"/>
          </a:p>
        </p:txBody>
      </p:sp>
    </p:spTree>
    <p:extLst>
      <p:ext uri="{BB962C8B-B14F-4D97-AF65-F5344CB8AC3E}">
        <p14:creationId xmlns:p14="http://schemas.microsoft.com/office/powerpoint/2010/main" val="2435705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US" altLang="en-US"/>
              <a:t>Risk Management and Financial Institutions 6e, Chapter 24,  Copyright © John C. Hull 2023</a:t>
            </a:r>
            <a:endParaRPr lang="en-US" altLang="en-US" i="0">
              <a:cs typeface="Arial" charset="0"/>
            </a:endParaRPr>
          </a:p>
        </p:txBody>
      </p:sp>
      <p:sp>
        <p:nvSpPr>
          <p:cNvPr id="7" name="Slide Number Placeholder 6"/>
          <p:cNvSpPr>
            <a:spLocks noGrp="1"/>
          </p:cNvSpPr>
          <p:nvPr>
            <p:ph type="sldNum" sz="quarter" idx="12"/>
          </p:nvPr>
        </p:nvSpPr>
        <p:spPr/>
        <p:txBody>
          <a:bodyPr/>
          <a:lstStyle>
            <a:lvl1pPr>
              <a:defRPr/>
            </a:lvl1pPr>
          </a:lstStyle>
          <a:p>
            <a:fld id="{0291A231-7E14-4576-96BB-C9D51683B4D7}" type="slidenum">
              <a:rPr lang="en-US" altLang="en-US"/>
              <a:pPr/>
              <a:t>‹#›</a:t>
            </a:fld>
            <a:endParaRPr lang="en-US" altLang="en-US"/>
          </a:p>
        </p:txBody>
      </p:sp>
    </p:spTree>
    <p:extLst>
      <p:ext uri="{BB962C8B-B14F-4D97-AF65-F5344CB8AC3E}">
        <p14:creationId xmlns:p14="http://schemas.microsoft.com/office/powerpoint/2010/main" val="368384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US" altLang="en-US"/>
              <a:t>Risk Management and Financial Institutions 6e, Chapter 24,  Copyright © John C. Hull 2023</a:t>
            </a:r>
            <a:endParaRPr lang="en-US" altLang="en-US" i="0">
              <a:cs typeface="Arial" charset="0"/>
            </a:endParaRPr>
          </a:p>
        </p:txBody>
      </p:sp>
      <p:sp>
        <p:nvSpPr>
          <p:cNvPr id="7" name="Slide Number Placeholder 6"/>
          <p:cNvSpPr>
            <a:spLocks noGrp="1"/>
          </p:cNvSpPr>
          <p:nvPr>
            <p:ph type="sldNum" sz="quarter" idx="12"/>
          </p:nvPr>
        </p:nvSpPr>
        <p:spPr/>
        <p:txBody>
          <a:bodyPr/>
          <a:lstStyle>
            <a:lvl1pPr>
              <a:defRPr/>
            </a:lvl1pPr>
          </a:lstStyle>
          <a:p>
            <a:fld id="{530CDFD5-2A22-4ECF-ACEE-3C9AAEC07D06}" type="slidenum">
              <a:rPr lang="en-US" altLang="en-US"/>
              <a:pPr/>
              <a:t>‹#›</a:t>
            </a:fld>
            <a:endParaRPr lang="en-US" altLang="en-US"/>
          </a:p>
        </p:txBody>
      </p:sp>
    </p:spTree>
    <p:extLst>
      <p:ext uri="{BB962C8B-B14F-4D97-AF65-F5344CB8AC3E}">
        <p14:creationId xmlns:p14="http://schemas.microsoft.com/office/powerpoint/2010/main" val="33795821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Risk Management and Financial Institutions 6e, Chapter 24,  Copyright © John C. Hull 2023</a:t>
            </a:r>
            <a:endParaRPr lang="en-US" altLang="en-US" i="0">
              <a:cs typeface="Arial" charset="0"/>
            </a:endParaRPr>
          </a:p>
        </p:txBody>
      </p:sp>
      <p:sp>
        <p:nvSpPr>
          <p:cNvPr id="6" name="Slide Number Placeholder 5"/>
          <p:cNvSpPr>
            <a:spLocks noGrp="1"/>
          </p:cNvSpPr>
          <p:nvPr>
            <p:ph type="sldNum" sz="quarter" idx="12"/>
          </p:nvPr>
        </p:nvSpPr>
        <p:spPr/>
        <p:txBody>
          <a:bodyPr/>
          <a:lstStyle>
            <a:lvl1pPr>
              <a:defRPr/>
            </a:lvl1pPr>
          </a:lstStyle>
          <a:p>
            <a:fld id="{260C9E45-6D0C-423D-BC31-28C667690F57}" type="slidenum">
              <a:rPr lang="en-US" altLang="en-US"/>
              <a:pPr/>
              <a:t>‹#›</a:t>
            </a:fld>
            <a:endParaRPr lang="en-US" altLang="en-US"/>
          </a:p>
        </p:txBody>
      </p:sp>
    </p:spTree>
    <p:extLst>
      <p:ext uri="{BB962C8B-B14F-4D97-AF65-F5344CB8AC3E}">
        <p14:creationId xmlns:p14="http://schemas.microsoft.com/office/powerpoint/2010/main" val="2630479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Risk Management and Financial Institutions 6e, Chapter 24,  Copyright © John C. Hull 2023</a:t>
            </a:r>
            <a:endParaRPr lang="en-US" altLang="en-US" i="0">
              <a:cs typeface="Arial" charset="0"/>
            </a:endParaRPr>
          </a:p>
        </p:txBody>
      </p:sp>
      <p:sp>
        <p:nvSpPr>
          <p:cNvPr id="6" name="Slide Number Placeholder 5"/>
          <p:cNvSpPr>
            <a:spLocks noGrp="1"/>
          </p:cNvSpPr>
          <p:nvPr>
            <p:ph type="sldNum" sz="quarter" idx="12"/>
          </p:nvPr>
        </p:nvSpPr>
        <p:spPr/>
        <p:txBody>
          <a:bodyPr/>
          <a:lstStyle>
            <a:lvl1pPr>
              <a:defRPr/>
            </a:lvl1pPr>
          </a:lstStyle>
          <a:p>
            <a:fld id="{BC5B746A-29BD-460B-986D-453608AF8415}" type="slidenum">
              <a:rPr lang="en-US" altLang="en-US"/>
              <a:pPr/>
              <a:t>‹#›</a:t>
            </a:fld>
            <a:endParaRPr lang="en-US" altLang="en-US"/>
          </a:p>
        </p:txBody>
      </p:sp>
    </p:spTree>
    <p:extLst>
      <p:ext uri="{BB962C8B-B14F-4D97-AF65-F5344CB8AC3E}">
        <p14:creationId xmlns:p14="http://schemas.microsoft.com/office/powerpoint/2010/main" val="2101591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02757"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000">
                <a:latin typeface="Arial" charset="0"/>
              </a:defRPr>
            </a:lvl1pPr>
          </a:lstStyle>
          <a:p>
            <a:pPr>
              <a:defRPr/>
            </a:pPr>
            <a:endParaRPr lang="en-US" altLang="en-US"/>
          </a:p>
        </p:txBody>
      </p:sp>
      <p:sp>
        <p:nvSpPr>
          <p:cNvPr id="202758" name="Rectangle 6"/>
          <p:cNvSpPr>
            <a:spLocks noGrp="1" noChangeArrowheads="1"/>
          </p:cNvSpPr>
          <p:nvPr>
            <p:ph type="ftr" sz="quarter" idx="3"/>
          </p:nvPr>
        </p:nvSpPr>
        <p:spPr bwMode="auto">
          <a:xfrm>
            <a:off x="250825" y="6248400"/>
            <a:ext cx="7561263"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400" i="1">
                <a:latin typeface="Arial" charset="0"/>
              </a:defRPr>
            </a:lvl1pPr>
          </a:lstStyle>
          <a:p>
            <a:pPr>
              <a:defRPr/>
            </a:pPr>
            <a:r>
              <a:rPr lang="en-US" altLang="en-US"/>
              <a:t>Risk Management and Financial Institutions 6e, Chapter 24,  Copyright © John C. Hull 2023</a:t>
            </a:r>
            <a:endParaRPr lang="en-US" altLang="en-US">
              <a:cs typeface="Arial" charset="0"/>
            </a:endParaRPr>
          </a:p>
        </p:txBody>
      </p:sp>
      <p:sp>
        <p:nvSpPr>
          <p:cNvPr id="202759"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b="1"/>
            </a:lvl1pPr>
          </a:lstStyle>
          <a:p>
            <a:r>
              <a:rPr lang="en-US" altLang="en-US"/>
              <a:t>16.</a:t>
            </a:r>
            <a:fld id="{E04EC414-A8CD-4179-B77D-4F6C9215315F}" type="slidenum">
              <a:rPr lang="en-US" altLang="en-US"/>
              <a:pPr/>
              <a:t>‹#›</a:t>
            </a:fld>
            <a:endParaRPr lang="en-US" altLang="en-US"/>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34" name="Oval 10"/>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35" name="Oval 11"/>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36" name="Oval 12"/>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37" name="Oval 13"/>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38" name="Oval 14"/>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39" name="Oval 15"/>
            <p:cNvSpPr>
              <a:spLocks noChangeArrowheads="1"/>
            </p:cNvSpPr>
            <p:nvPr/>
          </p:nvSpPr>
          <p:spPr bwMode="auto">
            <a:xfrm>
              <a:off x="5472" y="1072"/>
              <a:ext cx="73"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40" name="Oval 16"/>
            <p:cNvSpPr>
              <a:spLocks noChangeArrowheads="1"/>
            </p:cNvSpPr>
            <p:nvPr/>
          </p:nvSpPr>
          <p:spPr bwMode="auto">
            <a:xfrm>
              <a:off x="5136" y="1184"/>
              <a:ext cx="80"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41" name="Oval 17"/>
            <p:cNvSpPr>
              <a:spLocks noChangeArrowheads="1"/>
            </p:cNvSpPr>
            <p:nvPr/>
          </p:nvSpPr>
          <p:spPr bwMode="auto">
            <a:xfrm>
              <a:off x="5248" y="1184"/>
              <a:ext cx="79"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42" name="Oval 18"/>
            <p:cNvSpPr>
              <a:spLocks noChangeArrowheads="1"/>
            </p:cNvSpPr>
            <p:nvPr/>
          </p:nvSpPr>
          <p:spPr bwMode="auto">
            <a:xfrm>
              <a:off x="5360" y="1184"/>
              <a:ext cx="76"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43" name="Oval 19"/>
            <p:cNvSpPr>
              <a:spLocks noChangeArrowheads="1"/>
            </p:cNvSpPr>
            <p:nvPr/>
          </p:nvSpPr>
          <p:spPr bwMode="auto">
            <a:xfrm>
              <a:off x="5472" y="1184"/>
              <a:ext cx="73"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44" name="Oval 20"/>
            <p:cNvSpPr>
              <a:spLocks noChangeArrowheads="1"/>
            </p:cNvSpPr>
            <p:nvPr/>
          </p:nvSpPr>
          <p:spPr bwMode="auto">
            <a:xfrm>
              <a:off x="5584" y="1184"/>
              <a:ext cx="80" cy="7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45" name="Oval 21"/>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46" name="Oval 22"/>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47" name="Oval 23"/>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48" name="Oval 24"/>
            <p:cNvSpPr>
              <a:spLocks noChangeArrowheads="1"/>
            </p:cNvSpPr>
            <p:nvPr/>
          </p:nvSpPr>
          <p:spPr bwMode="auto">
            <a:xfrm>
              <a:off x="5472" y="1296"/>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49" name="Oval 25"/>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50" name="Oval 26"/>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51" name="Oval 27"/>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52" name="Oval 28"/>
            <p:cNvSpPr>
              <a:spLocks noChangeArrowheads="1"/>
            </p:cNvSpPr>
            <p:nvPr/>
          </p:nvSpPr>
          <p:spPr bwMode="auto">
            <a:xfrm>
              <a:off x="5472" y="1408"/>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53" name="Oval 29"/>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54" name="Oval 30"/>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55" name="Oval 31"/>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56" name="Oval 32"/>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57" name="Oval 33"/>
            <p:cNvSpPr>
              <a:spLocks noChangeArrowheads="1"/>
            </p:cNvSpPr>
            <p:nvPr/>
          </p:nvSpPr>
          <p:spPr bwMode="auto">
            <a:xfrm>
              <a:off x="5472" y="1520"/>
              <a:ext cx="73"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58" name="Oval 34"/>
            <p:cNvSpPr>
              <a:spLocks noChangeArrowheads="1"/>
            </p:cNvSpPr>
            <p:nvPr/>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59" name="Oval 35"/>
            <p:cNvSpPr>
              <a:spLocks noChangeArrowheads="1"/>
            </p:cNvSpPr>
            <p:nvPr/>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60" name="Oval 36"/>
            <p:cNvSpPr>
              <a:spLocks noChangeArrowheads="1"/>
            </p:cNvSpPr>
            <p:nvPr/>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61" name="Oval 37"/>
            <p:cNvSpPr>
              <a:spLocks noChangeArrowheads="1"/>
            </p:cNvSpPr>
            <p:nvPr/>
          </p:nvSpPr>
          <p:spPr bwMode="auto">
            <a:xfrm>
              <a:off x="5472" y="1632"/>
              <a:ext cx="73"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62" name="Oval 38"/>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sp>
          <p:nvSpPr>
            <p:cNvPr id="1063" name="Oval 39"/>
            <p:cNvSpPr>
              <a:spLocks noChangeArrowheads="1"/>
            </p:cNvSpPr>
            <p:nvPr/>
          </p:nvSpPr>
          <p:spPr bwMode="auto">
            <a:xfrm>
              <a:off x="5472" y="1744"/>
              <a:ext cx="73"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a:p>
          </p:txBody>
        </p:sp>
      </p:grpSp>
    </p:spTree>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Lst>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Times New Roman" pitchFamily="18" charset="0"/>
        </a:defRPr>
      </a:lvl2pPr>
      <a:lvl3pPr algn="l" rtl="0" eaLnBrk="0" fontAlgn="base" hangingPunct="0">
        <a:spcBef>
          <a:spcPct val="0"/>
        </a:spcBef>
        <a:spcAft>
          <a:spcPct val="0"/>
        </a:spcAft>
        <a:defRPr sz="3900" b="1">
          <a:solidFill>
            <a:schemeClr val="tx2"/>
          </a:solidFill>
          <a:latin typeface="Times New Roman" pitchFamily="18" charset="0"/>
        </a:defRPr>
      </a:lvl3pPr>
      <a:lvl4pPr algn="l" rtl="0" eaLnBrk="0" fontAlgn="base" hangingPunct="0">
        <a:spcBef>
          <a:spcPct val="0"/>
        </a:spcBef>
        <a:spcAft>
          <a:spcPct val="0"/>
        </a:spcAft>
        <a:defRPr sz="3900" b="1">
          <a:solidFill>
            <a:schemeClr val="tx2"/>
          </a:solidFill>
          <a:latin typeface="Times New Roman" pitchFamily="18" charset="0"/>
        </a:defRPr>
      </a:lvl4pPr>
      <a:lvl5pPr algn="l" rtl="0" eaLnBrk="0" fontAlgn="base" hangingPunct="0">
        <a:spcBef>
          <a:spcPct val="0"/>
        </a:spcBef>
        <a:spcAft>
          <a:spcPct val="0"/>
        </a:spcAft>
        <a:defRPr sz="3900" b="1">
          <a:solidFill>
            <a:schemeClr val="tx2"/>
          </a:solidFill>
          <a:latin typeface="Times New Roman" pitchFamily="18" charset="0"/>
        </a:defRPr>
      </a:lvl5pPr>
      <a:lvl6pPr marL="457200" algn="l" rtl="0" fontAlgn="base">
        <a:spcBef>
          <a:spcPct val="0"/>
        </a:spcBef>
        <a:spcAft>
          <a:spcPct val="0"/>
        </a:spcAft>
        <a:defRPr sz="3900" b="1">
          <a:solidFill>
            <a:schemeClr val="tx2"/>
          </a:solidFill>
          <a:latin typeface="Times New Roman" pitchFamily="18" charset="0"/>
        </a:defRPr>
      </a:lvl6pPr>
      <a:lvl7pPr marL="914400" algn="l" rtl="0" fontAlgn="base">
        <a:spcBef>
          <a:spcPct val="0"/>
        </a:spcBef>
        <a:spcAft>
          <a:spcPct val="0"/>
        </a:spcAft>
        <a:defRPr sz="3900" b="1">
          <a:solidFill>
            <a:schemeClr val="tx2"/>
          </a:solidFill>
          <a:latin typeface="Times New Roman" pitchFamily="18" charset="0"/>
        </a:defRPr>
      </a:lvl7pPr>
      <a:lvl8pPr marL="1371600" algn="l" rtl="0" fontAlgn="base">
        <a:spcBef>
          <a:spcPct val="0"/>
        </a:spcBef>
        <a:spcAft>
          <a:spcPct val="0"/>
        </a:spcAft>
        <a:defRPr sz="3900" b="1">
          <a:solidFill>
            <a:schemeClr val="tx2"/>
          </a:solidFill>
          <a:latin typeface="Times New Roman" pitchFamily="18" charset="0"/>
        </a:defRPr>
      </a:lvl8pPr>
      <a:lvl9pPr marL="1828800" algn="l" rtl="0" fontAlgn="base">
        <a:spcBef>
          <a:spcPct val="0"/>
        </a:spcBef>
        <a:spcAft>
          <a:spcPct val="0"/>
        </a:spcAft>
        <a:defRPr sz="3900" b="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2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8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4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6"/>
          <p:cNvSpPr>
            <a:spLocks noGrp="1" noChangeArrowheads="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24,  Copyright © John C. Hull 2023</a:t>
            </a:r>
            <a:endParaRPr lang="en-US" altLang="en-US" sz="1400" i="0" dirty="0"/>
          </a:p>
        </p:txBody>
      </p:sp>
      <p:sp>
        <p:nvSpPr>
          <p:cNvPr id="13315" name="Rectangle 2"/>
          <p:cNvSpPr>
            <a:spLocks noGrp="1" noChangeArrowheads="1"/>
          </p:cNvSpPr>
          <p:nvPr>
            <p:ph type="ctrTitle"/>
          </p:nvPr>
        </p:nvSpPr>
        <p:spPr>
          <a:xfrm>
            <a:off x="1258888" y="476250"/>
            <a:ext cx="5905500" cy="1873250"/>
          </a:xfrm>
        </p:spPr>
        <p:txBody>
          <a:bodyPr/>
          <a:lstStyle/>
          <a:p>
            <a:pPr eaLnBrk="1" hangingPunct="1"/>
            <a:r>
              <a:rPr lang="en-CA" altLang="en-US" sz="4400"/>
              <a:t>Enterprise Risk Management</a:t>
            </a:r>
            <a:endParaRPr lang="en-US" altLang="en-US" sz="4400"/>
          </a:p>
        </p:txBody>
      </p:sp>
      <p:sp>
        <p:nvSpPr>
          <p:cNvPr id="2052" name="Text Box 4"/>
          <p:cNvSpPr txBox="1">
            <a:spLocks noChangeArrowheads="1"/>
          </p:cNvSpPr>
          <p:nvPr/>
        </p:nvSpPr>
        <p:spPr bwMode="auto">
          <a:xfrm rot="10815609" flipV="1">
            <a:off x="414338" y="3121025"/>
            <a:ext cx="6680200" cy="646113"/>
          </a:xfrm>
          <a:prstGeom prst="rect">
            <a:avLst/>
          </a:prstGeom>
          <a:noFill/>
          <a:ln w="9525">
            <a:noFill/>
            <a:miter lim="800000"/>
            <a:headEnd/>
            <a:tailEnd/>
          </a:ln>
          <a:effectLst/>
        </p:spPr>
        <p:txBody>
          <a:bodyPr>
            <a:spAutoFit/>
          </a:bodyPr>
          <a:lstStyle/>
          <a:p>
            <a:pPr algn="r" eaLnBrk="1" hangingPunct="1">
              <a:spcBef>
                <a:spcPct val="50000"/>
              </a:spcBef>
              <a:defRPr/>
            </a:pPr>
            <a:r>
              <a:rPr lang="en-US" sz="3600" dirty="0">
                <a:latin typeface="+mn-lt"/>
              </a:rPr>
              <a:t>Chapter 24  </a:t>
            </a:r>
          </a:p>
        </p:txBody>
      </p:sp>
      <p:sp>
        <p:nvSpPr>
          <p:cNvPr id="13317"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4266791-3BEE-414A-B280-485CD76F8535}" type="slidenum">
              <a:rPr lang="en-US" altLang="en-US" sz="1800"/>
              <a:pPr>
                <a:spcBef>
                  <a:spcPct val="0"/>
                </a:spcBef>
                <a:buClrTx/>
                <a:buSzTx/>
                <a:buFontTx/>
                <a:buNone/>
              </a:pPr>
              <a:t>1</a:t>
            </a:fld>
            <a:endParaRPr lang="en-US" altLang="en-US"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68313" y="-12700"/>
            <a:ext cx="7543800" cy="1295400"/>
          </a:xfrm>
        </p:spPr>
        <p:txBody>
          <a:bodyPr/>
          <a:lstStyle/>
          <a:p>
            <a:r>
              <a:rPr lang="en-CA" altLang="en-US"/>
              <a:t>Definition (COSO)</a:t>
            </a:r>
            <a:endParaRPr lang="en-US" altLang="en-US"/>
          </a:p>
        </p:txBody>
      </p:sp>
      <p:sp>
        <p:nvSpPr>
          <p:cNvPr id="14339" name="Content Placeholder 2"/>
          <p:cNvSpPr>
            <a:spLocks noGrp="1"/>
          </p:cNvSpPr>
          <p:nvPr>
            <p:ph idx="1"/>
          </p:nvPr>
        </p:nvSpPr>
        <p:spPr>
          <a:xfrm>
            <a:off x="284163" y="1417638"/>
            <a:ext cx="8229600" cy="4411662"/>
          </a:xfrm>
        </p:spPr>
        <p:txBody>
          <a:bodyPr/>
          <a:lstStyle/>
          <a:p>
            <a:pPr marL="0" indent="0">
              <a:buFont typeface="Wingdings" panose="05000000000000000000" pitchFamily="2" charset="2"/>
              <a:buNone/>
            </a:pPr>
            <a:r>
              <a:rPr lang="en-US" altLang="en-US" dirty="0"/>
              <a:t>“Enterprise risk management is a process, effected by an entity’s board of directors, management, and other personnel, applied in strategy setting and across the enterprise, designed to identify potential events that may affect the entity, and manage risk to be within its risk appetite, to provide reasonable assurance regarding the achievement of entity objectives.”</a:t>
            </a:r>
          </a:p>
          <a:p>
            <a:pPr marL="0" indent="0">
              <a:buFont typeface="Wingdings" panose="05000000000000000000" pitchFamily="2" charset="2"/>
              <a:buNone/>
            </a:pPr>
            <a:endParaRPr lang="en-US" altLang="en-US" dirty="0"/>
          </a:p>
        </p:txBody>
      </p:sp>
      <p:sp>
        <p:nvSpPr>
          <p:cNvPr id="1434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Risk Management and Financial Institutions 6e, Chapter 24,  Copyright © John C. Hull 2023</a:t>
            </a:r>
            <a:endParaRPr lang="en-US" altLang="en-US" i="0">
              <a:cs typeface="Arial" panose="020B0604020202020204" pitchFamily="34" charset="0"/>
            </a:endParaRPr>
          </a:p>
        </p:txBody>
      </p:sp>
      <p:sp>
        <p:nvSpPr>
          <p:cNvPr id="1434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791E1B2-9FBA-4E82-A6CC-CB4172763D8D}" type="slidenum">
              <a:rPr lang="en-US" altLang="en-US"/>
              <a:pPr/>
              <a:t>2</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CA" altLang="en-US"/>
              <a:t>Key Elements</a:t>
            </a:r>
            <a:endParaRPr lang="en-US" altLang="en-US"/>
          </a:p>
        </p:txBody>
      </p:sp>
      <p:sp>
        <p:nvSpPr>
          <p:cNvPr id="15363" name="Content Placeholder 2"/>
          <p:cNvSpPr>
            <a:spLocks noGrp="1"/>
          </p:cNvSpPr>
          <p:nvPr>
            <p:ph idx="1"/>
          </p:nvPr>
        </p:nvSpPr>
        <p:spPr/>
        <p:txBody>
          <a:bodyPr/>
          <a:lstStyle/>
          <a:p>
            <a:r>
              <a:rPr lang="en-CA" altLang="en-US"/>
              <a:t>Board involvement</a:t>
            </a:r>
          </a:p>
          <a:p>
            <a:r>
              <a:rPr lang="en-CA" altLang="en-US"/>
              <a:t>Part of company’s strategy and help a company achieve its objectives</a:t>
            </a:r>
          </a:p>
          <a:p>
            <a:r>
              <a:rPr lang="en-CA" altLang="en-US"/>
              <a:t>Identify adverse events</a:t>
            </a:r>
          </a:p>
          <a:p>
            <a:r>
              <a:rPr lang="en-CA" altLang="en-US"/>
              <a:t>Manage risks consistently with risk appetite</a:t>
            </a:r>
          </a:p>
        </p:txBody>
      </p:sp>
      <p:sp>
        <p:nvSpPr>
          <p:cNvPr id="1536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Risk Management and Financial Institutions 6e, Chapter 24,  Copyright © John C. Hull 2023</a:t>
            </a:r>
            <a:endParaRPr lang="en-US" altLang="en-US" i="0">
              <a:cs typeface="Arial" panose="020B0604020202020204" pitchFamily="34" charset="0"/>
            </a:endParaRPr>
          </a:p>
        </p:txBody>
      </p:sp>
      <p:sp>
        <p:nvSpPr>
          <p:cNvPr id="1536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D68AF0A-7280-4C1A-B9BC-E3B317EFA048}" type="slidenum">
              <a:rPr lang="en-US" altLang="en-US"/>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34975" y="-117475"/>
            <a:ext cx="7543800" cy="1295400"/>
          </a:xfrm>
        </p:spPr>
        <p:txBody>
          <a:bodyPr/>
          <a:lstStyle/>
          <a:p>
            <a:r>
              <a:rPr lang="en-CA" altLang="en-US"/>
              <a:t>Risk Appetite</a:t>
            </a:r>
            <a:endParaRPr lang="en-US" altLang="en-US"/>
          </a:p>
        </p:txBody>
      </p:sp>
      <p:sp>
        <p:nvSpPr>
          <p:cNvPr id="16387" name="Content Placeholder 2"/>
          <p:cNvSpPr>
            <a:spLocks noGrp="1"/>
          </p:cNvSpPr>
          <p:nvPr>
            <p:ph idx="1"/>
          </p:nvPr>
        </p:nvSpPr>
        <p:spPr>
          <a:xfrm>
            <a:off x="457200" y="1398588"/>
            <a:ext cx="8229600" cy="4411662"/>
          </a:xfrm>
        </p:spPr>
        <p:txBody>
          <a:bodyPr/>
          <a:lstStyle/>
          <a:p>
            <a:r>
              <a:rPr lang="en-CA" altLang="en-US"/>
              <a:t>Regulators require banks to develop risk appetite frameworks</a:t>
            </a:r>
          </a:p>
          <a:p>
            <a:pPr lvl="1"/>
            <a:r>
              <a:rPr lang="en-CA" altLang="en-US"/>
              <a:t>How much loss at what confidence level are we prepared to risk</a:t>
            </a:r>
          </a:p>
          <a:p>
            <a:pPr lvl="1"/>
            <a:r>
              <a:rPr lang="en-CA" altLang="en-US"/>
              <a:t>What reputation risk are we prepared to take</a:t>
            </a:r>
          </a:p>
          <a:p>
            <a:pPr lvl="1"/>
            <a:r>
              <a:rPr lang="en-CA" altLang="en-US"/>
              <a:t>What credit rating risk are we prepared to take</a:t>
            </a:r>
          </a:p>
          <a:p>
            <a:pPr lvl="1"/>
            <a:r>
              <a:rPr lang="en-CA" altLang="en-US"/>
              <a:t>How concentrated should we allow our risks to become</a:t>
            </a:r>
          </a:p>
          <a:p>
            <a:pPr lvl="1"/>
            <a:r>
              <a:rPr lang="en-CA" altLang="en-US"/>
              <a:t>etc</a:t>
            </a:r>
          </a:p>
          <a:p>
            <a:endParaRPr lang="en-US" altLang="en-US"/>
          </a:p>
        </p:txBody>
      </p:sp>
      <p:sp>
        <p:nvSpPr>
          <p:cNvPr id="1638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Risk Management and Financial Institutions 6e, Chapter 24,  Copyright © John C. Hull 2023</a:t>
            </a:r>
            <a:endParaRPr lang="en-US" altLang="en-US" i="0">
              <a:cs typeface="Arial" panose="020B0604020202020204" pitchFamily="34" charset="0"/>
            </a:endParaRPr>
          </a:p>
        </p:txBody>
      </p:sp>
      <p:sp>
        <p:nvSpPr>
          <p:cNvPr id="1638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874F3BA-AA37-4DCF-952C-1D98D78A65DB}" type="slidenum">
              <a:rPr lang="en-US" altLang="en-US"/>
              <a:pPr/>
              <a:t>4</a:t>
            </a:fld>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CA" altLang="en-US" dirty="0"/>
              <a:t>For a Fund Manager…</a:t>
            </a:r>
            <a:r>
              <a:rPr lang="en-CA" altLang="en-US" sz="2400" dirty="0"/>
              <a:t>(equation 24.1)</a:t>
            </a:r>
            <a:endParaRPr lang="en-US" altLang="en-US" sz="2400" dirty="0"/>
          </a:p>
        </p:txBody>
      </p:sp>
      <p:sp>
        <p:nvSpPr>
          <p:cNvPr id="3" name="Content Placeholder 2"/>
          <p:cNvSpPr>
            <a:spLocks noGrp="1"/>
          </p:cNvSpPr>
          <p:nvPr>
            <p:ph idx="1"/>
          </p:nvPr>
        </p:nvSpPr>
        <p:spPr/>
        <p:txBody>
          <a:bodyPr/>
          <a:lstStyle/>
          <a:p>
            <a:pPr>
              <a:defRPr/>
            </a:pPr>
            <a:r>
              <a:rPr lang="en-CA" sz="2800" dirty="0"/>
              <a:t>Key risk appetite question could be: What is the (very low) return, </a:t>
            </a:r>
            <a:r>
              <a:rPr lang="en-CA" sz="2800" i="1" dirty="0">
                <a:latin typeface="+mj-lt"/>
              </a:rPr>
              <a:t>R</a:t>
            </a:r>
            <a:r>
              <a:rPr lang="en-CA" sz="2800" dirty="0"/>
              <a:t>, that we want to be exceeded with a high probability </a:t>
            </a:r>
            <a:r>
              <a:rPr lang="en-CA" sz="2800" i="1" dirty="0">
                <a:latin typeface="+mj-lt"/>
              </a:rPr>
              <a:t>p</a:t>
            </a:r>
          </a:p>
          <a:p>
            <a:pPr>
              <a:defRPr/>
            </a:pPr>
            <a:r>
              <a:rPr lang="en-CA" sz="2800" dirty="0"/>
              <a:t>If </a:t>
            </a:r>
            <a:r>
              <a:rPr lang="en-CA" sz="2800" i="1" dirty="0">
                <a:latin typeface="+mj-lt"/>
              </a:rPr>
              <a:t>R</a:t>
            </a:r>
            <a:r>
              <a:rPr lang="en-CA" sz="2800" i="1" baseline="-25000" dirty="0">
                <a:latin typeface="+mj-lt"/>
              </a:rPr>
              <a:t>M</a:t>
            </a:r>
            <a:r>
              <a:rPr lang="en-CA" sz="2800" i="1" dirty="0">
                <a:latin typeface="+mj-lt"/>
              </a:rPr>
              <a:t> </a:t>
            </a:r>
            <a:r>
              <a:rPr lang="en-CA" sz="2800" dirty="0"/>
              <a:t>is the return from the market, </a:t>
            </a:r>
            <a:r>
              <a:rPr lang="en-CA" sz="2800" i="1" dirty="0">
                <a:latin typeface="+mj-lt"/>
              </a:rPr>
              <a:t>R</a:t>
            </a:r>
            <a:r>
              <a:rPr lang="en-CA" sz="2800" i="1" baseline="-25000" dirty="0">
                <a:latin typeface="+mj-lt"/>
              </a:rPr>
              <a:t>F</a:t>
            </a:r>
            <a:r>
              <a:rPr lang="en-CA" sz="2800" dirty="0"/>
              <a:t> is the risk-free return, and </a:t>
            </a:r>
            <a:r>
              <a:rPr lang="en-CA" sz="2800" i="1" dirty="0" err="1">
                <a:latin typeface="Symbol" panose="05050102010706020507" pitchFamily="18" charset="2"/>
              </a:rPr>
              <a:t>s</a:t>
            </a:r>
            <a:r>
              <a:rPr lang="en-CA" sz="2800" i="1" baseline="-25000" dirty="0" err="1">
                <a:latin typeface="+mj-lt"/>
              </a:rPr>
              <a:t>M</a:t>
            </a:r>
            <a:r>
              <a:rPr lang="en-CA" sz="2800" dirty="0"/>
              <a:t> is the standard deviation of the return from the market, then the </a:t>
            </a:r>
            <a:r>
              <a:rPr lang="en-CA" sz="2800" i="1" dirty="0">
                <a:latin typeface="Symbol" panose="05050102010706020507" pitchFamily="18" charset="2"/>
              </a:rPr>
              <a:t>b</a:t>
            </a:r>
            <a:r>
              <a:rPr lang="en-CA" sz="2800" dirty="0"/>
              <a:t> of the portfolio should be </a:t>
            </a:r>
            <a:endParaRPr lang="en-US" sz="2800" dirty="0"/>
          </a:p>
        </p:txBody>
      </p:sp>
      <p:sp>
        <p:nvSpPr>
          <p:cNvPr id="1741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Risk Management and Financial Institutions 6e, Chapter 24,  Copyright © John C. Hull 2023</a:t>
            </a:r>
            <a:endParaRPr lang="en-US" altLang="en-US" i="0">
              <a:cs typeface="Arial" panose="020B0604020202020204" pitchFamily="34" charset="0"/>
            </a:endParaRPr>
          </a:p>
        </p:txBody>
      </p:sp>
      <p:sp>
        <p:nvSpPr>
          <p:cNvPr id="1741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0CA589F-25F3-44DC-A939-6F548F783CD8}" type="slidenum">
              <a:rPr lang="en-US" altLang="en-US"/>
              <a:pPr/>
              <a:t>5</a:t>
            </a:fld>
            <a:endParaRPr lang="en-US" altLang="en-US"/>
          </a:p>
        </p:txBody>
      </p:sp>
      <p:graphicFrame>
        <p:nvGraphicFramePr>
          <p:cNvPr id="17414" name="Object 5"/>
          <p:cNvGraphicFramePr>
            <a:graphicFrameLocks noChangeAspect="1"/>
          </p:cNvGraphicFramePr>
          <p:nvPr/>
        </p:nvGraphicFramePr>
        <p:xfrm>
          <a:off x="2706688" y="5013325"/>
          <a:ext cx="3446462" cy="960438"/>
        </p:xfrm>
        <a:graphic>
          <a:graphicData uri="http://schemas.openxmlformats.org/presentationml/2006/ole">
            <mc:AlternateContent xmlns:mc="http://schemas.openxmlformats.org/markup-compatibility/2006">
              <mc:Choice xmlns:v="urn:schemas-microsoft-com:vml" Requires="v">
                <p:oleObj spid="_x0000_s1026" name="Equation" r:id="rId3" imgW="1548728" imgH="431613" progId="Equation.3">
                  <p:embed/>
                </p:oleObj>
              </mc:Choice>
              <mc:Fallback>
                <p:oleObj name="Equation" r:id="rId3" imgW="1548728" imgH="431613"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6688" y="5013325"/>
                        <a:ext cx="3446462"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CA" altLang="en-US"/>
              <a:t>Example</a:t>
            </a:r>
            <a:endParaRPr lang="en-US" altLang="en-US"/>
          </a:p>
        </p:txBody>
      </p:sp>
      <p:sp>
        <p:nvSpPr>
          <p:cNvPr id="3" name="Content Placeholder 2"/>
          <p:cNvSpPr>
            <a:spLocks noGrp="1"/>
          </p:cNvSpPr>
          <p:nvPr>
            <p:ph idx="1"/>
          </p:nvPr>
        </p:nvSpPr>
        <p:spPr/>
        <p:txBody>
          <a:bodyPr/>
          <a:lstStyle/>
          <a:p>
            <a:pPr>
              <a:defRPr/>
            </a:pPr>
            <a:r>
              <a:rPr lang="en-CA" sz="2800" dirty="0"/>
              <a:t>Between 2007 and 2021 the mean market return was 12.45% and the standard deviation was 16.88%</a:t>
            </a:r>
          </a:p>
          <a:p>
            <a:pPr>
              <a:defRPr/>
            </a:pPr>
            <a:r>
              <a:rPr lang="en-CA" sz="2800" dirty="0"/>
              <a:t>If a fund manager wants to be 95% certain that the return will be greater than −10% when </a:t>
            </a:r>
            <a:r>
              <a:rPr lang="en-CA" sz="2800" i="1" dirty="0">
                <a:latin typeface="+mj-lt"/>
              </a:rPr>
              <a:t>R</a:t>
            </a:r>
            <a:r>
              <a:rPr lang="en-CA" sz="2800" i="1" baseline="-25000" dirty="0">
                <a:latin typeface="+mj-lt"/>
              </a:rPr>
              <a:t>F </a:t>
            </a:r>
            <a:r>
              <a:rPr lang="en-CA" sz="2800" dirty="0"/>
              <a:t>= 2%, then the fund manager’s beta should be</a:t>
            </a:r>
            <a:endParaRPr lang="en-US" sz="2800" dirty="0"/>
          </a:p>
        </p:txBody>
      </p:sp>
      <p:sp>
        <p:nvSpPr>
          <p:cNvPr id="1843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Risk Management and Financial Institutions 6e, Chapter 24,  Copyright © John C. Hull 2023</a:t>
            </a:r>
            <a:endParaRPr lang="en-US" altLang="en-US" i="0">
              <a:cs typeface="Arial" panose="020B0604020202020204" pitchFamily="34" charset="0"/>
            </a:endParaRPr>
          </a:p>
        </p:txBody>
      </p:sp>
      <p:sp>
        <p:nvSpPr>
          <p:cNvPr id="1843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3DDED2F-6D88-41F9-9D3C-2D6C0775F436}" type="slidenum">
              <a:rPr lang="en-US" altLang="en-US"/>
              <a:pPr/>
              <a:t>6</a:t>
            </a:fld>
            <a:endParaRPr lang="en-US" altLang="en-US"/>
          </a:p>
        </p:txBody>
      </p:sp>
      <mc:AlternateContent xmlns:mc="http://schemas.openxmlformats.org/markup-compatibility/2006" xmlns:a14="http://schemas.microsoft.com/office/drawing/2010/main">
        <mc:Choice Requires="a14">
          <p:sp>
            <p:nvSpPr>
              <p:cNvPr id="18438" name="Object 5"/>
              <p:cNvSpPr txBox="1"/>
              <p:nvPr/>
            </p:nvSpPr>
            <p:spPr bwMode="auto">
              <a:xfrm>
                <a:off x="1909763" y="4941888"/>
                <a:ext cx="6154737" cy="922337"/>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en-CA" i="1" smtClean="0">
                          <a:solidFill>
                            <a:srgbClr val="000000"/>
                          </a:solidFill>
                          <a:latin typeface="Cambria Math" panose="02040503050406030204" pitchFamily="18" charset="0"/>
                        </a:rPr>
                        <m:t>𝛽</m:t>
                      </m:r>
                      <m:r>
                        <a:rPr lang="en-CA" i="1" smtClean="0">
                          <a:solidFill>
                            <a:srgbClr val="000000"/>
                          </a:solidFill>
                          <a:latin typeface="Cambria Math" panose="02040503050406030204" pitchFamily="18" charset="0"/>
                        </a:rPr>
                        <m:t>=</m:t>
                      </m:r>
                      <m:f>
                        <m:fPr>
                          <m:ctrlPr>
                            <a:rPr lang="en-CA" i="1">
                              <a:solidFill>
                                <a:srgbClr val="000000"/>
                              </a:solidFill>
                              <a:latin typeface="Cambria Math" panose="02040503050406030204" pitchFamily="18" charset="0"/>
                            </a:rPr>
                          </m:ctrlPr>
                        </m:fPr>
                        <m:num>
                          <m:r>
                            <a:rPr lang="en-CA" i="1">
                              <a:solidFill>
                                <a:srgbClr val="000000"/>
                              </a:solidFill>
                              <a:latin typeface="Cambria Math" panose="02040503050406030204" pitchFamily="18" charset="0"/>
                            </a:rPr>
                            <m:t>−0.1−0.02</m:t>
                          </m:r>
                        </m:num>
                        <m:den>
                          <m:r>
                            <a:rPr lang="en-CA" i="1">
                              <a:solidFill>
                                <a:srgbClr val="000000"/>
                              </a:solidFill>
                              <a:latin typeface="Cambria Math" panose="02040503050406030204" pitchFamily="18" charset="0"/>
                            </a:rPr>
                            <m:t>0.</m:t>
                          </m:r>
                          <m:r>
                            <a:rPr lang="en-CA" b="0" i="1" smtClean="0">
                              <a:solidFill>
                                <a:srgbClr val="000000"/>
                              </a:solidFill>
                              <a:latin typeface="Cambria Math" panose="02040503050406030204" pitchFamily="18" charset="0"/>
                            </a:rPr>
                            <m:t>1245</m:t>
                          </m:r>
                          <m:r>
                            <a:rPr lang="en-CA" i="1">
                              <a:solidFill>
                                <a:srgbClr val="000000"/>
                              </a:solidFill>
                              <a:latin typeface="Cambria Math" panose="02040503050406030204" pitchFamily="18" charset="0"/>
                            </a:rPr>
                            <m:t>−0.02+</m:t>
                          </m:r>
                          <m:sSup>
                            <m:sSupPr>
                              <m:ctrlPr>
                                <a:rPr lang="en-CA" i="1">
                                  <a:solidFill>
                                    <a:srgbClr val="000000"/>
                                  </a:solidFill>
                                  <a:latin typeface="Cambria Math" panose="02040503050406030204" pitchFamily="18" charset="0"/>
                                </a:rPr>
                              </m:ctrlPr>
                            </m:sSupPr>
                            <m:e>
                              <m:r>
                                <a:rPr lang="en-CA" i="1">
                                  <a:solidFill>
                                    <a:srgbClr val="000000"/>
                                  </a:solidFill>
                                  <a:latin typeface="Cambria Math" panose="02040503050406030204" pitchFamily="18" charset="0"/>
                                </a:rPr>
                                <m:t>𝑁</m:t>
                              </m:r>
                            </m:e>
                            <m:sup>
                              <m:r>
                                <a:rPr lang="en-CA" i="1">
                                  <a:solidFill>
                                    <a:srgbClr val="000000"/>
                                  </a:solidFill>
                                  <a:latin typeface="Cambria Math" panose="02040503050406030204" pitchFamily="18" charset="0"/>
                                </a:rPr>
                                <m:t>−1</m:t>
                              </m:r>
                            </m:sup>
                          </m:sSup>
                          <m:r>
                            <a:rPr lang="en-CA" i="1">
                              <a:solidFill>
                                <a:srgbClr val="000000"/>
                              </a:solidFill>
                              <a:latin typeface="Cambria Math" panose="02040503050406030204" pitchFamily="18" charset="0"/>
                            </a:rPr>
                            <m:t>(0.05)×0.1</m:t>
                          </m:r>
                          <m:r>
                            <a:rPr lang="en-CA" b="0" i="1" smtClean="0">
                              <a:solidFill>
                                <a:srgbClr val="000000"/>
                              </a:solidFill>
                              <a:latin typeface="Cambria Math" panose="02040503050406030204" pitchFamily="18" charset="0"/>
                            </a:rPr>
                            <m:t>688</m:t>
                          </m:r>
                        </m:den>
                      </m:f>
                      <m:r>
                        <a:rPr lang="en-CA" i="1">
                          <a:solidFill>
                            <a:srgbClr val="000000"/>
                          </a:solidFill>
                          <a:latin typeface="Cambria Math" panose="02040503050406030204" pitchFamily="18" charset="0"/>
                        </a:rPr>
                        <m:t>=0.</m:t>
                      </m:r>
                      <m:r>
                        <a:rPr lang="en-CA" b="0" i="1" smtClean="0">
                          <a:solidFill>
                            <a:srgbClr val="000000"/>
                          </a:solidFill>
                          <a:latin typeface="Cambria Math" panose="02040503050406030204" pitchFamily="18" charset="0"/>
                        </a:rPr>
                        <m:t>69</m:t>
                      </m:r>
                    </m:oMath>
                  </m:oMathPara>
                </a14:m>
                <a:endParaRPr lang="en-CA" dirty="0"/>
              </a:p>
            </p:txBody>
          </p:sp>
        </mc:Choice>
        <mc:Fallback xmlns="">
          <p:sp>
            <p:nvSpPr>
              <p:cNvPr id="18438" name="Object 5"/>
              <p:cNvSpPr txBox="1">
                <a:spLocks noRot="1" noChangeAspect="1" noMove="1" noResize="1" noEditPoints="1" noAdjustHandles="1" noChangeArrowheads="1" noChangeShapeType="1" noTextEdit="1"/>
              </p:cNvSpPr>
              <p:nvPr/>
            </p:nvSpPr>
            <p:spPr bwMode="auto">
              <a:xfrm>
                <a:off x="1909763" y="4941888"/>
                <a:ext cx="6154737" cy="922337"/>
              </a:xfrm>
              <a:prstGeom prst="rect">
                <a:avLst/>
              </a:prstGeom>
              <a:blipFill>
                <a:blip r:embed="rId2"/>
                <a:stretch>
                  <a:fillRect/>
                </a:stretch>
              </a:blipFill>
              <a:ln>
                <a:noFill/>
              </a:ln>
            </p:spPr>
            <p:txBody>
              <a:bodyPr/>
              <a:lstStyle/>
              <a:p>
                <a:r>
                  <a:rPr lang="en-CA">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452438" y="-171450"/>
            <a:ext cx="7543800" cy="1295400"/>
          </a:xfrm>
        </p:spPr>
        <p:txBody>
          <a:bodyPr/>
          <a:lstStyle/>
          <a:p>
            <a:r>
              <a:rPr lang="en-CA" altLang="en-US"/>
              <a:t>Risk Culture</a:t>
            </a:r>
            <a:endParaRPr lang="en-US" altLang="en-US"/>
          </a:p>
        </p:txBody>
      </p:sp>
      <p:sp>
        <p:nvSpPr>
          <p:cNvPr id="19459" name="Content Placeholder 2"/>
          <p:cNvSpPr>
            <a:spLocks noGrp="1"/>
          </p:cNvSpPr>
          <p:nvPr>
            <p:ph idx="1"/>
          </p:nvPr>
        </p:nvSpPr>
        <p:spPr>
          <a:xfrm>
            <a:off x="457200" y="1341438"/>
            <a:ext cx="8229600" cy="4411662"/>
          </a:xfrm>
        </p:spPr>
        <p:txBody>
          <a:bodyPr/>
          <a:lstStyle/>
          <a:p>
            <a:r>
              <a:rPr lang="en-CA" altLang="en-US" sz="2800"/>
              <a:t>Decisions should be made in a disciplined way</a:t>
            </a:r>
          </a:p>
          <a:p>
            <a:r>
              <a:rPr lang="en-CA" altLang="en-US" sz="2800"/>
              <a:t>Both short term and long term consequences should be considered</a:t>
            </a:r>
          </a:p>
          <a:p>
            <a:r>
              <a:rPr lang="en-CA" altLang="en-US" sz="2800"/>
              <a:t>Sometimes decisions that are profitable in the short run can have adverse reputational and legal consequences in the long run</a:t>
            </a:r>
          </a:p>
          <a:p>
            <a:r>
              <a:rPr lang="en-CA" altLang="en-US" sz="2800"/>
              <a:t>Examples:</a:t>
            </a:r>
          </a:p>
          <a:p>
            <a:pPr lvl="1"/>
            <a:r>
              <a:rPr lang="en-CA" altLang="en-US" sz="2400"/>
              <a:t>Bankers Trust</a:t>
            </a:r>
          </a:p>
          <a:p>
            <a:pPr lvl="1"/>
            <a:r>
              <a:rPr lang="en-CA" altLang="en-US" sz="2400"/>
              <a:t>Santander Rail deal</a:t>
            </a:r>
          </a:p>
          <a:p>
            <a:pPr lvl="1"/>
            <a:r>
              <a:rPr lang="en-CA" altLang="en-US" sz="2400"/>
              <a:t>Abacus</a:t>
            </a:r>
          </a:p>
        </p:txBody>
      </p:sp>
      <p:sp>
        <p:nvSpPr>
          <p:cNvPr id="1946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Risk Management and Financial Institutions 6e, Chapter 24,  Copyright © John C. Hull 2023</a:t>
            </a:r>
            <a:endParaRPr lang="en-US" altLang="en-US" i="0">
              <a:cs typeface="Arial" panose="020B0604020202020204" pitchFamily="34" charset="0"/>
            </a:endParaRPr>
          </a:p>
        </p:txBody>
      </p:sp>
      <p:sp>
        <p:nvSpPr>
          <p:cNvPr id="1946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791CC27-34D1-4180-BF99-84A27B950BA6}" type="slidenum">
              <a:rPr lang="en-US" altLang="en-US"/>
              <a:pPr/>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CA" altLang="en-US"/>
              <a:t>Improving Risk Culture</a:t>
            </a:r>
            <a:endParaRPr lang="en-US" altLang="en-US"/>
          </a:p>
        </p:txBody>
      </p:sp>
      <p:sp>
        <p:nvSpPr>
          <p:cNvPr id="20483" name="Content Placeholder 2"/>
          <p:cNvSpPr>
            <a:spLocks noGrp="1"/>
          </p:cNvSpPr>
          <p:nvPr>
            <p:ph idx="1"/>
          </p:nvPr>
        </p:nvSpPr>
        <p:spPr/>
        <p:txBody>
          <a:bodyPr/>
          <a:lstStyle/>
          <a:p>
            <a:r>
              <a:rPr lang="en-CA" altLang="en-US"/>
              <a:t>Goldman Sachs showed in the aftermath of Abacus that it is possible to change the risk culture</a:t>
            </a:r>
            <a:endParaRPr lang="en-US" altLang="en-US"/>
          </a:p>
        </p:txBody>
      </p:sp>
      <p:sp>
        <p:nvSpPr>
          <p:cNvPr id="2048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Risk Management and Financial Institutions 6e, Chapter 24,  Copyright © John C. Hull 2023</a:t>
            </a:r>
            <a:endParaRPr lang="en-US" altLang="en-US" i="0">
              <a:cs typeface="Arial" panose="020B0604020202020204" pitchFamily="34" charset="0"/>
            </a:endParaRPr>
          </a:p>
        </p:txBody>
      </p:sp>
      <p:sp>
        <p:nvSpPr>
          <p:cNvPr id="2048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3757BB5-75AB-4001-A255-C873A2720F6A}" type="slidenum">
              <a:rPr lang="en-US" altLang="en-US"/>
              <a:pPr/>
              <a:t>8</a:t>
            </a:fld>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CA" altLang="en-US"/>
              <a:t>Major Risks</a:t>
            </a:r>
            <a:endParaRPr lang="en-US" altLang="en-US"/>
          </a:p>
        </p:txBody>
      </p:sp>
      <p:sp>
        <p:nvSpPr>
          <p:cNvPr id="21507" name="Content Placeholder 2"/>
          <p:cNvSpPr>
            <a:spLocks noGrp="1"/>
          </p:cNvSpPr>
          <p:nvPr>
            <p:ph idx="1"/>
          </p:nvPr>
        </p:nvSpPr>
        <p:spPr/>
        <p:txBody>
          <a:bodyPr/>
          <a:lstStyle/>
          <a:p>
            <a:r>
              <a:rPr lang="en-CA" altLang="en-US"/>
              <a:t>Important to identify major risks and decide what action, if any, should be taken</a:t>
            </a:r>
          </a:p>
          <a:p>
            <a:r>
              <a:rPr lang="en-CA" altLang="en-US"/>
              <a:t>Alternatives:</a:t>
            </a:r>
          </a:p>
          <a:p>
            <a:pPr lvl="1"/>
            <a:r>
              <a:rPr lang="en-CA" altLang="en-US"/>
              <a:t>Exit activity giving rise to risk</a:t>
            </a:r>
          </a:p>
          <a:p>
            <a:pPr lvl="1"/>
            <a:r>
              <a:rPr lang="en-CA" altLang="en-US"/>
              <a:t>Reduce probability of adverse event</a:t>
            </a:r>
          </a:p>
          <a:p>
            <a:pPr lvl="1"/>
            <a:r>
              <a:rPr lang="en-CA" altLang="en-US"/>
              <a:t>Modify plans to reduce risk</a:t>
            </a:r>
          </a:p>
          <a:p>
            <a:pPr lvl="1"/>
            <a:r>
              <a:rPr lang="en-CA" altLang="en-US"/>
              <a:t>Transfer all or part of risk</a:t>
            </a:r>
          </a:p>
          <a:p>
            <a:pPr lvl="1"/>
            <a:r>
              <a:rPr lang="en-CA" altLang="en-US"/>
              <a:t>Take no action</a:t>
            </a:r>
            <a:endParaRPr lang="en-US" altLang="en-US"/>
          </a:p>
        </p:txBody>
      </p:sp>
      <p:sp>
        <p:nvSpPr>
          <p:cNvPr id="2150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Risk Management and Financial Institutions 6e, Chapter 24,  Copyright © John C. Hull 2023</a:t>
            </a:r>
            <a:endParaRPr lang="en-US" altLang="en-US" i="0">
              <a:cs typeface="Arial" panose="020B0604020202020204" pitchFamily="34" charset="0"/>
            </a:endParaRPr>
          </a:p>
        </p:txBody>
      </p:sp>
      <p:sp>
        <p:nvSpPr>
          <p:cNvPr id="2150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B109551-678D-4F1F-969B-27B5F946D823}" type="slidenum">
              <a:rPr lang="en-US" altLang="en-US"/>
              <a:pPr/>
              <a:t>9</a:t>
            </a:fld>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CA" altLang="en-US"/>
              <a:t>Avoid Cognitive Biases when Considering Risks</a:t>
            </a:r>
            <a:endParaRPr lang="en-US" altLang="en-US"/>
          </a:p>
        </p:txBody>
      </p:sp>
      <p:sp>
        <p:nvSpPr>
          <p:cNvPr id="22531" name="Content Placeholder 2"/>
          <p:cNvSpPr>
            <a:spLocks noGrp="1"/>
          </p:cNvSpPr>
          <p:nvPr>
            <p:ph idx="1"/>
          </p:nvPr>
        </p:nvSpPr>
        <p:spPr/>
        <p:txBody>
          <a:bodyPr/>
          <a:lstStyle/>
          <a:p>
            <a:r>
              <a:rPr lang="en-CA" altLang="en-US"/>
              <a:t>Wishful thinking</a:t>
            </a:r>
          </a:p>
          <a:p>
            <a:r>
              <a:rPr lang="en-CA" altLang="en-US"/>
              <a:t>Anchoring on to first estimate</a:t>
            </a:r>
          </a:p>
          <a:p>
            <a:r>
              <a:rPr lang="en-CA" altLang="en-US"/>
              <a:t>Availability (recent information given too much weight)</a:t>
            </a:r>
          </a:p>
          <a:p>
            <a:r>
              <a:rPr lang="en-CA" altLang="en-US"/>
              <a:t>Representativeness (too much reliable on previous experiences)</a:t>
            </a:r>
          </a:p>
          <a:p>
            <a:r>
              <a:rPr lang="en-CA" altLang="en-US"/>
              <a:t>Inverting conditionality</a:t>
            </a:r>
          </a:p>
          <a:p>
            <a:r>
              <a:rPr lang="en-CA" altLang="en-US"/>
              <a:t>Sunk costs bias</a:t>
            </a:r>
            <a:endParaRPr lang="en-US" altLang="en-US"/>
          </a:p>
        </p:txBody>
      </p:sp>
      <p:sp>
        <p:nvSpPr>
          <p:cNvPr id="2253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Risk Management and Financial Institutions 6e, Chapter 24,  Copyright © John C. Hull 2023</a:t>
            </a:r>
            <a:endParaRPr lang="en-US" altLang="en-US" i="0">
              <a:cs typeface="Arial" panose="020B0604020202020204" pitchFamily="34" charset="0"/>
            </a:endParaRPr>
          </a:p>
        </p:txBody>
      </p:sp>
      <p:sp>
        <p:nvSpPr>
          <p:cNvPr id="2253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5B5F08F-1698-4F0A-A1D7-C22F7E1EF543}" type="slidenum">
              <a:rPr lang="en-US" altLang="en-US"/>
              <a:pPr/>
              <a:t>10</a:t>
            </a:fld>
            <a:endParaRPr lang="en-US" altLang="en-US"/>
          </a:p>
        </p:txBody>
      </p:sp>
    </p:spTree>
  </p:cSld>
  <p:clrMapOvr>
    <a:masterClrMapping/>
  </p:clrMapOvr>
</p:sld>
</file>

<file path=ppt/theme/theme1.xml><?xml version="1.0" encoding="utf-8"?>
<a:theme xmlns:a="http://schemas.openxmlformats.org/drawingml/2006/main" name="HullRMFICh12">
  <a:themeElements>
    <a:clrScheme name="HullRMFICh12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HullRMFICh12">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HullRMFICh12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HullRMFICh12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HullRMFICh12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HullRMFICh12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HullRMFICh12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HullRMFICh12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HullRMFICh12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HullRMFICh12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HullRMFICh12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HullRMFICh12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3" ma:contentTypeDescription="Create a new document." ma:contentTypeScope="" ma:versionID="14dc9d57259abab41c863f8d0f9e2276">
  <xsd:schema xmlns:xsd="http://www.w3.org/2001/XMLSchema" xmlns:xs="http://www.w3.org/2001/XMLSchema" xmlns:p="http://schemas.microsoft.com/office/2006/metadata/properties" xmlns:ns2="cd351f98-0ba7-41cd-87bd-5169e413bab1" targetNamespace="http://schemas.microsoft.com/office/2006/metadata/properties" ma:root="true" ma:fieldsID="f27d059874946e97d17eaa08f9af4415" ns2:_="">
    <xsd:import namespace="cd351f98-0ba7-41cd-87bd-5169e413bab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351f98-0ba7-41cd-87bd-5169e413ba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4F00D9D-32C0-4B1F-B582-6FF5DFD0FD95}"/>
</file>

<file path=customXml/itemProps2.xml><?xml version="1.0" encoding="utf-8"?>
<ds:datastoreItem xmlns:ds="http://schemas.openxmlformats.org/officeDocument/2006/customXml" ds:itemID="{D1F7A9C0-93BC-4A1B-AB98-8391EE17449F}"/>
</file>

<file path=customXml/itemProps3.xml><?xml version="1.0" encoding="utf-8"?>
<ds:datastoreItem xmlns:ds="http://schemas.openxmlformats.org/officeDocument/2006/customXml" ds:itemID="{96238C61-590E-4137-9DE5-AA520B3A640D}"/>
</file>

<file path=docProps/app.xml><?xml version="1.0" encoding="utf-8"?>
<Properties xmlns="http://schemas.openxmlformats.org/officeDocument/2006/extended-properties" xmlns:vt="http://schemas.openxmlformats.org/officeDocument/2006/docPropsVTypes">
  <Template>HullRMFICh15</Template>
  <TotalTime>664</TotalTime>
  <Words>603</Words>
  <Application>Microsoft Office PowerPoint</Application>
  <PresentationFormat>On-screen Show (4:3)</PresentationFormat>
  <Paragraphs>68</Paragraphs>
  <Slides>10</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7" baseType="lpstr">
      <vt:lpstr>Arial</vt:lpstr>
      <vt:lpstr>Cambria Math</vt:lpstr>
      <vt:lpstr>Symbol</vt:lpstr>
      <vt:lpstr>Times New Roman</vt:lpstr>
      <vt:lpstr>Wingdings</vt:lpstr>
      <vt:lpstr>HullRMFICh12</vt:lpstr>
      <vt:lpstr>Equation</vt:lpstr>
      <vt:lpstr>Enterprise Risk Management</vt:lpstr>
      <vt:lpstr>Definition (COSO)</vt:lpstr>
      <vt:lpstr>Key Elements</vt:lpstr>
      <vt:lpstr>Risk Appetite</vt:lpstr>
      <vt:lpstr>For a Fund Manager…(equation 24.1)</vt:lpstr>
      <vt:lpstr>Example</vt:lpstr>
      <vt:lpstr>Risk Culture</vt:lpstr>
      <vt:lpstr>Improving Risk Culture</vt:lpstr>
      <vt:lpstr>Major Risks</vt:lpstr>
      <vt:lpstr>Avoid Cognitive Biases when Considering Risks</vt:lpstr>
    </vt:vector>
  </TitlesOfParts>
  <Company>Rotman 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Management and Financial Institutions</dc:title>
  <dc:subject>Chapter 27</dc:subject>
  <dc:creator>John  Hull</dc:creator>
  <cp:keywords>5th Edition</cp:keywords>
  <dc:description>Copyright 2018 by John Hull._x000d_
All rights reserved.</dc:description>
  <cp:lastModifiedBy>John Hull</cp:lastModifiedBy>
  <cp:revision>55</cp:revision>
  <dcterms:created xsi:type="dcterms:W3CDTF">2002-03-17T23:57:27Z</dcterms:created>
  <dcterms:modified xsi:type="dcterms:W3CDTF">2022-12-01T21:30:51Z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