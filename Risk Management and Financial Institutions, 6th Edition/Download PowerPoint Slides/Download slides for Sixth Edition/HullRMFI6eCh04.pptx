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1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9"/>
  </p:notesMasterIdLst>
  <p:handoutMasterIdLst>
    <p:handoutMasterId r:id="rId20"/>
  </p:handoutMasterIdLst>
  <p:sldIdLst>
    <p:sldId id="303" r:id="rId2"/>
    <p:sldId id="304" r:id="rId3"/>
    <p:sldId id="306" r:id="rId4"/>
    <p:sldId id="307" r:id="rId5"/>
    <p:sldId id="308" r:id="rId6"/>
    <p:sldId id="309" r:id="rId7"/>
    <p:sldId id="310" r:id="rId8"/>
    <p:sldId id="311" r:id="rId9"/>
    <p:sldId id="312" r:id="rId10"/>
    <p:sldId id="313" r:id="rId11"/>
    <p:sldId id="315" r:id="rId12"/>
    <p:sldId id="316" r:id="rId13"/>
    <p:sldId id="317" r:id="rId14"/>
    <p:sldId id="318" r:id="rId15"/>
    <p:sldId id="319" r:id="rId16"/>
    <p:sldId id="320" r:id="rId17"/>
    <p:sldId id="321" r:id="rId1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4" autoAdjust="0"/>
    <p:restoredTop sz="94576" autoAdjust="0"/>
  </p:normalViewPr>
  <p:slideViewPr>
    <p:cSldViewPr>
      <p:cViewPr varScale="1">
        <p:scale>
          <a:sx n="131" d="100"/>
          <a:sy n="131" d="100"/>
        </p:scale>
        <p:origin x="966" y="1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34"/>
    </p:cViewPr>
  </p:sorterViewPr>
  <p:notesViewPr>
    <p:cSldViewPr>
      <p:cViewPr varScale="1">
        <p:scale>
          <a:sx n="81" d="100"/>
          <a:sy n="81" d="100"/>
        </p:scale>
        <p:origin x="-1968"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102403"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102404"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102405"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184FBF51-BB5E-4F3B-AB95-CBD1AB710F04}" type="slidenum">
              <a:rPr lang="en-US" altLang="en-US"/>
              <a:pPr>
                <a:defRPr/>
              </a:pPr>
              <a:t>‹#›</a:t>
            </a:fld>
            <a:endParaRPr lang="en-US" altLang="en-US"/>
          </a:p>
        </p:txBody>
      </p:sp>
    </p:spTree>
    <p:extLst>
      <p:ext uri="{BB962C8B-B14F-4D97-AF65-F5344CB8AC3E}">
        <p14:creationId xmlns:p14="http://schemas.microsoft.com/office/powerpoint/2010/main" val="37872290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9728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728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9728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37C48E40-CDED-47AC-84DF-A45C3264AFD3}" type="slidenum">
              <a:rPr lang="en-US" altLang="en-US"/>
              <a:pPr>
                <a:defRPr/>
              </a:pPr>
              <a:t>‹#›</a:t>
            </a:fld>
            <a:endParaRPr lang="en-US" altLang="en-US"/>
          </a:p>
        </p:txBody>
      </p:sp>
    </p:spTree>
    <p:extLst>
      <p:ext uri="{BB962C8B-B14F-4D97-AF65-F5344CB8AC3E}">
        <p14:creationId xmlns:p14="http://schemas.microsoft.com/office/powerpoint/2010/main" val="30446323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97254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5333526-635A-4218-B6A1-E7EF377883C2}" type="slidenum">
              <a:rPr lang="en-US" altLang="en-US" sz="1300"/>
              <a:pPr>
                <a:spcBef>
                  <a:spcPct val="0"/>
                </a:spcBef>
              </a:pPr>
              <a:t>2</a:t>
            </a:fld>
            <a:endParaRPr lang="en-US" altLang="en-US" sz="1300"/>
          </a:p>
        </p:txBody>
      </p:sp>
    </p:spTree>
    <p:extLst>
      <p:ext uri="{BB962C8B-B14F-4D97-AF65-F5344CB8AC3E}">
        <p14:creationId xmlns:p14="http://schemas.microsoft.com/office/powerpoint/2010/main" val="1834828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00C64A-6301-4767-BF9E-E91180581792}" type="slidenum">
              <a:rPr lang="en-US" altLang="en-US" sz="1300"/>
              <a:pPr>
                <a:spcBef>
                  <a:spcPct val="0"/>
                </a:spcBef>
              </a:pPr>
              <a:t>3</a:t>
            </a:fld>
            <a:endParaRPr lang="en-US" altLang="en-US" sz="1300"/>
          </a:p>
        </p:txBody>
      </p:sp>
    </p:spTree>
    <p:extLst>
      <p:ext uri="{BB962C8B-B14F-4D97-AF65-F5344CB8AC3E}">
        <p14:creationId xmlns:p14="http://schemas.microsoft.com/office/powerpoint/2010/main" val="1521251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C89B948-342A-4017-B943-83576F9CF17F}" type="slidenum">
              <a:rPr lang="en-US" altLang="en-US" sz="1300"/>
              <a:pPr>
                <a:spcBef>
                  <a:spcPct val="0"/>
                </a:spcBef>
              </a:pPr>
              <a:t>4</a:t>
            </a:fld>
            <a:endParaRPr lang="en-US" altLang="en-US" sz="1300"/>
          </a:p>
        </p:txBody>
      </p:sp>
    </p:spTree>
    <p:extLst>
      <p:ext uri="{BB962C8B-B14F-4D97-AF65-F5344CB8AC3E}">
        <p14:creationId xmlns:p14="http://schemas.microsoft.com/office/powerpoint/2010/main" val="265579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2869B5-68AD-472D-80FF-66B3B0036C20}" type="slidenum">
              <a:rPr lang="en-US" altLang="en-US" sz="1300"/>
              <a:pPr>
                <a:spcBef>
                  <a:spcPct val="0"/>
                </a:spcBef>
              </a:pPr>
              <a:t>5</a:t>
            </a:fld>
            <a:endParaRPr lang="en-US" altLang="en-US" sz="1300"/>
          </a:p>
        </p:txBody>
      </p:sp>
    </p:spTree>
    <p:extLst>
      <p:ext uri="{BB962C8B-B14F-4D97-AF65-F5344CB8AC3E}">
        <p14:creationId xmlns:p14="http://schemas.microsoft.com/office/powerpoint/2010/main" val="7711136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1904E6E-718F-4D66-A547-CF0502EF4B72}" type="slidenum">
              <a:rPr lang="en-US" altLang="en-US" sz="1300"/>
              <a:pPr>
                <a:spcBef>
                  <a:spcPct val="0"/>
                </a:spcBef>
              </a:pPr>
              <a:t>6</a:t>
            </a:fld>
            <a:endParaRPr lang="en-US" altLang="en-US" sz="1300"/>
          </a:p>
        </p:txBody>
      </p:sp>
    </p:spTree>
    <p:extLst>
      <p:ext uri="{BB962C8B-B14F-4D97-AF65-F5344CB8AC3E}">
        <p14:creationId xmlns:p14="http://schemas.microsoft.com/office/powerpoint/2010/main" val="2023809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F99295D-502E-479E-A662-A54B2960FDC6}" type="slidenum">
              <a:rPr lang="en-US" altLang="en-US" sz="1300"/>
              <a:pPr>
                <a:spcBef>
                  <a:spcPct val="0"/>
                </a:spcBef>
              </a:pPr>
              <a:t>7</a:t>
            </a:fld>
            <a:endParaRPr lang="en-US" altLang="en-US" sz="1300"/>
          </a:p>
        </p:txBody>
      </p:sp>
    </p:spTree>
    <p:extLst>
      <p:ext uri="{BB962C8B-B14F-4D97-AF65-F5344CB8AC3E}">
        <p14:creationId xmlns:p14="http://schemas.microsoft.com/office/powerpoint/2010/main" val="247449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3275F0-22E5-4059-A6C3-399CCA551993}" type="slidenum">
              <a:rPr lang="en-US" altLang="en-US" sz="1300"/>
              <a:pPr>
                <a:spcBef>
                  <a:spcPct val="0"/>
                </a:spcBef>
              </a:pPr>
              <a:t>8</a:t>
            </a:fld>
            <a:endParaRPr lang="en-US" altLang="en-US" sz="1300"/>
          </a:p>
        </p:txBody>
      </p:sp>
    </p:spTree>
    <p:extLst>
      <p:ext uri="{BB962C8B-B14F-4D97-AF65-F5344CB8AC3E}">
        <p14:creationId xmlns:p14="http://schemas.microsoft.com/office/powerpoint/2010/main" val="1785466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EDE9D71-79C4-4178-B39C-AA61C83B1DE3}" type="slidenum">
              <a:rPr lang="en-US" altLang="en-US" sz="1300"/>
              <a:pPr>
                <a:spcBef>
                  <a:spcPct val="0"/>
                </a:spcBef>
              </a:pPr>
              <a:t>9</a:t>
            </a:fld>
            <a:endParaRPr lang="en-US" altLang="en-US" sz="1300"/>
          </a:p>
        </p:txBody>
      </p:sp>
    </p:spTree>
    <p:extLst>
      <p:ext uri="{BB962C8B-B14F-4D97-AF65-F5344CB8AC3E}">
        <p14:creationId xmlns:p14="http://schemas.microsoft.com/office/powerpoint/2010/main" val="2795668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74434A-2C00-4B32-B56B-C5854D43205F}" type="slidenum">
              <a:rPr lang="en-US" altLang="en-US" sz="1300"/>
              <a:pPr>
                <a:spcBef>
                  <a:spcPct val="0"/>
                </a:spcBef>
              </a:pPr>
              <a:t>10</a:t>
            </a:fld>
            <a:endParaRPr lang="en-US" altLang="en-US" sz="1300"/>
          </a:p>
        </p:txBody>
      </p:sp>
    </p:spTree>
    <p:extLst>
      <p:ext uri="{BB962C8B-B14F-4D97-AF65-F5344CB8AC3E}">
        <p14:creationId xmlns:p14="http://schemas.microsoft.com/office/powerpoint/2010/main" val="22002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968C11D-15B6-4C0E-8B19-970189526152}" type="slidenum">
              <a:rPr lang="en-US" altLang="en-US" sz="1300"/>
              <a:pPr>
                <a:spcBef>
                  <a:spcPct val="0"/>
                </a:spcBef>
              </a:pPr>
              <a:t>11</a:t>
            </a:fld>
            <a:endParaRPr lang="en-US" altLang="en-US" sz="1300"/>
          </a:p>
        </p:txBody>
      </p:sp>
    </p:spTree>
    <p:extLst>
      <p:ext uri="{BB962C8B-B14F-4D97-AF65-F5344CB8AC3E}">
        <p14:creationId xmlns:p14="http://schemas.microsoft.com/office/powerpoint/2010/main" val="3434022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BC1EE9-17B4-409B-BD1D-02FEAAAB5A19}" type="slidenum">
              <a:rPr lang="en-US" altLang="en-US" sz="1300"/>
              <a:pPr>
                <a:spcBef>
                  <a:spcPct val="0"/>
                </a:spcBef>
              </a:pPr>
              <a:t>12</a:t>
            </a:fld>
            <a:endParaRPr lang="en-US" altLang="en-US" sz="1300"/>
          </a:p>
        </p:txBody>
      </p:sp>
    </p:spTree>
    <p:extLst>
      <p:ext uri="{BB962C8B-B14F-4D97-AF65-F5344CB8AC3E}">
        <p14:creationId xmlns:p14="http://schemas.microsoft.com/office/powerpoint/2010/main" val="1362510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DF79F7-E5A9-458B-AF1D-0E54D281482B}" type="slidenum">
              <a:rPr lang="en-US" altLang="en-US" sz="1300"/>
              <a:pPr>
                <a:spcBef>
                  <a:spcPct val="0"/>
                </a:spcBef>
              </a:pPr>
              <a:t>13</a:t>
            </a:fld>
            <a:endParaRPr lang="en-US" altLang="en-US" sz="1300"/>
          </a:p>
        </p:txBody>
      </p:sp>
    </p:spTree>
    <p:extLst>
      <p:ext uri="{BB962C8B-B14F-4D97-AF65-F5344CB8AC3E}">
        <p14:creationId xmlns:p14="http://schemas.microsoft.com/office/powerpoint/2010/main" val="2239834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0F5467C-2986-41B6-82D5-AECE6C4CE498}" type="slidenum">
              <a:rPr lang="en-US" altLang="en-US" sz="1300"/>
              <a:pPr>
                <a:spcBef>
                  <a:spcPct val="0"/>
                </a:spcBef>
              </a:pPr>
              <a:t>14</a:t>
            </a:fld>
            <a:endParaRPr lang="en-US" altLang="en-US" sz="1300"/>
          </a:p>
        </p:txBody>
      </p:sp>
    </p:spTree>
    <p:extLst>
      <p:ext uri="{BB962C8B-B14F-4D97-AF65-F5344CB8AC3E}">
        <p14:creationId xmlns:p14="http://schemas.microsoft.com/office/powerpoint/2010/main" val="1921251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893205-B1F1-4F7F-A031-5144321D41E8}" type="slidenum">
              <a:rPr lang="en-US" altLang="en-US" sz="1300"/>
              <a:pPr>
                <a:spcBef>
                  <a:spcPct val="0"/>
                </a:spcBef>
              </a:pPr>
              <a:t>15</a:t>
            </a:fld>
            <a:endParaRPr lang="en-US" altLang="en-US" sz="1300"/>
          </a:p>
        </p:txBody>
      </p:sp>
    </p:spTree>
    <p:extLst>
      <p:ext uri="{BB962C8B-B14F-4D97-AF65-F5344CB8AC3E}">
        <p14:creationId xmlns:p14="http://schemas.microsoft.com/office/powerpoint/2010/main" val="18879578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B537A3-53EF-435D-940F-DE550EA7DB54}" type="slidenum">
              <a:rPr lang="en-US" altLang="en-US" sz="1300"/>
              <a:pPr>
                <a:spcBef>
                  <a:spcPct val="0"/>
                </a:spcBef>
              </a:pPr>
              <a:t>16</a:t>
            </a:fld>
            <a:endParaRPr lang="en-US" altLang="en-US" sz="1300"/>
          </a:p>
        </p:txBody>
      </p:sp>
    </p:spTree>
    <p:extLst>
      <p:ext uri="{BB962C8B-B14F-4D97-AF65-F5344CB8AC3E}">
        <p14:creationId xmlns:p14="http://schemas.microsoft.com/office/powerpoint/2010/main" val="1796773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3F6D71-C0C8-4533-915F-90743FC21E43}" type="slidenum">
              <a:rPr lang="en-US" altLang="en-US" sz="1300"/>
              <a:pPr>
                <a:spcBef>
                  <a:spcPct val="0"/>
                </a:spcBef>
              </a:pPr>
              <a:t>17</a:t>
            </a:fld>
            <a:endParaRPr lang="en-US" altLang="en-US" sz="1300"/>
          </a:p>
        </p:txBody>
      </p:sp>
    </p:spTree>
    <p:extLst>
      <p:ext uri="{BB962C8B-B14F-4D97-AF65-F5344CB8AC3E}">
        <p14:creationId xmlns:p14="http://schemas.microsoft.com/office/powerpoint/2010/main" val="261959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11"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7101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837A4567-E764-476A-8F38-B0860B7B926A}" type="slidenum">
              <a:rPr lang="en-US" altLang="en-US"/>
              <a:pPr>
                <a:defRPr/>
              </a:pPr>
              <a:t>‹#›</a:t>
            </a:fld>
            <a:endParaRPr lang="en-US" altLang="en-US"/>
          </a:p>
        </p:txBody>
      </p:sp>
    </p:spTree>
    <p:extLst>
      <p:ext uri="{BB962C8B-B14F-4D97-AF65-F5344CB8AC3E}">
        <p14:creationId xmlns:p14="http://schemas.microsoft.com/office/powerpoint/2010/main" val="3747198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6" name="Slide Number Placeholder 5"/>
          <p:cNvSpPr>
            <a:spLocks noGrp="1"/>
          </p:cNvSpPr>
          <p:nvPr>
            <p:ph type="sldNum" sz="quarter" idx="12"/>
          </p:nvPr>
        </p:nvSpPr>
        <p:spPr/>
        <p:txBody>
          <a:bodyPr/>
          <a:lstStyle>
            <a:lvl1pPr>
              <a:defRPr smtClean="0"/>
            </a:lvl1pPr>
          </a:lstStyle>
          <a:p>
            <a:pPr>
              <a:defRPr/>
            </a:pPr>
            <a:fld id="{0A50DC1D-1CD2-4E76-BB40-A7F29A65AB39}" type="slidenum">
              <a:rPr lang="en-US" altLang="en-US"/>
              <a:pPr>
                <a:defRPr/>
              </a:pPr>
              <a:t>‹#›</a:t>
            </a:fld>
            <a:endParaRPr lang="en-US" altLang="en-US"/>
          </a:p>
        </p:txBody>
      </p:sp>
    </p:spTree>
    <p:extLst>
      <p:ext uri="{BB962C8B-B14F-4D97-AF65-F5344CB8AC3E}">
        <p14:creationId xmlns:p14="http://schemas.microsoft.com/office/powerpoint/2010/main" val="3155342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6" name="Slide Number Placeholder 5"/>
          <p:cNvSpPr>
            <a:spLocks noGrp="1"/>
          </p:cNvSpPr>
          <p:nvPr>
            <p:ph type="sldNum" sz="quarter" idx="12"/>
          </p:nvPr>
        </p:nvSpPr>
        <p:spPr/>
        <p:txBody>
          <a:bodyPr/>
          <a:lstStyle>
            <a:lvl1pPr>
              <a:defRPr smtClean="0"/>
            </a:lvl1pPr>
          </a:lstStyle>
          <a:p>
            <a:pPr>
              <a:defRPr/>
            </a:pPr>
            <a:fld id="{AC7F2DE6-BC92-4D35-80F8-F6A03CACBF40}" type="slidenum">
              <a:rPr lang="en-US" altLang="en-US"/>
              <a:pPr>
                <a:defRPr/>
              </a:pPr>
              <a:t>‹#›</a:t>
            </a:fld>
            <a:endParaRPr lang="en-US" altLang="en-US"/>
          </a:p>
        </p:txBody>
      </p:sp>
    </p:spTree>
    <p:extLst>
      <p:ext uri="{BB962C8B-B14F-4D97-AF65-F5344CB8AC3E}">
        <p14:creationId xmlns:p14="http://schemas.microsoft.com/office/powerpoint/2010/main" val="62689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7" name="Slide Number Placeholder 6"/>
          <p:cNvSpPr>
            <a:spLocks noGrp="1"/>
          </p:cNvSpPr>
          <p:nvPr>
            <p:ph type="sldNum" sz="quarter" idx="12"/>
          </p:nvPr>
        </p:nvSpPr>
        <p:spPr/>
        <p:txBody>
          <a:bodyPr/>
          <a:lstStyle>
            <a:lvl1pPr>
              <a:defRPr smtClean="0"/>
            </a:lvl1pPr>
          </a:lstStyle>
          <a:p>
            <a:pPr>
              <a:defRPr/>
            </a:pPr>
            <a:fld id="{CF3B382D-5BB2-4F24-812B-8BB1897DBC9C}" type="slidenum">
              <a:rPr lang="en-US" altLang="en-US"/>
              <a:pPr>
                <a:defRPr/>
              </a:pPr>
              <a:t>‹#›</a:t>
            </a:fld>
            <a:endParaRPr lang="en-US" altLang="en-US"/>
          </a:p>
        </p:txBody>
      </p:sp>
    </p:spTree>
    <p:extLst>
      <p:ext uri="{BB962C8B-B14F-4D97-AF65-F5344CB8AC3E}">
        <p14:creationId xmlns:p14="http://schemas.microsoft.com/office/powerpoint/2010/main" val="53495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9" name="Slide Number Placeholder 8"/>
          <p:cNvSpPr>
            <a:spLocks noGrp="1"/>
          </p:cNvSpPr>
          <p:nvPr>
            <p:ph type="sldNum" sz="quarter" idx="12"/>
          </p:nvPr>
        </p:nvSpPr>
        <p:spPr/>
        <p:txBody>
          <a:bodyPr/>
          <a:lstStyle>
            <a:lvl1pPr>
              <a:defRPr smtClean="0"/>
            </a:lvl1pPr>
          </a:lstStyle>
          <a:p>
            <a:pPr>
              <a:defRPr/>
            </a:pPr>
            <a:fld id="{DB398D64-61C4-450C-9B50-3D76B4F98459}" type="slidenum">
              <a:rPr lang="en-US" altLang="en-US"/>
              <a:pPr>
                <a:defRPr/>
              </a:pPr>
              <a:t>‹#›</a:t>
            </a:fld>
            <a:endParaRPr lang="en-US" altLang="en-US"/>
          </a:p>
        </p:txBody>
      </p:sp>
    </p:spTree>
    <p:extLst>
      <p:ext uri="{BB962C8B-B14F-4D97-AF65-F5344CB8AC3E}">
        <p14:creationId xmlns:p14="http://schemas.microsoft.com/office/powerpoint/2010/main" val="399627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5" name="Slide Number Placeholder 4"/>
          <p:cNvSpPr>
            <a:spLocks noGrp="1"/>
          </p:cNvSpPr>
          <p:nvPr>
            <p:ph type="sldNum" sz="quarter" idx="12"/>
          </p:nvPr>
        </p:nvSpPr>
        <p:spPr/>
        <p:txBody>
          <a:bodyPr/>
          <a:lstStyle>
            <a:lvl1pPr>
              <a:defRPr smtClean="0"/>
            </a:lvl1pPr>
          </a:lstStyle>
          <a:p>
            <a:pPr>
              <a:defRPr/>
            </a:pPr>
            <a:fld id="{DD0A78D0-3451-4BDA-8C67-56C2EC92B5E3}" type="slidenum">
              <a:rPr lang="en-US" altLang="en-US"/>
              <a:pPr>
                <a:defRPr/>
              </a:pPr>
              <a:t>‹#›</a:t>
            </a:fld>
            <a:endParaRPr lang="en-US" altLang="en-US"/>
          </a:p>
        </p:txBody>
      </p:sp>
    </p:spTree>
    <p:extLst>
      <p:ext uri="{BB962C8B-B14F-4D97-AF65-F5344CB8AC3E}">
        <p14:creationId xmlns:p14="http://schemas.microsoft.com/office/powerpoint/2010/main" val="1271653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4" name="Slide Number Placeholder 3"/>
          <p:cNvSpPr>
            <a:spLocks noGrp="1"/>
          </p:cNvSpPr>
          <p:nvPr>
            <p:ph type="sldNum" sz="quarter" idx="12"/>
          </p:nvPr>
        </p:nvSpPr>
        <p:spPr/>
        <p:txBody>
          <a:bodyPr/>
          <a:lstStyle>
            <a:lvl1pPr>
              <a:defRPr smtClean="0"/>
            </a:lvl1pPr>
          </a:lstStyle>
          <a:p>
            <a:pPr>
              <a:defRPr/>
            </a:pPr>
            <a:fld id="{FE40C9C3-C7C0-4469-84CF-59DA176D0BBE}" type="slidenum">
              <a:rPr lang="en-US" altLang="en-US"/>
              <a:pPr>
                <a:defRPr/>
              </a:pPr>
              <a:t>‹#›</a:t>
            </a:fld>
            <a:endParaRPr lang="en-US" altLang="en-US"/>
          </a:p>
        </p:txBody>
      </p:sp>
    </p:spTree>
    <p:extLst>
      <p:ext uri="{BB962C8B-B14F-4D97-AF65-F5344CB8AC3E}">
        <p14:creationId xmlns:p14="http://schemas.microsoft.com/office/powerpoint/2010/main" val="283145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7" name="Slide Number Placeholder 6"/>
          <p:cNvSpPr>
            <a:spLocks noGrp="1"/>
          </p:cNvSpPr>
          <p:nvPr>
            <p:ph type="sldNum" sz="quarter" idx="12"/>
          </p:nvPr>
        </p:nvSpPr>
        <p:spPr/>
        <p:txBody>
          <a:bodyPr/>
          <a:lstStyle>
            <a:lvl1pPr>
              <a:defRPr smtClean="0"/>
            </a:lvl1pPr>
          </a:lstStyle>
          <a:p>
            <a:pPr>
              <a:defRPr/>
            </a:pPr>
            <a:fld id="{A989F35D-F7F6-4C80-B3BD-E05AACB88EBE}" type="slidenum">
              <a:rPr lang="en-US" altLang="en-US"/>
              <a:pPr>
                <a:defRPr/>
              </a:pPr>
              <a:t>‹#›</a:t>
            </a:fld>
            <a:endParaRPr lang="en-US" altLang="en-US"/>
          </a:p>
        </p:txBody>
      </p:sp>
    </p:spTree>
    <p:extLst>
      <p:ext uri="{BB962C8B-B14F-4D97-AF65-F5344CB8AC3E}">
        <p14:creationId xmlns:p14="http://schemas.microsoft.com/office/powerpoint/2010/main" val="64707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7" name="Slide Number Placeholder 6"/>
          <p:cNvSpPr>
            <a:spLocks noGrp="1"/>
          </p:cNvSpPr>
          <p:nvPr>
            <p:ph type="sldNum" sz="quarter" idx="12"/>
          </p:nvPr>
        </p:nvSpPr>
        <p:spPr/>
        <p:txBody>
          <a:bodyPr/>
          <a:lstStyle>
            <a:lvl1pPr>
              <a:defRPr smtClean="0"/>
            </a:lvl1pPr>
          </a:lstStyle>
          <a:p>
            <a:pPr>
              <a:defRPr/>
            </a:pPr>
            <a:fld id="{639CC458-44DA-4EF4-BC9B-2E43157A4173}" type="slidenum">
              <a:rPr lang="en-US" altLang="en-US"/>
              <a:pPr>
                <a:defRPr/>
              </a:pPr>
              <a:t>‹#›</a:t>
            </a:fld>
            <a:endParaRPr lang="en-US" altLang="en-US"/>
          </a:p>
        </p:txBody>
      </p:sp>
    </p:spTree>
    <p:extLst>
      <p:ext uri="{BB962C8B-B14F-4D97-AF65-F5344CB8AC3E}">
        <p14:creationId xmlns:p14="http://schemas.microsoft.com/office/powerpoint/2010/main" val="1046172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6" name="Slide Number Placeholder 5"/>
          <p:cNvSpPr>
            <a:spLocks noGrp="1"/>
          </p:cNvSpPr>
          <p:nvPr>
            <p:ph type="sldNum" sz="quarter" idx="12"/>
          </p:nvPr>
        </p:nvSpPr>
        <p:spPr/>
        <p:txBody>
          <a:bodyPr/>
          <a:lstStyle>
            <a:lvl1pPr>
              <a:defRPr smtClean="0"/>
            </a:lvl1pPr>
          </a:lstStyle>
          <a:p>
            <a:pPr>
              <a:defRPr/>
            </a:pPr>
            <a:fld id="{88E7AF51-6CBA-4BA5-848F-99D698DF85B5}" type="slidenum">
              <a:rPr lang="en-US" altLang="en-US"/>
              <a:pPr>
                <a:defRPr/>
              </a:pPr>
              <a:t>‹#›</a:t>
            </a:fld>
            <a:endParaRPr lang="en-US" altLang="en-US"/>
          </a:p>
        </p:txBody>
      </p:sp>
    </p:spTree>
    <p:extLst>
      <p:ext uri="{BB962C8B-B14F-4D97-AF65-F5344CB8AC3E}">
        <p14:creationId xmlns:p14="http://schemas.microsoft.com/office/powerpoint/2010/main" val="3073839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6" name="Slide Number Placeholder 5"/>
          <p:cNvSpPr>
            <a:spLocks noGrp="1"/>
          </p:cNvSpPr>
          <p:nvPr>
            <p:ph type="sldNum" sz="quarter" idx="12"/>
          </p:nvPr>
        </p:nvSpPr>
        <p:spPr/>
        <p:txBody>
          <a:bodyPr/>
          <a:lstStyle>
            <a:lvl1pPr>
              <a:defRPr smtClean="0"/>
            </a:lvl1pPr>
          </a:lstStyle>
          <a:p>
            <a:pPr>
              <a:defRPr/>
            </a:pPr>
            <a:fld id="{DC6AEB77-C010-4768-9FD5-C7386E6459C9}" type="slidenum">
              <a:rPr lang="en-US" altLang="en-US"/>
              <a:pPr>
                <a:defRPr/>
              </a:pPr>
              <a:t>‹#›</a:t>
            </a:fld>
            <a:endParaRPr lang="en-US" altLang="en-US"/>
          </a:p>
        </p:txBody>
      </p:sp>
    </p:spTree>
    <p:extLst>
      <p:ext uri="{BB962C8B-B14F-4D97-AF65-F5344CB8AC3E}">
        <p14:creationId xmlns:p14="http://schemas.microsoft.com/office/powerpoint/2010/main" val="563700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Risk Management and Financial Institutions 6e,  Chapter 4, Copyright © John C. Hull 2023</a:t>
            </a:r>
            <a:endParaRPr lang="en-US" altLang="en-US" dirty="0"/>
          </a:p>
        </p:txBody>
      </p:sp>
      <p:sp>
        <p:nvSpPr>
          <p:cNvPr id="7" name="Rectangle 7"/>
          <p:cNvSpPr>
            <a:spLocks noGrp="1" noChangeArrowheads="1"/>
          </p:cNvSpPr>
          <p:nvPr>
            <p:ph type="sldNum" sz="quarter" idx="12"/>
          </p:nvPr>
        </p:nvSpPr>
        <p:spPr>
          <a:ln/>
        </p:spPr>
        <p:txBody>
          <a:bodyPr/>
          <a:lstStyle>
            <a:lvl1pPr>
              <a:defRPr/>
            </a:lvl1pPr>
          </a:lstStyle>
          <a:p>
            <a:pPr>
              <a:defRPr/>
            </a:pPr>
            <a:r>
              <a:rPr lang="en-US" altLang="en-US"/>
              <a:t>1.</a:t>
            </a:r>
            <a:fld id="{E1793306-7D11-449B-A5BB-8B4A70703701}" type="slidenum">
              <a:rPr lang="en-US" altLang="en-US"/>
              <a:pPr>
                <a:defRPr/>
              </a:pPr>
              <a:t>‹#›</a:t>
            </a:fld>
            <a:endParaRPr lang="en-US" altLang="en-US"/>
          </a:p>
        </p:txBody>
      </p:sp>
    </p:spTree>
    <p:extLst>
      <p:ext uri="{BB962C8B-B14F-4D97-AF65-F5344CB8AC3E}">
        <p14:creationId xmlns:p14="http://schemas.microsoft.com/office/powerpoint/2010/main" val="348566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9989"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169990"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a:latin typeface="Arial" charset="0"/>
              </a:defRPr>
            </a:lvl1pPr>
          </a:lstStyle>
          <a:p>
            <a:pPr>
              <a:defRPr/>
            </a:pPr>
            <a:r>
              <a:rPr lang="en-US" altLang="en-US"/>
              <a:t>Risk Management and Financial Institutions 6e,  Chapter 4, Copyright © John C. Hull 2023</a:t>
            </a:r>
            <a:endParaRPr lang="en-US" altLang="en-US" dirty="0"/>
          </a:p>
        </p:txBody>
      </p:sp>
      <p:sp>
        <p:nvSpPr>
          <p:cNvPr id="169991"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r>
              <a:rPr lang="en-US" altLang="en-US"/>
              <a:t>1.</a:t>
            </a:r>
            <a:fld id="{F3132131-931A-465D-A9C6-63D99B478D02}"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37"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eaLnBrk="1" fontAlgn="base" hangingPunct="1">
        <a:spcBef>
          <a:spcPct val="0"/>
        </a:spcBef>
        <a:spcAft>
          <a:spcPct val="0"/>
        </a:spcAft>
        <a:defRPr sz="3900" b="1">
          <a:solidFill>
            <a:schemeClr val="tx2"/>
          </a:solidFill>
          <a:latin typeface="Times New Roman" pitchFamily="18" charset="0"/>
        </a:defRPr>
      </a:lvl6pPr>
      <a:lvl7pPr marL="914400" algn="l" rtl="0" eaLnBrk="1" fontAlgn="base" hangingPunct="1">
        <a:spcBef>
          <a:spcPct val="0"/>
        </a:spcBef>
        <a:spcAft>
          <a:spcPct val="0"/>
        </a:spcAft>
        <a:defRPr sz="3900" b="1">
          <a:solidFill>
            <a:schemeClr val="tx2"/>
          </a:solidFill>
          <a:latin typeface="Times New Roman" pitchFamily="18" charset="0"/>
        </a:defRPr>
      </a:lvl7pPr>
      <a:lvl8pPr marL="1371600" algn="l" rtl="0" eaLnBrk="1" fontAlgn="base" hangingPunct="1">
        <a:spcBef>
          <a:spcPct val="0"/>
        </a:spcBef>
        <a:spcAft>
          <a:spcPct val="0"/>
        </a:spcAft>
        <a:defRPr sz="3900" b="1">
          <a:solidFill>
            <a:schemeClr val="tx2"/>
          </a:solidFill>
          <a:latin typeface="Times New Roman" pitchFamily="18" charset="0"/>
        </a:defRPr>
      </a:lvl8pPr>
      <a:lvl9pPr marL="1828800" algn="l" rtl="0" eaLnBrk="1" fontAlgn="base" hangingPunct="1">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pPr eaLnBrk="1" hangingPunct="1"/>
            <a:r>
              <a:rPr lang="en-US" altLang="en-US" dirty="0"/>
              <a:t>Fund Managers </a:t>
            </a:r>
          </a:p>
        </p:txBody>
      </p:sp>
      <p:sp>
        <p:nvSpPr>
          <p:cNvPr id="15363" name="Rectangle 3"/>
          <p:cNvSpPr>
            <a:spLocks noGrp="1" noChangeArrowheads="1"/>
          </p:cNvSpPr>
          <p:nvPr>
            <p:ph type="subTitle" idx="1"/>
          </p:nvPr>
        </p:nvSpPr>
        <p:spPr/>
        <p:txBody>
          <a:bodyPr/>
          <a:lstStyle/>
          <a:p>
            <a:pPr eaLnBrk="1" hangingPunct="1"/>
            <a:r>
              <a:rPr lang="en-US" altLang="en-US" sz="4000" dirty="0"/>
              <a:t>Chapter 4</a:t>
            </a:r>
            <a:br>
              <a:rPr lang="en-US" altLang="en-US" sz="4000" dirty="0"/>
            </a:br>
            <a:endParaRPr lang="en-CA" altLang="en-US" sz="4000" b="1" dirty="0">
              <a:solidFill>
                <a:schemeClr val="tx2"/>
              </a:solidFill>
              <a:latin typeface="Times New Roman" panose="02020603050405020304" pitchFamily="18" charset="0"/>
              <a:cs typeface="Arial" panose="020B0604020202020204" pitchFamily="34" charset="0"/>
            </a:endParaRPr>
          </a:p>
          <a:p>
            <a:pPr eaLnBrk="1" hangingPunct="1"/>
            <a:endParaRPr lang="en-US" altLang="en-US" sz="4000" b="1" dirty="0">
              <a:solidFill>
                <a:schemeClr val="tx2"/>
              </a:solidFill>
              <a:latin typeface="Times New Roman" panose="02020603050405020304" pitchFamily="18" charset="0"/>
              <a:cs typeface="Arial" panose="020B0604020202020204" pitchFamily="34" charset="0"/>
            </a:endParaRPr>
          </a:p>
        </p:txBody>
      </p:sp>
      <p:sp>
        <p:nvSpPr>
          <p:cNvPr id="15364"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74AEDF4-257F-453F-81E8-95D1007ED6FB}"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CA" altLang="en-US"/>
              <a:t>Open-End Mutual Funds</a:t>
            </a:r>
            <a:endParaRPr lang="en-US" altLang="en-US"/>
          </a:p>
        </p:txBody>
      </p:sp>
      <p:sp>
        <p:nvSpPr>
          <p:cNvPr id="17411" name="Content Placeholder 2"/>
          <p:cNvSpPr>
            <a:spLocks noGrp="1"/>
          </p:cNvSpPr>
          <p:nvPr>
            <p:ph idx="1"/>
          </p:nvPr>
        </p:nvSpPr>
        <p:spPr/>
        <p:txBody>
          <a:bodyPr/>
          <a:lstStyle/>
          <a:p>
            <a:pPr eaLnBrk="1" hangingPunct="1"/>
            <a:r>
              <a:rPr lang="en-CA" altLang="en-US" sz="2400" dirty="0">
                <a:cs typeface="Arial" panose="020B0604020202020204" pitchFamily="34" charset="0"/>
              </a:rPr>
              <a:t>Investments in mutual funds in the U.S. have grown from $0.5 billion in 1940 to over $26 trillion in 2021</a:t>
            </a:r>
          </a:p>
          <a:p>
            <a:pPr eaLnBrk="1" hangingPunct="1"/>
            <a:r>
              <a:rPr lang="en-CA" altLang="en-US" sz="2400" dirty="0">
                <a:cs typeface="Arial" panose="020B0604020202020204" pitchFamily="34" charset="0"/>
              </a:rPr>
              <a:t>Most common type of fund is an open-end fund</a:t>
            </a:r>
          </a:p>
          <a:p>
            <a:pPr eaLnBrk="1" hangingPunct="1"/>
            <a:r>
              <a:rPr lang="en-CA" altLang="en-US" sz="2400" dirty="0">
                <a:cs typeface="Arial" panose="020B0604020202020204" pitchFamily="34" charset="0"/>
              </a:rPr>
              <a:t>This means that the number of shares in the fund goes up as investors buy more shares and down as they redeem shares</a:t>
            </a:r>
          </a:p>
          <a:p>
            <a:pPr eaLnBrk="1" hangingPunct="1"/>
            <a:r>
              <a:rPr lang="en-CA" altLang="en-US" sz="2400" dirty="0">
                <a:cs typeface="Arial" panose="020B0604020202020204" pitchFamily="34" charset="0"/>
              </a:rPr>
              <a:t>Net asset value (NAV) of fund is the value of its investments  divided by number of shares</a:t>
            </a:r>
          </a:p>
          <a:p>
            <a:pPr eaLnBrk="1" hangingPunct="1"/>
            <a:r>
              <a:rPr lang="en-CA" altLang="en-US" sz="2400" dirty="0">
                <a:cs typeface="Arial" panose="020B0604020202020204" pitchFamily="34" charset="0"/>
              </a:rPr>
              <a:t>All purchases and sales of shares are at the 4pm NAV</a:t>
            </a:r>
            <a:endParaRPr lang="en-US" altLang="en-US" sz="2400" dirty="0">
              <a:cs typeface="Arial" panose="020B0604020202020204" pitchFamily="34" charset="0"/>
            </a:endParaRPr>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D829D85-40E3-4A3B-8A90-D02B71B3F06E}" type="slidenum">
              <a:rPr lang="en-US" altLang="en-US" sz="1800"/>
              <a:pPr>
                <a:spcBef>
                  <a:spcPct val="0"/>
                </a:spcBef>
                <a:buClrTx/>
                <a:buSzTx/>
                <a:buFontTx/>
                <a:buNone/>
              </a:pPr>
              <a:t>2</a:t>
            </a:fld>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CA" altLang="en-US" dirty="0"/>
              <a:t>Types of Mutual Funds</a:t>
            </a:r>
            <a:endParaRPr lang="en-US" altLang="en-US" dirty="0"/>
          </a:p>
        </p:txBody>
      </p:sp>
      <p:sp>
        <p:nvSpPr>
          <p:cNvPr id="21507" name="Content Placeholder 2"/>
          <p:cNvSpPr>
            <a:spLocks noGrp="1"/>
          </p:cNvSpPr>
          <p:nvPr>
            <p:ph idx="1"/>
          </p:nvPr>
        </p:nvSpPr>
        <p:spPr/>
        <p:txBody>
          <a:bodyPr/>
          <a:lstStyle/>
          <a:p>
            <a:pPr eaLnBrk="1" hangingPunct="1"/>
            <a:r>
              <a:rPr lang="en-CA" altLang="en-US">
                <a:cs typeface="Arial" panose="020B0604020202020204" pitchFamily="34" charset="0"/>
              </a:rPr>
              <a:t>Equity</a:t>
            </a:r>
          </a:p>
          <a:p>
            <a:pPr eaLnBrk="1" hangingPunct="1"/>
            <a:r>
              <a:rPr lang="en-CA" altLang="en-US">
                <a:cs typeface="Arial" panose="020B0604020202020204" pitchFamily="34" charset="0"/>
              </a:rPr>
              <a:t>Bond</a:t>
            </a:r>
          </a:p>
          <a:p>
            <a:pPr eaLnBrk="1" hangingPunct="1"/>
            <a:r>
              <a:rPr lang="en-CA" altLang="en-US">
                <a:cs typeface="Arial" panose="020B0604020202020204" pitchFamily="34" charset="0"/>
              </a:rPr>
              <a:t>Hybrid</a:t>
            </a:r>
          </a:p>
          <a:p>
            <a:pPr eaLnBrk="1" hangingPunct="1"/>
            <a:r>
              <a:rPr lang="en-CA" altLang="en-US">
                <a:cs typeface="Arial" panose="020B0604020202020204" pitchFamily="34" charset="0"/>
              </a:rPr>
              <a:t>Money Market</a:t>
            </a:r>
          </a:p>
          <a:p>
            <a:pPr eaLnBrk="1" hangingPunct="1"/>
            <a:r>
              <a:rPr lang="en-CA" altLang="en-US">
                <a:cs typeface="Arial" panose="020B0604020202020204" pitchFamily="34" charset="0"/>
              </a:rPr>
              <a:t>Index</a:t>
            </a:r>
            <a:endParaRPr lang="en-US" altLang="en-US">
              <a:cs typeface="Arial" panose="020B0604020202020204" pitchFamily="34" charset="0"/>
            </a:endParaRPr>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679D39C-10FC-4842-8244-65C269DE4979}" type="slidenum">
              <a:rPr lang="en-US" altLang="en-US" sz="1800"/>
              <a:pPr>
                <a:spcBef>
                  <a:spcPct val="0"/>
                </a:spcBef>
                <a:buClrTx/>
                <a:buSzTx/>
                <a:buFontTx/>
                <a:buNone/>
              </a:pPr>
              <a:t>3</a:t>
            </a:fld>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CA" altLang="en-US" dirty="0"/>
              <a:t>Costs </a:t>
            </a:r>
            <a:endParaRPr lang="en-US" altLang="en-US" sz="2800" dirty="0"/>
          </a:p>
        </p:txBody>
      </p:sp>
      <p:sp>
        <p:nvSpPr>
          <p:cNvPr id="23555" name="Content Placeholder 2"/>
          <p:cNvSpPr>
            <a:spLocks noGrp="1"/>
          </p:cNvSpPr>
          <p:nvPr>
            <p:ph idx="1"/>
          </p:nvPr>
        </p:nvSpPr>
        <p:spPr/>
        <p:txBody>
          <a:bodyPr/>
          <a:lstStyle/>
          <a:p>
            <a:pPr eaLnBrk="1" hangingPunct="1"/>
            <a:r>
              <a:rPr lang="en-CA" altLang="en-US" dirty="0">
                <a:cs typeface="Arial" panose="020B0604020202020204" pitchFamily="34" charset="0"/>
              </a:rPr>
              <a:t>Annual fee</a:t>
            </a:r>
          </a:p>
          <a:p>
            <a:pPr eaLnBrk="1" hangingPunct="1"/>
            <a:r>
              <a:rPr lang="en-CA" altLang="en-US" dirty="0">
                <a:cs typeface="Arial" panose="020B0604020202020204" pitchFamily="34" charset="0"/>
              </a:rPr>
              <a:t>Front-end load</a:t>
            </a:r>
          </a:p>
          <a:p>
            <a:pPr eaLnBrk="1" hangingPunct="1"/>
            <a:r>
              <a:rPr lang="en-CA" altLang="en-US" dirty="0">
                <a:cs typeface="Arial" panose="020B0604020202020204" pitchFamily="34" charset="0"/>
              </a:rPr>
              <a:t>Back-end load</a:t>
            </a:r>
          </a:p>
          <a:p>
            <a:pPr eaLnBrk="1" hangingPunct="1"/>
            <a:r>
              <a:rPr lang="en-CA" altLang="en-US" dirty="0">
                <a:cs typeface="Arial" panose="020B0604020202020204" pitchFamily="34" charset="0"/>
              </a:rPr>
              <a:t>Relatively low in US</a:t>
            </a:r>
          </a:p>
          <a:p>
            <a:pPr eaLnBrk="1" hangingPunct="1"/>
            <a:r>
              <a:rPr lang="en-CA" altLang="en-US" dirty="0">
                <a:cs typeface="Arial" panose="020B0604020202020204" pitchFamily="34" charset="0"/>
              </a:rPr>
              <a:t>Varies by country (see Table 4.2)</a:t>
            </a:r>
            <a:endParaRPr lang="en-US" altLang="en-US" dirty="0">
              <a:cs typeface="Arial" panose="020B0604020202020204" pitchFamily="34" charset="0"/>
            </a:endParaRPr>
          </a:p>
        </p:txBody>
      </p:sp>
      <p:sp>
        <p:nvSpPr>
          <p:cNvPr id="2355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2355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E29E1E6-6898-4FB4-978D-3A4BE216B7C3}" type="slidenum">
              <a:rPr lang="en-US" altLang="en-US" sz="1800"/>
              <a:pPr>
                <a:spcBef>
                  <a:spcPct val="0"/>
                </a:spcBef>
                <a:buClrTx/>
                <a:buSzTx/>
                <a:buFontTx/>
                <a:buNone/>
              </a:pPr>
              <a:t>4</a:t>
            </a:fld>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CA" altLang="en-US"/>
              <a:t>Closed-End Fund</a:t>
            </a:r>
            <a:endParaRPr lang="en-US" altLang="en-US"/>
          </a:p>
        </p:txBody>
      </p:sp>
      <p:sp>
        <p:nvSpPr>
          <p:cNvPr id="25603" name="Content Placeholder 2"/>
          <p:cNvSpPr>
            <a:spLocks noGrp="1"/>
          </p:cNvSpPr>
          <p:nvPr>
            <p:ph idx="1"/>
          </p:nvPr>
        </p:nvSpPr>
        <p:spPr/>
        <p:txBody>
          <a:bodyPr/>
          <a:lstStyle/>
          <a:p>
            <a:pPr eaLnBrk="1" hangingPunct="1"/>
            <a:r>
              <a:rPr lang="en-CA" altLang="en-US">
                <a:cs typeface="Arial" panose="020B0604020202020204" pitchFamily="34" charset="0"/>
              </a:rPr>
              <a:t>Consists of a fixed number of shares that are traded in the same way as the shares of any other company</a:t>
            </a:r>
          </a:p>
          <a:p>
            <a:pPr eaLnBrk="1" hangingPunct="1"/>
            <a:r>
              <a:rPr lang="en-CA" altLang="en-US">
                <a:cs typeface="Arial" panose="020B0604020202020204" pitchFamily="34" charset="0"/>
              </a:rPr>
              <a:t>The share price tends to be less than the NAV calculated from the market value of the investments</a:t>
            </a:r>
            <a:endParaRPr lang="en-US" altLang="en-US">
              <a:cs typeface="Arial" panose="020B0604020202020204" pitchFamily="34" charset="0"/>
            </a:endParaRPr>
          </a:p>
        </p:txBody>
      </p:sp>
      <p:sp>
        <p:nvSpPr>
          <p:cNvPr id="2560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256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F3ED0B3-5A12-49A6-BF4D-DF323FE09317}" type="slidenum">
              <a:rPr lang="en-US" altLang="en-US" sz="1800"/>
              <a:pPr>
                <a:spcBef>
                  <a:spcPct val="0"/>
                </a:spcBef>
                <a:buClrTx/>
                <a:buSzTx/>
                <a:buFontTx/>
                <a:buNone/>
              </a:pPr>
              <a:t>5</a:t>
            </a:fld>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500063"/>
            <a:ext cx="7543800" cy="1357312"/>
          </a:xfrm>
        </p:spPr>
        <p:txBody>
          <a:bodyPr/>
          <a:lstStyle/>
          <a:p>
            <a:pPr eaLnBrk="1" hangingPunct="1"/>
            <a:r>
              <a:rPr lang="en-CA" altLang="en-US" dirty="0"/>
              <a:t>Exchange-Traded Funds (ETFs, </a:t>
            </a:r>
            <a:r>
              <a:rPr lang="en-CA" altLang="en-US" sz="2800" dirty="0"/>
              <a:t>page 79-80</a:t>
            </a:r>
            <a:r>
              <a:rPr lang="en-CA" altLang="en-US" dirty="0"/>
              <a:t>)</a:t>
            </a:r>
            <a:endParaRPr lang="en-US" altLang="en-US" dirty="0"/>
          </a:p>
        </p:txBody>
      </p:sp>
      <p:sp>
        <p:nvSpPr>
          <p:cNvPr id="27651" name="Content Placeholder 2"/>
          <p:cNvSpPr>
            <a:spLocks noGrp="1"/>
          </p:cNvSpPr>
          <p:nvPr>
            <p:ph idx="1"/>
          </p:nvPr>
        </p:nvSpPr>
        <p:spPr>
          <a:xfrm>
            <a:off x="685800" y="2214563"/>
            <a:ext cx="7772400" cy="4048125"/>
          </a:xfrm>
        </p:spPr>
        <p:txBody>
          <a:bodyPr/>
          <a:lstStyle/>
          <a:p>
            <a:pPr eaLnBrk="1" hangingPunct="1"/>
            <a:r>
              <a:rPr lang="en-CA" altLang="en-US" sz="2400" dirty="0">
                <a:cs typeface="Arial" panose="020B0604020202020204" pitchFamily="34" charset="0"/>
              </a:rPr>
              <a:t>Often designed to track an index</a:t>
            </a:r>
          </a:p>
          <a:p>
            <a:pPr eaLnBrk="1" hangingPunct="1"/>
            <a:r>
              <a:rPr lang="en-CA" altLang="en-US" sz="2400" dirty="0">
                <a:cs typeface="Arial" panose="020B0604020202020204" pitchFamily="34" charset="0"/>
              </a:rPr>
              <a:t>Started by an institutional investor that deposits a block of securities and obtains shares in the fund </a:t>
            </a:r>
          </a:p>
          <a:p>
            <a:pPr eaLnBrk="1" hangingPunct="1"/>
            <a:r>
              <a:rPr lang="en-CA" altLang="en-US" sz="2400" dirty="0">
                <a:cs typeface="Arial" panose="020B0604020202020204" pitchFamily="34" charset="0"/>
              </a:rPr>
              <a:t>Shares are traded on an exchange</a:t>
            </a:r>
          </a:p>
          <a:p>
            <a:pPr eaLnBrk="1" hangingPunct="1"/>
            <a:r>
              <a:rPr lang="en-CA" altLang="en-US" sz="2400" dirty="0">
                <a:cs typeface="Arial" panose="020B0604020202020204" pitchFamily="34" charset="0"/>
              </a:rPr>
              <a:t>Large institutional investors can exchange shares in the fund for the underlying assets, and vice versa</a:t>
            </a:r>
          </a:p>
          <a:p>
            <a:pPr eaLnBrk="1" hangingPunct="1"/>
            <a:r>
              <a:rPr lang="en-CA" altLang="en-US" sz="2400" dirty="0">
                <a:cs typeface="Arial" panose="020B0604020202020204" pitchFamily="34" charset="0"/>
              </a:rPr>
              <a:t>This keeps the share price close to the NAV of the fund’s investments</a:t>
            </a:r>
            <a:endParaRPr lang="en-US" altLang="en-US" sz="2400" dirty="0">
              <a:cs typeface="Arial" panose="020B0604020202020204" pitchFamily="34" charset="0"/>
            </a:endParaRPr>
          </a:p>
        </p:txBody>
      </p:sp>
      <p:sp>
        <p:nvSpPr>
          <p:cNvPr id="2765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276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EA09027-2193-4357-9DDB-7ED771FBDEF5}" type="slidenum">
              <a:rPr lang="en-US" altLang="en-US" sz="1800"/>
              <a:pPr>
                <a:spcBef>
                  <a:spcPct val="0"/>
                </a:spcBef>
                <a:buClrTx/>
                <a:buSzTx/>
                <a:buFontTx/>
                <a:buNone/>
              </a:pPr>
              <a:t>6</a:t>
            </a:fld>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CA" altLang="en-US" sz="3600"/>
              <a:t>Advantages of ETFs over Open- and Closed-End Mutual Funds</a:t>
            </a:r>
            <a:endParaRPr lang="en-US" altLang="en-US" sz="3600"/>
          </a:p>
        </p:txBody>
      </p:sp>
      <p:sp>
        <p:nvSpPr>
          <p:cNvPr id="29699" name="Content Placeholder 2"/>
          <p:cNvSpPr>
            <a:spLocks noGrp="1"/>
          </p:cNvSpPr>
          <p:nvPr>
            <p:ph idx="1"/>
          </p:nvPr>
        </p:nvSpPr>
        <p:spPr>
          <a:xfrm>
            <a:off x="685800" y="2000250"/>
            <a:ext cx="7772400" cy="4262438"/>
          </a:xfrm>
        </p:spPr>
        <p:txBody>
          <a:bodyPr/>
          <a:lstStyle/>
          <a:p>
            <a:pPr eaLnBrk="1" hangingPunct="1"/>
            <a:r>
              <a:rPr lang="en-CA" altLang="en-US">
                <a:cs typeface="Arial" panose="020B0604020202020204" pitchFamily="34" charset="0"/>
              </a:rPr>
              <a:t>Can be bought or sold (or shorted) at any time of the day</a:t>
            </a:r>
          </a:p>
          <a:p>
            <a:pPr eaLnBrk="1" hangingPunct="1"/>
            <a:r>
              <a:rPr lang="en-CA" altLang="en-US">
                <a:cs typeface="Arial" panose="020B0604020202020204" pitchFamily="34" charset="0"/>
              </a:rPr>
              <a:t>Holdings are disclosed twice a day</a:t>
            </a:r>
          </a:p>
          <a:p>
            <a:pPr eaLnBrk="1" hangingPunct="1"/>
            <a:r>
              <a:rPr lang="en-CA" altLang="en-US">
                <a:cs typeface="Arial" panose="020B0604020202020204" pitchFamily="34" charset="0"/>
              </a:rPr>
              <a:t>Investments do not have to be sold to cover redemptions</a:t>
            </a:r>
          </a:p>
          <a:p>
            <a:pPr eaLnBrk="1" hangingPunct="1"/>
            <a:r>
              <a:rPr lang="en-CA" altLang="en-US">
                <a:cs typeface="Arial" panose="020B0604020202020204" pitchFamily="34" charset="0"/>
              </a:rPr>
              <a:t>Share price close to NAV of underlying investments</a:t>
            </a:r>
            <a:endParaRPr lang="en-US" altLang="en-US">
              <a:cs typeface="Arial" panose="020B0604020202020204" pitchFamily="34" charset="0"/>
            </a:endParaRPr>
          </a:p>
        </p:txBody>
      </p:sp>
      <p:sp>
        <p:nvSpPr>
          <p:cNvPr id="2970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297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21E0FAD-64FE-411B-AB71-60F5BFC6DAB7}" type="slidenum">
              <a:rPr lang="en-US" altLang="en-US" sz="1800"/>
              <a:pPr>
                <a:spcBef>
                  <a:spcPct val="0"/>
                </a:spcBef>
                <a:buClrTx/>
                <a:buSzTx/>
                <a:buFontTx/>
                <a:buNone/>
              </a:pPr>
              <a:t>7</a:t>
            </a:fld>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CA" altLang="en-US"/>
              <a:t>Performance of Mutual Funds</a:t>
            </a:r>
            <a:endParaRPr lang="en-US" altLang="en-US"/>
          </a:p>
        </p:txBody>
      </p:sp>
      <p:sp>
        <p:nvSpPr>
          <p:cNvPr id="31747" name="Content Placeholder 2"/>
          <p:cNvSpPr>
            <a:spLocks noGrp="1"/>
          </p:cNvSpPr>
          <p:nvPr>
            <p:ph idx="1"/>
          </p:nvPr>
        </p:nvSpPr>
        <p:spPr/>
        <p:txBody>
          <a:bodyPr/>
          <a:lstStyle/>
          <a:p>
            <a:pPr eaLnBrk="1" hangingPunct="1"/>
            <a:r>
              <a:rPr lang="en-CA" altLang="en-US" dirty="0">
                <a:cs typeface="Arial" panose="020B0604020202020204" pitchFamily="34" charset="0"/>
              </a:rPr>
              <a:t>The classic study is by Jensen in 1969. His results have been confirmed in later studies</a:t>
            </a:r>
          </a:p>
          <a:p>
            <a:pPr eaLnBrk="1" hangingPunct="1"/>
            <a:r>
              <a:rPr lang="en-CA" altLang="en-US" dirty="0">
                <a:cs typeface="Arial" panose="020B0604020202020204" pitchFamily="34" charset="0"/>
              </a:rPr>
              <a:t>The average alpha of all funds before expenses is about zero.</a:t>
            </a:r>
          </a:p>
          <a:p>
            <a:pPr eaLnBrk="1" hangingPunct="1"/>
            <a:r>
              <a:rPr lang="en-CA" altLang="en-US" dirty="0">
                <a:cs typeface="Arial" panose="020B0604020202020204" pitchFamily="34" charset="0"/>
              </a:rPr>
              <a:t>Good performance by a mutual fund manager in the past is not a good guide to future performance</a:t>
            </a:r>
            <a:endParaRPr lang="en-US" altLang="en-US" dirty="0">
              <a:cs typeface="Arial" panose="020B0604020202020204" pitchFamily="34" charset="0"/>
            </a:endParaRPr>
          </a:p>
        </p:txBody>
      </p:sp>
      <p:sp>
        <p:nvSpPr>
          <p:cNvPr id="3174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3174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9BA968B-729D-44B7-A449-11B8539CE99A}" type="slidenum">
              <a:rPr lang="en-US" altLang="en-US" sz="1800"/>
              <a:pPr>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CA" altLang="en-US" sz="3600"/>
              <a:t>Jensen’s Results on the Persistence of Good Performance </a:t>
            </a:r>
            <a:r>
              <a:rPr lang="en-CA" altLang="en-US" sz="2800"/>
              <a:t>(Table 4.3)</a:t>
            </a:r>
            <a:endParaRPr lang="en-US" altLang="en-US" sz="2800"/>
          </a:p>
        </p:txBody>
      </p:sp>
      <p:sp>
        <p:nvSpPr>
          <p:cNvPr id="33795" name="Footer Placeholder 2"/>
          <p:cNvSpPr>
            <a:spLocks noGrp="1"/>
          </p:cNvSpPr>
          <p:nvPr>
            <p:ph type="ftr" sz="quarter" idx="11"/>
          </p:nvPr>
        </p:nvSpPr>
        <p:spPr>
          <a:xfrm>
            <a:off x="648134" y="6334144"/>
            <a:ext cx="7704856"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endParaRPr lang="en-US" altLang="en-US" sz="1400" dirty="0"/>
          </a:p>
        </p:txBody>
      </p:sp>
      <p:sp>
        <p:nvSpPr>
          <p:cNvPr id="337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F82D8A-7BB6-44DE-A5E9-BA7743E973FE}" type="slidenum">
              <a:rPr lang="en-US" altLang="en-US" sz="1800"/>
              <a:pPr>
                <a:spcBef>
                  <a:spcPct val="0"/>
                </a:spcBef>
                <a:buClrTx/>
                <a:buSzTx/>
                <a:buFontTx/>
                <a:buNone/>
              </a:pPr>
              <a:t>9</a:t>
            </a:fld>
            <a:endParaRPr lang="en-US" altLang="en-US" sz="1800"/>
          </a:p>
        </p:txBody>
      </p:sp>
      <p:graphicFrame>
        <p:nvGraphicFramePr>
          <p:cNvPr id="5" name="Table 4"/>
          <p:cNvGraphicFramePr>
            <a:graphicFrameLocks noGrp="1"/>
          </p:cNvGraphicFramePr>
          <p:nvPr/>
        </p:nvGraphicFramePr>
        <p:xfrm>
          <a:off x="285750" y="2571750"/>
          <a:ext cx="8429625" cy="2836882"/>
        </p:xfrm>
        <a:graphic>
          <a:graphicData uri="http://schemas.openxmlformats.org/drawingml/2006/table">
            <a:tbl>
              <a:tblPr firstRow="1" bandRow="1">
                <a:tableStyleId>{5940675A-B579-460E-94D1-54222C63F5DA}</a:tableStyleId>
              </a:tblPr>
              <a:tblGrid>
                <a:gridCol w="2809875">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tblGrid>
              <a:tr h="642598">
                <a:tc>
                  <a:txBody>
                    <a:bodyPr/>
                    <a:lstStyle/>
                    <a:p>
                      <a:pPr algn="ctr"/>
                      <a:r>
                        <a:rPr lang="en-CA" sz="1600" dirty="0"/>
                        <a:t>Number of Consecutive</a:t>
                      </a:r>
                      <a:r>
                        <a:rPr lang="en-CA" sz="1600" baseline="0" dirty="0"/>
                        <a:t> Years of Positive Alpha</a:t>
                      </a:r>
                      <a:endParaRPr lang="en-US" sz="1600" dirty="0"/>
                    </a:p>
                  </a:txBody>
                  <a:tcPr marL="91439" marR="91439" marT="45697" marB="45697"/>
                </a:tc>
                <a:tc>
                  <a:txBody>
                    <a:bodyPr/>
                    <a:lstStyle/>
                    <a:p>
                      <a:pPr algn="ctr"/>
                      <a:r>
                        <a:rPr lang="en-CA" sz="1600" dirty="0"/>
                        <a:t>Number of Observations</a:t>
                      </a:r>
                      <a:endParaRPr lang="en-US" sz="1600" dirty="0"/>
                    </a:p>
                  </a:txBody>
                  <a:tcPr marL="91439" marR="91439" marT="45697" marB="45697"/>
                </a:tc>
                <a:tc>
                  <a:txBody>
                    <a:bodyPr/>
                    <a:lstStyle/>
                    <a:p>
                      <a:pPr algn="ctr"/>
                      <a:r>
                        <a:rPr lang="en-CA" sz="1600" dirty="0"/>
                        <a:t>Observations for which the Next Alpha is Positive (%)</a:t>
                      </a:r>
                      <a:endParaRPr lang="en-US" sz="1600" dirty="0"/>
                    </a:p>
                  </a:txBody>
                  <a:tcPr marL="91439" marR="91439" marT="45697" marB="45697"/>
                </a:tc>
                <a:extLst>
                  <a:ext uri="{0D108BD9-81ED-4DB2-BD59-A6C34878D82A}">
                    <a16:rowId xmlns:a16="http://schemas.microsoft.com/office/drawing/2014/main" val="10000"/>
                  </a:ext>
                </a:extLst>
              </a:tr>
              <a:tr h="365711">
                <a:tc>
                  <a:txBody>
                    <a:bodyPr/>
                    <a:lstStyle/>
                    <a:p>
                      <a:pPr algn="ctr"/>
                      <a:r>
                        <a:rPr lang="en-CA" sz="1800" dirty="0"/>
                        <a:t>1</a:t>
                      </a:r>
                      <a:endParaRPr lang="en-US" sz="1800" dirty="0"/>
                    </a:p>
                  </a:txBody>
                  <a:tcPr marL="91439" marR="91439" marT="45697" marB="45697"/>
                </a:tc>
                <a:tc>
                  <a:txBody>
                    <a:bodyPr/>
                    <a:lstStyle/>
                    <a:p>
                      <a:pPr algn="ctr"/>
                      <a:r>
                        <a:rPr lang="en-CA" sz="1800" dirty="0"/>
                        <a:t>574</a:t>
                      </a:r>
                      <a:endParaRPr lang="en-US" sz="1800" dirty="0"/>
                    </a:p>
                  </a:txBody>
                  <a:tcPr marL="91439" marR="91439" marT="45697" marB="45697"/>
                </a:tc>
                <a:tc>
                  <a:txBody>
                    <a:bodyPr/>
                    <a:lstStyle/>
                    <a:p>
                      <a:pPr algn="ctr"/>
                      <a:r>
                        <a:rPr lang="en-CA" sz="1800" dirty="0"/>
                        <a:t>50.4</a:t>
                      </a:r>
                      <a:endParaRPr lang="en-US" sz="1800" dirty="0"/>
                    </a:p>
                  </a:txBody>
                  <a:tcPr marL="91439" marR="91439" marT="45697" marB="45697"/>
                </a:tc>
                <a:extLst>
                  <a:ext uri="{0D108BD9-81ED-4DB2-BD59-A6C34878D82A}">
                    <a16:rowId xmlns:a16="http://schemas.microsoft.com/office/drawing/2014/main" val="10001"/>
                  </a:ext>
                </a:extLst>
              </a:tr>
              <a:tr h="365711">
                <a:tc>
                  <a:txBody>
                    <a:bodyPr/>
                    <a:lstStyle/>
                    <a:p>
                      <a:pPr algn="ctr"/>
                      <a:r>
                        <a:rPr lang="en-CA" sz="1800" dirty="0"/>
                        <a:t>2</a:t>
                      </a:r>
                      <a:endParaRPr lang="en-US" sz="1800" dirty="0"/>
                    </a:p>
                  </a:txBody>
                  <a:tcPr marL="91439" marR="91439" marT="45697" marB="45697"/>
                </a:tc>
                <a:tc>
                  <a:txBody>
                    <a:bodyPr/>
                    <a:lstStyle/>
                    <a:p>
                      <a:pPr algn="ctr"/>
                      <a:r>
                        <a:rPr lang="en-CA" sz="1800" dirty="0"/>
                        <a:t>312</a:t>
                      </a:r>
                      <a:endParaRPr lang="en-US" sz="1800" dirty="0"/>
                    </a:p>
                  </a:txBody>
                  <a:tcPr marL="91439" marR="91439" marT="45697" marB="45697"/>
                </a:tc>
                <a:tc>
                  <a:txBody>
                    <a:bodyPr/>
                    <a:lstStyle/>
                    <a:p>
                      <a:pPr algn="ctr"/>
                      <a:r>
                        <a:rPr lang="en-CA" sz="1800" dirty="0"/>
                        <a:t>52.0</a:t>
                      </a:r>
                      <a:endParaRPr lang="en-US" sz="1800" dirty="0"/>
                    </a:p>
                  </a:txBody>
                  <a:tcPr marL="91439" marR="91439" marT="45697" marB="45697"/>
                </a:tc>
                <a:extLst>
                  <a:ext uri="{0D108BD9-81ED-4DB2-BD59-A6C34878D82A}">
                    <a16:rowId xmlns:a16="http://schemas.microsoft.com/office/drawing/2014/main" val="10002"/>
                  </a:ext>
                </a:extLst>
              </a:tr>
              <a:tr h="365711">
                <a:tc>
                  <a:txBody>
                    <a:bodyPr/>
                    <a:lstStyle/>
                    <a:p>
                      <a:pPr algn="ctr"/>
                      <a:r>
                        <a:rPr lang="en-CA" sz="1800" dirty="0"/>
                        <a:t>3</a:t>
                      </a:r>
                      <a:endParaRPr lang="en-US" sz="1800" dirty="0"/>
                    </a:p>
                  </a:txBody>
                  <a:tcPr marL="91439" marR="91439" marT="45697" marB="45697"/>
                </a:tc>
                <a:tc>
                  <a:txBody>
                    <a:bodyPr/>
                    <a:lstStyle/>
                    <a:p>
                      <a:pPr algn="ctr"/>
                      <a:r>
                        <a:rPr lang="en-CA" sz="1800" dirty="0"/>
                        <a:t>161</a:t>
                      </a:r>
                      <a:endParaRPr lang="en-US" sz="1800" dirty="0"/>
                    </a:p>
                  </a:txBody>
                  <a:tcPr marL="91439" marR="91439" marT="45697" marB="45697"/>
                </a:tc>
                <a:tc>
                  <a:txBody>
                    <a:bodyPr/>
                    <a:lstStyle/>
                    <a:p>
                      <a:pPr algn="ctr"/>
                      <a:r>
                        <a:rPr lang="en-CA" sz="1800" dirty="0"/>
                        <a:t>53.4</a:t>
                      </a:r>
                      <a:endParaRPr lang="en-US" sz="1800" dirty="0"/>
                    </a:p>
                  </a:txBody>
                  <a:tcPr marL="91439" marR="91439" marT="45697" marB="45697"/>
                </a:tc>
                <a:extLst>
                  <a:ext uri="{0D108BD9-81ED-4DB2-BD59-A6C34878D82A}">
                    <a16:rowId xmlns:a16="http://schemas.microsoft.com/office/drawing/2014/main" val="10003"/>
                  </a:ext>
                </a:extLst>
              </a:tr>
              <a:tr h="365711">
                <a:tc>
                  <a:txBody>
                    <a:bodyPr/>
                    <a:lstStyle/>
                    <a:p>
                      <a:pPr algn="ctr"/>
                      <a:r>
                        <a:rPr lang="en-CA" sz="1800" dirty="0"/>
                        <a:t>4</a:t>
                      </a:r>
                      <a:endParaRPr lang="en-US" sz="1800" dirty="0"/>
                    </a:p>
                  </a:txBody>
                  <a:tcPr marL="91439" marR="91439" marT="45697" marB="45697"/>
                </a:tc>
                <a:tc>
                  <a:txBody>
                    <a:bodyPr/>
                    <a:lstStyle/>
                    <a:p>
                      <a:pPr algn="ctr"/>
                      <a:r>
                        <a:rPr lang="en-CA" sz="1800" dirty="0"/>
                        <a:t>79</a:t>
                      </a:r>
                      <a:endParaRPr lang="en-US" sz="1800" dirty="0"/>
                    </a:p>
                  </a:txBody>
                  <a:tcPr marL="91439" marR="91439" marT="45697" marB="45697"/>
                </a:tc>
                <a:tc>
                  <a:txBody>
                    <a:bodyPr/>
                    <a:lstStyle/>
                    <a:p>
                      <a:pPr algn="ctr"/>
                      <a:r>
                        <a:rPr lang="en-CA" sz="1800" dirty="0"/>
                        <a:t>55.8</a:t>
                      </a:r>
                      <a:endParaRPr lang="en-US" sz="1800" dirty="0"/>
                    </a:p>
                  </a:txBody>
                  <a:tcPr marL="91439" marR="91439" marT="45697" marB="45697"/>
                </a:tc>
                <a:extLst>
                  <a:ext uri="{0D108BD9-81ED-4DB2-BD59-A6C34878D82A}">
                    <a16:rowId xmlns:a16="http://schemas.microsoft.com/office/drawing/2014/main" val="10004"/>
                  </a:ext>
                </a:extLst>
              </a:tr>
              <a:tr h="365711">
                <a:tc>
                  <a:txBody>
                    <a:bodyPr/>
                    <a:lstStyle/>
                    <a:p>
                      <a:pPr algn="ctr"/>
                      <a:r>
                        <a:rPr lang="en-CA" sz="1800" dirty="0"/>
                        <a:t>5</a:t>
                      </a:r>
                      <a:endParaRPr lang="en-US" sz="1800" dirty="0"/>
                    </a:p>
                  </a:txBody>
                  <a:tcPr marL="91439" marR="91439" marT="45697" marB="45697"/>
                </a:tc>
                <a:tc>
                  <a:txBody>
                    <a:bodyPr/>
                    <a:lstStyle/>
                    <a:p>
                      <a:pPr algn="ctr"/>
                      <a:r>
                        <a:rPr lang="en-CA" sz="1800" dirty="0"/>
                        <a:t>41</a:t>
                      </a:r>
                      <a:endParaRPr lang="en-US" sz="1800" dirty="0"/>
                    </a:p>
                  </a:txBody>
                  <a:tcPr marL="91439" marR="91439" marT="45697" marB="45697"/>
                </a:tc>
                <a:tc>
                  <a:txBody>
                    <a:bodyPr/>
                    <a:lstStyle/>
                    <a:p>
                      <a:pPr algn="ctr"/>
                      <a:r>
                        <a:rPr lang="en-CA" sz="1800" dirty="0"/>
                        <a:t>46.4</a:t>
                      </a:r>
                      <a:endParaRPr lang="en-US" sz="1800" dirty="0"/>
                    </a:p>
                  </a:txBody>
                  <a:tcPr marL="91439" marR="91439" marT="45697" marB="45697"/>
                </a:tc>
                <a:extLst>
                  <a:ext uri="{0D108BD9-81ED-4DB2-BD59-A6C34878D82A}">
                    <a16:rowId xmlns:a16="http://schemas.microsoft.com/office/drawing/2014/main" val="10005"/>
                  </a:ext>
                </a:extLst>
              </a:tr>
              <a:tr h="365711">
                <a:tc>
                  <a:txBody>
                    <a:bodyPr/>
                    <a:lstStyle/>
                    <a:p>
                      <a:pPr algn="ctr"/>
                      <a:r>
                        <a:rPr lang="en-CA" sz="1800" dirty="0"/>
                        <a:t>6</a:t>
                      </a:r>
                      <a:endParaRPr lang="en-US" sz="1800" dirty="0"/>
                    </a:p>
                  </a:txBody>
                  <a:tcPr marL="91439" marR="91439" marT="45697" marB="45697"/>
                </a:tc>
                <a:tc>
                  <a:txBody>
                    <a:bodyPr/>
                    <a:lstStyle/>
                    <a:p>
                      <a:pPr algn="ctr"/>
                      <a:r>
                        <a:rPr lang="en-CA" sz="1800" dirty="0"/>
                        <a:t>17</a:t>
                      </a:r>
                      <a:endParaRPr lang="en-US" sz="1800" dirty="0"/>
                    </a:p>
                  </a:txBody>
                  <a:tcPr marL="91439" marR="91439" marT="45697" marB="45697"/>
                </a:tc>
                <a:tc>
                  <a:txBody>
                    <a:bodyPr/>
                    <a:lstStyle/>
                    <a:p>
                      <a:pPr algn="ctr"/>
                      <a:r>
                        <a:rPr lang="en-CA" sz="1800" dirty="0"/>
                        <a:t>35.3</a:t>
                      </a:r>
                      <a:endParaRPr lang="en-US" sz="1800" dirty="0"/>
                    </a:p>
                  </a:txBody>
                  <a:tcPr marL="91439" marR="91439" marT="45697" marB="45697"/>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CA" altLang="en-US" dirty="0"/>
              <a:t>Mutual Fund Scandals </a:t>
            </a:r>
            <a:r>
              <a:rPr lang="en-CA" altLang="en-US" sz="2800" dirty="0"/>
              <a:t>(page 83)</a:t>
            </a:r>
            <a:endParaRPr lang="en-US" altLang="en-US" sz="2800" dirty="0"/>
          </a:p>
        </p:txBody>
      </p:sp>
      <p:sp>
        <p:nvSpPr>
          <p:cNvPr id="35843" name="Content Placeholder 2"/>
          <p:cNvSpPr>
            <a:spLocks noGrp="1"/>
          </p:cNvSpPr>
          <p:nvPr>
            <p:ph idx="1"/>
          </p:nvPr>
        </p:nvSpPr>
        <p:spPr/>
        <p:txBody>
          <a:bodyPr/>
          <a:lstStyle/>
          <a:p>
            <a:pPr eaLnBrk="1" hangingPunct="1"/>
            <a:r>
              <a:rPr lang="en-CA" altLang="en-US" dirty="0">
                <a:cs typeface="Arial" panose="020B0604020202020204" pitchFamily="34" charset="0"/>
              </a:rPr>
              <a:t>Late trading</a:t>
            </a:r>
          </a:p>
          <a:p>
            <a:pPr eaLnBrk="1" hangingPunct="1"/>
            <a:r>
              <a:rPr lang="en-CA" altLang="en-US" dirty="0">
                <a:cs typeface="Arial" panose="020B0604020202020204" pitchFamily="34" charset="0"/>
              </a:rPr>
              <a:t>Market timing</a:t>
            </a:r>
          </a:p>
          <a:p>
            <a:pPr eaLnBrk="1" hangingPunct="1"/>
            <a:r>
              <a:rPr lang="en-CA" altLang="en-US" dirty="0">
                <a:cs typeface="Arial" panose="020B0604020202020204" pitchFamily="34" charset="0"/>
              </a:rPr>
              <a:t>Front running</a:t>
            </a:r>
          </a:p>
          <a:p>
            <a:pPr eaLnBrk="1" hangingPunct="1"/>
            <a:r>
              <a:rPr lang="en-CA" altLang="en-US" dirty="0">
                <a:cs typeface="Arial" panose="020B0604020202020204" pitchFamily="34" charset="0"/>
              </a:rPr>
              <a:t>Directed brokerage</a:t>
            </a:r>
            <a:endParaRPr lang="en-US" altLang="en-US" dirty="0">
              <a:cs typeface="Arial" panose="020B0604020202020204" pitchFamily="34" charset="0"/>
            </a:endParaRPr>
          </a:p>
          <a:p>
            <a:pPr eaLnBrk="1" hangingPunct="1"/>
            <a:endParaRPr lang="en-US" altLang="en-US" dirty="0">
              <a:cs typeface="Arial" panose="020B0604020202020204" pitchFamily="34" charset="0"/>
            </a:endParaRPr>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953A55B-2E00-4A1F-89C2-E98AEC58B3A6}" type="slidenum">
              <a:rPr lang="en-US" altLang="en-US" sz="1800"/>
              <a:pPr>
                <a:spcBef>
                  <a:spcPct val="0"/>
                </a:spcBef>
                <a:buClrTx/>
                <a:buSzTx/>
                <a:buFontTx/>
                <a:buNone/>
              </a:pPr>
              <a:t>10</a:t>
            </a:fld>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CA" altLang="en-US"/>
              <a:t>Hedge Funds</a:t>
            </a:r>
            <a:endParaRPr lang="en-US" altLang="en-US"/>
          </a:p>
        </p:txBody>
      </p:sp>
      <p:sp>
        <p:nvSpPr>
          <p:cNvPr id="37891" name="Content Placeholder 2"/>
          <p:cNvSpPr>
            <a:spLocks noGrp="1"/>
          </p:cNvSpPr>
          <p:nvPr>
            <p:ph idx="1"/>
          </p:nvPr>
        </p:nvSpPr>
        <p:spPr>
          <a:xfrm>
            <a:off x="685800" y="1643063"/>
            <a:ext cx="7772400" cy="4619625"/>
          </a:xfrm>
        </p:spPr>
        <p:txBody>
          <a:bodyPr/>
          <a:lstStyle/>
          <a:p>
            <a:pPr eaLnBrk="1" hangingPunct="1"/>
            <a:r>
              <a:rPr lang="en-CA" altLang="en-US">
                <a:cs typeface="Arial" panose="020B0604020202020204" pitchFamily="34" charset="0"/>
              </a:rPr>
              <a:t>Mutual Funds are restricted because</a:t>
            </a:r>
          </a:p>
          <a:p>
            <a:pPr lvl="1" eaLnBrk="1" hangingPunct="1"/>
            <a:r>
              <a:rPr lang="en-CA" altLang="en-US" sz="2400">
                <a:cs typeface="Arial" panose="020B0604020202020204" pitchFamily="34" charset="0"/>
              </a:rPr>
              <a:t>Shares must be redeemable at any time</a:t>
            </a:r>
          </a:p>
          <a:p>
            <a:pPr lvl="1" eaLnBrk="1" hangingPunct="1"/>
            <a:r>
              <a:rPr lang="en-CA" altLang="en-US" sz="2400">
                <a:cs typeface="Arial" panose="020B0604020202020204" pitchFamily="34" charset="0"/>
              </a:rPr>
              <a:t>NAV must be calculated daily</a:t>
            </a:r>
          </a:p>
          <a:p>
            <a:pPr lvl="1" eaLnBrk="1" hangingPunct="1"/>
            <a:r>
              <a:rPr lang="en-CA" altLang="en-US" sz="2400">
                <a:cs typeface="Arial" panose="020B0604020202020204" pitchFamily="34" charset="0"/>
              </a:rPr>
              <a:t>Investment policies must be disclosed</a:t>
            </a:r>
          </a:p>
          <a:p>
            <a:pPr lvl="1" eaLnBrk="1" hangingPunct="1"/>
            <a:r>
              <a:rPr lang="en-CA" altLang="en-US" sz="2400">
                <a:cs typeface="Arial" panose="020B0604020202020204" pitchFamily="34" charset="0"/>
              </a:rPr>
              <a:t>Use of leverage is limited</a:t>
            </a:r>
          </a:p>
          <a:p>
            <a:pPr eaLnBrk="1" hangingPunct="1"/>
            <a:r>
              <a:rPr lang="en-CA" altLang="en-US">
                <a:cs typeface="Arial" panose="020B0604020202020204" pitchFamily="34" charset="0"/>
              </a:rPr>
              <a:t>Hedge funds (also called alternative investments) are not subject to these restrictions</a:t>
            </a:r>
            <a:endParaRPr lang="en-US" altLang="en-US">
              <a:cs typeface="Arial" panose="020B0604020202020204" pitchFamily="34" charset="0"/>
            </a:endParaRP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08A7BDD-8F31-4F08-93F9-7EF7694BCC1D}" type="slidenum">
              <a:rPr lang="en-US" altLang="en-US" sz="1800"/>
              <a:pPr>
                <a:spcBef>
                  <a:spcPct val="0"/>
                </a:spcBef>
                <a:buClrTx/>
                <a:buSzTx/>
                <a:buFontTx/>
                <a:buNone/>
              </a:pPr>
              <a:t>11</a:t>
            </a:fld>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CA" altLang="en-US"/>
              <a:t>Hedge Fund Fees</a:t>
            </a:r>
            <a:endParaRPr lang="en-US" altLang="en-US"/>
          </a:p>
        </p:txBody>
      </p:sp>
      <p:sp>
        <p:nvSpPr>
          <p:cNvPr id="39939" name="Content Placeholder 2"/>
          <p:cNvSpPr>
            <a:spLocks noGrp="1"/>
          </p:cNvSpPr>
          <p:nvPr>
            <p:ph idx="1"/>
          </p:nvPr>
        </p:nvSpPr>
        <p:spPr/>
        <p:txBody>
          <a:bodyPr/>
          <a:lstStyle/>
          <a:p>
            <a:pPr eaLnBrk="1" hangingPunct="1"/>
            <a:r>
              <a:rPr lang="en-CA" altLang="en-US" sz="2800" dirty="0">
                <a:cs typeface="Arial" panose="020B0604020202020204" pitchFamily="34" charset="0"/>
              </a:rPr>
              <a:t>A typical fee structure is 2 plus 20%</a:t>
            </a:r>
          </a:p>
          <a:p>
            <a:pPr eaLnBrk="1" hangingPunct="1"/>
            <a:r>
              <a:rPr lang="en-CA" altLang="en-US" sz="2800" dirty="0">
                <a:cs typeface="Arial" panose="020B0604020202020204" pitchFamily="34" charset="0"/>
              </a:rPr>
              <a:t>This means that the fund charges a 2% management fee per year plus an incentive fee equal to 20% of any net (after management fees) profits </a:t>
            </a:r>
          </a:p>
          <a:p>
            <a:pPr eaLnBrk="1" hangingPunct="1"/>
            <a:r>
              <a:rPr lang="en-CA" altLang="en-US" sz="2800" dirty="0">
                <a:cs typeface="Arial" panose="020B0604020202020204" pitchFamily="34" charset="0"/>
              </a:rPr>
              <a:t>There may be lock up periods during which funds cannot be withdrawn</a:t>
            </a:r>
          </a:p>
          <a:p>
            <a:pPr eaLnBrk="1" hangingPunct="1"/>
            <a:r>
              <a:rPr lang="en-CA" altLang="en-US" sz="2800" dirty="0">
                <a:cs typeface="Arial" panose="020B0604020202020204" pitchFamily="34" charset="0"/>
              </a:rPr>
              <a:t>Other features sometimes present: hurdle rates, high-water marks, and </a:t>
            </a:r>
            <a:r>
              <a:rPr lang="en-CA" altLang="en-US" sz="2800" dirty="0" err="1">
                <a:cs typeface="Arial" panose="020B0604020202020204" pitchFamily="34" charset="0"/>
              </a:rPr>
              <a:t>clawbacks</a:t>
            </a:r>
            <a:r>
              <a:rPr lang="en-CA" altLang="en-US" sz="2800" dirty="0">
                <a:cs typeface="Arial" panose="020B0604020202020204" pitchFamily="34" charset="0"/>
              </a:rPr>
              <a:t> </a:t>
            </a:r>
            <a:endParaRPr lang="en-US" altLang="en-US" sz="2800" dirty="0">
              <a:cs typeface="Arial" panose="020B0604020202020204" pitchFamily="34" charset="0"/>
            </a:endParaRPr>
          </a:p>
        </p:txBody>
      </p:sp>
      <p:sp>
        <p:nvSpPr>
          <p:cNvPr id="399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399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829852F-A6E1-4FAC-94DD-C830D93FB064}" type="slidenum">
              <a:rPr lang="en-US" altLang="en-US" sz="1800"/>
              <a:pPr>
                <a:spcBef>
                  <a:spcPct val="0"/>
                </a:spcBef>
                <a:buClrTx/>
                <a:buSzTx/>
                <a:buFontTx/>
                <a:buNone/>
              </a:pPr>
              <a:t>12</a:t>
            </a:fld>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CA" altLang="en-US"/>
              <a:t>Funds of Funds</a:t>
            </a:r>
            <a:endParaRPr lang="en-US" altLang="en-US"/>
          </a:p>
        </p:txBody>
      </p:sp>
      <p:sp>
        <p:nvSpPr>
          <p:cNvPr id="41987" name="Content Placeholder 2"/>
          <p:cNvSpPr>
            <a:spLocks noGrp="1"/>
          </p:cNvSpPr>
          <p:nvPr>
            <p:ph idx="1"/>
          </p:nvPr>
        </p:nvSpPr>
        <p:spPr/>
        <p:txBody>
          <a:bodyPr/>
          <a:lstStyle/>
          <a:p>
            <a:pPr eaLnBrk="1" hangingPunct="1"/>
            <a:r>
              <a:rPr lang="en-CA" altLang="en-US">
                <a:cs typeface="Arial" panose="020B0604020202020204" pitchFamily="34" charset="0"/>
              </a:rPr>
              <a:t>Funds of funds invest in the portfolios of hedge funds </a:t>
            </a:r>
          </a:p>
          <a:p>
            <a:pPr eaLnBrk="1" hangingPunct="1"/>
            <a:r>
              <a:rPr lang="en-CA" altLang="en-US">
                <a:cs typeface="Arial" panose="020B0604020202020204" pitchFamily="34" charset="0"/>
              </a:rPr>
              <a:t>A typical fee used to be 1 plus 10%</a:t>
            </a:r>
          </a:p>
          <a:p>
            <a:pPr eaLnBrk="1" hangingPunct="1"/>
            <a:r>
              <a:rPr lang="en-CA" altLang="en-US">
                <a:cs typeface="Arial" panose="020B0604020202020204" pitchFamily="34" charset="0"/>
              </a:rPr>
              <a:t>It is now much lower</a:t>
            </a:r>
            <a:endParaRPr lang="en-US" altLang="en-US">
              <a:cs typeface="Arial" panose="020B0604020202020204" pitchFamily="34" charset="0"/>
            </a:endParaRPr>
          </a:p>
        </p:txBody>
      </p:sp>
      <p:sp>
        <p:nvSpPr>
          <p:cNvPr id="4198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4198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BEA40DB-1304-4839-86C6-CA94B9C11547}" type="slidenum">
              <a:rPr lang="en-US" altLang="en-US" sz="1800"/>
              <a:pPr>
                <a:spcBef>
                  <a:spcPct val="0"/>
                </a:spcBef>
                <a:buClrTx/>
                <a:buSzTx/>
                <a:buFontTx/>
                <a:buNone/>
              </a:pPr>
              <a:t>13</a:t>
            </a:fld>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CA" altLang="en-US" dirty="0"/>
              <a:t>Incentives of Hedge Fund Managers </a:t>
            </a:r>
            <a:r>
              <a:rPr lang="en-CA" altLang="en-US" sz="2800" dirty="0"/>
              <a:t>(pages 86-87)</a:t>
            </a:r>
            <a:endParaRPr lang="en-US" altLang="en-US" sz="2800" dirty="0"/>
          </a:p>
        </p:txBody>
      </p:sp>
      <p:sp>
        <p:nvSpPr>
          <p:cNvPr id="44035" name="Content Placeholder 2"/>
          <p:cNvSpPr>
            <a:spLocks noGrp="1"/>
          </p:cNvSpPr>
          <p:nvPr>
            <p:ph idx="1"/>
          </p:nvPr>
        </p:nvSpPr>
        <p:spPr>
          <a:xfrm>
            <a:off x="684213" y="1700213"/>
            <a:ext cx="7772400" cy="4333875"/>
          </a:xfrm>
        </p:spPr>
        <p:txBody>
          <a:bodyPr/>
          <a:lstStyle/>
          <a:p>
            <a:pPr eaLnBrk="1" hangingPunct="1"/>
            <a:r>
              <a:rPr lang="en-CA" altLang="en-US" sz="2800" dirty="0">
                <a:cs typeface="Arial" panose="020B0604020202020204" pitchFamily="34" charset="0"/>
              </a:rPr>
              <a:t>The incentive component of the hedge fund manager’s fee gives the hedge fund manager a call option on the performance of the fund in each year</a:t>
            </a:r>
          </a:p>
          <a:p>
            <a:pPr eaLnBrk="1" hangingPunct="1"/>
            <a:r>
              <a:rPr lang="en-CA" altLang="en-US" sz="2800" dirty="0">
                <a:cs typeface="Arial" panose="020B0604020202020204" pitchFamily="34" charset="0"/>
              </a:rPr>
              <a:t>The hedge fund manager has an incentive to take high risks</a:t>
            </a:r>
          </a:p>
          <a:p>
            <a:pPr eaLnBrk="1" hangingPunct="1"/>
            <a:r>
              <a:rPr lang="en-CA" altLang="en-US" sz="2800" dirty="0">
                <a:cs typeface="Arial" panose="020B0604020202020204" pitchFamily="34" charset="0"/>
              </a:rPr>
              <a:t>Should a hedge fund manager choose an investment with a 0.4 probability of a 60% profit and a 0.6 probability of a 60% loss? </a:t>
            </a:r>
            <a:endParaRPr lang="en-US" altLang="en-US" sz="2800" dirty="0">
              <a:cs typeface="Arial" panose="020B0604020202020204" pitchFamily="34" charset="0"/>
            </a:endParaRPr>
          </a:p>
        </p:txBody>
      </p:sp>
      <p:sp>
        <p:nvSpPr>
          <p:cNvPr id="4403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440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16596F2-6D5B-4FB2-8DE9-2F14C32C3CF5}" type="slidenum">
              <a:rPr lang="en-US" altLang="en-US" sz="1800"/>
              <a:pPr>
                <a:spcBef>
                  <a:spcPct val="0"/>
                </a:spcBef>
                <a:buClrTx/>
                <a:buSzTx/>
                <a:buFontTx/>
                <a:buNone/>
              </a:pPr>
              <a:t>14</a:t>
            </a:fld>
            <a:endParaRPr lang="en-US"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246063" y="357188"/>
            <a:ext cx="7772400" cy="785812"/>
          </a:xfrm>
        </p:spPr>
        <p:txBody>
          <a:bodyPr/>
          <a:lstStyle/>
          <a:p>
            <a:pPr eaLnBrk="1" hangingPunct="1"/>
            <a:r>
              <a:rPr lang="en-CA" altLang="en-US" dirty="0"/>
              <a:t>Prime Brokers </a:t>
            </a:r>
            <a:r>
              <a:rPr lang="en-CA" altLang="en-US" sz="2800" dirty="0"/>
              <a:t>(page 88)</a:t>
            </a:r>
            <a:endParaRPr lang="en-US" altLang="en-US" sz="2800" dirty="0"/>
          </a:p>
        </p:txBody>
      </p:sp>
      <p:sp>
        <p:nvSpPr>
          <p:cNvPr id="46083" name="Content Placeholder 2"/>
          <p:cNvSpPr>
            <a:spLocks noGrp="1"/>
          </p:cNvSpPr>
          <p:nvPr>
            <p:ph idx="1"/>
          </p:nvPr>
        </p:nvSpPr>
        <p:spPr>
          <a:xfrm>
            <a:off x="685800" y="1428750"/>
            <a:ext cx="7772400" cy="4833938"/>
          </a:xfrm>
        </p:spPr>
        <p:txBody>
          <a:bodyPr/>
          <a:lstStyle/>
          <a:p>
            <a:pPr eaLnBrk="1" hangingPunct="1"/>
            <a:r>
              <a:rPr lang="en-CA" altLang="en-US" sz="2800">
                <a:cs typeface="Arial" panose="020B0604020202020204" pitchFamily="34" charset="0"/>
              </a:rPr>
              <a:t>Prime brokers </a:t>
            </a:r>
          </a:p>
          <a:p>
            <a:pPr lvl="1" eaLnBrk="1" hangingPunct="1"/>
            <a:r>
              <a:rPr lang="en-CA" altLang="en-US" sz="2400">
                <a:cs typeface="Arial" panose="020B0604020202020204" pitchFamily="34" charset="0"/>
              </a:rPr>
              <a:t>handle hedge fund trades</a:t>
            </a:r>
          </a:p>
          <a:p>
            <a:pPr lvl="1" eaLnBrk="1" hangingPunct="1"/>
            <a:r>
              <a:rPr lang="en-CA" altLang="en-US" sz="2400">
                <a:cs typeface="Arial" panose="020B0604020202020204" pitchFamily="34" charset="0"/>
              </a:rPr>
              <a:t>determine the maximum leverage and collateral requirements</a:t>
            </a:r>
          </a:p>
          <a:p>
            <a:pPr lvl="1" eaLnBrk="1" hangingPunct="1"/>
            <a:r>
              <a:rPr lang="en-CA" altLang="en-US" sz="2400">
                <a:cs typeface="Arial" panose="020B0604020202020204" pitchFamily="34" charset="0"/>
              </a:rPr>
              <a:t>borrow securities when the hedge fund is shorting,</a:t>
            </a:r>
          </a:p>
          <a:p>
            <a:pPr lvl="1" eaLnBrk="1" hangingPunct="1"/>
            <a:r>
              <a:rPr lang="en-CA" altLang="en-US" sz="2400">
                <a:cs typeface="Arial" panose="020B0604020202020204" pitchFamily="34" charset="0"/>
              </a:rPr>
              <a:t>etc</a:t>
            </a:r>
          </a:p>
          <a:p>
            <a:pPr eaLnBrk="1" hangingPunct="1"/>
            <a:r>
              <a:rPr lang="en-CA" altLang="en-US" sz="2800">
                <a:cs typeface="Arial" panose="020B0604020202020204" pitchFamily="34" charset="0"/>
              </a:rPr>
              <a:t>Large hedge funds typically use more than one prime broker</a:t>
            </a:r>
          </a:p>
          <a:p>
            <a:pPr eaLnBrk="1" hangingPunct="1"/>
            <a:r>
              <a:rPr lang="en-CA" altLang="en-US" sz="2800">
                <a:cs typeface="Arial" panose="020B0604020202020204" pitchFamily="34" charset="0"/>
              </a:rPr>
              <a:t>The risks that hedge funds can take are to some extent controlled by their prime brokers</a:t>
            </a:r>
            <a:endParaRPr lang="en-US" altLang="en-US" sz="2800">
              <a:cs typeface="Arial" panose="020B0604020202020204" pitchFamily="34" charset="0"/>
            </a:endParaRPr>
          </a:p>
        </p:txBody>
      </p:sp>
      <p:sp>
        <p:nvSpPr>
          <p:cNvPr id="460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460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D8438F0-39BB-42E2-A621-047964629F4A}" type="slidenum">
              <a:rPr lang="en-US" altLang="en-US" sz="1800"/>
              <a:pPr>
                <a:spcBef>
                  <a:spcPct val="0"/>
                </a:spcBef>
                <a:buClrTx/>
                <a:buSzTx/>
                <a:buFontTx/>
                <a:buNone/>
              </a:pPr>
              <a:t>15</a:t>
            </a:fld>
            <a:endParaRPr lang="en-US"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CA" altLang="en-US"/>
              <a:t>Hedge Fund Strategies</a:t>
            </a:r>
            <a:endParaRPr lang="en-US" altLang="en-US"/>
          </a:p>
        </p:txBody>
      </p:sp>
      <p:sp>
        <p:nvSpPr>
          <p:cNvPr id="48131" name="Content Placeholder 2"/>
          <p:cNvSpPr>
            <a:spLocks noGrp="1"/>
          </p:cNvSpPr>
          <p:nvPr>
            <p:ph idx="1"/>
          </p:nvPr>
        </p:nvSpPr>
        <p:spPr/>
        <p:txBody>
          <a:bodyPr/>
          <a:lstStyle/>
          <a:p>
            <a:pPr eaLnBrk="1" hangingPunct="1"/>
            <a:r>
              <a:rPr lang="en-CA" altLang="en-US" sz="2400">
                <a:cs typeface="Arial" panose="020B0604020202020204" pitchFamily="34" charset="0"/>
              </a:rPr>
              <a:t>Long/short equity</a:t>
            </a:r>
          </a:p>
          <a:p>
            <a:pPr eaLnBrk="1" hangingPunct="1"/>
            <a:r>
              <a:rPr lang="en-CA" altLang="en-US" sz="2400">
                <a:cs typeface="Arial" panose="020B0604020202020204" pitchFamily="34" charset="0"/>
              </a:rPr>
              <a:t>Dedicated short</a:t>
            </a:r>
          </a:p>
          <a:p>
            <a:pPr eaLnBrk="1" hangingPunct="1"/>
            <a:r>
              <a:rPr lang="en-CA" altLang="en-US" sz="2400">
                <a:cs typeface="Arial" panose="020B0604020202020204" pitchFamily="34" charset="0"/>
              </a:rPr>
              <a:t>Distressed securities</a:t>
            </a:r>
          </a:p>
          <a:p>
            <a:pPr eaLnBrk="1" hangingPunct="1"/>
            <a:r>
              <a:rPr lang="en-CA" altLang="en-US" sz="2400">
                <a:cs typeface="Arial" panose="020B0604020202020204" pitchFamily="34" charset="0"/>
              </a:rPr>
              <a:t>Merger arbitrage</a:t>
            </a:r>
          </a:p>
          <a:p>
            <a:pPr eaLnBrk="1" hangingPunct="1"/>
            <a:r>
              <a:rPr lang="en-CA" altLang="en-US" sz="2400">
                <a:cs typeface="Arial" panose="020B0604020202020204" pitchFamily="34" charset="0"/>
              </a:rPr>
              <a:t>Convertible arbitrage</a:t>
            </a:r>
          </a:p>
          <a:p>
            <a:pPr eaLnBrk="1" hangingPunct="1"/>
            <a:r>
              <a:rPr lang="en-CA" altLang="en-US" sz="2400">
                <a:cs typeface="Arial" panose="020B0604020202020204" pitchFamily="34" charset="0"/>
              </a:rPr>
              <a:t>Fixed income arbitrage</a:t>
            </a:r>
          </a:p>
          <a:p>
            <a:pPr eaLnBrk="1" hangingPunct="1"/>
            <a:r>
              <a:rPr lang="en-CA" altLang="en-US" sz="2400">
                <a:cs typeface="Arial" panose="020B0604020202020204" pitchFamily="34" charset="0"/>
              </a:rPr>
              <a:t>Emerging markets</a:t>
            </a:r>
          </a:p>
          <a:p>
            <a:pPr eaLnBrk="1" hangingPunct="1"/>
            <a:r>
              <a:rPr lang="en-CA" altLang="en-US" sz="2400">
                <a:cs typeface="Arial" panose="020B0604020202020204" pitchFamily="34" charset="0"/>
              </a:rPr>
              <a:t>Global macro</a:t>
            </a:r>
          </a:p>
          <a:p>
            <a:pPr eaLnBrk="1" hangingPunct="1"/>
            <a:r>
              <a:rPr lang="en-CA" altLang="en-US" sz="2400">
                <a:cs typeface="Arial" panose="020B0604020202020204" pitchFamily="34" charset="0"/>
              </a:rPr>
              <a:t>Managed futures</a:t>
            </a:r>
            <a:endParaRPr lang="en-US" altLang="en-US" sz="2400">
              <a:cs typeface="Arial" panose="020B0604020202020204" pitchFamily="34" charset="0"/>
            </a:endParaRPr>
          </a:p>
          <a:p>
            <a:pPr eaLnBrk="1" hangingPunct="1"/>
            <a:endParaRPr lang="en-US" altLang="en-US">
              <a:cs typeface="Arial" panose="020B0604020202020204" pitchFamily="34" charset="0"/>
            </a:endParaRPr>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481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73D473-2CC4-4CC5-8AE9-EC4A4D8C850A}" type="slidenum">
              <a:rPr lang="en-US" altLang="en-US" sz="1800"/>
              <a:pPr>
                <a:spcBef>
                  <a:spcPct val="0"/>
                </a:spcBef>
                <a:buClrTx/>
                <a:buSzTx/>
                <a:buFontTx/>
                <a:buNone/>
              </a:pPr>
              <a:t>16</a:t>
            </a:fld>
            <a:endParaRPr lang="en-US"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122238"/>
            <a:ext cx="7543800" cy="1163637"/>
          </a:xfrm>
        </p:spPr>
        <p:txBody>
          <a:bodyPr/>
          <a:lstStyle/>
          <a:p>
            <a:pPr eaLnBrk="1" hangingPunct="1"/>
            <a:r>
              <a:rPr lang="en-CA" altLang="en-US"/>
              <a:t>Hedge Fund Returns</a:t>
            </a:r>
            <a:endParaRPr lang="en-US" altLang="en-US" sz="2800"/>
          </a:p>
        </p:txBody>
      </p:sp>
      <p:sp>
        <p:nvSpPr>
          <p:cNvPr id="50179" name="Content Placeholder 2"/>
          <p:cNvSpPr>
            <a:spLocks noGrp="1"/>
          </p:cNvSpPr>
          <p:nvPr>
            <p:ph idx="1"/>
          </p:nvPr>
        </p:nvSpPr>
        <p:spPr>
          <a:xfrm>
            <a:off x="684213" y="1557338"/>
            <a:ext cx="7815262" cy="4214812"/>
          </a:xfrm>
        </p:spPr>
        <p:txBody>
          <a:bodyPr/>
          <a:lstStyle/>
          <a:p>
            <a:pPr eaLnBrk="1" hangingPunct="1"/>
            <a:r>
              <a:rPr lang="en-CA" altLang="en-US" sz="2200" dirty="0">
                <a:cs typeface="Arial" panose="020B0604020202020204" pitchFamily="34" charset="0"/>
              </a:rPr>
              <a:t>The Barclays hedge fund index shows that hedge funds have not outperformed to market in most years (See Table 4.5)</a:t>
            </a:r>
          </a:p>
          <a:p>
            <a:pPr eaLnBrk="1" hangingPunct="1"/>
            <a:r>
              <a:rPr lang="en-CA" altLang="en-US" sz="2200" dirty="0">
                <a:cs typeface="Arial" panose="020B0604020202020204" pitchFamily="34" charset="0"/>
              </a:rPr>
              <a:t>Many hedge fund strategies have low betas and therefore cannot be expected to outperform the market when it is doing well. </a:t>
            </a:r>
          </a:p>
          <a:p>
            <a:pPr eaLnBrk="1" hangingPunct="1"/>
            <a:r>
              <a:rPr lang="en-CA" altLang="en-US" sz="2200" dirty="0">
                <a:cs typeface="Arial" panose="020B0604020202020204" pitchFamily="34" charset="0"/>
              </a:rPr>
              <a:t>However, the statistics may bias average hedge fund performance upward because only hedge funds that choose to report their returns are included in the statistics and these tend to be the hedge funds that are doing well.</a:t>
            </a:r>
          </a:p>
        </p:txBody>
      </p:sp>
      <p:sp>
        <p:nvSpPr>
          <p:cNvPr id="50180" name="Footer Placeholder 3"/>
          <p:cNvSpPr>
            <a:spLocks noGrp="1"/>
          </p:cNvSpPr>
          <p:nvPr>
            <p:ph type="ftr" sz="quarter" idx="11"/>
          </p:nvPr>
        </p:nvSpPr>
        <p:spPr>
          <a:xfrm>
            <a:off x="250825" y="6429375"/>
            <a:ext cx="7561263"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Risk Management and Financial Institutions 6e,  Chapter 4, Copyright © John C. Hull 2023</a:t>
            </a:r>
          </a:p>
        </p:txBody>
      </p:sp>
      <p:sp>
        <p:nvSpPr>
          <p:cNvPr id="501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0E514A7-601B-41DE-8689-2839A7A80731}" type="slidenum">
              <a:rPr lang="en-US" altLang="en-US" sz="1800"/>
              <a:pPr>
                <a:spcBef>
                  <a:spcPct val="0"/>
                </a:spcBef>
                <a:buClrTx/>
                <a:buSzTx/>
                <a:buFontTx/>
                <a:buNone/>
              </a:pPr>
              <a:t>17</a:t>
            </a:fld>
            <a:endParaRPr lang="en-US" altLang="en-US" sz="1800"/>
          </a:p>
        </p:txBody>
      </p:sp>
    </p:spTree>
  </p:cSld>
  <p:clrMapOvr>
    <a:masterClrMapping/>
  </p:clrMapOvr>
</p:sld>
</file>

<file path=ppt/theme/theme1.xml><?xml version="1.0" encoding="utf-8"?>
<a:theme xmlns:a="http://schemas.openxmlformats.org/drawingml/2006/main" name="HullRMFICh12">
  <a:themeElements>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2">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BAD448-3103-42B4-B685-7BE2B427364F}"/>
</file>

<file path=customXml/itemProps2.xml><?xml version="1.0" encoding="utf-8"?>
<ds:datastoreItem xmlns:ds="http://schemas.openxmlformats.org/officeDocument/2006/customXml" ds:itemID="{2B4ACC3D-4B2A-47FE-88CF-BF0B38355227}"/>
</file>

<file path=customXml/itemProps3.xml><?xml version="1.0" encoding="utf-8"?>
<ds:datastoreItem xmlns:ds="http://schemas.openxmlformats.org/officeDocument/2006/customXml" ds:itemID="{D34B5731-92CF-407E-9897-7D73336CE86D}"/>
</file>

<file path=docProps/app.xml><?xml version="1.0" encoding="utf-8"?>
<Properties xmlns="http://schemas.openxmlformats.org/officeDocument/2006/extended-properties" xmlns:vt="http://schemas.openxmlformats.org/officeDocument/2006/docPropsVTypes">
  <Template>HullRMFI2ndEdCh18</Template>
  <TotalTime>1433</TotalTime>
  <Words>1093</Words>
  <Application>Microsoft Office PowerPoint</Application>
  <PresentationFormat>On-screen Show (4:3)</PresentationFormat>
  <Paragraphs>157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Times New Roman</vt:lpstr>
      <vt:lpstr>Wingdings</vt:lpstr>
      <vt:lpstr>HullRMFICh12</vt:lpstr>
      <vt:lpstr>Fund Managers </vt:lpstr>
      <vt:lpstr>Open-End Mutual Funds</vt:lpstr>
      <vt:lpstr>Types of Mutual Funds</vt:lpstr>
      <vt:lpstr>Costs </vt:lpstr>
      <vt:lpstr>Closed-End Fund</vt:lpstr>
      <vt:lpstr>Exchange-Traded Funds (ETFs, page 79-80)</vt:lpstr>
      <vt:lpstr>Advantages of ETFs over Open- and Closed-End Mutual Funds</vt:lpstr>
      <vt:lpstr>Performance of Mutual Funds</vt:lpstr>
      <vt:lpstr>Jensen’s Results on the Persistence of Good Performance (Table 4.3)</vt:lpstr>
      <vt:lpstr>Mutual Fund Scandals (page 83)</vt:lpstr>
      <vt:lpstr>Hedge Funds</vt:lpstr>
      <vt:lpstr>Hedge Fund Fees</vt:lpstr>
      <vt:lpstr>Funds of Funds</vt:lpstr>
      <vt:lpstr>Incentives of Hedge Fund Managers (pages 86-87)</vt:lpstr>
      <vt:lpstr>Prime Brokers (page 88)</vt:lpstr>
      <vt:lpstr>Hedge Fund Strategies</vt:lpstr>
      <vt:lpstr>Hedge Fund Returns</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and Financial Institutions</dc:title>
  <dc:subject>Chapter 4</dc:subject>
  <dc:creator>John  Hull</dc:creator>
  <cp:keywords>5th Edition</cp:keywords>
  <dc:description>Copyright 2018 by John Hull._x000d_
All rights reserved.</dc:description>
  <cp:lastModifiedBy>John Hull</cp:lastModifiedBy>
  <cp:revision>111</cp:revision>
  <dcterms:created xsi:type="dcterms:W3CDTF">2003-01-02T05:31:58Z</dcterms:created>
  <dcterms:modified xsi:type="dcterms:W3CDTF">2022-12-01T17:11:26Z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