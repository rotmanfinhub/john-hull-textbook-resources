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2276475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/>
            </a:lvl1pPr>
          </a:lstStyle>
          <a:p>
            <a:pPr>
              <a:defRPr/>
            </a:pPr>
            <a:fld id="{9863F309-1926-4843-BBC3-7197C8AEF6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95957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/>
            </a:lvl1pPr>
          </a:lstStyle>
          <a:p>
            <a:pPr>
              <a:defRPr/>
            </a:pPr>
            <a:fld id="{D7F0AC50-90A0-4006-80FA-827DCB7A0D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3467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13708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957061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544099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483034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964004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404090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0CCD3AC-9906-46F2-8C58-FF7011D11E70}" type="slidenum">
              <a:rPr lang="en-US" altLang="en-US" sz="13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72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03EB0FD-ECC0-442D-857A-65DC4D6DDE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542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835139-B219-4BB2-A2E2-458167984F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24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F6BF6F5-E546-4324-A649-8124E02C31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62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5DD1E3-3E2A-4D0B-899F-03096C8722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3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7B6302-F7D6-4744-A30A-6352622C17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723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68965E6-DBEE-47DA-A2F4-406013BC1E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0032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9CCF82A-7A75-46D2-9C24-D17E3F8282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652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0EF841-AEB2-49F6-85B5-10B0EC8FAB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022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72B9A3-6F3B-4C68-A4DE-A5081CA8B7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684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704B40-9B3D-4318-9105-DE54B5F447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171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D5C46D-C078-4F51-A421-8304E012A3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82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79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79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30,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1679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 smtClean="0"/>
            </a:lvl1pPr>
          </a:lstStyle>
          <a:p>
            <a:pPr>
              <a:defRPr/>
            </a:pPr>
            <a:fld id="{7F0CDF2A-B2FF-4AFA-BFF1-3D0E279D4F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5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5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5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5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5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30,  Copyright © John C. Hull 2023</a:t>
            </a:r>
            <a:endParaRPr lang="en-US" altLang="en-US" sz="1400" i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2924175"/>
            <a:ext cx="6397625" cy="719138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0" dirty="0">
                <a:solidFill>
                  <a:schemeClr val="tx1"/>
                </a:solidFill>
                <a:latin typeface="+mn-lt"/>
              </a:rPr>
              <a:t>Chapter 30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428625"/>
            <a:ext cx="6604000" cy="2143125"/>
          </a:xfrm>
        </p:spPr>
        <p:txBody>
          <a:bodyPr/>
          <a:lstStyle/>
          <a:p>
            <a:pPr eaLnBrk="1" hangingPunct="1"/>
            <a:endParaRPr lang="en-US" altLang="en-US" sz="48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4800" b="1">
                <a:solidFill>
                  <a:schemeClr val="tx2"/>
                </a:solidFill>
                <a:latin typeface="Times New Roman" panose="02020603050405020304" pitchFamily="18" charset="0"/>
              </a:rPr>
              <a:t>Risk Management Mistakes to Avoid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37280A-0126-4D8F-81AA-F60111BDF2A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30,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741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31263" y="-282574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Big Losses </a:t>
            </a:r>
            <a:r>
              <a:rPr lang="en-US" altLang="en-US" sz="2400" dirty="0"/>
              <a:t>(Business Snapshot 30.1)</a:t>
            </a:r>
          </a:p>
        </p:txBody>
      </p:sp>
      <p:sp>
        <p:nvSpPr>
          <p:cNvPr id="1741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26327" y="1424782"/>
            <a:ext cx="8229600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Allied Irish Bank ($700 million)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 err="1"/>
              <a:t>Archegos</a:t>
            </a:r>
            <a:r>
              <a:rPr lang="en-US" altLang="en-US" sz="2200" dirty="0"/>
              <a:t> Capital Management (&gt;$8 billion)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Barings ($1 billion)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Enron’s Counterparties ($ billions in lawsuits)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Hammersmith and Fulham ($600 million)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Kidder Peabody ($350 million)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LTCM ($4 billion)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National Westminster Bank ($130 million)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Orange County ($2 billion)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Procter and Gamble ($90 million)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Soc Gen ($7 billion)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Subprime Mortgage Losses ($ tens of billions)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UBS (2.3 billion)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423AEF-4A20-4D06-91D6-8F338385B68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30,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Risk Limits </a:t>
            </a:r>
            <a:r>
              <a:rPr lang="en-US" altLang="en-US" sz="2400" dirty="0"/>
              <a:t>(Section 30.1)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Risk must be quantified and risk limits set</a:t>
            </a:r>
          </a:p>
          <a:p>
            <a:pPr eaLnBrk="1" hangingPunct="1"/>
            <a:r>
              <a:rPr lang="en-US" altLang="en-US" sz="2800"/>
              <a:t>Exceeding risk limits not acceptable even when profits result</a:t>
            </a:r>
          </a:p>
          <a:p>
            <a:pPr eaLnBrk="1" hangingPunct="1"/>
            <a:r>
              <a:rPr lang="en-US" altLang="en-US" sz="2800"/>
              <a:t>Do not assume that you can outguess the market</a:t>
            </a:r>
          </a:p>
          <a:p>
            <a:pPr eaLnBrk="1" hangingPunct="1"/>
            <a:r>
              <a:rPr lang="en-US" altLang="en-US" sz="2800"/>
              <a:t>Be diversified</a:t>
            </a:r>
          </a:p>
          <a:p>
            <a:pPr eaLnBrk="1" hangingPunct="1"/>
            <a:r>
              <a:rPr lang="en-US" altLang="en-US" sz="2800"/>
              <a:t>Scenario analysis and stress testing is important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0854AB-5FDC-436C-9E51-DA990C11630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30,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8680"/>
            <a:ext cx="8077200" cy="1152128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Managing the Trading Room </a:t>
            </a:r>
            <a:r>
              <a:rPr lang="en-US" altLang="en-US" sz="2000" dirty="0"/>
              <a:t>(Section 30.2) </a:t>
            </a:r>
            <a:br>
              <a:rPr lang="en-US" altLang="en-US" dirty="0"/>
            </a:br>
            <a:endParaRPr lang="en-US" altLang="en-US" sz="24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not give too much independence to star traders</a:t>
            </a:r>
          </a:p>
          <a:p>
            <a:pPr eaLnBrk="1" hangingPunct="1"/>
            <a:r>
              <a:rPr lang="en-US" altLang="en-US" sz="2800" dirty="0"/>
              <a:t>Separate the front middle and back office</a:t>
            </a:r>
          </a:p>
          <a:p>
            <a:pPr eaLnBrk="1" hangingPunct="1"/>
            <a:r>
              <a:rPr lang="en-US" altLang="en-US" sz="2800" dirty="0"/>
              <a:t>Do not blindly trust models</a:t>
            </a:r>
          </a:p>
          <a:p>
            <a:pPr eaLnBrk="1" hangingPunct="1"/>
            <a:r>
              <a:rPr lang="en-US" altLang="en-US" sz="2800" dirty="0"/>
              <a:t>Be conservative in recognizing inception profits</a:t>
            </a:r>
          </a:p>
          <a:p>
            <a:pPr eaLnBrk="1" hangingPunct="1"/>
            <a:r>
              <a:rPr lang="en-US" altLang="en-US" sz="2800" dirty="0"/>
              <a:t>Do not sell clients inappropriate products</a:t>
            </a:r>
          </a:p>
          <a:p>
            <a:pPr eaLnBrk="1" hangingPunct="1"/>
            <a:r>
              <a:rPr lang="en-US" altLang="en-US" sz="2800" dirty="0"/>
              <a:t>Beware easy profits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C0A320-1ED5-4F9E-A17A-CC3D1B0C5D6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30,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Liquidity Risk </a:t>
            </a:r>
            <a:r>
              <a:rPr lang="en-US" altLang="en-US" sz="2400" dirty="0"/>
              <a:t>(Section 30.3)</a:t>
            </a:r>
            <a:endParaRPr lang="en-CA" altLang="en-US" sz="2400" dirty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The Global Financial Crisis has emphasized the importance of liquidity risk</a:t>
            </a:r>
          </a:p>
          <a:p>
            <a:pPr eaLnBrk="1" hangingPunct="1"/>
            <a:r>
              <a:rPr lang="en-US" altLang="en-US" sz="2800" dirty="0"/>
              <a:t>Need to ensure that liquidity funding needs can be met in stressed market conditions</a:t>
            </a:r>
          </a:p>
          <a:p>
            <a:pPr eaLnBrk="1" hangingPunct="1"/>
            <a:r>
              <a:rPr lang="en-US" altLang="en-US" sz="2800" dirty="0"/>
              <a:t>Beware when many are following the same strategy</a:t>
            </a:r>
          </a:p>
          <a:p>
            <a:pPr eaLnBrk="1" hangingPunct="1"/>
            <a:r>
              <a:rPr lang="en-US" altLang="en-US" sz="2800" dirty="0"/>
              <a:t>Do not make excessive use of  short-term borrowings for long-term needs</a:t>
            </a:r>
          </a:p>
          <a:p>
            <a:pPr eaLnBrk="1" hangingPunct="1"/>
            <a:r>
              <a:rPr lang="en-US" altLang="en-US" sz="2800" dirty="0"/>
              <a:t>Market transparency is important</a:t>
            </a:r>
          </a:p>
          <a:p>
            <a:pPr eaLnBrk="1" hangingPunct="1"/>
            <a:endParaRPr lang="en-CA" altLang="en-US" dirty="0"/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4FD4B3-2E31-466E-A0EC-1CC6C5CA90D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30,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Lessons for Non-Financial Corporations </a:t>
            </a:r>
            <a:r>
              <a:rPr lang="en-US" altLang="en-US" sz="2400" dirty="0"/>
              <a:t>(Section 30.4)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63738"/>
            <a:ext cx="8229600" cy="4167187"/>
          </a:xfrm>
        </p:spPr>
        <p:txBody>
          <a:bodyPr/>
          <a:lstStyle/>
          <a:p>
            <a:pPr eaLnBrk="1" hangingPunct="1"/>
            <a:r>
              <a:rPr lang="en-US" altLang="en-US"/>
              <a:t>It is important to fully understand the products you trade</a:t>
            </a:r>
          </a:p>
          <a:p>
            <a:pPr eaLnBrk="1" hangingPunct="1"/>
            <a:r>
              <a:rPr lang="en-US" altLang="en-US"/>
              <a:t>Beware of hedgers becoming speculators</a:t>
            </a:r>
          </a:p>
          <a:p>
            <a:pPr eaLnBrk="1" hangingPunct="1"/>
            <a:r>
              <a:rPr lang="en-US" altLang="en-US"/>
              <a:t>It can be dangerous to make the Treasurer’s department a profit center</a:t>
            </a: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7EE39A-FB62-4667-B427-D71BD3724E8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Final Point </a:t>
            </a:r>
            <a:r>
              <a:rPr lang="en-US" altLang="en-US" sz="2400" dirty="0"/>
              <a:t>(Section 30.5)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Three types of risk</a:t>
            </a:r>
          </a:p>
          <a:p>
            <a:pPr lvl="1"/>
            <a:r>
              <a:rPr lang="en-US" altLang="en-US" dirty="0"/>
              <a:t>Known</a:t>
            </a:r>
          </a:p>
          <a:p>
            <a:pPr lvl="1"/>
            <a:r>
              <a:rPr lang="en-US" altLang="en-US" dirty="0"/>
              <a:t>Unknown</a:t>
            </a:r>
          </a:p>
          <a:p>
            <a:pPr lvl="1"/>
            <a:r>
              <a:rPr lang="en-US" altLang="en-US" dirty="0"/>
              <a:t>Unknowable</a:t>
            </a:r>
          </a:p>
          <a:p>
            <a:r>
              <a:rPr lang="en-US" altLang="en-US" dirty="0"/>
              <a:t>Flexibility is important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30,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2D9E14-E688-41D2-92E0-34BEE5910F6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6">
  <a:themeElements>
    <a:clrScheme name="HullRMFICh16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6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6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6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BC6981-10B1-49B9-A2C3-B5CE0C0B0F89}"/>
</file>

<file path=customXml/itemProps2.xml><?xml version="1.0" encoding="utf-8"?>
<ds:datastoreItem xmlns:ds="http://schemas.openxmlformats.org/officeDocument/2006/customXml" ds:itemID="{CBB24D6B-1C7C-4A78-949A-AC5D261959BC}"/>
</file>

<file path=customXml/itemProps3.xml><?xml version="1.0" encoding="utf-8"?>
<ds:datastoreItem xmlns:ds="http://schemas.openxmlformats.org/officeDocument/2006/customXml" ds:itemID="{A5ED7899-24BF-444A-82FA-2243E444EDD3}"/>
</file>

<file path=docProps/app.xml><?xml version="1.0" encoding="utf-8"?>
<Properties xmlns="http://schemas.openxmlformats.org/officeDocument/2006/extended-properties" xmlns:vt="http://schemas.openxmlformats.org/officeDocument/2006/docPropsVTypes">
  <Template>E:\RiskBook\slides\HullRMFICh16.ppt</Template>
  <TotalTime>168</TotalTime>
  <Words>416</Words>
  <Application>Microsoft Office PowerPoint</Application>
  <PresentationFormat>On-screen Show (4:3)</PresentationFormat>
  <Paragraphs>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HullRMFICh16</vt:lpstr>
      <vt:lpstr>Chapter 30</vt:lpstr>
      <vt:lpstr>Big Losses (Business Snapshot 30.1)</vt:lpstr>
      <vt:lpstr>Risk Limits (Section 30.1)</vt:lpstr>
      <vt:lpstr>Managing the Trading Room (Section 30.2)  </vt:lpstr>
      <vt:lpstr>Liquidity Risk (Section 30.3)</vt:lpstr>
      <vt:lpstr>Lessons for Non-Financial Corporations (Section 30.4)</vt:lpstr>
      <vt:lpstr>A Final Point (Section 30.5)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29</dc:subject>
  <dc:creator>John  Hull</dc:creator>
  <cp:keywords>5th Edition</cp:keywords>
  <dc:description>Copyright 2018 by John Hull._x000d_
All Rights Reserved.</dc:description>
  <cp:lastModifiedBy>John Hull</cp:lastModifiedBy>
  <cp:revision>32</cp:revision>
  <dcterms:created xsi:type="dcterms:W3CDTF">2001-03-28T20:53:14Z</dcterms:created>
  <dcterms:modified xsi:type="dcterms:W3CDTF">2022-12-01T21:55:23Z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