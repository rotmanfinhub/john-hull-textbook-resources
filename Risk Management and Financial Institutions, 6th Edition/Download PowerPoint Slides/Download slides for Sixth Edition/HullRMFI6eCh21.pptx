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22"/>
  </p:notesMasterIdLst>
  <p:handoutMasterIdLst>
    <p:handoutMasterId r:id="rId23"/>
  </p:handoutMasterIdLst>
  <p:sldIdLst>
    <p:sldId id="256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23" r:id="rId11"/>
    <p:sldId id="314" r:id="rId12"/>
    <p:sldId id="322" r:id="rId13"/>
    <p:sldId id="315" r:id="rId14"/>
    <p:sldId id="283" r:id="rId15"/>
    <p:sldId id="316" r:id="rId16"/>
    <p:sldId id="317" r:id="rId17"/>
    <p:sldId id="284" r:id="rId18"/>
    <p:sldId id="320" r:id="rId19"/>
    <p:sldId id="321" r:id="rId20"/>
    <p:sldId id="305" r:id="rId2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2700" y="-10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DCED797A-0914-46AB-9599-023C33ED3E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628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A5DD4B4D-2003-43D9-A4C7-4034B13EBC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80859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72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238181-929C-4B47-A0F0-65B33D5532FB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31182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6E99144-79B5-4CD1-ADF0-FF62F8857007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94478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FE9FC11-E7E8-4E7A-8E84-34A241A3DEA5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97853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82E923F-82CC-45BF-BAB3-C3003DC53EAB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095323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97D6144-5499-4C54-8AD6-552CFAAED21E}" type="slidenum">
              <a:rPr lang="en-US" altLang="en-US" sz="130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91532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68D4166-BEB1-4EA4-BD3A-CE7CDACDBBC2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75403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9EE285-1688-44C7-B56A-18B22300078B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5449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10C2E0-F5F0-4ED7-BF99-CEB78E690949}" type="slidenum">
              <a:rPr lang="en-US" altLang="en-US" sz="130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59121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BE7F31D-D707-4CE5-821A-32F85E667495}" type="slidenum">
              <a:rPr lang="en-US" altLang="en-US" sz="1300"/>
              <a:pPr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121517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BAF4973-733B-4992-B3F7-2C36F3B0CCA9}" type="slidenum">
              <a:rPr lang="en-US" altLang="en-US" sz="130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10875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1F6F44-7B5A-4ECB-90CB-7E5EEF7D2150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54808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278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3CC5C7-FB55-4FD8-9ED1-80FD742CE1E0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022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04A87B2-9866-4E05-94E8-17BA0B2ECF65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021454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4966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52EAC0-D362-4132-9BE4-50F253FC8CCD}" type="slidenum">
              <a:rPr lang="en-US" altLang="en-US" sz="130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95316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78129AD-8E2D-4C2B-9453-48C230E14235}" type="slidenum">
              <a:rPr lang="en-US" altLang="en-US" sz="130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105826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04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2A57FAA1-E872-4258-9228-7C5175431D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241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C28CC4-A2CA-4A64-B3CA-7FD6B18282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01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E3EAD-C328-4989-9469-EDCFF4BE01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07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42FA41-1A74-4701-AEDC-2DE3BA8F9C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07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E00DE-BC90-4DAB-8365-AD637C28B6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663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C163D-E185-49AD-AB30-763D34A1B1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471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099E8-E548-465C-BDA1-D7CDD8635A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412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C211A3-8C7D-4C97-B306-9D8645227C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25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35B7A-4678-4B09-A988-0190043BE6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897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72E8A2-4F44-4A11-A838-38CFC36C10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08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8DF641-EA3E-4C60-AD8C-9782697B65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2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fld id="{3F2B7731-3891-4746-820D-6932E4F884EF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981075"/>
            <a:ext cx="5905500" cy="1511300"/>
          </a:xfrm>
        </p:spPr>
        <p:txBody>
          <a:bodyPr/>
          <a:lstStyle/>
          <a:p>
            <a:pPr eaLnBrk="1" hangingPunct="1"/>
            <a:br>
              <a:rPr lang="en-US" altLang="en-US"/>
            </a:br>
            <a:r>
              <a:rPr lang="en-US" altLang="en-US"/>
              <a:t>Liquidity Risk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827088" y="3213100"/>
            <a:ext cx="63373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3600" dirty="0">
                <a:latin typeface="+mn-lt"/>
                <a:cs typeface="Arial" charset="0"/>
              </a:rPr>
              <a:t>Chapter 21  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C8CCEC-AC41-424C-8E89-F60906DA93D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Liquidity Risk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Liquidity trading risk</a:t>
            </a:r>
          </a:p>
          <a:p>
            <a:pPr eaLnBrk="1" hangingPunct="1"/>
            <a:r>
              <a:rPr lang="en-US" altLang="en-US"/>
              <a:t>Liquidity funding risk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1954D1-230A-49C1-B86F-AE8441D95DA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Liquidity Trading Risk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Price received for an asset depends on</a:t>
            </a:r>
          </a:p>
          <a:p>
            <a:pPr lvl="1" eaLnBrk="1" hangingPunct="1"/>
            <a:r>
              <a:rPr lang="en-US" altLang="en-US" dirty="0"/>
              <a:t>The mid market price</a:t>
            </a:r>
          </a:p>
          <a:p>
            <a:pPr lvl="1" eaLnBrk="1" hangingPunct="1"/>
            <a:r>
              <a:rPr lang="en-US" altLang="en-US" dirty="0"/>
              <a:t>How much is to be sold</a:t>
            </a:r>
          </a:p>
          <a:p>
            <a:pPr lvl="1" eaLnBrk="1" hangingPunct="1"/>
            <a:r>
              <a:rPr lang="en-US" altLang="en-US" dirty="0"/>
              <a:t>How quickly it is to be sold</a:t>
            </a:r>
          </a:p>
          <a:p>
            <a:pPr lvl="1" eaLnBrk="1" hangingPunct="1"/>
            <a:r>
              <a:rPr lang="en-US" altLang="en-US" dirty="0"/>
              <a:t>The economic environment</a:t>
            </a:r>
          </a:p>
          <a:p>
            <a:pPr eaLnBrk="1" hangingPunct="1"/>
            <a:r>
              <a:rPr lang="en-US" altLang="en-US" dirty="0"/>
              <a:t>As we found during the GRC, transparency is also a factor that affects liquidity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CD79DB-B6B4-4D48-B9FE-353EF87AAD5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Bid-Offer Spread As a Function of Quantity</a:t>
            </a:r>
            <a:r>
              <a:rPr lang="en-US" altLang="en-US" sz="2800" dirty="0"/>
              <a:t> (Figure 21.1)</a:t>
            </a:r>
          </a:p>
        </p:txBody>
      </p:sp>
      <p:sp>
        <p:nvSpPr>
          <p:cNvPr id="2048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cxnSp>
        <p:nvCxnSpPr>
          <p:cNvPr id="16388" name="Straight Connector 5"/>
          <p:cNvCxnSpPr>
            <a:cxnSpLocks noChangeShapeType="1"/>
          </p:cNvCxnSpPr>
          <p:nvPr/>
        </p:nvCxnSpPr>
        <p:spPr bwMode="auto">
          <a:xfrm rot="5400000">
            <a:off x="534194" y="3464719"/>
            <a:ext cx="250190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89" name="Straight Connector 7"/>
          <p:cNvCxnSpPr>
            <a:cxnSpLocks noChangeShapeType="1"/>
          </p:cNvCxnSpPr>
          <p:nvPr/>
        </p:nvCxnSpPr>
        <p:spPr bwMode="auto">
          <a:xfrm flipV="1">
            <a:off x="1785938" y="4643438"/>
            <a:ext cx="4929187" cy="714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Arc 8"/>
          <p:cNvSpPr/>
          <p:nvPr/>
        </p:nvSpPr>
        <p:spPr bwMode="auto">
          <a:xfrm>
            <a:off x="-2143125" y="3286125"/>
            <a:ext cx="8001000" cy="935038"/>
          </a:xfrm>
          <a:prstGeom prst="arc">
            <a:avLst>
              <a:gd name="adj1" fmla="val 15709114"/>
              <a:gd name="adj2" fmla="val 21511563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1" hangingPunct="1">
              <a:defRPr/>
            </a:pPr>
            <a:endParaRPr lang="en-US" dirty="0">
              <a:latin typeface="Arial" charset="0"/>
              <a:cs typeface="+mn-cs"/>
            </a:endParaRPr>
          </a:p>
        </p:txBody>
      </p:sp>
      <p:sp>
        <p:nvSpPr>
          <p:cNvPr id="10" name="Arc 9"/>
          <p:cNvSpPr/>
          <p:nvPr/>
        </p:nvSpPr>
        <p:spPr bwMode="auto">
          <a:xfrm flipV="1">
            <a:off x="-2143125" y="2071688"/>
            <a:ext cx="8001000" cy="935037"/>
          </a:xfrm>
          <a:prstGeom prst="arc">
            <a:avLst>
              <a:gd name="adj1" fmla="val 15709114"/>
              <a:gd name="adj2" fmla="val 21511563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1" hangingPunct="1">
              <a:defRPr/>
            </a:pPr>
            <a:endParaRPr lang="en-US" dirty="0">
              <a:latin typeface="Arial" charset="0"/>
              <a:cs typeface="+mn-cs"/>
            </a:endParaRPr>
          </a:p>
        </p:txBody>
      </p:sp>
      <p:sp>
        <p:nvSpPr>
          <p:cNvPr id="16392" name="TextBox 10"/>
          <p:cNvSpPr txBox="1">
            <a:spLocks noChangeArrowheads="1"/>
          </p:cNvSpPr>
          <p:nvPr/>
        </p:nvSpPr>
        <p:spPr bwMode="auto">
          <a:xfrm>
            <a:off x="3429000" y="2571750"/>
            <a:ext cx="10715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Offer Price</a:t>
            </a:r>
          </a:p>
        </p:txBody>
      </p:sp>
      <p:sp>
        <p:nvSpPr>
          <p:cNvPr id="16393" name="TextBox 11"/>
          <p:cNvSpPr txBox="1">
            <a:spLocks noChangeArrowheads="1"/>
          </p:cNvSpPr>
          <p:nvPr/>
        </p:nvSpPr>
        <p:spPr bwMode="auto">
          <a:xfrm>
            <a:off x="3429000" y="3429000"/>
            <a:ext cx="1000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Bid Price</a:t>
            </a:r>
          </a:p>
        </p:txBody>
      </p:sp>
      <p:sp>
        <p:nvSpPr>
          <p:cNvPr id="16394" name="TextBox 12"/>
          <p:cNvSpPr txBox="1">
            <a:spLocks noChangeArrowheads="1"/>
          </p:cNvSpPr>
          <p:nvPr/>
        </p:nvSpPr>
        <p:spPr bwMode="auto">
          <a:xfrm>
            <a:off x="5715000" y="4357688"/>
            <a:ext cx="928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Quantity</a:t>
            </a:r>
          </a:p>
        </p:txBody>
      </p:sp>
      <p:sp>
        <p:nvSpPr>
          <p:cNvPr id="16395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EF49C8-5B7D-42B2-AAC3-60B020635A7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28625" y="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Bid-Offer Spread</a:t>
            </a:r>
            <a:endParaRPr lang="en-US" altLang="en-US" sz="2800" dirty="0"/>
          </a:p>
        </p:txBody>
      </p:sp>
      <p:sp>
        <p:nvSpPr>
          <p:cNvPr id="102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graphicFrame>
        <p:nvGraphicFramePr>
          <p:cNvPr id="17412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684213" y="2133600"/>
          <a:ext cx="5224462" cy="369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3581400" imgH="2476500" progId="Equation.3">
                  <p:embed/>
                </p:oleObj>
              </mc:Choice>
              <mc:Fallback>
                <p:oleObj name="Equation" r:id="rId4" imgW="3581400" imgH="247650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133600"/>
                        <a:ext cx="5224462" cy="369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D9909D-CC38-4968-98E4-586C815DD12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Cost of Liquidation in Stressed Markets</a:t>
            </a:r>
          </a:p>
        </p:txBody>
      </p:sp>
      <p:sp>
        <p:nvSpPr>
          <p:cNvPr id="205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graphicFrame>
        <p:nvGraphicFramePr>
          <p:cNvPr id="18436" name="Object 2"/>
          <p:cNvGraphicFramePr>
            <a:graphicFrameLocks noChangeAspect="1"/>
          </p:cNvGraphicFramePr>
          <p:nvPr/>
        </p:nvGraphicFramePr>
        <p:xfrm>
          <a:off x="690563" y="1857375"/>
          <a:ext cx="6142037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3238500" imgH="1092200" progId="Equation.3">
                  <p:embed/>
                </p:oleObj>
              </mc:Choice>
              <mc:Fallback>
                <p:oleObj name="Equation" r:id="rId4" imgW="3238500" imgH="1092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3" y="1857375"/>
                        <a:ext cx="6142037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BAF747-8A5B-40AB-849E-709714C4145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357188" y="214313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Liquidity-Adjusted </a:t>
            </a:r>
            <a:r>
              <a:rPr lang="en-US" altLang="en-US" dirty="0" err="1"/>
              <a:t>VaR</a:t>
            </a:r>
            <a:endParaRPr lang="en-US" altLang="en-US" sz="2800" dirty="0"/>
          </a:p>
        </p:txBody>
      </p:sp>
      <p:sp>
        <p:nvSpPr>
          <p:cNvPr id="307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graphicFrame>
        <p:nvGraphicFramePr>
          <p:cNvPr id="19460" name="Object 2"/>
          <p:cNvGraphicFramePr>
            <a:graphicFrameLocks noChangeAspect="1"/>
          </p:cNvGraphicFramePr>
          <p:nvPr/>
        </p:nvGraphicFramePr>
        <p:xfrm>
          <a:off x="1077913" y="2428875"/>
          <a:ext cx="7239000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3860800" imgH="1104900" progId="Equation.3">
                  <p:embed/>
                </p:oleObj>
              </mc:Choice>
              <mc:Fallback>
                <p:oleObj name="Equation" r:id="rId4" imgW="3860800" imgH="1104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2428875"/>
                        <a:ext cx="7239000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37DD8A-0928-4555-A529-EC2FB6E26D9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Unwinding a Position Optimally</a:t>
            </a:r>
            <a:endParaRPr lang="en-US" alt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9263"/>
            <a:ext cx="8686800" cy="4411662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Suppose dollar bid-offer spread as a function of units traded is </a:t>
            </a:r>
            <a:r>
              <a:rPr lang="en-US" sz="2800" i="1" dirty="0">
                <a:latin typeface="+mj-lt"/>
              </a:rPr>
              <a:t>p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q</a:t>
            </a:r>
            <a:r>
              <a:rPr lang="en-US" sz="2800" dirty="0">
                <a:latin typeface="+mj-lt"/>
              </a:rPr>
              <a:t>)</a:t>
            </a:r>
          </a:p>
          <a:p>
            <a:pPr eaLnBrk="1" hangingPunct="1">
              <a:defRPr/>
            </a:pPr>
            <a:r>
              <a:rPr lang="en-US" sz="2800" dirty="0"/>
              <a:t>Suppose standard deviation of mid-market price changes per day is </a:t>
            </a:r>
            <a:r>
              <a:rPr lang="en-US" sz="2800" dirty="0">
                <a:latin typeface="Symbol" pitchFamily="18" charset="2"/>
              </a:rPr>
              <a:t>s</a:t>
            </a:r>
            <a:r>
              <a:rPr lang="en-US" sz="2800" dirty="0"/>
              <a:t> </a:t>
            </a:r>
          </a:p>
          <a:p>
            <a:pPr eaLnBrk="1" hangingPunct="1">
              <a:defRPr/>
            </a:pPr>
            <a:r>
              <a:rPr lang="en-US" sz="2800" dirty="0"/>
              <a:t>Suppose that </a:t>
            </a:r>
            <a:r>
              <a:rPr lang="en-US" sz="2800" i="1" dirty="0">
                <a:latin typeface="+mj-lt"/>
              </a:rPr>
              <a:t>q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dirty="0"/>
              <a:t> is amount traded on day </a:t>
            </a:r>
            <a:r>
              <a:rPr lang="en-US" sz="2800" i="1" dirty="0">
                <a:latin typeface="+mj-lt"/>
              </a:rPr>
              <a:t>i</a:t>
            </a:r>
            <a:r>
              <a:rPr lang="en-US" sz="2800" dirty="0"/>
              <a:t> and </a:t>
            </a:r>
            <a:r>
              <a:rPr lang="en-US" sz="2800" i="1" dirty="0">
                <a:latin typeface="+mj-lt"/>
              </a:rPr>
              <a:t>x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dirty="0"/>
              <a:t> is amount held on day </a:t>
            </a:r>
            <a:r>
              <a:rPr lang="en-US" sz="2800" i="1" dirty="0">
                <a:latin typeface="+mj-lt"/>
              </a:rPr>
              <a:t>i </a:t>
            </a:r>
            <a:r>
              <a:rPr lang="en-US" sz="2800" dirty="0">
                <a:latin typeface="+mj-lt"/>
              </a:rPr>
              <a:t>(</a:t>
            </a:r>
            <a:r>
              <a:rPr lang="en-US" sz="2800" i="1" dirty="0">
                <a:latin typeface="+mj-lt"/>
              </a:rPr>
              <a:t>x</a:t>
            </a:r>
            <a:r>
              <a:rPr lang="en-US" sz="2800" i="1" baseline="-25000" dirty="0">
                <a:latin typeface="+mj-lt"/>
              </a:rPr>
              <a:t>i </a:t>
            </a:r>
            <a:r>
              <a:rPr lang="en-US" sz="2800" dirty="0">
                <a:latin typeface="+mj-lt"/>
              </a:rPr>
              <a:t>= </a:t>
            </a:r>
            <a:r>
              <a:rPr lang="en-US" sz="2800" i="1" dirty="0">
                <a:latin typeface="+mj-lt"/>
              </a:rPr>
              <a:t>x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baseline="-25000" dirty="0">
                <a:latin typeface="+mj-lt"/>
              </a:rPr>
              <a:t>-1</a:t>
            </a:r>
            <a:r>
              <a:rPr lang="en-US" sz="2800" dirty="0">
                <a:latin typeface="+mj-lt"/>
              </a:rPr>
              <a:t>−</a:t>
            </a:r>
            <a:r>
              <a:rPr lang="en-US" sz="2800" i="1" dirty="0">
                <a:latin typeface="+mj-lt"/>
              </a:rPr>
              <a:t>q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dirty="0">
                <a:latin typeface="+mj-lt"/>
              </a:rPr>
              <a:t>)</a:t>
            </a:r>
            <a:endParaRPr lang="en-US" sz="2800" i="1" dirty="0">
              <a:latin typeface="+mj-lt"/>
            </a:endParaRPr>
          </a:p>
          <a:p>
            <a:pPr eaLnBrk="1" hangingPunct="1">
              <a:defRPr/>
            </a:pPr>
            <a:r>
              <a:rPr lang="en-US" sz="2800" dirty="0"/>
              <a:t>Trader’s objective might be to choose the</a:t>
            </a:r>
            <a:r>
              <a:rPr lang="en-US" sz="2800" i="1" dirty="0">
                <a:latin typeface="+mj-lt"/>
              </a:rPr>
              <a:t> q</a:t>
            </a:r>
            <a:r>
              <a:rPr lang="en-US" sz="2800" i="1" baseline="-25000" dirty="0">
                <a:latin typeface="+mj-lt"/>
              </a:rPr>
              <a:t>i</a:t>
            </a:r>
            <a:r>
              <a:rPr lang="en-US" sz="2800" dirty="0"/>
              <a:t> to minimize</a:t>
            </a:r>
          </a:p>
          <a:p>
            <a:pPr eaLnBrk="1" hangingPunct="1">
              <a:defRPr/>
            </a:pPr>
            <a:endParaRPr 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i="1" dirty="0">
              <a:latin typeface="+mj-lt"/>
            </a:endParaRPr>
          </a:p>
        </p:txBody>
      </p:sp>
      <p:sp>
        <p:nvSpPr>
          <p:cNvPr id="410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graphicFrame>
        <p:nvGraphicFramePr>
          <p:cNvPr id="20485" name="Object 2"/>
          <p:cNvGraphicFramePr>
            <a:graphicFrameLocks noChangeAspect="1"/>
          </p:cNvGraphicFramePr>
          <p:nvPr/>
        </p:nvGraphicFramePr>
        <p:xfrm>
          <a:off x="2978150" y="5429250"/>
          <a:ext cx="28289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1701800" imgH="431800" progId="Equation.3">
                  <p:embed/>
                </p:oleObj>
              </mc:Choice>
              <mc:Fallback>
                <p:oleObj name="Equation" r:id="rId4" imgW="17018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5429250"/>
                        <a:ext cx="28289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B50F53-2208-450D-8CEC-C3C825A0E6A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21.3</a:t>
            </a:r>
            <a:endParaRPr lang="en-US" alt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 trader wishes to unwind a position in 100 million units over 5 days</a:t>
            </a:r>
          </a:p>
          <a:p>
            <a:pPr eaLnBrk="1" hangingPunct="1">
              <a:defRPr/>
            </a:pPr>
            <a:r>
              <a:rPr lang="en-US" i="1" dirty="0">
                <a:latin typeface="+mj-lt"/>
              </a:rPr>
              <a:t>p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q</a:t>
            </a:r>
            <a:r>
              <a:rPr lang="en-US" dirty="0">
                <a:latin typeface="+mj-lt"/>
              </a:rPr>
              <a:t>) = </a:t>
            </a:r>
            <a:r>
              <a:rPr lang="en-US" i="1" dirty="0">
                <a:latin typeface="+mj-lt"/>
              </a:rPr>
              <a:t>a</a:t>
            </a:r>
            <a:r>
              <a:rPr lang="en-US" dirty="0">
                <a:latin typeface="+mj-lt"/>
              </a:rPr>
              <a:t>+</a:t>
            </a:r>
            <a:r>
              <a:rPr lang="en-US" i="1" dirty="0">
                <a:latin typeface="+mj-lt"/>
              </a:rPr>
              <a:t>be</a:t>
            </a:r>
            <a:r>
              <a:rPr lang="en-US" i="1" baseline="30000" dirty="0">
                <a:latin typeface="+mj-lt"/>
              </a:rPr>
              <a:t>cq </a:t>
            </a:r>
            <a:r>
              <a:rPr lang="en-US" i="1" dirty="0">
                <a:latin typeface="+mj-lt"/>
              </a:rPr>
              <a:t>  </a:t>
            </a:r>
            <a:r>
              <a:rPr lang="en-US" dirty="0"/>
              <a:t>with </a:t>
            </a:r>
            <a:r>
              <a:rPr lang="en-US" i="1" dirty="0">
                <a:latin typeface="+mj-lt"/>
              </a:rPr>
              <a:t>a </a:t>
            </a:r>
            <a:r>
              <a:rPr lang="en-US" dirty="0">
                <a:latin typeface="+mj-lt"/>
              </a:rPr>
              <a:t>= 0.1, </a:t>
            </a:r>
            <a:r>
              <a:rPr lang="en-US" i="1" dirty="0">
                <a:latin typeface="+mj-lt"/>
              </a:rPr>
              <a:t>b </a:t>
            </a:r>
            <a:r>
              <a:rPr lang="en-US" dirty="0">
                <a:latin typeface="+mj-lt"/>
              </a:rPr>
              <a:t>= 0.05,</a:t>
            </a:r>
            <a:r>
              <a:rPr lang="en-US" dirty="0"/>
              <a:t> and </a:t>
            </a:r>
            <a:r>
              <a:rPr lang="en-US" i="1" dirty="0">
                <a:latin typeface="+mj-lt"/>
              </a:rPr>
              <a:t>c</a:t>
            </a:r>
            <a:r>
              <a:rPr lang="en-US" dirty="0">
                <a:latin typeface="+mj-lt"/>
              </a:rPr>
              <a:t> = 0.03</a:t>
            </a:r>
          </a:p>
          <a:p>
            <a:pPr eaLnBrk="1" hangingPunct="1">
              <a:defRPr/>
            </a:pPr>
            <a:r>
              <a:rPr lang="en-US" i="1" dirty="0">
                <a:latin typeface="Symbol" pitchFamily="18" charset="2"/>
              </a:rPr>
              <a:t>s</a:t>
            </a:r>
            <a:r>
              <a:rPr lang="en-US" dirty="0">
                <a:latin typeface="+mj-lt"/>
              </a:rPr>
              <a:t> = 0.1</a:t>
            </a:r>
          </a:p>
          <a:p>
            <a:pPr eaLnBrk="1" hangingPunct="1">
              <a:defRPr/>
            </a:pPr>
            <a:r>
              <a:rPr lang="en-US" dirty="0"/>
              <a:t>With 95% confidence level the amounts that should be traded on successive days is 48.9, 30.0, 14.1, 5.1, and 1.9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baseline="30000" dirty="0">
              <a:latin typeface="+mj-lt"/>
            </a:endParaRPr>
          </a:p>
          <a:p>
            <a:pPr eaLnBrk="1" hangingPunct="1">
              <a:defRPr/>
            </a:pPr>
            <a:endParaRPr lang="en-US" i="1" dirty="0">
              <a:latin typeface="+mj-lt"/>
            </a:endParaRP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0236E7-0F80-4DA7-85FC-BA944DEB7A5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Other Measures of Trading Liquidity</a:t>
            </a:r>
            <a:endParaRPr lang="en-US" altLang="en-US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altLang="en-US" dirty="0"/>
              <a:t>Volume of trading per day</a:t>
            </a:r>
          </a:p>
          <a:p>
            <a:pPr>
              <a:defRPr/>
            </a:pPr>
            <a:r>
              <a:rPr lang="en-CA" altLang="en-US" dirty="0"/>
              <a:t>Price impact of a trade</a:t>
            </a:r>
            <a:endParaRPr lang="en-US" altLang="en-US" dirty="0"/>
          </a:p>
          <a:p>
            <a:pPr>
              <a:defRPr/>
            </a:pPr>
            <a:r>
              <a:rPr lang="en-CA" altLang="en-US" dirty="0"/>
              <a:t>Absolute value of daily return divided by daily dollar volume (suggested by </a:t>
            </a:r>
            <a:r>
              <a:rPr lang="en-CA" altLang="en-US" dirty="0" err="1"/>
              <a:t>Amihud</a:t>
            </a:r>
            <a:r>
              <a:rPr lang="en-CA" altLang="en-US" dirty="0"/>
              <a:t> in 2002)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CA" altLang="en-US" dirty="0"/>
              <a:t>Research shows that an asset’s expected return increases as its liquidity decreases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1C10136-6C68-46C5-9A92-7AC5AF39788D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Liquidity Funding Risk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Sources of liquidity</a:t>
            </a:r>
          </a:p>
          <a:p>
            <a:pPr lvl="1" eaLnBrk="1" hangingPunct="1"/>
            <a:r>
              <a:rPr lang="en-US" altLang="en-US"/>
              <a:t>Cash and Treasury securities</a:t>
            </a:r>
          </a:p>
          <a:p>
            <a:pPr lvl="1" eaLnBrk="1" hangingPunct="1"/>
            <a:r>
              <a:rPr lang="en-US" altLang="en-US"/>
              <a:t>Ability to liquidate trading positions</a:t>
            </a:r>
          </a:p>
          <a:p>
            <a:pPr lvl="1" eaLnBrk="1" hangingPunct="1"/>
            <a:r>
              <a:rPr lang="en-US" altLang="en-US"/>
              <a:t>Ability to borrow</a:t>
            </a:r>
          </a:p>
          <a:p>
            <a:pPr lvl="1" eaLnBrk="1" hangingPunct="1"/>
            <a:r>
              <a:rPr lang="en-US" altLang="en-US"/>
              <a:t>Retail and wholesale depoosits</a:t>
            </a:r>
          </a:p>
          <a:p>
            <a:pPr lvl="1" eaLnBrk="1" hangingPunct="1"/>
            <a:r>
              <a:rPr lang="en-US" altLang="en-US"/>
              <a:t>Securitization</a:t>
            </a:r>
          </a:p>
          <a:p>
            <a:pPr lvl="1" eaLnBrk="1" hangingPunct="1"/>
            <a:r>
              <a:rPr lang="en-US" altLang="en-US"/>
              <a:t>Central bank borrowing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3477FC-4E9A-49DD-ADA4-2CD1D4572B1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Regulation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Liquidity coverage ratio: designed to make sure that the bank can survive a 30-day period of acute stress</a:t>
            </a:r>
          </a:p>
          <a:p>
            <a:r>
              <a:rPr lang="en-US" altLang="en-US"/>
              <a:t>Net stable funding ratio: a longer term measure designed to ensure that stability of funding sources is consistent with the permanence of the assets that have to be funded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DF4B3D-5253-49FD-AB06-0EA44AB181E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Examples of Liquidity Funding Problems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Northern Rock </a:t>
            </a:r>
            <a:r>
              <a:rPr lang="en-US" altLang="en-US" sz="2400" dirty="0"/>
              <a:t>(Business Snapshot 21.1)</a:t>
            </a:r>
          </a:p>
          <a:p>
            <a:pPr eaLnBrk="1" hangingPunct="1"/>
            <a:r>
              <a:rPr lang="en-US" altLang="en-US" dirty="0"/>
              <a:t>Ashanti Goldfields </a:t>
            </a:r>
            <a:r>
              <a:rPr lang="en-US" altLang="en-US" sz="2400" dirty="0"/>
              <a:t>(Business Snapshot 21.2)</a:t>
            </a:r>
          </a:p>
          <a:p>
            <a:pPr eaLnBrk="1" hangingPunct="1"/>
            <a:r>
              <a:rPr lang="en-US" altLang="en-US" dirty="0" err="1"/>
              <a:t>Metallgesellschaft</a:t>
            </a:r>
            <a:r>
              <a:rPr lang="en-US" altLang="en-US" dirty="0"/>
              <a:t> </a:t>
            </a:r>
            <a:r>
              <a:rPr lang="en-US" altLang="en-US" sz="2400" dirty="0"/>
              <a:t>(Business Snapshot 21.3)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A5BF0E-C685-4424-BE35-203CAEDAA91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Liquidity Black Holes</a:t>
            </a:r>
            <a:endParaRPr lang="en-CA" altLang="en-US" sz="350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liquidity black hole occurs when most market participants want to take one side of the market and liquidity dries up</a:t>
            </a:r>
          </a:p>
          <a:p>
            <a:pPr eaLnBrk="1" hangingPunct="1"/>
            <a:r>
              <a:rPr lang="en-US" altLang="en-US" dirty="0"/>
              <a:t>Examples:</a:t>
            </a:r>
          </a:p>
          <a:p>
            <a:pPr lvl="1" eaLnBrk="1" hangingPunct="1"/>
            <a:r>
              <a:rPr lang="en-CA" altLang="en-US" dirty="0"/>
              <a:t>Crash of 1987 </a:t>
            </a:r>
            <a:r>
              <a:rPr lang="en-CA" altLang="en-US" sz="2000" dirty="0"/>
              <a:t>(Business Snapshot 21.4, page 557)</a:t>
            </a:r>
          </a:p>
          <a:p>
            <a:pPr lvl="1" eaLnBrk="1" hangingPunct="1"/>
            <a:r>
              <a:rPr lang="en-CA" altLang="en-US" dirty="0"/>
              <a:t>British Insurance Companies</a:t>
            </a:r>
            <a:r>
              <a:rPr lang="en-CA" altLang="en-US" sz="2400" dirty="0"/>
              <a:t> </a:t>
            </a:r>
            <a:r>
              <a:rPr lang="en-CA" altLang="en-US" sz="2000" dirty="0"/>
              <a:t>(Business Snapshot  3.1)</a:t>
            </a:r>
          </a:p>
          <a:p>
            <a:pPr lvl="1" eaLnBrk="1" hangingPunct="1"/>
            <a:r>
              <a:rPr lang="en-CA" altLang="en-US" dirty="0"/>
              <a:t>LTCM </a:t>
            </a:r>
            <a:r>
              <a:rPr lang="en-CA" altLang="en-US" sz="2000" dirty="0"/>
              <a:t>(Business Snapshot 16.1)</a:t>
            </a:r>
            <a:r>
              <a:rPr lang="en-CA" altLang="en-US" dirty="0"/>
              <a:t> </a:t>
            </a: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0BEACF-3905-4E4B-A554-3CAF61E75F5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Positive and Negative Feedback Trading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positive feedback trader buys after a price increase and sells after a price decrease</a:t>
            </a:r>
          </a:p>
          <a:p>
            <a:r>
              <a:rPr lang="en-US" altLang="en-US"/>
              <a:t>A negative feedback trader buys after a price decrease and sells after a price increase</a:t>
            </a:r>
          </a:p>
          <a:p>
            <a:r>
              <a:rPr lang="en-US" altLang="en-US"/>
              <a:t>Positive feedback trading can create or accentuate a black hole</a:t>
            </a:r>
          </a:p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818B33-2A94-453F-9CE0-0D869EAE2B2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Reasons for Positive Feedback Trading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Computer models incorporating stop-loss trading</a:t>
            </a:r>
          </a:p>
          <a:p>
            <a:r>
              <a:rPr lang="en-US" altLang="en-US"/>
              <a:t>Dynamic hedging a short option position</a:t>
            </a:r>
          </a:p>
          <a:p>
            <a:r>
              <a:rPr lang="en-US" altLang="en-US"/>
              <a:t>Creating a long option position synthetically</a:t>
            </a:r>
          </a:p>
          <a:p>
            <a:r>
              <a:rPr lang="en-US" altLang="en-US"/>
              <a:t>Margin calls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FD609B-715E-4F16-8616-76E917CCEA6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4000"/>
              <a:t>The Impact of Regulation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If all financial institution were regulated in the same way, they would tend to react in the same way to market movements</a:t>
            </a:r>
          </a:p>
          <a:p>
            <a:pPr eaLnBrk="1" hangingPunct="1"/>
            <a:r>
              <a:rPr lang="en-CA" altLang="en-US"/>
              <a:t>This has the potential to create a liquidity black hole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11AB3A-A82B-45FD-809A-3F14EEBC54B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28625" y="214313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The Leveraging Cycle </a:t>
            </a:r>
            <a:r>
              <a:rPr lang="en-US" altLang="en-US" sz="2800" dirty="0"/>
              <a:t>(Figure 21.2)</a:t>
            </a:r>
          </a:p>
        </p:txBody>
      </p:sp>
      <p:sp>
        <p:nvSpPr>
          <p:cNvPr id="2355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000"/>
              <a:t>Risk Management and Financial Institutions 6e, Chapter 21, Copyright © John  C. Hull 2023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B917B2-C5DA-45C2-90FD-A3ADC025A30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  <p:grpSp>
        <p:nvGrpSpPr>
          <p:cNvPr id="2" name="Group 4"/>
          <p:cNvGrpSpPr/>
          <p:nvPr/>
        </p:nvGrpSpPr>
        <p:grpSpPr>
          <a:xfrm>
            <a:off x="2366772" y="2057400"/>
            <a:ext cx="4338828" cy="3733800"/>
            <a:chOff x="2366772" y="2057400"/>
            <a:chExt cx="4338828" cy="3733800"/>
          </a:xfrm>
          <a:solidFill>
            <a:schemeClr val="bg1"/>
          </a:solidFill>
        </p:grpSpPr>
        <p:sp>
          <p:nvSpPr>
            <p:cNvPr id="6" name="Flowchart: Process 5"/>
            <p:cNvSpPr/>
            <p:nvPr/>
          </p:nvSpPr>
          <p:spPr bwMode="auto">
            <a:xfrm>
              <a:off x="2819400" y="2057400"/>
              <a:ext cx="3886200" cy="457200"/>
            </a:xfrm>
            <a:prstGeom prst="flowChartProcess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r>
                <a:rPr lang="en-US" dirty="0">
                  <a:latin typeface="Times New Roman" pitchFamily="18" charset="0"/>
                </a:rPr>
                <a:t>Investors allowed to increase to leverage</a:t>
              </a:r>
            </a:p>
          </p:txBody>
        </p:sp>
        <p:sp>
          <p:nvSpPr>
            <p:cNvPr id="7" name="Down Arrow 6"/>
            <p:cNvSpPr/>
            <p:nvPr/>
          </p:nvSpPr>
          <p:spPr bwMode="auto">
            <a:xfrm>
              <a:off x="4267200" y="2514600"/>
              <a:ext cx="484632" cy="533400"/>
            </a:xfrm>
            <a:prstGeom prst="down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8" name="Flowchart: Process 7"/>
            <p:cNvSpPr/>
            <p:nvPr/>
          </p:nvSpPr>
          <p:spPr bwMode="auto">
            <a:xfrm>
              <a:off x="3505200" y="3048000"/>
              <a:ext cx="2209800" cy="457200"/>
            </a:xfrm>
            <a:prstGeom prst="flowChartProcess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r>
                <a:rPr lang="en-US" dirty="0">
                  <a:latin typeface="Times New Roman" pitchFamily="18" charset="0"/>
                </a:rPr>
                <a:t>They buy more assets</a:t>
              </a:r>
            </a:p>
          </p:txBody>
        </p:sp>
        <p:sp>
          <p:nvSpPr>
            <p:cNvPr id="9" name="Down Arrow 8"/>
            <p:cNvSpPr/>
            <p:nvPr/>
          </p:nvSpPr>
          <p:spPr bwMode="auto">
            <a:xfrm>
              <a:off x="4267200" y="3505200"/>
              <a:ext cx="533400" cy="762000"/>
            </a:xfrm>
            <a:prstGeom prst="down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10" name="Flowchart: Process 9"/>
            <p:cNvSpPr/>
            <p:nvPr/>
          </p:nvSpPr>
          <p:spPr bwMode="auto">
            <a:xfrm>
              <a:off x="3581400" y="4267200"/>
              <a:ext cx="2209800" cy="457200"/>
            </a:xfrm>
            <a:prstGeom prst="flowChartProcess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r>
                <a:rPr lang="en-US" dirty="0">
                  <a:latin typeface="Times New Roman" pitchFamily="18" charset="0"/>
                </a:rPr>
                <a:t>Asset prices increase</a:t>
              </a:r>
            </a:p>
          </p:txBody>
        </p:sp>
        <p:sp>
          <p:nvSpPr>
            <p:cNvPr id="11" name="Down Arrow 10"/>
            <p:cNvSpPr/>
            <p:nvPr/>
          </p:nvSpPr>
          <p:spPr bwMode="auto">
            <a:xfrm>
              <a:off x="4267200" y="4724400"/>
              <a:ext cx="533400" cy="685800"/>
            </a:xfrm>
            <a:prstGeom prst="down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12" name="Flowchart: Process 11"/>
            <p:cNvSpPr/>
            <p:nvPr/>
          </p:nvSpPr>
          <p:spPr bwMode="auto">
            <a:xfrm>
              <a:off x="2971800" y="5410200"/>
              <a:ext cx="3200400" cy="381000"/>
            </a:xfrm>
            <a:prstGeom prst="flowChartProcess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r>
                <a:rPr lang="en-US" dirty="0">
                  <a:latin typeface="Times New Roman" pitchFamily="18" charset="0"/>
                </a:rPr>
                <a:t>Leverage of investors decreases</a:t>
              </a:r>
            </a:p>
          </p:txBody>
        </p:sp>
        <p:sp>
          <p:nvSpPr>
            <p:cNvPr id="13" name="U-Turn Arrow 12"/>
            <p:cNvSpPr/>
            <p:nvPr/>
          </p:nvSpPr>
          <p:spPr bwMode="auto">
            <a:xfrm rot="16200000">
              <a:off x="878586" y="3621786"/>
              <a:ext cx="3581400" cy="605028"/>
            </a:xfrm>
            <a:prstGeom prst="uturn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Deleveraging Cycle </a:t>
            </a:r>
            <a:r>
              <a:rPr lang="en-US" altLang="en-US" sz="2800" dirty="0"/>
              <a:t>(Figure 21.3)</a:t>
            </a:r>
          </a:p>
        </p:txBody>
      </p:sp>
      <p:sp>
        <p:nvSpPr>
          <p:cNvPr id="24579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000"/>
              <a:t>Risk Management and Financial Institutions 6e, Chapter 21, Copyright © John  C. Hull 2023</a:t>
            </a:r>
          </a:p>
        </p:txBody>
      </p:sp>
      <p:sp>
        <p:nvSpPr>
          <p:cNvPr id="31748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C87DC4-8FC3-4766-98B9-01718142B97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  <p:grpSp>
        <p:nvGrpSpPr>
          <p:cNvPr id="2" name="Group 14"/>
          <p:cNvGrpSpPr/>
          <p:nvPr/>
        </p:nvGrpSpPr>
        <p:grpSpPr>
          <a:xfrm>
            <a:off x="2366772" y="2057400"/>
            <a:ext cx="4110228" cy="3733800"/>
            <a:chOff x="2366772" y="2057400"/>
            <a:chExt cx="4110228" cy="3733800"/>
          </a:xfrm>
          <a:solidFill>
            <a:schemeClr val="bg1"/>
          </a:solidFill>
        </p:grpSpPr>
        <p:sp>
          <p:nvSpPr>
            <p:cNvPr id="5" name="Flowchart: Process 4"/>
            <p:cNvSpPr/>
            <p:nvPr/>
          </p:nvSpPr>
          <p:spPr bwMode="auto">
            <a:xfrm>
              <a:off x="2819400" y="2057400"/>
              <a:ext cx="3657600" cy="457200"/>
            </a:xfrm>
            <a:prstGeom prst="flowChartProcess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r>
                <a:rPr lang="en-US" dirty="0">
                  <a:latin typeface="Times New Roman" pitchFamily="18" charset="0"/>
                </a:rPr>
                <a:t>Investors required to reduce leverage</a:t>
              </a:r>
            </a:p>
          </p:txBody>
        </p:sp>
        <p:sp>
          <p:nvSpPr>
            <p:cNvPr id="6" name="Down Arrow 5"/>
            <p:cNvSpPr/>
            <p:nvPr/>
          </p:nvSpPr>
          <p:spPr bwMode="auto">
            <a:xfrm>
              <a:off x="4267200" y="2514600"/>
              <a:ext cx="484632" cy="533400"/>
            </a:xfrm>
            <a:prstGeom prst="down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7" name="Flowchart: Process 6"/>
            <p:cNvSpPr/>
            <p:nvPr/>
          </p:nvSpPr>
          <p:spPr bwMode="auto">
            <a:xfrm>
              <a:off x="3124200" y="3048000"/>
              <a:ext cx="3048000" cy="457200"/>
            </a:xfrm>
            <a:prstGeom prst="flowChartProcess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r>
                <a:rPr lang="en-US" dirty="0">
                  <a:latin typeface="Times New Roman" pitchFamily="18" charset="0"/>
                </a:rPr>
                <a:t>They do this is by selling assets</a:t>
              </a:r>
            </a:p>
          </p:txBody>
        </p:sp>
        <p:sp>
          <p:nvSpPr>
            <p:cNvPr id="8" name="Down Arrow 7"/>
            <p:cNvSpPr/>
            <p:nvPr/>
          </p:nvSpPr>
          <p:spPr bwMode="auto">
            <a:xfrm>
              <a:off x="4267200" y="3505200"/>
              <a:ext cx="533400" cy="762000"/>
            </a:xfrm>
            <a:prstGeom prst="down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10" name="Flowchart: Process 9"/>
            <p:cNvSpPr/>
            <p:nvPr/>
          </p:nvSpPr>
          <p:spPr bwMode="auto">
            <a:xfrm>
              <a:off x="3581400" y="4267200"/>
              <a:ext cx="2209800" cy="457200"/>
            </a:xfrm>
            <a:prstGeom prst="flowChartProcess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r>
                <a:rPr lang="en-US" dirty="0">
                  <a:latin typeface="Times New Roman" pitchFamily="18" charset="0"/>
                </a:rPr>
                <a:t>Asset prices decline</a:t>
              </a:r>
            </a:p>
          </p:txBody>
        </p:sp>
        <p:sp>
          <p:nvSpPr>
            <p:cNvPr id="12" name="Down Arrow 11"/>
            <p:cNvSpPr/>
            <p:nvPr/>
          </p:nvSpPr>
          <p:spPr bwMode="auto">
            <a:xfrm>
              <a:off x="4267200" y="4724400"/>
              <a:ext cx="533400" cy="685800"/>
            </a:xfrm>
            <a:prstGeom prst="down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13" name="Flowchart: Process 12"/>
            <p:cNvSpPr/>
            <p:nvPr/>
          </p:nvSpPr>
          <p:spPr bwMode="auto">
            <a:xfrm>
              <a:off x="2971800" y="5410200"/>
              <a:ext cx="3200400" cy="381000"/>
            </a:xfrm>
            <a:prstGeom prst="flowChartProcess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r>
                <a:rPr lang="en-US" dirty="0">
                  <a:latin typeface="Times New Roman" pitchFamily="18" charset="0"/>
                </a:rPr>
                <a:t>Leverage of investors increases</a:t>
              </a:r>
            </a:p>
          </p:txBody>
        </p:sp>
        <p:sp>
          <p:nvSpPr>
            <p:cNvPr id="14" name="U-Turn Arrow 13"/>
            <p:cNvSpPr/>
            <p:nvPr/>
          </p:nvSpPr>
          <p:spPr bwMode="auto">
            <a:xfrm rot="16200000">
              <a:off x="878586" y="3621786"/>
              <a:ext cx="3581400" cy="605028"/>
            </a:xfrm>
            <a:prstGeom prst="uturnArrow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21, Copyright © John 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Is Liquidity Improving?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Spreads are narrowing</a:t>
            </a:r>
          </a:p>
          <a:p>
            <a:pPr eaLnBrk="1" hangingPunct="1"/>
            <a:r>
              <a:rPr lang="en-US" altLang="en-US"/>
              <a:t>But arguably the risks of liquidity black holes are now greater than they used to be</a:t>
            </a:r>
          </a:p>
          <a:p>
            <a:pPr eaLnBrk="1" hangingPunct="1"/>
            <a:r>
              <a:rPr lang="en-US" altLang="en-US"/>
              <a:t>It is important to have diversity in financial markets where different groups of investors are acting independently of each other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F56E8E-B939-4B74-B12C-F9F596F4571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E789AD-F988-40FB-ABA3-EC077A7E6D66}"/>
</file>

<file path=customXml/itemProps2.xml><?xml version="1.0" encoding="utf-8"?>
<ds:datastoreItem xmlns:ds="http://schemas.openxmlformats.org/officeDocument/2006/customXml" ds:itemID="{369F3604-3B9D-4D6A-9697-48C499AF6918}"/>
</file>

<file path=customXml/itemProps3.xml><?xml version="1.0" encoding="utf-8"?>
<ds:datastoreItem xmlns:ds="http://schemas.openxmlformats.org/officeDocument/2006/customXml" ds:itemID="{9A45C961-DFC1-4CE2-B97A-C471181EDBF5}"/>
</file>

<file path=docProps/app.xml><?xml version="1.0" encoding="utf-8"?>
<Properties xmlns="http://schemas.openxmlformats.org/officeDocument/2006/extended-properties" xmlns:vt="http://schemas.openxmlformats.org/officeDocument/2006/docPropsVTypes">
  <Template>HullRMFICh14</Template>
  <TotalTime>940</TotalTime>
  <Words>985</Words>
  <Application>Microsoft Office PowerPoint</Application>
  <PresentationFormat>On-screen Show (4:3)</PresentationFormat>
  <Paragraphs>136</Paragraphs>
  <Slides>20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Symbol</vt:lpstr>
      <vt:lpstr>Times New Roman</vt:lpstr>
      <vt:lpstr>Wingdings</vt:lpstr>
      <vt:lpstr>HullRMFICh12</vt:lpstr>
      <vt:lpstr>Equation</vt:lpstr>
      <vt:lpstr> Liquidity Risk</vt:lpstr>
      <vt:lpstr>Types of Liquidity Risk</vt:lpstr>
      <vt:lpstr>Liquidity Trading Risk</vt:lpstr>
      <vt:lpstr>Bid-Offer Spread As a Function of Quantity (Figure 21.1)</vt:lpstr>
      <vt:lpstr>Bid-Offer Spread</vt:lpstr>
      <vt:lpstr>Cost of Liquidation in Stressed Markets</vt:lpstr>
      <vt:lpstr>Liquidity-Adjusted VaR</vt:lpstr>
      <vt:lpstr>Unwinding a Position Optimally</vt:lpstr>
      <vt:lpstr>Example 21.3</vt:lpstr>
      <vt:lpstr>Other Measures of Trading Liquidity</vt:lpstr>
      <vt:lpstr>Liquidity Funding Risk</vt:lpstr>
      <vt:lpstr>Regulation</vt:lpstr>
      <vt:lpstr>Examples of Liquidity Funding Problems</vt:lpstr>
      <vt:lpstr>Liquidity Black Holes</vt:lpstr>
      <vt:lpstr>Positive and Negative Feedback Trading</vt:lpstr>
      <vt:lpstr>Reasons for Positive Feedback Trading</vt:lpstr>
      <vt:lpstr>The Impact of Regulation</vt:lpstr>
      <vt:lpstr>The Leveraging Cycle (Figure 21.2)</vt:lpstr>
      <vt:lpstr>The Deleveraging Cycle (Figure 21.3)</vt:lpstr>
      <vt:lpstr>Is Liquidity Improving?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24</dc:subject>
  <dc:creator>John Hull</dc:creator>
  <cp:keywords>5th Edition</cp:keywords>
  <dc:description>Copyright 2018  by John Hull._x000d_
All rights reserved.</dc:description>
  <cp:lastModifiedBy>John Hull</cp:lastModifiedBy>
  <cp:revision>53</cp:revision>
  <dcterms:created xsi:type="dcterms:W3CDTF">2002-03-17T23:57:27Z</dcterms:created>
  <dcterms:modified xsi:type="dcterms:W3CDTF">2022-12-01T21:23:16Z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