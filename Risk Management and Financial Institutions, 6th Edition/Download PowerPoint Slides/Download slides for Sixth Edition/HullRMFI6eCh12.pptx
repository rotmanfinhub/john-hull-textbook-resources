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0" r:id="rId1"/>
  </p:sldMasterIdLst>
  <p:notesMasterIdLst>
    <p:notesMasterId r:id="rId27"/>
  </p:notesMasterIdLst>
  <p:handoutMasterIdLst>
    <p:handoutMasterId r:id="rId28"/>
  </p:handoutMasterIdLst>
  <p:sldIdLst>
    <p:sldId id="257" r:id="rId2"/>
    <p:sldId id="264" r:id="rId3"/>
    <p:sldId id="337" r:id="rId4"/>
    <p:sldId id="265" r:id="rId5"/>
    <p:sldId id="324" r:id="rId6"/>
    <p:sldId id="325" r:id="rId7"/>
    <p:sldId id="326" r:id="rId8"/>
    <p:sldId id="327" r:id="rId9"/>
    <p:sldId id="334" r:id="rId10"/>
    <p:sldId id="317" r:id="rId11"/>
    <p:sldId id="321" r:id="rId12"/>
    <p:sldId id="318" r:id="rId13"/>
    <p:sldId id="328" r:id="rId14"/>
    <p:sldId id="322" r:id="rId15"/>
    <p:sldId id="329" r:id="rId16"/>
    <p:sldId id="330" r:id="rId17"/>
    <p:sldId id="335" r:id="rId18"/>
    <p:sldId id="323" r:id="rId19"/>
    <p:sldId id="332" r:id="rId20"/>
    <p:sldId id="302" r:id="rId21"/>
    <p:sldId id="303" r:id="rId22"/>
    <p:sldId id="304" r:id="rId23"/>
    <p:sldId id="333" r:id="rId24"/>
    <p:sldId id="305" r:id="rId25"/>
    <p:sldId id="336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705" autoAdjust="0"/>
  </p:normalViewPr>
  <p:slideViewPr>
    <p:cSldViewPr>
      <p:cViewPr varScale="1">
        <p:scale>
          <a:sx n="139" d="100"/>
          <a:sy n="139" d="100"/>
        </p:scale>
        <p:origin x="72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728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0FA4F774-1084-4F98-9714-C9EF5739E8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7107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/>
          <a:lstStyle/>
          <a:p>
            <a:pPr defTabSz="966788">
              <a:spcBef>
                <a:spcPct val="0"/>
              </a:spcBef>
            </a:pPr>
            <a:endParaRPr lang="en-CA" altLang="en-US" sz="2500"/>
          </a:p>
        </p:txBody>
      </p:sp>
      <p:sp>
        <p:nvSpPr>
          <p:cNvPr id="399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188669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7425" cy="3597275"/>
          </a:xfrm>
          <a:ln w="12700" cap="flat"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/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3865950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52965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EDF107-78B2-451D-9294-A94170EF62E9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42295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9728A4-3F10-40E9-A378-30E8B77C2EB5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4058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0461721-2220-45CC-8C7E-D7CCC3F2AC60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88929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31AD426-D1DF-4EC2-9C3E-EB603CEE7A4D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65496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018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139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914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DAF3B9-6E10-4F02-8E63-EBCA8D655DC1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36162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065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0A918CF-A700-44B1-8BB9-481B46872F8B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231275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28036E-B335-40EC-AD5A-FD904F67E99D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530669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65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7911216-95A4-4493-A4F4-F53AD3E9CC4C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577246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588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5118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330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D84BB5-9272-4792-9D5E-6F05ECE00D19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48735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40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A9C78F18-280D-4656-B14A-08612A544C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62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D87273-6C5C-4F44-BF3E-4A74D68B7F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07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A21249-FC9D-4184-88AF-F443607D26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86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9FEB77-F94E-425C-B869-3AEC1B7209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3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65FE5F-B53A-4480-A567-AE342E98EB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12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41DCE-3B16-4B86-BFBC-5389E92DD7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87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626D7-45D0-498C-BCA8-B6150CF7A3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75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FAA293-12D6-40D0-ADC6-509ACB3354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23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013F57-F3D4-4F32-9B6C-826843D1BC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23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B6997-DE5E-46CC-A7E7-3C80A6354D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449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14ADA-7088-4DA4-A363-E341A2C4DB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80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57F15-9967-4A12-ACE1-9972E83493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69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9.</a:t>
            </a:r>
            <a:fld id="{BB5ED587-0601-4FD7-83FD-E4F61F288794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 lIns="92075" tIns="46038" rIns="92075" bIns="46038" anchor="ctr"/>
          <a:lstStyle/>
          <a:p>
            <a:pPr eaLnBrk="1" hangingPunct="1"/>
            <a:br>
              <a:rPr lang="en-US" altLang="en-US"/>
            </a:br>
            <a:br>
              <a:rPr lang="en-US" altLang="en-US" sz="9600"/>
            </a:br>
            <a:endParaRPr lang="en-US" altLang="en-US" sz="7200"/>
          </a:p>
        </p:txBody>
      </p:sp>
      <p:sp>
        <p:nvSpPr>
          <p:cNvPr id="14339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12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4340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/>
          </a:p>
        </p:txBody>
      </p:sp>
      <p:sp>
        <p:nvSpPr>
          <p:cNvPr id="1434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C8BA57-40D1-4968-80B7-9E34129E7FB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314325" y="620713"/>
            <a:ext cx="6643688" cy="19399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algn="r" eaLnBrk="1" hangingPunct="1">
              <a:defRPr/>
            </a:pPr>
            <a:endParaRPr lang="en-US" sz="4000" b="1" dirty="0">
              <a:solidFill>
                <a:schemeClr val="tx2"/>
              </a:solidFill>
              <a:latin typeface="Arial" charset="0"/>
            </a:endParaRPr>
          </a:p>
          <a:p>
            <a:pPr algn="r" eaLnBrk="1" hangingPunct="1"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</a:rPr>
              <a:t>Historical Simulation and Extreme Value Theory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br>
              <a:rPr lang="en-US" altLang="en-US"/>
            </a:br>
            <a:r>
              <a:rPr lang="en-US" altLang="en-US"/>
              <a:t>Historical Simulation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Collect data on the daily movements in all market variables (known as risk factors)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first simulation trial assumes that  the percentage changes in all risk factors are as on the first day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second simulation trial assumes that  the percentage changes in all risk factors are as on the second day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and so on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6D3C13-788A-4BB7-AC2F-2B85F5EF6CD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Percentage Changes vs. Actual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variables such as interest rates, credit spreads, and (perhaps) volatilities we typically use actual changes rather than percentage changes to create historical scenarios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273-6C5C-4F44-BF3E-4A74D68B7F11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1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Historical Simulation continued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Suppose we use </a:t>
            </a:r>
            <a:r>
              <a:rPr lang="en-US" altLang="en-US" sz="2800" i="1" dirty="0">
                <a:latin typeface="Times New Roman" panose="02020603050405020304" pitchFamily="18" charset="0"/>
              </a:rPr>
              <a:t>n</a:t>
            </a:r>
            <a:r>
              <a:rPr lang="en-US" altLang="en-US" sz="2800" dirty="0"/>
              <a:t> days of historical data with today being day </a:t>
            </a:r>
            <a:r>
              <a:rPr lang="en-US" altLang="en-US" sz="2800" i="1" dirty="0">
                <a:latin typeface="Times New Roman" panose="02020603050405020304" pitchFamily="18" charset="0"/>
              </a:rPr>
              <a:t>n</a:t>
            </a:r>
          </a:p>
          <a:p>
            <a:pPr eaLnBrk="1" hangingPunct="1"/>
            <a:r>
              <a:rPr lang="en-US" altLang="en-US" sz="2800" dirty="0"/>
              <a:t>Let </a:t>
            </a:r>
            <a:r>
              <a:rPr lang="en-US" altLang="en-US" sz="2800" i="1" dirty="0">
                <a:latin typeface="Times New Roman" panose="02020603050405020304" pitchFamily="18" charset="0"/>
              </a:rPr>
              <a:t>v</a:t>
            </a:r>
            <a:r>
              <a:rPr lang="en-US" altLang="en-US" sz="28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800" i="1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/>
              <a:t>be the value of a variable on day </a:t>
            </a:r>
            <a:r>
              <a:rPr lang="en-US" altLang="en-US" sz="2800" i="1" dirty="0" err="1">
                <a:latin typeface="Times New Roman" panose="02020603050405020304" pitchFamily="18" charset="0"/>
              </a:rPr>
              <a:t>i</a:t>
            </a:r>
            <a:endParaRPr lang="en-US" altLang="en-US" sz="2800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/>
              <a:t>The </a:t>
            </a:r>
            <a:r>
              <a:rPr lang="en-US" altLang="en-US" sz="2800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800" dirty="0" err="1"/>
              <a:t>th</a:t>
            </a:r>
            <a:r>
              <a:rPr lang="en-US" altLang="en-US" sz="2800" dirty="0"/>
              <a:t> trial assumes that the value of the market variable tomorrow (i.e., on day </a:t>
            </a:r>
            <a:r>
              <a:rPr lang="en-US" altLang="en-US" sz="2800" i="1" dirty="0">
                <a:latin typeface="Times New Roman" panose="02020603050405020304" pitchFamily="18" charset="0"/>
              </a:rPr>
              <a:t>n</a:t>
            </a:r>
            <a:r>
              <a:rPr lang="en-US" altLang="en-US" sz="2800" dirty="0"/>
              <a:t>+1) is</a:t>
            </a:r>
            <a:r>
              <a:rPr lang="en-US" altLang="en-US" dirty="0"/>
              <a:t> 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63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EFC23C-7CC2-47A3-A306-2AFC35CEF0C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  <p:graphicFrame>
        <p:nvGraphicFramePr>
          <p:cNvPr id="163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371483"/>
              </p:ext>
            </p:extLst>
          </p:nvPr>
        </p:nvGraphicFramePr>
        <p:xfrm>
          <a:off x="755576" y="4149080"/>
          <a:ext cx="6717206" cy="15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806560" imgH="660240" progId="Equation.3">
                  <p:embed/>
                </p:oleObj>
              </mc:Choice>
              <mc:Fallback>
                <p:oleObj name="Equation" r:id="rId4" imgW="2806560" imgH="660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149080"/>
                        <a:ext cx="6717206" cy="1584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Portfolio on July 8, 2020 </a:t>
            </a:r>
            <a:r>
              <a:rPr lang="en-US" altLang="en-US" sz="2000" dirty="0"/>
              <a:t>(Table 12.1)</a:t>
            </a:r>
          </a:p>
        </p:txBody>
      </p:sp>
      <p:sp>
        <p:nvSpPr>
          <p:cNvPr id="1741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146F91-A2A8-4DD3-B423-A52ABD04029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429362"/>
              </p:ext>
            </p:extLst>
          </p:nvPr>
        </p:nvGraphicFramePr>
        <p:xfrm>
          <a:off x="1403350" y="2060575"/>
          <a:ext cx="60960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b="1" dirty="0"/>
                        <a:t>Index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Amount Invested ($000s)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S&amp;P 500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4,000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FTSE 100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3,000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CAC 40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1,000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Nikkei 225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2,000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10,000    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U.S. Dollar Equivalent of Total Return Stock Indices </a:t>
            </a:r>
            <a:r>
              <a:rPr lang="en-US" altLang="en-US" sz="2000" dirty="0"/>
              <a:t>(Table 12.2)</a:t>
            </a:r>
          </a:p>
        </p:txBody>
      </p:sp>
      <p:sp>
        <p:nvSpPr>
          <p:cNvPr id="1843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A0F7C1-204B-4E03-8BAF-099985E7A28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592745"/>
              </p:ext>
            </p:extLst>
          </p:nvPr>
        </p:nvGraphicFramePr>
        <p:xfrm>
          <a:off x="1331913" y="2205038"/>
          <a:ext cx="6985000" cy="296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Day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Date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S&amp;P 500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FTSE 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CAC 40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Nikkei 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9,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5,292.90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8,830.23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16,910.33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322.40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10,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5,343.70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8,926.56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16,915.41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321.24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11,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5,354.69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8,982.76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17,065.64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326.20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14,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5,359.66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8,999.31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17,121.67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328.03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….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…..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499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July 7, 2020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6,445.59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7,269.36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15,784.97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345.40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500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July 8, 2020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6,496.14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7,255.04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15,540.44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342.01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Scenarios </a:t>
            </a:r>
            <a:r>
              <a:rPr lang="en-US" altLang="en-US" sz="2000" dirty="0"/>
              <a:t>(Table 12.3)</a:t>
            </a:r>
          </a:p>
        </p:txBody>
      </p:sp>
      <p:sp>
        <p:nvSpPr>
          <p:cNvPr id="1945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84FD7A-D3F3-40E3-9119-99E49A96BBC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89140"/>
              </p:ext>
            </p:extLst>
          </p:nvPr>
        </p:nvGraphicFramePr>
        <p:xfrm>
          <a:off x="611188" y="2565400"/>
          <a:ext cx="7848601" cy="2803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4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096">
                <a:tc>
                  <a:txBody>
                    <a:bodyPr/>
                    <a:lstStyle/>
                    <a:p>
                      <a:r>
                        <a:rPr lang="en-US" sz="1600" dirty="0"/>
                        <a:t>Scenario Number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DJIA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FTSE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CAC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Nikkei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Portfolio Value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Loss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38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6,558.49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7,334.19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15,545.12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340.79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10,064.257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-64.257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38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6,509.50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7,300.72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15,678.46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347.28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10,066.822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-66.822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38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6,502.17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7,268.41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15,591.47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343.93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10,023.722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-23.722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38">
                <a:tc>
                  <a:txBody>
                    <a:bodyPr/>
                    <a:lstStyle/>
                    <a:p>
                      <a:r>
                        <a:rPr lang="en-US" sz="1600" dirty="0"/>
                        <a:t>….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……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…..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…..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…..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…..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…..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38">
                <a:tc>
                  <a:txBody>
                    <a:bodyPr/>
                    <a:lstStyle/>
                    <a:p>
                      <a:r>
                        <a:rPr lang="en-US" sz="1600" dirty="0"/>
                        <a:t>499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6,425.90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7,293.40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15,543.89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341.21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9,968.126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31.874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38">
                <a:tc>
                  <a:txBody>
                    <a:bodyPr/>
                    <a:lstStyle/>
                    <a:p>
                      <a:r>
                        <a:rPr lang="en-US" sz="1600" dirty="0"/>
                        <a:t>500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6,547.09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7,240.75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15,299.71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338.66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9990.361</a:t>
                      </a:r>
                    </a:p>
                  </a:txBody>
                  <a:tcPr marL="91437" marR="91437" marT="45708" marB="4570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9.639</a:t>
                      </a:r>
                    </a:p>
                  </a:txBody>
                  <a:tcPr marL="91437" marR="91437" marT="45708" marB="4570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527" name="Object 2"/>
              <p:cNvSpPr txBox="1"/>
              <p:nvPr/>
            </p:nvSpPr>
            <p:spPr bwMode="auto">
              <a:xfrm>
                <a:off x="4716463" y="1773238"/>
                <a:ext cx="2024062" cy="5762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6,496.14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5,343.70</m:t>
                          </m:r>
                        </m:num>
                        <m:den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5,292.90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952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463" y="1773238"/>
                <a:ext cx="2024062" cy="5762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528" name="Straight Arrow Connector 8"/>
          <p:cNvCxnSpPr>
            <a:cxnSpLocks noChangeShapeType="1"/>
          </p:cNvCxnSpPr>
          <p:nvPr/>
        </p:nvCxnSpPr>
        <p:spPr bwMode="auto">
          <a:xfrm flipH="1">
            <a:off x="2843213" y="2060575"/>
            <a:ext cx="1800225" cy="12239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Losses </a:t>
            </a:r>
            <a:r>
              <a:rPr lang="en-US" altLang="en-US" sz="2000" dirty="0"/>
              <a:t>(Table 12.4)</a:t>
            </a:r>
          </a:p>
        </p:txBody>
      </p:sp>
      <p:sp>
        <p:nvSpPr>
          <p:cNvPr id="2048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685FB8-6706-46C0-A9A1-C508067DFA4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5241"/>
              </p:ext>
            </p:extLst>
          </p:nvPr>
        </p:nvGraphicFramePr>
        <p:xfrm>
          <a:off x="1258888" y="1773238"/>
          <a:ext cx="4753272" cy="296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Scenario Number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Loss ($000s)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427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922.484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429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858.423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653.541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415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490.215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482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422.291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440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362.733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426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360.532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14" name="TextBox 5"/>
          <p:cNvSpPr txBox="1">
            <a:spLocks noChangeArrowheads="1"/>
          </p:cNvSpPr>
          <p:nvPr/>
        </p:nvSpPr>
        <p:spPr bwMode="auto">
          <a:xfrm>
            <a:off x="971551" y="4941888"/>
            <a:ext cx="54726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One-day 99% </a:t>
            </a:r>
            <a:r>
              <a:rPr lang="en-US" altLang="en-US" sz="1800" dirty="0" err="1"/>
              <a:t>VaR</a:t>
            </a:r>
            <a:r>
              <a:rPr lang="en-US" altLang="en-US" sz="1800" dirty="0"/>
              <a:t>=$422,291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One-day 99% ES  is (922,484+858,423+653,541+490,215)/4=$731,166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50732" y="2348880"/>
            <a:ext cx="17385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estimate </a:t>
            </a:r>
            <a:r>
              <a:rPr lang="en-CA" dirty="0" err="1"/>
              <a:t>VaR</a:t>
            </a:r>
            <a:r>
              <a:rPr lang="en-CA" dirty="0"/>
              <a:t> as the fifth worst loss and ES as the average of losses less than </a:t>
            </a:r>
            <a:r>
              <a:rPr lang="en-CA" dirty="0" err="1"/>
              <a:t>VaR.</a:t>
            </a:r>
            <a:r>
              <a:rPr lang="en-CA" dirty="0"/>
              <a:t> (But see footnotes 1 and  2  for alternatives)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Stressed VaR and Stressed 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Instead of basing calculations on the movements in market variables over the last </a:t>
            </a:r>
            <a:r>
              <a:rPr lang="en-CA" i="1" dirty="0">
                <a:latin typeface="+mj-lt"/>
              </a:rPr>
              <a:t>n</a:t>
            </a:r>
            <a:r>
              <a:rPr lang="en-CA" dirty="0"/>
              <a:t> days, we can base calculations on movements during a period in the past that would have been particularly bad for the current portfolio</a:t>
            </a:r>
          </a:p>
          <a:p>
            <a:pPr>
              <a:defRPr/>
            </a:pPr>
            <a:r>
              <a:rPr lang="en-CA" dirty="0"/>
              <a:t>This produces measures known as “stressed </a:t>
            </a:r>
            <a:r>
              <a:rPr lang="en-CA" dirty="0" err="1"/>
              <a:t>VaR</a:t>
            </a:r>
            <a:r>
              <a:rPr lang="en-CA" dirty="0"/>
              <a:t>” and “stressed ES”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148D2A-2AE3-453F-AC8A-CB36D530D39B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8625"/>
            <a:ext cx="7543800" cy="785813"/>
          </a:xfrm>
        </p:spPr>
        <p:txBody>
          <a:bodyPr/>
          <a:lstStyle/>
          <a:p>
            <a:pPr eaLnBrk="1" hangingPunct="1"/>
            <a:r>
              <a:rPr lang="en-US" altLang="en-US" dirty="0"/>
              <a:t>Accuracy of </a:t>
            </a:r>
            <a:r>
              <a:rPr lang="en-US" altLang="en-US" dirty="0" err="1"/>
              <a:t>VaR</a:t>
            </a:r>
            <a:r>
              <a:rPr lang="en-US" altLang="en-US" dirty="0"/>
              <a:t> </a:t>
            </a:r>
            <a:r>
              <a:rPr lang="en-US" altLang="en-US" sz="2400" dirty="0"/>
              <a:t>(Section 12.2)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715250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	</a:t>
            </a:r>
            <a:r>
              <a:rPr lang="en-US" altLang="en-US" sz="2400" dirty="0"/>
              <a:t>Suppose that 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 is the </a:t>
            </a:r>
            <a:r>
              <a:rPr lang="en-US" altLang="en-US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en-US" sz="2400" dirty="0" err="1"/>
              <a:t>th</a:t>
            </a:r>
            <a:r>
              <a:rPr lang="en-US" altLang="en-US" sz="2400" dirty="0"/>
              <a:t> percentile of the loss distribution when it is estimated from </a:t>
            </a:r>
            <a:r>
              <a:rPr lang="en-US" altLang="en-US" sz="2400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/>
              <a:t> observations. The standard error of 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 is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where </a:t>
            </a:r>
            <a:r>
              <a:rPr lang="en-US" altLang="en-US" sz="2400" i="1" dirty="0">
                <a:latin typeface="Times New Roman" panose="02020603050405020304" pitchFamily="18" charset="0"/>
              </a:rPr>
              <a:t>f</a:t>
            </a:r>
            <a:r>
              <a:rPr lang="en-US" altLang="en-US" sz="2400" dirty="0"/>
              <a:t>(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) is an estimate of the probability density of the loss at the </a:t>
            </a:r>
            <a:r>
              <a:rPr lang="en-US" altLang="en-US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en-US" sz="2400" dirty="0" err="1"/>
              <a:t>th</a:t>
            </a:r>
            <a:r>
              <a:rPr lang="en-US" altLang="en-US" sz="2400" dirty="0"/>
              <a:t> percentile calculated by assuming a probability distribution for the loss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500438" y="2928938"/>
          <a:ext cx="197961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977900" imgH="457200" progId="Equation.3">
                  <p:embed/>
                </p:oleObj>
              </mc:Choice>
              <mc:Fallback>
                <p:oleObj name="Equation" r:id="rId4" imgW="977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2928938"/>
                        <a:ext cx="1979612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25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3D5732-892E-4E51-A9EF-B1701D1E9B3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12.1</a:t>
            </a:r>
            <a:endParaRPr lang="en-CA" altLang="en-US" sz="24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We estimate the 1-percentile from 500 observations as $25 million </a:t>
            </a:r>
          </a:p>
          <a:p>
            <a:pPr eaLnBrk="1" hangingPunct="1"/>
            <a:r>
              <a:rPr lang="en-US" altLang="en-US" sz="2400" dirty="0"/>
              <a:t>We estimate </a:t>
            </a:r>
            <a:r>
              <a:rPr lang="en-US" altLang="en-US" sz="2400" i="1" dirty="0">
                <a:latin typeface="Times New Roman" panose="02020603050405020304" pitchFamily="18" charset="0"/>
              </a:rPr>
              <a:t>f</a:t>
            </a:r>
            <a:r>
              <a:rPr lang="en-US" altLang="en-US" sz="2400" dirty="0"/>
              <a:t>(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) by approximating the actual empirical distribution with a normal distribution mean zero and standard deviation $10 million</a:t>
            </a:r>
          </a:p>
          <a:p>
            <a:pPr eaLnBrk="1" hangingPunct="1"/>
            <a:r>
              <a:rPr lang="en-US" altLang="en-US" sz="2400" dirty="0"/>
              <a:t>The 1-percentile of the approximating distribution is NORMINV(0.01,0,10) = 23.26 and the value of </a:t>
            </a:r>
            <a:r>
              <a:rPr lang="en-US" altLang="en-US" sz="2400" i="1" dirty="0">
                <a:latin typeface="Times New Roman" panose="02020603050405020304" pitchFamily="18" charset="0"/>
              </a:rPr>
              <a:t>f</a:t>
            </a:r>
            <a:r>
              <a:rPr lang="en-US" altLang="en-US" sz="2400" dirty="0"/>
              <a:t>(</a:t>
            </a:r>
            <a:r>
              <a:rPr lang="en-US" altLang="en-US" sz="2400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) is NORMDIST(23.26,0,10,FALSE)=0.0027</a:t>
            </a:r>
          </a:p>
          <a:p>
            <a:pPr eaLnBrk="1" hangingPunct="1"/>
            <a:r>
              <a:rPr lang="en-US" altLang="en-US" sz="2400" dirty="0"/>
              <a:t>The estimate of the standard error is therefore </a:t>
            </a:r>
          </a:p>
          <a:p>
            <a:pPr eaLnBrk="1" hangingPunct="1"/>
            <a:endParaRPr lang="en-CA" altLang="en-US" sz="2400" dirty="0"/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FF4716-D276-4D5D-A11B-B32A91BC206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graphicFrame>
        <p:nvGraphicFramePr>
          <p:cNvPr id="23558" name="Object 4"/>
          <p:cNvGraphicFramePr>
            <a:graphicFrameLocks noChangeAspect="1"/>
          </p:cNvGraphicFramePr>
          <p:nvPr/>
        </p:nvGraphicFramePr>
        <p:xfrm>
          <a:off x="2714625" y="5286375"/>
          <a:ext cx="30146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1790700" imgH="444500" progId="Equation.3">
                  <p:embed/>
                </p:oleObj>
              </mc:Choice>
              <mc:Fallback>
                <p:oleObj name="Equation" r:id="rId4" imgW="17907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286375"/>
                        <a:ext cx="30146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Weighting of Observations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Let weights assigned to observations decline exponentially at rate </a:t>
            </a:r>
            <a:r>
              <a:rPr lang="en-US" altLang="en-US" dirty="0">
                <a:latin typeface="Symbol" panose="05050102010706020507" pitchFamily="18" charset="2"/>
              </a:rPr>
              <a:t>l</a:t>
            </a:r>
            <a:r>
              <a:rPr lang="en-US" altLang="en-US" dirty="0"/>
              <a:t> as we go back in time</a:t>
            </a:r>
          </a:p>
          <a:p>
            <a:pPr eaLnBrk="1" hangingPunct="1"/>
            <a:r>
              <a:rPr lang="en-US" altLang="en-US" dirty="0"/>
              <a:t>Rank observations from worst to best</a:t>
            </a:r>
          </a:p>
          <a:p>
            <a:pPr eaLnBrk="1" hangingPunct="1"/>
            <a:r>
              <a:rPr lang="en-US" altLang="en-US" dirty="0"/>
              <a:t>Starting at worst observation sum weights until the required percentile is reached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4FA29B-DE82-4C9E-8B37-A993FA711E3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Application to 4-Index Portfolio</a:t>
            </a:r>
            <a:br>
              <a:rPr lang="en-US" altLang="en-US" dirty="0"/>
            </a:br>
            <a:r>
              <a:rPr lang="en-US" altLang="en-US" dirty="0">
                <a:latin typeface="Symbol" panose="05050102010706020507" pitchFamily="18" charset="2"/>
              </a:rPr>
              <a:t>l</a:t>
            </a:r>
            <a:r>
              <a:rPr lang="en-US" altLang="en-US" dirty="0"/>
              <a:t>=0.995 </a:t>
            </a:r>
            <a:r>
              <a:rPr lang="en-US" altLang="en-US" sz="2000" dirty="0"/>
              <a:t>(Table 12.5)</a:t>
            </a:r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3979C7-9FA2-4A91-AB65-9FF2BB713FF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37385"/>
              </p:ext>
            </p:extLst>
          </p:nvPr>
        </p:nvGraphicFramePr>
        <p:xfrm>
          <a:off x="1116013" y="1628775"/>
          <a:ext cx="6167436" cy="2936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20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Scenario Number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Loss ($000s)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Weight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Cumulative Weight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427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922.484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0.00378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0.00378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429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858.423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0.00381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0.00759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653.541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0.00372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0.01131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415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490.215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0.00356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0.01486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482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422.291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0.00497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0.01984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440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362.733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0.00403</a:t>
                      </a:r>
                    </a:p>
                  </a:txBody>
                  <a:tcPr marL="91432" marR="91432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0.02387</a:t>
                      </a:r>
                    </a:p>
                  </a:txBody>
                  <a:tcPr marL="91432" marR="91432" marT="45716" marB="4571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647" name="TextBox 5"/>
          <p:cNvSpPr txBox="1">
            <a:spLocks noChangeArrowheads="1"/>
          </p:cNvSpPr>
          <p:nvPr/>
        </p:nvSpPr>
        <p:spPr bwMode="auto">
          <a:xfrm>
            <a:off x="539750" y="4724400"/>
            <a:ext cx="8353425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One-day 99% </a:t>
            </a:r>
            <a:r>
              <a:rPr lang="en-US" altLang="en-US" sz="1800" dirty="0" err="1"/>
              <a:t>VaR</a:t>
            </a:r>
            <a:r>
              <a:rPr lang="en-US" altLang="en-US" sz="1800" dirty="0"/>
              <a:t>=$653,541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One day 99% ES is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[0.00378×922,484+0.00381×858,423+(0.01−0.00378 − 0.00381)×653,541]/0.01 = $833,228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Volatility Scaling</a:t>
            </a:r>
            <a:endParaRPr lang="en-CA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Uses a volatility updating scheme to monitor volatilities of all market variables</a:t>
            </a:r>
          </a:p>
          <a:p>
            <a:pPr eaLnBrk="1" hangingPunct="1">
              <a:defRPr/>
            </a:pPr>
            <a:r>
              <a:rPr lang="en-US" altLang="en-US" sz="2800" dirty="0"/>
              <a:t>If the current volatility for a market variable is </a:t>
            </a:r>
            <a:r>
              <a:rPr lang="en-US" altLang="en-US" sz="2800" i="1" dirty="0">
                <a:latin typeface="Symbol" panose="05050102010706020507" pitchFamily="18" charset="2"/>
              </a:rPr>
              <a:t>b</a:t>
            </a:r>
            <a:r>
              <a:rPr lang="en-US" altLang="en-US" sz="2800" dirty="0"/>
              <a:t> times the volatility on Day</a:t>
            </a:r>
            <a:r>
              <a:rPr lang="en-US" altLang="en-US" sz="2800" i="1" dirty="0">
                <a:latin typeface="+mj-lt"/>
              </a:rPr>
              <a:t> </a:t>
            </a:r>
            <a:r>
              <a:rPr lang="en-US" altLang="en-US" sz="2800" i="1" dirty="0" err="1">
                <a:latin typeface="+mj-lt"/>
              </a:rPr>
              <a:t>i</a:t>
            </a:r>
            <a:r>
              <a:rPr lang="en-US" altLang="en-US" sz="2800" dirty="0"/>
              <a:t>, multiply the percentage change observed on day </a:t>
            </a:r>
            <a:r>
              <a:rPr lang="en-US" altLang="en-US" sz="2800" i="1" dirty="0" err="1">
                <a:latin typeface="Times New Roman" pitchFamily="18" charset="0"/>
              </a:rPr>
              <a:t>i</a:t>
            </a:r>
            <a:r>
              <a:rPr lang="en-US" altLang="en-US" sz="2800" i="1" dirty="0">
                <a:latin typeface="Times New Roman" pitchFamily="18" charset="0"/>
              </a:rPr>
              <a:t> </a:t>
            </a:r>
            <a:r>
              <a:rPr lang="en-US" altLang="en-US" sz="2800" dirty="0"/>
              <a:t>by </a:t>
            </a:r>
            <a:r>
              <a:rPr lang="en-US" altLang="en-US" sz="2800" i="1" dirty="0">
                <a:latin typeface="Symbol" panose="05050102010706020507" pitchFamily="18" charset="2"/>
              </a:rPr>
              <a:t>b</a:t>
            </a:r>
            <a:endParaRPr lang="en-US" altLang="en-US" sz="2800" dirty="0"/>
          </a:p>
          <a:p>
            <a:pPr eaLnBrk="1" hangingPunct="1">
              <a:defRPr/>
            </a:pPr>
            <a:r>
              <a:rPr lang="en-US" altLang="en-US" sz="2800" dirty="0"/>
              <a:t>Value of market variable under </a:t>
            </a:r>
            <a:r>
              <a:rPr lang="en-US" altLang="en-US" sz="2800" i="1" dirty="0" err="1">
                <a:latin typeface="Times New Roman" pitchFamily="18" charset="0"/>
              </a:rPr>
              <a:t>i</a:t>
            </a:r>
            <a:r>
              <a:rPr lang="en-US" altLang="en-US" sz="2800" dirty="0" err="1"/>
              <a:t>th</a:t>
            </a:r>
            <a:r>
              <a:rPr lang="en-US" altLang="en-US" sz="2800" dirty="0"/>
              <a:t> scenario becomes</a:t>
            </a:r>
          </a:p>
          <a:p>
            <a:pPr eaLnBrk="1" hangingPunct="1">
              <a:defRPr/>
            </a:pPr>
            <a:endParaRPr lang="en-CA" altLang="en-US" sz="2800" dirty="0"/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662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03065D-4456-4297-BC7A-EC9C632C8D8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  <p:graphicFrame>
        <p:nvGraphicFramePr>
          <p:cNvPr id="26630" name="Object 4"/>
          <p:cNvGraphicFramePr>
            <a:graphicFrameLocks noChangeAspect="1"/>
          </p:cNvGraphicFramePr>
          <p:nvPr/>
        </p:nvGraphicFramePr>
        <p:xfrm>
          <a:off x="3286125" y="5072063"/>
          <a:ext cx="26670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1574800" imgH="431800" progId="Equation.3">
                  <p:embed/>
                </p:oleObj>
              </mc:Choice>
              <mc:Fallback>
                <p:oleObj name="Equation" r:id="rId4" imgW="1574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5072063"/>
                        <a:ext cx="26670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Volatilities (% per Day) Estimated for Next Day in 4-Index Example</a:t>
            </a:r>
            <a:r>
              <a:rPr lang="en-US" altLang="en-US" dirty="0"/>
              <a:t>  </a:t>
            </a:r>
            <a:r>
              <a:rPr lang="en-US" altLang="en-US" sz="2000" dirty="0"/>
              <a:t>(Table 12.6)</a:t>
            </a:r>
          </a:p>
        </p:txBody>
      </p:sp>
      <p:sp>
        <p:nvSpPr>
          <p:cNvPr id="276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9E9824-00B4-4B18-9DF2-29F1E63973C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30660"/>
              </p:ext>
            </p:extLst>
          </p:nvPr>
        </p:nvGraphicFramePr>
        <p:xfrm>
          <a:off x="1331913" y="2205038"/>
          <a:ext cx="6985000" cy="296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Day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Date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S&amp;P 500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FTSE 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CAC 40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Nikkei 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9,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1.66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1.37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1.54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1.32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10,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1.63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1.35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1.49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1.28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11,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1.58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1.32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1.46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1.30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May 14, 2018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1.53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1.28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1.42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1.26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….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……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499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July 7, 2020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1.80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1.70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1.91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1.68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/>
                        <a:t>500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July 8, 2020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1.76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1.65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1.89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1.65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Volatility Adjusted Losses </a:t>
            </a:r>
            <a:r>
              <a:rPr lang="en-US" altLang="en-US" sz="2000" dirty="0"/>
              <a:t>(Table 12.7)</a:t>
            </a:r>
          </a:p>
        </p:txBody>
      </p:sp>
      <p:sp>
        <p:nvSpPr>
          <p:cNvPr id="2867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5AD318-7261-4624-8199-2A6DCC48D6C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05900"/>
              </p:ext>
            </p:extLst>
          </p:nvPr>
        </p:nvGraphicFramePr>
        <p:xfrm>
          <a:off x="1476375" y="1557338"/>
          <a:ext cx="5807075" cy="29273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9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7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Scenario Number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Loss ($000s)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415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1,064.165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427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607.359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102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583.832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/>
                        <a:t> 424</a:t>
                      </a:r>
                      <a:endParaRPr lang="en-US" sz="1800" dirty="0"/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568.064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289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566.492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397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502.621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103</a:t>
                      </a:r>
                    </a:p>
                  </a:txBody>
                  <a:tcPr marL="91426" marR="91426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437.660</a:t>
                      </a:r>
                    </a:p>
                  </a:txBody>
                  <a:tcPr marL="91426" marR="91426" marT="45742" marB="4574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706" name="TextBox 1"/>
          <p:cNvSpPr txBox="1">
            <a:spLocks noChangeArrowheads="1"/>
          </p:cNvSpPr>
          <p:nvPr/>
        </p:nvSpPr>
        <p:spPr bwMode="auto">
          <a:xfrm>
            <a:off x="900113" y="4868863"/>
            <a:ext cx="67675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dirty="0"/>
              <a:t>One-day 99% </a:t>
            </a:r>
            <a:r>
              <a:rPr lang="en-CA" altLang="en-US" dirty="0" err="1"/>
              <a:t>VaR</a:t>
            </a:r>
            <a:r>
              <a:rPr lang="en-CA" altLang="en-US" dirty="0"/>
              <a:t> = $566,492</a:t>
            </a:r>
          </a:p>
          <a:p>
            <a:endParaRPr lang="en-CA" altLang="en-US" dirty="0"/>
          </a:p>
          <a:p>
            <a:r>
              <a:rPr lang="en-CA" altLang="en-US" dirty="0"/>
              <a:t>One-day 99% ES = (1,064,165+607,359+583,832+568,064)/4 = $705,855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Volatility Scaling for the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2800" dirty="0"/>
              <a:t>Monitor variance of simulated losses on the portfolio using EWMA</a:t>
            </a:r>
          </a:p>
          <a:p>
            <a:pPr>
              <a:defRPr/>
            </a:pPr>
            <a:r>
              <a:rPr lang="en-CA" sz="2800" dirty="0"/>
              <a:t>If current standard deviation of losses is </a:t>
            </a:r>
            <a:r>
              <a:rPr lang="en-CA" sz="2800" dirty="0" err="1">
                <a:latin typeface="Symbol" panose="05050102010706020507" pitchFamily="18" charset="2"/>
              </a:rPr>
              <a:t>b</a:t>
            </a:r>
            <a:r>
              <a:rPr lang="en-CA" sz="2800" i="1" baseline="-25000" dirty="0" err="1">
                <a:latin typeface="+mj-lt"/>
              </a:rPr>
              <a:t>P</a:t>
            </a:r>
            <a:r>
              <a:rPr lang="en-CA" sz="2800" dirty="0"/>
              <a:t> times the standard deviation of simulated losses on Day</a:t>
            </a:r>
            <a:r>
              <a:rPr lang="en-CA" sz="2800" i="1" dirty="0">
                <a:latin typeface="+mj-lt"/>
              </a:rPr>
              <a:t> </a:t>
            </a:r>
            <a:r>
              <a:rPr lang="en-CA" sz="2800" i="1" dirty="0" err="1">
                <a:latin typeface="+mj-lt"/>
              </a:rPr>
              <a:t>i</a:t>
            </a:r>
            <a:r>
              <a:rPr lang="en-CA" sz="2800" dirty="0"/>
              <a:t>,  multiply </a:t>
            </a:r>
            <a:r>
              <a:rPr lang="en-CA" sz="2800" i="1" dirty="0" err="1">
                <a:latin typeface="+mj-lt"/>
              </a:rPr>
              <a:t>i</a:t>
            </a:r>
            <a:r>
              <a:rPr lang="en-CA" sz="2800" dirty="0" err="1"/>
              <a:t>th</a:t>
            </a:r>
            <a:r>
              <a:rPr lang="en-CA" sz="2800" dirty="0"/>
              <a:t> loss given by the standard approach by </a:t>
            </a:r>
            <a:r>
              <a:rPr lang="en-CA" sz="2800" dirty="0" err="1">
                <a:latin typeface="Symbol" panose="05050102010706020507" pitchFamily="18" charset="2"/>
              </a:rPr>
              <a:t>b</a:t>
            </a:r>
            <a:r>
              <a:rPr lang="en-CA" sz="2800" i="1" baseline="-25000" dirty="0" err="1">
                <a:latin typeface="+mj-lt"/>
              </a:rPr>
              <a:t>P</a:t>
            </a:r>
            <a:r>
              <a:rPr lang="en-CA" sz="2800" dirty="0"/>
              <a:t> </a:t>
            </a:r>
          </a:p>
          <a:p>
            <a:pPr>
              <a:defRPr/>
            </a:pPr>
            <a:r>
              <a:rPr lang="en-CA" sz="2800" dirty="0"/>
              <a:t>This approach gives </a:t>
            </a:r>
            <a:r>
              <a:rPr lang="en-CA" sz="2800" dirty="0" err="1"/>
              <a:t>VaR</a:t>
            </a:r>
            <a:r>
              <a:rPr lang="en-CA" sz="2800" dirty="0"/>
              <a:t> and ES as $517,195 and $650,354, respectively</a:t>
            </a:r>
          </a:p>
          <a:p>
            <a:pPr>
              <a:defRPr/>
            </a:pPr>
            <a:endParaRPr lang="en-CA" dirty="0"/>
          </a:p>
          <a:p>
            <a:pPr>
              <a:defRPr/>
            </a:pPr>
            <a:endParaRPr lang="en-CA" dirty="0"/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C184BF-A076-4F42-89E2-7B66ECC5C29D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/>
              <a:t>The Bootstrap Method to Determine Confidence Intervals</a:t>
            </a:r>
            <a:endParaRPr lang="en-CA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Suppose there are 500 daily changes</a:t>
            </a:r>
            <a:endParaRPr lang="en-US" altLang="en-US"/>
          </a:p>
          <a:p>
            <a:pPr eaLnBrk="1" hangingPunct="1"/>
            <a:r>
              <a:rPr lang="en-US" altLang="en-US"/>
              <a:t>Calculate a 95% confidence interval for VaR by sampling 500,000 times with replacement from daily changes to obtain 1000 sets of changes over 500 days</a:t>
            </a:r>
          </a:p>
          <a:p>
            <a:pPr eaLnBrk="1" hangingPunct="1"/>
            <a:r>
              <a:rPr lang="en-CA" altLang="en-US"/>
              <a:t>Calcuate VaR for each set and calculate a confidence interval </a:t>
            </a:r>
            <a:endParaRPr lang="en-US" altLang="en-US"/>
          </a:p>
          <a:p>
            <a:pPr eaLnBrk="1" hangingPunct="1"/>
            <a:r>
              <a:rPr lang="en-US" altLang="en-US"/>
              <a:t>This is known as the bootstrap method</a:t>
            </a:r>
          </a:p>
          <a:p>
            <a:pPr eaLnBrk="1" hangingPunct="1"/>
            <a:endParaRPr lang="en-CA" altLang="en-US"/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187F73-4883-4272-BF24-E223E513640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/>
              <a:t>Computational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188" y="1412875"/>
            <a:ext cx="7921625" cy="446405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To avoid revaluing a complete portfolio many times a delta/gamma approximation is sometimes used</a:t>
            </a:r>
          </a:p>
          <a:p>
            <a:pPr eaLnBrk="1" hangingPunct="1">
              <a:defRPr/>
            </a:pPr>
            <a:r>
              <a:rPr lang="en-US" sz="2800" dirty="0"/>
              <a:t>When a derivative depend on only one underlying variable, </a:t>
            </a:r>
            <a:r>
              <a:rPr lang="en-US" sz="2800" i="1" dirty="0">
                <a:latin typeface="+mj-lt"/>
              </a:rPr>
              <a:t>S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sz="2800" i="1" dirty="0">
              <a:latin typeface="+mj-lt"/>
            </a:endParaRPr>
          </a:p>
          <a:p>
            <a:pPr eaLnBrk="1" hangingPunct="1">
              <a:defRPr/>
            </a:pPr>
            <a:endParaRPr lang="en-US" sz="2800" i="1" dirty="0">
              <a:latin typeface="+mj-lt"/>
            </a:endParaRPr>
          </a:p>
          <a:p>
            <a:pPr eaLnBrk="1" hangingPunct="1">
              <a:defRPr/>
            </a:pPr>
            <a:r>
              <a:rPr lang="en-US" sz="2800" dirty="0"/>
              <a:t>With many variables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840751-37E2-4565-AE72-7AB53550BAB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2555875" y="3644900"/>
          <a:ext cx="31416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1320227" imgH="393529" progId="Equation.3">
                  <p:embed/>
                </p:oleObj>
              </mc:Choice>
              <mc:Fallback>
                <p:oleObj name="Equation" r:id="rId4" imgW="1320227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644900"/>
                        <a:ext cx="314166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4"/>
          <p:cNvGraphicFramePr>
            <a:graphicFrameLocks noChangeAspect="1"/>
          </p:cNvGraphicFramePr>
          <p:nvPr/>
        </p:nvGraphicFramePr>
        <p:xfrm>
          <a:off x="1979613" y="5157788"/>
          <a:ext cx="50133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8" imgW="2108200" imgH="444500" progId="Equation.3">
                  <p:embed/>
                </p:oleObj>
              </mc:Choice>
              <mc:Fallback>
                <p:oleObj name="Equation" r:id="rId8" imgW="21082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157788"/>
                        <a:ext cx="5013325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Extreme Value Theory </a:t>
            </a:r>
            <a:r>
              <a:rPr lang="en-US" altLang="en-US" sz="2400" dirty="0"/>
              <a:t>(Section 12.5)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7772400" cy="4095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Extreme value theory can be used to investigate the properties of the right tail of the empirical distribution of a variable </a:t>
            </a:r>
            <a:r>
              <a:rPr lang="en-US" altLang="en-US" sz="2400" i="1">
                <a:latin typeface="Times New Roman" panose="02020603050405020304" pitchFamily="18" charset="0"/>
              </a:rPr>
              <a:t>x. 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/>
              <a:t>If we interested in the left tail we consider the variable –</a:t>
            </a:r>
            <a:r>
              <a:rPr lang="en-US" altLang="en-US" sz="2400" i="1">
                <a:latin typeface="Times New Roman" panose="02020603050405020304" pitchFamily="18" charset="0"/>
              </a:rPr>
              <a:t>x</a:t>
            </a:r>
            <a:r>
              <a:rPr lang="en-US" altLang="en-US" sz="2400"/>
              <a:t>.)</a:t>
            </a:r>
            <a:endParaRPr lang="en-US" altLang="en-US" sz="2400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We first choose a level </a:t>
            </a:r>
            <a:r>
              <a:rPr lang="en-US" altLang="en-US" sz="2400" i="1">
                <a:latin typeface="Times New Roman" panose="02020603050405020304" pitchFamily="18" charset="0"/>
              </a:rPr>
              <a:t>u</a:t>
            </a:r>
            <a:r>
              <a:rPr lang="en-US" altLang="en-US" sz="2400" i="1"/>
              <a:t> </a:t>
            </a:r>
            <a:r>
              <a:rPr lang="en-US" altLang="en-US" sz="2400"/>
              <a:t>somewhat in the right tail of the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We then use Gnedenko’s result which shows that for a wide class of distributions as </a:t>
            </a:r>
            <a:r>
              <a:rPr lang="en-US" altLang="en-US" sz="2400" i="1">
                <a:latin typeface="Times New Roman" panose="02020603050405020304" pitchFamily="18" charset="0"/>
              </a:rPr>
              <a:t>u</a:t>
            </a:r>
            <a:r>
              <a:rPr lang="en-US" altLang="en-US" sz="2400"/>
              <a:t> increases the probability distribution that </a:t>
            </a:r>
            <a:r>
              <a:rPr lang="en-US" altLang="en-US" sz="2400" i="1">
                <a:latin typeface="Times New Roman" panose="02020603050405020304" pitchFamily="18" charset="0"/>
              </a:rPr>
              <a:t>v </a:t>
            </a:r>
            <a:r>
              <a:rPr lang="en-US" altLang="en-US" sz="2400"/>
              <a:t>lies between </a:t>
            </a:r>
            <a:r>
              <a:rPr lang="en-US" altLang="en-US" sz="2400" i="1">
                <a:latin typeface="Times New Roman" panose="02020603050405020304" pitchFamily="18" charset="0"/>
              </a:rPr>
              <a:t>u </a:t>
            </a:r>
            <a:r>
              <a:rPr lang="en-US" altLang="en-US" sz="2400"/>
              <a:t>and</a:t>
            </a:r>
            <a:r>
              <a:rPr lang="en-US" altLang="en-US" sz="2400" i="1">
                <a:latin typeface="Times New Roman" panose="02020603050405020304" pitchFamily="18" charset="0"/>
              </a:rPr>
              <a:t> u+y </a:t>
            </a:r>
            <a:r>
              <a:rPr lang="en-US" altLang="en-US" sz="2400"/>
              <a:t>conditional that it is greater than </a:t>
            </a:r>
            <a:r>
              <a:rPr lang="en-US" altLang="en-US" sz="2400" i="1">
                <a:latin typeface="Times New Roman" panose="02020603050405020304" pitchFamily="18" charset="0"/>
              </a:rPr>
              <a:t>u </a:t>
            </a:r>
            <a:r>
              <a:rPr lang="en-US" altLang="en-US" sz="2400"/>
              <a:t>tends to a generalized Pareto distribution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277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85B93C-3F15-400B-B521-A8DB6D5B903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Generalized Pareto Distribution</a:t>
            </a:r>
          </a:p>
        </p:txBody>
      </p:sp>
      <p:graphicFrame>
        <p:nvGraphicFramePr>
          <p:cNvPr id="33795" name="Rectangle 4"/>
          <p:cNvGraphicFramePr>
            <a:graphicFrameLocks noGrp="1"/>
          </p:cNvGraphicFramePr>
          <p:nvPr>
            <p:ph idx="1"/>
          </p:nvPr>
        </p:nvGraphicFramePr>
        <p:xfrm>
          <a:off x="5334000" y="4038600"/>
          <a:ext cx="381000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Rectangle 4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038600"/>
                        <a:ext cx="381000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379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B2708F-AA22-461C-9467-4D0AFF59039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2938" y="2000250"/>
            <a:ext cx="7158037" cy="413067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This has two parameters </a:t>
            </a:r>
            <a:r>
              <a:rPr lang="en-US" altLang="en-US" sz="2400" dirty="0">
                <a:latin typeface="Symbol" panose="05050102010706020507" pitchFamily="18" charset="2"/>
              </a:rPr>
              <a:t>x (</a:t>
            </a:r>
            <a:r>
              <a:rPr lang="en-US" altLang="en-US" sz="2400" dirty="0"/>
              <a:t>the shape parameter) and </a:t>
            </a:r>
            <a:r>
              <a:rPr lang="en-US" altLang="en-US" sz="2400" dirty="0">
                <a:latin typeface="Symbol" panose="05050102010706020507" pitchFamily="18" charset="2"/>
              </a:rPr>
              <a:t>b (</a:t>
            </a:r>
            <a:r>
              <a:rPr lang="en-US" altLang="en-US" sz="2400" dirty="0"/>
              <a:t>the scale parameter)</a:t>
            </a:r>
          </a:p>
          <a:p>
            <a:pPr eaLnBrk="1" hangingPunct="1"/>
            <a:r>
              <a:rPr lang="en-US" altLang="en-US" sz="2400" dirty="0"/>
              <a:t>The cumulative distribution is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799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70050" y="3500438"/>
          <a:ext cx="2643188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866780" imgH="609510" progId="Equation.3">
                  <p:embed/>
                </p:oleObj>
              </mc:Choice>
              <mc:Fallback>
                <p:oleObj name="Equation" r:id="rId5" imgW="866780" imgH="6095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3500438"/>
                        <a:ext cx="2643188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 dirty="0"/>
              <a:t>Maximum Likelihood Estimator </a:t>
            </a:r>
            <a:r>
              <a:rPr lang="en-US" altLang="en-US" sz="2400" dirty="0"/>
              <a:t>(Equation 12.7)</a:t>
            </a:r>
          </a:p>
        </p:txBody>
      </p:sp>
      <p:graphicFrame>
        <p:nvGraphicFramePr>
          <p:cNvPr id="34819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835150" y="4508500"/>
          <a:ext cx="4003675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1714394" imgH="485880" progId="Equation.3">
                  <p:embed/>
                </p:oleObj>
              </mc:Choice>
              <mc:Fallback>
                <p:oleObj name="Equation" r:id="rId4" imgW="1714394" imgH="485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508500"/>
                        <a:ext cx="4003675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482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A8045D-DC36-4C48-A767-3E9EE190486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1563" y="1928813"/>
            <a:ext cx="6300787" cy="1714500"/>
          </a:xfrm>
        </p:spPr>
        <p:txBody>
          <a:bodyPr/>
          <a:lstStyle/>
          <a:p>
            <a:pPr eaLnBrk="1" hangingPunct="1"/>
            <a:r>
              <a:rPr lang="en-US" altLang="en-US" sz="2800"/>
              <a:t>The observations, </a:t>
            </a:r>
            <a:r>
              <a:rPr lang="en-US" altLang="en-US" sz="2800" i="1">
                <a:latin typeface="Times New Roman" panose="02020603050405020304" pitchFamily="18" charset="0"/>
              </a:rPr>
              <a:t>x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800"/>
              <a:t>, are sorted in descending order. Suppose that there are </a:t>
            </a:r>
            <a:r>
              <a:rPr lang="en-US" altLang="en-US" sz="2800" i="1">
                <a:latin typeface="Times New Roman" panose="02020603050405020304" pitchFamily="18" charset="0"/>
              </a:rPr>
              <a:t>n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u</a:t>
            </a:r>
            <a:r>
              <a:rPr lang="en-US" altLang="en-US" sz="2800"/>
              <a:t> observations greater than </a:t>
            </a:r>
            <a:r>
              <a:rPr lang="en-US" altLang="en-US" sz="2800" i="1">
                <a:latin typeface="Times New Roman" panose="02020603050405020304" pitchFamily="18" charset="0"/>
              </a:rPr>
              <a:t>u</a:t>
            </a:r>
          </a:p>
          <a:p>
            <a:pPr eaLnBrk="1" hangingPunct="1"/>
            <a:r>
              <a:rPr lang="en-US" altLang="en-US" sz="2800"/>
              <a:t>We choose </a:t>
            </a:r>
            <a:r>
              <a:rPr lang="en-US" altLang="en-US" sz="2800">
                <a:latin typeface="Symbol" panose="05050102010706020507" pitchFamily="18" charset="2"/>
              </a:rPr>
              <a:t>x</a:t>
            </a:r>
            <a:r>
              <a:rPr lang="en-US" altLang="en-US" sz="2800"/>
              <a:t> and </a:t>
            </a:r>
            <a:r>
              <a:rPr lang="en-US" altLang="en-US" sz="2800">
                <a:latin typeface="Symbol" panose="05050102010706020507" pitchFamily="18" charset="2"/>
              </a:rPr>
              <a:t>b</a:t>
            </a:r>
            <a:r>
              <a:rPr lang="en-US" altLang="en-US" sz="2800"/>
              <a:t> to maximize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Using Maximum Likelihood for 4-Index Example, </a:t>
            </a:r>
            <a:r>
              <a:rPr lang="en-US" altLang="en-US" i="1" dirty="0"/>
              <a:t>u</a:t>
            </a:r>
            <a:r>
              <a:rPr lang="en-US" altLang="en-US" dirty="0"/>
              <a:t>=160. Trial values of </a:t>
            </a:r>
            <a:r>
              <a:rPr lang="en-US" altLang="en-US" dirty="0">
                <a:latin typeface="Symbol" panose="05050102010706020507" pitchFamily="18" charset="2"/>
              </a:rPr>
              <a:t>b</a:t>
            </a:r>
            <a:r>
              <a:rPr lang="en-US" altLang="en-US" dirty="0"/>
              <a:t> and </a:t>
            </a:r>
            <a:r>
              <a:rPr lang="en-US" altLang="en-US" dirty="0">
                <a:latin typeface="Symbol" panose="05050102010706020507" pitchFamily="18" charset="2"/>
              </a:rPr>
              <a:t>x</a:t>
            </a:r>
            <a:r>
              <a:rPr lang="en-US" altLang="en-US" dirty="0"/>
              <a:t> are 40 and 0.3 </a:t>
            </a:r>
            <a:r>
              <a:rPr lang="en-US" altLang="en-US" sz="2000" dirty="0"/>
              <a:t>(Table 12.10)</a:t>
            </a:r>
          </a:p>
        </p:txBody>
      </p:sp>
      <p:sp>
        <p:nvSpPr>
          <p:cNvPr id="3584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584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396352-E361-41F6-8C90-7E6A11DC3E0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96100"/>
              </p:ext>
            </p:extLst>
          </p:nvPr>
        </p:nvGraphicFramePr>
        <p:xfrm>
          <a:off x="1187450" y="2060575"/>
          <a:ext cx="6096000" cy="3543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Scenario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Loss ($000s)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Rank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427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922.484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 -11.94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429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858.423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 -11.62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424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653.541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 -10.40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415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490.215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   -9.09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482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422.291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 -8.40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163.620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25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   -3.80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-160.99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5897" name="Object 2"/>
          <p:cNvGraphicFramePr>
            <a:graphicFrameLocks noChangeAspect="1"/>
          </p:cNvGraphicFramePr>
          <p:nvPr/>
        </p:nvGraphicFramePr>
        <p:xfrm>
          <a:off x="5795963" y="2060575"/>
          <a:ext cx="1562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4" imgW="1562100" imgH="558800" progId="Equation.3">
                  <p:embed/>
                </p:oleObj>
              </mc:Choice>
              <mc:Fallback>
                <p:oleObj name="Equation" r:id="rId4" imgW="15621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060575"/>
                        <a:ext cx="15621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9325"/>
          </a:xfrm>
        </p:spPr>
        <p:txBody>
          <a:bodyPr/>
          <a:lstStyle/>
          <a:p>
            <a:pPr eaLnBrk="1" hangingPunct="1"/>
            <a:r>
              <a:rPr lang="en-US" altLang="en-US"/>
              <a:t>Tail Probabilities </a:t>
            </a:r>
          </a:p>
        </p:txBody>
      </p:sp>
      <p:graphicFrame>
        <p:nvGraphicFramePr>
          <p:cNvPr id="3686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85813" y="1571625"/>
          <a:ext cx="5921375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4" imgW="4009972" imgH="3095598" progId="Equation.3">
                  <p:embed/>
                </p:oleObj>
              </mc:Choice>
              <mc:Fallback>
                <p:oleObj name="Equation" r:id="rId4" imgW="4009972" imgH="30955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571625"/>
                        <a:ext cx="5921375" cy="459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292B98-794C-4E78-87A3-7FE86E40EC9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Estimating </a:t>
            </a:r>
            <a:r>
              <a:rPr lang="en-US" altLang="en-US" dirty="0" err="1"/>
              <a:t>VaR</a:t>
            </a:r>
            <a:r>
              <a:rPr lang="en-US" altLang="en-US" dirty="0"/>
              <a:t> and ES Using Extreme Value </a:t>
            </a:r>
            <a:r>
              <a:rPr lang="en-US" altLang="en-US"/>
              <a:t>Theory </a:t>
            </a:r>
            <a:endParaRPr lang="en-CA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Setting the probability that </a:t>
            </a:r>
            <a:r>
              <a:rPr lang="en-CA" i="1" dirty="0">
                <a:latin typeface="+mj-lt"/>
              </a:rPr>
              <a:t>v</a:t>
            </a:r>
            <a:r>
              <a:rPr lang="en-CA" dirty="0"/>
              <a:t>&gt;</a:t>
            </a:r>
            <a:r>
              <a:rPr lang="en-CA" i="1" dirty="0">
                <a:latin typeface="+mj-lt"/>
              </a:rPr>
              <a:t>x</a:t>
            </a:r>
            <a:r>
              <a:rPr lang="en-CA" dirty="0"/>
              <a:t> equal to 1−</a:t>
            </a:r>
            <a:r>
              <a:rPr lang="en-CA" i="1" dirty="0">
                <a:latin typeface="+mj-lt"/>
              </a:rPr>
              <a:t>q</a:t>
            </a:r>
            <a:r>
              <a:rPr lang="en-CA" dirty="0"/>
              <a:t> we obtain an estimate of </a:t>
            </a:r>
            <a:r>
              <a:rPr lang="en-CA" dirty="0" err="1"/>
              <a:t>VaR</a:t>
            </a:r>
            <a:r>
              <a:rPr lang="en-CA" dirty="0"/>
              <a:t> with a confidence level of </a:t>
            </a:r>
            <a:r>
              <a:rPr lang="en-CA" i="1" dirty="0">
                <a:latin typeface="+mj-lt"/>
              </a:rPr>
              <a:t>q</a:t>
            </a:r>
          </a:p>
          <a:p>
            <a:pPr>
              <a:defRPr/>
            </a:pPr>
            <a:endParaRPr lang="en-CA" i="1" dirty="0">
              <a:latin typeface="+mj-lt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>
              <a:defRPr/>
            </a:pPr>
            <a:r>
              <a:rPr lang="en-CA" dirty="0"/>
              <a:t>Also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CA" dirty="0"/>
              <a:t> 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12,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51FA67-B503-460E-972E-E5DE9F273610}" type="slidenum">
              <a:rPr lang="en-US" altLang="en-US"/>
              <a:pPr/>
              <a:t>25</a:t>
            </a:fld>
            <a:endParaRPr lang="en-US" altLang="en-US"/>
          </a:p>
        </p:txBody>
      </p:sp>
      <p:graphicFrame>
        <p:nvGraphicFramePr>
          <p:cNvPr id="37894" name="Object 1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3"/>
          <p:cNvGraphicFramePr>
            <a:graphicFrameLocks noChangeAspect="1"/>
          </p:cNvGraphicFramePr>
          <p:nvPr/>
        </p:nvGraphicFramePr>
        <p:xfrm>
          <a:off x="2085975" y="3357563"/>
          <a:ext cx="3970338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955800" imgH="558800" progId="Equation.3">
                  <p:embed/>
                </p:oleObj>
              </mc:Choice>
              <mc:Fallback>
                <p:oleObj name="Equation" r:id="rId5" imgW="19558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3357563"/>
                        <a:ext cx="3970338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4"/>
          <p:cNvGraphicFramePr>
            <a:graphicFrameLocks noChangeAspect="1"/>
          </p:cNvGraphicFramePr>
          <p:nvPr/>
        </p:nvGraphicFramePr>
        <p:xfrm>
          <a:off x="2903538" y="5013325"/>
          <a:ext cx="23558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1180588" imgH="418918" progId="Equation.3">
                  <p:embed/>
                </p:oleObj>
              </mc:Choice>
              <mc:Fallback>
                <p:oleObj name="Equation" r:id="rId7" imgW="1180588" imgH="41891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5013325"/>
                        <a:ext cx="235585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2D1B82-ED7D-41F3-B740-A3AB8619BC0B}"/>
</file>

<file path=customXml/itemProps2.xml><?xml version="1.0" encoding="utf-8"?>
<ds:datastoreItem xmlns:ds="http://schemas.openxmlformats.org/officeDocument/2006/customXml" ds:itemID="{6AFB8D7F-07F2-4090-9484-5E58E8BD01DB}"/>
</file>

<file path=customXml/itemProps3.xml><?xml version="1.0" encoding="utf-8"?>
<ds:datastoreItem xmlns:ds="http://schemas.openxmlformats.org/officeDocument/2006/customXml" ds:itemID="{53C20676-2733-457D-86DA-B8DA80330E98}"/>
</file>

<file path=docProps/app.xml><?xml version="1.0" encoding="utf-8"?>
<Properties xmlns="http://schemas.openxmlformats.org/officeDocument/2006/extended-properties" xmlns:vt="http://schemas.openxmlformats.org/officeDocument/2006/docPropsVTypes">
  <Template>HullRMFICh14</Template>
  <TotalTime>1847</TotalTime>
  <Words>1775</Words>
  <Application>Microsoft Office PowerPoint</Application>
  <PresentationFormat>On-screen Show (4:3)</PresentationFormat>
  <Paragraphs>395</Paragraphs>
  <Slides>25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Cambria Math</vt:lpstr>
      <vt:lpstr>Symbol</vt:lpstr>
      <vt:lpstr>Times New Roman</vt:lpstr>
      <vt:lpstr>Wingdings</vt:lpstr>
      <vt:lpstr>HullRMFICh12</vt:lpstr>
      <vt:lpstr>Equation</vt:lpstr>
      <vt:lpstr>  </vt:lpstr>
      <vt:lpstr> Historical Simulation  </vt:lpstr>
      <vt:lpstr>Percentage Changes vs. Actual Changes</vt:lpstr>
      <vt:lpstr>Historical Simulation continued</vt:lpstr>
      <vt:lpstr>Example: Portfolio on July 8, 2020 (Table 12.1)</vt:lpstr>
      <vt:lpstr>U.S. Dollar Equivalent of Total Return Stock Indices (Table 12.2)</vt:lpstr>
      <vt:lpstr>Scenarios (Table 12.3)</vt:lpstr>
      <vt:lpstr>Losses (Table 12.4)</vt:lpstr>
      <vt:lpstr>Stressed VaR and Stressed ES</vt:lpstr>
      <vt:lpstr>Accuracy of VaR (Section 12.2)</vt:lpstr>
      <vt:lpstr>Example 12.1</vt:lpstr>
      <vt:lpstr>Weighting of Observations</vt:lpstr>
      <vt:lpstr>Application to 4-Index Portfolio l=0.995 (Table 12.5)</vt:lpstr>
      <vt:lpstr>Volatility Scaling</vt:lpstr>
      <vt:lpstr>Volatilities (% per Day) Estimated for Next Day in 4-Index Example  (Table 12.6)</vt:lpstr>
      <vt:lpstr>Volatility Adjusted Losses (Table 12.7)</vt:lpstr>
      <vt:lpstr>Volatility Scaling for the Portfolio</vt:lpstr>
      <vt:lpstr>The Bootstrap Method to Determine Confidence Intervals</vt:lpstr>
      <vt:lpstr>Computational Issues</vt:lpstr>
      <vt:lpstr>Extreme Value Theory (Section 12.5)</vt:lpstr>
      <vt:lpstr>Generalized Pareto Distribution</vt:lpstr>
      <vt:lpstr>Maximum Likelihood Estimator (Equation 12.7)</vt:lpstr>
      <vt:lpstr>Using Maximum Likelihood for 4-Index Example, u=160. Trial values of b and x are 40 and 0.3 (Table 12.10)</vt:lpstr>
      <vt:lpstr>Tail Probabilities </vt:lpstr>
      <vt:lpstr>Estimating VaR and ES Using Extreme Value Theory 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13</dc:subject>
  <dc:creator>John  Hull</dc:creator>
  <cp:keywords>5th Edition</cp:keywords>
  <dc:description>Copyright 2018 by John  Hull._x000d_
All rights reserved.</dc:description>
  <cp:lastModifiedBy>John Hull</cp:lastModifiedBy>
  <cp:revision>108</cp:revision>
  <cp:lastPrinted>1999-07-13T16:56:59Z</cp:lastPrinted>
  <dcterms:created xsi:type="dcterms:W3CDTF">1999-07-02T23:37:50Z</dcterms:created>
  <dcterms:modified xsi:type="dcterms:W3CDTF">2022-12-01T19:49:00Z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