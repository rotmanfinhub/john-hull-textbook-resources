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4" r:id="rId1"/>
  </p:sldMasterIdLst>
  <p:notesMasterIdLst>
    <p:notesMasterId r:id="rId21"/>
  </p:notesMasterIdLst>
  <p:handoutMasterIdLst>
    <p:handoutMasterId r:id="rId22"/>
  </p:handoutMasterIdLst>
  <p:sldIdLst>
    <p:sldId id="257" r:id="rId2"/>
    <p:sldId id="266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314" r:id="rId11"/>
    <p:sldId id="276" r:id="rId12"/>
    <p:sldId id="306" r:id="rId13"/>
    <p:sldId id="277" r:id="rId14"/>
    <p:sldId id="308" r:id="rId15"/>
    <p:sldId id="316" r:id="rId16"/>
    <p:sldId id="312" r:id="rId17"/>
    <p:sldId id="313" r:id="rId18"/>
    <p:sldId id="318" r:id="rId19"/>
    <p:sldId id="286" r:id="rId20"/>
  </p:sldIdLst>
  <p:sldSz cx="9144000" cy="6858000" type="screen4x3"/>
  <p:notesSz cx="7315200" cy="96012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>
      <p:cViewPr varScale="1">
        <p:scale>
          <a:sx n="139" d="100"/>
          <a:sy n="139" d="100"/>
        </p:scale>
        <p:origin x="762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78"/>
    </p:cViewPr>
  </p:sorterViewPr>
  <p:notesViewPr>
    <p:cSldViewPr>
      <p:cViewPr varScale="1">
        <p:scale>
          <a:sx n="81" d="100"/>
          <a:sy n="81" d="100"/>
        </p:scale>
        <p:origin x="-1968" y="-102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openxmlformats.org/officeDocument/2006/relationships/customXml" Target="../customXml/item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handoutMaster" Target="handoutMasters/handoutMaster1.xml"/><Relationship Id="rId27" Type="http://schemas.openxmlformats.org/officeDocument/2006/relationships/customXml" Target="../customXml/item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524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144963" y="0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>
            <a:lvl1pPr algn="r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42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7300" y="720725"/>
            <a:ext cx="4800600" cy="36004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4725" y="4560888"/>
            <a:ext cx="5365750" cy="431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0"/>
            <a:r>
              <a:rPr lang="en-US" noProof="0"/>
              <a:t>Second level</a:t>
            </a:r>
          </a:p>
          <a:p>
            <a:pPr lvl="0"/>
            <a:r>
              <a:rPr lang="en-US" noProof="0"/>
              <a:t>Third level</a:t>
            </a:r>
          </a:p>
          <a:p>
            <a:pPr lvl="0"/>
            <a:r>
              <a:rPr lang="en-US" noProof="0"/>
              <a:t>Fourth level</a:t>
            </a:r>
          </a:p>
          <a:p>
            <a:pPr lvl="0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1775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l" defTabSz="96678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6661" tIns="48331" rIns="96661" bIns="48331" numCol="1" anchor="b" anchorCtr="0" compatLnSpc="1">
            <a:prstTxWarp prst="textNoShape">
              <a:avLst/>
            </a:prstTxWarp>
          </a:bodyPr>
          <a:lstStyle>
            <a:lvl1pPr algn="r" defTabSz="966788">
              <a:defRPr sz="1300">
                <a:latin typeface="Times New Roman" panose="02020603050405020304" pitchFamily="18" charset="0"/>
              </a:defRPr>
            </a:lvl1pPr>
          </a:lstStyle>
          <a:p>
            <a:fld id="{EF3D1732-3274-4414-8502-847EFD12E33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5124719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/>
          <a:lstStyle/>
          <a:p>
            <a:pPr defTabSz="966788">
              <a:spcBef>
                <a:spcPct val="0"/>
              </a:spcBef>
            </a:pPr>
            <a:endParaRPr lang="en-CA" altLang="en-US" sz="2500"/>
          </a:p>
        </p:txBody>
      </p:sp>
      <p:sp>
        <p:nvSpPr>
          <p:cNvPr id="55299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6711056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4436949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740084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626371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676511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03879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2628996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474883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128685841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451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2076786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553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554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8F7ECD1-CC4E-48FD-87CB-4B0F6BA5ED02}" type="slidenum">
              <a:rPr lang="en-US" altLang="en-US" sz="1300"/>
              <a:pPr>
                <a:spcBef>
                  <a:spcPct val="0"/>
                </a:spcBef>
              </a:pPr>
              <a:t>12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825633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66825" y="727075"/>
            <a:ext cx="4781550" cy="3586163"/>
          </a:xfrm>
          <a:ln/>
        </p:spPr>
      </p:sp>
      <p:sp>
        <p:nvSpPr>
          <p:cNvPr id="6656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CA" altLang="en-US"/>
          </a:p>
        </p:txBody>
      </p:sp>
    </p:spTree>
    <p:extLst>
      <p:ext uri="{BB962C8B-B14F-4D97-AF65-F5344CB8AC3E}">
        <p14:creationId xmlns:p14="http://schemas.microsoft.com/office/powerpoint/2010/main" val="39712403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5DF50F7D-0E1D-423C-B124-1FD25D131973}" type="slidenum">
              <a:rPr lang="en-US" altLang="en-US" sz="1300"/>
              <a:pPr>
                <a:spcBef>
                  <a:spcPct val="0"/>
                </a:spcBef>
              </a:pPr>
              <a:t>14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267164385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963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6963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C3AA547-DD2F-4314-A412-ED587F9A5A98}" type="slidenum">
              <a:rPr lang="en-US" altLang="en-US" sz="1300"/>
              <a:pPr>
                <a:spcBef>
                  <a:spcPct val="0"/>
                </a:spcBef>
              </a:pPr>
              <a:t>16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37926697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7066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6C9011B-1B64-478C-BD0F-92BD8F88394A}" type="slidenum">
              <a:rPr lang="en-US" altLang="en-US" sz="1300"/>
              <a:pPr>
                <a:spcBef>
                  <a:spcPct val="0"/>
                </a:spcBef>
              </a:pPr>
              <a:t>17</a:t>
            </a:fld>
            <a:endParaRPr lang="en-US" altLang="en-US" sz="1300"/>
          </a:p>
        </p:txBody>
      </p:sp>
    </p:spTree>
    <p:extLst>
      <p:ext uri="{BB962C8B-B14F-4D97-AF65-F5344CB8AC3E}">
        <p14:creationId xmlns:p14="http://schemas.microsoft.com/office/powerpoint/2010/main" val="84537761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8888" y="722313"/>
            <a:ext cx="4797425" cy="3597275"/>
          </a:xfrm>
          <a:ln w="12700" cap="flat"/>
        </p:spPr>
      </p:sp>
      <p:sp>
        <p:nvSpPr>
          <p:cNvPr id="808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7332" tIns="48667" rIns="97332" bIns="48667"/>
          <a:lstStyle/>
          <a:p>
            <a:pPr eaLnBrk="1" hangingPunct="1">
              <a:spcBef>
                <a:spcPct val="0"/>
              </a:spcBef>
            </a:pPr>
            <a:endParaRPr lang="en-CA" altLang="en-US" sz="2400"/>
          </a:p>
        </p:txBody>
      </p:sp>
    </p:spTree>
    <p:extLst>
      <p:ext uri="{BB962C8B-B14F-4D97-AF65-F5344CB8AC3E}">
        <p14:creationId xmlns:p14="http://schemas.microsoft.com/office/powerpoint/2010/main" val="899350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865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9866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67715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FDB367EA-47C3-4A16-AB56-4232781215A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3926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70FE92-6D3F-4531-B70A-12B9E52F850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6990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D685DC3-7E4E-48F5-8014-FF439D5B5BA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99457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D4EE49-4006-489F-A76A-B8625DB7599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82266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5EDD8-799F-4284-8602-2648D01A071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80725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EEF017-3A53-4916-916A-219D27D739A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4481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5F3CE7-E3BD-47D3-ACA7-B70D35732F7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3895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39DED11-3A28-452C-B9A7-DA9EA6398A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767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D8F75A-2A48-4379-B69B-E418E6600E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5273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7283F4-06C7-409E-B7C7-9C8DAC52720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5787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9ADDFC-6C1B-49F9-A8C8-06FB769C7F5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77135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2238"/>
            <a:ext cx="7543800" cy="1295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E21316-B7CD-4DF2-B7CF-98CD87402CE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8210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97637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97638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i="1">
                <a:latin typeface="Arial" charset="0"/>
              </a:defRPr>
            </a:lvl1pPr>
          </a:lstStyle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>
              <a:cs typeface="Arial" charset="0"/>
            </a:endParaRPr>
          </a:p>
        </p:txBody>
      </p:sp>
      <p:sp>
        <p:nvSpPr>
          <p:cNvPr id="197639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b="1"/>
            </a:lvl1pPr>
          </a:lstStyle>
          <a:p>
            <a:r>
              <a:rPr lang="en-US" altLang="en-US"/>
              <a:t>10.</a:t>
            </a:r>
            <a:fld id="{3A547925-2098-4FF5-8F59-F6AD3D5C5F6A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3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3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3" cy="7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3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3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3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3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algn="ctr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algn="ctr" eaLnBrk="1" hangingPunct="1">
                <a:defRPr/>
              </a:pPr>
              <a:endParaRPr lang="en-US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1" r:id="rId1"/>
    <p:sldLayoutId id="2147483872" r:id="rId2"/>
    <p:sldLayoutId id="2147483873" r:id="rId3"/>
    <p:sldLayoutId id="2147483874" r:id="rId4"/>
    <p:sldLayoutId id="2147483875" r:id="rId5"/>
    <p:sldLayoutId id="2147483876" r:id="rId6"/>
    <p:sldLayoutId id="2147483877" r:id="rId7"/>
    <p:sldLayoutId id="2147483878" r:id="rId8"/>
    <p:sldLayoutId id="2147483879" r:id="rId9"/>
    <p:sldLayoutId id="2147483880" r:id="rId10"/>
    <p:sldLayoutId id="2147483881" r:id="rId11"/>
    <p:sldLayoutId id="2147483882" r:id="rId1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2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4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5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7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8.wmf"/><Relationship Id="rId4" Type="http://schemas.openxmlformats.org/officeDocument/2006/relationships/oleObject" Target="../embeddings/oleObject8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8.vml"/><Relationship Id="rId5" Type="http://schemas.openxmlformats.org/officeDocument/2006/relationships/image" Target="../media/image9.wmf"/><Relationship Id="rId4" Type="http://schemas.openxmlformats.org/officeDocument/2006/relationships/oleObject" Target="../embeddings/oleObject9.bin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4" Type="http://schemas.openxmlformats.org/officeDocument/2006/relationships/image" Target="../media/image10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6"/>
          <p:cNvSpPr>
            <a:spLocks noGrp="1" noChangeArrowheads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 dirty="0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ctr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br>
              <a:rPr lang="en-US" altLang="en-US"/>
            </a:br>
            <a:br>
              <a:rPr lang="en-US" altLang="en-US" sz="9600"/>
            </a:br>
            <a:endParaRPr lang="en-US" altLang="en-US" sz="7200"/>
          </a:p>
        </p:txBody>
      </p:sp>
      <p:sp>
        <p:nvSpPr>
          <p:cNvPr id="14340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z="3200" dirty="0"/>
              <a:t>Chapter 13</a:t>
            </a:r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0" y="1143000"/>
            <a:ext cx="7164388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 dirty="0">
                <a:solidFill>
                  <a:schemeClr val="tx2"/>
                </a:solidFill>
              </a:rPr>
              <a:t>Model-Building </a:t>
            </a:r>
          </a:p>
          <a:p>
            <a:pPr algn="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4400" b="1" dirty="0">
                <a:solidFill>
                  <a:schemeClr val="tx2"/>
                </a:solidFill>
              </a:rPr>
              <a:t>Approach</a:t>
            </a:r>
          </a:p>
        </p:txBody>
      </p:sp>
      <p:sp>
        <p:nvSpPr>
          <p:cNvPr id="14342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6E5701D-27B4-4D85-8324-B7AC5C817B5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536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Model-Building Approach</a:t>
            </a:r>
          </a:p>
        </p:txBody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800" dirty="0"/>
              <a:t>The main alternative to historical simulation for calculating </a:t>
            </a:r>
            <a:r>
              <a:rPr lang="en-US" altLang="en-US" sz="2800" dirty="0" err="1"/>
              <a:t>VaR</a:t>
            </a:r>
            <a:r>
              <a:rPr lang="en-US" altLang="en-US" sz="2800" dirty="0"/>
              <a:t> or ES is to make assumptions about the probability distributions of the returns on the market variables</a:t>
            </a:r>
          </a:p>
          <a:p>
            <a:pPr eaLnBrk="1" hangingPunct="1"/>
            <a:r>
              <a:rPr lang="en-US" altLang="en-US" sz="2800" dirty="0"/>
              <a:t>This is known as the model building approach (or sometimes the variance-covariance approach)</a:t>
            </a:r>
          </a:p>
        </p:txBody>
      </p:sp>
      <p:sp>
        <p:nvSpPr>
          <p:cNvPr id="1536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EC82FF15-C29D-476B-9CF8-58F91D6BC701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/>
              <a:t>Microsoft Example </a:t>
            </a:r>
            <a:r>
              <a:rPr lang="en-US" altLang="en-US" sz="2000" dirty="0"/>
              <a:t>(Section 13.1)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We have a position worth $10 million in Microsoft shares</a:t>
            </a:r>
          </a:p>
          <a:p>
            <a:pPr eaLnBrk="1" hangingPunct="1"/>
            <a:r>
              <a:rPr lang="en-US" altLang="en-US"/>
              <a:t>The volatility of Microsoft is 2% per day (about 32% per year)</a:t>
            </a:r>
          </a:p>
          <a:p>
            <a:pPr eaLnBrk="1" hangingPunct="1"/>
            <a:r>
              <a:rPr lang="en-US" altLang="en-US"/>
              <a:t>We use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/>
              <a:t>=10 and </a:t>
            </a:r>
            <a:r>
              <a:rPr lang="en-US" altLang="en-US" i="1">
                <a:latin typeface="Times New Roman" panose="02020603050405020304" pitchFamily="18" charset="0"/>
              </a:rPr>
              <a:t>X</a:t>
            </a:r>
            <a:r>
              <a:rPr lang="en-US" altLang="en-US"/>
              <a:t>=99</a:t>
            </a:r>
          </a:p>
        </p:txBody>
      </p:sp>
      <p:sp>
        <p:nvSpPr>
          <p:cNvPr id="16389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FF13A3D8-46B4-4F3C-AF34-866B53E57E1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Microsoft Example continued</a:t>
            </a:r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 dirty="0"/>
              <a:t>The standard deviation of the change in the portfolio in 1 day is $200,000</a:t>
            </a:r>
          </a:p>
          <a:p>
            <a:pPr eaLnBrk="1" hangingPunct="1"/>
            <a:r>
              <a:rPr lang="en-US" altLang="en-US" dirty="0"/>
              <a:t>The standard deviation of the change in 10 days is 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graphicFrame>
        <p:nvGraphicFramePr>
          <p:cNvPr id="17413" name="Object 4"/>
          <p:cNvGraphicFramePr>
            <a:graphicFrameLocks/>
          </p:cNvGraphicFramePr>
          <p:nvPr/>
        </p:nvGraphicFramePr>
        <p:xfrm>
          <a:off x="2185988" y="4116388"/>
          <a:ext cx="5140325" cy="744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Equation" r:id="rId4" imgW="1486024" imgH="209468" progId="Equation.3">
                  <p:embed/>
                </p:oleObj>
              </mc:Choice>
              <mc:Fallback>
                <p:oleObj name="Equation" r:id="rId4" imgW="1486024" imgH="20946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4116388"/>
                        <a:ext cx="5140325" cy="744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F1C7EE-682A-4C91-B47E-100E307CD430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Microsoft Example </a:t>
            </a:r>
            <a:r>
              <a:rPr lang="en-US" altLang="en-US" sz="2000"/>
              <a:t>continued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00213"/>
            <a:ext cx="8229600" cy="4411662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We assume that the expected change in the value of the portfolio is zero (This is OK for short time periods)</a:t>
            </a:r>
          </a:p>
          <a:p>
            <a:pPr eaLnBrk="1" hangingPunct="1"/>
            <a:r>
              <a:rPr lang="en-US" altLang="en-US"/>
              <a:t>We assume that the change in the value of the portfolio is normally distributed</a:t>
            </a:r>
          </a:p>
          <a:p>
            <a:pPr eaLnBrk="1" hangingPunct="1"/>
            <a:r>
              <a:rPr lang="en-US" altLang="en-US"/>
              <a:t>Since </a:t>
            </a:r>
            <a:r>
              <a:rPr lang="en-US" altLang="en-US" i="1">
                <a:latin typeface="Times New Roman" panose="02020603050405020304" pitchFamily="18" charset="0"/>
              </a:rPr>
              <a:t>N</a:t>
            </a:r>
            <a:r>
              <a:rPr lang="en-US" altLang="en-US"/>
              <a:t>(</a:t>
            </a:r>
            <a:r>
              <a:rPr lang="en-US" altLang="en-US">
                <a:cs typeface="Arial" panose="020B0604020202020204" pitchFamily="34" charset="0"/>
              </a:rPr>
              <a:t>–</a:t>
            </a:r>
            <a:r>
              <a:rPr lang="en-US" altLang="en-US"/>
              <a:t>2.326)=</a:t>
            </a:r>
            <a:r>
              <a:rPr lang="en-US" altLang="en-US">
                <a:cs typeface="Arial" panose="020B0604020202020204" pitchFamily="34" charset="0"/>
              </a:rPr>
              <a:t>0.01</a:t>
            </a:r>
            <a:r>
              <a:rPr lang="en-US" altLang="en-US"/>
              <a:t>, the VaR is </a:t>
            </a:r>
          </a:p>
        </p:txBody>
      </p:sp>
      <p:graphicFrame>
        <p:nvGraphicFramePr>
          <p:cNvPr id="18437" name="Object 4"/>
          <p:cNvGraphicFramePr>
            <a:graphicFrameLocks/>
          </p:cNvGraphicFramePr>
          <p:nvPr/>
        </p:nvGraphicFramePr>
        <p:xfrm>
          <a:off x="1885950" y="5302250"/>
          <a:ext cx="4914900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1" name="Equation" r:id="rId4" imgW="1771622" imgH="171408" progId="Equation.3">
                  <p:embed/>
                </p:oleObj>
              </mc:Choice>
              <mc:Fallback>
                <p:oleObj name="Equation" r:id="rId4" imgW="1771622" imgH="17140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85950" y="5302250"/>
                        <a:ext cx="4914900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006EFFEE-5CED-4BE2-93E3-2E2EDC6DC9E4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AT&amp;T Example</a:t>
            </a:r>
          </a:p>
        </p:txBody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Consider a position of $5 million in AT&amp;T</a:t>
            </a:r>
          </a:p>
          <a:p>
            <a:pPr eaLnBrk="1" hangingPunct="1"/>
            <a:r>
              <a:rPr lang="en-US" altLang="en-US"/>
              <a:t>The daily volatility of AT&amp;T is 1% (approx 16% per year)</a:t>
            </a:r>
          </a:p>
          <a:p>
            <a:pPr eaLnBrk="1" hangingPunct="1"/>
            <a:r>
              <a:rPr lang="en-US" altLang="en-US"/>
              <a:t>The SD per 10 days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The VaR is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graphicFrame>
        <p:nvGraphicFramePr>
          <p:cNvPr id="19461" name="Object 4"/>
          <p:cNvGraphicFramePr>
            <a:graphicFrameLocks/>
          </p:cNvGraphicFramePr>
          <p:nvPr/>
        </p:nvGraphicFramePr>
        <p:xfrm>
          <a:off x="2555875" y="3973513"/>
          <a:ext cx="4032250" cy="679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4" imgW="1381017" imgH="209468" progId="Equation.3">
                  <p:embed/>
                </p:oleObj>
              </mc:Choice>
              <mc:Fallback>
                <p:oleObj name="Equation" r:id="rId4" imgW="1381017" imgH="20946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973513"/>
                        <a:ext cx="4032250" cy="679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5"/>
          <p:cNvGraphicFramePr>
            <a:graphicFrameLocks/>
          </p:cNvGraphicFramePr>
          <p:nvPr/>
        </p:nvGraphicFramePr>
        <p:xfrm>
          <a:off x="2051050" y="5229225"/>
          <a:ext cx="489743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6" imgW="1657437" imgH="171408" progId="Equation.3">
                  <p:embed/>
                </p:oleObj>
              </mc:Choice>
              <mc:Fallback>
                <p:oleObj name="Equation" r:id="rId6" imgW="1657437" imgH="17140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5229225"/>
                        <a:ext cx="489743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3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4256AC8-6F5C-4E31-854D-9E531BEF826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dirty="0"/>
              <a:t>Two-Asset Portfolio</a:t>
            </a:r>
            <a:endParaRPr lang="en-US" altLang="en-US" sz="2000" dirty="0"/>
          </a:p>
        </p:txBody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Now consider a portfolio consisting of both Microsoft and AT&amp;T</a:t>
            </a:r>
          </a:p>
          <a:p>
            <a:pPr eaLnBrk="1" hangingPunct="1"/>
            <a:r>
              <a:rPr lang="en-US" altLang="en-US"/>
              <a:t>Suppose that the correlation between the returns is 0.3</a:t>
            </a:r>
          </a:p>
        </p:txBody>
      </p:sp>
      <p:sp>
        <p:nvSpPr>
          <p:cNvPr id="20485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DFC5D79A-63FC-4690-A87F-15FC8EABE5C9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S.D. of Portfolio</a:t>
            </a:r>
          </a:p>
        </p:txBody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A standard result in statistics states that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In this case </a:t>
            </a:r>
            <a:r>
              <a:rPr lang="en-US" altLang="en-US">
                <a:latin typeface="Symbol" panose="05050102010706020507" pitchFamily="18" charset="2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X</a:t>
            </a:r>
            <a:r>
              <a:rPr lang="en-US" altLang="en-US"/>
              <a:t> = 200,000 and</a:t>
            </a:r>
            <a:r>
              <a:rPr lang="en-US" altLang="en-US">
                <a:latin typeface="Symbol" panose="05050102010706020507" pitchFamily="18" charset="2"/>
              </a:rPr>
              <a:t> s</a:t>
            </a:r>
            <a:r>
              <a:rPr lang="en-US" altLang="en-US" i="1" baseline="-25000">
                <a:latin typeface="Times New Roman" panose="02020603050405020304" pitchFamily="18" charset="0"/>
              </a:rPr>
              <a:t>Y</a:t>
            </a:r>
            <a:r>
              <a:rPr lang="en-US" altLang="en-US" baseline="-25000"/>
              <a:t> </a:t>
            </a:r>
            <a:r>
              <a:rPr lang="en-US" altLang="en-US"/>
              <a:t>= 50,000 and </a:t>
            </a:r>
            <a:r>
              <a:rPr lang="en-US" altLang="en-US">
                <a:latin typeface="Symbol" panose="05050102010706020507" pitchFamily="18" charset="2"/>
              </a:rPr>
              <a:t>r</a:t>
            </a:r>
            <a:r>
              <a:rPr lang="en-US" altLang="en-US"/>
              <a:t> = 0.3. The standard deviation of the change in the portfolio value in one day is therefore 220,200</a:t>
            </a:r>
          </a:p>
          <a:p>
            <a:pPr eaLnBrk="1" hangingPunct="1"/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algn="ctr" eaLnBrk="1" hangingPunct="1">
              <a:buFont typeface="Wingdings" panose="05000000000000000000" pitchFamily="2" charset="2"/>
              <a:buNone/>
            </a:pPr>
            <a:endParaRPr lang="en-US" altLang="en-US"/>
          </a:p>
        </p:txBody>
      </p:sp>
      <p:graphicFrame>
        <p:nvGraphicFramePr>
          <p:cNvPr id="21509" name="Object 4"/>
          <p:cNvGraphicFramePr>
            <a:graphicFrameLocks/>
          </p:cNvGraphicFramePr>
          <p:nvPr/>
        </p:nvGraphicFramePr>
        <p:xfrm>
          <a:off x="2481263" y="2681288"/>
          <a:ext cx="4103687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9" name="Equation" r:id="rId4" imgW="1695499" imgH="247529" progId="Equation.3">
                  <p:embed/>
                </p:oleObj>
              </mc:Choice>
              <mc:Fallback>
                <p:oleObj name="Equation" r:id="rId4" imgW="1695499" imgH="247529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1263" y="2681288"/>
                        <a:ext cx="4103687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4CFC044-DAB5-486A-9134-6017760802E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VaR for Portfolio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981200"/>
            <a:ext cx="8153400" cy="4114800"/>
          </a:xfrm>
          <a:noFill/>
        </p:spPr>
        <p:txBody>
          <a:bodyPr lIns="92075" tIns="46038" rIns="92075" bIns="46038"/>
          <a:lstStyle/>
          <a:p>
            <a:pPr eaLnBrk="1" hangingPunct="1"/>
            <a:r>
              <a:rPr lang="en-US" altLang="en-US"/>
              <a:t>The 10-day 99% VaR for the portfolio is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/>
          </a:p>
          <a:p>
            <a:pPr eaLnBrk="1" hangingPunct="1"/>
            <a:r>
              <a:rPr lang="en-US" altLang="en-US"/>
              <a:t>The benefits of diversification are</a:t>
            </a:r>
          </a:p>
          <a:p>
            <a:pPr algn="ctr" eaLnBrk="1" hangingPunct="1">
              <a:buFont typeface="Wingdings" panose="05000000000000000000" pitchFamily="2" charset="2"/>
              <a:buNone/>
            </a:pPr>
            <a:r>
              <a:rPr lang="en-US" altLang="en-US"/>
              <a:t>(1,471,300+367,800)</a:t>
            </a:r>
            <a:r>
              <a:rPr lang="en-US" altLang="en-US">
                <a:cs typeface="Arial" panose="020B0604020202020204" pitchFamily="34" charset="0"/>
              </a:rPr>
              <a:t>–</a:t>
            </a:r>
            <a:r>
              <a:rPr lang="en-US" altLang="en-US"/>
              <a:t>1,620,100=$219,000</a:t>
            </a:r>
          </a:p>
          <a:p>
            <a:pPr eaLnBrk="1" hangingPunct="1"/>
            <a:r>
              <a:rPr lang="en-US" altLang="en-US"/>
              <a:t>What is the incremental effect of the AT&amp;T holding on VaR?</a:t>
            </a:r>
          </a:p>
        </p:txBody>
      </p:sp>
      <p:graphicFrame>
        <p:nvGraphicFramePr>
          <p:cNvPr id="22533" name="Object 4"/>
          <p:cNvGraphicFramePr>
            <a:graphicFrameLocks/>
          </p:cNvGraphicFramePr>
          <p:nvPr/>
        </p:nvGraphicFramePr>
        <p:xfrm>
          <a:off x="1803400" y="2590800"/>
          <a:ext cx="6072188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3" name="Equation" r:id="rId4" imgW="2143061" imgH="209468" progId="Equation.3">
                  <p:embed/>
                </p:oleObj>
              </mc:Choice>
              <mc:Fallback>
                <p:oleObj name="Equation" r:id="rId4" imgW="2143061" imgH="20946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3400" y="2590800"/>
                        <a:ext cx="6072188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4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B7F7EDDE-3563-4EDF-B67D-1A4A3910CC62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ES Results (10-day 99%)</a:t>
            </a:r>
            <a:endParaRPr lang="en-CA" altLang="en-US"/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Microsoft shares: $1,687,000</a:t>
            </a:r>
          </a:p>
          <a:p>
            <a:r>
              <a:rPr lang="en-US" altLang="en-US"/>
              <a:t>AT&amp;T shares: $421,700</a:t>
            </a:r>
          </a:p>
          <a:p>
            <a:r>
              <a:rPr lang="en-US" altLang="en-US"/>
              <a:t>Portfolio: $1,857,600</a:t>
            </a:r>
            <a:endParaRPr lang="en-CA" altLang="en-US"/>
          </a:p>
        </p:txBody>
      </p:sp>
      <p:sp>
        <p:nvSpPr>
          <p:cNvPr id="23556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3557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0534546-EA69-4569-9675-1233C8CC33D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/>
              <a:t>The Linear Model</a:t>
            </a:r>
          </a:p>
        </p:txBody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We need to assume</a:t>
            </a:r>
          </a:p>
          <a:p>
            <a:pPr eaLnBrk="1" hangingPunct="1"/>
            <a:r>
              <a:rPr lang="en-US" altLang="en-US" dirty="0"/>
              <a:t>The daily change in the value of a portfolio is linearly related to the daily returns from market variables</a:t>
            </a:r>
          </a:p>
          <a:p>
            <a:pPr eaLnBrk="1" hangingPunct="1"/>
            <a:r>
              <a:rPr lang="en-US" altLang="en-US" dirty="0"/>
              <a:t>The returns from the market variables are normally distributed</a:t>
            </a:r>
          </a:p>
          <a:p>
            <a:pPr eaLnBrk="1" hangingPunct="1"/>
            <a:r>
              <a:rPr lang="en-US" altLang="en-US" dirty="0"/>
              <a:t>The market variable are referred to as risk factors</a:t>
            </a:r>
          </a:p>
        </p:txBody>
      </p:sp>
      <p:sp>
        <p:nvSpPr>
          <p:cNvPr id="2458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048CBD4-62AD-4136-9CF6-71AAADDB1B85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altLang="en-US"/>
              <a:t>Markowitz Result for Variance of Return on Portfolio</a:t>
            </a:r>
            <a:endParaRPr lang="en-US" altLang="en-US"/>
          </a:p>
        </p:txBody>
      </p:sp>
      <p:sp>
        <p:nvSpPr>
          <p:cNvPr id="2560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5604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7370A768-EE76-4EE7-82D6-3B56981FD19A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  <p:graphicFrame>
        <p:nvGraphicFramePr>
          <p:cNvPr id="25605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27143276"/>
              </p:ext>
            </p:extLst>
          </p:nvPr>
        </p:nvGraphicFramePr>
        <p:xfrm>
          <a:off x="781050" y="1668463"/>
          <a:ext cx="7304088" cy="4462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7" name="Equation" r:id="rId4" imgW="3035160" imgH="1854000" progId="Equation.DSMT4">
                  <p:embed/>
                </p:oleObj>
              </mc:Choice>
              <mc:Fallback>
                <p:oleObj name="Equation" r:id="rId4" imgW="3035160" imgH="1854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" y="1668463"/>
                        <a:ext cx="7304088" cy="4462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CA" altLang="en-US" sz="3200" dirty="0"/>
              <a:t>Similar Result for a Portfolio Linearly Dependent on </a:t>
            </a:r>
            <a:r>
              <a:rPr lang="en-CA" altLang="en-US" sz="3200" i="1" dirty="0"/>
              <a:t>n</a:t>
            </a:r>
            <a:r>
              <a:rPr lang="en-CA" altLang="en-US" sz="3200" dirty="0"/>
              <a:t> Risk Factors</a:t>
            </a:r>
            <a:endParaRPr lang="en-US" altLang="en-US" sz="3200" dirty="0"/>
          </a:p>
        </p:txBody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773238"/>
            <a:ext cx="6985000" cy="44116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dirty="0"/>
              <a:t> </a:t>
            </a:r>
          </a:p>
        </p:txBody>
      </p:sp>
      <p:graphicFrame>
        <p:nvGraphicFramePr>
          <p:cNvPr id="26629" name="Object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517735587"/>
              </p:ext>
            </p:extLst>
          </p:nvPr>
        </p:nvGraphicFramePr>
        <p:xfrm>
          <a:off x="1835696" y="1443038"/>
          <a:ext cx="3528392" cy="24180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1" name="Equation" r:id="rId4" imgW="1917360" imgH="1600200" progId="Equation.3">
                  <p:embed/>
                </p:oleObj>
              </mc:Choice>
              <mc:Fallback>
                <p:oleObj name="Equation" r:id="rId4" imgW="1917360" imgH="160020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696" y="1443038"/>
                        <a:ext cx="3528392" cy="241801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Slide Number Placeholder 6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DF382FB-BE44-44A9-A904-A2650717C583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  <p:sp>
        <p:nvSpPr>
          <p:cNvPr id="7" name="TextBox 6"/>
          <p:cNvSpPr txBox="1"/>
          <p:nvPr/>
        </p:nvSpPr>
        <p:spPr>
          <a:xfrm>
            <a:off x="614232" y="3498899"/>
            <a:ext cx="8532812" cy="261610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sz="2400" dirty="0">
                <a:latin typeface="+mn-lt"/>
              </a:rPr>
              <a:t>where: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 err="1">
                <a:latin typeface="Symbol" panose="05050102010706020507" pitchFamily="18" charset="2"/>
              </a:rPr>
              <a:t>D</a:t>
            </a:r>
            <a:r>
              <a:rPr lang="en-US" sz="2400" i="1" dirty="0" err="1">
                <a:latin typeface="+mj-lt"/>
              </a:rPr>
              <a:t>x</a:t>
            </a:r>
            <a:r>
              <a:rPr lang="en-US" sz="2400" i="1" baseline="-25000" dirty="0" err="1">
                <a:latin typeface="+mj-lt"/>
              </a:rPr>
              <a:t>i</a:t>
            </a:r>
            <a:r>
              <a:rPr lang="en-US" sz="2400" i="1" baseline="-25000" dirty="0">
                <a:latin typeface="+mj-lt"/>
              </a:rPr>
              <a:t> </a:t>
            </a:r>
            <a:r>
              <a:rPr lang="en-US" sz="2400" dirty="0">
                <a:latin typeface="+mn-lt"/>
              </a:rPr>
              <a:t> is percentage change in risk factor </a:t>
            </a:r>
            <a:r>
              <a:rPr lang="en-US" sz="2400" i="1" dirty="0" err="1">
                <a:latin typeface="+mj-lt"/>
              </a:rPr>
              <a:t>i</a:t>
            </a:r>
            <a:r>
              <a:rPr lang="en-US" sz="2400" i="1" dirty="0">
                <a:latin typeface="+mj-lt"/>
              </a:rPr>
              <a:t> </a:t>
            </a:r>
            <a:r>
              <a:rPr lang="en-US" sz="2400" dirty="0">
                <a:latin typeface="+mn-lt"/>
              </a:rPr>
              <a:t>in one day</a:t>
            </a:r>
            <a:endParaRPr lang="en-US" sz="2400" i="1" dirty="0">
              <a:latin typeface="+mn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 err="1">
                <a:latin typeface="Symbol" panose="05050102010706020507" pitchFamily="18" charset="2"/>
              </a:rPr>
              <a:t>s</a:t>
            </a:r>
            <a:r>
              <a:rPr lang="en-US" sz="2400" i="1" baseline="-25000" dirty="0" err="1">
                <a:latin typeface="+mj-lt"/>
              </a:rPr>
              <a:t>P</a:t>
            </a:r>
            <a:r>
              <a:rPr lang="en-US" sz="2400" dirty="0"/>
              <a:t> is the SD of the dollar change in the portfolio value per day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 err="1">
                <a:latin typeface="Symbol" pitchFamily="18" charset="2"/>
              </a:rPr>
              <a:t>s</a:t>
            </a:r>
            <a:r>
              <a:rPr lang="en-US" sz="2400" i="1" baseline="-25000" dirty="0" err="1">
                <a:latin typeface="+mj-lt"/>
              </a:rPr>
              <a:t>i</a:t>
            </a:r>
            <a:r>
              <a:rPr lang="en-US" sz="2400" i="1" baseline="-25000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+mn-lt"/>
              </a:rPr>
              <a:t>is the SD of </a:t>
            </a:r>
            <a:r>
              <a:rPr lang="en-US" sz="2400" dirty="0" err="1">
                <a:latin typeface="Symbol" panose="05050102010706020507" pitchFamily="18" charset="2"/>
              </a:rPr>
              <a:t>D</a:t>
            </a:r>
            <a:r>
              <a:rPr lang="en-US" sz="2400" i="1" dirty="0" err="1">
                <a:latin typeface="+mj-lt"/>
              </a:rPr>
              <a:t>x</a:t>
            </a:r>
            <a:r>
              <a:rPr lang="en-US" sz="2400" i="1" baseline="-25000" dirty="0" err="1"/>
              <a:t>i</a:t>
            </a:r>
            <a:r>
              <a:rPr lang="en-US" sz="2400" i="1" baseline="-25000" dirty="0"/>
              <a:t>  </a:t>
            </a:r>
            <a:r>
              <a:rPr lang="en-US" sz="2400" dirty="0"/>
              <a:t>(i.e., </a:t>
            </a:r>
            <a:r>
              <a:rPr lang="en-US" sz="2400" dirty="0">
                <a:latin typeface="+mn-lt"/>
              </a:rPr>
              <a:t>daily volatility of the </a:t>
            </a:r>
            <a:r>
              <a:rPr lang="en-US" sz="2400" i="1" dirty="0" err="1">
                <a:latin typeface="+mj-lt"/>
              </a:rPr>
              <a:t>i</a:t>
            </a:r>
            <a:r>
              <a:rPr lang="en-US" sz="2400" dirty="0" err="1">
                <a:latin typeface="+mn-lt"/>
              </a:rPr>
              <a:t>th</a:t>
            </a:r>
            <a:r>
              <a:rPr lang="en-US" sz="2400" dirty="0">
                <a:latin typeface="+mn-lt"/>
              </a:rPr>
              <a:t> risk factor)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>
                <a:latin typeface="Symbol" panose="05050102010706020507" pitchFamily="18" charset="2"/>
              </a:rPr>
              <a:t>d</a:t>
            </a:r>
            <a:r>
              <a:rPr lang="en-US" sz="2400" i="1" baseline="-25000" dirty="0">
                <a:latin typeface="+mj-lt"/>
              </a:rPr>
              <a:t>i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latin typeface="+mn-lt"/>
              </a:rPr>
              <a:t>is delta of portfolio with respect to a percentage change in risk factor</a:t>
            </a:r>
            <a:endParaRPr lang="en-US" sz="2000" dirty="0">
              <a:latin typeface="+mn-l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/>
          <p:cNvSpPr>
            <a:spLocks noGrp="1"/>
          </p:cNvSpPr>
          <p:nvPr>
            <p:ph type="title"/>
          </p:nvPr>
        </p:nvSpPr>
        <p:spPr>
          <a:xfrm>
            <a:off x="457200" y="500063"/>
            <a:ext cx="7543800" cy="1071562"/>
          </a:xfrm>
        </p:spPr>
        <p:txBody>
          <a:bodyPr/>
          <a:lstStyle/>
          <a:p>
            <a:r>
              <a:rPr lang="en-CA" altLang="en-US" dirty="0"/>
              <a:t>Alternative Expressions for </a:t>
            </a:r>
            <a:r>
              <a:rPr lang="en-CA" altLang="en-US" dirty="0">
                <a:latin typeface="Symbol" panose="05050102010706020507" pitchFamily="18" charset="2"/>
              </a:rPr>
              <a:t>s</a:t>
            </a:r>
            <a:r>
              <a:rPr lang="en-CA" altLang="en-US" i="1" baseline="-25000" dirty="0"/>
              <a:t>P</a:t>
            </a:r>
            <a:r>
              <a:rPr lang="en-CA" altLang="en-US" baseline="30000" dirty="0"/>
              <a:t>2  </a:t>
            </a:r>
            <a:r>
              <a:rPr lang="en-CA" altLang="en-US" dirty="0"/>
              <a:t>in terms of </a:t>
            </a:r>
            <a:r>
              <a:rPr lang="en-CA" altLang="en-US" dirty="0" err="1"/>
              <a:t>covariances</a:t>
            </a:r>
            <a:endParaRPr lang="en-US" altLang="en-US" sz="2400" dirty="0"/>
          </a:p>
        </p:txBody>
      </p:sp>
      <p:sp>
        <p:nvSpPr>
          <p:cNvPr id="28675" name="Footer Placeholder 2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821D5F0-2240-45FC-B5EF-69AAD772FB5E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  <p:graphicFrame>
        <p:nvGraphicFramePr>
          <p:cNvPr id="2867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18486972"/>
              </p:ext>
            </p:extLst>
          </p:nvPr>
        </p:nvGraphicFramePr>
        <p:xfrm>
          <a:off x="1259632" y="1700808"/>
          <a:ext cx="6169025" cy="4157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5" name="Equation" r:id="rId4" imgW="2806560" imgH="1892160" progId="Equation.DSMT4">
                  <p:embed/>
                </p:oleObj>
              </mc:Choice>
              <mc:Fallback>
                <p:oleObj name="Equation" r:id="rId4" imgW="2806560" imgH="189216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1700808"/>
                        <a:ext cx="6169025" cy="4157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Use of Actual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/>
              <a:t>For some variables such as interest rates and credit spreads it is usual to consider actual changes rather than proportional changes. The same formulas apply with the following definitions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 dirty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0FE92-6D3F-4531-B70A-12B9E52F8502}" type="slidenum">
              <a:rPr lang="en-US" altLang="en-US" smtClean="0"/>
              <a:pPr/>
              <a:t>15</a:t>
            </a:fld>
            <a:endParaRPr lang="en-US" altLang="en-US"/>
          </a:p>
        </p:txBody>
      </p:sp>
      <p:sp>
        <p:nvSpPr>
          <p:cNvPr id="6" name="Rectangle 5"/>
          <p:cNvSpPr/>
          <p:nvPr/>
        </p:nvSpPr>
        <p:spPr>
          <a:xfrm>
            <a:off x="936576" y="3429000"/>
            <a:ext cx="7091808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hangingPunct="1">
              <a:spcBef>
                <a:spcPts val="600"/>
              </a:spcBef>
              <a:defRPr/>
            </a:pPr>
            <a:r>
              <a:rPr lang="en-US" sz="2400" dirty="0" err="1">
                <a:latin typeface="Symbol" panose="05050102010706020507" pitchFamily="18" charset="2"/>
              </a:rPr>
              <a:t>D</a:t>
            </a:r>
            <a:r>
              <a:rPr lang="en-US" sz="2400" i="1" dirty="0" err="1">
                <a:latin typeface="+mj-lt"/>
              </a:rPr>
              <a:t>x</a:t>
            </a:r>
            <a:r>
              <a:rPr lang="en-US" sz="2400" i="1" baseline="-25000" dirty="0" err="1">
                <a:latin typeface="+mj-lt"/>
              </a:rPr>
              <a:t>i</a:t>
            </a:r>
            <a:r>
              <a:rPr lang="en-US" sz="2400" i="1" baseline="-25000" dirty="0"/>
              <a:t> </a:t>
            </a:r>
            <a:r>
              <a:rPr lang="en-US" sz="2400" dirty="0"/>
              <a:t> is the actual change in risk factor </a:t>
            </a:r>
            <a:r>
              <a:rPr lang="en-US" sz="2400" i="1" dirty="0" err="1">
                <a:latin typeface="+mj-lt"/>
              </a:rPr>
              <a:t>i</a:t>
            </a:r>
            <a:endParaRPr lang="en-US" sz="2400" i="1" dirty="0">
              <a:latin typeface="+mj-lt"/>
            </a:endParaRP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 err="1">
                <a:latin typeface="Symbol" pitchFamily="18" charset="2"/>
              </a:rPr>
              <a:t>s</a:t>
            </a:r>
            <a:r>
              <a:rPr lang="en-US" sz="2400" i="1" baseline="-25000" dirty="0" err="1">
                <a:latin typeface="+mj-lt"/>
              </a:rPr>
              <a:t>i</a:t>
            </a:r>
            <a:r>
              <a:rPr lang="en-US" sz="2400" i="1" baseline="-25000" dirty="0"/>
              <a:t> </a:t>
            </a:r>
            <a:r>
              <a:rPr lang="en-US" sz="2400" dirty="0"/>
              <a:t> is the standard deviation of the change in the </a:t>
            </a:r>
            <a:r>
              <a:rPr lang="en-US" sz="2400" i="1" dirty="0" err="1">
                <a:latin typeface="+mj-lt"/>
              </a:rPr>
              <a:t>i</a:t>
            </a:r>
            <a:r>
              <a:rPr lang="en-US" sz="2400" dirty="0" err="1"/>
              <a:t>th</a:t>
            </a:r>
            <a:r>
              <a:rPr lang="en-US" sz="2400" dirty="0"/>
              <a:t> risk factor</a:t>
            </a:r>
          </a:p>
          <a:p>
            <a:pPr eaLnBrk="1" hangingPunct="1">
              <a:spcBef>
                <a:spcPts val="600"/>
              </a:spcBef>
              <a:defRPr/>
            </a:pPr>
            <a:r>
              <a:rPr lang="en-US" sz="2400" dirty="0">
                <a:latin typeface="Symbol" panose="05050102010706020507" pitchFamily="18" charset="2"/>
              </a:rPr>
              <a:t>d</a:t>
            </a:r>
            <a:r>
              <a:rPr lang="en-US" sz="2400" i="1" baseline="-25000" dirty="0">
                <a:latin typeface="+mj-lt"/>
              </a:rPr>
              <a:t>i</a:t>
            </a:r>
            <a:r>
              <a:rPr lang="en-US" sz="2400" dirty="0"/>
              <a:t> is delta of portfolio with respect to the actual change in risk factor </a:t>
            </a:r>
            <a:r>
              <a:rPr lang="en-US" sz="2400" i="1" dirty="0" err="1">
                <a:latin typeface="+mj-lt"/>
              </a:rPr>
              <a:t>i</a:t>
            </a:r>
            <a:endParaRPr lang="en-US" sz="2400" i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7210066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/>
          <p:cNvSpPr>
            <a:spLocks noGrp="1"/>
          </p:cNvSpPr>
          <p:nvPr>
            <p:ph type="title"/>
          </p:nvPr>
        </p:nvSpPr>
        <p:spPr>
          <a:xfrm>
            <a:off x="323850" y="122238"/>
            <a:ext cx="7561263" cy="1295400"/>
          </a:xfrm>
        </p:spPr>
        <p:txBody>
          <a:bodyPr/>
          <a:lstStyle/>
          <a:p>
            <a:r>
              <a:rPr lang="en-US" altLang="en-US" sz="3200"/>
              <a:t>Four Index Example Using Last 500 Days of Data to Estimate Covariances</a:t>
            </a:r>
          </a:p>
        </p:txBody>
      </p:sp>
      <p:sp>
        <p:nvSpPr>
          <p:cNvPr id="29699" name="Content Placeholder 2"/>
          <p:cNvSpPr>
            <a:spLocks noGrp="1"/>
          </p:cNvSpPr>
          <p:nvPr>
            <p:ph idx="1"/>
          </p:nvPr>
        </p:nvSpPr>
        <p:spPr>
          <a:xfrm>
            <a:off x="468313" y="1700213"/>
            <a:ext cx="8229600" cy="4411662"/>
          </a:xfrm>
        </p:spPr>
        <p:txBody>
          <a:bodyPr/>
          <a:lstStyle/>
          <a:p>
            <a:pPr>
              <a:buFont typeface="Wingdings" panose="05000000000000000000" pitchFamily="2" charset="2"/>
              <a:buNone/>
            </a:pPr>
            <a:r>
              <a:rPr lang="en-US" altLang="en-US"/>
              <a:t>	</a:t>
            </a:r>
          </a:p>
        </p:txBody>
      </p:sp>
      <p:sp>
        <p:nvSpPr>
          <p:cNvPr id="29700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29701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A908BA45-AD0A-4AAC-B46C-C040D2DF54B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542953"/>
              </p:ext>
            </p:extLst>
          </p:nvPr>
        </p:nvGraphicFramePr>
        <p:xfrm>
          <a:off x="755650" y="2565400"/>
          <a:ext cx="6456363" cy="111283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1521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21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521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45" marR="91445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Equal Weight </a:t>
                      </a:r>
                    </a:p>
                  </a:txBody>
                  <a:tcPr marL="91445" marR="91445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EWMA :   </a:t>
                      </a:r>
                      <a:r>
                        <a:rPr lang="en-US" sz="1800" dirty="0">
                          <a:latin typeface="Symbol" pitchFamily="18" charset="2"/>
                        </a:rPr>
                        <a:t>l</a:t>
                      </a:r>
                      <a:r>
                        <a:rPr lang="en-US" sz="1800" dirty="0"/>
                        <a:t>=0.94</a:t>
                      </a:r>
                    </a:p>
                  </a:txBody>
                  <a:tcPr marL="91445" marR="91445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One-day 99% </a:t>
                      </a:r>
                      <a:r>
                        <a:rPr lang="en-US" sz="1800" dirty="0" err="1"/>
                        <a:t>VaR</a:t>
                      </a:r>
                      <a:endParaRPr lang="en-US" sz="1800" dirty="0"/>
                    </a:p>
                  </a:txBody>
                  <a:tcPr marL="91445" marR="91445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$279,222</a:t>
                      </a:r>
                    </a:p>
                  </a:txBody>
                  <a:tcPr marL="91445" marR="91445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$302,459</a:t>
                      </a:r>
                    </a:p>
                  </a:txBody>
                  <a:tcPr marL="91445" marR="91445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One-day 99%</a:t>
                      </a:r>
                      <a:r>
                        <a:rPr lang="en-US" sz="1800" baseline="0" dirty="0"/>
                        <a:t> ES</a:t>
                      </a:r>
                      <a:endParaRPr lang="en-US" sz="1800" dirty="0"/>
                    </a:p>
                  </a:txBody>
                  <a:tcPr marL="91445" marR="91445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$319,894</a:t>
                      </a:r>
                    </a:p>
                  </a:txBody>
                  <a:tcPr marL="91445" marR="91445" marT="45733" marB="45733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/>
                        <a:t>$346,516</a:t>
                      </a:r>
                    </a:p>
                  </a:txBody>
                  <a:tcPr marL="91445" marR="91445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Volatilities and Correlations</a:t>
            </a:r>
            <a:endParaRPr lang="en-US" altLang="en-US" sz="2000" dirty="0"/>
          </a:p>
        </p:txBody>
      </p:sp>
      <p:sp>
        <p:nvSpPr>
          <p:cNvPr id="30723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30724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88125" y="6165850"/>
            <a:ext cx="2133600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5A17D097-6F4E-48B1-9389-83BB8081DBB8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3679735"/>
              </p:ext>
            </p:extLst>
          </p:nvPr>
        </p:nvGraphicFramePr>
        <p:xfrm>
          <a:off x="1042988" y="2349500"/>
          <a:ext cx="5616575" cy="11064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21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0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21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09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81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5655">
                <a:tc>
                  <a:txBody>
                    <a:bodyPr/>
                    <a:lstStyle/>
                    <a:p>
                      <a:endParaRPr lang="en-US" sz="1800" dirty="0"/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S&amp;P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FTSE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CAC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Nikkei</a:t>
                      </a:r>
                    </a:p>
                  </a:txBody>
                  <a:tcPr marL="91439" marR="91439" marT="45668" marB="45668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r>
                        <a:rPr lang="en-US" sz="1800" dirty="0"/>
                        <a:t>Equal Weights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1.66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1.37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1.54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1.31</a:t>
                      </a:r>
                    </a:p>
                  </a:txBody>
                  <a:tcPr marL="91439" marR="91439" marT="45668" marB="45668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416">
                <a:tc>
                  <a:txBody>
                    <a:bodyPr/>
                    <a:lstStyle/>
                    <a:p>
                      <a:r>
                        <a:rPr lang="en-US" sz="1800" dirty="0"/>
                        <a:t>EWMA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1.76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1.65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1.89</a:t>
                      </a:r>
                    </a:p>
                  </a:txBody>
                  <a:tcPr marL="91439" marR="91439" marT="45668" marB="45668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1.65</a:t>
                      </a:r>
                    </a:p>
                  </a:txBody>
                  <a:tcPr marL="91439" marR="91439" marT="45668" marB="45668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0751" name="Object 4"/>
              <p:cNvSpPr txBox="1">
                <a:spLocks noGrp="1"/>
              </p:cNvSpPr>
              <p:nvPr>
                <p:ph idx="1"/>
              </p:nvPr>
            </p:nvSpPr>
            <p:spPr bwMode="auto">
              <a:xfrm>
                <a:off x="1258888" y="4365625"/>
                <a:ext cx="7104062" cy="16557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rmAutofit fontScale="47500" lnSpcReduction="20000"/>
              </a:bodyPr>
              <a:lstStyle/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CA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694</m:t>
                                </m:r>
                              </m:e>
                              <m:e>
                                <m:r>
                                  <a:rPr lang="en-CA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368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656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566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694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656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482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0.368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566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482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CA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</m:t>
                      </m:r>
                      <m:d>
                        <m:d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4"/>
                                    <m:mcJc m:val="center"/>
                                  </m:mcPr>
                                </m:mc>
                              </m:mcs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.235</m:t>
                                </m:r>
                              </m:e>
                              <m:e>
                                <m:r>
                                  <a:rPr lang="en-CA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CA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.235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.235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584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60</m:t>
                                </m:r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235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584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0.</m:t>
                                </m:r>
                                <m:r>
                                  <a:rPr lang="en-CA" b="0" i="1" smtClean="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470</m:t>
                                </m:r>
                              </m:e>
                              <m:e>
                                <m:r>
                                  <a:rPr lang="en-CA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mr>
                          </m:m>
                        </m:e>
                      </m:d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</m:t>
                      </m:r>
                    </m:oMath>
                  </m:oMathPara>
                </a14:m>
                <a:endParaRPr lang="en-CA" i="0" dirty="0">
                  <a:solidFill>
                    <a:srgbClr val="000000"/>
                  </a:solidFill>
                  <a:latin typeface="Cambria Math" panose="02040503050406030204" pitchFamily="18" charset="0"/>
                </a:endParaRPr>
              </a:p>
              <a:p>
                <a:pPr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Equal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weights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                    </m:t>
                      </m:r>
                      <m:r>
                        <m:rPr>
                          <m:nor/>
                        </m:rPr>
                        <a:rPr lang="en-CA" i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EWMA</m:t>
                      </m:r>
                    </m:oMath>
                  </m:oMathPara>
                </a14:m>
                <a:endParaRPr lang="en-CA" dirty="0"/>
              </a:p>
            </p:txBody>
          </p:sp>
        </mc:Choice>
        <mc:Fallback xmlns="">
          <p:sp>
            <p:nvSpPr>
              <p:cNvPr id="30751" name="Object 4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 bwMode="auto">
              <a:xfrm>
                <a:off x="1258888" y="4365625"/>
                <a:ext cx="7104062" cy="165576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752" name="TextBox 9"/>
          <p:cNvSpPr txBox="1">
            <a:spLocks noChangeArrowheads="1"/>
          </p:cNvSpPr>
          <p:nvPr/>
        </p:nvSpPr>
        <p:spPr bwMode="auto">
          <a:xfrm>
            <a:off x="900113" y="3860800"/>
            <a:ext cx="3240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Correlations</a:t>
            </a:r>
          </a:p>
        </p:txBody>
      </p:sp>
      <p:sp>
        <p:nvSpPr>
          <p:cNvPr id="30753" name="TextBox 10"/>
          <p:cNvSpPr txBox="1">
            <a:spLocks noChangeArrowheads="1"/>
          </p:cNvSpPr>
          <p:nvPr/>
        </p:nvSpPr>
        <p:spPr bwMode="auto">
          <a:xfrm>
            <a:off x="971550" y="1700213"/>
            <a:ext cx="29527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Volatilities (% per day)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Risk Weights and the Weighted Sensitivity Approach </a:t>
            </a:r>
            <a:r>
              <a:rPr lang="en-CA" sz="2000" dirty="0"/>
              <a:t>(Section 13.5)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800" dirty="0"/>
              <a:t>A risk measure (</a:t>
            </a:r>
            <a:r>
              <a:rPr lang="en-CA" sz="2800" dirty="0" err="1"/>
              <a:t>VaR</a:t>
            </a:r>
            <a:r>
              <a:rPr lang="en-CA" sz="2800" dirty="0"/>
              <a:t> or ES, stressed or unstressed) is a constant, </a:t>
            </a:r>
            <a:r>
              <a:rPr lang="en-CA" sz="2800" dirty="0">
                <a:latin typeface="Symbol" panose="05050102010706020507" pitchFamily="18" charset="2"/>
              </a:rPr>
              <a:t>b</a:t>
            </a:r>
            <a:r>
              <a:rPr lang="en-CA" sz="2800" dirty="0"/>
              <a:t>, multiplied by the portfolio daily SD</a:t>
            </a:r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  <a:p>
            <a:pPr marL="0" indent="0">
              <a:buNone/>
            </a:pPr>
            <a:endParaRPr lang="en-CA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en-US"/>
              <a:t>Risk Management and Financial Institutions 6e, Chapter 13,  Copyright © John C. Hull 2023</a:t>
            </a:r>
            <a:endParaRPr lang="en-US" altLang="en-US" i="0">
              <a:cs typeface="Arial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0FE92-6D3F-4531-B70A-12B9E52F8502}" type="slidenum">
              <a:rPr lang="en-US" altLang="en-US" smtClean="0"/>
              <a:pPr/>
              <a:t>18</a:t>
            </a:fld>
            <a:endParaRPr lang="en-US" alt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94628145"/>
              </p:ext>
            </p:extLst>
          </p:nvPr>
        </p:nvGraphicFramePr>
        <p:xfrm>
          <a:off x="877888" y="2932113"/>
          <a:ext cx="6242050" cy="308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" name="Equation" r:id="rId3" imgW="3390840" imgH="1676160" progId="Equation.3">
                  <p:embed/>
                </p:oleObj>
              </mc:Choice>
              <mc:Fallback>
                <p:oleObj name="Equation" r:id="rId3" imgW="3390840" imgH="1676160" progId="Equation.3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7888" y="2932113"/>
                        <a:ext cx="6242050" cy="30845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04721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500" dirty="0"/>
              <a:t>Linear Model and Gamma </a:t>
            </a:r>
            <a:br>
              <a:rPr lang="en-US" altLang="en-US" sz="3500" dirty="0"/>
            </a:br>
            <a:r>
              <a:rPr lang="en-US" altLang="en-US" sz="3500" dirty="0"/>
              <a:t> </a:t>
            </a:r>
          </a:p>
        </p:txBody>
      </p:sp>
      <p:sp>
        <p:nvSpPr>
          <p:cNvPr id="40964" name="Rectangle 3"/>
          <p:cNvSpPr>
            <a:spLocks noGrp="1" noChangeArrowheads="1"/>
          </p:cNvSpPr>
          <p:nvPr>
            <p:ph idx="1"/>
          </p:nvPr>
        </p:nvSpPr>
        <p:spPr>
          <a:xfrm>
            <a:off x="114300" y="1340768"/>
            <a:ext cx="8229600" cy="44116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800" dirty="0"/>
              <a:t>	When a portfolio contains derivatives such as options there is a gamma term and the linear model no longer applies. With one risk factor: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en-US" altLang="en-US" sz="2800" dirty="0"/>
          </a:p>
        </p:txBody>
      </p:sp>
      <p:sp>
        <p:nvSpPr>
          <p:cNvPr id="4096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Risk Management and Financial Institutions 6e, Chapter 13,  Copyright © John C. Hull 2023</a:t>
            </a:r>
            <a:endParaRPr lang="en-US" altLang="en-US" sz="1400" i="0">
              <a:cs typeface="Arial" panose="020B0604020202020204" pitchFamily="34" charset="0"/>
            </a:endParaRPr>
          </a:p>
        </p:txBody>
      </p:sp>
      <p:sp>
        <p:nvSpPr>
          <p:cNvPr id="40967" name="Slide Number Placeholder 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5CD341C-19BF-4288-9E0A-0BC5B13B9B57}" type="slidenum">
              <a:rPr lang="en-US" altLang="en-US" sz="1800"/>
              <a:pPr>
                <a:spcBef>
                  <a:spcPct val="0"/>
                </a:spcBef>
                <a:buClrTx/>
                <a:buSzTx/>
                <a:buFontTx/>
                <a:buNone/>
              </a:pPr>
              <a:t>19</a:t>
            </a:fld>
            <a:endParaRPr lang="en-US" altLang="en-US" sz="1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1"/>
              <p:cNvSpPr txBox="1"/>
              <p:nvPr/>
            </p:nvSpPr>
            <p:spPr>
              <a:xfrm>
                <a:off x="1331641" y="3213100"/>
                <a:ext cx="6008960" cy="1440036"/>
              </a:xfrm>
              <a:prstGeom prst="rect">
                <a:avLst/>
              </a:prstGeom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den>
                      </m:f>
                      <m:r>
                        <m:rPr>
                          <m:sty m:val="p"/>
                        </m:rP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f>
                        <m:f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𝜕</m:t>
                              </m:r>
                            </m:e>
                            <m:sup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num>
                        <m:den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𝜕</m:t>
                          </m:r>
                          <m:sSup>
                            <m:sSupPr>
                              <m:ctrlP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p>
                              <m:r>
                                <a:rPr lang="en-CA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Δ</m:t>
                      </m:r>
                      <m:r>
                        <a:rPr lang="en-CA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sSup>
                        <m:sSupPr>
                          <m:ctrlP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CA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CA" dirty="0"/>
              </a:p>
            </p:txBody>
          </p:sp>
        </mc:Choice>
        <mc:Fallback>
          <p:sp>
            <p:nvSpPr>
              <p:cNvPr id="2" name="Object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641" y="3213100"/>
                <a:ext cx="6008960" cy="144003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11560" y="4797152"/>
            <a:ext cx="698477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When the daily change in </a:t>
            </a:r>
            <a:r>
              <a:rPr lang="en-CA" sz="2800" i="1" dirty="0">
                <a:latin typeface="+mj-lt"/>
              </a:rPr>
              <a:t>S</a:t>
            </a:r>
            <a:r>
              <a:rPr lang="en-CA" sz="2800" dirty="0"/>
              <a:t> has a normal distribution, </a:t>
            </a:r>
            <a:r>
              <a:rPr lang="en-CA" sz="2800" dirty="0">
                <a:latin typeface="Symbol" panose="05050102010706020507" pitchFamily="18" charset="2"/>
              </a:rPr>
              <a:t>D</a:t>
            </a:r>
            <a:r>
              <a:rPr lang="en-CA" sz="2800" i="1" dirty="0">
                <a:latin typeface="+mj-lt"/>
              </a:rPr>
              <a:t>P</a:t>
            </a:r>
            <a:r>
              <a:rPr lang="en-CA" sz="2800" dirty="0"/>
              <a:t> is not normal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ullRMFICh09">
  <a:themeElements>
    <a:clrScheme name="HullRMFICh09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HullRMFICh09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HullRMFICh09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ullRMFICh09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ullRMFICh09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C8FAA1D-4A1C-4901-A30A-B4F4FCF0F2A7}"/>
</file>

<file path=customXml/itemProps2.xml><?xml version="1.0" encoding="utf-8"?>
<ds:datastoreItem xmlns:ds="http://schemas.openxmlformats.org/officeDocument/2006/customXml" ds:itemID="{E327846C-3C51-41FB-B050-A932F931E049}"/>
</file>

<file path=customXml/itemProps3.xml><?xml version="1.0" encoding="utf-8"?>
<ds:datastoreItem xmlns:ds="http://schemas.openxmlformats.org/officeDocument/2006/customXml" ds:itemID="{7CDA81A3-558A-4882-8AE1-02AADCBF8842}"/>
</file>

<file path=docProps/app.xml><?xml version="1.0" encoding="utf-8"?>
<Properties xmlns="http://schemas.openxmlformats.org/officeDocument/2006/extended-properties" xmlns:vt="http://schemas.openxmlformats.org/officeDocument/2006/docPropsVTypes">
  <Template>E:\RiskBook\slides\HullRMFICh09.ppt</Template>
  <TotalTime>1464</TotalTime>
  <Words>1052</Words>
  <Application>Microsoft Office PowerPoint</Application>
  <PresentationFormat>On-screen Show (4:3)</PresentationFormat>
  <Paragraphs>143</Paragraphs>
  <Slides>19</Slides>
  <Notes>16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Cambria Math</vt:lpstr>
      <vt:lpstr>Symbol</vt:lpstr>
      <vt:lpstr>Times New Roman</vt:lpstr>
      <vt:lpstr>Wingdings</vt:lpstr>
      <vt:lpstr>HullRMFICh09</vt:lpstr>
      <vt:lpstr>Equation</vt:lpstr>
      <vt:lpstr>MathType 7.0 Equation</vt:lpstr>
      <vt:lpstr>  </vt:lpstr>
      <vt:lpstr>The Model-Building Approach</vt:lpstr>
      <vt:lpstr>Microsoft Example (Section 13.1)</vt:lpstr>
      <vt:lpstr>Microsoft Example continued</vt:lpstr>
      <vt:lpstr>Microsoft Example continued</vt:lpstr>
      <vt:lpstr>AT&amp;T Example</vt:lpstr>
      <vt:lpstr>Two-Asset Portfolio</vt:lpstr>
      <vt:lpstr>S.D. of Portfolio</vt:lpstr>
      <vt:lpstr>VaR for Portfolio</vt:lpstr>
      <vt:lpstr>ES Results (10-day 99%)</vt:lpstr>
      <vt:lpstr>The Linear Model</vt:lpstr>
      <vt:lpstr>Markowitz Result for Variance of Return on Portfolio</vt:lpstr>
      <vt:lpstr>Similar Result for a Portfolio Linearly Dependent on n Risk Factors</vt:lpstr>
      <vt:lpstr>Alternative Expressions for sP2  in terms of covariances</vt:lpstr>
      <vt:lpstr>Use of Actual Changes</vt:lpstr>
      <vt:lpstr>Four Index Example Using Last 500 Days of Data to Estimate Covariances</vt:lpstr>
      <vt:lpstr>Volatilities and Correlations</vt:lpstr>
      <vt:lpstr>Risk Weights and the Weighted Sensitivity Approach (Section 13.5)</vt:lpstr>
      <vt:lpstr>Linear Model and Gamma   </vt:lpstr>
    </vt:vector>
  </TitlesOfParts>
  <Company>Rotman School of Management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Risk Management and Financial Institutions</dc:title>
  <dc:subject>Chapter 14</dc:subject>
  <dc:creator>John  Hull</dc:creator>
  <cp:keywords>5th Edition</cp:keywords>
  <dc:description>Copyright 2018 by John Hull._x000d_
All rights reserved.</dc:description>
  <cp:lastModifiedBy>John Hull</cp:lastModifiedBy>
  <cp:revision>104</cp:revision>
  <cp:lastPrinted>1999-07-13T16:56:59Z</cp:lastPrinted>
  <dcterms:created xsi:type="dcterms:W3CDTF">1999-07-02T23:37:50Z</dcterms:created>
  <dcterms:modified xsi:type="dcterms:W3CDTF">2022-12-01T20:00:19Z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