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entation.xml" ContentType="application/vnd.openxmlformats-officedocument.presentationml.presentation.main+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1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654" r:id="rId2"/>
  </p:sldMasterIdLst>
  <p:notesMasterIdLst>
    <p:notesMasterId r:id="rId31"/>
  </p:notesMasterIdLst>
  <p:handoutMasterIdLst>
    <p:handoutMasterId r:id="rId32"/>
  </p:handoutMasterIdLst>
  <p:sldIdLst>
    <p:sldId id="256" r:id="rId3"/>
    <p:sldId id="284" r:id="rId4"/>
    <p:sldId id="285" r:id="rId5"/>
    <p:sldId id="286" r:id="rId6"/>
    <p:sldId id="259" r:id="rId7"/>
    <p:sldId id="262" r:id="rId8"/>
    <p:sldId id="263" r:id="rId9"/>
    <p:sldId id="289" r:id="rId10"/>
    <p:sldId id="290" r:id="rId11"/>
    <p:sldId id="291" r:id="rId12"/>
    <p:sldId id="267" r:id="rId13"/>
    <p:sldId id="268" r:id="rId14"/>
    <p:sldId id="271" r:id="rId15"/>
    <p:sldId id="287" r:id="rId16"/>
    <p:sldId id="266" r:id="rId17"/>
    <p:sldId id="288" r:id="rId18"/>
    <p:sldId id="276" r:id="rId19"/>
    <p:sldId id="269" r:id="rId20"/>
    <p:sldId id="277" r:id="rId21"/>
    <p:sldId id="272" r:id="rId22"/>
    <p:sldId id="274" r:id="rId23"/>
    <p:sldId id="278" r:id="rId24"/>
    <p:sldId id="275" r:id="rId25"/>
    <p:sldId id="292" r:id="rId26"/>
    <p:sldId id="293" r:id="rId27"/>
    <p:sldId id="294" r:id="rId28"/>
    <p:sldId id="295" r:id="rId29"/>
    <p:sldId id="296" r:id="rId30"/>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2" d="100"/>
          <a:sy n="132" d="100"/>
        </p:scale>
        <p:origin x="93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1968" y="-10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ustomXml" Target="../customXml/item3.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20483"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20484"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20485"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atin typeface="Times New Roman" panose="02020603050405020304" pitchFamily="18" charset="0"/>
              </a:defRPr>
            </a:lvl1pPr>
          </a:lstStyle>
          <a:p>
            <a:pPr>
              <a:defRPr/>
            </a:pPr>
            <a:fld id="{A01601CD-9363-471C-A208-03E22E077270}" type="slidenum">
              <a:rPr lang="en-US" altLang="en-US"/>
              <a:pPr>
                <a:defRPr/>
              </a:pPr>
              <a:t>‹#›</a:t>
            </a:fld>
            <a:endParaRPr lang="en-US" altLang="en-US"/>
          </a:p>
        </p:txBody>
      </p:sp>
    </p:spTree>
    <p:extLst>
      <p:ext uri="{BB962C8B-B14F-4D97-AF65-F5344CB8AC3E}">
        <p14:creationId xmlns:p14="http://schemas.microsoft.com/office/powerpoint/2010/main" val="29797618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19459"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1"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462"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19463"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atin typeface="Times New Roman" panose="02020603050405020304" pitchFamily="18" charset="0"/>
              </a:defRPr>
            </a:lvl1pPr>
          </a:lstStyle>
          <a:p>
            <a:pPr>
              <a:defRPr/>
            </a:pPr>
            <a:fld id="{C97927B0-B09F-405A-9767-860B69FA3775}" type="slidenum">
              <a:rPr lang="en-US" altLang="en-US"/>
              <a:pPr>
                <a:defRPr/>
              </a:pPr>
              <a:t>‹#›</a:t>
            </a:fld>
            <a:endParaRPr lang="en-US" altLang="en-US"/>
          </a:p>
        </p:txBody>
      </p:sp>
    </p:spTree>
    <p:extLst>
      <p:ext uri="{BB962C8B-B14F-4D97-AF65-F5344CB8AC3E}">
        <p14:creationId xmlns:p14="http://schemas.microsoft.com/office/powerpoint/2010/main" val="1203876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p:nvPr>
        </p:nvSpPr>
        <p:spPr>
          <a:ln/>
        </p:spPr>
      </p:sp>
      <p:sp>
        <p:nvSpPr>
          <p:cNvPr id="61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89833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8277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98968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61111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143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2542660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1097943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3976706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1A929BF-7904-497B-9447-1AA7AB87241B}" type="slidenum">
              <a:rPr lang="en-US" altLang="en-US" sz="1300"/>
              <a:pPr>
                <a:spcBef>
                  <a:spcPct val="0"/>
                </a:spcBef>
              </a:pPr>
              <a:t>8</a:t>
            </a:fld>
            <a:endParaRPr lang="en-US" altLang="en-US" sz="1300"/>
          </a:p>
        </p:txBody>
      </p:sp>
    </p:spTree>
    <p:extLst>
      <p:ext uri="{BB962C8B-B14F-4D97-AF65-F5344CB8AC3E}">
        <p14:creationId xmlns:p14="http://schemas.microsoft.com/office/powerpoint/2010/main" val="1900601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79A19A6-D01D-4E7E-A702-DBDB74B1A281}" type="slidenum">
              <a:rPr lang="en-US" altLang="en-US" sz="1300"/>
              <a:pPr>
                <a:spcBef>
                  <a:spcPct val="0"/>
                </a:spcBef>
              </a:pPr>
              <a:t>9</a:t>
            </a:fld>
            <a:endParaRPr lang="en-US" altLang="en-US" sz="1300"/>
          </a:p>
        </p:txBody>
      </p:sp>
    </p:spTree>
    <p:extLst>
      <p:ext uri="{BB962C8B-B14F-4D97-AF65-F5344CB8AC3E}">
        <p14:creationId xmlns:p14="http://schemas.microsoft.com/office/powerpoint/2010/main" val="1735738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E99BF0-B53E-4AAD-8785-C699B8A8AEFC}" type="slidenum">
              <a:rPr lang="en-US" altLang="en-US" sz="1300"/>
              <a:pPr>
                <a:spcBef>
                  <a:spcPct val="0"/>
                </a:spcBef>
              </a:pPr>
              <a:t>10</a:t>
            </a:fld>
            <a:endParaRPr lang="en-US" altLang="en-US" sz="1300"/>
          </a:p>
        </p:txBody>
      </p:sp>
    </p:spTree>
    <p:extLst>
      <p:ext uri="{BB962C8B-B14F-4D97-AF65-F5344CB8AC3E}">
        <p14:creationId xmlns:p14="http://schemas.microsoft.com/office/powerpoint/2010/main" val="3473274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266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2011587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1422125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3925578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16865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2166065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046358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255905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409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3727886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51569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45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24532156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258888" y="722313"/>
            <a:ext cx="4795837" cy="3597275"/>
          </a:xfrm>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3704609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8138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1258888" y="722313"/>
            <a:ext cx="4795837" cy="3597275"/>
          </a:xfrm>
          <a:ln w="12700" cap="flat">
            <a:solidFill>
              <a:schemeClr val="tx1"/>
            </a:solidFill>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46" tIns="48473" rIns="96946" bIns="48473"/>
          <a:lstStyle/>
          <a:p>
            <a:pPr>
              <a:spcBef>
                <a:spcPct val="0"/>
              </a:spcBef>
            </a:pPr>
            <a:endParaRPr lang="en-CA" altLang="en-US" sz="2400"/>
          </a:p>
        </p:txBody>
      </p:sp>
    </p:spTree>
    <p:extLst>
      <p:ext uri="{BB962C8B-B14F-4D97-AF65-F5344CB8AC3E}">
        <p14:creationId xmlns:p14="http://schemas.microsoft.com/office/powerpoint/2010/main" val="1411391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258888" y="722313"/>
            <a:ext cx="4797425" cy="3597275"/>
          </a:xfrm>
          <a:ln w="12700" cap="flat"/>
        </p:spPr>
      </p:sp>
      <p:sp>
        <p:nvSpPr>
          <p:cNvPr id="808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332" tIns="48667" rIns="97332" bIns="48667"/>
          <a:lstStyle/>
          <a:p>
            <a:pPr eaLnBrk="1" hangingPunct="1">
              <a:spcBef>
                <a:spcPct val="0"/>
              </a:spcBef>
            </a:pPr>
            <a:endParaRPr lang="en-CA" altLang="en-US" sz="2400"/>
          </a:p>
        </p:txBody>
      </p:sp>
    </p:spTree>
    <p:extLst>
      <p:ext uri="{BB962C8B-B14F-4D97-AF65-F5344CB8AC3E}">
        <p14:creationId xmlns:p14="http://schemas.microsoft.com/office/powerpoint/2010/main" val="89935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9D997C4-2D9A-4BA4-B954-ABE9B8788D0A}" type="slidenum">
              <a:rPr lang="en-US" altLang="en-US" sz="1300"/>
              <a:pPr>
                <a:spcBef>
                  <a:spcPct val="0"/>
                </a:spcBef>
              </a:pPr>
              <a:t>25</a:t>
            </a:fld>
            <a:endParaRPr lang="en-US" altLang="en-US" sz="1300"/>
          </a:p>
        </p:txBody>
      </p:sp>
    </p:spTree>
    <p:extLst>
      <p:ext uri="{BB962C8B-B14F-4D97-AF65-F5344CB8AC3E}">
        <p14:creationId xmlns:p14="http://schemas.microsoft.com/office/powerpoint/2010/main" val="34799238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81A6D00-9956-4071-A116-792C68173D3A}" type="slidenum">
              <a:rPr lang="en-US" altLang="en-US" sz="1300"/>
              <a:pPr>
                <a:spcBef>
                  <a:spcPct val="0"/>
                </a:spcBef>
              </a:pPr>
              <a:t>26</a:t>
            </a:fld>
            <a:endParaRPr lang="en-US" altLang="en-US" sz="1300"/>
          </a:p>
        </p:txBody>
      </p:sp>
    </p:spTree>
    <p:extLst>
      <p:ext uri="{BB962C8B-B14F-4D97-AF65-F5344CB8AC3E}">
        <p14:creationId xmlns:p14="http://schemas.microsoft.com/office/powerpoint/2010/main" val="38231880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258888" y="722313"/>
            <a:ext cx="4797425" cy="3597275"/>
          </a:xfrm>
          <a:ln w="12700" cap="flat"/>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332" tIns="48667" rIns="97332" bIns="48667"/>
          <a:lstStyle/>
          <a:p>
            <a:pPr eaLnBrk="1" hangingPunct="1">
              <a:spcBef>
                <a:spcPct val="0"/>
              </a:spcBef>
            </a:pPr>
            <a:endParaRPr lang="en-CA" altLang="en-US" sz="2400"/>
          </a:p>
        </p:txBody>
      </p:sp>
    </p:spTree>
    <p:extLst>
      <p:ext uri="{BB962C8B-B14F-4D97-AF65-F5344CB8AC3E}">
        <p14:creationId xmlns:p14="http://schemas.microsoft.com/office/powerpoint/2010/main" val="36208150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258888" y="722313"/>
            <a:ext cx="4797425" cy="3597275"/>
          </a:xfrm>
          <a:ln w="12700" cap="flat"/>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332" tIns="48667" rIns="97332" bIns="48667"/>
          <a:lstStyle/>
          <a:p>
            <a:pPr eaLnBrk="1" hangingPunct="1">
              <a:spcBef>
                <a:spcPct val="0"/>
              </a:spcBef>
            </a:pPr>
            <a:endParaRPr lang="en-CA" altLang="en-US" sz="2400"/>
          </a:p>
        </p:txBody>
      </p:sp>
    </p:spTree>
    <p:extLst>
      <p:ext uri="{BB962C8B-B14F-4D97-AF65-F5344CB8AC3E}">
        <p14:creationId xmlns:p14="http://schemas.microsoft.com/office/powerpoint/2010/main" val="2695760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11"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17101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677150" cy="457200"/>
          </a:xfrm>
        </p:spPr>
        <p:txBody>
          <a:bodyPr/>
          <a:lstStyle>
            <a:lvl1pPr>
              <a:defRPr/>
            </a:lvl1pPr>
          </a:lstStyle>
          <a:p>
            <a:pPr>
              <a:defRPr/>
            </a:pPr>
            <a:r>
              <a:rPr lang="en-US" altLang="en-US"/>
              <a:t>Risk Management and Financial Institutions, 6e, Chapter 15,  Copyright © John C. Hull 2023</a:t>
            </a:r>
          </a:p>
        </p:txBody>
      </p:sp>
      <p:sp>
        <p:nvSpPr>
          <p:cNvPr id="40" name="Rectangle 7"/>
          <p:cNvSpPr>
            <a:spLocks noGrp="1" noChangeArrowheads="1"/>
          </p:cNvSpPr>
          <p:nvPr>
            <p:ph type="sldNum" sz="quarter" idx="12"/>
          </p:nvPr>
        </p:nvSpPr>
        <p:spPr>
          <a:xfrm>
            <a:off x="6553200" y="6237288"/>
            <a:ext cx="2133600" cy="468312"/>
          </a:xfrm>
        </p:spPr>
        <p:txBody>
          <a:bodyPr/>
          <a:lstStyle>
            <a:lvl1pPr>
              <a:defRPr smtClean="0"/>
            </a:lvl1pPr>
          </a:lstStyle>
          <a:p>
            <a:pPr>
              <a:defRPr/>
            </a:pPr>
            <a:fld id="{94656F94-F03C-46AA-A615-FAE56854A151}" type="slidenum">
              <a:rPr lang="en-US" altLang="en-US"/>
              <a:pPr>
                <a:defRPr/>
              </a:pPr>
              <a:t>‹#›</a:t>
            </a:fld>
            <a:endParaRPr lang="en-US" altLang="en-US"/>
          </a:p>
        </p:txBody>
      </p:sp>
    </p:spTree>
    <p:extLst>
      <p:ext uri="{BB962C8B-B14F-4D97-AF65-F5344CB8AC3E}">
        <p14:creationId xmlns:p14="http://schemas.microsoft.com/office/powerpoint/2010/main" val="4212343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6" name="Rectangle 7"/>
          <p:cNvSpPr>
            <a:spLocks noGrp="1" noChangeArrowheads="1"/>
          </p:cNvSpPr>
          <p:nvPr>
            <p:ph type="sldNum" sz="quarter" idx="12"/>
          </p:nvPr>
        </p:nvSpPr>
        <p:spPr>
          <a:ln/>
        </p:spPr>
        <p:txBody>
          <a:bodyPr/>
          <a:lstStyle>
            <a:lvl1pPr>
              <a:defRPr/>
            </a:lvl1pPr>
          </a:lstStyle>
          <a:p>
            <a:pPr>
              <a:defRPr/>
            </a:pPr>
            <a:fld id="{4502A5A2-08B7-4943-B4BA-ED952443298A}" type="slidenum">
              <a:rPr lang="en-US" altLang="en-US"/>
              <a:pPr>
                <a:defRPr/>
              </a:pPr>
              <a:t>‹#›</a:t>
            </a:fld>
            <a:endParaRPr lang="en-US" altLang="en-US"/>
          </a:p>
        </p:txBody>
      </p:sp>
    </p:spTree>
    <p:extLst>
      <p:ext uri="{BB962C8B-B14F-4D97-AF65-F5344CB8AC3E}">
        <p14:creationId xmlns:p14="http://schemas.microsoft.com/office/powerpoint/2010/main" val="968469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6" name="Rectangle 7"/>
          <p:cNvSpPr>
            <a:spLocks noGrp="1" noChangeArrowheads="1"/>
          </p:cNvSpPr>
          <p:nvPr>
            <p:ph type="sldNum" sz="quarter" idx="12"/>
          </p:nvPr>
        </p:nvSpPr>
        <p:spPr>
          <a:ln/>
        </p:spPr>
        <p:txBody>
          <a:bodyPr/>
          <a:lstStyle>
            <a:lvl1pPr>
              <a:defRPr/>
            </a:lvl1pPr>
          </a:lstStyle>
          <a:p>
            <a:pPr>
              <a:defRPr/>
            </a:pPr>
            <a:fld id="{AD29E141-1546-4455-8274-B935A9D7D35F}" type="slidenum">
              <a:rPr lang="en-US" altLang="en-US"/>
              <a:pPr>
                <a:defRPr/>
              </a:pPr>
              <a:t>‹#›</a:t>
            </a:fld>
            <a:endParaRPr lang="en-US" altLang="en-US"/>
          </a:p>
        </p:txBody>
      </p:sp>
    </p:spTree>
    <p:extLst>
      <p:ext uri="{BB962C8B-B14F-4D97-AF65-F5344CB8AC3E}">
        <p14:creationId xmlns:p14="http://schemas.microsoft.com/office/powerpoint/2010/main" val="2899024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7" name="Rectangle 7"/>
          <p:cNvSpPr>
            <a:spLocks noGrp="1" noChangeArrowheads="1"/>
          </p:cNvSpPr>
          <p:nvPr>
            <p:ph type="sldNum" sz="quarter" idx="12"/>
          </p:nvPr>
        </p:nvSpPr>
        <p:spPr>
          <a:ln/>
        </p:spPr>
        <p:txBody>
          <a:bodyPr/>
          <a:lstStyle>
            <a:lvl1pPr>
              <a:defRPr/>
            </a:lvl1pPr>
          </a:lstStyle>
          <a:p>
            <a:pPr>
              <a:defRPr/>
            </a:pPr>
            <a:fld id="{462EBC72-855B-4CE1-85CF-591A4F5FB301}" type="slidenum">
              <a:rPr lang="en-US" altLang="en-US"/>
              <a:pPr>
                <a:defRPr/>
              </a:pPr>
              <a:t>‹#›</a:t>
            </a:fld>
            <a:endParaRPr lang="en-US" altLang="en-US"/>
          </a:p>
        </p:txBody>
      </p:sp>
    </p:spTree>
    <p:extLst>
      <p:ext uri="{BB962C8B-B14F-4D97-AF65-F5344CB8AC3E}">
        <p14:creationId xmlns:p14="http://schemas.microsoft.com/office/powerpoint/2010/main" val="1286100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9" name="Rectangle 7"/>
          <p:cNvSpPr>
            <a:spLocks noGrp="1" noChangeArrowheads="1"/>
          </p:cNvSpPr>
          <p:nvPr>
            <p:ph type="sldNum" sz="quarter" idx="12"/>
          </p:nvPr>
        </p:nvSpPr>
        <p:spPr>
          <a:ln/>
        </p:spPr>
        <p:txBody>
          <a:bodyPr/>
          <a:lstStyle>
            <a:lvl1pPr>
              <a:defRPr/>
            </a:lvl1pPr>
          </a:lstStyle>
          <a:p>
            <a:pPr>
              <a:defRPr/>
            </a:pPr>
            <a:fld id="{8870500B-CC03-43C5-9E4E-5460FF7384E6}" type="slidenum">
              <a:rPr lang="en-US" altLang="en-US"/>
              <a:pPr>
                <a:defRPr/>
              </a:pPr>
              <a:t>‹#›</a:t>
            </a:fld>
            <a:endParaRPr lang="en-US" altLang="en-US"/>
          </a:p>
        </p:txBody>
      </p:sp>
    </p:spTree>
    <p:extLst>
      <p:ext uri="{BB962C8B-B14F-4D97-AF65-F5344CB8AC3E}">
        <p14:creationId xmlns:p14="http://schemas.microsoft.com/office/powerpoint/2010/main" val="2413548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5" name="Rectangle 7"/>
          <p:cNvSpPr>
            <a:spLocks noGrp="1" noChangeArrowheads="1"/>
          </p:cNvSpPr>
          <p:nvPr>
            <p:ph type="sldNum" sz="quarter" idx="12"/>
          </p:nvPr>
        </p:nvSpPr>
        <p:spPr>
          <a:ln/>
        </p:spPr>
        <p:txBody>
          <a:bodyPr/>
          <a:lstStyle>
            <a:lvl1pPr>
              <a:defRPr/>
            </a:lvl1pPr>
          </a:lstStyle>
          <a:p>
            <a:pPr>
              <a:defRPr/>
            </a:pPr>
            <a:fld id="{E1C52D83-B6D2-41ED-A904-666861B7E86F}" type="slidenum">
              <a:rPr lang="en-US" altLang="en-US"/>
              <a:pPr>
                <a:defRPr/>
              </a:pPr>
              <a:t>‹#›</a:t>
            </a:fld>
            <a:endParaRPr lang="en-US" altLang="en-US"/>
          </a:p>
        </p:txBody>
      </p:sp>
    </p:spTree>
    <p:extLst>
      <p:ext uri="{BB962C8B-B14F-4D97-AF65-F5344CB8AC3E}">
        <p14:creationId xmlns:p14="http://schemas.microsoft.com/office/powerpoint/2010/main" val="2422870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4" name="Rectangle 7"/>
          <p:cNvSpPr>
            <a:spLocks noGrp="1" noChangeArrowheads="1"/>
          </p:cNvSpPr>
          <p:nvPr>
            <p:ph type="sldNum" sz="quarter" idx="12"/>
          </p:nvPr>
        </p:nvSpPr>
        <p:spPr>
          <a:ln/>
        </p:spPr>
        <p:txBody>
          <a:bodyPr/>
          <a:lstStyle>
            <a:lvl1pPr>
              <a:defRPr/>
            </a:lvl1pPr>
          </a:lstStyle>
          <a:p>
            <a:pPr>
              <a:defRPr/>
            </a:pPr>
            <a:fld id="{17D7B38D-F71E-43FB-AADA-EE6293703B7E}" type="slidenum">
              <a:rPr lang="en-US" altLang="en-US"/>
              <a:pPr>
                <a:defRPr/>
              </a:pPr>
              <a:t>‹#›</a:t>
            </a:fld>
            <a:endParaRPr lang="en-US" altLang="en-US"/>
          </a:p>
        </p:txBody>
      </p:sp>
    </p:spTree>
    <p:extLst>
      <p:ext uri="{BB962C8B-B14F-4D97-AF65-F5344CB8AC3E}">
        <p14:creationId xmlns:p14="http://schemas.microsoft.com/office/powerpoint/2010/main" val="3467296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7" name="Rectangle 7"/>
          <p:cNvSpPr>
            <a:spLocks noGrp="1" noChangeArrowheads="1"/>
          </p:cNvSpPr>
          <p:nvPr>
            <p:ph type="sldNum" sz="quarter" idx="12"/>
          </p:nvPr>
        </p:nvSpPr>
        <p:spPr>
          <a:ln/>
        </p:spPr>
        <p:txBody>
          <a:bodyPr/>
          <a:lstStyle>
            <a:lvl1pPr>
              <a:defRPr/>
            </a:lvl1pPr>
          </a:lstStyle>
          <a:p>
            <a:pPr>
              <a:defRPr/>
            </a:pPr>
            <a:fld id="{AE7E19AA-15C1-4751-943D-00367587CC91}" type="slidenum">
              <a:rPr lang="en-US" altLang="en-US"/>
              <a:pPr>
                <a:defRPr/>
              </a:pPr>
              <a:t>‹#›</a:t>
            </a:fld>
            <a:endParaRPr lang="en-US" altLang="en-US"/>
          </a:p>
        </p:txBody>
      </p:sp>
    </p:spTree>
    <p:extLst>
      <p:ext uri="{BB962C8B-B14F-4D97-AF65-F5344CB8AC3E}">
        <p14:creationId xmlns:p14="http://schemas.microsoft.com/office/powerpoint/2010/main" val="1313496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7" name="Rectangle 7"/>
          <p:cNvSpPr>
            <a:spLocks noGrp="1" noChangeArrowheads="1"/>
          </p:cNvSpPr>
          <p:nvPr>
            <p:ph type="sldNum" sz="quarter" idx="12"/>
          </p:nvPr>
        </p:nvSpPr>
        <p:spPr>
          <a:ln/>
        </p:spPr>
        <p:txBody>
          <a:bodyPr/>
          <a:lstStyle>
            <a:lvl1pPr>
              <a:defRPr/>
            </a:lvl1pPr>
          </a:lstStyle>
          <a:p>
            <a:pPr>
              <a:defRPr/>
            </a:pPr>
            <a:fld id="{AB424AC9-D915-4AF8-9835-6462769F19EE}" type="slidenum">
              <a:rPr lang="en-US" altLang="en-US"/>
              <a:pPr>
                <a:defRPr/>
              </a:pPr>
              <a:t>‹#›</a:t>
            </a:fld>
            <a:endParaRPr lang="en-US" altLang="en-US"/>
          </a:p>
        </p:txBody>
      </p:sp>
    </p:spTree>
    <p:extLst>
      <p:ext uri="{BB962C8B-B14F-4D97-AF65-F5344CB8AC3E}">
        <p14:creationId xmlns:p14="http://schemas.microsoft.com/office/powerpoint/2010/main" val="3852957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6" name="Rectangle 7"/>
          <p:cNvSpPr>
            <a:spLocks noGrp="1" noChangeArrowheads="1"/>
          </p:cNvSpPr>
          <p:nvPr>
            <p:ph type="sldNum" sz="quarter" idx="12"/>
          </p:nvPr>
        </p:nvSpPr>
        <p:spPr>
          <a:ln/>
        </p:spPr>
        <p:txBody>
          <a:bodyPr/>
          <a:lstStyle>
            <a:lvl1pPr>
              <a:defRPr/>
            </a:lvl1pPr>
          </a:lstStyle>
          <a:p>
            <a:pPr>
              <a:defRPr/>
            </a:pPr>
            <a:fld id="{7DB83783-B6F9-4248-988D-42C0F2EB473E}" type="slidenum">
              <a:rPr lang="en-US" altLang="en-US"/>
              <a:pPr>
                <a:defRPr/>
              </a:pPr>
              <a:t>‹#›</a:t>
            </a:fld>
            <a:endParaRPr lang="en-US" altLang="en-US"/>
          </a:p>
        </p:txBody>
      </p:sp>
    </p:spTree>
    <p:extLst>
      <p:ext uri="{BB962C8B-B14F-4D97-AF65-F5344CB8AC3E}">
        <p14:creationId xmlns:p14="http://schemas.microsoft.com/office/powerpoint/2010/main" val="1610188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6" name="Rectangle 7"/>
          <p:cNvSpPr>
            <a:spLocks noGrp="1" noChangeArrowheads="1"/>
          </p:cNvSpPr>
          <p:nvPr>
            <p:ph type="sldNum" sz="quarter" idx="12"/>
          </p:nvPr>
        </p:nvSpPr>
        <p:spPr>
          <a:ln/>
        </p:spPr>
        <p:txBody>
          <a:bodyPr/>
          <a:lstStyle>
            <a:lvl1pPr>
              <a:defRPr/>
            </a:lvl1pPr>
          </a:lstStyle>
          <a:p>
            <a:pPr>
              <a:defRPr/>
            </a:pPr>
            <a:fld id="{738202B4-928D-4A59-80E3-8E720E10B96B}" type="slidenum">
              <a:rPr lang="en-US" altLang="en-US"/>
              <a:pPr>
                <a:defRPr/>
              </a:pPr>
              <a:t>‹#›</a:t>
            </a:fld>
            <a:endParaRPr lang="en-US" altLang="en-US"/>
          </a:p>
        </p:txBody>
      </p:sp>
    </p:spTree>
    <p:extLst>
      <p:ext uri="{BB962C8B-B14F-4D97-AF65-F5344CB8AC3E}">
        <p14:creationId xmlns:p14="http://schemas.microsoft.com/office/powerpoint/2010/main" val="3016779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15,  Copyright © John C. Hull 2023</a:t>
            </a:r>
          </a:p>
        </p:txBody>
      </p:sp>
      <p:sp>
        <p:nvSpPr>
          <p:cNvPr id="7" name="Rectangle 7"/>
          <p:cNvSpPr>
            <a:spLocks noGrp="1" noChangeArrowheads="1"/>
          </p:cNvSpPr>
          <p:nvPr>
            <p:ph type="sldNum" sz="quarter" idx="12"/>
          </p:nvPr>
        </p:nvSpPr>
        <p:spPr>
          <a:ln/>
        </p:spPr>
        <p:txBody>
          <a:bodyPr/>
          <a:lstStyle>
            <a:lvl1pPr>
              <a:defRPr/>
            </a:lvl1pPr>
          </a:lstStyle>
          <a:p>
            <a:pPr>
              <a:defRPr/>
            </a:pPr>
            <a:fld id="{69CB234A-5569-4CE5-AC56-4E2E5F3F6AA8}" type="slidenum">
              <a:rPr lang="en-US" altLang="en-US"/>
              <a:pPr>
                <a:defRPr/>
              </a:pPr>
              <a:t>‹#›</a:t>
            </a:fld>
            <a:endParaRPr lang="en-US" altLang="en-US"/>
          </a:p>
        </p:txBody>
      </p:sp>
    </p:spTree>
    <p:extLst>
      <p:ext uri="{BB962C8B-B14F-4D97-AF65-F5344CB8AC3E}">
        <p14:creationId xmlns:p14="http://schemas.microsoft.com/office/powerpoint/2010/main" val="33503718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15,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a:lvl1pPr>
          </a:lstStyle>
          <a:p>
            <a:fld id="{20E21316-B7CD-4DF2-B7CF-98CD87402CE6}" type="slidenum">
              <a:rPr lang="en-US" altLang="en-US"/>
              <a:pPr/>
              <a:t>‹#›</a:t>
            </a:fld>
            <a:endParaRPr lang="en-US" altLang="en-US"/>
          </a:p>
        </p:txBody>
      </p:sp>
    </p:spTree>
    <p:extLst>
      <p:ext uri="{BB962C8B-B14F-4D97-AF65-F5344CB8AC3E}">
        <p14:creationId xmlns:p14="http://schemas.microsoft.com/office/powerpoint/2010/main" val="3908210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US" altLang="en-US"/>
              <a:t>Risk Management and Financial Institutions, 6e, Chapter 15,  Copyright © John C. Hull 2023</a:t>
            </a:r>
            <a:endParaRPr lang="en-US" altLang="en-US" i="0">
              <a:cs typeface="Arial" charset="0"/>
            </a:endParaRPr>
          </a:p>
        </p:txBody>
      </p:sp>
      <p:sp>
        <p:nvSpPr>
          <p:cNvPr id="5" name="Slide Number Placeholder 4"/>
          <p:cNvSpPr>
            <a:spLocks noGrp="1"/>
          </p:cNvSpPr>
          <p:nvPr>
            <p:ph type="sldNum" sz="quarter" idx="12"/>
          </p:nvPr>
        </p:nvSpPr>
        <p:spPr/>
        <p:txBody>
          <a:bodyPr/>
          <a:lstStyle>
            <a:lvl1pPr>
              <a:defRPr/>
            </a:lvl1pPr>
          </a:lstStyle>
          <a:p>
            <a:fld id="{84EEF017-3A53-4916-916A-219D27D739A9}" type="slidenum">
              <a:rPr lang="en-US" altLang="en-US"/>
              <a:pPr/>
              <a:t>‹#›</a:t>
            </a:fld>
            <a:endParaRPr lang="en-US" altLang="en-US"/>
          </a:p>
        </p:txBody>
      </p:sp>
    </p:spTree>
    <p:extLst>
      <p:ext uri="{BB962C8B-B14F-4D97-AF65-F5344CB8AC3E}">
        <p14:creationId xmlns:p14="http://schemas.microsoft.com/office/powerpoint/2010/main" val="3144812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15,  Copyright © John C. Hull 2023</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a:lvl1pPr>
          </a:lstStyle>
          <a:p>
            <a:fld id="{9570FE92-6D3F-4531-B70A-12B9E52F8502}" type="slidenum">
              <a:rPr lang="en-US" altLang="en-US"/>
              <a:pPr/>
              <a:t>‹#›</a:t>
            </a:fld>
            <a:endParaRPr lang="en-US" altLang="en-US"/>
          </a:p>
        </p:txBody>
      </p:sp>
    </p:spTree>
    <p:extLst>
      <p:ext uri="{BB962C8B-B14F-4D97-AF65-F5344CB8AC3E}">
        <p14:creationId xmlns:p14="http://schemas.microsoft.com/office/powerpoint/2010/main" val="1969908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998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169990"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US" altLang="en-US"/>
              <a:t>Risk Management and Financial Institutions, 6e, Chapter 15,  Copyright © John C. Hull 2023</a:t>
            </a:r>
          </a:p>
        </p:txBody>
      </p:sp>
      <p:sp>
        <p:nvSpPr>
          <p:cNvPr id="169991"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smtClean="0"/>
            </a:lvl1pPr>
          </a:lstStyle>
          <a:p>
            <a:pPr>
              <a:defRPr/>
            </a:pPr>
            <a:fld id="{B7D5567A-6EA0-4CC1-94FC-4DD5D233FFAF}"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9" name="Oval 15"/>
            <p:cNvSpPr>
              <a:spLocks noChangeArrowheads="1"/>
            </p:cNvSpPr>
            <p:nvPr/>
          </p:nvSpPr>
          <p:spPr bwMode="auto">
            <a:xfrm>
              <a:off x="5472" y="1072"/>
              <a:ext cx="74"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0" name="Oval 16"/>
            <p:cNvSpPr>
              <a:spLocks noChangeArrowheads="1"/>
            </p:cNvSpPr>
            <p:nvPr/>
          </p:nvSpPr>
          <p:spPr bwMode="auto">
            <a:xfrm>
              <a:off x="5136" y="1184"/>
              <a:ext cx="80"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1" name="Oval 17"/>
            <p:cNvSpPr>
              <a:spLocks noChangeArrowheads="1"/>
            </p:cNvSpPr>
            <p:nvPr/>
          </p:nvSpPr>
          <p:spPr bwMode="auto">
            <a:xfrm>
              <a:off x="5248" y="1184"/>
              <a:ext cx="79" cy="7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2" name="Oval 18"/>
            <p:cNvSpPr>
              <a:spLocks noChangeArrowheads="1"/>
            </p:cNvSpPr>
            <p:nvPr/>
          </p:nvSpPr>
          <p:spPr bwMode="auto">
            <a:xfrm>
              <a:off x="5360" y="1184"/>
              <a:ext cx="76"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3" name="Oval 19"/>
            <p:cNvSpPr>
              <a:spLocks noChangeArrowheads="1"/>
            </p:cNvSpPr>
            <p:nvPr/>
          </p:nvSpPr>
          <p:spPr bwMode="auto">
            <a:xfrm>
              <a:off x="5472" y="1184"/>
              <a:ext cx="74" cy="74"/>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4" name="Oval 20"/>
            <p:cNvSpPr>
              <a:spLocks noChangeArrowheads="1"/>
            </p:cNvSpPr>
            <p:nvPr/>
          </p:nvSpPr>
          <p:spPr bwMode="auto">
            <a:xfrm>
              <a:off x="5584" y="1184"/>
              <a:ext cx="80" cy="7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8" name="Oval 24"/>
            <p:cNvSpPr>
              <a:spLocks noChangeArrowheads="1"/>
            </p:cNvSpPr>
            <p:nvPr/>
          </p:nvSpPr>
          <p:spPr bwMode="auto">
            <a:xfrm>
              <a:off x="5472" y="1296"/>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2" name="Oval 28"/>
            <p:cNvSpPr>
              <a:spLocks noChangeArrowheads="1"/>
            </p:cNvSpPr>
            <p:nvPr/>
          </p:nvSpPr>
          <p:spPr bwMode="auto">
            <a:xfrm>
              <a:off x="5472" y="1408"/>
              <a:ext cx="74"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7" name="Oval 33"/>
            <p:cNvSpPr>
              <a:spLocks noChangeArrowheads="1"/>
            </p:cNvSpPr>
            <p:nvPr/>
          </p:nvSpPr>
          <p:spPr bwMode="auto">
            <a:xfrm>
              <a:off x="5472" y="1520"/>
              <a:ext cx="74"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1" name="Oval 37"/>
            <p:cNvSpPr>
              <a:spLocks noChangeArrowheads="1"/>
            </p:cNvSpPr>
            <p:nvPr/>
          </p:nvSpPr>
          <p:spPr bwMode="auto">
            <a:xfrm>
              <a:off x="5472" y="1632"/>
              <a:ext cx="74"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3" name="Oval 39"/>
            <p:cNvSpPr>
              <a:spLocks noChangeArrowheads="1"/>
            </p:cNvSpPr>
            <p:nvPr/>
          </p:nvSpPr>
          <p:spPr bwMode="auto">
            <a:xfrm>
              <a:off x="5472" y="1744"/>
              <a:ext cx="74"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3814"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eaLnBrk="1" fontAlgn="base" hangingPunct="1">
        <a:spcBef>
          <a:spcPct val="0"/>
        </a:spcBef>
        <a:spcAft>
          <a:spcPct val="0"/>
        </a:spcAft>
        <a:defRPr sz="3900" b="1">
          <a:solidFill>
            <a:schemeClr val="tx2"/>
          </a:solidFill>
          <a:latin typeface="Times New Roman" pitchFamily="18" charset="0"/>
        </a:defRPr>
      </a:lvl6pPr>
      <a:lvl7pPr marL="914400" algn="l" rtl="0" eaLnBrk="1" fontAlgn="base" hangingPunct="1">
        <a:spcBef>
          <a:spcPct val="0"/>
        </a:spcBef>
        <a:spcAft>
          <a:spcPct val="0"/>
        </a:spcAft>
        <a:defRPr sz="3900" b="1">
          <a:solidFill>
            <a:schemeClr val="tx2"/>
          </a:solidFill>
          <a:latin typeface="Times New Roman" pitchFamily="18" charset="0"/>
        </a:defRPr>
      </a:lvl7pPr>
      <a:lvl8pPr marL="1371600" algn="l" rtl="0" eaLnBrk="1" fontAlgn="base" hangingPunct="1">
        <a:spcBef>
          <a:spcPct val="0"/>
        </a:spcBef>
        <a:spcAft>
          <a:spcPct val="0"/>
        </a:spcAft>
        <a:defRPr sz="3900" b="1">
          <a:solidFill>
            <a:schemeClr val="tx2"/>
          </a:solidFill>
          <a:latin typeface="Times New Roman" pitchFamily="18" charset="0"/>
        </a:defRPr>
      </a:lvl8pPr>
      <a:lvl9pPr marL="1828800" algn="l" rtl="0" eaLnBrk="1" fontAlgn="base" hangingPunct="1">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97637"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197638"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US" altLang="en-US"/>
              <a:t>Risk Management and Financial Institutions, 6e, Chapter 15,  Copyright © John C. Hull 2023</a:t>
            </a:r>
            <a:endParaRPr lang="en-US" altLang="en-US">
              <a:cs typeface="Arial" charset="0"/>
            </a:endParaRPr>
          </a:p>
        </p:txBody>
      </p:sp>
      <p:sp>
        <p:nvSpPr>
          <p:cNvPr id="197639"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lvl1pPr>
          </a:lstStyle>
          <a:p>
            <a:r>
              <a:rPr lang="en-US" altLang="en-US"/>
              <a:t>10.</a:t>
            </a:r>
            <a:fld id="{3A547925-2098-4FF5-8F59-F6AD3D5C5F6A}"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3882" r:id="rId1"/>
    <p:sldLayoutId id="2147483876" r:id="rId2"/>
    <p:sldLayoutId id="2147483872" r:id="rId3"/>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vmlDrawing" Target="../drawings/vmlDrawing3.v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5.jpeg"/></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5.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7.wmf"/><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6.wmf"/><Relationship Id="rId4"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5.xml"/><Relationship Id="rId1" Type="http://schemas.openxmlformats.org/officeDocument/2006/relationships/vmlDrawing" Target="../drawings/vmlDrawing5.vml"/><Relationship Id="rId5" Type="http://schemas.openxmlformats.org/officeDocument/2006/relationships/image" Target="../media/image8.w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pPr eaLnBrk="1" hangingPunct="1"/>
            <a:r>
              <a:rPr lang="en-US" altLang="en-US" dirty="0"/>
              <a:t>Derivatives Risk</a:t>
            </a:r>
          </a:p>
        </p:txBody>
      </p:sp>
      <p:sp>
        <p:nvSpPr>
          <p:cNvPr id="5123" name="Subtitle 6"/>
          <p:cNvSpPr>
            <a:spLocks noGrp="1"/>
          </p:cNvSpPr>
          <p:nvPr>
            <p:ph type="subTitle" idx="1"/>
          </p:nvPr>
        </p:nvSpPr>
        <p:spPr/>
        <p:txBody>
          <a:bodyPr/>
          <a:lstStyle/>
          <a:p>
            <a:pPr eaLnBrk="1" hangingPunct="1"/>
            <a:r>
              <a:rPr lang="en-US" altLang="en-US" sz="4000" dirty="0"/>
              <a:t>Chapter 15</a:t>
            </a:r>
            <a:br>
              <a:rPr lang="en-US" altLang="en-US" sz="4000" dirty="0"/>
            </a:br>
            <a:r>
              <a:rPr lang="en-CA" altLang="en-US" dirty="0">
                <a:cs typeface="Arial" panose="020B0604020202020204" pitchFamily="34" charset="0"/>
              </a:rPr>
              <a:t> </a:t>
            </a:r>
            <a:endParaRPr lang="en-US" altLang="en-US" dirty="0">
              <a:cs typeface="Arial" panose="020B0604020202020204" pitchFamily="34" charset="0"/>
            </a:endParaRPr>
          </a:p>
        </p:txBody>
      </p:sp>
      <p:sp>
        <p:nvSpPr>
          <p:cNvPr id="5124" name="Rectangle 6"/>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512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CCE29BD-8B50-45A3-9746-3A7D366E9842}" type="slidenum">
              <a:rPr lang="en-US" altLang="en-US" sz="1800"/>
              <a:pPr>
                <a:spcBef>
                  <a:spcPct val="0"/>
                </a:spcBef>
                <a:buClrTx/>
                <a:buSzTx/>
                <a:buFontTx/>
                <a:buNone/>
              </a:pPr>
              <a:t>1</a:t>
            </a:fld>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sz="3200" dirty="0"/>
              <a:t>A Trader’s Gold Portfolio. How Should Risks Be Hedged? </a:t>
            </a:r>
            <a:r>
              <a:rPr lang="en-US" altLang="en-US" sz="2400" dirty="0"/>
              <a:t>(Table 15.1)</a:t>
            </a:r>
            <a:endParaRPr lang="en-CA" altLang="en-US" sz="2400" dirty="0"/>
          </a:p>
        </p:txBody>
      </p:sp>
      <p:sp>
        <p:nvSpPr>
          <p:cNvPr id="7171" name="Rectangle 3"/>
          <p:cNvSpPr>
            <a:spLocks noGrp="1" noChangeArrowheads="1"/>
          </p:cNvSpPr>
          <p:nvPr>
            <p:ph idx="1"/>
          </p:nvPr>
        </p:nvSpPr>
        <p:spPr/>
        <p:txBody>
          <a:bodyPr/>
          <a:lstStyle/>
          <a:p>
            <a:pPr eaLnBrk="1" hangingPunct="1">
              <a:buFont typeface="Wingdings" panose="05000000000000000000" pitchFamily="2" charset="2"/>
              <a:buNone/>
            </a:pPr>
            <a:r>
              <a:rPr lang="en-US" altLang="en-US">
                <a:cs typeface="Arial" panose="020B0604020202020204" pitchFamily="34" charset="0"/>
              </a:rPr>
              <a:t> </a:t>
            </a:r>
            <a:endParaRPr lang="en-CA" altLang="en-US">
              <a:cs typeface="Arial" panose="020B0604020202020204" pitchFamily="34" charset="0"/>
            </a:endParaRPr>
          </a:p>
        </p:txBody>
      </p:sp>
      <p:sp>
        <p:nvSpPr>
          <p:cNvPr id="71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7173"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B20BBAC-C687-407A-ADCD-4A3D06578C6C}" type="slidenum">
              <a:rPr lang="en-US" altLang="en-US" sz="1800"/>
              <a:pPr>
                <a:spcBef>
                  <a:spcPct val="0"/>
                </a:spcBef>
                <a:buClrTx/>
                <a:buSzTx/>
                <a:buFontTx/>
                <a:buNone/>
              </a:pPr>
              <a:t>2</a:t>
            </a:fld>
            <a:endParaRPr lang="en-US" altLang="en-US" sz="1800"/>
          </a:p>
        </p:txBody>
      </p:sp>
      <p:graphicFrame>
        <p:nvGraphicFramePr>
          <p:cNvPr id="125005" name="Group 77"/>
          <p:cNvGraphicFramePr>
            <a:graphicFrameLocks noGrp="1"/>
          </p:cNvGraphicFramePr>
          <p:nvPr>
            <p:extLst>
              <p:ext uri="{D42A27DB-BD31-4B8C-83A1-F6EECF244321}">
                <p14:modId xmlns:p14="http://schemas.microsoft.com/office/powerpoint/2010/main" val="1566484293"/>
              </p:ext>
            </p:extLst>
          </p:nvPr>
        </p:nvGraphicFramePr>
        <p:xfrm>
          <a:off x="1571625" y="2143125"/>
          <a:ext cx="6048375" cy="3929063"/>
        </p:xfrm>
        <a:graphic>
          <a:graphicData uri="http://schemas.openxmlformats.org/drawingml/2006/table">
            <a:tbl>
              <a:tblPr/>
              <a:tblGrid>
                <a:gridCol w="3326606">
                  <a:extLst>
                    <a:ext uri="{9D8B030D-6E8A-4147-A177-3AD203B41FA5}">
                      <a16:colId xmlns:a16="http://schemas.microsoft.com/office/drawing/2014/main" val="20000"/>
                    </a:ext>
                  </a:extLst>
                </a:gridCol>
                <a:gridCol w="2721769">
                  <a:extLst>
                    <a:ext uri="{9D8B030D-6E8A-4147-A177-3AD203B41FA5}">
                      <a16:colId xmlns:a16="http://schemas.microsoft.com/office/drawing/2014/main" val="20001"/>
                    </a:ext>
                  </a:extLst>
                </a:gridCol>
              </a:tblGrid>
              <a:tr h="486822">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Position</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cap="flat">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Value ($)</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5783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Spot Gold</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cap="flat">
                      <a:noFill/>
                    </a:lnL>
                    <a:lnR>
                      <a:noFill/>
                    </a:lnR>
                    <a:lnT w="12700" cap="flat" cmpd="sng" algn="ctr">
                      <a:solidFill>
                        <a:schemeClr val="tx1"/>
                      </a:solidFill>
                      <a:prstDash val="solid"/>
                      <a:round/>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3,180,000</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a:noFill/>
                    </a:lnL>
                    <a:lnR cap="flat">
                      <a:noFill/>
                    </a:lnR>
                    <a:lnT w="12700" cap="flat" cmpd="sng" algn="ctr">
                      <a:solidFill>
                        <a:schemeClr val="tx1"/>
                      </a:solidFill>
                      <a:prstDash val="solid"/>
                      <a:round/>
                      <a:headEnd type="none" w="sm" len="sm"/>
                      <a:tailEnd type="none" w="sm" len="sm"/>
                    </a:lnT>
                    <a:lnB>
                      <a:noFill/>
                    </a:lnB>
                    <a:lnTlToBr>
                      <a:noFill/>
                    </a:lnTlToBr>
                    <a:lnBlToTr>
                      <a:noFill/>
                    </a:lnBlToTr>
                    <a:noFill/>
                  </a:tcPr>
                </a:tc>
                <a:extLst>
                  <a:ext uri="{0D108BD9-81ED-4DB2-BD59-A6C34878D82A}">
                    <a16:rowId xmlns:a16="http://schemas.microsoft.com/office/drawing/2014/main" val="10001"/>
                  </a:ext>
                </a:extLst>
              </a:tr>
              <a:tr h="45783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Forward Contracts</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a:t>
                      </a:r>
                      <a:r>
                        <a:rPr kumimoji="0" lang="en-US" sz="2400" b="0" i="0" u="none" strike="noStrike" cap="none" normalizeH="0" baseline="0" dirty="0">
                          <a:ln>
                            <a:noFill/>
                          </a:ln>
                          <a:solidFill>
                            <a:schemeClr val="tx1"/>
                          </a:solidFill>
                          <a:effectLst/>
                          <a:latin typeface="Arial" charset="0"/>
                          <a:cs typeface="Arial" charset="0"/>
                        </a:rPr>
                        <a:t>–</a:t>
                      </a:r>
                      <a:r>
                        <a:rPr kumimoji="0" lang="en-US" sz="2400" b="0" i="0" u="none" strike="noStrike" cap="none" normalizeH="0" baseline="0" dirty="0">
                          <a:ln>
                            <a:noFill/>
                          </a:ln>
                          <a:solidFill>
                            <a:schemeClr val="tx1"/>
                          </a:solidFill>
                          <a:effectLst/>
                          <a:latin typeface="Arial" charset="0"/>
                        </a:rPr>
                        <a:t> 3,060,000</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70183">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Futures Contracts</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2,000</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83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Swaps</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180,000</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8301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Options</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a:t>
                      </a:r>
                      <a:r>
                        <a:rPr kumimoji="0" lang="en-US" sz="2400" b="0" i="0" u="none" strike="noStrike" cap="none" normalizeH="0" baseline="0" dirty="0">
                          <a:ln>
                            <a:noFill/>
                          </a:ln>
                          <a:solidFill>
                            <a:schemeClr val="tx1"/>
                          </a:solidFill>
                          <a:effectLst/>
                          <a:latin typeface="Arial" charset="0"/>
                          <a:cs typeface="Arial" charset="0"/>
                        </a:rPr>
                        <a:t>– 6,</a:t>
                      </a:r>
                      <a:r>
                        <a:rPr kumimoji="0" lang="en-US" sz="2400" b="0" i="0" u="none" strike="noStrike" cap="none" normalizeH="0" baseline="0" dirty="0">
                          <a:ln>
                            <a:noFill/>
                          </a:ln>
                          <a:solidFill>
                            <a:schemeClr val="tx1"/>
                          </a:solidFill>
                          <a:effectLst/>
                          <a:latin typeface="Arial" charset="0"/>
                        </a:rPr>
                        <a:t>110,000</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99376">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Exotics</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cap="flat">
                      <a:noFill/>
                    </a:lnL>
                    <a:lnR>
                      <a:noFill/>
                    </a:lnR>
                    <a:lnT>
                      <a:noFill/>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125,000</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a:noFill/>
                    </a:lnL>
                    <a:lnR cap="flat">
                      <a:noFill/>
                    </a:lnR>
                    <a:lnT>
                      <a:noFill/>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616164">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Total</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cap="flat">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−5,683,000</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a:noFill/>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a:t>Delta</a:t>
            </a:r>
            <a:endParaRPr lang="en-CA" altLang="en-US"/>
          </a:p>
        </p:txBody>
      </p:sp>
      <p:sp>
        <p:nvSpPr>
          <p:cNvPr id="9219" name="Rectangle 3"/>
          <p:cNvSpPr>
            <a:spLocks noGrp="1" noChangeArrowheads="1"/>
          </p:cNvSpPr>
          <p:nvPr>
            <p:ph idx="1"/>
          </p:nvPr>
        </p:nvSpPr>
        <p:spPr/>
        <p:txBody>
          <a:bodyPr/>
          <a:lstStyle/>
          <a:p>
            <a:pPr eaLnBrk="1" hangingPunct="1">
              <a:lnSpc>
                <a:spcPct val="90000"/>
              </a:lnSpc>
            </a:pPr>
            <a:r>
              <a:rPr lang="en-US" altLang="en-US" sz="2400">
                <a:cs typeface="Arial" panose="020B0604020202020204" pitchFamily="34" charset="0"/>
              </a:rPr>
              <a:t>Delta of a portfolio is the partial derivative of a portfolio with respect to the price of the underlying asset (gold in this case)</a:t>
            </a:r>
          </a:p>
          <a:p>
            <a:pPr eaLnBrk="1" hangingPunct="1">
              <a:lnSpc>
                <a:spcPct val="90000"/>
              </a:lnSpc>
            </a:pPr>
            <a:r>
              <a:rPr lang="en-US" altLang="en-US" sz="2400">
                <a:cs typeface="Arial" panose="020B0604020202020204" pitchFamily="34" charset="0"/>
              </a:rPr>
              <a:t>Suppose that a $0.1 increase in the price of gold leads to the gold portfolio decreasing in value by $100</a:t>
            </a:r>
          </a:p>
          <a:p>
            <a:pPr eaLnBrk="1" hangingPunct="1">
              <a:lnSpc>
                <a:spcPct val="90000"/>
              </a:lnSpc>
            </a:pPr>
            <a:r>
              <a:rPr lang="en-US" altLang="en-US" sz="2400">
                <a:cs typeface="Arial" panose="020B0604020202020204" pitchFamily="34" charset="0"/>
              </a:rPr>
              <a:t>The delta of the portfolio is −1000</a:t>
            </a:r>
          </a:p>
          <a:p>
            <a:pPr eaLnBrk="1" hangingPunct="1">
              <a:lnSpc>
                <a:spcPct val="90000"/>
              </a:lnSpc>
            </a:pPr>
            <a:r>
              <a:rPr lang="en-US" altLang="en-US" sz="2400">
                <a:cs typeface="Arial" panose="020B0604020202020204" pitchFamily="34" charset="0"/>
              </a:rPr>
              <a:t>The portfolio could be hedged against short-term changes in the price of gold by buying 1000 ounces of gold. This is known as making the portfolio delta neutral</a:t>
            </a:r>
            <a:endParaRPr lang="en-CA" altLang="en-US" sz="2400">
              <a:cs typeface="Arial" panose="020B0604020202020204" pitchFamily="34" charset="0"/>
            </a:endParaRPr>
          </a:p>
        </p:txBody>
      </p:sp>
      <p:sp>
        <p:nvSpPr>
          <p:cNvPr id="92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92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7BFE085-D9B7-4DDD-9F24-1F67BAE1FF5A}" type="slidenum">
              <a:rPr lang="en-US" altLang="en-US" sz="1800"/>
              <a:pPr>
                <a:spcBef>
                  <a:spcPct val="0"/>
                </a:spcBef>
                <a:buClrTx/>
                <a:buSzTx/>
                <a:buFontTx/>
                <a:buNone/>
              </a:pPr>
              <a:t>3</a:t>
            </a:fld>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Linear vs Nonlinear Products</a:t>
            </a:r>
            <a:endParaRPr lang="en-CA" altLang="en-US"/>
          </a:p>
        </p:txBody>
      </p:sp>
      <p:sp>
        <p:nvSpPr>
          <p:cNvPr id="11267" name="Rectangle 3"/>
          <p:cNvSpPr>
            <a:spLocks noGrp="1" noChangeArrowheads="1"/>
          </p:cNvSpPr>
          <p:nvPr>
            <p:ph idx="1"/>
          </p:nvPr>
        </p:nvSpPr>
        <p:spPr/>
        <p:txBody>
          <a:bodyPr/>
          <a:lstStyle/>
          <a:p>
            <a:pPr eaLnBrk="1" hangingPunct="1"/>
            <a:r>
              <a:rPr lang="en-US" altLang="en-US">
                <a:cs typeface="Arial" panose="020B0604020202020204" pitchFamily="34" charset="0"/>
              </a:rPr>
              <a:t>When the price of a product is linearly dependent on the price of an underlying asset a “hedge and forget’’ strategy can be used</a:t>
            </a:r>
          </a:p>
          <a:p>
            <a:pPr eaLnBrk="1" hangingPunct="1"/>
            <a:r>
              <a:rPr lang="en-US" altLang="en-US">
                <a:cs typeface="Arial" panose="020B0604020202020204" pitchFamily="34" charset="0"/>
              </a:rPr>
              <a:t>Non-linear products require the hedge to be rebalanced to preserve delta neutrality</a:t>
            </a:r>
            <a:endParaRPr lang="en-CA" altLang="en-US">
              <a:cs typeface="Arial" panose="020B0604020202020204" pitchFamily="34" charset="0"/>
            </a:endParaRPr>
          </a:p>
        </p:txBody>
      </p:sp>
      <p:sp>
        <p:nvSpPr>
          <p:cNvPr id="112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112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5B25F7A-0B47-4A5D-9FE5-4B14BC495420}" type="slidenum">
              <a:rPr lang="en-US" altLang="en-US" sz="1800"/>
              <a:pPr>
                <a:spcBef>
                  <a:spcPct val="0"/>
                </a:spcBef>
                <a:buClrTx/>
                <a:buSzTx/>
                <a:buFontTx/>
                <a:buNone/>
              </a:pPr>
              <a:t>4</a:t>
            </a:fld>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36575" y="1000125"/>
            <a:ext cx="7772400" cy="428625"/>
          </a:xfrm>
        </p:spPr>
        <p:txBody>
          <a:bodyPr lIns="92075" tIns="46038" rIns="92075" bIns="46038"/>
          <a:lstStyle/>
          <a:p>
            <a:pPr eaLnBrk="1" hangingPunct="1"/>
            <a:r>
              <a:rPr lang="en-US" altLang="en-US" sz="4000" dirty="0"/>
              <a:t>Example of Hedging a Nonlinear Product </a:t>
            </a:r>
            <a:endParaRPr lang="en-US" altLang="en-US" sz="2800" dirty="0"/>
          </a:p>
        </p:txBody>
      </p:sp>
      <p:sp>
        <p:nvSpPr>
          <p:cNvPr id="13315" name="Rectangle 3"/>
          <p:cNvSpPr>
            <a:spLocks noGrp="1" noChangeArrowheads="1"/>
          </p:cNvSpPr>
          <p:nvPr>
            <p:ph idx="1"/>
          </p:nvPr>
        </p:nvSpPr>
        <p:spPr>
          <a:xfrm>
            <a:off x="474663" y="1785938"/>
            <a:ext cx="7878762" cy="3468687"/>
          </a:xfrm>
        </p:spPr>
        <p:txBody>
          <a:bodyPr lIns="92075" tIns="46038" rIns="92075" bIns="46038"/>
          <a:lstStyle/>
          <a:p>
            <a:pPr eaLnBrk="1" hangingPunct="1">
              <a:lnSpc>
                <a:spcPct val="90000"/>
              </a:lnSpc>
            </a:pPr>
            <a:r>
              <a:rPr lang="en-US" altLang="en-US">
                <a:cs typeface="Arial" panose="020B0604020202020204" pitchFamily="34" charset="0"/>
              </a:rPr>
              <a:t>A bank has sold for $300,000 a European call option on 100,000 shares of a nondividend paying stock</a:t>
            </a:r>
          </a:p>
          <a:p>
            <a:pPr eaLnBrk="1" hangingPunct="1">
              <a:lnSpc>
                <a:spcPct val="90000"/>
              </a:lnSpc>
            </a:pPr>
            <a:r>
              <a:rPr lang="en-US" altLang="en-US">
                <a:cs typeface="Arial" panose="020B0604020202020204" pitchFamily="34" charset="0"/>
              </a:rPr>
              <a:t> </a:t>
            </a:r>
            <a:r>
              <a:rPr lang="en-US" altLang="en-US" i="1">
                <a:latin typeface="Times New Roman" panose="02020603050405020304" pitchFamily="18" charset="0"/>
                <a:cs typeface="Arial" panose="020B0604020202020204" pitchFamily="34" charset="0"/>
              </a:rPr>
              <a:t>S</a:t>
            </a:r>
            <a:r>
              <a:rPr lang="en-US" altLang="en-US" baseline="-25000">
                <a:latin typeface="Times New Roman" panose="02020603050405020304" pitchFamily="18" charset="0"/>
                <a:cs typeface="Arial" panose="020B0604020202020204" pitchFamily="34" charset="0"/>
              </a:rPr>
              <a:t>0</a:t>
            </a:r>
            <a:r>
              <a:rPr lang="en-US" altLang="en-US">
                <a:cs typeface="Arial" panose="020B0604020202020204" pitchFamily="34" charset="0"/>
              </a:rPr>
              <a:t>  = 49,  </a:t>
            </a:r>
            <a:r>
              <a:rPr lang="en-US" altLang="en-US">
                <a:latin typeface="Times New Roman" panose="02020603050405020304" pitchFamily="18" charset="0"/>
                <a:cs typeface="Arial" panose="020B0604020202020204" pitchFamily="34" charset="0"/>
              </a:rPr>
              <a:t>  </a:t>
            </a:r>
            <a:r>
              <a:rPr lang="en-US" altLang="en-US" i="1">
                <a:latin typeface="Times New Roman" panose="02020603050405020304" pitchFamily="18" charset="0"/>
                <a:cs typeface="Arial" panose="020B0604020202020204" pitchFamily="34" charset="0"/>
              </a:rPr>
              <a:t>K </a:t>
            </a:r>
            <a:r>
              <a:rPr lang="en-US" altLang="en-US">
                <a:cs typeface="Arial" panose="020B0604020202020204" pitchFamily="34" charset="0"/>
              </a:rPr>
              <a:t> = 50,  </a:t>
            </a:r>
            <a:r>
              <a:rPr lang="en-US" altLang="en-US" i="1">
                <a:latin typeface="Times New Roman" panose="02020603050405020304" pitchFamily="18" charset="0"/>
                <a:cs typeface="Arial" panose="020B0604020202020204" pitchFamily="34" charset="0"/>
              </a:rPr>
              <a:t>r</a:t>
            </a:r>
            <a:r>
              <a:rPr lang="en-US" altLang="en-US">
                <a:cs typeface="Arial" panose="020B0604020202020204" pitchFamily="34" charset="0"/>
              </a:rPr>
              <a:t>  = 5%, </a:t>
            </a:r>
            <a:r>
              <a:rPr lang="en-US" altLang="en-US">
                <a:latin typeface="Times New Roman" panose="02020603050405020304" pitchFamily="18" charset="0"/>
                <a:cs typeface="Arial" panose="020B0604020202020204" pitchFamily="34" charset="0"/>
              </a:rPr>
              <a:t> </a:t>
            </a:r>
            <a:r>
              <a:rPr lang="en-US" altLang="en-US">
                <a:latin typeface="Symbol" panose="05050102010706020507" pitchFamily="18" charset="2"/>
                <a:cs typeface="Arial" panose="020B0604020202020204" pitchFamily="34" charset="0"/>
              </a:rPr>
              <a:t>s </a:t>
            </a:r>
            <a:r>
              <a:rPr lang="en-US" altLang="en-US">
                <a:cs typeface="Arial" panose="020B0604020202020204" pitchFamily="34" charset="0"/>
              </a:rPr>
              <a:t>= 20%,  </a:t>
            </a:r>
          </a:p>
          <a:p>
            <a:pPr eaLnBrk="1" hangingPunct="1">
              <a:lnSpc>
                <a:spcPct val="90000"/>
              </a:lnSpc>
              <a:buFont typeface="Wingdings" panose="05000000000000000000" pitchFamily="2" charset="2"/>
              <a:buNone/>
            </a:pPr>
            <a:r>
              <a:rPr lang="en-US" altLang="en-US">
                <a:cs typeface="Arial" panose="020B0604020202020204" pitchFamily="34" charset="0"/>
              </a:rPr>
              <a:t>	</a:t>
            </a:r>
            <a:r>
              <a:rPr lang="en-US" altLang="en-US" i="1">
                <a:latin typeface="Times New Roman" panose="02020603050405020304" pitchFamily="18" charset="0"/>
                <a:cs typeface="Arial" panose="020B0604020202020204" pitchFamily="34" charset="0"/>
              </a:rPr>
              <a:t>T =</a:t>
            </a:r>
            <a:r>
              <a:rPr lang="en-US" altLang="en-US">
                <a:cs typeface="Arial" panose="020B0604020202020204" pitchFamily="34" charset="0"/>
              </a:rPr>
              <a:t> 20 weeks, </a:t>
            </a:r>
            <a:r>
              <a:rPr lang="en-US" altLang="en-US">
                <a:latin typeface="Symbol" panose="05050102010706020507" pitchFamily="18" charset="2"/>
                <a:cs typeface="Arial" panose="020B0604020202020204" pitchFamily="34" charset="0"/>
              </a:rPr>
              <a:t>m </a:t>
            </a:r>
            <a:r>
              <a:rPr lang="en-US" altLang="en-US">
                <a:cs typeface="Arial" panose="020B0604020202020204" pitchFamily="34" charset="0"/>
              </a:rPr>
              <a:t>= 13%</a:t>
            </a:r>
          </a:p>
          <a:p>
            <a:pPr eaLnBrk="1" hangingPunct="1">
              <a:lnSpc>
                <a:spcPct val="90000"/>
              </a:lnSpc>
            </a:pPr>
            <a:r>
              <a:rPr lang="en-US" altLang="en-US">
                <a:cs typeface="Arial" panose="020B0604020202020204" pitchFamily="34" charset="0"/>
              </a:rPr>
              <a:t>The Black-Scholes-Merton value of the option is $240,000</a:t>
            </a:r>
          </a:p>
          <a:p>
            <a:pPr eaLnBrk="1" hangingPunct="1">
              <a:lnSpc>
                <a:spcPct val="90000"/>
              </a:lnSpc>
            </a:pPr>
            <a:r>
              <a:rPr lang="en-US" altLang="en-US">
                <a:cs typeface="Arial" panose="020B0604020202020204" pitchFamily="34" charset="0"/>
              </a:rPr>
              <a:t>How does the bank hedge its risk to lock in a $60,000 profit?</a:t>
            </a:r>
          </a:p>
        </p:txBody>
      </p:sp>
      <p:sp>
        <p:nvSpPr>
          <p:cNvPr id="1331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0AE5211-23BC-4BA4-950D-139C903528A2}" type="slidenum">
              <a:rPr lang="en-US" altLang="en-US" sz="1800"/>
              <a:pPr>
                <a:spcBef>
                  <a:spcPct val="0"/>
                </a:spcBef>
                <a:buClrTx/>
                <a:buSzTx/>
                <a:buFontTx/>
                <a:buNone/>
              </a:pPr>
              <a:t>5</a:t>
            </a:fld>
            <a:endParaRPr lang="en-US" altLang="en-US" sz="18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571500"/>
            <a:ext cx="7772400" cy="1143000"/>
          </a:xfrm>
        </p:spPr>
        <p:txBody>
          <a:bodyPr lIns="92075" tIns="46038" rIns="92075" bIns="46038"/>
          <a:lstStyle/>
          <a:p>
            <a:pPr eaLnBrk="1" hangingPunct="1"/>
            <a:r>
              <a:rPr lang="en-US" altLang="en-US"/>
              <a:t>Delta of the Option</a:t>
            </a:r>
          </a:p>
        </p:txBody>
      </p:sp>
      <p:sp>
        <p:nvSpPr>
          <p:cNvPr id="15363" name="Rectangle 3"/>
          <p:cNvSpPr>
            <a:spLocks noGrp="1" noChangeArrowheads="1"/>
          </p:cNvSpPr>
          <p:nvPr>
            <p:ph idx="1"/>
          </p:nvPr>
        </p:nvSpPr>
        <p:spPr>
          <a:xfrm>
            <a:off x="977900" y="1430338"/>
            <a:ext cx="7251700" cy="1808162"/>
          </a:xfrm>
        </p:spPr>
        <p:txBody>
          <a:bodyPr lIns="92075" tIns="46038" rIns="92075" bIns="46038"/>
          <a:lstStyle/>
          <a:p>
            <a:pPr eaLnBrk="1" hangingPunct="1">
              <a:buFont typeface="Wingdings" panose="05000000000000000000" pitchFamily="2" charset="2"/>
              <a:buNone/>
            </a:pPr>
            <a:r>
              <a:rPr lang="en-US" altLang="en-US">
                <a:cs typeface="Arial" panose="020B0604020202020204" pitchFamily="34" charset="0"/>
              </a:rPr>
              <a:t> </a:t>
            </a:r>
          </a:p>
          <a:p>
            <a:pPr eaLnBrk="1" hangingPunct="1">
              <a:buFont typeface="Wingdings" panose="05000000000000000000" pitchFamily="2" charset="2"/>
              <a:buNone/>
            </a:pPr>
            <a:r>
              <a:rPr lang="en-US" altLang="en-US">
                <a:cs typeface="Arial" panose="020B0604020202020204" pitchFamily="34" charset="0"/>
              </a:rPr>
              <a:t> </a:t>
            </a:r>
          </a:p>
        </p:txBody>
      </p:sp>
      <p:sp>
        <p:nvSpPr>
          <p:cNvPr id="1536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15365" name="Slide Number Placeholder 2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02BC470-EC31-4E57-9C6C-029021A14B0F}" type="slidenum">
              <a:rPr lang="en-US" altLang="en-US" sz="1800"/>
              <a:pPr>
                <a:spcBef>
                  <a:spcPct val="0"/>
                </a:spcBef>
                <a:buClrTx/>
                <a:buSzTx/>
                <a:buFontTx/>
                <a:buNone/>
              </a:pPr>
              <a:t>6</a:t>
            </a:fld>
            <a:endParaRPr lang="en-US" altLang="en-US" sz="1800"/>
          </a:p>
        </p:txBody>
      </p:sp>
      <p:grpSp>
        <p:nvGrpSpPr>
          <p:cNvPr id="15366" name="Group 4"/>
          <p:cNvGrpSpPr>
            <a:grpSpLocks/>
          </p:cNvGrpSpPr>
          <p:nvPr/>
        </p:nvGrpSpPr>
        <p:grpSpPr bwMode="auto">
          <a:xfrm>
            <a:off x="2025650" y="1981200"/>
            <a:ext cx="5649913" cy="3714750"/>
            <a:chOff x="1276" y="1685"/>
            <a:chExt cx="3559" cy="2167"/>
          </a:xfrm>
        </p:grpSpPr>
        <p:sp>
          <p:nvSpPr>
            <p:cNvPr id="15367" name="Rectangle 5"/>
            <p:cNvSpPr>
              <a:spLocks noChangeArrowheads="1"/>
            </p:cNvSpPr>
            <p:nvPr/>
          </p:nvSpPr>
          <p:spPr bwMode="auto">
            <a:xfrm>
              <a:off x="1337" y="1685"/>
              <a:ext cx="1011" cy="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a:t>  Option</a:t>
              </a:r>
            </a:p>
            <a:p>
              <a:pPr algn="ctr">
                <a:spcBef>
                  <a:spcPct val="0"/>
                </a:spcBef>
                <a:buClrTx/>
                <a:buSzTx/>
                <a:buFontTx/>
                <a:buNone/>
              </a:pPr>
              <a:r>
                <a:rPr lang="en-US" altLang="en-US"/>
                <a:t>price</a:t>
              </a:r>
            </a:p>
          </p:txBody>
        </p:sp>
        <p:grpSp>
          <p:nvGrpSpPr>
            <p:cNvPr id="15368" name="Group 6"/>
            <p:cNvGrpSpPr>
              <a:grpSpLocks/>
            </p:cNvGrpSpPr>
            <p:nvPr/>
          </p:nvGrpSpPr>
          <p:grpSpPr bwMode="auto">
            <a:xfrm>
              <a:off x="1276" y="1938"/>
              <a:ext cx="3559" cy="1914"/>
              <a:chOff x="1276" y="1938"/>
              <a:chExt cx="3559" cy="1914"/>
            </a:xfrm>
          </p:grpSpPr>
          <p:sp>
            <p:nvSpPr>
              <p:cNvPr id="15369" name="Line 7"/>
              <p:cNvSpPr>
                <a:spLocks noChangeShapeType="1"/>
              </p:cNvSpPr>
              <p:nvPr/>
            </p:nvSpPr>
            <p:spPr bwMode="auto">
              <a:xfrm>
                <a:off x="1494" y="1938"/>
                <a:ext cx="0" cy="1554"/>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70" name="Line 8"/>
              <p:cNvSpPr>
                <a:spLocks noChangeShapeType="1"/>
              </p:cNvSpPr>
              <p:nvPr/>
            </p:nvSpPr>
            <p:spPr bwMode="auto">
              <a:xfrm>
                <a:off x="1494" y="3492"/>
                <a:ext cx="264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nvGrpSpPr>
              <p:cNvPr id="15371" name="Group 9"/>
              <p:cNvGrpSpPr>
                <a:grpSpLocks/>
              </p:cNvGrpSpPr>
              <p:nvPr/>
            </p:nvGrpSpPr>
            <p:grpSpPr bwMode="auto">
              <a:xfrm>
                <a:off x="1494" y="2292"/>
                <a:ext cx="2533" cy="1196"/>
                <a:chOff x="1494" y="2292"/>
                <a:chExt cx="2533" cy="1196"/>
              </a:xfrm>
            </p:grpSpPr>
            <p:sp>
              <p:nvSpPr>
                <p:cNvPr id="15379" name="Freeform 10"/>
                <p:cNvSpPr>
                  <a:spLocks/>
                </p:cNvSpPr>
                <p:nvPr/>
              </p:nvSpPr>
              <p:spPr bwMode="auto">
                <a:xfrm>
                  <a:off x="1494" y="3455"/>
                  <a:ext cx="461" cy="33"/>
                </a:xfrm>
                <a:custGeom>
                  <a:avLst/>
                  <a:gdLst>
                    <a:gd name="T0" fmla="*/ 0 w 461"/>
                    <a:gd name="T1" fmla="*/ 32 h 33"/>
                    <a:gd name="T2" fmla="*/ 6 w 461"/>
                    <a:gd name="T3" fmla="*/ 30 h 33"/>
                    <a:gd name="T4" fmla="*/ 17 w 461"/>
                    <a:gd name="T5" fmla="*/ 30 h 33"/>
                    <a:gd name="T6" fmla="*/ 24 w 461"/>
                    <a:gd name="T7" fmla="*/ 28 h 33"/>
                    <a:gd name="T8" fmla="*/ 35 w 461"/>
                    <a:gd name="T9" fmla="*/ 30 h 33"/>
                    <a:gd name="T10" fmla="*/ 42 w 461"/>
                    <a:gd name="T11" fmla="*/ 28 h 33"/>
                    <a:gd name="T12" fmla="*/ 143 w 461"/>
                    <a:gd name="T13" fmla="*/ 30 h 33"/>
                    <a:gd name="T14" fmla="*/ 244 w 461"/>
                    <a:gd name="T15" fmla="*/ 28 h 33"/>
                    <a:gd name="T16" fmla="*/ 368 w 461"/>
                    <a:gd name="T17" fmla="*/ 18 h 33"/>
                    <a:gd name="T18" fmla="*/ 415 w 461"/>
                    <a:gd name="T19" fmla="*/ 7 h 33"/>
                    <a:gd name="T20" fmla="*/ 460 w 461"/>
                    <a:gd name="T21" fmla="*/ 0 h 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61"/>
                    <a:gd name="T34" fmla="*/ 0 h 33"/>
                    <a:gd name="T35" fmla="*/ 461 w 461"/>
                    <a:gd name="T36" fmla="*/ 33 h 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61" h="33">
                      <a:moveTo>
                        <a:pt x="0" y="32"/>
                      </a:moveTo>
                      <a:lnTo>
                        <a:pt x="6" y="30"/>
                      </a:lnTo>
                      <a:lnTo>
                        <a:pt x="17" y="30"/>
                      </a:lnTo>
                      <a:lnTo>
                        <a:pt x="24" y="28"/>
                      </a:lnTo>
                      <a:lnTo>
                        <a:pt x="35" y="30"/>
                      </a:lnTo>
                      <a:lnTo>
                        <a:pt x="42" y="28"/>
                      </a:lnTo>
                      <a:lnTo>
                        <a:pt x="143" y="30"/>
                      </a:lnTo>
                      <a:lnTo>
                        <a:pt x="244" y="28"/>
                      </a:lnTo>
                      <a:lnTo>
                        <a:pt x="368" y="18"/>
                      </a:lnTo>
                      <a:lnTo>
                        <a:pt x="415" y="7"/>
                      </a:lnTo>
                      <a:lnTo>
                        <a:pt x="46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0" name="Freeform 11"/>
                <p:cNvSpPr>
                  <a:spLocks/>
                </p:cNvSpPr>
                <p:nvPr/>
              </p:nvSpPr>
              <p:spPr bwMode="auto">
                <a:xfrm>
                  <a:off x="1962" y="3274"/>
                  <a:ext cx="685" cy="179"/>
                </a:xfrm>
                <a:custGeom>
                  <a:avLst/>
                  <a:gdLst>
                    <a:gd name="T0" fmla="*/ 0 w 685"/>
                    <a:gd name="T1" fmla="*/ 178 h 179"/>
                    <a:gd name="T2" fmla="*/ 204 w 685"/>
                    <a:gd name="T3" fmla="*/ 143 h 179"/>
                    <a:gd name="T4" fmla="*/ 469 w 685"/>
                    <a:gd name="T5" fmla="*/ 69 h 179"/>
                    <a:gd name="T6" fmla="*/ 684 w 685"/>
                    <a:gd name="T7" fmla="*/ 0 h 179"/>
                    <a:gd name="T8" fmla="*/ 0 60000 65536"/>
                    <a:gd name="T9" fmla="*/ 0 60000 65536"/>
                    <a:gd name="T10" fmla="*/ 0 60000 65536"/>
                    <a:gd name="T11" fmla="*/ 0 60000 65536"/>
                    <a:gd name="T12" fmla="*/ 0 w 685"/>
                    <a:gd name="T13" fmla="*/ 0 h 179"/>
                    <a:gd name="T14" fmla="*/ 685 w 685"/>
                    <a:gd name="T15" fmla="*/ 179 h 179"/>
                  </a:gdLst>
                  <a:ahLst/>
                  <a:cxnLst>
                    <a:cxn ang="T8">
                      <a:pos x="T0" y="T1"/>
                    </a:cxn>
                    <a:cxn ang="T9">
                      <a:pos x="T2" y="T3"/>
                    </a:cxn>
                    <a:cxn ang="T10">
                      <a:pos x="T4" y="T5"/>
                    </a:cxn>
                    <a:cxn ang="T11">
                      <a:pos x="T6" y="T7"/>
                    </a:cxn>
                  </a:cxnLst>
                  <a:rect l="T12" t="T13" r="T14" b="T15"/>
                  <a:pathLst>
                    <a:path w="685" h="179">
                      <a:moveTo>
                        <a:pt x="0" y="178"/>
                      </a:moveTo>
                      <a:lnTo>
                        <a:pt x="204" y="143"/>
                      </a:lnTo>
                      <a:lnTo>
                        <a:pt x="469" y="69"/>
                      </a:lnTo>
                      <a:lnTo>
                        <a:pt x="684"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1" name="Freeform 12"/>
                <p:cNvSpPr>
                  <a:spLocks/>
                </p:cNvSpPr>
                <p:nvPr/>
              </p:nvSpPr>
              <p:spPr bwMode="auto">
                <a:xfrm>
                  <a:off x="2646" y="2959"/>
                  <a:ext cx="640" cy="316"/>
                </a:xfrm>
                <a:custGeom>
                  <a:avLst/>
                  <a:gdLst>
                    <a:gd name="T0" fmla="*/ 0 w 640"/>
                    <a:gd name="T1" fmla="*/ 315 h 316"/>
                    <a:gd name="T2" fmla="*/ 220 w 640"/>
                    <a:gd name="T3" fmla="*/ 224 h 316"/>
                    <a:gd name="T4" fmla="*/ 381 w 640"/>
                    <a:gd name="T5" fmla="*/ 146 h 316"/>
                    <a:gd name="T6" fmla="*/ 639 w 640"/>
                    <a:gd name="T7" fmla="*/ 0 h 316"/>
                    <a:gd name="T8" fmla="*/ 0 60000 65536"/>
                    <a:gd name="T9" fmla="*/ 0 60000 65536"/>
                    <a:gd name="T10" fmla="*/ 0 60000 65536"/>
                    <a:gd name="T11" fmla="*/ 0 60000 65536"/>
                    <a:gd name="T12" fmla="*/ 0 w 640"/>
                    <a:gd name="T13" fmla="*/ 0 h 316"/>
                    <a:gd name="T14" fmla="*/ 640 w 640"/>
                    <a:gd name="T15" fmla="*/ 316 h 316"/>
                  </a:gdLst>
                  <a:ahLst/>
                  <a:cxnLst>
                    <a:cxn ang="T8">
                      <a:pos x="T0" y="T1"/>
                    </a:cxn>
                    <a:cxn ang="T9">
                      <a:pos x="T2" y="T3"/>
                    </a:cxn>
                    <a:cxn ang="T10">
                      <a:pos x="T4" y="T5"/>
                    </a:cxn>
                    <a:cxn ang="T11">
                      <a:pos x="T6" y="T7"/>
                    </a:cxn>
                  </a:cxnLst>
                  <a:rect l="T12" t="T13" r="T14" b="T15"/>
                  <a:pathLst>
                    <a:path w="640" h="316">
                      <a:moveTo>
                        <a:pt x="0" y="315"/>
                      </a:moveTo>
                      <a:lnTo>
                        <a:pt x="220" y="224"/>
                      </a:lnTo>
                      <a:lnTo>
                        <a:pt x="381" y="146"/>
                      </a:lnTo>
                      <a:lnTo>
                        <a:pt x="639"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2" name="Freeform 13"/>
                <p:cNvSpPr>
                  <a:spLocks/>
                </p:cNvSpPr>
                <p:nvPr/>
              </p:nvSpPr>
              <p:spPr bwMode="auto">
                <a:xfrm>
                  <a:off x="3285" y="2535"/>
                  <a:ext cx="539" cy="425"/>
                </a:xfrm>
                <a:custGeom>
                  <a:avLst/>
                  <a:gdLst>
                    <a:gd name="T0" fmla="*/ 0 w 539"/>
                    <a:gd name="T1" fmla="*/ 424 h 425"/>
                    <a:gd name="T2" fmla="*/ 210 w 539"/>
                    <a:gd name="T3" fmla="*/ 285 h 425"/>
                    <a:gd name="T4" fmla="*/ 333 w 539"/>
                    <a:gd name="T5" fmla="*/ 190 h 425"/>
                    <a:gd name="T6" fmla="*/ 467 w 539"/>
                    <a:gd name="T7" fmla="*/ 73 h 425"/>
                    <a:gd name="T8" fmla="*/ 538 w 539"/>
                    <a:gd name="T9" fmla="*/ 0 h 425"/>
                    <a:gd name="T10" fmla="*/ 0 60000 65536"/>
                    <a:gd name="T11" fmla="*/ 0 60000 65536"/>
                    <a:gd name="T12" fmla="*/ 0 60000 65536"/>
                    <a:gd name="T13" fmla="*/ 0 60000 65536"/>
                    <a:gd name="T14" fmla="*/ 0 60000 65536"/>
                    <a:gd name="T15" fmla="*/ 0 w 539"/>
                    <a:gd name="T16" fmla="*/ 0 h 425"/>
                    <a:gd name="T17" fmla="*/ 539 w 539"/>
                    <a:gd name="T18" fmla="*/ 425 h 425"/>
                  </a:gdLst>
                  <a:ahLst/>
                  <a:cxnLst>
                    <a:cxn ang="T10">
                      <a:pos x="T0" y="T1"/>
                    </a:cxn>
                    <a:cxn ang="T11">
                      <a:pos x="T2" y="T3"/>
                    </a:cxn>
                    <a:cxn ang="T12">
                      <a:pos x="T4" y="T5"/>
                    </a:cxn>
                    <a:cxn ang="T13">
                      <a:pos x="T6" y="T7"/>
                    </a:cxn>
                    <a:cxn ang="T14">
                      <a:pos x="T8" y="T9"/>
                    </a:cxn>
                  </a:cxnLst>
                  <a:rect l="T15" t="T16" r="T17" b="T18"/>
                  <a:pathLst>
                    <a:path w="539" h="425">
                      <a:moveTo>
                        <a:pt x="0" y="424"/>
                      </a:moveTo>
                      <a:lnTo>
                        <a:pt x="210" y="285"/>
                      </a:lnTo>
                      <a:lnTo>
                        <a:pt x="333" y="190"/>
                      </a:lnTo>
                      <a:lnTo>
                        <a:pt x="467" y="73"/>
                      </a:lnTo>
                      <a:lnTo>
                        <a:pt x="538"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83" name="Freeform 14"/>
                <p:cNvSpPr>
                  <a:spLocks/>
                </p:cNvSpPr>
                <p:nvPr/>
              </p:nvSpPr>
              <p:spPr bwMode="auto">
                <a:xfrm>
                  <a:off x="3823" y="2292"/>
                  <a:ext cx="204" cy="244"/>
                </a:xfrm>
                <a:custGeom>
                  <a:avLst/>
                  <a:gdLst>
                    <a:gd name="T0" fmla="*/ 0 w 204"/>
                    <a:gd name="T1" fmla="*/ 243 h 244"/>
                    <a:gd name="T2" fmla="*/ 54 w 204"/>
                    <a:gd name="T3" fmla="*/ 191 h 244"/>
                    <a:gd name="T4" fmla="*/ 107 w 204"/>
                    <a:gd name="T5" fmla="*/ 130 h 244"/>
                    <a:gd name="T6" fmla="*/ 161 w 204"/>
                    <a:gd name="T7" fmla="*/ 60 h 244"/>
                    <a:gd name="T8" fmla="*/ 203 w 204"/>
                    <a:gd name="T9" fmla="*/ 0 h 244"/>
                    <a:gd name="T10" fmla="*/ 0 60000 65536"/>
                    <a:gd name="T11" fmla="*/ 0 60000 65536"/>
                    <a:gd name="T12" fmla="*/ 0 60000 65536"/>
                    <a:gd name="T13" fmla="*/ 0 60000 65536"/>
                    <a:gd name="T14" fmla="*/ 0 60000 65536"/>
                    <a:gd name="T15" fmla="*/ 0 w 204"/>
                    <a:gd name="T16" fmla="*/ 0 h 244"/>
                    <a:gd name="T17" fmla="*/ 204 w 204"/>
                    <a:gd name="T18" fmla="*/ 244 h 244"/>
                  </a:gdLst>
                  <a:ahLst/>
                  <a:cxnLst>
                    <a:cxn ang="T10">
                      <a:pos x="T0" y="T1"/>
                    </a:cxn>
                    <a:cxn ang="T11">
                      <a:pos x="T2" y="T3"/>
                    </a:cxn>
                    <a:cxn ang="T12">
                      <a:pos x="T4" y="T5"/>
                    </a:cxn>
                    <a:cxn ang="T13">
                      <a:pos x="T6" y="T7"/>
                    </a:cxn>
                    <a:cxn ang="T14">
                      <a:pos x="T8" y="T9"/>
                    </a:cxn>
                  </a:cxnLst>
                  <a:rect l="T15" t="T16" r="T17" b="T18"/>
                  <a:pathLst>
                    <a:path w="204" h="244">
                      <a:moveTo>
                        <a:pt x="0" y="243"/>
                      </a:moveTo>
                      <a:lnTo>
                        <a:pt x="54" y="191"/>
                      </a:lnTo>
                      <a:lnTo>
                        <a:pt x="107" y="130"/>
                      </a:lnTo>
                      <a:lnTo>
                        <a:pt x="161" y="60"/>
                      </a:lnTo>
                      <a:lnTo>
                        <a:pt x="203"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5372" name="Freeform 15"/>
              <p:cNvSpPr>
                <a:spLocks/>
              </p:cNvSpPr>
              <p:nvPr/>
            </p:nvSpPr>
            <p:spPr bwMode="auto">
              <a:xfrm>
                <a:off x="2190" y="2812"/>
                <a:ext cx="1561" cy="675"/>
              </a:xfrm>
              <a:custGeom>
                <a:avLst/>
                <a:gdLst>
                  <a:gd name="T0" fmla="*/ 0 w 1561"/>
                  <a:gd name="T1" fmla="*/ 674 h 675"/>
                  <a:gd name="T2" fmla="*/ 1560 w 1561"/>
                  <a:gd name="T3" fmla="*/ 0 h 675"/>
                  <a:gd name="T4" fmla="*/ 0 60000 65536"/>
                  <a:gd name="T5" fmla="*/ 0 60000 65536"/>
                  <a:gd name="T6" fmla="*/ 0 w 1561"/>
                  <a:gd name="T7" fmla="*/ 0 h 675"/>
                  <a:gd name="T8" fmla="*/ 1561 w 1561"/>
                  <a:gd name="T9" fmla="*/ 675 h 675"/>
                </a:gdLst>
                <a:ahLst/>
                <a:cxnLst>
                  <a:cxn ang="T4">
                    <a:pos x="T0" y="T1"/>
                  </a:cxn>
                  <a:cxn ang="T5">
                    <a:pos x="T2" y="T3"/>
                  </a:cxn>
                </a:cxnLst>
                <a:rect l="T6" t="T7" r="T8" b="T9"/>
                <a:pathLst>
                  <a:path w="1561" h="675">
                    <a:moveTo>
                      <a:pt x="0" y="674"/>
                    </a:moveTo>
                    <a:lnTo>
                      <a:pt x="156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3" name="Line 16"/>
              <p:cNvSpPr>
                <a:spLocks noChangeShapeType="1"/>
              </p:cNvSpPr>
              <p:nvPr/>
            </p:nvSpPr>
            <p:spPr bwMode="auto">
              <a:xfrm>
                <a:off x="2838" y="3201"/>
                <a:ext cx="0" cy="291"/>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74" name="Line 17"/>
              <p:cNvSpPr>
                <a:spLocks noChangeShapeType="1"/>
              </p:cNvSpPr>
              <p:nvPr/>
            </p:nvSpPr>
            <p:spPr bwMode="auto">
              <a:xfrm flipH="1">
                <a:off x="1494" y="3208"/>
                <a:ext cx="1344"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75" name="Rectangle 18"/>
              <p:cNvSpPr>
                <a:spLocks noChangeArrowheads="1"/>
              </p:cNvSpPr>
              <p:nvPr/>
            </p:nvSpPr>
            <p:spPr bwMode="auto">
              <a:xfrm>
                <a:off x="2732" y="3514"/>
                <a:ext cx="28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A</a:t>
                </a:r>
              </a:p>
            </p:txBody>
          </p:sp>
          <p:sp>
            <p:nvSpPr>
              <p:cNvPr id="15376" name="Rectangle 19"/>
              <p:cNvSpPr>
                <a:spLocks noChangeArrowheads="1"/>
              </p:cNvSpPr>
              <p:nvPr/>
            </p:nvSpPr>
            <p:spPr bwMode="auto">
              <a:xfrm>
                <a:off x="1276" y="3024"/>
                <a:ext cx="28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B</a:t>
                </a:r>
              </a:p>
            </p:txBody>
          </p:sp>
          <p:sp>
            <p:nvSpPr>
              <p:cNvPr id="15377" name="Rectangle 20"/>
              <p:cNvSpPr>
                <a:spLocks noChangeArrowheads="1"/>
              </p:cNvSpPr>
              <p:nvPr/>
            </p:nvSpPr>
            <p:spPr bwMode="auto">
              <a:xfrm>
                <a:off x="3616" y="2847"/>
                <a:ext cx="121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Slope = </a:t>
                </a:r>
                <a:r>
                  <a:rPr lang="en-US" altLang="en-US">
                    <a:latin typeface="Symbol" panose="05050102010706020507" pitchFamily="18" charset="2"/>
                  </a:rPr>
                  <a:t>D</a:t>
                </a:r>
              </a:p>
            </p:txBody>
          </p:sp>
          <p:sp>
            <p:nvSpPr>
              <p:cNvPr id="15378" name="Rectangle 21"/>
              <p:cNvSpPr>
                <a:spLocks noChangeArrowheads="1"/>
              </p:cNvSpPr>
              <p:nvPr/>
            </p:nvSpPr>
            <p:spPr bwMode="auto">
              <a:xfrm>
                <a:off x="3292" y="3496"/>
                <a:ext cx="138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a:t>Stock price</a:t>
                </a:r>
              </a:p>
            </p:txBody>
          </p:sp>
        </p:gr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428625"/>
            <a:ext cx="7772400" cy="785813"/>
          </a:xfrm>
        </p:spPr>
        <p:txBody>
          <a:bodyPr lIns="92075" tIns="46038" rIns="92075" bIns="46038"/>
          <a:lstStyle/>
          <a:p>
            <a:pPr eaLnBrk="1" hangingPunct="1"/>
            <a:r>
              <a:rPr lang="en-US" altLang="en-US"/>
              <a:t>Delta Hedging</a:t>
            </a:r>
          </a:p>
        </p:txBody>
      </p:sp>
      <p:sp>
        <p:nvSpPr>
          <p:cNvPr id="17411" name="Rectangle 3"/>
          <p:cNvSpPr>
            <a:spLocks noGrp="1" noChangeArrowheads="1"/>
          </p:cNvSpPr>
          <p:nvPr>
            <p:ph idx="1"/>
          </p:nvPr>
        </p:nvSpPr>
        <p:spPr>
          <a:xfrm>
            <a:off x="914400" y="1676400"/>
            <a:ext cx="7543800" cy="4097338"/>
          </a:xfrm>
        </p:spPr>
        <p:txBody>
          <a:bodyPr lIns="92075" tIns="46038" rIns="92075" bIns="46038"/>
          <a:lstStyle/>
          <a:p>
            <a:pPr eaLnBrk="1" hangingPunct="1">
              <a:lnSpc>
                <a:spcPct val="90000"/>
              </a:lnSpc>
            </a:pPr>
            <a:r>
              <a:rPr lang="en-US" altLang="en-US" sz="2800" dirty="0">
                <a:cs typeface="Arial" panose="020B0604020202020204" pitchFamily="34" charset="0"/>
              </a:rPr>
              <a:t>Initially the delta of the option is 0.522</a:t>
            </a:r>
          </a:p>
          <a:p>
            <a:pPr eaLnBrk="1" hangingPunct="1">
              <a:lnSpc>
                <a:spcPct val="90000"/>
              </a:lnSpc>
            </a:pPr>
            <a:r>
              <a:rPr lang="en-US" altLang="en-US" sz="2800" dirty="0">
                <a:cs typeface="Arial" panose="020B0604020202020204" pitchFamily="34" charset="0"/>
              </a:rPr>
              <a:t>The delta of the position is -52,200</a:t>
            </a:r>
          </a:p>
          <a:p>
            <a:pPr eaLnBrk="1" hangingPunct="1">
              <a:lnSpc>
                <a:spcPct val="90000"/>
              </a:lnSpc>
            </a:pPr>
            <a:r>
              <a:rPr lang="en-US" altLang="en-US" sz="2800" dirty="0">
                <a:cs typeface="Arial" panose="020B0604020202020204" pitchFamily="34" charset="0"/>
              </a:rPr>
              <a:t>This means that 52,200 shares must purchased to create a delta neutral position</a:t>
            </a:r>
          </a:p>
          <a:p>
            <a:pPr eaLnBrk="1" hangingPunct="1">
              <a:lnSpc>
                <a:spcPct val="90000"/>
              </a:lnSpc>
            </a:pPr>
            <a:r>
              <a:rPr lang="en-US" altLang="en-US" sz="2800" dirty="0">
                <a:cs typeface="Arial" panose="020B0604020202020204" pitchFamily="34" charset="0"/>
              </a:rPr>
              <a:t>But, if a week later delta falls to 0.458, 6,400 shares must be sold to maintain delta neutrality</a:t>
            </a:r>
          </a:p>
          <a:p>
            <a:pPr eaLnBrk="1" hangingPunct="1">
              <a:lnSpc>
                <a:spcPct val="90000"/>
              </a:lnSpc>
            </a:pPr>
            <a:r>
              <a:rPr lang="en-US" altLang="en-US" sz="2800" dirty="0">
                <a:cs typeface="Arial" panose="020B0604020202020204" pitchFamily="34" charset="0"/>
              </a:rPr>
              <a:t>Tables 15.2 and 15.3 provide examples of how delta hedging might work for the option</a:t>
            </a:r>
            <a:r>
              <a:rPr lang="en-US" altLang="en-US" dirty="0">
                <a:cs typeface="Arial" panose="020B0604020202020204" pitchFamily="34" charset="0"/>
              </a:rPr>
              <a:t>. </a:t>
            </a:r>
          </a:p>
          <a:p>
            <a:pPr eaLnBrk="1" hangingPunct="1">
              <a:lnSpc>
                <a:spcPct val="90000"/>
              </a:lnSpc>
              <a:buFont typeface="Wingdings" panose="05000000000000000000" pitchFamily="2" charset="2"/>
              <a:buNone/>
            </a:pPr>
            <a:endParaRPr lang="en-US" altLang="en-US" dirty="0">
              <a:cs typeface="Arial" panose="020B0604020202020204" pitchFamily="34" charset="0"/>
            </a:endParaRPr>
          </a:p>
        </p:txBody>
      </p:sp>
      <p:sp>
        <p:nvSpPr>
          <p:cNvPr id="174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E33F36A-234B-4DCF-AA94-C3B682CEF297}" type="slidenum">
              <a:rPr lang="en-US" altLang="en-US" sz="1800"/>
              <a:pPr>
                <a:spcBef>
                  <a:spcPct val="0"/>
                </a:spcBef>
                <a:buClrTx/>
                <a:buSzTx/>
                <a:buFontTx/>
                <a:buNone/>
              </a:pPr>
              <a:t>7</a:t>
            </a:fld>
            <a:endParaRPr lang="en-US" altLang="en-US" sz="18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500063" y="1357313"/>
            <a:ext cx="7543800" cy="152400"/>
          </a:xfrm>
        </p:spPr>
        <p:txBody>
          <a:bodyPr/>
          <a:lstStyle/>
          <a:p>
            <a:pPr eaLnBrk="1" hangingPunct="1"/>
            <a:r>
              <a:rPr lang="en-US" altLang="en-US" sz="4000" dirty="0"/>
              <a:t>Table 15.2: Option closes in the money</a:t>
            </a:r>
          </a:p>
        </p:txBody>
      </p:sp>
      <p:sp>
        <p:nvSpPr>
          <p:cNvPr id="1945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1946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4C24415-D8F6-48E7-97F3-B5D90ACD94BA}" type="slidenum">
              <a:rPr lang="en-US" altLang="en-US" sz="1800"/>
              <a:pPr>
                <a:spcBef>
                  <a:spcPct val="0"/>
                </a:spcBef>
                <a:buClrTx/>
                <a:buSzTx/>
                <a:buFontTx/>
                <a:buNone/>
              </a:pPr>
              <a:t>8</a:t>
            </a:fld>
            <a:endParaRPr lang="en-US" altLang="en-US" sz="1800"/>
          </a:p>
        </p:txBody>
      </p:sp>
      <p:graphicFrame>
        <p:nvGraphicFramePr>
          <p:cNvPr id="5" name="Table 4"/>
          <p:cNvGraphicFramePr>
            <a:graphicFrameLocks noGrp="1"/>
          </p:cNvGraphicFramePr>
          <p:nvPr/>
        </p:nvGraphicFramePr>
        <p:xfrm>
          <a:off x="1357313" y="2214563"/>
          <a:ext cx="6096000" cy="3235324"/>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40060">
                <a:tc>
                  <a:txBody>
                    <a:bodyPr/>
                    <a:lstStyle/>
                    <a:p>
                      <a:pPr algn="ctr"/>
                      <a:r>
                        <a:rPr lang="en-US" sz="1800" dirty="0"/>
                        <a:t>Week</a:t>
                      </a:r>
                    </a:p>
                  </a:txBody>
                  <a:tcPr marT="45710" marB="45710"/>
                </a:tc>
                <a:tc>
                  <a:txBody>
                    <a:bodyPr/>
                    <a:lstStyle/>
                    <a:p>
                      <a:pPr algn="ctr"/>
                      <a:r>
                        <a:rPr lang="en-US" sz="1800" dirty="0"/>
                        <a:t>Stock Price</a:t>
                      </a:r>
                    </a:p>
                  </a:txBody>
                  <a:tcPr marT="45710" marB="45710"/>
                </a:tc>
                <a:tc>
                  <a:txBody>
                    <a:bodyPr/>
                    <a:lstStyle/>
                    <a:p>
                      <a:pPr algn="ctr"/>
                      <a:r>
                        <a:rPr lang="en-US" sz="1800" dirty="0"/>
                        <a:t>Delta</a:t>
                      </a:r>
                    </a:p>
                  </a:txBody>
                  <a:tcPr marT="45710" marB="45710"/>
                </a:tc>
                <a:tc>
                  <a:txBody>
                    <a:bodyPr/>
                    <a:lstStyle/>
                    <a:p>
                      <a:pPr algn="ctr"/>
                      <a:r>
                        <a:rPr lang="en-US" sz="1800" dirty="0"/>
                        <a:t>Shares Purchased</a:t>
                      </a:r>
                    </a:p>
                  </a:txBody>
                  <a:tcPr marT="45710" marB="45710"/>
                </a:tc>
                <a:extLst>
                  <a:ext uri="{0D108BD9-81ED-4DB2-BD59-A6C34878D82A}">
                    <a16:rowId xmlns:a16="http://schemas.microsoft.com/office/drawing/2014/main" val="10000"/>
                  </a:ext>
                </a:extLst>
              </a:tr>
              <a:tr h="370752">
                <a:tc>
                  <a:txBody>
                    <a:bodyPr/>
                    <a:lstStyle/>
                    <a:p>
                      <a:pPr algn="ctr"/>
                      <a:r>
                        <a:rPr lang="en-US" sz="1800" dirty="0"/>
                        <a:t>0</a:t>
                      </a:r>
                    </a:p>
                  </a:txBody>
                  <a:tcPr marT="45710" marB="45710"/>
                </a:tc>
                <a:tc>
                  <a:txBody>
                    <a:bodyPr/>
                    <a:lstStyle/>
                    <a:p>
                      <a:pPr algn="ctr"/>
                      <a:r>
                        <a:rPr lang="en-US" sz="1800" dirty="0"/>
                        <a:t>49.00</a:t>
                      </a:r>
                    </a:p>
                  </a:txBody>
                  <a:tcPr marT="45710" marB="45710"/>
                </a:tc>
                <a:tc>
                  <a:txBody>
                    <a:bodyPr/>
                    <a:lstStyle/>
                    <a:p>
                      <a:pPr algn="ctr"/>
                      <a:r>
                        <a:rPr lang="en-US" sz="1800" dirty="0"/>
                        <a:t>0.522</a:t>
                      </a:r>
                    </a:p>
                  </a:txBody>
                  <a:tcPr marT="45710" marB="45710"/>
                </a:tc>
                <a:tc>
                  <a:txBody>
                    <a:bodyPr/>
                    <a:lstStyle/>
                    <a:p>
                      <a:pPr algn="ctr"/>
                      <a:r>
                        <a:rPr lang="en-US" sz="1800" dirty="0"/>
                        <a:t>52,200</a:t>
                      </a:r>
                    </a:p>
                  </a:txBody>
                  <a:tcPr marT="45710" marB="45710"/>
                </a:tc>
                <a:extLst>
                  <a:ext uri="{0D108BD9-81ED-4DB2-BD59-A6C34878D82A}">
                    <a16:rowId xmlns:a16="http://schemas.microsoft.com/office/drawing/2014/main" val="10001"/>
                  </a:ext>
                </a:extLst>
              </a:tr>
              <a:tr h="370752">
                <a:tc>
                  <a:txBody>
                    <a:bodyPr/>
                    <a:lstStyle/>
                    <a:p>
                      <a:pPr algn="ctr"/>
                      <a:r>
                        <a:rPr lang="en-US" sz="1800" dirty="0"/>
                        <a:t>1</a:t>
                      </a:r>
                    </a:p>
                  </a:txBody>
                  <a:tcPr marT="45710" marB="45710"/>
                </a:tc>
                <a:tc>
                  <a:txBody>
                    <a:bodyPr/>
                    <a:lstStyle/>
                    <a:p>
                      <a:pPr algn="ctr"/>
                      <a:r>
                        <a:rPr lang="en-US" sz="1800" dirty="0"/>
                        <a:t>48.12</a:t>
                      </a:r>
                    </a:p>
                  </a:txBody>
                  <a:tcPr marT="45710" marB="45710"/>
                </a:tc>
                <a:tc>
                  <a:txBody>
                    <a:bodyPr/>
                    <a:lstStyle/>
                    <a:p>
                      <a:pPr algn="ctr"/>
                      <a:r>
                        <a:rPr lang="en-US" sz="1800" dirty="0"/>
                        <a:t>0.458</a:t>
                      </a:r>
                    </a:p>
                  </a:txBody>
                  <a:tcPr marT="45710" marB="45710"/>
                </a:tc>
                <a:tc>
                  <a:txBody>
                    <a:bodyPr/>
                    <a:lstStyle/>
                    <a:p>
                      <a:pPr algn="ctr"/>
                      <a:r>
                        <a:rPr lang="en-US" sz="1800" dirty="0"/>
                        <a:t>(6,400)</a:t>
                      </a:r>
                    </a:p>
                  </a:txBody>
                  <a:tcPr marT="45710" marB="45710"/>
                </a:tc>
                <a:extLst>
                  <a:ext uri="{0D108BD9-81ED-4DB2-BD59-A6C34878D82A}">
                    <a16:rowId xmlns:a16="http://schemas.microsoft.com/office/drawing/2014/main" val="10002"/>
                  </a:ext>
                </a:extLst>
              </a:tr>
              <a:tr h="370752">
                <a:tc>
                  <a:txBody>
                    <a:bodyPr/>
                    <a:lstStyle/>
                    <a:p>
                      <a:pPr algn="ctr"/>
                      <a:r>
                        <a:rPr lang="en-US" sz="1800" dirty="0"/>
                        <a:t>2</a:t>
                      </a:r>
                    </a:p>
                  </a:txBody>
                  <a:tcPr marT="45710" marB="45710"/>
                </a:tc>
                <a:tc>
                  <a:txBody>
                    <a:bodyPr/>
                    <a:lstStyle/>
                    <a:p>
                      <a:pPr algn="ctr"/>
                      <a:r>
                        <a:rPr lang="en-US" sz="1800" dirty="0"/>
                        <a:t>47.37</a:t>
                      </a:r>
                    </a:p>
                  </a:txBody>
                  <a:tcPr marT="45710" marB="45710"/>
                </a:tc>
                <a:tc>
                  <a:txBody>
                    <a:bodyPr/>
                    <a:lstStyle/>
                    <a:p>
                      <a:pPr algn="ctr"/>
                      <a:r>
                        <a:rPr lang="en-US" sz="1800" dirty="0"/>
                        <a:t>0.400</a:t>
                      </a:r>
                    </a:p>
                  </a:txBody>
                  <a:tcPr marT="45710" marB="45710"/>
                </a:tc>
                <a:tc>
                  <a:txBody>
                    <a:bodyPr/>
                    <a:lstStyle/>
                    <a:p>
                      <a:pPr algn="ctr"/>
                      <a:r>
                        <a:rPr lang="en-US" sz="1800" dirty="0"/>
                        <a:t>(5,800)</a:t>
                      </a:r>
                    </a:p>
                  </a:txBody>
                  <a:tcPr marT="45710" marB="45710"/>
                </a:tc>
                <a:extLst>
                  <a:ext uri="{0D108BD9-81ED-4DB2-BD59-A6C34878D82A}">
                    <a16:rowId xmlns:a16="http://schemas.microsoft.com/office/drawing/2014/main" val="10003"/>
                  </a:ext>
                </a:extLst>
              </a:tr>
              <a:tr h="370752">
                <a:tc>
                  <a:txBody>
                    <a:bodyPr/>
                    <a:lstStyle/>
                    <a:p>
                      <a:pPr algn="ctr"/>
                      <a:r>
                        <a:rPr lang="en-US" sz="1800" dirty="0"/>
                        <a:t>3</a:t>
                      </a:r>
                    </a:p>
                  </a:txBody>
                  <a:tcPr marT="45710" marB="45710"/>
                </a:tc>
                <a:tc>
                  <a:txBody>
                    <a:bodyPr/>
                    <a:lstStyle/>
                    <a:p>
                      <a:pPr algn="ctr"/>
                      <a:r>
                        <a:rPr lang="en-US" sz="1800" dirty="0"/>
                        <a:t>50.25</a:t>
                      </a:r>
                    </a:p>
                  </a:txBody>
                  <a:tcPr marT="45710" marB="45710"/>
                </a:tc>
                <a:tc>
                  <a:txBody>
                    <a:bodyPr/>
                    <a:lstStyle/>
                    <a:p>
                      <a:pPr algn="ctr"/>
                      <a:r>
                        <a:rPr lang="en-US" sz="1800" dirty="0"/>
                        <a:t>0.596</a:t>
                      </a:r>
                    </a:p>
                  </a:txBody>
                  <a:tcPr marT="45710" marB="45710"/>
                </a:tc>
                <a:tc>
                  <a:txBody>
                    <a:bodyPr/>
                    <a:lstStyle/>
                    <a:p>
                      <a:pPr algn="ctr"/>
                      <a:r>
                        <a:rPr lang="en-US" sz="1800" dirty="0"/>
                        <a:t>19,600</a:t>
                      </a:r>
                    </a:p>
                  </a:txBody>
                  <a:tcPr marT="45710" marB="45710"/>
                </a:tc>
                <a:extLst>
                  <a:ext uri="{0D108BD9-81ED-4DB2-BD59-A6C34878D82A}">
                    <a16:rowId xmlns:a16="http://schemas.microsoft.com/office/drawing/2014/main" val="10004"/>
                  </a:ext>
                </a:extLst>
              </a:tr>
              <a:tr h="370752">
                <a:tc>
                  <a:txBody>
                    <a:bodyPr/>
                    <a:lstStyle/>
                    <a:p>
                      <a:pPr algn="ctr"/>
                      <a:r>
                        <a:rPr lang="en-US" sz="1800" dirty="0"/>
                        <a:t>….</a:t>
                      </a:r>
                    </a:p>
                  </a:txBody>
                  <a:tcPr marT="45710" marB="45710"/>
                </a:tc>
                <a:tc>
                  <a:txBody>
                    <a:bodyPr/>
                    <a:lstStyle/>
                    <a:p>
                      <a:pPr algn="ctr"/>
                      <a:r>
                        <a:rPr lang="en-US" sz="1800" dirty="0"/>
                        <a:t>…..</a:t>
                      </a:r>
                    </a:p>
                  </a:txBody>
                  <a:tcPr marT="45710" marB="45710"/>
                </a:tc>
                <a:tc>
                  <a:txBody>
                    <a:bodyPr/>
                    <a:lstStyle/>
                    <a:p>
                      <a:pPr algn="ctr"/>
                      <a:r>
                        <a:rPr lang="en-US" sz="1800" dirty="0"/>
                        <a:t>….</a:t>
                      </a:r>
                    </a:p>
                  </a:txBody>
                  <a:tcPr marT="45710" marB="45710"/>
                </a:tc>
                <a:tc>
                  <a:txBody>
                    <a:bodyPr/>
                    <a:lstStyle/>
                    <a:p>
                      <a:pPr algn="ctr"/>
                      <a:r>
                        <a:rPr lang="en-US" sz="1800" dirty="0"/>
                        <a:t>…..</a:t>
                      </a:r>
                    </a:p>
                  </a:txBody>
                  <a:tcPr marT="45710" marB="45710"/>
                </a:tc>
                <a:extLst>
                  <a:ext uri="{0D108BD9-81ED-4DB2-BD59-A6C34878D82A}">
                    <a16:rowId xmlns:a16="http://schemas.microsoft.com/office/drawing/2014/main" val="10005"/>
                  </a:ext>
                </a:extLst>
              </a:tr>
              <a:tr h="370752">
                <a:tc>
                  <a:txBody>
                    <a:bodyPr/>
                    <a:lstStyle/>
                    <a:p>
                      <a:pPr algn="ctr"/>
                      <a:r>
                        <a:rPr lang="en-US" sz="1800" dirty="0"/>
                        <a:t>19</a:t>
                      </a:r>
                    </a:p>
                  </a:txBody>
                  <a:tcPr marT="45710" marB="45710"/>
                </a:tc>
                <a:tc>
                  <a:txBody>
                    <a:bodyPr/>
                    <a:lstStyle/>
                    <a:p>
                      <a:pPr algn="ctr"/>
                      <a:r>
                        <a:rPr lang="en-US" sz="1800" dirty="0"/>
                        <a:t>55.87</a:t>
                      </a:r>
                    </a:p>
                  </a:txBody>
                  <a:tcPr marT="45710" marB="45710"/>
                </a:tc>
                <a:tc>
                  <a:txBody>
                    <a:bodyPr/>
                    <a:lstStyle/>
                    <a:p>
                      <a:pPr algn="ctr"/>
                      <a:r>
                        <a:rPr lang="en-US" sz="1800" dirty="0"/>
                        <a:t>1.000</a:t>
                      </a:r>
                    </a:p>
                  </a:txBody>
                  <a:tcPr marT="45710" marB="45710"/>
                </a:tc>
                <a:tc>
                  <a:txBody>
                    <a:bodyPr/>
                    <a:lstStyle/>
                    <a:p>
                      <a:pPr algn="ctr"/>
                      <a:r>
                        <a:rPr lang="en-US" sz="1800" dirty="0"/>
                        <a:t>1,000</a:t>
                      </a:r>
                    </a:p>
                  </a:txBody>
                  <a:tcPr marT="45710" marB="45710"/>
                </a:tc>
                <a:extLst>
                  <a:ext uri="{0D108BD9-81ED-4DB2-BD59-A6C34878D82A}">
                    <a16:rowId xmlns:a16="http://schemas.microsoft.com/office/drawing/2014/main" val="10006"/>
                  </a:ext>
                </a:extLst>
              </a:tr>
              <a:tr h="370752">
                <a:tc>
                  <a:txBody>
                    <a:bodyPr/>
                    <a:lstStyle/>
                    <a:p>
                      <a:pPr algn="ctr"/>
                      <a:r>
                        <a:rPr lang="en-US" sz="1800" dirty="0"/>
                        <a:t>20</a:t>
                      </a:r>
                    </a:p>
                  </a:txBody>
                  <a:tcPr marT="45710" marB="45710"/>
                </a:tc>
                <a:tc>
                  <a:txBody>
                    <a:bodyPr/>
                    <a:lstStyle/>
                    <a:p>
                      <a:pPr algn="ctr"/>
                      <a:r>
                        <a:rPr lang="en-US" sz="1800" dirty="0"/>
                        <a:t>57.25</a:t>
                      </a:r>
                    </a:p>
                  </a:txBody>
                  <a:tcPr marT="45710" marB="45710"/>
                </a:tc>
                <a:tc>
                  <a:txBody>
                    <a:bodyPr/>
                    <a:lstStyle/>
                    <a:p>
                      <a:pPr algn="ctr"/>
                      <a:r>
                        <a:rPr lang="en-US" sz="1800" dirty="0"/>
                        <a:t>1.000</a:t>
                      </a:r>
                    </a:p>
                  </a:txBody>
                  <a:tcPr marT="45710" marB="45710"/>
                </a:tc>
                <a:tc>
                  <a:txBody>
                    <a:bodyPr/>
                    <a:lstStyle/>
                    <a:p>
                      <a:pPr algn="ctr"/>
                      <a:r>
                        <a:rPr lang="en-US" sz="1800" dirty="0"/>
                        <a:t>0</a:t>
                      </a:r>
                    </a:p>
                  </a:txBody>
                  <a:tcPr marT="45710" marB="45710"/>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ltLang="en-US" sz="4000" dirty="0"/>
              <a:t>Table 15.3: Option closes out of the money</a:t>
            </a:r>
          </a:p>
        </p:txBody>
      </p:sp>
      <p:sp>
        <p:nvSpPr>
          <p:cNvPr id="2150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2150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DA8AACF-94C7-4608-89F3-B940A2777F58}" type="slidenum">
              <a:rPr lang="en-US" altLang="en-US" sz="1800"/>
              <a:pPr>
                <a:spcBef>
                  <a:spcPct val="0"/>
                </a:spcBef>
                <a:buClrTx/>
                <a:buSzTx/>
                <a:buFontTx/>
                <a:buNone/>
              </a:pPr>
              <a:t>9</a:t>
            </a:fld>
            <a:endParaRPr lang="en-US" altLang="en-US" sz="1800"/>
          </a:p>
        </p:txBody>
      </p:sp>
      <p:graphicFrame>
        <p:nvGraphicFramePr>
          <p:cNvPr id="5" name="Table 4"/>
          <p:cNvGraphicFramePr>
            <a:graphicFrameLocks noGrp="1"/>
          </p:cNvGraphicFramePr>
          <p:nvPr/>
        </p:nvGraphicFramePr>
        <p:xfrm>
          <a:off x="1357313" y="2265363"/>
          <a:ext cx="6096000" cy="3235324"/>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40060">
                <a:tc>
                  <a:txBody>
                    <a:bodyPr/>
                    <a:lstStyle/>
                    <a:p>
                      <a:pPr algn="ctr"/>
                      <a:r>
                        <a:rPr lang="en-US" sz="1800" dirty="0"/>
                        <a:t>Week</a:t>
                      </a:r>
                    </a:p>
                  </a:txBody>
                  <a:tcPr marT="45710" marB="45710"/>
                </a:tc>
                <a:tc>
                  <a:txBody>
                    <a:bodyPr/>
                    <a:lstStyle/>
                    <a:p>
                      <a:pPr algn="ctr"/>
                      <a:r>
                        <a:rPr lang="en-US" sz="1800" dirty="0"/>
                        <a:t>Stock Price</a:t>
                      </a:r>
                    </a:p>
                  </a:txBody>
                  <a:tcPr marT="45710" marB="45710"/>
                </a:tc>
                <a:tc>
                  <a:txBody>
                    <a:bodyPr/>
                    <a:lstStyle/>
                    <a:p>
                      <a:pPr algn="ctr"/>
                      <a:r>
                        <a:rPr lang="en-US" sz="1800" dirty="0"/>
                        <a:t>Delta</a:t>
                      </a:r>
                    </a:p>
                  </a:txBody>
                  <a:tcPr marT="45710" marB="45710"/>
                </a:tc>
                <a:tc>
                  <a:txBody>
                    <a:bodyPr/>
                    <a:lstStyle/>
                    <a:p>
                      <a:pPr algn="ctr"/>
                      <a:r>
                        <a:rPr lang="en-US" sz="1800" dirty="0"/>
                        <a:t>Shares Purchased</a:t>
                      </a:r>
                    </a:p>
                  </a:txBody>
                  <a:tcPr marT="45710" marB="45710"/>
                </a:tc>
                <a:extLst>
                  <a:ext uri="{0D108BD9-81ED-4DB2-BD59-A6C34878D82A}">
                    <a16:rowId xmlns:a16="http://schemas.microsoft.com/office/drawing/2014/main" val="10000"/>
                  </a:ext>
                </a:extLst>
              </a:tr>
              <a:tr h="370752">
                <a:tc>
                  <a:txBody>
                    <a:bodyPr/>
                    <a:lstStyle/>
                    <a:p>
                      <a:pPr algn="ctr"/>
                      <a:r>
                        <a:rPr lang="en-US" sz="1800" dirty="0"/>
                        <a:t>0</a:t>
                      </a:r>
                    </a:p>
                  </a:txBody>
                  <a:tcPr marT="45710" marB="45710"/>
                </a:tc>
                <a:tc>
                  <a:txBody>
                    <a:bodyPr/>
                    <a:lstStyle/>
                    <a:p>
                      <a:pPr algn="ctr"/>
                      <a:r>
                        <a:rPr lang="en-US" sz="1800" dirty="0"/>
                        <a:t>49.00</a:t>
                      </a:r>
                    </a:p>
                  </a:txBody>
                  <a:tcPr marT="45710" marB="45710"/>
                </a:tc>
                <a:tc>
                  <a:txBody>
                    <a:bodyPr/>
                    <a:lstStyle/>
                    <a:p>
                      <a:pPr algn="ctr"/>
                      <a:r>
                        <a:rPr lang="en-US" sz="1800" dirty="0"/>
                        <a:t>0.522</a:t>
                      </a:r>
                    </a:p>
                  </a:txBody>
                  <a:tcPr marT="45710" marB="45710"/>
                </a:tc>
                <a:tc>
                  <a:txBody>
                    <a:bodyPr/>
                    <a:lstStyle/>
                    <a:p>
                      <a:pPr algn="ctr"/>
                      <a:r>
                        <a:rPr lang="en-US" sz="1800" dirty="0"/>
                        <a:t>52,200</a:t>
                      </a:r>
                    </a:p>
                  </a:txBody>
                  <a:tcPr marT="45710" marB="45710"/>
                </a:tc>
                <a:extLst>
                  <a:ext uri="{0D108BD9-81ED-4DB2-BD59-A6C34878D82A}">
                    <a16:rowId xmlns:a16="http://schemas.microsoft.com/office/drawing/2014/main" val="10001"/>
                  </a:ext>
                </a:extLst>
              </a:tr>
              <a:tr h="370752">
                <a:tc>
                  <a:txBody>
                    <a:bodyPr/>
                    <a:lstStyle/>
                    <a:p>
                      <a:pPr algn="ctr"/>
                      <a:r>
                        <a:rPr lang="en-US" sz="1800" dirty="0"/>
                        <a:t>1</a:t>
                      </a:r>
                    </a:p>
                  </a:txBody>
                  <a:tcPr marT="45710" marB="45710"/>
                </a:tc>
                <a:tc>
                  <a:txBody>
                    <a:bodyPr/>
                    <a:lstStyle/>
                    <a:p>
                      <a:pPr algn="ctr"/>
                      <a:r>
                        <a:rPr lang="en-US" sz="1800" dirty="0"/>
                        <a:t>49.75</a:t>
                      </a:r>
                    </a:p>
                  </a:txBody>
                  <a:tcPr marT="45710" marB="45710"/>
                </a:tc>
                <a:tc>
                  <a:txBody>
                    <a:bodyPr/>
                    <a:lstStyle/>
                    <a:p>
                      <a:pPr algn="ctr"/>
                      <a:r>
                        <a:rPr lang="en-US" sz="1800" dirty="0"/>
                        <a:t>0.568</a:t>
                      </a:r>
                    </a:p>
                  </a:txBody>
                  <a:tcPr marT="45710" marB="45710"/>
                </a:tc>
                <a:tc>
                  <a:txBody>
                    <a:bodyPr/>
                    <a:lstStyle/>
                    <a:p>
                      <a:pPr algn="ctr"/>
                      <a:r>
                        <a:rPr lang="en-US" sz="1800" dirty="0"/>
                        <a:t>4,600</a:t>
                      </a:r>
                    </a:p>
                  </a:txBody>
                  <a:tcPr marT="45710" marB="45710"/>
                </a:tc>
                <a:extLst>
                  <a:ext uri="{0D108BD9-81ED-4DB2-BD59-A6C34878D82A}">
                    <a16:rowId xmlns:a16="http://schemas.microsoft.com/office/drawing/2014/main" val="10002"/>
                  </a:ext>
                </a:extLst>
              </a:tr>
              <a:tr h="370752">
                <a:tc>
                  <a:txBody>
                    <a:bodyPr/>
                    <a:lstStyle/>
                    <a:p>
                      <a:pPr algn="ctr"/>
                      <a:r>
                        <a:rPr lang="en-US" sz="1800" dirty="0"/>
                        <a:t>2</a:t>
                      </a:r>
                    </a:p>
                  </a:txBody>
                  <a:tcPr marT="45710" marB="45710"/>
                </a:tc>
                <a:tc>
                  <a:txBody>
                    <a:bodyPr/>
                    <a:lstStyle/>
                    <a:p>
                      <a:pPr algn="ctr"/>
                      <a:r>
                        <a:rPr lang="en-US" sz="1800" dirty="0"/>
                        <a:t>52.00</a:t>
                      </a:r>
                    </a:p>
                  </a:txBody>
                  <a:tcPr marT="45710" marB="45710"/>
                </a:tc>
                <a:tc>
                  <a:txBody>
                    <a:bodyPr/>
                    <a:lstStyle/>
                    <a:p>
                      <a:pPr algn="ctr"/>
                      <a:r>
                        <a:rPr lang="en-US" sz="1800" dirty="0"/>
                        <a:t>0.705</a:t>
                      </a:r>
                    </a:p>
                  </a:txBody>
                  <a:tcPr marT="45710" marB="45710"/>
                </a:tc>
                <a:tc>
                  <a:txBody>
                    <a:bodyPr/>
                    <a:lstStyle/>
                    <a:p>
                      <a:pPr algn="ctr"/>
                      <a:r>
                        <a:rPr lang="en-US" sz="1800" dirty="0"/>
                        <a:t>13,700</a:t>
                      </a:r>
                    </a:p>
                  </a:txBody>
                  <a:tcPr marT="45710" marB="45710"/>
                </a:tc>
                <a:extLst>
                  <a:ext uri="{0D108BD9-81ED-4DB2-BD59-A6C34878D82A}">
                    <a16:rowId xmlns:a16="http://schemas.microsoft.com/office/drawing/2014/main" val="10003"/>
                  </a:ext>
                </a:extLst>
              </a:tr>
              <a:tr h="370752">
                <a:tc>
                  <a:txBody>
                    <a:bodyPr/>
                    <a:lstStyle/>
                    <a:p>
                      <a:pPr algn="ctr"/>
                      <a:r>
                        <a:rPr lang="en-US" sz="1800" dirty="0"/>
                        <a:t>3</a:t>
                      </a:r>
                    </a:p>
                  </a:txBody>
                  <a:tcPr marT="45710" marB="45710"/>
                </a:tc>
                <a:tc>
                  <a:txBody>
                    <a:bodyPr/>
                    <a:lstStyle/>
                    <a:p>
                      <a:pPr algn="ctr"/>
                      <a:r>
                        <a:rPr lang="en-US" sz="1800" dirty="0"/>
                        <a:t>50.00</a:t>
                      </a:r>
                    </a:p>
                  </a:txBody>
                  <a:tcPr marT="45710" marB="45710"/>
                </a:tc>
                <a:tc>
                  <a:txBody>
                    <a:bodyPr/>
                    <a:lstStyle/>
                    <a:p>
                      <a:pPr algn="ctr"/>
                      <a:r>
                        <a:rPr lang="en-US" sz="1800" dirty="0"/>
                        <a:t>0.579</a:t>
                      </a:r>
                    </a:p>
                  </a:txBody>
                  <a:tcPr marT="45710" marB="45710"/>
                </a:tc>
                <a:tc>
                  <a:txBody>
                    <a:bodyPr/>
                    <a:lstStyle/>
                    <a:p>
                      <a:pPr algn="ctr"/>
                      <a:r>
                        <a:rPr lang="en-US" sz="1800" dirty="0"/>
                        <a:t>(12,600)</a:t>
                      </a:r>
                    </a:p>
                  </a:txBody>
                  <a:tcPr marT="45710" marB="45710"/>
                </a:tc>
                <a:extLst>
                  <a:ext uri="{0D108BD9-81ED-4DB2-BD59-A6C34878D82A}">
                    <a16:rowId xmlns:a16="http://schemas.microsoft.com/office/drawing/2014/main" val="10004"/>
                  </a:ext>
                </a:extLst>
              </a:tr>
              <a:tr h="370752">
                <a:tc>
                  <a:txBody>
                    <a:bodyPr/>
                    <a:lstStyle/>
                    <a:p>
                      <a:pPr algn="ctr"/>
                      <a:r>
                        <a:rPr lang="en-US" sz="1800" dirty="0"/>
                        <a:t>….</a:t>
                      </a:r>
                    </a:p>
                  </a:txBody>
                  <a:tcPr marT="45710" marB="45710"/>
                </a:tc>
                <a:tc>
                  <a:txBody>
                    <a:bodyPr/>
                    <a:lstStyle/>
                    <a:p>
                      <a:pPr algn="ctr"/>
                      <a:r>
                        <a:rPr lang="en-US" sz="1800" dirty="0"/>
                        <a:t>…..</a:t>
                      </a:r>
                    </a:p>
                  </a:txBody>
                  <a:tcPr marT="45710" marB="45710"/>
                </a:tc>
                <a:tc>
                  <a:txBody>
                    <a:bodyPr/>
                    <a:lstStyle/>
                    <a:p>
                      <a:pPr algn="ctr"/>
                      <a:r>
                        <a:rPr lang="en-US" sz="1800" dirty="0"/>
                        <a:t>….</a:t>
                      </a:r>
                    </a:p>
                  </a:txBody>
                  <a:tcPr marT="45710" marB="45710"/>
                </a:tc>
                <a:tc>
                  <a:txBody>
                    <a:bodyPr/>
                    <a:lstStyle/>
                    <a:p>
                      <a:pPr algn="ctr"/>
                      <a:r>
                        <a:rPr lang="en-US" sz="1800" dirty="0"/>
                        <a:t>…..</a:t>
                      </a:r>
                    </a:p>
                  </a:txBody>
                  <a:tcPr marT="45710" marB="45710"/>
                </a:tc>
                <a:extLst>
                  <a:ext uri="{0D108BD9-81ED-4DB2-BD59-A6C34878D82A}">
                    <a16:rowId xmlns:a16="http://schemas.microsoft.com/office/drawing/2014/main" val="10005"/>
                  </a:ext>
                </a:extLst>
              </a:tr>
              <a:tr h="370752">
                <a:tc>
                  <a:txBody>
                    <a:bodyPr/>
                    <a:lstStyle/>
                    <a:p>
                      <a:pPr algn="ctr"/>
                      <a:r>
                        <a:rPr lang="en-US" sz="1800" dirty="0"/>
                        <a:t>19</a:t>
                      </a:r>
                    </a:p>
                  </a:txBody>
                  <a:tcPr marT="45710" marB="45710"/>
                </a:tc>
                <a:tc>
                  <a:txBody>
                    <a:bodyPr/>
                    <a:lstStyle/>
                    <a:p>
                      <a:pPr algn="ctr"/>
                      <a:r>
                        <a:rPr lang="en-US" sz="1800" dirty="0"/>
                        <a:t>46.63</a:t>
                      </a:r>
                    </a:p>
                  </a:txBody>
                  <a:tcPr marT="45710" marB="45710"/>
                </a:tc>
                <a:tc>
                  <a:txBody>
                    <a:bodyPr/>
                    <a:lstStyle/>
                    <a:p>
                      <a:pPr algn="ctr"/>
                      <a:r>
                        <a:rPr lang="en-US" sz="1800" dirty="0"/>
                        <a:t>0.007</a:t>
                      </a:r>
                    </a:p>
                  </a:txBody>
                  <a:tcPr marT="45710" marB="45710"/>
                </a:tc>
                <a:tc>
                  <a:txBody>
                    <a:bodyPr/>
                    <a:lstStyle/>
                    <a:p>
                      <a:pPr algn="ctr"/>
                      <a:r>
                        <a:rPr lang="en-US" sz="1800" dirty="0"/>
                        <a:t>(17,600)</a:t>
                      </a:r>
                    </a:p>
                  </a:txBody>
                  <a:tcPr marT="45710" marB="45710"/>
                </a:tc>
                <a:extLst>
                  <a:ext uri="{0D108BD9-81ED-4DB2-BD59-A6C34878D82A}">
                    <a16:rowId xmlns:a16="http://schemas.microsoft.com/office/drawing/2014/main" val="10006"/>
                  </a:ext>
                </a:extLst>
              </a:tr>
              <a:tr h="370752">
                <a:tc>
                  <a:txBody>
                    <a:bodyPr/>
                    <a:lstStyle/>
                    <a:p>
                      <a:pPr algn="ctr"/>
                      <a:r>
                        <a:rPr lang="en-US" sz="1800" dirty="0"/>
                        <a:t>20</a:t>
                      </a:r>
                    </a:p>
                  </a:txBody>
                  <a:tcPr marT="45710" marB="45710"/>
                </a:tc>
                <a:tc>
                  <a:txBody>
                    <a:bodyPr/>
                    <a:lstStyle/>
                    <a:p>
                      <a:pPr algn="ctr"/>
                      <a:r>
                        <a:rPr lang="en-US" sz="1800" dirty="0"/>
                        <a:t>48.12</a:t>
                      </a:r>
                    </a:p>
                  </a:txBody>
                  <a:tcPr marT="45710" marB="45710"/>
                </a:tc>
                <a:tc>
                  <a:txBody>
                    <a:bodyPr/>
                    <a:lstStyle/>
                    <a:p>
                      <a:pPr algn="ctr"/>
                      <a:r>
                        <a:rPr lang="en-US" sz="1800" dirty="0"/>
                        <a:t>0.000</a:t>
                      </a:r>
                    </a:p>
                  </a:txBody>
                  <a:tcPr marT="45710" marB="45710"/>
                </a:tc>
                <a:tc>
                  <a:txBody>
                    <a:bodyPr/>
                    <a:lstStyle/>
                    <a:p>
                      <a:pPr algn="ctr"/>
                      <a:r>
                        <a:rPr lang="en-US" sz="1800" dirty="0"/>
                        <a:t>(700)</a:t>
                      </a:r>
                    </a:p>
                  </a:txBody>
                  <a:tcPr marT="45710" marB="45710"/>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a:t>Where the Costs Come From</a:t>
            </a:r>
          </a:p>
        </p:txBody>
      </p:sp>
      <p:sp>
        <p:nvSpPr>
          <p:cNvPr id="23555" name="Content Placeholder 2"/>
          <p:cNvSpPr>
            <a:spLocks noGrp="1"/>
          </p:cNvSpPr>
          <p:nvPr>
            <p:ph idx="1"/>
          </p:nvPr>
        </p:nvSpPr>
        <p:spPr/>
        <p:txBody>
          <a:bodyPr/>
          <a:lstStyle/>
          <a:p>
            <a:pPr eaLnBrk="1" hangingPunct="1"/>
            <a:r>
              <a:rPr lang="en-US" altLang="en-US">
                <a:cs typeface="Arial" panose="020B0604020202020204" pitchFamily="34" charset="0"/>
              </a:rPr>
              <a:t>Delta hedging a short option position tends to involve selling after a price decline and buying after a price increase</a:t>
            </a:r>
          </a:p>
          <a:p>
            <a:pPr eaLnBrk="1" hangingPunct="1"/>
            <a:r>
              <a:rPr lang="en-US" altLang="en-US">
                <a:cs typeface="Arial" panose="020B0604020202020204" pitchFamily="34" charset="0"/>
              </a:rPr>
              <a:t>This is a “sell low, buy high” strategy. </a:t>
            </a:r>
          </a:p>
          <a:p>
            <a:pPr eaLnBrk="1" hangingPunct="1"/>
            <a:r>
              <a:rPr lang="en-US" altLang="en-US">
                <a:cs typeface="Arial" panose="020B0604020202020204" pitchFamily="34" charset="0"/>
              </a:rPr>
              <a:t>The total costs incurred are close to the theoretical price of the option </a:t>
            </a:r>
          </a:p>
        </p:txBody>
      </p:sp>
      <p:sp>
        <p:nvSpPr>
          <p:cNvPr id="235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645881D-459E-48DF-A383-759CA5632ED2}" type="slidenum">
              <a:rPr lang="en-US" altLang="en-US" sz="1800"/>
              <a:pPr>
                <a:spcBef>
                  <a:spcPct val="0"/>
                </a:spcBef>
                <a:buClrTx/>
                <a:buSzTx/>
                <a:buFontTx/>
                <a:buNone/>
              </a:pPr>
              <a:t>10</a:t>
            </a:fld>
            <a:endParaRPr lang="en-US" alt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714375"/>
            <a:ext cx="7772400" cy="1000125"/>
          </a:xfrm>
        </p:spPr>
        <p:txBody>
          <a:bodyPr lIns="92075" tIns="46038" rIns="92075" bIns="46038"/>
          <a:lstStyle/>
          <a:p>
            <a:pPr eaLnBrk="1" hangingPunct="1"/>
            <a:r>
              <a:rPr lang="en-US" altLang="en-US"/>
              <a:t>Gamma</a:t>
            </a:r>
          </a:p>
        </p:txBody>
      </p:sp>
      <p:sp>
        <p:nvSpPr>
          <p:cNvPr id="25603" name="Rectangle 3"/>
          <p:cNvSpPr>
            <a:spLocks noGrp="1" noChangeArrowheads="1"/>
          </p:cNvSpPr>
          <p:nvPr>
            <p:ph idx="1"/>
          </p:nvPr>
        </p:nvSpPr>
        <p:spPr>
          <a:xfrm>
            <a:off x="685800" y="1857375"/>
            <a:ext cx="7772400" cy="3857625"/>
          </a:xfrm>
        </p:spPr>
        <p:txBody>
          <a:bodyPr lIns="92075" tIns="46038" rIns="92075" bIns="46038"/>
          <a:lstStyle/>
          <a:p>
            <a:pPr eaLnBrk="1" hangingPunct="1"/>
            <a:r>
              <a:rPr lang="en-US" altLang="en-US">
                <a:cs typeface="Arial" panose="020B0604020202020204" pitchFamily="34" charset="0"/>
              </a:rPr>
              <a:t>Gamma (</a:t>
            </a:r>
            <a:r>
              <a:rPr lang="en-US" altLang="en-US">
                <a:latin typeface="Symbol" panose="05050102010706020507" pitchFamily="18" charset="2"/>
                <a:cs typeface="Arial" panose="020B0604020202020204" pitchFamily="34" charset="0"/>
              </a:rPr>
              <a:t>G</a:t>
            </a:r>
            <a:r>
              <a:rPr lang="en-US" altLang="en-US">
                <a:cs typeface="Arial" panose="020B0604020202020204" pitchFamily="34" charset="0"/>
              </a:rPr>
              <a:t>) is the rate of change of delta (</a:t>
            </a:r>
            <a:r>
              <a:rPr lang="en-US" altLang="en-US">
                <a:latin typeface="Symbol" panose="05050102010706020507" pitchFamily="18" charset="2"/>
                <a:cs typeface="Arial" panose="020B0604020202020204" pitchFamily="34" charset="0"/>
              </a:rPr>
              <a:t>D</a:t>
            </a:r>
            <a:r>
              <a:rPr lang="en-US" altLang="en-US">
                <a:cs typeface="Arial" panose="020B0604020202020204" pitchFamily="34" charset="0"/>
              </a:rPr>
              <a:t>) with respect to the price of the underlying asset</a:t>
            </a:r>
          </a:p>
          <a:p>
            <a:pPr eaLnBrk="1" hangingPunct="1"/>
            <a:r>
              <a:rPr lang="en-US" altLang="en-US">
                <a:cs typeface="Arial" panose="020B0604020202020204" pitchFamily="34" charset="0"/>
              </a:rPr>
              <a:t>Gamma is greatest for options that are close to the money</a:t>
            </a:r>
          </a:p>
        </p:txBody>
      </p:sp>
      <p:sp>
        <p:nvSpPr>
          <p:cNvPr id="256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256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6D57C19-3103-4172-B151-6EFEFE24F5DF}" type="slidenum">
              <a:rPr lang="en-US" altLang="en-US" sz="1800"/>
              <a:pPr>
                <a:spcBef>
                  <a:spcPct val="0"/>
                </a:spcBef>
                <a:buClrTx/>
                <a:buSzTx/>
                <a:buFontTx/>
                <a:buNone/>
              </a:pPr>
              <a:t>11</a:t>
            </a:fld>
            <a:endParaRPr lang="en-US" altLang="en-US" sz="18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52400" y="857250"/>
            <a:ext cx="7924800" cy="1071563"/>
          </a:xfrm>
        </p:spPr>
        <p:txBody>
          <a:bodyPr lIns="92075" tIns="46038" rIns="92075" bIns="46038"/>
          <a:lstStyle/>
          <a:p>
            <a:pPr eaLnBrk="1" hangingPunct="1"/>
            <a:r>
              <a:rPr lang="en-US" altLang="en-US" sz="3200" dirty="0"/>
              <a:t>Gamma Measures the Delta Hedging Errors Caused By Curvature </a:t>
            </a:r>
            <a:r>
              <a:rPr lang="en-US" altLang="en-US" sz="2400" dirty="0"/>
              <a:t>(Figure 15.4)</a:t>
            </a:r>
            <a:r>
              <a:rPr lang="en-US" altLang="en-US" sz="3500" dirty="0"/>
              <a:t>  </a:t>
            </a:r>
          </a:p>
        </p:txBody>
      </p:sp>
      <p:sp>
        <p:nvSpPr>
          <p:cNvPr id="27651" name="Rectangle 3"/>
          <p:cNvSpPr>
            <a:spLocks noGrp="1" noChangeArrowheads="1"/>
          </p:cNvSpPr>
          <p:nvPr>
            <p:ph type="body" sz="half" idx="1"/>
          </p:nvPr>
        </p:nvSpPr>
        <p:spPr/>
        <p:txBody>
          <a:bodyPr lIns="92075" tIns="46038" rIns="92075" bIns="46038"/>
          <a:lstStyle/>
          <a:p>
            <a:pPr eaLnBrk="1" hangingPunct="1">
              <a:buFont typeface="Wingdings" panose="05000000000000000000" pitchFamily="2" charset="2"/>
              <a:buNone/>
            </a:pPr>
            <a:r>
              <a:rPr lang="en-US" altLang="en-US" sz="2000">
                <a:cs typeface="Arial" panose="020B0604020202020204" pitchFamily="34" charset="0"/>
              </a:rPr>
              <a:t> </a:t>
            </a:r>
          </a:p>
        </p:txBody>
      </p:sp>
      <p:sp>
        <p:nvSpPr>
          <p:cNvPr id="2765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27653" name="Slide Number Placeholder 2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3708174-FC4E-4C0C-9787-D2D534CB51E2}" type="slidenum">
              <a:rPr lang="en-US" altLang="en-US" sz="1800"/>
              <a:pPr>
                <a:spcBef>
                  <a:spcPct val="0"/>
                </a:spcBef>
                <a:buClrTx/>
                <a:buSzTx/>
                <a:buFontTx/>
                <a:buNone/>
              </a:pPr>
              <a:t>12</a:t>
            </a:fld>
            <a:endParaRPr lang="en-US" altLang="en-US" sz="1800"/>
          </a:p>
        </p:txBody>
      </p:sp>
      <p:sp>
        <p:nvSpPr>
          <p:cNvPr id="27654" name="Line 4"/>
          <p:cNvSpPr>
            <a:spLocks noChangeShapeType="1"/>
          </p:cNvSpPr>
          <p:nvPr/>
        </p:nvSpPr>
        <p:spPr bwMode="auto">
          <a:xfrm>
            <a:off x="2295525" y="2093913"/>
            <a:ext cx="0" cy="3475037"/>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5" name="Line 5"/>
          <p:cNvSpPr>
            <a:spLocks noChangeShapeType="1"/>
          </p:cNvSpPr>
          <p:nvPr/>
        </p:nvSpPr>
        <p:spPr bwMode="auto">
          <a:xfrm>
            <a:off x="2295525" y="5568950"/>
            <a:ext cx="522763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nvGrpSpPr>
          <p:cNvPr id="27656" name="Group 6"/>
          <p:cNvGrpSpPr>
            <a:grpSpLocks/>
          </p:cNvGrpSpPr>
          <p:nvPr/>
        </p:nvGrpSpPr>
        <p:grpSpPr bwMode="auto">
          <a:xfrm>
            <a:off x="2295525" y="2889250"/>
            <a:ext cx="4021138" cy="2671763"/>
            <a:chOff x="1446" y="1820"/>
            <a:chExt cx="2533" cy="1683"/>
          </a:xfrm>
        </p:grpSpPr>
        <p:sp>
          <p:nvSpPr>
            <p:cNvPr id="27670" name="Freeform 7"/>
            <p:cNvSpPr>
              <a:spLocks/>
            </p:cNvSpPr>
            <p:nvPr/>
          </p:nvSpPr>
          <p:spPr bwMode="auto">
            <a:xfrm>
              <a:off x="1446" y="3458"/>
              <a:ext cx="461" cy="45"/>
            </a:xfrm>
            <a:custGeom>
              <a:avLst/>
              <a:gdLst>
                <a:gd name="T0" fmla="*/ 0 w 461"/>
                <a:gd name="T1" fmla="*/ 44 h 45"/>
                <a:gd name="T2" fmla="*/ 6 w 461"/>
                <a:gd name="T3" fmla="*/ 41 h 45"/>
                <a:gd name="T4" fmla="*/ 17 w 461"/>
                <a:gd name="T5" fmla="*/ 41 h 45"/>
                <a:gd name="T6" fmla="*/ 24 w 461"/>
                <a:gd name="T7" fmla="*/ 39 h 45"/>
                <a:gd name="T8" fmla="*/ 35 w 461"/>
                <a:gd name="T9" fmla="*/ 41 h 45"/>
                <a:gd name="T10" fmla="*/ 42 w 461"/>
                <a:gd name="T11" fmla="*/ 39 h 45"/>
                <a:gd name="T12" fmla="*/ 143 w 461"/>
                <a:gd name="T13" fmla="*/ 41 h 45"/>
                <a:gd name="T14" fmla="*/ 244 w 461"/>
                <a:gd name="T15" fmla="*/ 39 h 45"/>
                <a:gd name="T16" fmla="*/ 368 w 461"/>
                <a:gd name="T17" fmla="*/ 25 h 45"/>
                <a:gd name="T18" fmla="*/ 415 w 461"/>
                <a:gd name="T19" fmla="*/ 10 h 45"/>
                <a:gd name="T20" fmla="*/ 460 w 461"/>
                <a:gd name="T21" fmla="*/ 0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61"/>
                <a:gd name="T34" fmla="*/ 0 h 45"/>
                <a:gd name="T35" fmla="*/ 461 w 461"/>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61" h="45">
                  <a:moveTo>
                    <a:pt x="0" y="44"/>
                  </a:moveTo>
                  <a:lnTo>
                    <a:pt x="6" y="41"/>
                  </a:lnTo>
                  <a:lnTo>
                    <a:pt x="17" y="41"/>
                  </a:lnTo>
                  <a:lnTo>
                    <a:pt x="24" y="39"/>
                  </a:lnTo>
                  <a:lnTo>
                    <a:pt x="35" y="41"/>
                  </a:lnTo>
                  <a:lnTo>
                    <a:pt x="42" y="39"/>
                  </a:lnTo>
                  <a:lnTo>
                    <a:pt x="143" y="41"/>
                  </a:lnTo>
                  <a:lnTo>
                    <a:pt x="244" y="39"/>
                  </a:lnTo>
                  <a:lnTo>
                    <a:pt x="368" y="25"/>
                  </a:lnTo>
                  <a:lnTo>
                    <a:pt x="415" y="10"/>
                  </a:lnTo>
                  <a:lnTo>
                    <a:pt x="46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71" name="Freeform 8"/>
            <p:cNvSpPr>
              <a:spLocks/>
            </p:cNvSpPr>
            <p:nvPr/>
          </p:nvSpPr>
          <p:spPr bwMode="auto">
            <a:xfrm>
              <a:off x="1914" y="3203"/>
              <a:ext cx="685" cy="252"/>
            </a:xfrm>
            <a:custGeom>
              <a:avLst/>
              <a:gdLst>
                <a:gd name="T0" fmla="*/ 0 w 685"/>
                <a:gd name="T1" fmla="*/ 251 h 252"/>
                <a:gd name="T2" fmla="*/ 204 w 685"/>
                <a:gd name="T3" fmla="*/ 202 h 252"/>
                <a:gd name="T4" fmla="*/ 469 w 685"/>
                <a:gd name="T5" fmla="*/ 98 h 252"/>
                <a:gd name="T6" fmla="*/ 684 w 685"/>
                <a:gd name="T7" fmla="*/ 0 h 252"/>
                <a:gd name="T8" fmla="*/ 0 60000 65536"/>
                <a:gd name="T9" fmla="*/ 0 60000 65536"/>
                <a:gd name="T10" fmla="*/ 0 60000 65536"/>
                <a:gd name="T11" fmla="*/ 0 60000 65536"/>
                <a:gd name="T12" fmla="*/ 0 w 685"/>
                <a:gd name="T13" fmla="*/ 0 h 252"/>
                <a:gd name="T14" fmla="*/ 685 w 685"/>
                <a:gd name="T15" fmla="*/ 252 h 252"/>
              </a:gdLst>
              <a:ahLst/>
              <a:cxnLst>
                <a:cxn ang="T8">
                  <a:pos x="T0" y="T1"/>
                </a:cxn>
                <a:cxn ang="T9">
                  <a:pos x="T2" y="T3"/>
                </a:cxn>
                <a:cxn ang="T10">
                  <a:pos x="T4" y="T5"/>
                </a:cxn>
                <a:cxn ang="T11">
                  <a:pos x="T6" y="T7"/>
                </a:cxn>
              </a:cxnLst>
              <a:rect l="T12" t="T13" r="T14" b="T15"/>
              <a:pathLst>
                <a:path w="685" h="252">
                  <a:moveTo>
                    <a:pt x="0" y="251"/>
                  </a:moveTo>
                  <a:lnTo>
                    <a:pt x="204" y="202"/>
                  </a:lnTo>
                  <a:lnTo>
                    <a:pt x="469" y="98"/>
                  </a:lnTo>
                  <a:lnTo>
                    <a:pt x="684"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72" name="Freeform 9"/>
            <p:cNvSpPr>
              <a:spLocks/>
            </p:cNvSpPr>
            <p:nvPr/>
          </p:nvSpPr>
          <p:spPr bwMode="auto">
            <a:xfrm>
              <a:off x="2598" y="2759"/>
              <a:ext cx="640" cy="445"/>
            </a:xfrm>
            <a:custGeom>
              <a:avLst/>
              <a:gdLst>
                <a:gd name="T0" fmla="*/ 0 w 640"/>
                <a:gd name="T1" fmla="*/ 444 h 445"/>
                <a:gd name="T2" fmla="*/ 220 w 640"/>
                <a:gd name="T3" fmla="*/ 316 h 445"/>
                <a:gd name="T4" fmla="*/ 381 w 640"/>
                <a:gd name="T5" fmla="*/ 206 h 445"/>
                <a:gd name="T6" fmla="*/ 639 w 640"/>
                <a:gd name="T7" fmla="*/ 0 h 445"/>
                <a:gd name="T8" fmla="*/ 0 60000 65536"/>
                <a:gd name="T9" fmla="*/ 0 60000 65536"/>
                <a:gd name="T10" fmla="*/ 0 60000 65536"/>
                <a:gd name="T11" fmla="*/ 0 60000 65536"/>
                <a:gd name="T12" fmla="*/ 0 w 640"/>
                <a:gd name="T13" fmla="*/ 0 h 445"/>
                <a:gd name="T14" fmla="*/ 640 w 640"/>
                <a:gd name="T15" fmla="*/ 445 h 445"/>
              </a:gdLst>
              <a:ahLst/>
              <a:cxnLst>
                <a:cxn ang="T8">
                  <a:pos x="T0" y="T1"/>
                </a:cxn>
                <a:cxn ang="T9">
                  <a:pos x="T2" y="T3"/>
                </a:cxn>
                <a:cxn ang="T10">
                  <a:pos x="T4" y="T5"/>
                </a:cxn>
                <a:cxn ang="T11">
                  <a:pos x="T6" y="T7"/>
                </a:cxn>
              </a:cxnLst>
              <a:rect l="T12" t="T13" r="T14" b="T15"/>
              <a:pathLst>
                <a:path w="640" h="445">
                  <a:moveTo>
                    <a:pt x="0" y="444"/>
                  </a:moveTo>
                  <a:lnTo>
                    <a:pt x="220" y="316"/>
                  </a:lnTo>
                  <a:lnTo>
                    <a:pt x="381" y="206"/>
                  </a:lnTo>
                  <a:lnTo>
                    <a:pt x="639"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73" name="Freeform 10"/>
            <p:cNvSpPr>
              <a:spLocks/>
            </p:cNvSpPr>
            <p:nvPr/>
          </p:nvSpPr>
          <p:spPr bwMode="auto">
            <a:xfrm>
              <a:off x="3237" y="2162"/>
              <a:ext cx="539" cy="598"/>
            </a:xfrm>
            <a:custGeom>
              <a:avLst/>
              <a:gdLst>
                <a:gd name="T0" fmla="*/ 0 w 539"/>
                <a:gd name="T1" fmla="*/ 597 h 598"/>
                <a:gd name="T2" fmla="*/ 210 w 539"/>
                <a:gd name="T3" fmla="*/ 401 h 598"/>
                <a:gd name="T4" fmla="*/ 333 w 539"/>
                <a:gd name="T5" fmla="*/ 268 h 598"/>
                <a:gd name="T6" fmla="*/ 467 w 539"/>
                <a:gd name="T7" fmla="*/ 103 h 598"/>
                <a:gd name="T8" fmla="*/ 538 w 539"/>
                <a:gd name="T9" fmla="*/ 0 h 598"/>
                <a:gd name="T10" fmla="*/ 0 60000 65536"/>
                <a:gd name="T11" fmla="*/ 0 60000 65536"/>
                <a:gd name="T12" fmla="*/ 0 60000 65536"/>
                <a:gd name="T13" fmla="*/ 0 60000 65536"/>
                <a:gd name="T14" fmla="*/ 0 60000 65536"/>
                <a:gd name="T15" fmla="*/ 0 w 539"/>
                <a:gd name="T16" fmla="*/ 0 h 598"/>
                <a:gd name="T17" fmla="*/ 539 w 539"/>
                <a:gd name="T18" fmla="*/ 598 h 598"/>
              </a:gdLst>
              <a:ahLst/>
              <a:cxnLst>
                <a:cxn ang="T10">
                  <a:pos x="T0" y="T1"/>
                </a:cxn>
                <a:cxn ang="T11">
                  <a:pos x="T2" y="T3"/>
                </a:cxn>
                <a:cxn ang="T12">
                  <a:pos x="T4" y="T5"/>
                </a:cxn>
                <a:cxn ang="T13">
                  <a:pos x="T6" y="T7"/>
                </a:cxn>
                <a:cxn ang="T14">
                  <a:pos x="T8" y="T9"/>
                </a:cxn>
              </a:cxnLst>
              <a:rect l="T15" t="T16" r="T17" b="T18"/>
              <a:pathLst>
                <a:path w="539" h="598">
                  <a:moveTo>
                    <a:pt x="0" y="597"/>
                  </a:moveTo>
                  <a:lnTo>
                    <a:pt x="210" y="401"/>
                  </a:lnTo>
                  <a:lnTo>
                    <a:pt x="333" y="268"/>
                  </a:lnTo>
                  <a:lnTo>
                    <a:pt x="467" y="103"/>
                  </a:lnTo>
                  <a:lnTo>
                    <a:pt x="538"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74" name="Freeform 11"/>
            <p:cNvSpPr>
              <a:spLocks/>
            </p:cNvSpPr>
            <p:nvPr/>
          </p:nvSpPr>
          <p:spPr bwMode="auto">
            <a:xfrm>
              <a:off x="3775" y="1820"/>
              <a:ext cx="204" cy="343"/>
            </a:xfrm>
            <a:custGeom>
              <a:avLst/>
              <a:gdLst>
                <a:gd name="T0" fmla="*/ 0 w 204"/>
                <a:gd name="T1" fmla="*/ 342 h 343"/>
                <a:gd name="T2" fmla="*/ 54 w 204"/>
                <a:gd name="T3" fmla="*/ 269 h 343"/>
                <a:gd name="T4" fmla="*/ 107 w 204"/>
                <a:gd name="T5" fmla="*/ 183 h 343"/>
                <a:gd name="T6" fmla="*/ 161 w 204"/>
                <a:gd name="T7" fmla="*/ 85 h 343"/>
                <a:gd name="T8" fmla="*/ 203 w 204"/>
                <a:gd name="T9" fmla="*/ 0 h 343"/>
                <a:gd name="T10" fmla="*/ 0 60000 65536"/>
                <a:gd name="T11" fmla="*/ 0 60000 65536"/>
                <a:gd name="T12" fmla="*/ 0 60000 65536"/>
                <a:gd name="T13" fmla="*/ 0 60000 65536"/>
                <a:gd name="T14" fmla="*/ 0 60000 65536"/>
                <a:gd name="T15" fmla="*/ 0 w 204"/>
                <a:gd name="T16" fmla="*/ 0 h 343"/>
                <a:gd name="T17" fmla="*/ 204 w 204"/>
                <a:gd name="T18" fmla="*/ 343 h 343"/>
              </a:gdLst>
              <a:ahLst/>
              <a:cxnLst>
                <a:cxn ang="T10">
                  <a:pos x="T0" y="T1"/>
                </a:cxn>
                <a:cxn ang="T11">
                  <a:pos x="T2" y="T3"/>
                </a:cxn>
                <a:cxn ang="T12">
                  <a:pos x="T4" y="T5"/>
                </a:cxn>
                <a:cxn ang="T13">
                  <a:pos x="T6" y="T7"/>
                </a:cxn>
                <a:cxn ang="T14">
                  <a:pos x="T8" y="T9"/>
                </a:cxn>
              </a:cxnLst>
              <a:rect l="T15" t="T16" r="T17" b="T18"/>
              <a:pathLst>
                <a:path w="204" h="343">
                  <a:moveTo>
                    <a:pt x="0" y="342"/>
                  </a:moveTo>
                  <a:lnTo>
                    <a:pt x="54" y="269"/>
                  </a:lnTo>
                  <a:lnTo>
                    <a:pt x="107" y="183"/>
                  </a:lnTo>
                  <a:lnTo>
                    <a:pt x="161" y="85"/>
                  </a:lnTo>
                  <a:lnTo>
                    <a:pt x="203"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57" name="Freeform 12"/>
          <p:cNvSpPr>
            <a:spLocks/>
          </p:cNvSpPr>
          <p:nvPr/>
        </p:nvSpPr>
        <p:spPr bwMode="auto">
          <a:xfrm>
            <a:off x="3400425" y="4054475"/>
            <a:ext cx="2478088" cy="1504950"/>
          </a:xfrm>
          <a:custGeom>
            <a:avLst/>
            <a:gdLst>
              <a:gd name="T0" fmla="*/ 0 w 1561"/>
              <a:gd name="T1" fmla="*/ 2147483646 h 948"/>
              <a:gd name="T2" fmla="*/ 2147483646 w 1561"/>
              <a:gd name="T3" fmla="*/ 0 h 948"/>
              <a:gd name="T4" fmla="*/ 0 60000 65536"/>
              <a:gd name="T5" fmla="*/ 0 60000 65536"/>
              <a:gd name="T6" fmla="*/ 0 w 1561"/>
              <a:gd name="T7" fmla="*/ 0 h 948"/>
              <a:gd name="T8" fmla="*/ 1561 w 1561"/>
              <a:gd name="T9" fmla="*/ 948 h 948"/>
            </a:gdLst>
            <a:ahLst/>
            <a:cxnLst>
              <a:cxn ang="T4">
                <a:pos x="T0" y="T1"/>
              </a:cxn>
              <a:cxn ang="T5">
                <a:pos x="T2" y="T3"/>
              </a:cxn>
            </a:cxnLst>
            <a:rect l="T6" t="T7" r="T8" b="T9"/>
            <a:pathLst>
              <a:path w="1561" h="948">
                <a:moveTo>
                  <a:pt x="0" y="947"/>
                </a:moveTo>
                <a:lnTo>
                  <a:pt x="156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58" name="Line 13"/>
          <p:cNvSpPr>
            <a:spLocks noChangeShapeType="1"/>
          </p:cNvSpPr>
          <p:nvPr/>
        </p:nvSpPr>
        <p:spPr bwMode="auto">
          <a:xfrm>
            <a:off x="4429125" y="4918075"/>
            <a:ext cx="0" cy="65087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9" name="Line 14"/>
          <p:cNvSpPr>
            <a:spLocks noChangeShapeType="1"/>
          </p:cNvSpPr>
          <p:nvPr/>
        </p:nvSpPr>
        <p:spPr bwMode="auto">
          <a:xfrm flipH="1">
            <a:off x="2268538" y="4941888"/>
            <a:ext cx="2133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0" name="Rectangle 15"/>
          <p:cNvSpPr>
            <a:spLocks noChangeArrowheads="1"/>
          </p:cNvSpPr>
          <p:nvPr/>
        </p:nvSpPr>
        <p:spPr bwMode="auto">
          <a:xfrm>
            <a:off x="4184650" y="5580063"/>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i="1">
                <a:latin typeface="Times New Roman" panose="02020603050405020304" pitchFamily="18" charset="0"/>
              </a:rPr>
              <a:t>S</a:t>
            </a:r>
          </a:p>
        </p:txBody>
      </p:sp>
      <p:sp>
        <p:nvSpPr>
          <p:cNvPr id="27661" name="Rectangle 16"/>
          <p:cNvSpPr>
            <a:spLocks noChangeArrowheads="1"/>
          </p:cNvSpPr>
          <p:nvPr/>
        </p:nvSpPr>
        <p:spPr bwMode="auto">
          <a:xfrm>
            <a:off x="1692275" y="4724400"/>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C</a:t>
            </a:r>
          </a:p>
        </p:txBody>
      </p:sp>
      <p:sp>
        <p:nvSpPr>
          <p:cNvPr id="27662" name="Rectangle 17"/>
          <p:cNvSpPr>
            <a:spLocks noChangeArrowheads="1"/>
          </p:cNvSpPr>
          <p:nvPr/>
        </p:nvSpPr>
        <p:spPr bwMode="auto">
          <a:xfrm>
            <a:off x="6143625" y="5105400"/>
            <a:ext cx="2024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a:t>Stock price</a:t>
            </a:r>
          </a:p>
        </p:txBody>
      </p:sp>
      <p:sp>
        <p:nvSpPr>
          <p:cNvPr id="27663" name="Rectangle 18"/>
          <p:cNvSpPr>
            <a:spLocks noChangeArrowheads="1"/>
          </p:cNvSpPr>
          <p:nvPr/>
        </p:nvSpPr>
        <p:spPr bwMode="auto">
          <a:xfrm>
            <a:off x="5376863" y="5580063"/>
            <a:ext cx="5000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i="1">
                <a:latin typeface="Times New Roman" panose="02020603050405020304" pitchFamily="18" charset="0"/>
              </a:rPr>
              <a:t>S</a:t>
            </a:r>
            <a:r>
              <a:rPr lang="en-US" altLang="en-US" sz="2800">
                <a:cs typeface="Arial" panose="020B0604020202020204" pitchFamily="34" charset="0"/>
              </a:rPr>
              <a:t>'</a:t>
            </a:r>
          </a:p>
        </p:txBody>
      </p:sp>
      <p:sp>
        <p:nvSpPr>
          <p:cNvPr id="27664" name="Line 19"/>
          <p:cNvSpPr>
            <a:spLocks noChangeShapeType="1"/>
          </p:cNvSpPr>
          <p:nvPr/>
        </p:nvSpPr>
        <p:spPr bwMode="auto">
          <a:xfrm flipV="1">
            <a:off x="5567363" y="3968750"/>
            <a:ext cx="0" cy="160337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5" name="Line 20"/>
          <p:cNvSpPr>
            <a:spLocks noChangeShapeType="1"/>
          </p:cNvSpPr>
          <p:nvPr/>
        </p:nvSpPr>
        <p:spPr bwMode="auto">
          <a:xfrm flipH="1">
            <a:off x="2295525" y="4251325"/>
            <a:ext cx="3271838"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6" name="Line 21"/>
          <p:cNvSpPr>
            <a:spLocks noChangeShapeType="1"/>
          </p:cNvSpPr>
          <p:nvPr/>
        </p:nvSpPr>
        <p:spPr bwMode="auto">
          <a:xfrm flipH="1">
            <a:off x="2295525" y="3960813"/>
            <a:ext cx="3286125"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67" name="Rectangle 22"/>
          <p:cNvSpPr>
            <a:spLocks noChangeArrowheads="1"/>
          </p:cNvSpPr>
          <p:nvPr/>
        </p:nvSpPr>
        <p:spPr bwMode="auto">
          <a:xfrm>
            <a:off x="2425700" y="2306638"/>
            <a:ext cx="9969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2800"/>
              <a:t>Call</a:t>
            </a:r>
          </a:p>
          <a:p>
            <a:pPr algn="ctr">
              <a:spcBef>
                <a:spcPct val="0"/>
              </a:spcBef>
              <a:buClrTx/>
              <a:buSzTx/>
              <a:buFontTx/>
              <a:buNone/>
            </a:pPr>
            <a:r>
              <a:rPr lang="en-US" altLang="en-US" sz="2800"/>
              <a:t>price</a:t>
            </a:r>
          </a:p>
        </p:txBody>
      </p:sp>
      <p:sp>
        <p:nvSpPr>
          <p:cNvPr id="27668" name="Rectangle 23"/>
          <p:cNvSpPr>
            <a:spLocks noChangeArrowheads="1"/>
          </p:cNvSpPr>
          <p:nvPr/>
        </p:nvSpPr>
        <p:spPr bwMode="auto">
          <a:xfrm>
            <a:off x="1692275" y="36449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C</a:t>
            </a:r>
            <a:r>
              <a:rPr lang="en-US" altLang="en-US" sz="2400">
                <a:cs typeface="Arial" panose="020B0604020202020204" pitchFamily="34" charset="0"/>
              </a:rPr>
              <a:t>''</a:t>
            </a:r>
          </a:p>
        </p:txBody>
      </p:sp>
      <p:sp>
        <p:nvSpPr>
          <p:cNvPr id="27669" name="Rectangle 24"/>
          <p:cNvSpPr>
            <a:spLocks noChangeArrowheads="1"/>
          </p:cNvSpPr>
          <p:nvPr/>
        </p:nvSpPr>
        <p:spPr bwMode="auto">
          <a:xfrm>
            <a:off x="1692275" y="4005263"/>
            <a:ext cx="885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i="1">
                <a:latin typeface="Times New Roman" panose="02020603050405020304" pitchFamily="18" charset="0"/>
              </a:rPr>
              <a:t>C</a:t>
            </a:r>
            <a:r>
              <a:rPr lang="en-US" altLang="en-US" sz="2400">
                <a:cs typeface="Arial" panose="020B0604020202020204" pitchFamily="34" charset="0"/>
              </a:rPr>
              <a: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1000125"/>
            <a:ext cx="7772400" cy="714375"/>
          </a:xfrm>
        </p:spPr>
        <p:txBody>
          <a:bodyPr lIns="92075" tIns="46038" rIns="92075" bIns="46038"/>
          <a:lstStyle/>
          <a:p>
            <a:pPr eaLnBrk="1" hangingPunct="1"/>
            <a:r>
              <a:rPr lang="en-US" altLang="en-US"/>
              <a:t>Vega</a:t>
            </a:r>
          </a:p>
        </p:txBody>
      </p:sp>
      <p:sp>
        <p:nvSpPr>
          <p:cNvPr id="29699" name="Rectangle 3"/>
          <p:cNvSpPr>
            <a:spLocks noGrp="1" noChangeArrowheads="1"/>
          </p:cNvSpPr>
          <p:nvPr>
            <p:ph idx="1"/>
          </p:nvPr>
        </p:nvSpPr>
        <p:spPr>
          <a:xfrm>
            <a:off x="685800" y="1928813"/>
            <a:ext cx="7772400" cy="4043362"/>
          </a:xfrm>
        </p:spPr>
        <p:txBody>
          <a:bodyPr lIns="92075" tIns="46038" rIns="92075" bIns="46038"/>
          <a:lstStyle/>
          <a:p>
            <a:pPr eaLnBrk="1" hangingPunct="1"/>
            <a:r>
              <a:rPr lang="en-US" altLang="en-US">
                <a:cs typeface="Arial" panose="020B0604020202020204" pitchFamily="34" charset="0"/>
              </a:rPr>
              <a:t>Vega (</a:t>
            </a:r>
            <a:r>
              <a:rPr lang="en-US" altLang="en-US" sz="4000">
                <a:latin typeface="Symbol" panose="05050102010706020507" pitchFamily="18" charset="2"/>
                <a:cs typeface="Arial" panose="020B0604020202020204" pitchFamily="34" charset="0"/>
              </a:rPr>
              <a:t>n</a:t>
            </a:r>
            <a:r>
              <a:rPr lang="en-US" altLang="en-US">
                <a:cs typeface="Arial" panose="020B0604020202020204" pitchFamily="34" charset="0"/>
              </a:rPr>
              <a:t>) is the rate of change of the value of a derivatives portfolio with respect to volatility</a:t>
            </a:r>
          </a:p>
          <a:p>
            <a:pPr eaLnBrk="1" hangingPunct="1"/>
            <a:r>
              <a:rPr lang="en-US" altLang="en-US">
                <a:cs typeface="Arial" panose="020B0604020202020204" pitchFamily="34" charset="0"/>
              </a:rPr>
              <a:t>Like gamma, vega tends to be greatest for options that are close to the money</a:t>
            </a:r>
          </a:p>
        </p:txBody>
      </p:sp>
      <p:sp>
        <p:nvSpPr>
          <p:cNvPr id="2970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297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F35774F-0D09-45E4-A0A4-BBA0DE2D15D5}" type="slidenum">
              <a:rPr lang="en-US" altLang="en-US" sz="1800"/>
              <a:pPr>
                <a:spcBef>
                  <a:spcPct val="0"/>
                </a:spcBef>
                <a:buClrTx/>
                <a:buSzTx/>
                <a:buFontTx/>
                <a:buNone/>
              </a:pPr>
              <a:t>13</a:t>
            </a:fld>
            <a:endParaRPr lang="en-US" altLang="en-US" sz="180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a:t>Gamma and Vega Limits</a:t>
            </a:r>
            <a:endParaRPr lang="en-CA" altLang="en-US"/>
          </a:p>
        </p:txBody>
      </p:sp>
      <p:sp>
        <p:nvSpPr>
          <p:cNvPr id="31747" name="Rectangle 3"/>
          <p:cNvSpPr>
            <a:spLocks noGrp="1" noChangeArrowheads="1"/>
          </p:cNvSpPr>
          <p:nvPr>
            <p:ph idx="1"/>
          </p:nvPr>
        </p:nvSpPr>
        <p:spPr/>
        <p:txBody>
          <a:bodyPr/>
          <a:lstStyle/>
          <a:p>
            <a:pPr eaLnBrk="1" hangingPunct="1"/>
            <a:r>
              <a:rPr lang="en-US" altLang="en-US">
                <a:cs typeface="Arial" panose="020B0604020202020204" pitchFamily="34" charset="0"/>
              </a:rPr>
              <a:t>In practice, a traders must keep gamma and vega within limits set by risk management </a:t>
            </a:r>
            <a:endParaRPr lang="en-CA" altLang="en-US">
              <a:cs typeface="Arial" panose="020B0604020202020204" pitchFamily="34" charset="0"/>
            </a:endParaRPr>
          </a:p>
        </p:txBody>
      </p:sp>
      <p:sp>
        <p:nvSpPr>
          <p:cNvPr id="3174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317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971B034-7F5D-4F28-B6C4-5885088C1CB8}" type="slidenum">
              <a:rPr lang="en-US" altLang="en-US" sz="1800"/>
              <a:pPr>
                <a:spcBef>
                  <a:spcPct val="0"/>
                </a:spcBef>
                <a:buClrTx/>
                <a:buSzTx/>
                <a:buFontTx/>
                <a:buNone/>
              </a:pPr>
              <a:t>14</a:t>
            </a:fld>
            <a:endParaRPr lang="en-US" alt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642938"/>
            <a:ext cx="7772400" cy="1143000"/>
          </a:xfrm>
        </p:spPr>
        <p:txBody>
          <a:bodyPr lIns="92075" tIns="46038" rIns="92075" bIns="46038"/>
          <a:lstStyle/>
          <a:p>
            <a:pPr eaLnBrk="1" hangingPunct="1"/>
            <a:r>
              <a:rPr lang="en-US" altLang="en-US"/>
              <a:t>Theta</a:t>
            </a:r>
          </a:p>
        </p:txBody>
      </p:sp>
      <p:sp>
        <p:nvSpPr>
          <p:cNvPr id="33795" name="Rectangle 3"/>
          <p:cNvSpPr>
            <a:spLocks noGrp="1" noChangeArrowheads="1"/>
          </p:cNvSpPr>
          <p:nvPr>
            <p:ph idx="1"/>
          </p:nvPr>
        </p:nvSpPr>
        <p:spPr>
          <a:xfrm>
            <a:off x="457200" y="1800225"/>
            <a:ext cx="8229600" cy="3595688"/>
          </a:xfrm>
        </p:spPr>
        <p:txBody>
          <a:bodyPr lIns="92075" tIns="46038" rIns="92075" bIns="46038"/>
          <a:lstStyle/>
          <a:p>
            <a:pPr eaLnBrk="1" hangingPunct="1"/>
            <a:r>
              <a:rPr lang="en-US" altLang="en-US">
                <a:cs typeface="Arial" panose="020B0604020202020204" pitchFamily="34" charset="0"/>
              </a:rPr>
              <a:t>Theta (</a:t>
            </a:r>
            <a:r>
              <a:rPr lang="en-US" altLang="en-US">
                <a:latin typeface="Symbol" panose="05050102010706020507" pitchFamily="18" charset="2"/>
                <a:cs typeface="Arial" panose="020B0604020202020204" pitchFamily="34" charset="0"/>
              </a:rPr>
              <a:t>Q</a:t>
            </a:r>
            <a:r>
              <a:rPr lang="en-US" altLang="en-US">
                <a:cs typeface="Arial" panose="020B0604020202020204" pitchFamily="34" charset="0"/>
              </a:rPr>
              <a:t>) of a derivative  (or portfolio of derivatives) is the rate of change of the value with respect to the passage of time</a:t>
            </a:r>
          </a:p>
          <a:p>
            <a:pPr eaLnBrk="1" hangingPunct="1"/>
            <a:r>
              <a:rPr lang="en-US" altLang="en-US">
                <a:cs typeface="Arial" panose="020B0604020202020204" pitchFamily="34" charset="0"/>
              </a:rPr>
              <a:t>The theta of a call or put is usually negative. This means that, if time passes with the price of the underlying asset and its volatility remaining the same, the value of the option declines</a:t>
            </a:r>
          </a:p>
        </p:txBody>
      </p:sp>
      <p:sp>
        <p:nvSpPr>
          <p:cNvPr id="337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337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C047F93-B26C-40A7-9102-9747D8141A14}" type="slidenum">
              <a:rPr lang="en-US" altLang="en-US" sz="1800"/>
              <a:pPr>
                <a:spcBef>
                  <a:spcPct val="0"/>
                </a:spcBef>
                <a:buClrTx/>
                <a:buSzTx/>
                <a:buFontTx/>
                <a:buNone/>
              </a:pPr>
              <a:t>15</a:t>
            </a:fld>
            <a:endParaRPr lang="en-US" altLang="en-US" sz="180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6"/>
          <p:cNvSpPr>
            <a:spLocks noGrp="1" noChangeArrowheads="1"/>
          </p:cNvSpPr>
          <p:nvPr>
            <p:ph type="title"/>
          </p:nvPr>
        </p:nvSpPr>
        <p:spPr/>
        <p:txBody>
          <a:bodyPr/>
          <a:lstStyle/>
          <a:p>
            <a:pPr eaLnBrk="1" hangingPunct="1"/>
            <a:r>
              <a:rPr lang="en-US" altLang="en-US"/>
              <a:t>Rho</a:t>
            </a:r>
            <a:endParaRPr lang="en-CA" altLang="en-US"/>
          </a:p>
        </p:txBody>
      </p:sp>
      <p:sp>
        <p:nvSpPr>
          <p:cNvPr id="35843" name="Rectangle 1027"/>
          <p:cNvSpPr>
            <a:spLocks noGrp="1" noChangeArrowheads="1"/>
          </p:cNvSpPr>
          <p:nvPr>
            <p:ph idx="1"/>
          </p:nvPr>
        </p:nvSpPr>
        <p:spPr/>
        <p:txBody>
          <a:bodyPr/>
          <a:lstStyle/>
          <a:p>
            <a:pPr eaLnBrk="1" hangingPunct="1"/>
            <a:r>
              <a:rPr lang="en-US" altLang="en-US">
                <a:cs typeface="Arial" panose="020B0604020202020204" pitchFamily="34" charset="0"/>
              </a:rPr>
              <a:t>Rho is the partial derivative with respect to a parallel shift in all interest rates in a particular country </a:t>
            </a:r>
            <a:endParaRPr lang="en-CA" altLang="en-US">
              <a:cs typeface="Arial" panose="020B0604020202020204" pitchFamily="34" charset="0"/>
            </a:endParaRPr>
          </a:p>
        </p:txBody>
      </p:sp>
      <p:sp>
        <p:nvSpPr>
          <p:cNvPr id="358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358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5FF593D-ED33-4C07-9565-21576223F880}" type="slidenum">
              <a:rPr lang="en-US" altLang="en-US" sz="1800"/>
              <a:pPr>
                <a:spcBef>
                  <a:spcPct val="0"/>
                </a:spcBef>
                <a:buClrTx/>
                <a:buSzTx/>
                <a:buFontTx/>
                <a:buNone/>
              </a:pPr>
              <a:t>16</a:t>
            </a:fld>
            <a:endParaRPr lang="en-US" altLang="en-US"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dirty="0"/>
              <a:t>Taylor Series Expansion </a:t>
            </a:r>
            <a:r>
              <a:rPr lang="en-US" altLang="en-US" sz="2400" dirty="0"/>
              <a:t>(Equation 15.1)</a:t>
            </a:r>
          </a:p>
        </p:txBody>
      </p:sp>
      <p:graphicFrame>
        <p:nvGraphicFramePr>
          <p:cNvPr id="37891" name="Object 6"/>
          <p:cNvGraphicFramePr>
            <a:graphicFrameLocks noGrp="1" noChangeAspect="1"/>
          </p:cNvGraphicFramePr>
          <p:nvPr>
            <p:ph sz="half" idx="1"/>
          </p:nvPr>
        </p:nvGraphicFramePr>
        <p:xfrm>
          <a:off x="857250" y="2357438"/>
          <a:ext cx="6889750" cy="2449512"/>
        </p:xfrm>
        <a:graphic>
          <a:graphicData uri="http://schemas.openxmlformats.org/presentationml/2006/ole">
            <mc:AlternateContent xmlns:mc="http://schemas.openxmlformats.org/markup-compatibility/2006">
              <mc:Choice xmlns:v="urn:schemas-microsoft-com:vml" Requires="v">
                <p:oleObj spid="_x0000_s1026" name="Equation" r:id="rId4" imgW="2286000" imgH="812800" progId="Equation.3">
                  <p:embed/>
                </p:oleObj>
              </mc:Choice>
              <mc:Fallback>
                <p:oleObj name="Equation" r:id="rId4" imgW="2286000" imgH="8128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2357438"/>
                        <a:ext cx="6889750"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378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3C6ED00-5C01-4D93-A6E1-0CC55AA931DC}" type="slidenum">
              <a:rPr lang="en-US" altLang="en-US" sz="1800"/>
              <a:pPr>
                <a:spcBef>
                  <a:spcPct val="0"/>
                </a:spcBef>
                <a:buClrTx/>
                <a:buSzTx/>
                <a:buFontTx/>
                <a:buNone/>
              </a:pPr>
              <a:t>17</a:t>
            </a:fld>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55650" y="908050"/>
            <a:ext cx="7772400" cy="928688"/>
          </a:xfrm>
        </p:spPr>
        <p:txBody>
          <a:bodyPr lIns="92075" tIns="46038" rIns="92075" bIns="46038"/>
          <a:lstStyle/>
          <a:p>
            <a:pPr eaLnBrk="1" hangingPunct="1"/>
            <a:r>
              <a:rPr lang="en-US" altLang="en-US" dirty="0"/>
              <a:t>Interpretation  of Gamma </a:t>
            </a:r>
            <a:br>
              <a:rPr lang="en-US" altLang="en-US" dirty="0"/>
            </a:br>
            <a:r>
              <a:rPr lang="en-US" altLang="en-US" sz="2400" dirty="0"/>
              <a:t>(Equation 15.2)</a:t>
            </a:r>
          </a:p>
        </p:txBody>
      </p:sp>
      <p:sp>
        <p:nvSpPr>
          <p:cNvPr id="84995" name="Rectangle 3"/>
          <p:cNvSpPr>
            <a:spLocks noGrp="1" noChangeArrowheads="1"/>
          </p:cNvSpPr>
          <p:nvPr>
            <p:ph idx="1"/>
          </p:nvPr>
        </p:nvSpPr>
        <p:spPr>
          <a:xfrm>
            <a:off x="827088" y="2060575"/>
            <a:ext cx="7772400" cy="428625"/>
          </a:xfrm>
        </p:spPr>
        <p:txBody>
          <a:bodyPr lIns="92075" tIns="46038" rIns="92075" bIns="46038"/>
          <a:lstStyle/>
          <a:p>
            <a:pPr eaLnBrk="1" hangingPunct="1">
              <a:lnSpc>
                <a:spcPct val="90000"/>
              </a:lnSpc>
              <a:defRPr/>
            </a:pPr>
            <a:r>
              <a:rPr lang="en-US" sz="2800" dirty="0"/>
              <a:t>For a delta neutral portfolio, </a:t>
            </a:r>
          </a:p>
          <a:p>
            <a:pPr eaLnBrk="1" hangingPunct="1">
              <a:lnSpc>
                <a:spcPct val="90000"/>
              </a:lnSpc>
              <a:buFont typeface="Wingdings" panose="05000000000000000000" pitchFamily="2" charset="2"/>
              <a:buNone/>
              <a:defRPr/>
            </a:pPr>
            <a:r>
              <a:rPr lang="en-US" sz="2800" dirty="0">
                <a:latin typeface="Symbol" pitchFamily="18" charset="2"/>
              </a:rPr>
              <a:t>			D</a:t>
            </a:r>
            <a:r>
              <a:rPr lang="en-US" sz="2800" i="1" dirty="0">
                <a:latin typeface="+mj-lt"/>
              </a:rPr>
              <a:t>P</a:t>
            </a:r>
            <a:r>
              <a:rPr lang="en-US" sz="2800" dirty="0"/>
              <a:t> </a:t>
            </a:r>
            <a:r>
              <a:rPr lang="en-US" sz="2800" dirty="0">
                <a:latin typeface="Symbol" pitchFamily="18" charset="2"/>
              </a:rPr>
              <a:t>»</a:t>
            </a:r>
            <a:r>
              <a:rPr lang="en-US" sz="2800" dirty="0"/>
              <a:t> </a:t>
            </a:r>
            <a:r>
              <a:rPr lang="en-US" sz="2800" dirty="0">
                <a:latin typeface="Symbol" pitchFamily="18" charset="2"/>
              </a:rPr>
              <a:t>Q</a:t>
            </a:r>
            <a:r>
              <a:rPr lang="en-US" sz="2800" dirty="0"/>
              <a:t> </a:t>
            </a:r>
            <a:r>
              <a:rPr lang="en-US" sz="2800" dirty="0">
                <a:latin typeface="Symbol" pitchFamily="18" charset="2"/>
              </a:rPr>
              <a:t>D</a:t>
            </a:r>
            <a:r>
              <a:rPr lang="en-US" sz="2800" i="1" dirty="0">
                <a:latin typeface="+mj-lt"/>
              </a:rPr>
              <a:t>t</a:t>
            </a:r>
            <a:r>
              <a:rPr lang="en-US" sz="2800" dirty="0">
                <a:latin typeface="+mj-lt"/>
              </a:rPr>
              <a:t> </a:t>
            </a:r>
            <a:r>
              <a:rPr lang="en-US" sz="2800" dirty="0"/>
              <a:t> + ½</a:t>
            </a:r>
            <a:r>
              <a:rPr lang="en-US" sz="2800" dirty="0">
                <a:latin typeface="Symbol" pitchFamily="18" charset="2"/>
              </a:rPr>
              <a:t>GD</a:t>
            </a:r>
            <a:r>
              <a:rPr lang="en-US" sz="2800" i="1" dirty="0">
                <a:latin typeface="+mj-lt"/>
              </a:rPr>
              <a:t>S</a:t>
            </a:r>
            <a:r>
              <a:rPr lang="en-US" sz="2800" dirty="0"/>
              <a:t> </a:t>
            </a:r>
            <a:r>
              <a:rPr lang="en-US" sz="2800" baseline="30000" dirty="0"/>
              <a:t>2</a:t>
            </a:r>
            <a:r>
              <a:rPr lang="en-US" sz="2800" dirty="0"/>
              <a:t>   </a:t>
            </a:r>
          </a:p>
        </p:txBody>
      </p:sp>
      <p:sp>
        <p:nvSpPr>
          <p:cNvPr id="3994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39941" name="Slide Number Placeholder 3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3DC38DA-3684-4DF5-908A-123D385FD7CF}" type="slidenum">
              <a:rPr lang="en-US" altLang="en-US" sz="1800"/>
              <a:pPr>
                <a:spcBef>
                  <a:spcPct val="0"/>
                </a:spcBef>
                <a:buClrTx/>
                <a:buSzTx/>
                <a:buFontTx/>
                <a:buNone/>
              </a:pPr>
              <a:t>18</a:t>
            </a:fld>
            <a:endParaRPr lang="en-US" altLang="en-US" sz="1800"/>
          </a:p>
        </p:txBody>
      </p:sp>
      <p:grpSp>
        <p:nvGrpSpPr>
          <p:cNvPr id="39942" name="Group 32"/>
          <p:cNvGrpSpPr>
            <a:grpSpLocks/>
          </p:cNvGrpSpPr>
          <p:nvPr/>
        </p:nvGrpSpPr>
        <p:grpSpPr bwMode="auto">
          <a:xfrm>
            <a:off x="5286375" y="3000375"/>
            <a:ext cx="2828925" cy="2714625"/>
            <a:chOff x="4914900" y="2484438"/>
            <a:chExt cx="3200400" cy="3230562"/>
          </a:xfrm>
        </p:grpSpPr>
        <p:grpSp>
          <p:nvGrpSpPr>
            <p:cNvPr id="39958" name="Group 4"/>
            <p:cNvGrpSpPr>
              <a:grpSpLocks/>
            </p:cNvGrpSpPr>
            <p:nvPr/>
          </p:nvGrpSpPr>
          <p:grpSpPr bwMode="auto">
            <a:xfrm>
              <a:off x="5184775" y="3730625"/>
              <a:ext cx="2414588" cy="827088"/>
              <a:chOff x="3266" y="2350"/>
              <a:chExt cx="1521" cy="521"/>
            </a:xfrm>
          </p:grpSpPr>
          <p:sp>
            <p:nvSpPr>
              <p:cNvPr id="39964" name="Freeform 5"/>
              <p:cNvSpPr>
                <a:spLocks/>
              </p:cNvSpPr>
              <p:nvPr/>
            </p:nvSpPr>
            <p:spPr bwMode="auto">
              <a:xfrm>
                <a:off x="3266" y="2583"/>
                <a:ext cx="221" cy="284"/>
              </a:xfrm>
              <a:custGeom>
                <a:avLst/>
                <a:gdLst>
                  <a:gd name="T0" fmla="*/ 0 w 221"/>
                  <a:gd name="T1" fmla="*/ 283 h 284"/>
                  <a:gd name="T2" fmla="*/ 4 w 221"/>
                  <a:gd name="T3" fmla="*/ 283 h 284"/>
                  <a:gd name="T4" fmla="*/ 9 w 221"/>
                  <a:gd name="T5" fmla="*/ 275 h 284"/>
                  <a:gd name="T6" fmla="*/ 13 w 221"/>
                  <a:gd name="T7" fmla="*/ 271 h 284"/>
                  <a:gd name="T8" fmla="*/ 18 w 221"/>
                  <a:gd name="T9" fmla="*/ 262 h 284"/>
                  <a:gd name="T10" fmla="*/ 22 w 221"/>
                  <a:gd name="T11" fmla="*/ 258 h 284"/>
                  <a:gd name="T12" fmla="*/ 66 w 221"/>
                  <a:gd name="T13" fmla="*/ 185 h 284"/>
                  <a:gd name="T14" fmla="*/ 113 w 221"/>
                  <a:gd name="T15" fmla="*/ 115 h 284"/>
                  <a:gd name="T16" fmla="*/ 173 w 221"/>
                  <a:gd name="T17" fmla="*/ 41 h 284"/>
                  <a:gd name="T18" fmla="*/ 198 w 221"/>
                  <a:gd name="T19" fmla="*/ 25 h 284"/>
                  <a:gd name="T20" fmla="*/ 220 w 221"/>
                  <a:gd name="T21" fmla="*/ 0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1"/>
                  <a:gd name="T34" fmla="*/ 0 h 284"/>
                  <a:gd name="T35" fmla="*/ 221 w 221"/>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1" h="284">
                    <a:moveTo>
                      <a:pt x="0" y="283"/>
                    </a:moveTo>
                    <a:lnTo>
                      <a:pt x="4" y="283"/>
                    </a:lnTo>
                    <a:lnTo>
                      <a:pt x="9" y="275"/>
                    </a:lnTo>
                    <a:lnTo>
                      <a:pt x="13" y="271"/>
                    </a:lnTo>
                    <a:lnTo>
                      <a:pt x="18" y="262"/>
                    </a:lnTo>
                    <a:lnTo>
                      <a:pt x="22" y="258"/>
                    </a:lnTo>
                    <a:lnTo>
                      <a:pt x="66" y="185"/>
                    </a:lnTo>
                    <a:lnTo>
                      <a:pt x="113" y="115"/>
                    </a:lnTo>
                    <a:lnTo>
                      <a:pt x="173" y="41"/>
                    </a:lnTo>
                    <a:lnTo>
                      <a:pt x="198" y="25"/>
                    </a:lnTo>
                    <a:lnTo>
                      <a:pt x="22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65" name="Freeform 6"/>
              <p:cNvSpPr>
                <a:spLocks/>
              </p:cNvSpPr>
              <p:nvPr/>
            </p:nvSpPr>
            <p:spPr bwMode="auto">
              <a:xfrm>
                <a:off x="3490" y="2366"/>
                <a:ext cx="369" cy="218"/>
              </a:xfrm>
              <a:custGeom>
                <a:avLst/>
                <a:gdLst>
                  <a:gd name="T0" fmla="*/ 0 w 369"/>
                  <a:gd name="T1" fmla="*/ 217 h 218"/>
                  <a:gd name="T2" fmla="*/ 104 w 369"/>
                  <a:gd name="T3" fmla="*/ 123 h 218"/>
                  <a:gd name="T4" fmla="*/ 249 w 369"/>
                  <a:gd name="T5" fmla="*/ 45 h 218"/>
                  <a:gd name="T6" fmla="*/ 368 w 369"/>
                  <a:gd name="T7" fmla="*/ 0 h 218"/>
                  <a:gd name="T8" fmla="*/ 0 60000 65536"/>
                  <a:gd name="T9" fmla="*/ 0 60000 65536"/>
                  <a:gd name="T10" fmla="*/ 0 60000 65536"/>
                  <a:gd name="T11" fmla="*/ 0 60000 65536"/>
                  <a:gd name="T12" fmla="*/ 0 w 369"/>
                  <a:gd name="T13" fmla="*/ 0 h 218"/>
                  <a:gd name="T14" fmla="*/ 369 w 369"/>
                  <a:gd name="T15" fmla="*/ 218 h 218"/>
                </a:gdLst>
                <a:ahLst/>
                <a:cxnLst>
                  <a:cxn ang="T8">
                    <a:pos x="T0" y="T1"/>
                  </a:cxn>
                  <a:cxn ang="T9">
                    <a:pos x="T2" y="T3"/>
                  </a:cxn>
                  <a:cxn ang="T10">
                    <a:pos x="T4" y="T5"/>
                  </a:cxn>
                  <a:cxn ang="T11">
                    <a:pos x="T6" y="T7"/>
                  </a:cxn>
                </a:cxnLst>
                <a:rect l="T12" t="T13" r="T14" b="T15"/>
                <a:pathLst>
                  <a:path w="369" h="218">
                    <a:moveTo>
                      <a:pt x="0" y="217"/>
                    </a:moveTo>
                    <a:lnTo>
                      <a:pt x="104" y="123"/>
                    </a:lnTo>
                    <a:lnTo>
                      <a:pt x="249" y="45"/>
                    </a:lnTo>
                    <a:lnTo>
                      <a:pt x="368"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66" name="Freeform 7"/>
              <p:cNvSpPr>
                <a:spLocks/>
              </p:cNvSpPr>
              <p:nvPr/>
            </p:nvSpPr>
            <p:spPr bwMode="auto">
              <a:xfrm>
                <a:off x="3858" y="2350"/>
                <a:ext cx="389" cy="36"/>
              </a:xfrm>
              <a:custGeom>
                <a:avLst/>
                <a:gdLst>
                  <a:gd name="T0" fmla="*/ 0 w 389"/>
                  <a:gd name="T1" fmla="*/ 16 h 36"/>
                  <a:gd name="T2" fmla="*/ 129 w 389"/>
                  <a:gd name="T3" fmla="*/ 0 h 36"/>
                  <a:gd name="T4" fmla="*/ 226 w 389"/>
                  <a:gd name="T5" fmla="*/ 0 h 36"/>
                  <a:gd name="T6" fmla="*/ 388 w 389"/>
                  <a:gd name="T7" fmla="*/ 35 h 36"/>
                  <a:gd name="T8" fmla="*/ 0 60000 65536"/>
                  <a:gd name="T9" fmla="*/ 0 60000 65536"/>
                  <a:gd name="T10" fmla="*/ 0 60000 65536"/>
                  <a:gd name="T11" fmla="*/ 0 60000 65536"/>
                  <a:gd name="T12" fmla="*/ 0 w 389"/>
                  <a:gd name="T13" fmla="*/ 0 h 36"/>
                  <a:gd name="T14" fmla="*/ 389 w 389"/>
                  <a:gd name="T15" fmla="*/ 36 h 36"/>
                </a:gdLst>
                <a:ahLst/>
                <a:cxnLst>
                  <a:cxn ang="T8">
                    <a:pos x="T0" y="T1"/>
                  </a:cxn>
                  <a:cxn ang="T9">
                    <a:pos x="T2" y="T3"/>
                  </a:cxn>
                  <a:cxn ang="T10">
                    <a:pos x="T4" y="T5"/>
                  </a:cxn>
                  <a:cxn ang="T11">
                    <a:pos x="T6" y="T7"/>
                  </a:cxn>
                </a:cxnLst>
                <a:rect l="T12" t="T13" r="T14" b="T15"/>
                <a:pathLst>
                  <a:path w="389" h="36">
                    <a:moveTo>
                      <a:pt x="0" y="16"/>
                    </a:moveTo>
                    <a:lnTo>
                      <a:pt x="129" y="0"/>
                    </a:lnTo>
                    <a:lnTo>
                      <a:pt x="226" y="0"/>
                    </a:lnTo>
                    <a:lnTo>
                      <a:pt x="388" y="35"/>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67" name="Freeform 8"/>
              <p:cNvSpPr>
                <a:spLocks/>
              </p:cNvSpPr>
              <p:nvPr/>
            </p:nvSpPr>
            <p:spPr bwMode="auto">
              <a:xfrm>
                <a:off x="4246" y="2385"/>
                <a:ext cx="375" cy="262"/>
              </a:xfrm>
              <a:custGeom>
                <a:avLst/>
                <a:gdLst>
                  <a:gd name="T0" fmla="*/ 0 w 375"/>
                  <a:gd name="T1" fmla="*/ 0 h 262"/>
                  <a:gd name="T2" fmla="*/ 138 w 375"/>
                  <a:gd name="T3" fmla="*/ 62 h 262"/>
                  <a:gd name="T4" fmla="*/ 223 w 375"/>
                  <a:gd name="T5" fmla="*/ 116 h 262"/>
                  <a:gd name="T6" fmla="*/ 321 w 375"/>
                  <a:gd name="T7" fmla="*/ 203 h 262"/>
                  <a:gd name="T8" fmla="*/ 374 w 375"/>
                  <a:gd name="T9" fmla="*/ 261 h 262"/>
                  <a:gd name="T10" fmla="*/ 0 60000 65536"/>
                  <a:gd name="T11" fmla="*/ 0 60000 65536"/>
                  <a:gd name="T12" fmla="*/ 0 60000 65536"/>
                  <a:gd name="T13" fmla="*/ 0 60000 65536"/>
                  <a:gd name="T14" fmla="*/ 0 60000 65536"/>
                  <a:gd name="T15" fmla="*/ 0 w 375"/>
                  <a:gd name="T16" fmla="*/ 0 h 262"/>
                  <a:gd name="T17" fmla="*/ 375 w 375"/>
                  <a:gd name="T18" fmla="*/ 262 h 262"/>
                </a:gdLst>
                <a:ahLst/>
                <a:cxnLst>
                  <a:cxn ang="T10">
                    <a:pos x="T0" y="T1"/>
                  </a:cxn>
                  <a:cxn ang="T11">
                    <a:pos x="T2" y="T3"/>
                  </a:cxn>
                  <a:cxn ang="T12">
                    <a:pos x="T4" y="T5"/>
                  </a:cxn>
                  <a:cxn ang="T13">
                    <a:pos x="T6" y="T7"/>
                  </a:cxn>
                  <a:cxn ang="T14">
                    <a:pos x="T8" y="T9"/>
                  </a:cxn>
                </a:cxnLst>
                <a:rect l="T15" t="T16" r="T17" b="T18"/>
                <a:pathLst>
                  <a:path w="375" h="262">
                    <a:moveTo>
                      <a:pt x="0" y="0"/>
                    </a:moveTo>
                    <a:lnTo>
                      <a:pt x="138" y="62"/>
                    </a:lnTo>
                    <a:lnTo>
                      <a:pt x="223" y="116"/>
                    </a:lnTo>
                    <a:lnTo>
                      <a:pt x="321" y="203"/>
                    </a:lnTo>
                    <a:lnTo>
                      <a:pt x="374" y="261"/>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68" name="Freeform 9"/>
              <p:cNvSpPr>
                <a:spLocks/>
              </p:cNvSpPr>
              <p:nvPr/>
            </p:nvSpPr>
            <p:spPr bwMode="auto">
              <a:xfrm>
                <a:off x="4620" y="2646"/>
                <a:ext cx="167" cy="225"/>
              </a:xfrm>
              <a:custGeom>
                <a:avLst/>
                <a:gdLst>
                  <a:gd name="T0" fmla="*/ 0 w 167"/>
                  <a:gd name="T1" fmla="*/ 0 h 225"/>
                  <a:gd name="T2" fmla="*/ 40 w 167"/>
                  <a:gd name="T3" fmla="*/ 41 h 225"/>
                  <a:gd name="T4" fmla="*/ 83 w 167"/>
                  <a:gd name="T5" fmla="*/ 98 h 225"/>
                  <a:gd name="T6" fmla="*/ 128 w 167"/>
                  <a:gd name="T7" fmla="*/ 163 h 225"/>
                  <a:gd name="T8" fmla="*/ 166 w 167"/>
                  <a:gd name="T9" fmla="*/ 224 h 225"/>
                  <a:gd name="T10" fmla="*/ 0 60000 65536"/>
                  <a:gd name="T11" fmla="*/ 0 60000 65536"/>
                  <a:gd name="T12" fmla="*/ 0 60000 65536"/>
                  <a:gd name="T13" fmla="*/ 0 60000 65536"/>
                  <a:gd name="T14" fmla="*/ 0 60000 65536"/>
                  <a:gd name="T15" fmla="*/ 0 w 167"/>
                  <a:gd name="T16" fmla="*/ 0 h 225"/>
                  <a:gd name="T17" fmla="*/ 167 w 167"/>
                  <a:gd name="T18" fmla="*/ 225 h 225"/>
                </a:gdLst>
                <a:ahLst/>
                <a:cxnLst>
                  <a:cxn ang="T10">
                    <a:pos x="T0" y="T1"/>
                  </a:cxn>
                  <a:cxn ang="T11">
                    <a:pos x="T2" y="T3"/>
                  </a:cxn>
                  <a:cxn ang="T12">
                    <a:pos x="T4" y="T5"/>
                  </a:cxn>
                  <a:cxn ang="T13">
                    <a:pos x="T6" y="T7"/>
                  </a:cxn>
                  <a:cxn ang="T14">
                    <a:pos x="T8" y="T9"/>
                  </a:cxn>
                </a:cxnLst>
                <a:rect l="T15" t="T16" r="T17" b="T18"/>
                <a:pathLst>
                  <a:path w="167" h="225">
                    <a:moveTo>
                      <a:pt x="0" y="0"/>
                    </a:moveTo>
                    <a:lnTo>
                      <a:pt x="40" y="41"/>
                    </a:lnTo>
                    <a:lnTo>
                      <a:pt x="83" y="98"/>
                    </a:lnTo>
                    <a:lnTo>
                      <a:pt x="128" y="163"/>
                    </a:lnTo>
                    <a:lnTo>
                      <a:pt x="166" y="224"/>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9959" name="Group 10"/>
            <p:cNvGrpSpPr>
              <a:grpSpLocks/>
            </p:cNvGrpSpPr>
            <p:nvPr/>
          </p:nvGrpSpPr>
          <p:grpSpPr bwMode="auto">
            <a:xfrm>
              <a:off x="4914900" y="2514600"/>
              <a:ext cx="3200400" cy="3200400"/>
              <a:chOff x="3096" y="1584"/>
              <a:chExt cx="2016" cy="2016"/>
            </a:xfrm>
          </p:grpSpPr>
          <p:sp>
            <p:nvSpPr>
              <p:cNvPr id="39962" name="Line 11"/>
              <p:cNvSpPr>
                <a:spLocks noChangeShapeType="1"/>
              </p:cNvSpPr>
              <p:nvPr/>
            </p:nvSpPr>
            <p:spPr bwMode="auto">
              <a:xfrm>
                <a:off x="3096" y="2592"/>
                <a:ext cx="2016"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9963" name="Line 12"/>
              <p:cNvSpPr>
                <a:spLocks noChangeShapeType="1"/>
              </p:cNvSpPr>
              <p:nvPr/>
            </p:nvSpPr>
            <p:spPr bwMode="auto">
              <a:xfrm flipV="1">
                <a:off x="4008" y="1584"/>
                <a:ext cx="0" cy="201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sp>
          <p:nvSpPr>
            <p:cNvPr id="85005" name="Rectangle 13"/>
            <p:cNvSpPr>
              <a:spLocks noChangeArrowheads="1"/>
            </p:cNvSpPr>
            <p:nvPr/>
          </p:nvSpPr>
          <p:spPr bwMode="auto">
            <a:xfrm>
              <a:off x="6346280" y="2484438"/>
              <a:ext cx="635770" cy="549763"/>
            </a:xfrm>
            <a:prstGeom prst="rect">
              <a:avLst/>
            </a:prstGeom>
            <a:noFill/>
            <a:ln w="9525">
              <a:noFill/>
              <a:miter lim="800000"/>
              <a:headEnd/>
              <a:tailEnd/>
            </a:ln>
            <a:effectLst/>
          </p:spPr>
          <p:txBody>
            <a:bodyPr wrap="none" lIns="92075" tIns="46038" rIns="92075" bIns="46038">
              <a:spAutoFit/>
            </a:bodyPr>
            <a:lstStyle/>
            <a:p>
              <a:pPr>
                <a:spcBef>
                  <a:spcPct val="20000"/>
                </a:spcBef>
                <a:defRPr/>
              </a:pPr>
              <a:r>
                <a:rPr lang="en-US" sz="2400" dirty="0">
                  <a:latin typeface="Symbol" pitchFamily="18" charset="2"/>
                </a:rPr>
                <a:t>D</a:t>
              </a:r>
              <a:r>
                <a:rPr lang="en-US" sz="2400" i="1" dirty="0">
                  <a:latin typeface="+mj-lt"/>
                </a:rPr>
                <a:t>P</a:t>
              </a:r>
            </a:p>
          </p:txBody>
        </p:sp>
        <p:sp>
          <p:nvSpPr>
            <p:cNvPr id="39961" name="Rectangle 14"/>
            <p:cNvSpPr>
              <a:spLocks noChangeArrowheads="1"/>
            </p:cNvSpPr>
            <p:nvPr/>
          </p:nvSpPr>
          <p:spPr bwMode="auto">
            <a:xfrm>
              <a:off x="7261225" y="3551238"/>
              <a:ext cx="692757" cy="550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a:latin typeface="Symbol" panose="05050102010706020507" pitchFamily="18" charset="2"/>
                </a:rPr>
                <a:t>D</a:t>
              </a:r>
              <a:r>
                <a:rPr lang="en-US" altLang="en-US" sz="2400" i="1">
                  <a:latin typeface="Times New Roman" panose="02020603050405020304" pitchFamily="18" charset="0"/>
                </a:rPr>
                <a:t>S</a:t>
              </a:r>
              <a:r>
                <a:rPr lang="en-US" altLang="en-US" sz="2400" i="1"/>
                <a:t> </a:t>
              </a:r>
            </a:p>
          </p:txBody>
        </p:sp>
      </p:grpSp>
      <p:sp>
        <p:nvSpPr>
          <p:cNvPr id="39943" name="Rectangle 15"/>
          <p:cNvSpPr>
            <a:spLocks noChangeArrowheads="1"/>
          </p:cNvSpPr>
          <p:nvPr/>
        </p:nvSpPr>
        <p:spPr bwMode="auto">
          <a:xfrm>
            <a:off x="5356225" y="5729288"/>
            <a:ext cx="25828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Negative Gamma</a:t>
            </a:r>
          </a:p>
        </p:txBody>
      </p:sp>
      <p:grpSp>
        <p:nvGrpSpPr>
          <p:cNvPr id="39944" name="Group 31"/>
          <p:cNvGrpSpPr>
            <a:grpSpLocks/>
          </p:cNvGrpSpPr>
          <p:nvPr/>
        </p:nvGrpSpPr>
        <p:grpSpPr bwMode="auto">
          <a:xfrm>
            <a:off x="1428750" y="3071813"/>
            <a:ext cx="2800350" cy="2643187"/>
            <a:chOff x="1028700" y="2484438"/>
            <a:chExt cx="3200400" cy="3230562"/>
          </a:xfrm>
        </p:grpSpPr>
        <p:grpSp>
          <p:nvGrpSpPr>
            <p:cNvPr id="39946" name="Group 16"/>
            <p:cNvGrpSpPr>
              <a:grpSpLocks/>
            </p:cNvGrpSpPr>
            <p:nvPr/>
          </p:nvGrpSpPr>
          <p:grpSpPr bwMode="auto">
            <a:xfrm>
              <a:off x="1028700" y="2514600"/>
              <a:ext cx="3200400" cy="3200400"/>
              <a:chOff x="648" y="1584"/>
              <a:chExt cx="2016" cy="2016"/>
            </a:xfrm>
          </p:grpSpPr>
          <p:grpSp>
            <p:nvGrpSpPr>
              <p:cNvPr id="39949" name="Group 17"/>
              <p:cNvGrpSpPr>
                <a:grpSpLocks/>
              </p:cNvGrpSpPr>
              <p:nvPr/>
            </p:nvGrpSpPr>
            <p:grpSpPr bwMode="auto">
              <a:xfrm>
                <a:off x="818" y="2350"/>
                <a:ext cx="1521" cy="521"/>
                <a:chOff x="818" y="2350"/>
                <a:chExt cx="1521" cy="521"/>
              </a:xfrm>
            </p:grpSpPr>
            <p:sp>
              <p:nvSpPr>
                <p:cNvPr id="39953" name="Freeform 18"/>
                <p:cNvSpPr>
                  <a:spLocks/>
                </p:cNvSpPr>
                <p:nvPr/>
              </p:nvSpPr>
              <p:spPr bwMode="auto">
                <a:xfrm>
                  <a:off x="818" y="2354"/>
                  <a:ext cx="221" cy="284"/>
                </a:xfrm>
                <a:custGeom>
                  <a:avLst/>
                  <a:gdLst>
                    <a:gd name="T0" fmla="*/ 0 w 221"/>
                    <a:gd name="T1" fmla="*/ 0 h 284"/>
                    <a:gd name="T2" fmla="*/ 4 w 221"/>
                    <a:gd name="T3" fmla="*/ 0 h 284"/>
                    <a:gd name="T4" fmla="*/ 9 w 221"/>
                    <a:gd name="T5" fmla="*/ 8 h 284"/>
                    <a:gd name="T6" fmla="*/ 13 w 221"/>
                    <a:gd name="T7" fmla="*/ 12 h 284"/>
                    <a:gd name="T8" fmla="*/ 18 w 221"/>
                    <a:gd name="T9" fmla="*/ 21 h 284"/>
                    <a:gd name="T10" fmla="*/ 22 w 221"/>
                    <a:gd name="T11" fmla="*/ 25 h 284"/>
                    <a:gd name="T12" fmla="*/ 66 w 221"/>
                    <a:gd name="T13" fmla="*/ 98 h 284"/>
                    <a:gd name="T14" fmla="*/ 113 w 221"/>
                    <a:gd name="T15" fmla="*/ 168 h 284"/>
                    <a:gd name="T16" fmla="*/ 173 w 221"/>
                    <a:gd name="T17" fmla="*/ 242 h 284"/>
                    <a:gd name="T18" fmla="*/ 198 w 221"/>
                    <a:gd name="T19" fmla="*/ 258 h 284"/>
                    <a:gd name="T20" fmla="*/ 220 w 221"/>
                    <a:gd name="T21" fmla="*/ 283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1"/>
                    <a:gd name="T34" fmla="*/ 0 h 284"/>
                    <a:gd name="T35" fmla="*/ 221 w 221"/>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1" h="284">
                      <a:moveTo>
                        <a:pt x="0" y="0"/>
                      </a:moveTo>
                      <a:lnTo>
                        <a:pt x="4" y="0"/>
                      </a:lnTo>
                      <a:lnTo>
                        <a:pt x="9" y="8"/>
                      </a:lnTo>
                      <a:lnTo>
                        <a:pt x="13" y="12"/>
                      </a:lnTo>
                      <a:lnTo>
                        <a:pt x="18" y="21"/>
                      </a:lnTo>
                      <a:lnTo>
                        <a:pt x="22" y="25"/>
                      </a:lnTo>
                      <a:lnTo>
                        <a:pt x="66" y="98"/>
                      </a:lnTo>
                      <a:lnTo>
                        <a:pt x="113" y="168"/>
                      </a:lnTo>
                      <a:lnTo>
                        <a:pt x="173" y="242"/>
                      </a:lnTo>
                      <a:lnTo>
                        <a:pt x="198" y="258"/>
                      </a:lnTo>
                      <a:lnTo>
                        <a:pt x="220" y="283"/>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54" name="Freeform 19"/>
                <p:cNvSpPr>
                  <a:spLocks/>
                </p:cNvSpPr>
                <p:nvPr/>
              </p:nvSpPr>
              <p:spPr bwMode="auto">
                <a:xfrm>
                  <a:off x="1042" y="2637"/>
                  <a:ext cx="369" cy="218"/>
                </a:xfrm>
                <a:custGeom>
                  <a:avLst/>
                  <a:gdLst>
                    <a:gd name="T0" fmla="*/ 0 w 369"/>
                    <a:gd name="T1" fmla="*/ 0 h 218"/>
                    <a:gd name="T2" fmla="*/ 104 w 369"/>
                    <a:gd name="T3" fmla="*/ 94 h 218"/>
                    <a:gd name="T4" fmla="*/ 249 w 369"/>
                    <a:gd name="T5" fmla="*/ 172 h 218"/>
                    <a:gd name="T6" fmla="*/ 368 w 369"/>
                    <a:gd name="T7" fmla="*/ 217 h 218"/>
                    <a:gd name="T8" fmla="*/ 0 60000 65536"/>
                    <a:gd name="T9" fmla="*/ 0 60000 65536"/>
                    <a:gd name="T10" fmla="*/ 0 60000 65536"/>
                    <a:gd name="T11" fmla="*/ 0 60000 65536"/>
                    <a:gd name="T12" fmla="*/ 0 w 369"/>
                    <a:gd name="T13" fmla="*/ 0 h 218"/>
                    <a:gd name="T14" fmla="*/ 369 w 369"/>
                    <a:gd name="T15" fmla="*/ 218 h 218"/>
                  </a:gdLst>
                  <a:ahLst/>
                  <a:cxnLst>
                    <a:cxn ang="T8">
                      <a:pos x="T0" y="T1"/>
                    </a:cxn>
                    <a:cxn ang="T9">
                      <a:pos x="T2" y="T3"/>
                    </a:cxn>
                    <a:cxn ang="T10">
                      <a:pos x="T4" y="T5"/>
                    </a:cxn>
                    <a:cxn ang="T11">
                      <a:pos x="T6" y="T7"/>
                    </a:cxn>
                  </a:cxnLst>
                  <a:rect l="T12" t="T13" r="T14" b="T15"/>
                  <a:pathLst>
                    <a:path w="369" h="218">
                      <a:moveTo>
                        <a:pt x="0" y="0"/>
                      </a:moveTo>
                      <a:lnTo>
                        <a:pt x="104" y="94"/>
                      </a:lnTo>
                      <a:lnTo>
                        <a:pt x="249" y="172"/>
                      </a:lnTo>
                      <a:lnTo>
                        <a:pt x="368" y="217"/>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55" name="Freeform 20"/>
                <p:cNvSpPr>
                  <a:spLocks/>
                </p:cNvSpPr>
                <p:nvPr/>
              </p:nvSpPr>
              <p:spPr bwMode="auto">
                <a:xfrm>
                  <a:off x="1410" y="2835"/>
                  <a:ext cx="389" cy="36"/>
                </a:xfrm>
                <a:custGeom>
                  <a:avLst/>
                  <a:gdLst>
                    <a:gd name="T0" fmla="*/ 0 w 389"/>
                    <a:gd name="T1" fmla="*/ 19 h 36"/>
                    <a:gd name="T2" fmla="*/ 129 w 389"/>
                    <a:gd name="T3" fmla="*/ 35 h 36"/>
                    <a:gd name="T4" fmla="*/ 226 w 389"/>
                    <a:gd name="T5" fmla="*/ 35 h 36"/>
                    <a:gd name="T6" fmla="*/ 388 w 389"/>
                    <a:gd name="T7" fmla="*/ 0 h 36"/>
                    <a:gd name="T8" fmla="*/ 0 60000 65536"/>
                    <a:gd name="T9" fmla="*/ 0 60000 65536"/>
                    <a:gd name="T10" fmla="*/ 0 60000 65536"/>
                    <a:gd name="T11" fmla="*/ 0 60000 65536"/>
                    <a:gd name="T12" fmla="*/ 0 w 389"/>
                    <a:gd name="T13" fmla="*/ 0 h 36"/>
                    <a:gd name="T14" fmla="*/ 389 w 389"/>
                    <a:gd name="T15" fmla="*/ 36 h 36"/>
                  </a:gdLst>
                  <a:ahLst/>
                  <a:cxnLst>
                    <a:cxn ang="T8">
                      <a:pos x="T0" y="T1"/>
                    </a:cxn>
                    <a:cxn ang="T9">
                      <a:pos x="T2" y="T3"/>
                    </a:cxn>
                    <a:cxn ang="T10">
                      <a:pos x="T4" y="T5"/>
                    </a:cxn>
                    <a:cxn ang="T11">
                      <a:pos x="T6" y="T7"/>
                    </a:cxn>
                  </a:cxnLst>
                  <a:rect l="T12" t="T13" r="T14" b="T15"/>
                  <a:pathLst>
                    <a:path w="389" h="36">
                      <a:moveTo>
                        <a:pt x="0" y="19"/>
                      </a:moveTo>
                      <a:lnTo>
                        <a:pt x="129" y="35"/>
                      </a:lnTo>
                      <a:lnTo>
                        <a:pt x="226" y="35"/>
                      </a:lnTo>
                      <a:lnTo>
                        <a:pt x="388"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56" name="Freeform 21"/>
                <p:cNvSpPr>
                  <a:spLocks/>
                </p:cNvSpPr>
                <p:nvPr/>
              </p:nvSpPr>
              <p:spPr bwMode="auto">
                <a:xfrm>
                  <a:off x="1798" y="2574"/>
                  <a:ext cx="375" cy="262"/>
                </a:xfrm>
                <a:custGeom>
                  <a:avLst/>
                  <a:gdLst>
                    <a:gd name="T0" fmla="*/ 0 w 375"/>
                    <a:gd name="T1" fmla="*/ 261 h 262"/>
                    <a:gd name="T2" fmla="*/ 138 w 375"/>
                    <a:gd name="T3" fmla="*/ 199 h 262"/>
                    <a:gd name="T4" fmla="*/ 223 w 375"/>
                    <a:gd name="T5" fmla="*/ 145 h 262"/>
                    <a:gd name="T6" fmla="*/ 321 w 375"/>
                    <a:gd name="T7" fmla="*/ 58 h 262"/>
                    <a:gd name="T8" fmla="*/ 374 w 375"/>
                    <a:gd name="T9" fmla="*/ 0 h 262"/>
                    <a:gd name="T10" fmla="*/ 0 60000 65536"/>
                    <a:gd name="T11" fmla="*/ 0 60000 65536"/>
                    <a:gd name="T12" fmla="*/ 0 60000 65536"/>
                    <a:gd name="T13" fmla="*/ 0 60000 65536"/>
                    <a:gd name="T14" fmla="*/ 0 60000 65536"/>
                    <a:gd name="T15" fmla="*/ 0 w 375"/>
                    <a:gd name="T16" fmla="*/ 0 h 262"/>
                    <a:gd name="T17" fmla="*/ 375 w 375"/>
                    <a:gd name="T18" fmla="*/ 262 h 262"/>
                  </a:gdLst>
                  <a:ahLst/>
                  <a:cxnLst>
                    <a:cxn ang="T10">
                      <a:pos x="T0" y="T1"/>
                    </a:cxn>
                    <a:cxn ang="T11">
                      <a:pos x="T2" y="T3"/>
                    </a:cxn>
                    <a:cxn ang="T12">
                      <a:pos x="T4" y="T5"/>
                    </a:cxn>
                    <a:cxn ang="T13">
                      <a:pos x="T6" y="T7"/>
                    </a:cxn>
                    <a:cxn ang="T14">
                      <a:pos x="T8" y="T9"/>
                    </a:cxn>
                  </a:cxnLst>
                  <a:rect l="T15" t="T16" r="T17" b="T18"/>
                  <a:pathLst>
                    <a:path w="375" h="262">
                      <a:moveTo>
                        <a:pt x="0" y="261"/>
                      </a:moveTo>
                      <a:lnTo>
                        <a:pt x="138" y="199"/>
                      </a:lnTo>
                      <a:lnTo>
                        <a:pt x="223" y="145"/>
                      </a:lnTo>
                      <a:lnTo>
                        <a:pt x="321" y="58"/>
                      </a:lnTo>
                      <a:lnTo>
                        <a:pt x="374"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57" name="Freeform 22"/>
                <p:cNvSpPr>
                  <a:spLocks/>
                </p:cNvSpPr>
                <p:nvPr/>
              </p:nvSpPr>
              <p:spPr bwMode="auto">
                <a:xfrm>
                  <a:off x="2172" y="2350"/>
                  <a:ext cx="167" cy="225"/>
                </a:xfrm>
                <a:custGeom>
                  <a:avLst/>
                  <a:gdLst>
                    <a:gd name="T0" fmla="*/ 0 w 167"/>
                    <a:gd name="T1" fmla="*/ 224 h 225"/>
                    <a:gd name="T2" fmla="*/ 40 w 167"/>
                    <a:gd name="T3" fmla="*/ 183 h 225"/>
                    <a:gd name="T4" fmla="*/ 83 w 167"/>
                    <a:gd name="T5" fmla="*/ 126 h 225"/>
                    <a:gd name="T6" fmla="*/ 128 w 167"/>
                    <a:gd name="T7" fmla="*/ 61 h 225"/>
                    <a:gd name="T8" fmla="*/ 166 w 167"/>
                    <a:gd name="T9" fmla="*/ 0 h 225"/>
                    <a:gd name="T10" fmla="*/ 0 60000 65536"/>
                    <a:gd name="T11" fmla="*/ 0 60000 65536"/>
                    <a:gd name="T12" fmla="*/ 0 60000 65536"/>
                    <a:gd name="T13" fmla="*/ 0 60000 65536"/>
                    <a:gd name="T14" fmla="*/ 0 60000 65536"/>
                    <a:gd name="T15" fmla="*/ 0 w 167"/>
                    <a:gd name="T16" fmla="*/ 0 h 225"/>
                    <a:gd name="T17" fmla="*/ 167 w 167"/>
                    <a:gd name="T18" fmla="*/ 225 h 225"/>
                  </a:gdLst>
                  <a:ahLst/>
                  <a:cxnLst>
                    <a:cxn ang="T10">
                      <a:pos x="T0" y="T1"/>
                    </a:cxn>
                    <a:cxn ang="T11">
                      <a:pos x="T2" y="T3"/>
                    </a:cxn>
                    <a:cxn ang="T12">
                      <a:pos x="T4" y="T5"/>
                    </a:cxn>
                    <a:cxn ang="T13">
                      <a:pos x="T6" y="T7"/>
                    </a:cxn>
                    <a:cxn ang="T14">
                      <a:pos x="T8" y="T9"/>
                    </a:cxn>
                  </a:cxnLst>
                  <a:rect l="T15" t="T16" r="T17" b="T18"/>
                  <a:pathLst>
                    <a:path w="167" h="225">
                      <a:moveTo>
                        <a:pt x="0" y="224"/>
                      </a:moveTo>
                      <a:lnTo>
                        <a:pt x="40" y="183"/>
                      </a:lnTo>
                      <a:lnTo>
                        <a:pt x="83" y="126"/>
                      </a:lnTo>
                      <a:lnTo>
                        <a:pt x="128" y="61"/>
                      </a:lnTo>
                      <a:lnTo>
                        <a:pt x="16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9950" name="Group 23"/>
              <p:cNvGrpSpPr>
                <a:grpSpLocks/>
              </p:cNvGrpSpPr>
              <p:nvPr/>
            </p:nvGrpSpPr>
            <p:grpSpPr bwMode="auto">
              <a:xfrm>
                <a:off x="648" y="1584"/>
                <a:ext cx="2016" cy="2016"/>
                <a:chOff x="648" y="1584"/>
                <a:chExt cx="2016" cy="2016"/>
              </a:xfrm>
            </p:grpSpPr>
            <p:sp>
              <p:nvSpPr>
                <p:cNvPr id="39951" name="Line 24"/>
                <p:cNvSpPr>
                  <a:spLocks noChangeShapeType="1"/>
                </p:cNvSpPr>
                <p:nvPr/>
              </p:nvSpPr>
              <p:spPr bwMode="auto">
                <a:xfrm>
                  <a:off x="648" y="2592"/>
                  <a:ext cx="2016"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9952" name="Line 25"/>
                <p:cNvSpPr>
                  <a:spLocks noChangeShapeType="1"/>
                </p:cNvSpPr>
                <p:nvPr/>
              </p:nvSpPr>
              <p:spPr bwMode="auto">
                <a:xfrm flipV="1">
                  <a:off x="1560" y="1584"/>
                  <a:ext cx="0" cy="201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85018" name="Rectangle 26"/>
            <p:cNvSpPr>
              <a:spLocks noChangeArrowheads="1"/>
            </p:cNvSpPr>
            <p:nvPr/>
          </p:nvSpPr>
          <p:spPr bwMode="auto">
            <a:xfrm>
              <a:off x="2460172" y="2484438"/>
              <a:ext cx="642257" cy="564620"/>
            </a:xfrm>
            <a:prstGeom prst="rect">
              <a:avLst/>
            </a:prstGeom>
            <a:noFill/>
            <a:ln w="9525">
              <a:noFill/>
              <a:miter lim="800000"/>
              <a:headEnd/>
              <a:tailEnd/>
            </a:ln>
            <a:effectLst/>
          </p:spPr>
          <p:txBody>
            <a:bodyPr wrap="none" lIns="92075" tIns="46038" rIns="92075" bIns="46038">
              <a:spAutoFit/>
            </a:bodyPr>
            <a:lstStyle/>
            <a:p>
              <a:pPr>
                <a:spcBef>
                  <a:spcPct val="20000"/>
                </a:spcBef>
                <a:defRPr/>
              </a:pPr>
              <a:r>
                <a:rPr lang="en-US" sz="2400" dirty="0">
                  <a:latin typeface="Symbol" pitchFamily="18" charset="2"/>
                </a:rPr>
                <a:t>D</a:t>
              </a:r>
              <a:r>
                <a:rPr lang="en-US" sz="2400" i="1" dirty="0">
                  <a:latin typeface="+mj-lt"/>
                </a:rPr>
                <a:t>P</a:t>
              </a:r>
            </a:p>
          </p:txBody>
        </p:sp>
        <p:sp>
          <p:nvSpPr>
            <p:cNvPr id="39948" name="Rectangle 27"/>
            <p:cNvSpPr>
              <a:spLocks noChangeArrowheads="1"/>
            </p:cNvSpPr>
            <p:nvPr/>
          </p:nvSpPr>
          <p:spPr bwMode="auto">
            <a:xfrm>
              <a:off x="3375026" y="4160839"/>
              <a:ext cx="732795" cy="715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buClrTx/>
                <a:buSzTx/>
                <a:buFontTx/>
                <a:buNone/>
              </a:pPr>
              <a:r>
                <a:rPr lang="en-US" altLang="en-US" sz="2400">
                  <a:latin typeface="Symbol" panose="05050102010706020507" pitchFamily="18" charset="2"/>
                </a:rPr>
                <a:t>D</a:t>
              </a:r>
              <a:r>
                <a:rPr lang="en-US" altLang="en-US" sz="2400" i="1">
                  <a:latin typeface="Times New Roman" panose="02020603050405020304" pitchFamily="18" charset="0"/>
                </a:rPr>
                <a:t>S</a:t>
              </a:r>
              <a:r>
                <a:rPr lang="en-US" altLang="en-US" i="1"/>
                <a:t> </a:t>
              </a:r>
            </a:p>
          </p:txBody>
        </p:sp>
      </p:grpSp>
      <p:sp>
        <p:nvSpPr>
          <p:cNvPr id="39945" name="Rectangle 28"/>
          <p:cNvSpPr>
            <a:spLocks noChangeArrowheads="1"/>
          </p:cNvSpPr>
          <p:nvPr/>
        </p:nvSpPr>
        <p:spPr bwMode="auto">
          <a:xfrm>
            <a:off x="1393825" y="5715000"/>
            <a:ext cx="2982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t>Positive Gamma</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en-US" sz="4000"/>
              <a:t>Taylor Series Expansion when Volatility is Uncertain</a:t>
            </a:r>
          </a:p>
        </p:txBody>
      </p:sp>
      <p:graphicFrame>
        <p:nvGraphicFramePr>
          <p:cNvPr id="41987" name="Object 4"/>
          <p:cNvGraphicFramePr>
            <a:graphicFrameLocks noGrp="1" noChangeAspect="1"/>
          </p:cNvGraphicFramePr>
          <p:nvPr>
            <p:ph idx="1"/>
          </p:nvPr>
        </p:nvGraphicFramePr>
        <p:xfrm>
          <a:off x="1616075" y="2714625"/>
          <a:ext cx="6189663" cy="2247900"/>
        </p:xfrm>
        <a:graphic>
          <a:graphicData uri="http://schemas.openxmlformats.org/presentationml/2006/ole">
            <mc:AlternateContent xmlns:mc="http://schemas.openxmlformats.org/markup-compatibility/2006">
              <mc:Choice xmlns:v="urn:schemas-microsoft-com:vml" Requires="v">
                <p:oleObj spid="_x0000_s2050" name="Equation" r:id="rId4" imgW="2692400" imgH="977900" progId="Equation.3">
                  <p:embed/>
                </p:oleObj>
              </mc:Choice>
              <mc:Fallback>
                <p:oleObj name="Equation" r:id="rId4" imgW="2692400" imgH="977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6075" y="2714625"/>
                        <a:ext cx="6189663"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4198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C671861-0399-44EB-9551-4275E687238E}" type="slidenum">
              <a:rPr lang="en-US" altLang="en-US" sz="1800"/>
              <a:pPr>
                <a:spcBef>
                  <a:spcPct val="0"/>
                </a:spcBef>
                <a:buClrTx/>
                <a:buSzTx/>
                <a:buFontTx/>
                <a:buNone/>
              </a:pPr>
              <a:t>19</a:t>
            </a:fld>
            <a:endParaRPr lang="en-US" alt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246063" y="1143000"/>
            <a:ext cx="7772400" cy="930275"/>
          </a:xfrm>
        </p:spPr>
        <p:txBody>
          <a:bodyPr lIns="92075" tIns="46038" rIns="92075" bIns="46038"/>
          <a:lstStyle/>
          <a:p>
            <a:pPr eaLnBrk="1" hangingPunct="1"/>
            <a:r>
              <a:rPr lang="en-US" altLang="en-US" sz="4000"/>
              <a:t>Managing  Delta, Gamma, &amp; Vega</a:t>
            </a:r>
          </a:p>
        </p:txBody>
      </p:sp>
      <p:sp>
        <p:nvSpPr>
          <p:cNvPr id="44035" name="Rectangle 3"/>
          <p:cNvSpPr>
            <a:spLocks noGrp="1" noChangeArrowheads="1"/>
          </p:cNvSpPr>
          <p:nvPr>
            <p:ph idx="1"/>
          </p:nvPr>
        </p:nvSpPr>
        <p:spPr/>
        <p:txBody>
          <a:bodyPr lIns="92075" tIns="46038" rIns="92075" bIns="46038"/>
          <a:lstStyle/>
          <a:p>
            <a:pPr eaLnBrk="1" hangingPunct="1">
              <a:lnSpc>
                <a:spcPct val="90000"/>
              </a:lnSpc>
            </a:pPr>
            <a:endParaRPr lang="en-US" altLang="en-US">
              <a:cs typeface="Arial" panose="020B0604020202020204" pitchFamily="34" charset="0"/>
            </a:endParaRPr>
          </a:p>
          <a:p>
            <a:pPr eaLnBrk="1" hangingPunct="1">
              <a:lnSpc>
                <a:spcPct val="90000"/>
              </a:lnSpc>
            </a:pPr>
            <a:r>
              <a:rPr lang="en-US" altLang="en-US">
                <a:latin typeface="Symbol" panose="05050102010706020507" pitchFamily="18" charset="2"/>
                <a:cs typeface="Arial" panose="020B0604020202020204" pitchFamily="34" charset="0"/>
              </a:rPr>
              <a:t>D</a:t>
            </a:r>
            <a:r>
              <a:rPr lang="en-US" altLang="en-US">
                <a:cs typeface="Arial" panose="020B0604020202020204" pitchFamily="34" charset="0"/>
              </a:rPr>
              <a:t> can be changed by taking a position  in the underlying</a:t>
            </a:r>
          </a:p>
          <a:p>
            <a:pPr eaLnBrk="1" hangingPunct="1">
              <a:lnSpc>
                <a:spcPct val="90000"/>
              </a:lnSpc>
            </a:pPr>
            <a:r>
              <a:rPr lang="en-US" altLang="en-US">
                <a:cs typeface="Arial" panose="020B0604020202020204" pitchFamily="34" charset="0"/>
              </a:rPr>
              <a:t>To adjust </a:t>
            </a:r>
            <a:r>
              <a:rPr lang="en-US" altLang="en-US">
                <a:latin typeface="Symbol" panose="05050102010706020507" pitchFamily="18" charset="2"/>
                <a:cs typeface="Arial" panose="020B0604020202020204" pitchFamily="34" charset="0"/>
              </a:rPr>
              <a:t>G</a:t>
            </a:r>
            <a:r>
              <a:rPr lang="en-US" altLang="en-US">
                <a:cs typeface="Arial" panose="020B0604020202020204" pitchFamily="34" charset="0"/>
              </a:rPr>
              <a:t> &amp; </a:t>
            </a:r>
            <a:r>
              <a:rPr lang="en-US" altLang="en-US" sz="4000">
                <a:latin typeface="Symbol" panose="05050102010706020507" pitchFamily="18" charset="2"/>
                <a:cs typeface="Arial" panose="020B0604020202020204" pitchFamily="34" charset="0"/>
              </a:rPr>
              <a:t>n</a:t>
            </a:r>
            <a:r>
              <a:rPr lang="en-US" altLang="en-US">
                <a:cs typeface="Arial" panose="020B0604020202020204" pitchFamily="34" charset="0"/>
              </a:rPr>
              <a:t> it is necessary to take a position in an option or other derivative</a:t>
            </a:r>
          </a:p>
          <a:p>
            <a:pPr eaLnBrk="1" hangingPunct="1">
              <a:lnSpc>
                <a:spcPct val="90000"/>
              </a:lnSpc>
              <a:buFontTx/>
              <a:buNone/>
            </a:pPr>
            <a:endParaRPr lang="en-US" altLang="en-US">
              <a:cs typeface="Arial" panose="020B0604020202020204" pitchFamily="34" charset="0"/>
            </a:endParaRPr>
          </a:p>
        </p:txBody>
      </p:sp>
      <p:sp>
        <p:nvSpPr>
          <p:cNvPr id="4403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440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58CAB93-F5D7-4C03-8AA4-ED5F28BF799F}" type="slidenum">
              <a:rPr lang="en-US" altLang="en-US" sz="1800"/>
              <a:pPr>
                <a:spcBef>
                  <a:spcPct val="0"/>
                </a:spcBef>
                <a:buClrTx/>
                <a:buSzTx/>
                <a:buFontTx/>
                <a:buNone/>
              </a:pPr>
              <a:t>20</a:t>
            </a:fld>
            <a:endParaRPr lang="en-US" altLang="en-US" sz="18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lIns="92075" tIns="46038" rIns="92075" bIns="46038"/>
          <a:lstStyle/>
          <a:p>
            <a:pPr eaLnBrk="1" hangingPunct="1"/>
            <a:r>
              <a:rPr lang="en-US" altLang="en-US"/>
              <a:t>Hedging in Practice</a:t>
            </a:r>
          </a:p>
        </p:txBody>
      </p:sp>
      <p:sp>
        <p:nvSpPr>
          <p:cNvPr id="46083" name="Rectangle 3"/>
          <p:cNvSpPr>
            <a:spLocks noGrp="1" noChangeArrowheads="1"/>
          </p:cNvSpPr>
          <p:nvPr>
            <p:ph idx="1"/>
          </p:nvPr>
        </p:nvSpPr>
        <p:spPr/>
        <p:txBody>
          <a:bodyPr lIns="92075" tIns="46038" rIns="92075" bIns="46038"/>
          <a:lstStyle/>
          <a:p>
            <a:pPr eaLnBrk="1" hangingPunct="1"/>
            <a:r>
              <a:rPr lang="en-US" altLang="en-US">
                <a:cs typeface="Arial" panose="020B0604020202020204" pitchFamily="34" charset="0"/>
              </a:rPr>
              <a:t>Traders usually ensure that their portfolios are delta-neutral at least once a day</a:t>
            </a:r>
          </a:p>
          <a:p>
            <a:pPr eaLnBrk="1" hangingPunct="1"/>
            <a:r>
              <a:rPr lang="en-US" altLang="en-US">
                <a:cs typeface="Arial" panose="020B0604020202020204" pitchFamily="34" charset="0"/>
              </a:rPr>
              <a:t>Whenever the opportunity arises, they  improve gamma and vega</a:t>
            </a:r>
          </a:p>
          <a:p>
            <a:pPr eaLnBrk="1" hangingPunct="1"/>
            <a:r>
              <a:rPr lang="en-US" altLang="en-US">
                <a:cs typeface="Arial" panose="020B0604020202020204" pitchFamily="34" charset="0"/>
              </a:rPr>
              <a:t>As portfolio becomes larger hedging becomes less expensive</a:t>
            </a:r>
          </a:p>
        </p:txBody>
      </p:sp>
      <p:sp>
        <p:nvSpPr>
          <p:cNvPr id="460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460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49E711A-4531-4C9A-8DA8-D87F3B2873A6}" type="slidenum">
              <a:rPr lang="en-US" altLang="en-US" sz="1800"/>
              <a:pPr>
                <a:spcBef>
                  <a:spcPct val="0"/>
                </a:spcBef>
                <a:buClrTx/>
                <a:buSzTx/>
                <a:buFontTx/>
                <a:buNone/>
              </a:pPr>
              <a:t>21</a:t>
            </a:fld>
            <a:endParaRPr lang="en-US" alt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11188" y="500063"/>
            <a:ext cx="6819900" cy="1071562"/>
          </a:xfrm>
        </p:spPr>
        <p:txBody>
          <a:bodyPr lIns="92075" tIns="46038" rIns="92075" bIns="46038"/>
          <a:lstStyle/>
          <a:p>
            <a:pPr eaLnBrk="1" hangingPunct="1"/>
            <a:r>
              <a:rPr lang="en-US" altLang="en-US" dirty="0"/>
              <a:t>Static Options Replication </a:t>
            </a:r>
            <a:br>
              <a:rPr lang="en-US" altLang="en-US" dirty="0"/>
            </a:br>
            <a:endParaRPr lang="en-US" altLang="en-US" sz="2400" b="0" dirty="0"/>
          </a:p>
        </p:txBody>
      </p:sp>
      <p:sp>
        <p:nvSpPr>
          <p:cNvPr id="48131" name="Rectangle 3"/>
          <p:cNvSpPr>
            <a:spLocks noGrp="1" noChangeArrowheads="1"/>
          </p:cNvSpPr>
          <p:nvPr>
            <p:ph idx="1"/>
          </p:nvPr>
        </p:nvSpPr>
        <p:spPr>
          <a:xfrm>
            <a:off x="609600" y="2286000"/>
            <a:ext cx="8153400" cy="3810000"/>
          </a:xfrm>
        </p:spPr>
        <p:txBody>
          <a:bodyPr lIns="92075" tIns="46038" rIns="92075" bIns="46038"/>
          <a:lstStyle/>
          <a:p>
            <a:pPr eaLnBrk="1" hangingPunct="1">
              <a:lnSpc>
                <a:spcPct val="90000"/>
              </a:lnSpc>
            </a:pPr>
            <a:r>
              <a:rPr lang="en-US" altLang="en-US" sz="2800">
                <a:cs typeface="Arial" panose="020B0604020202020204" pitchFamily="34" charset="0"/>
              </a:rPr>
              <a:t>This involves approximately replicating an exotic option with a portfolio of vanilla options</a:t>
            </a:r>
          </a:p>
          <a:p>
            <a:pPr eaLnBrk="1" hangingPunct="1">
              <a:lnSpc>
                <a:spcPct val="90000"/>
              </a:lnSpc>
            </a:pPr>
            <a:r>
              <a:rPr lang="en-US" altLang="en-US" sz="2800">
                <a:cs typeface="Arial" panose="020B0604020202020204" pitchFamily="34" charset="0"/>
              </a:rPr>
              <a:t>Underlying principle: if we match the value of an exotic option on some boundary, we have matched it at all interior points of the boundary</a:t>
            </a:r>
          </a:p>
          <a:p>
            <a:pPr eaLnBrk="1" hangingPunct="1">
              <a:lnSpc>
                <a:spcPct val="90000"/>
              </a:lnSpc>
            </a:pPr>
            <a:r>
              <a:rPr lang="en-US" altLang="en-US" sz="2800">
                <a:cs typeface="Arial" panose="020B0604020202020204" pitchFamily="34" charset="0"/>
              </a:rPr>
              <a:t>Static options replication can be contrasted with dynamic options replication where we have to trade continuously to match the option </a:t>
            </a:r>
          </a:p>
        </p:txBody>
      </p:sp>
      <p:sp>
        <p:nvSpPr>
          <p:cNvPr id="481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481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1709794-2DFD-48E6-88B8-77AA2AD9E783}" type="slidenum">
              <a:rPr lang="en-US" altLang="en-US" sz="1800"/>
              <a:pPr>
                <a:spcBef>
                  <a:spcPct val="0"/>
                </a:spcBef>
                <a:buClrTx/>
                <a:buSzTx/>
                <a:buFontTx/>
                <a:buNone/>
              </a:pPr>
              <a:t>22</a:t>
            </a:fld>
            <a:endParaRPr lang="en-US" altLang="en-US" sz="18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lIns="92075" tIns="46038" rIns="92075" bIns="46038"/>
          <a:lstStyle/>
          <a:p>
            <a:pPr eaLnBrk="1" hangingPunct="1"/>
            <a:r>
              <a:rPr lang="en-US" altLang="en-US"/>
              <a:t>Scenario Analysis</a:t>
            </a:r>
          </a:p>
        </p:txBody>
      </p:sp>
      <p:sp>
        <p:nvSpPr>
          <p:cNvPr id="49155" name="Rectangle 3"/>
          <p:cNvSpPr>
            <a:spLocks noGrp="1" noChangeArrowheads="1"/>
          </p:cNvSpPr>
          <p:nvPr>
            <p:ph idx="1"/>
          </p:nvPr>
        </p:nvSpPr>
        <p:spPr/>
        <p:txBody>
          <a:bodyPr lIns="92075" tIns="46038" rIns="92075" bIns="46038"/>
          <a:lstStyle/>
          <a:p>
            <a:pPr eaLnBrk="1" hangingPunct="1">
              <a:buFont typeface="Wingdings" panose="05000000000000000000" pitchFamily="2" charset="2"/>
              <a:buNone/>
            </a:pPr>
            <a:r>
              <a:rPr lang="en-US" altLang="en-US">
                <a:cs typeface="Arial" panose="020B0604020202020204" pitchFamily="34" charset="0"/>
              </a:rPr>
              <a:t>	A scenario analysis involves testing the effect on the value of a portfolio of different assumptions concerning asset prices and their volatilities</a:t>
            </a:r>
          </a:p>
        </p:txBody>
      </p:sp>
      <p:sp>
        <p:nvSpPr>
          <p:cNvPr id="491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p>
        </p:txBody>
      </p:sp>
      <p:sp>
        <p:nvSpPr>
          <p:cNvPr id="491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004599C-1417-4202-BA93-BE908717BA62}" type="slidenum">
              <a:rPr lang="en-US" altLang="en-US" sz="1800"/>
              <a:pPr>
                <a:spcBef>
                  <a:spcPct val="0"/>
                </a:spcBef>
                <a:buClrTx/>
                <a:buSzTx/>
                <a:buFontTx/>
                <a:buNone/>
              </a:pPr>
              <a:t>23</a:t>
            </a:fld>
            <a:endParaRPr lang="en-US" altLang="en-US" sz="180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noFill/>
        </p:spPr>
        <p:txBody>
          <a:bodyPr lIns="92075" tIns="46038" rIns="92075" bIns="46038" anchor="ctr"/>
          <a:lstStyle/>
          <a:p>
            <a:pPr eaLnBrk="1" hangingPunct="1"/>
            <a:r>
              <a:rPr lang="en-US" altLang="en-US" sz="3500" dirty="0"/>
              <a:t>Taylor Series Expansion </a:t>
            </a:r>
            <a:br>
              <a:rPr lang="en-US" altLang="en-US" sz="3500" dirty="0"/>
            </a:br>
            <a:r>
              <a:rPr lang="en-US" altLang="en-US" sz="3500" dirty="0"/>
              <a:t> </a:t>
            </a:r>
          </a:p>
        </p:txBody>
      </p:sp>
      <p:sp>
        <p:nvSpPr>
          <p:cNvPr id="40964" name="Rectangle 3"/>
          <p:cNvSpPr>
            <a:spLocks noGrp="1" noChangeArrowheads="1"/>
          </p:cNvSpPr>
          <p:nvPr>
            <p:ph idx="1"/>
          </p:nvPr>
        </p:nvSpPr>
        <p:spPr>
          <a:xfrm>
            <a:off x="114300" y="1340768"/>
            <a:ext cx="8229600" cy="4411662"/>
          </a:xfrm>
          <a:noFill/>
        </p:spPr>
        <p:txBody>
          <a:bodyPr lIns="92075" tIns="46038" rIns="92075" bIns="46038"/>
          <a:lstStyle/>
          <a:p>
            <a:pPr eaLnBrk="1" hangingPunct="1">
              <a:buFont typeface="Wingdings" panose="05000000000000000000" pitchFamily="2" charset="2"/>
              <a:buNone/>
            </a:pPr>
            <a:r>
              <a:rPr lang="en-US" altLang="en-US" sz="2800" dirty="0"/>
              <a:t>	When a portfolio contains derivatives such as options there is a gamma term and the linear model no longer applies. With one risk factor:</a:t>
            </a:r>
          </a:p>
          <a:p>
            <a:pPr eaLnBrk="1" hangingPunct="1">
              <a:buFont typeface="Wingdings" panose="05000000000000000000" pitchFamily="2" charset="2"/>
              <a:buNone/>
            </a:pPr>
            <a:endParaRPr lang="en-US" altLang="en-US" sz="2800" dirty="0"/>
          </a:p>
          <a:p>
            <a:pPr eaLnBrk="1" hangingPunct="1">
              <a:buFont typeface="Wingdings" panose="05000000000000000000" pitchFamily="2" charset="2"/>
              <a:buNone/>
            </a:pPr>
            <a:endParaRPr lang="en-US" altLang="en-US" sz="2800" dirty="0"/>
          </a:p>
          <a:p>
            <a:pPr eaLnBrk="1" hangingPunct="1">
              <a:buFont typeface="Wingdings" panose="05000000000000000000" pitchFamily="2" charset="2"/>
              <a:buNone/>
            </a:pPr>
            <a:endParaRPr lang="en-US" altLang="en-US" sz="2800" dirty="0"/>
          </a:p>
        </p:txBody>
      </p:sp>
      <p:sp>
        <p:nvSpPr>
          <p:cNvPr id="409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endParaRPr lang="en-US" altLang="en-US" sz="1400" i="0">
              <a:cs typeface="Arial" panose="020B0604020202020204" pitchFamily="34" charset="0"/>
            </a:endParaRPr>
          </a:p>
        </p:txBody>
      </p:sp>
      <p:sp>
        <p:nvSpPr>
          <p:cNvPr id="4096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5CD341C-19BF-4288-9E0A-0BC5B13B9B57}" type="slidenum">
              <a:rPr lang="en-US" altLang="en-US" sz="1800"/>
              <a:pPr>
                <a:spcBef>
                  <a:spcPct val="0"/>
                </a:spcBef>
                <a:buClrTx/>
                <a:buSzTx/>
                <a:buFontTx/>
                <a:buNone/>
              </a:pPr>
              <a:t>24</a:t>
            </a:fld>
            <a:endParaRPr lang="en-US" altLang="en-US" sz="1800"/>
          </a:p>
        </p:txBody>
      </p:sp>
      <p:graphicFrame>
        <p:nvGraphicFramePr>
          <p:cNvPr id="2" name="Object 1"/>
          <p:cNvGraphicFramePr>
            <a:graphicFrameLocks noChangeAspect="1"/>
          </p:cNvGraphicFramePr>
          <p:nvPr/>
        </p:nvGraphicFramePr>
        <p:xfrm>
          <a:off x="2123728" y="3212976"/>
          <a:ext cx="5217072" cy="995164"/>
        </p:xfrm>
        <a:graphic>
          <a:graphicData uri="http://schemas.openxmlformats.org/presentationml/2006/ole">
            <mc:AlternateContent xmlns:mc="http://schemas.openxmlformats.org/markup-compatibility/2006">
              <mc:Choice xmlns:v="urn:schemas-microsoft-com:vml" Requires="v">
                <p:oleObj spid="_x0000_s3074" name="Equation" r:id="rId4" imgW="2197080" imgH="419040" progId="Equation.3">
                  <p:embed/>
                </p:oleObj>
              </mc:Choice>
              <mc:Fallback>
                <p:oleObj name="Equation" r:id="rId4" imgW="2197080" imgH="419040" progId="Equation.3">
                  <p:embed/>
                  <p:pic>
                    <p:nvPicPr>
                      <p:cNvPr id="2" name="Object 1"/>
                      <p:cNvPicPr/>
                      <p:nvPr/>
                    </p:nvPicPr>
                    <p:blipFill>
                      <a:blip r:embed="rId5"/>
                      <a:stretch>
                        <a:fillRect/>
                      </a:stretch>
                    </p:blipFill>
                    <p:spPr>
                      <a:xfrm>
                        <a:off x="2123728" y="3212976"/>
                        <a:ext cx="5217072" cy="995164"/>
                      </a:xfrm>
                      <a:prstGeom prst="rect">
                        <a:avLst/>
                      </a:prstGeom>
                    </p:spPr>
                  </p:pic>
                </p:oleObj>
              </mc:Fallback>
            </mc:AlternateContent>
          </a:graphicData>
        </a:graphic>
      </p:graphicFrame>
      <p:sp>
        <p:nvSpPr>
          <p:cNvPr id="3" name="TextBox 2"/>
          <p:cNvSpPr txBox="1"/>
          <p:nvPr/>
        </p:nvSpPr>
        <p:spPr>
          <a:xfrm>
            <a:off x="611560" y="4797152"/>
            <a:ext cx="6984776" cy="954107"/>
          </a:xfrm>
          <a:prstGeom prst="rect">
            <a:avLst/>
          </a:prstGeom>
          <a:noFill/>
        </p:spPr>
        <p:txBody>
          <a:bodyPr wrap="square" rtlCol="0">
            <a:spAutoFit/>
          </a:bodyPr>
          <a:lstStyle/>
          <a:p>
            <a:r>
              <a:rPr lang="en-CA" sz="2800" dirty="0"/>
              <a:t>When daily changes in </a:t>
            </a:r>
            <a:r>
              <a:rPr lang="en-CA" sz="2800" i="1" dirty="0">
                <a:latin typeface="+mj-lt"/>
              </a:rPr>
              <a:t>S</a:t>
            </a:r>
            <a:r>
              <a:rPr lang="en-CA" sz="2800" dirty="0"/>
              <a:t> and </a:t>
            </a:r>
            <a:r>
              <a:rPr lang="en-CA" sz="2800" dirty="0">
                <a:latin typeface="Symbol" panose="05050102010706020507" pitchFamily="18" charset="2"/>
              </a:rPr>
              <a:t>s</a:t>
            </a:r>
            <a:r>
              <a:rPr lang="en-CA" sz="2800" dirty="0"/>
              <a:t> are normal, </a:t>
            </a:r>
            <a:r>
              <a:rPr lang="en-CA" sz="2800" dirty="0">
                <a:latin typeface="Symbol" panose="05050102010706020507" pitchFamily="18" charset="2"/>
              </a:rPr>
              <a:t>D</a:t>
            </a:r>
            <a:r>
              <a:rPr lang="en-CA" sz="2800" i="1" dirty="0">
                <a:latin typeface="+mj-lt"/>
              </a:rPr>
              <a:t>P</a:t>
            </a:r>
            <a:r>
              <a:rPr lang="en-CA" sz="2800" dirty="0"/>
              <a:t> is not normal</a:t>
            </a:r>
          </a:p>
        </p:txBody>
      </p:sp>
    </p:spTree>
    <p:extLst>
      <p:ext uri="{BB962C8B-B14F-4D97-AF65-F5344CB8AC3E}">
        <p14:creationId xmlns:p14="http://schemas.microsoft.com/office/powerpoint/2010/main" val="4185941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457200" y="357188"/>
            <a:ext cx="7543800" cy="1428750"/>
          </a:xfrm>
        </p:spPr>
        <p:txBody>
          <a:bodyPr/>
          <a:lstStyle/>
          <a:p>
            <a:r>
              <a:rPr lang="en-CA" altLang="en-US" dirty="0"/>
              <a:t>Translation of Asset Price Change to Price Change for Long Call </a:t>
            </a:r>
            <a:endParaRPr lang="en-US" altLang="en-US" sz="2400" dirty="0"/>
          </a:p>
        </p:txBody>
      </p:sp>
      <p:sp>
        <p:nvSpPr>
          <p:cNvPr id="4505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endParaRPr lang="en-US" altLang="en-US" sz="1400" i="0">
              <a:cs typeface="Arial" panose="020B0604020202020204" pitchFamily="34" charset="0"/>
            </a:endParaRPr>
          </a:p>
        </p:txBody>
      </p:sp>
      <p:sp>
        <p:nvSpPr>
          <p:cNvPr id="4506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0D27739-6930-4AFF-BD2F-86ED8FECF3F7}" type="slidenum">
              <a:rPr lang="en-US" altLang="en-US" sz="1800"/>
              <a:pPr>
                <a:spcBef>
                  <a:spcPct val="0"/>
                </a:spcBef>
                <a:buClrTx/>
                <a:buSzTx/>
                <a:buFontTx/>
                <a:buNone/>
              </a:pPr>
              <a:t>25</a:t>
            </a:fld>
            <a:endParaRPr lang="en-US" altLang="en-US" sz="1800"/>
          </a:p>
        </p:txBody>
      </p:sp>
      <p:grpSp>
        <p:nvGrpSpPr>
          <p:cNvPr id="45061" name="Group 117"/>
          <p:cNvGrpSpPr>
            <a:grpSpLocks/>
          </p:cNvGrpSpPr>
          <p:nvPr/>
        </p:nvGrpSpPr>
        <p:grpSpPr bwMode="auto">
          <a:xfrm>
            <a:off x="1000125" y="1857375"/>
            <a:ext cx="6572250" cy="4143375"/>
            <a:chOff x="1000100" y="1714487"/>
            <a:chExt cx="6572296" cy="4071967"/>
          </a:xfrm>
        </p:grpSpPr>
        <p:cxnSp>
          <p:nvCxnSpPr>
            <p:cNvPr id="45062" name="Straight Arrow Connector 6"/>
            <p:cNvCxnSpPr>
              <a:cxnSpLocks noChangeShapeType="1"/>
            </p:cNvCxnSpPr>
            <p:nvPr/>
          </p:nvCxnSpPr>
          <p:spPr bwMode="auto">
            <a:xfrm>
              <a:off x="2714612" y="4357694"/>
              <a:ext cx="3714776" cy="1588"/>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45063" name="Straight Arrow Connector 8"/>
            <p:cNvCxnSpPr>
              <a:cxnSpLocks noChangeShapeType="1"/>
            </p:cNvCxnSpPr>
            <p:nvPr/>
          </p:nvCxnSpPr>
          <p:spPr bwMode="auto">
            <a:xfrm rot="5400000" flipH="1" flipV="1">
              <a:off x="1428728" y="3071810"/>
              <a:ext cx="2571768" cy="1588"/>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pic>
          <p:nvPicPr>
            <p:cNvPr id="4506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26" y="4429131"/>
              <a:ext cx="3429024" cy="1357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4506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334947" y="2379640"/>
              <a:ext cx="2973381" cy="16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45066" name="Straight Connector 20"/>
            <p:cNvCxnSpPr>
              <a:cxnSpLocks noChangeShapeType="1"/>
            </p:cNvCxnSpPr>
            <p:nvPr/>
          </p:nvCxnSpPr>
          <p:spPr bwMode="auto">
            <a:xfrm rot="5400000" flipH="1" flipV="1">
              <a:off x="4251720" y="4320784"/>
              <a:ext cx="78502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67" name="Straight Connector 24"/>
            <p:cNvCxnSpPr>
              <a:cxnSpLocks noChangeShapeType="1"/>
            </p:cNvCxnSpPr>
            <p:nvPr/>
          </p:nvCxnSpPr>
          <p:spPr bwMode="auto">
            <a:xfrm rot="5400000" flipH="1" flipV="1">
              <a:off x="4108447" y="4393413"/>
              <a:ext cx="1642280"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68" name="Straight Connector 29"/>
            <p:cNvCxnSpPr>
              <a:cxnSpLocks noChangeShapeType="1"/>
            </p:cNvCxnSpPr>
            <p:nvPr/>
          </p:nvCxnSpPr>
          <p:spPr bwMode="auto">
            <a:xfrm rot="5400000" flipH="1" flipV="1">
              <a:off x="4036215" y="4250537"/>
              <a:ext cx="2500330"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69" name="Straight Connector 31"/>
            <p:cNvCxnSpPr>
              <a:cxnSpLocks noChangeShapeType="1"/>
            </p:cNvCxnSpPr>
            <p:nvPr/>
          </p:nvCxnSpPr>
          <p:spPr bwMode="auto">
            <a:xfrm>
              <a:off x="2285984" y="3000372"/>
              <a:ext cx="3000396"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70" name="Straight Connector 40"/>
            <p:cNvCxnSpPr>
              <a:cxnSpLocks noChangeShapeType="1"/>
            </p:cNvCxnSpPr>
            <p:nvPr/>
          </p:nvCxnSpPr>
          <p:spPr bwMode="auto">
            <a:xfrm rot="5400000" flipH="1" flipV="1">
              <a:off x="3858414" y="4714090"/>
              <a:ext cx="100013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71" name="Straight Connector 48"/>
            <p:cNvCxnSpPr>
              <a:cxnSpLocks noChangeShapeType="1"/>
            </p:cNvCxnSpPr>
            <p:nvPr/>
          </p:nvCxnSpPr>
          <p:spPr bwMode="auto">
            <a:xfrm rot="5400000" flipH="1" flipV="1">
              <a:off x="3464711" y="4893479"/>
              <a:ext cx="1214446"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72" name="Straight Connector 50"/>
            <p:cNvCxnSpPr>
              <a:cxnSpLocks noChangeShapeType="1"/>
            </p:cNvCxnSpPr>
            <p:nvPr/>
          </p:nvCxnSpPr>
          <p:spPr bwMode="auto">
            <a:xfrm>
              <a:off x="2285984" y="4286256"/>
              <a:ext cx="1785950"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73" name="Straight Connector 61"/>
            <p:cNvCxnSpPr>
              <a:cxnSpLocks noChangeShapeType="1"/>
              <a:endCxn id="65" idx="2"/>
            </p:cNvCxnSpPr>
            <p:nvPr/>
          </p:nvCxnSpPr>
          <p:spPr bwMode="auto">
            <a:xfrm flipV="1">
              <a:off x="2714610" y="4259588"/>
              <a:ext cx="1494919" cy="98110"/>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65" name="Arc 64"/>
            <p:cNvSpPr/>
            <p:nvPr/>
          </p:nvSpPr>
          <p:spPr bwMode="auto">
            <a:xfrm rot="6792575">
              <a:off x="3381039" y="2768923"/>
              <a:ext cx="1772320" cy="1292234"/>
            </a:xfrm>
            <a:prstGeom prst="arc">
              <a:avLst>
                <a:gd name="adj1" fmla="val 16237887"/>
                <a:gd name="adj2" fmla="val 20441296"/>
              </a:avLst>
            </a:prstGeom>
            <a:solidFill>
              <a:schemeClr val="bg1"/>
            </a:solidFill>
            <a:ln w="12700" cap="flat" cmpd="sng" algn="ctr">
              <a:solidFill>
                <a:srgbClr val="FF0000"/>
              </a:solidFill>
              <a:prstDash val="solid"/>
              <a:round/>
              <a:headEnd type="none" w="sm" len="sm"/>
              <a:tailEnd type="none" w="sm" len="sm"/>
            </a:ln>
            <a:effectLst/>
          </p:spPr>
          <p:txBody>
            <a:bodyPr lIns="92075" tIns="46038" rIns="92075" bIns="46038">
              <a:spAutoFit/>
            </a:bodyPr>
            <a:lstStyle/>
            <a:p>
              <a:pPr algn="ctr" eaLnBrk="1" hangingPunct="1">
                <a:defRPr/>
              </a:pPr>
              <a:endParaRPr lang="en-US" dirty="0">
                <a:latin typeface="Arial" charset="0"/>
              </a:endParaRPr>
            </a:p>
          </p:txBody>
        </p:sp>
        <p:cxnSp>
          <p:nvCxnSpPr>
            <p:cNvPr id="45075" name="Straight Connector 66"/>
            <p:cNvCxnSpPr>
              <a:cxnSpLocks noChangeShapeType="1"/>
              <a:endCxn id="65" idx="0"/>
            </p:cNvCxnSpPr>
            <p:nvPr/>
          </p:nvCxnSpPr>
          <p:spPr bwMode="auto">
            <a:xfrm rot="5400000">
              <a:off x="4627199" y="2660143"/>
              <a:ext cx="1247646" cy="785097"/>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45076" name="Straight Connector 81"/>
            <p:cNvCxnSpPr>
              <a:cxnSpLocks noChangeShapeType="1"/>
            </p:cNvCxnSpPr>
            <p:nvPr/>
          </p:nvCxnSpPr>
          <p:spPr bwMode="auto">
            <a:xfrm>
              <a:off x="1928794" y="4214818"/>
              <a:ext cx="271464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77" name="Straight Connector 105"/>
            <p:cNvCxnSpPr>
              <a:cxnSpLocks noChangeShapeType="1"/>
            </p:cNvCxnSpPr>
            <p:nvPr/>
          </p:nvCxnSpPr>
          <p:spPr bwMode="auto">
            <a:xfrm>
              <a:off x="1214414" y="4000504"/>
              <a:ext cx="342902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5078" name="Straight Connector 109"/>
            <p:cNvCxnSpPr>
              <a:cxnSpLocks noChangeShapeType="1"/>
            </p:cNvCxnSpPr>
            <p:nvPr/>
          </p:nvCxnSpPr>
          <p:spPr bwMode="auto">
            <a:xfrm>
              <a:off x="1857356" y="3571876"/>
              <a:ext cx="3072555" cy="33200"/>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45079" name="TextBox 115"/>
            <p:cNvSpPr txBox="1">
              <a:spLocks noChangeArrowheads="1"/>
            </p:cNvSpPr>
            <p:nvPr/>
          </p:nvSpPr>
          <p:spPr bwMode="auto">
            <a:xfrm>
              <a:off x="2714612" y="1714488"/>
              <a:ext cx="1143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800"/>
                <a:t>Long Call</a:t>
              </a:r>
              <a:endParaRPr lang="en-US" altLang="en-US" sz="1800"/>
            </a:p>
          </p:txBody>
        </p:sp>
        <p:sp>
          <p:nvSpPr>
            <p:cNvPr id="45080" name="TextBox 116"/>
            <p:cNvSpPr txBox="1">
              <a:spLocks noChangeArrowheads="1"/>
            </p:cNvSpPr>
            <p:nvPr/>
          </p:nvSpPr>
          <p:spPr bwMode="auto">
            <a:xfrm>
              <a:off x="5643570" y="3929066"/>
              <a:ext cx="19288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800"/>
                <a:t>Asset Price</a:t>
              </a:r>
              <a:endParaRPr lang="en-US" altLang="en-US" sz="1800"/>
            </a:p>
          </p:txBody>
        </p:sp>
      </p:grpSp>
    </p:spTree>
    <p:extLst>
      <p:ext uri="{BB962C8B-B14F-4D97-AF65-F5344CB8AC3E}">
        <p14:creationId xmlns:p14="http://schemas.microsoft.com/office/powerpoint/2010/main" val="769180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457200" y="122238"/>
            <a:ext cx="7543800" cy="1520825"/>
          </a:xfrm>
        </p:spPr>
        <p:txBody>
          <a:bodyPr/>
          <a:lstStyle/>
          <a:p>
            <a:r>
              <a:rPr lang="en-CA" altLang="en-US" dirty="0"/>
              <a:t>Translation of Asset Price Change to Price Change for Short Call</a:t>
            </a:r>
            <a:endParaRPr lang="en-US" altLang="en-US" dirty="0"/>
          </a:p>
        </p:txBody>
      </p:sp>
      <p:sp>
        <p:nvSpPr>
          <p:cNvPr id="4608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endParaRPr lang="en-US" altLang="en-US" sz="1400" i="0">
              <a:cs typeface="Arial" panose="020B0604020202020204" pitchFamily="34" charset="0"/>
            </a:endParaRPr>
          </a:p>
        </p:txBody>
      </p:sp>
      <p:sp>
        <p:nvSpPr>
          <p:cNvPr id="4608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4DEABD5-8AB1-4301-9697-47E3E39B8265}" type="slidenum">
              <a:rPr lang="en-US" altLang="en-US" sz="1800"/>
              <a:pPr>
                <a:spcBef>
                  <a:spcPct val="0"/>
                </a:spcBef>
                <a:buClrTx/>
                <a:buSzTx/>
                <a:buFontTx/>
                <a:buNone/>
              </a:pPr>
              <a:t>26</a:t>
            </a:fld>
            <a:endParaRPr lang="en-US" altLang="en-US" sz="1800"/>
          </a:p>
        </p:txBody>
      </p:sp>
      <p:pic>
        <p:nvPicPr>
          <p:cNvPr id="4608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38" y="1785938"/>
            <a:ext cx="3429000"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46086" name="Group 40"/>
          <p:cNvGrpSpPr>
            <a:grpSpLocks/>
          </p:cNvGrpSpPr>
          <p:nvPr/>
        </p:nvGrpSpPr>
        <p:grpSpPr bwMode="auto">
          <a:xfrm>
            <a:off x="1000125" y="2071688"/>
            <a:ext cx="6572250" cy="3732212"/>
            <a:chOff x="1000100" y="2071680"/>
            <a:chExt cx="6572296" cy="3731782"/>
          </a:xfrm>
        </p:grpSpPr>
        <p:cxnSp>
          <p:nvCxnSpPr>
            <p:cNvPr id="46087" name="Straight Arrow Connector 5"/>
            <p:cNvCxnSpPr>
              <a:cxnSpLocks noChangeShapeType="1"/>
            </p:cNvCxnSpPr>
            <p:nvPr/>
          </p:nvCxnSpPr>
          <p:spPr bwMode="auto">
            <a:xfrm flipV="1">
              <a:off x="2714612" y="3280859"/>
              <a:ext cx="3714776" cy="1504"/>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46088" name="Straight Arrow Connector 6"/>
            <p:cNvCxnSpPr>
              <a:cxnSpLocks noChangeShapeType="1"/>
            </p:cNvCxnSpPr>
            <p:nvPr/>
          </p:nvCxnSpPr>
          <p:spPr bwMode="auto">
            <a:xfrm rot="16200000" flipH="1">
              <a:off x="927558" y="3930174"/>
              <a:ext cx="3574904" cy="792"/>
            </a:xfrm>
            <a:prstGeom prst="straightConnector1">
              <a:avLst/>
            </a:prstGeom>
            <a:noFill/>
            <a:ln w="12700" algn="ctr">
              <a:solidFill>
                <a:schemeClr val="tx1"/>
              </a:solidFill>
              <a:round/>
              <a:headEnd type="arrow" w="med" len="med"/>
              <a:tailEnd/>
            </a:ln>
            <a:extLst>
              <a:ext uri="{909E8E84-426E-40DD-AFC4-6F175D3DCCD1}">
                <a14:hiddenFill xmlns:a14="http://schemas.microsoft.com/office/drawing/2010/main">
                  <a:noFill/>
                </a14:hiddenFill>
              </a:ext>
            </a:extLst>
          </p:spPr>
        </p:cxnSp>
        <p:pic>
          <p:nvPicPr>
            <p:cNvPr id="4608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flipV="1">
              <a:off x="413194" y="3556473"/>
              <a:ext cx="2816887" cy="16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46090" name="Straight Connector 9"/>
            <p:cNvCxnSpPr>
              <a:cxnSpLocks noChangeShapeType="1"/>
            </p:cNvCxnSpPr>
            <p:nvPr/>
          </p:nvCxnSpPr>
          <p:spPr bwMode="auto">
            <a:xfrm rot="16200000" flipH="1">
              <a:off x="3835856" y="2879262"/>
              <a:ext cx="161675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091" name="Straight Connector 10"/>
            <p:cNvCxnSpPr>
              <a:cxnSpLocks noChangeShapeType="1"/>
            </p:cNvCxnSpPr>
            <p:nvPr/>
          </p:nvCxnSpPr>
          <p:spPr bwMode="auto">
            <a:xfrm rot="5400000">
              <a:off x="4214016" y="3286124"/>
              <a:ext cx="1429554"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092" name="Straight Connector 11"/>
            <p:cNvCxnSpPr>
              <a:cxnSpLocks noChangeShapeType="1"/>
            </p:cNvCxnSpPr>
            <p:nvPr/>
          </p:nvCxnSpPr>
          <p:spPr bwMode="auto">
            <a:xfrm rot="5400000">
              <a:off x="4464845" y="3750471"/>
              <a:ext cx="1643072" cy="2"/>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093" name="Straight Connector 12"/>
            <p:cNvCxnSpPr>
              <a:cxnSpLocks noChangeShapeType="1"/>
            </p:cNvCxnSpPr>
            <p:nvPr/>
          </p:nvCxnSpPr>
          <p:spPr bwMode="auto">
            <a:xfrm flipV="1">
              <a:off x="2285984" y="4566743"/>
              <a:ext cx="3000396"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094" name="Straight Connector 13"/>
            <p:cNvCxnSpPr>
              <a:cxnSpLocks noChangeShapeType="1"/>
            </p:cNvCxnSpPr>
            <p:nvPr/>
          </p:nvCxnSpPr>
          <p:spPr bwMode="auto">
            <a:xfrm rot="16200000" flipH="1">
              <a:off x="3935495" y="2993938"/>
              <a:ext cx="845972" cy="1587"/>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095" name="Straight Connector 14"/>
            <p:cNvCxnSpPr>
              <a:cxnSpLocks noChangeShapeType="1"/>
            </p:cNvCxnSpPr>
            <p:nvPr/>
          </p:nvCxnSpPr>
          <p:spPr bwMode="auto">
            <a:xfrm rot="16200000" flipH="1">
              <a:off x="3826434" y="3102996"/>
              <a:ext cx="491794"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096" name="Straight Connector 15"/>
            <p:cNvCxnSpPr>
              <a:cxnSpLocks noChangeShapeType="1"/>
            </p:cNvCxnSpPr>
            <p:nvPr/>
          </p:nvCxnSpPr>
          <p:spPr bwMode="auto">
            <a:xfrm flipV="1">
              <a:off x="2285984" y="3348537"/>
              <a:ext cx="1785950"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097" name="Straight Connector 16"/>
            <p:cNvCxnSpPr>
              <a:cxnSpLocks noChangeShapeType="1"/>
              <a:endCxn id="18" idx="2"/>
            </p:cNvCxnSpPr>
            <p:nvPr/>
          </p:nvCxnSpPr>
          <p:spPr bwMode="auto">
            <a:xfrm>
              <a:off x="2714610" y="3282360"/>
              <a:ext cx="1494919" cy="92946"/>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18" name="Arc 17"/>
            <p:cNvSpPr/>
            <p:nvPr/>
          </p:nvSpPr>
          <p:spPr bwMode="auto">
            <a:xfrm rot="14807425" flipV="1">
              <a:off x="3427508" y="3528758"/>
              <a:ext cx="1679381" cy="1292234"/>
            </a:xfrm>
            <a:prstGeom prst="arc">
              <a:avLst>
                <a:gd name="adj1" fmla="val 16237887"/>
                <a:gd name="adj2" fmla="val 20441296"/>
              </a:avLst>
            </a:prstGeom>
            <a:solidFill>
              <a:schemeClr val="bg1"/>
            </a:solidFill>
            <a:ln w="12700" cap="flat" cmpd="sng" algn="ctr">
              <a:solidFill>
                <a:srgbClr val="FF0000"/>
              </a:solidFill>
              <a:prstDash val="solid"/>
              <a:round/>
              <a:headEnd type="none" w="sm" len="sm"/>
              <a:tailEnd type="none" w="sm" len="sm"/>
            </a:ln>
            <a:effectLst/>
          </p:spPr>
          <p:txBody>
            <a:bodyPr lIns="92075" tIns="46038" rIns="92075" bIns="46038">
              <a:spAutoFit/>
            </a:bodyPr>
            <a:lstStyle/>
            <a:p>
              <a:pPr algn="ctr" eaLnBrk="1" hangingPunct="1">
                <a:defRPr/>
              </a:pPr>
              <a:endParaRPr lang="en-US" dirty="0">
                <a:latin typeface="Arial" charset="0"/>
              </a:endParaRPr>
            </a:p>
          </p:txBody>
        </p:sp>
        <p:cxnSp>
          <p:nvCxnSpPr>
            <p:cNvPr id="46099" name="Straight Connector 18"/>
            <p:cNvCxnSpPr>
              <a:cxnSpLocks noChangeShapeType="1"/>
              <a:endCxn id="18" idx="0"/>
            </p:cNvCxnSpPr>
            <p:nvPr/>
          </p:nvCxnSpPr>
          <p:spPr bwMode="auto">
            <a:xfrm rot="16200000" flipV="1">
              <a:off x="4660032" y="4126133"/>
              <a:ext cx="1181980" cy="785097"/>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46100" name="Straight Connector 19"/>
            <p:cNvCxnSpPr>
              <a:cxnSpLocks noChangeShapeType="1"/>
            </p:cNvCxnSpPr>
            <p:nvPr/>
          </p:nvCxnSpPr>
          <p:spPr bwMode="auto">
            <a:xfrm>
              <a:off x="1928794" y="3429000"/>
              <a:ext cx="242889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101" name="Straight Connector 20"/>
            <p:cNvCxnSpPr>
              <a:cxnSpLocks noChangeShapeType="1"/>
            </p:cNvCxnSpPr>
            <p:nvPr/>
          </p:nvCxnSpPr>
          <p:spPr bwMode="auto">
            <a:xfrm flipV="1">
              <a:off x="1214414" y="3619250"/>
              <a:ext cx="3429024"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6102" name="Straight Connector 21"/>
            <p:cNvCxnSpPr>
              <a:cxnSpLocks noChangeShapeType="1"/>
            </p:cNvCxnSpPr>
            <p:nvPr/>
          </p:nvCxnSpPr>
          <p:spPr bwMode="auto">
            <a:xfrm flipV="1">
              <a:off x="1857356" y="3995370"/>
              <a:ext cx="3072555" cy="31453"/>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46103" name="TextBox 22"/>
            <p:cNvSpPr txBox="1">
              <a:spLocks noChangeArrowheads="1"/>
            </p:cNvSpPr>
            <p:nvPr/>
          </p:nvSpPr>
          <p:spPr bwMode="auto">
            <a:xfrm rot="10800000" flipV="1">
              <a:off x="2714612" y="5157131"/>
              <a:ext cx="1143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800"/>
                <a:t>Short Call</a:t>
              </a:r>
              <a:endParaRPr lang="en-US" altLang="en-US" sz="1800"/>
            </a:p>
          </p:txBody>
        </p:sp>
        <p:sp>
          <p:nvSpPr>
            <p:cNvPr id="46104" name="TextBox 23"/>
            <p:cNvSpPr txBox="1">
              <a:spLocks noChangeArrowheads="1"/>
            </p:cNvSpPr>
            <p:nvPr/>
          </p:nvSpPr>
          <p:spPr bwMode="auto">
            <a:xfrm rot="10800000" flipV="1">
              <a:off x="5643570" y="3338539"/>
              <a:ext cx="1928826" cy="349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800"/>
                <a:t>Asset Price</a:t>
              </a:r>
              <a:endParaRPr lang="en-US" altLang="en-US" sz="1800"/>
            </a:p>
          </p:txBody>
        </p:sp>
      </p:grpSp>
    </p:spTree>
    <p:extLst>
      <p:ext uri="{BB962C8B-B14F-4D97-AF65-F5344CB8AC3E}">
        <p14:creationId xmlns:p14="http://schemas.microsoft.com/office/powerpoint/2010/main" val="1615532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endParaRPr lang="en-US" altLang="en-US" sz="1400" i="0">
              <a:cs typeface="Arial" panose="020B0604020202020204" pitchFamily="34" charset="0"/>
            </a:endParaRPr>
          </a:p>
        </p:txBody>
      </p:sp>
      <p:sp>
        <p:nvSpPr>
          <p:cNvPr id="47107" name="Rectangle 2"/>
          <p:cNvSpPr>
            <a:spLocks noGrp="1" noChangeArrowheads="1"/>
          </p:cNvSpPr>
          <p:nvPr>
            <p:ph type="title"/>
          </p:nvPr>
        </p:nvSpPr>
        <p:spPr>
          <a:noFill/>
        </p:spPr>
        <p:txBody>
          <a:bodyPr lIns="92075" tIns="46038" rIns="92075" bIns="46038" anchor="ctr"/>
          <a:lstStyle/>
          <a:p>
            <a:pPr eaLnBrk="1" hangingPunct="1"/>
            <a:r>
              <a:rPr lang="en-US" altLang="en-US" dirty="0"/>
              <a:t>Quadratic Model </a:t>
            </a:r>
            <a:br>
              <a:rPr lang="en-US" altLang="en-US" dirty="0"/>
            </a:br>
            <a:endParaRPr lang="en-US" altLang="en-US" sz="2400" dirty="0"/>
          </a:p>
        </p:txBody>
      </p:sp>
      <p:sp>
        <p:nvSpPr>
          <p:cNvPr id="47108" name="Rectangle 3"/>
          <p:cNvSpPr>
            <a:spLocks noGrp="1" noChangeArrowheads="1"/>
          </p:cNvSpPr>
          <p:nvPr>
            <p:ph type="body" sz="half" idx="1"/>
          </p:nvPr>
        </p:nvSpPr>
        <p:spPr>
          <a:xfrm>
            <a:off x="457200" y="1719263"/>
            <a:ext cx="7643813" cy="4411662"/>
          </a:xfrm>
          <a:noFill/>
        </p:spPr>
        <p:txBody>
          <a:bodyPr lIns="92075" tIns="46038" rIns="92075" bIns="46038"/>
          <a:lstStyle/>
          <a:p>
            <a:pPr eaLnBrk="1" hangingPunct="1">
              <a:buFont typeface="Wingdings" panose="05000000000000000000" pitchFamily="2" charset="2"/>
              <a:buNone/>
            </a:pPr>
            <a:r>
              <a:rPr lang="en-US" altLang="en-US" sz="2800" dirty="0"/>
              <a:t>	</a:t>
            </a:r>
            <a:r>
              <a:rPr lang="en-US" altLang="en-US" sz="2000" dirty="0"/>
              <a:t>For a portfolio dependent on a single risk factor it is approximately true that</a:t>
            </a:r>
          </a:p>
          <a:p>
            <a:pPr eaLnBrk="1" hangingPunct="1">
              <a:buFont typeface="Wingdings" panose="05000000000000000000" pitchFamily="2" charset="2"/>
              <a:buNone/>
            </a:pPr>
            <a:endParaRPr lang="en-US" altLang="en-US" sz="2000" dirty="0"/>
          </a:p>
          <a:p>
            <a:pPr eaLnBrk="1" hangingPunct="1">
              <a:buFont typeface="Wingdings" panose="05000000000000000000" pitchFamily="2" charset="2"/>
              <a:buNone/>
            </a:pPr>
            <a:r>
              <a:rPr lang="en-US" altLang="en-US" sz="2000" dirty="0"/>
              <a:t>	</a:t>
            </a:r>
          </a:p>
          <a:p>
            <a:pPr eaLnBrk="1" hangingPunct="1">
              <a:buFont typeface="Wingdings" panose="05000000000000000000" pitchFamily="2" charset="2"/>
              <a:buNone/>
            </a:pPr>
            <a:r>
              <a:rPr lang="en-US" altLang="en-US" sz="2000" dirty="0"/>
              <a:t>	Moments are</a:t>
            </a:r>
          </a:p>
        </p:txBody>
      </p:sp>
      <p:graphicFrame>
        <p:nvGraphicFramePr>
          <p:cNvPr id="47109" name="Object 4"/>
          <p:cNvGraphicFramePr>
            <a:graphicFrameLocks/>
          </p:cNvGraphicFramePr>
          <p:nvPr/>
        </p:nvGraphicFramePr>
        <p:xfrm>
          <a:off x="2346325" y="2370138"/>
          <a:ext cx="2649538" cy="1182687"/>
        </p:xfrm>
        <a:graphic>
          <a:graphicData uri="http://schemas.openxmlformats.org/presentationml/2006/ole">
            <mc:AlternateContent xmlns:mc="http://schemas.openxmlformats.org/markup-compatibility/2006">
              <mc:Choice xmlns:v="urn:schemas-microsoft-com:vml" Requires="v">
                <p:oleObj spid="_x0000_s4098" name="Equation" r:id="rId4" imgW="1269720" imgH="583920" progId="Equation.DSMT4">
                  <p:embed/>
                </p:oleObj>
              </mc:Choice>
              <mc:Fallback>
                <p:oleObj name="Equation" r:id="rId4" imgW="1269720" imgH="583920" progId="Equation.DSMT4">
                  <p:embed/>
                  <p:pic>
                    <p:nvPicPr>
                      <p:cNvPr id="47109" name="Object 4"/>
                      <p:cNvPicPr>
                        <a:picLocks noChangeArrowheads="1"/>
                      </p:cNvPicPr>
                      <p:nvPr/>
                    </p:nvPicPr>
                    <p:blipFill>
                      <a:blip r:embed="rId5"/>
                      <a:srcRect/>
                      <a:stretch>
                        <a:fillRect/>
                      </a:stretch>
                    </p:blipFill>
                    <p:spPr bwMode="auto">
                      <a:xfrm>
                        <a:off x="2346325" y="2370138"/>
                        <a:ext cx="2649538" cy="118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1" name="Object 6"/>
          <p:cNvGraphicFramePr>
            <a:graphicFrameLocks noGrp="1" noChangeAspect="1"/>
          </p:cNvGraphicFramePr>
          <p:nvPr>
            <p:ph sz="half" idx="2"/>
          </p:nvPr>
        </p:nvGraphicFramePr>
        <p:xfrm>
          <a:off x="2174875" y="4005263"/>
          <a:ext cx="3208338" cy="1223962"/>
        </p:xfrm>
        <a:graphic>
          <a:graphicData uri="http://schemas.openxmlformats.org/presentationml/2006/ole">
            <mc:AlternateContent xmlns:mc="http://schemas.openxmlformats.org/markup-compatibility/2006">
              <mc:Choice xmlns:v="urn:schemas-microsoft-com:vml" Requires="v">
                <p:oleObj spid="_x0000_s4099" name="Equation" r:id="rId6" imgW="1930320" imgH="736560" progId="Equation.DSMT4">
                  <p:embed/>
                </p:oleObj>
              </mc:Choice>
              <mc:Fallback>
                <p:oleObj name="Equation" r:id="rId6" imgW="1930320" imgH="736560" progId="Equation.DSMT4">
                  <p:embed/>
                  <p:pic>
                    <p:nvPicPr>
                      <p:cNvPr id="47111" name="Object 6"/>
                      <p:cNvPicPr>
                        <a:picLocks noChangeAspect="1" noChangeArrowheads="1"/>
                      </p:cNvPicPr>
                      <p:nvPr/>
                    </p:nvPicPr>
                    <p:blipFill>
                      <a:blip r:embed="rId7"/>
                      <a:srcRect/>
                      <a:stretch>
                        <a:fillRect/>
                      </a:stretch>
                    </p:blipFill>
                    <p:spPr bwMode="auto">
                      <a:xfrm>
                        <a:off x="2174875" y="4005263"/>
                        <a:ext cx="3208338" cy="122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2" name="Slide Number Placeholder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CBB7BBD-393D-4D47-8F3B-B4D3576FDD4F}" type="slidenum">
              <a:rPr lang="en-US" altLang="en-US" sz="1800"/>
              <a:pPr>
                <a:spcBef>
                  <a:spcPct val="0"/>
                </a:spcBef>
                <a:buClrTx/>
                <a:buSzTx/>
                <a:buFontTx/>
                <a:buNone/>
              </a:pPr>
              <a:t>27</a:t>
            </a:fld>
            <a:endParaRPr lang="en-US" altLang="en-US" sz="1800"/>
          </a:p>
        </p:txBody>
      </p:sp>
    </p:spTree>
    <p:extLst>
      <p:ext uri="{BB962C8B-B14F-4D97-AF65-F5344CB8AC3E}">
        <p14:creationId xmlns:p14="http://schemas.microsoft.com/office/powerpoint/2010/main" val="266630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p:spPr>
        <p:txBody>
          <a:bodyPr lIns="92075" tIns="46038" rIns="92075" bIns="46038" anchor="ctr"/>
          <a:lstStyle/>
          <a:p>
            <a:pPr eaLnBrk="1" hangingPunct="1"/>
            <a:r>
              <a:rPr lang="en-US" altLang="en-US"/>
              <a:t>Quadratic Model continued</a:t>
            </a:r>
          </a:p>
        </p:txBody>
      </p:sp>
      <p:sp>
        <p:nvSpPr>
          <p:cNvPr id="4813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15,  Copyright © John C. Hull 2023</a:t>
            </a:r>
            <a:endParaRPr lang="en-US" altLang="en-US" sz="1400" i="0">
              <a:cs typeface="Arial" panose="020B0604020202020204" pitchFamily="34" charset="0"/>
            </a:endParaRPr>
          </a:p>
        </p:txBody>
      </p:sp>
      <p:sp>
        <p:nvSpPr>
          <p:cNvPr id="4813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B365AFB-0F7A-4F18-98B7-5815AD385427}" type="slidenum">
              <a:rPr lang="en-US" altLang="en-US" sz="1800"/>
              <a:pPr>
                <a:spcBef>
                  <a:spcPct val="0"/>
                </a:spcBef>
                <a:buClrTx/>
                <a:buSzTx/>
                <a:buFontTx/>
                <a:buNone/>
              </a:pPr>
              <a:t>28</a:t>
            </a:fld>
            <a:endParaRPr lang="en-US" altLang="en-US" sz="1800"/>
          </a:p>
        </p:txBody>
      </p:sp>
      <p:sp>
        <p:nvSpPr>
          <p:cNvPr id="48133" name="Content Placeholder 6"/>
          <p:cNvSpPr>
            <a:spLocks noGrp="1"/>
          </p:cNvSpPr>
          <p:nvPr>
            <p:ph idx="1"/>
          </p:nvPr>
        </p:nvSpPr>
        <p:spPr>
          <a:xfrm>
            <a:off x="467544" y="1268760"/>
            <a:ext cx="8229600" cy="4411662"/>
          </a:xfrm>
        </p:spPr>
        <p:txBody>
          <a:bodyPr/>
          <a:lstStyle/>
          <a:p>
            <a:r>
              <a:rPr lang="en-US" altLang="en-US" sz="2800" dirty="0"/>
              <a:t>The Cornish-Fisher expansion can be used to convert moments to percentiles</a:t>
            </a:r>
          </a:p>
          <a:p>
            <a:r>
              <a:rPr lang="en-US" altLang="en-US" sz="2800" dirty="0"/>
              <a:t>However when the number of risk factors becomes large the calculation of third and higher moments is impractical</a:t>
            </a:r>
          </a:p>
          <a:p>
            <a:r>
              <a:rPr lang="en-US" altLang="en-US" sz="2800" dirty="0"/>
              <a:t>When cross gammas are ignored </a:t>
            </a:r>
          </a:p>
          <a:p>
            <a:pPr marL="0" indent="0">
              <a:buNone/>
            </a:pPr>
            <a:endParaRPr lang="en-US" altLang="en-US" dirty="0"/>
          </a:p>
        </p:txBody>
      </p:sp>
      <p:graphicFrame>
        <p:nvGraphicFramePr>
          <p:cNvPr id="2" name="Object 1"/>
          <p:cNvGraphicFramePr>
            <a:graphicFrameLocks noChangeAspect="1"/>
          </p:cNvGraphicFramePr>
          <p:nvPr/>
        </p:nvGraphicFramePr>
        <p:xfrm>
          <a:off x="1763688" y="4221088"/>
          <a:ext cx="5384891" cy="1778496"/>
        </p:xfrm>
        <a:graphic>
          <a:graphicData uri="http://schemas.openxmlformats.org/presentationml/2006/ole">
            <mc:AlternateContent xmlns:mc="http://schemas.openxmlformats.org/markup-compatibility/2006">
              <mc:Choice xmlns:v="urn:schemas-microsoft-com:vml" Requires="v">
                <p:oleObj spid="_x0000_s5122" name="Equation" r:id="rId4" imgW="2768400" imgH="914400" progId="Equation.DSMT4">
                  <p:embed/>
                </p:oleObj>
              </mc:Choice>
              <mc:Fallback>
                <p:oleObj name="Equation" r:id="rId4" imgW="2768400" imgH="914400" progId="Equation.DSMT4">
                  <p:embed/>
                  <p:pic>
                    <p:nvPicPr>
                      <p:cNvPr id="2" name="Object 1"/>
                      <p:cNvPicPr/>
                      <p:nvPr/>
                    </p:nvPicPr>
                    <p:blipFill>
                      <a:blip r:embed="rId5"/>
                      <a:stretch>
                        <a:fillRect/>
                      </a:stretch>
                    </p:blipFill>
                    <p:spPr>
                      <a:xfrm>
                        <a:off x="1763688" y="4221088"/>
                        <a:ext cx="5384891" cy="1778496"/>
                      </a:xfrm>
                      <a:prstGeom prst="rect">
                        <a:avLst/>
                      </a:prstGeom>
                    </p:spPr>
                  </p:pic>
                </p:oleObj>
              </mc:Fallback>
            </mc:AlternateContent>
          </a:graphicData>
        </a:graphic>
      </p:graphicFrame>
    </p:spTree>
    <p:extLst>
      <p:ext uri="{BB962C8B-B14F-4D97-AF65-F5344CB8AC3E}">
        <p14:creationId xmlns:p14="http://schemas.microsoft.com/office/powerpoint/2010/main" val="3819361564"/>
      </p:ext>
    </p:extLst>
  </p:cSld>
  <p:clrMapOvr>
    <a:masterClrMapping/>
  </p:clrMapOvr>
</p:sld>
</file>

<file path=ppt/theme/theme1.xml><?xml version="1.0" encoding="utf-8"?>
<a:theme xmlns:a="http://schemas.openxmlformats.org/drawingml/2006/main" name="HullRMFICh12">
  <a:themeElements>
    <a:clrScheme name="HullRMFICh1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2">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HullRMFICh09">
  <a:themeElements>
    <a:clrScheme name="HullRMFICh09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09">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09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09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09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09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09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09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09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09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09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09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B4D677-4BCD-4FC4-8BF4-A68685DEE397}"/>
</file>

<file path=customXml/itemProps2.xml><?xml version="1.0" encoding="utf-8"?>
<ds:datastoreItem xmlns:ds="http://schemas.openxmlformats.org/officeDocument/2006/customXml" ds:itemID="{52060B38-B386-4EFA-9B49-46D8DB548E6E}"/>
</file>

<file path=customXml/itemProps3.xml><?xml version="1.0" encoding="utf-8"?>
<ds:datastoreItem xmlns:ds="http://schemas.openxmlformats.org/officeDocument/2006/customXml" ds:itemID="{2BC03ECE-E0DD-4C59-9C0F-96A08EFA2E14}"/>
</file>

<file path=docProps/app.xml><?xml version="1.0" encoding="utf-8"?>
<Properties xmlns="http://schemas.openxmlformats.org/officeDocument/2006/extended-properties" xmlns:vt="http://schemas.openxmlformats.org/officeDocument/2006/docPropsVTypes">
  <Template>HullRMFI2ndEdCh18</Template>
  <TotalTime>1215</TotalTime>
  <Words>1568</Words>
  <Application>Microsoft Office PowerPoint</Application>
  <PresentationFormat>On-screen Show (4:3)</PresentationFormat>
  <Paragraphs>247</Paragraphs>
  <Slides>28</Slides>
  <Notes>28</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5" baseType="lpstr">
      <vt:lpstr>Arial</vt:lpstr>
      <vt:lpstr>Symbol</vt:lpstr>
      <vt:lpstr>Times New Roman</vt:lpstr>
      <vt:lpstr>Wingdings</vt:lpstr>
      <vt:lpstr>HullRMFICh12</vt:lpstr>
      <vt:lpstr>HullRMFICh09</vt:lpstr>
      <vt:lpstr>Equation</vt:lpstr>
      <vt:lpstr>Derivatives Risk</vt:lpstr>
      <vt:lpstr>A Trader’s Gold Portfolio. How Should Risks Be Hedged? (Table 15.1)</vt:lpstr>
      <vt:lpstr>Delta</vt:lpstr>
      <vt:lpstr>Linear vs Nonlinear Products</vt:lpstr>
      <vt:lpstr>Example of Hedging a Nonlinear Product </vt:lpstr>
      <vt:lpstr>Delta of the Option</vt:lpstr>
      <vt:lpstr>Delta Hedging</vt:lpstr>
      <vt:lpstr>Table 15.2: Option closes in the money</vt:lpstr>
      <vt:lpstr>Table 15.3: Option closes out of the money</vt:lpstr>
      <vt:lpstr>Where the Costs Come From</vt:lpstr>
      <vt:lpstr>Gamma</vt:lpstr>
      <vt:lpstr>Gamma Measures the Delta Hedging Errors Caused By Curvature (Figure 15.4)  </vt:lpstr>
      <vt:lpstr>Vega</vt:lpstr>
      <vt:lpstr>Gamma and Vega Limits</vt:lpstr>
      <vt:lpstr>Theta</vt:lpstr>
      <vt:lpstr>Rho</vt:lpstr>
      <vt:lpstr>Taylor Series Expansion (Equation 15.1)</vt:lpstr>
      <vt:lpstr>Interpretation  of Gamma  (Equation 15.2)</vt:lpstr>
      <vt:lpstr>Taylor Series Expansion when Volatility is Uncertain</vt:lpstr>
      <vt:lpstr>Managing  Delta, Gamma, &amp; Vega</vt:lpstr>
      <vt:lpstr>Hedging in Practice</vt:lpstr>
      <vt:lpstr>Static Options Replication  </vt:lpstr>
      <vt:lpstr>Scenario Analysis</vt:lpstr>
      <vt:lpstr>Taylor Series Expansion   </vt:lpstr>
      <vt:lpstr>Translation of Asset Price Change to Price Change for Long Call </vt:lpstr>
      <vt:lpstr>Translation of Asset Price Change to Price Change for Short Call</vt:lpstr>
      <vt:lpstr>Quadratic Model  </vt:lpstr>
      <vt:lpstr>Quadratic Model continued</vt:lpstr>
    </vt:vector>
  </TitlesOfParts>
  <Company>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 and Financial Institutions</dc:title>
  <dc:subject>Chapter 8</dc:subject>
  <dc:creator>John Hull</dc:creator>
  <cp:keywords>5th Edition</cp:keywords>
  <dc:description>Copyright 2018 by John Hull._x000d_
All rights reserved.</dc:description>
  <cp:lastModifiedBy>John Hull</cp:lastModifiedBy>
  <cp:revision>58</cp:revision>
  <dcterms:created xsi:type="dcterms:W3CDTF">2002-01-08T16:48:44Z</dcterms:created>
  <dcterms:modified xsi:type="dcterms:W3CDTF">2022-12-01T20:10:19Z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