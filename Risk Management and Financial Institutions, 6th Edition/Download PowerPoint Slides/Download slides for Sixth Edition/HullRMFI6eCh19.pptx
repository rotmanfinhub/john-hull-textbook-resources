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6" r:id="rId1"/>
  </p:sldMasterIdLst>
  <p:notesMasterIdLst>
    <p:notesMasterId r:id="rId16"/>
  </p:notesMasterIdLst>
  <p:handoutMasterIdLst>
    <p:handoutMasterId r:id="rId17"/>
  </p:handoutMasterIdLst>
  <p:sldIdLst>
    <p:sldId id="761" r:id="rId2"/>
    <p:sldId id="776" r:id="rId3"/>
    <p:sldId id="774" r:id="rId4"/>
    <p:sldId id="777" r:id="rId5"/>
    <p:sldId id="778" r:id="rId6"/>
    <p:sldId id="758" r:id="rId7"/>
    <p:sldId id="759" r:id="rId8"/>
    <p:sldId id="779" r:id="rId9"/>
    <p:sldId id="783" r:id="rId10"/>
    <p:sldId id="764" r:id="rId11"/>
    <p:sldId id="760" r:id="rId12"/>
    <p:sldId id="775" r:id="rId13"/>
    <p:sldId id="780" r:id="rId14"/>
    <p:sldId id="782" r:id="rId15"/>
  </p:sldIdLst>
  <p:sldSz cx="9144000" cy="6858000" type="letter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56" d="100"/>
          <a:sy n="56" d="100"/>
        </p:scale>
        <p:origin x="403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44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958850">
              <a:defRPr sz="1000" i="1"/>
            </a:lvl1pPr>
          </a:lstStyle>
          <a:p>
            <a:fld id="{C13EBF09-04FE-4F92-9697-6E7A186D93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931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800100">
              <a:defRPr sz="1000" i="1">
                <a:latin typeface="Times New Roman" panose="02020603050405020304" pitchFamily="18" charset="0"/>
              </a:defRPr>
            </a:lvl1pPr>
          </a:lstStyle>
          <a:p>
            <a:fld id="{77CE067D-6C5E-416A-9A05-6A7C9687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6" tIns="48298" rIns="96596" bIns="482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2063" y="722313"/>
            <a:ext cx="4797425" cy="3597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1247295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51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CC61BC-52A8-415D-B23E-631EFBC040A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34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92E1C0-2BD8-4D8C-865C-D2DAA73F9085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5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FC6E1C-E019-46B0-A2E8-57DD141600CE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166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03646B-551E-499F-86D7-E39E82CDC551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77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258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068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41B46A-BBD5-4494-AB68-07DC0AE8DBF0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427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679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08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868D2C-D4F5-49EF-9FFD-11D21977F920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72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41C9CB-596B-4863-BEA1-77E6E9405475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580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8E5D6D-3374-4606-A49D-358FAB8FBA17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39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472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64B2914C-7E3E-4C5D-8AA9-3378D75649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6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66C66-69AA-4B6D-8F6E-D5E4E90BF3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51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EE7FE-84F6-4104-9050-3AF02F1219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55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306E64-2790-4A50-AD43-B3CB92EFC3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44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41855-18B5-4A7F-8041-493779F3E0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063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4FEAC-182F-4621-B15F-C289C98E9D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28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41CAA-8987-4FFC-AEB4-2E4B73206F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68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B8E69-B700-4F0A-AF94-3EA6FAAD7F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14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68E9E-C13F-47CC-B1E5-3B8DFAD1D3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61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C09F64-950A-4B39-A452-B7F12E0507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46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B9057-7479-46AB-AA9E-E7143E5166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42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4618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461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19,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9461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fld id="{D6C042D2-9202-41B4-B5BC-29AD25C6DFB5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/>
          </a:p>
        </p:txBody>
      </p:sp>
      <p:sp>
        <p:nvSpPr>
          <p:cNvPr id="13315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Credit Value at Risk</a:t>
            </a:r>
          </a:p>
        </p:txBody>
      </p:sp>
      <p:sp>
        <p:nvSpPr>
          <p:cNvPr id="13316" name="Rectangle 205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Chapter 19 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54287E-7525-46F8-B7B9-D8C07B41FA2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Rating Transitions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One year rating transition probabilities are published by rating agencies.</a:t>
            </a:r>
          </a:p>
          <a:p>
            <a:r>
              <a:rPr lang="en-US" altLang="en-US" sz="2800"/>
              <a:t>If we assume that the rating transition in one period is independent of that in other periods we can calculate the rating transition for any period (see Appendix J and software)</a:t>
            </a:r>
          </a:p>
          <a:p>
            <a:r>
              <a:rPr lang="en-US" altLang="en-US" sz="2800"/>
              <a:t>The “ratings momentum” phenomenon means that the independence assumption is not perfectly correct</a:t>
            </a:r>
            <a:endParaRPr lang="en-US" altLang="en-US"/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2F4420-5458-4DB9-AD49-3145EAEA15F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68313" y="549275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One-Year Rating Transition Matrix </a:t>
            </a:r>
            <a:r>
              <a:rPr lang="en-US" altLang="en-US" sz="2800" dirty="0"/>
              <a:t>(% probability, S&amp;P 1981-2020)</a:t>
            </a:r>
            <a:br>
              <a:rPr lang="en-US" altLang="en-US" sz="2800" dirty="0"/>
            </a:br>
            <a:r>
              <a:rPr lang="en-US" altLang="en-US" sz="2000" dirty="0"/>
              <a:t>Table 19.1</a:t>
            </a:r>
          </a:p>
        </p:txBody>
      </p:sp>
      <p:sp>
        <p:nvSpPr>
          <p:cNvPr id="1536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8CE88F-3916-4B67-87BC-206ABBE510E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48C314-4A41-74DA-F2C6-063A846E2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788073"/>
              </p:ext>
            </p:extLst>
          </p:nvPr>
        </p:nvGraphicFramePr>
        <p:xfrm>
          <a:off x="1219200" y="2400300"/>
          <a:ext cx="6705600" cy="20574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47849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35840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960763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924163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696379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006780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270804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32603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348083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587356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550057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 dirty="0">
                          <a:effectLst/>
                        </a:rPr>
                        <a:t>Initial</a:t>
                      </a:r>
                    </a:p>
                    <a:p>
                      <a:pPr algn="ctr" fontAlgn="ctr"/>
                      <a:r>
                        <a:rPr lang="en-CA" sz="1200" u="none" strike="noStrike" dirty="0">
                          <a:effectLst/>
                        </a:rPr>
                        <a:t>Rating</a:t>
                      </a:r>
                      <a:endParaRPr lang="en-CA" sz="12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Rating at Year-end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3240848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AAA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AA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A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BBB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BB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B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CCC/C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</a:rPr>
                        <a:t>D</a:t>
                      </a:r>
                      <a:endParaRPr lang="en-CA" sz="12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05833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AAA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89.85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9.35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0.55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0.03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59249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AA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0.50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90.76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8.08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0.49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0.06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3335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A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0.03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1.67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92.61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5.23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0.27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55758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BBB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3.45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91.93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3.78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0.46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0.17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368699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BB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0.03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5.03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86.00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7.51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0.61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0.70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92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B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0.08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0.17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5.18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85.09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5.66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3.81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0956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CCC/C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0.12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0.20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0.65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14.72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50.90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33.42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171941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u="none" strike="noStrike">
                          <a:effectLst/>
                        </a:rPr>
                        <a:t>D</a:t>
                      </a:r>
                      <a:endParaRPr lang="en-CA" sz="11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100.00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30790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95288" y="476250"/>
            <a:ext cx="7543800" cy="1295400"/>
          </a:xfrm>
        </p:spPr>
        <p:txBody>
          <a:bodyPr/>
          <a:lstStyle/>
          <a:p>
            <a:r>
              <a:rPr lang="en-US" altLang="en-US" dirty="0"/>
              <a:t>Five-Year Rating Transition Matrix </a:t>
            </a:r>
            <a:r>
              <a:rPr lang="en-US" altLang="en-US" sz="2000" dirty="0"/>
              <a:t>(calculated from one-year transitions)</a:t>
            </a:r>
            <a:br>
              <a:rPr lang="en-US" altLang="en-US" sz="4000" dirty="0"/>
            </a:br>
            <a:r>
              <a:rPr lang="en-US" altLang="en-US" sz="2000" dirty="0"/>
              <a:t>Table 19.2</a:t>
            </a:r>
          </a:p>
        </p:txBody>
      </p:sp>
      <p:sp>
        <p:nvSpPr>
          <p:cNvPr id="1638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7977A1-64BF-42C4-BF6F-5A49747478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7D3D0C-E69B-44D0-B37D-EFB932968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536140"/>
              </p:ext>
            </p:extLst>
          </p:nvPr>
        </p:nvGraphicFramePr>
        <p:xfrm>
          <a:off x="1098550" y="2301081"/>
          <a:ext cx="6946900" cy="324802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51630">
                  <a:extLst>
                    <a:ext uri="{9D8B030D-6E8A-4147-A177-3AD203B41FA5}">
                      <a16:colId xmlns:a16="http://schemas.microsoft.com/office/drawing/2014/main" val="3520523494"/>
                    </a:ext>
                  </a:extLst>
                </a:gridCol>
                <a:gridCol w="812058">
                  <a:extLst>
                    <a:ext uri="{9D8B030D-6E8A-4147-A177-3AD203B41FA5}">
                      <a16:colId xmlns:a16="http://schemas.microsoft.com/office/drawing/2014/main" val="2847404439"/>
                    </a:ext>
                  </a:extLst>
                </a:gridCol>
                <a:gridCol w="723239">
                  <a:extLst>
                    <a:ext uri="{9D8B030D-6E8A-4147-A177-3AD203B41FA5}">
                      <a16:colId xmlns:a16="http://schemas.microsoft.com/office/drawing/2014/main" val="1642671401"/>
                    </a:ext>
                  </a:extLst>
                </a:gridCol>
                <a:gridCol w="723239">
                  <a:extLst>
                    <a:ext uri="{9D8B030D-6E8A-4147-A177-3AD203B41FA5}">
                      <a16:colId xmlns:a16="http://schemas.microsoft.com/office/drawing/2014/main" val="54741800"/>
                    </a:ext>
                  </a:extLst>
                </a:gridCol>
                <a:gridCol w="697862">
                  <a:extLst>
                    <a:ext uri="{9D8B030D-6E8A-4147-A177-3AD203B41FA5}">
                      <a16:colId xmlns:a16="http://schemas.microsoft.com/office/drawing/2014/main" val="3086461763"/>
                    </a:ext>
                  </a:extLst>
                </a:gridCol>
                <a:gridCol w="697862">
                  <a:extLst>
                    <a:ext uri="{9D8B030D-6E8A-4147-A177-3AD203B41FA5}">
                      <a16:colId xmlns:a16="http://schemas.microsoft.com/office/drawing/2014/main" val="3706765691"/>
                    </a:ext>
                  </a:extLst>
                </a:gridCol>
                <a:gridCol w="751788">
                  <a:extLst>
                    <a:ext uri="{9D8B030D-6E8A-4147-A177-3AD203B41FA5}">
                      <a16:colId xmlns:a16="http://schemas.microsoft.com/office/drawing/2014/main" val="1941603195"/>
                    </a:ext>
                  </a:extLst>
                </a:gridCol>
                <a:gridCol w="789853">
                  <a:extLst>
                    <a:ext uri="{9D8B030D-6E8A-4147-A177-3AD203B41FA5}">
                      <a16:colId xmlns:a16="http://schemas.microsoft.com/office/drawing/2014/main" val="430831546"/>
                    </a:ext>
                  </a:extLst>
                </a:gridCol>
                <a:gridCol w="799369">
                  <a:extLst>
                    <a:ext uri="{9D8B030D-6E8A-4147-A177-3AD203B41FA5}">
                      <a16:colId xmlns:a16="http://schemas.microsoft.com/office/drawing/2014/main" val="4142482549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Initial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96414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Rating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Rating after 5 years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1268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AAA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BBB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CCC/C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D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343673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AAA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58.92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31.31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7.67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1.12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0.47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0.25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304480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1.69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62.98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28.97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5.04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0.62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0.37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0.22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485389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6.03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70.62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19.34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2.41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0.84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0.47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480991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BBB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0.80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12.77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68.51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12.35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3.53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0.50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1.53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931127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0.20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1.76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16.24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50.90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21.37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2.64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6.91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332627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0.47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2.42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14.56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50.61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24.59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79538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CCC/C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0.86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4.14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18.88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5.62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70.18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790436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D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 dirty="0">
                          <a:effectLst/>
                        </a:rPr>
                        <a:t>100.00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07933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7543800" cy="1295400"/>
          </a:xfrm>
        </p:spPr>
        <p:txBody>
          <a:bodyPr/>
          <a:lstStyle/>
          <a:p>
            <a:r>
              <a:rPr lang="en-US" altLang="en-US" dirty="0"/>
              <a:t>One-Month Rating Transition Matrix </a:t>
            </a:r>
            <a:r>
              <a:rPr lang="en-US" altLang="en-US" sz="2000" dirty="0"/>
              <a:t>(calculated from one-year transitions)</a:t>
            </a:r>
            <a:br>
              <a:rPr lang="en-US" altLang="en-US" sz="2000" dirty="0"/>
            </a:br>
            <a:r>
              <a:rPr lang="en-US" altLang="en-US" sz="2000" dirty="0"/>
              <a:t>Table 19.3</a:t>
            </a:r>
          </a:p>
        </p:txBody>
      </p:sp>
      <p:sp>
        <p:nvSpPr>
          <p:cNvPr id="1741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2D7590-F076-4697-9C85-168A61344EC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9E21D6-BAA8-4A16-8DFF-97D9A2439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85358"/>
              </p:ext>
            </p:extLst>
          </p:nvPr>
        </p:nvGraphicFramePr>
        <p:xfrm>
          <a:off x="1098550" y="2301081"/>
          <a:ext cx="6946900" cy="324802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51630">
                  <a:extLst>
                    <a:ext uri="{9D8B030D-6E8A-4147-A177-3AD203B41FA5}">
                      <a16:colId xmlns:a16="http://schemas.microsoft.com/office/drawing/2014/main" val="2384487442"/>
                    </a:ext>
                  </a:extLst>
                </a:gridCol>
                <a:gridCol w="812058">
                  <a:extLst>
                    <a:ext uri="{9D8B030D-6E8A-4147-A177-3AD203B41FA5}">
                      <a16:colId xmlns:a16="http://schemas.microsoft.com/office/drawing/2014/main" val="3486194518"/>
                    </a:ext>
                  </a:extLst>
                </a:gridCol>
                <a:gridCol w="723239">
                  <a:extLst>
                    <a:ext uri="{9D8B030D-6E8A-4147-A177-3AD203B41FA5}">
                      <a16:colId xmlns:a16="http://schemas.microsoft.com/office/drawing/2014/main" val="521145992"/>
                    </a:ext>
                  </a:extLst>
                </a:gridCol>
                <a:gridCol w="723239">
                  <a:extLst>
                    <a:ext uri="{9D8B030D-6E8A-4147-A177-3AD203B41FA5}">
                      <a16:colId xmlns:a16="http://schemas.microsoft.com/office/drawing/2014/main" val="2209870596"/>
                    </a:ext>
                  </a:extLst>
                </a:gridCol>
                <a:gridCol w="697862">
                  <a:extLst>
                    <a:ext uri="{9D8B030D-6E8A-4147-A177-3AD203B41FA5}">
                      <a16:colId xmlns:a16="http://schemas.microsoft.com/office/drawing/2014/main" val="2902604232"/>
                    </a:ext>
                  </a:extLst>
                </a:gridCol>
                <a:gridCol w="697862">
                  <a:extLst>
                    <a:ext uri="{9D8B030D-6E8A-4147-A177-3AD203B41FA5}">
                      <a16:colId xmlns:a16="http://schemas.microsoft.com/office/drawing/2014/main" val="4135926517"/>
                    </a:ext>
                  </a:extLst>
                </a:gridCol>
                <a:gridCol w="751788">
                  <a:extLst>
                    <a:ext uri="{9D8B030D-6E8A-4147-A177-3AD203B41FA5}">
                      <a16:colId xmlns:a16="http://schemas.microsoft.com/office/drawing/2014/main" val="1847395986"/>
                    </a:ext>
                  </a:extLst>
                </a:gridCol>
                <a:gridCol w="789853">
                  <a:extLst>
                    <a:ext uri="{9D8B030D-6E8A-4147-A177-3AD203B41FA5}">
                      <a16:colId xmlns:a16="http://schemas.microsoft.com/office/drawing/2014/main" val="1994114012"/>
                    </a:ext>
                  </a:extLst>
                </a:gridCol>
                <a:gridCol w="799369">
                  <a:extLst>
                    <a:ext uri="{9D8B030D-6E8A-4147-A177-3AD203B41FA5}">
                      <a16:colId xmlns:a16="http://schemas.microsoft.com/office/drawing/2014/main" val="642131348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Initial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 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812498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Rating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Rating after 5 years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7785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AAA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BBB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CCC/C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D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44518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AAA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58.92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31.31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7.67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1.12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0.47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0.25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691231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AA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1.69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62.98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28.97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5.04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0.62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0.37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0.22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798811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6.03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70.62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19.34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2.41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0.84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0.47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845875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BBB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0.80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12.77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68.51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12.35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3.53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0.50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1.53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32914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BB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0.20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1.76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16.24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50.90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21.37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2.64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6.91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493024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0.10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0.47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2.42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14.56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50.61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24.59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891936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CCC/C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0.86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4.14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18.88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5.62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70.18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445239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CA" sz="1800" u="none" strike="noStrike">
                          <a:effectLst/>
                        </a:rPr>
                        <a:t>D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>
                          <a:effectLst/>
                        </a:rPr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u="none" strike="noStrike" dirty="0">
                          <a:effectLst/>
                        </a:rPr>
                        <a:t>100.00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85252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Credit VaR</a:t>
            </a:r>
            <a:endParaRPr lang="en-US" altLang="en-US" sz="240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Can be defined analogously to Market Risk </a:t>
            </a:r>
            <a:r>
              <a:rPr lang="en-US" altLang="en-US" dirty="0" err="1"/>
              <a:t>VaR</a:t>
            </a:r>
            <a:endParaRPr lang="en-US" altLang="en-US" dirty="0"/>
          </a:p>
          <a:p>
            <a:pPr eaLnBrk="1" hangingPunct="1"/>
            <a:r>
              <a:rPr lang="en-US" altLang="en-US" dirty="0"/>
              <a:t>A one-year credit </a:t>
            </a:r>
            <a:r>
              <a:rPr lang="en-US" altLang="en-US" dirty="0" err="1"/>
              <a:t>VaR</a:t>
            </a:r>
            <a:r>
              <a:rPr lang="en-US" altLang="en-US" dirty="0"/>
              <a:t> with a 99.9% confidence is the loss level that we are 99.9% confident will not be exceeded over one year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5AC3F5-8740-4661-BB4E-51A304A819E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Vasicek’s</a:t>
            </a:r>
            <a:r>
              <a:rPr lang="en-US" altLang="en-US" dirty="0"/>
              <a:t> Model</a:t>
            </a:r>
            <a:r>
              <a:rPr lang="en-US" altLang="en-US" sz="3600" dirty="0"/>
              <a:t> </a:t>
            </a:r>
            <a:r>
              <a:rPr lang="en-US" altLang="en-US" sz="2400" dirty="0"/>
              <a:t>(Equation 19.1)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For a large portfolio of loans, each of which has a probability of </a:t>
            </a:r>
            <a:r>
              <a:rPr lang="en-US" altLang="en-US" sz="2800" dirty="0">
                <a:latin typeface="Times New Roman" pitchFamily="18" charset="0"/>
              </a:rPr>
              <a:t>PD</a:t>
            </a:r>
            <a:r>
              <a:rPr lang="en-US" altLang="en-US" sz="2800" dirty="0"/>
              <a:t> of defaulting by time </a:t>
            </a:r>
            <a:r>
              <a:rPr lang="en-US" altLang="en-US" sz="2800" i="1" dirty="0">
                <a:latin typeface="Times New Roman" pitchFamily="18" charset="0"/>
              </a:rPr>
              <a:t>T</a:t>
            </a:r>
            <a:r>
              <a:rPr lang="en-US" altLang="en-US" sz="2800" dirty="0"/>
              <a:t> the worst case default rate that will not be exceeded at the </a:t>
            </a:r>
            <a:r>
              <a:rPr lang="en-US" altLang="en-US" sz="2800" i="1" dirty="0">
                <a:latin typeface="Times New Roman" pitchFamily="18" charset="0"/>
              </a:rPr>
              <a:t>X</a:t>
            </a:r>
            <a:r>
              <a:rPr lang="en-US" altLang="en-US" sz="2800" dirty="0"/>
              <a:t>% confidence level is</a:t>
            </a:r>
          </a:p>
          <a:p>
            <a:pPr eaLnBrk="1" hangingPunct="1">
              <a:defRPr/>
            </a:pPr>
            <a:endParaRPr lang="en-US" altLang="en-US" sz="2800" dirty="0"/>
          </a:p>
          <a:p>
            <a:pPr eaLnBrk="1" hangingPunct="1">
              <a:defRPr/>
            </a:pPr>
            <a:endParaRPr lang="en-US" altLang="en-US" sz="2800" dirty="0"/>
          </a:p>
          <a:p>
            <a:pPr eaLnBrk="1" hangingPunct="1">
              <a:defRPr/>
            </a:pPr>
            <a:endParaRPr lang="en-US" altLang="en-US" sz="28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    where </a:t>
            </a:r>
            <a:r>
              <a:rPr lang="en-US" altLang="en-US" sz="2800" i="1" dirty="0">
                <a:latin typeface="Symbol" pitchFamily="18" charset="2"/>
              </a:rPr>
              <a:t>r</a:t>
            </a:r>
            <a:r>
              <a:rPr lang="en-US" altLang="en-US" sz="2800" dirty="0"/>
              <a:t> is the Gaussian copula correlation</a:t>
            </a:r>
          </a:p>
        </p:txBody>
      </p:sp>
      <p:graphicFrame>
        <p:nvGraphicFramePr>
          <p:cNvPr id="19461" name="Object 4"/>
          <p:cNvGraphicFramePr>
            <a:graphicFrameLocks noChangeAspect="1"/>
          </p:cNvGraphicFramePr>
          <p:nvPr/>
        </p:nvGraphicFramePr>
        <p:xfrm>
          <a:off x="1946275" y="3706813"/>
          <a:ext cx="50990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2362200" imgH="533400" progId="Equation.DSMT4">
                  <p:embed/>
                </p:oleObj>
              </mc:Choice>
              <mc:Fallback>
                <p:oleObj name="Equation" r:id="rId4" imgW="2362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3706813"/>
                        <a:ext cx="509905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415CD3-E1A2-432E-85B2-42A096296EA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23850" y="476250"/>
            <a:ext cx="7543800" cy="720725"/>
          </a:xfrm>
        </p:spPr>
        <p:txBody>
          <a:bodyPr/>
          <a:lstStyle/>
          <a:p>
            <a:r>
              <a:rPr lang="en-US" altLang="en-US" dirty="0" err="1"/>
              <a:t>VaR</a:t>
            </a:r>
            <a:r>
              <a:rPr lang="en-US" altLang="en-US" dirty="0"/>
              <a:t> Model</a:t>
            </a:r>
            <a:endParaRPr lang="en-US" altLang="en-US" sz="2000" dirty="0"/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CA159C-83A0-4931-A2E6-7EFC38E4BD5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graphicFrame>
        <p:nvGraphicFramePr>
          <p:cNvPr id="20485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1047750" y="2133600"/>
          <a:ext cx="609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" imgW="1815312" imgH="177723" progId="Equation.3">
                  <p:embed/>
                </p:oleObj>
              </mc:Choice>
              <mc:Fallback>
                <p:oleObj name="Equation" r:id="rId4" imgW="1815312" imgH="177723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2133600"/>
                        <a:ext cx="6096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Box 1"/>
          <p:cNvSpPr txBox="1">
            <a:spLocks noChangeArrowheads="1"/>
          </p:cNvSpPr>
          <p:nvPr/>
        </p:nvSpPr>
        <p:spPr bwMode="auto">
          <a:xfrm>
            <a:off x="755650" y="3068638"/>
            <a:ext cx="51847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3200"/>
              <a:t>Extended by Gordy</a:t>
            </a:r>
            <a:endParaRPr lang="en-US" alt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Credit Risk Plus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If default rate is assumed to be known we can use a Poisson distribution to determine the probability of </a:t>
            </a:r>
            <a:r>
              <a:rPr lang="en-CA" i="1" dirty="0">
                <a:latin typeface="+mj-lt"/>
              </a:rPr>
              <a:t>m</a:t>
            </a:r>
            <a:r>
              <a:rPr lang="en-CA" dirty="0"/>
              <a:t> defaults (see equation 19.3)</a:t>
            </a:r>
          </a:p>
          <a:p>
            <a:pPr>
              <a:defRPr/>
            </a:pPr>
            <a:r>
              <a:rPr lang="en-CA" dirty="0"/>
              <a:t>If we assume the default rate has a gamma distribution then the probability of </a:t>
            </a:r>
            <a:r>
              <a:rPr lang="en-CA" i="1" dirty="0">
                <a:latin typeface="+mj-lt"/>
              </a:rPr>
              <a:t>m</a:t>
            </a:r>
            <a:r>
              <a:rPr lang="en-CA" dirty="0"/>
              <a:t> defaults has a negative binomial distribution (see equation 19.4 and Table 19.4)</a:t>
            </a:r>
            <a:endParaRPr lang="en-US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19,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3B1F14-FC88-4CAD-B506-9576CA92A380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General Monte Carlo Simulation Approach for Credit Risk Plus</a:t>
            </a:r>
            <a:endParaRPr lang="en-US" altLang="en-US" sz="240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4411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endParaRPr lang="en-US" altLang="en-US" sz="2400"/>
          </a:p>
          <a:p>
            <a:pPr eaLnBrk="1" hangingPunct="1"/>
            <a:r>
              <a:rPr lang="en-US" altLang="en-US" sz="2400"/>
              <a:t>Sample overall default rate</a:t>
            </a:r>
          </a:p>
          <a:p>
            <a:pPr eaLnBrk="1" hangingPunct="1"/>
            <a:r>
              <a:rPr lang="en-US" altLang="en-US" sz="2400"/>
              <a:t>Sample probability of default for each counterparty category (regress default rate for each category on overall default rate)</a:t>
            </a:r>
          </a:p>
          <a:p>
            <a:pPr eaLnBrk="1" hangingPunct="1"/>
            <a:r>
              <a:rPr lang="en-US" altLang="en-US" sz="2400"/>
              <a:t>Sample number of losses for each counterparty category</a:t>
            </a:r>
          </a:p>
          <a:p>
            <a:r>
              <a:rPr lang="en-US" altLang="en-US" sz="2400"/>
              <a:t>Sample size of loss for each default</a:t>
            </a:r>
          </a:p>
          <a:p>
            <a:r>
              <a:rPr lang="en-US" altLang="en-US" sz="2400"/>
              <a:t>Calculate total loss from defaults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	This is repeated many times to calculate a probability distribution for the total loss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7936AD-6E9F-41F5-B846-BCB790070BA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CreditMetrics</a:t>
            </a:r>
            <a:r>
              <a:rPr lang="en-US" altLang="en-US" dirty="0"/>
              <a:t> </a:t>
            </a:r>
            <a:r>
              <a:rPr lang="en-US" altLang="en-US" sz="2400" dirty="0"/>
              <a:t>(Section 19.4)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Calculates credit VaR by considering possible rating transitions</a:t>
            </a:r>
          </a:p>
          <a:p>
            <a:pPr eaLnBrk="1" hangingPunct="1"/>
            <a:r>
              <a:rPr lang="en-US" altLang="en-US"/>
              <a:t>A Gaussian copula model is used to define the correlation between the ratings transitions of different companies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A510B1-6BA6-4A63-AB5D-07F526E5738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357188"/>
            <a:ext cx="7543800" cy="1071562"/>
          </a:xfrm>
        </p:spPr>
        <p:txBody>
          <a:bodyPr/>
          <a:lstStyle/>
          <a:p>
            <a:pPr eaLnBrk="1" hangingPunct="1"/>
            <a:r>
              <a:rPr lang="en-US" altLang="en-US" sz="2800"/>
              <a:t>The Copula Model : </a:t>
            </a:r>
            <a:r>
              <a:rPr lang="en-US" altLang="en-US" sz="2800" i="1"/>
              <a:t>x</a:t>
            </a:r>
            <a:r>
              <a:rPr lang="en-US" altLang="en-US" sz="2800" i="1" baseline="-25000"/>
              <a:t>A</a:t>
            </a:r>
            <a:r>
              <a:rPr lang="en-US" altLang="en-US" sz="2800"/>
              <a:t> and </a:t>
            </a:r>
            <a:r>
              <a:rPr lang="en-US" altLang="en-US" sz="2800" i="1"/>
              <a:t>x</a:t>
            </a:r>
            <a:r>
              <a:rPr lang="en-US" altLang="en-US" sz="2800" i="1" baseline="-25000"/>
              <a:t>B</a:t>
            </a:r>
            <a:r>
              <a:rPr lang="en-US" altLang="en-US" sz="2800" baseline="-25000"/>
              <a:t> </a:t>
            </a:r>
            <a:r>
              <a:rPr lang="en-US" altLang="en-US" sz="2800"/>
              <a:t>are sampled from correlated standard normals</a:t>
            </a:r>
          </a:p>
        </p:txBody>
      </p:sp>
      <p:sp>
        <p:nvSpPr>
          <p:cNvPr id="2457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CEB372-2377-4B1F-AF56-17E6A591FEA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824F46-733D-0BEE-9EF7-6B5A329D262C}"/>
              </a:ext>
            </a:extLst>
          </p:cNvPr>
          <p:cNvGrpSpPr/>
          <p:nvPr/>
        </p:nvGrpSpPr>
        <p:grpSpPr>
          <a:xfrm>
            <a:off x="-18415" y="1642331"/>
            <a:ext cx="7704856" cy="4392488"/>
            <a:chOff x="457200" y="762000"/>
            <a:chExt cx="8077200" cy="5648325"/>
          </a:xfrm>
        </p:grpSpPr>
        <p:sp>
          <p:nvSpPr>
            <p:cNvPr id="4" name="Text Box 18">
              <a:extLst>
                <a:ext uri="{FF2B5EF4-FFF2-40B4-BE49-F238E27FC236}">
                  <a16:creationId xmlns:a16="http://schemas.microsoft.com/office/drawing/2014/main" id="{94E24267-E047-019D-629F-BC402AB58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1447800"/>
              <a:ext cx="7620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AA</a:t>
              </a:r>
              <a:endParaRPr lang="en-CA" altLang="en-US" sz="2400"/>
            </a:p>
          </p:txBody>
        </p:sp>
        <p:sp>
          <p:nvSpPr>
            <p:cNvPr id="5" name="Text Box 20">
              <a:extLst>
                <a:ext uri="{FF2B5EF4-FFF2-40B4-BE49-F238E27FC236}">
                  <a16:creationId xmlns:a16="http://schemas.microsoft.com/office/drawing/2014/main" id="{EED5AC0B-4B30-A873-B89E-A626C95E4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133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</a:t>
              </a:r>
              <a:endParaRPr lang="en-CA" altLang="en-US" sz="2400"/>
            </a:p>
          </p:txBody>
        </p:sp>
        <p:sp>
          <p:nvSpPr>
            <p:cNvPr id="6" name="Text Box 21">
              <a:extLst>
                <a:ext uri="{FF2B5EF4-FFF2-40B4-BE49-F238E27FC236}">
                  <a16:creationId xmlns:a16="http://schemas.microsoft.com/office/drawing/2014/main" id="{112FEAEB-627E-818C-F9F6-07DDDFA00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0100" y="2819400"/>
              <a:ext cx="11080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BBB</a:t>
              </a:r>
              <a:endParaRPr lang="en-CA" altLang="en-US" sz="2400"/>
            </a:p>
          </p:txBody>
        </p:sp>
        <p:sp>
          <p:nvSpPr>
            <p:cNvPr id="7" name="Text Box 22">
              <a:extLst>
                <a:ext uri="{FF2B5EF4-FFF2-40B4-BE49-F238E27FC236}">
                  <a16:creationId xmlns:a16="http://schemas.microsoft.com/office/drawing/2014/main" id="{5935A245-45B0-C1B6-C7E9-D6E7DC9A5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3581400"/>
              <a:ext cx="9096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BB</a:t>
              </a:r>
              <a:endParaRPr lang="en-CA" altLang="en-US" sz="2400"/>
            </a:p>
          </p:txBody>
        </p:sp>
        <p:sp>
          <p:nvSpPr>
            <p:cNvPr id="8" name="Text Box 23">
              <a:extLst>
                <a:ext uri="{FF2B5EF4-FFF2-40B4-BE49-F238E27FC236}">
                  <a16:creationId xmlns:a16="http://schemas.microsoft.com/office/drawing/2014/main" id="{32492526-7849-00DA-04F3-E264A9EC6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4343400"/>
              <a:ext cx="10953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</a:t>
              </a:r>
              <a:endParaRPr lang="en-CA" altLang="en-US" sz="2400"/>
            </a:p>
          </p:txBody>
        </p:sp>
        <p:sp>
          <p:nvSpPr>
            <p:cNvPr id="9" name="Text Box 24">
              <a:extLst>
                <a:ext uri="{FF2B5EF4-FFF2-40B4-BE49-F238E27FC236}">
                  <a16:creationId xmlns:a16="http://schemas.microsoft.com/office/drawing/2014/main" id="{D8B015A1-9485-6A6B-D200-D61173B4C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5168900"/>
              <a:ext cx="117633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CCC/C</a:t>
              </a:r>
              <a:endParaRPr lang="en-CA" altLang="en-US" sz="2400"/>
            </a:p>
          </p:txBody>
        </p:sp>
        <p:sp>
          <p:nvSpPr>
            <p:cNvPr id="10" name="Text Box 25">
              <a:extLst>
                <a:ext uri="{FF2B5EF4-FFF2-40B4-BE49-F238E27FC236}">
                  <a16:creationId xmlns:a16="http://schemas.microsoft.com/office/drawing/2014/main" id="{72EEE78B-B189-0DDD-5E57-3F32102CA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4875" y="5930900"/>
              <a:ext cx="12795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Default</a:t>
              </a:r>
              <a:endParaRPr lang="en-CA" altLang="en-US" sz="2400"/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FDBF70DB-171A-E8A7-D3FC-B58962CC5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276600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   B</a:t>
              </a:r>
              <a:endParaRPr lang="en-CA" altLang="en-US" sz="2400"/>
            </a:p>
          </p:txBody>
        </p:sp>
        <p:sp>
          <p:nvSpPr>
            <p:cNvPr id="12" name="Line 52">
              <a:extLst>
                <a:ext uri="{FF2B5EF4-FFF2-40B4-BE49-F238E27FC236}">
                  <a16:creationId xmlns:a16="http://schemas.microsoft.com/office/drawing/2014/main" id="{5EEEBAF8-7A35-8A0D-AC77-BEC7B889F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3505200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Line 54">
              <a:extLst>
                <a:ext uri="{FF2B5EF4-FFF2-40B4-BE49-F238E27FC236}">
                  <a16:creationId xmlns:a16="http://schemas.microsoft.com/office/drawing/2014/main" id="{3C00066E-CC6A-04B5-4E3F-3D21523B9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2713" y="1752600"/>
              <a:ext cx="17462" cy="4425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Line 56">
              <a:extLst>
                <a:ext uri="{FF2B5EF4-FFF2-40B4-BE49-F238E27FC236}">
                  <a16:creationId xmlns:a16="http://schemas.microsoft.com/office/drawing/2014/main" id="{15F9B286-71EE-091F-6637-1DBC913882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1752600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Line 57">
              <a:extLst>
                <a:ext uri="{FF2B5EF4-FFF2-40B4-BE49-F238E27FC236}">
                  <a16:creationId xmlns:a16="http://schemas.microsoft.com/office/drawing/2014/main" id="{EA1180AB-5347-230F-E1E8-F22DBF5DE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2438400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Line 58">
              <a:extLst>
                <a:ext uri="{FF2B5EF4-FFF2-40B4-BE49-F238E27FC236}">
                  <a16:creationId xmlns:a16="http://schemas.microsoft.com/office/drawing/2014/main" id="{B3136692-E8AD-8BCC-58A6-3283BDDCF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3124200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Line 59">
              <a:extLst>
                <a:ext uri="{FF2B5EF4-FFF2-40B4-BE49-F238E27FC236}">
                  <a16:creationId xmlns:a16="http://schemas.microsoft.com/office/drawing/2014/main" id="{802E7C23-A5A2-7ADA-38FC-330D707C6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38862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79C0DB5B-EB57-198C-08CE-DBC59E144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4648200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Line 61">
              <a:extLst>
                <a:ext uri="{FF2B5EF4-FFF2-40B4-BE49-F238E27FC236}">
                  <a16:creationId xmlns:a16="http://schemas.microsoft.com/office/drawing/2014/main" id="{22BDEC66-BA4A-FFEC-E50B-3901DB60D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5410200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Line 62">
              <a:extLst>
                <a:ext uri="{FF2B5EF4-FFF2-40B4-BE49-F238E27FC236}">
                  <a16:creationId xmlns:a16="http://schemas.microsoft.com/office/drawing/2014/main" id="{64A113B4-D6DF-B391-B1E7-4EF54A293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700" y="6178550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Text Box 66">
              <a:extLst>
                <a:ext uri="{FF2B5EF4-FFF2-40B4-BE49-F238E27FC236}">
                  <a16:creationId xmlns:a16="http://schemas.microsoft.com/office/drawing/2014/main" id="{21F2D2D5-3221-3254-87F1-7E025CD07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1384300"/>
              <a:ext cx="2286000" cy="30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i="1"/>
                <a:t>          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−3.5401</a:t>
              </a:r>
              <a:endParaRPr lang="en-CA" altLang="en-US" sz="1400"/>
            </a:p>
          </p:txBody>
        </p:sp>
        <p:sp>
          <p:nvSpPr>
            <p:cNvPr id="22" name="Text Box 67">
              <a:extLst>
                <a:ext uri="{FF2B5EF4-FFF2-40B4-BE49-F238E27FC236}">
                  <a16:creationId xmlns:a16="http://schemas.microsoft.com/office/drawing/2014/main" id="{A1F20118-8A7F-ED9D-D91C-D760890C8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111375"/>
              <a:ext cx="2438400" cy="30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−3.5401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−3.0902</a:t>
              </a:r>
              <a:endParaRPr lang="en-CA" altLang="en-US" sz="1400"/>
            </a:p>
          </p:txBody>
        </p:sp>
        <p:sp>
          <p:nvSpPr>
            <p:cNvPr id="23" name="Text Box 68">
              <a:extLst>
                <a:ext uri="{FF2B5EF4-FFF2-40B4-BE49-F238E27FC236}">
                  <a16:creationId xmlns:a16="http://schemas.microsoft.com/office/drawing/2014/main" id="{B2177416-BD82-BB98-B034-2D3466627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822575"/>
              <a:ext cx="2743200" cy="30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−3.0902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−2.7822</a:t>
              </a:r>
              <a:endParaRPr lang="en-CA" altLang="en-US" sz="1400"/>
            </a:p>
          </p:txBody>
        </p:sp>
        <p:sp>
          <p:nvSpPr>
            <p:cNvPr id="24" name="Text Box 69">
              <a:extLst>
                <a:ext uri="{FF2B5EF4-FFF2-40B4-BE49-F238E27FC236}">
                  <a16:creationId xmlns:a16="http://schemas.microsoft.com/office/drawing/2014/main" id="{DE6B1122-EF92-45F5-7488-D34579D6D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568700"/>
              <a:ext cx="27432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−2.7822&lt;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−1.6027</a:t>
              </a:r>
              <a:endParaRPr lang="en-CA" altLang="en-US" sz="1400"/>
            </a:p>
          </p:txBody>
        </p:sp>
        <p:sp>
          <p:nvSpPr>
            <p:cNvPr id="25" name="Text Box 70">
              <a:extLst>
                <a:ext uri="{FF2B5EF4-FFF2-40B4-BE49-F238E27FC236}">
                  <a16:creationId xmlns:a16="http://schemas.microsoft.com/office/drawing/2014/main" id="{E84CBE93-CB7B-5FC9-9CE4-665BB9E30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343400"/>
              <a:ext cx="27432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−1.6027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1.3129</a:t>
              </a:r>
              <a:endParaRPr lang="en-CA" altLang="en-US" sz="1400"/>
            </a:p>
          </p:txBody>
        </p:sp>
        <p:sp>
          <p:nvSpPr>
            <p:cNvPr id="26" name="Text Box 71">
              <a:extLst>
                <a:ext uri="{FF2B5EF4-FFF2-40B4-BE49-F238E27FC236}">
                  <a16:creationId xmlns:a16="http://schemas.microsoft.com/office/drawing/2014/main" id="{3ED9F574-4DB6-E123-4A70-1C8993F8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105400"/>
              <a:ext cx="2590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1.3129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1.7744</a:t>
              </a:r>
              <a:endParaRPr lang="en-CA" altLang="en-US" sz="1400"/>
            </a:p>
          </p:txBody>
        </p:sp>
        <p:sp>
          <p:nvSpPr>
            <p:cNvPr id="27" name="Text Box 72">
              <a:extLst>
                <a:ext uri="{FF2B5EF4-FFF2-40B4-BE49-F238E27FC236}">
                  <a16:creationId xmlns:a16="http://schemas.microsoft.com/office/drawing/2014/main" id="{810C0518-6DC3-15F6-0A53-F9A982022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7513" y="58737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i="1"/>
                <a:t>x</a:t>
              </a:r>
              <a:r>
                <a:rPr lang="en-US" altLang="en-US" sz="1400" i="1" baseline="-25000"/>
                <a:t>B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&gt; 1.7744</a:t>
              </a:r>
              <a:endParaRPr lang="en-CA" altLang="en-US" sz="1400"/>
            </a:p>
          </p:txBody>
        </p:sp>
        <p:sp>
          <p:nvSpPr>
            <p:cNvPr id="28" name="Text Box 75">
              <a:extLst>
                <a:ext uri="{FF2B5EF4-FFF2-40B4-BE49-F238E27FC236}">
                  <a16:creationId xmlns:a16="http://schemas.microsoft.com/office/drawing/2014/main" id="{86D5DBBF-A7A5-FFBC-7ABA-304E6D595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300" y="762000"/>
              <a:ext cx="1244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AAA</a:t>
              </a:r>
              <a:endParaRPr lang="en-CA" altLang="en-US" sz="2400"/>
            </a:p>
          </p:txBody>
        </p:sp>
        <p:sp>
          <p:nvSpPr>
            <p:cNvPr id="29" name="Text Box 76">
              <a:extLst>
                <a:ext uri="{FF2B5EF4-FFF2-40B4-BE49-F238E27FC236}">
                  <a16:creationId xmlns:a16="http://schemas.microsoft.com/office/drawing/2014/main" id="{0EBE623C-A0EA-C240-1E41-4B60B8ED7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413" y="1449388"/>
              <a:ext cx="763587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AA</a:t>
              </a:r>
              <a:endParaRPr lang="en-CA" altLang="en-US" sz="2400"/>
            </a:p>
          </p:txBody>
        </p:sp>
        <p:sp>
          <p:nvSpPr>
            <p:cNvPr id="30" name="Text Box 78">
              <a:extLst>
                <a:ext uri="{FF2B5EF4-FFF2-40B4-BE49-F238E27FC236}">
                  <a16:creationId xmlns:a16="http://schemas.microsoft.com/office/drawing/2014/main" id="{8FDB1763-49A6-D6CD-D050-A7203661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413" y="2136775"/>
              <a:ext cx="13223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</a:t>
              </a:r>
              <a:endParaRPr lang="en-CA" altLang="en-US" sz="2400"/>
            </a:p>
          </p:txBody>
        </p:sp>
        <p:sp>
          <p:nvSpPr>
            <p:cNvPr id="31" name="Text Box 79">
              <a:extLst>
                <a:ext uri="{FF2B5EF4-FFF2-40B4-BE49-F238E27FC236}">
                  <a16:creationId xmlns:a16="http://schemas.microsoft.com/office/drawing/2014/main" id="{9AF48010-FCD3-83A4-1513-257928551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300" y="2824163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BBB</a:t>
              </a:r>
              <a:endParaRPr lang="en-CA" altLang="en-US" sz="2400"/>
            </a:p>
          </p:txBody>
        </p:sp>
        <p:sp>
          <p:nvSpPr>
            <p:cNvPr id="32" name="Text Box 80">
              <a:extLst>
                <a:ext uri="{FF2B5EF4-FFF2-40B4-BE49-F238E27FC236}">
                  <a16:creationId xmlns:a16="http://schemas.microsoft.com/office/drawing/2014/main" id="{F0A123F9-4F25-73D5-DFB3-5219ED79E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413" y="3587750"/>
              <a:ext cx="8778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BB</a:t>
              </a:r>
              <a:endParaRPr lang="en-CA" altLang="en-US" sz="2400"/>
            </a:p>
          </p:txBody>
        </p:sp>
        <p:sp>
          <p:nvSpPr>
            <p:cNvPr id="33" name="Text Box 81">
              <a:extLst>
                <a:ext uri="{FF2B5EF4-FFF2-40B4-BE49-F238E27FC236}">
                  <a16:creationId xmlns:a16="http://schemas.microsoft.com/office/drawing/2014/main" id="{0B2F298E-C38D-48B1-A09A-D86F9972F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413" y="4351338"/>
              <a:ext cx="10556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</a:t>
              </a:r>
              <a:endParaRPr lang="en-CA" altLang="en-US" sz="2400"/>
            </a:p>
          </p:txBody>
        </p:sp>
        <p:sp>
          <p:nvSpPr>
            <p:cNvPr id="34" name="Text Box 82">
              <a:extLst>
                <a:ext uri="{FF2B5EF4-FFF2-40B4-BE49-F238E27FC236}">
                  <a16:creationId xmlns:a16="http://schemas.microsoft.com/office/drawing/2014/main" id="{9F77A317-3E15-A657-0BB8-84F4F71A7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413" y="5189538"/>
              <a:ext cx="1436687" cy="460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CCC/C</a:t>
              </a:r>
              <a:endParaRPr lang="en-CA" altLang="en-US" sz="2400"/>
            </a:p>
          </p:txBody>
        </p:sp>
        <p:sp>
          <p:nvSpPr>
            <p:cNvPr id="35" name="Text Box 83">
              <a:extLst>
                <a:ext uri="{FF2B5EF4-FFF2-40B4-BE49-F238E27FC236}">
                  <a16:creationId xmlns:a16="http://schemas.microsoft.com/office/drawing/2014/main" id="{AD0334AD-C6A9-75ED-4BA5-E26F8200E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5953125"/>
              <a:ext cx="12334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Default</a:t>
              </a:r>
              <a:endParaRPr lang="en-CA" altLang="en-US" sz="2400"/>
            </a:p>
          </p:txBody>
        </p:sp>
        <p:sp>
          <p:nvSpPr>
            <p:cNvPr id="36" name="Text Box 84">
              <a:extLst>
                <a:ext uri="{FF2B5EF4-FFF2-40B4-BE49-F238E27FC236}">
                  <a16:creationId xmlns:a16="http://schemas.microsoft.com/office/drawing/2014/main" id="{EBF2B846-BF2D-36FA-757F-5D3350131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282950"/>
              <a:ext cx="15414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   A</a:t>
              </a:r>
              <a:endParaRPr lang="en-CA" altLang="en-US" sz="2400"/>
            </a:p>
          </p:txBody>
        </p:sp>
        <p:sp>
          <p:nvSpPr>
            <p:cNvPr id="37" name="Line 85">
              <a:extLst>
                <a:ext uri="{FF2B5EF4-FFF2-40B4-BE49-F238E27FC236}">
                  <a16:creationId xmlns:a16="http://schemas.microsoft.com/office/drawing/2014/main" id="{84287F7A-4F61-9C92-B069-8B1128A39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7600" y="3511550"/>
              <a:ext cx="147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Line 86">
              <a:extLst>
                <a:ext uri="{FF2B5EF4-FFF2-40B4-BE49-F238E27FC236}">
                  <a16:creationId xmlns:a16="http://schemas.microsoft.com/office/drawing/2014/main" id="{2727D547-C1BB-29E8-28CD-00F6837B4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3013" y="1066800"/>
              <a:ext cx="22225" cy="5099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Line 87">
              <a:extLst>
                <a:ext uri="{FF2B5EF4-FFF2-40B4-BE49-F238E27FC236}">
                  <a16:creationId xmlns:a16="http://schemas.microsoft.com/office/drawing/2014/main" id="{AEF255DF-8F33-1E0E-7A80-AD84C00D9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238" y="1066800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Line 88">
              <a:extLst>
                <a:ext uri="{FF2B5EF4-FFF2-40B4-BE49-F238E27FC236}">
                  <a16:creationId xmlns:a16="http://schemas.microsoft.com/office/drawing/2014/main" id="{5AD36E53-CBBA-C05E-5733-3BC27F8EF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5238" y="1754188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Line 89">
              <a:extLst>
                <a:ext uri="{FF2B5EF4-FFF2-40B4-BE49-F238E27FC236}">
                  <a16:creationId xmlns:a16="http://schemas.microsoft.com/office/drawing/2014/main" id="{89981DCB-C3E6-BC08-5C9B-1B8C83554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238" y="2441575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Line 90">
              <a:extLst>
                <a:ext uri="{FF2B5EF4-FFF2-40B4-BE49-F238E27FC236}">
                  <a16:creationId xmlns:a16="http://schemas.microsoft.com/office/drawing/2014/main" id="{C53DDA8B-6112-39BF-9070-45C6EFEFF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238" y="3128963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Line 91">
              <a:extLst>
                <a:ext uri="{FF2B5EF4-FFF2-40B4-BE49-F238E27FC236}">
                  <a16:creationId xmlns:a16="http://schemas.microsoft.com/office/drawing/2014/main" id="{6661610A-588F-BC51-9878-B27038671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263" y="3892550"/>
              <a:ext cx="1762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Line 92">
              <a:extLst>
                <a:ext uri="{FF2B5EF4-FFF2-40B4-BE49-F238E27FC236}">
                  <a16:creationId xmlns:a16="http://schemas.microsoft.com/office/drawing/2014/main" id="{E7C209C1-6A63-924C-4B1E-5C1FDE8B6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238" y="4657725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Line 93">
              <a:extLst>
                <a:ext uri="{FF2B5EF4-FFF2-40B4-BE49-F238E27FC236}">
                  <a16:creationId xmlns:a16="http://schemas.microsoft.com/office/drawing/2014/main" id="{FCC10EA0-71E9-DD83-4C14-7F2B3D8980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5238" y="5421313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Line 94">
              <a:extLst>
                <a:ext uri="{FF2B5EF4-FFF2-40B4-BE49-F238E27FC236}">
                  <a16:creationId xmlns:a16="http://schemas.microsoft.com/office/drawing/2014/main" id="{DE120317-50AE-25F8-6A77-4EAA10732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238" y="6165850"/>
              <a:ext cx="1835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Text Box 95">
              <a:extLst>
                <a:ext uri="{FF2B5EF4-FFF2-40B4-BE49-F238E27FC236}">
                  <a16:creationId xmlns:a16="http://schemas.microsoft.com/office/drawing/2014/main" id="{6A9D510C-3A9E-7F43-562B-12AFD4432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2613" y="762000"/>
              <a:ext cx="1320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/>
                <a:t>&lt; −3.3416</a:t>
              </a:r>
              <a:endParaRPr lang="en-CA" altLang="en-US" sz="1400"/>
            </a:p>
          </p:txBody>
        </p:sp>
        <p:sp>
          <p:nvSpPr>
            <p:cNvPr id="48" name="Text Box 96">
              <a:extLst>
                <a:ext uri="{FF2B5EF4-FFF2-40B4-BE49-F238E27FC236}">
                  <a16:creationId xmlns:a16="http://schemas.microsoft.com/office/drawing/2014/main" id="{07DA80DD-EDDB-EADA-0BEF-F64DDB1AC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5238" y="1296988"/>
              <a:ext cx="2049462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 </a:t>
              </a:r>
              <a:r>
                <a:rPr lang="en-US" altLang="en-US" sz="1400"/>
                <a:t>−3.3416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−2.1201</a:t>
              </a:r>
              <a:endParaRPr lang="en-CA" altLang="en-US" sz="1400"/>
            </a:p>
          </p:txBody>
        </p:sp>
        <p:sp>
          <p:nvSpPr>
            <p:cNvPr id="49" name="Text Box 97">
              <a:extLst>
                <a:ext uri="{FF2B5EF4-FFF2-40B4-BE49-F238E27FC236}">
                  <a16:creationId xmlns:a16="http://schemas.microsoft.com/office/drawing/2014/main" id="{D71B8A6D-5024-1AC9-518B-038DF134E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750" y="2127250"/>
              <a:ext cx="2276475" cy="30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dirty="0"/>
                <a:t>−2.1201 &lt; </a:t>
              </a:r>
              <a:r>
                <a:rPr lang="en-US" altLang="en-US" sz="1400" i="1" dirty="0" err="1"/>
                <a:t>x</a:t>
              </a:r>
              <a:r>
                <a:rPr lang="en-US" altLang="en-US" sz="1400" i="1" baseline="-25000" dirty="0" err="1"/>
                <a:t>A</a:t>
              </a:r>
              <a:r>
                <a:rPr lang="en-US" altLang="en-US" sz="1400" baseline="-25000" dirty="0"/>
                <a:t> </a:t>
              </a:r>
              <a:r>
                <a:rPr lang="en-US" altLang="en-US" sz="1400" dirty="0"/>
                <a:t>&lt; 1.5813</a:t>
              </a:r>
              <a:endParaRPr lang="en-CA" altLang="en-US" sz="1400" dirty="0"/>
            </a:p>
          </p:txBody>
        </p:sp>
        <p:sp>
          <p:nvSpPr>
            <p:cNvPr id="50" name="Text Box 98">
              <a:extLst>
                <a:ext uri="{FF2B5EF4-FFF2-40B4-BE49-F238E27FC236}">
                  <a16:creationId xmlns:a16="http://schemas.microsoft.com/office/drawing/2014/main" id="{2CE1E5C7-70E7-48E5-DAE6-6A6708E58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263" y="2830513"/>
              <a:ext cx="24225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1.5813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2.6045</a:t>
              </a:r>
              <a:endParaRPr lang="en-CA" altLang="en-US" sz="1400"/>
            </a:p>
          </p:txBody>
        </p:sp>
        <p:sp>
          <p:nvSpPr>
            <p:cNvPr id="51" name="Text Box 99">
              <a:extLst>
                <a:ext uri="{FF2B5EF4-FFF2-40B4-BE49-F238E27FC236}">
                  <a16:creationId xmlns:a16="http://schemas.microsoft.com/office/drawing/2014/main" id="{57B79D1F-9D8B-918D-9166-D3A0D7913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500" y="3606800"/>
              <a:ext cx="26130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  2.6045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2.8943</a:t>
              </a:r>
              <a:endParaRPr lang="en-CA" altLang="en-US" sz="1400"/>
            </a:p>
          </p:txBody>
        </p:sp>
        <p:sp>
          <p:nvSpPr>
            <p:cNvPr id="52" name="Text Box 100">
              <a:extLst>
                <a:ext uri="{FF2B5EF4-FFF2-40B4-BE49-F238E27FC236}">
                  <a16:creationId xmlns:a16="http://schemas.microsoft.com/office/drawing/2014/main" id="{482D66E5-916D-300D-9F7B-3703C0F3F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351338"/>
              <a:ext cx="26130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2.8943 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3.1947</a:t>
              </a:r>
              <a:endParaRPr lang="en-CA" altLang="en-US" sz="1400"/>
            </a:p>
          </p:txBody>
        </p:sp>
        <p:sp>
          <p:nvSpPr>
            <p:cNvPr id="53" name="Text Box 101">
              <a:extLst>
                <a:ext uri="{FF2B5EF4-FFF2-40B4-BE49-F238E27FC236}">
                  <a16:creationId xmlns:a16="http://schemas.microsoft.com/office/drawing/2014/main" id="{447D53DC-2F70-79CB-6AF4-459380AA2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114925"/>
              <a:ext cx="26130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3.1947&lt; </a:t>
              </a: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&lt; 3.2905</a:t>
              </a:r>
              <a:endParaRPr lang="en-CA" altLang="en-US" sz="1400"/>
            </a:p>
          </p:txBody>
        </p:sp>
        <p:sp>
          <p:nvSpPr>
            <p:cNvPr id="54" name="Text Box 102">
              <a:extLst>
                <a:ext uri="{FF2B5EF4-FFF2-40B4-BE49-F238E27FC236}">
                  <a16:creationId xmlns:a16="http://schemas.microsoft.com/office/drawing/2014/main" id="{523CEDAC-DB3F-6D4C-9DA3-8FA2BA6D0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1775" y="5762625"/>
              <a:ext cx="14319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i="1"/>
                <a:t>x</a:t>
              </a:r>
              <a:r>
                <a:rPr lang="en-US" altLang="en-US" sz="1400" i="1" baseline="-25000"/>
                <a:t>A</a:t>
              </a:r>
              <a:r>
                <a:rPr lang="en-US" altLang="en-US" sz="1400" baseline="-25000"/>
                <a:t> </a:t>
              </a:r>
              <a:r>
                <a:rPr lang="en-US" altLang="en-US" sz="1400"/>
                <a:t>&gt; 3.2905</a:t>
              </a:r>
              <a:endParaRPr lang="en-CA" altLang="en-US" sz="14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1001712"/>
          </a:xfrm>
        </p:spPr>
        <p:txBody>
          <a:bodyPr/>
          <a:lstStyle/>
          <a:p>
            <a:r>
              <a:rPr lang="en-US" altLang="en-US" sz="3200"/>
              <a:t>Credit Risk in the Trading Book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Alternatives to calculate 10-day 99% </a:t>
            </a:r>
            <a:r>
              <a:rPr lang="en-US" altLang="en-US" dirty="0" err="1"/>
              <a:t>VaR</a:t>
            </a:r>
            <a:endParaRPr lang="en-US" altLang="en-US" dirty="0"/>
          </a:p>
          <a:p>
            <a:pPr lvl="1"/>
            <a:r>
              <a:rPr lang="en-US" altLang="en-US" dirty="0"/>
              <a:t>Historical simulation to determine potential credit spread changes</a:t>
            </a:r>
          </a:p>
          <a:p>
            <a:pPr lvl="1"/>
            <a:r>
              <a:rPr lang="en-US" altLang="en-US" dirty="0"/>
              <a:t>Calculate 10-day transition matrix and use a </a:t>
            </a:r>
            <a:r>
              <a:rPr lang="en-US" altLang="en-US" dirty="0" err="1"/>
              <a:t>CreditMetrics</a:t>
            </a:r>
            <a:r>
              <a:rPr lang="en-US" altLang="en-US"/>
              <a:t> approach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75ECEA-5DC0-4F56-BBB0-9FDE456C8CA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Constant Level of Risk Assumption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Suppose a bank has a BBB bond and uses a liquidity horizon of 3 months</a:t>
            </a:r>
          </a:p>
          <a:p>
            <a:r>
              <a:rPr lang="en-US" altLang="en-US" sz="2800" dirty="0"/>
              <a:t>At the end of each 3 month period the bond, if it has deteriorated is assumed to be sold and replaced with a new BBB bond</a:t>
            </a:r>
          </a:p>
          <a:p>
            <a:r>
              <a:rPr lang="en-US" altLang="en-US" sz="2800" dirty="0"/>
              <a:t>The one-year loss is then replaced by four  three-month losses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19,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457B72-C63E-419F-ADF3-BA47B150B4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1">
  <a:themeElements>
    <a:clrScheme name="HullRMFICh11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1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1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1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5971C5-B478-4C96-8F7B-945650D2E0A7}"/>
</file>

<file path=customXml/itemProps2.xml><?xml version="1.0" encoding="utf-8"?>
<ds:datastoreItem xmlns:ds="http://schemas.openxmlformats.org/officeDocument/2006/customXml" ds:itemID="{2E4D65E1-6E06-4E32-AF68-2EA1D54680D0}"/>
</file>

<file path=customXml/itemProps3.xml><?xml version="1.0" encoding="utf-8"?>
<ds:datastoreItem xmlns:ds="http://schemas.openxmlformats.org/officeDocument/2006/customXml" ds:itemID="{01640902-BB50-4B4B-99D6-DDBF7059EB43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E:\RiskBook\slides\HullRMFICh11.ppt</Template>
  <TotalTime>1179</TotalTime>
  <Pages>17</Pages>
  <Words>1107</Words>
  <Application>Microsoft Office PowerPoint</Application>
  <PresentationFormat>Letter Paper (8.5x11 in)</PresentationFormat>
  <Paragraphs>377</Paragraphs>
  <Slides>14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Wingdings</vt:lpstr>
      <vt:lpstr>HullRMFICh11</vt:lpstr>
      <vt:lpstr>Equation</vt:lpstr>
      <vt:lpstr>Credit Value at Risk</vt:lpstr>
      <vt:lpstr>Rating Transitions</vt:lpstr>
      <vt:lpstr>One-Year Rating Transition Matrix (% probability, S&amp;P 1981-2020) Table 19.1</vt:lpstr>
      <vt:lpstr>Five-Year Rating Transition Matrix (calculated from one-year transitions) Table 19.2</vt:lpstr>
      <vt:lpstr>One-Month Rating Transition Matrix (calculated from one-year transitions) Table 19.3</vt:lpstr>
      <vt:lpstr>Credit VaR</vt:lpstr>
      <vt:lpstr>Vasicek’s Model (Equation 19.1)</vt:lpstr>
      <vt:lpstr>VaR Model</vt:lpstr>
      <vt:lpstr>Credit Risk Plus</vt:lpstr>
      <vt:lpstr>General Monte Carlo Simulation Approach for Credit Risk Plus</vt:lpstr>
      <vt:lpstr>CreditMetrics (Section 19.4)</vt:lpstr>
      <vt:lpstr>The Copula Model : xA and xB are sampled from correlated standard normals</vt:lpstr>
      <vt:lpstr>Credit Risk in the Trading Book</vt:lpstr>
      <vt:lpstr>Constant Level of Risk Assumption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21</dc:subject>
  <dc:creator>John Hull</dc:creator>
  <cp:keywords>5th Edition</cp:keywords>
  <dc:description>Copyright 2018  by John Hull._x000d_
All rights reserved.</dc:description>
  <cp:lastModifiedBy>John Hull</cp:lastModifiedBy>
  <cp:revision>176</cp:revision>
  <cp:lastPrinted>1999-11-09T00:15:00Z</cp:lastPrinted>
  <dcterms:created xsi:type="dcterms:W3CDTF">1996-07-04T22:47:30Z</dcterms:created>
  <dcterms:modified xsi:type="dcterms:W3CDTF">2022-12-01T21:14:46Z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