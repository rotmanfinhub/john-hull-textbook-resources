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7"/>
  </p:notesMasterIdLst>
  <p:handoutMasterIdLst>
    <p:handoutMasterId r:id="rId28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1" r:id="rId18"/>
    <p:sldId id="282" r:id="rId19"/>
    <p:sldId id="274" r:id="rId20"/>
    <p:sldId id="275" r:id="rId21"/>
    <p:sldId id="280" r:id="rId22"/>
    <p:sldId id="276" r:id="rId23"/>
    <p:sldId id="277" r:id="rId24"/>
    <p:sldId id="278" r:id="rId25"/>
    <p:sldId id="279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72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582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657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F8831D6C-3B31-4F39-AC81-4B9C6370A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90491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/>
          <a:lstStyle/>
          <a:p>
            <a:pPr defTabSz="966788">
              <a:spcBef>
                <a:spcPct val="0"/>
              </a:spcBef>
            </a:pPr>
            <a:endParaRPr lang="en-CA" altLang="en-US" sz="2500"/>
          </a:p>
        </p:txBody>
      </p:sp>
      <p:sp>
        <p:nvSpPr>
          <p:cNvPr id="4198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93476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74042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061765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718701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B8A6F8-28C3-4FEF-92B3-71ED6D17C4EF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5287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0F4ACA-CAF7-463D-82A8-46CE035C875D}" type="slidenum">
              <a:rPr lang="en-US" altLang="en-US" sz="130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13381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086C18E-C7C3-4EBD-9F91-45F57EB3B59D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34110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AFC9280-DE31-435A-A017-B4F09A102687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30157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264723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534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3758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387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35D559E-032C-43D5-9F4E-4160200EE204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400667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C96E77-9274-4BB7-9387-C4F94BE4BFEA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975656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267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5451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311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308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761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555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4214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58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639E860A-550E-44C4-8F35-5DDEB214E6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680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C1CF6-50A9-4729-A7B8-956339E1BC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13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7C85D6-7428-45F1-996F-140A01C1A0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17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4588EF-DBC7-4B6E-899F-38B4CF6C8F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726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BBE81-3132-440C-B2B4-8E2316D192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06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030A5B-E163-4EDF-9E33-2D1B0D35C0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486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D7A01C-6888-4DEF-85CD-C031D83A7D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68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96C06-0CF8-4B8E-A8EE-42A1DD8CE0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2214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4159D7-A95E-42AB-A4E9-13EAFF80AC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31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DB300A-82A0-4248-819F-C681961088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686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22EA79-CDB0-488F-A4A1-A34205EE03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2973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3441F-4D05-4952-BD1A-C344257BFF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7080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A7773E-0FE1-4CB2-A13F-85C712BEC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69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2016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11,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2201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8.</a:t>
            </a:r>
            <a:fld id="{4B6AAED1-AEB6-463D-953A-C22070230763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  <p:sldLayoutId id="2147483979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br>
              <a:rPr lang="en-US" altLang="en-US"/>
            </a:br>
            <a:br>
              <a:rPr lang="en-US" altLang="en-US" sz="9600"/>
            </a:br>
            <a:endParaRPr lang="en-US" altLang="en-US" sz="720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11</a:t>
            </a: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  <a:endParaRPr lang="en-US" altLang="en-US" sz="1400" i="0"/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1258888" y="1165225"/>
            <a:ext cx="584835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800" b="1">
                <a:solidFill>
                  <a:schemeClr val="tx2"/>
                </a:solidFill>
              </a:rPr>
              <a:t>Value at Risk and Expected Shortfall</a:t>
            </a:r>
          </a:p>
        </p:txBody>
      </p:sp>
      <p:sp>
        <p:nvSpPr>
          <p:cNvPr id="153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FDD003-1689-4E71-B2BE-B2E8D000D61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The Question Being Asked in VaR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41325" y="1916113"/>
            <a:ext cx="8229600" cy="359410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“What loss level is such that we are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en-US">
                <a:cs typeface="Arial" panose="020B0604020202020204" pitchFamily="34" charset="0"/>
              </a:rPr>
              <a:t>% confident it will not be exceeded in </a:t>
            </a:r>
            <a:r>
              <a:rPr lang="en-US" alt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>
                <a:cs typeface="Arial" panose="020B0604020202020204" pitchFamily="34" charset="0"/>
              </a:rPr>
              <a:t> business days?”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7894C1-998C-4C58-A6BF-63B2B55757A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VaR and Regulatory Capital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0988" y="1776413"/>
            <a:ext cx="81534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dirty="0">
                <a:cs typeface="Arial" panose="020B0604020202020204" pitchFamily="34" charset="0"/>
              </a:rPr>
              <a:t>Regulators have traditionally used </a:t>
            </a:r>
            <a:r>
              <a:rPr lang="en-US" altLang="en-US" sz="2800" dirty="0" err="1">
                <a:cs typeface="Arial" panose="020B0604020202020204" pitchFamily="34" charset="0"/>
              </a:rPr>
              <a:t>VaR</a:t>
            </a:r>
            <a:r>
              <a:rPr lang="en-US" altLang="en-US" sz="2800" dirty="0">
                <a:cs typeface="Arial" panose="020B0604020202020204" pitchFamily="34" charset="0"/>
              </a:rPr>
              <a:t> to calculate the capital they require  banks to keep, but have recently switched to ES for market risks</a:t>
            </a:r>
          </a:p>
          <a:p>
            <a:pPr eaLnBrk="1" hangingPunct="1"/>
            <a:r>
              <a:rPr lang="en-US" altLang="en-US" sz="2800" dirty="0">
                <a:cs typeface="Arial" panose="020B0604020202020204" pitchFamily="34" charset="0"/>
              </a:rPr>
              <a:t>The market-risk capital has been based on a 10-day </a:t>
            </a:r>
            <a:r>
              <a:rPr lang="en-US" altLang="en-US" sz="2800" dirty="0" err="1">
                <a:cs typeface="Arial" panose="020B0604020202020204" pitchFamily="34" charset="0"/>
              </a:rPr>
              <a:t>VaR</a:t>
            </a:r>
            <a:r>
              <a:rPr lang="en-US" altLang="en-US" sz="2800" dirty="0">
                <a:cs typeface="Arial" panose="020B0604020202020204" pitchFamily="34" charset="0"/>
              </a:rPr>
              <a:t> estimated where the confidence level is 99%</a:t>
            </a:r>
          </a:p>
          <a:p>
            <a:pPr eaLnBrk="1" hangingPunct="1"/>
            <a:r>
              <a:rPr lang="en-US" altLang="en-US" sz="2800" dirty="0">
                <a:cs typeface="Arial" panose="020B0604020202020204" pitchFamily="34" charset="0"/>
              </a:rPr>
              <a:t>Credit risk and operational risk capital are based on a one-year 99.9% </a:t>
            </a:r>
            <a:r>
              <a:rPr lang="en-US" altLang="en-US" sz="2800" dirty="0" err="1">
                <a:cs typeface="Arial" panose="020B0604020202020204" pitchFamily="34" charset="0"/>
              </a:rPr>
              <a:t>VaR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A02ACF-5B4B-4D38-9E9D-B7B0344A06F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Advantages of VaR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It captures an important aspect of risk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in a single number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It is easy to understand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It asks the simple question: “How bad can things get?” 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48E3FF-DEE8-43A7-9421-91F9BEE2D94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Example 11.1</a:t>
            </a:r>
            <a:endParaRPr lang="en-US" altLang="en-US" sz="2800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 gain from a portfolio during six month is normally distributed with mean $2 million and standard deviation $10 million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 1% point of the distribution of gains is 2−2.33×10 or − $21.3 million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 VaR for the portfolio with a six month time horizon and a 99% confidence level is $21.3 million. 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395DE0-03A4-49B9-95BC-0306F463614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Example 11.2</a:t>
            </a:r>
            <a:endParaRPr lang="en-US" altLang="en-US" sz="2800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All outcomes between a loss of $50 million and a gain of $50 million are equally likely for a one-year project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 VaR for a one-year time horizon and a 99% confidence level is $49 million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36CAE3-6758-42CD-B708-42C9EA79E55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Examples 11.3 and 11.4</a:t>
            </a:r>
            <a:endParaRPr lang="en-US" alt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A one-year project has a 98% chance of leading to a gain of $2 million, a 1.5% chance of a loss of $4 million, and a 0.5% chance of a loss of $10 million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 VaR with a 99% confidence level is $4 million 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What if the confidence level is 99.9%?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What if it is 99.5%?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DAE534-AFF2-44BD-A27D-0F5E7F37CC7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 dirty="0"/>
              <a:t>Cumulative Loss Distribution for Examples 11.3 and 11.4 </a:t>
            </a:r>
            <a:r>
              <a:rPr lang="en-CA" altLang="en-US" sz="2400" dirty="0"/>
              <a:t>(Figure 11.3)</a:t>
            </a:r>
            <a:endParaRPr lang="en-US" altLang="en-US" sz="2400" dirty="0"/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2274888"/>
            <a:ext cx="5786438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513299-7B3A-492F-912F-941A986838F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 vs. Expected Shortfall 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2775"/>
            <a:ext cx="8229600" cy="4248150"/>
          </a:xfrm>
        </p:spPr>
        <p:txBody>
          <a:bodyPr/>
          <a:lstStyle/>
          <a:p>
            <a:pPr eaLnBrk="1" hangingPunct="1"/>
            <a:r>
              <a:rPr lang="en-US" altLang="en-US" sz="2400" dirty="0" err="1">
                <a:cs typeface="Arial" panose="020B0604020202020204" pitchFamily="34" charset="0"/>
              </a:rPr>
              <a:t>VaR</a:t>
            </a:r>
            <a:r>
              <a:rPr lang="en-US" altLang="en-US" sz="2400" dirty="0">
                <a:cs typeface="Arial" panose="020B0604020202020204" pitchFamily="34" charset="0"/>
              </a:rPr>
              <a:t> is the loss level that will not be exceeded with a specified probability</a:t>
            </a:r>
          </a:p>
          <a:p>
            <a:pPr eaLnBrk="1" hangingPunct="1"/>
            <a:r>
              <a:rPr lang="en-US" altLang="en-US" sz="2400" dirty="0">
                <a:cs typeface="Arial" panose="020B0604020202020204" pitchFamily="34" charset="0"/>
              </a:rPr>
              <a:t>Expected shortfall (ES) is the expected loss given that the loss is greater than the </a:t>
            </a:r>
            <a:r>
              <a:rPr lang="en-US" altLang="en-US" sz="2400" dirty="0" err="1">
                <a:cs typeface="Arial" panose="020B0604020202020204" pitchFamily="34" charset="0"/>
              </a:rPr>
              <a:t>VaR</a:t>
            </a:r>
            <a:r>
              <a:rPr lang="en-US" altLang="en-US" sz="2400" dirty="0">
                <a:cs typeface="Arial" panose="020B0604020202020204" pitchFamily="34" charset="0"/>
              </a:rPr>
              <a:t> level (also called C-</a:t>
            </a:r>
            <a:r>
              <a:rPr lang="en-US" altLang="en-US" sz="2400" dirty="0" err="1">
                <a:cs typeface="Arial" panose="020B0604020202020204" pitchFamily="34" charset="0"/>
              </a:rPr>
              <a:t>VaR</a:t>
            </a:r>
            <a:r>
              <a:rPr lang="en-US" altLang="en-US" sz="2400" dirty="0">
                <a:cs typeface="Arial" panose="020B0604020202020204" pitchFamily="34" charset="0"/>
              </a:rPr>
              <a:t> and Tail Loss)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Regulators have moved from using </a:t>
            </a:r>
            <a:r>
              <a:rPr lang="en-CA" altLang="en-US" sz="2400" dirty="0" err="1">
                <a:cs typeface="Arial" panose="020B0604020202020204" pitchFamily="34" charset="0"/>
              </a:rPr>
              <a:t>VaR</a:t>
            </a:r>
            <a:r>
              <a:rPr lang="en-CA" altLang="en-US" sz="2400" dirty="0">
                <a:cs typeface="Arial" panose="020B0604020202020204" pitchFamily="34" charset="0"/>
              </a:rPr>
              <a:t> to using ES for determining market risk capital</a:t>
            </a:r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400" dirty="0">
                <a:cs typeface="Arial" panose="020B0604020202020204" pitchFamily="34" charset="0"/>
              </a:rPr>
              <a:t>Two portfolios with the same </a:t>
            </a:r>
            <a:r>
              <a:rPr lang="en-US" altLang="en-US" sz="2400" dirty="0" err="1">
                <a:cs typeface="Arial" panose="020B0604020202020204" pitchFamily="34" charset="0"/>
              </a:rPr>
              <a:t>VaR</a:t>
            </a:r>
            <a:r>
              <a:rPr lang="en-US" altLang="en-US" sz="2400" dirty="0">
                <a:cs typeface="Arial" panose="020B0604020202020204" pitchFamily="34" charset="0"/>
              </a:rPr>
              <a:t> can have very different expected shortfalls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599BFD-B86B-4191-B408-C82CE6CAAD5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14375"/>
            <a:ext cx="7696200" cy="1571625"/>
          </a:xfrm>
        </p:spPr>
        <p:txBody>
          <a:bodyPr/>
          <a:lstStyle/>
          <a:p>
            <a:pPr eaLnBrk="1" hangingPunct="1"/>
            <a:r>
              <a:rPr lang="en-US" altLang="en-US" sz="3200"/>
              <a:t>Distributions with the Same VaR but Different Expected Shortfalls </a:t>
            </a:r>
            <a:br>
              <a:rPr lang="en-US" altLang="en-US" sz="3200"/>
            </a:br>
            <a:endParaRPr lang="en-US" altLang="en-US" sz="2400"/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grpSp>
        <p:nvGrpSpPr>
          <p:cNvPr id="24580" name="Group 8"/>
          <p:cNvGrpSpPr>
            <a:grpSpLocks/>
          </p:cNvGrpSpPr>
          <p:nvPr/>
        </p:nvGrpSpPr>
        <p:grpSpPr bwMode="auto">
          <a:xfrm>
            <a:off x="2085975" y="5168900"/>
            <a:ext cx="523875" cy="407988"/>
            <a:chOff x="1111" y="1842"/>
            <a:chExt cx="2363" cy="1168"/>
          </a:xfrm>
        </p:grpSpPr>
        <p:sp>
          <p:nvSpPr>
            <p:cNvPr id="24595" name="Arc 4"/>
            <p:cNvSpPr>
              <a:spLocks/>
            </p:cNvSpPr>
            <p:nvPr/>
          </p:nvSpPr>
          <p:spPr bwMode="auto">
            <a:xfrm rot="4956178">
              <a:off x="1086" y="2321"/>
              <a:ext cx="576" cy="525"/>
            </a:xfrm>
            <a:custGeom>
              <a:avLst/>
              <a:gdLst>
                <a:gd name="T0" fmla="*/ 0 w 21600"/>
                <a:gd name="T1" fmla="*/ 0 h 19683"/>
                <a:gd name="T2" fmla="*/ 0 w 21600"/>
                <a:gd name="T3" fmla="*/ 0 h 19683"/>
                <a:gd name="T4" fmla="*/ 0 w 21600"/>
                <a:gd name="T5" fmla="*/ 0 h 1968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683"/>
                <a:gd name="T11" fmla="*/ 21600 w 21600"/>
                <a:gd name="T12" fmla="*/ 19683 h 196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683" fill="none" extrusionOk="0">
                  <a:moveTo>
                    <a:pt x="8896" y="-1"/>
                  </a:moveTo>
                  <a:cubicBezTo>
                    <a:pt x="16629" y="3495"/>
                    <a:pt x="21600" y="11195"/>
                    <a:pt x="21600" y="19683"/>
                  </a:cubicBezTo>
                </a:path>
                <a:path w="21600" h="19683" stroke="0" extrusionOk="0">
                  <a:moveTo>
                    <a:pt x="8896" y="-1"/>
                  </a:moveTo>
                  <a:cubicBezTo>
                    <a:pt x="16629" y="3495"/>
                    <a:pt x="21600" y="11195"/>
                    <a:pt x="21600" y="19683"/>
                  </a:cubicBezTo>
                  <a:lnTo>
                    <a:pt x="0" y="19683"/>
                  </a:lnTo>
                  <a:lnTo>
                    <a:pt x="8896" y="-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endParaRPr lang="en-US"/>
            </a:p>
          </p:txBody>
        </p:sp>
        <p:sp>
          <p:nvSpPr>
            <p:cNvPr id="24596" name="Arc 6"/>
            <p:cNvSpPr>
              <a:spLocks/>
            </p:cNvSpPr>
            <p:nvPr/>
          </p:nvSpPr>
          <p:spPr bwMode="auto">
            <a:xfrm rot="-5400000">
              <a:off x="1684" y="1768"/>
              <a:ext cx="1168" cy="1315"/>
            </a:xfrm>
            <a:custGeom>
              <a:avLst/>
              <a:gdLst>
                <a:gd name="T0" fmla="*/ 0 w 21600"/>
                <a:gd name="T1" fmla="*/ 0 h 38281"/>
                <a:gd name="T2" fmla="*/ 0 w 21600"/>
                <a:gd name="T3" fmla="*/ 0 h 38281"/>
                <a:gd name="T4" fmla="*/ 0 w 21600"/>
                <a:gd name="T5" fmla="*/ 0 h 3828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8281"/>
                <a:gd name="T11" fmla="*/ 21600 w 21600"/>
                <a:gd name="T12" fmla="*/ 38281 h 38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8281" fill="none" extrusionOk="0">
                  <a:moveTo>
                    <a:pt x="8734" y="-1"/>
                  </a:moveTo>
                  <a:cubicBezTo>
                    <a:pt x="16555" y="3457"/>
                    <a:pt x="21600" y="11203"/>
                    <a:pt x="21600" y="19755"/>
                  </a:cubicBezTo>
                  <a:cubicBezTo>
                    <a:pt x="21600" y="27344"/>
                    <a:pt x="17616" y="34377"/>
                    <a:pt x="11106" y="38280"/>
                  </a:cubicBezTo>
                </a:path>
                <a:path w="21600" h="38281" stroke="0" extrusionOk="0">
                  <a:moveTo>
                    <a:pt x="8734" y="-1"/>
                  </a:moveTo>
                  <a:cubicBezTo>
                    <a:pt x="16555" y="3457"/>
                    <a:pt x="21600" y="11203"/>
                    <a:pt x="21600" y="19755"/>
                  </a:cubicBezTo>
                  <a:cubicBezTo>
                    <a:pt x="21600" y="27344"/>
                    <a:pt x="17616" y="34377"/>
                    <a:pt x="11106" y="38280"/>
                  </a:cubicBezTo>
                  <a:lnTo>
                    <a:pt x="0" y="19755"/>
                  </a:lnTo>
                  <a:lnTo>
                    <a:pt x="8734" y="-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endParaRPr lang="en-US"/>
            </a:p>
          </p:txBody>
        </p:sp>
        <p:sp>
          <p:nvSpPr>
            <p:cNvPr id="24597" name="Arc 7"/>
            <p:cNvSpPr>
              <a:spLocks/>
            </p:cNvSpPr>
            <p:nvPr/>
          </p:nvSpPr>
          <p:spPr bwMode="auto">
            <a:xfrm rot="9907457">
              <a:off x="2972" y="2266"/>
              <a:ext cx="502" cy="525"/>
            </a:xfrm>
            <a:custGeom>
              <a:avLst/>
              <a:gdLst>
                <a:gd name="T0" fmla="*/ 0 w 21600"/>
                <a:gd name="T1" fmla="*/ 0 h 19683"/>
                <a:gd name="T2" fmla="*/ 0 w 21600"/>
                <a:gd name="T3" fmla="*/ 0 h 19683"/>
                <a:gd name="T4" fmla="*/ 0 w 21600"/>
                <a:gd name="T5" fmla="*/ 0 h 1968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683"/>
                <a:gd name="T11" fmla="*/ 21600 w 21600"/>
                <a:gd name="T12" fmla="*/ 19683 h 196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683" fill="none" extrusionOk="0">
                  <a:moveTo>
                    <a:pt x="8896" y="-1"/>
                  </a:moveTo>
                  <a:cubicBezTo>
                    <a:pt x="16629" y="3495"/>
                    <a:pt x="21600" y="11195"/>
                    <a:pt x="21600" y="19683"/>
                  </a:cubicBezTo>
                </a:path>
                <a:path w="21600" h="19683" stroke="0" extrusionOk="0">
                  <a:moveTo>
                    <a:pt x="8896" y="-1"/>
                  </a:moveTo>
                  <a:cubicBezTo>
                    <a:pt x="16629" y="3495"/>
                    <a:pt x="21600" y="11195"/>
                    <a:pt x="21600" y="19683"/>
                  </a:cubicBezTo>
                  <a:lnTo>
                    <a:pt x="0" y="19683"/>
                  </a:lnTo>
                  <a:lnTo>
                    <a:pt x="8896" y="-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4581" name="Arc 10"/>
          <p:cNvSpPr>
            <a:spLocks/>
          </p:cNvSpPr>
          <p:nvPr/>
        </p:nvSpPr>
        <p:spPr bwMode="auto">
          <a:xfrm rot="10006623">
            <a:off x="2555875" y="4868863"/>
            <a:ext cx="3275013" cy="490537"/>
          </a:xfrm>
          <a:custGeom>
            <a:avLst/>
            <a:gdLst>
              <a:gd name="T0" fmla="*/ 2147483647 w 19772"/>
              <a:gd name="T1" fmla="*/ 0 h 16289"/>
              <a:gd name="T2" fmla="*/ 2147483647 w 19772"/>
              <a:gd name="T3" fmla="*/ 2147483647 h 16289"/>
              <a:gd name="T4" fmla="*/ 0 w 19772"/>
              <a:gd name="T5" fmla="*/ 2147483647 h 16289"/>
              <a:gd name="T6" fmla="*/ 0 60000 65536"/>
              <a:gd name="T7" fmla="*/ 0 60000 65536"/>
              <a:gd name="T8" fmla="*/ 0 60000 65536"/>
              <a:gd name="T9" fmla="*/ 0 w 19772"/>
              <a:gd name="T10" fmla="*/ 0 h 16289"/>
              <a:gd name="T11" fmla="*/ 19772 w 19772"/>
              <a:gd name="T12" fmla="*/ 16289 h 162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72" h="16289" fill="none" extrusionOk="0">
                <a:moveTo>
                  <a:pt x="14185" y="-1"/>
                </a:moveTo>
                <a:cubicBezTo>
                  <a:pt x="16583" y="2088"/>
                  <a:pt x="18491" y="4681"/>
                  <a:pt x="19772" y="7592"/>
                </a:cubicBezTo>
              </a:path>
              <a:path w="19772" h="16289" stroke="0" extrusionOk="0">
                <a:moveTo>
                  <a:pt x="14185" y="-1"/>
                </a:moveTo>
                <a:cubicBezTo>
                  <a:pt x="16583" y="2088"/>
                  <a:pt x="18491" y="4681"/>
                  <a:pt x="19772" y="7592"/>
                </a:cubicBezTo>
                <a:lnTo>
                  <a:pt x="0" y="16289"/>
                </a:lnTo>
                <a:lnTo>
                  <a:pt x="14185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24582" name="Arc 12"/>
          <p:cNvSpPr>
            <a:spLocks/>
          </p:cNvSpPr>
          <p:nvPr/>
        </p:nvSpPr>
        <p:spPr bwMode="auto">
          <a:xfrm rot="4956178">
            <a:off x="3258344" y="4807744"/>
            <a:ext cx="922337" cy="441325"/>
          </a:xfrm>
          <a:custGeom>
            <a:avLst/>
            <a:gdLst>
              <a:gd name="T0" fmla="*/ 2147483647 w 21600"/>
              <a:gd name="T1" fmla="*/ 0 h 19683"/>
              <a:gd name="T2" fmla="*/ 2147483647 w 21600"/>
              <a:gd name="T3" fmla="*/ 2147483647 h 19683"/>
              <a:gd name="T4" fmla="*/ 0 w 21600"/>
              <a:gd name="T5" fmla="*/ 2147483647 h 19683"/>
              <a:gd name="T6" fmla="*/ 0 60000 65536"/>
              <a:gd name="T7" fmla="*/ 0 60000 65536"/>
              <a:gd name="T8" fmla="*/ 0 60000 65536"/>
              <a:gd name="T9" fmla="*/ 0 w 21600"/>
              <a:gd name="T10" fmla="*/ 0 h 19683"/>
              <a:gd name="T11" fmla="*/ 21600 w 21600"/>
              <a:gd name="T12" fmla="*/ 19683 h 196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683" fill="none" extrusionOk="0">
                <a:moveTo>
                  <a:pt x="8896" y="-1"/>
                </a:moveTo>
                <a:cubicBezTo>
                  <a:pt x="16629" y="3495"/>
                  <a:pt x="21600" y="11195"/>
                  <a:pt x="21600" y="19683"/>
                </a:cubicBezTo>
              </a:path>
              <a:path w="21600" h="19683" stroke="0" extrusionOk="0">
                <a:moveTo>
                  <a:pt x="8896" y="-1"/>
                </a:moveTo>
                <a:cubicBezTo>
                  <a:pt x="16629" y="3495"/>
                  <a:pt x="21600" y="11195"/>
                  <a:pt x="21600" y="19683"/>
                </a:cubicBezTo>
                <a:lnTo>
                  <a:pt x="0" y="19683"/>
                </a:lnTo>
                <a:lnTo>
                  <a:pt x="8896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24583" name="Arc 13"/>
          <p:cNvSpPr>
            <a:spLocks/>
          </p:cNvSpPr>
          <p:nvPr/>
        </p:nvSpPr>
        <p:spPr bwMode="auto">
          <a:xfrm rot="-5587925">
            <a:off x="3745707" y="3967956"/>
            <a:ext cx="1871662" cy="1514475"/>
          </a:xfrm>
          <a:custGeom>
            <a:avLst/>
            <a:gdLst>
              <a:gd name="T0" fmla="*/ 2147483647 w 21600"/>
              <a:gd name="T1" fmla="*/ 0 h 36104"/>
              <a:gd name="T2" fmla="*/ 2147483647 w 21600"/>
              <a:gd name="T3" fmla="*/ 2147483647 h 36104"/>
              <a:gd name="T4" fmla="*/ 0 w 21600"/>
              <a:gd name="T5" fmla="*/ 2147483647 h 36104"/>
              <a:gd name="T6" fmla="*/ 0 60000 65536"/>
              <a:gd name="T7" fmla="*/ 0 60000 65536"/>
              <a:gd name="T8" fmla="*/ 0 60000 65536"/>
              <a:gd name="T9" fmla="*/ 0 w 21600"/>
              <a:gd name="T10" fmla="*/ 0 h 36104"/>
              <a:gd name="T11" fmla="*/ 21600 w 21600"/>
              <a:gd name="T12" fmla="*/ 36104 h 361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6104" fill="none" extrusionOk="0">
                <a:moveTo>
                  <a:pt x="8734" y="-1"/>
                </a:moveTo>
                <a:cubicBezTo>
                  <a:pt x="16555" y="3457"/>
                  <a:pt x="21600" y="11203"/>
                  <a:pt x="21600" y="19755"/>
                </a:cubicBezTo>
                <a:cubicBezTo>
                  <a:pt x="21600" y="26033"/>
                  <a:pt x="18868" y="32001"/>
                  <a:pt x="14116" y="36104"/>
                </a:cubicBezTo>
              </a:path>
              <a:path w="21600" h="36104" stroke="0" extrusionOk="0">
                <a:moveTo>
                  <a:pt x="8734" y="-1"/>
                </a:moveTo>
                <a:cubicBezTo>
                  <a:pt x="16555" y="3457"/>
                  <a:pt x="21600" y="11203"/>
                  <a:pt x="21600" y="19755"/>
                </a:cubicBezTo>
                <a:cubicBezTo>
                  <a:pt x="21600" y="26033"/>
                  <a:pt x="18868" y="32001"/>
                  <a:pt x="14116" y="36104"/>
                </a:cubicBezTo>
                <a:lnTo>
                  <a:pt x="0" y="19755"/>
                </a:lnTo>
                <a:lnTo>
                  <a:pt x="8734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24584" name="Arc 14"/>
          <p:cNvSpPr>
            <a:spLocks/>
          </p:cNvSpPr>
          <p:nvPr/>
        </p:nvSpPr>
        <p:spPr bwMode="auto">
          <a:xfrm rot="9168644">
            <a:off x="5718175" y="4041775"/>
            <a:ext cx="628650" cy="1657350"/>
          </a:xfrm>
          <a:custGeom>
            <a:avLst/>
            <a:gdLst>
              <a:gd name="T0" fmla="*/ 2147483647 w 21600"/>
              <a:gd name="T1" fmla="*/ 0 h 21152"/>
              <a:gd name="T2" fmla="*/ 2147483647 w 21600"/>
              <a:gd name="T3" fmla="*/ 2147483647 h 21152"/>
              <a:gd name="T4" fmla="*/ 0 w 21600"/>
              <a:gd name="T5" fmla="*/ 2147483647 h 21152"/>
              <a:gd name="T6" fmla="*/ 0 60000 65536"/>
              <a:gd name="T7" fmla="*/ 0 60000 65536"/>
              <a:gd name="T8" fmla="*/ 0 60000 65536"/>
              <a:gd name="T9" fmla="*/ 0 w 21600"/>
              <a:gd name="T10" fmla="*/ 0 h 21152"/>
              <a:gd name="T11" fmla="*/ 21600 w 21600"/>
              <a:gd name="T12" fmla="*/ 21152 h 21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152" fill="none" extrusionOk="0">
                <a:moveTo>
                  <a:pt x="4377" y="0"/>
                </a:moveTo>
                <a:cubicBezTo>
                  <a:pt x="14407" y="2076"/>
                  <a:pt x="21600" y="10910"/>
                  <a:pt x="21600" y="21152"/>
                </a:cubicBezTo>
              </a:path>
              <a:path w="21600" h="21152" stroke="0" extrusionOk="0">
                <a:moveTo>
                  <a:pt x="4377" y="0"/>
                </a:moveTo>
                <a:cubicBezTo>
                  <a:pt x="14407" y="2076"/>
                  <a:pt x="21600" y="10910"/>
                  <a:pt x="21600" y="21152"/>
                </a:cubicBezTo>
                <a:lnTo>
                  <a:pt x="0" y="21152"/>
                </a:lnTo>
                <a:lnTo>
                  <a:pt x="4377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24585" name="Arc 19"/>
          <p:cNvSpPr>
            <a:spLocks/>
          </p:cNvSpPr>
          <p:nvPr/>
        </p:nvSpPr>
        <p:spPr bwMode="auto">
          <a:xfrm rot="4956178">
            <a:off x="2741613" y="2541588"/>
            <a:ext cx="815975" cy="796925"/>
          </a:xfrm>
          <a:custGeom>
            <a:avLst/>
            <a:gdLst>
              <a:gd name="T0" fmla="*/ 2147483647 w 21600"/>
              <a:gd name="T1" fmla="*/ 0 h 19683"/>
              <a:gd name="T2" fmla="*/ 2147483647 w 21600"/>
              <a:gd name="T3" fmla="*/ 2147483647 h 19683"/>
              <a:gd name="T4" fmla="*/ 0 w 21600"/>
              <a:gd name="T5" fmla="*/ 2147483647 h 19683"/>
              <a:gd name="T6" fmla="*/ 0 60000 65536"/>
              <a:gd name="T7" fmla="*/ 0 60000 65536"/>
              <a:gd name="T8" fmla="*/ 0 60000 65536"/>
              <a:gd name="T9" fmla="*/ 0 w 21600"/>
              <a:gd name="T10" fmla="*/ 0 h 19683"/>
              <a:gd name="T11" fmla="*/ 21600 w 21600"/>
              <a:gd name="T12" fmla="*/ 19683 h 196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683" fill="none" extrusionOk="0">
                <a:moveTo>
                  <a:pt x="8896" y="-1"/>
                </a:moveTo>
                <a:cubicBezTo>
                  <a:pt x="16629" y="3495"/>
                  <a:pt x="21600" y="11195"/>
                  <a:pt x="21600" y="19683"/>
                </a:cubicBezTo>
              </a:path>
              <a:path w="21600" h="19683" stroke="0" extrusionOk="0">
                <a:moveTo>
                  <a:pt x="8896" y="-1"/>
                </a:moveTo>
                <a:cubicBezTo>
                  <a:pt x="16629" y="3495"/>
                  <a:pt x="21600" y="11195"/>
                  <a:pt x="21600" y="19683"/>
                </a:cubicBezTo>
                <a:lnTo>
                  <a:pt x="0" y="19683"/>
                </a:lnTo>
                <a:lnTo>
                  <a:pt x="8896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24586" name="Arc 20"/>
          <p:cNvSpPr>
            <a:spLocks/>
          </p:cNvSpPr>
          <p:nvPr/>
        </p:nvSpPr>
        <p:spPr bwMode="auto">
          <a:xfrm rot="-5400000">
            <a:off x="3679825" y="1717675"/>
            <a:ext cx="1657350" cy="2000250"/>
          </a:xfrm>
          <a:custGeom>
            <a:avLst/>
            <a:gdLst>
              <a:gd name="T0" fmla="*/ 2147483647 w 21600"/>
              <a:gd name="T1" fmla="*/ 0 h 38281"/>
              <a:gd name="T2" fmla="*/ 2147483647 w 21600"/>
              <a:gd name="T3" fmla="*/ 2147483647 h 38281"/>
              <a:gd name="T4" fmla="*/ 0 w 21600"/>
              <a:gd name="T5" fmla="*/ 2147483647 h 38281"/>
              <a:gd name="T6" fmla="*/ 0 60000 65536"/>
              <a:gd name="T7" fmla="*/ 0 60000 65536"/>
              <a:gd name="T8" fmla="*/ 0 60000 65536"/>
              <a:gd name="T9" fmla="*/ 0 w 21600"/>
              <a:gd name="T10" fmla="*/ 0 h 38281"/>
              <a:gd name="T11" fmla="*/ 21600 w 21600"/>
              <a:gd name="T12" fmla="*/ 38281 h 382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8281" fill="none" extrusionOk="0">
                <a:moveTo>
                  <a:pt x="8734" y="-1"/>
                </a:moveTo>
                <a:cubicBezTo>
                  <a:pt x="16555" y="3457"/>
                  <a:pt x="21600" y="11203"/>
                  <a:pt x="21600" y="19755"/>
                </a:cubicBezTo>
                <a:cubicBezTo>
                  <a:pt x="21600" y="27344"/>
                  <a:pt x="17616" y="34377"/>
                  <a:pt x="11106" y="38280"/>
                </a:cubicBezTo>
              </a:path>
              <a:path w="21600" h="38281" stroke="0" extrusionOk="0">
                <a:moveTo>
                  <a:pt x="8734" y="-1"/>
                </a:moveTo>
                <a:cubicBezTo>
                  <a:pt x="16555" y="3457"/>
                  <a:pt x="21600" y="11203"/>
                  <a:pt x="21600" y="19755"/>
                </a:cubicBezTo>
                <a:cubicBezTo>
                  <a:pt x="21600" y="27344"/>
                  <a:pt x="17616" y="34377"/>
                  <a:pt x="11106" y="38280"/>
                </a:cubicBezTo>
                <a:lnTo>
                  <a:pt x="0" y="19755"/>
                </a:lnTo>
                <a:lnTo>
                  <a:pt x="8734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24587" name="Arc 21"/>
          <p:cNvSpPr>
            <a:spLocks/>
          </p:cNvSpPr>
          <p:nvPr/>
        </p:nvSpPr>
        <p:spPr bwMode="auto">
          <a:xfrm rot="9175766">
            <a:off x="5662613" y="2346325"/>
            <a:ext cx="677862" cy="1147763"/>
          </a:xfrm>
          <a:custGeom>
            <a:avLst/>
            <a:gdLst>
              <a:gd name="T0" fmla="*/ 2147483647 w 21600"/>
              <a:gd name="T1" fmla="*/ 0 h 24051"/>
              <a:gd name="T2" fmla="*/ 2147483647 w 21600"/>
              <a:gd name="T3" fmla="*/ 2147483647 h 24051"/>
              <a:gd name="T4" fmla="*/ 0 w 21600"/>
              <a:gd name="T5" fmla="*/ 2147483647 h 24051"/>
              <a:gd name="T6" fmla="*/ 0 60000 65536"/>
              <a:gd name="T7" fmla="*/ 0 60000 65536"/>
              <a:gd name="T8" fmla="*/ 0 60000 65536"/>
              <a:gd name="T9" fmla="*/ 0 w 21600"/>
              <a:gd name="T10" fmla="*/ 0 h 24051"/>
              <a:gd name="T11" fmla="*/ 21600 w 21600"/>
              <a:gd name="T12" fmla="*/ 24051 h 240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051" fill="none" extrusionOk="0">
                <a:moveTo>
                  <a:pt x="7660" y="0"/>
                </a:moveTo>
                <a:cubicBezTo>
                  <a:pt x="16051" y="3182"/>
                  <a:pt x="21600" y="11222"/>
                  <a:pt x="21600" y="20196"/>
                </a:cubicBezTo>
                <a:cubicBezTo>
                  <a:pt x="21600" y="21488"/>
                  <a:pt x="21483" y="22778"/>
                  <a:pt x="21253" y="24051"/>
                </a:cubicBezTo>
              </a:path>
              <a:path w="21600" h="24051" stroke="0" extrusionOk="0">
                <a:moveTo>
                  <a:pt x="7660" y="0"/>
                </a:moveTo>
                <a:cubicBezTo>
                  <a:pt x="16051" y="3182"/>
                  <a:pt x="21600" y="11222"/>
                  <a:pt x="21600" y="20196"/>
                </a:cubicBezTo>
                <a:cubicBezTo>
                  <a:pt x="21600" y="21488"/>
                  <a:pt x="21483" y="22778"/>
                  <a:pt x="21253" y="24051"/>
                </a:cubicBezTo>
                <a:lnTo>
                  <a:pt x="0" y="20196"/>
                </a:lnTo>
                <a:lnTo>
                  <a:pt x="7660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24588" name="Line 22"/>
          <p:cNvSpPr>
            <a:spLocks noChangeShapeType="1"/>
          </p:cNvSpPr>
          <p:nvPr/>
        </p:nvSpPr>
        <p:spPr bwMode="auto">
          <a:xfrm>
            <a:off x="2843213" y="3429000"/>
            <a:ext cx="35290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4589" name="Line 23"/>
          <p:cNvSpPr>
            <a:spLocks noChangeShapeType="1"/>
          </p:cNvSpPr>
          <p:nvPr/>
        </p:nvSpPr>
        <p:spPr bwMode="auto">
          <a:xfrm>
            <a:off x="1835150" y="5589588"/>
            <a:ext cx="51133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4590" name="Line 24"/>
          <p:cNvSpPr>
            <a:spLocks noChangeShapeType="1"/>
          </p:cNvSpPr>
          <p:nvPr/>
        </p:nvSpPr>
        <p:spPr bwMode="auto">
          <a:xfrm>
            <a:off x="3492500" y="2924175"/>
            <a:ext cx="0" cy="504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4591" name="Line 25"/>
          <p:cNvSpPr>
            <a:spLocks noChangeShapeType="1"/>
          </p:cNvSpPr>
          <p:nvPr/>
        </p:nvSpPr>
        <p:spPr bwMode="auto">
          <a:xfrm>
            <a:off x="3492500" y="5516563"/>
            <a:ext cx="0" cy="73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4592" name="Text Box 26"/>
          <p:cNvSpPr txBox="1">
            <a:spLocks noChangeArrowheads="1"/>
          </p:cNvSpPr>
          <p:nvPr/>
        </p:nvSpPr>
        <p:spPr bwMode="auto">
          <a:xfrm>
            <a:off x="3203575" y="3500438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VaR</a:t>
            </a:r>
          </a:p>
        </p:txBody>
      </p:sp>
      <p:sp>
        <p:nvSpPr>
          <p:cNvPr id="24593" name="Text Box 27"/>
          <p:cNvSpPr txBox="1">
            <a:spLocks noChangeArrowheads="1"/>
          </p:cNvSpPr>
          <p:nvPr/>
        </p:nvSpPr>
        <p:spPr bwMode="auto">
          <a:xfrm>
            <a:off x="3203575" y="5734050"/>
            <a:ext cx="792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VaR</a:t>
            </a:r>
          </a:p>
        </p:txBody>
      </p:sp>
      <p:sp>
        <p:nvSpPr>
          <p:cNvPr id="24594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E805FD-F60A-4DD9-BB09-7222CE9C5C4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571500"/>
            <a:ext cx="7772400" cy="1000125"/>
          </a:xfrm>
        </p:spPr>
        <p:txBody>
          <a:bodyPr/>
          <a:lstStyle/>
          <a:p>
            <a:pPr eaLnBrk="1" hangingPunct="1"/>
            <a:r>
              <a:rPr lang="en-US" altLang="en-US" dirty="0"/>
              <a:t>Coherent Risk Measures</a:t>
            </a:r>
            <a:endParaRPr lang="en-US" altLang="en-US" sz="24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85938"/>
            <a:ext cx="7772400" cy="4476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cs typeface="Arial" panose="020B0604020202020204" pitchFamily="34" charset="0"/>
              </a:rPr>
              <a:t>Define a coherent risk measure as the amount of cash that has to be added to a portfolio to make its risk acceptable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cs typeface="Arial" panose="020B0604020202020204" pitchFamily="34" charset="0"/>
              </a:rPr>
              <a:t>Properties of coherent risk measure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cs typeface="Arial" panose="020B0604020202020204" pitchFamily="34" charset="0"/>
              </a:rPr>
              <a:t>If one portfolio always produces a worse outcome than another its risk measure should be greater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cs typeface="Arial" panose="020B0604020202020204" pitchFamily="34" charset="0"/>
              </a:rPr>
              <a:t>If we add an amount of cash </a:t>
            </a:r>
            <a:r>
              <a:rPr lang="en-US" alt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altLang="en-US" sz="2000">
                <a:cs typeface="Arial" panose="020B0604020202020204" pitchFamily="34" charset="0"/>
              </a:rPr>
              <a:t> to a portfolio its risk measure should go down by </a:t>
            </a:r>
            <a:r>
              <a:rPr lang="en-US" alt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cs typeface="Arial" panose="020B0604020202020204" pitchFamily="34" charset="0"/>
              </a:rPr>
              <a:t>Changing the size of a portfolio by </a:t>
            </a:r>
            <a:r>
              <a:rPr lang="en-US" altLang="en-US" sz="2000">
                <a:latin typeface="Symbol" panose="05050102010706020507" pitchFamily="18" charset="2"/>
                <a:cs typeface="Arial" panose="020B0604020202020204" pitchFamily="34" charset="0"/>
              </a:rPr>
              <a:t>l</a:t>
            </a:r>
            <a:r>
              <a:rPr lang="en-US" altLang="en-US" sz="2000">
                <a:cs typeface="Arial" panose="020B0604020202020204" pitchFamily="34" charset="0"/>
              </a:rPr>
              <a:t> should result in the risk measure being multiplied by </a:t>
            </a:r>
            <a:r>
              <a:rPr lang="en-US" altLang="en-US" sz="2000">
                <a:latin typeface="Symbol" panose="05050102010706020507" pitchFamily="18" charset="2"/>
                <a:cs typeface="Arial" panose="020B0604020202020204" pitchFamily="34" charset="0"/>
              </a:rPr>
              <a:t>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cs typeface="Arial" panose="020B0604020202020204" pitchFamily="34" charset="0"/>
              </a:rPr>
              <a:t>The risk measures for two portfolios after they have been merged should be no greater than the sum of their risk measures before they were merged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17EFFE-25C8-47DD-A2E5-066EDA71FA6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 vs Expected Shortfall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VaR satisfies the first three conditions but not the fourth one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ES satisfies all four conditions.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CBDEAC-C9B2-44EF-9010-CF2622C04AD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Example 11.5 and 11.7</a:t>
            </a:r>
            <a:endParaRPr lang="en-US" altLang="en-US" dirty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Each of two independent projects has a probability 0.98 of a loss of $1 million and 0.02 probability of a loss of  $10 million</a:t>
            </a:r>
          </a:p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What is the 97.5% </a:t>
            </a:r>
            <a:r>
              <a:rPr lang="en-CA" altLang="en-US" sz="2400" dirty="0" err="1">
                <a:cs typeface="Arial" panose="020B0604020202020204" pitchFamily="34" charset="0"/>
              </a:rPr>
              <a:t>VaR</a:t>
            </a:r>
            <a:r>
              <a:rPr lang="en-CA" altLang="en-US" sz="2400" dirty="0">
                <a:cs typeface="Arial" panose="020B0604020202020204" pitchFamily="34" charset="0"/>
              </a:rPr>
              <a:t> for each project?</a:t>
            </a:r>
          </a:p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What is the 97.5% expected shortfall for each project?</a:t>
            </a:r>
          </a:p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What is the 97.5% </a:t>
            </a:r>
            <a:r>
              <a:rPr lang="en-CA" altLang="en-US" sz="2400" dirty="0" err="1">
                <a:cs typeface="Arial" panose="020B0604020202020204" pitchFamily="34" charset="0"/>
              </a:rPr>
              <a:t>VaR</a:t>
            </a:r>
            <a:r>
              <a:rPr lang="en-CA" altLang="en-US" sz="2400" dirty="0">
                <a:cs typeface="Arial" panose="020B0604020202020204" pitchFamily="34" charset="0"/>
              </a:rPr>
              <a:t> for the portfolio?</a:t>
            </a:r>
          </a:p>
          <a:p>
            <a:pPr eaLnBrk="1" hangingPunct="1">
              <a:defRPr/>
            </a:pPr>
            <a:r>
              <a:rPr lang="en-CA" altLang="en-US" sz="2400" dirty="0">
                <a:cs typeface="Arial" panose="020B0604020202020204" pitchFamily="34" charset="0"/>
              </a:rPr>
              <a:t>What is the 97.5% expected shortfall for the portfolio?</a:t>
            </a:r>
          </a:p>
          <a:p>
            <a:pPr eaLnBrk="1" hangingPunct="1">
              <a:defRPr/>
            </a:pPr>
            <a:endParaRPr lang="en-CA" altLang="en-US" dirty="0"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6DD9A2-90DD-4304-9E2B-89F1976C401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Examples 11.6 and 11.8</a:t>
            </a:r>
            <a:endParaRPr lang="en-US" altLang="en-US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A bank has two $10 million one-year loans. Possible outcomes are as follows</a:t>
            </a:r>
          </a:p>
          <a:p>
            <a:pPr eaLnBrk="1" hangingPunct="1"/>
            <a:endParaRPr lang="en-CA" altLang="en-US" sz="2000">
              <a:cs typeface="Arial" panose="020B0604020202020204" pitchFamily="34" charset="0"/>
            </a:endParaRPr>
          </a:p>
          <a:p>
            <a:pPr eaLnBrk="1" hangingPunct="1"/>
            <a:endParaRPr lang="en-CA" altLang="en-US" sz="2000">
              <a:cs typeface="Arial" panose="020B0604020202020204" pitchFamily="34" charset="0"/>
            </a:endParaRPr>
          </a:p>
          <a:p>
            <a:pPr eaLnBrk="1" hangingPunct="1"/>
            <a:endParaRPr lang="en-CA" altLang="en-US" sz="2000">
              <a:cs typeface="Arial" panose="020B0604020202020204" pitchFamily="34" charset="0"/>
            </a:endParaRPr>
          </a:p>
          <a:p>
            <a:pPr eaLnBrk="1" hangingPunct="1"/>
            <a:endParaRPr lang="en-CA" altLang="en-US" sz="2000">
              <a:cs typeface="Arial" panose="020B0604020202020204" pitchFamily="34" charset="0"/>
            </a:endParaRPr>
          </a:p>
          <a:p>
            <a:pPr eaLnBrk="1" hangingPunct="1"/>
            <a:endParaRPr lang="en-CA" altLang="en-US" sz="2000">
              <a:cs typeface="Arial" panose="020B0604020202020204" pitchFamily="34" charset="0"/>
            </a:endParaRPr>
          </a:p>
          <a:p>
            <a:pPr eaLnBrk="1" hangingPunct="1"/>
            <a:endParaRPr lang="en-US" altLang="en-US" sz="200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z="2000">
                <a:cs typeface="Arial" panose="020B0604020202020204" pitchFamily="34" charset="0"/>
              </a:rPr>
              <a:t>If a default occurs, losses between 0% and 100% are equally likely. If a loan does not default, a profit of 0.2 million is made</a:t>
            </a:r>
            <a:r>
              <a:rPr lang="en-US" altLang="en-US" sz="2000"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CA" altLang="en-US" sz="2000">
                <a:cs typeface="Arial" panose="020B0604020202020204" pitchFamily="34" charset="0"/>
              </a:rPr>
              <a:t>What is the 99% VaR and expected shortfall of each project</a:t>
            </a:r>
          </a:p>
          <a:p>
            <a:pPr eaLnBrk="1" hangingPunct="1"/>
            <a:r>
              <a:rPr lang="en-CA" altLang="en-US" sz="2000">
                <a:cs typeface="Arial" panose="020B0604020202020204" pitchFamily="34" charset="0"/>
              </a:rPr>
              <a:t>What is the 99% VaR and expected shortfall for the portfolio</a:t>
            </a:r>
            <a:endParaRPr lang="en-US" altLang="en-US" sz="2000">
              <a:cs typeface="Arial" panose="020B0604020202020204" pitchFamily="34" charset="0"/>
            </a:endParaRPr>
          </a:p>
          <a:p>
            <a:pPr eaLnBrk="1" hangingPunct="1"/>
            <a:endParaRPr lang="en-US" altLang="en-US" sz="2000">
              <a:cs typeface="Arial" panose="020B0604020202020204" pitchFamily="34" charset="0"/>
            </a:endParaRP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A91599-BE94-4EAC-AA75-86ACF2A1876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403350" y="2492375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dirty="0"/>
                        <a:t>Outcome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Probability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dirty="0"/>
                        <a:t>Neither Loan Defaults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97.5%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dirty="0"/>
                        <a:t>Loan 1 defaults,</a:t>
                      </a:r>
                      <a:r>
                        <a:rPr lang="en-CA" sz="1800" baseline="0" dirty="0"/>
                        <a:t> loan 2 does not default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1.25%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dirty="0"/>
                        <a:t>Loan 2 defaults, loan 1 does not default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1.25%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dirty="0"/>
                        <a:t>Both loans default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0.00%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Spectral Risk Measures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lnSpc>
                <a:spcPct val="90000"/>
              </a:lnSpc>
              <a:buFont typeface="Times New Roman" panose="02020603050405020304" pitchFamily="18" charset="0"/>
              <a:buAutoNum type="arabicPeriod"/>
            </a:pPr>
            <a:r>
              <a:rPr lang="en-US" altLang="en-US" sz="2800">
                <a:cs typeface="Arial" panose="020B0604020202020204" pitchFamily="34" charset="0"/>
              </a:rPr>
              <a:t>A spectral risk measure assigns weights to quantiles of the loss distribution</a:t>
            </a:r>
          </a:p>
          <a:p>
            <a:pPr marL="514350" indent="-514350" eaLnBrk="1" hangingPunct="1">
              <a:lnSpc>
                <a:spcPct val="90000"/>
              </a:lnSpc>
              <a:buFont typeface="Times New Roman" panose="02020603050405020304" pitchFamily="18" charset="0"/>
              <a:buAutoNum type="arabicPeriod"/>
            </a:pPr>
            <a:r>
              <a:rPr lang="en-US" altLang="en-US" sz="2800">
                <a:cs typeface="Arial" panose="020B0604020202020204" pitchFamily="34" charset="0"/>
              </a:rPr>
              <a:t>VaR assigns all weight to </a:t>
            </a:r>
            <a:r>
              <a:rPr lang="en-US" altLang="en-US" sz="2800" i="1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en-US" sz="2800">
                <a:cs typeface="Arial" panose="020B0604020202020204" pitchFamily="34" charset="0"/>
              </a:rPr>
              <a:t>th percentile of the loss distribution</a:t>
            </a:r>
          </a:p>
          <a:p>
            <a:pPr marL="514350" indent="-514350" eaLnBrk="1" hangingPunct="1">
              <a:lnSpc>
                <a:spcPct val="90000"/>
              </a:lnSpc>
              <a:buFont typeface="Times New Roman" panose="02020603050405020304" pitchFamily="18" charset="0"/>
              <a:buAutoNum type="arabicPeriod"/>
            </a:pPr>
            <a:r>
              <a:rPr lang="en-US" altLang="en-US" sz="2800">
                <a:cs typeface="Arial" panose="020B0604020202020204" pitchFamily="34" charset="0"/>
              </a:rPr>
              <a:t>Expected shortfall assigns equal weight to all percentiles greater than the </a:t>
            </a:r>
            <a:r>
              <a:rPr lang="en-US" altLang="en-US" sz="2800" i="1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en-US" sz="2800">
                <a:cs typeface="Arial" panose="020B0604020202020204" pitchFamily="34" charset="0"/>
              </a:rPr>
              <a:t>th percentile</a:t>
            </a:r>
          </a:p>
          <a:p>
            <a:pPr marL="514350" indent="-514350" eaLnBrk="1" hangingPunct="1">
              <a:lnSpc>
                <a:spcPct val="90000"/>
              </a:lnSpc>
              <a:buFont typeface="Times New Roman" panose="02020603050405020304" pitchFamily="18" charset="0"/>
              <a:buAutoNum type="arabicPeriod"/>
            </a:pPr>
            <a:r>
              <a:rPr lang="en-US" altLang="en-US" sz="2800">
                <a:cs typeface="Arial" panose="020B0604020202020204" pitchFamily="34" charset="0"/>
              </a:rPr>
              <a:t>For a coherent risk measure weights must be a non-decreasing function of the percentiles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36FE4C-70D9-4946-AEBE-68C94779E0C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85750"/>
            <a:ext cx="7543800" cy="1000125"/>
          </a:xfrm>
        </p:spPr>
        <p:txBody>
          <a:bodyPr/>
          <a:lstStyle/>
          <a:p>
            <a:pPr eaLnBrk="1" hangingPunct="1"/>
            <a:r>
              <a:rPr lang="en-US" altLang="en-US" sz="4000"/>
              <a:t>Normal Distribution Assumption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7931150" cy="4411662"/>
          </a:xfrm>
        </p:spPr>
        <p:txBody>
          <a:bodyPr/>
          <a:lstStyle/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When losses (gains) are normally distributed with mean </a:t>
            </a:r>
            <a:r>
              <a:rPr lang="en-CA" altLang="en-US" sz="2800" dirty="0">
                <a:latin typeface="Symbol" panose="05050102010706020507" pitchFamily="18" charset="2"/>
                <a:cs typeface="Arial" panose="020B0604020202020204" pitchFamily="34" charset="0"/>
              </a:rPr>
              <a:t>m</a:t>
            </a:r>
            <a:r>
              <a:rPr lang="en-CA" altLang="en-US" sz="2800" dirty="0">
                <a:cs typeface="Arial" panose="020B0604020202020204" pitchFamily="34" charset="0"/>
              </a:rPr>
              <a:t> and standard deviation </a:t>
            </a:r>
            <a:r>
              <a:rPr lang="en-CA" altLang="en-US" sz="2800" dirty="0">
                <a:latin typeface="Symbol" panose="05050102010706020507" pitchFamily="18" charset="2"/>
                <a:cs typeface="Arial" panose="020B0604020202020204" pitchFamily="34" charset="0"/>
              </a:rPr>
              <a:t>s</a:t>
            </a:r>
            <a:r>
              <a:rPr lang="en-CA" altLang="en-US" sz="2800" i="1" dirty="0">
                <a:latin typeface="Symbol" panose="05050102010706020507" pitchFamily="18" charset="2"/>
                <a:cs typeface="Arial" panose="020B0604020202020204" pitchFamily="34" charset="0"/>
              </a:rPr>
              <a:t> </a:t>
            </a:r>
            <a:endParaRPr lang="en-US" altLang="en-US" sz="2800" i="1" dirty="0">
              <a:latin typeface="Symbol" panose="05050102010706020507" pitchFamily="18" charset="2"/>
              <a:cs typeface="Arial" panose="020B0604020202020204" pitchFamily="34" charset="0"/>
            </a:endParaRPr>
          </a:p>
        </p:txBody>
      </p:sp>
      <p:graphicFrame>
        <p:nvGraphicFramePr>
          <p:cNvPr id="30724" name="Rectangle 4"/>
          <p:cNvGraphicFramePr>
            <a:graphicFrameLocks noGrp="1"/>
          </p:cNvGraphicFramePr>
          <p:nvPr>
            <p:ph sz="quarter" idx="2"/>
          </p:nvPr>
        </p:nvGraphicFramePr>
        <p:xfrm>
          <a:off x="6667500" y="2784475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Rectangle 4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2784475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30726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DC4C76-F5D9-4A33-A9ED-6D49E510EA3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graphicFrame>
        <p:nvGraphicFramePr>
          <p:cNvPr id="307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930033"/>
              </p:ext>
            </p:extLst>
          </p:nvPr>
        </p:nvGraphicFramePr>
        <p:xfrm>
          <a:off x="827584" y="2852936"/>
          <a:ext cx="6080125" cy="29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2412720" imgH="1168200" progId="Equation.3">
                  <p:embed/>
                </p:oleObj>
              </mc:Choice>
              <mc:Fallback>
                <p:oleObj name="Equation" r:id="rId5" imgW="2412720" imgH="1168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852936"/>
                        <a:ext cx="6080125" cy="294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Changing the Time Horizon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If losses in successive days are independent, normally distributed, and have a mean of zero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DC6C4B-B801-410A-9F9A-FB64C20073AE}" type="slidenum">
              <a:rPr lang="en-US" altLang="en-US"/>
              <a:pPr/>
              <a:t>17</a:t>
            </a:fld>
            <a:endParaRPr lang="en-US" altLang="en-US"/>
          </a:p>
        </p:txBody>
      </p:sp>
      <p:graphicFrame>
        <p:nvGraphicFramePr>
          <p:cNvPr id="31750" name="Object 5"/>
          <p:cNvGraphicFramePr>
            <a:graphicFrameLocks noChangeAspect="1"/>
          </p:cNvGraphicFramePr>
          <p:nvPr/>
        </p:nvGraphicFramePr>
        <p:xfrm>
          <a:off x="2843213" y="3573463"/>
          <a:ext cx="38719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943100" imgH="508000" progId="Equation.3">
                  <p:embed/>
                </p:oleObj>
              </mc:Choice>
              <mc:Fallback>
                <p:oleObj name="Equation" r:id="rId3" imgW="1943100" imgH="508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573463"/>
                        <a:ext cx="38719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Extension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If there is autocorrelation </a:t>
            </a:r>
            <a:r>
              <a:rPr lang="en-CA" i="1" dirty="0">
                <a:latin typeface="Symbol" panose="05050102010706020507" pitchFamily="18" charset="2"/>
              </a:rPr>
              <a:t>r</a:t>
            </a:r>
            <a:r>
              <a:rPr lang="en-CA" dirty="0"/>
              <a:t> between the losses (gains) on successive days, we replace        by</a:t>
            </a:r>
          </a:p>
          <a:p>
            <a:pPr>
              <a:defRPr/>
            </a:pPr>
            <a:endParaRPr lang="en-CA" dirty="0"/>
          </a:p>
          <a:p>
            <a:pPr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CA" dirty="0"/>
              <a:t>   in these equations</a:t>
            </a:r>
          </a:p>
          <a:p>
            <a:pPr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11,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D1E58B-BD14-46FD-8B9A-690BC559F1B2}" type="slidenum">
              <a:rPr lang="en-US" altLang="en-US"/>
              <a:pPr/>
              <a:t>18</a:t>
            </a:fld>
            <a:endParaRPr lang="en-US" altLang="en-US"/>
          </a:p>
        </p:txBody>
      </p:sp>
      <p:graphicFrame>
        <p:nvGraphicFramePr>
          <p:cNvPr id="32774" name="Object 5"/>
          <p:cNvGraphicFramePr>
            <a:graphicFrameLocks noChangeAspect="1"/>
          </p:cNvGraphicFramePr>
          <p:nvPr/>
        </p:nvGraphicFramePr>
        <p:xfrm>
          <a:off x="2268538" y="2708275"/>
          <a:ext cx="6477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253780" imgH="215713" progId="Equation.3">
                  <p:embed/>
                </p:oleObj>
              </mc:Choice>
              <mc:Fallback>
                <p:oleObj name="Equation" r:id="rId3" imgW="253780" imgH="2157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708275"/>
                        <a:ext cx="6477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6"/>
          <p:cNvGraphicFramePr>
            <a:graphicFrameLocks noChangeAspect="1"/>
          </p:cNvGraphicFramePr>
          <p:nvPr/>
        </p:nvGraphicFramePr>
        <p:xfrm>
          <a:off x="755650" y="3560763"/>
          <a:ext cx="806926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3276600" imgH="279400" progId="Equation.3">
                  <p:embed/>
                </p:oleObj>
              </mc:Choice>
              <mc:Fallback>
                <p:oleObj name="Equation" r:id="rId5" imgW="32766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560763"/>
                        <a:ext cx="806926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Ratio of </a:t>
            </a:r>
            <a:r>
              <a:rPr lang="en-US" altLang="en-US" sz="3200" i="1" dirty="0"/>
              <a:t>T</a:t>
            </a:r>
            <a:r>
              <a:rPr lang="en-US" altLang="en-US" sz="3200" dirty="0"/>
              <a:t>-day </a:t>
            </a:r>
            <a:r>
              <a:rPr lang="en-US" altLang="en-US" sz="3200" dirty="0" err="1"/>
              <a:t>VaR</a:t>
            </a:r>
            <a:r>
              <a:rPr lang="en-US" altLang="en-US" sz="3200" dirty="0"/>
              <a:t> to 1-day </a:t>
            </a:r>
            <a:r>
              <a:rPr lang="en-US" altLang="en-US" sz="3200" dirty="0" err="1"/>
              <a:t>VaR</a:t>
            </a:r>
            <a:r>
              <a:rPr lang="en-US" altLang="en-US" sz="3200" dirty="0"/>
              <a:t> </a:t>
            </a:r>
            <a:r>
              <a:rPr lang="en-US" altLang="en-US" sz="2400" dirty="0"/>
              <a:t>(Table 11.1)</a:t>
            </a:r>
            <a:endParaRPr lang="en-CA" altLang="en-US" sz="2400" dirty="0"/>
          </a:p>
        </p:txBody>
      </p:sp>
      <p:sp>
        <p:nvSpPr>
          <p:cNvPr id="337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graphicFrame>
        <p:nvGraphicFramePr>
          <p:cNvPr id="223305" name="Group 73"/>
          <p:cNvGraphicFramePr>
            <a:graphicFrameLocks noGrp="1"/>
          </p:cNvGraphicFramePr>
          <p:nvPr/>
        </p:nvGraphicFramePr>
        <p:xfrm>
          <a:off x="990600" y="2133600"/>
          <a:ext cx="6781800" cy="36083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6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9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=1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=2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=5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=10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=50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=250</a:t>
                      </a:r>
                      <a:endParaRPr kumimoji="0" lang="en-CA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1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r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=0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1.41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2.24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3.16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7.07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15.81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r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=0.05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1.45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2.33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3.31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7.43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16.62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1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r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=0.1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1.48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2.42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3.46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7.80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17.47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r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=0.2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1.55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2.62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3.79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8.62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19.35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5AAA3D-6C0E-4A2F-9838-614CD8030EC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163637"/>
          </a:xfrm>
        </p:spPr>
        <p:txBody>
          <a:bodyPr/>
          <a:lstStyle/>
          <a:p>
            <a:pPr eaLnBrk="1" hangingPunct="1"/>
            <a:r>
              <a:rPr lang="en-US" altLang="en-US"/>
              <a:t>Choice of VaR Parameters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cs typeface="Arial" panose="020B0604020202020204" pitchFamily="34" charset="0"/>
              </a:rPr>
              <a:t>Time horizon should depend on how quickly portfolio can be unwound. Regulators are planning to move toward a system where ES is used and  the time horizon depends on liquidity. (See </a:t>
            </a:r>
            <a:r>
              <a:rPr lang="en-US" altLang="en-US" sz="2800" i="1" dirty="0">
                <a:cs typeface="Arial" panose="020B0604020202020204" pitchFamily="34" charset="0"/>
              </a:rPr>
              <a:t>Fundamental Review of the Trading Book</a:t>
            </a:r>
            <a:r>
              <a:rPr lang="en-US" altLang="en-US" sz="280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cs typeface="Arial" panose="020B0604020202020204" pitchFamily="34" charset="0"/>
              </a:rPr>
              <a:t>Confidence level depends on objectives. </a:t>
            </a:r>
            <a:r>
              <a:rPr lang="en-US" altLang="en-US" sz="2800">
                <a:cs typeface="Arial" panose="020B0604020202020204" pitchFamily="34" charset="0"/>
              </a:rPr>
              <a:t>Regulators have used </a:t>
            </a:r>
            <a:r>
              <a:rPr lang="en-US" altLang="en-US" sz="2800" dirty="0">
                <a:cs typeface="Arial" panose="020B0604020202020204" pitchFamily="34" charset="0"/>
              </a:rPr>
              <a:t>99% for market risk and 99.9% for credit/operational risk.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cs typeface="Arial" panose="020B0604020202020204" pitchFamily="34" charset="0"/>
              </a:rPr>
              <a:t>A bank wanting to maintain a AA credit rating might use confidence levels as high as 99.97% for internal calculations.</a:t>
            </a: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C1446A-D1ED-4BA1-BF62-9B1CC24DEDF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Aggregating VaRs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9250" lvl="1" indent="0">
              <a:buFont typeface="Wingdings" panose="05000000000000000000" pitchFamily="2" charset="2"/>
              <a:buNone/>
              <a:defRPr/>
            </a:pPr>
            <a:r>
              <a:rPr lang="en-CA" dirty="0"/>
              <a:t>An approximate approach that seems to works well is</a:t>
            </a:r>
          </a:p>
          <a:p>
            <a:pPr>
              <a:defRPr/>
            </a:pPr>
            <a:endParaRPr lang="en-CA" dirty="0"/>
          </a:p>
          <a:p>
            <a:pPr>
              <a:defRPr/>
            </a:pPr>
            <a:endParaRPr lang="en-CA" dirty="0"/>
          </a:p>
          <a:p>
            <a:pPr marL="349250" lvl="1" indent="0">
              <a:buFont typeface="Wingdings" panose="05000000000000000000" pitchFamily="2" charset="2"/>
              <a:buNone/>
              <a:defRPr/>
            </a:pPr>
            <a:r>
              <a:rPr lang="en-CA" dirty="0"/>
              <a:t>where </a:t>
            </a:r>
            <a:r>
              <a:rPr lang="en-CA" dirty="0" err="1"/>
              <a:t>VaR</a:t>
            </a:r>
            <a:r>
              <a:rPr lang="en-CA" i="1" baseline="-25000" dirty="0" err="1">
                <a:latin typeface="+mj-lt"/>
              </a:rPr>
              <a:t>i</a:t>
            </a:r>
            <a:r>
              <a:rPr lang="en-CA" dirty="0"/>
              <a:t> is the </a:t>
            </a:r>
            <a:r>
              <a:rPr lang="en-CA" dirty="0" err="1"/>
              <a:t>VaR</a:t>
            </a:r>
            <a:r>
              <a:rPr lang="en-CA" dirty="0"/>
              <a:t> for the </a:t>
            </a:r>
            <a:r>
              <a:rPr lang="en-CA" i="1" dirty="0" err="1">
                <a:latin typeface="+mj-lt"/>
              </a:rPr>
              <a:t>i</a:t>
            </a:r>
            <a:r>
              <a:rPr lang="en-CA" dirty="0" err="1">
                <a:latin typeface="+mj-lt"/>
              </a:rPr>
              <a:t>th</a:t>
            </a:r>
            <a:r>
              <a:rPr lang="en-CA" dirty="0"/>
              <a:t> segment, </a:t>
            </a:r>
            <a:r>
              <a:rPr lang="en-CA" dirty="0" err="1"/>
              <a:t>VaR</a:t>
            </a:r>
            <a:r>
              <a:rPr lang="en-CA" baseline="-25000" dirty="0" err="1"/>
              <a:t>total</a:t>
            </a:r>
            <a:r>
              <a:rPr lang="en-CA" dirty="0"/>
              <a:t> is the total </a:t>
            </a:r>
            <a:r>
              <a:rPr lang="en-CA" dirty="0" err="1"/>
              <a:t>VaR</a:t>
            </a:r>
            <a:r>
              <a:rPr lang="en-CA" dirty="0"/>
              <a:t>, and </a:t>
            </a:r>
            <a:r>
              <a:rPr lang="en-CA" dirty="0" err="1">
                <a:latin typeface="Symbol" pitchFamily="18" charset="2"/>
              </a:rPr>
              <a:t>r</a:t>
            </a:r>
            <a:r>
              <a:rPr lang="en-CA" i="1" baseline="-25000" dirty="0" err="1">
                <a:latin typeface="+mj-lt"/>
              </a:rPr>
              <a:t>ij</a:t>
            </a:r>
            <a:r>
              <a:rPr lang="en-CA" dirty="0"/>
              <a:t> is the coefficient of correlation between losses from the </a:t>
            </a:r>
            <a:r>
              <a:rPr lang="en-CA" i="1" dirty="0" err="1">
                <a:latin typeface="+mj-lt"/>
              </a:rPr>
              <a:t>i</a:t>
            </a:r>
            <a:r>
              <a:rPr lang="en-CA" dirty="0" err="1"/>
              <a:t>th</a:t>
            </a:r>
            <a:r>
              <a:rPr lang="en-CA" dirty="0"/>
              <a:t> and </a:t>
            </a:r>
            <a:r>
              <a:rPr lang="en-CA" i="1" dirty="0" err="1">
                <a:latin typeface="+mj-lt"/>
              </a:rPr>
              <a:t>j</a:t>
            </a:r>
            <a:r>
              <a:rPr lang="en-CA" dirty="0" err="1"/>
              <a:t>th</a:t>
            </a:r>
            <a:r>
              <a:rPr lang="en-CA" dirty="0"/>
              <a:t> segments</a:t>
            </a:r>
          </a:p>
          <a:p>
            <a:pPr>
              <a:defRPr/>
            </a:pPr>
            <a:endParaRPr lang="en-CA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5C3822-09D9-4D3F-B05A-76DE41BDB35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  <p:graphicFrame>
        <p:nvGraphicFramePr>
          <p:cNvPr id="35846" name="Object 5"/>
          <p:cNvGraphicFramePr>
            <a:graphicFrameLocks noChangeAspect="1"/>
          </p:cNvGraphicFramePr>
          <p:nvPr/>
        </p:nvGraphicFramePr>
        <p:xfrm>
          <a:off x="2033588" y="2997200"/>
          <a:ext cx="47101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981200" imgH="393700" progId="Equation.3">
                  <p:embed/>
                </p:oleObj>
              </mc:Choice>
              <mc:Fallback>
                <p:oleObj name="Equation" r:id="rId3" imgW="19812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2997200"/>
                        <a:ext cx="47101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357188"/>
            <a:ext cx="7543800" cy="1571625"/>
          </a:xfrm>
        </p:spPr>
        <p:txBody>
          <a:bodyPr/>
          <a:lstStyle/>
          <a:p>
            <a:pPr eaLnBrk="1" hangingPunct="1"/>
            <a:r>
              <a:rPr lang="en-US" altLang="en-US" sz="3200" dirty="0" err="1"/>
              <a:t>VaR</a:t>
            </a:r>
            <a:r>
              <a:rPr lang="en-US" altLang="en-US" sz="3200" dirty="0"/>
              <a:t> Measures for a Portfolio where an amount </a:t>
            </a:r>
            <a:r>
              <a:rPr lang="en-US" altLang="en-US" sz="3200" i="1" dirty="0"/>
              <a:t>x</a:t>
            </a:r>
            <a:r>
              <a:rPr lang="en-US" altLang="en-US" sz="3200" i="1" baseline="-25000" dirty="0"/>
              <a:t>i</a:t>
            </a:r>
            <a:r>
              <a:rPr lang="en-US" altLang="en-US" sz="3200" dirty="0"/>
              <a:t> is invested in the </a:t>
            </a:r>
            <a:r>
              <a:rPr lang="en-US" altLang="en-US" sz="3200" i="1" dirty="0" err="1"/>
              <a:t>i</a:t>
            </a:r>
            <a:r>
              <a:rPr lang="en-US" altLang="en-US" sz="3200" dirty="0" err="1"/>
              <a:t>th</a:t>
            </a:r>
            <a:r>
              <a:rPr lang="en-US" altLang="en-US" sz="3200" dirty="0"/>
              <a:t> component of the portfolio</a:t>
            </a:r>
            <a:endParaRPr lang="en-US" altLang="en-US" sz="24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143125"/>
            <a:ext cx="7715250" cy="4143375"/>
          </a:xfrm>
        </p:spPr>
        <p:txBody>
          <a:bodyPr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Marginal </a:t>
            </a:r>
            <a:r>
              <a:rPr lang="en-US" altLang="en-US" dirty="0" err="1">
                <a:cs typeface="Arial" panose="020B0604020202020204" pitchFamily="34" charset="0"/>
              </a:rPr>
              <a:t>VaR</a:t>
            </a:r>
            <a:r>
              <a:rPr lang="en-US" altLang="en-US" dirty="0">
                <a:cs typeface="Arial" panose="020B0604020202020204" pitchFamily="34" charset="0"/>
              </a:rPr>
              <a:t>:  </a:t>
            </a:r>
          </a:p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Incremental </a:t>
            </a:r>
            <a:r>
              <a:rPr lang="en-US" altLang="en-US" dirty="0" err="1">
                <a:cs typeface="Arial" panose="020B0604020202020204" pitchFamily="34" charset="0"/>
              </a:rPr>
              <a:t>VaR</a:t>
            </a:r>
            <a:r>
              <a:rPr lang="en-US" altLang="en-US" dirty="0">
                <a:cs typeface="Arial" panose="020B0604020202020204" pitchFamily="34" charset="0"/>
              </a:rPr>
              <a:t>: Incremental effect of the </a:t>
            </a:r>
            <a:r>
              <a:rPr lang="en-US" altLang="en-US" i="1" dirty="0" err="1">
                <a:cs typeface="Arial" panose="020B0604020202020204" pitchFamily="34" charset="0"/>
              </a:rPr>
              <a:t>i</a:t>
            </a:r>
            <a:r>
              <a:rPr lang="en-US" altLang="en-US" dirty="0" err="1">
                <a:cs typeface="Arial" panose="020B0604020202020204" pitchFamily="34" charset="0"/>
              </a:rPr>
              <a:t>th</a:t>
            </a:r>
            <a:r>
              <a:rPr lang="en-US" altLang="en-US" dirty="0">
                <a:cs typeface="Arial" panose="020B0604020202020204" pitchFamily="34" charset="0"/>
              </a:rPr>
              <a:t> component on </a:t>
            </a:r>
            <a:r>
              <a:rPr lang="en-US" altLang="en-US" dirty="0" err="1">
                <a:cs typeface="Arial" panose="020B0604020202020204" pitchFamily="34" charset="0"/>
              </a:rPr>
              <a:t>VaR</a:t>
            </a:r>
            <a:endParaRPr lang="en-US" altLang="en-US" dirty="0">
              <a:cs typeface="Arial" panose="020B0604020202020204" pitchFamily="34" charset="0"/>
            </a:endParaRPr>
          </a:p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Component </a:t>
            </a:r>
            <a:r>
              <a:rPr lang="en-US" altLang="en-US" dirty="0" err="1">
                <a:cs typeface="Arial" panose="020B0604020202020204" pitchFamily="34" charset="0"/>
              </a:rPr>
              <a:t>VaR</a:t>
            </a:r>
            <a:r>
              <a:rPr lang="en-US" altLang="en-US" dirty="0">
                <a:cs typeface="Arial" panose="020B0604020202020204" pitchFamily="34" charset="0"/>
              </a:rPr>
              <a:t>:</a:t>
            </a:r>
          </a:p>
          <a:p>
            <a:pPr lvl="1"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graphicFrame>
        <p:nvGraphicFramePr>
          <p:cNvPr id="36868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86250" y="2143125"/>
          <a:ext cx="8794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431613" imgH="431613" progId="Equation.3">
                  <p:embed/>
                </p:oleObj>
              </mc:Choice>
              <mc:Fallback>
                <p:oleObj name="Equation" r:id="rId4" imgW="431613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2143125"/>
                        <a:ext cx="87947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00563" y="4857750"/>
          <a:ext cx="1296987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6" imgW="571252" imgH="431613" progId="Equation.3">
                  <p:embed/>
                </p:oleObj>
              </mc:Choice>
              <mc:Fallback>
                <p:oleObj name="Equation" r:id="rId6" imgW="571252" imgH="43161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857750"/>
                        <a:ext cx="1296987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3687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B5E5B6-20DF-4287-8EE8-DB8ADD45C7A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Properties of Component VaR</a:t>
            </a:r>
            <a:endParaRPr lang="en-CA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component VaR is approximately the same as the incremental VaR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total VaR is the sum of the component VaR’s (Euler’s theorem)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component VaR therefore provides a sensible way of allocating VaR to different activities</a:t>
            </a:r>
            <a:endParaRPr lang="en-CA" altLang="en-US">
              <a:cs typeface="Arial" panose="020B0604020202020204" pitchFamily="34" charset="0"/>
            </a:endParaRP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77B7F1-3C1E-4918-B6F9-E28639D4A66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7188"/>
            <a:ext cx="75438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Back-testing</a:t>
            </a:r>
            <a:endParaRPr lang="en-US" altLang="en-US" sz="2400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075613" cy="4411662"/>
          </a:xfrm>
        </p:spPr>
        <p:txBody>
          <a:bodyPr/>
          <a:lstStyle/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Back-testing a VaR calculation methodology involves looking at how often exceptions (loss &gt; VaR) occur</a:t>
            </a:r>
          </a:p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Alternatives: a) compare VaR with actual change in portfolio value and b) compare VaR with change in portfolio value assuming no change in portfolio composition</a:t>
            </a:r>
          </a:p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Suppose that the theoretical probability of an exception is </a:t>
            </a:r>
            <a:r>
              <a:rPr lang="en-US" altLang="en-US" sz="2400" i="1">
                <a:latin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altLang="en-US" sz="2400">
                <a:cs typeface="Arial" panose="020B0604020202020204" pitchFamily="34" charset="0"/>
              </a:rPr>
              <a:t> (=1−</a:t>
            </a:r>
            <a:r>
              <a:rPr lang="en-US" altLang="en-US" sz="2400" i="1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en-US" sz="2400">
                <a:cs typeface="Arial" panose="020B0604020202020204" pitchFamily="34" charset="0"/>
              </a:rPr>
              <a:t>). The probability of </a:t>
            </a:r>
            <a:r>
              <a:rPr lang="en-US" altLang="en-US" sz="2400" i="1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US" altLang="en-US" sz="2400">
                <a:cs typeface="Arial" panose="020B0604020202020204" pitchFamily="34" charset="0"/>
              </a:rPr>
              <a:t> or more exceptions in </a:t>
            </a:r>
            <a:r>
              <a:rPr lang="en-US" altLang="en-US" sz="24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en-US" sz="2400">
                <a:cs typeface="Arial" panose="020B0604020202020204" pitchFamily="34" charset="0"/>
              </a:rPr>
              <a:t> days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3891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203575" y="5113338"/>
          <a:ext cx="31750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1524000" imgH="431800" progId="Equation.3">
                  <p:embed/>
                </p:oleObj>
              </mc:Choice>
              <mc:Fallback>
                <p:oleObj name="Equation" r:id="rId4" imgW="15240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113338"/>
                        <a:ext cx="31750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389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5C8F51-FF35-4D3E-8555-14E4227C847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Bunching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Bunching occurs when exceptions are not evenly spread throughout the back testing period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Statistical tests for bunching have been developed by Christoffersen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11,  Copyright © John C. Hull 2023</a:t>
            </a: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1643A1-ED71-4332-B6EB-2A83FFD3E5EC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07">
  <a:themeElements>
    <a:clrScheme name="HullRMFICh07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07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07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07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84BB32-F433-4E14-9E4D-90A023E76622}"/>
</file>

<file path=customXml/itemProps2.xml><?xml version="1.0" encoding="utf-8"?>
<ds:datastoreItem xmlns:ds="http://schemas.openxmlformats.org/officeDocument/2006/customXml" ds:itemID="{7D1BA368-0702-4306-AA7D-4BE432AE2463}"/>
</file>

<file path=customXml/itemProps3.xml><?xml version="1.0" encoding="utf-8"?>
<ds:datastoreItem xmlns:ds="http://schemas.openxmlformats.org/officeDocument/2006/customXml" ds:itemID="{B0C70168-F68F-4987-AD7E-EA76EE833A75}"/>
</file>

<file path=docProps/app.xml><?xml version="1.0" encoding="utf-8"?>
<Properties xmlns="http://schemas.openxmlformats.org/officeDocument/2006/extended-properties" xmlns:vt="http://schemas.openxmlformats.org/officeDocument/2006/docPropsVTypes">
  <Template>E:\RiskBook\slides\HullRMFICh07.ppt</Template>
  <TotalTime>1207</TotalTime>
  <Words>1659</Words>
  <Application>Microsoft Office PowerPoint</Application>
  <PresentationFormat>On-screen Show (4:3)</PresentationFormat>
  <Paragraphs>206</Paragraphs>
  <Slides>25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Symbol</vt:lpstr>
      <vt:lpstr>Times New Roman</vt:lpstr>
      <vt:lpstr>Wingdings</vt:lpstr>
      <vt:lpstr>HullRMFICh07</vt:lpstr>
      <vt:lpstr>Equation</vt:lpstr>
      <vt:lpstr>  </vt:lpstr>
      <vt:lpstr>The Question Being Asked in VaR</vt:lpstr>
      <vt:lpstr>VaR and Regulatory Capital</vt:lpstr>
      <vt:lpstr>Advantages of VaR</vt:lpstr>
      <vt:lpstr>Example 11.1</vt:lpstr>
      <vt:lpstr>Example 11.2</vt:lpstr>
      <vt:lpstr>Examples 11.3 and 11.4</vt:lpstr>
      <vt:lpstr>Cumulative Loss Distribution for Examples 11.3 and 11.4 (Figure 11.3)</vt:lpstr>
      <vt:lpstr>VaR vs. Expected Shortfall  </vt:lpstr>
      <vt:lpstr>Distributions with the Same VaR but Different Expected Shortfalls  </vt:lpstr>
      <vt:lpstr>Coherent Risk Measures</vt:lpstr>
      <vt:lpstr>VaR vs Expected Shortfall</vt:lpstr>
      <vt:lpstr>Example 11.5 and 11.7</vt:lpstr>
      <vt:lpstr>Examples 11.6 and 11.8</vt:lpstr>
      <vt:lpstr>Spectral Risk Measures</vt:lpstr>
      <vt:lpstr>Normal Distribution Assumption</vt:lpstr>
      <vt:lpstr>Changing the Time Horizon</vt:lpstr>
      <vt:lpstr>Extension</vt:lpstr>
      <vt:lpstr>Ratio of T-day VaR to 1-day VaR (Table 11.1)</vt:lpstr>
      <vt:lpstr>Choice of VaR Parameters</vt:lpstr>
      <vt:lpstr>Aggregating VaRs</vt:lpstr>
      <vt:lpstr>VaR Measures for a Portfolio where an amount xi is invested in the ith component of the portfolio</vt:lpstr>
      <vt:lpstr>Properties of Component VaR</vt:lpstr>
      <vt:lpstr>Back-testing</vt:lpstr>
      <vt:lpstr>Bunching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12</dc:subject>
  <dc:creator>John  Hull</dc:creator>
  <cp:keywords>5th Edition</cp:keywords>
  <dc:description>Copyright 2018 by John  Hull._x000d_
All rights reserved.</dc:description>
  <cp:lastModifiedBy>John Hull</cp:lastModifiedBy>
  <cp:revision>69</cp:revision>
  <cp:lastPrinted>1999-07-13T16:56:59Z</cp:lastPrinted>
  <dcterms:created xsi:type="dcterms:W3CDTF">1999-07-02T23:37:50Z</dcterms:created>
  <dcterms:modified xsi:type="dcterms:W3CDTF">2022-12-01T19:37:07Z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