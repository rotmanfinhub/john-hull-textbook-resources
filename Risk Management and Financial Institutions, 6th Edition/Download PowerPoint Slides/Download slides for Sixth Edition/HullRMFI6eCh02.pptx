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notesMasterIdLst>
    <p:notesMasterId r:id="rId22"/>
  </p:notesMasterIdLst>
  <p:handoutMasterIdLst>
    <p:handoutMasterId r:id="rId23"/>
  </p:handout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292" r:id="rId18"/>
    <p:sldId id="293" r:id="rId19"/>
    <p:sldId id="309" r:id="rId20"/>
    <p:sldId id="310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87" autoAdjust="0"/>
    <p:restoredTop sz="86427" autoAdjust="0"/>
  </p:normalViewPr>
  <p:slideViewPr>
    <p:cSldViewPr>
      <p:cViewPr varScale="1">
        <p:scale>
          <a:sx n="139" d="100"/>
          <a:sy n="139" d="100"/>
        </p:scale>
        <p:origin x="141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D396053-F0D9-41E6-B01A-76F53D8CE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778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28CDB6A-F410-419D-9E1E-2B6DD77C6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8279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4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E5E74A9-793C-4844-861D-1400FD52759E}" type="slidenum">
              <a:rPr lang="en-US" altLang="en-US" sz="1300" smtClean="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53597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CADECF-5AC3-459B-8945-EC2E1E661C2E}" type="slidenum">
              <a:rPr lang="en-US" altLang="en-US" sz="1300" smtClean="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4120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3B3A5D-99AC-4820-9500-BE5CE3E34397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089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024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460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458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716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177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EF9163-2C1C-4BAE-9C3D-1E15D312EE53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6020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D2F926D-E384-4494-BFAE-C902ACE6EF2F}" type="slidenum">
              <a:rPr lang="en-US" altLang="en-US" sz="1300" smtClean="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990392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E183C2-37BC-4231-BE95-734C20F6A016}" type="slidenum">
              <a:rPr lang="en-US" altLang="en-US" sz="1300" smtClean="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84241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F263F7-D9FE-4165-946D-9BC71C77B601}" type="slidenum">
              <a:rPr lang="en-US" altLang="en-US" sz="1300" smtClean="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303755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592EE3-A6B1-44AB-9670-DCE47ABFE612}" type="slidenum">
              <a:rPr lang="en-US" altLang="en-US" sz="1300" smtClean="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25512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4BA689-C3F3-44D8-B2CE-31C6FAD24003}" type="slidenum">
              <a:rPr lang="en-US" altLang="en-US" sz="1300" smtClean="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69537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E2156D9-751F-4C1C-A775-F27E092AA003}" type="slidenum">
              <a:rPr lang="en-US" altLang="en-US" sz="1300" smtClean="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83375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F3535B-2D92-44D1-AC12-D0123E63E7E0}" type="slidenum">
              <a:rPr lang="en-US" altLang="en-US" sz="1300" smtClean="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64353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7B6870-7C35-4E81-8A75-A797F76B88F8}" type="slidenum">
              <a:rPr lang="en-US" altLang="en-US" sz="1300" smtClean="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44179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49328E-1FD1-44AF-A2C6-9549A388DFBD}" type="slidenum">
              <a:rPr lang="en-US" altLang="en-US" sz="1300" smtClean="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00565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127DAE-2DC7-4594-80AC-50C402AAC280}" type="slidenum">
              <a:rPr lang="en-US" altLang="en-US" sz="1300" smtClean="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382870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2FFD08-4C2D-47C9-9326-6D9961447A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27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35306-5A96-4F35-99DF-4D150C8CEC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16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4F64E-10E7-4B6E-A622-80313D9D11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0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EFA1B-F4CD-47FB-9C4C-6F7FC8F58C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28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C5690-8CFD-453B-8BAC-2E9E0620FB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2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09BC5-FB32-47DF-ABBB-BF2DC74AE7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977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43950-E9B8-4914-9A5B-09D4CB9B58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40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D84A8-BB9C-4E55-9621-C694FB3C9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04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669CC-2F20-4AD6-BDFE-7E700250A8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02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4DCA4-8210-4125-BA70-1619A0AF80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32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AA387-C613-445D-969C-0BE1C893EB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016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1.</a:t>
            </a:r>
            <a:fld id="{1CFF307D-3EF9-4B81-84ED-6C22E18862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98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 Chapter 2,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pPr>
              <a:defRPr/>
            </a:pPr>
            <a:r>
              <a:rPr lang="en-US" altLang="en-US"/>
              <a:t>1.</a:t>
            </a:r>
            <a:fld id="{7F0C631B-FEFE-4B38-AFF6-20AE993B38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399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497682"/>
            <a:ext cx="6781800" cy="2133600"/>
          </a:xfrm>
        </p:spPr>
        <p:txBody>
          <a:bodyPr/>
          <a:lstStyle/>
          <a:p>
            <a:pPr eaLnBrk="1" hangingPunct="1"/>
            <a:br>
              <a:rPr lang="en-CA" altLang="en-US" dirty="0"/>
            </a:br>
            <a:r>
              <a:rPr lang="en-CA" altLang="en-US" dirty="0"/>
              <a:t>Banks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CA" altLang="en-US" sz="4000" dirty="0"/>
              <a:t>Chapter 2</a:t>
            </a:r>
            <a:r>
              <a:rPr lang="en-CA" alt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1536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B5BA8A-1C2A-4A44-909F-50DD56C71D9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Nature of Banking</a:t>
            </a:r>
            <a:endParaRPr lang="en-US" altLang="en-US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50825" y="1484313"/>
            <a:ext cx="8229600" cy="4411662"/>
          </a:xfrm>
        </p:spPr>
        <p:txBody>
          <a:bodyPr/>
          <a:lstStyle/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Commercial banking</a:t>
            </a:r>
          </a:p>
          <a:p>
            <a:pPr lvl="1" eaLnBrk="1" hangingPunct="1"/>
            <a:r>
              <a:rPr lang="en-CA" altLang="en-US" dirty="0">
                <a:cs typeface="Arial" panose="020B0604020202020204" pitchFamily="34" charset="0"/>
              </a:rPr>
              <a:t>Taking deposits, making loans (wholesale or retail)</a:t>
            </a:r>
          </a:p>
          <a:p>
            <a:pPr lvl="1" eaLnBrk="1" hangingPunct="1"/>
            <a:r>
              <a:rPr lang="en-CA" altLang="en-US" dirty="0">
                <a:cs typeface="Arial" panose="020B0604020202020204" pitchFamily="34" charset="0"/>
              </a:rPr>
              <a:t>Money center banks operate in the wholesale market and often fund loans by borrowing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Investment banking</a:t>
            </a:r>
          </a:p>
          <a:p>
            <a:pPr lvl="1" eaLnBrk="1" hangingPunct="1"/>
            <a:r>
              <a:rPr lang="en-CA" altLang="en-US" dirty="0">
                <a:cs typeface="Arial" panose="020B0604020202020204" pitchFamily="34" charset="0"/>
              </a:rPr>
              <a:t>Raising debt and equity for companies; advice on mergers and acquisitions, restructurings, trading, </a:t>
            </a:r>
            <a:r>
              <a:rPr lang="en-CA" altLang="en-US" dirty="0" err="1">
                <a:cs typeface="Arial" panose="020B0604020202020204" pitchFamily="34" charset="0"/>
              </a:rPr>
              <a:t>etc</a:t>
            </a:r>
            <a:endParaRPr lang="en-CA" altLang="en-US" dirty="0">
              <a:cs typeface="Arial" panose="020B0604020202020204" pitchFamily="34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1741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B93F90-123D-4749-8A6C-0D1113F092E7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712788"/>
          </a:xfrm>
        </p:spPr>
        <p:txBody>
          <a:bodyPr/>
          <a:lstStyle/>
          <a:p>
            <a:pPr eaLnBrk="1" hangingPunct="1"/>
            <a:br>
              <a:rPr lang="en-CA" altLang="en-US"/>
            </a:br>
            <a:br>
              <a:rPr lang="en-CA" altLang="en-US"/>
            </a:br>
            <a:r>
              <a:rPr lang="en-CA" altLang="en-US"/>
              <a:t>Structure of Banking in the US</a:t>
            </a:r>
            <a:br>
              <a:rPr lang="en-CA" altLang="en-US"/>
            </a:br>
            <a:endParaRPr lang="en-US" alt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85800" y="1714500"/>
            <a:ext cx="7772400" cy="4548188"/>
          </a:xfrm>
        </p:spPr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Large international banks (small number)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Regional banks (several hundred)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Small community banks (several thousand)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1946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2C63EC-F336-40BD-9E39-A2D1086AE5C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History of Bank Regulation in US </a:t>
            </a:r>
            <a:r>
              <a:rPr lang="en-CA" altLang="en-US" sz="2400" dirty="0"/>
              <a:t>(page 26-28)</a:t>
            </a:r>
            <a:endParaRPr lang="en-US" altLang="en-US" sz="2400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>
              <a:cs typeface="Arial" panose="020B0604020202020204" pitchFamily="34" charset="0"/>
            </a:endParaRP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McFadden Act (1927, 1933)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Douglas Amendment (1956)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Bank Holding Companies Act (1970)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Riegel-Neal Interstate Banking and Branching Efficiency Act (1994)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2150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B87D96-CDAB-43A0-98A7-601CF176A69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Example of Simple Bank Balance Sheet: End 2023</a:t>
            </a:r>
            <a:endParaRPr lang="en-US" altLang="en-US" sz="2400" dirty="0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23556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23E44F-164E-403F-875F-41B1FE0D251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  <p:sp>
        <p:nvSpPr>
          <p:cNvPr id="23557" name="Text Box 62"/>
          <p:cNvSpPr txBox="1">
            <a:spLocks noChangeArrowheads="1"/>
          </p:cNvSpPr>
          <p:nvPr/>
        </p:nvSpPr>
        <p:spPr bwMode="auto">
          <a:xfrm>
            <a:off x="838200" y="2209800"/>
            <a:ext cx="33528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Assets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Cash                               5                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Marketable Securities  10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Loans                           80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Fixed Assets        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Total                          100</a:t>
            </a:r>
          </a:p>
        </p:txBody>
      </p:sp>
      <p:sp>
        <p:nvSpPr>
          <p:cNvPr id="23558" name="Text Box 63"/>
          <p:cNvSpPr txBox="1">
            <a:spLocks noChangeArrowheads="1"/>
          </p:cNvSpPr>
          <p:nvPr/>
        </p:nvSpPr>
        <p:spPr bwMode="auto">
          <a:xfrm>
            <a:off x="4648200" y="2209800"/>
            <a:ext cx="3886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Liabilities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Deposits                       90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Subord L.T. Debt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Equity Capital     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Total                          100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Income Statement: 2023</a:t>
            </a:r>
            <a:endParaRPr lang="en-US" altLang="en-US" sz="24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Net Interest Income		    3.00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Provision for Loan Losses       (0.80)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Non-Interest Income                 0.90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Non-Interest Expense              (2.50)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Pre-Tax Operating Income        0.60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2560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BECFEC-3C3E-4D31-9EFF-12C3FBD101D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Year 2024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What happens in year 2024 if it is the same as year 2023 except that provision for loan losses is 4.0 instead of 0.8?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2765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4A8CB1-7E71-432D-BF63-DA61728D171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What if  Balance Sheet Had Been More Aggressive?</a:t>
            </a:r>
            <a:endParaRPr lang="en-US" altLang="en-US" sz="3600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29700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E29CE-083F-49D4-BDF2-4724C49B82D9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838200" y="2209800"/>
            <a:ext cx="33528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Assets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Cash                               5                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Marketable Securities  10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Loans                           80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Fixed Assets        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Total                          100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4648200" y="2209800"/>
            <a:ext cx="3886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Liabilities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Deposits                       9</a:t>
            </a:r>
            <a:r>
              <a:rPr lang="en-CA" altLang="en-US" sz="2400">
                <a:latin typeface="Times New Roman" panose="02020603050405020304" pitchFamily="18" charset="0"/>
              </a:rPr>
              <a:t>4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Subord L.T. Debt         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Equity Capital               </a:t>
            </a:r>
            <a:r>
              <a:rPr lang="en-CA" altLang="en-US" sz="2400">
                <a:latin typeface="Times New Roman" panose="02020603050405020304" pitchFamily="18" charset="0"/>
              </a:rPr>
              <a:t>1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Total                          100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Regulation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Regulators set minimum levels for the capital a bank is required to keep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Equity is an example of Tier 1 capital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Subordinated long term debt is an example of Tier 2 capital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3174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46522E-3379-4342-B08F-C4A50CECD8A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Deposit Insurance </a:t>
            </a:r>
            <a:r>
              <a:rPr lang="en-CA" altLang="en-US" sz="2400"/>
              <a:t>(pages 30-31)</a:t>
            </a:r>
            <a:endParaRPr lang="en-US" altLang="en-US" sz="240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928813"/>
            <a:ext cx="7772400" cy="4333875"/>
          </a:xfrm>
        </p:spPr>
        <p:txBody>
          <a:bodyPr/>
          <a:lstStyle/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Most countries have deposit insurance programs that insure depositors against losses up to a certain level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In the US the FDIC has provided protection for depositors since 1933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The amount insured was $2,500 in 1933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It has been increased several times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Following the credit crisis it was increased from $100,000 to $250,000 in October 2008.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Why might deposit insurance encourage a bank to take risks?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3379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40FF6A-1E41-42EB-9C62-1E46C2FF7457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Investment Banking</a:t>
            </a:r>
            <a:endParaRPr lang="en-US" altLang="en-US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Methods of raising debt or equity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Public offering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Private placement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Best efforts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Firm commitment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3584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B2CCE6-85B7-4FA5-95E1-59CA9AB0B22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467544" y="152400"/>
            <a:ext cx="7543800" cy="1295400"/>
          </a:xfrm>
        </p:spPr>
        <p:txBody>
          <a:bodyPr/>
          <a:lstStyle/>
          <a:p>
            <a:pPr eaLnBrk="1" hangingPunct="1"/>
            <a:r>
              <a:rPr lang="en-CA" altLang="en-US" sz="3600" dirty="0"/>
              <a:t>Best Efforts vs Firm Commitment </a:t>
            </a:r>
            <a:r>
              <a:rPr lang="en-CA" altLang="en-US" sz="2400" dirty="0"/>
              <a:t>(page 32)</a:t>
            </a:r>
            <a:endParaRPr lang="en-US" altLang="en-US" sz="2400" dirty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85800" y="1643063"/>
            <a:ext cx="7772400" cy="4619625"/>
          </a:xfrm>
        </p:spPr>
        <p:txBody>
          <a:bodyPr/>
          <a:lstStyle/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50 million shares are to be issued and target price is $30 per share</a:t>
            </a:r>
          </a:p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Best efforts would lead to a fee of 30 cents per share; firm commitment leads to bank buying the shares at $30 per share</a:t>
            </a:r>
          </a:p>
          <a:p>
            <a:pPr eaLnBrk="1" hangingPunct="1">
              <a:buFontTx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37893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47A9BA-B2C6-496F-9B62-E54BEE71CF4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76375" y="4292600"/>
          <a:ext cx="6096000" cy="1470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8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Best efforts</a:t>
                      </a:r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Firm Commitment</a:t>
                      </a:r>
                      <a:endParaRPr lang="en-US" sz="1800" dirty="0"/>
                    </a:p>
                  </a:txBody>
                  <a:tcPr marT="45747" marB="457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20">
                <a:tc>
                  <a:txBody>
                    <a:bodyPr/>
                    <a:lstStyle/>
                    <a:p>
                      <a:r>
                        <a:rPr lang="en-CA" sz="1800" dirty="0"/>
                        <a:t>Can sell at $29</a:t>
                      </a:r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+$15 million</a:t>
                      </a:r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−$50 million</a:t>
                      </a:r>
                      <a:endParaRPr lang="en-US" sz="1800" dirty="0"/>
                    </a:p>
                  </a:txBody>
                  <a:tcPr marT="45747" marB="457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020">
                <a:tc>
                  <a:txBody>
                    <a:bodyPr/>
                    <a:lstStyle/>
                    <a:p>
                      <a:r>
                        <a:rPr lang="en-CA" sz="1800" dirty="0"/>
                        <a:t>Can sell at $32</a:t>
                      </a:r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+$15 million</a:t>
                      </a:r>
                      <a:endParaRPr lang="en-US" sz="18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+$100 million</a:t>
                      </a:r>
                      <a:endParaRPr lang="en-US" sz="1800" dirty="0"/>
                    </a:p>
                  </a:txBody>
                  <a:tcPr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Initial Public Offering (IPO)</a:t>
            </a:r>
            <a:endParaRPr lang="en-US" altLang="en-US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Usually on a best efforts basis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Bank will set offering price sufficiently low that shares are almost certain to be sold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Often price rises immediately after IPO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Banks often offer shares only to fund managers and their best customers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3994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B01336-C2FD-4A87-B430-AB58DEBEA90A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Dutch Auction IPO</a:t>
            </a:r>
            <a:endParaRPr lang="en-US" altLang="en-US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Individuals and companies bid by indicating the number of shares they want and the price they are prepared to pay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price paid is the lowest bid that leads to all the shares being sold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4198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F7EFFC-2952-42C9-BAF8-8A486E4A72F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5"/>
          <p:cNvSpPr>
            <a:spLocks noGrp="1"/>
          </p:cNvSpPr>
          <p:nvPr>
            <p:ph type="title"/>
          </p:nvPr>
        </p:nvSpPr>
        <p:spPr>
          <a:xfrm>
            <a:off x="246063" y="428625"/>
            <a:ext cx="7772400" cy="928688"/>
          </a:xfrm>
        </p:spPr>
        <p:txBody>
          <a:bodyPr/>
          <a:lstStyle/>
          <a:p>
            <a:pPr eaLnBrk="1" hangingPunct="1"/>
            <a:r>
              <a:rPr lang="en-CA" altLang="en-US" sz="3600"/>
              <a:t>Example:</a:t>
            </a:r>
            <a:r>
              <a:rPr lang="en-CA" altLang="en-US"/>
              <a:t> </a:t>
            </a:r>
            <a:r>
              <a:rPr lang="en-CA" altLang="en-US" sz="2400"/>
              <a:t>How are 1 million shares allocated in this situation? </a:t>
            </a:r>
            <a:endParaRPr lang="en-US" altLang="en-US" sz="2400"/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44036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FF95BA-911F-4EC1-BE1E-AA9CA0D7711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188" y="1714500"/>
          <a:ext cx="5357811" cy="41322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5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7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Bidder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Number of Shares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Price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100,000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$30.00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B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$28.00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C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  50,000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$33.00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D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$29.00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E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 150,000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$30.50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F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$31.50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G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$25.00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524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H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200,000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$30.25</a:t>
                      </a:r>
                      <a:endParaRPr lang="en-US" sz="1800" dirty="0"/>
                    </a:p>
                  </a:txBody>
                  <a:tcPr marL="91439" marR="91439" marT="45715" marB="457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Google’s IPO in 2004 </a:t>
            </a:r>
            <a:r>
              <a:rPr lang="en-CA" altLang="en-US" sz="2400" dirty="0"/>
              <a:t>(Business Snapshot 2.1)</a:t>
            </a:r>
            <a:endParaRPr lang="en-US" altLang="en-US" sz="2400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>
              <a:cs typeface="Arial" panose="020B0604020202020204" pitchFamily="34" charset="0"/>
            </a:endParaRP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 Dutch Auction where Google retained the right to change the number of shares that would be issued and the percentage allocated to each bidder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Investors who bid $85 or more obtained 74.2% of the shares they had bid for</a:t>
            </a:r>
          </a:p>
          <a:p>
            <a:pPr eaLnBrk="1" hangingPunct="1">
              <a:buFontTx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4608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5B6E58-4280-42E9-9294-79565662BCF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Securities Trading</a:t>
            </a:r>
            <a:endParaRPr lang="en-US" altLang="en-US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Exchange-traded vs OTC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Why do banks trade?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Brokerage services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Full service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Discount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On line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4813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34408B-D60C-4625-A989-05337359081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214313" y="214313"/>
            <a:ext cx="7772400" cy="857250"/>
          </a:xfrm>
        </p:spPr>
        <p:txBody>
          <a:bodyPr/>
          <a:lstStyle/>
          <a:p>
            <a:pPr eaLnBrk="1" hangingPunct="1"/>
            <a:r>
              <a:rPr lang="en-CA" altLang="en-US"/>
              <a:t>Potential Conflicts of Interest</a:t>
            </a:r>
            <a:endParaRPr lang="en-US" altLang="en-US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85800" y="1500188"/>
            <a:ext cx="7772400" cy="4762500"/>
          </a:xfrm>
        </p:spPr>
        <p:txBody>
          <a:bodyPr/>
          <a:lstStyle/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Bank recommends securities investment bank is trying to sell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Commercial bank passes confidential information on a client to investment bank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Stock recommended as a “buy” to please company’s management in order to get investment banking business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Investment bank sell securities for a company so that commercial bank can get rid of a loan</a:t>
            </a:r>
            <a:endParaRPr lang="en-US" altLang="en-US" sz="2800" dirty="0">
              <a:cs typeface="Arial" panose="020B0604020202020204" pitchFamily="34" charset="0"/>
            </a:endParaRPr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501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168D1A-F1FC-46FE-AEE2-1A1E1492800D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949325"/>
          </a:xfrm>
        </p:spPr>
        <p:txBody>
          <a:bodyPr/>
          <a:lstStyle/>
          <a:p>
            <a:pPr eaLnBrk="1" hangingPunct="1"/>
            <a:r>
              <a:rPr lang="en-CA" altLang="en-US" dirty="0"/>
              <a:t>Accounting </a:t>
            </a:r>
            <a:r>
              <a:rPr lang="en-CA" altLang="en-US" sz="2400" dirty="0"/>
              <a:t>(page 40)</a:t>
            </a:r>
            <a:endParaRPr lang="en-US" altLang="en-US" sz="2400" dirty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702175"/>
          </a:xfrm>
        </p:spPr>
        <p:txBody>
          <a:bodyPr/>
          <a:lstStyle/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Banking book vs trading book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Under a new accounting rule (IFRS 9 and an FASB update) lenders have to estimate expected credit losses and subtract them from the amount owed on loans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5222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3910D5-9C98-4425-A7BE-9B686AD9752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The Originate-to-Distribute Model</a:t>
            </a:r>
            <a:endParaRPr lang="en-US" altLang="en-US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685800" y="1928813"/>
            <a:ext cx="7772400" cy="4333875"/>
          </a:xfrm>
        </p:spPr>
        <p:txBody>
          <a:bodyPr/>
          <a:lstStyle/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Very popular way of handling mortgages during the 2000 to 2007 period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Banks originated loans and then packaged them into products that were sold to investors</a:t>
            </a:r>
          </a:p>
          <a:p>
            <a:pPr eaLnBrk="1" hangingPunct="1"/>
            <a:r>
              <a:rPr lang="en-CA" altLang="en-US" dirty="0">
                <a:cs typeface="Arial" panose="020B0604020202020204" pitchFamily="34" charset="0"/>
              </a:rPr>
              <a:t>This frees up funds to make more loans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2, Copyright © John C. Hull 2023</a:t>
            </a:r>
          </a:p>
        </p:txBody>
      </p:sp>
      <p:sp>
        <p:nvSpPr>
          <p:cNvPr id="5427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D6EA1E-D83A-4849-8067-17B696E2F97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EC38F8-81AA-4D48-9344-4C9BC591D88A}"/>
</file>

<file path=customXml/itemProps2.xml><?xml version="1.0" encoding="utf-8"?>
<ds:datastoreItem xmlns:ds="http://schemas.openxmlformats.org/officeDocument/2006/customXml" ds:itemID="{D312414F-1541-4F32-92E5-E49849F50922}"/>
</file>

<file path=customXml/itemProps3.xml><?xml version="1.0" encoding="utf-8"?>
<ds:datastoreItem xmlns:ds="http://schemas.openxmlformats.org/officeDocument/2006/customXml" ds:itemID="{3E8ECBFC-E6C4-4F1A-9F65-11BEF9AD5B9B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HullRMFI2ndEdCh18</Template>
  <TotalTime>1153</TotalTime>
  <Words>1171</Words>
  <Application>Microsoft Office PowerPoint</Application>
  <PresentationFormat>On-screen Show (4:3)</PresentationFormat>
  <Paragraphs>194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Wingdings</vt:lpstr>
      <vt:lpstr>HullRMFICh12</vt:lpstr>
      <vt:lpstr> Banks</vt:lpstr>
      <vt:lpstr>Nature of Banking</vt:lpstr>
      <vt:lpstr>  Structure of Banking in the US </vt:lpstr>
      <vt:lpstr>History of Bank Regulation in US (page 26-28)</vt:lpstr>
      <vt:lpstr>Example of Simple Bank Balance Sheet: End 2023</vt:lpstr>
      <vt:lpstr>Income Statement: 2023</vt:lpstr>
      <vt:lpstr>Year 2024</vt:lpstr>
      <vt:lpstr>What if  Balance Sheet Had Been More Aggressive?</vt:lpstr>
      <vt:lpstr>Regulation</vt:lpstr>
      <vt:lpstr>Deposit Insurance (pages 30-31)</vt:lpstr>
      <vt:lpstr>Investment Banking</vt:lpstr>
      <vt:lpstr>Best Efforts vs Firm Commitment (page 32)</vt:lpstr>
      <vt:lpstr>Initial Public Offering (IPO)</vt:lpstr>
      <vt:lpstr>Dutch Auction IPO</vt:lpstr>
      <vt:lpstr>Example: How are 1 million shares allocated in this situation? </vt:lpstr>
      <vt:lpstr>Google’s IPO in 2004 (Business Snapshot 2.1)</vt:lpstr>
      <vt:lpstr>Securities Trading</vt:lpstr>
      <vt:lpstr>Potential Conflicts of Interest</vt:lpstr>
      <vt:lpstr>Accounting (page 40)</vt:lpstr>
      <vt:lpstr>The Originate-to-Distribute Model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</dc:subject>
  <dc:creator>John  Hull</dc:creator>
  <cp:keywords>5th edition</cp:keywords>
  <dc:description>Copyright 2018 by John Hull.
All rights reserved.</dc:description>
  <cp:lastModifiedBy>John Hull</cp:lastModifiedBy>
  <cp:revision>82</cp:revision>
  <dcterms:created xsi:type="dcterms:W3CDTF">2003-01-02T05:31:58Z</dcterms:created>
  <dcterms:modified xsi:type="dcterms:W3CDTF">2022-12-01T16:32:45Z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