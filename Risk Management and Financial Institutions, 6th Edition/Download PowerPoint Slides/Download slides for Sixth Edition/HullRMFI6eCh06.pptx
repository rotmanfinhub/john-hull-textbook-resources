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</p:sldMasterIdLst>
  <p:notesMasterIdLst>
    <p:notesMasterId r:id="rId26"/>
  </p:notesMasterIdLst>
  <p:sldIdLst>
    <p:sldId id="256" r:id="rId3"/>
    <p:sldId id="290" r:id="rId4"/>
    <p:sldId id="289" r:id="rId5"/>
    <p:sldId id="257" r:id="rId6"/>
    <p:sldId id="282" r:id="rId7"/>
    <p:sldId id="283" r:id="rId8"/>
    <p:sldId id="260" r:id="rId9"/>
    <p:sldId id="262" r:id="rId10"/>
    <p:sldId id="269" r:id="rId11"/>
    <p:sldId id="284" r:id="rId12"/>
    <p:sldId id="272" r:id="rId13"/>
    <p:sldId id="270" r:id="rId14"/>
    <p:sldId id="273" r:id="rId15"/>
    <p:sldId id="285" r:id="rId16"/>
    <p:sldId id="286" r:id="rId17"/>
    <p:sldId id="287" r:id="rId18"/>
    <p:sldId id="288" r:id="rId19"/>
    <p:sldId id="275" r:id="rId20"/>
    <p:sldId id="274" r:id="rId21"/>
    <p:sldId id="264" r:id="rId22"/>
    <p:sldId id="276" r:id="rId23"/>
    <p:sldId id="278" r:id="rId24"/>
    <p:sldId id="280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7BDD0E0-F375-4640-A032-7A6FCC78632A}" type="datetimeFigureOut">
              <a:rPr lang="en-US"/>
              <a:pPr>
                <a:defRPr/>
              </a:pPr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AE3D9BB-AA4F-4A23-97C2-6FEDD16413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8713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2D8A87-6BE4-46BC-899F-9997352C18FC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294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956739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01675" indent="-269875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810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128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9446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018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8590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162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7734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612D37E3-1029-4E4D-B5FD-04AAECF6F3EC}" type="slidenum">
              <a:rPr lang="en-US" altLang="en-US">
                <a:latin typeface="Times New Roman" panose="02020603050405020304" pitchFamily="18" charset="0"/>
              </a:rPr>
              <a:pPr eaLnBrk="0" hangingPunct="0">
                <a:spcBef>
                  <a:spcPct val="0"/>
                </a:spcBef>
              </a:pPr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661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01675" indent="-269875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810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128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9446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018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8590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162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7734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DE53AFE7-AE69-4D28-AD30-D873AEC3AC97}" type="slidenum">
              <a:rPr lang="en-US" altLang="en-US">
                <a:latin typeface="Times New Roman" panose="02020603050405020304" pitchFamily="18" charset="0"/>
              </a:rPr>
              <a:pPr eaLnBrk="0" hangingPunct="0">
                <a:spcBef>
                  <a:spcPct val="0"/>
                </a:spcBef>
              </a:pPr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55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01675" indent="-269875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810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128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944688" indent="-215900" defTabSz="7556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018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8590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162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773488" indent="-215900" defTabSz="755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A0B192D2-C55D-4072-9BA7-2CB0DDA2AA3F}" type="slidenum">
              <a:rPr lang="en-US" altLang="en-US">
                <a:latin typeface="Times New Roman" panose="02020603050405020304" pitchFamily="18" charset="0"/>
              </a:rPr>
              <a:pPr eaLnBrk="0" hangingPunct="0">
                <a:spcBef>
                  <a:spcPct val="0"/>
                </a:spcBef>
              </a:pPr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1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E63D1-E9CF-457B-BE00-E271A22D9692}" type="datetime1">
              <a:rPr lang="en-US" smtClean="0"/>
              <a:t>12/1/2022</a:t>
            </a:fld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B17471-DA63-4471-8BBA-BCAC1B1E04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346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981-BF10-4CCA-83FF-EB3AB104AC6A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93C5C-1BA9-4F43-B537-FB07BFC0D5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45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1A12C-F065-4EED-855D-DD9D2102635D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20E0D-632B-4E43-A0A0-61858C714D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91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89496-E9AC-4D76-B160-031103C74A63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D6938-FE0D-4ED0-B716-46567B25D2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42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4D683-6F2F-4BD4-8FFA-2E7A0D508F25}" type="datetime1">
              <a:rPr lang="en-US" smtClean="0"/>
              <a:t>12/1/2022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508EC-2CD6-488B-8425-75B1AC60E1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76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6EDE2-3859-47F9-BD12-EFCAA0B15B77}" type="datetime1">
              <a:rPr lang="en-US" smtClean="0"/>
              <a:t>12/1/2022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42ECE-4906-4281-A30D-638C380D80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98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AAB08-9F14-488D-8334-F8511551F2E8}" type="datetime1">
              <a:rPr lang="en-US" smtClean="0"/>
              <a:t>12/1/2022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3F7BC-D877-4716-B489-85CD8720A8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70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778B0-6794-4B89-965A-6641BE21832B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A4F4C-F782-41E1-A412-FE3484E5C4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59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5969E-EDB9-4C9A-9422-CF8D8A84EA30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D0F61C-2892-4BE6-8AB9-B021230D11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067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F0BCC-19CA-4D5C-A33F-DB509A14D728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05B7F-55B9-4214-916F-2AB97DBC2F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8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DF45D-5F75-48D1-A8D1-249C2D4313F5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13428-A387-4D20-B869-06D78A08C4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717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E8636-B9C7-4803-9EC4-B6A6E60C042A}" type="datetime1">
              <a:rPr lang="en-US" smtClean="0"/>
              <a:t>12/1/2022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E3BCD-F52B-43CF-8D2D-CD6FD8602F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446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E3235-8C04-4A5F-BF72-FCA43648C9E8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2B26-BEDE-421D-BF10-0F7EA00A7C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3156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15D98B-820E-455E-ADC0-01E35A5DCA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26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6DE2A49-8141-446B-B8CF-38EEFCB47E99}" type="datetime1">
              <a:rPr lang="en-US" smtClean="0"/>
              <a:t>12/1/2022</a:t>
            </a:fld>
            <a:endParaRPr lang="en-US"/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fld id="{BD823BAD-F2F5-41A4-878B-C3B9F3B5E5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Institutions, 6e, Chapter 5,  Copyright © John C. Hull 2023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r>
              <a:rPr lang="en-US" altLang="en-US"/>
              <a:t>2.</a:t>
            </a:r>
            <a:fld id="{9C641A49-1C12-4AED-8159-673079CEDA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OTC Derivatives Market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CA" altLang="en-US" dirty="0"/>
              <a:t>Chapter 6</a:t>
            </a:r>
            <a:endParaRPr lang="en-US" altLang="en-US" dirty="0"/>
          </a:p>
        </p:txBody>
      </p:sp>
      <p:sp>
        <p:nvSpPr>
          <p:cNvPr id="3076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dirty="0"/>
              <a:t>Risk Management and Financial Institutions 6e, Chapter 6,  Copyright © John C. Hull 2023</a:t>
            </a:r>
            <a:endParaRPr lang="en-US" dirty="0"/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90FDDB-7A4E-4A58-826C-9182A39682F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784225"/>
          </a:xfrm>
        </p:spPr>
        <p:txBody>
          <a:bodyPr/>
          <a:lstStyle/>
          <a:p>
            <a:pPr eaLnBrk="1" hangingPunct="1"/>
            <a:r>
              <a:rPr lang="en-US" altLang="en-US" dirty="0"/>
              <a:t>Financial Markets</a:t>
            </a:r>
            <a:endParaRPr lang="en-US" altLang="en-US" sz="28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00250"/>
            <a:ext cx="7772400" cy="4095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Exchange traded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Traditionally exchanges have used the open-outcry system, but electronic trading has now become the norm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Contracts are standard; there is virtually no credit risk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Over-the-counter (OTC)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A network of dealers at financial institutions, corporations, and fund managers who trade directly with each other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Contracts can be non-standard; there is some credit risk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5,  Copyright © John C. Hull 2023</a:t>
            </a:r>
          </a:p>
        </p:txBody>
      </p:sp>
      <p:sp>
        <p:nvSpPr>
          <p:cNvPr id="1946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B95518-01ED-460B-ACA2-902D8AE51B5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24740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310F-C352-2699-5708-33C4BCE3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Exchange-traded 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3BD9B-E6F5-DB8D-1664-16FFE669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The over-the-counter market is an alternative to the exchange-traded market</a:t>
            </a:r>
          </a:p>
          <a:p>
            <a:r>
              <a:rPr lang="en-CA" sz="2400" dirty="0"/>
              <a:t>Exchanges define the products that can be traded</a:t>
            </a:r>
          </a:p>
          <a:p>
            <a:r>
              <a:rPr lang="en-CA" sz="2400" dirty="0"/>
              <a:t>They involve market makers who quote bid and ask prices</a:t>
            </a:r>
          </a:p>
          <a:p>
            <a:r>
              <a:rPr lang="en-CA" sz="2400" dirty="0"/>
              <a:t>Members of the exchange trade for themselves or for their clients</a:t>
            </a:r>
          </a:p>
          <a:p>
            <a:r>
              <a:rPr lang="en-CA" sz="2400" dirty="0"/>
              <a:t>An exchange clearing house guarantees transactions and requires initial and variation margin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9CA6E-9130-7929-B8F4-5202FB22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B62FB-500A-CFBF-CC0C-31F8A971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54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Variation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11662"/>
          </a:xfrm>
        </p:spPr>
        <p:txBody>
          <a:bodyPr/>
          <a:lstStyle/>
          <a:p>
            <a:pPr lvl="1">
              <a:defRPr/>
            </a:pPr>
            <a:r>
              <a:rPr lang="en-CA" sz="3200" dirty="0"/>
              <a:t>Margin reflecting change in value of a position</a:t>
            </a:r>
          </a:p>
          <a:p>
            <a:pPr lvl="1">
              <a:defRPr/>
            </a:pPr>
            <a:r>
              <a:rPr lang="en-CA" sz="3200" dirty="0"/>
              <a:t>Example: Party A and B trade. If value of outstanding positions to A increase by $X during day, then B has to provide A with $X of acceptable collateral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  <a:endParaRPr lang="en-US" dirty="0"/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8658D9-D9D2-4503-A476-A51493C1982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Even if variation margin has been posted, A may still lose money if B defaults because:</a:t>
            </a:r>
          </a:p>
          <a:p>
            <a:pPr lvl="1"/>
            <a:r>
              <a:rPr lang="en-CA" dirty="0"/>
              <a:t>B is not up to date with margin payments at time of default</a:t>
            </a:r>
          </a:p>
          <a:p>
            <a:pPr lvl="1"/>
            <a:r>
              <a:rPr lang="en-CA" dirty="0"/>
              <a:t>A may be subject to bid-offer spreads when it replaces transactions</a:t>
            </a:r>
          </a:p>
          <a:p>
            <a:r>
              <a:rPr lang="en-CA" dirty="0"/>
              <a:t>Initial margin can be used to provide additional protection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36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Haircuts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Often margin is cash and interest is normally paid on cash balances</a:t>
            </a:r>
          </a:p>
          <a:p>
            <a:r>
              <a:rPr lang="en-CA" sz="2800" dirty="0"/>
              <a:t>Sometimes securities are provided instead of cash. </a:t>
            </a:r>
          </a:p>
          <a:p>
            <a:r>
              <a:rPr lang="en-CA" sz="2800" dirty="0"/>
              <a:t>There then may be a “haircut” where the market value of the securities is reduced by a certain percentage to determine their value for collateral purposes.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460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Clearing Arrangements for OTC Derivatives </a:t>
            </a:r>
            <a:r>
              <a:rPr lang="en-US" altLang="en-US" sz="2000" dirty="0"/>
              <a:t>(Figure 6.1, page 132)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411663"/>
          </a:xfrm>
        </p:spPr>
        <p:txBody>
          <a:bodyPr/>
          <a:lstStyle/>
          <a:p>
            <a:r>
              <a:rPr lang="en-US" altLang="en-US" sz="2800" dirty="0"/>
              <a:t>Bilateral clearing: usually governed by an ISDA Master agreement</a:t>
            </a:r>
          </a:p>
          <a:p>
            <a:r>
              <a:rPr lang="en-US" altLang="en-US" sz="2800" dirty="0"/>
              <a:t>Central clearing: a central counterparty (CCP) stands between the two sides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/>
              <a:t>Risk Management and Financial Institutions 6e, Chapter 6,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B3C4F0-CAC1-4317-ADBE-E2579CF4052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grpSp>
        <p:nvGrpSpPr>
          <p:cNvPr id="8198" name="Group 8"/>
          <p:cNvGrpSpPr>
            <a:grpSpLocks/>
          </p:cNvGrpSpPr>
          <p:nvPr/>
        </p:nvGrpSpPr>
        <p:grpSpPr bwMode="auto">
          <a:xfrm>
            <a:off x="1295400" y="3378200"/>
            <a:ext cx="6827838" cy="2628900"/>
            <a:chOff x="1066800" y="2057400"/>
            <a:chExt cx="6827838" cy="2628900"/>
          </a:xfrm>
        </p:grpSpPr>
        <p:pic>
          <p:nvPicPr>
            <p:cNvPr id="8199" name="Picture 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2057400"/>
              <a:ext cx="6827838" cy="262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5562600" y="2971800"/>
              <a:ext cx="381000" cy="304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sz="1200" dirty="0"/>
                <a:t>CCCCCP</a:t>
              </a:r>
              <a:endParaRPr lang="en-CA" sz="1200" dirty="0"/>
            </a:p>
          </p:txBody>
        </p:sp>
        <p:sp>
          <p:nvSpPr>
            <p:cNvPr id="8201" name="TextBox 5"/>
            <p:cNvSpPr txBox="1">
              <a:spLocks noChangeArrowheads="1"/>
            </p:cNvSpPr>
            <p:nvPr/>
          </p:nvSpPr>
          <p:spPr bwMode="auto">
            <a:xfrm>
              <a:off x="5486400" y="2971800"/>
              <a:ext cx="11430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Calibri" panose="020F0502020204030204" pitchFamily="34" charset="0"/>
                </a:rPr>
                <a:t> CCP</a:t>
              </a:r>
              <a:endParaRPr lang="en-CA" altLang="en-US" sz="140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1295400"/>
          </a:xfrm>
        </p:spPr>
        <p:txBody>
          <a:bodyPr/>
          <a:lstStyle/>
          <a:p>
            <a:r>
              <a:rPr lang="en-US" altLang="en-US" dirty="0"/>
              <a:t>Central Clearing </a:t>
            </a:r>
            <a:r>
              <a:rPr lang="en-US" altLang="en-US" sz="2000" dirty="0"/>
              <a:t>(Figure 6.2, page 133)</a:t>
            </a:r>
            <a:br>
              <a:rPr lang="en-US" altLang="en-US" dirty="0"/>
            </a:br>
            <a:endParaRPr lang="en-US" altLang="en-US" sz="2000" dirty="0"/>
          </a:p>
        </p:txBody>
      </p:sp>
      <p:sp>
        <p:nvSpPr>
          <p:cNvPr id="1229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6,  Copyright © John C. Hull 2023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77B2A0-AF32-4040-8B65-4230C791616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2ED676-2289-FF6B-E22B-97CD86BA3849}"/>
              </a:ext>
            </a:extLst>
          </p:cNvPr>
          <p:cNvGrpSpPr/>
          <p:nvPr/>
        </p:nvGrpSpPr>
        <p:grpSpPr>
          <a:xfrm>
            <a:off x="1295400" y="1905000"/>
            <a:ext cx="5638800" cy="3488117"/>
            <a:chOff x="2559394" y="1126156"/>
            <a:chExt cx="4810126" cy="3375280"/>
          </a:xfrm>
        </p:grpSpPr>
        <p:sp>
          <p:nvSpPr>
            <p:cNvPr id="3" name="Text Box 2">
              <a:extLst>
                <a:ext uri="{FF2B5EF4-FFF2-40B4-BE49-F238E27FC236}">
                  <a16:creationId xmlns:a16="http://schemas.microsoft.com/office/drawing/2014/main" id="{5E6F55EB-7053-970D-B113-6A1BB8E75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9395" y="1758779"/>
              <a:ext cx="1028700" cy="561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Company 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9B2A157F-223F-3C48-A9FF-AD2806E2B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0820" y="1758779"/>
              <a:ext cx="1028700" cy="561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Company 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4598540-7C09-A35A-04E3-983A803E29C9}"/>
                </a:ext>
              </a:extLst>
            </p:cNvPr>
            <p:cNvCxnSpPr/>
            <p:nvPr/>
          </p:nvCxnSpPr>
          <p:spPr>
            <a:xfrm>
              <a:off x="3588095" y="1902941"/>
              <a:ext cx="27527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5E768FB-7A99-5351-DCFD-9CDA5EFB193D}"/>
                </a:ext>
              </a:extLst>
            </p:cNvPr>
            <p:cNvCxnSpPr/>
            <p:nvPr/>
          </p:nvCxnSpPr>
          <p:spPr>
            <a:xfrm flipH="1">
              <a:off x="3588095" y="2191265"/>
              <a:ext cx="27527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3DA962-1F60-566D-322B-CBECCF270770}"/>
                </a:ext>
              </a:extLst>
            </p:cNvPr>
            <p:cNvSpPr txBox="1"/>
            <p:nvPr/>
          </p:nvSpPr>
          <p:spPr>
            <a:xfrm>
              <a:off x="4655323" y="1530179"/>
              <a:ext cx="7496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5%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60086E-530E-6DC1-F966-E3F755596585}"/>
                </a:ext>
              </a:extLst>
            </p:cNvPr>
            <p:cNvSpPr txBox="1"/>
            <p:nvPr/>
          </p:nvSpPr>
          <p:spPr>
            <a:xfrm>
              <a:off x="4382667" y="2203233"/>
              <a:ext cx="1634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Floating Rate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27A404-BD1F-151A-36D5-C25318B6FE13}"/>
                </a:ext>
              </a:extLst>
            </p:cNvPr>
            <p:cNvSpPr txBox="1"/>
            <p:nvPr/>
          </p:nvSpPr>
          <p:spPr>
            <a:xfrm>
              <a:off x="2559395" y="1126156"/>
              <a:ext cx="1971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The OTC Trade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EF146F9-9BE5-15F5-AB5E-E17BD5B71FC7}"/>
                </a:ext>
              </a:extLst>
            </p:cNvPr>
            <p:cNvGrpSpPr/>
            <p:nvPr/>
          </p:nvGrpSpPr>
          <p:grpSpPr>
            <a:xfrm>
              <a:off x="2559394" y="2900091"/>
              <a:ext cx="4810125" cy="1601345"/>
              <a:chOff x="2559395" y="2599398"/>
              <a:chExt cx="4810125" cy="1601345"/>
            </a:xfrm>
          </p:grpSpPr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1FD4E4BD-058C-9C36-3A86-2AD595A184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9395" y="3206579"/>
                <a:ext cx="10287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Company 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" name="Text Box 4">
                <a:extLst>
                  <a:ext uri="{FF2B5EF4-FFF2-40B4-BE49-F238E27FC236}">
                    <a16:creationId xmlns:a16="http://schemas.microsoft.com/office/drawing/2014/main" id="{42BAD02E-17FB-2B24-3B4D-8237DEB20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40820" y="3187529"/>
                <a:ext cx="1028700" cy="5619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Company 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CA984DE8-1555-5396-BCB6-7006502910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1070" y="3273254"/>
                <a:ext cx="733425" cy="3714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CCP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38F2747-D729-DD43-BF85-858E69502C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8095" y="3352800"/>
                <a:ext cx="9429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512D71D-7EC0-10B1-B12A-F6FF31F69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4495" y="3352800"/>
                <a:ext cx="107632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51D295F-CE9B-D80B-BE6C-341D4E6F49CF}"/>
                  </a:ext>
                </a:extLst>
              </p:cNvPr>
              <p:cNvCxnSpPr/>
              <p:nvPr/>
            </p:nvCxnSpPr>
            <p:spPr>
              <a:xfrm flipH="1">
                <a:off x="3588095" y="3583459"/>
                <a:ext cx="9429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6AA8E94-A43A-5517-D5A8-B9B5093136FC}"/>
                  </a:ext>
                </a:extLst>
              </p:cNvPr>
              <p:cNvCxnSpPr/>
              <p:nvPr/>
            </p:nvCxnSpPr>
            <p:spPr>
              <a:xfrm flipH="1">
                <a:off x="5264495" y="3583459"/>
                <a:ext cx="107632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FFB8B4-3522-2E81-7A2C-137350B9403D}"/>
                  </a:ext>
                </a:extLst>
              </p:cNvPr>
              <p:cNvSpPr txBox="1"/>
              <p:nvPr/>
            </p:nvSpPr>
            <p:spPr>
              <a:xfrm>
                <a:off x="5220160" y="3550727"/>
                <a:ext cx="12163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Floating Rate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53210D-73B1-E73B-9667-9D5BDF37520F}"/>
                  </a:ext>
                </a:extLst>
              </p:cNvPr>
              <p:cNvSpPr txBox="1"/>
              <p:nvPr/>
            </p:nvSpPr>
            <p:spPr>
              <a:xfrm>
                <a:off x="3477526" y="3554412"/>
                <a:ext cx="12163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Floating Rate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DC3176-CAE6-77B8-4480-8015251F185D}"/>
                  </a:ext>
                </a:extLst>
              </p:cNvPr>
              <p:cNvSpPr txBox="1"/>
              <p:nvPr/>
            </p:nvSpPr>
            <p:spPr>
              <a:xfrm>
                <a:off x="5592278" y="2964581"/>
                <a:ext cx="748542" cy="376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5%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1E1FB7-8500-CA1A-378B-747A7AD88A17}"/>
                  </a:ext>
                </a:extLst>
              </p:cNvPr>
              <p:cNvSpPr txBox="1"/>
              <p:nvPr/>
            </p:nvSpPr>
            <p:spPr>
              <a:xfrm>
                <a:off x="3857302" y="2983309"/>
                <a:ext cx="748542" cy="376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5%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EE85F3-A991-31CB-58ED-50DBE2E3E4C0}"/>
                  </a:ext>
                </a:extLst>
              </p:cNvPr>
              <p:cNvSpPr txBox="1"/>
              <p:nvPr/>
            </p:nvSpPr>
            <p:spPr>
              <a:xfrm>
                <a:off x="2569749" y="2599398"/>
                <a:ext cx="15015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Role of CCP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7543800" cy="1295400"/>
          </a:xfrm>
        </p:spPr>
        <p:txBody>
          <a:bodyPr/>
          <a:lstStyle/>
          <a:p>
            <a:r>
              <a:rPr lang="en-CA" altLang="en-US" dirty="0"/>
              <a:t>Central Clearing </a:t>
            </a:r>
            <a:r>
              <a:rPr lang="en-CA" altLang="en-US" sz="2800" dirty="0"/>
              <a:t>continued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411662"/>
          </a:xfrm>
        </p:spPr>
        <p:txBody>
          <a:bodyPr/>
          <a:lstStyle/>
          <a:p>
            <a:r>
              <a:rPr lang="en-CA" altLang="en-US" sz="2600" dirty="0"/>
              <a:t>Role of CCP is very similar to that of an exchange clearing house.</a:t>
            </a:r>
          </a:p>
          <a:p>
            <a:r>
              <a:rPr lang="en-CA" altLang="en-US" sz="2600" dirty="0"/>
              <a:t>It stands between two sides </a:t>
            </a:r>
          </a:p>
          <a:p>
            <a:r>
              <a:rPr lang="en-CA" altLang="en-US" sz="2600" dirty="0"/>
              <a:t>It requires initial margin and variation margin from its members reflecting all their transactions with CCP</a:t>
            </a:r>
          </a:p>
          <a:p>
            <a:r>
              <a:rPr lang="en-CA" altLang="en-US" sz="2600" dirty="0"/>
              <a:t>Initial margin roughly covers 5 day price moves with 99% confidence</a:t>
            </a:r>
          </a:p>
          <a:p>
            <a:r>
              <a:rPr lang="en-CA" altLang="en-US" sz="2600" dirty="0"/>
              <a:t>The members may be clearing trades for other trading entities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D46C53-F7E8-43A6-A95C-CEDD1104370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Large CCPs </a:t>
            </a:r>
            <a:r>
              <a:rPr lang="en-CA" sz="2000" dirty="0"/>
              <a:t>(page 133)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SwapClear</a:t>
            </a:r>
            <a:r>
              <a:rPr lang="en-CA" dirty="0"/>
              <a:t> (part of LCH Clearnet in London)</a:t>
            </a:r>
          </a:p>
          <a:p>
            <a:r>
              <a:rPr lang="en-CA" dirty="0" err="1"/>
              <a:t>Clearport</a:t>
            </a:r>
            <a:r>
              <a:rPr lang="en-CA" dirty="0"/>
              <a:t> (part of CME Group in Chicago)</a:t>
            </a:r>
          </a:p>
          <a:p>
            <a:r>
              <a:rPr lang="en-CA" dirty="0"/>
              <a:t>ICE Clear Credit (part of Intercontinental Exchange)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33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7543800" cy="1295400"/>
          </a:xfrm>
        </p:spPr>
        <p:txBody>
          <a:bodyPr/>
          <a:lstStyle/>
          <a:p>
            <a:r>
              <a:rPr lang="en-CA" altLang="en-US" sz="3600" dirty="0"/>
              <a:t>Waterfall for Funding Losses when Positions Have to be Closed Out (CCP or Exchange Clearing House)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altLang="en-US" dirty="0"/>
          </a:p>
          <a:p>
            <a:r>
              <a:rPr lang="en-CA" altLang="en-US" dirty="0"/>
              <a:t>Initial margin of defaulting member</a:t>
            </a:r>
          </a:p>
          <a:p>
            <a:r>
              <a:rPr lang="en-CA" altLang="en-US" dirty="0"/>
              <a:t>Default fund contributions of defaulting member</a:t>
            </a:r>
          </a:p>
          <a:p>
            <a:r>
              <a:rPr lang="en-CA" altLang="en-US" dirty="0"/>
              <a:t>Default fund contributions of other members</a:t>
            </a:r>
          </a:p>
          <a:p>
            <a:r>
              <a:rPr lang="en-CA" altLang="en-US" dirty="0"/>
              <a:t>Equity of CCP/Exchange Clearing House</a:t>
            </a:r>
          </a:p>
          <a:p>
            <a:endParaRPr lang="en-CA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528442-1207-43C6-8DD5-3C966171C66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7543800" cy="1295400"/>
          </a:xfrm>
        </p:spPr>
        <p:txBody>
          <a:bodyPr/>
          <a:lstStyle/>
          <a:p>
            <a:r>
              <a:rPr lang="en-CA" altLang="en-US" dirty="0"/>
              <a:t>Bilateral Clearing</a:t>
            </a:r>
            <a:endParaRPr lang="en-CA" altLang="en-US" sz="2000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4411663"/>
          </a:xfrm>
        </p:spPr>
        <p:txBody>
          <a:bodyPr/>
          <a:lstStyle/>
          <a:p>
            <a:r>
              <a:rPr lang="en-CA" altLang="en-US" sz="2800" dirty="0"/>
              <a:t>OTC agreement directly between two sides</a:t>
            </a:r>
          </a:p>
          <a:p>
            <a:r>
              <a:rPr lang="en-CA" altLang="en-US" sz="2800" dirty="0"/>
              <a:t>Usually governed by an ISDA master agreement</a:t>
            </a:r>
          </a:p>
          <a:p>
            <a:r>
              <a:rPr lang="en-CA" altLang="en-US" sz="2800" dirty="0"/>
              <a:t>This contains a credit support annex (CSA) identifying collateral arrangements</a:t>
            </a:r>
          </a:p>
          <a:p>
            <a:r>
              <a:rPr lang="en-CA" altLang="en-US" sz="2800" dirty="0"/>
              <a:t>Early termination provisions in the event of default not subject to usual bankruptcy rules</a:t>
            </a:r>
          </a:p>
          <a:p>
            <a:pPr lvl="1"/>
            <a:r>
              <a:rPr lang="en-CA" altLang="en-US" sz="2400" dirty="0"/>
              <a:t>Non-defaulting party can keep collateral posted up to amount owed.</a:t>
            </a:r>
          </a:p>
          <a:p>
            <a:pPr lvl="1"/>
            <a:r>
              <a:rPr lang="en-CA" altLang="en-US" sz="2400" dirty="0"/>
              <a:t>Claim by non-defaulting party reflects mid market values adjusted for half the bid-offer spread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0286EF-EB49-49E8-BCD9-69048EA7AF4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Netting </a:t>
            </a:r>
            <a:r>
              <a:rPr lang="en-CA" altLang="en-US" sz="2400" dirty="0"/>
              <a:t>(page 135)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altLang="en-US" dirty="0"/>
              <a:t>Feature of both ISDA master agreements and CCPs </a:t>
            </a:r>
          </a:p>
          <a:p>
            <a:pPr>
              <a:defRPr/>
            </a:pPr>
            <a:r>
              <a:rPr lang="en-CA" altLang="en-US" dirty="0"/>
              <a:t>All transactions are considered to be a single transaction… </a:t>
            </a:r>
          </a:p>
          <a:p>
            <a:pPr lvl="1">
              <a:defRPr/>
            </a:pPr>
            <a:r>
              <a:rPr lang="en-CA" altLang="en-US" dirty="0"/>
              <a:t>in the event of default</a:t>
            </a:r>
          </a:p>
          <a:p>
            <a:pPr lvl="1">
              <a:defRPr/>
            </a:pPr>
            <a:r>
              <a:rPr lang="en-CA" altLang="en-US" dirty="0"/>
              <a:t>for collateral calculations</a:t>
            </a:r>
          </a:p>
          <a:p>
            <a:pPr>
              <a:defRPr/>
            </a:pPr>
            <a:r>
              <a:rPr lang="en-CA" altLang="en-US" dirty="0"/>
              <a:t>Netting reduces initial margin requirements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endParaRPr lang="en-CA" altLang="en-US" dirty="0"/>
          </a:p>
          <a:p>
            <a:pPr lvl="1">
              <a:defRPr/>
            </a:pPr>
            <a:endParaRPr lang="en-CA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C74FDB-CD1B-404A-9200-68944226660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Post-Crisis Regulatory Changes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All standardized derivatives (i.e., plain vanilla interest rate swaps and index credit default swaps) between financial institutions must be cleared through CCPs </a:t>
            </a:r>
          </a:p>
          <a:p>
            <a:r>
              <a:rPr lang="en-CA" sz="2800" dirty="0"/>
              <a:t>Standardized derivatives between financial institutions must be traded on electronic platforms</a:t>
            </a:r>
          </a:p>
          <a:p>
            <a:r>
              <a:rPr lang="en-CA" sz="2800" dirty="0"/>
              <a:t>All OTC trades must be reported to a central trade repository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92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Post-Crisis Regulatory Changes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4411662"/>
          </a:xfrm>
        </p:spPr>
        <p:txBody>
          <a:bodyPr/>
          <a:lstStyle/>
          <a:p>
            <a:r>
              <a:rPr lang="en-CA" dirty="0"/>
              <a:t>Initial margin and variation margin must be posted for nonstandard trades between financial institutions (These are referred to as “uncleared” trades because they are cleared bilaterally, rather than through a CCP)</a:t>
            </a:r>
          </a:p>
          <a:p>
            <a:r>
              <a:rPr lang="en-CA" dirty="0"/>
              <a:t>Variation margin is transferred directly between the two sides</a:t>
            </a:r>
          </a:p>
          <a:p>
            <a:r>
              <a:rPr lang="en-CA" dirty="0"/>
              <a:t>Initial margin is posted with a third party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6866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Post-Crisis Regulatory Changes 2</a:t>
            </a:r>
            <a:br>
              <a:rPr lang="en-CA" dirty="0"/>
            </a:br>
            <a:r>
              <a:rPr lang="en-CA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Initial margin for </a:t>
            </a:r>
            <a:r>
              <a:rPr lang="en-CA" dirty="0" err="1"/>
              <a:t>uncleared</a:t>
            </a:r>
            <a:r>
              <a:rPr lang="en-CA" dirty="0"/>
              <a:t> trades between financial institutions must cover 10-day price movements in stressed market conditions with 99% confidence</a:t>
            </a:r>
          </a:p>
          <a:p>
            <a:r>
              <a:rPr lang="en-CA" dirty="0"/>
              <a:t>Margin rules for uncleared trades were implemented </a:t>
            </a:r>
            <a:r>
              <a:rPr lang="en-CA"/>
              <a:t>starting in 2016 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746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Calculation of Initial Margin for Uncleared Trades</a:t>
            </a:r>
            <a:endParaRPr lang="en-CA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Basel Committee proposes a grid approach where initial margin is a percent of notional principal (no netting)</a:t>
            </a:r>
          </a:p>
          <a:p>
            <a:r>
              <a:rPr lang="en-CA" dirty="0"/>
              <a:t>ISDA proposes  Standard Initial Margin Model (SIMM) which uses a version of the model building approach for handling delta and gamma risk (see Appendix M)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14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Collateral Increases</a:t>
            </a:r>
            <a:endParaRPr lang="en-CA" altLang="en-US" sz="2400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altLang="en-US" dirty="0"/>
              <a:t>Much more collateral will be needed to support derivatives trading</a:t>
            </a:r>
          </a:p>
          <a:p>
            <a:pPr>
              <a:defRPr/>
            </a:pPr>
            <a:r>
              <a:rPr lang="en-CA" altLang="en-US" dirty="0"/>
              <a:t>This collateral will usually have to be cash or government securities</a:t>
            </a:r>
          </a:p>
          <a:p>
            <a:pPr>
              <a:defRPr/>
            </a:pPr>
            <a:r>
              <a:rPr lang="en-CA" altLang="en-US" dirty="0"/>
              <a:t>This is liable to create liquidity pressures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D1204C-1595-4EF8-B808-05A213B8A6F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CCPs and Netting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CCPs should increase netting, because transactions with two different counterparties can be netted if both are cleared through the same CCP</a:t>
            </a:r>
          </a:p>
          <a:p>
            <a:r>
              <a:rPr lang="en-CA" altLang="en-US" dirty="0"/>
              <a:t>But it will no longer be possible to net standard with nonstandard transactions</a:t>
            </a:r>
          </a:p>
          <a:p>
            <a:r>
              <a:rPr lang="en-CA" altLang="en-US" dirty="0"/>
              <a:t>It is therefore conceivable that benefits of netting could decrease….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FF094A-CBCE-492B-9DE4-9B00117C160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7543800" cy="1295400"/>
          </a:xfrm>
        </p:spPr>
        <p:txBody>
          <a:bodyPr/>
          <a:lstStyle/>
          <a:p>
            <a:r>
              <a:rPr lang="en-US" altLang="en-US" dirty="0"/>
              <a:t>Simple Example: 3 market participants; 2 product types</a:t>
            </a:r>
            <a:endParaRPr lang="en-US" altLang="en-US" sz="2000" dirty="0"/>
          </a:p>
        </p:txBody>
      </p:sp>
      <p:pic>
        <p:nvPicPr>
          <p:cNvPr id="23555" name="Content Placeholder 5" descr="HullOTC__0.tmp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2133600"/>
            <a:ext cx="7199313" cy="4162425"/>
          </a:xfrm>
        </p:spPr>
      </p:pic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Risk Management and Financial Institutions 6e, Chapter 6,  Copyright © John C. Hull 2023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6A8A90-573E-4931-86AE-CB0F864355E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Rehypothecation </a:t>
            </a:r>
            <a:r>
              <a:rPr lang="en-CA" altLang="en-US" sz="2000" dirty="0"/>
              <a:t>(page 140-141)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This involves using the collateral posted with you by one counterparty to satisfy the collateral demands of another party.</a:t>
            </a:r>
          </a:p>
          <a:p>
            <a:r>
              <a:rPr lang="en-CA" altLang="en-US"/>
              <a:t>It will be restricted under the new rules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3FA2A2-9218-4E15-AAA5-F8DAFF6788B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A Convergence…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/>
              <a:t>OTC and exchange-traded derivatives markets are becoming more similar to each other as far as </a:t>
            </a:r>
          </a:p>
          <a:p>
            <a:pPr lvl="1"/>
            <a:r>
              <a:rPr lang="en-CA" altLang="en-US"/>
              <a:t>the way trading is done</a:t>
            </a:r>
          </a:p>
          <a:p>
            <a:pPr lvl="1"/>
            <a:r>
              <a:rPr lang="en-CA" altLang="en-US"/>
              <a:t>the way transactions are cleared</a:t>
            </a:r>
          </a:p>
          <a:p>
            <a:pPr lvl="1"/>
            <a:r>
              <a:rPr lang="en-CA" altLang="en-US"/>
              <a:t>The collateral (margin) that has to be posted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DF12F7-CB71-493C-9E53-89D6AB9A4DB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CCPs and Too-Big-To Fail</a:t>
            </a:r>
            <a:endParaRPr lang="en-CA" altLang="en-US" sz="2400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It can be argued that CCPs are the new TBTF financial institutions</a:t>
            </a:r>
          </a:p>
          <a:p>
            <a:r>
              <a:rPr lang="en-CA" altLang="en-US" dirty="0"/>
              <a:t>However, CCPs are much easier to regulate than banks and so moving risks to CCPs may make the financial system easier to regulate and therefore safer</a:t>
            </a:r>
          </a:p>
          <a:p>
            <a:endParaRPr lang="en-CA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6,  Copyright © John C. Hull 2023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ECD86D-9B7C-4EE1-A099-89AA6002CEA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07">
  <a:themeElements>
    <a:clrScheme name="HullRMFICh07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7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7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7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3777E1-8DF5-4276-8739-992CB9B8AEAA}"/>
</file>

<file path=customXml/itemProps2.xml><?xml version="1.0" encoding="utf-8"?>
<ds:datastoreItem xmlns:ds="http://schemas.openxmlformats.org/officeDocument/2006/customXml" ds:itemID="{97E068ED-8934-46AB-9276-B703F14C34A2}"/>
</file>

<file path=customXml/itemProps3.xml><?xml version="1.0" encoding="utf-8"?>
<ds:datastoreItem xmlns:ds="http://schemas.openxmlformats.org/officeDocument/2006/customXml" ds:itemID="{733389AE-AC86-4B08-8B05-90596F15F373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HullRMFI2ndEdCh08</Template>
  <TotalTime>1917</TotalTime>
  <Words>1408</Words>
  <Application>Microsoft Office PowerPoint</Application>
  <PresentationFormat>On-screen Show (4:3)</PresentationFormat>
  <Paragraphs>160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HullRMFICh07</vt:lpstr>
      <vt:lpstr>HullRMFICh12</vt:lpstr>
      <vt:lpstr>The OTC Derivatives Market</vt:lpstr>
      <vt:lpstr>Financial Markets</vt:lpstr>
      <vt:lpstr>The Exchange-traded  Market</vt:lpstr>
      <vt:lpstr>Variation Margin</vt:lpstr>
      <vt:lpstr>Initial Margin</vt:lpstr>
      <vt:lpstr>Haircuts</vt:lpstr>
      <vt:lpstr>Clearing Arrangements for OTC Derivatives (Figure 6.1, page 132)</vt:lpstr>
      <vt:lpstr>Central Clearing (Figure 6.2, page 133) </vt:lpstr>
      <vt:lpstr>Central Clearing continued</vt:lpstr>
      <vt:lpstr>Large CCPs (page 133) </vt:lpstr>
      <vt:lpstr>Waterfall for Funding Losses when Positions Have to be Closed Out (CCP or Exchange Clearing House)</vt:lpstr>
      <vt:lpstr>Bilateral Clearing</vt:lpstr>
      <vt:lpstr>Netting (page 135)</vt:lpstr>
      <vt:lpstr>Post-Crisis Regulatory Changes 1</vt:lpstr>
      <vt:lpstr>Post-Crisis Regulatory Changes 2</vt:lpstr>
      <vt:lpstr>Post-Crisis Regulatory Changes 2 continued</vt:lpstr>
      <vt:lpstr>Calculation of Initial Margin for Uncleared Trades</vt:lpstr>
      <vt:lpstr>Collateral Increases</vt:lpstr>
      <vt:lpstr>CCPs and Netting</vt:lpstr>
      <vt:lpstr>Simple Example: 3 market participants; 2 product types</vt:lpstr>
      <vt:lpstr>Rehypothecation (page 140-141)</vt:lpstr>
      <vt:lpstr>A Convergence…</vt:lpstr>
      <vt:lpstr>CCPs and Too-Big-To Fail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18</dc:subject>
  <dc:creator>John Hull</dc:creator>
  <cp:keywords>5th Edition</cp:keywords>
  <dc:description>Copyright 2018 by John Hull._x000d_
All rights reserved.</dc:description>
  <cp:lastModifiedBy>John Hull</cp:lastModifiedBy>
  <cp:revision>56</cp:revision>
  <dcterms:created xsi:type="dcterms:W3CDTF">2011-03-02T17:52:57Z</dcterms:created>
  <dcterms:modified xsi:type="dcterms:W3CDTF">2022-12-01T17:36:07Z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