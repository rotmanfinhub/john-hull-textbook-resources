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charts/chart1.xml" ContentType="application/vnd.openxmlformats-officedocument.drawingml.chart+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6" r:id="rId1"/>
  </p:sldMasterIdLst>
  <p:notesMasterIdLst>
    <p:notesMasterId r:id="rId16"/>
  </p:notesMasterIdLst>
  <p:handoutMasterIdLst>
    <p:handoutMasterId r:id="rId17"/>
  </p:handoutMasterIdLst>
  <p:sldIdLst>
    <p:sldId id="761" r:id="rId2"/>
    <p:sldId id="762" r:id="rId3"/>
    <p:sldId id="763" r:id="rId4"/>
    <p:sldId id="764" r:id="rId5"/>
    <p:sldId id="765" r:id="rId6"/>
    <p:sldId id="766" r:id="rId7"/>
    <p:sldId id="767" r:id="rId8"/>
    <p:sldId id="768" r:id="rId9"/>
    <p:sldId id="769" r:id="rId10"/>
    <p:sldId id="779" r:id="rId11"/>
    <p:sldId id="777" r:id="rId12"/>
    <p:sldId id="778" r:id="rId13"/>
    <p:sldId id="773" r:id="rId14"/>
    <p:sldId id="776" r:id="rId15"/>
  </p:sldIdLst>
  <p:sldSz cx="9144000" cy="6858000" type="letter"/>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139" d="100"/>
          <a:sy n="139" d="100"/>
        </p:scale>
        <p:origin x="726"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1" d="100"/>
          <a:sy n="81" d="100"/>
        </p:scale>
        <p:origin x="-1968" y="-102"/>
      </p:cViewPr>
      <p:guideLst>
        <p:guide orient="horz" pos="3024"/>
        <p:guide pos="230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hull\AppData\Local\Microsoft\Windows\INetCache\Content.Outlook\5LNAA8DW\Ch07_6e_Figure%207_1.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spPr>
            <a:ln w="19050" cap="rnd">
              <a:solidFill>
                <a:schemeClr val="accent1"/>
              </a:solidFill>
              <a:round/>
            </a:ln>
            <a:effectLst/>
          </c:spPr>
          <c:marker>
            <c:symbol val="none"/>
          </c:marker>
          <c:xVal>
            <c:numRef>
              <c:f>'[Ch07_6e_Figure 7_1.xls]FRED Graph'!$A$12:$A$430</c:f>
              <c:numCache>
                <c:formatCode>yyyy\-mm\-dd</c:formatCode>
                <c:ptCount val="419"/>
                <c:pt idx="0">
                  <c:v>31778</c:v>
                </c:pt>
                <c:pt idx="1">
                  <c:v>31809</c:v>
                </c:pt>
                <c:pt idx="2">
                  <c:v>31837</c:v>
                </c:pt>
                <c:pt idx="3">
                  <c:v>31868</c:v>
                </c:pt>
                <c:pt idx="4">
                  <c:v>31898</c:v>
                </c:pt>
                <c:pt idx="5">
                  <c:v>31929</c:v>
                </c:pt>
                <c:pt idx="6">
                  <c:v>31959</c:v>
                </c:pt>
                <c:pt idx="7">
                  <c:v>31990</c:v>
                </c:pt>
                <c:pt idx="8">
                  <c:v>32021</c:v>
                </c:pt>
                <c:pt idx="9">
                  <c:v>32051</c:v>
                </c:pt>
                <c:pt idx="10">
                  <c:v>32082</c:v>
                </c:pt>
                <c:pt idx="11">
                  <c:v>32112</c:v>
                </c:pt>
                <c:pt idx="12">
                  <c:v>32143</c:v>
                </c:pt>
                <c:pt idx="13">
                  <c:v>32174</c:v>
                </c:pt>
                <c:pt idx="14">
                  <c:v>32203</c:v>
                </c:pt>
                <c:pt idx="15">
                  <c:v>32234</c:v>
                </c:pt>
                <c:pt idx="16">
                  <c:v>32264</c:v>
                </c:pt>
                <c:pt idx="17">
                  <c:v>32295</c:v>
                </c:pt>
                <c:pt idx="18">
                  <c:v>32325</c:v>
                </c:pt>
                <c:pt idx="19">
                  <c:v>32356</c:v>
                </c:pt>
                <c:pt idx="20">
                  <c:v>32387</c:v>
                </c:pt>
                <c:pt idx="21">
                  <c:v>32417</c:v>
                </c:pt>
                <c:pt idx="22">
                  <c:v>32448</c:v>
                </c:pt>
                <c:pt idx="23">
                  <c:v>32478</c:v>
                </c:pt>
                <c:pt idx="24">
                  <c:v>32509</c:v>
                </c:pt>
                <c:pt idx="25">
                  <c:v>32540</c:v>
                </c:pt>
                <c:pt idx="26">
                  <c:v>32568</c:v>
                </c:pt>
                <c:pt idx="27">
                  <c:v>32599</c:v>
                </c:pt>
                <c:pt idx="28">
                  <c:v>32629</c:v>
                </c:pt>
                <c:pt idx="29">
                  <c:v>32660</c:v>
                </c:pt>
                <c:pt idx="30">
                  <c:v>32690</c:v>
                </c:pt>
                <c:pt idx="31">
                  <c:v>32721</c:v>
                </c:pt>
                <c:pt idx="32">
                  <c:v>32752</c:v>
                </c:pt>
                <c:pt idx="33">
                  <c:v>32782</c:v>
                </c:pt>
                <c:pt idx="34">
                  <c:v>32813</c:v>
                </c:pt>
                <c:pt idx="35">
                  <c:v>32843</c:v>
                </c:pt>
                <c:pt idx="36">
                  <c:v>32874</c:v>
                </c:pt>
                <c:pt idx="37">
                  <c:v>32905</c:v>
                </c:pt>
                <c:pt idx="38">
                  <c:v>32933</c:v>
                </c:pt>
                <c:pt idx="39">
                  <c:v>32964</c:v>
                </c:pt>
                <c:pt idx="40">
                  <c:v>32994</c:v>
                </c:pt>
                <c:pt idx="41">
                  <c:v>33025</c:v>
                </c:pt>
                <c:pt idx="42">
                  <c:v>33055</c:v>
                </c:pt>
                <c:pt idx="43">
                  <c:v>33086</c:v>
                </c:pt>
                <c:pt idx="44">
                  <c:v>33117</c:v>
                </c:pt>
                <c:pt idx="45">
                  <c:v>33147</c:v>
                </c:pt>
                <c:pt idx="46">
                  <c:v>33178</c:v>
                </c:pt>
                <c:pt idx="47">
                  <c:v>33208</c:v>
                </c:pt>
                <c:pt idx="48">
                  <c:v>33239</c:v>
                </c:pt>
                <c:pt idx="49">
                  <c:v>33270</c:v>
                </c:pt>
                <c:pt idx="50">
                  <c:v>33298</c:v>
                </c:pt>
                <c:pt idx="51">
                  <c:v>33329</c:v>
                </c:pt>
                <c:pt idx="52">
                  <c:v>33359</c:v>
                </c:pt>
                <c:pt idx="53">
                  <c:v>33390</c:v>
                </c:pt>
                <c:pt idx="54">
                  <c:v>33420</c:v>
                </c:pt>
                <c:pt idx="55">
                  <c:v>33451</c:v>
                </c:pt>
                <c:pt idx="56">
                  <c:v>33482</c:v>
                </c:pt>
                <c:pt idx="57">
                  <c:v>33512</c:v>
                </c:pt>
                <c:pt idx="58">
                  <c:v>33543</c:v>
                </c:pt>
                <c:pt idx="59">
                  <c:v>33573</c:v>
                </c:pt>
                <c:pt idx="60">
                  <c:v>33604</c:v>
                </c:pt>
                <c:pt idx="61">
                  <c:v>33635</c:v>
                </c:pt>
                <c:pt idx="62">
                  <c:v>33664</c:v>
                </c:pt>
                <c:pt idx="63">
                  <c:v>33695</c:v>
                </c:pt>
                <c:pt idx="64">
                  <c:v>33725</c:v>
                </c:pt>
                <c:pt idx="65">
                  <c:v>33756</c:v>
                </c:pt>
                <c:pt idx="66">
                  <c:v>33786</c:v>
                </c:pt>
                <c:pt idx="67">
                  <c:v>33817</c:v>
                </c:pt>
                <c:pt idx="68">
                  <c:v>33848</c:v>
                </c:pt>
                <c:pt idx="69">
                  <c:v>33878</c:v>
                </c:pt>
                <c:pt idx="70">
                  <c:v>33909</c:v>
                </c:pt>
                <c:pt idx="71">
                  <c:v>33939</c:v>
                </c:pt>
                <c:pt idx="72">
                  <c:v>33970</c:v>
                </c:pt>
                <c:pt idx="73">
                  <c:v>34001</c:v>
                </c:pt>
                <c:pt idx="74">
                  <c:v>34029</c:v>
                </c:pt>
                <c:pt idx="75">
                  <c:v>34060</c:v>
                </c:pt>
                <c:pt idx="76">
                  <c:v>34090</c:v>
                </c:pt>
                <c:pt idx="77">
                  <c:v>34121</c:v>
                </c:pt>
                <c:pt idx="78">
                  <c:v>34151</c:v>
                </c:pt>
                <c:pt idx="79">
                  <c:v>34182</c:v>
                </c:pt>
                <c:pt idx="80">
                  <c:v>34213</c:v>
                </c:pt>
                <c:pt idx="81">
                  <c:v>34243</c:v>
                </c:pt>
                <c:pt idx="82">
                  <c:v>34274</c:v>
                </c:pt>
                <c:pt idx="83">
                  <c:v>34304</c:v>
                </c:pt>
                <c:pt idx="84">
                  <c:v>34335</c:v>
                </c:pt>
                <c:pt idx="85">
                  <c:v>34366</c:v>
                </c:pt>
                <c:pt idx="86">
                  <c:v>34394</c:v>
                </c:pt>
                <c:pt idx="87">
                  <c:v>34425</c:v>
                </c:pt>
                <c:pt idx="88">
                  <c:v>34455</c:v>
                </c:pt>
                <c:pt idx="89">
                  <c:v>34486</c:v>
                </c:pt>
                <c:pt idx="90">
                  <c:v>34516</c:v>
                </c:pt>
                <c:pt idx="91">
                  <c:v>34547</c:v>
                </c:pt>
                <c:pt idx="92">
                  <c:v>34578</c:v>
                </c:pt>
                <c:pt idx="93">
                  <c:v>34608</c:v>
                </c:pt>
                <c:pt idx="94">
                  <c:v>34639</c:v>
                </c:pt>
                <c:pt idx="95">
                  <c:v>34669</c:v>
                </c:pt>
                <c:pt idx="96">
                  <c:v>34700</c:v>
                </c:pt>
                <c:pt idx="97">
                  <c:v>34731</c:v>
                </c:pt>
                <c:pt idx="98">
                  <c:v>34759</c:v>
                </c:pt>
                <c:pt idx="99">
                  <c:v>34790</c:v>
                </c:pt>
                <c:pt idx="100">
                  <c:v>34820</c:v>
                </c:pt>
                <c:pt idx="101">
                  <c:v>34851</c:v>
                </c:pt>
                <c:pt idx="102">
                  <c:v>34881</c:v>
                </c:pt>
                <c:pt idx="103">
                  <c:v>34912</c:v>
                </c:pt>
                <c:pt idx="104">
                  <c:v>34943</c:v>
                </c:pt>
                <c:pt idx="105">
                  <c:v>34973</c:v>
                </c:pt>
                <c:pt idx="106">
                  <c:v>35004</c:v>
                </c:pt>
                <c:pt idx="107">
                  <c:v>35034</c:v>
                </c:pt>
                <c:pt idx="108">
                  <c:v>35065</c:v>
                </c:pt>
                <c:pt idx="109">
                  <c:v>35096</c:v>
                </c:pt>
                <c:pt idx="110">
                  <c:v>35125</c:v>
                </c:pt>
                <c:pt idx="111">
                  <c:v>35156</c:v>
                </c:pt>
                <c:pt idx="112">
                  <c:v>35186</c:v>
                </c:pt>
                <c:pt idx="113">
                  <c:v>35217</c:v>
                </c:pt>
                <c:pt idx="114">
                  <c:v>35247</c:v>
                </c:pt>
                <c:pt idx="115">
                  <c:v>35278</c:v>
                </c:pt>
                <c:pt idx="116">
                  <c:v>35309</c:v>
                </c:pt>
                <c:pt idx="117">
                  <c:v>35339</c:v>
                </c:pt>
                <c:pt idx="118">
                  <c:v>35370</c:v>
                </c:pt>
                <c:pt idx="119">
                  <c:v>35400</c:v>
                </c:pt>
                <c:pt idx="120">
                  <c:v>35431</c:v>
                </c:pt>
                <c:pt idx="121">
                  <c:v>35462</c:v>
                </c:pt>
                <c:pt idx="122">
                  <c:v>35490</c:v>
                </c:pt>
                <c:pt idx="123">
                  <c:v>35521</c:v>
                </c:pt>
                <c:pt idx="124">
                  <c:v>35551</c:v>
                </c:pt>
                <c:pt idx="125">
                  <c:v>35582</c:v>
                </c:pt>
                <c:pt idx="126">
                  <c:v>35612</c:v>
                </c:pt>
                <c:pt idx="127">
                  <c:v>35643</c:v>
                </c:pt>
                <c:pt idx="128">
                  <c:v>35674</c:v>
                </c:pt>
                <c:pt idx="129">
                  <c:v>35704</c:v>
                </c:pt>
                <c:pt idx="130">
                  <c:v>35735</c:v>
                </c:pt>
                <c:pt idx="131">
                  <c:v>35765</c:v>
                </c:pt>
                <c:pt idx="132">
                  <c:v>35796</c:v>
                </c:pt>
                <c:pt idx="133">
                  <c:v>35827</c:v>
                </c:pt>
                <c:pt idx="134">
                  <c:v>35855</c:v>
                </c:pt>
                <c:pt idx="135">
                  <c:v>35886</c:v>
                </c:pt>
                <c:pt idx="136">
                  <c:v>35916</c:v>
                </c:pt>
                <c:pt idx="137">
                  <c:v>35947</c:v>
                </c:pt>
                <c:pt idx="138">
                  <c:v>35977</c:v>
                </c:pt>
                <c:pt idx="139">
                  <c:v>36008</c:v>
                </c:pt>
                <c:pt idx="140">
                  <c:v>36039</c:v>
                </c:pt>
                <c:pt idx="141">
                  <c:v>36069</c:v>
                </c:pt>
                <c:pt idx="142">
                  <c:v>36100</c:v>
                </c:pt>
                <c:pt idx="143">
                  <c:v>36130</c:v>
                </c:pt>
                <c:pt idx="144">
                  <c:v>36161</c:v>
                </c:pt>
                <c:pt idx="145">
                  <c:v>36192</c:v>
                </c:pt>
                <c:pt idx="146">
                  <c:v>36220</c:v>
                </c:pt>
                <c:pt idx="147">
                  <c:v>36251</c:v>
                </c:pt>
                <c:pt idx="148">
                  <c:v>36281</c:v>
                </c:pt>
                <c:pt idx="149">
                  <c:v>36312</c:v>
                </c:pt>
                <c:pt idx="150">
                  <c:v>36342</c:v>
                </c:pt>
                <c:pt idx="151">
                  <c:v>36373</c:v>
                </c:pt>
                <c:pt idx="152">
                  <c:v>36404</c:v>
                </c:pt>
                <c:pt idx="153">
                  <c:v>36434</c:v>
                </c:pt>
                <c:pt idx="154">
                  <c:v>36465</c:v>
                </c:pt>
                <c:pt idx="155">
                  <c:v>36495</c:v>
                </c:pt>
                <c:pt idx="156">
                  <c:v>36526</c:v>
                </c:pt>
                <c:pt idx="157">
                  <c:v>36557</c:v>
                </c:pt>
                <c:pt idx="158">
                  <c:v>36586</c:v>
                </c:pt>
                <c:pt idx="159">
                  <c:v>36617</c:v>
                </c:pt>
                <c:pt idx="160">
                  <c:v>36647</c:v>
                </c:pt>
                <c:pt idx="161">
                  <c:v>36678</c:v>
                </c:pt>
                <c:pt idx="162">
                  <c:v>36708</c:v>
                </c:pt>
                <c:pt idx="163">
                  <c:v>36739</c:v>
                </c:pt>
                <c:pt idx="164">
                  <c:v>36770</c:v>
                </c:pt>
                <c:pt idx="165">
                  <c:v>36800</c:v>
                </c:pt>
                <c:pt idx="166">
                  <c:v>36831</c:v>
                </c:pt>
                <c:pt idx="167">
                  <c:v>36861</c:v>
                </c:pt>
                <c:pt idx="168">
                  <c:v>36892</c:v>
                </c:pt>
                <c:pt idx="169">
                  <c:v>36923</c:v>
                </c:pt>
                <c:pt idx="170">
                  <c:v>36951</c:v>
                </c:pt>
                <c:pt idx="171">
                  <c:v>36982</c:v>
                </c:pt>
                <c:pt idx="172">
                  <c:v>37012</c:v>
                </c:pt>
                <c:pt idx="173">
                  <c:v>37043</c:v>
                </c:pt>
                <c:pt idx="174">
                  <c:v>37073</c:v>
                </c:pt>
                <c:pt idx="175">
                  <c:v>37104</c:v>
                </c:pt>
                <c:pt idx="176">
                  <c:v>37135</c:v>
                </c:pt>
                <c:pt idx="177">
                  <c:v>37165</c:v>
                </c:pt>
                <c:pt idx="178">
                  <c:v>37196</c:v>
                </c:pt>
                <c:pt idx="179">
                  <c:v>37226</c:v>
                </c:pt>
                <c:pt idx="180">
                  <c:v>37257</c:v>
                </c:pt>
                <c:pt idx="181">
                  <c:v>37288</c:v>
                </c:pt>
                <c:pt idx="182">
                  <c:v>37316</c:v>
                </c:pt>
                <c:pt idx="183">
                  <c:v>37347</c:v>
                </c:pt>
                <c:pt idx="184">
                  <c:v>37377</c:v>
                </c:pt>
                <c:pt idx="185">
                  <c:v>37408</c:v>
                </c:pt>
                <c:pt idx="186">
                  <c:v>37438</c:v>
                </c:pt>
                <c:pt idx="187">
                  <c:v>37469</c:v>
                </c:pt>
                <c:pt idx="188">
                  <c:v>37500</c:v>
                </c:pt>
                <c:pt idx="189">
                  <c:v>37530</c:v>
                </c:pt>
                <c:pt idx="190">
                  <c:v>37561</c:v>
                </c:pt>
                <c:pt idx="191">
                  <c:v>37591</c:v>
                </c:pt>
                <c:pt idx="192">
                  <c:v>37622</c:v>
                </c:pt>
                <c:pt idx="193">
                  <c:v>37653</c:v>
                </c:pt>
                <c:pt idx="194">
                  <c:v>37681</c:v>
                </c:pt>
                <c:pt idx="195">
                  <c:v>37712</c:v>
                </c:pt>
                <c:pt idx="196">
                  <c:v>37742</c:v>
                </c:pt>
                <c:pt idx="197">
                  <c:v>37773</c:v>
                </c:pt>
                <c:pt idx="198">
                  <c:v>37803</c:v>
                </c:pt>
                <c:pt idx="199">
                  <c:v>37834</c:v>
                </c:pt>
                <c:pt idx="200">
                  <c:v>37865</c:v>
                </c:pt>
                <c:pt idx="201">
                  <c:v>37895</c:v>
                </c:pt>
                <c:pt idx="202">
                  <c:v>37926</c:v>
                </c:pt>
                <c:pt idx="203">
                  <c:v>37956</c:v>
                </c:pt>
                <c:pt idx="204">
                  <c:v>37987</c:v>
                </c:pt>
                <c:pt idx="205">
                  <c:v>38018</c:v>
                </c:pt>
                <c:pt idx="206">
                  <c:v>38047</c:v>
                </c:pt>
                <c:pt idx="207">
                  <c:v>38078</c:v>
                </c:pt>
                <c:pt idx="208">
                  <c:v>38108</c:v>
                </c:pt>
                <c:pt idx="209">
                  <c:v>38139</c:v>
                </c:pt>
                <c:pt idx="210">
                  <c:v>38169</c:v>
                </c:pt>
                <c:pt idx="211">
                  <c:v>38200</c:v>
                </c:pt>
                <c:pt idx="212">
                  <c:v>38231</c:v>
                </c:pt>
                <c:pt idx="213">
                  <c:v>38261</c:v>
                </c:pt>
                <c:pt idx="214">
                  <c:v>38292</c:v>
                </c:pt>
                <c:pt idx="215">
                  <c:v>38322</c:v>
                </c:pt>
                <c:pt idx="216">
                  <c:v>38353</c:v>
                </c:pt>
                <c:pt idx="217">
                  <c:v>38384</c:v>
                </c:pt>
                <c:pt idx="218">
                  <c:v>38412</c:v>
                </c:pt>
                <c:pt idx="219">
                  <c:v>38443</c:v>
                </c:pt>
                <c:pt idx="220">
                  <c:v>38473</c:v>
                </c:pt>
                <c:pt idx="221">
                  <c:v>38504</c:v>
                </c:pt>
                <c:pt idx="222">
                  <c:v>38534</c:v>
                </c:pt>
                <c:pt idx="223">
                  <c:v>38565</c:v>
                </c:pt>
                <c:pt idx="224">
                  <c:v>38596</c:v>
                </c:pt>
                <c:pt idx="225">
                  <c:v>38626</c:v>
                </c:pt>
                <c:pt idx="226">
                  <c:v>38657</c:v>
                </c:pt>
                <c:pt idx="227">
                  <c:v>38687</c:v>
                </c:pt>
                <c:pt idx="228">
                  <c:v>38718</c:v>
                </c:pt>
                <c:pt idx="229">
                  <c:v>38749</c:v>
                </c:pt>
                <c:pt idx="230">
                  <c:v>38777</c:v>
                </c:pt>
                <c:pt idx="231">
                  <c:v>38808</c:v>
                </c:pt>
                <c:pt idx="232">
                  <c:v>38838</c:v>
                </c:pt>
                <c:pt idx="233">
                  <c:v>38869</c:v>
                </c:pt>
                <c:pt idx="234">
                  <c:v>38899</c:v>
                </c:pt>
                <c:pt idx="235">
                  <c:v>38930</c:v>
                </c:pt>
                <c:pt idx="236">
                  <c:v>38961</c:v>
                </c:pt>
                <c:pt idx="237">
                  <c:v>38991</c:v>
                </c:pt>
                <c:pt idx="238">
                  <c:v>39022</c:v>
                </c:pt>
                <c:pt idx="239">
                  <c:v>39052</c:v>
                </c:pt>
                <c:pt idx="240">
                  <c:v>39083</c:v>
                </c:pt>
                <c:pt idx="241">
                  <c:v>39114</c:v>
                </c:pt>
                <c:pt idx="242">
                  <c:v>39142</c:v>
                </c:pt>
                <c:pt idx="243">
                  <c:v>39173</c:v>
                </c:pt>
                <c:pt idx="244">
                  <c:v>39203</c:v>
                </c:pt>
                <c:pt idx="245">
                  <c:v>39234</c:v>
                </c:pt>
                <c:pt idx="246">
                  <c:v>39264</c:v>
                </c:pt>
                <c:pt idx="247">
                  <c:v>39295</c:v>
                </c:pt>
                <c:pt idx="248">
                  <c:v>39326</c:v>
                </c:pt>
                <c:pt idx="249">
                  <c:v>39356</c:v>
                </c:pt>
                <c:pt idx="250">
                  <c:v>39387</c:v>
                </c:pt>
                <c:pt idx="251">
                  <c:v>39417</c:v>
                </c:pt>
                <c:pt idx="252">
                  <c:v>39448</c:v>
                </c:pt>
                <c:pt idx="253">
                  <c:v>39479</c:v>
                </c:pt>
                <c:pt idx="254">
                  <c:v>39508</c:v>
                </c:pt>
                <c:pt idx="255">
                  <c:v>39539</c:v>
                </c:pt>
                <c:pt idx="256">
                  <c:v>39569</c:v>
                </c:pt>
                <c:pt idx="257">
                  <c:v>39600</c:v>
                </c:pt>
                <c:pt idx="258">
                  <c:v>39630</c:v>
                </c:pt>
                <c:pt idx="259">
                  <c:v>39661</c:v>
                </c:pt>
                <c:pt idx="260">
                  <c:v>39692</c:v>
                </c:pt>
                <c:pt idx="261">
                  <c:v>39722</c:v>
                </c:pt>
                <c:pt idx="262">
                  <c:v>39753</c:v>
                </c:pt>
                <c:pt idx="263">
                  <c:v>39783</c:v>
                </c:pt>
                <c:pt idx="264">
                  <c:v>39814</c:v>
                </c:pt>
                <c:pt idx="265">
                  <c:v>39845</c:v>
                </c:pt>
                <c:pt idx="266">
                  <c:v>39873</c:v>
                </c:pt>
                <c:pt idx="267">
                  <c:v>39904</c:v>
                </c:pt>
                <c:pt idx="268">
                  <c:v>39934</c:v>
                </c:pt>
                <c:pt idx="269">
                  <c:v>39965</c:v>
                </c:pt>
                <c:pt idx="270">
                  <c:v>39995</c:v>
                </c:pt>
                <c:pt idx="271">
                  <c:v>40026</c:v>
                </c:pt>
                <c:pt idx="272">
                  <c:v>40057</c:v>
                </c:pt>
                <c:pt idx="273">
                  <c:v>40087</c:v>
                </c:pt>
                <c:pt idx="274">
                  <c:v>40118</c:v>
                </c:pt>
                <c:pt idx="275">
                  <c:v>40148</c:v>
                </c:pt>
                <c:pt idx="276">
                  <c:v>40179</c:v>
                </c:pt>
                <c:pt idx="277">
                  <c:v>40210</c:v>
                </c:pt>
                <c:pt idx="278">
                  <c:v>40238</c:v>
                </c:pt>
                <c:pt idx="279">
                  <c:v>40269</c:v>
                </c:pt>
                <c:pt idx="280">
                  <c:v>40299</c:v>
                </c:pt>
                <c:pt idx="281">
                  <c:v>40330</c:v>
                </c:pt>
                <c:pt idx="282">
                  <c:v>40360</c:v>
                </c:pt>
                <c:pt idx="283">
                  <c:v>40391</c:v>
                </c:pt>
                <c:pt idx="284">
                  <c:v>40422</c:v>
                </c:pt>
                <c:pt idx="285">
                  <c:v>40452</c:v>
                </c:pt>
                <c:pt idx="286">
                  <c:v>40483</c:v>
                </c:pt>
                <c:pt idx="287">
                  <c:v>40513</c:v>
                </c:pt>
                <c:pt idx="288">
                  <c:v>40544</c:v>
                </c:pt>
                <c:pt idx="289">
                  <c:v>40575</c:v>
                </c:pt>
                <c:pt idx="290">
                  <c:v>40603</c:v>
                </c:pt>
                <c:pt idx="291">
                  <c:v>40634</c:v>
                </c:pt>
                <c:pt idx="292">
                  <c:v>40664</c:v>
                </c:pt>
                <c:pt idx="293">
                  <c:v>40695</c:v>
                </c:pt>
                <c:pt idx="294">
                  <c:v>40725</c:v>
                </c:pt>
                <c:pt idx="295">
                  <c:v>40756</c:v>
                </c:pt>
                <c:pt idx="296">
                  <c:v>40787</c:v>
                </c:pt>
                <c:pt idx="297">
                  <c:v>40817</c:v>
                </c:pt>
                <c:pt idx="298">
                  <c:v>40848</c:v>
                </c:pt>
                <c:pt idx="299">
                  <c:v>40878</c:v>
                </c:pt>
                <c:pt idx="300">
                  <c:v>40909</c:v>
                </c:pt>
                <c:pt idx="301">
                  <c:v>40940</c:v>
                </c:pt>
                <c:pt idx="302">
                  <c:v>40969</c:v>
                </c:pt>
                <c:pt idx="303">
                  <c:v>41000</c:v>
                </c:pt>
                <c:pt idx="304">
                  <c:v>41030</c:v>
                </c:pt>
                <c:pt idx="305">
                  <c:v>41061</c:v>
                </c:pt>
                <c:pt idx="306">
                  <c:v>41091</c:v>
                </c:pt>
                <c:pt idx="307">
                  <c:v>41122</c:v>
                </c:pt>
                <c:pt idx="308">
                  <c:v>41153</c:v>
                </c:pt>
                <c:pt idx="309">
                  <c:v>41183</c:v>
                </c:pt>
                <c:pt idx="310">
                  <c:v>41214</c:v>
                </c:pt>
                <c:pt idx="311">
                  <c:v>41244</c:v>
                </c:pt>
                <c:pt idx="312">
                  <c:v>41275</c:v>
                </c:pt>
                <c:pt idx="313">
                  <c:v>41306</c:v>
                </c:pt>
                <c:pt idx="314">
                  <c:v>41334</c:v>
                </c:pt>
                <c:pt idx="315">
                  <c:v>41365</c:v>
                </c:pt>
                <c:pt idx="316">
                  <c:v>41395</c:v>
                </c:pt>
                <c:pt idx="317">
                  <c:v>41426</c:v>
                </c:pt>
                <c:pt idx="318">
                  <c:v>41456</c:v>
                </c:pt>
                <c:pt idx="319">
                  <c:v>41487</c:v>
                </c:pt>
                <c:pt idx="320">
                  <c:v>41518</c:v>
                </c:pt>
                <c:pt idx="321">
                  <c:v>41548</c:v>
                </c:pt>
                <c:pt idx="322">
                  <c:v>41579</c:v>
                </c:pt>
                <c:pt idx="323">
                  <c:v>41609</c:v>
                </c:pt>
                <c:pt idx="324">
                  <c:v>41640</c:v>
                </c:pt>
                <c:pt idx="325">
                  <c:v>41671</c:v>
                </c:pt>
                <c:pt idx="326">
                  <c:v>41699</c:v>
                </c:pt>
                <c:pt idx="327">
                  <c:v>41730</c:v>
                </c:pt>
                <c:pt idx="328">
                  <c:v>41760</c:v>
                </c:pt>
                <c:pt idx="329">
                  <c:v>41791</c:v>
                </c:pt>
                <c:pt idx="330">
                  <c:v>41821</c:v>
                </c:pt>
                <c:pt idx="331">
                  <c:v>41852</c:v>
                </c:pt>
                <c:pt idx="332">
                  <c:v>41883</c:v>
                </c:pt>
                <c:pt idx="333">
                  <c:v>41913</c:v>
                </c:pt>
                <c:pt idx="334">
                  <c:v>41944</c:v>
                </c:pt>
                <c:pt idx="335">
                  <c:v>41974</c:v>
                </c:pt>
                <c:pt idx="336">
                  <c:v>42005</c:v>
                </c:pt>
                <c:pt idx="337">
                  <c:v>42036</c:v>
                </c:pt>
                <c:pt idx="338">
                  <c:v>42064</c:v>
                </c:pt>
                <c:pt idx="339">
                  <c:v>42095</c:v>
                </c:pt>
                <c:pt idx="340">
                  <c:v>42125</c:v>
                </c:pt>
                <c:pt idx="341">
                  <c:v>42156</c:v>
                </c:pt>
                <c:pt idx="342">
                  <c:v>42186</c:v>
                </c:pt>
                <c:pt idx="343">
                  <c:v>42217</c:v>
                </c:pt>
                <c:pt idx="344">
                  <c:v>42248</c:v>
                </c:pt>
                <c:pt idx="345">
                  <c:v>42278</c:v>
                </c:pt>
                <c:pt idx="346">
                  <c:v>42309</c:v>
                </c:pt>
                <c:pt idx="347">
                  <c:v>42339</c:v>
                </c:pt>
                <c:pt idx="348">
                  <c:v>42370</c:v>
                </c:pt>
                <c:pt idx="349">
                  <c:v>42401</c:v>
                </c:pt>
                <c:pt idx="350">
                  <c:v>42430</c:v>
                </c:pt>
                <c:pt idx="351">
                  <c:v>42461</c:v>
                </c:pt>
                <c:pt idx="352">
                  <c:v>42491</c:v>
                </c:pt>
                <c:pt idx="353">
                  <c:v>42522</c:v>
                </c:pt>
                <c:pt idx="354">
                  <c:v>42552</c:v>
                </c:pt>
                <c:pt idx="355">
                  <c:v>42583</c:v>
                </c:pt>
                <c:pt idx="356">
                  <c:v>42614</c:v>
                </c:pt>
                <c:pt idx="357">
                  <c:v>42644</c:v>
                </c:pt>
                <c:pt idx="358">
                  <c:v>42675</c:v>
                </c:pt>
                <c:pt idx="359">
                  <c:v>42705</c:v>
                </c:pt>
                <c:pt idx="360">
                  <c:v>42736</c:v>
                </c:pt>
                <c:pt idx="361">
                  <c:v>42767</c:v>
                </c:pt>
                <c:pt idx="362">
                  <c:v>42795</c:v>
                </c:pt>
                <c:pt idx="363">
                  <c:v>42826</c:v>
                </c:pt>
                <c:pt idx="364">
                  <c:v>42856</c:v>
                </c:pt>
                <c:pt idx="365">
                  <c:v>42887</c:v>
                </c:pt>
                <c:pt idx="366">
                  <c:v>42917</c:v>
                </c:pt>
                <c:pt idx="367">
                  <c:v>42948</c:v>
                </c:pt>
                <c:pt idx="368">
                  <c:v>42979</c:v>
                </c:pt>
                <c:pt idx="369">
                  <c:v>43009</c:v>
                </c:pt>
                <c:pt idx="370">
                  <c:v>43040</c:v>
                </c:pt>
                <c:pt idx="371">
                  <c:v>43070</c:v>
                </c:pt>
                <c:pt idx="372">
                  <c:v>43101</c:v>
                </c:pt>
                <c:pt idx="373">
                  <c:v>43132</c:v>
                </c:pt>
                <c:pt idx="374">
                  <c:v>43160</c:v>
                </c:pt>
                <c:pt idx="375">
                  <c:v>43191</c:v>
                </c:pt>
                <c:pt idx="376">
                  <c:v>43221</c:v>
                </c:pt>
                <c:pt idx="377">
                  <c:v>43252</c:v>
                </c:pt>
                <c:pt idx="378">
                  <c:v>43282</c:v>
                </c:pt>
                <c:pt idx="379">
                  <c:v>43313</c:v>
                </c:pt>
                <c:pt idx="380">
                  <c:v>43344</c:v>
                </c:pt>
                <c:pt idx="381">
                  <c:v>43374</c:v>
                </c:pt>
                <c:pt idx="382">
                  <c:v>43405</c:v>
                </c:pt>
                <c:pt idx="383">
                  <c:v>43435</c:v>
                </c:pt>
                <c:pt idx="384">
                  <c:v>43466</c:v>
                </c:pt>
                <c:pt idx="385">
                  <c:v>43497</c:v>
                </c:pt>
                <c:pt idx="386">
                  <c:v>43525</c:v>
                </c:pt>
                <c:pt idx="387">
                  <c:v>43556</c:v>
                </c:pt>
                <c:pt idx="388">
                  <c:v>43586</c:v>
                </c:pt>
                <c:pt idx="389">
                  <c:v>43617</c:v>
                </c:pt>
                <c:pt idx="390">
                  <c:v>43647</c:v>
                </c:pt>
                <c:pt idx="391">
                  <c:v>43678</c:v>
                </c:pt>
                <c:pt idx="392">
                  <c:v>43709</c:v>
                </c:pt>
                <c:pt idx="393">
                  <c:v>43739</c:v>
                </c:pt>
                <c:pt idx="394">
                  <c:v>43770</c:v>
                </c:pt>
                <c:pt idx="395">
                  <c:v>43800</c:v>
                </c:pt>
                <c:pt idx="396">
                  <c:v>43831</c:v>
                </c:pt>
                <c:pt idx="397">
                  <c:v>43862</c:v>
                </c:pt>
                <c:pt idx="398">
                  <c:v>43891</c:v>
                </c:pt>
                <c:pt idx="399">
                  <c:v>43922</c:v>
                </c:pt>
                <c:pt idx="400">
                  <c:v>43952</c:v>
                </c:pt>
                <c:pt idx="401">
                  <c:v>43983</c:v>
                </c:pt>
                <c:pt idx="402">
                  <c:v>44013</c:v>
                </c:pt>
                <c:pt idx="403">
                  <c:v>44044</c:v>
                </c:pt>
                <c:pt idx="404">
                  <c:v>44075</c:v>
                </c:pt>
                <c:pt idx="405">
                  <c:v>44105</c:v>
                </c:pt>
                <c:pt idx="406">
                  <c:v>44136</c:v>
                </c:pt>
                <c:pt idx="407">
                  <c:v>44166</c:v>
                </c:pt>
                <c:pt idx="408">
                  <c:v>44197</c:v>
                </c:pt>
                <c:pt idx="409">
                  <c:v>44228</c:v>
                </c:pt>
                <c:pt idx="410">
                  <c:v>44256</c:v>
                </c:pt>
                <c:pt idx="411">
                  <c:v>44287</c:v>
                </c:pt>
                <c:pt idx="412">
                  <c:v>44317</c:v>
                </c:pt>
                <c:pt idx="413">
                  <c:v>44348</c:v>
                </c:pt>
                <c:pt idx="414">
                  <c:v>44378</c:v>
                </c:pt>
                <c:pt idx="415">
                  <c:v>44409</c:v>
                </c:pt>
                <c:pt idx="416">
                  <c:v>44440</c:v>
                </c:pt>
                <c:pt idx="417">
                  <c:v>44470</c:v>
                </c:pt>
                <c:pt idx="418">
                  <c:v>44501</c:v>
                </c:pt>
              </c:numCache>
            </c:numRef>
          </c:xVal>
          <c:yVal>
            <c:numRef>
              <c:f>'[Ch07_6e_Figure 7_1.xls]FRED Graph'!$B$12:$B$430</c:f>
              <c:numCache>
                <c:formatCode>0.00000000000000</c:formatCode>
                <c:ptCount val="419"/>
                <c:pt idx="0">
                  <c:v>63.731999999999999</c:v>
                </c:pt>
                <c:pt idx="1">
                  <c:v>64.132000000000005</c:v>
                </c:pt>
                <c:pt idx="2">
                  <c:v>64.468000000000004</c:v>
                </c:pt>
                <c:pt idx="3">
                  <c:v>64.971999999999994</c:v>
                </c:pt>
                <c:pt idx="4">
                  <c:v>65.546999999999997</c:v>
                </c:pt>
                <c:pt idx="5">
                  <c:v>66.218000000000004</c:v>
                </c:pt>
                <c:pt idx="6">
                  <c:v>66.784999999999997</c:v>
                </c:pt>
                <c:pt idx="7">
                  <c:v>67.268000000000001</c:v>
                </c:pt>
                <c:pt idx="8">
                  <c:v>67.621000000000009</c:v>
                </c:pt>
                <c:pt idx="9">
                  <c:v>67.899000000000001</c:v>
                </c:pt>
                <c:pt idx="10">
                  <c:v>68.088999999999999</c:v>
                </c:pt>
                <c:pt idx="11">
                  <c:v>68.341999999999999</c:v>
                </c:pt>
                <c:pt idx="12">
                  <c:v>68.581000000000003</c:v>
                </c:pt>
                <c:pt idx="13">
                  <c:v>68.914000000000001</c:v>
                </c:pt>
                <c:pt idx="14">
                  <c:v>69.322000000000003</c:v>
                </c:pt>
                <c:pt idx="15">
                  <c:v>69.786000000000001</c:v>
                </c:pt>
                <c:pt idx="16">
                  <c:v>70.406000000000006</c:v>
                </c:pt>
                <c:pt idx="17">
                  <c:v>71.064999999999998</c:v>
                </c:pt>
                <c:pt idx="18">
                  <c:v>71.683999999999997</c:v>
                </c:pt>
                <c:pt idx="19">
                  <c:v>72.183999999999997</c:v>
                </c:pt>
                <c:pt idx="20">
                  <c:v>72.573000000000008</c:v>
                </c:pt>
                <c:pt idx="21">
                  <c:v>72.820999999999998</c:v>
                </c:pt>
                <c:pt idx="22">
                  <c:v>73.063999999999993</c:v>
                </c:pt>
                <c:pt idx="23">
                  <c:v>73.277000000000001</c:v>
                </c:pt>
                <c:pt idx="24">
                  <c:v>73.617000000000004</c:v>
                </c:pt>
                <c:pt idx="25">
                  <c:v>73.968000000000004</c:v>
                </c:pt>
                <c:pt idx="26">
                  <c:v>74.41</c:v>
                </c:pt>
                <c:pt idx="27">
                  <c:v>74.867999999999995</c:v>
                </c:pt>
                <c:pt idx="28">
                  <c:v>75.296000000000006</c:v>
                </c:pt>
                <c:pt idx="29">
                  <c:v>75.695999999999998</c:v>
                </c:pt>
                <c:pt idx="30">
                  <c:v>76.040000000000006</c:v>
                </c:pt>
                <c:pt idx="31">
                  <c:v>76.271000000000001</c:v>
                </c:pt>
                <c:pt idx="32">
                  <c:v>76.42</c:v>
                </c:pt>
                <c:pt idx="33">
                  <c:v>76.488</c:v>
                </c:pt>
                <c:pt idx="34">
                  <c:v>76.521999999999991</c:v>
                </c:pt>
                <c:pt idx="35">
                  <c:v>76.498000000000005</c:v>
                </c:pt>
                <c:pt idx="36">
                  <c:v>76.527000000000001</c:v>
                </c:pt>
                <c:pt idx="37">
                  <c:v>76.587000000000003</c:v>
                </c:pt>
                <c:pt idx="38">
                  <c:v>76.790000000000006</c:v>
                </c:pt>
                <c:pt idx="39">
                  <c:v>77.037999999999997</c:v>
                </c:pt>
                <c:pt idx="40">
                  <c:v>77.296000000000006</c:v>
                </c:pt>
                <c:pt idx="41">
                  <c:v>77.503999999999991</c:v>
                </c:pt>
                <c:pt idx="42">
                  <c:v>77.558999999999997</c:v>
                </c:pt>
                <c:pt idx="43">
                  <c:v>77.477000000000004</c:v>
                </c:pt>
                <c:pt idx="44">
                  <c:v>77.227000000000004</c:v>
                </c:pt>
                <c:pt idx="45">
                  <c:v>76.911000000000001</c:v>
                </c:pt>
                <c:pt idx="46">
                  <c:v>76.38</c:v>
                </c:pt>
                <c:pt idx="47">
                  <c:v>75.97</c:v>
                </c:pt>
                <c:pt idx="48">
                  <c:v>75.531000000000006</c:v>
                </c:pt>
                <c:pt idx="49">
                  <c:v>75.248000000000005</c:v>
                </c:pt>
                <c:pt idx="50">
                  <c:v>75.135000000000005</c:v>
                </c:pt>
                <c:pt idx="51">
                  <c:v>75.316000000000003</c:v>
                </c:pt>
                <c:pt idx="52">
                  <c:v>75.768000000000001</c:v>
                </c:pt>
                <c:pt idx="53">
                  <c:v>76.251999999999995</c:v>
                </c:pt>
                <c:pt idx="54">
                  <c:v>76.515000000000001</c:v>
                </c:pt>
                <c:pt idx="55">
                  <c:v>76.593000000000004</c:v>
                </c:pt>
                <c:pt idx="56">
                  <c:v>76.573999999999998</c:v>
                </c:pt>
                <c:pt idx="57">
                  <c:v>76.284999999999997</c:v>
                </c:pt>
                <c:pt idx="58">
                  <c:v>76.03</c:v>
                </c:pt>
                <c:pt idx="59">
                  <c:v>75.843999999999994</c:v>
                </c:pt>
                <c:pt idx="60">
                  <c:v>75.698000000000008</c:v>
                </c:pt>
                <c:pt idx="61">
                  <c:v>75.653999999999996</c:v>
                </c:pt>
                <c:pt idx="62">
                  <c:v>75.813000000000002</c:v>
                </c:pt>
                <c:pt idx="63">
                  <c:v>76.078999999999994</c:v>
                </c:pt>
                <c:pt idx="64">
                  <c:v>76.396999999999991</c:v>
                </c:pt>
                <c:pt idx="65">
                  <c:v>76.602000000000004</c:v>
                </c:pt>
                <c:pt idx="66">
                  <c:v>76.709999999999994</c:v>
                </c:pt>
                <c:pt idx="67">
                  <c:v>76.73</c:v>
                </c:pt>
                <c:pt idx="68">
                  <c:v>76.626999999999995</c:v>
                </c:pt>
                <c:pt idx="69">
                  <c:v>76.596000000000004</c:v>
                </c:pt>
                <c:pt idx="70">
                  <c:v>76.576999999999998</c:v>
                </c:pt>
                <c:pt idx="71">
                  <c:v>76.463000000000008</c:v>
                </c:pt>
                <c:pt idx="72">
                  <c:v>76.393999999999991</c:v>
                </c:pt>
                <c:pt idx="73">
                  <c:v>76.326999999999998</c:v>
                </c:pt>
                <c:pt idx="74">
                  <c:v>76.382000000000005</c:v>
                </c:pt>
                <c:pt idx="75">
                  <c:v>76.66</c:v>
                </c:pt>
                <c:pt idx="76">
                  <c:v>77.03</c:v>
                </c:pt>
                <c:pt idx="77">
                  <c:v>77.516000000000005</c:v>
                </c:pt>
                <c:pt idx="78">
                  <c:v>77.884</c:v>
                </c:pt>
                <c:pt idx="79">
                  <c:v>78.128999999999991</c:v>
                </c:pt>
                <c:pt idx="80">
                  <c:v>78.195999999999998</c:v>
                </c:pt>
                <c:pt idx="81">
                  <c:v>78.17</c:v>
                </c:pt>
                <c:pt idx="82">
                  <c:v>78.168999999999997</c:v>
                </c:pt>
                <c:pt idx="83">
                  <c:v>78.113</c:v>
                </c:pt>
                <c:pt idx="84">
                  <c:v>78.198000000000008</c:v>
                </c:pt>
                <c:pt idx="85">
                  <c:v>78.203999999999994</c:v>
                </c:pt>
                <c:pt idx="86">
                  <c:v>78.34899999999999</c:v>
                </c:pt>
                <c:pt idx="87">
                  <c:v>78.701000000000008</c:v>
                </c:pt>
                <c:pt idx="88">
                  <c:v>79.207999999999998</c:v>
                </c:pt>
                <c:pt idx="89">
                  <c:v>79.701000000000008</c:v>
                </c:pt>
                <c:pt idx="90">
                  <c:v>80.063000000000002</c:v>
                </c:pt>
                <c:pt idx="91">
                  <c:v>80.316000000000003</c:v>
                </c:pt>
                <c:pt idx="92">
                  <c:v>80.338999999999999</c:v>
                </c:pt>
                <c:pt idx="93">
                  <c:v>80.302999999999997</c:v>
                </c:pt>
                <c:pt idx="94">
                  <c:v>80.168000000000006</c:v>
                </c:pt>
                <c:pt idx="95">
                  <c:v>80.076999999999998</c:v>
                </c:pt>
                <c:pt idx="96">
                  <c:v>80.02600000000001</c:v>
                </c:pt>
                <c:pt idx="97">
                  <c:v>79.992000000000004</c:v>
                </c:pt>
                <c:pt idx="98">
                  <c:v>80.078000000000003</c:v>
                </c:pt>
                <c:pt idx="99">
                  <c:v>80.37</c:v>
                </c:pt>
                <c:pt idx="100">
                  <c:v>80.691000000000003</c:v>
                </c:pt>
                <c:pt idx="101">
                  <c:v>81.067999999999998</c:v>
                </c:pt>
                <c:pt idx="102">
                  <c:v>81.411000000000001</c:v>
                </c:pt>
                <c:pt idx="103">
                  <c:v>81.653999999999996</c:v>
                </c:pt>
                <c:pt idx="104">
                  <c:v>81.738</c:v>
                </c:pt>
                <c:pt idx="105">
                  <c:v>81.727000000000004</c:v>
                </c:pt>
                <c:pt idx="106">
                  <c:v>81.631</c:v>
                </c:pt>
                <c:pt idx="107">
                  <c:v>81.513000000000005</c:v>
                </c:pt>
                <c:pt idx="108">
                  <c:v>81.426999999999992</c:v>
                </c:pt>
                <c:pt idx="109">
                  <c:v>81.399000000000001</c:v>
                </c:pt>
                <c:pt idx="110">
                  <c:v>81.665000000000006</c:v>
                </c:pt>
                <c:pt idx="111">
                  <c:v>82.125</c:v>
                </c:pt>
                <c:pt idx="112">
                  <c:v>82.602000000000004</c:v>
                </c:pt>
                <c:pt idx="113">
                  <c:v>83.047999999999988</c:v>
                </c:pt>
                <c:pt idx="114">
                  <c:v>83.417999999999992</c:v>
                </c:pt>
                <c:pt idx="115">
                  <c:v>83.643999999999991</c:v>
                </c:pt>
                <c:pt idx="116">
                  <c:v>83.701000000000008</c:v>
                </c:pt>
                <c:pt idx="117">
                  <c:v>83.628999999999991</c:v>
                </c:pt>
                <c:pt idx="118">
                  <c:v>83.555999999999997</c:v>
                </c:pt>
                <c:pt idx="119">
                  <c:v>83.49</c:v>
                </c:pt>
                <c:pt idx="120">
                  <c:v>83.53</c:v>
                </c:pt>
                <c:pt idx="121">
                  <c:v>83.596000000000004</c:v>
                </c:pt>
                <c:pt idx="122">
                  <c:v>83.911000000000001</c:v>
                </c:pt>
                <c:pt idx="123">
                  <c:v>84.32</c:v>
                </c:pt>
                <c:pt idx="124">
                  <c:v>84.86399999999999</c:v>
                </c:pt>
                <c:pt idx="125">
                  <c:v>85.397999999999996</c:v>
                </c:pt>
                <c:pt idx="126">
                  <c:v>85.84</c:v>
                </c:pt>
                <c:pt idx="127">
                  <c:v>86.149000000000001</c:v>
                </c:pt>
                <c:pt idx="128">
                  <c:v>86.31</c:v>
                </c:pt>
                <c:pt idx="129">
                  <c:v>86.407000000000011</c:v>
                </c:pt>
                <c:pt idx="130">
                  <c:v>86.631</c:v>
                </c:pt>
                <c:pt idx="131">
                  <c:v>86.847000000000008</c:v>
                </c:pt>
                <c:pt idx="132">
                  <c:v>87.162999999999997</c:v>
                </c:pt>
                <c:pt idx="133">
                  <c:v>87.37299999999999</c:v>
                </c:pt>
                <c:pt idx="134">
                  <c:v>87.87700000000001</c:v>
                </c:pt>
                <c:pt idx="135">
                  <c:v>88.557000000000002</c:v>
                </c:pt>
                <c:pt idx="136">
                  <c:v>89.37299999999999</c:v>
                </c:pt>
                <c:pt idx="137">
                  <c:v>90.194000000000003</c:v>
                </c:pt>
                <c:pt idx="138">
                  <c:v>90.85799999999999</c:v>
                </c:pt>
                <c:pt idx="139">
                  <c:v>91.406000000000006</c:v>
                </c:pt>
                <c:pt idx="140">
                  <c:v>91.75200000000001</c:v>
                </c:pt>
                <c:pt idx="141">
                  <c:v>92</c:v>
                </c:pt>
                <c:pt idx="142">
                  <c:v>92.197999999999993</c:v>
                </c:pt>
                <c:pt idx="143">
                  <c:v>92.444000000000003</c:v>
                </c:pt>
                <c:pt idx="144">
                  <c:v>92.712999999999994</c:v>
                </c:pt>
                <c:pt idx="145">
                  <c:v>92.978999999999999</c:v>
                </c:pt>
                <c:pt idx="146">
                  <c:v>93.61</c:v>
                </c:pt>
                <c:pt idx="147">
                  <c:v>94.435000000000002</c:v>
                </c:pt>
                <c:pt idx="148">
                  <c:v>95.36</c:v>
                </c:pt>
                <c:pt idx="149">
                  <c:v>96.36399999999999</c:v>
                </c:pt>
                <c:pt idx="150">
                  <c:v>97.192000000000007</c:v>
                </c:pt>
                <c:pt idx="151">
                  <c:v>97.897000000000006</c:v>
                </c:pt>
                <c:pt idx="152">
                  <c:v>98.4</c:v>
                </c:pt>
                <c:pt idx="153">
                  <c:v>98.832999999999998</c:v>
                </c:pt>
                <c:pt idx="154">
                  <c:v>99.15</c:v>
                </c:pt>
                <c:pt idx="155">
                  <c:v>99.545000000000002</c:v>
                </c:pt>
                <c:pt idx="156">
                  <c:v>100</c:v>
                </c:pt>
                <c:pt idx="157">
                  <c:v>100.571</c:v>
                </c:pt>
                <c:pt idx="158">
                  <c:v>101.46600000000001</c:v>
                </c:pt>
                <c:pt idx="159">
                  <c:v>102.54</c:v>
                </c:pt>
                <c:pt idx="160">
                  <c:v>103.7</c:v>
                </c:pt>
                <c:pt idx="161">
                  <c:v>104.854</c:v>
                </c:pt>
                <c:pt idx="162">
                  <c:v>105.721</c:v>
                </c:pt>
                <c:pt idx="163">
                  <c:v>106.521</c:v>
                </c:pt>
                <c:pt idx="164">
                  <c:v>107.134</c:v>
                </c:pt>
                <c:pt idx="165">
                  <c:v>107.726</c:v>
                </c:pt>
                <c:pt idx="166">
                  <c:v>108.289</c:v>
                </c:pt>
                <c:pt idx="167">
                  <c:v>108.789</c:v>
                </c:pt>
                <c:pt idx="168">
                  <c:v>109.212</c:v>
                </c:pt>
                <c:pt idx="169">
                  <c:v>109.64</c:v>
                </c:pt>
                <c:pt idx="170">
                  <c:v>110.39200000000001</c:v>
                </c:pt>
                <c:pt idx="171">
                  <c:v>111.24600000000001</c:v>
                </c:pt>
                <c:pt idx="172">
                  <c:v>112.20100000000001</c:v>
                </c:pt>
                <c:pt idx="173">
                  <c:v>113.271</c:v>
                </c:pt>
                <c:pt idx="174">
                  <c:v>114.226</c:v>
                </c:pt>
                <c:pt idx="175">
                  <c:v>114.98700000000001</c:v>
                </c:pt>
                <c:pt idx="176">
                  <c:v>115.464</c:v>
                </c:pt>
                <c:pt idx="177">
                  <c:v>115.679</c:v>
                </c:pt>
                <c:pt idx="178">
                  <c:v>115.836</c:v>
                </c:pt>
                <c:pt idx="179">
                  <c:v>116.053</c:v>
                </c:pt>
                <c:pt idx="180">
                  <c:v>116.435</c:v>
                </c:pt>
                <c:pt idx="181">
                  <c:v>116.916</c:v>
                </c:pt>
                <c:pt idx="182">
                  <c:v>117.929</c:v>
                </c:pt>
                <c:pt idx="183">
                  <c:v>119.208</c:v>
                </c:pt>
                <c:pt idx="184">
                  <c:v>120.78700000000001</c:v>
                </c:pt>
                <c:pt idx="185">
                  <c:v>122.33200000000001</c:v>
                </c:pt>
                <c:pt idx="186">
                  <c:v>123.685</c:v>
                </c:pt>
                <c:pt idx="187">
                  <c:v>124.72799999999999</c:v>
                </c:pt>
                <c:pt idx="188">
                  <c:v>125.492</c:v>
                </c:pt>
                <c:pt idx="189">
                  <c:v>126.13500000000001</c:v>
                </c:pt>
                <c:pt idx="190">
                  <c:v>126.64100000000001</c:v>
                </c:pt>
                <c:pt idx="191">
                  <c:v>127.149</c:v>
                </c:pt>
                <c:pt idx="192">
                  <c:v>127.65100000000001</c:v>
                </c:pt>
                <c:pt idx="193">
                  <c:v>128.32599999999999</c:v>
                </c:pt>
                <c:pt idx="194">
                  <c:v>129.30799999999999</c:v>
                </c:pt>
                <c:pt idx="195">
                  <c:v>130.488</c:v>
                </c:pt>
                <c:pt idx="196">
                  <c:v>131.83799999999999</c:v>
                </c:pt>
                <c:pt idx="197">
                  <c:v>133.22399999999999</c:v>
                </c:pt>
                <c:pt idx="198">
                  <c:v>134.64500000000001</c:v>
                </c:pt>
                <c:pt idx="199">
                  <c:v>135.964</c:v>
                </c:pt>
                <c:pt idx="200">
                  <c:v>137.07499999999999</c:v>
                </c:pt>
                <c:pt idx="201">
                  <c:v>137.97499999999999</c:v>
                </c:pt>
                <c:pt idx="202">
                  <c:v>138.76400000000001</c:v>
                </c:pt>
                <c:pt idx="203">
                  <c:v>139.62700000000001</c:v>
                </c:pt>
                <c:pt idx="204">
                  <c:v>140.70600000000002</c:v>
                </c:pt>
                <c:pt idx="205">
                  <c:v>142.029</c:v>
                </c:pt>
                <c:pt idx="206">
                  <c:v>144.08000000000001</c:v>
                </c:pt>
                <c:pt idx="207">
                  <c:v>146.179</c:v>
                </c:pt>
                <c:pt idx="208">
                  <c:v>148.333</c:v>
                </c:pt>
                <c:pt idx="209">
                  <c:v>150.517</c:v>
                </c:pt>
                <c:pt idx="210">
                  <c:v>152.33600000000001</c:v>
                </c:pt>
                <c:pt idx="211">
                  <c:v>153.81299999999999</c:v>
                </c:pt>
                <c:pt idx="212">
                  <c:v>155.107</c:v>
                </c:pt>
                <c:pt idx="213">
                  <c:v>156.298</c:v>
                </c:pt>
                <c:pt idx="214">
                  <c:v>157.49600000000001</c:v>
                </c:pt>
                <c:pt idx="215">
                  <c:v>158.66999999999999</c:v>
                </c:pt>
                <c:pt idx="216">
                  <c:v>160.13</c:v>
                </c:pt>
                <c:pt idx="217">
                  <c:v>161.92400000000001</c:v>
                </c:pt>
                <c:pt idx="218">
                  <c:v>164.57599999999999</c:v>
                </c:pt>
                <c:pt idx="219">
                  <c:v>166.99900000000002</c:v>
                </c:pt>
                <c:pt idx="220">
                  <c:v>169.54400000000001</c:v>
                </c:pt>
                <c:pt idx="221">
                  <c:v>172.01499999999999</c:v>
                </c:pt>
                <c:pt idx="222">
                  <c:v>174.09599999999998</c:v>
                </c:pt>
                <c:pt idx="223">
                  <c:v>175.92099999999999</c:v>
                </c:pt>
                <c:pt idx="224">
                  <c:v>177.60900000000001</c:v>
                </c:pt>
                <c:pt idx="225">
                  <c:v>178.75099999999998</c:v>
                </c:pt>
                <c:pt idx="226">
                  <c:v>179.67400000000001</c:v>
                </c:pt>
                <c:pt idx="227">
                  <c:v>180.107</c:v>
                </c:pt>
                <c:pt idx="228">
                  <c:v>180.827</c:v>
                </c:pt>
                <c:pt idx="229">
                  <c:v>181.49900000000002</c:v>
                </c:pt>
                <c:pt idx="230">
                  <c:v>182.74900000000002</c:v>
                </c:pt>
                <c:pt idx="231">
                  <c:v>183.648</c:v>
                </c:pt>
                <c:pt idx="232">
                  <c:v>184.38</c:v>
                </c:pt>
                <c:pt idx="233">
                  <c:v>184.547</c:v>
                </c:pt>
                <c:pt idx="234">
                  <c:v>184.607</c:v>
                </c:pt>
                <c:pt idx="235">
                  <c:v>184.40400000000002</c:v>
                </c:pt>
                <c:pt idx="236">
                  <c:v>184.19799999999998</c:v>
                </c:pt>
                <c:pt idx="237">
                  <c:v>184.054</c:v>
                </c:pt>
                <c:pt idx="238">
                  <c:v>183.63200000000001</c:v>
                </c:pt>
                <c:pt idx="239">
                  <c:v>183.23</c:v>
                </c:pt>
                <c:pt idx="240">
                  <c:v>182.71799999999999</c:v>
                </c:pt>
                <c:pt idx="241">
                  <c:v>182.47099999999998</c:v>
                </c:pt>
                <c:pt idx="242">
                  <c:v>182.19400000000002</c:v>
                </c:pt>
                <c:pt idx="243">
                  <c:v>182.13099999999997</c:v>
                </c:pt>
                <c:pt idx="244">
                  <c:v>181.88499999999999</c:v>
                </c:pt>
                <c:pt idx="245">
                  <c:v>181.541</c:v>
                </c:pt>
                <c:pt idx="246">
                  <c:v>180.99400000000003</c:v>
                </c:pt>
                <c:pt idx="247">
                  <c:v>180.23599999999999</c:v>
                </c:pt>
                <c:pt idx="248">
                  <c:v>179.12299999999999</c:v>
                </c:pt>
                <c:pt idx="249">
                  <c:v>177.53</c:v>
                </c:pt>
                <c:pt idx="250">
                  <c:v>175.16099999999997</c:v>
                </c:pt>
                <c:pt idx="251">
                  <c:v>173.33799999999999</c:v>
                </c:pt>
                <c:pt idx="252">
                  <c:v>171.07900000000001</c:v>
                </c:pt>
                <c:pt idx="253">
                  <c:v>169.19299999999998</c:v>
                </c:pt>
                <c:pt idx="254">
                  <c:v>167.90599999999998</c:v>
                </c:pt>
                <c:pt idx="255">
                  <c:v>167.32499999999999</c:v>
                </c:pt>
                <c:pt idx="256">
                  <c:v>167.02200000000002</c:v>
                </c:pt>
                <c:pt idx="257">
                  <c:v>166.53799999999998</c:v>
                </c:pt>
                <c:pt idx="258">
                  <c:v>165.71400000000003</c:v>
                </c:pt>
                <c:pt idx="259">
                  <c:v>164.27799999999999</c:v>
                </c:pt>
                <c:pt idx="260">
                  <c:v>161.91299999999998</c:v>
                </c:pt>
                <c:pt idx="261">
                  <c:v>159.16299999999998</c:v>
                </c:pt>
                <c:pt idx="262">
                  <c:v>156.071</c:v>
                </c:pt>
                <c:pt idx="263">
                  <c:v>152.54300000000001</c:v>
                </c:pt>
                <c:pt idx="264">
                  <c:v>149.36000000000001</c:v>
                </c:pt>
                <c:pt idx="265">
                  <c:v>147.61500000000001</c:v>
                </c:pt>
                <c:pt idx="266">
                  <c:v>146.51300000000001</c:v>
                </c:pt>
                <c:pt idx="267">
                  <c:v>146.94200000000001</c:v>
                </c:pt>
                <c:pt idx="268">
                  <c:v>148.16999999999999</c:v>
                </c:pt>
                <c:pt idx="269">
                  <c:v>149.79599999999999</c:v>
                </c:pt>
                <c:pt idx="270">
                  <c:v>150.74700000000001</c:v>
                </c:pt>
                <c:pt idx="271">
                  <c:v>150.66499999999999</c:v>
                </c:pt>
                <c:pt idx="272">
                  <c:v>149.624</c:v>
                </c:pt>
                <c:pt idx="273">
                  <c:v>148.58100000000002</c:v>
                </c:pt>
                <c:pt idx="274">
                  <c:v>147.93600000000001</c:v>
                </c:pt>
                <c:pt idx="275">
                  <c:v>146.66299999999998</c:v>
                </c:pt>
                <c:pt idx="276">
                  <c:v>145.00299999999999</c:v>
                </c:pt>
                <c:pt idx="277">
                  <c:v>143.05500000000001</c:v>
                </c:pt>
                <c:pt idx="278">
                  <c:v>143.59700000000001</c:v>
                </c:pt>
                <c:pt idx="279">
                  <c:v>145.40100000000001</c:v>
                </c:pt>
                <c:pt idx="280">
                  <c:v>147.036</c:v>
                </c:pt>
                <c:pt idx="281">
                  <c:v>147.70099999999999</c:v>
                </c:pt>
                <c:pt idx="282">
                  <c:v>147.56100000000001</c:v>
                </c:pt>
                <c:pt idx="283">
                  <c:v>146.42500000000001</c:v>
                </c:pt>
                <c:pt idx="284">
                  <c:v>144.607</c:v>
                </c:pt>
                <c:pt idx="285">
                  <c:v>143.12899999999999</c:v>
                </c:pt>
                <c:pt idx="286">
                  <c:v>141.822</c:v>
                </c:pt>
                <c:pt idx="287">
                  <c:v>140.63499999999999</c:v>
                </c:pt>
                <c:pt idx="288">
                  <c:v>139.04599999999999</c:v>
                </c:pt>
                <c:pt idx="289">
                  <c:v>137.74200000000002</c:v>
                </c:pt>
                <c:pt idx="290">
                  <c:v>137.79399999999998</c:v>
                </c:pt>
                <c:pt idx="291">
                  <c:v>139.16299999999998</c:v>
                </c:pt>
                <c:pt idx="292">
                  <c:v>140.69499999999999</c:v>
                </c:pt>
                <c:pt idx="293">
                  <c:v>141.947</c:v>
                </c:pt>
                <c:pt idx="294">
                  <c:v>142.34299999999999</c:v>
                </c:pt>
                <c:pt idx="295">
                  <c:v>141.786</c:v>
                </c:pt>
                <c:pt idx="296">
                  <c:v>140.16800000000001</c:v>
                </c:pt>
                <c:pt idx="297">
                  <c:v>138.40899999999999</c:v>
                </c:pt>
                <c:pt idx="298">
                  <c:v>136.66499999999999</c:v>
                </c:pt>
                <c:pt idx="299">
                  <c:v>135.167</c:v>
                </c:pt>
                <c:pt idx="300">
                  <c:v>134.166</c:v>
                </c:pt>
                <c:pt idx="301">
                  <c:v>133.995</c:v>
                </c:pt>
                <c:pt idx="302">
                  <c:v>135.86500000000001</c:v>
                </c:pt>
                <c:pt idx="303">
                  <c:v>138.476</c:v>
                </c:pt>
                <c:pt idx="304">
                  <c:v>141.054</c:v>
                </c:pt>
                <c:pt idx="305">
                  <c:v>143.173</c:v>
                </c:pt>
                <c:pt idx="306">
                  <c:v>144.28200000000001</c:v>
                </c:pt>
                <c:pt idx="307">
                  <c:v>144.70500000000001</c:v>
                </c:pt>
                <c:pt idx="308">
                  <c:v>144.358</c:v>
                </c:pt>
                <c:pt idx="309">
                  <c:v>143.97</c:v>
                </c:pt>
                <c:pt idx="310">
                  <c:v>143.964</c:v>
                </c:pt>
                <c:pt idx="311">
                  <c:v>143.87200000000001</c:v>
                </c:pt>
                <c:pt idx="312">
                  <c:v>144.31399999999999</c:v>
                </c:pt>
                <c:pt idx="313">
                  <c:v>145.16200000000001</c:v>
                </c:pt>
                <c:pt idx="314">
                  <c:v>147.96200000000002</c:v>
                </c:pt>
                <c:pt idx="315">
                  <c:v>150.97299999999998</c:v>
                </c:pt>
                <c:pt idx="316">
                  <c:v>153.86600000000001</c:v>
                </c:pt>
                <c:pt idx="317">
                  <c:v>156.43600000000001</c:v>
                </c:pt>
                <c:pt idx="318">
                  <c:v>158.297</c:v>
                </c:pt>
                <c:pt idx="319">
                  <c:v>159.405</c:v>
                </c:pt>
                <c:pt idx="320">
                  <c:v>159.68200000000002</c:v>
                </c:pt>
                <c:pt idx="321">
                  <c:v>159.56200000000001</c:v>
                </c:pt>
                <c:pt idx="322">
                  <c:v>159.36700000000002</c:v>
                </c:pt>
                <c:pt idx="323">
                  <c:v>159.28399999999999</c:v>
                </c:pt>
                <c:pt idx="324">
                  <c:v>159.375</c:v>
                </c:pt>
                <c:pt idx="325">
                  <c:v>159.881</c:v>
                </c:pt>
                <c:pt idx="326">
                  <c:v>161.19799999999998</c:v>
                </c:pt>
                <c:pt idx="327">
                  <c:v>162.976</c:v>
                </c:pt>
                <c:pt idx="328">
                  <c:v>164.69</c:v>
                </c:pt>
                <c:pt idx="329">
                  <c:v>166.21900000000002</c:v>
                </c:pt>
                <c:pt idx="330">
                  <c:v>167.142</c:v>
                </c:pt>
                <c:pt idx="331">
                  <c:v>167.45699999999999</c:v>
                </c:pt>
                <c:pt idx="332">
                  <c:v>167.24900000000002</c:v>
                </c:pt>
                <c:pt idx="333">
                  <c:v>166.91800000000001</c:v>
                </c:pt>
                <c:pt idx="334">
                  <c:v>166.667</c:v>
                </c:pt>
                <c:pt idx="335">
                  <c:v>166.47200000000001</c:v>
                </c:pt>
                <c:pt idx="336">
                  <c:v>166.26599999999999</c:v>
                </c:pt>
                <c:pt idx="337">
                  <c:v>166.65099999999998</c:v>
                </c:pt>
                <c:pt idx="338">
                  <c:v>168.107</c:v>
                </c:pt>
                <c:pt idx="339">
                  <c:v>169.982</c:v>
                </c:pt>
                <c:pt idx="340">
                  <c:v>171.86</c:v>
                </c:pt>
                <c:pt idx="341">
                  <c:v>173.46</c:v>
                </c:pt>
                <c:pt idx="342">
                  <c:v>174.50599999999997</c:v>
                </c:pt>
                <c:pt idx="343">
                  <c:v>174.95</c:v>
                </c:pt>
                <c:pt idx="344">
                  <c:v>175.06</c:v>
                </c:pt>
                <c:pt idx="345">
                  <c:v>175.06700000000001</c:v>
                </c:pt>
                <c:pt idx="346">
                  <c:v>175.16299999999998</c:v>
                </c:pt>
                <c:pt idx="347">
                  <c:v>175.13900000000001</c:v>
                </c:pt>
                <c:pt idx="348">
                  <c:v>175.05900000000003</c:v>
                </c:pt>
                <c:pt idx="349">
                  <c:v>175.303</c:v>
                </c:pt>
                <c:pt idx="350">
                  <c:v>176.62400000000002</c:v>
                </c:pt>
                <c:pt idx="351">
                  <c:v>178.51599999999999</c:v>
                </c:pt>
                <c:pt idx="352">
                  <c:v>180.363</c:v>
                </c:pt>
                <c:pt idx="353">
                  <c:v>181.935</c:v>
                </c:pt>
                <c:pt idx="354">
                  <c:v>183.03700000000001</c:v>
                </c:pt>
                <c:pt idx="355">
                  <c:v>183.67500000000001</c:v>
                </c:pt>
                <c:pt idx="356">
                  <c:v>183.96599999999998</c:v>
                </c:pt>
                <c:pt idx="357">
                  <c:v>184.04400000000001</c:v>
                </c:pt>
                <c:pt idx="358">
                  <c:v>184.25799999999998</c:v>
                </c:pt>
                <c:pt idx="359">
                  <c:v>184.43</c:v>
                </c:pt>
                <c:pt idx="360">
                  <c:v>184.68299999999999</c:v>
                </c:pt>
                <c:pt idx="361">
                  <c:v>185.04900000000001</c:v>
                </c:pt>
                <c:pt idx="362">
                  <c:v>186.553</c:v>
                </c:pt>
                <c:pt idx="363">
                  <c:v>188.56099999999998</c:v>
                </c:pt>
                <c:pt idx="364">
                  <c:v>190.55900000000003</c:v>
                </c:pt>
                <c:pt idx="365">
                  <c:v>192.29400000000001</c:v>
                </c:pt>
                <c:pt idx="366">
                  <c:v>193.54599999999999</c:v>
                </c:pt>
                <c:pt idx="367">
                  <c:v>194.38499999999999</c:v>
                </c:pt>
                <c:pt idx="368">
                  <c:v>194.857</c:v>
                </c:pt>
                <c:pt idx="369">
                  <c:v>195.12299999999999</c:v>
                </c:pt>
                <c:pt idx="370">
                  <c:v>195.489</c:v>
                </c:pt>
                <c:pt idx="371">
                  <c:v>195.88499999999999</c:v>
                </c:pt>
                <c:pt idx="372">
                  <c:v>196.15299999999999</c:v>
                </c:pt>
                <c:pt idx="373">
                  <c:v>196.94200000000001</c:v>
                </c:pt>
                <c:pt idx="374">
                  <c:v>198.61</c:v>
                </c:pt>
                <c:pt idx="375">
                  <c:v>200.65099999999998</c:v>
                </c:pt>
                <c:pt idx="376">
                  <c:v>202.48699999999999</c:v>
                </c:pt>
                <c:pt idx="377">
                  <c:v>204.07499999999999</c:v>
                </c:pt>
                <c:pt idx="378">
                  <c:v>204.98</c:v>
                </c:pt>
                <c:pt idx="379">
                  <c:v>205.35599999999999</c:v>
                </c:pt>
                <c:pt idx="380">
                  <c:v>205.40599999999998</c:v>
                </c:pt>
                <c:pt idx="381">
                  <c:v>205.40599999999998</c:v>
                </c:pt>
                <c:pt idx="382">
                  <c:v>205.14700000000002</c:v>
                </c:pt>
                <c:pt idx="383">
                  <c:v>204.739</c:v>
                </c:pt>
                <c:pt idx="384">
                  <c:v>204.24599999999998</c:v>
                </c:pt>
                <c:pt idx="385">
                  <c:v>204.476</c:v>
                </c:pt>
                <c:pt idx="386">
                  <c:v>205.82299999999998</c:v>
                </c:pt>
                <c:pt idx="387">
                  <c:v>207.73500000000001</c:v>
                </c:pt>
                <c:pt idx="388">
                  <c:v>209.40099999999998</c:v>
                </c:pt>
                <c:pt idx="389">
                  <c:v>210.64500000000001</c:v>
                </c:pt>
                <c:pt idx="390">
                  <c:v>211.40400000000002</c:v>
                </c:pt>
                <c:pt idx="391">
                  <c:v>211.76499999999999</c:v>
                </c:pt>
                <c:pt idx="392">
                  <c:v>211.94099999999997</c:v>
                </c:pt>
                <c:pt idx="393">
                  <c:v>212.03200000000001</c:v>
                </c:pt>
                <c:pt idx="394">
                  <c:v>212.167</c:v>
                </c:pt>
                <c:pt idx="395">
                  <c:v>212.29400000000001</c:v>
                </c:pt>
                <c:pt idx="396">
                  <c:v>212.45</c:v>
                </c:pt>
                <c:pt idx="397">
                  <c:v>213.26499999999999</c:v>
                </c:pt>
                <c:pt idx="398">
                  <c:v>215.24200000000002</c:v>
                </c:pt>
                <c:pt idx="399">
                  <c:v>217.29599999999999</c:v>
                </c:pt>
                <c:pt idx="400">
                  <c:v>218.55200000000002</c:v>
                </c:pt>
                <c:pt idx="401">
                  <c:v>219.88099999999997</c:v>
                </c:pt>
                <c:pt idx="402">
                  <c:v>221.64400000000001</c:v>
                </c:pt>
                <c:pt idx="403">
                  <c:v>224.12599999999998</c:v>
                </c:pt>
                <c:pt idx="404">
                  <c:v>226.886</c:v>
                </c:pt>
                <c:pt idx="405">
                  <c:v>229.90099999999998</c:v>
                </c:pt>
                <c:pt idx="406">
                  <c:v>232.40799999999999</c:v>
                </c:pt>
                <c:pt idx="407">
                  <c:v>234.46</c:v>
                </c:pt>
                <c:pt idx="408">
                  <c:v>236.44200000000001</c:v>
                </c:pt>
                <c:pt idx="409">
                  <c:v>239.19499999999999</c:v>
                </c:pt>
                <c:pt idx="410">
                  <c:v>244.19400000000002</c:v>
                </c:pt>
                <c:pt idx="411">
                  <c:v>249.88099999999997</c:v>
                </c:pt>
                <c:pt idx="412">
                  <c:v>255.50799999999998</c:v>
                </c:pt>
                <c:pt idx="413">
                  <c:v>261.23900000000003</c:v>
                </c:pt>
                <c:pt idx="414">
                  <c:v>265.57900000000001</c:v>
                </c:pt>
                <c:pt idx="415">
                  <c:v>268.89299999999997</c:v>
                </c:pt>
                <c:pt idx="416">
                  <c:v>271.44</c:v>
                </c:pt>
                <c:pt idx="417">
                  <c:v>273.65300000000002</c:v>
                </c:pt>
                <c:pt idx="418">
                  <c:v>276.12299999999999</c:v>
                </c:pt>
              </c:numCache>
            </c:numRef>
          </c:yVal>
          <c:smooth val="1"/>
          <c:extLst>
            <c:ext xmlns:c16="http://schemas.microsoft.com/office/drawing/2014/chart" uri="{C3380CC4-5D6E-409C-BE32-E72D297353CC}">
              <c16:uniqueId val="{00000000-80D2-4D28-9C1D-6C2DD2C42BD0}"/>
            </c:ext>
          </c:extLst>
        </c:ser>
        <c:dLbls>
          <c:showLegendKey val="0"/>
          <c:showVal val="0"/>
          <c:showCatName val="0"/>
          <c:showSerName val="0"/>
          <c:showPercent val="0"/>
          <c:showBubbleSize val="0"/>
        </c:dLbls>
        <c:axId val="452170000"/>
        <c:axId val="1"/>
      </c:scatterChart>
      <c:valAx>
        <c:axId val="452170000"/>
        <c:scaling>
          <c:orientation val="minMax"/>
          <c:max val="44531"/>
          <c:min val="31778"/>
        </c:scaling>
        <c:delete val="0"/>
        <c:axPos val="b"/>
        <c:numFmt formatCode="mmm\ yy" sourceLinked="0"/>
        <c:majorTickMark val="in"/>
        <c:minorTickMark val="none"/>
        <c:tickLblPos val="nextTo"/>
        <c:spPr>
          <a:noFill/>
          <a:ln w="9525" cap="flat" cmpd="sng" algn="ctr">
            <a:solidFill>
              <a:schemeClr val="tx1">
                <a:lumMod val="25000"/>
                <a:lumOff val="75000"/>
              </a:schemeClr>
            </a:solidFill>
            <a:round/>
          </a:ln>
          <a:effectLst/>
        </c:spPr>
        <c:txPr>
          <a:bodyPr rot="-2820000" vert="horz"/>
          <a:lstStyle/>
          <a:p>
            <a:pPr>
              <a:defRPr sz="900" b="0" i="0" u="none" strike="noStrike" baseline="0">
                <a:solidFill>
                  <a:srgbClr val="333333"/>
                </a:solidFill>
                <a:latin typeface="Calibri"/>
                <a:ea typeface="Calibri"/>
                <a:cs typeface="Calibri"/>
              </a:defRPr>
            </a:pPr>
            <a:endParaRPr lang="en-US"/>
          </a:p>
        </c:txPr>
        <c:crossAx val="1"/>
        <c:crosses val="autoZero"/>
        <c:crossBetween val="midCat"/>
        <c:majorUnit val="1097"/>
      </c:valAx>
      <c:valAx>
        <c:axId val="1"/>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2170000"/>
        <c:crosses val="autoZero"/>
        <c:crossBetween val="midCat"/>
      </c:valAx>
      <c:spPr>
        <a:noFill/>
        <a:ln w="25400">
          <a:noFill/>
        </a:ln>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5"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958850" eaLnBrk="0" hangingPunct="0">
              <a:defRPr sz="1000" i="1">
                <a:latin typeface="Arial"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7"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958850">
              <a:defRPr sz="1000" i="1" smtClean="0"/>
            </a:lvl1pPr>
          </a:lstStyle>
          <a:p>
            <a:pPr>
              <a:defRPr/>
            </a:pPr>
            <a:fld id="{06A41EBB-1B4E-4B68-9BBC-754C34DF3272}" type="slidenum">
              <a:rPr lang="en-US" altLang="en-US"/>
              <a:pPr>
                <a:defRPr/>
              </a:pPr>
              <a:t>‹#›</a:t>
            </a:fld>
            <a:endParaRPr lang="en-US" altLang="en-US"/>
          </a:p>
        </p:txBody>
      </p:sp>
    </p:spTree>
    <p:extLst>
      <p:ext uri="{BB962C8B-B14F-4D97-AF65-F5344CB8AC3E}">
        <p14:creationId xmlns:p14="http://schemas.microsoft.com/office/powerpoint/2010/main" val="2698763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8001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800100">
              <a:defRPr sz="1000" i="1" smtClean="0">
                <a:latin typeface="Times New Roman" panose="02020603050405020304" pitchFamily="18" charset="0"/>
              </a:defRPr>
            </a:lvl1pPr>
          </a:lstStyle>
          <a:p>
            <a:pPr>
              <a:defRPr/>
            </a:pPr>
            <a:fld id="{792F8E24-ABE5-4C43-93D0-8951ADF86E10}"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596" tIns="48298" rIns="96596" bIns="4829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9" name="Rectangle 7"/>
          <p:cNvSpPr>
            <a:spLocks noGrp="1" noRot="1" noChangeAspect="1" noChangeArrowheads="1" noTextEdit="1"/>
          </p:cNvSpPr>
          <p:nvPr>
            <p:ph type="sldImg" idx="2"/>
          </p:nvPr>
        </p:nvSpPr>
        <p:spPr bwMode="auto">
          <a:xfrm>
            <a:off x="1262063" y="722313"/>
            <a:ext cx="4797425" cy="3597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51275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latin typeface="Arial" panose="020B0604020202020204" pitchFamily="34" charset="0"/>
            </a:endParaRPr>
          </a:p>
        </p:txBody>
      </p:sp>
    </p:spTree>
    <p:extLst>
      <p:ext uri="{BB962C8B-B14F-4D97-AF65-F5344CB8AC3E}">
        <p14:creationId xmlns:p14="http://schemas.microsoft.com/office/powerpoint/2010/main" val="3991321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5AEE476-6CE4-43A3-9C08-9763358966A8}" type="slidenum">
              <a:rPr lang="en-US" altLang="en-US" sz="1000">
                <a:latin typeface="Times New Roman" panose="02020603050405020304" pitchFamily="18" charset="0"/>
              </a:rPr>
              <a:pPr>
                <a:spcBef>
                  <a:spcPct val="0"/>
                </a:spcBef>
              </a:pPr>
              <a:t>2</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806243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F8E841-F491-492F-A99B-81E9B095DED8}" type="slidenum">
              <a:rPr lang="en-US" altLang="en-US" sz="1000">
                <a:latin typeface="Times New Roman" panose="02020603050405020304" pitchFamily="18" charset="0"/>
              </a:rPr>
              <a:pPr>
                <a:spcBef>
                  <a:spcPct val="0"/>
                </a:spcBef>
              </a:pPr>
              <a:t>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41818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42B55F-EA8D-463C-9C78-321161A518C7}" type="slidenum">
              <a:rPr lang="en-US" altLang="en-US" sz="1000">
                <a:latin typeface="Times New Roman" panose="02020603050405020304" pitchFamily="18" charset="0"/>
              </a:rPr>
              <a:pPr>
                <a:spcBef>
                  <a:spcPct val="0"/>
                </a:spcBef>
              </a:pPr>
              <a:t>4</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155928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2B0E8F-B996-4407-B766-962271642FCD}" type="slidenum">
              <a:rPr lang="en-US" altLang="en-US" sz="1000">
                <a:latin typeface="Times New Roman" panose="02020603050405020304" pitchFamily="18" charset="0"/>
              </a:rPr>
              <a:pPr>
                <a:spcBef>
                  <a:spcPct val="0"/>
                </a:spcBef>
              </a:pPr>
              <a:t>5</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55819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88C0599-8113-459D-BC5C-BC7F634762D3}" type="slidenum">
              <a:rPr lang="en-US" altLang="en-US" sz="1000">
                <a:latin typeface="Times New Roman" panose="02020603050405020304" pitchFamily="18" charset="0"/>
              </a:rPr>
              <a:pPr>
                <a:spcBef>
                  <a:spcPct val="0"/>
                </a:spcBef>
              </a:pPr>
              <a:t>6</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923368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3FE6D3B-9479-41A0-B01B-F2466974C7EC}" type="slidenum">
              <a:rPr lang="en-US" altLang="en-US" sz="1000">
                <a:latin typeface="Times New Roman" panose="02020603050405020304" pitchFamily="18" charset="0"/>
              </a:rPr>
              <a:pPr>
                <a:spcBef>
                  <a:spcPct val="0"/>
                </a:spcBef>
              </a:pPr>
              <a:t>7</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676924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D7BB0C-1812-4A4B-BD6C-98D6FCD65FDB}" type="slidenum">
              <a:rPr lang="en-US" altLang="en-US" sz="1000">
                <a:latin typeface="Times New Roman" panose="02020603050405020304" pitchFamily="18" charset="0"/>
              </a:rPr>
              <a:pPr>
                <a:spcBef>
                  <a:spcPct val="0"/>
                </a:spcBef>
              </a:pPr>
              <a:t>8</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935157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63C411-95CB-4B9A-A953-09172DACF631}" type="slidenum">
              <a:rPr lang="en-US" altLang="en-US" sz="1000">
                <a:latin typeface="Times New Roman" panose="02020603050405020304" pitchFamily="18" charset="0"/>
              </a:rPr>
              <a:pPr>
                <a:spcBef>
                  <a:spcPct val="0"/>
                </a:spcBef>
              </a:pPr>
              <a:t>9</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351150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007AEFE-92A4-4D78-B370-CB7BAB732520}" type="slidenum">
              <a:rPr lang="en-US" altLang="en-US" sz="1000">
                <a:latin typeface="Times New Roman" panose="02020603050405020304" pitchFamily="18" charset="0"/>
              </a:rPr>
              <a:pPr>
                <a:spcBef>
                  <a:spcPct val="0"/>
                </a:spcBef>
              </a:pPr>
              <a:t>13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283113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defRPr>
                <a:solidFill>
                  <a:schemeClr val="tx1"/>
                </a:solidFill>
                <a:latin typeface="Arial" panose="020B0604020202020204" pitchFamily="34" charset="0"/>
              </a:defRPr>
            </a:lvl1pPr>
            <a:lvl2pPr marL="742950" indent="-285750" defTabSz="800100">
              <a:defRPr>
                <a:solidFill>
                  <a:schemeClr val="tx1"/>
                </a:solidFill>
                <a:latin typeface="Arial" panose="020B0604020202020204" pitchFamily="34" charset="0"/>
              </a:defRPr>
            </a:lvl2pPr>
            <a:lvl3pPr marL="1143000" indent="-228600" defTabSz="800100">
              <a:defRPr>
                <a:solidFill>
                  <a:schemeClr val="tx1"/>
                </a:solidFill>
                <a:latin typeface="Arial" panose="020B0604020202020204" pitchFamily="34" charset="0"/>
              </a:defRPr>
            </a:lvl3pPr>
            <a:lvl4pPr marL="1600200" indent="-228600" defTabSz="800100">
              <a:defRPr>
                <a:solidFill>
                  <a:schemeClr val="tx1"/>
                </a:solidFill>
                <a:latin typeface="Arial" panose="020B0604020202020204" pitchFamily="34" charset="0"/>
              </a:defRPr>
            </a:lvl4pPr>
            <a:lvl5pPr marL="2057400" indent="-228600" defTabSz="800100">
              <a:defRPr>
                <a:solidFill>
                  <a:schemeClr val="tx1"/>
                </a:solidFill>
                <a:latin typeface="Arial" panose="020B0604020202020204" pitchFamily="34" charset="0"/>
              </a:defRPr>
            </a:lvl5pPr>
            <a:lvl6pPr marL="2514600" indent="-228600" defTabSz="800100" eaLnBrk="0" fontAlgn="base" hangingPunct="0">
              <a:spcBef>
                <a:spcPct val="0"/>
              </a:spcBef>
              <a:spcAft>
                <a:spcPct val="0"/>
              </a:spcAft>
              <a:defRPr>
                <a:solidFill>
                  <a:schemeClr val="tx1"/>
                </a:solidFill>
                <a:latin typeface="Arial" panose="020B0604020202020204" pitchFamily="34" charset="0"/>
              </a:defRPr>
            </a:lvl6pPr>
            <a:lvl7pPr marL="2971800" indent="-228600" defTabSz="800100" eaLnBrk="0" fontAlgn="base" hangingPunct="0">
              <a:spcBef>
                <a:spcPct val="0"/>
              </a:spcBef>
              <a:spcAft>
                <a:spcPct val="0"/>
              </a:spcAft>
              <a:defRPr>
                <a:solidFill>
                  <a:schemeClr val="tx1"/>
                </a:solidFill>
                <a:latin typeface="Arial" panose="020B0604020202020204" pitchFamily="34" charset="0"/>
              </a:defRPr>
            </a:lvl7pPr>
            <a:lvl8pPr marL="3429000" indent="-228600" defTabSz="800100" eaLnBrk="0" fontAlgn="base" hangingPunct="0">
              <a:spcBef>
                <a:spcPct val="0"/>
              </a:spcBef>
              <a:spcAft>
                <a:spcPct val="0"/>
              </a:spcAft>
              <a:defRPr>
                <a:solidFill>
                  <a:schemeClr val="tx1"/>
                </a:solidFill>
                <a:latin typeface="Arial" panose="020B0604020202020204" pitchFamily="34" charset="0"/>
              </a:defRPr>
            </a:lvl8pPr>
            <a:lvl9pPr marL="3886200" indent="-228600" defTabSz="800100" eaLnBrk="0" fontAlgn="base" hangingPunct="0">
              <a:spcBef>
                <a:spcPct val="0"/>
              </a:spcBef>
              <a:spcAft>
                <a:spcPct val="0"/>
              </a:spcAft>
              <a:defRPr>
                <a:solidFill>
                  <a:schemeClr val="tx1"/>
                </a:solidFill>
                <a:latin typeface="Arial" panose="020B0604020202020204" pitchFamily="34" charset="0"/>
              </a:defRPr>
            </a:lvl9pPr>
          </a:lstStyle>
          <a:p>
            <a:fld id="{5F780DBF-3DB8-45CA-BFE2-2CC53FDD56B3}"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64957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20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94720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7,  Copyright © John C. Hull 2023</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972288F9-0F79-4696-9B03-856B7AA2F21A}" type="slidenum">
              <a:rPr lang="en-US" altLang="en-US"/>
              <a:pPr>
                <a:defRPr/>
              </a:pPr>
              <a:t>‹#›</a:t>
            </a:fld>
            <a:endParaRPr lang="en-US" altLang="en-US"/>
          </a:p>
        </p:txBody>
      </p:sp>
    </p:spTree>
    <p:extLst>
      <p:ext uri="{BB962C8B-B14F-4D97-AF65-F5344CB8AC3E}">
        <p14:creationId xmlns:p14="http://schemas.microsoft.com/office/powerpoint/2010/main" val="173023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A8D6AD38-7082-488A-855C-ABB3CBFEB694}" type="slidenum">
              <a:rPr lang="en-US" altLang="en-US"/>
              <a:pPr>
                <a:defRPr/>
              </a:pPr>
              <a:t>‹#›</a:t>
            </a:fld>
            <a:endParaRPr lang="en-US" altLang="en-US"/>
          </a:p>
        </p:txBody>
      </p:sp>
    </p:spTree>
    <p:extLst>
      <p:ext uri="{BB962C8B-B14F-4D97-AF65-F5344CB8AC3E}">
        <p14:creationId xmlns:p14="http://schemas.microsoft.com/office/powerpoint/2010/main" val="1542464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3B51C7FD-475B-43AA-8730-4228CC5D68CE}" type="slidenum">
              <a:rPr lang="en-US" altLang="en-US"/>
              <a:pPr>
                <a:defRPr/>
              </a:pPr>
              <a:t>‹#›</a:t>
            </a:fld>
            <a:endParaRPr lang="en-US" altLang="en-US"/>
          </a:p>
        </p:txBody>
      </p:sp>
    </p:spTree>
    <p:extLst>
      <p:ext uri="{BB962C8B-B14F-4D97-AF65-F5344CB8AC3E}">
        <p14:creationId xmlns:p14="http://schemas.microsoft.com/office/powerpoint/2010/main" val="204699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5779A93F-7299-4167-88B9-FFC1E8164EDD}" type="slidenum">
              <a:rPr lang="en-US" altLang="en-US"/>
              <a:pPr>
                <a:defRPr/>
              </a:pPr>
              <a:t>‹#›</a:t>
            </a:fld>
            <a:endParaRPr lang="en-US" altLang="en-US"/>
          </a:p>
        </p:txBody>
      </p:sp>
    </p:spTree>
    <p:extLst>
      <p:ext uri="{BB962C8B-B14F-4D97-AF65-F5344CB8AC3E}">
        <p14:creationId xmlns:p14="http://schemas.microsoft.com/office/powerpoint/2010/main" val="4043620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9" name="Slide Number Placeholder 8"/>
          <p:cNvSpPr>
            <a:spLocks noGrp="1"/>
          </p:cNvSpPr>
          <p:nvPr>
            <p:ph type="sldNum" sz="quarter" idx="12"/>
          </p:nvPr>
        </p:nvSpPr>
        <p:spPr/>
        <p:txBody>
          <a:bodyPr/>
          <a:lstStyle>
            <a:lvl1pPr>
              <a:defRPr smtClean="0"/>
            </a:lvl1pPr>
          </a:lstStyle>
          <a:p>
            <a:pPr>
              <a:defRPr/>
            </a:pPr>
            <a:fld id="{C2CD7A15-C2A8-4BED-8868-324D174EB938}" type="slidenum">
              <a:rPr lang="en-US" altLang="en-US"/>
              <a:pPr>
                <a:defRPr/>
              </a:pPr>
              <a:t>‹#›</a:t>
            </a:fld>
            <a:endParaRPr lang="en-US" altLang="en-US"/>
          </a:p>
        </p:txBody>
      </p:sp>
    </p:spTree>
    <p:extLst>
      <p:ext uri="{BB962C8B-B14F-4D97-AF65-F5344CB8AC3E}">
        <p14:creationId xmlns:p14="http://schemas.microsoft.com/office/powerpoint/2010/main" val="2544853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5" name="Slide Number Placeholder 4"/>
          <p:cNvSpPr>
            <a:spLocks noGrp="1"/>
          </p:cNvSpPr>
          <p:nvPr>
            <p:ph type="sldNum" sz="quarter" idx="12"/>
          </p:nvPr>
        </p:nvSpPr>
        <p:spPr/>
        <p:txBody>
          <a:bodyPr/>
          <a:lstStyle>
            <a:lvl1pPr>
              <a:defRPr smtClean="0"/>
            </a:lvl1pPr>
          </a:lstStyle>
          <a:p>
            <a:pPr>
              <a:defRPr/>
            </a:pPr>
            <a:fld id="{99785BD1-2A77-4F4D-996A-22A54432C9A9}" type="slidenum">
              <a:rPr lang="en-US" altLang="en-US"/>
              <a:pPr>
                <a:defRPr/>
              </a:pPr>
              <a:t>‹#›</a:t>
            </a:fld>
            <a:endParaRPr lang="en-US" altLang="en-US"/>
          </a:p>
        </p:txBody>
      </p:sp>
    </p:spTree>
    <p:extLst>
      <p:ext uri="{BB962C8B-B14F-4D97-AF65-F5344CB8AC3E}">
        <p14:creationId xmlns:p14="http://schemas.microsoft.com/office/powerpoint/2010/main" val="3090387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4" name="Slide Number Placeholder 3"/>
          <p:cNvSpPr>
            <a:spLocks noGrp="1"/>
          </p:cNvSpPr>
          <p:nvPr>
            <p:ph type="sldNum" sz="quarter" idx="12"/>
          </p:nvPr>
        </p:nvSpPr>
        <p:spPr/>
        <p:txBody>
          <a:bodyPr/>
          <a:lstStyle>
            <a:lvl1pPr>
              <a:defRPr smtClean="0"/>
            </a:lvl1pPr>
          </a:lstStyle>
          <a:p>
            <a:pPr>
              <a:defRPr/>
            </a:pPr>
            <a:fld id="{C511C5A8-1D07-4DC9-A097-7251EFF093F8}" type="slidenum">
              <a:rPr lang="en-US" altLang="en-US"/>
              <a:pPr>
                <a:defRPr/>
              </a:pPr>
              <a:t>‹#›</a:t>
            </a:fld>
            <a:endParaRPr lang="en-US" altLang="en-US"/>
          </a:p>
        </p:txBody>
      </p:sp>
    </p:spTree>
    <p:extLst>
      <p:ext uri="{BB962C8B-B14F-4D97-AF65-F5344CB8AC3E}">
        <p14:creationId xmlns:p14="http://schemas.microsoft.com/office/powerpoint/2010/main" val="3081388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CD79BABC-7DE6-4154-AAA3-997FC3F199E6}" type="slidenum">
              <a:rPr lang="en-US" altLang="en-US"/>
              <a:pPr>
                <a:defRPr/>
              </a:pPr>
              <a:t>‹#›</a:t>
            </a:fld>
            <a:endParaRPr lang="en-US" altLang="en-US"/>
          </a:p>
        </p:txBody>
      </p:sp>
    </p:spTree>
    <p:extLst>
      <p:ext uri="{BB962C8B-B14F-4D97-AF65-F5344CB8AC3E}">
        <p14:creationId xmlns:p14="http://schemas.microsoft.com/office/powerpoint/2010/main" val="2391017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9EC65415-8A0D-4A3D-A5B8-BE9CD330C2F1}" type="slidenum">
              <a:rPr lang="en-US" altLang="en-US"/>
              <a:pPr>
                <a:defRPr/>
              </a:pPr>
              <a:t>‹#›</a:t>
            </a:fld>
            <a:endParaRPr lang="en-US" altLang="en-US"/>
          </a:p>
        </p:txBody>
      </p:sp>
    </p:spTree>
    <p:extLst>
      <p:ext uri="{BB962C8B-B14F-4D97-AF65-F5344CB8AC3E}">
        <p14:creationId xmlns:p14="http://schemas.microsoft.com/office/powerpoint/2010/main" val="2488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E0FDC336-BEA0-45DA-AC78-C10F273A3159}" type="slidenum">
              <a:rPr lang="en-US" altLang="en-US"/>
              <a:pPr>
                <a:defRPr/>
              </a:pPr>
              <a:t>‹#›</a:t>
            </a:fld>
            <a:endParaRPr lang="en-US" altLang="en-US"/>
          </a:p>
        </p:txBody>
      </p:sp>
    </p:spTree>
    <p:extLst>
      <p:ext uri="{BB962C8B-B14F-4D97-AF65-F5344CB8AC3E}">
        <p14:creationId xmlns:p14="http://schemas.microsoft.com/office/powerpoint/2010/main" val="3953218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7,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D0FC2280-3D84-4BCB-8405-42A88B0E66E5}" type="slidenum">
              <a:rPr lang="en-US" altLang="en-US"/>
              <a:pPr>
                <a:defRPr/>
              </a:pPr>
              <a:t>‹#›</a:t>
            </a:fld>
            <a:endParaRPr lang="en-US" altLang="en-US"/>
          </a:p>
        </p:txBody>
      </p:sp>
    </p:spTree>
    <p:extLst>
      <p:ext uri="{BB962C8B-B14F-4D97-AF65-F5344CB8AC3E}">
        <p14:creationId xmlns:p14="http://schemas.microsoft.com/office/powerpoint/2010/main" val="3779530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4618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94618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7,  Copyright © John C. Hull 2023</a:t>
            </a:r>
            <a:endParaRPr lang="en-US" altLang="en-US">
              <a:cs typeface="Arial" charset="0"/>
            </a:endParaRPr>
          </a:p>
        </p:txBody>
      </p:sp>
      <p:sp>
        <p:nvSpPr>
          <p:cNvPr id="94618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fld id="{54C7D2F4-40D8-4F9F-B6F5-2EAF8F45556A}"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4"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4"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4"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4"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4"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50"/>
          <p:cNvSpPr>
            <a:spLocks noGrp="1" noChangeArrowheads="1"/>
          </p:cNvSpPr>
          <p:nvPr>
            <p:ph type="ctrTitle"/>
          </p:nvPr>
        </p:nvSpPr>
        <p:spPr/>
        <p:txBody>
          <a:bodyPr/>
          <a:lstStyle/>
          <a:p>
            <a:pPr eaLnBrk="1" hangingPunct="1"/>
            <a:r>
              <a:rPr lang="en-US" altLang="en-US" dirty="0"/>
              <a:t>Securitization and the Global Financial Crisis</a:t>
            </a:r>
          </a:p>
        </p:txBody>
      </p:sp>
      <p:sp>
        <p:nvSpPr>
          <p:cNvPr id="15363" name="Rectangle 2051"/>
          <p:cNvSpPr>
            <a:spLocks noGrp="1" noChangeArrowheads="1"/>
          </p:cNvSpPr>
          <p:nvPr>
            <p:ph type="subTitle" idx="1"/>
          </p:nvPr>
        </p:nvSpPr>
        <p:spPr/>
        <p:txBody>
          <a:bodyPr/>
          <a:lstStyle/>
          <a:p>
            <a:pPr eaLnBrk="1" hangingPunct="1"/>
            <a:r>
              <a:rPr lang="en-US" altLang="en-US" sz="3600" dirty="0"/>
              <a:t>Chapter 7 </a:t>
            </a:r>
          </a:p>
        </p:txBody>
      </p:sp>
      <p:sp>
        <p:nvSpPr>
          <p:cNvPr id="1536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AB7D87D-0B98-4514-B2A1-F8300A8502B2}" type="slidenum">
              <a:rPr lang="en-US" altLang="en-US" sz="1800"/>
              <a:pPr>
                <a:spcBef>
                  <a:spcPct val="0"/>
                </a:spcBef>
                <a:buClrTx/>
                <a:buSzTx/>
                <a:buFontTx/>
                <a:buNone/>
              </a:pPr>
              <a:t>1</a:t>
            </a:fld>
            <a:endParaRPr lang="en-US" altLang="en-US" sz="1800"/>
          </a:p>
        </p:txBody>
      </p:sp>
      <p:sp>
        <p:nvSpPr>
          <p:cNvPr id="1536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dirty="0"/>
              <a:t>Risk Management and Financial Institutions 6e, Chapter 7,  Copyright © John C. Hull 2023</a:t>
            </a:r>
            <a:endParaRPr lang="en-US" altLang="en-US" sz="1400" i="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754063" y="990600"/>
            <a:ext cx="6942137" cy="685800"/>
          </a:xfrm>
        </p:spPr>
        <p:txBody>
          <a:bodyPr/>
          <a:lstStyle/>
          <a:p>
            <a:pPr eaLnBrk="1" hangingPunct="1"/>
            <a:r>
              <a:rPr lang="en-US" altLang="en-US" sz="2800" dirty="0"/>
              <a:t>U.S. Real Estate Prices, 1987 to 2021: </a:t>
            </a:r>
            <a:r>
              <a:rPr lang="en-US" altLang="en-US" sz="2400" dirty="0"/>
              <a:t>S&amp;P/Case-Shiller Composite-10 Index</a:t>
            </a:r>
          </a:p>
        </p:txBody>
      </p:sp>
      <p:sp>
        <p:nvSpPr>
          <p:cNvPr id="1741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C75185F-FA92-405C-93D6-4ADE3F251FA9}" type="slidenum">
              <a:rPr lang="en-US" altLang="en-US" sz="1800"/>
              <a:pPr>
                <a:spcBef>
                  <a:spcPct val="0"/>
                </a:spcBef>
                <a:buClrTx/>
                <a:buSzTx/>
                <a:buFontTx/>
                <a:buNone/>
              </a:pPr>
              <a:t>2</a:t>
            </a:fld>
            <a:endParaRPr lang="en-US" altLang="en-US" sz="1800"/>
          </a:p>
        </p:txBody>
      </p:sp>
      <p:sp>
        <p:nvSpPr>
          <p:cNvPr id="1741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graphicFrame>
        <p:nvGraphicFramePr>
          <p:cNvPr id="2" name="Chart 1">
            <a:extLst>
              <a:ext uri="{FF2B5EF4-FFF2-40B4-BE49-F238E27FC236}">
                <a16:creationId xmlns:a16="http://schemas.microsoft.com/office/drawing/2014/main" id="{7E9B3644-96EA-B32F-F43B-85EFD1651171}"/>
              </a:ext>
            </a:extLst>
          </p:cNvPr>
          <p:cNvGraphicFramePr>
            <a:graphicFrameLocks/>
          </p:cNvGraphicFramePr>
          <p:nvPr>
            <p:extLst>
              <p:ext uri="{D42A27DB-BD31-4B8C-83A1-F6EECF244321}">
                <p14:modId xmlns:p14="http://schemas.microsoft.com/office/powerpoint/2010/main" val="4246876964"/>
              </p:ext>
            </p:extLst>
          </p:nvPr>
        </p:nvGraphicFramePr>
        <p:xfrm>
          <a:off x="1259632" y="2082800"/>
          <a:ext cx="6436568" cy="357844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762000" y="762000"/>
            <a:ext cx="6030913" cy="685800"/>
          </a:xfrm>
        </p:spPr>
        <p:txBody>
          <a:bodyPr/>
          <a:lstStyle/>
          <a:p>
            <a:pPr eaLnBrk="1" hangingPunct="1"/>
            <a:r>
              <a:rPr lang="en-US" altLang="en-US" sz="4000"/>
              <a:t>What happened…</a:t>
            </a:r>
          </a:p>
        </p:txBody>
      </p:sp>
      <p:sp>
        <p:nvSpPr>
          <p:cNvPr id="5123" name="Content Placeholder 2"/>
          <p:cNvSpPr>
            <a:spLocks noGrp="1"/>
          </p:cNvSpPr>
          <p:nvPr>
            <p:ph idx="1"/>
          </p:nvPr>
        </p:nvSpPr>
        <p:spPr>
          <a:xfrm>
            <a:off x="467544" y="1752600"/>
            <a:ext cx="8136903" cy="4481513"/>
          </a:xfrm>
        </p:spPr>
        <p:txBody>
          <a:bodyPr/>
          <a:lstStyle/>
          <a:p>
            <a:pPr marL="457200" indent="-457200" eaLnBrk="1" hangingPunct="1">
              <a:spcAft>
                <a:spcPts val="600"/>
              </a:spcAft>
              <a:defRPr/>
            </a:pPr>
            <a:r>
              <a:rPr lang="en-US" sz="2400" dirty="0"/>
              <a:t>Starting in 2000, mortgage originators in the US relaxed their lending standards and created large numbers of subprime first mortgages. </a:t>
            </a:r>
          </a:p>
          <a:p>
            <a:pPr marL="457200" indent="-457200" eaLnBrk="1" hangingPunct="1">
              <a:spcAft>
                <a:spcPts val="600"/>
              </a:spcAft>
              <a:defRPr/>
            </a:pPr>
            <a:r>
              <a:rPr lang="en-US" sz="2400" dirty="0"/>
              <a:t>This, combined with very low interest rates, increased the demand for real estate and prices rose. </a:t>
            </a:r>
          </a:p>
          <a:p>
            <a:pPr marL="457200" indent="-457200" eaLnBrk="1" hangingPunct="1">
              <a:spcAft>
                <a:spcPts val="600"/>
              </a:spcAft>
              <a:defRPr/>
            </a:pPr>
            <a:r>
              <a:rPr lang="en-US" sz="2400" dirty="0"/>
              <a:t>To continue to attract first time buyers and keep prices increasing they relaxed lending standards further </a:t>
            </a:r>
          </a:p>
          <a:p>
            <a:pPr marL="457200" indent="-457200" eaLnBrk="1" hangingPunct="1">
              <a:spcAft>
                <a:spcPts val="600"/>
              </a:spcAft>
              <a:defRPr/>
            </a:pPr>
            <a:r>
              <a:rPr lang="en-US" sz="2400" dirty="0"/>
              <a:t>Features of the market: 100% mortgages, ARMs, teaser rates, NINJAs, liar loans, non-recourse borrowing</a:t>
            </a:r>
          </a:p>
        </p:txBody>
      </p:sp>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2DB19DE-BE42-4DFA-8791-1FE4DCCFB12B}" type="slidenum">
              <a:rPr lang="en-US" altLang="en-US" sz="1800"/>
              <a:pPr>
                <a:spcBef>
                  <a:spcPct val="0"/>
                </a:spcBef>
                <a:buClrTx/>
                <a:buSzTx/>
                <a:buFontTx/>
                <a:buNone/>
              </a:pPr>
              <a:t>3</a:t>
            </a:fld>
            <a:endParaRPr lang="en-US" altLang="en-US" sz="1800"/>
          </a:p>
        </p:txBody>
      </p:sp>
      <p:sp>
        <p:nvSpPr>
          <p:cNvPr id="19461"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83568" y="623887"/>
            <a:ext cx="6032500" cy="685800"/>
          </a:xfrm>
        </p:spPr>
        <p:txBody>
          <a:bodyPr/>
          <a:lstStyle/>
          <a:p>
            <a:pPr eaLnBrk="1" hangingPunct="1"/>
            <a:r>
              <a:rPr lang="en-US" altLang="en-US" sz="3600" dirty="0"/>
              <a:t>What happened...</a:t>
            </a:r>
          </a:p>
        </p:txBody>
      </p:sp>
      <p:sp>
        <p:nvSpPr>
          <p:cNvPr id="6147" name="Content Placeholder 2"/>
          <p:cNvSpPr>
            <a:spLocks noGrp="1"/>
          </p:cNvSpPr>
          <p:nvPr>
            <p:ph idx="1"/>
          </p:nvPr>
        </p:nvSpPr>
        <p:spPr>
          <a:xfrm>
            <a:off x="286663" y="1556792"/>
            <a:ext cx="8363272" cy="4557713"/>
          </a:xfrm>
        </p:spPr>
        <p:txBody>
          <a:bodyPr/>
          <a:lstStyle/>
          <a:p>
            <a:pPr marL="457200" indent="-457200" eaLnBrk="1" hangingPunct="1">
              <a:spcAft>
                <a:spcPts val="600"/>
              </a:spcAft>
              <a:defRPr/>
            </a:pPr>
            <a:r>
              <a:rPr lang="en-US" sz="2000" dirty="0"/>
              <a:t>Mortgages were packaged in financial products and sold to investors</a:t>
            </a:r>
          </a:p>
          <a:p>
            <a:pPr marL="457200" indent="-457200" eaLnBrk="1" hangingPunct="1">
              <a:spcAft>
                <a:spcPts val="600"/>
              </a:spcAft>
              <a:defRPr/>
            </a:pPr>
            <a:r>
              <a:rPr lang="en-US" sz="2000" dirty="0"/>
              <a:t>Banks found it profitable to invest in the AAA rated tranches because the promised return was significantly higher than the cost of funds and capital requirements were low</a:t>
            </a:r>
          </a:p>
          <a:p>
            <a:pPr marL="457200" indent="-457200" eaLnBrk="1" hangingPunct="1">
              <a:spcAft>
                <a:spcPts val="600"/>
              </a:spcAft>
              <a:defRPr/>
            </a:pPr>
            <a:r>
              <a:rPr lang="en-US" sz="2000" dirty="0"/>
              <a:t>In 2007 the bubble burst. Some borrowers could not afford their payments when the teaser rates ended.  Others had negative equity and recognized that it was optimal for them to exercise their put options.</a:t>
            </a:r>
          </a:p>
          <a:p>
            <a:pPr marL="457200" indent="-457200" eaLnBrk="1" hangingPunct="1">
              <a:spcAft>
                <a:spcPts val="600"/>
              </a:spcAft>
              <a:defRPr/>
            </a:pPr>
            <a:r>
              <a:rPr lang="en-US" sz="2000" dirty="0"/>
              <a:t>U.S. real estate prices fell and products, created from the mortgages, that were previously thought to be safe began to be viewed as risky</a:t>
            </a:r>
          </a:p>
          <a:p>
            <a:pPr marL="457200" indent="-457200" eaLnBrk="1" hangingPunct="1">
              <a:spcAft>
                <a:spcPts val="600"/>
              </a:spcAft>
              <a:defRPr/>
            </a:pPr>
            <a:r>
              <a:rPr lang="en-US" sz="2000" dirty="0"/>
              <a:t>There was a “flight to quality” and credit spreads increased to very high levels</a:t>
            </a:r>
          </a:p>
          <a:p>
            <a:pPr marL="457200" indent="-457200" eaLnBrk="1" hangingPunct="1">
              <a:spcAft>
                <a:spcPts val="600"/>
              </a:spcAft>
              <a:buFont typeface="Wingdings" panose="05000000000000000000" pitchFamily="2" charset="2"/>
              <a:buNone/>
              <a:defRPr/>
            </a:pPr>
            <a:endParaRPr lang="en-US" sz="2000" dirty="0">
              <a:latin typeface="+mj-lt"/>
            </a:endParaRPr>
          </a:p>
          <a:p>
            <a:pPr marL="0" indent="0" eaLnBrk="1" hangingPunct="1">
              <a:spcAft>
                <a:spcPts val="600"/>
              </a:spcAft>
              <a:buFont typeface="Wingdings" panose="05000000000000000000" pitchFamily="2" charset="2"/>
              <a:buNone/>
              <a:defRPr/>
            </a:pPr>
            <a:endParaRPr lang="en-US" sz="2000" dirty="0">
              <a:latin typeface="+mj-lt"/>
            </a:endParaRPr>
          </a:p>
        </p:txBody>
      </p:sp>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03AE624-4367-4E60-AEDD-6833C5A68E1C}" type="slidenum">
              <a:rPr lang="en-US" altLang="en-US" sz="1800"/>
              <a:pPr>
                <a:spcBef>
                  <a:spcPct val="0"/>
                </a:spcBef>
                <a:buClrTx/>
                <a:buSzTx/>
                <a:buFontTx/>
                <a:buNone/>
              </a:pPr>
              <a:t>4</a:t>
            </a:fld>
            <a:endParaRPr lang="en-US" altLang="en-US" sz="1800"/>
          </a:p>
        </p:txBody>
      </p:sp>
      <p:sp>
        <p:nvSpPr>
          <p:cNvPr id="21509"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4"/>
          <p:cNvSpPr>
            <a:spLocks noGrp="1" noChangeArrowheads="1"/>
          </p:cNvSpPr>
          <p:nvPr>
            <p:ph type="title"/>
          </p:nvPr>
        </p:nvSpPr>
        <p:spPr>
          <a:xfrm>
            <a:off x="685800" y="685800"/>
            <a:ext cx="7772400" cy="914400"/>
          </a:xfrm>
        </p:spPr>
        <p:txBody>
          <a:bodyPr/>
          <a:lstStyle/>
          <a:p>
            <a:pPr eaLnBrk="1" hangingPunct="1"/>
            <a:r>
              <a:rPr lang="en-US" altLang="en-US" sz="2800"/>
              <a:t>Asset Backed Security (Simplified) </a:t>
            </a:r>
            <a:br>
              <a:rPr lang="en-US" altLang="en-US" sz="2800"/>
            </a:br>
            <a:r>
              <a:rPr lang="en-US" altLang="en-US" sz="2800"/>
              <a:t> </a:t>
            </a:r>
          </a:p>
        </p:txBody>
      </p:sp>
      <p:sp>
        <p:nvSpPr>
          <p:cNvPr id="23555" name="TextBox 17"/>
          <p:cNvSpPr txBox="1">
            <a:spLocks noChangeArrowheads="1"/>
          </p:cNvSpPr>
          <p:nvPr/>
        </p:nvSpPr>
        <p:spPr bwMode="auto">
          <a:xfrm>
            <a:off x="7086600" y="4648200"/>
            <a:ext cx="1905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400"/>
              <a:t>A  “waterfall” defines the precise rules for allocating cash flows to tranches</a:t>
            </a:r>
          </a:p>
        </p:txBody>
      </p:sp>
      <p:grpSp>
        <p:nvGrpSpPr>
          <p:cNvPr id="23556" name="Group 2"/>
          <p:cNvGrpSpPr>
            <a:grpSpLocks/>
          </p:cNvGrpSpPr>
          <p:nvPr/>
        </p:nvGrpSpPr>
        <p:grpSpPr bwMode="auto">
          <a:xfrm>
            <a:off x="1143000" y="1752600"/>
            <a:ext cx="5562600" cy="4038600"/>
            <a:chOff x="915" y="630"/>
            <a:chExt cx="3960" cy="3114"/>
          </a:xfrm>
        </p:grpSpPr>
        <p:sp>
          <p:nvSpPr>
            <p:cNvPr id="23563" name="Rectangle 3"/>
            <p:cNvSpPr>
              <a:spLocks noChangeArrowheads="1"/>
            </p:cNvSpPr>
            <p:nvPr/>
          </p:nvSpPr>
          <p:spPr bwMode="auto">
            <a:xfrm>
              <a:off x="915" y="738"/>
              <a:ext cx="1200" cy="288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Asset 1</a:t>
              </a:r>
            </a:p>
            <a:p>
              <a:pPr algn="ctr">
                <a:spcBef>
                  <a:spcPct val="0"/>
                </a:spcBef>
                <a:buClrTx/>
                <a:buSzTx/>
                <a:buFontTx/>
                <a:buNone/>
              </a:pPr>
              <a:r>
                <a:rPr lang="en-US" altLang="en-US" sz="1800">
                  <a:latin typeface="Times New Roman" panose="02020603050405020304" pitchFamily="18" charset="0"/>
                </a:rPr>
                <a:t>Asset 2</a:t>
              </a:r>
            </a:p>
            <a:p>
              <a:pPr algn="ctr">
                <a:spcBef>
                  <a:spcPct val="0"/>
                </a:spcBef>
                <a:buClrTx/>
                <a:buSzTx/>
                <a:buFontTx/>
                <a:buNone/>
              </a:pPr>
              <a:r>
                <a:rPr lang="en-US" altLang="en-US" sz="1800">
                  <a:latin typeface="Times New Roman" panose="02020603050405020304" pitchFamily="18" charset="0"/>
                </a:rPr>
                <a:t>Asset 3</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sym typeface="Wingdings 3" panose="05040102010807070707" pitchFamily="18" charset="2"/>
                </a:rPr>
                <a:t></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rPr>
                <a:t>Asset n</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rPr>
                <a:t>Principal:</a:t>
              </a:r>
            </a:p>
            <a:p>
              <a:pPr algn="ctr">
                <a:spcBef>
                  <a:spcPct val="0"/>
                </a:spcBef>
                <a:buClrTx/>
                <a:buSzTx/>
                <a:buFontTx/>
                <a:buNone/>
              </a:pPr>
              <a:r>
                <a:rPr lang="en-US" altLang="en-US" sz="1800">
                  <a:latin typeface="Times New Roman" panose="02020603050405020304" pitchFamily="18" charset="0"/>
                </a:rPr>
                <a:t>$100 million</a:t>
              </a:r>
            </a:p>
          </p:txBody>
        </p:sp>
        <p:sp>
          <p:nvSpPr>
            <p:cNvPr id="23564" name="Rectangle 4"/>
            <p:cNvSpPr>
              <a:spLocks noChangeArrowheads="1"/>
            </p:cNvSpPr>
            <p:nvPr/>
          </p:nvSpPr>
          <p:spPr bwMode="auto">
            <a:xfrm>
              <a:off x="2352" y="1632"/>
              <a:ext cx="774" cy="100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2400">
                  <a:latin typeface="Times New Roman" panose="02020603050405020304" pitchFamily="18" charset="0"/>
                </a:rPr>
                <a:t> </a:t>
              </a:r>
              <a:r>
                <a:rPr lang="en-US" altLang="en-US" sz="2000">
                  <a:latin typeface="Times New Roman" panose="02020603050405020304" pitchFamily="18" charset="0"/>
                </a:rPr>
                <a:t> SPV</a:t>
              </a:r>
            </a:p>
          </p:txBody>
        </p:sp>
        <p:sp>
          <p:nvSpPr>
            <p:cNvPr id="23565" name="Rectangle 5"/>
            <p:cNvSpPr>
              <a:spLocks noChangeArrowheads="1"/>
            </p:cNvSpPr>
            <p:nvPr/>
          </p:nvSpPr>
          <p:spPr bwMode="auto">
            <a:xfrm>
              <a:off x="3384" y="630"/>
              <a:ext cx="1483" cy="919"/>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Senior Tranche</a:t>
              </a:r>
            </a:p>
            <a:p>
              <a:pPr algn="ctr">
                <a:spcBef>
                  <a:spcPct val="0"/>
                </a:spcBef>
                <a:buClrTx/>
                <a:buSzTx/>
                <a:buFontTx/>
                <a:buNone/>
              </a:pPr>
              <a:r>
                <a:rPr lang="en-US" altLang="en-US" sz="1800">
                  <a:latin typeface="Times New Roman" panose="02020603050405020304" pitchFamily="18" charset="0"/>
                </a:rPr>
                <a:t>Principal: $75 million</a:t>
              </a:r>
            </a:p>
            <a:p>
              <a:pPr algn="ctr">
                <a:spcBef>
                  <a:spcPct val="0"/>
                </a:spcBef>
                <a:buClrTx/>
                <a:buSzTx/>
                <a:buFontTx/>
                <a:buNone/>
              </a:pPr>
              <a:r>
                <a:rPr lang="en-US" altLang="en-US" sz="1800">
                  <a:latin typeface="Times New Roman" panose="02020603050405020304" pitchFamily="18" charset="0"/>
                </a:rPr>
                <a:t>Return = 6%</a:t>
              </a:r>
            </a:p>
          </p:txBody>
        </p:sp>
        <p:sp>
          <p:nvSpPr>
            <p:cNvPr id="23566" name="Rectangle 6"/>
            <p:cNvSpPr>
              <a:spLocks noChangeArrowheads="1"/>
            </p:cNvSpPr>
            <p:nvPr/>
          </p:nvSpPr>
          <p:spPr bwMode="auto">
            <a:xfrm>
              <a:off x="3384" y="1657"/>
              <a:ext cx="1483" cy="97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Mezzanine Tranche</a:t>
              </a:r>
            </a:p>
            <a:p>
              <a:pPr algn="ctr">
                <a:spcBef>
                  <a:spcPct val="0"/>
                </a:spcBef>
                <a:buClrTx/>
                <a:buSzTx/>
                <a:buFontTx/>
                <a:buNone/>
              </a:pPr>
              <a:r>
                <a:rPr lang="en-US" altLang="en-US" sz="1800">
                  <a:latin typeface="Times New Roman" panose="02020603050405020304" pitchFamily="18" charset="0"/>
                </a:rPr>
                <a:t>Principal:$20 million</a:t>
              </a:r>
            </a:p>
            <a:p>
              <a:pPr algn="ctr">
                <a:spcBef>
                  <a:spcPct val="0"/>
                </a:spcBef>
                <a:buClrTx/>
                <a:buSzTx/>
                <a:buFontTx/>
                <a:buNone/>
              </a:pPr>
              <a:r>
                <a:rPr lang="en-US" altLang="en-US" sz="1800">
                  <a:latin typeface="Times New Roman" panose="02020603050405020304" pitchFamily="18" charset="0"/>
                </a:rPr>
                <a:t>Return = 10%</a:t>
              </a:r>
            </a:p>
          </p:txBody>
        </p:sp>
        <p:sp>
          <p:nvSpPr>
            <p:cNvPr id="23567" name="Rectangle 8"/>
            <p:cNvSpPr>
              <a:spLocks noChangeArrowheads="1"/>
            </p:cNvSpPr>
            <p:nvPr/>
          </p:nvSpPr>
          <p:spPr bwMode="auto">
            <a:xfrm>
              <a:off x="3384" y="2847"/>
              <a:ext cx="1491" cy="89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CA" altLang="en-US" sz="1800">
                  <a:latin typeface="Times New Roman" panose="02020603050405020304" pitchFamily="18" charset="0"/>
                </a:rPr>
                <a:t>Equity Tranche </a:t>
              </a:r>
            </a:p>
            <a:p>
              <a:pPr algn="ctr">
                <a:spcBef>
                  <a:spcPct val="0"/>
                </a:spcBef>
                <a:buClrTx/>
                <a:buSzTx/>
                <a:buFontTx/>
                <a:buNone/>
              </a:pPr>
              <a:r>
                <a:rPr lang="en-CA" altLang="en-US" sz="1800">
                  <a:latin typeface="Times New Roman" panose="02020603050405020304" pitchFamily="18" charset="0"/>
                </a:rPr>
                <a:t>Principal: $5 million</a:t>
              </a:r>
            </a:p>
            <a:p>
              <a:pPr algn="ctr">
                <a:spcBef>
                  <a:spcPct val="0"/>
                </a:spcBef>
                <a:buClrTx/>
                <a:buSzTx/>
                <a:buFontTx/>
                <a:buNone/>
              </a:pPr>
              <a:r>
                <a:rPr lang="en-CA" altLang="en-US" sz="1800">
                  <a:latin typeface="Times New Roman" panose="02020603050405020304" pitchFamily="18" charset="0"/>
                </a:rPr>
                <a:t>Return =30%</a:t>
              </a:r>
              <a:endParaRPr lang="en-US" altLang="en-US" sz="1800">
                <a:latin typeface="Times New Roman" panose="02020603050405020304" pitchFamily="18" charset="0"/>
              </a:endParaRPr>
            </a:p>
          </p:txBody>
        </p:sp>
        <p:sp>
          <p:nvSpPr>
            <p:cNvPr id="23568" name="Line 9"/>
            <p:cNvSpPr>
              <a:spLocks noChangeShapeType="1"/>
            </p:cNvSpPr>
            <p:nvPr/>
          </p:nvSpPr>
          <p:spPr bwMode="auto">
            <a:xfrm>
              <a:off x="2112" y="216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3557" name="Line 9"/>
          <p:cNvSpPr>
            <a:spLocks noChangeShapeType="1"/>
          </p:cNvSpPr>
          <p:nvPr/>
        </p:nvSpPr>
        <p:spPr bwMode="auto">
          <a:xfrm>
            <a:off x="4267200" y="3733800"/>
            <a:ext cx="355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7174" name="Straight Arrow Connector 30"/>
          <p:cNvCxnSpPr>
            <a:cxnSpLocks noChangeShapeType="1"/>
            <a:endCxn id="23565" idx="1"/>
          </p:cNvCxnSpPr>
          <p:nvPr/>
        </p:nvCxnSpPr>
        <p:spPr bwMode="auto">
          <a:xfrm rot="5400000" flipH="1" flipV="1">
            <a:off x="3891756" y="2723357"/>
            <a:ext cx="1095375" cy="344488"/>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3559" name="Straight Arrow Connector 34"/>
          <p:cNvCxnSpPr>
            <a:cxnSpLocks noChangeShapeType="1"/>
          </p:cNvCxnSpPr>
          <p:nvPr/>
        </p:nvCxnSpPr>
        <p:spPr bwMode="auto">
          <a:xfrm rot="16200000" flipH="1">
            <a:off x="3886200" y="4495800"/>
            <a:ext cx="1066800" cy="304800"/>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60"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1FBD56-1056-43E2-BF45-BE3365E5BA68}" type="slidenum">
              <a:rPr lang="en-US" altLang="en-US" sz="1800"/>
              <a:pPr>
                <a:spcBef>
                  <a:spcPct val="0"/>
                </a:spcBef>
                <a:buClrTx/>
                <a:buSzTx/>
                <a:buFontTx/>
                <a:buNone/>
              </a:pPr>
              <a:t>5</a:t>
            </a:fld>
            <a:endParaRPr lang="en-US" altLang="en-US" sz="1800"/>
          </a:p>
        </p:txBody>
      </p:sp>
      <p:sp>
        <p:nvSpPr>
          <p:cNvPr id="23561" name="Footer Placeholder 1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23562" name="TextBox 1"/>
          <p:cNvSpPr txBox="1">
            <a:spLocks noChangeArrowheads="1"/>
          </p:cNvSpPr>
          <p:nvPr/>
        </p:nvSpPr>
        <p:spPr bwMode="auto">
          <a:xfrm>
            <a:off x="5148263" y="126841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ABS</a:t>
            </a: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36"/>
          <p:cNvSpPr>
            <a:spLocks noGrp="1"/>
          </p:cNvSpPr>
          <p:nvPr>
            <p:ph type="title"/>
          </p:nvPr>
        </p:nvSpPr>
        <p:spPr>
          <a:xfrm>
            <a:off x="228600" y="914400"/>
            <a:ext cx="7772400" cy="1143000"/>
          </a:xfrm>
        </p:spPr>
        <p:txBody>
          <a:bodyPr/>
          <a:lstStyle/>
          <a:p>
            <a:pPr eaLnBrk="1" hangingPunct="1"/>
            <a:r>
              <a:rPr lang="en-US" altLang="en-US"/>
              <a:t>The Waterfall</a:t>
            </a:r>
          </a:p>
        </p:txBody>
      </p:sp>
      <p:sp>
        <p:nvSpPr>
          <p:cNvPr id="25603" name="TextBox 6"/>
          <p:cNvSpPr txBox="1">
            <a:spLocks noChangeArrowheads="1"/>
          </p:cNvSpPr>
          <p:nvPr/>
        </p:nvSpPr>
        <p:spPr bwMode="auto">
          <a:xfrm>
            <a:off x="2438400" y="54864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Equity Tranche</a:t>
            </a:r>
          </a:p>
        </p:txBody>
      </p:sp>
      <p:sp>
        <p:nvSpPr>
          <p:cNvPr id="8" name="Flowchart: Manual Operation 7"/>
          <p:cNvSpPr/>
          <p:nvPr/>
        </p:nvSpPr>
        <p:spPr bwMode="auto">
          <a:xfrm>
            <a:off x="4697413" y="3630613"/>
            <a:ext cx="2119312" cy="1046162"/>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sp>
        <p:nvSpPr>
          <p:cNvPr id="9" name="Flowchart: Manual Operation 8"/>
          <p:cNvSpPr/>
          <p:nvPr/>
        </p:nvSpPr>
        <p:spPr bwMode="auto">
          <a:xfrm>
            <a:off x="6286500" y="4995863"/>
            <a:ext cx="1412875" cy="403225"/>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sp>
        <p:nvSpPr>
          <p:cNvPr id="10" name="Flowchart: Manual Operation 9"/>
          <p:cNvSpPr/>
          <p:nvPr/>
        </p:nvSpPr>
        <p:spPr bwMode="auto">
          <a:xfrm>
            <a:off x="7523163" y="5722938"/>
            <a:ext cx="588962" cy="144462"/>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cxnSp>
        <p:nvCxnSpPr>
          <p:cNvPr id="11" name="Straight Connector 10"/>
          <p:cNvCxnSpPr>
            <a:stCxn id="10" idx="1"/>
          </p:cNvCxnSpPr>
          <p:nvPr/>
        </p:nvCxnSpPr>
        <p:spPr bwMode="auto">
          <a:xfrm rot="10800000">
            <a:off x="7404100" y="5614988"/>
            <a:ext cx="177800" cy="17938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3"/>
          </p:cNvCxnSpPr>
          <p:nvPr/>
        </p:nvCxnSpPr>
        <p:spPr bwMode="auto">
          <a:xfrm flipV="1">
            <a:off x="8053388" y="5614988"/>
            <a:ext cx="176212" cy="179387"/>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25609" name="Freeform 7"/>
          <p:cNvSpPr>
            <a:spLocks/>
          </p:cNvSpPr>
          <p:nvPr/>
        </p:nvSpPr>
        <p:spPr bwMode="auto">
          <a:xfrm>
            <a:off x="6846888" y="3684588"/>
            <a:ext cx="153987" cy="17145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0" name="Freeform 7"/>
          <p:cNvSpPr>
            <a:spLocks/>
          </p:cNvSpPr>
          <p:nvPr/>
        </p:nvSpPr>
        <p:spPr bwMode="auto">
          <a:xfrm>
            <a:off x="6846888" y="4057650"/>
            <a:ext cx="153987" cy="17145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1" name="Freeform 7"/>
          <p:cNvSpPr>
            <a:spLocks/>
          </p:cNvSpPr>
          <p:nvPr/>
        </p:nvSpPr>
        <p:spPr bwMode="auto">
          <a:xfrm>
            <a:off x="6846888" y="4483100"/>
            <a:ext cx="153987" cy="17145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2" name="Freeform 7"/>
          <p:cNvSpPr>
            <a:spLocks/>
          </p:cNvSpPr>
          <p:nvPr/>
        </p:nvSpPr>
        <p:spPr bwMode="auto">
          <a:xfrm>
            <a:off x="7691438" y="5130800"/>
            <a:ext cx="147637" cy="13335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3" name="Freeform 7"/>
          <p:cNvSpPr>
            <a:spLocks/>
          </p:cNvSpPr>
          <p:nvPr/>
        </p:nvSpPr>
        <p:spPr bwMode="auto">
          <a:xfrm flipH="1">
            <a:off x="7691438" y="5399088"/>
            <a:ext cx="147637" cy="13335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4" name="AutoShape 13"/>
          <p:cNvSpPr>
            <a:spLocks noChangeAspect="1" noChangeArrowheads="1" noTextEdit="1"/>
          </p:cNvSpPr>
          <p:nvPr/>
        </p:nvSpPr>
        <p:spPr bwMode="auto">
          <a:xfrm>
            <a:off x="4017963" y="1843088"/>
            <a:ext cx="1830387"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15" name="Freeform 20"/>
          <p:cNvSpPr>
            <a:spLocks/>
          </p:cNvSpPr>
          <p:nvPr/>
        </p:nvSpPr>
        <p:spPr bwMode="auto">
          <a:xfrm>
            <a:off x="5273675" y="3086100"/>
            <a:ext cx="347663" cy="239713"/>
          </a:xfrm>
          <a:custGeom>
            <a:avLst/>
            <a:gdLst>
              <a:gd name="T0" fmla="*/ 0 w 435"/>
              <a:gd name="T1" fmla="*/ 2147483646 h 433"/>
              <a:gd name="T2" fmla="*/ 0 w 435"/>
              <a:gd name="T3" fmla="*/ 2147483646 h 433"/>
              <a:gd name="T4" fmla="*/ 0 w 435"/>
              <a:gd name="T5" fmla="*/ 2147483646 h 433"/>
              <a:gd name="T6" fmla="*/ 0 w 435"/>
              <a:gd name="T7" fmla="*/ 2147483646 h 433"/>
              <a:gd name="T8" fmla="*/ 0 w 435"/>
              <a:gd name="T9" fmla="*/ 2147483646 h 433"/>
              <a:gd name="T10" fmla="*/ 0 w 435"/>
              <a:gd name="T11" fmla="*/ 2147483646 h 433"/>
              <a:gd name="T12" fmla="*/ 0 w 435"/>
              <a:gd name="T13" fmla="*/ 2147483646 h 433"/>
              <a:gd name="T14" fmla="*/ 0 w 435"/>
              <a:gd name="T15" fmla="*/ 2147483646 h 433"/>
              <a:gd name="T16" fmla="*/ 0 w 435"/>
              <a:gd name="T17" fmla="*/ 2147483646 h 433"/>
              <a:gd name="T18" fmla="*/ 0 w 435"/>
              <a:gd name="T19" fmla="*/ 2147483646 h 433"/>
              <a:gd name="T20" fmla="*/ 0 w 435"/>
              <a:gd name="T21" fmla="*/ 2147483646 h 433"/>
              <a:gd name="T22" fmla="*/ 0 w 435"/>
              <a:gd name="T23" fmla="*/ 2147483646 h 433"/>
              <a:gd name="T24" fmla="*/ 0 w 435"/>
              <a:gd name="T25" fmla="*/ 2147483646 h 433"/>
              <a:gd name="T26" fmla="*/ 0 w 435"/>
              <a:gd name="T27" fmla="*/ 2147483646 h 433"/>
              <a:gd name="T28" fmla="*/ 0 w 435"/>
              <a:gd name="T29" fmla="*/ 2147483646 h 433"/>
              <a:gd name="T30" fmla="*/ 0 w 435"/>
              <a:gd name="T31" fmla="*/ 2147483646 h 433"/>
              <a:gd name="T32" fmla="*/ 0 w 435"/>
              <a:gd name="T33" fmla="*/ 2147483646 h 433"/>
              <a:gd name="T34" fmla="*/ 0 w 435"/>
              <a:gd name="T35" fmla="*/ 2147483646 h 433"/>
              <a:gd name="T36" fmla="*/ 0 w 435"/>
              <a:gd name="T37" fmla="*/ 2147483646 h 433"/>
              <a:gd name="T38" fmla="*/ 0 w 435"/>
              <a:gd name="T39" fmla="*/ 2147483646 h 433"/>
              <a:gd name="T40" fmla="*/ 0 w 435"/>
              <a:gd name="T41" fmla="*/ 2147483646 h 433"/>
              <a:gd name="T42" fmla="*/ 0 w 435"/>
              <a:gd name="T43" fmla="*/ 2147483646 h 433"/>
              <a:gd name="T44" fmla="*/ 0 w 435"/>
              <a:gd name="T45" fmla="*/ 2147483646 h 433"/>
              <a:gd name="T46" fmla="*/ 0 w 435"/>
              <a:gd name="T47" fmla="*/ 2147483646 h 433"/>
              <a:gd name="T48" fmla="*/ 0 w 435"/>
              <a:gd name="T49" fmla="*/ 0 h 433"/>
              <a:gd name="T50" fmla="*/ 0 w 435"/>
              <a:gd name="T51" fmla="*/ 0 h 433"/>
              <a:gd name="T52" fmla="*/ 0 w 435"/>
              <a:gd name="T53" fmla="*/ 2147483646 h 433"/>
              <a:gd name="T54" fmla="*/ 0 w 435"/>
              <a:gd name="T55" fmla="*/ 2147483646 h 433"/>
              <a:gd name="T56" fmla="*/ 0 w 435"/>
              <a:gd name="T57" fmla="*/ 2147483646 h 433"/>
              <a:gd name="T58" fmla="*/ 0 w 435"/>
              <a:gd name="T59" fmla="*/ 2147483646 h 433"/>
              <a:gd name="T60" fmla="*/ 0 w 435"/>
              <a:gd name="T61" fmla="*/ 2147483646 h 433"/>
              <a:gd name="T62" fmla="*/ 0 w 435"/>
              <a:gd name="T63" fmla="*/ 2147483646 h 433"/>
              <a:gd name="T64" fmla="*/ 0 w 435"/>
              <a:gd name="T65" fmla="*/ 2147483646 h 433"/>
              <a:gd name="T66" fmla="*/ 0 w 435"/>
              <a:gd name="T67" fmla="*/ 2147483646 h 433"/>
              <a:gd name="T68" fmla="*/ 0 w 435"/>
              <a:gd name="T69" fmla="*/ 2147483646 h 433"/>
              <a:gd name="T70" fmla="*/ 0 w 435"/>
              <a:gd name="T71" fmla="*/ 2147483646 h 433"/>
              <a:gd name="T72" fmla="*/ 0 w 435"/>
              <a:gd name="T73" fmla="*/ 2147483646 h 433"/>
              <a:gd name="T74" fmla="*/ 0 w 435"/>
              <a:gd name="T75" fmla="*/ 2147483646 h 433"/>
              <a:gd name="T76" fmla="*/ 0 w 435"/>
              <a:gd name="T77" fmla="*/ 2147483646 h 433"/>
              <a:gd name="T78" fmla="*/ 0 w 435"/>
              <a:gd name="T79" fmla="*/ 2147483646 h 433"/>
              <a:gd name="T80" fmla="*/ 0 w 435"/>
              <a:gd name="T81" fmla="*/ 2147483646 h 433"/>
              <a:gd name="T82" fmla="*/ 0 w 435"/>
              <a:gd name="T83" fmla="*/ 2147483646 h 433"/>
              <a:gd name="T84" fmla="*/ 0 w 435"/>
              <a:gd name="T85" fmla="*/ 2147483646 h 433"/>
              <a:gd name="T86" fmla="*/ 0 w 435"/>
              <a:gd name="T87" fmla="*/ 2147483646 h 433"/>
              <a:gd name="T88" fmla="*/ 0 w 435"/>
              <a:gd name="T89" fmla="*/ 2147483646 h 433"/>
              <a:gd name="T90" fmla="*/ 0 w 435"/>
              <a:gd name="T91" fmla="*/ 2147483646 h 433"/>
              <a:gd name="T92" fmla="*/ 0 w 435"/>
              <a:gd name="T93" fmla="*/ 2147483646 h 433"/>
              <a:gd name="T94" fmla="*/ 0 w 435"/>
              <a:gd name="T95" fmla="*/ 2147483646 h 433"/>
              <a:gd name="T96" fmla="*/ 0 w 435"/>
              <a:gd name="T97" fmla="*/ 2147483646 h 433"/>
              <a:gd name="T98" fmla="*/ 0 w 435"/>
              <a:gd name="T99" fmla="*/ 2147483646 h 433"/>
              <a:gd name="T100" fmla="*/ 0 w 435"/>
              <a:gd name="T101" fmla="*/ 2147483646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35"/>
              <a:gd name="T154" fmla="*/ 0 h 433"/>
              <a:gd name="T155" fmla="*/ 435 w 435"/>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35" h="433">
                <a:moveTo>
                  <a:pt x="218" y="433"/>
                </a:moveTo>
                <a:lnTo>
                  <a:pt x="223" y="433"/>
                </a:lnTo>
                <a:lnTo>
                  <a:pt x="228" y="433"/>
                </a:lnTo>
                <a:lnTo>
                  <a:pt x="234" y="432"/>
                </a:lnTo>
                <a:lnTo>
                  <a:pt x="239" y="432"/>
                </a:lnTo>
                <a:lnTo>
                  <a:pt x="244" y="431"/>
                </a:lnTo>
                <a:lnTo>
                  <a:pt x="250" y="430"/>
                </a:lnTo>
                <a:lnTo>
                  <a:pt x="255" y="429"/>
                </a:lnTo>
                <a:lnTo>
                  <a:pt x="261" y="429"/>
                </a:lnTo>
                <a:lnTo>
                  <a:pt x="266" y="427"/>
                </a:lnTo>
                <a:lnTo>
                  <a:pt x="270" y="425"/>
                </a:lnTo>
                <a:lnTo>
                  <a:pt x="276" y="424"/>
                </a:lnTo>
                <a:lnTo>
                  <a:pt x="281" y="423"/>
                </a:lnTo>
                <a:lnTo>
                  <a:pt x="286" y="420"/>
                </a:lnTo>
                <a:lnTo>
                  <a:pt x="292" y="419"/>
                </a:lnTo>
                <a:lnTo>
                  <a:pt x="296" y="418"/>
                </a:lnTo>
                <a:lnTo>
                  <a:pt x="301" y="417"/>
                </a:lnTo>
                <a:lnTo>
                  <a:pt x="306" y="413"/>
                </a:lnTo>
                <a:lnTo>
                  <a:pt x="311" y="411"/>
                </a:lnTo>
                <a:lnTo>
                  <a:pt x="315" y="408"/>
                </a:lnTo>
                <a:lnTo>
                  <a:pt x="320" y="406"/>
                </a:lnTo>
                <a:lnTo>
                  <a:pt x="325" y="404"/>
                </a:lnTo>
                <a:lnTo>
                  <a:pt x="329" y="401"/>
                </a:lnTo>
                <a:lnTo>
                  <a:pt x="334" y="398"/>
                </a:lnTo>
                <a:lnTo>
                  <a:pt x="338" y="397"/>
                </a:lnTo>
                <a:lnTo>
                  <a:pt x="343" y="392"/>
                </a:lnTo>
                <a:lnTo>
                  <a:pt x="346" y="389"/>
                </a:lnTo>
                <a:lnTo>
                  <a:pt x="351" y="386"/>
                </a:lnTo>
                <a:lnTo>
                  <a:pt x="354" y="384"/>
                </a:lnTo>
                <a:lnTo>
                  <a:pt x="358" y="380"/>
                </a:lnTo>
                <a:lnTo>
                  <a:pt x="363" y="376"/>
                </a:lnTo>
                <a:lnTo>
                  <a:pt x="366" y="373"/>
                </a:lnTo>
                <a:lnTo>
                  <a:pt x="371" y="369"/>
                </a:lnTo>
                <a:lnTo>
                  <a:pt x="374" y="366"/>
                </a:lnTo>
                <a:lnTo>
                  <a:pt x="378" y="361"/>
                </a:lnTo>
                <a:lnTo>
                  <a:pt x="380" y="358"/>
                </a:lnTo>
                <a:lnTo>
                  <a:pt x="385" y="353"/>
                </a:lnTo>
                <a:lnTo>
                  <a:pt x="388" y="349"/>
                </a:lnTo>
                <a:lnTo>
                  <a:pt x="391" y="346"/>
                </a:lnTo>
                <a:lnTo>
                  <a:pt x="393" y="341"/>
                </a:lnTo>
                <a:lnTo>
                  <a:pt x="397" y="336"/>
                </a:lnTo>
                <a:lnTo>
                  <a:pt x="399" y="333"/>
                </a:lnTo>
                <a:lnTo>
                  <a:pt x="403" y="328"/>
                </a:lnTo>
                <a:lnTo>
                  <a:pt x="405" y="323"/>
                </a:lnTo>
                <a:lnTo>
                  <a:pt x="408" y="318"/>
                </a:lnTo>
                <a:lnTo>
                  <a:pt x="410" y="314"/>
                </a:lnTo>
                <a:lnTo>
                  <a:pt x="412" y="309"/>
                </a:lnTo>
                <a:lnTo>
                  <a:pt x="415" y="304"/>
                </a:lnTo>
                <a:lnTo>
                  <a:pt x="417" y="301"/>
                </a:lnTo>
                <a:lnTo>
                  <a:pt x="419" y="295"/>
                </a:lnTo>
                <a:lnTo>
                  <a:pt x="421" y="290"/>
                </a:lnTo>
                <a:lnTo>
                  <a:pt x="422" y="284"/>
                </a:lnTo>
                <a:lnTo>
                  <a:pt x="424" y="279"/>
                </a:lnTo>
                <a:lnTo>
                  <a:pt x="425" y="275"/>
                </a:lnTo>
                <a:lnTo>
                  <a:pt x="427" y="270"/>
                </a:lnTo>
                <a:lnTo>
                  <a:pt x="428" y="264"/>
                </a:lnTo>
                <a:lnTo>
                  <a:pt x="430" y="259"/>
                </a:lnTo>
                <a:lnTo>
                  <a:pt x="430" y="253"/>
                </a:lnTo>
                <a:lnTo>
                  <a:pt x="431" y="249"/>
                </a:lnTo>
                <a:lnTo>
                  <a:pt x="431" y="243"/>
                </a:lnTo>
                <a:lnTo>
                  <a:pt x="434" y="238"/>
                </a:lnTo>
                <a:lnTo>
                  <a:pt x="434" y="232"/>
                </a:lnTo>
                <a:lnTo>
                  <a:pt x="434" y="226"/>
                </a:lnTo>
                <a:lnTo>
                  <a:pt x="434" y="221"/>
                </a:lnTo>
                <a:lnTo>
                  <a:pt x="435" y="217"/>
                </a:lnTo>
                <a:lnTo>
                  <a:pt x="434" y="211"/>
                </a:lnTo>
                <a:lnTo>
                  <a:pt x="434" y="205"/>
                </a:lnTo>
                <a:lnTo>
                  <a:pt x="434" y="199"/>
                </a:lnTo>
                <a:lnTo>
                  <a:pt x="434" y="194"/>
                </a:lnTo>
                <a:lnTo>
                  <a:pt x="431" y="188"/>
                </a:lnTo>
                <a:lnTo>
                  <a:pt x="431" y="182"/>
                </a:lnTo>
                <a:lnTo>
                  <a:pt x="430" y="176"/>
                </a:lnTo>
                <a:lnTo>
                  <a:pt x="430" y="172"/>
                </a:lnTo>
                <a:lnTo>
                  <a:pt x="428" y="166"/>
                </a:lnTo>
                <a:lnTo>
                  <a:pt x="427" y="161"/>
                </a:lnTo>
                <a:lnTo>
                  <a:pt x="425" y="155"/>
                </a:lnTo>
                <a:lnTo>
                  <a:pt x="424" y="150"/>
                </a:lnTo>
                <a:lnTo>
                  <a:pt x="422" y="146"/>
                </a:lnTo>
                <a:lnTo>
                  <a:pt x="421" y="141"/>
                </a:lnTo>
                <a:lnTo>
                  <a:pt x="419" y="136"/>
                </a:lnTo>
                <a:lnTo>
                  <a:pt x="417" y="131"/>
                </a:lnTo>
                <a:lnTo>
                  <a:pt x="415" y="127"/>
                </a:lnTo>
                <a:lnTo>
                  <a:pt x="412" y="121"/>
                </a:lnTo>
                <a:lnTo>
                  <a:pt x="410" y="116"/>
                </a:lnTo>
                <a:lnTo>
                  <a:pt x="408" y="112"/>
                </a:lnTo>
                <a:lnTo>
                  <a:pt x="405" y="108"/>
                </a:lnTo>
                <a:lnTo>
                  <a:pt x="403" y="103"/>
                </a:lnTo>
                <a:lnTo>
                  <a:pt x="399" y="98"/>
                </a:lnTo>
                <a:lnTo>
                  <a:pt x="397" y="93"/>
                </a:lnTo>
                <a:lnTo>
                  <a:pt x="393" y="90"/>
                </a:lnTo>
                <a:lnTo>
                  <a:pt x="391" y="85"/>
                </a:lnTo>
                <a:lnTo>
                  <a:pt x="388" y="82"/>
                </a:lnTo>
                <a:lnTo>
                  <a:pt x="385" y="77"/>
                </a:lnTo>
                <a:lnTo>
                  <a:pt x="380" y="73"/>
                </a:lnTo>
                <a:lnTo>
                  <a:pt x="378" y="69"/>
                </a:lnTo>
                <a:lnTo>
                  <a:pt x="374" y="65"/>
                </a:lnTo>
                <a:lnTo>
                  <a:pt x="371" y="63"/>
                </a:lnTo>
                <a:lnTo>
                  <a:pt x="366" y="58"/>
                </a:lnTo>
                <a:lnTo>
                  <a:pt x="363" y="54"/>
                </a:lnTo>
                <a:lnTo>
                  <a:pt x="358" y="51"/>
                </a:lnTo>
                <a:lnTo>
                  <a:pt x="354" y="48"/>
                </a:lnTo>
                <a:lnTo>
                  <a:pt x="351" y="45"/>
                </a:lnTo>
                <a:lnTo>
                  <a:pt x="346" y="41"/>
                </a:lnTo>
                <a:lnTo>
                  <a:pt x="343" y="38"/>
                </a:lnTo>
                <a:lnTo>
                  <a:pt x="338" y="35"/>
                </a:lnTo>
                <a:lnTo>
                  <a:pt x="334" y="32"/>
                </a:lnTo>
                <a:lnTo>
                  <a:pt x="329" y="29"/>
                </a:lnTo>
                <a:lnTo>
                  <a:pt x="325" y="26"/>
                </a:lnTo>
                <a:lnTo>
                  <a:pt x="320" y="24"/>
                </a:lnTo>
                <a:lnTo>
                  <a:pt x="315" y="22"/>
                </a:lnTo>
                <a:lnTo>
                  <a:pt x="311" y="20"/>
                </a:lnTo>
                <a:lnTo>
                  <a:pt x="306" y="18"/>
                </a:lnTo>
                <a:lnTo>
                  <a:pt x="301" y="16"/>
                </a:lnTo>
                <a:lnTo>
                  <a:pt x="296" y="14"/>
                </a:lnTo>
                <a:lnTo>
                  <a:pt x="292" y="12"/>
                </a:lnTo>
                <a:lnTo>
                  <a:pt x="286" y="9"/>
                </a:lnTo>
                <a:lnTo>
                  <a:pt x="281" y="8"/>
                </a:lnTo>
                <a:lnTo>
                  <a:pt x="276" y="6"/>
                </a:lnTo>
                <a:lnTo>
                  <a:pt x="270" y="6"/>
                </a:lnTo>
                <a:lnTo>
                  <a:pt x="266" y="3"/>
                </a:lnTo>
                <a:lnTo>
                  <a:pt x="261" y="3"/>
                </a:lnTo>
                <a:lnTo>
                  <a:pt x="255" y="1"/>
                </a:lnTo>
                <a:lnTo>
                  <a:pt x="250" y="1"/>
                </a:lnTo>
                <a:lnTo>
                  <a:pt x="244" y="0"/>
                </a:lnTo>
                <a:lnTo>
                  <a:pt x="239" y="0"/>
                </a:lnTo>
                <a:lnTo>
                  <a:pt x="234" y="0"/>
                </a:lnTo>
                <a:lnTo>
                  <a:pt x="228" y="0"/>
                </a:lnTo>
                <a:lnTo>
                  <a:pt x="223" y="0"/>
                </a:lnTo>
                <a:lnTo>
                  <a:pt x="218" y="0"/>
                </a:lnTo>
                <a:lnTo>
                  <a:pt x="212" y="0"/>
                </a:lnTo>
                <a:lnTo>
                  <a:pt x="206" y="0"/>
                </a:lnTo>
                <a:lnTo>
                  <a:pt x="200" y="0"/>
                </a:lnTo>
                <a:lnTo>
                  <a:pt x="196" y="0"/>
                </a:lnTo>
                <a:lnTo>
                  <a:pt x="190" y="0"/>
                </a:lnTo>
                <a:lnTo>
                  <a:pt x="184" y="1"/>
                </a:lnTo>
                <a:lnTo>
                  <a:pt x="178" y="1"/>
                </a:lnTo>
                <a:lnTo>
                  <a:pt x="173" y="3"/>
                </a:lnTo>
                <a:lnTo>
                  <a:pt x="167" y="3"/>
                </a:lnTo>
                <a:lnTo>
                  <a:pt x="163" y="6"/>
                </a:lnTo>
                <a:lnTo>
                  <a:pt x="157" y="6"/>
                </a:lnTo>
                <a:lnTo>
                  <a:pt x="153" y="8"/>
                </a:lnTo>
                <a:lnTo>
                  <a:pt x="147" y="9"/>
                </a:lnTo>
                <a:lnTo>
                  <a:pt x="142" y="12"/>
                </a:lnTo>
                <a:lnTo>
                  <a:pt x="138" y="14"/>
                </a:lnTo>
                <a:lnTo>
                  <a:pt x="133" y="16"/>
                </a:lnTo>
                <a:lnTo>
                  <a:pt x="128" y="18"/>
                </a:lnTo>
                <a:lnTo>
                  <a:pt x="122" y="20"/>
                </a:lnTo>
                <a:lnTo>
                  <a:pt x="117" y="22"/>
                </a:lnTo>
                <a:lnTo>
                  <a:pt x="114" y="24"/>
                </a:lnTo>
                <a:lnTo>
                  <a:pt x="109" y="26"/>
                </a:lnTo>
                <a:lnTo>
                  <a:pt x="104" y="29"/>
                </a:lnTo>
                <a:lnTo>
                  <a:pt x="100" y="32"/>
                </a:lnTo>
                <a:lnTo>
                  <a:pt x="95" y="35"/>
                </a:lnTo>
                <a:lnTo>
                  <a:pt x="91" y="38"/>
                </a:lnTo>
                <a:lnTo>
                  <a:pt x="87" y="41"/>
                </a:lnTo>
                <a:lnTo>
                  <a:pt x="83" y="45"/>
                </a:lnTo>
                <a:lnTo>
                  <a:pt x="80" y="48"/>
                </a:lnTo>
                <a:lnTo>
                  <a:pt x="75" y="51"/>
                </a:lnTo>
                <a:lnTo>
                  <a:pt x="71" y="54"/>
                </a:lnTo>
                <a:lnTo>
                  <a:pt x="67" y="58"/>
                </a:lnTo>
                <a:lnTo>
                  <a:pt x="64" y="63"/>
                </a:lnTo>
                <a:lnTo>
                  <a:pt x="59" y="65"/>
                </a:lnTo>
                <a:lnTo>
                  <a:pt x="56" y="69"/>
                </a:lnTo>
                <a:lnTo>
                  <a:pt x="52" y="73"/>
                </a:lnTo>
                <a:lnTo>
                  <a:pt x="49" y="77"/>
                </a:lnTo>
                <a:lnTo>
                  <a:pt x="45" y="82"/>
                </a:lnTo>
                <a:lnTo>
                  <a:pt x="43" y="85"/>
                </a:lnTo>
                <a:lnTo>
                  <a:pt x="39" y="90"/>
                </a:lnTo>
                <a:lnTo>
                  <a:pt x="37" y="93"/>
                </a:lnTo>
                <a:lnTo>
                  <a:pt x="33" y="98"/>
                </a:lnTo>
                <a:lnTo>
                  <a:pt x="30" y="103"/>
                </a:lnTo>
                <a:lnTo>
                  <a:pt x="29" y="108"/>
                </a:lnTo>
                <a:lnTo>
                  <a:pt x="26" y="112"/>
                </a:lnTo>
                <a:lnTo>
                  <a:pt x="23" y="116"/>
                </a:lnTo>
                <a:lnTo>
                  <a:pt x="20" y="121"/>
                </a:lnTo>
                <a:lnTo>
                  <a:pt x="18" y="127"/>
                </a:lnTo>
                <a:lnTo>
                  <a:pt x="17" y="131"/>
                </a:lnTo>
                <a:lnTo>
                  <a:pt x="14" y="136"/>
                </a:lnTo>
                <a:lnTo>
                  <a:pt x="12" y="141"/>
                </a:lnTo>
                <a:lnTo>
                  <a:pt x="11" y="146"/>
                </a:lnTo>
                <a:lnTo>
                  <a:pt x="10" y="150"/>
                </a:lnTo>
                <a:lnTo>
                  <a:pt x="7" y="155"/>
                </a:lnTo>
                <a:lnTo>
                  <a:pt x="6" y="161"/>
                </a:lnTo>
                <a:lnTo>
                  <a:pt x="5" y="166"/>
                </a:lnTo>
                <a:lnTo>
                  <a:pt x="4" y="172"/>
                </a:lnTo>
                <a:lnTo>
                  <a:pt x="3" y="176"/>
                </a:lnTo>
                <a:lnTo>
                  <a:pt x="1" y="182"/>
                </a:lnTo>
                <a:lnTo>
                  <a:pt x="1" y="188"/>
                </a:lnTo>
                <a:lnTo>
                  <a:pt x="1" y="194"/>
                </a:lnTo>
                <a:lnTo>
                  <a:pt x="0" y="199"/>
                </a:lnTo>
                <a:lnTo>
                  <a:pt x="0" y="205"/>
                </a:lnTo>
                <a:lnTo>
                  <a:pt x="0" y="211"/>
                </a:lnTo>
                <a:lnTo>
                  <a:pt x="0" y="217"/>
                </a:lnTo>
                <a:lnTo>
                  <a:pt x="0" y="221"/>
                </a:lnTo>
                <a:lnTo>
                  <a:pt x="0" y="226"/>
                </a:lnTo>
                <a:lnTo>
                  <a:pt x="0" y="232"/>
                </a:lnTo>
                <a:lnTo>
                  <a:pt x="1" y="238"/>
                </a:lnTo>
                <a:lnTo>
                  <a:pt x="1" y="243"/>
                </a:lnTo>
                <a:lnTo>
                  <a:pt x="1" y="249"/>
                </a:lnTo>
                <a:lnTo>
                  <a:pt x="3" y="253"/>
                </a:lnTo>
                <a:lnTo>
                  <a:pt x="4" y="259"/>
                </a:lnTo>
                <a:lnTo>
                  <a:pt x="5" y="264"/>
                </a:lnTo>
                <a:lnTo>
                  <a:pt x="6" y="270"/>
                </a:lnTo>
                <a:lnTo>
                  <a:pt x="7" y="275"/>
                </a:lnTo>
                <a:lnTo>
                  <a:pt x="10" y="279"/>
                </a:lnTo>
                <a:lnTo>
                  <a:pt x="11" y="284"/>
                </a:lnTo>
                <a:lnTo>
                  <a:pt x="12" y="290"/>
                </a:lnTo>
                <a:lnTo>
                  <a:pt x="14" y="295"/>
                </a:lnTo>
                <a:lnTo>
                  <a:pt x="17" y="301"/>
                </a:lnTo>
                <a:lnTo>
                  <a:pt x="18" y="304"/>
                </a:lnTo>
                <a:lnTo>
                  <a:pt x="20" y="309"/>
                </a:lnTo>
                <a:lnTo>
                  <a:pt x="23" y="314"/>
                </a:lnTo>
                <a:lnTo>
                  <a:pt x="26" y="318"/>
                </a:lnTo>
                <a:lnTo>
                  <a:pt x="29" y="323"/>
                </a:lnTo>
                <a:lnTo>
                  <a:pt x="30" y="328"/>
                </a:lnTo>
                <a:lnTo>
                  <a:pt x="33" y="333"/>
                </a:lnTo>
                <a:lnTo>
                  <a:pt x="37" y="336"/>
                </a:lnTo>
                <a:lnTo>
                  <a:pt x="39" y="341"/>
                </a:lnTo>
                <a:lnTo>
                  <a:pt x="43" y="346"/>
                </a:lnTo>
                <a:lnTo>
                  <a:pt x="45" y="349"/>
                </a:lnTo>
                <a:lnTo>
                  <a:pt x="49" y="353"/>
                </a:lnTo>
                <a:lnTo>
                  <a:pt x="52" y="358"/>
                </a:lnTo>
                <a:lnTo>
                  <a:pt x="56" y="361"/>
                </a:lnTo>
                <a:lnTo>
                  <a:pt x="59" y="366"/>
                </a:lnTo>
                <a:lnTo>
                  <a:pt x="64" y="369"/>
                </a:lnTo>
                <a:lnTo>
                  <a:pt x="67" y="373"/>
                </a:lnTo>
                <a:lnTo>
                  <a:pt x="71" y="376"/>
                </a:lnTo>
                <a:lnTo>
                  <a:pt x="75" y="380"/>
                </a:lnTo>
                <a:lnTo>
                  <a:pt x="80" y="384"/>
                </a:lnTo>
                <a:lnTo>
                  <a:pt x="83" y="386"/>
                </a:lnTo>
                <a:lnTo>
                  <a:pt x="87" y="389"/>
                </a:lnTo>
                <a:lnTo>
                  <a:pt x="91" y="392"/>
                </a:lnTo>
                <a:lnTo>
                  <a:pt x="95" y="397"/>
                </a:lnTo>
                <a:lnTo>
                  <a:pt x="100" y="398"/>
                </a:lnTo>
                <a:lnTo>
                  <a:pt x="104" y="401"/>
                </a:lnTo>
                <a:lnTo>
                  <a:pt x="109" y="404"/>
                </a:lnTo>
                <a:lnTo>
                  <a:pt x="114" y="406"/>
                </a:lnTo>
                <a:lnTo>
                  <a:pt x="117" y="408"/>
                </a:lnTo>
                <a:lnTo>
                  <a:pt x="122" y="411"/>
                </a:lnTo>
                <a:lnTo>
                  <a:pt x="128" y="413"/>
                </a:lnTo>
                <a:lnTo>
                  <a:pt x="133" y="417"/>
                </a:lnTo>
                <a:lnTo>
                  <a:pt x="138" y="418"/>
                </a:lnTo>
                <a:lnTo>
                  <a:pt x="142" y="419"/>
                </a:lnTo>
                <a:lnTo>
                  <a:pt x="147" y="420"/>
                </a:lnTo>
                <a:lnTo>
                  <a:pt x="153" y="423"/>
                </a:lnTo>
                <a:lnTo>
                  <a:pt x="157" y="424"/>
                </a:lnTo>
                <a:lnTo>
                  <a:pt x="163" y="425"/>
                </a:lnTo>
                <a:lnTo>
                  <a:pt x="167" y="427"/>
                </a:lnTo>
                <a:lnTo>
                  <a:pt x="173" y="429"/>
                </a:lnTo>
                <a:lnTo>
                  <a:pt x="178" y="429"/>
                </a:lnTo>
                <a:lnTo>
                  <a:pt x="184" y="430"/>
                </a:lnTo>
                <a:lnTo>
                  <a:pt x="190" y="431"/>
                </a:lnTo>
                <a:lnTo>
                  <a:pt x="196" y="432"/>
                </a:lnTo>
                <a:lnTo>
                  <a:pt x="200" y="432"/>
                </a:lnTo>
                <a:lnTo>
                  <a:pt x="206" y="433"/>
                </a:lnTo>
                <a:lnTo>
                  <a:pt x="212" y="433"/>
                </a:lnTo>
                <a:lnTo>
                  <a:pt x="218" y="433"/>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6" name="Freeform 21"/>
          <p:cNvSpPr>
            <a:spLocks/>
          </p:cNvSpPr>
          <p:nvPr/>
        </p:nvSpPr>
        <p:spPr bwMode="auto">
          <a:xfrm>
            <a:off x="5313363" y="2967038"/>
            <a:ext cx="276225" cy="166687"/>
          </a:xfrm>
          <a:custGeom>
            <a:avLst/>
            <a:gdLst>
              <a:gd name="T0" fmla="*/ 2147483646 w 346"/>
              <a:gd name="T1" fmla="*/ 0 h 301"/>
              <a:gd name="T2" fmla="*/ 0 w 346"/>
              <a:gd name="T3" fmla="*/ 0 h 301"/>
              <a:gd name="T4" fmla="*/ 2147483646 w 346"/>
              <a:gd name="T5" fmla="*/ 0 h 301"/>
              <a:gd name="T6" fmla="*/ 2147483646 w 346"/>
              <a:gd name="T7" fmla="*/ 0 h 301"/>
              <a:gd name="T8" fmla="*/ 2147483646 w 346"/>
              <a:gd name="T9" fmla="*/ 0 h 301"/>
              <a:gd name="T10" fmla="*/ 0 60000 65536"/>
              <a:gd name="T11" fmla="*/ 0 60000 65536"/>
              <a:gd name="T12" fmla="*/ 0 60000 65536"/>
              <a:gd name="T13" fmla="*/ 0 60000 65536"/>
              <a:gd name="T14" fmla="*/ 0 60000 65536"/>
              <a:gd name="T15" fmla="*/ 0 w 346"/>
              <a:gd name="T16" fmla="*/ 0 h 301"/>
              <a:gd name="T17" fmla="*/ 346 w 346"/>
              <a:gd name="T18" fmla="*/ 301 h 301"/>
            </a:gdLst>
            <a:ahLst/>
            <a:cxnLst>
              <a:cxn ang="T10">
                <a:pos x="T0" y="T1"/>
              </a:cxn>
              <a:cxn ang="T11">
                <a:pos x="T2" y="T3"/>
              </a:cxn>
              <a:cxn ang="T12">
                <a:pos x="T4" y="T5"/>
              </a:cxn>
              <a:cxn ang="T13">
                <a:pos x="T6" y="T7"/>
              </a:cxn>
              <a:cxn ang="T14">
                <a:pos x="T8" y="T9"/>
              </a:cxn>
            </a:cxnLst>
            <a:rect l="T15" t="T16" r="T17" b="T18"/>
            <a:pathLst>
              <a:path w="346" h="301">
                <a:moveTo>
                  <a:pt x="346" y="300"/>
                </a:moveTo>
                <a:lnTo>
                  <a:pt x="0" y="301"/>
                </a:lnTo>
                <a:lnTo>
                  <a:pt x="173" y="0"/>
                </a:lnTo>
                <a:lnTo>
                  <a:pt x="346" y="300"/>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7" name="TextBox 4"/>
          <p:cNvSpPr txBox="1">
            <a:spLocks noChangeArrowheads="1"/>
          </p:cNvSpPr>
          <p:nvPr/>
        </p:nvSpPr>
        <p:spPr bwMode="auto">
          <a:xfrm>
            <a:off x="2362200" y="3924300"/>
            <a:ext cx="1643063"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Senior Tranche</a:t>
            </a:r>
          </a:p>
        </p:txBody>
      </p:sp>
      <p:sp>
        <p:nvSpPr>
          <p:cNvPr id="25618" name="TextBox 5"/>
          <p:cNvSpPr txBox="1">
            <a:spLocks noChangeArrowheads="1"/>
          </p:cNvSpPr>
          <p:nvPr/>
        </p:nvSpPr>
        <p:spPr bwMode="auto">
          <a:xfrm>
            <a:off x="2362200" y="4995863"/>
            <a:ext cx="2738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Mezzanine Tranche</a:t>
            </a:r>
          </a:p>
        </p:txBody>
      </p:sp>
      <p:sp>
        <p:nvSpPr>
          <p:cNvPr id="25619" name="Right Arrow 37"/>
          <p:cNvSpPr>
            <a:spLocks noChangeArrowheads="1"/>
          </p:cNvSpPr>
          <p:nvPr/>
        </p:nvSpPr>
        <p:spPr bwMode="auto">
          <a:xfrm>
            <a:off x="3457575" y="2382838"/>
            <a:ext cx="312738" cy="484187"/>
          </a:xfrm>
          <a:prstGeom prst="rightArrow">
            <a:avLst>
              <a:gd name="adj1" fmla="val 50000"/>
              <a:gd name="adj2" fmla="val 43750"/>
            </a:avLst>
          </a:prstGeom>
          <a:solidFill>
            <a:srgbClr val="92D050"/>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200"/>
          </a:p>
        </p:txBody>
      </p:sp>
      <p:sp>
        <p:nvSpPr>
          <p:cNvPr id="25620" name="TextBox 38"/>
          <p:cNvSpPr txBox="1">
            <a:spLocks noChangeArrowheads="1"/>
          </p:cNvSpPr>
          <p:nvPr/>
        </p:nvSpPr>
        <p:spPr bwMode="auto">
          <a:xfrm>
            <a:off x="2439988" y="2182813"/>
            <a:ext cx="860425"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Asset Cash Flows</a:t>
            </a:r>
          </a:p>
        </p:txBody>
      </p:sp>
      <p:cxnSp>
        <p:nvCxnSpPr>
          <p:cNvPr id="41" name="Straight Connector 40"/>
          <p:cNvCxnSpPr/>
          <p:nvPr/>
        </p:nvCxnSpPr>
        <p:spPr bwMode="auto">
          <a:xfrm rot="5400000" flipH="1" flipV="1">
            <a:off x="4572794" y="3521869"/>
            <a:ext cx="269875" cy="1587"/>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cxnSp>
        <p:nvCxnSpPr>
          <p:cNvPr id="43" name="Straight Connector 42"/>
          <p:cNvCxnSpPr/>
          <p:nvPr/>
        </p:nvCxnSpPr>
        <p:spPr bwMode="auto">
          <a:xfrm rot="5400000" flipH="1" flipV="1">
            <a:off x="6226175" y="4956175"/>
            <a:ext cx="198438" cy="1588"/>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cxnSp>
        <p:nvCxnSpPr>
          <p:cNvPr id="25623" name="Straight Connector 47"/>
          <p:cNvCxnSpPr>
            <a:cxnSpLocks noChangeShapeType="1"/>
          </p:cNvCxnSpPr>
          <p:nvPr/>
        </p:nvCxnSpPr>
        <p:spPr bwMode="auto">
          <a:xfrm rot="16200000" flipH="1">
            <a:off x="4419600" y="396240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4" name="Straight Connector 49"/>
          <p:cNvCxnSpPr>
            <a:cxnSpLocks noChangeShapeType="1"/>
          </p:cNvCxnSpPr>
          <p:nvPr/>
        </p:nvCxnSpPr>
        <p:spPr bwMode="auto">
          <a:xfrm>
            <a:off x="5105400" y="4648200"/>
            <a:ext cx="12954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5" name="Straight Connector 51"/>
          <p:cNvCxnSpPr>
            <a:cxnSpLocks noChangeShapeType="1"/>
          </p:cNvCxnSpPr>
          <p:nvPr/>
        </p:nvCxnSpPr>
        <p:spPr bwMode="auto">
          <a:xfrm rot="5400000" flipH="1" flipV="1">
            <a:off x="6096000" y="396240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6" name="Straight Connector 53"/>
          <p:cNvCxnSpPr>
            <a:cxnSpLocks noChangeShapeType="1"/>
          </p:cNvCxnSpPr>
          <p:nvPr/>
        </p:nvCxnSpPr>
        <p:spPr bwMode="auto">
          <a:xfrm rot="16200000" flipH="1">
            <a:off x="6286500" y="5067300"/>
            <a:ext cx="381000" cy="3048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7" name="Straight Connector 55"/>
          <p:cNvCxnSpPr>
            <a:cxnSpLocks noChangeShapeType="1"/>
          </p:cNvCxnSpPr>
          <p:nvPr/>
        </p:nvCxnSpPr>
        <p:spPr bwMode="auto">
          <a:xfrm>
            <a:off x="6629400" y="5410200"/>
            <a:ext cx="7620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8" name="Straight Connector 59"/>
          <p:cNvCxnSpPr>
            <a:cxnSpLocks noChangeShapeType="1"/>
          </p:cNvCxnSpPr>
          <p:nvPr/>
        </p:nvCxnSpPr>
        <p:spPr bwMode="auto">
          <a:xfrm rot="5400000" flipH="1" flipV="1">
            <a:off x="7315200" y="5105400"/>
            <a:ext cx="381000" cy="2286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29" name="Straight Connector 61"/>
          <p:cNvCxnSpPr>
            <a:cxnSpLocks noChangeShapeType="1"/>
          </p:cNvCxnSpPr>
          <p:nvPr/>
        </p:nvCxnSpPr>
        <p:spPr bwMode="auto">
          <a:xfrm rot="16200000" flipH="1">
            <a:off x="7467600" y="5638800"/>
            <a:ext cx="228600" cy="2286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30" name="Straight Connector 63"/>
          <p:cNvCxnSpPr>
            <a:cxnSpLocks noChangeShapeType="1"/>
          </p:cNvCxnSpPr>
          <p:nvPr/>
        </p:nvCxnSpPr>
        <p:spPr bwMode="auto">
          <a:xfrm>
            <a:off x="7696200" y="5867400"/>
            <a:ext cx="3048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5631" name="Straight Connector 65"/>
          <p:cNvCxnSpPr>
            <a:cxnSpLocks noChangeShapeType="1"/>
          </p:cNvCxnSpPr>
          <p:nvPr/>
        </p:nvCxnSpPr>
        <p:spPr bwMode="auto">
          <a:xfrm rot="5400000" flipH="1" flipV="1">
            <a:off x="7962900" y="5676900"/>
            <a:ext cx="228600" cy="1524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sp>
        <p:nvSpPr>
          <p:cNvPr id="25632" name="Slide Number Placeholder 5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767F096-941D-4844-9A58-2474F7D61310}" type="slidenum">
              <a:rPr lang="en-US" altLang="en-US" sz="1800"/>
              <a:pPr>
                <a:spcBef>
                  <a:spcPct val="0"/>
                </a:spcBef>
                <a:buClrTx/>
                <a:buSzTx/>
                <a:buFontTx/>
                <a:buNone/>
              </a:pPr>
              <a:t>6</a:t>
            </a:fld>
            <a:endParaRPr lang="en-US" altLang="en-US" sz="1800"/>
          </a:p>
        </p:txBody>
      </p:sp>
      <p:sp>
        <p:nvSpPr>
          <p:cNvPr id="25633" name="Footer Placeholder 5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25634" name="Can 2"/>
          <p:cNvSpPr>
            <a:spLocks noChangeArrowheads="1"/>
          </p:cNvSpPr>
          <p:nvPr/>
        </p:nvSpPr>
        <p:spPr bwMode="auto">
          <a:xfrm rot="5400000">
            <a:off x="4453732" y="1915318"/>
            <a:ext cx="425450" cy="1477963"/>
          </a:xfrm>
          <a:prstGeom prst="can">
            <a:avLst>
              <a:gd name="adj" fmla="val 25041"/>
            </a:avLst>
          </a:prstGeom>
          <a:solidFill>
            <a:schemeClr val="accent1"/>
          </a:solidFill>
          <a:ln w="12700" algn="ctr">
            <a:solidFill>
              <a:schemeClr val="tx1"/>
            </a:solidFill>
            <a:round/>
            <a:headEnd type="none" w="sm" len="sm"/>
            <a:tailEnd type="none" w="sm" len="sm"/>
          </a:ln>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914400" y="685800"/>
            <a:ext cx="7086600" cy="990600"/>
          </a:xfrm>
        </p:spPr>
        <p:txBody>
          <a:bodyPr/>
          <a:lstStyle/>
          <a:p>
            <a:pPr eaLnBrk="1" hangingPunct="1">
              <a:lnSpc>
                <a:spcPts val="3300"/>
              </a:lnSpc>
            </a:pPr>
            <a:r>
              <a:rPr lang="en-US" altLang="en-US" sz="2800"/>
              <a:t>ABS CDOs or Mezz CDOs</a:t>
            </a:r>
            <a:r>
              <a:rPr lang="en-US" altLang="en-US" sz="3600"/>
              <a:t> </a:t>
            </a:r>
            <a:r>
              <a:rPr lang="en-US" altLang="en-US" sz="2800"/>
              <a:t>(Simplified)</a:t>
            </a:r>
          </a:p>
        </p:txBody>
      </p:sp>
      <p:grpSp>
        <p:nvGrpSpPr>
          <p:cNvPr id="27651" name="Group 20"/>
          <p:cNvGrpSpPr>
            <a:grpSpLocks/>
          </p:cNvGrpSpPr>
          <p:nvPr/>
        </p:nvGrpSpPr>
        <p:grpSpPr bwMode="auto">
          <a:xfrm>
            <a:off x="381000" y="2362200"/>
            <a:ext cx="8078788" cy="3465513"/>
            <a:chOff x="381000" y="2362200"/>
            <a:chExt cx="8078695" cy="3465732"/>
          </a:xfrm>
        </p:grpSpPr>
        <p:sp>
          <p:nvSpPr>
            <p:cNvPr id="27656" name="Rectangle 3"/>
            <p:cNvSpPr>
              <a:spLocks noChangeArrowheads="1"/>
            </p:cNvSpPr>
            <p:nvPr/>
          </p:nvSpPr>
          <p:spPr bwMode="auto">
            <a:xfrm>
              <a:off x="381000" y="2362200"/>
              <a:ext cx="1609725" cy="277813"/>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Subprime Mortgages</a:t>
              </a:r>
            </a:p>
          </p:txBody>
        </p:sp>
        <p:sp>
          <p:nvSpPr>
            <p:cNvPr id="27657" name="Rectangle 4"/>
            <p:cNvSpPr>
              <a:spLocks noChangeArrowheads="1"/>
            </p:cNvSpPr>
            <p:nvPr/>
          </p:nvSpPr>
          <p:spPr bwMode="auto">
            <a:xfrm>
              <a:off x="2743199" y="2362200"/>
              <a:ext cx="2019300" cy="462307"/>
            </a:xfrm>
            <a:prstGeom prst="rect">
              <a:avLst/>
            </a:prstGeom>
            <a:solidFill>
              <a:schemeClr val="bg1"/>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Senior Tranches (75%)</a:t>
              </a:r>
            </a:p>
            <a:p>
              <a:pPr algn="ctr" eaLnBrk="1" hangingPunct="1">
                <a:spcBef>
                  <a:spcPct val="0"/>
                </a:spcBef>
                <a:buClrTx/>
                <a:buSzTx/>
                <a:buFontTx/>
                <a:buNone/>
              </a:pPr>
              <a:r>
                <a:rPr lang="en-US" altLang="en-US" sz="1200"/>
                <a:t>AAA</a:t>
              </a:r>
            </a:p>
          </p:txBody>
        </p:sp>
        <p:sp>
          <p:nvSpPr>
            <p:cNvPr id="27658" name="Rectangle 5"/>
            <p:cNvSpPr>
              <a:spLocks noChangeArrowheads="1"/>
            </p:cNvSpPr>
            <p:nvPr/>
          </p:nvSpPr>
          <p:spPr bwMode="auto">
            <a:xfrm>
              <a:off x="2704722" y="3200400"/>
              <a:ext cx="2096255" cy="462332"/>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Mezzanine Tranches  (20%)</a:t>
              </a:r>
            </a:p>
            <a:p>
              <a:pPr algn="ctr" eaLnBrk="1" hangingPunct="1">
                <a:spcBef>
                  <a:spcPct val="0"/>
                </a:spcBef>
                <a:buClrTx/>
                <a:buSzTx/>
                <a:buFontTx/>
                <a:buNone/>
              </a:pPr>
              <a:r>
                <a:rPr lang="en-US" altLang="en-US" sz="1200"/>
                <a:t>BBB</a:t>
              </a:r>
            </a:p>
          </p:txBody>
        </p:sp>
        <p:sp>
          <p:nvSpPr>
            <p:cNvPr id="27659" name="Rectangle 6"/>
            <p:cNvSpPr>
              <a:spLocks noChangeArrowheads="1"/>
            </p:cNvSpPr>
            <p:nvPr/>
          </p:nvSpPr>
          <p:spPr bwMode="auto">
            <a:xfrm>
              <a:off x="2743200" y="4114800"/>
              <a:ext cx="2019299" cy="462307"/>
            </a:xfrm>
            <a:prstGeom prst="rect">
              <a:avLst/>
            </a:prstGeom>
            <a:solidFill>
              <a:schemeClr val="bg1"/>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Equity Tranches (5%)</a:t>
              </a:r>
            </a:p>
            <a:p>
              <a:pPr algn="ctr" eaLnBrk="1" hangingPunct="1">
                <a:spcBef>
                  <a:spcPct val="0"/>
                </a:spcBef>
                <a:buClrTx/>
                <a:buSzTx/>
                <a:buFontTx/>
                <a:buNone/>
              </a:pPr>
              <a:r>
                <a:rPr lang="en-US" altLang="en-US" sz="1200"/>
                <a:t>Not Rated</a:t>
              </a:r>
            </a:p>
          </p:txBody>
        </p:sp>
        <p:sp>
          <p:nvSpPr>
            <p:cNvPr id="27660" name="Rectangle 7"/>
            <p:cNvSpPr>
              <a:spLocks noChangeArrowheads="1"/>
            </p:cNvSpPr>
            <p:nvPr/>
          </p:nvSpPr>
          <p:spPr bwMode="auto">
            <a:xfrm>
              <a:off x="6781800" y="2971800"/>
              <a:ext cx="1677895" cy="462307"/>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Senior Tranche (75%)</a:t>
              </a:r>
            </a:p>
            <a:p>
              <a:pPr algn="ctr" eaLnBrk="1" hangingPunct="1">
                <a:spcBef>
                  <a:spcPct val="0"/>
                </a:spcBef>
                <a:buClrTx/>
                <a:buSzTx/>
                <a:buFontTx/>
                <a:buNone/>
              </a:pPr>
              <a:r>
                <a:rPr lang="en-US" altLang="en-US" sz="1200"/>
                <a:t>AAA</a:t>
              </a:r>
            </a:p>
          </p:txBody>
        </p:sp>
        <p:sp>
          <p:nvSpPr>
            <p:cNvPr id="27661" name="Rectangle 8"/>
            <p:cNvSpPr>
              <a:spLocks noChangeArrowheads="1"/>
            </p:cNvSpPr>
            <p:nvPr/>
          </p:nvSpPr>
          <p:spPr bwMode="auto">
            <a:xfrm>
              <a:off x="6781800" y="3657600"/>
              <a:ext cx="1600200" cy="461963"/>
            </a:xfrm>
            <a:prstGeom prst="rect">
              <a:avLst/>
            </a:prstGeom>
            <a:solidFill>
              <a:schemeClr val="bg1"/>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Mezzanine Tranche (20%) BBB</a:t>
              </a:r>
            </a:p>
          </p:txBody>
        </p:sp>
        <p:sp>
          <p:nvSpPr>
            <p:cNvPr id="27662" name="Rectangle 9"/>
            <p:cNvSpPr>
              <a:spLocks noChangeArrowheads="1"/>
            </p:cNvSpPr>
            <p:nvPr/>
          </p:nvSpPr>
          <p:spPr bwMode="auto">
            <a:xfrm>
              <a:off x="6781800" y="4572000"/>
              <a:ext cx="1576907" cy="277641"/>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Equity Tranche (5%)</a:t>
              </a:r>
            </a:p>
          </p:txBody>
        </p:sp>
        <p:cxnSp>
          <p:nvCxnSpPr>
            <p:cNvPr id="27663" name="Straight Arrow Connector 11"/>
            <p:cNvCxnSpPr>
              <a:cxnSpLocks noChangeShapeType="1"/>
              <a:stCxn id="27656" idx="3"/>
            </p:cNvCxnSpPr>
            <p:nvPr/>
          </p:nvCxnSpPr>
          <p:spPr bwMode="auto">
            <a:xfrm flipV="1">
              <a:off x="1990725" y="2438400"/>
              <a:ext cx="752475" cy="61913"/>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7664" name="Straight Arrow Connector 13"/>
            <p:cNvCxnSpPr>
              <a:cxnSpLocks noChangeShapeType="1"/>
              <a:stCxn id="27656" idx="3"/>
              <a:endCxn id="27658" idx="1"/>
            </p:cNvCxnSpPr>
            <p:nvPr/>
          </p:nvCxnSpPr>
          <p:spPr bwMode="auto">
            <a:xfrm>
              <a:off x="1990725" y="2501106"/>
              <a:ext cx="713997" cy="930460"/>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7665" name="Straight Arrow Connector 15"/>
            <p:cNvCxnSpPr>
              <a:cxnSpLocks noChangeShapeType="1"/>
              <a:stCxn id="27656" idx="3"/>
              <a:endCxn id="27659" idx="1"/>
            </p:cNvCxnSpPr>
            <p:nvPr/>
          </p:nvCxnSpPr>
          <p:spPr bwMode="auto">
            <a:xfrm>
              <a:off x="1990725" y="2501106"/>
              <a:ext cx="752474" cy="1844847"/>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7666" name="Straight Arrow Connector 17"/>
            <p:cNvCxnSpPr>
              <a:cxnSpLocks noChangeShapeType="1"/>
              <a:stCxn id="27658" idx="3"/>
              <a:endCxn id="27660" idx="1"/>
            </p:cNvCxnSpPr>
            <p:nvPr/>
          </p:nvCxnSpPr>
          <p:spPr bwMode="auto">
            <a:xfrm flipV="1">
              <a:off x="4800977" y="3202953"/>
              <a:ext cx="1980823" cy="228613"/>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7667" name="Straight Arrow Connector 19"/>
            <p:cNvCxnSpPr>
              <a:cxnSpLocks noChangeShapeType="1"/>
              <a:stCxn id="27658" idx="3"/>
              <a:endCxn id="27661" idx="1"/>
            </p:cNvCxnSpPr>
            <p:nvPr/>
          </p:nvCxnSpPr>
          <p:spPr bwMode="auto">
            <a:xfrm>
              <a:off x="4800977" y="3431566"/>
              <a:ext cx="1980823" cy="457015"/>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7668" name="Straight Arrow Connector 21"/>
            <p:cNvCxnSpPr>
              <a:cxnSpLocks noChangeShapeType="1"/>
              <a:stCxn id="27658" idx="3"/>
              <a:endCxn id="27662" idx="1"/>
            </p:cNvCxnSpPr>
            <p:nvPr/>
          </p:nvCxnSpPr>
          <p:spPr bwMode="auto">
            <a:xfrm>
              <a:off x="4800977" y="3431566"/>
              <a:ext cx="1980823" cy="1279254"/>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9232" name="TextBox 22"/>
            <p:cNvSpPr txBox="1">
              <a:spLocks noChangeArrowheads="1"/>
            </p:cNvSpPr>
            <p:nvPr/>
          </p:nvSpPr>
          <p:spPr bwMode="auto">
            <a:xfrm>
              <a:off x="1523987" y="5181778"/>
              <a:ext cx="5257739" cy="646154"/>
            </a:xfrm>
            <a:prstGeom prst="rect">
              <a:avLst/>
            </a:prstGeom>
            <a:noFill/>
            <a:ln w="9525">
              <a:noFill/>
              <a:miter lim="800000"/>
              <a:headEnd/>
              <a:tailEnd/>
            </a:ln>
          </p:spPr>
          <p:txBody>
            <a:bodyPr>
              <a:spAutoFit/>
            </a:bodyPr>
            <a:lstStyle/>
            <a:p>
              <a:pPr algn="ctr" eaLnBrk="1" hangingPunct="1">
                <a:defRPr/>
              </a:pPr>
              <a:r>
                <a:rPr lang="en-US" dirty="0">
                  <a:latin typeface="+mj-lt"/>
                </a:rPr>
                <a:t>How much of the original portfolio of subprime mortgages is AAA?</a:t>
              </a:r>
            </a:p>
          </p:txBody>
        </p:sp>
      </p:grpSp>
      <p:sp>
        <p:nvSpPr>
          <p:cNvPr id="27652" name="Slide Number Placeholder 2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578FBCC-0D19-4C8F-A08F-DBFDA7C0E34F}" type="slidenum">
              <a:rPr lang="en-US" altLang="en-US" sz="1800"/>
              <a:pPr>
                <a:spcBef>
                  <a:spcPct val="0"/>
                </a:spcBef>
                <a:buClrTx/>
                <a:buSzTx/>
                <a:buFontTx/>
                <a:buNone/>
              </a:pPr>
              <a:t>7</a:t>
            </a:fld>
            <a:endParaRPr lang="en-US" altLang="en-US" sz="1800"/>
          </a:p>
        </p:txBody>
      </p:sp>
      <p:sp>
        <p:nvSpPr>
          <p:cNvPr id="27653" name="Footer Placeholder 2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27654" name="TextBox 1"/>
          <p:cNvSpPr txBox="1">
            <a:spLocks noChangeArrowheads="1"/>
          </p:cNvSpPr>
          <p:nvPr/>
        </p:nvSpPr>
        <p:spPr bwMode="auto">
          <a:xfrm>
            <a:off x="2987675" y="1989138"/>
            <a:ext cx="1008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    ABSs</a:t>
            </a:r>
            <a:endParaRPr lang="en-US" altLang="en-US" sz="1800"/>
          </a:p>
        </p:txBody>
      </p:sp>
      <p:sp>
        <p:nvSpPr>
          <p:cNvPr id="27655" name="TextBox 3"/>
          <p:cNvSpPr txBox="1">
            <a:spLocks noChangeArrowheads="1"/>
          </p:cNvSpPr>
          <p:nvPr/>
        </p:nvSpPr>
        <p:spPr bwMode="auto">
          <a:xfrm>
            <a:off x="6781800" y="2500313"/>
            <a:ext cx="1390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  ABS CDO</a:t>
            </a: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54063" y="500063"/>
            <a:ext cx="6180137" cy="928687"/>
          </a:xfrm>
        </p:spPr>
        <p:txBody>
          <a:bodyPr/>
          <a:lstStyle/>
          <a:p>
            <a:pPr eaLnBrk="1" hangingPunct="1"/>
            <a:r>
              <a:rPr lang="en-US" altLang="en-US" sz="3600" dirty="0"/>
              <a:t>Losses to AAA Tranche of ABS CDO </a:t>
            </a:r>
            <a:r>
              <a:rPr lang="en-US" altLang="en-US" sz="2400" dirty="0"/>
              <a:t>(Table 7.1)</a:t>
            </a:r>
          </a:p>
        </p:txBody>
      </p:sp>
      <p:graphicFrame>
        <p:nvGraphicFramePr>
          <p:cNvPr id="3" name="Table 2"/>
          <p:cNvGraphicFramePr>
            <a:graphicFrameLocks noGrp="1"/>
          </p:cNvGraphicFramePr>
          <p:nvPr/>
        </p:nvGraphicFramePr>
        <p:xfrm>
          <a:off x="838200" y="2286000"/>
          <a:ext cx="7543800" cy="2946399"/>
        </p:xfrm>
        <a:graphic>
          <a:graphicData uri="http://schemas.openxmlformats.org/drawingml/2006/table">
            <a:tbl>
              <a:tblPr firstRow="1" bandRow="1">
                <a:tableStyleId>{5940675A-B579-460E-94D1-54222C63F5DA}</a:tableStyleId>
              </a:tblPr>
              <a:tblGrid>
                <a:gridCol w="1457325">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74057">
                  <a:extLst>
                    <a:ext uri="{9D8B030D-6E8A-4147-A177-3AD203B41FA5}">
                      <a16:colId xmlns:a16="http://schemas.microsoft.com/office/drawing/2014/main" val="20002"/>
                    </a:ext>
                  </a:extLst>
                </a:gridCol>
                <a:gridCol w="1524811">
                  <a:extLst>
                    <a:ext uri="{9D8B030D-6E8A-4147-A177-3AD203B41FA5}">
                      <a16:colId xmlns:a16="http://schemas.microsoft.com/office/drawing/2014/main" val="20003"/>
                    </a:ext>
                  </a:extLst>
                </a:gridCol>
                <a:gridCol w="1444557">
                  <a:extLst>
                    <a:ext uri="{9D8B030D-6E8A-4147-A177-3AD203B41FA5}">
                      <a16:colId xmlns:a16="http://schemas.microsoft.com/office/drawing/2014/main" val="20004"/>
                    </a:ext>
                  </a:extLst>
                </a:gridCol>
              </a:tblGrid>
              <a:tr h="1218951">
                <a:tc>
                  <a:txBody>
                    <a:bodyPr/>
                    <a:lstStyle/>
                    <a:p>
                      <a:r>
                        <a:rPr lang="en-US" sz="1800" dirty="0"/>
                        <a:t>Losses on</a:t>
                      </a:r>
                      <a:r>
                        <a:rPr lang="en-US" sz="1800" baseline="0" dirty="0"/>
                        <a:t> </a:t>
                      </a:r>
                      <a:r>
                        <a:rPr lang="en-US" sz="1800" dirty="0"/>
                        <a:t>Subprime portfolios</a:t>
                      </a:r>
                      <a:endParaRPr lang="en-US" sz="1800" b="0" dirty="0">
                        <a:latin typeface="Arial" pitchFamily="34" charset="0"/>
                        <a:cs typeface="Arial" pitchFamily="34" charset="0"/>
                      </a:endParaRPr>
                    </a:p>
                  </a:txBody>
                  <a:tcPr marT="45711" marB="45711"/>
                </a:tc>
                <a:tc>
                  <a:txBody>
                    <a:bodyPr/>
                    <a:lstStyle/>
                    <a:p>
                      <a:r>
                        <a:rPr lang="en-US" sz="1800" dirty="0"/>
                        <a:t>Losses on Mezzanine Tranche of ABS</a:t>
                      </a:r>
                      <a:endParaRPr lang="en-US" sz="1800" b="0" dirty="0">
                        <a:latin typeface="Arial" pitchFamily="34" charset="0"/>
                        <a:cs typeface="Arial" pitchFamily="34" charset="0"/>
                      </a:endParaRPr>
                    </a:p>
                  </a:txBody>
                  <a:tcPr marT="45711" marB="45711"/>
                </a:tc>
                <a:tc>
                  <a:txBody>
                    <a:bodyPr/>
                    <a:lstStyle/>
                    <a:p>
                      <a:r>
                        <a:rPr lang="en-US" sz="1800" dirty="0"/>
                        <a:t>Losses on Equity Tranche of ABS CDO</a:t>
                      </a:r>
                      <a:endParaRPr lang="en-US" sz="1800" b="0" dirty="0">
                        <a:latin typeface="Arial" pitchFamily="34" charset="0"/>
                        <a:cs typeface="Arial" pitchFamily="34" charset="0"/>
                      </a:endParaRPr>
                    </a:p>
                  </a:txBody>
                  <a:tcPr marT="45711" marB="45711"/>
                </a:tc>
                <a:tc>
                  <a:txBody>
                    <a:bodyPr/>
                    <a:lstStyle/>
                    <a:p>
                      <a:r>
                        <a:rPr lang="en-US" sz="1800" dirty="0"/>
                        <a:t>Losses on Mezzanine Tranche of ABS CDO</a:t>
                      </a:r>
                      <a:endParaRPr lang="en-US" sz="1800" b="0" dirty="0">
                        <a:latin typeface="Arial" pitchFamily="34" charset="0"/>
                        <a:cs typeface="Arial" pitchFamily="34" charset="0"/>
                      </a:endParaRPr>
                    </a:p>
                  </a:txBody>
                  <a:tcPr marT="45711" marB="45711"/>
                </a:tc>
                <a:tc>
                  <a:txBody>
                    <a:bodyPr/>
                    <a:lstStyle/>
                    <a:p>
                      <a:r>
                        <a:rPr lang="en-US" sz="1800" dirty="0"/>
                        <a:t>Losses on Senior</a:t>
                      </a:r>
                      <a:r>
                        <a:rPr lang="en-US" sz="1800" baseline="0" dirty="0"/>
                        <a:t> Tranche of ABS CDO</a:t>
                      </a:r>
                      <a:endParaRPr lang="en-US" sz="1800" b="0" dirty="0">
                        <a:latin typeface="Arial" pitchFamily="34" charset="0"/>
                        <a:cs typeface="Arial" pitchFamily="34" charset="0"/>
                      </a:endParaRPr>
                    </a:p>
                  </a:txBody>
                  <a:tcPr marT="45711" marB="45711"/>
                </a:tc>
                <a:extLst>
                  <a:ext uri="{0D108BD9-81ED-4DB2-BD59-A6C34878D82A}">
                    <a16:rowId xmlns:a16="http://schemas.microsoft.com/office/drawing/2014/main" val="10000"/>
                  </a:ext>
                </a:extLst>
              </a:tr>
              <a:tr h="431862">
                <a:tc>
                  <a:txBody>
                    <a:bodyPr/>
                    <a:lstStyle/>
                    <a:p>
                      <a:pPr algn="ctr"/>
                      <a:r>
                        <a:rPr lang="en-CA" sz="1800" dirty="0"/>
                        <a:t>10%</a:t>
                      </a:r>
                      <a:endParaRPr lang="en-US" sz="1800" dirty="0">
                        <a:latin typeface="+mj-lt"/>
                      </a:endParaRPr>
                    </a:p>
                  </a:txBody>
                  <a:tcPr marT="45711" marB="45711"/>
                </a:tc>
                <a:tc>
                  <a:txBody>
                    <a:bodyPr/>
                    <a:lstStyle/>
                    <a:p>
                      <a:pPr algn="ctr"/>
                      <a:r>
                        <a:rPr lang="en-CA" sz="1800" dirty="0"/>
                        <a:t>25%</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tc>
                  <a:txBody>
                    <a:bodyPr/>
                    <a:lstStyle/>
                    <a:p>
                      <a:pPr algn="ctr"/>
                      <a:r>
                        <a:rPr lang="en-CA" sz="1800" dirty="0"/>
                        <a:t>0%</a:t>
                      </a:r>
                      <a:endParaRPr lang="en-US" sz="1800" dirty="0">
                        <a:latin typeface="+mj-lt"/>
                      </a:endParaRPr>
                    </a:p>
                  </a:txBody>
                  <a:tcPr marT="45711" marB="45711"/>
                </a:tc>
                <a:extLst>
                  <a:ext uri="{0D108BD9-81ED-4DB2-BD59-A6C34878D82A}">
                    <a16:rowId xmlns:a16="http://schemas.microsoft.com/office/drawing/2014/main" val="10001"/>
                  </a:ext>
                </a:extLst>
              </a:tr>
              <a:tr h="431862">
                <a:tc>
                  <a:txBody>
                    <a:bodyPr/>
                    <a:lstStyle/>
                    <a:p>
                      <a:pPr algn="ctr"/>
                      <a:r>
                        <a:rPr lang="en-US" sz="1800" dirty="0"/>
                        <a:t>15%</a:t>
                      </a:r>
                      <a:endParaRPr lang="en-US" sz="1800" dirty="0">
                        <a:latin typeface="+mj-lt"/>
                      </a:endParaRPr>
                    </a:p>
                  </a:txBody>
                  <a:tcPr marT="45711" marB="45711"/>
                </a:tc>
                <a:tc>
                  <a:txBody>
                    <a:bodyPr/>
                    <a:lstStyle/>
                    <a:p>
                      <a:pPr algn="ctr"/>
                      <a:r>
                        <a:rPr lang="en-US" sz="1800" dirty="0"/>
                        <a:t>50%</a:t>
                      </a:r>
                      <a:endParaRPr lang="en-US" sz="1800" dirty="0">
                        <a:latin typeface="+mj-lt"/>
                      </a:endParaRPr>
                    </a:p>
                  </a:txBody>
                  <a:tcPr marT="45711" marB="45711"/>
                </a:tc>
                <a:tc>
                  <a:txBody>
                    <a:bodyPr/>
                    <a:lstStyle/>
                    <a:p>
                      <a:pPr algn="ctr"/>
                      <a:r>
                        <a:rPr lang="en-US" sz="1800" dirty="0"/>
                        <a:t>100%</a:t>
                      </a:r>
                      <a:endParaRPr lang="en-US" sz="1800" dirty="0">
                        <a:latin typeface="+mj-lt"/>
                      </a:endParaRPr>
                    </a:p>
                  </a:txBody>
                  <a:tcPr marT="45711" marB="45711"/>
                </a:tc>
                <a:tc>
                  <a:txBody>
                    <a:bodyPr/>
                    <a:lstStyle/>
                    <a:p>
                      <a:pPr algn="ctr"/>
                      <a:r>
                        <a:rPr lang="en-US" sz="1800" dirty="0"/>
                        <a:t>100%</a:t>
                      </a:r>
                      <a:endParaRPr lang="en-US" sz="1800" dirty="0">
                        <a:latin typeface="+mj-lt"/>
                      </a:endParaRPr>
                    </a:p>
                  </a:txBody>
                  <a:tcPr marT="45711" marB="45711"/>
                </a:tc>
                <a:tc>
                  <a:txBody>
                    <a:bodyPr/>
                    <a:lstStyle/>
                    <a:p>
                      <a:pPr algn="ctr"/>
                      <a:r>
                        <a:rPr lang="en-US" sz="1800" dirty="0"/>
                        <a:t>33.3%</a:t>
                      </a:r>
                      <a:endParaRPr lang="en-US" sz="1800" dirty="0">
                        <a:latin typeface="+mj-lt"/>
                      </a:endParaRPr>
                    </a:p>
                  </a:txBody>
                  <a:tcPr marT="45711" marB="45711"/>
                </a:tc>
                <a:extLst>
                  <a:ext uri="{0D108BD9-81ED-4DB2-BD59-A6C34878D82A}">
                    <a16:rowId xmlns:a16="http://schemas.microsoft.com/office/drawing/2014/main" val="10002"/>
                  </a:ext>
                </a:extLst>
              </a:tr>
              <a:tr h="431862">
                <a:tc>
                  <a:txBody>
                    <a:bodyPr/>
                    <a:lstStyle/>
                    <a:p>
                      <a:pPr algn="ctr"/>
                      <a:r>
                        <a:rPr lang="en-US" sz="1800" dirty="0"/>
                        <a:t>20%</a:t>
                      </a:r>
                      <a:endParaRPr lang="en-US" sz="1800" dirty="0">
                        <a:latin typeface="+mj-lt"/>
                      </a:endParaRPr>
                    </a:p>
                  </a:txBody>
                  <a:tcPr marT="45711" marB="45711"/>
                </a:tc>
                <a:tc>
                  <a:txBody>
                    <a:bodyPr/>
                    <a:lstStyle/>
                    <a:p>
                      <a:pPr algn="ctr"/>
                      <a:r>
                        <a:rPr lang="en-US" sz="1800" dirty="0"/>
                        <a:t>75%</a:t>
                      </a:r>
                      <a:endParaRPr lang="en-US" sz="1800" dirty="0">
                        <a:latin typeface="+mj-lt"/>
                      </a:endParaRPr>
                    </a:p>
                  </a:txBody>
                  <a:tcPr marT="45711" marB="45711"/>
                </a:tc>
                <a:tc>
                  <a:txBody>
                    <a:bodyPr/>
                    <a:lstStyle/>
                    <a:p>
                      <a:pPr algn="ctr"/>
                      <a:r>
                        <a:rPr lang="en-US" sz="1800" dirty="0"/>
                        <a:t>100%</a:t>
                      </a:r>
                      <a:endParaRPr lang="en-US" sz="1800" dirty="0">
                        <a:latin typeface="+mj-lt"/>
                      </a:endParaRPr>
                    </a:p>
                  </a:txBody>
                  <a:tcPr marT="45711" marB="45711"/>
                </a:tc>
                <a:tc>
                  <a:txBody>
                    <a:bodyPr/>
                    <a:lstStyle/>
                    <a:p>
                      <a:pPr algn="ctr"/>
                      <a:r>
                        <a:rPr lang="en-US" sz="1800" dirty="0"/>
                        <a:t>100%</a:t>
                      </a:r>
                      <a:endParaRPr lang="en-US" sz="1800" dirty="0">
                        <a:latin typeface="+mj-lt"/>
                      </a:endParaRPr>
                    </a:p>
                  </a:txBody>
                  <a:tcPr marT="45711" marB="45711"/>
                </a:tc>
                <a:tc>
                  <a:txBody>
                    <a:bodyPr/>
                    <a:lstStyle/>
                    <a:p>
                      <a:pPr algn="ctr"/>
                      <a:r>
                        <a:rPr lang="en-US" sz="1800" dirty="0"/>
                        <a:t>66.7%</a:t>
                      </a:r>
                      <a:endParaRPr lang="en-US" sz="1800" dirty="0">
                        <a:latin typeface="+mj-lt"/>
                      </a:endParaRPr>
                    </a:p>
                  </a:txBody>
                  <a:tcPr marT="45711" marB="45711"/>
                </a:tc>
                <a:extLst>
                  <a:ext uri="{0D108BD9-81ED-4DB2-BD59-A6C34878D82A}">
                    <a16:rowId xmlns:a16="http://schemas.microsoft.com/office/drawing/2014/main" val="10003"/>
                  </a:ext>
                </a:extLst>
              </a:tr>
              <a:tr h="431862">
                <a:tc>
                  <a:txBody>
                    <a:bodyPr/>
                    <a:lstStyle/>
                    <a:p>
                      <a:pPr algn="ctr"/>
                      <a:r>
                        <a:rPr lang="en-CA" sz="1800" dirty="0"/>
                        <a:t>25%</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tc>
                  <a:txBody>
                    <a:bodyPr/>
                    <a:lstStyle/>
                    <a:p>
                      <a:pPr algn="ctr"/>
                      <a:r>
                        <a:rPr lang="en-CA" sz="1800" dirty="0"/>
                        <a:t>100%</a:t>
                      </a:r>
                      <a:endParaRPr lang="en-US" sz="1800" dirty="0">
                        <a:latin typeface="+mj-lt"/>
                      </a:endParaRPr>
                    </a:p>
                  </a:txBody>
                  <a:tcPr marT="45711" marB="45711"/>
                </a:tc>
                <a:extLst>
                  <a:ext uri="{0D108BD9-81ED-4DB2-BD59-A6C34878D82A}">
                    <a16:rowId xmlns:a16="http://schemas.microsoft.com/office/drawing/2014/main" val="10004"/>
                  </a:ext>
                </a:extLst>
              </a:tr>
            </a:tbl>
          </a:graphicData>
        </a:graphic>
      </p:graphicFrame>
      <p:sp>
        <p:nvSpPr>
          <p:cNvPr id="297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E9813BC-ED85-4760-A70A-B8AD1C0F782F}" type="slidenum">
              <a:rPr lang="en-US" altLang="en-US" sz="1800"/>
              <a:pPr>
                <a:spcBef>
                  <a:spcPct val="0"/>
                </a:spcBef>
                <a:buClrTx/>
                <a:buSzTx/>
                <a:buFontTx/>
                <a:buNone/>
              </a:pPr>
              <a:t>8</a:t>
            </a:fld>
            <a:endParaRPr lang="en-US" altLang="en-US" sz="1800"/>
          </a:p>
        </p:txBody>
      </p:sp>
      <p:sp>
        <p:nvSpPr>
          <p:cNvPr id="2973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5"/>
          <p:cNvSpPr>
            <a:spLocks noGrp="1"/>
          </p:cNvSpPr>
          <p:nvPr>
            <p:ph type="title"/>
          </p:nvPr>
        </p:nvSpPr>
        <p:spPr/>
        <p:txBody>
          <a:bodyPr/>
          <a:lstStyle/>
          <a:p>
            <a:pPr eaLnBrk="1" hangingPunct="1"/>
            <a:r>
              <a:rPr lang="en-CA" altLang="en-US" dirty="0"/>
              <a:t>A More Realistic Structure </a:t>
            </a:r>
            <a:br>
              <a:rPr lang="en-CA" altLang="en-US" dirty="0"/>
            </a:br>
            <a:r>
              <a:rPr lang="en-CA" altLang="en-US" sz="2400" dirty="0"/>
              <a:t>(Figure 7.5)</a:t>
            </a:r>
            <a:endParaRPr lang="en-US" altLang="en-US" sz="2400" dirty="0"/>
          </a:p>
        </p:txBody>
      </p:sp>
      <p:grpSp>
        <p:nvGrpSpPr>
          <p:cNvPr id="31747" name="Group 178"/>
          <p:cNvGrpSpPr>
            <a:grpSpLocks/>
          </p:cNvGrpSpPr>
          <p:nvPr/>
        </p:nvGrpSpPr>
        <p:grpSpPr bwMode="auto">
          <a:xfrm>
            <a:off x="407988" y="1811338"/>
            <a:ext cx="7627937" cy="4440237"/>
            <a:chOff x="297084" y="123000"/>
            <a:chExt cx="8222076" cy="6152398"/>
          </a:xfrm>
        </p:grpSpPr>
        <p:sp>
          <p:nvSpPr>
            <p:cNvPr id="180" name="Rectangle 179"/>
            <p:cNvSpPr/>
            <p:nvPr/>
          </p:nvSpPr>
          <p:spPr>
            <a:xfrm>
              <a:off x="297084" y="3429061"/>
              <a:ext cx="1303896" cy="4575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b="1" dirty="0">
                  <a:solidFill>
                    <a:schemeClr val="tx1"/>
                  </a:solidFill>
                </a:rPr>
                <a:t>Subprime Mortgages</a:t>
              </a:r>
              <a:endParaRPr lang="en-US" sz="1000" b="1" dirty="0">
                <a:solidFill>
                  <a:schemeClr val="tx1"/>
                </a:solidFill>
              </a:endParaRPr>
            </a:p>
          </p:txBody>
        </p:sp>
        <p:grpSp>
          <p:nvGrpSpPr>
            <p:cNvPr id="31751" name="Group 12"/>
            <p:cNvGrpSpPr>
              <a:grpSpLocks/>
            </p:cNvGrpSpPr>
            <p:nvPr/>
          </p:nvGrpSpPr>
          <p:grpSpPr bwMode="auto">
            <a:xfrm>
              <a:off x="2286000" y="2743200"/>
              <a:ext cx="914400" cy="1828800"/>
              <a:chOff x="2286000" y="2743200"/>
              <a:chExt cx="914400" cy="1828800"/>
            </a:xfrm>
          </p:grpSpPr>
          <p:sp>
            <p:nvSpPr>
              <p:cNvPr id="260" name="Rectangle 6"/>
              <p:cNvSpPr/>
              <p:nvPr/>
            </p:nvSpPr>
            <p:spPr>
              <a:xfrm>
                <a:off x="2285441" y="2742773"/>
                <a:ext cx="915465"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AAA</a:t>
                </a:r>
                <a:endParaRPr lang="en-US" sz="1000" dirty="0">
                  <a:solidFill>
                    <a:schemeClr val="tx1"/>
                  </a:solidFill>
                </a:endParaRPr>
              </a:p>
            </p:txBody>
          </p:sp>
          <p:sp>
            <p:nvSpPr>
              <p:cNvPr id="261" name="Rectangle 7"/>
              <p:cNvSpPr/>
              <p:nvPr/>
            </p:nvSpPr>
            <p:spPr>
              <a:xfrm>
                <a:off x="2285441" y="3123312"/>
                <a:ext cx="915465" cy="305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a:t>
                </a:r>
                <a:endParaRPr lang="en-US" sz="1000" dirty="0">
                  <a:solidFill>
                    <a:schemeClr val="tx1"/>
                  </a:solidFill>
                </a:endParaRPr>
              </a:p>
            </p:txBody>
          </p:sp>
          <p:sp>
            <p:nvSpPr>
              <p:cNvPr id="262" name="Rectangle 8"/>
              <p:cNvSpPr/>
              <p:nvPr/>
            </p:nvSpPr>
            <p:spPr>
              <a:xfrm>
                <a:off x="2285441" y="3503850"/>
                <a:ext cx="915465"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t>
                </a:r>
                <a:endParaRPr lang="en-US" sz="1000" dirty="0">
                  <a:solidFill>
                    <a:schemeClr val="tx1"/>
                  </a:solidFill>
                </a:endParaRPr>
              </a:p>
            </p:txBody>
          </p:sp>
          <p:sp>
            <p:nvSpPr>
              <p:cNvPr id="263" name="Rectangle 10"/>
              <p:cNvSpPr/>
              <p:nvPr/>
            </p:nvSpPr>
            <p:spPr>
              <a:xfrm>
                <a:off x="2285441" y="3884388"/>
                <a:ext cx="915465" cy="3079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BBB</a:t>
                </a:r>
                <a:endParaRPr lang="en-US" sz="1000" dirty="0">
                  <a:solidFill>
                    <a:schemeClr val="tx1"/>
                  </a:solidFill>
                </a:endParaRPr>
              </a:p>
            </p:txBody>
          </p:sp>
          <p:sp>
            <p:nvSpPr>
              <p:cNvPr id="264" name="Rectangle 11"/>
              <p:cNvSpPr/>
              <p:nvPr/>
            </p:nvSpPr>
            <p:spPr>
              <a:xfrm>
                <a:off x="2285441" y="4269325"/>
                <a:ext cx="915465" cy="303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BB, NR</a:t>
                </a:r>
                <a:endParaRPr lang="en-US" sz="1000" dirty="0">
                  <a:solidFill>
                    <a:schemeClr val="tx1"/>
                  </a:solidFill>
                </a:endParaRPr>
              </a:p>
            </p:txBody>
          </p:sp>
        </p:grpSp>
        <p:grpSp>
          <p:nvGrpSpPr>
            <p:cNvPr id="31752" name="Group 13"/>
            <p:cNvGrpSpPr>
              <a:grpSpLocks/>
            </p:cNvGrpSpPr>
            <p:nvPr/>
          </p:nvGrpSpPr>
          <p:grpSpPr bwMode="auto">
            <a:xfrm>
              <a:off x="4495800" y="762000"/>
              <a:ext cx="926553" cy="1828800"/>
              <a:chOff x="2286000" y="2743200"/>
              <a:chExt cx="926553" cy="1828800"/>
            </a:xfrm>
          </p:grpSpPr>
          <p:sp>
            <p:nvSpPr>
              <p:cNvPr id="255" name="Rectangle 254"/>
              <p:cNvSpPr/>
              <p:nvPr/>
            </p:nvSpPr>
            <p:spPr>
              <a:xfrm>
                <a:off x="2313825" y="2744295"/>
                <a:ext cx="898353" cy="3101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Senior AAA</a:t>
                </a:r>
                <a:endParaRPr lang="en-US" sz="1000" dirty="0">
                  <a:solidFill>
                    <a:schemeClr val="tx1"/>
                  </a:solidFill>
                </a:endParaRPr>
              </a:p>
            </p:txBody>
          </p:sp>
          <p:sp>
            <p:nvSpPr>
              <p:cNvPr id="256" name="Rectangle 255"/>
              <p:cNvSpPr/>
              <p:nvPr/>
            </p:nvSpPr>
            <p:spPr>
              <a:xfrm>
                <a:off x="2286446" y="3122633"/>
                <a:ext cx="913754"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Junior AAA</a:t>
                </a:r>
                <a:endParaRPr lang="en-US" sz="1000" dirty="0">
                  <a:solidFill>
                    <a:schemeClr val="tx1"/>
                  </a:solidFill>
                </a:endParaRPr>
              </a:p>
            </p:txBody>
          </p:sp>
          <p:sp>
            <p:nvSpPr>
              <p:cNvPr id="257" name="Rectangle 256"/>
              <p:cNvSpPr/>
              <p:nvPr/>
            </p:nvSpPr>
            <p:spPr>
              <a:xfrm>
                <a:off x="2286446" y="3505371"/>
                <a:ext cx="913754" cy="303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a:t>
                </a:r>
                <a:endParaRPr lang="en-US" sz="1000" dirty="0">
                  <a:solidFill>
                    <a:schemeClr val="tx1"/>
                  </a:solidFill>
                </a:endParaRPr>
              </a:p>
            </p:txBody>
          </p:sp>
          <p:sp>
            <p:nvSpPr>
              <p:cNvPr id="258" name="Rectangle 257"/>
              <p:cNvSpPr/>
              <p:nvPr/>
            </p:nvSpPr>
            <p:spPr>
              <a:xfrm>
                <a:off x="2286446" y="3885910"/>
                <a:ext cx="913754" cy="305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t>
                </a:r>
                <a:endParaRPr lang="en-US" sz="1000" dirty="0">
                  <a:solidFill>
                    <a:schemeClr val="tx1"/>
                  </a:solidFill>
                </a:endParaRPr>
              </a:p>
            </p:txBody>
          </p:sp>
          <p:sp>
            <p:nvSpPr>
              <p:cNvPr id="259" name="Rectangle 258"/>
              <p:cNvSpPr/>
              <p:nvPr/>
            </p:nvSpPr>
            <p:spPr>
              <a:xfrm>
                <a:off x="2286446" y="4266447"/>
                <a:ext cx="913754"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BBB</a:t>
                </a:r>
                <a:endParaRPr lang="en-US" sz="1000" dirty="0">
                  <a:solidFill>
                    <a:schemeClr val="tx1"/>
                  </a:solidFill>
                </a:endParaRPr>
              </a:p>
            </p:txBody>
          </p:sp>
        </p:grpSp>
        <p:sp>
          <p:nvSpPr>
            <p:cNvPr id="183" name="Rectangle 182"/>
            <p:cNvSpPr/>
            <p:nvPr/>
          </p:nvSpPr>
          <p:spPr>
            <a:xfrm>
              <a:off x="4496247" y="2665786"/>
              <a:ext cx="913754" cy="305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NR</a:t>
              </a:r>
              <a:endParaRPr lang="en-US" sz="1000" dirty="0">
                <a:solidFill>
                  <a:schemeClr val="tx1"/>
                </a:solidFill>
              </a:endParaRPr>
            </a:p>
          </p:txBody>
        </p:sp>
        <p:grpSp>
          <p:nvGrpSpPr>
            <p:cNvPr id="31754" name="Group 27"/>
            <p:cNvGrpSpPr>
              <a:grpSpLocks/>
            </p:cNvGrpSpPr>
            <p:nvPr/>
          </p:nvGrpSpPr>
          <p:grpSpPr bwMode="auto">
            <a:xfrm>
              <a:off x="4495800" y="3962400"/>
              <a:ext cx="914400" cy="2209800"/>
              <a:chOff x="4495800" y="3962400"/>
              <a:chExt cx="914400" cy="2209800"/>
            </a:xfrm>
          </p:grpSpPr>
          <p:grpSp>
            <p:nvGrpSpPr>
              <p:cNvPr id="31818" name="Group 19"/>
              <p:cNvGrpSpPr>
                <a:grpSpLocks/>
              </p:cNvGrpSpPr>
              <p:nvPr/>
            </p:nvGrpSpPr>
            <p:grpSpPr bwMode="auto">
              <a:xfrm>
                <a:off x="4495800" y="3962400"/>
                <a:ext cx="914400" cy="1828800"/>
                <a:chOff x="2286000" y="2743200"/>
                <a:chExt cx="914400" cy="1828800"/>
              </a:xfrm>
            </p:grpSpPr>
            <p:sp>
              <p:nvSpPr>
                <p:cNvPr id="250" name="Rectangle 249"/>
                <p:cNvSpPr/>
                <p:nvPr/>
              </p:nvSpPr>
              <p:spPr>
                <a:xfrm>
                  <a:off x="2286446" y="2742175"/>
                  <a:ext cx="913754"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Senior AAA</a:t>
                  </a:r>
                  <a:endParaRPr lang="en-US" sz="1000" dirty="0">
                    <a:solidFill>
                      <a:schemeClr val="tx1"/>
                    </a:solidFill>
                  </a:endParaRPr>
                </a:p>
              </p:txBody>
            </p:sp>
            <p:sp>
              <p:nvSpPr>
                <p:cNvPr id="251" name="Rectangle 250"/>
                <p:cNvSpPr/>
                <p:nvPr/>
              </p:nvSpPr>
              <p:spPr>
                <a:xfrm>
                  <a:off x="2286446" y="3122713"/>
                  <a:ext cx="913754" cy="305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Junior AAA</a:t>
                  </a:r>
                  <a:endParaRPr lang="en-US" sz="1000" dirty="0">
                    <a:solidFill>
                      <a:schemeClr val="tx1"/>
                    </a:solidFill>
                  </a:endParaRPr>
                </a:p>
              </p:txBody>
            </p:sp>
            <p:sp>
              <p:nvSpPr>
                <p:cNvPr id="252" name="Rectangle 251"/>
                <p:cNvSpPr/>
                <p:nvPr/>
              </p:nvSpPr>
              <p:spPr>
                <a:xfrm>
                  <a:off x="2286446" y="3505451"/>
                  <a:ext cx="913754" cy="303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a:t>
                  </a:r>
                  <a:endParaRPr lang="en-US" sz="1000" dirty="0">
                    <a:solidFill>
                      <a:schemeClr val="tx1"/>
                    </a:solidFill>
                  </a:endParaRPr>
                </a:p>
              </p:txBody>
            </p:sp>
            <p:sp>
              <p:nvSpPr>
                <p:cNvPr id="253" name="Rectangle 23"/>
                <p:cNvSpPr/>
                <p:nvPr/>
              </p:nvSpPr>
              <p:spPr>
                <a:xfrm>
                  <a:off x="2286446" y="3885989"/>
                  <a:ext cx="913754"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t>
                  </a:r>
                  <a:endParaRPr lang="en-US" sz="1000" dirty="0">
                    <a:solidFill>
                      <a:schemeClr val="tx1"/>
                    </a:solidFill>
                  </a:endParaRPr>
                </a:p>
              </p:txBody>
            </p:sp>
            <p:sp>
              <p:nvSpPr>
                <p:cNvPr id="254" name="Rectangle 24"/>
                <p:cNvSpPr/>
                <p:nvPr/>
              </p:nvSpPr>
              <p:spPr>
                <a:xfrm>
                  <a:off x="2286446" y="4266528"/>
                  <a:ext cx="913754" cy="3277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BBB</a:t>
                  </a:r>
                  <a:endParaRPr lang="en-US" sz="1000" dirty="0">
                    <a:solidFill>
                      <a:schemeClr val="tx1"/>
                    </a:solidFill>
                  </a:endParaRPr>
                </a:p>
              </p:txBody>
            </p:sp>
          </p:grpSp>
          <p:sp>
            <p:nvSpPr>
              <p:cNvPr id="249" name="Rectangle 248"/>
              <p:cNvSpPr/>
              <p:nvPr/>
            </p:nvSpPr>
            <p:spPr>
              <a:xfrm>
                <a:off x="4496246" y="5866265"/>
                <a:ext cx="913754"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NR</a:t>
                </a:r>
                <a:endParaRPr lang="en-US" sz="1000" dirty="0">
                  <a:solidFill>
                    <a:schemeClr val="tx1"/>
                  </a:solidFill>
                </a:endParaRPr>
              </a:p>
            </p:txBody>
          </p:sp>
        </p:grpSp>
        <p:grpSp>
          <p:nvGrpSpPr>
            <p:cNvPr id="31755" name="Group 28"/>
            <p:cNvGrpSpPr>
              <a:grpSpLocks/>
            </p:cNvGrpSpPr>
            <p:nvPr/>
          </p:nvGrpSpPr>
          <p:grpSpPr bwMode="auto">
            <a:xfrm>
              <a:off x="6705600" y="3962400"/>
              <a:ext cx="914400" cy="2209800"/>
              <a:chOff x="4495800" y="3962400"/>
              <a:chExt cx="914400" cy="2209800"/>
            </a:xfrm>
          </p:grpSpPr>
          <p:grpSp>
            <p:nvGrpSpPr>
              <p:cNvPr id="31811" name="Group 19"/>
              <p:cNvGrpSpPr>
                <a:grpSpLocks/>
              </p:cNvGrpSpPr>
              <p:nvPr/>
            </p:nvGrpSpPr>
            <p:grpSpPr bwMode="auto">
              <a:xfrm>
                <a:off x="4495800" y="3962400"/>
                <a:ext cx="914400" cy="1828800"/>
                <a:chOff x="2286000" y="2743200"/>
                <a:chExt cx="914400" cy="1828800"/>
              </a:xfrm>
            </p:grpSpPr>
            <p:sp>
              <p:nvSpPr>
                <p:cNvPr id="243" name="Rectangle 242"/>
                <p:cNvSpPr/>
                <p:nvPr/>
              </p:nvSpPr>
              <p:spPr>
                <a:xfrm>
                  <a:off x="2285741" y="2742175"/>
                  <a:ext cx="915466"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Senior AAA</a:t>
                  </a:r>
                  <a:endParaRPr lang="en-US" sz="1000" dirty="0">
                    <a:solidFill>
                      <a:schemeClr val="tx1"/>
                    </a:solidFill>
                  </a:endParaRPr>
                </a:p>
              </p:txBody>
            </p:sp>
            <p:sp>
              <p:nvSpPr>
                <p:cNvPr id="244" name="Rectangle 243"/>
                <p:cNvSpPr/>
                <p:nvPr/>
              </p:nvSpPr>
              <p:spPr>
                <a:xfrm>
                  <a:off x="2285741" y="3122713"/>
                  <a:ext cx="915466" cy="305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Junior AAA</a:t>
                  </a:r>
                  <a:endParaRPr lang="en-US" sz="1000" dirty="0">
                    <a:solidFill>
                      <a:schemeClr val="tx1"/>
                    </a:solidFill>
                  </a:endParaRPr>
                </a:p>
              </p:txBody>
            </p:sp>
            <p:sp>
              <p:nvSpPr>
                <p:cNvPr id="245" name="Rectangle 244"/>
                <p:cNvSpPr/>
                <p:nvPr/>
              </p:nvSpPr>
              <p:spPr>
                <a:xfrm>
                  <a:off x="2285741" y="3505451"/>
                  <a:ext cx="915466" cy="303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AA</a:t>
                  </a:r>
                  <a:endParaRPr lang="en-US" sz="1000" dirty="0">
                    <a:solidFill>
                      <a:schemeClr val="tx1"/>
                    </a:solidFill>
                  </a:endParaRPr>
                </a:p>
              </p:txBody>
            </p:sp>
            <p:sp>
              <p:nvSpPr>
                <p:cNvPr id="246" name="Rectangle 245"/>
                <p:cNvSpPr/>
                <p:nvPr/>
              </p:nvSpPr>
              <p:spPr>
                <a:xfrm>
                  <a:off x="2285741" y="3885989"/>
                  <a:ext cx="915466"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50" dirty="0">
                      <a:solidFill>
                        <a:schemeClr val="tx1"/>
                      </a:solidFill>
                    </a:rPr>
                    <a:t>A</a:t>
                  </a:r>
                  <a:endParaRPr lang="en-US" sz="1050" dirty="0">
                    <a:solidFill>
                      <a:schemeClr val="tx1"/>
                    </a:solidFill>
                  </a:endParaRPr>
                </a:p>
              </p:txBody>
            </p:sp>
            <p:sp>
              <p:nvSpPr>
                <p:cNvPr id="247" name="Rectangle 246"/>
                <p:cNvSpPr/>
                <p:nvPr/>
              </p:nvSpPr>
              <p:spPr>
                <a:xfrm>
                  <a:off x="2285741" y="4266528"/>
                  <a:ext cx="915466" cy="3277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BBB</a:t>
                  </a:r>
                  <a:endParaRPr lang="en-US" sz="1000" dirty="0">
                    <a:solidFill>
                      <a:schemeClr val="tx1"/>
                    </a:solidFill>
                  </a:endParaRPr>
                </a:p>
              </p:txBody>
            </p:sp>
          </p:grpSp>
          <p:sp>
            <p:nvSpPr>
              <p:cNvPr id="242" name="Rectangle 241"/>
              <p:cNvSpPr/>
              <p:nvPr/>
            </p:nvSpPr>
            <p:spPr>
              <a:xfrm>
                <a:off x="4495541" y="5866265"/>
                <a:ext cx="915466" cy="3057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CA" sz="1000" dirty="0">
                    <a:solidFill>
                      <a:schemeClr val="tx1"/>
                    </a:solidFill>
                  </a:rPr>
                  <a:t>NR</a:t>
                </a:r>
                <a:endParaRPr lang="en-US" sz="1000" dirty="0">
                  <a:solidFill>
                    <a:schemeClr val="tx1"/>
                  </a:solidFill>
                </a:endParaRPr>
              </a:p>
            </p:txBody>
          </p:sp>
        </p:grpSp>
        <p:cxnSp>
          <p:nvCxnSpPr>
            <p:cNvPr id="186" name="Straight Arrow Connector 185"/>
            <p:cNvCxnSpPr>
              <a:stCxn id="180" idx="3"/>
            </p:cNvCxnSpPr>
            <p:nvPr/>
          </p:nvCxnSpPr>
          <p:spPr>
            <a:xfrm>
              <a:off x="1600980" y="3657824"/>
              <a:ext cx="45687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1757" name="Group 87"/>
            <p:cNvGrpSpPr>
              <a:grpSpLocks/>
            </p:cNvGrpSpPr>
            <p:nvPr/>
          </p:nvGrpSpPr>
          <p:grpSpPr bwMode="auto">
            <a:xfrm>
              <a:off x="3276600" y="2666192"/>
              <a:ext cx="552321" cy="1984223"/>
              <a:chOff x="3276600" y="2666190"/>
              <a:chExt cx="552321" cy="1985040"/>
            </a:xfrm>
          </p:grpSpPr>
          <p:sp>
            <p:nvSpPr>
              <p:cNvPr id="31800" name="TextBox 46"/>
              <p:cNvSpPr txBox="1">
                <a:spLocks noChangeArrowheads="1"/>
              </p:cNvSpPr>
              <p:nvPr/>
            </p:nvSpPr>
            <p:spPr bwMode="auto">
              <a:xfrm>
                <a:off x="3276600" y="2743200"/>
                <a:ext cx="5334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81%</a:t>
                </a:r>
                <a:endParaRPr lang="en-US" altLang="en-US" sz="1200">
                  <a:latin typeface="Calibri" panose="020F0502020204030204" pitchFamily="34" charset="0"/>
                </a:endParaRPr>
              </a:p>
            </p:txBody>
          </p:sp>
          <p:sp>
            <p:nvSpPr>
              <p:cNvPr id="31801" name="TextBox 47"/>
              <p:cNvSpPr txBox="1">
                <a:spLocks noChangeArrowheads="1"/>
              </p:cNvSpPr>
              <p:nvPr/>
            </p:nvSpPr>
            <p:spPr bwMode="auto">
              <a:xfrm>
                <a:off x="3276600" y="3124201"/>
                <a:ext cx="5334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11%</a:t>
                </a:r>
                <a:endParaRPr lang="en-US" altLang="en-US" sz="1200">
                  <a:latin typeface="Calibri" panose="020F0502020204030204" pitchFamily="34" charset="0"/>
                </a:endParaRPr>
              </a:p>
            </p:txBody>
          </p:sp>
          <p:sp>
            <p:nvSpPr>
              <p:cNvPr id="31802" name="TextBox 48"/>
              <p:cNvSpPr txBox="1">
                <a:spLocks noChangeArrowheads="1"/>
              </p:cNvSpPr>
              <p:nvPr/>
            </p:nvSpPr>
            <p:spPr bwMode="auto">
              <a:xfrm>
                <a:off x="3352799" y="3505199"/>
                <a:ext cx="476121" cy="38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4%</a:t>
                </a:r>
                <a:endParaRPr lang="en-US" altLang="en-US" sz="1200">
                  <a:latin typeface="Calibri" panose="020F0502020204030204" pitchFamily="34" charset="0"/>
                </a:endParaRPr>
              </a:p>
            </p:txBody>
          </p:sp>
          <p:sp>
            <p:nvSpPr>
              <p:cNvPr id="31803" name="TextBox 49"/>
              <p:cNvSpPr txBox="1">
                <a:spLocks noChangeArrowheads="1"/>
              </p:cNvSpPr>
              <p:nvPr/>
            </p:nvSpPr>
            <p:spPr bwMode="auto">
              <a:xfrm>
                <a:off x="3352800" y="3886200"/>
                <a:ext cx="4572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3%</a:t>
                </a:r>
                <a:endParaRPr lang="en-US" altLang="en-US" sz="1200">
                  <a:latin typeface="Calibri" panose="020F0502020204030204" pitchFamily="34" charset="0"/>
                </a:endParaRPr>
              </a:p>
            </p:txBody>
          </p:sp>
          <p:sp>
            <p:nvSpPr>
              <p:cNvPr id="31804" name="TextBox 50"/>
              <p:cNvSpPr txBox="1">
                <a:spLocks noChangeArrowheads="1"/>
              </p:cNvSpPr>
              <p:nvPr/>
            </p:nvSpPr>
            <p:spPr bwMode="auto">
              <a:xfrm>
                <a:off x="3352801" y="4267200"/>
                <a:ext cx="476120" cy="38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1%</a:t>
                </a:r>
                <a:endParaRPr lang="en-US" altLang="en-US" sz="1200">
                  <a:latin typeface="Calibri" panose="020F0502020204030204" pitchFamily="34" charset="0"/>
                </a:endParaRPr>
              </a:p>
            </p:txBody>
          </p:sp>
          <p:cxnSp>
            <p:nvCxnSpPr>
              <p:cNvPr id="235" name="Straight Connector 234"/>
              <p:cNvCxnSpPr/>
              <p:nvPr/>
            </p:nvCxnSpPr>
            <p:spPr>
              <a:xfrm rot="5400000">
                <a:off x="3162643" y="3236215"/>
                <a:ext cx="1144285" cy="34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rot="10800000">
                <a:off x="3580781" y="3810069"/>
                <a:ext cx="1540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0800000">
                <a:off x="3580781" y="2665784"/>
                <a:ext cx="154004" cy="2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5400000">
                <a:off x="3580992" y="4036969"/>
                <a:ext cx="305876" cy="1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10800000">
                <a:off x="3580781" y="4190763"/>
                <a:ext cx="154004" cy="22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a:endCxn id="31803" idx="0"/>
              </p:cNvCxnSpPr>
              <p:nvPr/>
            </p:nvCxnSpPr>
            <p:spPr>
              <a:xfrm rot="10800000">
                <a:off x="3580781" y="3884888"/>
                <a:ext cx="154004" cy="2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758" name="TextBox 72"/>
            <p:cNvSpPr txBox="1">
              <a:spLocks noChangeArrowheads="1"/>
            </p:cNvSpPr>
            <p:nvPr/>
          </p:nvSpPr>
          <p:spPr bwMode="auto">
            <a:xfrm>
              <a:off x="2286001" y="2340595"/>
              <a:ext cx="914400" cy="42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400" b="1">
                  <a:latin typeface="Calibri" panose="020F0502020204030204" pitchFamily="34" charset="0"/>
                </a:rPr>
                <a:t>     </a:t>
              </a:r>
              <a:r>
                <a:rPr lang="en-CA" altLang="en-US" sz="1200" b="1">
                  <a:latin typeface="Calibri" panose="020F0502020204030204" pitchFamily="34" charset="0"/>
                </a:rPr>
                <a:t>ABS</a:t>
              </a:r>
              <a:endParaRPr lang="en-US" altLang="en-US" sz="1200" b="1">
                <a:latin typeface="Calibri" panose="020F0502020204030204" pitchFamily="34" charset="0"/>
              </a:endParaRPr>
            </a:p>
          </p:txBody>
        </p:sp>
        <p:sp>
          <p:nvSpPr>
            <p:cNvPr id="31759" name="TextBox 73"/>
            <p:cNvSpPr txBox="1">
              <a:spLocks noChangeArrowheads="1"/>
            </p:cNvSpPr>
            <p:nvPr/>
          </p:nvSpPr>
          <p:spPr bwMode="auto">
            <a:xfrm>
              <a:off x="4157463" y="123000"/>
              <a:ext cx="1452399" cy="639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b="1">
                  <a:latin typeface="Calibri" panose="020F0502020204030204" pitchFamily="34" charset="0"/>
                </a:rPr>
                <a:t>High Grade ABS CDO</a:t>
              </a:r>
              <a:endParaRPr lang="en-US" altLang="en-US" sz="1200" b="1">
                <a:latin typeface="Calibri" panose="020F0502020204030204" pitchFamily="34" charset="0"/>
              </a:endParaRPr>
            </a:p>
          </p:txBody>
        </p:sp>
        <p:sp>
          <p:nvSpPr>
            <p:cNvPr id="31760" name="TextBox 74"/>
            <p:cNvSpPr txBox="1">
              <a:spLocks noChangeArrowheads="1"/>
            </p:cNvSpPr>
            <p:nvPr/>
          </p:nvSpPr>
          <p:spPr bwMode="auto">
            <a:xfrm>
              <a:off x="4239599" y="3502193"/>
              <a:ext cx="1396307" cy="38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b="1">
                  <a:latin typeface="Calibri" panose="020F0502020204030204" pitchFamily="34" charset="0"/>
                </a:rPr>
                <a:t>Mezz ABS CDO</a:t>
              </a:r>
              <a:endParaRPr lang="en-US" altLang="en-US" sz="1200" b="1">
                <a:latin typeface="Calibri" panose="020F0502020204030204" pitchFamily="34" charset="0"/>
              </a:endParaRPr>
            </a:p>
          </p:txBody>
        </p:sp>
        <p:sp>
          <p:nvSpPr>
            <p:cNvPr id="31761" name="TextBox 75"/>
            <p:cNvSpPr txBox="1">
              <a:spLocks noChangeArrowheads="1"/>
            </p:cNvSpPr>
            <p:nvPr/>
          </p:nvSpPr>
          <p:spPr bwMode="auto">
            <a:xfrm>
              <a:off x="6621534" y="3502194"/>
              <a:ext cx="1384288" cy="38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b="1">
                  <a:latin typeface="Calibri" panose="020F0502020204030204" pitchFamily="34" charset="0"/>
                </a:rPr>
                <a:t>CDO</a:t>
              </a:r>
              <a:r>
                <a:rPr lang="en-CA" altLang="en-US" sz="1200" b="1" baseline="30000">
                  <a:latin typeface="Calibri" panose="020F0502020204030204" pitchFamily="34" charset="0"/>
                </a:rPr>
                <a:t> </a:t>
              </a:r>
              <a:r>
                <a:rPr lang="en-CA" altLang="en-US" sz="1200" b="1">
                  <a:latin typeface="Calibri" panose="020F0502020204030204" pitchFamily="34" charset="0"/>
                </a:rPr>
                <a:t> of CDO</a:t>
              </a:r>
              <a:endParaRPr lang="en-US" altLang="en-US" sz="1200" b="1">
                <a:latin typeface="Calibri" panose="020F0502020204030204" pitchFamily="34" charset="0"/>
              </a:endParaRPr>
            </a:p>
          </p:txBody>
        </p:sp>
        <p:sp>
          <p:nvSpPr>
            <p:cNvPr id="31762" name="TextBox 101"/>
            <p:cNvSpPr txBox="1">
              <a:spLocks noChangeArrowheads="1"/>
            </p:cNvSpPr>
            <p:nvPr/>
          </p:nvSpPr>
          <p:spPr bwMode="auto">
            <a:xfrm>
              <a:off x="5562600" y="3963988"/>
              <a:ext cx="58737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62%</a:t>
              </a:r>
              <a:endParaRPr lang="en-US" altLang="en-US" sz="1200">
                <a:latin typeface="Calibri" panose="020F0502020204030204" pitchFamily="34" charset="0"/>
              </a:endParaRPr>
            </a:p>
          </p:txBody>
        </p:sp>
        <p:sp>
          <p:nvSpPr>
            <p:cNvPr id="31763" name="TextBox 102"/>
            <p:cNvSpPr txBox="1">
              <a:spLocks noChangeArrowheads="1"/>
            </p:cNvSpPr>
            <p:nvPr/>
          </p:nvSpPr>
          <p:spPr bwMode="auto">
            <a:xfrm>
              <a:off x="5562600" y="4349750"/>
              <a:ext cx="5873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14%</a:t>
              </a:r>
              <a:endParaRPr lang="en-US" altLang="en-US" sz="1200">
                <a:latin typeface="Calibri" panose="020F0502020204030204" pitchFamily="34" charset="0"/>
              </a:endParaRPr>
            </a:p>
          </p:txBody>
        </p:sp>
        <p:sp>
          <p:nvSpPr>
            <p:cNvPr id="31764" name="TextBox 103"/>
            <p:cNvSpPr txBox="1">
              <a:spLocks noChangeArrowheads="1"/>
            </p:cNvSpPr>
            <p:nvPr/>
          </p:nvSpPr>
          <p:spPr bwMode="auto">
            <a:xfrm>
              <a:off x="5646738" y="4737100"/>
              <a:ext cx="4191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8%</a:t>
              </a:r>
              <a:endParaRPr lang="en-US" altLang="en-US" sz="1200">
                <a:latin typeface="Calibri" panose="020F0502020204030204" pitchFamily="34" charset="0"/>
              </a:endParaRPr>
            </a:p>
          </p:txBody>
        </p:sp>
        <p:sp>
          <p:nvSpPr>
            <p:cNvPr id="31765" name="TextBox 104"/>
            <p:cNvSpPr txBox="1">
              <a:spLocks noChangeArrowheads="1"/>
            </p:cNvSpPr>
            <p:nvPr/>
          </p:nvSpPr>
          <p:spPr bwMode="auto">
            <a:xfrm>
              <a:off x="5646738" y="5122863"/>
              <a:ext cx="50323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6%</a:t>
              </a:r>
              <a:endParaRPr lang="en-US" altLang="en-US" sz="1200">
                <a:latin typeface="Calibri" panose="020F0502020204030204" pitchFamily="34" charset="0"/>
              </a:endParaRPr>
            </a:p>
          </p:txBody>
        </p:sp>
        <p:sp>
          <p:nvSpPr>
            <p:cNvPr id="31766" name="TextBox 105"/>
            <p:cNvSpPr txBox="1">
              <a:spLocks noChangeArrowheads="1"/>
            </p:cNvSpPr>
            <p:nvPr/>
          </p:nvSpPr>
          <p:spPr bwMode="auto">
            <a:xfrm>
              <a:off x="5646738" y="5510213"/>
              <a:ext cx="525462" cy="38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6%</a:t>
              </a:r>
              <a:endParaRPr lang="en-US" altLang="en-US" sz="1200">
                <a:latin typeface="Calibri" panose="020F0502020204030204" pitchFamily="34" charset="0"/>
              </a:endParaRPr>
            </a:p>
          </p:txBody>
        </p:sp>
        <p:cxnSp>
          <p:nvCxnSpPr>
            <p:cNvPr id="197" name="Straight Connector 196"/>
            <p:cNvCxnSpPr/>
            <p:nvPr/>
          </p:nvCxnSpPr>
          <p:spPr>
            <a:xfrm rot="5400000">
              <a:off x="5677982" y="5065839"/>
              <a:ext cx="684088" cy="1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rot="10800000">
              <a:off x="5866877" y="5408739"/>
              <a:ext cx="169404" cy="2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rot="10800000">
              <a:off x="5866877" y="4724651"/>
              <a:ext cx="1694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770" name="TextBox 112"/>
            <p:cNvSpPr txBox="1">
              <a:spLocks noChangeArrowheads="1"/>
            </p:cNvSpPr>
            <p:nvPr/>
          </p:nvSpPr>
          <p:spPr bwMode="auto">
            <a:xfrm>
              <a:off x="5638800" y="5867400"/>
              <a:ext cx="533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4%</a:t>
              </a:r>
              <a:endParaRPr lang="en-US" altLang="en-US" sz="1200">
                <a:latin typeface="Calibri" panose="020F0502020204030204" pitchFamily="34" charset="0"/>
              </a:endParaRPr>
            </a:p>
          </p:txBody>
        </p:sp>
        <p:grpSp>
          <p:nvGrpSpPr>
            <p:cNvPr id="31771" name="Group 119"/>
            <p:cNvGrpSpPr>
              <a:grpSpLocks/>
            </p:cNvGrpSpPr>
            <p:nvPr/>
          </p:nvGrpSpPr>
          <p:grpSpPr bwMode="auto">
            <a:xfrm>
              <a:off x="5562600" y="763588"/>
              <a:ext cx="609601" cy="2286664"/>
              <a:chOff x="5562600" y="763129"/>
              <a:chExt cx="609601" cy="2287960"/>
            </a:xfrm>
          </p:grpSpPr>
          <p:sp>
            <p:nvSpPr>
              <p:cNvPr id="31794" name="TextBox 89"/>
              <p:cNvSpPr txBox="1">
                <a:spLocks noChangeArrowheads="1"/>
              </p:cNvSpPr>
              <p:nvPr/>
            </p:nvSpPr>
            <p:spPr bwMode="auto">
              <a:xfrm>
                <a:off x="5562600" y="763129"/>
                <a:ext cx="5334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88%</a:t>
                </a:r>
                <a:endParaRPr lang="en-US" altLang="en-US" sz="1200">
                  <a:latin typeface="Calibri" panose="020F0502020204030204" pitchFamily="34" charset="0"/>
                </a:endParaRPr>
              </a:p>
            </p:txBody>
          </p:sp>
          <p:sp>
            <p:nvSpPr>
              <p:cNvPr id="31795" name="TextBox 90"/>
              <p:cNvSpPr txBox="1">
                <a:spLocks noChangeArrowheads="1"/>
              </p:cNvSpPr>
              <p:nvPr/>
            </p:nvSpPr>
            <p:spPr bwMode="auto">
              <a:xfrm>
                <a:off x="5562600" y="1149772"/>
                <a:ext cx="5334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   5%</a:t>
                </a:r>
                <a:endParaRPr lang="en-US" altLang="en-US" sz="1200">
                  <a:latin typeface="Calibri" panose="020F0502020204030204" pitchFamily="34" charset="0"/>
                </a:endParaRPr>
              </a:p>
            </p:txBody>
          </p:sp>
          <p:sp>
            <p:nvSpPr>
              <p:cNvPr id="31796" name="TextBox 91"/>
              <p:cNvSpPr txBox="1">
                <a:spLocks noChangeArrowheads="1"/>
              </p:cNvSpPr>
              <p:nvPr/>
            </p:nvSpPr>
            <p:spPr bwMode="auto">
              <a:xfrm>
                <a:off x="5638800" y="1536415"/>
                <a:ext cx="489922" cy="38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3%</a:t>
                </a:r>
                <a:endParaRPr lang="en-US" altLang="en-US" sz="1200">
                  <a:latin typeface="Calibri" panose="020F0502020204030204" pitchFamily="34" charset="0"/>
                </a:endParaRPr>
              </a:p>
            </p:txBody>
          </p:sp>
          <p:sp>
            <p:nvSpPr>
              <p:cNvPr id="31797" name="TextBox 92"/>
              <p:cNvSpPr txBox="1">
                <a:spLocks noChangeArrowheads="1"/>
              </p:cNvSpPr>
              <p:nvPr/>
            </p:nvSpPr>
            <p:spPr bwMode="auto">
              <a:xfrm>
                <a:off x="5638800" y="1923056"/>
                <a:ext cx="4572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2%</a:t>
                </a:r>
                <a:endParaRPr lang="en-US" altLang="en-US" sz="1200">
                  <a:latin typeface="Calibri" panose="020F0502020204030204" pitchFamily="34" charset="0"/>
                </a:endParaRPr>
              </a:p>
            </p:txBody>
          </p:sp>
          <p:sp>
            <p:nvSpPr>
              <p:cNvPr id="31798" name="TextBox 93"/>
              <p:cNvSpPr txBox="1">
                <a:spLocks noChangeArrowheads="1"/>
              </p:cNvSpPr>
              <p:nvPr/>
            </p:nvSpPr>
            <p:spPr bwMode="auto">
              <a:xfrm>
                <a:off x="5638801" y="2309699"/>
                <a:ext cx="533400" cy="38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1%</a:t>
                </a:r>
                <a:endParaRPr lang="en-US" altLang="en-US" sz="1200">
                  <a:latin typeface="Calibri" panose="020F0502020204030204" pitchFamily="34" charset="0"/>
                </a:endParaRPr>
              </a:p>
            </p:txBody>
          </p:sp>
          <p:sp>
            <p:nvSpPr>
              <p:cNvPr id="31799" name="TextBox 118"/>
              <p:cNvSpPr txBox="1">
                <a:spLocks noChangeArrowheads="1"/>
              </p:cNvSpPr>
              <p:nvPr/>
            </p:nvSpPr>
            <p:spPr bwMode="auto">
              <a:xfrm>
                <a:off x="5638800" y="2667000"/>
                <a:ext cx="489922" cy="38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1%</a:t>
                </a:r>
                <a:endParaRPr lang="en-US" altLang="en-US" sz="1200">
                  <a:latin typeface="Calibri" panose="020F0502020204030204" pitchFamily="34" charset="0"/>
                </a:endParaRPr>
              </a:p>
            </p:txBody>
          </p:sp>
        </p:grpSp>
        <p:grpSp>
          <p:nvGrpSpPr>
            <p:cNvPr id="31772" name="Group 120"/>
            <p:cNvGrpSpPr>
              <a:grpSpLocks/>
            </p:cNvGrpSpPr>
            <p:nvPr/>
          </p:nvGrpSpPr>
          <p:grpSpPr bwMode="auto">
            <a:xfrm>
              <a:off x="7772400" y="3962400"/>
              <a:ext cx="746760" cy="2312998"/>
              <a:chOff x="5562600" y="763129"/>
              <a:chExt cx="533400" cy="2282717"/>
            </a:xfrm>
          </p:grpSpPr>
          <p:sp>
            <p:nvSpPr>
              <p:cNvPr id="31788" name="TextBox 121"/>
              <p:cNvSpPr txBox="1">
                <a:spLocks noChangeArrowheads="1"/>
              </p:cNvSpPr>
              <p:nvPr/>
            </p:nvSpPr>
            <p:spPr bwMode="auto">
              <a:xfrm>
                <a:off x="5562600" y="763129"/>
                <a:ext cx="5334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60%</a:t>
                </a:r>
                <a:endParaRPr lang="en-US" altLang="en-US" sz="1200">
                  <a:latin typeface="Calibri" panose="020F0502020204030204" pitchFamily="34" charset="0"/>
                </a:endParaRPr>
              </a:p>
            </p:txBody>
          </p:sp>
          <p:sp>
            <p:nvSpPr>
              <p:cNvPr id="31789" name="TextBox 122"/>
              <p:cNvSpPr txBox="1">
                <a:spLocks noChangeArrowheads="1"/>
              </p:cNvSpPr>
              <p:nvPr/>
            </p:nvSpPr>
            <p:spPr bwMode="auto">
              <a:xfrm>
                <a:off x="5562600" y="1149772"/>
                <a:ext cx="5334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 27%</a:t>
                </a:r>
                <a:endParaRPr lang="en-US" altLang="en-US" sz="1200">
                  <a:latin typeface="Calibri" panose="020F0502020204030204" pitchFamily="34" charset="0"/>
                </a:endParaRPr>
              </a:p>
            </p:txBody>
          </p:sp>
          <p:sp>
            <p:nvSpPr>
              <p:cNvPr id="31790" name="TextBox 123"/>
              <p:cNvSpPr txBox="1">
                <a:spLocks noChangeArrowheads="1"/>
              </p:cNvSpPr>
              <p:nvPr/>
            </p:nvSpPr>
            <p:spPr bwMode="auto">
              <a:xfrm>
                <a:off x="5638800" y="1536414"/>
                <a:ext cx="3810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4%</a:t>
                </a:r>
                <a:endParaRPr lang="en-US" altLang="en-US" sz="1200">
                  <a:latin typeface="Calibri" panose="020F0502020204030204" pitchFamily="34" charset="0"/>
                </a:endParaRPr>
              </a:p>
            </p:txBody>
          </p:sp>
          <p:sp>
            <p:nvSpPr>
              <p:cNvPr id="31791" name="TextBox 124"/>
              <p:cNvSpPr txBox="1">
                <a:spLocks noChangeArrowheads="1"/>
              </p:cNvSpPr>
              <p:nvPr/>
            </p:nvSpPr>
            <p:spPr bwMode="auto">
              <a:xfrm>
                <a:off x="5638800" y="1923056"/>
                <a:ext cx="457200" cy="28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3%</a:t>
                </a:r>
                <a:endParaRPr lang="en-US" altLang="en-US" sz="1200">
                  <a:latin typeface="Calibri" panose="020F0502020204030204" pitchFamily="34" charset="0"/>
                </a:endParaRPr>
              </a:p>
            </p:txBody>
          </p:sp>
          <p:sp>
            <p:nvSpPr>
              <p:cNvPr id="31792" name="TextBox 125"/>
              <p:cNvSpPr txBox="1">
                <a:spLocks noChangeArrowheads="1"/>
              </p:cNvSpPr>
              <p:nvPr/>
            </p:nvSpPr>
            <p:spPr bwMode="auto">
              <a:xfrm>
                <a:off x="5638800" y="2309699"/>
                <a:ext cx="457200" cy="378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3%</a:t>
                </a:r>
                <a:endParaRPr lang="en-US" altLang="en-US" sz="1200">
                  <a:latin typeface="Calibri" panose="020F0502020204030204" pitchFamily="34" charset="0"/>
                </a:endParaRPr>
              </a:p>
            </p:txBody>
          </p:sp>
          <p:sp>
            <p:nvSpPr>
              <p:cNvPr id="31793" name="TextBox 126"/>
              <p:cNvSpPr txBox="1">
                <a:spLocks noChangeArrowheads="1"/>
              </p:cNvSpPr>
              <p:nvPr/>
            </p:nvSpPr>
            <p:spPr bwMode="auto">
              <a:xfrm>
                <a:off x="5729330" y="2667000"/>
                <a:ext cx="290471" cy="378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latin typeface="Calibri" panose="020F0502020204030204" pitchFamily="34" charset="0"/>
                  </a:rPr>
                  <a:t>2%</a:t>
                </a:r>
                <a:endParaRPr lang="en-US" altLang="en-US" sz="1200">
                  <a:latin typeface="Calibri" panose="020F0502020204030204" pitchFamily="34" charset="0"/>
                </a:endParaRPr>
              </a:p>
            </p:txBody>
          </p:sp>
        </p:grpSp>
        <p:cxnSp>
          <p:nvCxnSpPr>
            <p:cNvPr id="203" name="Straight Connector 202"/>
            <p:cNvCxnSpPr/>
            <p:nvPr/>
          </p:nvCxnSpPr>
          <p:spPr>
            <a:xfrm rot="5400000">
              <a:off x="1143907" y="3657212"/>
              <a:ext cx="1827902" cy="34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a:off x="2057857" y="2742773"/>
              <a:ext cx="152293" cy="2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2057857" y="4570676"/>
              <a:ext cx="152293" cy="2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rot="5400000">
              <a:off x="3163846" y="1866704"/>
              <a:ext cx="2360217" cy="34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a:off x="4343954" y="686108"/>
              <a:ext cx="152293" cy="2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a:off x="4343954" y="3048524"/>
              <a:ext cx="1522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5400000">
              <a:off x="3164701" y="5065839"/>
              <a:ext cx="2360217" cy="1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4343954" y="3886587"/>
              <a:ext cx="1522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a:off x="4343954" y="6246803"/>
              <a:ext cx="152293" cy="2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5370985" y="5066939"/>
              <a:ext cx="2362416" cy="1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6553049" y="3886587"/>
              <a:ext cx="1522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6553049" y="6246803"/>
              <a:ext cx="152292" cy="2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rot="5400000" flipH="1" flipV="1">
              <a:off x="3359924" y="2277859"/>
              <a:ext cx="1357178" cy="6108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rot="16200000" flipH="1">
              <a:off x="3429213" y="4342224"/>
              <a:ext cx="1218602" cy="6108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a:off x="6019170" y="5105188"/>
              <a:ext cx="533879"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1748" name="Slide Number Placeholder 9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3FA126D-A952-46E1-8AE0-CE3BEFB6A45E}" type="slidenum">
              <a:rPr lang="en-US" altLang="en-US" sz="1800"/>
              <a:pPr>
                <a:spcBef>
                  <a:spcPct val="0"/>
                </a:spcBef>
                <a:buClrTx/>
                <a:buSzTx/>
                <a:buFontTx/>
                <a:buNone/>
              </a:pPr>
              <a:t>9</a:t>
            </a:fld>
            <a:endParaRPr lang="en-US" altLang="en-US" sz="1800"/>
          </a:p>
        </p:txBody>
      </p:sp>
      <p:sp>
        <p:nvSpPr>
          <p:cNvPr id="31749" name="Footer Placeholder 9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CA" altLang="en-US"/>
              <a:t>BBB Tranches</a:t>
            </a:r>
            <a:endParaRPr lang="en-US" altLang="en-US"/>
          </a:p>
        </p:txBody>
      </p:sp>
      <p:sp>
        <p:nvSpPr>
          <p:cNvPr id="33795" name="Content Placeholder 2"/>
          <p:cNvSpPr>
            <a:spLocks noGrp="1"/>
          </p:cNvSpPr>
          <p:nvPr>
            <p:ph idx="1"/>
          </p:nvPr>
        </p:nvSpPr>
        <p:spPr/>
        <p:txBody>
          <a:bodyPr/>
          <a:lstStyle/>
          <a:p>
            <a:r>
              <a:rPr lang="en-CA" altLang="en-US" sz="2800"/>
              <a:t>BBB tranches of ABSs were often quite thin (1% wide)</a:t>
            </a:r>
          </a:p>
          <a:p>
            <a:r>
              <a:rPr lang="en-CA" altLang="en-US" sz="2800"/>
              <a:t>This means that they have a quite different loss distribution from BBB bonds and should not be treated as equivalent to BBB bonds </a:t>
            </a:r>
          </a:p>
          <a:p>
            <a:r>
              <a:rPr lang="en-CA" altLang="en-US" sz="2800"/>
              <a:t>They tend to be either safe or completely wiped out (cliff risk)</a:t>
            </a:r>
          </a:p>
          <a:p>
            <a:r>
              <a:rPr lang="en-CA" altLang="en-US" sz="2800"/>
              <a:t>What does this mean for the tranches of the Mezz ABS CDO?</a:t>
            </a:r>
          </a:p>
          <a:p>
            <a:endParaRPr lang="en-US" altLang="en-US"/>
          </a:p>
        </p:txBody>
      </p:sp>
      <p:sp>
        <p:nvSpPr>
          <p:cNvPr id="337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337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16BC17B-C6A6-44D7-9DF2-8E5D448CE462}" type="slidenum">
              <a:rPr lang="en-US" altLang="en-US" sz="1800"/>
              <a:pPr>
                <a:spcBef>
                  <a:spcPct val="0"/>
                </a:spcBef>
                <a:buClrTx/>
                <a:buSzTx/>
                <a:buFontTx/>
                <a:buNone/>
              </a:pPr>
              <a:t>10</a:t>
            </a:fld>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CA" altLang="en-US"/>
              <a:t>Regulatory Arbitrage</a:t>
            </a:r>
            <a:endParaRPr lang="en-US" altLang="en-US"/>
          </a:p>
        </p:txBody>
      </p:sp>
      <p:sp>
        <p:nvSpPr>
          <p:cNvPr id="34819" name="Content Placeholder 2"/>
          <p:cNvSpPr>
            <a:spLocks noGrp="1"/>
          </p:cNvSpPr>
          <p:nvPr>
            <p:ph idx="1"/>
          </p:nvPr>
        </p:nvSpPr>
        <p:spPr/>
        <p:txBody>
          <a:bodyPr/>
          <a:lstStyle/>
          <a:p>
            <a:r>
              <a:rPr lang="en-CA" altLang="en-US"/>
              <a:t>Capital required for securities created from a portfolio of mortgages was considerably less than capital that would be required if mortgages had been kept on the balance sheet</a:t>
            </a:r>
            <a:endParaRPr lang="en-US" altLang="en-US"/>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D0A3F44-B117-4ED2-AF66-C37062BEB248}" type="slidenum">
              <a:rPr lang="en-US" altLang="en-US" sz="1800"/>
              <a:pPr>
                <a:spcBef>
                  <a:spcPct val="0"/>
                </a:spcBef>
                <a:buClrTx/>
                <a:buSzTx/>
                <a:buFontTx/>
                <a:buNone/>
              </a:pPr>
              <a:t>11</a:t>
            </a:fld>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CA" altLang="en-US"/>
              <a:t>Role of Incentives</a:t>
            </a:r>
            <a:endParaRPr lang="en-US" altLang="en-US"/>
          </a:p>
        </p:txBody>
      </p:sp>
      <p:sp>
        <p:nvSpPr>
          <p:cNvPr id="35843" name="Content Placeholder 2"/>
          <p:cNvSpPr>
            <a:spLocks noGrp="1"/>
          </p:cNvSpPr>
          <p:nvPr>
            <p:ph idx="1"/>
          </p:nvPr>
        </p:nvSpPr>
        <p:spPr/>
        <p:txBody>
          <a:bodyPr/>
          <a:lstStyle/>
          <a:p>
            <a:r>
              <a:rPr lang="en-CA" altLang="en-US" dirty="0"/>
              <a:t>Arguably the incentives of valuers, the creators of ABSs and ABS CDOs, and rating agencies helped to create the Global Financial Crisis</a:t>
            </a:r>
          </a:p>
          <a:p>
            <a:r>
              <a:rPr lang="en-CA" altLang="en-US" dirty="0"/>
              <a:t>Compensation plans of traders created short-term horizons for decision making  </a:t>
            </a:r>
            <a:endParaRPr lang="en-US" altLang="en-US" dirty="0"/>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285FCF3-049F-4449-ABBB-F90ECD28696C}" type="slidenum">
              <a:rPr lang="en-US" altLang="en-US" sz="1800"/>
              <a:pPr>
                <a:spcBef>
                  <a:spcPct val="0"/>
                </a:spcBef>
                <a:buClrTx/>
                <a:buSzTx/>
                <a:buFontTx/>
                <a:buNone/>
              </a:pPr>
              <a:t>12</a:t>
            </a:fld>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46063" y="428625"/>
            <a:ext cx="7772400" cy="857250"/>
          </a:xfrm>
        </p:spPr>
        <p:txBody>
          <a:bodyPr/>
          <a:lstStyle/>
          <a:p>
            <a:pPr eaLnBrk="1" hangingPunct="1"/>
            <a:r>
              <a:rPr lang="en-US" altLang="en-US"/>
              <a:t>Importance of Transparency</a:t>
            </a:r>
          </a:p>
        </p:txBody>
      </p:sp>
      <p:sp>
        <p:nvSpPr>
          <p:cNvPr id="36867" name="Content Placeholder 2"/>
          <p:cNvSpPr>
            <a:spLocks noGrp="1"/>
          </p:cNvSpPr>
          <p:nvPr>
            <p:ph idx="1"/>
          </p:nvPr>
        </p:nvSpPr>
        <p:spPr>
          <a:xfrm>
            <a:off x="685800" y="1752600"/>
            <a:ext cx="7772400" cy="4510088"/>
          </a:xfrm>
        </p:spPr>
        <p:txBody>
          <a:bodyPr/>
          <a:lstStyle/>
          <a:p>
            <a:pPr eaLnBrk="1" hangingPunct="1"/>
            <a:r>
              <a:rPr lang="en-US" altLang="en-US" sz="2800" dirty="0">
                <a:cs typeface="Arial" panose="020B0604020202020204" pitchFamily="34" charset="0"/>
              </a:rPr>
              <a:t>ABSs and ABS CDOs were complex inter-related products</a:t>
            </a:r>
          </a:p>
          <a:p>
            <a:pPr eaLnBrk="1" hangingPunct="1"/>
            <a:r>
              <a:rPr lang="en-US" altLang="en-US" sz="2800" dirty="0">
                <a:cs typeface="Arial" panose="020B0604020202020204" pitchFamily="34" charset="0"/>
              </a:rPr>
              <a:t>Once the AAA rated tranches were perceived as risky they became very difficult to trade because investors realized they did not understand the risks</a:t>
            </a:r>
          </a:p>
          <a:p>
            <a:pPr eaLnBrk="1" hangingPunct="1"/>
            <a:r>
              <a:rPr lang="en-CA" altLang="en-US" sz="2800" dirty="0">
                <a:cs typeface="Arial" panose="020B0604020202020204" pitchFamily="34" charset="0"/>
              </a:rPr>
              <a:t>Other credit related products with simpler structures (</a:t>
            </a:r>
            <a:r>
              <a:rPr lang="en-CA" altLang="en-US" sz="2800" dirty="0" err="1">
                <a:cs typeface="Arial" panose="020B0604020202020204" pitchFamily="34" charset="0"/>
              </a:rPr>
              <a:t>eg</a:t>
            </a:r>
            <a:r>
              <a:rPr lang="en-CA" altLang="en-US" sz="2800" dirty="0">
                <a:cs typeface="Arial" panose="020B0604020202020204" pitchFamily="34" charset="0"/>
              </a:rPr>
              <a:t>, credit default swaps) continued to trade during the GFC.</a:t>
            </a:r>
            <a:endParaRPr lang="en-US" altLang="en-US" sz="2800" dirty="0">
              <a:cs typeface="Arial" panose="020B0604020202020204" pitchFamily="34" charset="0"/>
            </a:endParaRPr>
          </a:p>
          <a:p>
            <a:pPr eaLnBrk="1" hangingPunct="1">
              <a:buFontTx/>
              <a:buNone/>
            </a:pPr>
            <a:r>
              <a:rPr lang="en-US" altLang="en-US" sz="2800" dirty="0">
                <a:cs typeface="Arial" panose="020B0604020202020204" pitchFamily="34" charset="0"/>
              </a:rPr>
              <a:t> </a:t>
            </a:r>
          </a:p>
        </p:txBody>
      </p:sp>
      <p:sp>
        <p:nvSpPr>
          <p:cNvPr id="3686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638BAA-8C2C-4348-837F-63AF3068B410}" type="slidenum">
              <a:rPr lang="en-US" altLang="en-US" sz="1800"/>
              <a:pPr>
                <a:spcBef>
                  <a:spcPct val="0"/>
                </a:spcBef>
                <a:buClrTx/>
                <a:buSzTx/>
                <a:buFontTx/>
                <a:buNone/>
              </a:pPr>
              <a:t>13</a:t>
            </a:fld>
            <a:endParaRPr lang="en-US" altLang="en-US" sz="1800"/>
          </a:p>
        </p:txBody>
      </p:sp>
      <p:sp>
        <p:nvSpPr>
          <p:cNvPr id="36869"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p:cNvSpPr>
            <a:spLocks noGrp="1"/>
          </p:cNvSpPr>
          <p:nvPr>
            <p:ph type="title"/>
          </p:nvPr>
        </p:nvSpPr>
        <p:spPr/>
        <p:txBody>
          <a:bodyPr/>
          <a:lstStyle/>
          <a:p>
            <a:r>
              <a:rPr lang="en-CA" altLang="en-US" dirty="0"/>
              <a:t>Lessons from </a:t>
            </a:r>
            <a:r>
              <a:rPr lang="en-CA" altLang="en-US"/>
              <a:t>the GFC </a:t>
            </a:r>
            <a:r>
              <a:rPr lang="en-CA" altLang="en-US" sz="2400" dirty="0"/>
              <a:t>(page 158)</a:t>
            </a:r>
            <a:endParaRPr lang="en-US" altLang="en-US" sz="2400" dirty="0"/>
          </a:p>
        </p:txBody>
      </p:sp>
      <p:sp>
        <p:nvSpPr>
          <p:cNvPr id="38915" name="Content Placeholder 5"/>
          <p:cNvSpPr>
            <a:spLocks noGrp="1"/>
          </p:cNvSpPr>
          <p:nvPr>
            <p:ph idx="1"/>
          </p:nvPr>
        </p:nvSpPr>
        <p:spPr>
          <a:xfrm>
            <a:off x="468313" y="1557338"/>
            <a:ext cx="8229600" cy="4411662"/>
          </a:xfrm>
        </p:spPr>
        <p:txBody>
          <a:bodyPr/>
          <a:lstStyle/>
          <a:p>
            <a:pPr eaLnBrk="1" hangingPunct="1"/>
            <a:r>
              <a:rPr lang="en-CA" altLang="en-US" sz="2400" dirty="0"/>
              <a:t>Beware irrational exuberance</a:t>
            </a:r>
          </a:p>
          <a:p>
            <a:pPr eaLnBrk="1" hangingPunct="1"/>
            <a:r>
              <a:rPr lang="en-CA" altLang="en-US" sz="2400" dirty="0"/>
              <a:t>Do not underestimate default correlations in stressed markets</a:t>
            </a:r>
          </a:p>
          <a:p>
            <a:pPr eaLnBrk="1" hangingPunct="1"/>
            <a:r>
              <a:rPr lang="en-CA" altLang="en-US" sz="2400" dirty="0"/>
              <a:t>Recovery rate depends on default rate </a:t>
            </a:r>
          </a:p>
          <a:p>
            <a:pPr eaLnBrk="1" hangingPunct="1"/>
            <a:r>
              <a:rPr lang="en-CA" altLang="en-US" sz="2400" dirty="0"/>
              <a:t>Compensation structures did not create the right incentives</a:t>
            </a:r>
          </a:p>
          <a:p>
            <a:pPr eaLnBrk="1" hangingPunct="1"/>
            <a:r>
              <a:rPr lang="en-CA" altLang="en-US" sz="2400" dirty="0"/>
              <a:t>If a deal seems too good to be true (</a:t>
            </a:r>
            <a:r>
              <a:rPr lang="en-CA" altLang="en-US" sz="2400" dirty="0" err="1"/>
              <a:t>eg</a:t>
            </a:r>
            <a:r>
              <a:rPr lang="en-CA" altLang="en-US" sz="2400" dirty="0"/>
              <a:t>, a AAA earning LIBOR plus 100 </a:t>
            </a:r>
            <a:r>
              <a:rPr lang="en-CA" altLang="en-US" sz="2400" dirty="0" err="1"/>
              <a:t>bp</a:t>
            </a:r>
            <a:r>
              <a:rPr lang="en-CA" altLang="en-US" sz="2400" dirty="0"/>
              <a:t>) it probably is</a:t>
            </a:r>
          </a:p>
          <a:p>
            <a:pPr eaLnBrk="1" hangingPunct="1"/>
            <a:r>
              <a:rPr lang="en-CA" altLang="en-US" sz="2400" dirty="0"/>
              <a:t>Do not rely on ratings</a:t>
            </a:r>
          </a:p>
          <a:p>
            <a:pPr eaLnBrk="1" hangingPunct="1"/>
            <a:r>
              <a:rPr lang="en-CA" altLang="en-US" sz="2400" dirty="0"/>
              <a:t>Transparency is important in financial markets</a:t>
            </a:r>
          </a:p>
          <a:p>
            <a:pPr eaLnBrk="1" hangingPunct="1"/>
            <a:r>
              <a:rPr lang="en-CA" altLang="en-US" sz="2400" dirty="0" err="1"/>
              <a:t>Resecuritization</a:t>
            </a:r>
            <a:r>
              <a:rPr lang="en-CA" altLang="en-US" sz="2400" dirty="0"/>
              <a:t> was a badly flawed idea</a:t>
            </a:r>
          </a:p>
          <a:p>
            <a:pPr eaLnBrk="1" hangingPunct="1"/>
            <a:endParaRPr lang="en-CA" altLang="en-US" sz="2400" dirty="0"/>
          </a:p>
        </p:txBody>
      </p:sp>
      <p:sp>
        <p:nvSpPr>
          <p:cNvPr id="38916"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7,  Copyright © John C. Hull 2023</a:t>
            </a:r>
            <a:endParaRPr lang="en-US" altLang="en-US" sz="1400" i="0">
              <a:cs typeface="Arial" panose="020B0604020202020204" pitchFamily="34" charset="0"/>
            </a:endParaRPr>
          </a:p>
        </p:txBody>
      </p:sp>
      <p:sp>
        <p:nvSpPr>
          <p:cNvPr id="3891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AFA4D8F-7B92-42B4-A4E0-ABF006BC47AE}" type="slidenum">
              <a:rPr lang="en-US" altLang="en-US" sz="1800"/>
              <a:pPr>
                <a:spcBef>
                  <a:spcPct val="0"/>
                </a:spcBef>
                <a:buClrTx/>
                <a:buSzTx/>
                <a:buFontTx/>
                <a:buNone/>
              </a:pPr>
              <a:t>14</a:t>
            </a:fld>
            <a:endParaRPr lang="en-US" altLang="en-US" sz="1800"/>
          </a:p>
        </p:txBody>
      </p:sp>
    </p:spTree>
  </p:cSld>
  <p:clrMapOvr>
    <a:masterClrMapping/>
  </p:clrMapOvr>
</p:sld>
</file>

<file path=ppt/theme/theme1.xml><?xml version="1.0" encoding="utf-8"?>
<a:theme xmlns:a="http://schemas.openxmlformats.org/drawingml/2006/main" name="HullRMFICh11">
  <a:themeElements>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1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1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1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1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1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1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1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1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A21D91-B98F-49EF-B6E9-CD4994C9CA35}"/>
</file>

<file path=customXml/itemProps2.xml><?xml version="1.0" encoding="utf-8"?>
<ds:datastoreItem xmlns:ds="http://schemas.openxmlformats.org/officeDocument/2006/customXml" ds:itemID="{4A147CD9-7100-4C10-8E5E-D76121CAB5D0}"/>
</file>

<file path=customXml/itemProps3.xml><?xml version="1.0" encoding="utf-8"?>
<ds:datastoreItem xmlns:ds="http://schemas.openxmlformats.org/officeDocument/2006/customXml" ds:itemID="{6640E168-FCBD-46D2-9F2E-E3C0DABCB8B3}"/>
</file>

<file path=docProps/app.xml><?xml version="1.0" encoding="utf-8"?>
<Properties xmlns="http://schemas.openxmlformats.org/officeDocument/2006/extended-properties" xmlns:vt="http://schemas.openxmlformats.org/officeDocument/2006/docPropsVTypes">
  <Template>E:\RiskBook\slides\HullRMFICh11.ppt</Template>
  <TotalTime>137</TotalTime>
  <Pages>17</Pages>
  <Words>1084</Words>
  <Application>Microsoft Office PowerPoint</Application>
  <PresentationFormat>Letter Paper (8.5x11 in)</PresentationFormat>
  <Paragraphs>199</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HullRMFICh11</vt:lpstr>
      <vt:lpstr>Securitization and the Global Financial Crisis</vt:lpstr>
      <vt:lpstr>U.S. Real Estate Prices, 1987 to 2021: S&amp;P/Case-Shiller Composite-10 Index</vt:lpstr>
      <vt:lpstr>What happened…</vt:lpstr>
      <vt:lpstr>What happened...</vt:lpstr>
      <vt:lpstr>Asset Backed Security (Simplified)   </vt:lpstr>
      <vt:lpstr>The Waterfall</vt:lpstr>
      <vt:lpstr>ABS CDOs or Mezz CDOs (Simplified)</vt:lpstr>
      <vt:lpstr>Losses to AAA Tranche of ABS CDO (Table 7.1)</vt:lpstr>
      <vt:lpstr>A More Realistic Structure  (Figure 7.5)</vt:lpstr>
      <vt:lpstr>BBB Tranches</vt:lpstr>
      <vt:lpstr>Regulatory Arbitrage</vt:lpstr>
      <vt:lpstr>Role of Incentives</vt:lpstr>
      <vt:lpstr>Importance of Transparency</vt:lpstr>
      <vt:lpstr>Lessons from the GFC (page 158)</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6</dc:subject>
  <dc:creator>John Hull</dc:creator>
  <cp:keywords>5th Edition</cp:keywords>
  <dc:description>Copyright 2018 by John Hull._x000d_
All rights reserved.</dc:description>
  <cp:lastModifiedBy>John Hull</cp:lastModifiedBy>
  <cp:revision>146</cp:revision>
  <cp:lastPrinted>1999-11-09T00:15:00Z</cp:lastPrinted>
  <dcterms:created xsi:type="dcterms:W3CDTF">1996-07-04T22:47:30Z</dcterms:created>
  <dcterms:modified xsi:type="dcterms:W3CDTF">2022-12-01T17:42:34Z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