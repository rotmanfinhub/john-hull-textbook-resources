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</p:sldMasterIdLst>
  <p:notesMasterIdLst>
    <p:notesMasterId r:id="rId13"/>
  </p:notesMasterIdLst>
  <p:handoutMasterIdLst>
    <p:handoutMasterId r:id="rId14"/>
  </p:handoutMasterIdLst>
  <p:sldIdLst>
    <p:sldId id="761" r:id="rId2"/>
    <p:sldId id="780" r:id="rId3"/>
    <p:sldId id="781" r:id="rId4"/>
    <p:sldId id="782" r:id="rId5"/>
    <p:sldId id="783" r:id="rId6"/>
    <p:sldId id="784" r:id="rId7"/>
    <p:sldId id="785" r:id="rId8"/>
    <p:sldId id="786" r:id="rId9"/>
    <p:sldId id="787" r:id="rId10"/>
    <p:sldId id="788" r:id="rId11"/>
    <p:sldId id="789" r:id="rId12"/>
  </p:sldIdLst>
  <p:sldSz cx="9144000" cy="6858000" type="letter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39" d="100"/>
          <a:sy n="139" d="100"/>
        </p:scale>
        <p:origin x="7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958850">
              <a:defRPr sz="1000" i="1"/>
            </a:lvl1pPr>
          </a:lstStyle>
          <a:p>
            <a:fld id="{7A609A6D-D6BB-4359-BA62-E7B6BB6306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105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800100">
              <a:defRPr sz="1000" i="1">
                <a:latin typeface="Times New Roman" panose="02020603050405020304" pitchFamily="18" charset="0"/>
              </a:defRPr>
            </a:lvl1pPr>
          </a:lstStyle>
          <a:p>
            <a:fld id="{ADF35BED-8EFF-4CC8-866A-2A11EED2E6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6" tIns="48298" rIns="96596" bIns="48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2063" y="722313"/>
            <a:ext cx="4797425" cy="359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4108038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20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26C0C2-380D-4B63-823A-09A0BF850B8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83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1B94DD-1A46-4591-89DA-FAD8AD62D90C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35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CA48DA-7E7F-4218-8B9A-2994411C4FA3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69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B9FDBB-3586-4150-94E5-0EAC74AF23B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537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B54FD2-8F7D-4755-831A-7C5AE8482F67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36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31B118-9CAB-426D-89FE-9D54677F337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848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9F70DA-F760-4C07-9900-511BA33BA7D5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9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14075C-AFDE-4692-A0B1-C49EB5D72C55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721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671D63-3A5E-42EA-82C8-F356D6EABB3F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92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C6E1EE-8BEA-48FE-828A-907B2C483732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326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472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02D8A83D-248E-4F2E-AF81-C53112905B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52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47BE2F-94B7-4EEA-BF80-D0A2BE4626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43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E0CBB8-F1F9-432C-9047-832AD6EFBF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96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E1166-BACF-4AA0-A77C-27248B431E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16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2C82C-4CE9-407A-A55D-595E7D63E8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331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90DB24-2DCC-461D-BC39-647B1F60A6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12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6100B-5357-47F6-A337-B9B13FD222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91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47A89-219A-433D-BFE7-CEA0A13FA6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77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22DDE-1719-4267-9071-095B4AA1B0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67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68E7A-69E7-42F1-ADE0-BADC7A4ECD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48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E3E51-FF7D-4402-A7FF-899425988D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78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461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61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16,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9461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12.</a:t>
            </a:r>
            <a:fld id="{2FD58C4A-8AE0-4B7C-9B40-426C4B7A72E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  <a:endParaRPr lang="en-US" altLang="en-US" sz="1400" i="0"/>
          </a:p>
        </p:txBody>
      </p:sp>
      <p:sp>
        <p:nvSpPr>
          <p:cNvPr id="13315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Scenario Analysis and Stress Testing</a:t>
            </a:r>
            <a:endParaRPr lang="en-US" altLang="en-US"/>
          </a:p>
        </p:txBody>
      </p:sp>
      <p:sp>
        <p:nvSpPr>
          <p:cNvPr id="13316" name="Rectangle 205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Chapter 16 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1A4701-AE7C-42A5-8EF1-7530B1E99FC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Stress Testing</a:t>
            </a:r>
            <a:endParaRPr lang="en-US" alt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Key Questions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How do we generate the scenarios?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How do we evaluate the scenarios?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What do we do with the results?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490432-2D77-445F-8374-34E35BB2479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Generating the Scenarios</a:t>
            </a:r>
            <a:endParaRPr lang="en-US" altLang="en-US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Stress individual variables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Choose particularly days when there were big market movements and stress all variables by the amount they moved on those days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Form a stress testing committee of senior management and ask it to generate the scenarios 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DD9BEB-29E6-4DAC-B34D-0DF7A435C8C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Core vs Peripheral Variables</a:t>
            </a:r>
            <a:endParaRPr lang="en-US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If scenario generated involves only a few “core” variables, regress other “peripheral” variables on the core variables to determine their movements. (Kupiec, 1999)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Ideally the relationship between peripheral and core variables should be estimated for stressed market conditions (Kim and Finger, 2000)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B1B87F-6FB2-43DC-9642-AD190E42520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Making Scenarios Complete</a:t>
            </a:r>
            <a:endParaRPr lang="en-US" altLang="en-US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Often an adverse scenario has an immediate effect on the value of a portfolio and a “knock on” effect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Examples</a:t>
            </a:r>
          </a:p>
          <a:p>
            <a:pPr lvl="1" eaLnBrk="1" hangingPunct="1"/>
            <a:r>
              <a:rPr lang="en-CA" altLang="en-US" dirty="0">
                <a:cs typeface="Arial" panose="020B0604020202020204" pitchFamily="34" charset="0"/>
              </a:rPr>
              <a:t>Global Financial Crisis</a:t>
            </a:r>
          </a:p>
          <a:p>
            <a:pPr lvl="1" eaLnBrk="1" hangingPunct="1"/>
            <a:r>
              <a:rPr lang="en-CA" altLang="en-US" dirty="0">
                <a:cs typeface="Arial" panose="020B0604020202020204" pitchFamily="34" charset="0"/>
              </a:rPr>
              <a:t>LTCM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F87A6D-1F1B-4EBF-BF12-E4ED6763444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Reverse Stress Testing </a:t>
            </a:r>
            <a:r>
              <a:rPr lang="en-CA" altLang="en-US" sz="2400" dirty="0"/>
              <a:t>(Section 16.1.6)</a:t>
            </a:r>
            <a:endParaRPr lang="en-US" altLang="en-US" sz="2400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Use an algorithm to search for scenarios where large losses occur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Can be a useful input to the stress testing committee.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9E46FD-EFC0-4B0F-9375-C082C8B7999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What are the Incentives of a Financial Institution?</a:t>
            </a:r>
            <a:endParaRPr lang="en-US" alt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85800" y="1785938"/>
            <a:ext cx="7772400" cy="4476750"/>
          </a:xfrm>
        </p:spPr>
        <p:txBody>
          <a:bodyPr/>
          <a:lstStyle/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If the stress testing committee comes up with extreme scenarios more regulatory capital is likely to be required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The stress testing committee may therefore have an incentive to “water down” the scenarios they consider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0BAB5-063D-472A-A345-7FCBAA3806D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Scenarios Chosen by Regulators</a:t>
            </a:r>
            <a:endParaRPr lang="en-US" alt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684213" y="1682750"/>
            <a:ext cx="7772400" cy="4262438"/>
          </a:xfrm>
        </p:spPr>
        <p:txBody>
          <a:bodyPr/>
          <a:lstStyle/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A part of US, UK, and EU regulation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CCAR for largest US banks considers recession scenarios similar to 1973-75, 1981-81, and 2007-2009 and banks must submit capital management plan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DFAST for medium sized banks involves similar scenarios but no capital management plans are required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If banks fail the tests they have to raise more capital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Regulators have to make sure banks do not game the system (See Business Snapshot 16.2)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CA" altLang="en-US" sz="2800" dirty="0">
              <a:cs typeface="Arial" panose="020B0604020202020204" pitchFamily="34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F5D3B-A873-43D8-954F-0E426158E50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What to do with the Results?</a:t>
            </a:r>
            <a:endParaRPr lang="en-US" altLang="en-US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Should managers place more reliance on stress testing results or VaR results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One idea is to ask the stress testing committee to assign probabilities to scenarios (e.g. 0.05% or 0.2% or 0.5%)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stress scenarios can then be integrated with the historical simulation scenarios to produce a composite VaR 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C61A0C-2EB3-42AD-834B-0DB3AD554E4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 from Chapter 12 </a:t>
            </a:r>
            <a:r>
              <a:rPr lang="en-CA" altLang="en-US" sz="2400" dirty="0"/>
              <a:t>(Table 16.1)</a:t>
            </a:r>
            <a:endParaRPr lang="en-US" altLang="en-US" sz="2400" dirty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6B13A9-BD55-4D09-8D00-3ECB24D0300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443152"/>
              </p:ext>
            </p:extLst>
          </p:nvPr>
        </p:nvGraphicFramePr>
        <p:xfrm>
          <a:off x="785813" y="1785938"/>
          <a:ext cx="7643812" cy="4238626"/>
        </p:xfrm>
        <a:graphic>
          <a:graphicData uri="http://schemas.openxmlformats.org/drawingml/2006/table">
            <a:tbl>
              <a:tblPr/>
              <a:tblGrid>
                <a:gridCol w="191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Scenario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Loss ($000s)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Probability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libri"/>
                          <a:cs typeface="Times New Roman"/>
                        </a:rPr>
                        <a:t>Cumul. Probability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s5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1,200.000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0.00050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0.00050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s4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1,050.000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0.00050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0.00100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v427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922.484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0.00298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s3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900.000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0.00200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0.00498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v429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858.423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0.00696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s2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700.000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0.00200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0.00896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v424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653.542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0.01094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v415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490.215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0.01292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v482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422.291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0.01490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s1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400.000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0.00500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0.01990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v440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362.733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0.02188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v426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360.532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0.02386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v431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353.788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0.00198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0.02584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Calibri"/>
                          <a:cs typeface="Times New Roman"/>
                        </a:rPr>
                        <a:t>….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Subjective vs Objective Probabilities</a:t>
            </a:r>
            <a:endParaRPr lang="en-US" altLang="en-US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z="2800"/>
              <a:t>Objective probabilities are calculated from data</a:t>
            </a:r>
          </a:p>
          <a:p>
            <a:pPr eaLnBrk="1" hangingPunct="1"/>
            <a:r>
              <a:rPr lang="en-CA" altLang="en-US" sz="2800"/>
              <a:t>Subjective probabilities is based on a individual’s judgment. </a:t>
            </a:r>
          </a:p>
          <a:p>
            <a:pPr eaLnBrk="1" hangingPunct="1"/>
            <a:r>
              <a:rPr lang="en-CA" altLang="en-US" sz="2800"/>
              <a:t>Objective probabilities are inevitably backward looking</a:t>
            </a:r>
          </a:p>
          <a:p>
            <a:pPr eaLnBrk="1" hangingPunct="1"/>
            <a:r>
              <a:rPr lang="en-CA" altLang="en-US" sz="2800"/>
              <a:t>The procedure just described is a way of combining subjective and objective probabilities.</a:t>
            </a:r>
            <a:endParaRPr lang="en-US" altLang="en-US" sz="280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16,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C4EAC-3171-4D48-8F3D-971E8610AE0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1">
  <a:themeElements>
    <a:clrScheme name="HullRMFICh11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1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1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B8D9AB-27A1-40AC-8B89-01BD3E5B8777}"/>
</file>

<file path=customXml/itemProps2.xml><?xml version="1.0" encoding="utf-8"?>
<ds:datastoreItem xmlns:ds="http://schemas.openxmlformats.org/officeDocument/2006/customXml" ds:itemID="{79899BB3-8F96-4600-9A7B-E76E423A5497}"/>
</file>

<file path=customXml/itemProps3.xml><?xml version="1.0" encoding="utf-8"?>
<ds:datastoreItem xmlns:ds="http://schemas.openxmlformats.org/officeDocument/2006/customXml" ds:itemID="{482241DF-8B03-4918-9F7D-63DCF053F74E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E:\RiskBook\slides\HullRMFICh11.ppt</Template>
  <TotalTime>408</TotalTime>
  <Pages>17</Pages>
  <Words>703</Words>
  <Application>Microsoft Office PowerPoint</Application>
  <PresentationFormat>Letter Paper (8.5x11 in)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HullRMFICh11</vt:lpstr>
      <vt:lpstr>Scenario Analysis and Stress Testing</vt:lpstr>
      <vt:lpstr>Stress Testing</vt:lpstr>
      <vt:lpstr>Generating the Scenarios</vt:lpstr>
      <vt:lpstr>Core vs Peripheral Variables</vt:lpstr>
      <vt:lpstr>Making Scenarios Complete</vt:lpstr>
      <vt:lpstr>Reverse Stress Testing (Section 16.1.6)</vt:lpstr>
      <vt:lpstr>What are the Incentives of a Financial Institution?</vt:lpstr>
      <vt:lpstr>Scenarios Chosen by Regulators</vt:lpstr>
      <vt:lpstr>What to do with the Results?</vt:lpstr>
      <vt:lpstr>Example from Chapter 12 (Table 16.1)</vt:lpstr>
      <vt:lpstr>Subjective vs Objective Probabilities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22</dc:subject>
  <dc:creator>John Hull</dc:creator>
  <cp:keywords>5th Edition</cp:keywords>
  <dc:description>Copyright 2018 by John Hull._x000d_
All rights reserved.</dc:description>
  <cp:lastModifiedBy>John Hull</cp:lastModifiedBy>
  <cp:revision>145</cp:revision>
  <cp:lastPrinted>1999-11-09T00:15:00Z</cp:lastPrinted>
  <dcterms:created xsi:type="dcterms:W3CDTF">1996-07-04T22:47:30Z</dcterms:created>
  <dcterms:modified xsi:type="dcterms:W3CDTF">2022-12-01T20:32:17Z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