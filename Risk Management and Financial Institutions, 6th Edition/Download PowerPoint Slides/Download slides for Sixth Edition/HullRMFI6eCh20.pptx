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s/slide17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6" r:id="rId3"/>
    <p:sldId id="267" r:id="rId4"/>
    <p:sldId id="287" r:id="rId5"/>
    <p:sldId id="294" r:id="rId6"/>
    <p:sldId id="271" r:id="rId7"/>
    <p:sldId id="281" r:id="rId8"/>
    <p:sldId id="279" r:id="rId9"/>
    <p:sldId id="289" r:id="rId10"/>
    <p:sldId id="290" r:id="rId11"/>
    <p:sldId id="291" r:id="rId12"/>
    <p:sldId id="292" r:id="rId13"/>
    <p:sldId id="293" r:id="rId14"/>
    <p:sldId id="278" r:id="rId15"/>
    <p:sldId id="286" r:id="rId16"/>
    <p:sldId id="276" r:id="rId17"/>
    <p:sldId id="280" r:id="rId18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93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56CF0C7-86FA-4E93-9DD7-309EC71315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3201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44EF9BE-BB44-49FF-B7DC-BE7663AB535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94794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2724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9483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2814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6778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67B5664-C431-4665-9FB7-3F2E28EBA8BC}" type="slidenum">
              <a:rPr lang="en-US" altLang="en-US" sz="130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4151123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8066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04332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2F65147-1CDA-4DCE-B4BE-ED73B478D4C9}" type="slidenum">
              <a:rPr lang="en-US" altLang="en-US" sz="1300"/>
              <a:pPr>
                <a:spcBef>
                  <a:spcPct val="0"/>
                </a:spcBef>
              </a:pPr>
              <a:t>15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111555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3283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6869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0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710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8612C19-FB87-4C51-8A25-72FD11E10F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234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12E3A6D-C95F-4C03-B4E7-D4C8348071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278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773CAE8-68E7-47D8-B6E0-2072BE0294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383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F3FAC7A-5A52-44FF-94F8-8392743133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346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3756F61-BB5E-4606-9D33-3396BEAC9A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134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0603B3A-8C5E-4BE4-9E33-9338B06AE9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5584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2D51950-6BE5-4496-8E6A-AD56EAF40D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9861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1032149-7AB9-4E00-900A-76BA467369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1650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569EC8-1F17-4363-BD24-4E5B1AE8BE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5679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E502530-93B4-45EF-9EA8-344FEC2848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225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77BB3D-64EE-4F8A-A24D-A3F967DA0C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2547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7C223F6-9A10-44D6-9E8D-A199C4EF05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5518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99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99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1699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 smtClean="0"/>
            </a:lvl1pPr>
          </a:lstStyle>
          <a:p>
            <a:pPr>
              <a:defRPr/>
            </a:pPr>
            <a:r>
              <a:rPr lang="en-US" altLang="en-US"/>
              <a:t>14.</a:t>
            </a:r>
            <a:fld id="{8E05AE25-8513-4A00-BF5E-FC696A2ABA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20,  Copyright © John C. Hull 2023</a:t>
            </a:r>
            <a:endParaRPr lang="en-US" altLang="en-US" sz="1400" i="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58888" y="1341438"/>
            <a:ext cx="5905500" cy="1295400"/>
          </a:xfrm>
        </p:spPr>
        <p:txBody>
          <a:bodyPr/>
          <a:lstStyle/>
          <a:p>
            <a:pPr eaLnBrk="1" hangingPunct="1"/>
            <a:r>
              <a:rPr lang="en-US" altLang="en-US"/>
              <a:t>Operational Risk</a:t>
            </a:r>
            <a:r>
              <a:rPr lang="en-US" altLang="en-US" sz="4000"/>
              <a:t> 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827088" y="3068638"/>
            <a:ext cx="63373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4000" b="1" dirty="0">
                <a:latin typeface="Times New Roman" pitchFamily="18" charset="0"/>
              </a:rPr>
              <a:t>  </a:t>
            </a:r>
            <a:r>
              <a:rPr lang="en-US" sz="3600" dirty="0">
                <a:latin typeface="+mn-lt"/>
              </a:rPr>
              <a:t>Chapter 20</a:t>
            </a:r>
          </a:p>
        </p:txBody>
      </p:sp>
      <p:sp>
        <p:nvSpPr>
          <p:cNvPr id="1638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EDCA4C1-B943-4DC9-9D1E-1924129EC3A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Definition of Operational Risk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	“Operational risk is the risk of loss resulting from inadequate or failed internal processes, people, and systems, or from external events”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Basel Committee Jan 2001</a:t>
            </a:r>
          </a:p>
        </p:txBody>
      </p:sp>
      <p:sp>
        <p:nvSpPr>
          <p:cNvPr id="1843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D70DAA-5371-4843-AB58-7F9651EF75F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It Includes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definition includes people risks, technology and processing risks, physical risks, legal risks, etc</a:t>
            </a:r>
          </a:p>
          <a:p>
            <a:pPr eaLnBrk="1" hangingPunct="1"/>
            <a:r>
              <a:rPr lang="en-US" altLang="en-US"/>
              <a:t>The definition excludes reputation risk and strategic risk</a:t>
            </a:r>
          </a:p>
        </p:txBody>
      </p:sp>
      <p:sp>
        <p:nvSpPr>
          <p:cNvPr id="2150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5186D6D-BB41-4FC2-ABF7-D5C26400F78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The Biggest Risk?</a:t>
            </a:r>
            <a:endParaRPr lang="en-US" altLang="en-US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altLang="en-US" dirty="0"/>
              <a:t>Operational risk is difficult to quantify but is now regarded as the biggest risk facing banks</a:t>
            </a:r>
          </a:p>
          <a:p>
            <a:r>
              <a:rPr lang="en-CA" altLang="en-US" dirty="0"/>
              <a:t>Cyber risk is a huge issue flor financial institutions</a:t>
            </a:r>
          </a:p>
          <a:p>
            <a:r>
              <a:rPr lang="en-CA" altLang="en-US" dirty="0"/>
              <a:t>Compliance risks can lead to huge losses (e.g. BNP Paribas’s $9 billion loss in 2014)</a:t>
            </a:r>
            <a:endParaRPr lang="en-US" altLang="en-US" dirty="0"/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panose="020B0604020202020204" pitchFamily="34" charset="0"/>
            </a:endParaRPr>
          </a:p>
        </p:txBody>
      </p:sp>
      <p:sp>
        <p:nvSpPr>
          <p:cNvPr id="204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2ED66F-8680-4EBE-8D10-67B8D585F09C}" type="slidenum">
              <a:rPr lang="en-US" altLang="en-US"/>
              <a:pPr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E4052-05BF-3E55-B396-AC1C825A0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Categories of Operational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A1DEE-24E0-B533-6C0C-DA0B32913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Internal fraud</a:t>
            </a:r>
          </a:p>
          <a:p>
            <a:r>
              <a:rPr lang="en-CA" sz="2400" dirty="0"/>
              <a:t>External fraud</a:t>
            </a:r>
          </a:p>
          <a:p>
            <a:r>
              <a:rPr lang="en-CA" sz="2400" dirty="0"/>
              <a:t>Employment practices and workplace safety</a:t>
            </a:r>
          </a:p>
          <a:p>
            <a:r>
              <a:rPr lang="en-CA" sz="2400" dirty="0"/>
              <a:t>Clients, products and business practices</a:t>
            </a:r>
          </a:p>
          <a:p>
            <a:r>
              <a:rPr lang="en-CA" sz="2400" dirty="0"/>
              <a:t>Damage to physical assets</a:t>
            </a:r>
          </a:p>
          <a:p>
            <a:r>
              <a:rPr lang="en-CA" sz="2400" dirty="0"/>
              <a:t>Business disruption and system failures</a:t>
            </a:r>
          </a:p>
          <a:p>
            <a:r>
              <a:rPr lang="en-CA" sz="2400" dirty="0"/>
              <a:t>Execution, delivery, and process management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5D3F9-BC51-9CBA-62E5-28299F8E3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8A659-716C-5AC0-579B-9B8DDEB24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2E3A6D-C95F-4C03-B4E7-D4C834807169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9790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22238"/>
            <a:ext cx="7488238" cy="10033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Loss Severity vs Loss Frequency</a:t>
            </a:r>
            <a:r>
              <a:rPr lang="en-US" altLang="en-US" sz="3500" dirty="0"/>
              <a:t> </a:t>
            </a:r>
            <a:r>
              <a:rPr lang="en-US" altLang="en-US" sz="2400" dirty="0"/>
              <a:t>(Section 20.3)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7786688" cy="44116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Loss frequency should be estimated from the banks own data as far as possible.  One possibility is to assume a Poisson distribution so that we need only estimate an average loss frequency. Probability of</a:t>
            </a:r>
            <a:r>
              <a:rPr lang="en-US" altLang="en-US" sz="2400" i="1" dirty="0">
                <a:latin typeface="Times New Roman" panose="02020603050405020304" pitchFamily="18" charset="0"/>
              </a:rPr>
              <a:t> n </a:t>
            </a:r>
            <a:r>
              <a:rPr lang="en-US" altLang="en-US" sz="2400" dirty="0"/>
              <a:t>events in time </a:t>
            </a:r>
            <a:r>
              <a:rPr lang="en-US" altLang="en-US" sz="2400" i="1" dirty="0">
                <a:latin typeface="Times New Roman" panose="02020603050405020304" pitchFamily="18" charset="0"/>
              </a:rPr>
              <a:t>T</a:t>
            </a:r>
            <a:r>
              <a:rPr lang="en-US" altLang="en-US" sz="2400" dirty="0"/>
              <a:t> is then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Loss severity can be based on internal and external historical data. One possibility is to assume a lognormal distribution so that we need only estimate the mean and SD of losses.</a:t>
            </a:r>
          </a:p>
        </p:txBody>
      </p:sp>
      <p:graphicFrame>
        <p:nvGraphicFramePr>
          <p:cNvPr id="32773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2928938" y="3500438"/>
          <a:ext cx="1019175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710891" imgH="418918" progId="Equation.3">
                  <p:embed/>
                </p:oleObj>
              </mc:Choice>
              <mc:Fallback>
                <p:oleObj name="Equation" r:id="rId4" imgW="710891" imgH="41891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38" y="3500438"/>
                        <a:ext cx="1019175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95F731-9713-42AF-90F3-920B98253D7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/>
              <a:t>Using Monte Carlo to combine the Distributions </a:t>
            </a:r>
            <a:r>
              <a:rPr lang="en-CA" altLang="en-US" sz="2400" dirty="0"/>
              <a:t>(Figure 20.1)</a:t>
            </a:r>
            <a:endParaRPr lang="en-US" altLang="en-US" sz="2400" dirty="0"/>
          </a:p>
        </p:txBody>
      </p:sp>
      <p:sp>
        <p:nvSpPr>
          <p:cNvPr id="34819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4FA438D-4134-4250-845C-02EED8EC691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  <p:pic>
        <p:nvPicPr>
          <p:cNvPr id="3482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1643063"/>
            <a:ext cx="7269163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Monte Carlo Simulation Trial </a:t>
            </a:r>
            <a:br>
              <a:rPr lang="en-US" altLang="en-US"/>
            </a:br>
            <a:endParaRPr lang="en-US" altLang="en-US" sz="2400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Sample from frequency distribution to determine the number of loss events (=</a:t>
            </a:r>
            <a:r>
              <a:rPr lang="en-US" altLang="en-US" i="1">
                <a:latin typeface="Times New Roman" panose="02020603050405020304" pitchFamily="18" charset="0"/>
              </a:rPr>
              <a:t>n</a:t>
            </a:r>
            <a:r>
              <a:rPr lang="en-US" altLang="en-US"/>
              <a:t>)</a:t>
            </a:r>
          </a:p>
          <a:p>
            <a:pPr eaLnBrk="1" hangingPunct="1"/>
            <a:r>
              <a:rPr lang="en-US" altLang="en-US"/>
              <a:t>Sample </a:t>
            </a:r>
            <a:r>
              <a:rPr lang="en-US" altLang="en-US" i="1">
                <a:latin typeface="Times New Roman" panose="02020603050405020304" pitchFamily="18" charset="0"/>
              </a:rPr>
              <a:t>n</a:t>
            </a:r>
            <a:r>
              <a:rPr lang="en-US" altLang="en-US"/>
              <a:t> times from the loss severity distribution to determine the loss severity for each loss event</a:t>
            </a:r>
          </a:p>
          <a:p>
            <a:pPr eaLnBrk="1" hangingPunct="1"/>
            <a:r>
              <a:rPr lang="en-US" altLang="en-US"/>
              <a:t>Sum loss severities to determine total loss </a:t>
            </a:r>
          </a:p>
          <a:p>
            <a:pPr eaLnBrk="1" hangingPunct="1"/>
            <a:endParaRPr lang="en-US" altLang="en-US"/>
          </a:p>
        </p:txBody>
      </p:sp>
      <p:sp>
        <p:nvSpPr>
          <p:cNvPr id="3686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FA4C68-B8BC-43C0-9055-2A7C9E69F6E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Bank regulators now calculate capital for operational risk using the Standard Measurement Approach (SMA)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2E3A6D-C95F-4C03-B4E7-D4C834807169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9759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SMA: The Business Indicator (BI)</a:t>
            </a:r>
            <a:endParaRPr lang="en-CA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business indicator (BI) reflects net interest income, other operating income, the net P&amp;L (see Section 20.4)</a:t>
            </a:r>
          </a:p>
          <a:p>
            <a:r>
              <a:rPr lang="en-CA" dirty="0"/>
              <a:t>BI Component (BIC) is a piecewise linear function of BI (see Table 20.1)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2E3A6D-C95F-4C03-B4E7-D4C834807169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049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SMA: The Loss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Loss Component (LC) is equal to the 15 times the average annual operational research losses over the previous 10 years.</a:t>
            </a:r>
          </a:p>
          <a:p>
            <a:r>
              <a:rPr lang="en-CA" dirty="0"/>
              <a:t>If 10 years of losses are not available banks can use losses over 5 years during a transition period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2E3A6D-C95F-4C03-B4E7-D4C834807169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7888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SMA: The Internal Loss Multiplier (ILM)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2E3A6D-C95F-4C03-B4E7-D4C834807169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 txBox="1">
                <a:spLocks noGrp="1"/>
              </p:cNvSpPr>
              <p:nvPr>
                <p:ph idx="1"/>
              </p:nvPr>
            </p:nvSpPr>
            <p:spPr>
              <a:xfrm>
                <a:off x="1258888" y="2349500"/>
                <a:ext cx="6407150" cy="136683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A" sz="40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ILM</m:t>
                      </m:r>
                      <m:r>
                        <a:rPr lang="en-CA" sz="4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CA" sz="4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["/>
                          <m:endChr m:val="]"/>
                          <m:ctrlPr>
                            <a:rPr lang="en-CA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CA" sz="4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−1+</m:t>
                          </m:r>
                          <m:sSup>
                            <m:sSupPr>
                              <m:ctrlPr>
                                <a:rPr lang="en-CA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CA" sz="4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CA" sz="4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m:rPr>
                                          <m:sty m:val="p"/>
                                        </m:rPr>
                                        <a:rPr lang="en-CA" sz="40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LC</m:t>
                                      </m:r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n-CA" sz="40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BIC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CA" sz="4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CA" sz="4000" dirty="0"/>
              </a:p>
            </p:txBody>
          </p:sp>
        </mc:Choice>
        <mc:Fallback xmlns="">
          <p:sp>
            <p:nvSpPr>
              <p:cNvPr id="6" name="Content Placeholder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8888" y="2349500"/>
                <a:ext cx="6407150" cy="1366838"/>
              </a:xfrm>
              <a:prstGeom prst="rect">
                <a:avLst/>
              </a:prstGeom>
              <a:blipFill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7481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SMA Capital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20,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2E3A6D-C95F-4C03-B4E7-D4C834807169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64C26A-8EA8-35B4-5558-520AE6405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 capital is set equal to BIC for small banks and the product of BIC and ILM for large banks</a:t>
            </a:r>
          </a:p>
          <a:p>
            <a:r>
              <a:rPr lang="en-CA" dirty="0"/>
              <a:t>National regulators have some discretion </a:t>
            </a:r>
          </a:p>
        </p:txBody>
      </p:sp>
    </p:spTree>
    <p:extLst>
      <p:ext uri="{BB962C8B-B14F-4D97-AF65-F5344CB8AC3E}">
        <p14:creationId xmlns:p14="http://schemas.microsoft.com/office/powerpoint/2010/main" val="1567596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Loss Prevention</a:t>
            </a:r>
            <a:endParaRPr lang="en-CA" altLang="en-US" dirty="0"/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Establish causal relationships</a:t>
            </a:r>
            <a:endParaRPr lang="en-US" altLang="en-US" sz="2800" dirty="0"/>
          </a:p>
          <a:p>
            <a:pPr eaLnBrk="1" hangingPunct="1"/>
            <a:r>
              <a:rPr lang="en-US" altLang="en-US" sz="2800" dirty="0"/>
              <a:t>RCSA </a:t>
            </a:r>
          </a:p>
          <a:p>
            <a:pPr eaLnBrk="1" hangingPunct="1"/>
            <a:r>
              <a:rPr lang="en-US" altLang="en-US" sz="2800" dirty="0"/>
              <a:t>KRI </a:t>
            </a:r>
          </a:p>
          <a:p>
            <a:pPr eaLnBrk="1" hangingPunct="1"/>
            <a:r>
              <a:rPr lang="en-CA" altLang="en-US" sz="2800" dirty="0"/>
              <a:t>Allocate operational risk capital to encourage business units to reduce operational risk</a:t>
            </a:r>
          </a:p>
          <a:p>
            <a:pPr eaLnBrk="1" hangingPunct="1"/>
            <a:r>
              <a:rPr lang="en-CA" altLang="en-US" sz="2800" dirty="0"/>
              <a:t>Educate employees to be careful about what they write in emails and (when they work in the trading room) what they say over the phone</a:t>
            </a:r>
            <a:endParaRPr lang="en-US" altLang="en-US" sz="2800" dirty="0"/>
          </a:p>
        </p:txBody>
      </p:sp>
      <p:sp>
        <p:nvSpPr>
          <p:cNvPr id="5120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D847DC5-25FC-4B2D-AC18-F867A622660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Power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  <a:defRPr/>
            </a:pPr>
            <a:r>
              <a:rPr lang="en-US" dirty="0" err="1"/>
              <a:t>Prob</a:t>
            </a:r>
            <a:r>
              <a:rPr lang="en-US" dirty="0"/>
              <a:t> (</a:t>
            </a:r>
            <a:r>
              <a:rPr lang="en-US" i="1" dirty="0">
                <a:latin typeface="+mj-lt"/>
              </a:rPr>
              <a:t>v</a:t>
            </a:r>
            <a:r>
              <a:rPr lang="en-US" dirty="0"/>
              <a:t> &gt; </a:t>
            </a:r>
            <a:r>
              <a:rPr lang="en-US" i="1" dirty="0">
                <a:latin typeface="+mj-lt"/>
              </a:rPr>
              <a:t>x</a:t>
            </a:r>
            <a:r>
              <a:rPr lang="en-US" dirty="0"/>
              <a:t>) = </a:t>
            </a:r>
            <a:r>
              <a:rPr lang="en-US" i="1" dirty="0" err="1">
                <a:latin typeface="+mj-lt"/>
              </a:rPr>
              <a:t>Kx</a:t>
            </a:r>
            <a:r>
              <a:rPr lang="en-US" i="1" baseline="30000" dirty="0">
                <a:latin typeface="+mj-lt"/>
              </a:rPr>
              <a:t>-</a:t>
            </a:r>
            <a:r>
              <a:rPr lang="en-US" baseline="30000" dirty="0">
                <a:latin typeface="Symbol" pitchFamily="18" charset="2"/>
              </a:rPr>
              <a:t>a</a:t>
            </a:r>
          </a:p>
          <a:p>
            <a:pPr>
              <a:defRPr/>
            </a:pPr>
            <a:r>
              <a:rPr lang="en-US" dirty="0"/>
              <a:t>Research shows that this works quite well for operational risk losses</a:t>
            </a:r>
          </a:p>
          <a:p>
            <a:pPr>
              <a:defRPr/>
            </a:pPr>
            <a:r>
              <a:rPr lang="en-US" dirty="0"/>
              <a:t>Distribution with heaviest tails (lowest </a:t>
            </a:r>
            <a:r>
              <a:rPr lang="en-US" dirty="0">
                <a:latin typeface="Symbol" pitchFamily="18" charset="2"/>
              </a:rPr>
              <a:t>a</a:t>
            </a:r>
            <a:r>
              <a:rPr lang="en-US" dirty="0"/>
              <a:t>) tend to define the 99.9% worst case result</a:t>
            </a:r>
          </a:p>
        </p:txBody>
      </p:sp>
      <p:sp>
        <p:nvSpPr>
          <p:cNvPr id="5325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5325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459FA6-92F8-430E-A851-1F8E82AF203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Insurance </a:t>
            </a:r>
            <a:r>
              <a:rPr lang="en-US" altLang="en-US" sz="2400" dirty="0"/>
              <a:t>(Section 20.8)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Factors that affect the design of an insurance contract</a:t>
            </a:r>
          </a:p>
          <a:p>
            <a:pPr lvl="1" eaLnBrk="1" hangingPunct="1"/>
            <a:r>
              <a:rPr lang="en-US" altLang="en-US" sz="2400"/>
              <a:t>Moral hazard</a:t>
            </a:r>
          </a:p>
          <a:p>
            <a:pPr lvl="1" eaLnBrk="1" hangingPunct="1"/>
            <a:r>
              <a:rPr lang="en-US" altLang="en-US" sz="2400"/>
              <a:t>Adverse selection</a:t>
            </a:r>
          </a:p>
          <a:p>
            <a:pPr eaLnBrk="1" hangingPunct="1"/>
            <a:r>
              <a:rPr lang="en-US" altLang="en-US" sz="2800"/>
              <a:t>To take account of these factors there are</a:t>
            </a:r>
          </a:p>
          <a:p>
            <a:pPr lvl="1" eaLnBrk="1" hangingPunct="1"/>
            <a:r>
              <a:rPr lang="en-US" altLang="en-US" sz="2400"/>
              <a:t>deductibles</a:t>
            </a:r>
          </a:p>
          <a:p>
            <a:pPr lvl="1" eaLnBrk="1" hangingPunct="1"/>
            <a:r>
              <a:rPr lang="en-US" altLang="en-US" sz="2400"/>
              <a:t>co-insurance provisions</a:t>
            </a:r>
          </a:p>
          <a:p>
            <a:pPr lvl="1" eaLnBrk="1" hangingPunct="1"/>
            <a:r>
              <a:rPr lang="en-US" altLang="en-US" sz="2400"/>
              <a:t>policy limits</a:t>
            </a:r>
          </a:p>
        </p:txBody>
      </p:sp>
      <p:sp>
        <p:nvSpPr>
          <p:cNvPr id="5530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B416BF-4499-47D6-9D7D-319BD926684F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20,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Sarbanes-Oxley </a:t>
            </a:r>
            <a:r>
              <a:rPr lang="en-US" altLang="en-US" sz="2400" dirty="0"/>
              <a:t>(Section 20.9)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CEO and CFO are more accountable</a:t>
            </a:r>
          </a:p>
          <a:p>
            <a:pPr eaLnBrk="1" hangingPunct="1"/>
            <a:r>
              <a:rPr lang="en-US" altLang="en-US" dirty="0"/>
              <a:t>SEC has more powers</a:t>
            </a:r>
          </a:p>
          <a:p>
            <a:pPr eaLnBrk="1" hangingPunct="1"/>
            <a:r>
              <a:rPr lang="en-US" altLang="en-US" dirty="0"/>
              <a:t>Auditors are not allowed to carry out significant non-audit tasks</a:t>
            </a:r>
          </a:p>
          <a:p>
            <a:pPr eaLnBrk="1" hangingPunct="1"/>
            <a:r>
              <a:rPr lang="en-US" altLang="en-US" dirty="0"/>
              <a:t>Audit committee of board must be made aware of alternative accounting treatments</a:t>
            </a:r>
          </a:p>
          <a:p>
            <a:pPr eaLnBrk="1" hangingPunct="1"/>
            <a:r>
              <a:rPr lang="en-US" altLang="en-US" dirty="0"/>
              <a:t>CEO and CFO must return bonuses in the event financial statements are restated</a:t>
            </a:r>
          </a:p>
        </p:txBody>
      </p:sp>
      <p:sp>
        <p:nvSpPr>
          <p:cNvPr id="5734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9167A6-E737-48E2-86AC-31D7706D6E5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2">
  <a:themeElements>
    <a:clrScheme name="HullRMFICh12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2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B8F8C6-2719-487C-8366-2AAFBC33C9F2}"/>
</file>

<file path=customXml/itemProps2.xml><?xml version="1.0" encoding="utf-8"?>
<ds:datastoreItem xmlns:ds="http://schemas.openxmlformats.org/officeDocument/2006/customXml" ds:itemID="{DC3978F3-F2F1-4113-BCBF-191BBDA77994}"/>
</file>

<file path=customXml/itemProps3.xml><?xml version="1.0" encoding="utf-8"?>
<ds:datastoreItem xmlns:ds="http://schemas.openxmlformats.org/officeDocument/2006/customXml" ds:itemID="{1E9D2E10-BFCD-48CE-BEB3-5E1C3058AAA4}"/>
</file>

<file path=docProps/app.xml><?xml version="1.0" encoding="utf-8"?>
<Properties xmlns="http://schemas.openxmlformats.org/officeDocument/2006/extended-properties" xmlns:vt="http://schemas.openxmlformats.org/officeDocument/2006/docPropsVTypes">
  <Template>HullRMFICh13</Template>
  <TotalTime>1068</TotalTime>
  <Words>921</Words>
  <Application>Microsoft Office PowerPoint</Application>
  <PresentationFormat>On-screen Show (4:3)</PresentationFormat>
  <Paragraphs>104</Paragraphs>
  <Slides>17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Cambria Math</vt:lpstr>
      <vt:lpstr>Symbol</vt:lpstr>
      <vt:lpstr>Times New Roman</vt:lpstr>
      <vt:lpstr>Wingdings</vt:lpstr>
      <vt:lpstr>HullRMFICh12</vt:lpstr>
      <vt:lpstr>Equation</vt:lpstr>
      <vt:lpstr>Operational Risk </vt:lpstr>
      <vt:lpstr>Definition of Operational Risk</vt:lpstr>
      <vt:lpstr>What It Includes</vt:lpstr>
      <vt:lpstr>The Biggest Risk?</vt:lpstr>
      <vt:lpstr>Categories of Operational Risk</vt:lpstr>
      <vt:lpstr>Loss Severity vs Loss Frequency (Section 20.3)</vt:lpstr>
      <vt:lpstr>Using Monte Carlo to combine the Distributions (Figure 20.1)</vt:lpstr>
      <vt:lpstr>Monte Carlo Simulation Trial  </vt:lpstr>
      <vt:lpstr>SMA</vt:lpstr>
      <vt:lpstr>SMA: The Business Indicator (BI)</vt:lpstr>
      <vt:lpstr>SMA: The Loss Component</vt:lpstr>
      <vt:lpstr>SMA: The Internal Loss Multiplier (ILM)</vt:lpstr>
      <vt:lpstr>SMA Capital</vt:lpstr>
      <vt:lpstr>Loss Prevention</vt:lpstr>
      <vt:lpstr>Power Law</vt:lpstr>
      <vt:lpstr>Insurance (Section 20.8)</vt:lpstr>
      <vt:lpstr>Sarbanes-Oxley (Section 20.9)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23</dc:subject>
  <dc:creator>John Hull</dc:creator>
  <cp:keywords>5th Edition</cp:keywords>
  <dc:description>Copyright 2018 by John Hull._x000d_
All rights reserved.</dc:description>
  <cp:lastModifiedBy>John Hull</cp:lastModifiedBy>
  <cp:revision>48</cp:revision>
  <dcterms:created xsi:type="dcterms:W3CDTF">2002-03-17T23:57:27Z</dcterms:created>
  <dcterms:modified xsi:type="dcterms:W3CDTF">2022-12-01T21:18:47Z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