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6" r:id="rId1"/>
  </p:sldMasterIdLst>
  <p:notesMasterIdLst>
    <p:notesMasterId r:id="rId20"/>
  </p:notesMasterIdLst>
  <p:handoutMasterIdLst>
    <p:handoutMasterId r:id="rId21"/>
  </p:handoutMasterIdLst>
  <p:sldIdLst>
    <p:sldId id="761" r:id="rId2"/>
    <p:sldId id="762" r:id="rId3"/>
    <p:sldId id="763" r:id="rId4"/>
    <p:sldId id="764" r:id="rId5"/>
    <p:sldId id="765" r:id="rId6"/>
    <p:sldId id="767" r:id="rId7"/>
    <p:sldId id="768" r:id="rId8"/>
    <p:sldId id="769" r:id="rId9"/>
    <p:sldId id="771" r:id="rId10"/>
    <p:sldId id="770" r:id="rId11"/>
    <p:sldId id="779" r:id="rId12"/>
    <p:sldId id="780" r:id="rId13"/>
    <p:sldId id="772" r:id="rId14"/>
    <p:sldId id="774" r:id="rId15"/>
    <p:sldId id="775" r:id="rId16"/>
    <p:sldId id="776" r:id="rId17"/>
    <p:sldId id="777" r:id="rId18"/>
    <p:sldId id="778" r:id="rId19"/>
  </p:sldIdLst>
  <p:sldSz cx="9144000" cy="6858000" type="letter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39" d="100"/>
          <a:sy n="139" d="100"/>
        </p:scale>
        <p:origin x="7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81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958850" eaLnBrk="0" hangingPunct="0">
              <a:defRPr sz="100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958850">
              <a:defRPr sz="1000" i="1" smtClean="0"/>
            </a:lvl1pPr>
          </a:lstStyle>
          <a:p>
            <a:pPr>
              <a:defRPr/>
            </a:pPr>
            <a:fld id="{8B41CAB4-3D0F-48EF-A00A-829019CE54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24847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t" anchorCtr="0" compatLnSpc="1">
            <a:prstTxWarp prst="textNoShape">
              <a:avLst/>
            </a:prstTxWarp>
          </a:bodyPr>
          <a:lstStyle>
            <a:lvl1pPr algn="r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l" defTabSz="800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985" tIns="0" rIns="19985" bIns="0" numCol="1" anchor="b" anchorCtr="0" compatLnSpc="1">
            <a:prstTxWarp prst="textNoShape">
              <a:avLst/>
            </a:prstTxWarp>
          </a:bodyPr>
          <a:lstStyle>
            <a:lvl1pPr algn="r" defTabSz="800100">
              <a:defRPr sz="1000" 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191E052-192A-40DC-9B80-48FA9F0473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96" tIns="48298" rIns="96596" bIns="482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2063" y="722313"/>
            <a:ext cx="4797425" cy="3597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725122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8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0AA47A-193B-414B-BE5B-EE5E4FCB6DA4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80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D4DFB80-C50F-433D-ABA8-EA258612D275}" type="slidenum">
              <a:rPr lang="en-US" altLang="en-US" sz="1000">
                <a:latin typeface="Calibri" panose="020F0502020204030204" pitchFamily="34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en-US" sz="1000">
              <a:latin typeface="Calibri" panose="020F050202020403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615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A9EF60C-4447-4A55-9E5D-817D55EA0D2C}" type="slidenum">
              <a:rPr lang="en-US" altLang="en-US" sz="1000">
                <a:latin typeface="Calibri" panose="020F0502020204030204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 sz="1000">
              <a:latin typeface="Calibri" panose="020F050202020403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cap="flat"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28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606BECE-01B7-4423-924D-B60858F48285}" type="slidenum">
              <a:rPr lang="en-US" altLang="en-US" sz="1000">
                <a:latin typeface="Calibri" panose="020F0502020204030204" pitchFamily="34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en-US" sz="1000">
              <a:latin typeface="Calibri" panose="020F050202020403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solidFill>
            <a:srgbClr val="FFFFFF"/>
          </a:solidFill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577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0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0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7D18B0D-7D59-445D-98CD-791F03C75B57}" type="slidenum">
              <a:rPr lang="en-US" altLang="en-US" sz="1000">
                <a:latin typeface="Calibri" panose="020F0502020204030204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en-US" sz="10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69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472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59261C-23E3-40B7-8B7A-476EC6C234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43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9D907C-3B62-4610-AE15-B672D30445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93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ED9F58-91A5-4599-B36E-985E91E31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46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0BF490-299B-4FEA-A4FA-CA1CD3A0C9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9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AA08671-C600-487F-A5F9-725F198E3D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72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ECE695-4A2B-4769-A471-CB33CFFF70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12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C485B5-5E7F-4B8B-A0CB-30E8207B9C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371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1136B1-BDDC-4876-8319-F4BA69B0B4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66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9032221-9FD3-4255-96F2-D84008C349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12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1334BE1-9A32-4B4F-9D7B-F71D5F40D6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31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205C73-8630-4984-9580-FAF014275C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5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461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61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10,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9461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fld id="{39F0FC9C-1DCB-4CB9-B279-F41288393B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Valuation and Scenario Analysis</a:t>
            </a:r>
          </a:p>
        </p:txBody>
      </p:sp>
      <p:sp>
        <p:nvSpPr>
          <p:cNvPr id="15363" name="Rectangle 205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Chapter 10 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2F8672-F9CB-449B-9C33-05BF38A539B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  <p:sp>
        <p:nvSpPr>
          <p:cNvPr id="15365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Risk Management and Financial Institutions 6e, Chapter 10,  Copyright © John C. Hull 2023</a:t>
            </a:r>
            <a:endParaRPr lang="en-US" altLang="en-US" sz="1400" i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Valuation vs. Scenario Analysis</a:t>
            </a:r>
            <a:endParaRPr lang="en-US" altLang="en-US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In valuation, we are interested in the present value of future cash flows</a:t>
            </a:r>
          </a:p>
          <a:p>
            <a:r>
              <a:rPr lang="en-CA" altLang="en-US" dirty="0"/>
              <a:t>In scenario analysis, we are interested in the range of situations that might exist at a future time</a:t>
            </a:r>
            <a:endParaRPr lang="en-US" altLang="en-US" dirty="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005E59-3A2E-46E9-A005-59DB7DA9DBD7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Example</a:t>
            </a:r>
            <a:endParaRPr lang="en-US" altLang="en-US" sz="2400" dirty="0"/>
          </a:p>
        </p:txBody>
      </p:sp>
      <p:sp>
        <p:nvSpPr>
          <p:cNvPr id="19459" name="Content Placeholder 5"/>
          <p:cNvSpPr>
            <a:spLocks noGrp="1"/>
          </p:cNvSpPr>
          <p:nvPr>
            <p:ph idx="1"/>
          </p:nvPr>
        </p:nvSpPr>
        <p:spPr>
          <a:xfrm>
            <a:off x="447675" y="1417638"/>
            <a:ext cx="8229600" cy="4411662"/>
          </a:xfrm>
        </p:spPr>
        <p:txBody>
          <a:bodyPr/>
          <a:lstStyle/>
          <a:p>
            <a:r>
              <a:rPr lang="en-CA" altLang="en-US" dirty="0"/>
              <a:t>One-year European call option on a stock worth $50 with a strike price of $55</a:t>
            </a:r>
          </a:p>
          <a:p>
            <a:r>
              <a:rPr lang="en-CA" altLang="en-US" dirty="0"/>
              <a:t>The value might be calculated as $4.5 and it might be sold for $5</a:t>
            </a:r>
          </a:p>
          <a:p>
            <a:r>
              <a:rPr lang="en-CA" altLang="en-US" dirty="0"/>
              <a:t>But a scenario analysis might show there is a 5% chance of the stock price rising above $80 </a:t>
            </a:r>
          </a:p>
          <a:p>
            <a:r>
              <a:rPr lang="en-CA" altLang="en-US" dirty="0"/>
              <a:t>This would cost the seller about $20</a:t>
            </a:r>
            <a:endParaRPr lang="en-US" altLang="en-US" dirty="0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32B48E-881B-454A-874B-4499F7514EA3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Volatility and Asset Prices</a:t>
            </a:r>
            <a:endParaRPr lang="en-US" alt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If the average return from an asset is </a:t>
            </a:r>
            <a:r>
              <a:rPr lang="en-CA" altLang="en-US">
                <a:latin typeface="Symbol" panose="05050102010706020507" pitchFamily="18" charset="2"/>
              </a:rPr>
              <a:t>m</a:t>
            </a:r>
            <a:r>
              <a:rPr lang="en-CA" altLang="en-US"/>
              <a:t> and its volatility is </a:t>
            </a:r>
            <a:r>
              <a:rPr lang="en-CA" altLang="en-US">
                <a:latin typeface="Symbol" panose="05050102010706020507" pitchFamily="18" charset="2"/>
              </a:rPr>
              <a:t>s</a:t>
            </a:r>
            <a:r>
              <a:rPr lang="en-CA" altLang="en-US"/>
              <a:t> then the most popular model (known as geometric Brownian) motion gives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CA" altLang="en-US"/>
              <a:t> 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CA" altLang="en-US"/>
              <a:t>	where </a:t>
            </a:r>
            <a:r>
              <a:rPr lang="en-CA" altLang="en-US" i="1">
                <a:latin typeface="Times New Roman" panose="02020603050405020304" pitchFamily="18" charset="0"/>
              </a:rPr>
              <a:t>S</a:t>
            </a:r>
            <a:r>
              <a:rPr lang="en-CA" altLang="en-US" i="1" baseline="-25000">
                <a:latin typeface="Times New Roman" panose="02020603050405020304" pitchFamily="18" charset="0"/>
              </a:rPr>
              <a:t>T</a:t>
            </a:r>
            <a:r>
              <a:rPr lang="en-CA" altLang="en-US" i="1">
                <a:latin typeface="Times New Roman" panose="02020603050405020304" pitchFamily="18" charset="0"/>
              </a:rPr>
              <a:t> </a:t>
            </a:r>
            <a:r>
              <a:rPr lang="en-CA" altLang="en-US"/>
              <a:t>is the stock price at time </a:t>
            </a:r>
            <a:r>
              <a:rPr lang="en-CA" altLang="en-US" i="1">
                <a:latin typeface="Times New Roman" panose="02020603050405020304" pitchFamily="18" charset="0"/>
              </a:rPr>
              <a:t>T</a:t>
            </a:r>
            <a:r>
              <a:rPr lang="en-CA" altLang="en-US"/>
              <a:t> and </a:t>
            </a:r>
            <a:r>
              <a:rPr lang="en-CA" altLang="en-US">
                <a:latin typeface="Symbol" panose="05050102010706020507" pitchFamily="18" charset="2"/>
              </a:rPr>
              <a:t>f</a:t>
            </a:r>
            <a:r>
              <a:rPr lang="en-CA" altLang="en-US"/>
              <a:t>(</a:t>
            </a:r>
            <a:r>
              <a:rPr lang="en-CA" altLang="en-US" i="1">
                <a:latin typeface="Times New Roman" panose="02020603050405020304" pitchFamily="18" charset="0"/>
              </a:rPr>
              <a:t>m,v</a:t>
            </a:r>
            <a:r>
              <a:rPr lang="en-CA" altLang="en-US"/>
              <a:t>) is a normal distribution with mean </a:t>
            </a:r>
            <a:r>
              <a:rPr lang="en-CA" altLang="en-US" i="1">
                <a:latin typeface="Times New Roman" panose="02020603050405020304" pitchFamily="18" charset="0"/>
              </a:rPr>
              <a:t>m</a:t>
            </a:r>
            <a:r>
              <a:rPr lang="en-CA" altLang="en-US"/>
              <a:t> and variance </a:t>
            </a:r>
            <a:r>
              <a:rPr lang="en-CA" altLang="en-US" i="1">
                <a:latin typeface="Times New Roman" panose="02020603050405020304" pitchFamily="18" charset="0"/>
              </a:rPr>
              <a:t>v</a:t>
            </a:r>
            <a:r>
              <a:rPr lang="en-CA" altLang="en-US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CA" altLang="en-US"/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F1E473-BE4C-4B23-BDA8-2F908C490FBD}" type="slidenum">
              <a:rPr lang="en-US" altLang="en-US"/>
              <a:pPr/>
              <a:t>4</a:t>
            </a:fld>
            <a:endParaRPr lang="en-US" altLang="en-US"/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/>
        </p:nvGraphicFramePr>
        <p:xfrm>
          <a:off x="1885950" y="3500438"/>
          <a:ext cx="42005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2108160" imgH="457200" progId="Equation.3">
                  <p:embed/>
                </p:oleObj>
              </mc:Choice>
              <mc:Fallback>
                <p:oleObj name="Equation" r:id="rId3" imgW="21081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3500438"/>
                        <a:ext cx="42005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Probability of Extreme Values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679767-6F82-4746-BD39-A40B01132FCE}" type="slidenum">
              <a:rPr lang="en-US" altLang="en-US"/>
              <a:pPr/>
              <a:t>5</a:t>
            </a:fld>
            <a:endParaRPr lang="en-US" altLang="en-US"/>
          </a:p>
        </p:txBody>
      </p:sp>
      <p:graphicFrame>
        <p:nvGraphicFramePr>
          <p:cNvPr id="215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522054"/>
              </p:ext>
            </p:extLst>
          </p:nvPr>
        </p:nvGraphicFramePr>
        <p:xfrm>
          <a:off x="1116013" y="2005013"/>
          <a:ext cx="7016750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4279680" imgH="2108160" progId="Equation.3">
                  <p:embed/>
                </p:oleObj>
              </mc:Choice>
              <mc:Fallback>
                <p:oleObj name="Equation" r:id="rId3" imgW="4279680" imgH="2108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005013"/>
                        <a:ext cx="7016750" cy="345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Risk-Neutral Valuation </a:t>
            </a:r>
            <a:r>
              <a:rPr lang="en-US" altLang="en-US" sz="2400" dirty="0"/>
              <a:t>(pages 219-224)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79425" y="1833563"/>
            <a:ext cx="7683500" cy="3962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CA" altLang="en-US"/>
              <a:t>In a risk-neutral world investors do not require an extra expected return for bearing risks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/>
              <a:t>If when valuing derivatives we assume that the world is risk-neutral, we get the right valuation for the real world (where investors do require an extra return for bearing risks) as well as for the risk-neutral world</a:t>
            </a:r>
            <a:endParaRPr lang="en-US" altLang="en-US"/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10,  Copyright © John C. Hull 2023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C9B6AD-C9AD-4F54-A217-E15294073B2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3152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Applying Risk-Neutral Valuation to Value a European Stock Option</a:t>
            </a:r>
            <a:br>
              <a:rPr lang="en-US" dirty="0"/>
            </a:br>
            <a:endParaRPr lang="en-US" sz="22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530350" y="2362200"/>
            <a:ext cx="6086475" cy="3768725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1. Assume that the expected return from the stock is the risk-free rate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2. Calculate the expected payoff from the option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3. Discount at the risk-free rate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10,  Copyright © John C. Hull 2023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2B6F07-4CD3-401F-B93F-56C8821A28C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Valuing a Forward Contract with Risk-Neutral Valuation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1976438"/>
            <a:ext cx="7310438" cy="37687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Payoff is 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 </a:t>
            </a:r>
            <a:r>
              <a:rPr lang="en-US" altLang="en-US" i="1"/>
              <a:t>–</a:t>
            </a:r>
            <a:r>
              <a:rPr lang="en-US" altLang="en-US" i="1">
                <a:latin typeface="Times New Roman" panose="02020603050405020304" pitchFamily="18" charset="0"/>
              </a:rPr>
              <a:t> K</a:t>
            </a:r>
            <a:endParaRPr lang="en-US" altLang="en-US" i="1"/>
          </a:p>
          <a:p>
            <a:pPr eaLnBrk="1" hangingPunct="1"/>
            <a:r>
              <a:rPr lang="en-US" altLang="en-US"/>
              <a:t>Expected payoff in a risk-neutral world is 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e</a:t>
            </a:r>
            <a:r>
              <a:rPr lang="en-US" altLang="en-US" i="1" baseline="30000">
                <a:latin typeface="Times New Roman" panose="02020603050405020304" pitchFamily="18" charset="0"/>
              </a:rPr>
              <a:t>rT </a:t>
            </a:r>
            <a:r>
              <a:rPr lang="en-US" altLang="en-US" i="1"/>
              <a:t>–</a:t>
            </a:r>
            <a:r>
              <a:rPr lang="en-US" altLang="en-US" i="1" baseline="30000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K</a:t>
            </a:r>
            <a:endParaRPr lang="en-US" altLang="en-US" i="1"/>
          </a:p>
          <a:p>
            <a:pPr eaLnBrk="1" hangingPunct="1"/>
            <a:r>
              <a:rPr lang="en-US" altLang="en-US"/>
              <a:t>Present value of expected payoff 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    </a:t>
            </a:r>
            <a:r>
              <a:rPr lang="en-US" altLang="en-US" i="1">
                <a:latin typeface="Times New Roman" panose="02020603050405020304" pitchFamily="18" charset="0"/>
              </a:rPr>
              <a:t>e</a:t>
            </a:r>
            <a:r>
              <a:rPr lang="en-US" altLang="en-US" i="1" baseline="30000">
                <a:latin typeface="Times New Roman" panose="02020603050405020304" pitchFamily="18" charset="0"/>
              </a:rPr>
              <a:t>−rT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e</a:t>
            </a:r>
            <a:r>
              <a:rPr lang="en-US" altLang="en-US" i="1" baseline="30000">
                <a:latin typeface="Times New Roman" panose="02020603050405020304" pitchFamily="18" charset="0"/>
              </a:rPr>
              <a:t>rT </a:t>
            </a:r>
            <a:r>
              <a:rPr lang="en-US" altLang="en-US" i="1"/>
              <a:t>–</a:t>
            </a:r>
            <a:r>
              <a:rPr lang="en-US" altLang="en-US" i="1" baseline="30000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>
                <a:latin typeface="Times New Roman" panose="02020603050405020304" pitchFamily="18" charset="0"/>
              </a:rPr>
              <a:t>] = 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 i="1"/>
              <a:t>–</a:t>
            </a:r>
            <a:r>
              <a:rPr lang="en-US" altLang="en-US" i="1">
                <a:latin typeface="Times New Roman" panose="02020603050405020304" pitchFamily="18" charset="0"/>
              </a:rPr>
              <a:t> Ke</a:t>
            </a:r>
            <a:r>
              <a:rPr lang="en-US" altLang="en-US" i="1" baseline="30000">
                <a:latin typeface="Times New Roman" panose="02020603050405020304" pitchFamily="18" charset="0"/>
              </a:rPr>
              <a:t>−rT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10,  Copyright © John C. Hull 2023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5CD52F-FFA5-453A-AC99-F011B52A74A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Valuing a Binary Option with Risk-Neutral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800" dirty="0"/>
              <a:t>Consider a binary option that pays off $100 if the stock price at time </a:t>
            </a:r>
            <a:r>
              <a:rPr lang="en-CA" sz="2800" i="1" dirty="0">
                <a:latin typeface="+mj-lt"/>
              </a:rPr>
              <a:t>T</a:t>
            </a:r>
            <a:r>
              <a:rPr lang="en-CA" sz="2800" dirty="0"/>
              <a:t> is greater than </a:t>
            </a:r>
            <a:r>
              <a:rPr lang="en-CA" sz="2800" i="1" dirty="0">
                <a:latin typeface="+mj-lt"/>
              </a:rPr>
              <a:t>V</a:t>
            </a:r>
          </a:p>
          <a:p>
            <a:pPr>
              <a:defRPr/>
            </a:pPr>
            <a:r>
              <a:rPr lang="en-CA" sz="2800" dirty="0"/>
              <a:t>The value of the binary option is 100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i="1" baseline="30000" dirty="0">
                <a:latin typeface="+mj-lt"/>
              </a:rPr>
              <a:t>−rT</a:t>
            </a:r>
            <a:r>
              <a:rPr lang="en-CA" sz="2800" i="1" dirty="0">
                <a:latin typeface="+mj-lt"/>
              </a:rPr>
              <a:t>N</a:t>
            </a:r>
            <a:r>
              <a:rPr lang="en-CA" sz="2800" dirty="0"/>
              <a:t>(</a:t>
            </a:r>
            <a:r>
              <a:rPr lang="en-CA" sz="2800" i="1" dirty="0">
                <a:latin typeface="+mj-lt"/>
              </a:rPr>
              <a:t>d</a:t>
            </a:r>
            <a:r>
              <a:rPr lang="en-CA" sz="2800" baseline="-25000" dirty="0"/>
              <a:t>2</a:t>
            </a:r>
            <a:r>
              <a:rPr lang="en-CA" sz="2800" dirty="0"/>
              <a:t>)</a:t>
            </a:r>
            <a:r>
              <a:rPr lang="en-US" sz="2800" dirty="0"/>
              <a:t> w</a:t>
            </a:r>
            <a:r>
              <a:rPr lang="en-CA" sz="2800" dirty="0"/>
              <a:t>here </a:t>
            </a:r>
            <a:r>
              <a:rPr lang="en-CA" sz="2800" i="1" dirty="0">
                <a:latin typeface="+mj-lt"/>
              </a:rPr>
              <a:t>r</a:t>
            </a:r>
            <a:r>
              <a:rPr lang="en-CA" sz="2800" dirty="0"/>
              <a:t> is the risk-free rate (assumed constant) and </a:t>
            </a:r>
            <a:r>
              <a:rPr lang="en-CA" sz="2800" i="1" dirty="0">
                <a:latin typeface="+mj-lt"/>
              </a:rPr>
              <a:t>N</a:t>
            </a:r>
            <a:r>
              <a:rPr lang="en-CA" sz="2800" dirty="0"/>
              <a:t>(</a:t>
            </a:r>
            <a:r>
              <a:rPr lang="en-CA" sz="2800" i="1" dirty="0">
                <a:latin typeface="+mj-lt"/>
              </a:rPr>
              <a:t>d</a:t>
            </a:r>
            <a:r>
              <a:rPr lang="en-CA" sz="2800" baseline="-25000" dirty="0"/>
              <a:t>2</a:t>
            </a:r>
            <a:r>
              <a:rPr lang="en-CA" sz="2800" dirty="0"/>
              <a:t>) is the probability that the stock price is greater than </a:t>
            </a:r>
            <a:r>
              <a:rPr lang="en-CA" sz="2800" i="1" dirty="0">
                <a:latin typeface="+mj-lt"/>
              </a:rPr>
              <a:t>V</a:t>
            </a:r>
            <a:r>
              <a:rPr lang="en-CA" sz="2800" dirty="0"/>
              <a:t> in a risk-neutral world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dirty="0"/>
              <a:t>		</a:t>
            </a:r>
            <a:endParaRPr lang="en-US" dirty="0"/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3058CF-DCB1-45C7-A6B7-D04D0A0DF09F}" type="slidenum">
              <a:rPr lang="en-US" altLang="en-US"/>
              <a:pPr/>
              <a:t>9</a:t>
            </a:fld>
            <a:endParaRPr lang="en-US" altLang="en-US"/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827088" y="4508500"/>
          <a:ext cx="4354512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2641600" imgH="635000" progId="Equation.3">
                  <p:embed/>
                </p:oleObj>
              </mc:Choice>
              <mc:Fallback>
                <p:oleObj name="Equation" r:id="rId3" imgW="2641600" imgH="635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4354512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Black-Scholes-Merton</a:t>
            </a:r>
            <a:endParaRPr lang="en-US" altLang="en-US" sz="2200"/>
          </a:p>
        </p:txBody>
      </p:sp>
      <p:sp>
        <p:nvSpPr>
          <p:cNvPr id="29699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10,  Copyright © John C. Hull 2023</a:t>
            </a:r>
          </a:p>
        </p:txBody>
      </p:sp>
      <p:sp>
        <p:nvSpPr>
          <p:cNvPr id="2970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09F096-8C26-4D7F-AE16-F53CD9DD78C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graphicFrame>
        <p:nvGraphicFramePr>
          <p:cNvPr id="29701" name="Object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dirty="0"/>
              <a:t>where </a:t>
            </a:r>
            <a:r>
              <a:rPr lang="en-CA" i="1" dirty="0">
                <a:latin typeface="+mj-lt"/>
              </a:rPr>
              <a:t>c</a:t>
            </a:r>
            <a:r>
              <a:rPr lang="en-CA" dirty="0"/>
              <a:t> is the value of a European call option, </a:t>
            </a:r>
            <a:r>
              <a:rPr lang="en-CA" i="1" dirty="0">
                <a:latin typeface="+mj-lt"/>
              </a:rPr>
              <a:t>p</a:t>
            </a:r>
            <a:r>
              <a:rPr lang="en-CA" dirty="0"/>
              <a:t> is the value of a European put option, </a:t>
            </a:r>
            <a:r>
              <a:rPr lang="en-CA" i="1" dirty="0">
                <a:latin typeface="+mj-lt"/>
              </a:rPr>
              <a:t>K</a:t>
            </a:r>
            <a:r>
              <a:rPr lang="en-CA" dirty="0"/>
              <a:t> is the strike price and     denotes expected value in a risk-neutral world</a:t>
            </a:r>
            <a:endParaRPr lang="en-US" dirty="0"/>
          </a:p>
        </p:txBody>
      </p:sp>
      <p:graphicFrame>
        <p:nvGraphicFramePr>
          <p:cNvPr id="29703" name="Content Placeholder 3"/>
          <p:cNvGraphicFramePr>
            <a:graphicFrameLocks noChangeAspect="1"/>
          </p:cNvGraphicFramePr>
          <p:nvPr/>
        </p:nvGraphicFramePr>
        <p:xfrm>
          <a:off x="1908175" y="1687513"/>
          <a:ext cx="3827463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6" imgW="1612900" imgH="508000" progId="Equation.3">
                  <p:embed/>
                </p:oleObj>
              </mc:Choice>
              <mc:Fallback>
                <p:oleObj name="Equation" r:id="rId6" imgW="1612900" imgH="50800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687513"/>
                        <a:ext cx="3827463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6227763" y="3878263"/>
          <a:ext cx="3603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8" imgW="152268" imgH="203024" progId="Equation.3">
                  <p:embed/>
                </p:oleObj>
              </mc:Choice>
              <mc:Fallback>
                <p:oleObj name="Equation" r:id="rId8" imgW="152268" imgH="2030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878263"/>
                        <a:ext cx="3603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7543800" cy="1295400"/>
          </a:xfrm>
        </p:spPr>
        <p:txBody>
          <a:bodyPr/>
          <a:lstStyle/>
          <a:p>
            <a:r>
              <a:rPr lang="en-CA" altLang="en-US" dirty="0"/>
              <a:t>Discrete Outcomes </a:t>
            </a:r>
            <a:r>
              <a:rPr lang="en-CA" altLang="en-US" sz="2400" dirty="0"/>
              <a:t>(pages 222-223)</a:t>
            </a:r>
            <a:endParaRPr lang="en-US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800" dirty="0"/>
              <a:t>Suppose that a variable can take</a:t>
            </a:r>
            <a:r>
              <a:rPr lang="en-CA" sz="2800" i="1" dirty="0">
                <a:latin typeface="+mj-lt"/>
              </a:rPr>
              <a:t> n </a:t>
            </a:r>
            <a:r>
              <a:rPr lang="en-CA" sz="2800" dirty="0"/>
              <a:t>different values</a:t>
            </a:r>
          </a:p>
          <a:p>
            <a:pPr>
              <a:defRPr/>
            </a:pPr>
            <a:r>
              <a:rPr lang="en-CA" sz="2800" dirty="0"/>
              <a:t>Define </a:t>
            </a:r>
            <a:r>
              <a:rPr lang="en-CA" sz="2800" dirty="0">
                <a:latin typeface="Symbol" panose="05050102010706020507" pitchFamily="18" charset="2"/>
              </a:rPr>
              <a:t>p</a:t>
            </a:r>
            <a:r>
              <a:rPr lang="en-CA" sz="2800" i="1" baseline="-25000" dirty="0">
                <a:latin typeface="+mj-lt"/>
              </a:rPr>
              <a:t>i</a:t>
            </a:r>
            <a:r>
              <a:rPr lang="en-CA" sz="2800" dirty="0"/>
              <a:t> as the value of a derivative that pays off $1 if the </a:t>
            </a:r>
            <a:r>
              <a:rPr lang="en-CA" sz="2800" i="1" dirty="0" err="1">
                <a:latin typeface="+mj-lt"/>
              </a:rPr>
              <a:t>i</a:t>
            </a:r>
            <a:r>
              <a:rPr lang="en-CA" sz="2800" dirty="0" err="1"/>
              <a:t>th</a:t>
            </a:r>
            <a:r>
              <a:rPr lang="en-CA" sz="2800" dirty="0"/>
              <a:t> outcome occurs</a:t>
            </a:r>
          </a:p>
          <a:p>
            <a:pPr>
              <a:defRPr/>
            </a:pPr>
            <a:r>
              <a:rPr lang="en-CA" sz="2800" dirty="0"/>
              <a:t>When applying risk-neutral valuation we set the risk-neutral probability of the </a:t>
            </a:r>
            <a:r>
              <a:rPr lang="en-CA" sz="2800" i="1" dirty="0" err="1">
                <a:latin typeface="+mj-lt"/>
              </a:rPr>
              <a:t>i</a:t>
            </a:r>
            <a:r>
              <a:rPr lang="en-CA" sz="2800" dirty="0" err="1"/>
              <a:t>th</a:t>
            </a:r>
            <a:r>
              <a:rPr lang="en-CA" sz="2800" dirty="0"/>
              <a:t> outcome equal to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53069E-9F5B-49B1-BB61-F5E66D9B7B67}" type="slidenum">
              <a:rPr lang="en-US" altLang="en-US"/>
              <a:pPr/>
              <a:t>11</a:t>
            </a:fld>
            <a:endParaRPr lang="en-US" altLang="en-US"/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/>
        </p:nvGraphicFramePr>
        <p:xfrm>
          <a:off x="3924300" y="4754563"/>
          <a:ext cx="86360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406080" imgH="647640" progId="Equation.3">
                  <p:embed/>
                </p:oleObj>
              </mc:Choice>
              <mc:Fallback>
                <p:oleObj name="Equation" r:id="rId3" imgW="406080" imgH="647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754563"/>
                        <a:ext cx="863600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Default Probabilities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Risk-neutral default probabilities can be implied from bond prices or credit spreads. </a:t>
            </a:r>
          </a:p>
          <a:p>
            <a:r>
              <a:rPr lang="en-CA" altLang="en-US"/>
              <a:t>They are greater than real-world default probabilities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2B8AEB-A026-42F0-9827-E340D0A8F0D2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err="1"/>
              <a:t>Girsanov’s</a:t>
            </a:r>
            <a:r>
              <a:rPr lang="en-CA" altLang="en-US" dirty="0"/>
              <a:t> Theorem </a:t>
            </a:r>
            <a:r>
              <a:rPr lang="en-CA" altLang="en-US" sz="2400" dirty="0"/>
              <a:t>(page 224)</a:t>
            </a:r>
            <a:endParaRPr lang="en-US" altLang="en-US" sz="2400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For valuation we work in the risk-neutral world</a:t>
            </a:r>
          </a:p>
          <a:p>
            <a:r>
              <a:rPr lang="en-CA" altLang="en-US"/>
              <a:t>For scenario analysis we work in the real world</a:t>
            </a:r>
          </a:p>
          <a:p>
            <a:r>
              <a:rPr lang="en-CA" altLang="en-US"/>
              <a:t>Girsanov’s theorem shows that when we move from one world to the other  expected returns change but volatilities stay the same</a:t>
            </a:r>
            <a:endParaRPr lang="en-US" altLang="en-US"/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881FB3-6A5E-4142-8FD1-E853841225CD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549275"/>
            <a:ext cx="7543800" cy="1295400"/>
          </a:xfrm>
        </p:spPr>
        <p:txBody>
          <a:bodyPr/>
          <a:lstStyle/>
          <a:p>
            <a:r>
              <a:rPr lang="en-CA" altLang="en-US"/>
              <a:t>Why Both the Real and Risk-Neutral Worlds Can Be Relevant for Scenario Analysis</a:t>
            </a:r>
            <a:endParaRPr lang="en-US" altLang="en-US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81013" y="2133600"/>
            <a:ext cx="8229600" cy="4411663"/>
          </a:xfrm>
        </p:spPr>
        <p:txBody>
          <a:bodyPr/>
          <a:lstStyle/>
          <a:p>
            <a:r>
              <a:rPr lang="en-CA" altLang="en-US"/>
              <a:t>In a scenario analysis we should</a:t>
            </a:r>
          </a:p>
          <a:p>
            <a:pPr lvl="1"/>
            <a:r>
              <a:rPr lang="en-CA" altLang="en-US"/>
              <a:t>Randomly sample paths followed by market variables out to the time horizon</a:t>
            </a:r>
          </a:p>
          <a:p>
            <a:pPr lvl="1"/>
            <a:r>
              <a:rPr lang="en-CA" altLang="en-US"/>
              <a:t>Value the portfolio using risk-neutral valuation at the time horizon for each sample</a:t>
            </a:r>
            <a:endParaRPr lang="en-US" altLang="en-US"/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71A645-2729-4DD3-B72F-9254550D43EA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A Simple Model</a:t>
            </a:r>
            <a:endParaRPr lang="en-U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84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altLang="en-US" dirty="0"/>
                  <a:t>For a variable with a constant expected return, </a:t>
                </a:r>
                <a:r>
                  <a:rPr lang="en-CA" altLang="en-US" dirty="0">
                    <a:latin typeface="Symbol" panose="05050102010706020507" pitchFamily="18" charset="2"/>
                  </a:rPr>
                  <a:t>m</a:t>
                </a:r>
                <a:r>
                  <a:rPr lang="en-CA" altLang="en-US" dirty="0"/>
                  <a:t>, and a constant volatility, </a:t>
                </a:r>
                <a:r>
                  <a:rPr lang="en-CA" altLang="en-US" dirty="0">
                    <a:latin typeface="Symbol" panose="05050102010706020507" pitchFamily="18" charset="2"/>
                  </a:rPr>
                  <a:t>s</a:t>
                </a:r>
              </a:p>
              <a:p>
                <a:endParaRPr lang="en-CA" altLang="en-US" dirty="0"/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en-CA" altLang="en-US" dirty="0"/>
                  <a:t>	where </a:t>
                </a:r>
                <a:r>
                  <a:rPr lang="en-CA" altLang="en-US" dirty="0">
                    <a:latin typeface="Symbol" panose="05050102010706020507" pitchFamily="18" charset="2"/>
                  </a:rPr>
                  <a:t>e</a:t>
                </a:r>
                <a:r>
                  <a:rPr lang="en-CA" altLang="en-US" dirty="0"/>
                  <a:t> is a random sample from a  standard normal distribution</a:t>
                </a:r>
              </a:p>
              <a:p>
                <a:r>
                  <a:rPr lang="en-CA" altLang="en-US" dirty="0"/>
                  <a:t>This means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alt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CA" altLang="en-US" sz="28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CA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CA" alt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CA" alt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alt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CA" alt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CA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𝜀𝜎</m:t>
                          </m:r>
                          <m:rad>
                            <m:radPr>
                              <m:degHide m:val="on"/>
                              <m:ctrlP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CA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CA" altLang="en-US" sz="2800" dirty="0"/>
              </a:p>
              <a:p>
                <a:endParaRPr lang="en-CA" altLang="en-US" dirty="0"/>
              </a:p>
              <a:p>
                <a:pPr>
                  <a:buFont typeface="Wingdings" panose="05000000000000000000" pitchFamily="2" charset="2"/>
                  <a:buNone/>
                </a:pPr>
                <a:endParaRPr lang="en-CA" altLang="en-US" dirty="0"/>
              </a:p>
              <a:p>
                <a:endParaRPr lang="en-CA" altLang="en-US" dirty="0"/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en-CA" altLang="en-US" dirty="0"/>
                  <a:t>	</a:t>
                </a:r>
                <a:endParaRPr lang="en-US" altLang="en-US" dirty="0"/>
              </a:p>
            </p:txBody>
          </p:sp>
        </mc:Choice>
        <mc:Fallback>
          <p:sp>
            <p:nvSpPr>
              <p:cNvPr id="3584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5" t="-17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8CF113-6723-4FFB-9062-DAF60E45C0FF}" type="slidenum">
              <a:rPr lang="en-US" altLang="en-US"/>
              <a:pPr/>
              <a:t>15</a:t>
            </a:fld>
            <a:endParaRPr lang="en-US" altLang="en-US"/>
          </a:p>
        </p:txBody>
      </p:sp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2508250" y="2852738"/>
          <a:ext cx="42719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2336760" imgH="253800" progId="Equation.3">
                  <p:embed/>
                </p:oleObj>
              </mc:Choice>
              <mc:Fallback>
                <p:oleObj name="Equation" r:id="rId4" imgW="233676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2852738"/>
                        <a:ext cx="42719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Mean Reversion</a:t>
            </a:r>
            <a:endParaRPr lang="en-US" altLang="en-US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Interest rate, volatilities, and some commodity prices follow mean reverting processes where they are pulled back to a long run average value</a:t>
            </a:r>
          </a:p>
          <a:p>
            <a:r>
              <a:rPr lang="en-CA" altLang="en-US"/>
              <a:t>Superimposed on the pull is a random change 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8062ED-43ED-4C7E-B799-15C546A5C233}" type="slidenum">
              <a:rPr lang="en-US" altLang="en-US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Determining Real World Processes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400" dirty="0"/>
              <a:t>To determine real world processes from risk-neutral processes for a variable we can use CAPM to adjust the expected return</a:t>
            </a:r>
          </a:p>
          <a:p>
            <a:pPr>
              <a:defRPr/>
            </a:pPr>
            <a:r>
              <a:rPr lang="en-CA" sz="2400" dirty="0"/>
              <a:t>If </a:t>
            </a:r>
            <a:r>
              <a:rPr lang="en-CA" sz="2400" dirty="0">
                <a:latin typeface="Symbol" panose="05050102010706020507" pitchFamily="18" charset="2"/>
              </a:rPr>
              <a:t>s</a:t>
            </a:r>
            <a:r>
              <a:rPr lang="en-CA" sz="2400" dirty="0"/>
              <a:t> is the volatility of the variable, </a:t>
            </a:r>
            <a:r>
              <a:rPr lang="en-CA" sz="2400" dirty="0" err="1">
                <a:latin typeface="Symbol" panose="05050102010706020507" pitchFamily="18" charset="2"/>
              </a:rPr>
              <a:t>s</a:t>
            </a:r>
            <a:r>
              <a:rPr lang="en-CA" sz="2400" i="1" baseline="-25000" dirty="0" err="1">
                <a:latin typeface="+mj-lt"/>
              </a:rPr>
              <a:t>M</a:t>
            </a:r>
            <a:r>
              <a:rPr lang="en-CA" sz="2400" dirty="0"/>
              <a:t> is the volatility of an index of market returns, </a:t>
            </a:r>
            <a:r>
              <a:rPr lang="en-CA" sz="2400" dirty="0">
                <a:latin typeface="Symbol" panose="05050102010706020507" pitchFamily="18" charset="2"/>
              </a:rPr>
              <a:t>r</a:t>
            </a:r>
            <a:r>
              <a:rPr lang="en-CA" sz="2400" dirty="0"/>
              <a:t> is the correlation between percentage changes in the variable and percentage changes in the market index, then we should increase the expected return by </a:t>
            </a:r>
            <a:r>
              <a:rPr lang="en-CA" sz="2400" dirty="0">
                <a:latin typeface="Symbol" panose="05050102010706020507" pitchFamily="18" charset="2"/>
              </a:rPr>
              <a:t>ls</a:t>
            </a:r>
            <a:r>
              <a:rPr lang="en-CA" sz="2400" dirty="0"/>
              <a:t> where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sz="2400" dirty="0"/>
              <a:t> </a:t>
            </a:r>
            <a:endParaRPr lang="en-US" sz="2400" dirty="0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64C4F8-868A-4A0B-9337-038157BCA27F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378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946981"/>
              </p:ext>
            </p:extLst>
          </p:nvPr>
        </p:nvGraphicFramePr>
        <p:xfrm>
          <a:off x="1828800" y="5084763"/>
          <a:ext cx="5047456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3" imgW="3238200" imgH="431640" progId="Equation.DSMT4">
                  <p:embed/>
                </p:oleObj>
              </mc:Choice>
              <mc:Fallback>
                <p:oleObj name="Equation" r:id="rId3" imgW="323820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084763"/>
                        <a:ext cx="5047456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If a commodity is uncorrelated with the return on a market index its expected return should be the same in both worlds</a:t>
            </a:r>
          </a:p>
          <a:p>
            <a:pPr>
              <a:defRPr/>
            </a:pPr>
            <a:r>
              <a:rPr lang="en-CA" dirty="0"/>
              <a:t>But if </a:t>
            </a:r>
            <a:r>
              <a:rPr lang="en-CA" dirty="0">
                <a:latin typeface="Symbol" panose="05050102010706020507" pitchFamily="18" charset="2"/>
              </a:rPr>
              <a:t>r</a:t>
            </a:r>
            <a:r>
              <a:rPr lang="en-CA" i="1" dirty="0">
                <a:latin typeface="+mj-lt"/>
              </a:rPr>
              <a:t> </a:t>
            </a:r>
            <a:r>
              <a:rPr lang="en-CA" dirty="0"/>
              <a:t>= 0.3, </a:t>
            </a:r>
            <a:r>
              <a:rPr lang="en-CA" dirty="0">
                <a:latin typeface="Symbol" panose="05050102010706020507" pitchFamily="18" charset="2"/>
              </a:rPr>
              <a:t>s </a:t>
            </a:r>
            <a:r>
              <a:rPr lang="en-CA" dirty="0"/>
              <a:t>= 40%, </a:t>
            </a:r>
            <a:r>
              <a:rPr lang="en-CA" dirty="0" err="1">
                <a:latin typeface="Symbol" panose="05050102010706020507" pitchFamily="18" charset="2"/>
              </a:rPr>
              <a:t>s</a:t>
            </a:r>
            <a:r>
              <a:rPr lang="en-CA" i="1" baseline="-25000" dirty="0" err="1">
                <a:latin typeface="Symbol" panose="05050102010706020507" pitchFamily="18" charset="2"/>
              </a:rPr>
              <a:t>M</a:t>
            </a:r>
            <a:r>
              <a:rPr lang="en-CA" i="1" baseline="-25000" dirty="0">
                <a:latin typeface="Symbol" panose="05050102010706020507" pitchFamily="18" charset="2"/>
              </a:rPr>
              <a:t> </a:t>
            </a:r>
            <a:r>
              <a:rPr lang="en-CA" dirty="0"/>
              <a:t>= 20%, and the excess return of the market over the risk-free rate is 6%, then </a:t>
            </a:r>
            <a:r>
              <a:rPr lang="en-CA" dirty="0">
                <a:latin typeface="Symbol" panose="05050102010706020507" pitchFamily="18" charset="2"/>
              </a:rPr>
              <a:t>l</a:t>
            </a:r>
            <a:r>
              <a:rPr lang="en-CA" dirty="0"/>
              <a:t>=0.09 and the expected return should be 3.6% higher in the real world than the risk-neutral world</a:t>
            </a:r>
            <a:endParaRPr lang="en-US" dirty="0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CD4D5E-FD18-4C50-911D-6E6D4750E565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1">
  <a:themeElements>
    <a:clrScheme name="HullRMFICh11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1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1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1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1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CAC81C-AA44-4754-8A10-ACC93F57654A}"/>
</file>

<file path=customXml/itemProps2.xml><?xml version="1.0" encoding="utf-8"?>
<ds:datastoreItem xmlns:ds="http://schemas.openxmlformats.org/officeDocument/2006/customXml" ds:itemID="{496A3C54-3E7D-4D4B-8DAB-848FF6831F2D}"/>
</file>

<file path=customXml/itemProps3.xml><?xml version="1.0" encoding="utf-8"?>
<ds:datastoreItem xmlns:ds="http://schemas.openxmlformats.org/officeDocument/2006/customXml" ds:itemID="{C1D910E5-D3BB-49F4-8F31-22EB80AE5F2B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E:\RiskBook\slides\HullRMFICh11.ppt</Template>
  <TotalTime>656</TotalTime>
  <Pages>17</Pages>
  <Words>1131</Words>
  <Application>Microsoft Office PowerPoint</Application>
  <PresentationFormat>Letter Paper (8.5x11 in)</PresentationFormat>
  <Paragraphs>115</Paragraphs>
  <Slides>18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Symbol</vt:lpstr>
      <vt:lpstr>Times New Roman</vt:lpstr>
      <vt:lpstr>Wingdings</vt:lpstr>
      <vt:lpstr>HullRMFICh11</vt:lpstr>
      <vt:lpstr>Equation</vt:lpstr>
      <vt:lpstr>MathType 7.0 Equation</vt:lpstr>
      <vt:lpstr>Valuation and Scenario Analysis</vt:lpstr>
      <vt:lpstr>Valuation vs. Scenario Analysis</vt:lpstr>
      <vt:lpstr>Example</vt:lpstr>
      <vt:lpstr>Volatility and Asset Prices</vt:lpstr>
      <vt:lpstr>Probability of Extreme Values</vt:lpstr>
      <vt:lpstr>Risk-Neutral Valuation (pages 219-224)</vt:lpstr>
      <vt:lpstr>Applying Risk-Neutral Valuation to Value a European Stock Option </vt:lpstr>
      <vt:lpstr>Valuing a Forward Contract with Risk-Neutral Valuation</vt:lpstr>
      <vt:lpstr>Valuing a Binary Option with Risk-Neutral Valuation</vt:lpstr>
      <vt:lpstr>Black-Scholes-Merton</vt:lpstr>
      <vt:lpstr>Discrete Outcomes (pages 222-223)</vt:lpstr>
      <vt:lpstr>Default Probabilities</vt:lpstr>
      <vt:lpstr>Girsanov’s Theorem (page 224)</vt:lpstr>
      <vt:lpstr>Why Both the Real and Risk-Neutral Worlds Can Be Relevant for Scenario Analysis</vt:lpstr>
      <vt:lpstr>A Simple Model</vt:lpstr>
      <vt:lpstr>Mean Reversion</vt:lpstr>
      <vt:lpstr>Determining Real World Processes</vt:lpstr>
      <vt:lpstr>Example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7</dc:subject>
  <dc:creator>John Hull</dc:creator>
  <cp:keywords>5th Edition</cp:keywords>
  <dc:description>Copyright 2018 by John Hull._x000d_
All rights reserved.</dc:description>
  <cp:lastModifiedBy>John Hull</cp:lastModifiedBy>
  <cp:revision>174</cp:revision>
  <cp:lastPrinted>1999-11-09T00:15:00Z</cp:lastPrinted>
  <dcterms:created xsi:type="dcterms:W3CDTF">1996-07-04T22:47:30Z</dcterms:created>
  <dcterms:modified xsi:type="dcterms:W3CDTF">2022-12-01T18:16:46Z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