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8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2"/>
  </p:notesMasterIdLst>
  <p:handoutMasterIdLst>
    <p:handoutMasterId r:id="rId33"/>
  </p:handoutMasterIdLst>
  <p:sldIdLst>
    <p:sldId id="256" r:id="rId2"/>
    <p:sldId id="321" r:id="rId3"/>
    <p:sldId id="322" r:id="rId4"/>
    <p:sldId id="285" r:id="rId5"/>
    <p:sldId id="360" r:id="rId6"/>
    <p:sldId id="293" r:id="rId7"/>
    <p:sldId id="294" r:id="rId8"/>
    <p:sldId id="298" r:id="rId9"/>
    <p:sldId id="299" r:id="rId10"/>
    <p:sldId id="300" r:id="rId11"/>
    <p:sldId id="324" r:id="rId12"/>
    <p:sldId id="366" r:id="rId13"/>
    <p:sldId id="367" r:id="rId14"/>
    <p:sldId id="326" r:id="rId15"/>
    <p:sldId id="327" r:id="rId16"/>
    <p:sldId id="328" r:id="rId17"/>
    <p:sldId id="329" r:id="rId18"/>
    <p:sldId id="334" r:id="rId19"/>
    <p:sldId id="308" r:id="rId20"/>
    <p:sldId id="309" r:id="rId21"/>
    <p:sldId id="310" r:id="rId22"/>
    <p:sldId id="312" r:id="rId23"/>
    <p:sldId id="314" r:id="rId24"/>
    <p:sldId id="357" r:id="rId25"/>
    <p:sldId id="361" r:id="rId26"/>
    <p:sldId id="363" r:id="rId27"/>
    <p:sldId id="358" r:id="rId28"/>
    <p:sldId id="359" r:id="rId29"/>
    <p:sldId id="364" r:id="rId30"/>
    <p:sldId id="365" r:id="rId3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4" autoAdjust="0"/>
    <p:restoredTop sz="94576" autoAdjust="0"/>
  </p:normalViewPr>
  <p:slideViewPr>
    <p:cSldViewPr>
      <p:cViewPr varScale="1">
        <p:scale>
          <a:sx n="131" d="100"/>
          <a:sy n="131" d="100"/>
        </p:scale>
        <p:origin x="96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hull\AppData\Local\Microsoft\Windows\INetCache\Content.Outlook\5LNAA8DW\Ch05_6e_Figure%205_1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601377226370689"/>
          <c:y val="1.735242333838705E-2"/>
          <c:w val="0.78895929337246118"/>
          <c:h val="0.78598630220596255"/>
        </c:manualLayout>
      </c:layout>
      <c:scatterChart>
        <c:scatterStyle val="lineMarker"/>
        <c:varyColors val="0"/>
        <c:ser>
          <c:idx val="0"/>
          <c:order val="0"/>
          <c:tx>
            <c:strRef>
              <c:f>'[Ch05_6e_Figure 5_1.xls]Sheet1'!$B$6</c:f>
              <c:strCache>
                <c:ptCount val="1"/>
                <c:pt idx="0">
                  <c:v>OTC</c:v>
                </c:pt>
              </c:strCache>
            </c:strRef>
          </c:tx>
          <c:marker>
            <c:symbol val="none"/>
          </c:marker>
          <c:xVal>
            <c:numRef>
              <c:f>'[Ch05_6e_Figure 5_1.xls]Sheet1'!$A$7:$A$54</c:f>
              <c:numCache>
                <c:formatCode>[$-409]mmm\-yy;@</c:formatCode>
                <c:ptCount val="48"/>
                <c:pt idx="0">
                  <c:v>35947</c:v>
                </c:pt>
                <c:pt idx="1">
                  <c:v>36130</c:v>
                </c:pt>
                <c:pt idx="2">
                  <c:v>36312</c:v>
                </c:pt>
                <c:pt idx="3">
                  <c:v>36495</c:v>
                </c:pt>
                <c:pt idx="4">
                  <c:v>36678</c:v>
                </c:pt>
                <c:pt idx="5">
                  <c:v>36861</c:v>
                </c:pt>
                <c:pt idx="6">
                  <c:v>37043</c:v>
                </c:pt>
                <c:pt idx="7">
                  <c:v>37226</c:v>
                </c:pt>
                <c:pt idx="8">
                  <c:v>37408</c:v>
                </c:pt>
                <c:pt idx="9">
                  <c:v>37591</c:v>
                </c:pt>
                <c:pt idx="10">
                  <c:v>37775</c:v>
                </c:pt>
                <c:pt idx="11">
                  <c:v>37956</c:v>
                </c:pt>
                <c:pt idx="12">
                  <c:v>38139</c:v>
                </c:pt>
                <c:pt idx="13">
                  <c:v>38322</c:v>
                </c:pt>
                <c:pt idx="14">
                  <c:v>38504</c:v>
                </c:pt>
                <c:pt idx="15">
                  <c:v>38687</c:v>
                </c:pt>
                <c:pt idx="16">
                  <c:v>38869</c:v>
                </c:pt>
                <c:pt idx="17">
                  <c:v>39052</c:v>
                </c:pt>
                <c:pt idx="18">
                  <c:v>39234</c:v>
                </c:pt>
                <c:pt idx="19">
                  <c:v>39417</c:v>
                </c:pt>
                <c:pt idx="20">
                  <c:v>39607</c:v>
                </c:pt>
                <c:pt idx="21">
                  <c:v>39790</c:v>
                </c:pt>
                <c:pt idx="22">
                  <c:v>39973</c:v>
                </c:pt>
                <c:pt idx="23">
                  <c:v>40156</c:v>
                </c:pt>
                <c:pt idx="24">
                  <c:v>40339</c:v>
                </c:pt>
                <c:pt idx="25">
                  <c:v>40522</c:v>
                </c:pt>
                <c:pt idx="26">
                  <c:v>40705</c:v>
                </c:pt>
                <c:pt idx="27">
                  <c:v>40889</c:v>
                </c:pt>
                <c:pt idx="28">
                  <c:v>41072</c:v>
                </c:pt>
                <c:pt idx="29">
                  <c:v>41255</c:v>
                </c:pt>
                <c:pt idx="30">
                  <c:v>41438</c:v>
                </c:pt>
                <c:pt idx="31">
                  <c:v>41609</c:v>
                </c:pt>
                <c:pt idx="32">
                  <c:v>41791</c:v>
                </c:pt>
                <c:pt idx="33">
                  <c:v>41987</c:v>
                </c:pt>
                <c:pt idx="34">
                  <c:v>42156</c:v>
                </c:pt>
                <c:pt idx="35">
                  <c:v>42339</c:v>
                </c:pt>
                <c:pt idx="36">
                  <c:v>42537</c:v>
                </c:pt>
                <c:pt idx="37">
                  <c:v>42720</c:v>
                </c:pt>
                <c:pt idx="38">
                  <c:v>42887</c:v>
                </c:pt>
                <c:pt idx="39">
                  <c:v>43070</c:v>
                </c:pt>
                <c:pt idx="40" formatCode="[$-409]mmm/yy;@">
                  <c:v>43252</c:v>
                </c:pt>
                <c:pt idx="41">
                  <c:v>43452</c:v>
                </c:pt>
                <c:pt idx="42">
                  <c:v>43617</c:v>
                </c:pt>
                <c:pt idx="43">
                  <c:v>43800</c:v>
                </c:pt>
                <c:pt idx="44">
                  <c:v>43983</c:v>
                </c:pt>
                <c:pt idx="45">
                  <c:v>44166</c:v>
                </c:pt>
                <c:pt idx="46">
                  <c:v>44348</c:v>
                </c:pt>
                <c:pt idx="47">
                  <c:v>44916</c:v>
                </c:pt>
              </c:numCache>
            </c:numRef>
          </c:xVal>
          <c:yVal>
            <c:numRef>
              <c:f>'[Ch05_6e_Figure 5_1.xls]Sheet1'!$B$7:$B$54</c:f>
              <c:numCache>
                <c:formatCode>0.000</c:formatCode>
                <c:ptCount val="48"/>
                <c:pt idx="0">
                  <c:v>72.134263000000004</c:v>
                </c:pt>
                <c:pt idx="1">
                  <c:v>80.309397000000004</c:v>
                </c:pt>
                <c:pt idx="2">
                  <c:v>81.458481000000006</c:v>
                </c:pt>
                <c:pt idx="3">
                  <c:v>88.201499999999996</c:v>
                </c:pt>
                <c:pt idx="4">
                  <c:v>94.007850999999988</c:v>
                </c:pt>
                <c:pt idx="5">
                  <c:v>95.199495999999996</c:v>
                </c:pt>
                <c:pt idx="6">
                  <c:v>99.755425000000002</c:v>
                </c:pt>
                <c:pt idx="7">
                  <c:v>111.17783900000001</c:v>
                </c:pt>
                <c:pt idx="8">
                  <c:v>127.50918399999999</c:v>
                </c:pt>
                <c:pt idx="9">
                  <c:v>141.66515699999999</c:v>
                </c:pt>
                <c:pt idx="10">
                  <c:v>169.65757600000001</c:v>
                </c:pt>
                <c:pt idx="11">
                  <c:v>197.16692499999999</c:v>
                </c:pt>
                <c:pt idx="12">
                  <c:v>220.0581</c:v>
                </c:pt>
                <c:pt idx="13">
                  <c:v>258.627926</c:v>
                </c:pt>
                <c:pt idx="14">
                  <c:v>282.66469300000006</c:v>
                </c:pt>
                <c:pt idx="15">
                  <c:v>299.26085</c:v>
                </c:pt>
                <c:pt idx="16">
                  <c:v>372.512699</c:v>
                </c:pt>
                <c:pt idx="17">
                  <c:v>418.13139100000001</c:v>
                </c:pt>
                <c:pt idx="18">
                  <c:v>507.90713799999997</c:v>
                </c:pt>
                <c:pt idx="19">
                  <c:v>585.93232399999999</c:v>
                </c:pt>
                <c:pt idx="20">
                  <c:v>672.55846299999996</c:v>
                </c:pt>
                <c:pt idx="21">
                  <c:v>598.14747199999999</c:v>
                </c:pt>
                <c:pt idx="22">
                  <c:v>594.55270499999995</c:v>
                </c:pt>
                <c:pt idx="23">
                  <c:v>603.89982599999996</c:v>
                </c:pt>
                <c:pt idx="24">
                  <c:v>582.68499999999995</c:v>
                </c:pt>
                <c:pt idx="25">
                  <c:v>601.04600000000005</c:v>
                </c:pt>
                <c:pt idx="26">
                  <c:v>706.88099999999997</c:v>
                </c:pt>
                <c:pt idx="27">
                  <c:v>647.80899999999997</c:v>
                </c:pt>
                <c:pt idx="28">
                  <c:v>641.30700000000002</c:v>
                </c:pt>
                <c:pt idx="29">
                  <c:v>635.68299999999999</c:v>
                </c:pt>
                <c:pt idx="30">
                  <c:v>696.40800000000002</c:v>
                </c:pt>
                <c:pt idx="31">
                  <c:v>531</c:v>
                </c:pt>
                <c:pt idx="32">
                  <c:v>696.12</c:v>
                </c:pt>
                <c:pt idx="33" formatCode="General">
                  <c:v>628.00300000000004</c:v>
                </c:pt>
                <c:pt idx="34">
                  <c:v>551.48900000000003</c:v>
                </c:pt>
                <c:pt idx="35">
                  <c:v>492.70699999999999</c:v>
                </c:pt>
                <c:pt idx="36">
                  <c:v>553.452</c:v>
                </c:pt>
                <c:pt idx="37">
                  <c:v>482.9</c:v>
                </c:pt>
                <c:pt idx="38">
                  <c:v>542.43899999999996</c:v>
                </c:pt>
                <c:pt idx="39">
                  <c:v>531.91200000000003</c:v>
                </c:pt>
                <c:pt idx="40">
                  <c:v>594.83299999999997</c:v>
                </c:pt>
                <c:pt idx="41">
                  <c:v>544.38300000000004</c:v>
                </c:pt>
                <c:pt idx="42">
                  <c:v>640.44200000000001</c:v>
                </c:pt>
                <c:pt idx="43">
                  <c:v>558.51300000000003</c:v>
                </c:pt>
                <c:pt idx="44">
                  <c:v>606.82100000000003</c:v>
                </c:pt>
                <c:pt idx="45">
                  <c:v>582.05499999999995</c:v>
                </c:pt>
                <c:pt idx="46">
                  <c:v>609.99599999999998</c:v>
                </c:pt>
                <c:pt idx="47">
                  <c:v>598.41600000000005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2AD-47FC-ADD3-DF837E2368B7}"/>
            </c:ext>
          </c:extLst>
        </c:ser>
        <c:ser>
          <c:idx val="1"/>
          <c:order val="1"/>
          <c:tx>
            <c:strRef>
              <c:f>'[Ch05_6e_Figure 5_1.xls]Sheet1'!$C$6</c:f>
              <c:strCache>
                <c:ptCount val="1"/>
                <c:pt idx="0">
                  <c:v>Exchange</c:v>
                </c:pt>
              </c:strCache>
            </c:strRef>
          </c:tx>
          <c:marker>
            <c:symbol val="none"/>
          </c:marker>
          <c:xVal>
            <c:numRef>
              <c:f>'[Ch05_6e_Figure 5_1.xls]Sheet1'!$A$7:$A$54</c:f>
              <c:numCache>
                <c:formatCode>[$-409]mmm\-yy;@</c:formatCode>
                <c:ptCount val="48"/>
                <c:pt idx="0">
                  <c:v>35947</c:v>
                </c:pt>
                <c:pt idx="1">
                  <c:v>36130</c:v>
                </c:pt>
                <c:pt idx="2">
                  <c:v>36312</c:v>
                </c:pt>
                <c:pt idx="3">
                  <c:v>36495</c:v>
                </c:pt>
                <c:pt idx="4">
                  <c:v>36678</c:v>
                </c:pt>
                <c:pt idx="5">
                  <c:v>36861</c:v>
                </c:pt>
                <c:pt idx="6">
                  <c:v>37043</c:v>
                </c:pt>
                <c:pt idx="7">
                  <c:v>37226</c:v>
                </c:pt>
                <c:pt idx="8">
                  <c:v>37408</c:v>
                </c:pt>
                <c:pt idx="9">
                  <c:v>37591</c:v>
                </c:pt>
                <c:pt idx="10">
                  <c:v>37775</c:v>
                </c:pt>
                <c:pt idx="11">
                  <c:v>37956</c:v>
                </c:pt>
                <c:pt idx="12">
                  <c:v>38139</c:v>
                </c:pt>
                <c:pt idx="13">
                  <c:v>38322</c:v>
                </c:pt>
                <c:pt idx="14">
                  <c:v>38504</c:v>
                </c:pt>
                <c:pt idx="15">
                  <c:v>38687</c:v>
                </c:pt>
                <c:pt idx="16">
                  <c:v>38869</c:v>
                </c:pt>
                <c:pt idx="17">
                  <c:v>39052</c:v>
                </c:pt>
                <c:pt idx="18">
                  <c:v>39234</c:v>
                </c:pt>
                <c:pt idx="19">
                  <c:v>39417</c:v>
                </c:pt>
                <c:pt idx="20">
                  <c:v>39607</c:v>
                </c:pt>
                <c:pt idx="21">
                  <c:v>39790</c:v>
                </c:pt>
                <c:pt idx="22">
                  <c:v>39973</c:v>
                </c:pt>
                <c:pt idx="23">
                  <c:v>40156</c:v>
                </c:pt>
                <c:pt idx="24">
                  <c:v>40339</c:v>
                </c:pt>
                <c:pt idx="25">
                  <c:v>40522</c:v>
                </c:pt>
                <c:pt idx="26">
                  <c:v>40705</c:v>
                </c:pt>
                <c:pt idx="27">
                  <c:v>40889</c:v>
                </c:pt>
                <c:pt idx="28">
                  <c:v>41072</c:v>
                </c:pt>
                <c:pt idx="29">
                  <c:v>41255</c:v>
                </c:pt>
                <c:pt idx="30">
                  <c:v>41438</c:v>
                </c:pt>
                <c:pt idx="31">
                  <c:v>41609</c:v>
                </c:pt>
                <c:pt idx="32">
                  <c:v>41791</c:v>
                </c:pt>
                <c:pt idx="33">
                  <c:v>41987</c:v>
                </c:pt>
                <c:pt idx="34">
                  <c:v>42156</c:v>
                </c:pt>
                <c:pt idx="35">
                  <c:v>42339</c:v>
                </c:pt>
                <c:pt idx="36">
                  <c:v>42537</c:v>
                </c:pt>
                <c:pt idx="37">
                  <c:v>42720</c:v>
                </c:pt>
                <c:pt idx="38">
                  <c:v>42887</c:v>
                </c:pt>
                <c:pt idx="39">
                  <c:v>43070</c:v>
                </c:pt>
                <c:pt idx="40" formatCode="[$-409]mmm/yy;@">
                  <c:v>43252</c:v>
                </c:pt>
                <c:pt idx="41">
                  <c:v>43452</c:v>
                </c:pt>
                <c:pt idx="42">
                  <c:v>43617</c:v>
                </c:pt>
                <c:pt idx="43">
                  <c:v>43800</c:v>
                </c:pt>
                <c:pt idx="44">
                  <c:v>43983</c:v>
                </c:pt>
                <c:pt idx="45">
                  <c:v>44166</c:v>
                </c:pt>
                <c:pt idx="46">
                  <c:v>44348</c:v>
                </c:pt>
                <c:pt idx="47">
                  <c:v>44916</c:v>
                </c:pt>
              </c:numCache>
            </c:numRef>
          </c:xVal>
          <c:yVal>
            <c:numRef>
              <c:f>'[Ch05_6e_Figure 5_1.xls]Sheet1'!$C$7:$C$54</c:f>
              <c:numCache>
                <c:formatCode>0.000</c:formatCode>
                <c:ptCount val="48"/>
                <c:pt idx="0">
                  <c:v>13.347</c:v>
                </c:pt>
                <c:pt idx="1">
                  <c:v>12.731999999999999</c:v>
                </c:pt>
                <c:pt idx="2">
                  <c:v>13.897</c:v>
                </c:pt>
                <c:pt idx="3">
                  <c:v>11.739000000000001</c:v>
                </c:pt>
                <c:pt idx="4">
                  <c:v>12.372999999999999</c:v>
                </c:pt>
                <c:pt idx="5">
                  <c:v>12.74</c:v>
                </c:pt>
                <c:pt idx="6">
                  <c:v>17.585999999999999</c:v>
                </c:pt>
                <c:pt idx="7">
                  <c:v>21.861000000000001</c:v>
                </c:pt>
                <c:pt idx="8">
                  <c:v>21.978999999999999</c:v>
                </c:pt>
                <c:pt idx="9">
                  <c:v>21.794</c:v>
                </c:pt>
                <c:pt idx="10">
                  <c:v>35.591999999999999</c:v>
                </c:pt>
                <c:pt idx="11">
                  <c:v>34.042999999999999</c:v>
                </c:pt>
                <c:pt idx="12">
                  <c:v>49.491</c:v>
                </c:pt>
                <c:pt idx="13">
                  <c:v>42.942999999999998</c:v>
                </c:pt>
                <c:pt idx="14">
                  <c:v>53.975000000000001</c:v>
                </c:pt>
                <c:pt idx="15">
                  <c:v>52.484999999999999</c:v>
                </c:pt>
                <c:pt idx="16">
                  <c:v>77.024000000000001</c:v>
                </c:pt>
                <c:pt idx="17">
                  <c:v>62.960999999999999</c:v>
                </c:pt>
                <c:pt idx="18">
                  <c:v>86.608999999999995</c:v>
                </c:pt>
                <c:pt idx="19">
                  <c:v>71.460999999999999</c:v>
                </c:pt>
                <c:pt idx="20">
                  <c:v>74.236999999999995</c:v>
                </c:pt>
                <c:pt idx="21">
                  <c:v>52.965000000000003</c:v>
                </c:pt>
                <c:pt idx="22">
                  <c:v>58.026000000000003</c:v>
                </c:pt>
                <c:pt idx="23">
                  <c:v>67.411000000000001</c:v>
                </c:pt>
                <c:pt idx="24">
                  <c:v>69.975999999999999</c:v>
                </c:pt>
                <c:pt idx="25">
                  <c:v>62.314999999999998</c:v>
                </c:pt>
                <c:pt idx="26">
                  <c:v>76.52</c:v>
                </c:pt>
                <c:pt idx="27">
                  <c:v>53.689</c:v>
                </c:pt>
                <c:pt idx="28">
                  <c:v>55.991</c:v>
                </c:pt>
                <c:pt idx="29">
                  <c:v>48.948999999999998</c:v>
                </c:pt>
                <c:pt idx="30" formatCode="#,##0.000">
                  <c:v>62.591000000000001</c:v>
                </c:pt>
                <c:pt idx="31" formatCode="General">
                  <c:v>57.430999999999997</c:v>
                </c:pt>
                <c:pt idx="32">
                  <c:v>66.003</c:v>
                </c:pt>
                <c:pt idx="33">
                  <c:v>57.598999999999997</c:v>
                </c:pt>
                <c:pt idx="34">
                  <c:v>62.197000000000003</c:v>
                </c:pt>
                <c:pt idx="35" formatCode="General">
                  <c:v>63.463000000000001</c:v>
                </c:pt>
                <c:pt idx="36">
                  <c:v>67.7</c:v>
                </c:pt>
                <c:pt idx="37">
                  <c:v>67.245000000000005</c:v>
                </c:pt>
                <c:pt idx="38" formatCode="General">
                  <c:v>85.65100000000001</c:v>
                </c:pt>
                <c:pt idx="39" formatCode="General">
                  <c:v>80.983999999999995</c:v>
                </c:pt>
                <c:pt idx="40" formatCode="General">
                  <c:v>93.328000000000003</c:v>
                </c:pt>
                <c:pt idx="41" formatCode="General">
                  <c:v>93.836999999999989</c:v>
                </c:pt>
                <c:pt idx="42" formatCode="General">
                  <c:v>120.273</c:v>
                </c:pt>
                <c:pt idx="43" formatCode="General">
                  <c:v>95.813000000000002</c:v>
                </c:pt>
                <c:pt idx="44" formatCode="General">
                  <c:v>62.304000000000002</c:v>
                </c:pt>
                <c:pt idx="45" formatCode="General">
                  <c:v>65.989999999999995</c:v>
                </c:pt>
                <c:pt idx="46" formatCode="General">
                  <c:v>87.228999999999999</c:v>
                </c:pt>
                <c:pt idx="47" formatCode="General">
                  <c:v>80.09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2AD-47FC-ADD3-DF837E2368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6768447"/>
        <c:axId val="1"/>
      </c:scatterChart>
      <c:valAx>
        <c:axId val="1086768447"/>
        <c:scaling>
          <c:orientation val="minMax"/>
          <c:max val="44600"/>
          <c:min val="35947"/>
        </c:scaling>
        <c:delete val="0"/>
        <c:axPos val="b"/>
        <c:numFmt formatCode="[$-409]mmm\-yy;@" sourceLinked="1"/>
        <c:majorTickMark val="out"/>
        <c:minorTickMark val="out"/>
        <c:tickLblPos val="nextTo"/>
        <c:txPr>
          <a:bodyPr rot="-198000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crossBetween val="midCat"/>
        <c:majorUnit val="366"/>
        <c:minorUnit val="182"/>
      </c:valAx>
      <c:valAx>
        <c:axId val="1"/>
        <c:scaling>
          <c:orientation val="minMax"/>
          <c:max val="800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 sz="1400"/>
                </a:pPr>
                <a:r>
                  <a:rPr lang="en-CA" sz="1400"/>
                  <a:t>Size of Market 
($ trillion)</a:t>
                </a:r>
              </a:p>
            </c:rich>
          </c:tx>
          <c:layout>
            <c:manualLayout>
              <c:xMode val="edge"/>
              <c:yMode val="edge"/>
              <c:x val="7.5262570758136624E-2"/>
              <c:y val="2.7527175541413488E-2"/>
            </c:manualLayout>
          </c:layout>
          <c:overlay val="0"/>
        </c:title>
        <c:numFmt formatCode="0" sourceLinked="0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1086768447"/>
        <c:crosses val="autoZero"/>
        <c:crossBetween val="midCat"/>
        <c:majorUnit val="100"/>
      </c:valAx>
    </c:plotArea>
    <c:legend>
      <c:legendPos val="r"/>
      <c:layout>
        <c:manualLayout>
          <c:xMode val="edge"/>
          <c:yMode val="edge"/>
          <c:x val="0.10184817019272345"/>
          <c:y val="0.22671515448371482"/>
          <c:w val="0.15351028550787305"/>
          <c:h val="0.20342250162579892"/>
        </c:manualLayout>
      </c:layout>
      <c:overlay val="0"/>
      <c:spPr>
        <a:ln>
          <a:solidFill>
            <a:schemeClr val="tx1"/>
          </a:solidFill>
        </a:ln>
      </c:spPr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B5F3D54-F1F2-41D7-9398-34ED131AB5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394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AD70518-C607-4F7A-A190-B5AF8B8328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97024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0416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79" tIns="47540" rIns="95079" bIns="47540"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965703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79" tIns="47540" rIns="95079" bIns="47540"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180796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4224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95BB1E0-D5E8-453D-98BA-9EC9D42E3837}" type="slidenum">
              <a:rPr lang="en-US" altLang="en-US" sz="130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738112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490139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207801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0138" tIns="0" rIns="20138" bIns="0" anchor="b"/>
          <a:lstStyle>
            <a:lvl1pPr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04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04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04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04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100" i="1"/>
              <a:t>14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78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378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55" tIns="46988" rIns="95655" bIns="46988"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049883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0138" tIns="0" rIns="20138" bIns="0" anchor="b"/>
          <a:lstStyle>
            <a:lvl1pPr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04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04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04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04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100" i="1"/>
              <a:t>15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99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399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55" tIns="46988" rIns="95655" bIns="46988"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105960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55" tIns="46988" rIns="95655" bIns="46988"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1780966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9455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5837" cy="3597275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46" tIns="48473" rIns="96946" bIns="48473"/>
          <a:lstStyle/>
          <a:p>
            <a:pPr defTabSz="962025">
              <a:spcBef>
                <a:spcPct val="0"/>
              </a:spcBef>
            </a:pPr>
            <a:endParaRPr lang="en-CA" altLang="en-US" sz="2500"/>
          </a:p>
        </p:txBody>
      </p:sp>
    </p:spTree>
    <p:extLst>
      <p:ext uri="{BB962C8B-B14F-4D97-AF65-F5344CB8AC3E}">
        <p14:creationId xmlns:p14="http://schemas.microsoft.com/office/powerpoint/2010/main" val="3658059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5837" cy="3597275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46" tIns="48473" rIns="96946" bIns="48473"/>
          <a:lstStyle/>
          <a:p>
            <a:pPr defTabSz="962025">
              <a:spcBef>
                <a:spcPct val="0"/>
              </a:spcBef>
            </a:pPr>
            <a:endParaRPr lang="en-CA" altLang="en-US" sz="2500"/>
          </a:p>
        </p:txBody>
      </p:sp>
    </p:spTree>
    <p:extLst>
      <p:ext uri="{BB962C8B-B14F-4D97-AF65-F5344CB8AC3E}">
        <p14:creationId xmlns:p14="http://schemas.microsoft.com/office/powerpoint/2010/main" val="2471061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5837" cy="3597275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46" tIns="48473" rIns="96946" bIns="48473"/>
          <a:lstStyle/>
          <a:p>
            <a:pPr defTabSz="962025">
              <a:spcBef>
                <a:spcPct val="0"/>
              </a:spcBef>
            </a:pPr>
            <a:endParaRPr lang="en-CA" altLang="en-US" sz="2500"/>
          </a:p>
        </p:txBody>
      </p:sp>
    </p:spTree>
    <p:extLst>
      <p:ext uri="{BB962C8B-B14F-4D97-AF65-F5344CB8AC3E}">
        <p14:creationId xmlns:p14="http://schemas.microsoft.com/office/powerpoint/2010/main" val="3531396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46" tIns="48473" rIns="96946" bIns="48473"/>
          <a:lstStyle/>
          <a:p>
            <a:pPr defTabSz="962025">
              <a:spcBef>
                <a:spcPct val="0"/>
              </a:spcBef>
            </a:pPr>
            <a:endParaRPr lang="en-CA" altLang="en-US" sz="2500"/>
          </a:p>
        </p:txBody>
      </p:sp>
      <p:sp>
        <p:nvSpPr>
          <p:cNvPr id="522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5837" cy="3597275"/>
          </a:xfrm>
          <a:noFill/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330439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5837" cy="3597275"/>
          </a:xfrm>
          <a:solidFill>
            <a:srgbClr val="FFFFFF"/>
          </a:solidFill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277" tIns="48139" rIns="96277" bIns="48139"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0254667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5732478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1326082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4381560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631615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0138" tIns="0" rIns="20138" bIns="0" anchor="b"/>
          <a:lstStyle>
            <a:lvl1pPr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04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04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04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04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04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100" i="1"/>
              <a:t>16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65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6656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55" tIns="46988" rIns="95655" bIns="46988"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2414879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37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4BD598C-99E9-4FD1-823D-F1AE99E3CF69}" type="slidenum">
              <a:rPr lang="en-US" altLang="en-US" sz="1300"/>
              <a:pPr>
                <a:spcBef>
                  <a:spcPct val="0"/>
                </a:spcBef>
              </a:pPr>
              <a:t>25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6460330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77CE5CC-6854-4F53-A098-9AD95071F457}" type="slidenum">
              <a:rPr lang="en-US" altLang="en-US" sz="1300"/>
              <a:pPr>
                <a:spcBef>
                  <a:spcPct val="0"/>
                </a:spcBef>
              </a:pPr>
              <a:t>26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114618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40503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32783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EA7A76D-C33B-4FB4-B9A2-353940C104AB}" type="slidenum">
              <a:rPr lang="en-US" altLang="en-US" sz="1300"/>
              <a:pPr>
                <a:spcBef>
                  <a:spcPct val="0"/>
                </a:spcBef>
              </a:pPr>
              <a:t>29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6736434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0C18D5A-A8AA-4932-8FC7-171C46C07924}" type="slidenum">
              <a:rPr lang="en-US" altLang="en-US" sz="1300"/>
              <a:pPr>
                <a:spcBef>
                  <a:spcPct val="0"/>
                </a:spcBef>
              </a:pPr>
              <a:t>30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087779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710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CE48735-1C54-46B5-AA70-62657D30F1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4713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15D98B-820E-455E-ADC0-01E35A5DCA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2264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BC77498-3A3A-47D2-8AC4-EC3C7BF650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9954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0B5D5-F7A9-4411-AF11-AF1D36A796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240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B5FB4C-2E12-4649-B437-35B364DA61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1330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306316-E1F5-463C-99F3-5A4BFE2330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3254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4BE7EB-C439-453B-A79B-52BFB32E94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4413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4CB934F-04A6-49DB-A55C-35EDE9E130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25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8641785-122D-4D1C-B1C6-063139836C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4317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0F2A4B4-08A3-4C68-AE58-51B6B15BF5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2534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7E1BBF1-58EE-40D2-BFEA-1DEF1A088B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4593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DE2D7B-5FD8-4DC5-8AAC-A24E5333A3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7718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3FE9B5-1D3B-48C0-A012-074D66D70F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661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99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999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16999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 smtClean="0"/>
            </a:lvl1pPr>
          </a:lstStyle>
          <a:p>
            <a:pPr>
              <a:defRPr/>
            </a:pPr>
            <a:r>
              <a:rPr lang="en-US" altLang="en-US"/>
              <a:t>2.</a:t>
            </a:r>
            <a:fld id="{9C641A49-1C12-4AED-8159-673079CEDA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  <p:sldLayoutId id="2147484016" r:id="rId12"/>
    <p:sldLayoutId id="2147484017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br>
              <a:rPr lang="en-US" altLang="en-US" sz="4000" dirty="0"/>
            </a:br>
            <a:br>
              <a:rPr lang="en-US" altLang="en-US" dirty="0"/>
            </a:br>
            <a:r>
              <a:rPr lang="en-US" altLang="en-US" dirty="0"/>
              <a:t>Financial Instruments</a:t>
            </a:r>
            <a:endParaRPr lang="en-US" altLang="en-US" sz="4000" dirty="0"/>
          </a:p>
        </p:txBody>
      </p:sp>
      <p:sp>
        <p:nvSpPr>
          <p:cNvPr id="17411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Chapter 5</a:t>
            </a:r>
            <a:r>
              <a:rPr lang="en-CA" altLang="en-US" dirty="0">
                <a:cs typeface="Arial" panose="020B0604020202020204" pitchFamily="34" charset="0"/>
              </a:rPr>
              <a:t> </a:t>
            </a: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17412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1741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667971-D974-4901-A891-7D307EC3F7C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Grp="1" noChangeArrowheads="1"/>
          </p:cNvSpPr>
          <p:nvPr>
            <p:ph type="title"/>
          </p:nvPr>
        </p:nvSpPr>
        <p:spPr>
          <a:xfrm>
            <a:off x="285750" y="214313"/>
            <a:ext cx="7772400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/>
              <a:t>Short Selling </a:t>
            </a:r>
            <a:r>
              <a:rPr lang="en-US" altLang="en-US" sz="2200" dirty="0"/>
              <a:t>(Pages 100-102)</a:t>
            </a:r>
            <a:endParaRPr lang="en-US" altLang="en-US" dirty="0"/>
          </a:p>
        </p:txBody>
      </p:sp>
      <p:sp>
        <p:nvSpPr>
          <p:cNvPr id="24579" name="Rectangle 5"/>
          <p:cNvSpPr>
            <a:spLocks noGrp="1" noChangeArrowheads="1"/>
          </p:cNvSpPr>
          <p:nvPr>
            <p:ph idx="1"/>
          </p:nvPr>
        </p:nvSpPr>
        <p:spPr>
          <a:xfrm>
            <a:off x="857250" y="1800225"/>
            <a:ext cx="7011988" cy="3967163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Short selling involves selling securities you do not own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Your broker borrows the securities from another client and sells them in the market in the usual way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At some stage you must buy the securities back so they can be replaced in the account of the client</a:t>
            </a:r>
          </a:p>
          <a:p>
            <a:pPr eaLnBrk="1" hangingPunct="1"/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24581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F39DCC-277F-4EA9-AED2-EEE4989F9C9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  <p:sp>
        <p:nvSpPr>
          <p:cNvPr id="2458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458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Grp="1" noChangeArrowheads="1"/>
          </p:cNvSpPr>
          <p:nvPr>
            <p:ph type="title"/>
          </p:nvPr>
        </p:nvSpPr>
        <p:spPr>
          <a:xfrm>
            <a:off x="246063" y="214313"/>
            <a:ext cx="7772400" cy="100012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Short Selling </a:t>
            </a:r>
            <a:r>
              <a:rPr lang="en-US" altLang="en-US" sz="2600"/>
              <a:t>(continued)</a:t>
            </a:r>
          </a:p>
        </p:txBody>
      </p:sp>
      <p:sp>
        <p:nvSpPr>
          <p:cNvPr id="198661" name="Rectangle 5"/>
          <p:cNvSpPr>
            <a:spLocks noGrp="1" noChangeArrowheads="1"/>
          </p:cNvSpPr>
          <p:nvPr>
            <p:ph idx="1"/>
          </p:nvPr>
        </p:nvSpPr>
        <p:spPr>
          <a:xfrm>
            <a:off x="500063" y="1571625"/>
            <a:ext cx="7572375" cy="4559300"/>
          </a:xfrm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sz="2800" dirty="0"/>
              <a:t>You must pay dividends and other benefits the owner of the securities receives</a:t>
            </a:r>
          </a:p>
          <a:p>
            <a:pPr eaLnBrk="1" hangingPunct="1">
              <a:defRPr/>
            </a:pPr>
            <a:r>
              <a:rPr lang="en-US" sz="2800" dirty="0"/>
              <a:t>The cash flows from a short position that is entered into at time </a:t>
            </a:r>
            <a:r>
              <a:rPr lang="en-US" sz="2800" i="1" dirty="0">
                <a:latin typeface="+mj-lt"/>
              </a:rPr>
              <a:t>T</a:t>
            </a:r>
            <a:r>
              <a:rPr lang="en-US" sz="2800" baseline="-25000" dirty="0"/>
              <a:t>1</a:t>
            </a:r>
            <a:r>
              <a:rPr lang="en-US" sz="2800" dirty="0"/>
              <a:t> and closed out at time </a:t>
            </a:r>
            <a:r>
              <a:rPr lang="en-US" sz="2800" i="1" dirty="0">
                <a:latin typeface="+mj-lt"/>
              </a:rPr>
              <a:t>T</a:t>
            </a:r>
            <a:r>
              <a:rPr lang="en-US" sz="2800" baseline="-25000" dirty="0"/>
              <a:t>2</a:t>
            </a:r>
            <a:r>
              <a:rPr lang="en-US" sz="2800" dirty="0"/>
              <a:t> are the opposite of those from a long position where asset is bought at time </a:t>
            </a:r>
            <a:r>
              <a:rPr lang="en-US" sz="2800" i="1" dirty="0">
                <a:latin typeface="+mj-lt"/>
              </a:rPr>
              <a:t>T</a:t>
            </a:r>
            <a:r>
              <a:rPr lang="en-US" sz="2800" baseline="-25000" dirty="0"/>
              <a:t>1</a:t>
            </a:r>
            <a:r>
              <a:rPr lang="en-US" sz="2800" dirty="0"/>
              <a:t> and sold at time </a:t>
            </a:r>
            <a:r>
              <a:rPr lang="en-US" sz="2800" i="1" dirty="0">
                <a:latin typeface="+mj-lt"/>
              </a:rPr>
              <a:t>T</a:t>
            </a:r>
            <a:r>
              <a:rPr lang="en-US" sz="2800" baseline="-25000" dirty="0"/>
              <a:t>2</a:t>
            </a:r>
            <a:r>
              <a:rPr lang="en-US" sz="2800" dirty="0"/>
              <a:t>, except that there may be a  small fee for borrowing the asset</a:t>
            </a: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26629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931308-FBF5-461E-916C-53316F374A2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  <p:sp>
        <p:nvSpPr>
          <p:cNvPr id="2663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63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Derivatives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Forwards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Futures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Swaps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Options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Exotics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86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2867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4F19E3-1B42-463D-B52A-32E2F90B9B4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63500" y="384175"/>
            <a:ext cx="7772400" cy="1000125"/>
          </a:xfrm>
        </p:spPr>
        <p:txBody>
          <a:bodyPr/>
          <a:lstStyle/>
          <a:p>
            <a:pPr eaLnBrk="1" hangingPunct="1"/>
            <a:r>
              <a:rPr lang="en-US" altLang="en-US" dirty="0"/>
              <a:t>Derivatives Markets </a:t>
            </a:r>
            <a:r>
              <a:rPr lang="en-US" altLang="en-US" sz="2400" dirty="0"/>
              <a:t>(Figure 5.1)</a:t>
            </a:r>
          </a:p>
        </p:txBody>
      </p:sp>
      <p:sp>
        <p:nvSpPr>
          <p:cNvPr id="3072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3072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E56F8A-5FB8-4C6A-AE68-BB3962464DA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E0DE23C-E18A-1E11-7F8F-7B296FC6DA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6378811"/>
              </p:ext>
            </p:extLst>
          </p:nvPr>
        </p:nvGraphicFramePr>
        <p:xfrm>
          <a:off x="250825" y="2060848"/>
          <a:ext cx="8604250" cy="408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Contracts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A forward contract is an agreement to buy or sell an asset at a certain price at a certain future time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Forward contracts trade in the over-the-counter market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They are particularly popular on currencies and interest rates</a:t>
            </a:r>
          </a:p>
        </p:txBody>
      </p:sp>
      <p:sp>
        <p:nvSpPr>
          <p:cNvPr id="327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3277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1380A4-BFEA-4061-BF50-7DA984EB3A6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Foreign Exchange Quotes for GBP </a:t>
            </a:r>
            <a:r>
              <a:rPr lang="en-US" altLang="en-US" sz="2600" dirty="0"/>
              <a:t>(See Table 5.2)</a:t>
            </a:r>
            <a:endParaRPr lang="en-US" altLang="en-US" dirty="0"/>
          </a:p>
        </p:txBody>
      </p:sp>
      <p:sp>
        <p:nvSpPr>
          <p:cNvPr id="3481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D1E5EE-E2D3-442F-89AE-C7301D06C2E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  <p:graphicFrame>
        <p:nvGraphicFramePr>
          <p:cNvPr id="14131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510685"/>
              </p:ext>
            </p:extLst>
          </p:nvPr>
        </p:nvGraphicFramePr>
        <p:xfrm>
          <a:off x="685800" y="2209800"/>
          <a:ext cx="6934200" cy="3768726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Offer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6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Spot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1.2732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1.2736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6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1-month forward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1.2746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1.2751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6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3-month forward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1.2772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1.2777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6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1-year forward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1.2883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1.2889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z="3600"/>
              <a:t>Profit from a Long Forward Position</a:t>
            </a:r>
          </a:p>
        </p:txBody>
      </p:sp>
      <p:sp>
        <p:nvSpPr>
          <p:cNvPr id="3686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36868" name="Slide Number Placeholder 1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DF4C2E-4DD9-45CE-86F9-E9F9A0BDB59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  <p:sp>
        <p:nvSpPr>
          <p:cNvPr id="36869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6870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pSp>
        <p:nvGrpSpPr>
          <p:cNvPr id="36871" name="Group 5"/>
          <p:cNvGrpSpPr>
            <a:grpSpLocks/>
          </p:cNvGrpSpPr>
          <p:nvPr/>
        </p:nvGrpSpPr>
        <p:grpSpPr bwMode="auto">
          <a:xfrm>
            <a:off x="2187575" y="2106613"/>
            <a:ext cx="6067425" cy="3786187"/>
            <a:chOff x="1378" y="1327"/>
            <a:chExt cx="3822" cy="2385"/>
          </a:xfrm>
        </p:grpSpPr>
        <p:sp>
          <p:nvSpPr>
            <p:cNvPr id="36873" name="Line 6"/>
            <p:cNvSpPr>
              <a:spLocks noChangeShapeType="1"/>
            </p:cNvSpPr>
            <p:nvPr/>
          </p:nvSpPr>
          <p:spPr bwMode="auto">
            <a:xfrm>
              <a:off x="1378" y="1377"/>
              <a:ext cx="0" cy="2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4" name="Line 7"/>
            <p:cNvSpPr>
              <a:spLocks noChangeShapeType="1"/>
            </p:cNvSpPr>
            <p:nvPr/>
          </p:nvSpPr>
          <p:spPr bwMode="auto">
            <a:xfrm>
              <a:off x="1387" y="2520"/>
              <a:ext cx="23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5" name="Line 8"/>
            <p:cNvSpPr>
              <a:spLocks noChangeShapeType="1"/>
            </p:cNvSpPr>
            <p:nvPr/>
          </p:nvSpPr>
          <p:spPr bwMode="auto">
            <a:xfrm flipV="1">
              <a:off x="1411" y="1409"/>
              <a:ext cx="2035" cy="2163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6" name="Rectangle 9"/>
            <p:cNvSpPr>
              <a:spLocks noChangeArrowheads="1"/>
            </p:cNvSpPr>
            <p:nvPr/>
          </p:nvSpPr>
          <p:spPr bwMode="auto">
            <a:xfrm>
              <a:off x="1393" y="1327"/>
              <a:ext cx="63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/>
                <a:t>Profit</a:t>
              </a:r>
            </a:p>
          </p:txBody>
        </p:sp>
        <p:sp>
          <p:nvSpPr>
            <p:cNvPr id="36877" name="Rectangle 10"/>
            <p:cNvSpPr>
              <a:spLocks noChangeArrowheads="1"/>
            </p:cNvSpPr>
            <p:nvPr/>
          </p:nvSpPr>
          <p:spPr bwMode="auto">
            <a:xfrm>
              <a:off x="2892" y="2226"/>
              <a:ext cx="2308" cy="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/>
                <a:t>    Price of Underlying</a:t>
              </a:r>
              <a:endParaRPr lang="en-US" altLang="en-US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          </a:t>
              </a:r>
              <a:r>
                <a:rPr lang="en-US" altLang="en-US" sz="2800"/>
                <a:t>at Maturity</a:t>
              </a:r>
              <a:endParaRPr lang="en-US" altLang="en-US" sz="2800" i="1" baseline="-25000"/>
            </a:p>
          </p:txBody>
        </p:sp>
      </p:grpSp>
      <p:sp>
        <p:nvSpPr>
          <p:cNvPr id="36872" name="Rectangle 11"/>
          <p:cNvSpPr>
            <a:spLocks noChangeArrowheads="1"/>
          </p:cNvSpPr>
          <p:nvPr/>
        </p:nvSpPr>
        <p:spPr bwMode="auto">
          <a:xfrm>
            <a:off x="3659188" y="4040188"/>
            <a:ext cx="6064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K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z="3600"/>
              <a:t>Profit from a Short Forward Position</a:t>
            </a:r>
          </a:p>
        </p:txBody>
      </p:sp>
      <p:sp>
        <p:nvSpPr>
          <p:cNvPr id="3891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38916" name="Slide Number Placeholder 1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1CCF2B-C114-4FDD-BCFE-A1F5852B173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  <p:sp>
        <p:nvSpPr>
          <p:cNvPr id="38917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8918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pSp>
        <p:nvGrpSpPr>
          <p:cNvPr id="38919" name="Group 5"/>
          <p:cNvGrpSpPr>
            <a:grpSpLocks/>
          </p:cNvGrpSpPr>
          <p:nvPr/>
        </p:nvGrpSpPr>
        <p:grpSpPr bwMode="auto">
          <a:xfrm>
            <a:off x="2187575" y="2106613"/>
            <a:ext cx="5626100" cy="3786187"/>
            <a:chOff x="1378" y="1327"/>
            <a:chExt cx="3544" cy="2385"/>
          </a:xfrm>
        </p:grpSpPr>
        <p:sp>
          <p:nvSpPr>
            <p:cNvPr id="38921" name="Line 6"/>
            <p:cNvSpPr>
              <a:spLocks noChangeShapeType="1"/>
            </p:cNvSpPr>
            <p:nvPr/>
          </p:nvSpPr>
          <p:spPr bwMode="auto">
            <a:xfrm>
              <a:off x="1378" y="1377"/>
              <a:ext cx="0" cy="2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2" name="Line 7"/>
            <p:cNvSpPr>
              <a:spLocks noChangeShapeType="1"/>
            </p:cNvSpPr>
            <p:nvPr/>
          </p:nvSpPr>
          <p:spPr bwMode="auto">
            <a:xfrm>
              <a:off x="1387" y="2520"/>
              <a:ext cx="23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3" name="Rectangle 8"/>
            <p:cNvSpPr>
              <a:spLocks noChangeArrowheads="1"/>
            </p:cNvSpPr>
            <p:nvPr/>
          </p:nvSpPr>
          <p:spPr bwMode="auto">
            <a:xfrm>
              <a:off x="1393" y="1327"/>
              <a:ext cx="63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/>
                <a:t>Profit</a:t>
              </a:r>
            </a:p>
          </p:txBody>
        </p:sp>
        <p:sp>
          <p:nvSpPr>
            <p:cNvPr id="38924" name="Rectangle 9"/>
            <p:cNvSpPr>
              <a:spLocks noChangeArrowheads="1"/>
            </p:cNvSpPr>
            <p:nvPr/>
          </p:nvSpPr>
          <p:spPr bwMode="auto">
            <a:xfrm>
              <a:off x="2892" y="2226"/>
              <a:ext cx="2030" cy="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/>
                <a:t>Price of Underlying</a:t>
              </a:r>
              <a:endParaRPr lang="en-US" altLang="en-US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     </a:t>
              </a:r>
              <a:r>
                <a:rPr lang="en-US" altLang="en-US" sz="2800"/>
                <a:t>at Maturity</a:t>
              </a:r>
              <a:endParaRPr lang="en-US" altLang="en-US" sz="2800" i="1" baseline="-25000"/>
            </a:p>
          </p:txBody>
        </p:sp>
        <p:sp>
          <p:nvSpPr>
            <p:cNvPr id="38925" name="Line 10"/>
            <p:cNvSpPr>
              <a:spLocks noChangeShapeType="1"/>
            </p:cNvSpPr>
            <p:nvPr/>
          </p:nvSpPr>
          <p:spPr bwMode="auto">
            <a:xfrm>
              <a:off x="1411" y="1563"/>
              <a:ext cx="2005" cy="200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920" name="Rectangle 11"/>
          <p:cNvSpPr>
            <a:spLocks noChangeArrowheads="1"/>
          </p:cNvSpPr>
          <p:nvPr/>
        </p:nvSpPr>
        <p:spPr bwMode="auto">
          <a:xfrm>
            <a:off x="3582988" y="4040188"/>
            <a:ext cx="3778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K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dirty="0"/>
              <a:t>Futures Contracts </a:t>
            </a:r>
            <a:r>
              <a:rPr lang="en-US" altLang="en-US" sz="2200" dirty="0"/>
              <a:t>(page 104-108)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Agreement to buy or sell an asset for a certain price at a certain time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Similar to forward contract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Whereas a forward contract is traded over the counter (OTC), a futures contract is traded on an exchange</a:t>
            </a:r>
          </a:p>
        </p:txBody>
      </p:sp>
      <p:sp>
        <p:nvSpPr>
          <p:cNvPr id="409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4096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7CE11F-7DFB-4B20-B011-8FBC7339F20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77887"/>
          </a:xfrm>
        </p:spPr>
        <p:txBody>
          <a:bodyPr/>
          <a:lstStyle/>
          <a:p>
            <a:pPr eaLnBrk="1" hangingPunct="1"/>
            <a:r>
              <a:rPr lang="en-US" altLang="en-US"/>
              <a:t>Futures Contract </a:t>
            </a:r>
            <a:r>
              <a:rPr lang="en-US" altLang="en-US" sz="2400"/>
              <a:t>continued</a:t>
            </a:r>
            <a:endParaRPr lang="en-CA" altLang="en-US" sz="2400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Arial" panose="020B0604020202020204" pitchFamily="34" charset="0"/>
              </a:rPr>
              <a:t>Contracts are settled daily (e.g., if a contract is on 200 ounces of December gold and the December futures price moves $2 in my favor, I receive $400; if it moves $2 against me I pay $400)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Arial" panose="020B0604020202020204" pitchFamily="34" charset="0"/>
              </a:rPr>
              <a:t>Both sides to a futures contract are required to post margin with the exchange clearinghouse. This ensures that they will honor their commitments under the contract. </a:t>
            </a:r>
          </a:p>
          <a:p>
            <a:pPr eaLnBrk="1" hangingPunct="1">
              <a:lnSpc>
                <a:spcPct val="90000"/>
              </a:lnSpc>
            </a:pPr>
            <a:endParaRPr lang="en-CA" altLang="en-US" dirty="0">
              <a:cs typeface="Arial" panose="020B0604020202020204" pitchFamily="34" charset="0"/>
            </a:endParaRPr>
          </a:p>
        </p:txBody>
      </p:sp>
      <p:sp>
        <p:nvSpPr>
          <p:cNvPr id="430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4301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04060E-8331-42DD-B635-02D9DCC83DE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CFB0A-4DA1-7750-435E-46A10903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LIBOR Phase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C9C1-025F-0655-5004-B000C4B49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LIBOR used to be a very important reference rate</a:t>
            </a:r>
          </a:p>
          <a:p>
            <a:r>
              <a:rPr lang="en-CA" dirty="0"/>
              <a:t>It is being phased out and replaced by overnight rates (e.g., SOFR in the U.S.)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04664-90CF-F8CE-7903-7F2ECC5A9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7EB7D-7CAF-6E8B-B59F-3338B20A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15D98B-820E-455E-ADC0-01E35A5DCAEA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4996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CE0B8-F598-97AA-EBB2-AF93C1E5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New Reference 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7D930-8A81-EEA9-09D4-2917F9027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Overnight rates can be compounded daily to produce rates applicable to longer periods (e.g. 3 months) but the rate is not known until the end of the period</a:t>
            </a:r>
          </a:p>
          <a:p>
            <a:r>
              <a:rPr lang="en-CA" dirty="0"/>
              <a:t>The overnight rates are regarded as risk-free rates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088A4D-53A3-D03C-9711-10C370F90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C9E5D-8F31-FA4C-0C33-E737F0FD1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15D98B-820E-455E-ADC0-01E35A5DCAEA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8881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Swaps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484313"/>
            <a:ext cx="7196138" cy="4548187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A swap is an agreement to exchange cash flows at specified future times according to certain specified rules</a:t>
            </a:r>
          </a:p>
        </p:txBody>
      </p:sp>
      <p:sp>
        <p:nvSpPr>
          <p:cNvPr id="450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4506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BBC2E5-8BE0-40E0-9868-6139DA51920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85813"/>
            <a:ext cx="7772400" cy="12858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3500"/>
              <a:t>An Example of a “Plain Vanilla” Interest Rate Swap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846138" y="2428875"/>
            <a:ext cx="7575550" cy="38385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An agreement to receive 6-month SOFR &amp; pay a fixed rate of 3% per annum every 6 months for 3 years on a notional principal of $100 million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Next slide illustrates cash flows</a:t>
            </a:r>
          </a:p>
        </p:txBody>
      </p:sp>
      <p:sp>
        <p:nvSpPr>
          <p:cNvPr id="471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4710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42FF61-100A-451E-86D1-DC69FCF7AB7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8"/>
          <p:cNvSpPr>
            <a:spLocks noGrp="1" noChangeArrowheads="1"/>
          </p:cNvSpPr>
          <p:nvPr>
            <p:ph type="title"/>
          </p:nvPr>
        </p:nvSpPr>
        <p:spPr>
          <a:xfrm>
            <a:off x="474663" y="500063"/>
            <a:ext cx="8204200" cy="142875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3500" dirty="0"/>
              <a:t>Cash Flows for one set of SOFR rates</a:t>
            </a:r>
            <a:br>
              <a:rPr lang="en-US" altLang="en-US" sz="3500" dirty="0"/>
            </a:br>
            <a:r>
              <a:rPr lang="en-US" altLang="en-US" sz="2200" dirty="0"/>
              <a:t>(See Table 5.4, page 110)</a:t>
            </a:r>
            <a:endParaRPr lang="en-US" altLang="en-US" sz="3500" dirty="0"/>
          </a:p>
        </p:txBody>
      </p:sp>
      <p:sp>
        <p:nvSpPr>
          <p:cNvPr id="4915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49156" name="Slide Number Placeholder 6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1A035C-7527-4AB9-9DF7-2DBF7F6581E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4912224-AE6A-36E3-5588-F0C1A92EA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823487"/>
              </p:ext>
            </p:extLst>
          </p:nvPr>
        </p:nvGraphicFramePr>
        <p:xfrm>
          <a:off x="1187624" y="2492896"/>
          <a:ext cx="7200800" cy="3139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126893161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430651066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1438692868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351766190"/>
                    </a:ext>
                  </a:extLst>
                </a:gridCol>
              </a:tblGrid>
              <a:tr h="332864"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Floating Cash Flow Received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Fixed Cash Flow Paid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Net Cash 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85758"/>
                  </a:ext>
                </a:extLst>
              </a:tr>
              <a:tr h="324088"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Mar. 3,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875769"/>
                  </a:ext>
                </a:extLst>
              </a:tr>
              <a:tr h="332864"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Sep 3,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+1.10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−1.50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−0.40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814520"/>
                  </a:ext>
                </a:extLst>
              </a:tr>
              <a:tr h="332864"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Mar 3,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+1.40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−1.50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−0.10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696338"/>
                  </a:ext>
                </a:extLst>
              </a:tr>
              <a:tr h="332864"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Sep 3,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+1.65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−1.50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+0.15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556019"/>
                  </a:ext>
                </a:extLst>
              </a:tr>
              <a:tr h="332864"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Mar 3,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+1.75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−1.50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+0.25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163433"/>
                  </a:ext>
                </a:extLst>
              </a:tr>
              <a:tr h="332864"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Sep 3,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+1.80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−1.50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+0.30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343323"/>
                  </a:ext>
                </a:extLst>
              </a:tr>
              <a:tr h="332864"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Mar 3,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+1.95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−1.50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+0.45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63083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85813"/>
            <a:ext cx="7054850" cy="12858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4000"/>
              <a:t>Typical Uses of an</a:t>
            </a:r>
            <a:br>
              <a:rPr lang="en-US" altLang="en-US" sz="4000"/>
            </a:br>
            <a:r>
              <a:rPr lang="en-US" altLang="en-US" sz="4000"/>
              <a:t>Interest Rate Swap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827088" y="2328863"/>
            <a:ext cx="7273925" cy="14605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lang="en-US" altLang="en-US">
                <a:cs typeface="Arial" panose="020B0604020202020204" pitchFamily="34" charset="0"/>
              </a:rPr>
              <a:t>Converting a liability from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>
                <a:cs typeface="Arial" panose="020B0604020202020204" pitchFamily="34" charset="0"/>
              </a:rPr>
              <a:t>fixed rate to floating rate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>
                <a:cs typeface="Arial" panose="020B0604020202020204" pitchFamily="34" charset="0"/>
              </a:rPr>
              <a:t>floating rate to fixed rate 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80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>
                <a:cs typeface="Arial" panose="020B0604020202020204" pitchFamily="34" charset="0"/>
              </a:rPr>
              <a:t>Converting an investment from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>
                <a:cs typeface="Arial" panose="020B0604020202020204" pitchFamily="34" charset="0"/>
              </a:rPr>
              <a:t>fixed rate to floating rate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>
                <a:cs typeface="Arial" panose="020B0604020202020204" pitchFamily="34" charset="0"/>
              </a:rPr>
              <a:t>floating rate to fixed rate 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800">
              <a:cs typeface="Arial" panose="020B0604020202020204" pitchFamily="34" charset="0"/>
            </a:endParaRPr>
          </a:p>
        </p:txBody>
      </p:sp>
      <p:sp>
        <p:nvSpPr>
          <p:cNvPr id="51204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5120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3AD9CB-0D80-4270-892C-9FA120F4F9F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7188"/>
            <a:ext cx="7472363" cy="135731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Quotes By a Swap Market Maker </a:t>
            </a:r>
            <a:r>
              <a:rPr lang="en-US" altLang="en-US" sz="2400" dirty="0"/>
              <a:t>(Table 5.5, page 112)</a:t>
            </a:r>
          </a:p>
        </p:txBody>
      </p:sp>
      <p:graphicFrame>
        <p:nvGraphicFramePr>
          <p:cNvPr id="221187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481979213"/>
              </p:ext>
            </p:extLst>
          </p:nvPr>
        </p:nvGraphicFramePr>
        <p:xfrm>
          <a:off x="714375" y="2071688"/>
          <a:ext cx="7989888" cy="3756024"/>
        </p:xfrm>
        <a:graphic>
          <a:graphicData uri="http://schemas.openxmlformats.org/drawingml/2006/table">
            <a:tbl>
              <a:tblPr/>
              <a:tblGrid>
                <a:gridCol w="199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1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8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Maturity</a:t>
                      </a:r>
                    </a:p>
                  </a:txBody>
                  <a:tcPr marL="92075" marR="92075" marT="46029" marB="4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Bid (%)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Offer (%)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Swap Rate (%)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 years</a:t>
                      </a:r>
                    </a:p>
                  </a:txBody>
                  <a:tcPr marL="92075" marR="92075" marT="46029" marB="4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2.55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2.58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2.565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7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 years</a:t>
                      </a:r>
                    </a:p>
                  </a:txBody>
                  <a:tcPr marL="92075" marR="92075" marT="46029" marB="4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2.97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3.00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2.985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 years</a:t>
                      </a:r>
                    </a:p>
                  </a:txBody>
                  <a:tcPr marL="92075" marR="92075" marT="46029" marB="4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3.15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3.19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3.170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7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 years </a:t>
                      </a:r>
                    </a:p>
                  </a:txBody>
                  <a:tcPr marL="92075" marR="92075" marT="46029" marB="4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3.26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3.30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3.280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5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 years</a:t>
                      </a:r>
                    </a:p>
                  </a:txBody>
                  <a:tcPr marL="92075" marR="92075" marT="46029" marB="4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3.40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3.44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3.420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07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years</a:t>
                      </a:r>
                    </a:p>
                  </a:txBody>
                  <a:tcPr marL="92075" marR="92075" marT="46029" marB="4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3.48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3.52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3.500</a:t>
                      </a:r>
                    </a:p>
                  </a:txBody>
                  <a:tcPr marL="92075" marR="92075" marT="46029" marB="4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29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532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6A558A-15B5-4763-932C-32C51DA4A50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642938"/>
            <a:ext cx="7543800" cy="1214437"/>
          </a:xfrm>
        </p:spPr>
        <p:txBody>
          <a:bodyPr/>
          <a:lstStyle/>
          <a:p>
            <a:pPr eaLnBrk="1" hangingPunct="1"/>
            <a:r>
              <a:rPr lang="en-US" altLang="en-US"/>
              <a:t>Options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857375"/>
            <a:ext cx="7772400" cy="44053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A call option is an option to buy a certain asset by a certain date for a certain price (the strike price)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A put option is an option to sell a certain asset by a certain date for a certain price (the strike price)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Options trade on both exchanges and in the OTC market</a:t>
            </a:r>
            <a:endParaRPr lang="en-US" altLang="en-US" i="1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573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5734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CCC145D-E0BE-4A84-8957-B0254C64A9F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American vs European Options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An American option can be exercised at any time during its life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A European option can be exercised only at maturity </a:t>
            </a:r>
          </a:p>
        </p:txBody>
      </p:sp>
      <p:sp>
        <p:nvSpPr>
          <p:cNvPr id="593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5939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5BE644-5B5A-416C-AB63-9A2834733B5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28625"/>
            <a:ext cx="7543800" cy="1500188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Intel Option Prices: Jan 24, 2022; Stock Price=51.98 </a:t>
            </a:r>
            <a:r>
              <a:rPr lang="en-US" altLang="en-US" dirty="0"/>
              <a:t>(</a:t>
            </a:r>
            <a:r>
              <a:rPr lang="en-US" altLang="en-US" sz="2600" dirty="0"/>
              <a:t>See Table 5.6; page 113)</a:t>
            </a:r>
            <a:endParaRPr lang="en-US" altLang="en-US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4033838" cy="44116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4084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37210733"/>
              </p:ext>
            </p:extLst>
          </p:nvPr>
        </p:nvGraphicFramePr>
        <p:xfrm>
          <a:off x="755576" y="2108049"/>
          <a:ext cx="7418391" cy="4081614"/>
        </p:xfrm>
        <a:graphic>
          <a:graphicData uri="http://schemas.openxmlformats.org/drawingml/2006/table">
            <a:tbl>
              <a:tblPr/>
              <a:tblGrid>
                <a:gridCol w="1059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9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8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9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99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99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1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Strike Price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Mar 22 Call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May 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Call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Jul 22 Call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Mar 22 Put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May 22 Put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Jul 22 Put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9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7.77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8.47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8.87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1.96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2.35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47.5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5.77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6.67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7.17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1.55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2.64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3.15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4.05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5.10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5.65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2.32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3.60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4.15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52.5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2.64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3.77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4.37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3.42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4.77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5.35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1.61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2.73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3.30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4.90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6.25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6.80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229154"/>
                  </a:ext>
                </a:extLst>
              </a:tr>
              <a:tr h="5715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57.5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1.92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2.48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6.72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7.90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8.47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695534"/>
                  </a:ext>
                </a:extLst>
              </a:tr>
            </a:tbl>
          </a:graphicData>
        </a:graphic>
      </p:graphicFrame>
      <p:sp>
        <p:nvSpPr>
          <p:cNvPr id="61494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6149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1C15A1-BDF1-4701-9EBE-7E3C7F5C155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Options vs Futures/Forwards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A futures/forward contract gives the holder the obligation to buy or sell at a certain price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An option gives the holder the right to buy or sell at a certain price</a:t>
            </a:r>
          </a:p>
        </p:txBody>
      </p:sp>
      <p:sp>
        <p:nvSpPr>
          <p:cNvPr id="634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6349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94CEAE-6256-4FEE-AEE1-A2164B33F1C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714375"/>
            <a:ext cx="8077200" cy="1071563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Hedging Examples </a:t>
            </a:r>
          </a:p>
        </p:txBody>
      </p:sp>
      <p:sp>
        <p:nvSpPr>
          <p:cNvPr id="65539" name="Rectangle 4"/>
          <p:cNvSpPr>
            <a:spLocks noGrp="1" noChangeArrowheads="1"/>
          </p:cNvSpPr>
          <p:nvPr>
            <p:ph idx="1"/>
          </p:nvPr>
        </p:nvSpPr>
        <p:spPr>
          <a:xfrm>
            <a:off x="685800" y="1928813"/>
            <a:ext cx="7772400" cy="4014787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Arial" panose="020B0604020202020204" pitchFamily="34" charset="0"/>
              </a:rPr>
              <a:t>A US company will pay £10 million for imports from Britain in 3 months and decides to hedge using a long position in a forward contract</a:t>
            </a:r>
            <a:endParaRPr lang="en-US" altLang="en-US" sz="2400" dirty="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Arial" panose="020B0604020202020204" pitchFamily="34" charset="0"/>
              </a:rPr>
              <a:t>An investor owns 1,000 shares currently worth $28 per share. A two-month put with a strike price of $27.50 costs $1. The investor decides to hedge by buying 10 contracts </a:t>
            </a:r>
          </a:p>
        </p:txBody>
      </p:sp>
      <p:sp>
        <p:nvSpPr>
          <p:cNvPr id="655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6554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BAB45E-DD64-4E8E-B60B-0D59523EB87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  <p:sp>
        <p:nvSpPr>
          <p:cNvPr id="6554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Options vs Forwards</a:t>
            </a:r>
            <a:endParaRPr lang="en-CA" alt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Forward contracts lock in a price for a future transaction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Options provide insurance. They limit the downside risk while not giving up the upside potential. But they require an upfront payment.</a:t>
            </a:r>
          </a:p>
        </p:txBody>
      </p:sp>
      <p:sp>
        <p:nvSpPr>
          <p:cNvPr id="675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6758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44B263-8837-4465-B5E9-A88A105DAD3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Interest Rate Options 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Caps and floors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Swap options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Bond options</a:t>
            </a:r>
          </a:p>
        </p:txBody>
      </p:sp>
      <p:sp>
        <p:nvSpPr>
          <p:cNvPr id="696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696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0F1D62-4A15-43A7-BC7A-D00E660CC89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500063" y="214313"/>
            <a:ext cx="7500937" cy="1571625"/>
          </a:xfrm>
        </p:spPr>
        <p:txBody>
          <a:bodyPr/>
          <a:lstStyle/>
          <a:p>
            <a:pPr eaLnBrk="1" hangingPunct="1"/>
            <a:r>
              <a:rPr lang="en-US" altLang="en-US" dirty="0"/>
              <a:t>Nontraditional Derivatives </a:t>
            </a:r>
            <a:r>
              <a:rPr lang="en-US" altLang="en-US" sz="2800" dirty="0"/>
              <a:t>(pages 115-119)</a:t>
            </a:r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Weather derivatives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Energy derivatives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Oil 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Natural gas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Electricity</a:t>
            </a:r>
          </a:p>
        </p:txBody>
      </p:sp>
      <p:sp>
        <p:nvSpPr>
          <p:cNvPr id="716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716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8DBFB9-ED48-45E0-A6F6-C113562FD87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Exotic Options </a:t>
            </a:r>
            <a:r>
              <a:rPr lang="en-US" altLang="en-US" sz="2400" dirty="0"/>
              <a:t>(pages 119-120)</a:t>
            </a:r>
            <a:endParaRPr lang="en-CA" altLang="en-US" sz="2400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Asian options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Barrier option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Basket options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Binary options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Compound options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Lookback options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CA" altLang="en-US">
              <a:cs typeface="Arial" panose="020B0604020202020204" pitchFamily="34" charset="0"/>
            </a:endParaRPr>
          </a:p>
        </p:txBody>
      </p:sp>
      <p:sp>
        <p:nvSpPr>
          <p:cNvPr id="737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7373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2B6A44-C977-4EC4-A823-590DD61E6E9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of the Use of Exotic Options </a:t>
            </a:r>
            <a:r>
              <a:rPr lang="en-US" altLang="en-US" sz="2400" dirty="0"/>
              <a:t>(Business Snapshot 5.3)</a:t>
            </a:r>
            <a:endParaRPr lang="en-CA" altLang="en-US" sz="2400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If a company earns revenue month by month in many different currencies, Asian basket put options can provide an appropriate hedge</a:t>
            </a:r>
            <a:endParaRPr lang="en-CA" altLang="en-US">
              <a:cs typeface="Arial" panose="020B0604020202020204" pitchFamily="34" charset="0"/>
            </a:endParaRPr>
          </a:p>
        </p:txBody>
      </p:sp>
      <p:sp>
        <p:nvSpPr>
          <p:cNvPr id="757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7578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F6C20A-3F31-4C35-9E47-93F205902B0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>
          <a:xfrm>
            <a:off x="246063" y="357188"/>
            <a:ext cx="7772400" cy="928687"/>
          </a:xfrm>
        </p:spPr>
        <p:txBody>
          <a:bodyPr/>
          <a:lstStyle/>
          <a:p>
            <a:pPr eaLnBrk="1" hangingPunct="1"/>
            <a:r>
              <a:rPr lang="en-US" altLang="en-US"/>
              <a:t>Structured Products</a:t>
            </a:r>
          </a:p>
        </p:txBody>
      </p:sp>
      <p:sp>
        <p:nvSpPr>
          <p:cNvPr id="77827" name="Content Placeholder 2"/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4702175"/>
          </a:xfrm>
        </p:spPr>
        <p:txBody>
          <a:bodyPr/>
          <a:lstStyle/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Products created to meet the needs of clients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A bizarre structures product is the “10/30” deal between Bankers Trust and Procter and Gamble (See Business Snapshot 5.4)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The payments by P&amp;G were</a:t>
            </a:r>
          </a:p>
          <a:p>
            <a:pPr eaLnBrk="1" hangingPunct="1"/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778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7782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37459E-D065-4BE2-AEB4-F726EB73C7A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800"/>
          </a:p>
        </p:txBody>
      </p:sp>
      <p:graphicFrame>
        <p:nvGraphicFramePr>
          <p:cNvPr id="77830" name="Object 2"/>
          <p:cNvGraphicFramePr>
            <a:graphicFrameLocks noChangeAspect="1"/>
          </p:cNvGraphicFramePr>
          <p:nvPr/>
        </p:nvGraphicFramePr>
        <p:xfrm>
          <a:off x="1611313" y="4635500"/>
          <a:ext cx="4900612" cy="143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2946400" imgH="863600" progId="Equation.3">
                  <p:embed/>
                </p:oleObj>
              </mc:Choice>
              <mc:Fallback>
                <p:oleObj name="Equation" r:id="rId4" imgW="2946400" imgH="863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1313" y="4635500"/>
                        <a:ext cx="4900612" cy="143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6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949325"/>
          </a:xfrm>
        </p:spPr>
        <p:txBody>
          <a:bodyPr/>
          <a:lstStyle/>
          <a:p>
            <a:pPr eaLnBrk="1" hangingPunct="1"/>
            <a:r>
              <a:rPr lang="en-CA" altLang="en-US"/>
              <a:t>Types of Traders</a:t>
            </a:r>
            <a:endParaRPr lang="en-US" alt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714375" y="1285875"/>
            <a:ext cx="7772400" cy="4972050"/>
          </a:xfrm>
        </p:spPr>
        <p:txBody>
          <a:bodyPr/>
          <a:lstStyle/>
          <a:p>
            <a:pPr eaLnBrk="1" hangingPunct="1">
              <a:defRPr/>
            </a:pPr>
            <a:r>
              <a:rPr lang="en-CA" dirty="0"/>
              <a:t>Hedgers</a:t>
            </a:r>
          </a:p>
          <a:p>
            <a:pPr eaLnBrk="1" hangingPunct="1">
              <a:defRPr/>
            </a:pPr>
            <a:r>
              <a:rPr lang="en-CA" dirty="0"/>
              <a:t>Speculators</a:t>
            </a:r>
          </a:p>
          <a:p>
            <a:pPr eaLnBrk="1" hangingPunct="1">
              <a:defRPr/>
            </a:pPr>
            <a:r>
              <a:rPr lang="en-CA" dirty="0"/>
              <a:t>Arbitrageurs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dirty="0"/>
              <a:t>Some of the largest trading losses in derivatives have occurred because individuals who had a mandate to be hedgers or arbitrageurs switched to being speculators (See for example </a:t>
            </a:r>
            <a:r>
              <a:rPr lang="en-US" dirty="0" err="1"/>
              <a:t>SocGen</a:t>
            </a:r>
            <a:r>
              <a:rPr lang="en-US" dirty="0"/>
              <a:t>, Business Snapshot 5.5.)</a:t>
            </a:r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7987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7987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42586C-DB2C-4617-973F-1D550B008F7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12">
  <a:themeElements>
    <a:clrScheme name="HullRMFICh12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2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12A492-F9F8-433C-86F8-3FCE36D4F48D}"/>
</file>

<file path=customXml/itemProps2.xml><?xml version="1.0" encoding="utf-8"?>
<ds:datastoreItem xmlns:ds="http://schemas.openxmlformats.org/officeDocument/2006/customXml" ds:itemID="{C7FEA91F-2811-4510-B57C-E8BDF69D3CE5}"/>
</file>

<file path=customXml/itemProps3.xml><?xml version="1.0" encoding="utf-8"?>
<ds:datastoreItem xmlns:ds="http://schemas.openxmlformats.org/officeDocument/2006/customXml" ds:itemID="{EF68FE1C-A66C-4AA7-8C9D-CC4A34697BAE}"/>
</file>

<file path=docProps/app.xml><?xml version="1.0" encoding="utf-8"?>
<Properties xmlns="http://schemas.openxmlformats.org/officeDocument/2006/extended-properties" xmlns:vt="http://schemas.openxmlformats.org/officeDocument/2006/docPropsVTypes">
  <Template>HullRMFI2ndEdCh18</Template>
  <TotalTime>5479</TotalTime>
  <Words>1737</Words>
  <Application>Microsoft Office PowerPoint</Application>
  <PresentationFormat>On-screen Show (4:3)</PresentationFormat>
  <Paragraphs>298</Paragraphs>
  <Slides>30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Times New Roman</vt:lpstr>
      <vt:lpstr>Wingdings</vt:lpstr>
      <vt:lpstr>HullRMFICh12</vt:lpstr>
      <vt:lpstr>Equation</vt:lpstr>
      <vt:lpstr>  Financial Instruments</vt:lpstr>
      <vt:lpstr>Short Selling (Pages 100-102)</vt:lpstr>
      <vt:lpstr>Short Selling (continued)</vt:lpstr>
      <vt:lpstr>Derivatives</vt:lpstr>
      <vt:lpstr>Derivatives Markets (Figure 5.1)</vt:lpstr>
      <vt:lpstr>Forward Contracts</vt:lpstr>
      <vt:lpstr>Foreign Exchange Quotes for GBP (See Table 5.2)</vt:lpstr>
      <vt:lpstr>Profit from a Long Forward Position</vt:lpstr>
      <vt:lpstr>Profit from a Short Forward Position</vt:lpstr>
      <vt:lpstr>Futures Contracts (page 104-108)</vt:lpstr>
      <vt:lpstr>Futures Contract continued</vt:lpstr>
      <vt:lpstr>LIBOR Phase Out</vt:lpstr>
      <vt:lpstr>The New Reference Rates</vt:lpstr>
      <vt:lpstr>Swaps</vt:lpstr>
      <vt:lpstr>An Example of a “Plain Vanilla” Interest Rate Swap</vt:lpstr>
      <vt:lpstr>Cash Flows for one set of SOFR rates (See Table 5.4, page 110)</vt:lpstr>
      <vt:lpstr>Typical Uses of an Interest Rate Swap</vt:lpstr>
      <vt:lpstr>Quotes By a Swap Market Maker (Table 5.5, page 112)</vt:lpstr>
      <vt:lpstr>Options</vt:lpstr>
      <vt:lpstr>American vs European Options</vt:lpstr>
      <vt:lpstr>Intel Option Prices: Jan 24, 2022; Stock Price=51.98 (See Table 5.6; page 113)</vt:lpstr>
      <vt:lpstr>Options vs Futures/Forwards</vt:lpstr>
      <vt:lpstr>Hedging Examples </vt:lpstr>
      <vt:lpstr>Options vs Forwards</vt:lpstr>
      <vt:lpstr>Interest Rate Options </vt:lpstr>
      <vt:lpstr>Nontraditional Derivatives (pages 115-119)</vt:lpstr>
      <vt:lpstr>Exotic Options (pages 119-120)</vt:lpstr>
      <vt:lpstr>Example of the Use of Exotic Options (Business Snapshot 5.3)</vt:lpstr>
      <vt:lpstr>Structured Products</vt:lpstr>
      <vt:lpstr>Types of Traders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5</dc:subject>
  <dc:creator>John  Hull</dc:creator>
  <cp:keywords>5th Edition</cp:keywords>
  <dc:description>Copyright 2018 by John hull._x000d_
All rights reserved.</dc:description>
  <cp:lastModifiedBy>John Hull</cp:lastModifiedBy>
  <cp:revision>79</cp:revision>
  <dcterms:created xsi:type="dcterms:W3CDTF">2003-01-02T05:31:58Z</dcterms:created>
  <dcterms:modified xsi:type="dcterms:W3CDTF">2022-12-01T17:24:51Z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