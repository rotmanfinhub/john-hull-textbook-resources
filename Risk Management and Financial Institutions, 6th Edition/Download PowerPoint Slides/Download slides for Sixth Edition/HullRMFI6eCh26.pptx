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66" r:id="rId13"/>
    <p:sldId id="273" r:id="rId14"/>
    <p:sldId id="276" r:id="rId15"/>
    <p:sldId id="269" r:id="rId16"/>
    <p:sldId id="277" r:id="rId17"/>
    <p:sldId id="278" r:id="rId18"/>
    <p:sldId id="270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BAE2FA9-B2D9-4D0D-8D5A-D0B3EC78F7A1}" type="datetimeFigureOut">
              <a:rPr lang="en-US"/>
              <a:pPr>
                <a:defRPr/>
              </a:pPr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9ACFEAE6-9C24-4BC3-A3CB-BB8FEABB61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3044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0469A7-5A24-4CCD-A24B-6C2F77BD3BC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161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E895FB-5AE9-4DDF-BB8F-173A7050815A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802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08C314-5B97-4748-B834-3B5A13A1BA8D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4047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17F2C7-823A-4344-8806-33CDAC9ABAC2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4285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561A65-198F-4A49-BE51-03ED65FA92EC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35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57C221-7C13-483F-8F21-43328575A8A7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569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8B8E4E-5634-468F-9B7E-899EA2401EE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490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939F7C-C6D3-4870-88CB-18F35426A72E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299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65DD99-60D6-42B1-B344-1D7B7F2D61CD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4639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A6A740-4FC4-455E-9403-DFB3B1169E79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545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DAF264-6D44-4938-8B52-2371A7657274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871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99872F-BF13-44A3-B5D1-D7237636F0DC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7769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6956A8-2DAA-49E2-91B1-E1530ADF0BF2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822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529BEA-4778-4B4B-96AA-FEB22BD26FFA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93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C34A5-467C-4493-A58F-87DD55D836F5}" type="datetime1">
              <a:rPr lang="en-US" smtClean="0"/>
              <a:t>12/1/2022</a:t>
            </a:fld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C4ABA51A-9E6E-47FD-9E8F-4E7F492D20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49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CC33E-167F-4DED-BA3F-8E0FD9726D9C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9F97A1-DBD2-4ABE-8A7B-78BA0F1BFF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57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FAE96-C206-4163-BA70-E38818B6D1C1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6B4B2-383A-4117-B69D-4CA3CC153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61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8AD9E-3312-434D-BD41-C0824B2B2D86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5F28F-301A-4737-8CDB-6B294BF4CB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14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C370F-782A-4B0C-9973-BB13D5B27C86}" type="datetime1">
              <a:rPr lang="en-US" smtClean="0"/>
              <a:t>12/1/2022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2367D9-8EFA-4634-B485-675F1C8D86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81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08E80-CC32-4D99-B698-D6CEB7EF5C01}" type="datetime1">
              <a:rPr lang="en-US" smtClean="0"/>
              <a:t>12/1/2022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24BDE-57AB-4AC8-8493-F592F8ADA2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47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0E499-9805-4917-8BC5-0181FF2139BC}" type="datetime1">
              <a:rPr lang="en-US" smtClean="0"/>
              <a:t>12/1/2022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3FAF57-B2E0-4955-BD46-DA77224BC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60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06732-A354-49A4-9B1B-71B968A66336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EB54B-F07F-445F-8305-0CC38508F7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68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2D46B-3535-4CCA-BCDA-4D12D956BC15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C6584-6EA1-4F10-8251-F6B3CB8F3D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0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86CEF-7689-4E5F-8750-F7613286FDE5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EE56B-98D1-435C-BA92-74A05211DA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59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319A6-78B0-4336-8D9A-585EC8D82D91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FBD23A-848B-4094-8676-AA958CD1B7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08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50FD2-640F-4FCE-9ABD-22A8250123DD}" type="datetime1">
              <a:rPr lang="en-US" smtClean="0"/>
              <a:t>12/1/2022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9B5857-6FB2-4B43-8E2B-1DCD81186E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428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EB82F-A2CB-49E5-8761-6CF230605828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89529-26BA-481A-A062-D0663D6C0E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03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860F7BF-DE42-4A9D-B2F5-487E0C74B72C}" type="datetime1">
              <a:rPr lang="en-US" smtClean="0"/>
              <a:t>12/1/2022</a:t>
            </a:fld>
            <a:endParaRPr lang="en-US"/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fld id="{FEC8A29C-7778-4F50-8D92-1191DCEEAFF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/>
              <a:t>Basel II.5, Basel III, and Other Post-Crisis Changes 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CA" altLang="en-US" dirty="0"/>
              <a:t>Chapter 26</a:t>
            </a:r>
            <a:endParaRPr lang="en-US" altLang="en-US" dirty="0"/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Risk Management and Financial Institutions 6e, Chapter 26,  Copyright © John C. Hull 2023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2F4E5B-604D-4C3E-A2C7-8E4315D4307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Basel II.5 </a:t>
            </a:r>
            <a:r>
              <a:rPr lang="en-CA" altLang="en-US" sz="2700"/>
              <a:t>(Implemented Dec 31, 2011)</a:t>
            </a:r>
            <a:endParaRPr lang="en-US" altLang="en-US" sz="27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/>
              <a:t>Stressed </a:t>
            </a:r>
            <a:r>
              <a:rPr lang="en-CA" dirty="0" err="1"/>
              <a:t>VaR</a:t>
            </a:r>
            <a:r>
              <a:rPr lang="en-CA" dirty="0"/>
              <a:t> for market risk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Calculated over one year period of stressed market conditions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Capital = max(VaR</a:t>
            </a:r>
            <a:r>
              <a:rPr lang="en-CA" baseline="-25000" dirty="0"/>
              <a:t>t-1</a:t>
            </a:r>
            <a:r>
              <a:rPr lang="en-CA" dirty="0"/>
              <a:t>,m</a:t>
            </a:r>
            <a:r>
              <a:rPr lang="en-CA" baseline="-25000" dirty="0"/>
              <a:t>c</a:t>
            </a:r>
            <a:r>
              <a:rPr lang="en-CA" dirty="0"/>
              <a:t> </a:t>
            </a:r>
            <a:r>
              <a:rPr lang="en-CA" dirty="0">
                <a:cs typeface="Arial"/>
              </a:rPr>
              <a:t>× </a:t>
            </a:r>
            <a:r>
              <a:rPr lang="en-CA" dirty="0" err="1">
                <a:cs typeface="Arial"/>
              </a:rPr>
              <a:t>VaR</a:t>
            </a:r>
            <a:r>
              <a:rPr lang="en-CA" baseline="-25000" dirty="0" err="1">
                <a:cs typeface="Arial"/>
              </a:rPr>
              <a:t>avg</a:t>
            </a:r>
            <a:r>
              <a:rPr lang="en-CA" dirty="0">
                <a:cs typeface="Arial"/>
              </a:rPr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CA" dirty="0">
                <a:cs typeface="Arial"/>
              </a:rPr>
              <a:t>			+max(sVaR</a:t>
            </a:r>
            <a:r>
              <a:rPr lang="en-CA" baseline="-25000" dirty="0">
                <a:cs typeface="Arial"/>
              </a:rPr>
              <a:t>t-1</a:t>
            </a:r>
            <a:r>
              <a:rPr lang="en-CA" dirty="0">
                <a:cs typeface="Arial"/>
              </a:rPr>
              <a:t>,</a:t>
            </a:r>
            <a:r>
              <a:rPr lang="en-CA" dirty="0"/>
              <a:t> </a:t>
            </a:r>
            <a:r>
              <a:rPr lang="en-CA" dirty="0" err="1"/>
              <a:t>m</a:t>
            </a:r>
            <a:r>
              <a:rPr lang="en-CA" baseline="-25000" dirty="0" err="1"/>
              <a:t>s</a:t>
            </a:r>
            <a:r>
              <a:rPr lang="en-CA" dirty="0"/>
              <a:t> </a:t>
            </a:r>
            <a:r>
              <a:rPr lang="en-CA" dirty="0">
                <a:cs typeface="Arial"/>
              </a:rPr>
              <a:t>× </a:t>
            </a:r>
            <a:r>
              <a:rPr lang="en-CA" dirty="0" err="1">
                <a:cs typeface="Arial"/>
              </a:rPr>
              <a:t>sVaR</a:t>
            </a:r>
            <a:r>
              <a:rPr lang="en-CA" baseline="-25000" dirty="0" err="1">
                <a:cs typeface="Arial"/>
              </a:rPr>
              <a:t>avg</a:t>
            </a:r>
            <a:r>
              <a:rPr lang="en-CA" dirty="0">
                <a:cs typeface="Arial"/>
              </a:rPr>
              <a:t>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/>
              <a:t>Incremental Risk Charge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Ensures that products such as bonds and credit derivatives in the trading book have the same capital requirement that they would if they were in the banking book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CA" dirty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CA" dirty="0">
              <a:cs typeface="Arial"/>
            </a:endParaRP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CC75BB-22B6-4064-BBFF-EC67031DEC9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Basel II.5 continued</a:t>
            </a:r>
            <a:endParaRPr lang="en-US" alt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Comprehensive Risk Measure</a:t>
            </a:r>
          </a:p>
          <a:p>
            <a:pPr lvl="1" eaLnBrk="1" hangingPunct="1"/>
            <a:r>
              <a:rPr lang="en-CA" altLang="en-US"/>
              <a:t>Designed to make sure sufficient capital is kept for instruments in the trading book that depend on on credit default correlations</a:t>
            </a:r>
          </a:p>
          <a:p>
            <a:pPr lvl="1" eaLnBrk="1" hangingPunct="1"/>
            <a:r>
              <a:rPr lang="en-CA" altLang="en-US"/>
              <a:t>Standard approach: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CA" altLang="en-US"/>
          </a:p>
          <a:p>
            <a:pPr lvl="1" eaLnBrk="1" hangingPunct="1">
              <a:buFont typeface="Arial" panose="020B0604020202020204" pitchFamily="34" charset="0"/>
              <a:buNone/>
            </a:pPr>
            <a:endParaRPr lang="en-CA" altLang="en-US"/>
          </a:p>
        </p:txBody>
      </p:sp>
      <p:sp>
        <p:nvSpPr>
          <p:cNvPr id="5124" name="Footer Placeholder 5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512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CA044E-BA56-4F00-B98A-C2823A5E0B2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4343400"/>
          <a:ext cx="6477000" cy="1381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11">
                <a:tc>
                  <a:txBody>
                    <a:bodyPr/>
                    <a:lstStyle/>
                    <a:p>
                      <a:r>
                        <a:rPr lang="en-CA" sz="1800" dirty="0"/>
                        <a:t>Credit Rating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AAA or AA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A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BBB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BB</a:t>
                      </a:r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Below BB</a:t>
                      </a:r>
                      <a:endParaRPr lang="en-US" sz="1800" dirty="0"/>
                    </a:p>
                  </a:txBody>
                  <a:tcPr marT="45686" marB="4568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57">
                <a:tc>
                  <a:txBody>
                    <a:bodyPr/>
                    <a:lstStyle/>
                    <a:p>
                      <a:r>
                        <a:rPr lang="en-CA" sz="1800" dirty="0"/>
                        <a:t>Securitizations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1.6%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4%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8%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28%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Deduction</a:t>
                      </a:r>
                      <a:endParaRPr lang="en-US" sz="1800" dirty="0"/>
                    </a:p>
                  </a:txBody>
                  <a:tcPr marT="45686" marB="4568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57">
                <a:tc>
                  <a:txBody>
                    <a:bodyPr/>
                    <a:lstStyle/>
                    <a:p>
                      <a:r>
                        <a:rPr lang="en-CA" sz="1800" dirty="0" err="1"/>
                        <a:t>Resecuritizations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3.2%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8%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18%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52%</a:t>
                      </a:r>
                      <a:endParaRPr lang="en-US" sz="1800" dirty="0"/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Deduction</a:t>
                      </a:r>
                      <a:endParaRPr lang="en-US" sz="1800" dirty="0"/>
                    </a:p>
                  </a:txBody>
                  <a:tcPr marT="45686" marB="4568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Basel III </a:t>
            </a:r>
            <a:r>
              <a:rPr lang="en-CA" altLang="en-US" sz="2000" dirty="0"/>
              <a:t>(Section 26.2)</a:t>
            </a:r>
            <a:endParaRPr lang="en-US" altLang="en-US" sz="20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Capital Definition and Requirements</a:t>
            </a:r>
          </a:p>
          <a:p>
            <a:pPr eaLnBrk="1" hangingPunct="1"/>
            <a:r>
              <a:rPr lang="en-CA" altLang="en-US" dirty="0"/>
              <a:t>Capital Conservation Buffer</a:t>
            </a:r>
          </a:p>
          <a:p>
            <a:pPr eaLnBrk="1" hangingPunct="1"/>
            <a:r>
              <a:rPr lang="en-CA" altLang="en-US" dirty="0"/>
              <a:t>Countercyclical Buffer</a:t>
            </a:r>
          </a:p>
          <a:p>
            <a:pPr eaLnBrk="1" hangingPunct="1"/>
            <a:r>
              <a:rPr lang="en-CA" altLang="en-US" dirty="0"/>
              <a:t>Leverage Ratio</a:t>
            </a:r>
          </a:p>
          <a:p>
            <a:pPr eaLnBrk="1" hangingPunct="1"/>
            <a:r>
              <a:rPr lang="en-CA" altLang="en-US" dirty="0"/>
              <a:t>Liquidity Ratios</a:t>
            </a:r>
          </a:p>
          <a:p>
            <a:pPr eaLnBrk="1" hangingPunct="1"/>
            <a:r>
              <a:rPr lang="en-CA" altLang="en-US" dirty="0"/>
              <a:t>Capital for CVA Risk</a:t>
            </a:r>
          </a:p>
          <a:p>
            <a:pPr eaLnBrk="1" hangingPunct="1"/>
            <a:r>
              <a:rPr lang="en-CA" altLang="en-US" dirty="0"/>
              <a:t>Full implementation in 2022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CABCF5-A03E-4EEE-916E-13D25043651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Capital Definition and Requirements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/>
              <a:t>Three types: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Common equity Tier 1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Additional Tier 1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Tier 2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/>
              <a:t>Definitions tightened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dirty="0"/>
              <a:t>Limits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Common equity &gt; 4.5% of RWA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Tier 1 &gt; 6% of RWA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CA" dirty="0"/>
              <a:t>Tier 1 plus Tier 2 &gt; 8% of RWA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CA" dirty="0"/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CA" dirty="0"/>
          </a:p>
          <a:p>
            <a:pPr marL="342900" lvl="1" indent="-3429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CA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868131-2772-4116-B4CF-CBB0BBA1979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Capital Conservation Buffer </a:t>
            </a:r>
            <a:r>
              <a:rPr lang="en-CA" altLang="en-US" sz="2000" dirty="0"/>
              <a:t>(Section 26.2.2)</a:t>
            </a:r>
            <a:endParaRPr lang="en-US" altLang="en-US" sz="2000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Extra 2.5% of common equity required in normal times to absorb losses in periods of stress</a:t>
            </a:r>
          </a:p>
          <a:p>
            <a:pPr eaLnBrk="1" hangingPunct="1"/>
            <a:r>
              <a:rPr lang="en-CA" altLang="en-US" dirty="0"/>
              <a:t>If total common equity is less than 7%  (=4.5%+2.5%) dividends are restricted</a:t>
            </a: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5DDE80-6D26-4D28-8D3B-95B456E2309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Countercyclical Buffer</a:t>
            </a:r>
            <a:endParaRPr lang="en-US" altLang="en-US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Extra equity capital to allow for cyclicality of bank earnings</a:t>
            </a:r>
          </a:p>
          <a:p>
            <a:pPr eaLnBrk="1" hangingPunct="1"/>
            <a:r>
              <a:rPr lang="en-CA" altLang="en-US" dirty="0"/>
              <a:t>Left to the discretion of national regulators</a:t>
            </a:r>
          </a:p>
          <a:p>
            <a:pPr eaLnBrk="1" hangingPunct="1"/>
            <a:r>
              <a:rPr lang="en-CA" altLang="en-US" dirty="0"/>
              <a:t>Can be as high as 2.5% of RWA </a:t>
            </a:r>
          </a:p>
          <a:p>
            <a:pPr eaLnBrk="1" hangingPunct="1"/>
            <a:r>
              <a:rPr lang="en-CA" altLang="en-US" dirty="0"/>
              <a:t>Dividends restricted when capital is below required level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8A71E-DA69-4479-B3DB-04B413D3569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7543800" cy="1295400"/>
          </a:xfrm>
        </p:spPr>
        <p:txBody>
          <a:bodyPr/>
          <a:lstStyle/>
          <a:p>
            <a:pPr eaLnBrk="1" hangingPunct="1"/>
            <a:r>
              <a:rPr lang="en-CA" altLang="en-US" dirty="0"/>
              <a:t>Leverage Ratio</a:t>
            </a:r>
            <a:r>
              <a:rPr lang="en-CA" altLang="en-US" sz="2000" dirty="0"/>
              <a:t> (Section 26.2.4)</a:t>
            </a:r>
            <a:endParaRPr lang="en-US" altLang="en-US" sz="2000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31800" y="1295400"/>
            <a:ext cx="8229600" cy="4411663"/>
          </a:xfrm>
        </p:spPr>
        <p:txBody>
          <a:bodyPr/>
          <a:lstStyle/>
          <a:p>
            <a:pPr eaLnBrk="1" hangingPunct="1"/>
            <a:r>
              <a:rPr lang="en-CA" altLang="en-US" sz="2800" dirty="0"/>
              <a:t>Ratio of Tier 1 capital to total exposure (not risk weighted) must be greater than 3% (Higher in U.S., U.K., and China)</a:t>
            </a:r>
          </a:p>
          <a:p>
            <a:pPr eaLnBrk="1" hangingPunct="1"/>
            <a:r>
              <a:rPr lang="en-CA" altLang="en-US" sz="2800" dirty="0"/>
              <a:t>Exposure includes all items on balance sheet, derivatives exposures (calculated as in Basel I), securities financing exposures, and some off-balance sheet items</a:t>
            </a: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385FF4-A55D-4190-A361-C62C99026C9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Liquidity Risk Ratios </a:t>
            </a:r>
            <a:r>
              <a:rPr lang="en-CA" altLang="en-US" sz="2000" dirty="0"/>
              <a:t>(Section 26.2.5)</a:t>
            </a:r>
            <a:endParaRPr lang="en-US" altLang="en-US" sz="2000" dirty="0"/>
          </a:p>
        </p:txBody>
      </p:sp>
      <p:graphicFrame>
        <p:nvGraphicFramePr>
          <p:cNvPr id="11267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175247"/>
              </p:ext>
            </p:extLst>
          </p:nvPr>
        </p:nvGraphicFramePr>
        <p:xfrm>
          <a:off x="441324" y="1873250"/>
          <a:ext cx="7940675" cy="313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5461000" imgH="2286000" progId="Equation.DSMT4">
                  <p:embed/>
                </p:oleObj>
              </mc:Choice>
              <mc:Fallback>
                <p:oleObj name="Equation" r:id="rId4" imgW="5461000" imgH="228600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4" y="1873250"/>
                        <a:ext cx="7940675" cy="313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Footer Placeholder 5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126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8EC074-7CD1-4FC4-8277-6D5F99A65B1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ASF Factors </a:t>
            </a:r>
            <a:r>
              <a:rPr lang="en-US" altLang="en-US" sz="2000" dirty="0"/>
              <a:t>(Table 26.4)</a:t>
            </a:r>
          </a:p>
        </p:txBody>
      </p:sp>
      <p:sp>
        <p:nvSpPr>
          <p:cNvPr id="12291" name="Footer Placeholder 2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D6757D-F7DF-4532-B1E5-E30CCC408AA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1828800"/>
          <a:ext cx="6096000" cy="3038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18">
                <a:tc>
                  <a:txBody>
                    <a:bodyPr/>
                    <a:lstStyle/>
                    <a:p>
                      <a:r>
                        <a:rPr lang="en-US" sz="1800" dirty="0"/>
                        <a:t>ASF Factor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Category</a:t>
                      </a:r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5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Tier 1 and Tier 2 capital</a:t>
                      </a:r>
                    </a:p>
                    <a:p>
                      <a:r>
                        <a:rPr lang="en-US" sz="1800" dirty="0"/>
                        <a:t>Preferred stock and borrowing with a remaining maturity greater than 1 year</a:t>
                      </a:r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90%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Stable demand deposits</a:t>
                      </a:r>
                      <a:r>
                        <a:rPr lang="en-US" sz="1800" baseline="0" dirty="0"/>
                        <a:t> and term deposits </a:t>
                      </a:r>
                      <a:endParaRPr lang="en-US" sz="1800" dirty="0"/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80%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Les stable demand deposits and term deposits</a:t>
                      </a:r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50%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Wholesale demand deposits</a:t>
                      </a:r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0%</a:t>
                      </a:r>
                    </a:p>
                  </a:txBody>
                  <a:tcPr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 other liability and equity categories</a:t>
                      </a:r>
                    </a:p>
                  </a:txBody>
                  <a:tcPr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RSF Factors </a:t>
            </a:r>
            <a:r>
              <a:rPr lang="en-US" altLang="en-US" sz="2000" dirty="0"/>
              <a:t>(Table 26.5)</a:t>
            </a:r>
          </a:p>
        </p:txBody>
      </p:sp>
      <p:sp>
        <p:nvSpPr>
          <p:cNvPr id="13315" name="Footer Placeholder 2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860FE8-D94A-4223-B99B-97A64ECDA52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209800"/>
          <a:ext cx="60960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RSF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Cash and short-term instruments (&lt;1 yr)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Claims</a:t>
                      </a:r>
                      <a:r>
                        <a:rPr lang="en-US" baseline="0" dirty="0"/>
                        <a:t> on sovereign governments with a  risk weight =0% (&gt;1 yr)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Corporate bonds rating AA or higher (&gt;1 yr)</a:t>
                      </a:r>
                    </a:p>
                    <a:p>
                      <a:r>
                        <a:rPr lang="en-US" dirty="0"/>
                        <a:t>Claims on sovereigns with risk weight =20%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Gold, equities, and bond rated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mortgages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Loans to retail and small business (&lt;1 year)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other assets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Capital for CVA Risk</a:t>
            </a:r>
            <a:endParaRPr lang="en-US" alt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CVA is the adjustment to the value of transactions with a counterparty  to allow for the possibility of a counterparty default</a:t>
            </a:r>
          </a:p>
          <a:p>
            <a:pPr eaLnBrk="1" hangingPunct="1"/>
            <a:r>
              <a:rPr lang="en-CA" altLang="en-US" dirty="0"/>
              <a:t>Basel III requires market risk capital for CVA risk arising from changing credit spreads</a:t>
            </a:r>
            <a:endParaRPr lang="en-US" altLang="en-US" dirty="0"/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A22B0D-E8F0-4273-A3B9-202503D8362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07988" y="-500063"/>
            <a:ext cx="7543800" cy="1295401"/>
          </a:xfrm>
        </p:spPr>
        <p:txBody>
          <a:bodyPr/>
          <a:lstStyle/>
          <a:p>
            <a:r>
              <a:rPr lang="en-CA" altLang="en-US"/>
              <a:t>G-SIBs</a:t>
            </a:r>
            <a:endParaRPr lang="en-US" altLang="en-US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7723188" cy="4411663"/>
          </a:xfrm>
        </p:spPr>
        <p:txBody>
          <a:bodyPr/>
          <a:lstStyle/>
          <a:p>
            <a:r>
              <a:rPr lang="en-CA" altLang="en-US" sz="2400" dirty="0"/>
              <a:t>G-SIBs are Global Systemically Important Banks</a:t>
            </a:r>
          </a:p>
          <a:p>
            <a:r>
              <a:rPr lang="en-CA" altLang="en-US" sz="2400" dirty="0"/>
              <a:t>These are required to hold extra Tier 1 equity capital between 1% and 3.5% of risk-weighted assets</a:t>
            </a:r>
          </a:p>
          <a:p>
            <a:r>
              <a:rPr lang="en-CA" altLang="en-US" sz="2400" dirty="0"/>
              <a:t>For banks in the 2.5% category Tier 1 equity capital is the basic 4.5% plus the 2.5% capital conservation buffer plus 2.5% for being G-SIBs plus any extra required from national regulator. </a:t>
            </a:r>
          </a:p>
          <a:p>
            <a:r>
              <a:rPr lang="en-CA" altLang="en-US" sz="2400" dirty="0"/>
              <a:t>There are also proposals from the FSB and Basel Committee concerning the total loss absorbing capacity (TLAC) of G-SIBs. This consists of all instruments that protect depositors (including subordinated long term debt)</a:t>
            </a: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41D8BE-3B2D-44FA-A3A7-3EF75E728B6C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D-SIBs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D-SIBs are domestic systemically important banks.</a:t>
            </a:r>
          </a:p>
          <a:p>
            <a:r>
              <a:rPr lang="en-CA" altLang="en-US" dirty="0"/>
              <a:t>These banks may be subject to additional capital, extra disclosure, and stress tests.</a:t>
            </a:r>
          </a:p>
          <a:p>
            <a:r>
              <a:rPr lang="en-CA" altLang="en-US" dirty="0"/>
              <a:t>In the United States, banks with assets over $50 billion are classified as D-SIBs.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870D06C-C595-49A2-8747-448DF814C012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Contingent Convertible Bonds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Bonds which automatically get converted into equity if certain conditions are satisfied</a:t>
            </a:r>
          </a:p>
          <a:p>
            <a:pPr eaLnBrk="1" hangingPunct="1"/>
            <a:r>
              <a:rPr lang="en-US" altLang="en-US" dirty="0"/>
              <a:t>In Credit Suisse issue (See Business Snapshot 26.1) there is conversion if</a:t>
            </a:r>
          </a:p>
          <a:p>
            <a:pPr lvl="1" eaLnBrk="1" hangingPunct="1"/>
            <a:r>
              <a:rPr lang="en-US" altLang="en-US" dirty="0"/>
              <a:t>Tier 1 equity falls below 7% of RWA, or</a:t>
            </a:r>
          </a:p>
          <a:p>
            <a:pPr lvl="1" eaLnBrk="1" hangingPunct="1"/>
            <a:r>
              <a:rPr lang="en-US" altLang="en-US" dirty="0"/>
              <a:t>Swiss regulator determines that the bank needs public sector support</a:t>
            </a:r>
          </a:p>
          <a:p>
            <a:pPr lvl="1"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97A890-8BC4-4F7D-9DBE-51EEB6BFF07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SA-CCR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New rule for calculating exposure at default EAD under the standardized approach</a:t>
            </a:r>
          </a:p>
          <a:p>
            <a:r>
              <a:rPr lang="en-US" sz="2400" dirty="0"/>
              <a:t>EAD = 1.4×(RC+PFE)</a:t>
            </a:r>
          </a:p>
          <a:p>
            <a:pPr marL="363538" indent="0">
              <a:buNone/>
            </a:pPr>
            <a:r>
              <a:rPr lang="en-US" sz="2400" dirty="0"/>
              <a:t>where RC is replacement cost and PFE is           potential future exposure</a:t>
            </a:r>
          </a:p>
          <a:p>
            <a:r>
              <a:rPr lang="en-US" sz="2400" dirty="0"/>
              <a:t>When no collateral is posted RC=max(V,0) where V is the value to the bank</a:t>
            </a:r>
          </a:p>
          <a:p>
            <a:r>
              <a:rPr lang="en-US" sz="2400" dirty="0"/>
              <a:t>Else RC=max(V-C,D,0) where C is current collateral and D is amount that V can increase without further collateral being transferred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97A1-DBD2-4ABE-8A7B-78BA0F1BFFF9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2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SA-CCR continued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534400" cy="4411662"/>
          </a:xfrm>
        </p:spPr>
        <p:txBody>
          <a:bodyPr/>
          <a:lstStyle/>
          <a:p>
            <a:r>
              <a:rPr lang="en-US" dirty="0"/>
              <a:t>PFE is a more sophisticated way of calculating the Basel I “add-on amount”. For example it incorporates the following:</a:t>
            </a:r>
          </a:p>
          <a:p>
            <a:pPr lvl="1"/>
            <a:r>
              <a:rPr lang="en-US" dirty="0"/>
              <a:t>when no collateral is posted, risk reduces as V becomes more negative</a:t>
            </a:r>
          </a:p>
          <a:p>
            <a:pPr lvl="1"/>
            <a:r>
              <a:rPr lang="en-US" dirty="0"/>
              <a:t>if V&gt;0 and the counterparty has posted more collateral than V, risk is reduced as the excess collateral increases</a:t>
            </a:r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97A1-DBD2-4ABE-8A7B-78BA0F1BFFF9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2186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Dodd-Frank includes…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New bodies to monitor systemic risk (FSOC and OFR)</a:t>
            </a:r>
          </a:p>
          <a:p>
            <a:pPr eaLnBrk="1" hangingPunct="1"/>
            <a:r>
              <a:rPr lang="en-CA" altLang="en-US" sz="2000"/>
              <a:t>Volcker rule</a:t>
            </a:r>
            <a:endParaRPr lang="en-US" altLang="en-US" sz="2000"/>
          </a:p>
          <a:p>
            <a:pPr eaLnBrk="1" hangingPunct="1"/>
            <a:r>
              <a:rPr lang="en-US" altLang="en-US" sz="2000"/>
              <a:t>Central clearing for OTC derivatives</a:t>
            </a:r>
          </a:p>
          <a:p>
            <a:pPr eaLnBrk="1" hangingPunct="1"/>
            <a:r>
              <a:rPr lang="en-CA" altLang="en-US" sz="2000"/>
              <a:t>Living wills</a:t>
            </a:r>
          </a:p>
          <a:p>
            <a:pPr eaLnBrk="1" hangingPunct="1"/>
            <a:r>
              <a:rPr lang="en-CA" altLang="en-US" sz="2000"/>
              <a:t>More capital for SIFIs</a:t>
            </a:r>
          </a:p>
          <a:p>
            <a:pPr eaLnBrk="1" hangingPunct="1"/>
            <a:r>
              <a:rPr lang="en-CA" altLang="en-US" sz="2000"/>
              <a:t>No use of external ratings</a:t>
            </a:r>
          </a:p>
          <a:p>
            <a:pPr eaLnBrk="1" hangingPunct="1"/>
            <a:r>
              <a:rPr lang="en-CA" altLang="en-US" sz="2000"/>
              <a:t>Oversight of rating agencies</a:t>
            </a:r>
          </a:p>
          <a:p>
            <a:pPr eaLnBrk="1" hangingPunct="1"/>
            <a:r>
              <a:rPr lang="en-CA" altLang="en-US" sz="2000"/>
              <a:t>Originators of asset backed securities must keep “skin in the game”</a:t>
            </a:r>
            <a:endParaRPr lang="en-US" altLang="en-US" sz="2000"/>
          </a:p>
          <a:p>
            <a:pPr eaLnBrk="1" hangingPunct="1"/>
            <a:r>
              <a:rPr lang="en-CA" altLang="en-US" sz="2000"/>
              <a:t>Separately capitalized affiliates for more risky business</a:t>
            </a:r>
          </a:p>
          <a:p>
            <a:pPr eaLnBrk="1" hangingPunct="1"/>
            <a:r>
              <a:rPr lang="en-CA" altLang="en-US" sz="2000"/>
              <a:t>All trades reported to a central agency</a:t>
            </a:r>
          </a:p>
          <a:p>
            <a:pPr eaLnBrk="1" hangingPunct="1"/>
            <a:r>
              <a:rPr lang="en-US" altLang="en-US" sz="2000"/>
              <a:t>…</a:t>
            </a:r>
            <a:endParaRPr lang="en-CA" altLang="en-US" sz="2000"/>
          </a:p>
          <a:p>
            <a:pPr eaLnBrk="1" hangingPunct="1"/>
            <a:endParaRPr lang="en-US" altLang="en-US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B9CE23-4053-4356-8DDB-B36F16F652E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Rules in Other Countries</a:t>
            </a:r>
            <a:endParaRPr lang="en-US" alt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UK: Committee under Sir John Vickers led to Financial Services (Banking Reform Act) in 2013</a:t>
            </a:r>
          </a:p>
          <a:p>
            <a:r>
              <a:rPr lang="en-CA" altLang="en-US"/>
              <a:t>In European Union committee headed by Erkki Liikanen proposed new regulations  in 2012. 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CF6A517-9ED5-4662-AC8D-412E809B183E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Key issues all regulators are attempting to address</a:t>
            </a:r>
            <a:endParaRPr lang="en-US" alt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Central clearing</a:t>
            </a:r>
          </a:p>
          <a:p>
            <a:r>
              <a:rPr lang="en-CA" altLang="en-US" dirty="0"/>
              <a:t>Use of electronic platforms to trade</a:t>
            </a:r>
          </a:p>
          <a:p>
            <a:r>
              <a:rPr lang="en-CA" altLang="en-US" dirty="0"/>
              <a:t>Restrict proprietary trading (or at least insulate it from other activities)</a:t>
            </a:r>
          </a:p>
          <a:p>
            <a:r>
              <a:rPr lang="en-CA" altLang="en-US" dirty="0"/>
              <a:t>Living wills</a:t>
            </a:r>
          </a:p>
          <a:p>
            <a:r>
              <a:rPr lang="en-CA" altLang="en-US" dirty="0"/>
              <a:t>Compensation (less restrictions in U.S.)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26,  Copyright © John C. Hull 2023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59ABCDA-5ABC-49A2-A8B8-0E12C33CED16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07">
  <a:themeElements>
    <a:clrScheme name="HullRMFICh07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7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7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7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880D06-BB6E-450C-B7B7-5FF7763102E9}"/>
</file>

<file path=customXml/itemProps2.xml><?xml version="1.0" encoding="utf-8"?>
<ds:datastoreItem xmlns:ds="http://schemas.openxmlformats.org/officeDocument/2006/customXml" ds:itemID="{4CE9F183-C81F-4B38-927B-62205324FC56}"/>
</file>

<file path=customXml/itemProps3.xml><?xml version="1.0" encoding="utf-8"?>
<ds:datastoreItem xmlns:ds="http://schemas.openxmlformats.org/officeDocument/2006/customXml" ds:itemID="{79279414-E3FF-442D-97D6-3530B4F94551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HullRMFI2ndEdCh08</Template>
  <TotalTime>444</TotalTime>
  <Words>1405</Words>
  <Application>Microsoft Office PowerPoint</Application>
  <PresentationFormat>On-screen Show (4:3)</PresentationFormat>
  <Paragraphs>198</Paragraphs>
  <Slides>20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HullRMFICh07</vt:lpstr>
      <vt:lpstr>Equation</vt:lpstr>
      <vt:lpstr>Basel II.5, Basel III, and Other Post-Crisis Changes </vt:lpstr>
      <vt:lpstr>Basel II.5 (Implemented Dec 31, 2011)</vt:lpstr>
      <vt:lpstr>Basel II.5 continued</vt:lpstr>
      <vt:lpstr>Basel III (Section 26.2)</vt:lpstr>
      <vt:lpstr>Capital Definition and Requirements</vt:lpstr>
      <vt:lpstr>Capital Conservation Buffer (Section 26.2.2)</vt:lpstr>
      <vt:lpstr>Countercyclical Buffer</vt:lpstr>
      <vt:lpstr>Leverage Ratio (Section 26.2.4)</vt:lpstr>
      <vt:lpstr>Liquidity Risk Ratios (Section 26.2.5)</vt:lpstr>
      <vt:lpstr>ASF Factors (Table 26.4)</vt:lpstr>
      <vt:lpstr>RSF Factors (Table 26.5)</vt:lpstr>
      <vt:lpstr>Capital for CVA Risk</vt:lpstr>
      <vt:lpstr>G-SIBs</vt:lpstr>
      <vt:lpstr>D-SIBs</vt:lpstr>
      <vt:lpstr>Contingent Convertible Bonds</vt:lpstr>
      <vt:lpstr>SA-CCR</vt:lpstr>
      <vt:lpstr>SA-CCR continued</vt:lpstr>
      <vt:lpstr>Dodd-Frank includes…</vt:lpstr>
      <vt:lpstr>Rules in Other Countries</vt:lpstr>
      <vt:lpstr>Key issues all regulators are attempting to address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16</dc:subject>
  <dc:creator>John Hull</dc:creator>
  <cp:keywords>5th Edition</cp:keywords>
  <dc:description>Copyright 2018 by John Hull._x000d_
All rights reserved.</dc:description>
  <cp:lastModifiedBy>John Hull</cp:lastModifiedBy>
  <cp:revision>41</cp:revision>
  <dcterms:created xsi:type="dcterms:W3CDTF">2011-03-02T17:52:57Z</dcterms:created>
  <dcterms:modified xsi:type="dcterms:W3CDTF">2022-12-01T21:44:02Z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