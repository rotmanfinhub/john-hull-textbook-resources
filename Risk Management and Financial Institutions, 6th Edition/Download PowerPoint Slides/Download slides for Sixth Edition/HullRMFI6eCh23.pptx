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4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EF72C2EB-3A36-4745-A2E7-AB6BD96893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091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2E9DBC7A-EDCB-4F47-A957-26556579F0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6530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214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FBE190B4-1BB4-4025-9D72-152CB9D308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12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BF2DC-1FEC-498C-87EF-183D70B124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6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5811D-B436-4181-8496-8380303630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36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B48B3D-9931-4E75-A4E8-480A6E3B03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55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65B3D5-0F94-48FD-A56F-FDA0EDEBE5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821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5F9082-D49B-4C28-B6D7-47AE6FE3AD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58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F97E22-28C7-471B-97BB-920226081D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16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10FF6-9D14-42BC-A283-B31F0725A9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193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B941E-FA03-4903-96EA-00F237D7BC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55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F1678F-F85F-43D0-8BEB-F676374CD1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261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1C4CC2-EB95-44BB-A124-E0BC5BFAF4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88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15.</a:t>
            </a:r>
            <a:fld id="{413FA810-2330-4A84-9D1A-78B8637841F8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Risk Management and Financial Institutions 6e, Chapter 23,  Copyright © John C. Hull 2023</a:t>
            </a:r>
            <a:endParaRPr lang="en-US" altLang="en-US" sz="1400" i="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981075"/>
            <a:ext cx="5905500" cy="1511300"/>
          </a:xfrm>
        </p:spPr>
        <p:txBody>
          <a:bodyPr/>
          <a:lstStyle/>
          <a:p>
            <a:pPr eaLnBrk="1" hangingPunct="1"/>
            <a:r>
              <a:rPr lang="en-US" altLang="en-US" dirty="0"/>
              <a:t>Climate Risk, ESG, and Sustainability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827088" y="3213100"/>
            <a:ext cx="63373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3600" dirty="0">
                <a:latin typeface="+mn-lt"/>
              </a:rPr>
              <a:t>Chapter  23  </a:t>
            </a:r>
          </a:p>
        </p:txBody>
      </p:sp>
      <p:sp>
        <p:nvSpPr>
          <p:cNvPr id="1331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484262-D494-4142-A5B4-97B22C6F69A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71557-242D-5BF0-7350-5591660F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Cause of 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D7FD-2A75-77F8-58D0-7CF5B84C1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emit tens of billions of tons of greenhouse gas each year by such activities as burning fossil fuels; manufacturing cement, concrete, steel, and plastics; and raising animals for food.</a:t>
            </a:r>
          </a:p>
          <a:p>
            <a:r>
              <a:rPr lang="en-CA" dirty="0"/>
              <a:t>Concentrations of the gas mean that less heat is radiated back from earth into the atmosphere so that the planet warms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5AEB2-C51F-DA81-A33A-8837DC53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D5F81-8BD5-6D71-4984-3E035C11A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069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3099-160A-3D68-D32C-6FEB4584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Paris and Glasgow Agreements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6608-F648-9529-0772-845DEDFDE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Paris agreement, 2015, had as a goal limiting temperature rises to 1.5</a:t>
            </a:r>
            <a:r>
              <a:rPr lang="en-CA" baseline="30000" dirty="0"/>
              <a:t>o</a:t>
            </a:r>
            <a:r>
              <a:rPr lang="en-CA" dirty="0"/>
              <a:t> C above pre-industrial levels</a:t>
            </a:r>
          </a:p>
          <a:p>
            <a:r>
              <a:rPr lang="en-CA" dirty="0"/>
              <a:t>The Glasgow agreement, 2021, strengthened targets for 2030 with the goal of reaching net zero by 2050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2BEA8-B45E-B5A2-68E7-BA0FE3BC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AD541-9317-01AD-6506-E1F0F579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88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FECE-1EA2-0E87-E6C6-3EA16B25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0465"/>
            <a:ext cx="7831832" cy="1295400"/>
          </a:xfrm>
        </p:spPr>
        <p:txBody>
          <a:bodyPr/>
          <a:lstStyle/>
          <a:p>
            <a:r>
              <a:rPr lang="en-CA" sz="2800" dirty="0"/>
              <a:t>IPCC Sixth Assessment Report, 2021 showing five Shared Socioeconomic Pathways, SSPs </a:t>
            </a:r>
            <a:r>
              <a:rPr lang="en-CA" sz="2000" dirty="0"/>
              <a:t>(Table 23.1)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9775F-C4DE-FDAE-DB26-37349FC06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32" y="1700808"/>
            <a:ext cx="8229600" cy="4411662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82247-362B-E2EE-E7EB-69CFA602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11686-D961-C94C-FCF3-74C4374C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4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C2393E-A2AF-29BA-A6CA-DDC399FDA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707722"/>
              </p:ext>
            </p:extLst>
          </p:nvPr>
        </p:nvGraphicFramePr>
        <p:xfrm>
          <a:off x="739279" y="2420888"/>
          <a:ext cx="7145089" cy="259294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2891">
                  <a:extLst>
                    <a:ext uri="{9D8B030D-6E8A-4147-A177-3AD203B41FA5}">
                      <a16:colId xmlns:a16="http://schemas.microsoft.com/office/drawing/2014/main" val="3921322237"/>
                    </a:ext>
                  </a:extLst>
                </a:gridCol>
                <a:gridCol w="2288350">
                  <a:extLst>
                    <a:ext uri="{9D8B030D-6E8A-4147-A177-3AD203B41FA5}">
                      <a16:colId xmlns:a16="http://schemas.microsoft.com/office/drawing/2014/main" val="3547721500"/>
                    </a:ext>
                  </a:extLst>
                </a:gridCol>
                <a:gridCol w="1414616">
                  <a:extLst>
                    <a:ext uri="{9D8B030D-6E8A-4147-A177-3AD203B41FA5}">
                      <a16:colId xmlns:a16="http://schemas.microsoft.com/office/drawing/2014/main" val="2994300676"/>
                    </a:ext>
                  </a:extLst>
                </a:gridCol>
                <a:gridCol w="1414616">
                  <a:extLst>
                    <a:ext uri="{9D8B030D-6E8A-4147-A177-3AD203B41FA5}">
                      <a16:colId xmlns:a16="http://schemas.microsoft.com/office/drawing/2014/main" val="594227517"/>
                    </a:ext>
                  </a:extLst>
                </a:gridCol>
                <a:gridCol w="1414616">
                  <a:extLst>
                    <a:ext uri="{9D8B030D-6E8A-4147-A177-3AD203B41FA5}">
                      <a16:colId xmlns:a16="http://schemas.microsoft.com/office/drawing/2014/main" val="2428295474"/>
                    </a:ext>
                  </a:extLst>
                </a:gridCol>
              </a:tblGrid>
              <a:tr h="6954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SSP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Scenario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Estimated warming, 2041-2060, </a:t>
                      </a:r>
                      <a:r>
                        <a:rPr lang="en-CA" sz="1200" baseline="30000" dirty="0" err="1">
                          <a:effectLst/>
                        </a:rPr>
                        <a:t>o</a:t>
                      </a:r>
                      <a:r>
                        <a:rPr lang="en-CA" sz="1200" dirty="0" err="1">
                          <a:effectLst/>
                        </a:rPr>
                        <a:t>C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Estimated warming, 2081-2100, </a:t>
                      </a:r>
                      <a:r>
                        <a:rPr lang="en-CA" sz="1200" baseline="30000" dirty="0" err="1">
                          <a:effectLst/>
                        </a:rPr>
                        <a:t>o</a:t>
                      </a:r>
                      <a:r>
                        <a:rPr lang="en-CA" sz="1200" dirty="0" err="1">
                          <a:effectLst/>
                        </a:rPr>
                        <a:t>C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Very likely range  2081-2100, </a:t>
                      </a:r>
                      <a:r>
                        <a:rPr lang="en-CA" sz="1200" baseline="30000">
                          <a:effectLst/>
                        </a:rPr>
                        <a:t>o</a:t>
                      </a:r>
                      <a:r>
                        <a:rPr lang="en-CA" sz="1200">
                          <a:effectLst/>
                        </a:rPr>
                        <a:t>C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6595674"/>
                  </a:ext>
                </a:extLst>
              </a:tr>
              <a:tr h="4137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SSP1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CO</a:t>
                      </a:r>
                      <a:r>
                        <a:rPr lang="en-CA" sz="1200" baseline="-25000">
                          <a:effectLst/>
                        </a:rPr>
                        <a:t>2</a:t>
                      </a:r>
                      <a:r>
                        <a:rPr lang="en-CA" sz="1200">
                          <a:effectLst/>
                        </a:rPr>
                        <a:t> emissions cut to net zero by about 2050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1.6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1.4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1.0-1.8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2993566"/>
                  </a:ext>
                </a:extLst>
              </a:tr>
              <a:tr h="4137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SSP2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CO</a:t>
                      </a:r>
                      <a:r>
                        <a:rPr lang="en-CA" sz="1200" baseline="-25000">
                          <a:effectLst/>
                        </a:rPr>
                        <a:t>2</a:t>
                      </a:r>
                      <a:r>
                        <a:rPr lang="en-CA" sz="1200">
                          <a:effectLst/>
                        </a:rPr>
                        <a:t> emissions cut to net zero by about 2075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1.7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1.8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1.3-2.4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864957"/>
                  </a:ext>
                </a:extLst>
              </a:tr>
              <a:tr h="3492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SSP3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CO</a:t>
                      </a:r>
                      <a:r>
                        <a:rPr lang="en-CA" sz="1200" baseline="-25000" dirty="0">
                          <a:effectLst/>
                        </a:rPr>
                        <a:t>2</a:t>
                      </a:r>
                      <a:r>
                        <a:rPr lang="en-CA" sz="1200" dirty="0">
                          <a:effectLst/>
                        </a:rPr>
                        <a:t> emissions continue at about current level until 2050 and then fall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2.0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2.7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2.1-3.5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0520160"/>
                  </a:ext>
                </a:extLst>
              </a:tr>
              <a:tr h="246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SSP4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CO</a:t>
                      </a:r>
                      <a:r>
                        <a:rPr lang="en-CA" sz="1200" baseline="-25000">
                          <a:effectLst/>
                        </a:rPr>
                        <a:t>2 </a:t>
                      </a:r>
                      <a:r>
                        <a:rPr lang="en-CA" sz="1200">
                          <a:effectLst/>
                        </a:rPr>
                        <a:t>emissions double by 2100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2.1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3.6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2.8-4.6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6005853"/>
                  </a:ext>
                </a:extLst>
              </a:tr>
              <a:tr h="246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SSP5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CO</a:t>
                      </a:r>
                      <a:r>
                        <a:rPr lang="en-CA" sz="1200" baseline="-25000">
                          <a:effectLst/>
                        </a:rPr>
                        <a:t>2</a:t>
                      </a:r>
                      <a:r>
                        <a:rPr lang="en-CA" sz="1200">
                          <a:effectLst/>
                        </a:rPr>
                        <a:t> emissions triple by 2075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2.4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>
                          <a:effectLst/>
                        </a:rPr>
                        <a:t>4.4</a:t>
                      </a:r>
                      <a:endParaRPr lang="en-CA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200" dirty="0">
                          <a:effectLst/>
                        </a:rPr>
                        <a:t>3.3-5.7</a:t>
                      </a:r>
                      <a:endParaRPr lang="en-CA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3177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101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D50EF-6612-7EBF-BC57-0B10E443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Greenhouse Gas Emissions by Sector </a:t>
            </a:r>
            <a:r>
              <a:rPr lang="en-CA" sz="2400" dirty="0"/>
              <a:t>(Table 23.2)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460C4-1A8F-60BC-2F44-F1D5A7816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27E7A-B655-7297-217D-CF7DAA79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4F046-1B2D-A611-0B3C-BB580701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5</a:t>
            </a:fld>
            <a:endParaRPr lang="en-US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B641E7-E78C-921D-3DB8-C62826635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526190"/>
              </p:ext>
            </p:extLst>
          </p:nvPr>
        </p:nvGraphicFramePr>
        <p:xfrm>
          <a:off x="1835696" y="2348880"/>
          <a:ext cx="4717504" cy="23762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02755">
                  <a:extLst>
                    <a:ext uri="{9D8B030D-6E8A-4147-A177-3AD203B41FA5}">
                      <a16:colId xmlns:a16="http://schemas.microsoft.com/office/drawing/2014/main" val="1829871593"/>
                    </a:ext>
                  </a:extLst>
                </a:gridCol>
                <a:gridCol w="1514749">
                  <a:extLst>
                    <a:ext uri="{9D8B030D-6E8A-4147-A177-3AD203B41FA5}">
                      <a16:colId xmlns:a16="http://schemas.microsoft.com/office/drawing/2014/main" val="1452358207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Sector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Emissions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4672573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 dirty="0">
                          <a:effectLst/>
                        </a:rPr>
                        <a:t>Transportation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27%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7361587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Electricity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25%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572355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Industry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24%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8872519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Commercial and Residential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13%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8703254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>
                          <a:effectLst/>
                        </a:rPr>
                        <a:t>Agriculture</a:t>
                      </a:r>
                      <a:endParaRPr lang="en-CA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800" dirty="0">
                          <a:effectLst/>
                        </a:rPr>
                        <a:t>11%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471279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14AA19F1-CCAF-8682-DC7C-58D5CE2A7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7" y="234967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228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B119-3156-4744-8060-A9BFBB930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Costly Results of Climate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CDAD5-0C2E-40EF-99E7-DB206A9A5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Rising Sea Levels</a:t>
            </a:r>
          </a:p>
          <a:p>
            <a:r>
              <a:rPr lang="en-CA" dirty="0"/>
              <a:t>Ocean acidification</a:t>
            </a:r>
          </a:p>
          <a:p>
            <a:r>
              <a:rPr lang="en-CA" dirty="0"/>
              <a:t>Storms, heat waves, wildfires, hurricanes, tornadoes</a:t>
            </a:r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7A4A2-00A1-4BD2-96F4-5F7E855E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2F15B-F6D0-40B3-B0FC-5FF33F80B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031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F314-29AD-4CB7-AC14-D137EC0C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Organizations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4BC3C-F7CF-431C-A843-AD8A9D8AA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Task Force on Climate-Related Financial disclosures (TCFD) led by Michael Bloomberg</a:t>
            </a:r>
          </a:p>
          <a:p>
            <a:r>
              <a:rPr lang="en-CA" dirty="0"/>
              <a:t>Glasgow Financial Alliance for Net Zero (GFANZ)  led by Mark Carney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0B7A9-1B49-4AE8-89C0-B10B317E1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D5AA5-6F02-4E36-AFEB-FBD23448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41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A29E-223C-4C42-9835-AE58CD48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Physical vs. Transition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0173-C338-488D-AD21-F6C137682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Physical risks are the costs of extreme climate events such as floods, rising sea levels, and hurricanes</a:t>
            </a:r>
          </a:p>
          <a:p>
            <a:r>
              <a:rPr lang="en-CA" dirty="0"/>
              <a:t>Transition risks are the costs of moving to lower emissions (carbon taxes, closing down plants burning fossil fuels,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28075-BA0E-455F-8F4D-25F1F060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FC0A1-7B26-4B02-B272-BBFD0935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737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2F6C-1FB6-4E21-9B42-55EE42D6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Insurance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883B9-91E2-4A8D-80F9-FFA7A31F9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will be the effect of climate risks on </a:t>
            </a:r>
          </a:p>
          <a:p>
            <a:pPr lvl="1"/>
            <a:r>
              <a:rPr lang="en-CA" dirty="0"/>
              <a:t>Property and casualty companies</a:t>
            </a:r>
          </a:p>
          <a:p>
            <a:pPr lvl="1"/>
            <a:r>
              <a:rPr lang="en-CA" dirty="0"/>
              <a:t>Life insurance companies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1B0E0-733F-4F3F-BE7C-597C4D1B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2090F-9E38-4001-8B9D-9118B033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320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32BD-1087-4719-AD6B-22F7765C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Banks </a:t>
            </a:r>
            <a:r>
              <a:rPr lang="en-CA" sz="2400" dirty="0"/>
              <a:t>(Table 23.3)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23BFD-2343-4FAE-BB96-449E16BF8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E321C-DFEB-43D1-891D-BDBC6D24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B1AD5-9B3C-4FDA-894B-49BB9066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10</a:t>
            </a:fld>
            <a:endParaRPr lang="en-US" alt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1795101-EF9F-4C61-8DF7-A724380BB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9642"/>
              </p:ext>
            </p:extLst>
          </p:nvPr>
        </p:nvGraphicFramePr>
        <p:xfrm>
          <a:off x="971600" y="1772816"/>
          <a:ext cx="6840488" cy="273630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44686">
                  <a:extLst>
                    <a:ext uri="{9D8B030D-6E8A-4147-A177-3AD203B41FA5}">
                      <a16:colId xmlns:a16="http://schemas.microsoft.com/office/drawing/2014/main" val="4146468455"/>
                    </a:ext>
                  </a:extLst>
                </a:gridCol>
                <a:gridCol w="5495802">
                  <a:extLst>
                    <a:ext uri="{9D8B030D-6E8A-4147-A177-3AD203B41FA5}">
                      <a16:colId xmlns:a16="http://schemas.microsoft.com/office/drawing/2014/main" val="3343864667"/>
                    </a:ext>
                  </a:extLst>
                </a:gridCol>
              </a:tblGrid>
              <a:tr h="2429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 b="1">
                          <a:effectLst/>
                        </a:rPr>
                        <a:t>Risk</a:t>
                      </a:r>
                      <a:endParaRPr lang="en-CA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 b="1" dirty="0">
                          <a:effectLst/>
                        </a:rPr>
                        <a:t>Potential effects of physical and transition climate risks </a:t>
                      </a:r>
                      <a:endParaRPr lang="en-CA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3664932"/>
                  </a:ext>
                </a:extLst>
              </a:tr>
              <a:tr h="4986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Credit Risk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Climate risk may reduce borrowers’ ability to service debt or the value of collateral in the event of a default 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9985079"/>
                  </a:ext>
                </a:extLst>
              </a:tr>
              <a:tr h="4986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Market Risk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Prices of financial assets may suffer as the impact of climate risk becomes more apparent.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3341501"/>
                  </a:ext>
                </a:extLst>
              </a:tr>
              <a:tr h="4986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Liquidity Risk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A bank’s access to stable sources of funding such as retail deposits could be reduced as market conditions change 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6561448"/>
                  </a:ext>
                </a:extLst>
              </a:tr>
              <a:tr h="4986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Operational Risk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There are likely to be legal and regulatory compliance risks associated with corporate clients and investments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2599302"/>
                  </a:ext>
                </a:extLst>
              </a:tr>
              <a:tr h="4986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>
                          <a:effectLst/>
                        </a:rPr>
                        <a:t>Reputational Risk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CA" sz="1100" dirty="0">
                          <a:effectLst/>
                        </a:rPr>
                        <a:t>Reputational risk may increase as a result of market or consumer sentiment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5158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6629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165E-E331-42C4-A7BB-0E136D77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Institutional Investors </a:t>
            </a:r>
            <a:r>
              <a:rPr lang="en-CA" sz="2400" dirty="0"/>
              <a:t>(Section 23.1.3)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91059-FDF8-4128-9E67-9D60522C1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Institutional investors can have a big impact on the climate risk policies of companies</a:t>
            </a:r>
          </a:p>
          <a:p>
            <a:r>
              <a:rPr lang="en-CA" dirty="0"/>
              <a:t>Examples: </a:t>
            </a:r>
          </a:p>
          <a:p>
            <a:pPr lvl="1"/>
            <a:r>
              <a:rPr lang="en-CA" dirty="0"/>
              <a:t>California State Teachers Retirement Systems</a:t>
            </a:r>
          </a:p>
          <a:p>
            <a:pPr lvl="1"/>
            <a:r>
              <a:rPr lang="en-CA" dirty="0"/>
              <a:t>Blackrock</a:t>
            </a:r>
          </a:p>
          <a:p>
            <a:r>
              <a:rPr lang="en-CA" dirty="0"/>
              <a:t>But there has been some push-back from right-wing politicians in the U.S.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F94C7-F564-4970-B5CA-4934E993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 dirty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D0DD0-065A-4FFF-838D-120E9C93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794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3358-3D8B-410B-B971-53B1D5BD1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ESG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A04CB-828A-4375-AD84-BF5F3172F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Environmental, social and governance</a:t>
            </a:r>
          </a:p>
          <a:p>
            <a:r>
              <a:rPr lang="en-CA" dirty="0"/>
              <a:t>Broader than climate risk</a:t>
            </a:r>
          </a:p>
          <a:p>
            <a:r>
              <a:rPr lang="en-CA" dirty="0"/>
              <a:t>The S covers issues such as diversity, equity, inclusion, and worker well-being</a:t>
            </a:r>
          </a:p>
          <a:p>
            <a:r>
              <a:rPr lang="en-CA" dirty="0"/>
              <a:t>The G covers governance policies that are socially desirable, transparent, and accountable to shareholders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B4191-F402-447D-82C5-E4C51A68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A0221-3E65-4660-BF0D-B06D98FA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451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B5E5-4E9B-4126-AB1F-669822C9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Sustainability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7AEB0-281F-4505-ABE0-D97C4E660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/>
              <a:t>“Sustainable development is development that meets the needs of the present without compromising the ability of future generations to meet their needs”</a:t>
            </a:r>
          </a:p>
          <a:p>
            <a:pPr marL="0" indent="0">
              <a:buNone/>
            </a:pPr>
            <a:r>
              <a:rPr lang="en-CA" sz="2400" dirty="0"/>
              <a:t>In addition to greenhouse gas emissions, sustainability is concerned with issues such as:</a:t>
            </a:r>
          </a:p>
          <a:p>
            <a:pPr lvl="1"/>
            <a:r>
              <a:rPr lang="en-CA" sz="2000" dirty="0"/>
              <a:t>Pollution of oceans</a:t>
            </a:r>
          </a:p>
          <a:p>
            <a:pPr lvl="1"/>
            <a:r>
              <a:rPr lang="en-CA" sz="2000" dirty="0"/>
              <a:t>Contamination of soil and water</a:t>
            </a:r>
          </a:p>
          <a:p>
            <a:pPr lvl="1"/>
            <a:r>
              <a:rPr lang="en-CA" sz="2000" dirty="0"/>
              <a:t>Overfishing</a:t>
            </a:r>
          </a:p>
          <a:p>
            <a:pPr lvl="1"/>
            <a:r>
              <a:rPr lang="en-CA" sz="2000" dirty="0"/>
              <a:t>Deforestation</a:t>
            </a:r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BBDDF-0030-4E19-9B40-937D5F34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/>
              <a:t>Risk Management and Financial Institutions 6e, Chapter 23,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9A6A7-B8A1-4A89-9D97-B444CD01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7167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C1F8C-FAC4-46E9-85D5-CFAB519E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Greenwashing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49155-B6AE-4EDA-A476-4EB57F1AA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is concerned with companies making misleading claims about the environmental friendliness of their products</a:t>
            </a:r>
          </a:p>
          <a:p>
            <a:r>
              <a:rPr lang="en-CA" dirty="0"/>
              <a:t>See examples in Section 23.4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131C9-373C-4FB8-AA90-028CFA195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CA" altLang="en-US" dirty="0"/>
              <a:t>Risk Management and Financial Institutions 6e, Chapter 23,  Copyright © John C. Hull 2023</a:t>
            </a:r>
            <a:endParaRPr lang="en-US" altLang="en-US" i="0" dirty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48249-3D3E-4C57-A84F-6169EBC2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BF2DC-1FEC-498C-87EF-183D70B12493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8013008"/>
      </p:ext>
    </p:extLst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A6DFDC-86AC-4EAD-BDF8-68F890A328A4}"/>
</file>

<file path=customXml/itemProps2.xml><?xml version="1.0" encoding="utf-8"?>
<ds:datastoreItem xmlns:ds="http://schemas.openxmlformats.org/officeDocument/2006/customXml" ds:itemID="{4E17224B-40BD-4DCD-A20B-C4020D81A33D}"/>
</file>

<file path=customXml/itemProps3.xml><?xml version="1.0" encoding="utf-8"?>
<ds:datastoreItem xmlns:ds="http://schemas.openxmlformats.org/officeDocument/2006/customXml" ds:itemID="{E9F8F7DE-435E-4BF8-8D89-055A3AED8CA1}"/>
</file>

<file path=docProps/app.xml><?xml version="1.0" encoding="utf-8"?>
<Properties xmlns="http://schemas.openxmlformats.org/officeDocument/2006/extended-properties" xmlns:vt="http://schemas.openxmlformats.org/officeDocument/2006/docPropsVTypes">
  <Template>HullRMFICh14</Template>
  <TotalTime>701</TotalTime>
  <Words>868</Words>
  <Application>Microsoft Office PowerPoint</Application>
  <PresentationFormat>On-screen Show (4:3)</PresentationFormat>
  <Paragraphs>131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HullRMFICh12</vt:lpstr>
      <vt:lpstr>Climate Risk, ESG, and Sustainability</vt:lpstr>
      <vt:lpstr>Major Cause of Climate Change</vt:lpstr>
      <vt:lpstr>Paris and Glasgow Agreements</vt:lpstr>
      <vt:lpstr>IPCC Sixth Assessment Report, 2021 showing five Shared Socioeconomic Pathways, SSPs (Table 23.1)</vt:lpstr>
      <vt:lpstr>Greenhouse Gas Emissions by Sector (Table 23.2)</vt:lpstr>
      <vt:lpstr>Costly Results of Climate Change</vt:lpstr>
      <vt:lpstr>Organizations</vt:lpstr>
      <vt:lpstr>Physical vs. Transition Risks</vt:lpstr>
      <vt:lpstr>Insurance Companies</vt:lpstr>
      <vt:lpstr>Banks (Table 23.3)</vt:lpstr>
      <vt:lpstr>Institutional Investors (Section 23.1.3)</vt:lpstr>
      <vt:lpstr>ESG</vt:lpstr>
      <vt:lpstr>Sustainability</vt:lpstr>
      <vt:lpstr>Greenwashing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25</dc:subject>
  <dc:creator>John Hull</dc:creator>
  <cp:keywords>5th Edition</cp:keywords>
  <dc:description>Copyright 2018 by John Hull._x000d_
All rights reserved.</dc:description>
  <cp:lastModifiedBy>John Hull</cp:lastModifiedBy>
  <cp:revision>50</cp:revision>
  <dcterms:created xsi:type="dcterms:W3CDTF">2002-03-17T23:57:27Z</dcterms:created>
  <dcterms:modified xsi:type="dcterms:W3CDTF">2022-12-01T21:28:08Z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