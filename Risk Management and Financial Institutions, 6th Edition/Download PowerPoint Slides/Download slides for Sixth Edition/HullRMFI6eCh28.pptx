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25"/>
  </p:notesMasterIdLst>
  <p:handoutMasterIdLst>
    <p:handoutMasterId r:id="rId26"/>
  </p:handoutMasterIdLst>
  <p:sldIdLst>
    <p:sldId id="256" r:id="rId2"/>
    <p:sldId id="286" r:id="rId3"/>
    <p:sldId id="284" r:id="rId4"/>
    <p:sldId id="301" r:id="rId5"/>
    <p:sldId id="283" r:id="rId6"/>
    <p:sldId id="292" r:id="rId7"/>
    <p:sldId id="293" r:id="rId8"/>
    <p:sldId id="294" r:id="rId9"/>
    <p:sldId id="295" r:id="rId10"/>
    <p:sldId id="289" r:id="rId11"/>
    <p:sldId id="290" r:id="rId12"/>
    <p:sldId id="291" r:id="rId13"/>
    <p:sldId id="296" r:id="rId14"/>
    <p:sldId id="297" r:id="rId15"/>
    <p:sldId id="298" r:id="rId16"/>
    <p:sldId id="299" r:id="rId17"/>
    <p:sldId id="300" r:id="rId18"/>
    <p:sldId id="287" r:id="rId19"/>
    <p:sldId id="302" r:id="rId20"/>
    <p:sldId id="260" r:id="rId21"/>
    <p:sldId id="261" r:id="rId22"/>
    <p:sldId id="262" r:id="rId23"/>
    <p:sldId id="263" r:id="rId24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2" d="100"/>
          <a:sy n="132" d="100"/>
        </p:scale>
        <p:origin x="93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EEA46538-52F8-41BC-8E9C-905D7BFF67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4264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6AFCA0D1-6DC2-492D-867E-2088CD3E7C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3781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844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527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7414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636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109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5144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094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257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6453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2867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324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0138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5696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72847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2190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321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016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10391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8091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119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893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9647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377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20378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8F8030A8-A34D-448A-969B-F0A6B8ADF0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443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627291-E34E-4834-B85F-056D435A924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8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9CCADF-5062-48F8-BBF3-8B9E8FD3C9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4822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C322C7-8775-4100-B516-CA785FC40A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989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DC438-7D15-42C5-B97D-B0036F9760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28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61195D-A1E9-4E2D-9D81-E9C518E0DBD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065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8790B-0E0A-430F-A0B8-6929BB2F69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364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8620A-DA86-497B-A591-324CEFDB13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3575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2FE905-06D6-41B6-B912-05AA8C1D2E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2546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7F9187-D6A7-4B95-92DE-CD93E7D9E5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48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168A50-F7BF-48BC-9A8C-21FB1B1043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607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275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275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20275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16.</a:t>
            </a:r>
            <a:fld id="{DC5C2653-8DC5-4859-BAE7-9D2E54E45AC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58888" y="476250"/>
            <a:ext cx="5905500" cy="1873250"/>
          </a:xfrm>
        </p:spPr>
        <p:txBody>
          <a:bodyPr/>
          <a:lstStyle/>
          <a:p>
            <a:pPr eaLnBrk="1" hangingPunct="1"/>
            <a:r>
              <a:rPr lang="en-US" altLang="en-US" sz="4000"/>
              <a:t>Economic Capital and RAROC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 rot="10815609" flipV="1">
            <a:off x="414338" y="3121025"/>
            <a:ext cx="66802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defRPr/>
            </a:pPr>
            <a:r>
              <a:rPr lang="en-US" sz="3600" dirty="0">
                <a:latin typeface="+mn-lt"/>
              </a:rPr>
              <a:t>Chapter 28  </a:t>
            </a:r>
          </a:p>
        </p:txBody>
      </p:sp>
      <p:sp>
        <p:nvSpPr>
          <p:cNvPr id="1331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7A734D-A6F3-46A1-B4D5-B0B8859CCE5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Economic Capital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bank’s own assessment of the capital it requires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  </a:t>
            </a:r>
          </a:p>
        </p:txBody>
      </p:sp>
      <p:sp>
        <p:nvSpPr>
          <p:cNvPr id="1434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407FC5C-5335-4C59-8555-4B33B4BDA9E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Model Used for Economic Capital (Same as Regulatory Capital)</a:t>
            </a:r>
            <a:r>
              <a:rPr lang="en-US" altLang="en-US" sz="3500" dirty="0"/>
              <a:t> </a:t>
            </a:r>
            <a:r>
              <a:rPr lang="en-US" altLang="en-US" sz="2400" dirty="0"/>
              <a:t>Figure 28.1</a:t>
            </a:r>
          </a:p>
        </p:txBody>
      </p:sp>
      <p:pic>
        <p:nvPicPr>
          <p:cNvPr id="153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916113"/>
            <a:ext cx="727233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5365" name="Line 4"/>
          <p:cNvSpPr>
            <a:spLocks noChangeShapeType="1"/>
          </p:cNvSpPr>
          <p:nvPr/>
        </p:nvSpPr>
        <p:spPr bwMode="auto">
          <a:xfrm>
            <a:off x="2771775" y="2276475"/>
            <a:ext cx="0" cy="3168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5366" name="Line 5"/>
          <p:cNvSpPr>
            <a:spLocks noChangeShapeType="1"/>
          </p:cNvSpPr>
          <p:nvPr/>
        </p:nvSpPr>
        <p:spPr bwMode="auto">
          <a:xfrm>
            <a:off x="5651500" y="2133600"/>
            <a:ext cx="0" cy="3311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7019925" y="4724400"/>
            <a:ext cx="1514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Loss over one year</a:t>
            </a:r>
          </a:p>
        </p:txBody>
      </p:sp>
      <p:sp>
        <p:nvSpPr>
          <p:cNvPr id="15368" name="Rectangle 7"/>
          <p:cNvSpPr>
            <a:spLocks noChangeArrowheads="1"/>
          </p:cNvSpPr>
          <p:nvPr/>
        </p:nvSpPr>
        <p:spPr bwMode="auto">
          <a:xfrm>
            <a:off x="2268538" y="1628775"/>
            <a:ext cx="1212850" cy="654050"/>
          </a:xfrm>
          <a:prstGeom prst="rect">
            <a:avLst/>
          </a:prstGeom>
          <a:solidFill>
            <a:schemeClr val="bg1"/>
          </a:solidFill>
          <a:ln w="12700">
            <a:solidFill>
              <a:srgbClr val="FFFFFF"/>
            </a:solidFill>
            <a:miter lim="800000"/>
            <a:headEnd type="none" w="sm" len="sm"/>
            <a:tailEnd type="none" w="sm" len="sm"/>
          </a:ln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Expected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Loss</a:t>
            </a:r>
          </a:p>
        </p:txBody>
      </p:sp>
      <p:sp>
        <p:nvSpPr>
          <p:cNvPr id="15369" name="Rectangle 8"/>
          <p:cNvSpPr>
            <a:spLocks noChangeArrowheads="1"/>
          </p:cNvSpPr>
          <p:nvPr/>
        </p:nvSpPr>
        <p:spPr bwMode="auto">
          <a:xfrm>
            <a:off x="4932363" y="1770063"/>
            <a:ext cx="1439862" cy="3714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X percentile</a:t>
            </a:r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>
            <a:off x="2771775" y="3429000"/>
            <a:ext cx="28797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5371" name="Rectangle 10"/>
          <p:cNvSpPr>
            <a:spLocks noChangeArrowheads="1"/>
          </p:cNvSpPr>
          <p:nvPr/>
        </p:nvSpPr>
        <p:spPr bwMode="auto">
          <a:xfrm>
            <a:off x="3613150" y="3024188"/>
            <a:ext cx="908050" cy="37941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Capital</a:t>
            </a:r>
          </a:p>
        </p:txBody>
      </p:sp>
      <p:sp>
        <p:nvSpPr>
          <p:cNvPr id="15372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66021C-607A-4548-8247-15559C0B475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Choice of Parameters</a:t>
            </a:r>
            <a:endParaRPr lang="en-CA" altLang="en-US"/>
          </a:p>
        </p:txBody>
      </p:sp>
      <p:sp>
        <p:nvSpPr>
          <p:cNvPr id="209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/>
              <a:t>For a bank wishing to maintain a AA-rating, capital is chosen so that </a:t>
            </a:r>
            <a:r>
              <a:rPr lang="en-US" i="1" dirty="0">
                <a:latin typeface="+mj-lt"/>
              </a:rPr>
              <a:t>X</a:t>
            </a:r>
            <a:r>
              <a:rPr lang="en-US" dirty="0"/>
              <a:t> is about 99.98% and time horizon is one year</a:t>
            </a:r>
          </a:p>
          <a:p>
            <a:pPr eaLnBrk="1" hangingPunct="1">
              <a:defRPr/>
            </a:pPr>
            <a:r>
              <a:rPr lang="en-US" dirty="0"/>
              <a:t>This is because statistics from rating agencies show that an AA-rated company has a probability of only about 0.02% of defaulting in one year</a:t>
            </a:r>
          </a:p>
          <a:p>
            <a:pPr eaLnBrk="1" hangingPunct="1">
              <a:defRPr/>
            </a:pPr>
            <a:endParaRPr lang="en-CA" dirty="0"/>
          </a:p>
        </p:txBody>
      </p:sp>
      <p:sp>
        <p:nvSpPr>
          <p:cNvPr id="1638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B65A3AF-C6AC-4D2D-AD56-7E414B31134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Basel II Regulatory Environment </a:t>
            </a:r>
            <a:r>
              <a:rPr lang="en-US" altLang="en-US" sz="2400" dirty="0"/>
              <a:t>(Figure 28.2)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3132138" y="1870075"/>
            <a:ext cx="1871662" cy="37941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Total Risk</a:t>
            </a:r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4067175" y="2276475"/>
            <a:ext cx="73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7414" name="Line 5"/>
          <p:cNvSpPr>
            <a:spLocks noChangeShapeType="1"/>
          </p:cNvSpPr>
          <p:nvPr/>
        </p:nvSpPr>
        <p:spPr bwMode="auto">
          <a:xfrm>
            <a:off x="4038600" y="2286000"/>
            <a:ext cx="0" cy="5048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7415" name="Line 6"/>
          <p:cNvSpPr>
            <a:spLocks noChangeShapeType="1"/>
          </p:cNvSpPr>
          <p:nvPr/>
        </p:nvSpPr>
        <p:spPr bwMode="auto">
          <a:xfrm>
            <a:off x="1763713" y="2781300"/>
            <a:ext cx="4392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7416" name="Line 7"/>
          <p:cNvSpPr>
            <a:spLocks noChangeShapeType="1"/>
          </p:cNvSpPr>
          <p:nvPr/>
        </p:nvSpPr>
        <p:spPr bwMode="auto">
          <a:xfrm>
            <a:off x="6156325" y="2781300"/>
            <a:ext cx="0" cy="287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auto">
          <a:xfrm>
            <a:off x="5219700" y="3068638"/>
            <a:ext cx="2520950" cy="1752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Business Risk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(no regulatory capital):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Risk from Strategic Decisions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Reputation Risk</a:t>
            </a:r>
          </a:p>
        </p:txBody>
      </p:sp>
      <p:sp>
        <p:nvSpPr>
          <p:cNvPr id="17418" name="Rectangle 9"/>
          <p:cNvSpPr>
            <a:spLocks noChangeArrowheads="1"/>
          </p:cNvSpPr>
          <p:nvPr/>
        </p:nvSpPr>
        <p:spPr bwMode="auto">
          <a:xfrm>
            <a:off x="827088" y="3068638"/>
            <a:ext cx="2152650" cy="1752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Non-Business Risk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(regulatory capital):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Credit Risk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Market Risk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Operational Risk</a:t>
            </a:r>
          </a:p>
        </p:txBody>
      </p:sp>
      <p:sp>
        <p:nvSpPr>
          <p:cNvPr id="17419" name="Line 10"/>
          <p:cNvSpPr>
            <a:spLocks noChangeShapeType="1"/>
          </p:cNvSpPr>
          <p:nvPr/>
        </p:nvSpPr>
        <p:spPr bwMode="auto">
          <a:xfrm>
            <a:off x="1763713" y="2781300"/>
            <a:ext cx="0" cy="287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7420" name="Slide Number Placeholder 1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395B372-E114-436E-AD90-779577D32BF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One-year Market Risk Gains/Loss Distribution </a:t>
            </a:r>
            <a:r>
              <a:rPr lang="en-US" altLang="en-US" sz="2400" dirty="0"/>
              <a:t>(Figure 28.3)</a:t>
            </a:r>
            <a:endParaRPr lang="en-CA" altLang="en-US" sz="2400" dirty="0"/>
          </a:p>
        </p:txBody>
      </p:sp>
      <p:pic>
        <p:nvPicPr>
          <p:cNvPr id="184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31988"/>
            <a:ext cx="6477000" cy="3706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8437" name="Line 4"/>
          <p:cNvSpPr>
            <a:spLocks noChangeShapeType="1"/>
          </p:cNvSpPr>
          <p:nvPr/>
        </p:nvSpPr>
        <p:spPr bwMode="auto">
          <a:xfrm flipV="1">
            <a:off x="4343400" y="4800600"/>
            <a:ext cx="0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6096000" y="49530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Loss</a:t>
            </a:r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2133600" y="4953000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Gain</a:t>
            </a:r>
          </a:p>
        </p:txBody>
      </p:sp>
      <p:sp>
        <p:nvSpPr>
          <p:cNvPr id="18440" name="Slide Number Placeholder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661146-3FF0-4491-8BC3-F89C14378C8B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One-year Credit Risk Loss Distribution </a:t>
            </a:r>
            <a:r>
              <a:rPr lang="en-US" altLang="en-US" sz="2400" dirty="0"/>
              <a:t>(Figure 28.4)</a:t>
            </a:r>
            <a:endParaRPr lang="en-CA" altLang="en-US" sz="2400" dirty="0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68500"/>
            <a:ext cx="7086600" cy="339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6248400" y="4800600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Loss</a:t>
            </a:r>
          </a:p>
        </p:txBody>
      </p:sp>
      <p:sp>
        <p:nvSpPr>
          <p:cNvPr id="1946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D6EC0F-FECC-40CA-9E43-1CF6936B272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One Year Operational Risk Loss Distribution </a:t>
            </a:r>
            <a:r>
              <a:rPr lang="en-US" altLang="en-US" sz="2400" dirty="0"/>
              <a:t>(Figure 28.5)</a:t>
            </a:r>
            <a:endParaRPr lang="en-CA" altLang="en-US" sz="2400" dirty="0"/>
          </a:p>
        </p:txBody>
      </p:sp>
      <p:graphicFrame>
        <p:nvGraphicFramePr>
          <p:cNvPr id="20484" name="Object 3"/>
          <p:cNvGraphicFramePr>
            <a:graphicFrameLocks noChangeAspect="1"/>
          </p:cNvGraphicFramePr>
          <p:nvPr/>
        </p:nvGraphicFramePr>
        <p:xfrm>
          <a:off x="1676400" y="2114550"/>
          <a:ext cx="525780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4" imgW="5261304" imgH="3523793" progId="Excel.Chart.8">
                  <p:embed/>
                </p:oleObj>
              </mc:Choice>
              <mc:Fallback>
                <p:oleObj r:id="rId4" imgW="5261304" imgH="3523793" progId="Excel.Char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114550"/>
                        <a:ext cx="5257800" cy="352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Text Box 4"/>
          <p:cNvSpPr txBox="1">
            <a:spLocks noChangeArrowheads="1"/>
          </p:cNvSpPr>
          <p:nvPr/>
        </p:nvSpPr>
        <p:spPr bwMode="auto">
          <a:xfrm>
            <a:off x="5943600" y="51054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/>
              <a:t>Loss</a:t>
            </a:r>
            <a:endParaRPr lang="en-CA" altLang="en-US" sz="1800"/>
          </a:p>
        </p:txBody>
      </p:sp>
      <p:sp>
        <p:nvSpPr>
          <p:cNvPr id="2048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0C7C13E-8F62-46D7-B318-6D70C756743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96962"/>
          </a:xfrm>
        </p:spPr>
        <p:txBody>
          <a:bodyPr/>
          <a:lstStyle/>
          <a:p>
            <a:pPr eaLnBrk="1" hangingPunct="1"/>
            <a:r>
              <a:rPr lang="en-US" altLang="en-US" dirty="0"/>
              <a:t>Characteristics of Distributions </a:t>
            </a:r>
            <a:r>
              <a:rPr lang="en-US" altLang="en-US" sz="2400" dirty="0"/>
              <a:t>(Table 28.1)</a:t>
            </a:r>
            <a:endParaRPr lang="en-CA" altLang="en-US" sz="2400" dirty="0"/>
          </a:p>
        </p:txBody>
      </p:sp>
      <p:graphicFrame>
        <p:nvGraphicFramePr>
          <p:cNvPr id="174113" name="Group 33"/>
          <p:cNvGraphicFramePr>
            <a:graphicFrameLocks noGrp="1"/>
          </p:cNvGraphicFramePr>
          <p:nvPr/>
        </p:nvGraphicFramePr>
        <p:xfrm>
          <a:off x="762000" y="1752600"/>
          <a:ext cx="7620000" cy="4060825"/>
        </p:xfrm>
        <a:graphic>
          <a:graphicData uri="http://schemas.openxmlformats.org/drawingml/2006/table">
            <a:tbl>
              <a:tblPr/>
              <a:tblGrid>
                <a:gridCol w="219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6504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Second Moment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(Variance)</a:t>
                      </a:r>
                      <a:endParaRPr kumimoji="0" lang="en-CA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Third Moment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(Skewness)</a:t>
                      </a:r>
                      <a:endParaRPr kumimoji="0" lang="en-CA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Fourth Moment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(Kurtosis)</a:t>
                      </a:r>
                      <a:endParaRPr kumimoji="0" lang="en-CA" sz="2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5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Market Risk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High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Zero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Low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Credit Risk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Moderate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Moderate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Moderate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52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Operational Risk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Low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High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High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1" marB="4604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35" name="Slide Number Placeholder 32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8351BF-4D97-458D-92D1-7397E69640F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European Growth Trust </a:t>
            </a:r>
            <a:r>
              <a:rPr lang="en-US" altLang="en-US" sz="2800" dirty="0"/>
              <a:t>(Example of Operational Risk in Asset Management) </a:t>
            </a:r>
            <a:br>
              <a:rPr lang="en-US" altLang="en-US" sz="2800" dirty="0"/>
            </a:br>
            <a:r>
              <a:rPr lang="en-US" altLang="en-US" sz="2800" dirty="0"/>
              <a:t>See Business Snapshot 28.1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No more than 10% of EGT could be invested in unlisted securities</a:t>
            </a:r>
          </a:p>
          <a:p>
            <a:pPr eaLnBrk="1" hangingPunct="1"/>
            <a:r>
              <a:rPr lang="en-US" altLang="en-US"/>
              <a:t>Peter Young the fund manager violated this rule</a:t>
            </a:r>
          </a:p>
          <a:p>
            <a:pPr eaLnBrk="1" hangingPunct="1"/>
            <a:r>
              <a:rPr lang="en-US" altLang="en-US"/>
              <a:t>The cost to Deutsche Bank was about $200 million</a:t>
            </a:r>
          </a:p>
        </p:txBody>
      </p:sp>
      <p:sp>
        <p:nvSpPr>
          <p:cNvPr id="2253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3F950B-90C1-4842-9382-B8DF88CD591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Interactions of Risks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23557" name="Oval 4"/>
          <p:cNvSpPr>
            <a:spLocks noChangeArrowheads="1"/>
          </p:cNvSpPr>
          <p:nvPr/>
        </p:nvSpPr>
        <p:spPr bwMode="auto">
          <a:xfrm>
            <a:off x="1549400" y="2162175"/>
            <a:ext cx="2108200" cy="882650"/>
          </a:xfrm>
          <a:prstGeom prst="ellipse">
            <a:avLst/>
          </a:prstGeom>
          <a:solidFill>
            <a:srgbClr val="FFCC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Credit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Risk</a:t>
            </a:r>
          </a:p>
        </p:txBody>
      </p:sp>
      <p:sp>
        <p:nvSpPr>
          <p:cNvPr id="23558" name="Oval 5"/>
          <p:cNvSpPr>
            <a:spLocks noChangeArrowheads="1"/>
          </p:cNvSpPr>
          <p:nvPr/>
        </p:nvSpPr>
        <p:spPr bwMode="auto">
          <a:xfrm>
            <a:off x="6096000" y="2098675"/>
            <a:ext cx="1828800" cy="882650"/>
          </a:xfrm>
          <a:prstGeom prst="ellipse">
            <a:avLst/>
          </a:prstGeom>
          <a:solidFill>
            <a:srgbClr val="FFCC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Market Risk</a:t>
            </a:r>
          </a:p>
        </p:txBody>
      </p:sp>
      <p:sp>
        <p:nvSpPr>
          <p:cNvPr id="23559" name="Oval 6"/>
          <p:cNvSpPr>
            <a:spLocks noChangeArrowheads="1"/>
          </p:cNvSpPr>
          <p:nvPr/>
        </p:nvSpPr>
        <p:spPr bwMode="auto">
          <a:xfrm>
            <a:off x="3810000" y="4648200"/>
            <a:ext cx="2057400" cy="882650"/>
          </a:xfrm>
          <a:prstGeom prst="ellipse">
            <a:avLst/>
          </a:prstGeom>
          <a:solidFill>
            <a:srgbClr val="FFCC99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Operational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 Risk</a:t>
            </a:r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>
            <a:off x="3657600" y="2590800"/>
            <a:ext cx="2438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1" name="Text Box 8"/>
          <p:cNvSpPr txBox="1">
            <a:spLocks noChangeArrowheads="1"/>
          </p:cNvSpPr>
          <p:nvPr/>
        </p:nvSpPr>
        <p:spPr bwMode="auto">
          <a:xfrm>
            <a:off x="4114800" y="1752600"/>
            <a:ext cx="13716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/>
              <a:t>LGD and PD depend on  market value</a:t>
            </a:r>
          </a:p>
        </p:txBody>
      </p:sp>
      <p:sp>
        <p:nvSpPr>
          <p:cNvPr id="23562" name="Line 9"/>
          <p:cNvSpPr>
            <a:spLocks noChangeShapeType="1"/>
          </p:cNvSpPr>
          <p:nvPr/>
        </p:nvSpPr>
        <p:spPr bwMode="auto">
          <a:xfrm flipH="1" flipV="1">
            <a:off x="2514600" y="3048000"/>
            <a:ext cx="1524000" cy="1752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3" name="Line 10"/>
          <p:cNvSpPr>
            <a:spLocks noChangeShapeType="1"/>
          </p:cNvSpPr>
          <p:nvPr/>
        </p:nvSpPr>
        <p:spPr bwMode="auto">
          <a:xfrm flipH="1">
            <a:off x="5562600" y="2971800"/>
            <a:ext cx="1371600" cy="1828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2075" tIns="46038" rIns="92075" bIns="46038">
            <a:spAutoFit/>
          </a:bodyPr>
          <a:lstStyle/>
          <a:p>
            <a:endParaRPr lang="en-US"/>
          </a:p>
        </p:txBody>
      </p:sp>
      <p:sp>
        <p:nvSpPr>
          <p:cNvPr id="23564" name="Text Box 11"/>
          <p:cNvSpPr txBox="1">
            <a:spLocks noChangeArrowheads="1"/>
          </p:cNvSpPr>
          <p:nvPr/>
        </p:nvSpPr>
        <p:spPr bwMode="auto">
          <a:xfrm>
            <a:off x="3657600" y="3733800"/>
            <a:ext cx="2286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/>
              <a:t>Operational risks can be contingent on market moves or credit events</a:t>
            </a:r>
          </a:p>
        </p:txBody>
      </p:sp>
      <p:sp>
        <p:nvSpPr>
          <p:cNvPr id="23565" name="Slide Number Placeholder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8B2056-39C5-4658-800E-D6EDFECF1A5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Integrated Risk Management</a:t>
            </a:r>
            <a:endParaRPr lang="en-CA" altLang="en-US"/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Typically a bank calculates economic capital for different types of risk and different units</a:t>
            </a:r>
          </a:p>
          <a:p>
            <a:pPr eaLnBrk="1" hangingPunct="1"/>
            <a:r>
              <a:rPr lang="en-US" altLang="en-US" sz="3600"/>
              <a:t>It is then faced with the problem of aggregating the risks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3600"/>
          </a:p>
          <a:p>
            <a:pPr eaLnBrk="1" hangingPunct="1"/>
            <a:endParaRPr lang="en-CA" altLang="en-US" sz="2600"/>
          </a:p>
        </p:txBody>
      </p:sp>
      <p:sp>
        <p:nvSpPr>
          <p:cNvPr id="2458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12154DF-2562-4FF6-B70D-929B0AA7D89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en-US"/>
              <a:t>Combining the Distributions</a:t>
            </a:r>
            <a:endParaRPr lang="en-CA" altLang="en-US"/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Assume perfect correlation: overstates capital by about 40%</a:t>
            </a:r>
          </a:p>
          <a:p>
            <a:pPr eaLnBrk="1" hangingPunct="1"/>
            <a:r>
              <a:rPr lang="en-US" altLang="en-US"/>
              <a:t>Assume distributions are normal for the purposes of aggregation: understates capital by about 40%</a:t>
            </a:r>
          </a:p>
          <a:p>
            <a:pPr eaLnBrk="1" hangingPunct="1"/>
            <a:r>
              <a:rPr lang="en-US" altLang="en-US"/>
              <a:t>Hybrid approach: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CA" altLang="en-US"/>
              <a:t>	seems to work reasonable well</a:t>
            </a:r>
          </a:p>
        </p:txBody>
      </p:sp>
      <p:graphicFrame>
        <p:nvGraphicFramePr>
          <p:cNvPr id="25605" name="Object 4"/>
          <p:cNvGraphicFramePr>
            <a:graphicFrameLocks noChangeAspect="1"/>
          </p:cNvGraphicFramePr>
          <p:nvPr/>
        </p:nvGraphicFramePr>
        <p:xfrm>
          <a:off x="4191000" y="4267200"/>
          <a:ext cx="25908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1396394" imgH="495085" progId="Equation.3">
                  <p:embed/>
                </p:oleObj>
              </mc:Choice>
              <mc:Fallback>
                <p:oleObj name="Equation" r:id="rId4" imgW="1396394" imgH="49508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267200"/>
                        <a:ext cx="2590800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A5EEC5-2DB7-4DC6-825B-40515190BD9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Example: Economic Capital Estimates </a:t>
            </a:r>
            <a:r>
              <a:rPr lang="en-US" altLang="en-US" sz="2400" dirty="0"/>
              <a:t>(Table 28.2)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graphicFrame>
        <p:nvGraphicFramePr>
          <p:cNvPr id="176154" name="Group 26"/>
          <p:cNvGraphicFramePr>
            <a:graphicFrameLocks noGrp="1"/>
          </p:cNvGraphicFramePr>
          <p:nvPr/>
        </p:nvGraphicFramePr>
        <p:xfrm>
          <a:off x="1524000" y="1981200"/>
          <a:ext cx="6934200" cy="352107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45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Business Unit 1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Business Unit 2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9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Market Risk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85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Credit Risk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5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Operational Risk</a:t>
                      </a:r>
                    </a:p>
                  </a:txBody>
                  <a:tcPr marL="92075" marR="92075" marT="46046" marB="460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90</a:t>
                      </a:r>
                    </a:p>
                  </a:txBody>
                  <a:tcPr marL="92075" marR="92075" marT="46046" marB="460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651" name="Slide Number Placeholder 2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431E4F-82A5-4B9C-86C5-5D907248421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Correlations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Market and credit risk within the same business unit: 0.5</a:t>
            </a:r>
          </a:p>
          <a:p>
            <a:pPr eaLnBrk="1" hangingPunct="1"/>
            <a:r>
              <a:rPr lang="en-US" altLang="en-US"/>
              <a:t>Market and operational risk or credit and operational risk within the same business unit: 0.2</a:t>
            </a:r>
          </a:p>
          <a:p>
            <a:pPr eaLnBrk="1" hangingPunct="1"/>
            <a:r>
              <a:rPr lang="en-US" altLang="en-US"/>
              <a:t>Market risks across business units: 0.4</a:t>
            </a:r>
          </a:p>
          <a:p>
            <a:pPr eaLnBrk="1" hangingPunct="1"/>
            <a:r>
              <a:rPr lang="en-US" altLang="en-US"/>
              <a:t>Credit risk across business units: 0.6</a:t>
            </a:r>
          </a:p>
          <a:p>
            <a:pPr eaLnBrk="1" hangingPunct="1"/>
            <a:r>
              <a:rPr lang="en-US" altLang="en-US"/>
              <a:t>Operational risk across business units: 0.0 </a:t>
            </a:r>
          </a:p>
        </p:txBody>
      </p:sp>
      <p:sp>
        <p:nvSpPr>
          <p:cNvPr id="2765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87468A-B80A-470F-AD1F-599B938BAAB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Total Economic Capital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Business Unit 1: 100.0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Business Unit 2:  153.7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Whole bank: 203.2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Diversification benefit is 253.7 </a:t>
            </a:r>
            <a:r>
              <a:rPr lang="en-US" altLang="en-US" sz="2800">
                <a:cs typeface="Arial" panose="020B0604020202020204" pitchFamily="34" charset="0"/>
              </a:rPr>
              <a:t>– </a:t>
            </a:r>
            <a:r>
              <a:rPr lang="en-US" altLang="en-US" sz="2800"/>
              <a:t>203.2 = 50.5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How should this be allocated to the business units?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800"/>
              <a:t>	Equivalently how should the total economic capital of 203.2 be allocated?</a:t>
            </a:r>
          </a:p>
        </p:txBody>
      </p:sp>
      <p:sp>
        <p:nvSpPr>
          <p:cNvPr id="28677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6518FE-0AD1-4A56-AC7D-54BF53FDDBD6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Alternatives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Allocate economic capital in proportion to the stand alone economic capitals</a:t>
            </a:r>
          </a:p>
          <a:p>
            <a:pPr eaLnBrk="1" hangingPunct="1"/>
            <a:r>
              <a:rPr lang="en-US" altLang="en-US"/>
              <a:t>Allocate economic capital in proportion to marginal contribution of business units to total economic capital</a:t>
            </a:r>
          </a:p>
          <a:p>
            <a:pPr eaLnBrk="1" hangingPunct="1"/>
            <a:r>
              <a:rPr lang="en-US" altLang="en-US"/>
              <a:t>Set economic capital for business unit </a:t>
            </a:r>
            <a:r>
              <a:rPr lang="en-US" altLang="en-US" i="1">
                <a:latin typeface="Times New Roman" panose="02020603050405020304" pitchFamily="18" charset="0"/>
              </a:rPr>
              <a:t>i</a:t>
            </a:r>
            <a:r>
              <a:rPr lang="en-US" altLang="en-US"/>
              <a:t> equal to          where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 i="1" baseline="-25000">
                <a:latin typeface="Times New Roman" panose="02020603050405020304" pitchFamily="18" charset="0"/>
              </a:rPr>
              <a:t>i</a:t>
            </a:r>
            <a:r>
              <a:rPr lang="en-US" altLang="en-US"/>
              <a:t> is the size of business unit </a:t>
            </a:r>
            <a:r>
              <a:rPr lang="en-US" altLang="en-US" i="1">
                <a:latin typeface="Times New Roman" panose="02020603050405020304" pitchFamily="18" charset="0"/>
              </a:rPr>
              <a:t>i</a:t>
            </a:r>
          </a:p>
        </p:txBody>
      </p:sp>
      <p:graphicFrame>
        <p:nvGraphicFramePr>
          <p:cNvPr id="29701" name="Object 4"/>
          <p:cNvGraphicFramePr>
            <a:graphicFrameLocks noChangeAspect="1"/>
          </p:cNvGraphicFramePr>
          <p:nvPr/>
        </p:nvGraphicFramePr>
        <p:xfrm>
          <a:off x="2514600" y="4876800"/>
          <a:ext cx="60325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4" imgW="393529" imgH="431613" progId="Equation.3">
                  <p:embed/>
                </p:oleObj>
              </mc:Choice>
              <mc:Fallback>
                <p:oleObj name="Equation" r:id="rId4" imgW="393529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876800"/>
                        <a:ext cx="60325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BA11DA-5661-4BB6-A3C9-E865CD9C911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Deutsche Bank Economic Capital, 2021 (millions of Euros) </a:t>
            </a:r>
            <a:r>
              <a:rPr lang="en-US" altLang="en-US" sz="2400" dirty="0"/>
              <a:t>Table 28.4</a:t>
            </a:r>
          </a:p>
        </p:txBody>
      </p:sp>
      <p:sp>
        <p:nvSpPr>
          <p:cNvPr id="30724" name="Rectangle 32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29600" cy="44116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  <a:endParaRPr lang="en-CA" altLang="en-US" dirty="0"/>
          </a:p>
        </p:txBody>
      </p:sp>
      <p:sp>
        <p:nvSpPr>
          <p:cNvPr id="30725" name="Slide Number Placeholder 3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7C4F5B-FAE1-4965-930D-6731B74B099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090253"/>
              </p:ext>
            </p:extLst>
          </p:nvPr>
        </p:nvGraphicFramePr>
        <p:xfrm>
          <a:off x="900113" y="1484313"/>
          <a:ext cx="6667500" cy="4524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8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Credit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11,725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Market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7,920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Operational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 4,937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Strategic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3,173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Diversification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(4,213)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09032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Total economic 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23,542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Total risk-weighted assets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351,629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Common Equity Tier 1 Capital (% of RWA)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13.2%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All </a:t>
                      </a:r>
                      <a:r>
                        <a:rPr lang="en-US" sz="1800" baseline="0" dirty="0"/>
                        <a:t>Tier 1 Capital (% of RWA)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r>
                        <a:rPr lang="en-US" sz="1800" dirty="0"/>
                        <a:t>Tier 1 plus Tier 2 capital (% of</a:t>
                      </a:r>
                      <a:r>
                        <a:rPr lang="en-US" sz="1800" baseline="0" dirty="0"/>
                        <a:t> RWA)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Allocation of Economic Capital (millions of euros)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3288397"/>
              </p:ext>
            </p:extLst>
          </p:nvPr>
        </p:nvGraphicFramePr>
        <p:xfrm>
          <a:off x="971600" y="1844824"/>
          <a:ext cx="6552728" cy="252666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32576">
                  <a:extLst>
                    <a:ext uri="{9D8B030D-6E8A-4147-A177-3AD203B41FA5}">
                      <a16:colId xmlns:a16="http://schemas.microsoft.com/office/drawing/2014/main" val="1875084872"/>
                    </a:ext>
                  </a:extLst>
                </a:gridCol>
                <a:gridCol w="2420152">
                  <a:extLst>
                    <a:ext uri="{9D8B030D-6E8A-4147-A177-3AD203B41FA5}">
                      <a16:colId xmlns:a16="http://schemas.microsoft.com/office/drawing/2014/main" val="2495715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</a:rPr>
                        <a:t>Division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b="1" dirty="0">
                          <a:effectLst/>
                        </a:rPr>
                        <a:t>Allocated Economic Capital</a:t>
                      </a:r>
                      <a:endParaRPr lang="en-CA" sz="1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6220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Corporate Bank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  3,500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8459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Investment Bank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  7,442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4433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Private Bank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  3,183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02235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Asset Management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     267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579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Capital Release Unit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  1,309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9466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Corporate and Other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  7,840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9276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</a:rPr>
                        <a:t>Total</a:t>
                      </a:r>
                      <a:endParaRPr lang="en-CA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CA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23,542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7784968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28,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27291-E34E-4834-B85F-056D435A924A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0234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RAROC </a:t>
            </a:r>
            <a:endParaRPr lang="en-US" altLang="en-US" sz="2400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RAROC is the return on economic capital for a business unit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denominator is the economic capital allocated to the business unit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The numerator is the expected profit. This can be before or after tax and can include a interest at the risk-free rate on the economic capital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It is sometimes also referred to as RORAC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/>
          </a:p>
        </p:txBody>
      </p:sp>
      <p:sp>
        <p:nvSpPr>
          <p:cNvPr id="31749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51B956A-920A-435C-B204-751C637E622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28.5 </a:t>
            </a:r>
            <a:endParaRPr lang="en-US" altLang="en-US" sz="2400" dirty="0"/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When lending in a certain region of the world an AA-rated bank estimates its average losses from defaults  as 1% of outstanding loans per year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99.98% worst case loss is 5% of outstanding loans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Economic capital per $100 of loans is therefore $4</a:t>
            </a:r>
          </a:p>
        </p:txBody>
      </p:sp>
      <p:sp>
        <p:nvSpPr>
          <p:cNvPr id="32773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395EFC-6118-4CF8-A7A4-57DA9CB0625D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continued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bank’s spread between cost of funds and interest charged is 2.5% and administrative costs are 0.7%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97" name="Object 4"/>
              <p:cNvSpPr txBox="1"/>
              <p:nvPr/>
            </p:nvSpPr>
            <p:spPr bwMode="auto">
              <a:xfrm>
                <a:off x="900113" y="3117850"/>
                <a:ext cx="7434262" cy="26558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RAROC</m:t>
                      </m:r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0.025×100−0.01×100−0.007×100</m:t>
                          </m:r>
                        </m:num>
                        <m:den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4.0</m:t>
                          </m:r>
                        </m:den>
                      </m:f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=20%</m:t>
                      </m:r>
                    </m:oMath>
                  </m:oMathPara>
                </a14:m>
                <a:br>
                  <a:rPr lang="en-CA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br>
                  <a:rPr lang="en-CA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If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interest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on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economic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capital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included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and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the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risk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free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rate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is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2%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this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becomes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0.88</m:t>
                          </m:r>
                        </m:num>
                        <m:den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4.0</m:t>
                          </m:r>
                        </m:den>
                      </m:f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=22%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379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13" y="3117850"/>
                <a:ext cx="7434262" cy="2655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798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B0728E-9971-4A60-AAB3-EA5B1149ABE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28,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Ex-ante vs Ex-post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RAROC was originally suggested as a tool to be used on an ex-ante basis. This means that we have to forecast the expected loss</a:t>
            </a:r>
          </a:p>
          <a:p>
            <a:pPr eaLnBrk="1" hangingPunct="1"/>
            <a:r>
              <a:rPr lang="en-US" altLang="en-US" sz="2800"/>
              <a:t>It is then used as a tool to allocate capital to the most profitable parts of the business </a:t>
            </a:r>
          </a:p>
          <a:p>
            <a:pPr eaLnBrk="1" hangingPunct="1"/>
            <a:r>
              <a:rPr lang="en-US" altLang="en-US" sz="2800"/>
              <a:t>It is also sometimes used on an ex-post basis for performance evaluation. Realized loss then replaces expected loss</a:t>
            </a:r>
          </a:p>
        </p:txBody>
      </p:sp>
      <p:sp>
        <p:nvSpPr>
          <p:cNvPr id="3482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23D0771-E983-43C3-97FE-6AD1414AE85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2">
  <a:themeElements>
    <a:clrScheme name="HullRMFICh12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2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2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2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2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8B9B50-8718-480F-B33C-2C53501EB027}"/>
</file>

<file path=customXml/itemProps2.xml><?xml version="1.0" encoding="utf-8"?>
<ds:datastoreItem xmlns:ds="http://schemas.openxmlformats.org/officeDocument/2006/customXml" ds:itemID="{7EC70D7A-0954-451A-9624-112060F2FDEA}"/>
</file>

<file path=customXml/itemProps3.xml><?xml version="1.0" encoding="utf-8"?>
<ds:datastoreItem xmlns:ds="http://schemas.openxmlformats.org/officeDocument/2006/customXml" ds:itemID="{346EBB10-A536-475A-99E1-8AC91F151B46}"/>
</file>

<file path=docProps/app.xml><?xml version="1.0" encoding="utf-8"?>
<Properties xmlns="http://schemas.openxmlformats.org/officeDocument/2006/extended-properties" xmlns:vt="http://schemas.openxmlformats.org/officeDocument/2006/docPropsVTypes">
  <Template>HullRMFICh15</Template>
  <TotalTime>613</TotalTime>
  <Words>1270</Words>
  <Application>Microsoft Office PowerPoint</Application>
  <PresentationFormat>On-screen Show (4:3)</PresentationFormat>
  <Paragraphs>206</Paragraphs>
  <Slides>23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Cambria Math</vt:lpstr>
      <vt:lpstr>Times New Roman</vt:lpstr>
      <vt:lpstr>Wingdings</vt:lpstr>
      <vt:lpstr>HullRMFICh12</vt:lpstr>
      <vt:lpstr>Microsoft Excel Chart</vt:lpstr>
      <vt:lpstr>Equation</vt:lpstr>
      <vt:lpstr>Economic Capital and RAROC</vt:lpstr>
      <vt:lpstr>Economic Capital</vt:lpstr>
      <vt:lpstr>Model Used for Economic Capital (Same as Regulatory Capital) Figure 28.1</vt:lpstr>
      <vt:lpstr>Choice of Parameters</vt:lpstr>
      <vt:lpstr>The Basel II Regulatory Environment (Figure 28.2)</vt:lpstr>
      <vt:lpstr>One-year Market Risk Gains/Loss Distribution (Figure 28.3)</vt:lpstr>
      <vt:lpstr>One-year Credit Risk Loss Distribution (Figure 28.4)</vt:lpstr>
      <vt:lpstr>One Year Operational Risk Loss Distribution (Figure 28.5)</vt:lpstr>
      <vt:lpstr>Characteristics of Distributions (Table 28.1)</vt:lpstr>
      <vt:lpstr>European Growth Trust (Example of Operational Risk in Asset Management)  See Business Snapshot 28.1</vt:lpstr>
      <vt:lpstr>Interactions of Risks</vt:lpstr>
      <vt:lpstr>Integrated Risk Management</vt:lpstr>
      <vt:lpstr>Combining the Distributions</vt:lpstr>
      <vt:lpstr>Example: Economic Capital Estimates (Table 28.2)</vt:lpstr>
      <vt:lpstr>Correlations</vt:lpstr>
      <vt:lpstr>Total Economic Capital</vt:lpstr>
      <vt:lpstr>Alternatives</vt:lpstr>
      <vt:lpstr>Deutsche Bank Economic Capital, 2021 (millions of Euros) Table 28.4</vt:lpstr>
      <vt:lpstr>Allocation of Economic Capital (millions of euros)</vt:lpstr>
      <vt:lpstr>RAROC </vt:lpstr>
      <vt:lpstr>Example 28.5 </vt:lpstr>
      <vt:lpstr>Example continued</vt:lpstr>
      <vt:lpstr>Ex-ante vs Ex-post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26</dc:subject>
  <dc:creator>John  Hull</dc:creator>
  <cp:keywords>5th Edition</cp:keywords>
  <dc:description>Copyright 2018 by John Hull._x000d_
All rights reserved.</dc:description>
  <cp:lastModifiedBy>John Hull</cp:lastModifiedBy>
  <cp:revision>49</cp:revision>
  <dcterms:created xsi:type="dcterms:W3CDTF">2002-03-17T23:57:27Z</dcterms:created>
  <dcterms:modified xsi:type="dcterms:W3CDTF">2022-12-01T21:51:24Z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