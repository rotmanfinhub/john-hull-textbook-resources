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theme/theme4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6" r:id="rId1"/>
    <p:sldMasterId id="2147483930" r:id="rId2"/>
  </p:sldMasterIdLst>
  <p:notesMasterIdLst>
    <p:notesMasterId r:id="rId43"/>
  </p:notesMasterIdLst>
  <p:handoutMasterIdLst>
    <p:handoutMasterId r:id="rId44"/>
  </p:handoutMasterIdLst>
  <p:sldIdLst>
    <p:sldId id="761" r:id="rId3"/>
    <p:sldId id="765" r:id="rId4"/>
    <p:sldId id="706" r:id="rId5"/>
    <p:sldId id="683" r:id="rId6"/>
    <p:sldId id="684" r:id="rId7"/>
    <p:sldId id="685" r:id="rId8"/>
    <p:sldId id="687" r:id="rId9"/>
    <p:sldId id="703" r:id="rId10"/>
    <p:sldId id="776" r:id="rId11"/>
    <p:sldId id="705" r:id="rId12"/>
    <p:sldId id="704" r:id="rId13"/>
    <p:sldId id="768" r:id="rId14"/>
    <p:sldId id="769" r:id="rId15"/>
    <p:sldId id="770" r:id="rId16"/>
    <p:sldId id="771" r:id="rId17"/>
    <p:sldId id="773" r:id="rId18"/>
    <p:sldId id="777" r:id="rId19"/>
    <p:sldId id="772" r:id="rId20"/>
    <p:sldId id="774" r:id="rId21"/>
    <p:sldId id="775" r:id="rId22"/>
    <p:sldId id="766" r:id="rId23"/>
    <p:sldId id="778" r:id="rId24"/>
    <p:sldId id="708" r:id="rId25"/>
    <p:sldId id="709" r:id="rId26"/>
    <p:sldId id="710" r:id="rId27"/>
    <p:sldId id="711" r:id="rId28"/>
    <p:sldId id="716" r:id="rId29"/>
    <p:sldId id="717" r:id="rId30"/>
    <p:sldId id="780" r:id="rId31"/>
    <p:sldId id="782" r:id="rId32"/>
    <p:sldId id="720" r:id="rId33"/>
    <p:sldId id="721" r:id="rId34"/>
    <p:sldId id="697" r:id="rId35"/>
    <p:sldId id="698" r:id="rId36"/>
    <p:sldId id="699" r:id="rId37"/>
    <p:sldId id="700" r:id="rId38"/>
    <p:sldId id="701" r:id="rId39"/>
    <p:sldId id="702" r:id="rId40"/>
    <p:sldId id="781" r:id="rId41"/>
    <p:sldId id="779" r:id="rId42"/>
  </p:sldIdLst>
  <p:sldSz cx="9144000" cy="6858000" type="letter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33" autoAdjust="0"/>
    <p:restoredTop sz="94660" autoAdjust="0"/>
  </p:normalViewPr>
  <p:slideViewPr>
    <p:cSldViewPr>
      <p:cViewPr varScale="1">
        <p:scale>
          <a:sx n="139" d="100"/>
          <a:sy n="139" d="100"/>
        </p:scale>
        <p:origin x="62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95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customXml" Target="../customXml/item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958850">
              <a:defRPr sz="1000" i="1"/>
            </a:lvl1pPr>
          </a:lstStyle>
          <a:p>
            <a:fld id="{9720716E-2C22-43CF-8817-607C5A290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75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800100">
              <a:defRPr sz="1000" i="1">
                <a:latin typeface="Times New Roman" panose="02020603050405020304" pitchFamily="18" charset="0"/>
              </a:defRPr>
            </a:lvl1pPr>
          </a:lstStyle>
          <a:p>
            <a:fld id="{F504E27A-0425-4912-B050-195B5F269F8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6" tIns="48298" rIns="96596" bIns="482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2063" y="722313"/>
            <a:ext cx="4797425" cy="3597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4084812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97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147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08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06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2313"/>
            <a:ext cx="4795837" cy="3597275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920" tIns="47960" rIns="95920" bIns="47960"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425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2313"/>
            <a:ext cx="4795838" cy="3597275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930" tIns="47965" rIns="95930" bIns="47965"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26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601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497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22EBDC-1CEA-4ED6-AA00-F91FCB4AE6BA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652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540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85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402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146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148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24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87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52621F-A1F9-4A18-B6A6-2DA1352F5C5E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7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89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FB45D9-EDA7-488D-888B-576CECE9D8B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900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C03ABE-8FA0-46EB-B891-24111634A9DC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026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290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871E38-7F1F-49BB-BF23-D3A8395F87F4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280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68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48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3321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456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859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5955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320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557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0951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113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9718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3365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6215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448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2046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C57331-6E3F-4DDF-AFC4-8FB1BCD7B4CF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260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472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F0A4A356-E8D7-4AFC-860C-C8812A6844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81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C8698B-A339-4D8D-A498-3BACF08219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29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04BBE-9914-4CA4-82F0-CDC9B23D56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9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5C513-C61A-499E-AE41-87FDC54228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96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31376-4F8F-4325-AF7A-8323B67935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81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43AE57-3465-4EB6-A06A-171CE42536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0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DD6A6-C999-4ACA-9D37-62D1EAEC66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20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8F76DB-B719-465D-9403-B521B5994A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85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2A91A-011D-4970-AC73-83498E0AD2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332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CCC4ED-542A-46C1-92FC-55CCA90B09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90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4DFBF3-CCF3-43C9-85FD-4E41ABC465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9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05821F-8469-46EC-9D0A-CD290CF5D6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587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E29BBC-8902-40D3-9DC0-D61BE14735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98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5e, Chapter 19,  Copyright © John C. Hull 2018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C8698B-A339-4D8D-A498-3BACF08219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29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4618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461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17,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9461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11.</a:t>
            </a:r>
            <a:fld id="{7604AD5A-3EC2-470D-9D9D-143647F93456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4618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461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CA" altLang="en-US"/>
              <a:t>Risk Management and Financial Institutions 5e, Chapter 19,  Copyright © John C. Hull 2018</a:t>
            </a:r>
            <a:endParaRPr lang="en-US" altLang="en-US">
              <a:cs typeface="Arial" charset="0"/>
            </a:endParaRPr>
          </a:p>
        </p:txBody>
      </p:sp>
      <p:sp>
        <p:nvSpPr>
          <p:cNvPr id="9461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11.</a:t>
            </a:r>
            <a:fld id="{7604AD5A-3EC2-470D-9D9D-143647F93456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/>
          </a:p>
        </p:txBody>
      </p:sp>
      <p:sp>
        <p:nvSpPr>
          <p:cNvPr id="15363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Estimating Default Probabilities</a:t>
            </a:r>
          </a:p>
        </p:txBody>
      </p:sp>
      <p:sp>
        <p:nvSpPr>
          <p:cNvPr id="15364" name="Rectangle 205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Chapter 17</a:t>
            </a:r>
            <a:r>
              <a:rPr lang="en-US" altLang="en-US" sz="4300" dirty="0"/>
              <a:t> </a:t>
            </a:r>
          </a:p>
        </p:txBody>
      </p:sp>
      <p:sp>
        <p:nvSpPr>
          <p:cNvPr id="1536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95F258-C574-43BF-8CAA-C09455AB6F0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22238"/>
            <a:ext cx="8136904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Altman’s Z-score  for  Manufacturing Companies</a:t>
            </a:r>
            <a:endParaRPr lang="en-CA" altLang="en-US" sz="2400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=Working Capital/Total Assets</a:t>
            </a:r>
          </a:p>
          <a:p>
            <a:pPr eaLnBrk="1" hangingPunct="1"/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=Retained Earnings/Total Assets</a:t>
            </a:r>
          </a:p>
          <a:p>
            <a:pPr eaLnBrk="1" hangingPunct="1"/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=EBIT/Total Assets</a:t>
            </a:r>
          </a:p>
          <a:p>
            <a:pPr eaLnBrk="1" hangingPunct="1"/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4</a:t>
            </a:r>
            <a:r>
              <a:rPr lang="en-US" altLang="en-US" sz="2400" dirty="0"/>
              <a:t>=Market Value of Equity/Book Value of Liabilities</a:t>
            </a:r>
          </a:p>
          <a:p>
            <a:pPr eaLnBrk="1" hangingPunct="1"/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5</a:t>
            </a:r>
            <a:r>
              <a:rPr lang="en-US" altLang="en-US" sz="2400" dirty="0"/>
              <a:t>=Sales/Total Assets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</a:t>
            </a:r>
            <a:r>
              <a:rPr lang="en-US" altLang="en-US" sz="2400" i="1" dirty="0">
                <a:latin typeface="Times New Roman" panose="02020603050405020304" pitchFamily="18" charset="0"/>
              </a:rPr>
              <a:t>Z </a:t>
            </a:r>
            <a:r>
              <a:rPr lang="en-US" altLang="en-US" sz="2400" dirty="0"/>
              <a:t>= 1.2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+1.4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+3.3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+0.6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4</a:t>
            </a:r>
            <a:r>
              <a:rPr lang="en-US" altLang="en-US" sz="2400" dirty="0"/>
              <a:t>+0.99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/>
              <a:t>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If the </a:t>
            </a:r>
            <a:r>
              <a:rPr lang="en-US" altLang="en-US" sz="2400" i="1" dirty="0">
                <a:latin typeface="Times New Roman" panose="02020603050405020304" pitchFamily="18" charset="0"/>
              </a:rPr>
              <a:t>Z </a:t>
            </a:r>
            <a:r>
              <a:rPr lang="en-US" altLang="en-US" sz="2400" dirty="0"/>
              <a:t>&gt; 3.0 default is unlikely; if 2.7 &lt; </a:t>
            </a:r>
            <a:r>
              <a:rPr lang="en-US" altLang="en-US" sz="2400" i="1" dirty="0">
                <a:latin typeface="Times New Roman" panose="02020603050405020304" pitchFamily="18" charset="0"/>
              </a:rPr>
              <a:t>Z </a:t>
            </a:r>
            <a:r>
              <a:rPr lang="en-US" altLang="en-US" sz="2400" dirty="0"/>
              <a:t>&lt; 3.0 we should be on alert. If 1.8 &lt; </a:t>
            </a:r>
            <a:r>
              <a:rPr lang="en-US" altLang="en-US" sz="2400" i="1" dirty="0">
                <a:latin typeface="Times New Roman" panose="02020603050405020304" pitchFamily="18" charset="0"/>
              </a:rPr>
              <a:t>Z </a:t>
            </a:r>
            <a:r>
              <a:rPr lang="en-US" altLang="en-US" sz="2400" dirty="0"/>
              <a:t>&lt; 2.7 there is a moderate chance of default; if </a:t>
            </a:r>
            <a:r>
              <a:rPr lang="en-US" altLang="en-US" sz="2400" i="1" dirty="0">
                <a:latin typeface="Times New Roman" panose="02020603050405020304" pitchFamily="18" charset="0"/>
              </a:rPr>
              <a:t>Z </a:t>
            </a:r>
            <a:r>
              <a:rPr lang="en-US" altLang="en-US" sz="2400" dirty="0"/>
              <a:t>&lt; 1.8 there is a high chance of default</a:t>
            </a:r>
            <a:endParaRPr lang="en-CA" altLang="en-US" sz="2400" dirty="0"/>
          </a:p>
        </p:txBody>
      </p:sp>
      <p:sp>
        <p:nvSpPr>
          <p:cNvPr id="1638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11D135-88CE-4C96-8842-A1558300EA0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Estimating Default Probabilities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Alternatives:</a:t>
            </a:r>
          </a:p>
          <a:p>
            <a:pPr lvl="1" eaLnBrk="1" hangingPunct="1"/>
            <a:r>
              <a:rPr lang="en-US" altLang="en-US"/>
              <a:t>Use historical data</a:t>
            </a:r>
          </a:p>
          <a:p>
            <a:pPr lvl="1" eaLnBrk="1" hangingPunct="1"/>
            <a:r>
              <a:rPr lang="en-US" altLang="en-US"/>
              <a:t>Use credit spreads</a:t>
            </a:r>
          </a:p>
          <a:p>
            <a:pPr lvl="1" eaLnBrk="1" hangingPunct="1"/>
            <a:r>
              <a:rPr lang="en-US" altLang="en-US"/>
              <a:t>Use Merton’s model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</a:p>
        </p:txBody>
      </p:sp>
      <p:sp>
        <p:nvSpPr>
          <p:cNvPr id="1741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DC4006-E7F2-4FB8-8179-6D57A0EC9CE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Historical Data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27250"/>
            <a:ext cx="8229600" cy="4003675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Historical data provided by rating agencies can be used to estimate the probability of default</a:t>
            </a:r>
          </a:p>
        </p:txBody>
      </p:sp>
      <p:sp>
        <p:nvSpPr>
          <p:cNvPr id="1843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01F10B-1ACC-4070-921A-DE0023F7B8D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733425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dirty="0"/>
              <a:t>Cumulative Average Default Rates % (1981-2020, S&amp;P)</a:t>
            </a:r>
            <a:r>
              <a:rPr lang="en-US" altLang="en-US" sz="3500" dirty="0"/>
              <a:t> </a:t>
            </a:r>
            <a:r>
              <a:rPr lang="en-US" altLang="en-US" sz="2400" dirty="0"/>
              <a:t>Table 17.1</a:t>
            </a:r>
          </a:p>
        </p:txBody>
      </p:sp>
      <p:graphicFrame>
        <p:nvGraphicFramePr>
          <p:cNvPr id="1946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939713"/>
              </p:ext>
            </p:extLst>
          </p:nvPr>
        </p:nvGraphicFramePr>
        <p:xfrm>
          <a:off x="381000" y="1916832"/>
          <a:ext cx="9381417" cy="5322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7085294" imgH="4015059" progId="Word.Document.8">
                  <p:embed/>
                </p:oleObj>
              </mc:Choice>
              <mc:Fallback>
                <p:oleObj name="Document" r:id="rId4" imgW="7085294" imgH="4015059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16832"/>
                        <a:ext cx="9381417" cy="5322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FBD07B-7377-4EFD-8F9D-AEFA8D2AC1E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5" y="85725"/>
            <a:ext cx="8485188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Interpretation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25" y="1584325"/>
            <a:ext cx="7713663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The table shows the probability of default for companies starting with a particular credit rating</a:t>
            </a:r>
          </a:p>
          <a:p>
            <a:pPr eaLnBrk="1" hangingPunct="1"/>
            <a:r>
              <a:rPr lang="en-US" altLang="en-US" dirty="0"/>
              <a:t>A company with an initial credit rating of BBB has a probability of 0.16% of defaulting by the end of the first year, 0.43% by the end of the second year, and so on</a:t>
            </a:r>
          </a:p>
        </p:txBody>
      </p:sp>
      <p:sp>
        <p:nvSpPr>
          <p:cNvPr id="2048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473A54-8507-4495-967D-CED1284F67F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Do Default Probabilities Increase with Time?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For a company that starts with a good credit rating default probabilities tend to increase with time</a:t>
            </a:r>
          </a:p>
          <a:p>
            <a:pPr eaLnBrk="1" hangingPunct="1"/>
            <a:r>
              <a:rPr lang="en-US" altLang="en-US"/>
              <a:t>For a company that starts with a poor credit rating default probabilities tend to decrease with time </a:t>
            </a:r>
          </a:p>
        </p:txBody>
      </p:sp>
      <p:sp>
        <p:nvSpPr>
          <p:cNvPr id="2150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A107DD-E3AC-4479-B61D-029C0F4EB22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Hazard Rate vs. Unconditional Default Probability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hazard rate or default intensity is the probability of default conditional on no earlier default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unconditional default probability is the probability of default as seen at time zero</a:t>
            </a:r>
          </a:p>
        </p:txBody>
      </p:sp>
      <p:sp>
        <p:nvSpPr>
          <p:cNvPr id="2253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939FD8-85E5-4FB6-BD17-9257EE1FDD6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Properties of Hazard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700213"/>
            <a:ext cx="8229600" cy="4411662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Suppose that 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(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/>
              <a:t>) is the hazard rate at time </a:t>
            </a:r>
            <a:r>
              <a:rPr lang="en-US" sz="2800" i="1" dirty="0">
                <a:latin typeface="+mj-lt"/>
              </a:rPr>
              <a:t>t</a:t>
            </a:r>
          </a:p>
          <a:p>
            <a:pPr>
              <a:defRPr/>
            </a:pPr>
            <a:r>
              <a:rPr lang="en-US" sz="2800" dirty="0"/>
              <a:t>The probability of default between times </a:t>
            </a:r>
            <a:r>
              <a:rPr lang="en-US" sz="2800" i="1" dirty="0">
                <a:latin typeface="+mj-lt"/>
              </a:rPr>
              <a:t>t </a:t>
            </a:r>
            <a:r>
              <a:rPr lang="en-US" sz="2800" dirty="0"/>
              <a:t>and </a:t>
            </a:r>
            <a:r>
              <a:rPr lang="en-US" sz="2800" i="1" dirty="0" err="1">
                <a:latin typeface="+mj-lt"/>
              </a:rPr>
              <a:t>t</a:t>
            </a:r>
            <a:r>
              <a:rPr lang="en-US" sz="2800" dirty="0" err="1"/>
              <a:t>+</a:t>
            </a:r>
            <a:r>
              <a:rPr lang="en-US" sz="2800" dirty="0" err="1">
                <a:latin typeface="Symbol" pitchFamily="18" charset="2"/>
              </a:rPr>
              <a:t>D</a:t>
            </a:r>
            <a:r>
              <a:rPr lang="en-US" sz="2800" i="1" dirty="0" err="1">
                <a:latin typeface="+mj-lt"/>
              </a:rPr>
              <a:t>t</a:t>
            </a:r>
            <a:r>
              <a:rPr lang="en-US" sz="2800" dirty="0"/>
              <a:t> conditional on no earlier default is 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(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/>
              <a:t>)</a:t>
            </a:r>
            <a:r>
              <a:rPr lang="en-US" sz="2800" dirty="0" err="1">
                <a:latin typeface="Symbol" pitchFamily="18" charset="2"/>
              </a:rPr>
              <a:t>D</a:t>
            </a:r>
            <a:r>
              <a:rPr lang="en-US" sz="2800" i="1" dirty="0" err="1">
                <a:latin typeface="+mj-lt"/>
              </a:rPr>
              <a:t>t</a:t>
            </a:r>
            <a:endParaRPr lang="en-US" sz="2800" i="1" dirty="0">
              <a:latin typeface="+mj-lt"/>
            </a:endParaRPr>
          </a:p>
          <a:p>
            <a:pPr>
              <a:defRPr/>
            </a:pPr>
            <a:r>
              <a:rPr lang="en-US" sz="2800" dirty="0"/>
              <a:t>The probability of default by time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/>
              <a:t> is</a:t>
            </a:r>
          </a:p>
          <a:p>
            <a:pPr>
              <a:defRPr/>
            </a:pPr>
            <a:endParaRPr lang="en-US" sz="28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800" dirty="0"/>
              <a:t>	where       is the average hazard rate between time zero and time </a:t>
            </a:r>
            <a:r>
              <a:rPr lang="en-US" sz="2800" i="1" dirty="0">
                <a:latin typeface="+mj-lt"/>
              </a:rPr>
              <a:t>t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D2ECF8-8EB7-46CE-8CAD-3E1967A44C1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  <p:graphicFrame>
        <p:nvGraphicFramePr>
          <p:cNvPr id="23558" name="Object 2"/>
          <p:cNvGraphicFramePr>
            <a:graphicFrameLocks noChangeAspect="1"/>
          </p:cNvGraphicFramePr>
          <p:nvPr/>
        </p:nvGraphicFramePr>
        <p:xfrm>
          <a:off x="2916238" y="3644900"/>
          <a:ext cx="13033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558558" imgH="215806" progId="Equation.3">
                  <p:embed/>
                </p:oleObj>
              </mc:Choice>
              <mc:Fallback>
                <p:oleObj name="Equation" r:id="rId4" imgW="558558" imgH="2158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644900"/>
                        <a:ext cx="13033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3"/>
          <p:cNvGraphicFramePr>
            <a:graphicFrameLocks noChangeAspect="1"/>
          </p:cNvGraphicFramePr>
          <p:nvPr/>
        </p:nvGraphicFramePr>
        <p:xfrm>
          <a:off x="1908175" y="4149725"/>
          <a:ext cx="6238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291973" imgH="228501" progId="Equation.3">
                  <p:embed/>
                </p:oleObj>
              </mc:Choice>
              <mc:Fallback>
                <p:oleObj name="Equation" r:id="rId6" imgW="291973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149725"/>
                        <a:ext cx="6238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Recovery Rate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The recovery rate for a bond is usually defined as the price of the bond 30 days after default as a percent of its face value</a:t>
            </a:r>
          </a:p>
        </p:txBody>
      </p:sp>
      <p:sp>
        <p:nvSpPr>
          <p:cNvPr id="2458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635D41-F246-452A-ACFE-5BB52391069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Recovery Rates; Moody’s: 1983 to 2021</a:t>
            </a:r>
            <a:br>
              <a:rPr lang="en-US" altLang="en-US" sz="3200" dirty="0"/>
            </a:br>
            <a:r>
              <a:rPr lang="en-US" altLang="en-US" sz="2400" dirty="0"/>
              <a:t>(Table 17.2)</a:t>
            </a:r>
          </a:p>
        </p:txBody>
      </p:sp>
      <p:sp>
        <p:nvSpPr>
          <p:cNvPr id="2560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D9FDB8-7351-476C-8EEF-A763BA4CBB1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92289"/>
              </p:ext>
            </p:extLst>
          </p:nvPr>
        </p:nvGraphicFramePr>
        <p:xfrm>
          <a:off x="827088" y="1844675"/>
          <a:ext cx="6096000" cy="25947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Class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Ave </a:t>
                      </a:r>
                      <a:r>
                        <a:rPr lang="en-US" sz="1800" dirty="0" err="1"/>
                        <a:t>Rec</a:t>
                      </a:r>
                      <a:r>
                        <a:rPr lang="en-US" sz="1800" dirty="0"/>
                        <a:t> Rate (%)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First lien bond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54.6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Second lien bond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44.3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14184214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Senior unsecured bond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38.0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Senior</a:t>
                      </a:r>
                      <a:r>
                        <a:rPr lang="en-US" sz="1800" baseline="0" dirty="0"/>
                        <a:t> subordinated bond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31.0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Subordinated bond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32.1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Junior subordinated bond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22.3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136525"/>
            <a:ext cx="7062788" cy="1062038"/>
          </a:xfrm>
        </p:spPr>
        <p:txBody>
          <a:bodyPr/>
          <a:lstStyle/>
          <a:p>
            <a:pPr eaLnBrk="1" hangingPunct="1"/>
            <a:r>
              <a:rPr lang="en-US" altLang="en-US" dirty="0"/>
              <a:t>Credit Default Swaps </a:t>
            </a:r>
            <a:r>
              <a:rPr lang="en-US" altLang="en-US" sz="2400" dirty="0"/>
              <a:t>(Section 17.4)</a:t>
            </a:r>
            <a:r>
              <a:rPr lang="en-US" altLang="en-US" dirty="0"/>
              <a:t> </a:t>
            </a:r>
            <a:endParaRPr lang="en-US" altLang="en-US" sz="2400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16100"/>
            <a:ext cx="7772400" cy="4286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Buyer of the instrument acquires protection from the seller against a default by a particular company or country (the reference entity)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Example: Buyer pays a premium of 90 bps per year for $100 million of 5-year protection against company 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Premium is known as the </a:t>
            </a:r>
            <a:r>
              <a:rPr lang="en-US" altLang="en-US" sz="2400" i="1" dirty="0"/>
              <a:t>credit default spread</a:t>
            </a:r>
            <a:r>
              <a:rPr lang="en-US" altLang="en-US" sz="2400" dirty="0"/>
              <a:t>.  It is paid for life of contract or until default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If there is a default, the buyer has the right to sell bonds with a face value of $100 million issued by company X for $100 million (Several bonds may be deliverable)</a:t>
            </a:r>
          </a:p>
        </p:txBody>
      </p:sp>
      <p:sp>
        <p:nvSpPr>
          <p:cNvPr id="2765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C13AD2-F7B8-48DB-AAEA-90E3EC5BA0F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6994525" cy="947738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CDS Structure </a:t>
            </a:r>
            <a:r>
              <a:rPr lang="en-US" altLang="en-US" sz="2400" dirty="0"/>
              <a:t>(Figure 17.1)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411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331913" y="2900363"/>
            <a:ext cx="1752600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Default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Protection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Buyer, A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6056313" y="2900363"/>
            <a:ext cx="1828800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Default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Protection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Seller, B</a:t>
            </a: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>
            <a:off x="3084513" y="306705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>
            <a:off x="3084513" y="3819525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3678238" y="2565400"/>
            <a:ext cx="208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90 bps per year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916238" y="3819525"/>
            <a:ext cx="3421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Payoff</a:t>
            </a:r>
            <a:r>
              <a:rPr lang="en-US" altLang="en-US" sz="1600"/>
              <a:t> if there is a default by reference entity=100(1-</a:t>
            </a:r>
            <a:r>
              <a:rPr lang="en-US" altLang="en-US" sz="1600">
                <a:latin typeface="Times New Roman" panose="02020603050405020304" pitchFamily="18" charset="0"/>
              </a:rPr>
              <a:t>R</a:t>
            </a:r>
            <a:r>
              <a:rPr lang="en-US" altLang="en-US" sz="1600"/>
              <a:t>)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827088" y="4652963"/>
            <a:ext cx="727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CA" altLang="en-US" sz="2400" b="1"/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1331913" y="5084763"/>
            <a:ext cx="648017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Recovery rate, </a:t>
            </a:r>
            <a:r>
              <a:rPr lang="en-US" altLang="en-US" sz="1800" i="1">
                <a:latin typeface="Times New Roman" panose="02020603050405020304" pitchFamily="18" charset="0"/>
              </a:rPr>
              <a:t>R</a:t>
            </a:r>
            <a:r>
              <a:rPr lang="en-US" altLang="en-US" sz="1800"/>
              <a:t>, is the ratio of the value of the bond issued by reference entity immediately after default to the face value of the bond</a:t>
            </a:r>
          </a:p>
        </p:txBody>
      </p:sp>
      <p:sp>
        <p:nvSpPr>
          <p:cNvPr id="28685" name="Slide Number Placeholder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21517E-0A4C-4CA1-8728-4F9DCA405CE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Details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Payments are usually made quarterly in arrears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In the event of default there is a final accrual payment by the buyer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Increasingly settlement is in cash and an auction process determines cash amount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Suppose payments are made quarterly in the example just considered. What are the cash flows if there is a default after 3 years and 1 month and recovery rate is 40%?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sp>
        <p:nvSpPr>
          <p:cNvPr id="2970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1AA2C7-7B20-42DE-82FD-57456FB0ADA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579438"/>
          </a:xfrm>
        </p:spPr>
        <p:txBody>
          <a:bodyPr/>
          <a:lstStyle/>
          <a:p>
            <a:pPr eaLnBrk="1" hangingPunct="1"/>
            <a:r>
              <a:rPr lang="en-US" altLang="en-US" sz="3500"/>
              <a:t>Attractions of the CDS Market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27250"/>
            <a:ext cx="8229600" cy="4003675"/>
          </a:xfrm>
        </p:spPr>
        <p:txBody>
          <a:bodyPr/>
          <a:lstStyle/>
          <a:p>
            <a:pPr eaLnBrk="1" hangingPunct="1"/>
            <a:r>
              <a:rPr lang="en-US" altLang="en-US"/>
              <a:t>Allows credit risks to be traded in the same way as market risks</a:t>
            </a:r>
          </a:p>
          <a:p>
            <a:pPr eaLnBrk="1" hangingPunct="1"/>
            <a:r>
              <a:rPr lang="en-US" altLang="en-US"/>
              <a:t>Can be used to transfer credit risks to a third party</a:t>
            </a:r>
          </a:p>
          <a:p>
            <a:pPr eaLnBrk="1" hangingPunct="1"/>
            <a:r>
              <a:rPr lang="en-US" altLang="en-US"/>
              <a:t>Can be used to diversify credit risks  </a:t>
            </a:r>
          </a:p>
        </p:txBody>
      </p:sp>
      <p:sp>
        <p:nvSpPr>
          <p:cNvPr id="3072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A12B0F-AEAB-42DD-BF5A-E16D5A71B85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Credit Indices </a:t>
            </a:r>
            <a:r>
              <a:rPr lang="en-US" altLang="en-US" sz="2400" dirty="0"/>
              <a:t>(Section 17.4.2)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CDX IG: equally weighted portfolio of 125 investment grade North American companies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iTraxx</a:t>
            </a:r>
            <a:r>
              <a:rPr lang="en-US" altLang="en-US" sz="2800" dirty="0"/>
              <a:t>: equally weighted portfolio of 125 investment grade European companies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If the five-year CDS index is bid 165 offer 166 it means that a portfolio of 125 CDSs on the CDX companies can be bought for 166bps per company, e.g., $800,000 of 5-year protection on each name could be purchased for $1,660,000 per year. When a company defaults the annual payment is reduced by 1/125.</a:t>
            </a:r>
          </a:p>
        </p:txBody>
      </p:sp>
      <p:sp>
        <p:nvSpPr>
          <p:cNvPr id="3174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7A49A1-0DF6-4279-BD94-2E59EAD28E3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Fixed Coupons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Increasingly CDSs and CDS indices trade like bonds</a:t>
            </a:r>
          </a:p>
          <a:p>
            <a:r>
              <a:rPr lang="en-US" altLang="en-US" dirty="0"/>
              <a:t>A coupon and a recovery rate is specified</a:t>
            </a:r>
          </a:p>
          <a:p>
            <a:r>
              <a:rPr lang="en-US" altLang="en-US" dirty="0"/>
              <a:t>There is an initial payments from the buyer to the seller or vice versa reflecting the difference between the currently quoted spread and the coupon 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D46D62-F742-4D1B-999D-1859199BA19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0350"/>
            <a:ext cx="7431088" cy="936625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Credit Default Swaps and Bond Yields </a:t>
            </a:r>
            <a:r>
              <a:rPr lang="en-US" altLang="en-US" sz="2400" dirty="0"/>
              <a:t>(Section 17.5.1)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Portfolio consisting of a 5-year par yield corporate bond that provides a yield of 6% and a long position in a 5-year CDS costing 100 basis points per year is (approximately) a long position in a riskless instrument paying 5% per year</a:t>
            </a:r>
          </a:p>
          <a:p>
            <a:pPr eaLnBrk="1" hangingPunct="1"/>
            <a:r>
              <a:rPr lang="en-US" altLang="en-US" sz="2800" dirty="0"/>
              <a:t>What are arbitrage opportunities in this situation if risk-free rate is 4.5%? What if it is 5.5%?</a:t>
            </a:r>
          </a:p>
        </p:txBody>
      </p:sp>
      <p:sp>
        <p:nvSpPr>
          <p:cNvPr id="3379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76AD78-BCC9-4CCE-BC11-45BE9C8CD29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395288" y="-242888"/>
            <a:ext cx="7543800" cy="1295401"/>
          </a:xfrm>
        </p:spPr>
        <p:txBody>
          <a:bodyPr/>
          <a:lstStyle/>
          <a:p>
            <a:pPr eaLnBrk="1" hangingPunct="1"/>
            <a:r>
              <a:rPr lang="en-CA" altLang="en-US"/>
              <a:t>Risk-free Rate</a:t>
            </a:r>
            <a:endParaRPr lang="en-US" altLang="en-US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79388" y="1125538"/>
            <a:ext cx="8229600" cy="4410075"/>
          </a:xfrm>
        </p:spPr>
        <p:txBody>
          <a:bodyPr/>
          <a:lstStyle/>
          <a:p>
            <a:pPr eaLnBrk="1" hangingPunct="1"/>
            <a:r>
              <a:rPr lang="en-CA" altLang="en-US" sz="2800" dirty="0"/>
              <a:t>The risk-free rate used by bond traders when quoting credit spreads is the Treasury rate</a:t>
            </a:r>
          </a:p>
          <a:p>
            <a:pPr eaLnBrk="1" hangingPunct="1"/>
            <a:r>
              <a:rPr lang="en-CA" altLang="en-US" sz="2800" dirty="0"/>
              <a:t>By comparing CDS spreads and bond yields it appears that in normal market conditions traders are assuming a risk-free rate higher than the Treasury rate. One study suggests that the implied risk-free rate being used is the borrowing rate for a AA-rated company.</a:t>
            </a:r>
          </a:p>
          <a:p>
            <a:pPr eaLnBrk="1" hangingPunct="1"/>
            <a:endParaRPr lang="en-US" altLang="en-US" sz="2800" dirty="0"/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1AB88B-DDA9-4D71-9F2F-3D1CF63E9C7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Asset Swaps </a:t>
            </a:r>
            <a:r>
              <a:rPr lang="en-CA" altLang="en-US" sz="2000" dirty="0"/>
              <a:t>(Section 17.5.3)</a:t>
            </a:r>
            <a:endParaRPr lang="en-US" altLang="en-US" sz="2000" dirty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Asset swaps are used by the market as an estimate of the bond yield relative to a floating rate</a:t>
            </a:r>
          </a:p>
          <a:p>
            <a:pPr eaLnBrk="1" hangingPunct="1"/>
            <a:r>
              <a:rPr lang="en-CA" altLang="en-US" dirty="0"/>
              <a:t>The present value of the asset swap spread is an estimate of the present value of the cost of default</a:t>
            </a:r>
            <a:endParaRPr lang="en-US" altLang="en-US" dirty="0"/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28C185-02EB-422E-B187-20A1166848E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Asset Swaps </a:t>
            </a:r>
            <a:endParaRPr lang="en-CA" altLang="en-US" sz="2400" dirty="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4646141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Suppose asset swap spread for a particular corporate bond is 150 basis points</a:t>
            </a:r>
          </a:p>
          <a:p>
            <a:pPr eaLnBrk="1" hangingPunct="1"/>
            <a:r>
              <a:rPr lang="en-US" altLang="en-US" sz="2400" dirty="0"/>
              <a:t>One side pays coupons on the bond; the other pays  floating reference rate plus150 basis points. The coupons on the bond are paid regardless of whether there is a default</a:t>
            </a:r>
          </a:p>
          <a:p>
            <a:pPr eaLnBrk="1" hangingPunct="1"/>
            <a:r>
              <a:rPr lang="en-US" altLang="en-US" sz="2400" dirty="0"/>
              <a:t>In addition, there is an initial exchange of cash reflecting the difference between the bond price and $100</a:t>
            </a:r>
          </a:p>
          <a:p>
            <a:pPr eaLnBrk="1" hangingPunct="1"/>
            <a:r>
              <a:rPr lang="en-US" altLang="en-US" sz="2400" dirty="0"/>
              <a:t>The PV of the asset swap spread is the amount by which the price of the corporate bond is exceeded by the price of a similar risk-free bond when the floating reference rate is used for discounting</a:t>
            </a:r>
          </a:p>
          <a:p>
            <a:pPr eaLnBrk="1" hangingPunct="1"/>
            <a:endParaRPr lang="en-CA" altLang="en-US" sz="2400" dirty="0"/>
          </a:p>
        </p:txBody>
      </p:sp>
      <p:sp>
        <p:nvSpPr>
          <p:cNvPr id="3686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FFF89E-CC2D-41D1-9393-645D4EF0EF8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CDS-Bond Basis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This is the CDS spread minus the Bond Yield Spread</a:t>
            </a:r>
          </a:p>
          <a:p>
            <a:r>
              <a:rPr lang="en-US" altLang="en-US" dirty="0"/>
              <a:t>Bond yield spread is usually calculated as the asset swap spread</a:t>
            </a:r>
          </a:p>
          <a:p>
            <a:r>
              <a:rPr lang="en-US" altLang="en-US" dirty="0"/>
              <a:t>Has tended to be slightly positive pre-GFC, highly negative during GFC, and slightly negative since GFC 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AFD599-98FF-4C63-A57A-39A30FC0B98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CDS Prices to Predict Default Probabilities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719263"/>
            <a:ext cx="7561262" cy="3870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/>
              <a:t>	Average hazard rate between time zero and time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/>
              <a:t> is to a good approximation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/>
              <a:t>	where </a:t>
            </a:r>
            <a:r>
              <a:rPr lang="en-US" sz="2800" i="1" dirty="0">
                <a:latin typeface="Times New Roman" pitchFamily="18" charset="0"/>
              </a:rPr>
              <a:t>s</a:t>
            </a:r>
            <a:r>
              <a:rPr lang="en-US" sz="2800" dirty="0">
                <a:latin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</a:rPr>
              <a:t>)</a:t>
            </a:r>
            <a:r>
              <a:rPr lang="en-US" sz="2800" dirty="0"/>
              <a:t> is the credit spread calculated for a maturity of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dirty="0"/>
              <a:t> and </a:t>
            </a:r>
            <a:r>
              <a:rPr lang="en-US" sz="2800" i="1" dirty="0">
                <a:latin typeface="Times New Roman" pitchFamily="18" charset="0"/>
              </a:rPr>
              <a:t>R</a:t>
            </a:r>
            <a:r>
              <a:rPr lang="en-US" sz="2800" dirty="0"/>
              <a:t> is the recovery rate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  <p:graphicFrame>
        <p:nvGraphicFramePr>
          <p:cNvPr id="38917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429000" y="2841625"/>
          <a:ext cx="12430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609336" imgH="393529" progId="Equation.3">
                  <p:embed/>
                </p:oleObj>
              </mc:Choice>
              <mc:Fallback>
                <p:oleObj name="Equation" r:id="rId4" imgW="609336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41625"/>
                        <a:ext cx="12430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61DCC9-989A-41F9-BF94-2392DF3C330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More Exact Calculation </a:t>
            </a:r>
            <a:r>
              <a:rPr lang="en-US" altLang="en-US" sz="2400" dirty="0"/>
              <a:t>(Section 17.6.2)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Suppose that a five-year corporate bond pays a coupon of 6% per annum (semiannually). The yield is 7% with continuous compounding and the yield on a similar risk-free bond is 5% (with continuous compounding) </a:t>
            </a:r>
          </a:p>
          <a:p>
            <a:pPr eaLnBrk="1" hangingPunct="1"/>
            <a:r>
              <a:rPr lang="en-CA" altLang="en-US" sz="2400" dirty="0"/>
              <a:t>The expected loss from defaults is 8.75. This can be calculated as the difference between the market price of the bond and its risk-free price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Suppose that the unconditional probability of default is </a:t>
            </a:r>
            <a:r>
              <a:rPr lang="en-US" altLang="en-US" sz="2400" i="1" dirty="0">
                <a:latin typeface="Times New Roman" panose="02020603050405020304" pitchFamily="18" charset="0"/>
              </a:rPr>
              <a:t>Q</a:t>
            </a:r>
            <a:r>
              <a:rPr lang="en-US" altLang="en-US" sz="2400" dirty="0"/>
              <a:t> per year and that defaults always happen half way through a year (immediately before a coupon payment).  </a:t>
            </a:r>
          </a:p>
        </p:txBody>
      </p:sp>
      <p:sp>
        <p:nvSpPr>
          <p:cNvPr id="3994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8675C2-CF83-4EB3-BA99-4B358A55151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Calculations</a:t>
            </a:r>
          </a:p>
        </p:txBody>
      </p:sp>
      <p:graphicFrame>
        <p:nvGraphicFramePr>
          <p:cNvPr id="828419" name="Group 3"/>
          <p:cNvGraphicFramePr>
            <a:graphicFrameLocks noGrp="1"/>
          </p:cNvGraphicFramePr>
          <p:nvPr>
            <p:ph idx="1"/>
          </p:nvPr>
        </p:nvGraphicFramePr>
        <p:xfrm>
          <a:off x="468313" y="1844675"/>
          <a:ext cx="7920037" cy="4100511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55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(yrs)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Recovery Amount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Risk-free Value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Loss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Discount Factor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Exp Loss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106.73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66.73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0.9753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65.08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105.97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65.97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0.9277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61.20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105.17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65.17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0.8825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57.52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104.34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64.34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0.8395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54.01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103.46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63.46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0.7985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50.67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6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marL="92075" marR="92075" marT="46035" marB="460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288.48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</a:p>
                  </a:txBody>
                  <a:tcPr marL="92075" marR="92075" marT="46035" marB="46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030" name="Slide Number Placeholder 7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D761F1-CB81-4851-9BB9-7A9E0268A6F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Calculations </a:t>
            </a:r>
            <a:r>
              <a:rPr lang="en-US" altLang="en-US" sz="2400"/>
              <a:t>continued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set 288.48</a:t>
            </a:r>
            <a:r>
              <a:rPr lang="en-US" altLang="en-US" i="1">
                <a:latin typeface="Times New Roman" panose="02020603050405020304" pitchFamily="18" charset="0"/>
              </a:rPr>
              <a:t>Q </a:t>
            </a:r>
            <a:r>
              <a:rPr lang="en-US" altLang="en-US"/>
              <a:t>= 8.75 to get </a:t>
            </a:r>
            <a:r>
              <a:rPr lang="en-US" altLang="en-US" i="1">
                <a:latin typeface="Times New Roman" panose="02020603050405020304" pitchFamily="18" charset="0"/>
              </a:rPr>
              <a:t>Q </a:t>
            </a:r>
            <a:r>
              <a:rPr lang="en-US" altLang="en-US"/>
              <a:t>= 3.03%</a:t>
            </a:r>
          </a:p>
          <a:p>
            <a:pPr eaLnBrk="1" hangingPunct="1"/>
            <a:r>
              <a:rPr lang="en-US" altLang="en-US"/>
              <a:t>This analysis can be extended to allow defaults to take place more frequently</a:t>
            </a:r>
          </a:p>
          <a:p>
            <a:pPr eaLnBrk="1" hangingPunct="1"/>
            <a:r>
              <a:rPr lang="en-US" altLang="en-US"/>
              <a:t>With several bond</a:t>
            </a:r>
            <a:r>
              <a:rPr lang="en-CA" altLang="en-US"/>
              <a:t>s</a:t>
            </a:r>
            <a:r>
              <a:rPr lang="en-US" altLang="en-US"/>
              <a:t> we can use more parameters to describe the default probability distribution</a:t>
            </a:r>
          </a:p>
        </p:txBody>
      </p:sp>
      <p:sp>
        <p:nvSpPr>
          <p:cNvPr id="4198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A58425-BB80-4C2B-86D3-4FA84EFF2CC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Real World vs Risk-Neutral Default Probabilities</a:t>
            </a:r>
            <a:r>
              <a:rPr lang="en-US" altLang="en-US"/>
              <a:t> 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The default probabilities backed out of bond prices or credit default swap spreads are risk-neutral default probabilities</a:t>
            </a:r>
          </a:p>
          <a:p>
            <a:pPr eaLnBrk="1" hangingPunct="1"/>
            <a:r>
              <a:rPr lang="en-CA" altLang="en-US"/>
              <a:t>The default probabilities backed out of historical data are real-world default probabilities</a:t>
            </a:r>
            <a:endParaRPr lang="en-US" altLang="en-US"/>
          </a:p>
        </p:txBody>
      </p:sp>
      <p:sp>
        <p:nvSpPr>
          <p:cNvPr id="4301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346480-11CE-4458-BA09-C0061496117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A Comparison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7-year hazard rates from historical data These are r</a:t>
            </a:r>
            <a:r>
              <a:rPr lang="en-CA" altLang="en-US" dirty="0" err="1"/>
              <a:t>ea</a:t>
            </a:r>
            <a:r>
              <a:rPr lang="en-US" altLang="en-US" dirty="0"/>
              <a:t>l world default probabilities)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Merrill Lynch data (1996-2007) to estimate average 7-year hazard rates from bond prices (these are risk-neutral default intensities)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4403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4605AA-1D78-4329-A134-EDCCD930E42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84213" y="333375"/>
            <a:ext cx="7543800" cy="1295400"/>
          </a:xfrm>
        </p:spPr>
        <p:txBody>
          <a:bodyPr/>
          <a:lstStyle/>
          <a:p>
            <a:r>
              <a:rPr lang="en-CA" altLang="en-US" dirty="0"/>
              <a:t>The Data </a:t>
            </a:r>
            <a:r>
              <a:rPr lang="en-CA" altLang="en-US" sz="2400" dirty="0"/>
              <a:t>(Table 17.4)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197925"/>
              </p:ext>
            </p:extLst>
          </p:nvPr>
        </p:nvGraphicFramePr>
        <p:xfrm>
          <a:off x="457200" y="1719263"/>
          <a:ext cx="8229600" cy="35099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388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Rating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Cumulative 7-year default probability(%): 1970-2016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Average 7- year credit spread (</a:t>
                      </a:r>
                      <a:r>
                        <a:rPr lang="en-CA" sz="1800" dirty="0" err="1"/>
                        <a:t>bp</a:t>
                      </a:r>
                      <a:r>
                        <a:rPr lang="en-CA" sz="1800" dirty="0"/>
                        <a:t>): 1996-2007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AAA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0.51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35.74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AA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0.49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43.67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0.76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68.68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BBB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2.27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127.53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BB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8.89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280.28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20.99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481.04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CCC/C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50.75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1,103.70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09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50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4F9931-1B8C-4BFD-97B4-D7E07DA38C1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Risk Management and Financial Institutions 5e, Chapter 19,  Copyright © John C. Hull 2018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7467600" cy="1447800"/>
          </a:xfrm>
        </p:spPr>
        <p:txBody>
          <a:bodyPr/>
          <a:lstStyle/>
          <a:p>
            <a:pPr eaLnBrk="1" hangingPunct="1"/>
            <a:r>
              <a:rPr lang="en-US" altLang="en-US" dirty="0"/>
              <a:t>Real World vs Risk Neutral Default Probabilities , 7 year averages </a:t>
            </a:r>
            <a:r>
              <a:rPr lang="en-US" altLang="en-US" sz="2400" dirty="0"/>
              <a:t>(Table 17.5)</a:t>
            </a:r>
          </a:p>
        </p:txBody>
      </p:sp>
      <p:graphicFrame>
        <p:nvGraphicFramePr>
          <p:cNvPr id="46084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489782"/>
              </p:ext>
            </p:extLst>
          </p:nvPr>
        </p:nvGraphicFramePr>
        <p:xfrm>
          <a:off x="688975" y="2849563"/>
          <a:ext cx="8253413" cy="258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Document" r:id="rId4" imgW="5778648" imgH="1812776" progId="Word.Document.8">
                  <p:embed/>
                </p:oleObj>
              </mc:Choice>
              <mc:Fallback>
                <p:oleObj name="Document" r:id="rId4" imgW="5778648" imgH="1812776" progId="Word.Document.8">
                  <p:embed/>
                  <p:pic>
                    <p:nvPicPr>
                      <p:cNvPr id="4608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2849563"/>
                        <a:ext cx="8253413" cy="258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9F519B-611C-46A2-B72F-2EAE1AF9F93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710051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Possible Reasons for These Results</a:t>
            </a:r>
            <a:br>
              <a:rPr lang="en-US" altLang="en-US"/>
            </a:br>
            <a:r>
              <a:rPr lang="en-US" altLang="en-US" sz="2400"/>
              <a:t>(The third reason is the most important)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8945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Corporate bonds are relatively illiquid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subjective default probabilities of bond traders may be much higher than the estimates from Moody’s historical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Bonds do not default independently of each other. This leads to systematic risk that cannot be diversified away.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Bond return</a:t>
            </a:r>
            <a:r>
              <a:rPr lang="en-CA" altLang="en-US" sz="2800" dirty="0"/>
              <a:t>s</a:t>
            </a:r>
            <a:r>
              <a:rPr lang="en-US" altLang="en-US" sz="2800" dirty="0"/>
              <a:t> are highly skewed with limited upside. </a:t>
            </a:r>
            <a:r>
              <a:rPr lang="en-CA" altLang="en-US" sz="2800" dirty="0"/>
              <a:t>T</a:t>
            </a:r>
            <a:r>
              <a:rPr lang="en-US" altLang="en-US" sz="2800" dirty="0"/>
              <a:t>he non-systematic risk is difficult to diversify away</a:t>
            </a:r>
            <a:r>
              <a:rPr lang="en-CA" altLang="en-US" sz="2800" dirty="0"/>
              <a:t> and may be priced by the market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4813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77300B-4B8A-4B9F-A2DC-DDCAE55F0DE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Which World Should We Use?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should use risk-neutral estimates for valuing credit derivatives and estimating the present value of the cost of default </a:t>
            </a:r>
          </a:p>
          <a:p>
            <a:pPr eaLnBrk="1" hangingPunct="1"/>
            <a:r>
              <a:rPr lang="en-US" altLang="en-US"/>
              <a:t>We should use real world estimates for calculating credit VaR and scenario analysis</a:t>
            </a:r>
          </a:p>
        </p:txBody>
      </p:sp>
      <p:sp>
        <p:nvSpPr>
          <p:cNvPr id="4915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694878-5257-4E12-923A-351A1D7C281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/>
              <a:t>Merton’s Model </a:t>
            </a:r>
            <a:r>
              <a:rPr lang="en-US" altLang="en-US" sz="2400" dirty="0"/>
              <a:t>(Section 17.8)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Merton’s model regards the equity as an option on the assets of the firm</a:t>
            </a:r>
          </a:p>
          <a:p>
            <a:pPr eaLnBrk="1" hangingPunct="1"/>
            <a:r>
              <a:rPr lang="en-US" altLang="en-US" dirty="0"/>
              <a:t>In a simple situation the equity value is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max(</a:t>
            </a:r>
            <a:r>
              <a:rPr lang="en-US" altLang="en-US" i="1" dirty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dirty="0">
                <a:latin typeface="Times New Roman" panose="02020603050405020304" pitchFamily="18" charset="0"/>
              </a:rPr>
              <a:t>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  <a:r>
              <a:rPr lang="en-US" altLang="en-US" dirty="0">
                <a:latin typeface="Times New Roman" panose="02020603050405020304" pitchFamily="18" charset="0"/>
              </a:rPr>
              <a:t>, 0)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where </a:t>
            </a:r>
            <a:r>
              <a:rPr lang="en-US" altLang="en-US" i="1" dirty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en-US" dirty="0"/>
              <a:t> is the value of the firm and </a:t>
            </a: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  <a:r>
              <a:rPr lang="en-US" altLang="en-US" i="1" dirty="0"/>
              <a:t> </a:t>
            </a:r>
            <a:r>
              <a:rPr lang="en-US" altLang="en-US" dirty="0"/>
              <a:t>is the debt repayment required</a:t>
            </a:r>
          </a:p>
        </p:txBody>
      </p:sp>
      <p:sp>
        <p:nvSpPr>
          <p:cNvPr id="5018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36A791-CB06-437E-BFFE-56873F67B1E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Equity vs. Assets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An option pricing model enables the value of the firm’s equity today, </a:t>
            </a:r>
            <a:r>
              <a:rPr lang="en-US" altLang="en-US" i="1">
                <a:latin typeface="Times New Roman" panose="02020603050405020304" pitchFamily="18" charset="0"/>
              </a:rPr>
              <a:t>E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/>
              <a:t>, to be related to the value of its assets today, </a:t>
            </a:r>
            <a:r>
              <a:rPr lang="en-US" altLang="en-US" i="1">
                <a:latin typeface="Times New Roman" panose="02020603050405020304" pitchFamily="18" charset="0"/>
              </a:rPr>
              <a:t>V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/>
              <a:t>, and the volatility of its assets, 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V</a:t>
            </a:r>
          </a:p>
        </p:txBody>
      </p:sp>
      <p:graphicFrame>
        <p:nvGraphicFramePr>
          <p:cNvPr id="51205" name="Object 4"/>
          <p:cNvGraphicFramePr>
            <a:graphicFrameLocks/>
          </p:cNvGraphicFramePr>
          <p:nvPr/>
        </p:nvGraphicFramePr>
        <p:xfrm>
          <a:off x="1036638" y="4191000"/>
          <a:ext cx="669131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1533534" imgH="476163" progId="Equation.2">
                  <p:embed/>
                </p:oleObj>
              </mc:Choice>
              <mc:Fallback>
                <p:oleObj name="Equation" r:id="rId4" imgW="1533534" imgH="476163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4191000"/>
                        <a:ext cx="6691312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65F2F2-9CB8-499C-BF5A-2BE43DA3168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Volatilities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graphicFrame>
        <p:nvGraphicFramePr>
          <p:cNvPr id="52229" name="Object 4"/>
          <p:cNvGraphicFramePr>
            <a:graphicFrameLocks/>
          </p:cNvGraphicFramePr>
          <p:nvPr/>
        </p:nvGraphicFramePr>
        <p:xfrm>
          <a:off x="2317750" y="2387600"/>
          <a:ext cx="47244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1000131" imgH="171408" progId="Equation.2">
                  <p:embed/>
                </p:oleObj>
              </mc:Choice>
              <mc:Fallback>
                <p:oleObj name="Equation" r:id="rId4" imgW="1000131" imgH="171408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2387600"/>
                        <a:ext cx="472440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Rectangle 5"/>
          <p:cNvSpPr>
            <a:spLocks noChangeArrowheads="1"/>
          </p:cNvSpPr>
          <p:nvPr/>
        </p:nvSpPr>
        <p:spPr bwMode="auto">
          <a:xfrm>
            <a:off x="914400" y="3657600"/>
            <a:ext cx="7467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/>
              <a:t>This equation together with the option pricing relationship enables </a:t>
            </a:r>
            <a:r>
              <a:rPr lang="en-US" altLang="en-US" sz="2800" i="1">
                <a:latin typeface="Times New Roman" panose="02020603050405020304" pitchFamily="18" charset="0"/>
              </a:rPr>
              <a:t>V</a:t>
            </a:r>
            <a:r>
              <a:rPr lang="en-US" altLang="en-US" sz="2800" baseline="-25000">
                <a:latin typeface="Times New Roman" panose="02020603050405020304" pitchFamily="18" charset="0"/>
              </a:rPr>
              <a:t>0</a:t>
            </a:r>
            <a:r>
              <a:rPr lang="en-US" altLang="en-US" sz="2800"/>
              <a:t> and</a:t>
            </a:r>
            <a:r>
              <a:rPr lang="en-US" altLang="en-US" sz="2800">
                <a:latin typeface="Symbol" panose="05050102010706020507" pitchFamily="18" charset="2"/>
              </a:rPr>
              <a:t> s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V</a:t>
            </a:r>
            <a:r>
              <a:rPr lang="en-US" altLang="en-US" sz="2800" baseline="-25000">
                <a:latin typeface="Symbol" panose="05050102010706020507" pitchFamily="18" charset="2"/>
              </a:rPr>
              <a:t>  </a:t>
            </a:r>
            <a:r>
              <a:rPr lang="en-US" altLang="en-US" sz="2800"/>
              <a:t> to be determined from </a:t>
            </a:r>
            <a:r>
              <a:rPr lang="en-US" altLang="en-US" sz="2800" i="1">
                <a:latin typeface="Times New Roman" panose="02020603050405020304" pitchFamily="18" charset="0"/>
              </a:rPr>
              <a:t>E</a:t>
            </a:r>
            <a:r>
              <a:rPr lang="en-US" altLang="en-US" sz="2800" baseline="-25000">
                <a:latin typeface="Times New Roman" panose="02020603050405020304" pitchFamily="18" charset="0"/>
              </a:rPr>
              <a:t>0</a:t>
            </a:r>
            <a:r>
              <a:rPr lang="en-US" altLang="en-US" sz="2800"/>
              <a:t> and </a:t>
            </a:r>
            <a:r>
              <a:rPr lang="en-US" altLang="en-US" sz="2800">
                <a:latin typeface="Symbol" panose="05050102010706020507" pitchFamily="18" charset="2"/>
              </a:rPr>
              <a:t>s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2231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FBE9CC-23E5-41DD-848F-802EC6EC9E5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company’s equity is $3 million and the volatility of the equity is 80%</a:t>
            </a:r>
          </a:p>
          <a:p>
            <a:pPr eaLnBrk="1" hangingPunct="1"/>
            <a:r>
              <a:rPr lang="en-US" altLang="en-US"/>
              <a:t>The risk-free rate is 5%, the debt is $10 million and time to debt maturity is 1 year </a:t>
            </a:r>
          </a:p>
          <a:p>
            <a:pPr eaLnBrk="1" hangingPunct="1"/>
            <a:r>
              <a:rPr lang="en-US" altLang="en-US"/>
              <a:t>Solving the two equations yields </a:t>
            </a:r>
            <a:r>
              <a:rPr lang="en-US" altLang="en-US" i="1">
                <a:latin typeface="Times New Roman" panose="02020603050405020304" pitchFamily="18" charset="0"/>
              </a:rPr>
              <a:t>V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/>
              <a:t>=12.40 and 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v</a:t>
            </a:r>
            <a:r>
              <a:rPr lang="en-US" altLang="en-US"/>
              <a:t>=21.23%</a:t>
            </a:r>
          </a:p>
        </p:txBody>
      </p:sp>
      <p:sp>
        <p:nvSpPr>
          <p:cNvPr id="5325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9C35A2-F32D-40EB-B339-3E2CD26694B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continued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probability of default is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/>
              <a:t>(-</a:t>
            </a:r>
            <a:r>
              <a:rPr lang="en-US" altLang="en-US" i="1">
                <a:latin typeface="Times New Roman" panose="02020603050405020304" pitchFamily="18" charset="0"/>
              </a:rPr>
              <a:t>d</a:t>
            </a:r>
            <a:r>
              <a:rPr lang="en-US" altLang="en-US" baseline="-25000"/>
              <a:t>2</a:t>
            </a:r>
            <a:r>
              <a:rPr lang="en-US" altLang="en-US"/>
              <a:t>) or 12.7%</a:t>
            </a:r>
          </a:p>
          <a:p>
            <a:pPr eaLnBrk="1" hangingPunct="1"/>
            <a:r>
              <a:rPr lang="en-US" altLang="en-US"/>
              <a:t>The market value of the debt is 9.40</a:t>
            </a:r>
          </a:p>
          <a:p>
            <a:pPr eaLnBrk="1" hangingPunct="1"/>
            <a:r>
              <a:rPr lang="en-US" altLang="en-US"/>
              <a:t>The present value of the promised payment is 9.51</a:t>
            </a:r>
          </a:p>
          <a:p>
            <a:pPr eaLnBrk="1" hangingPunct="1"/>
            <a:r>
              <a:rPr lang="en-US" altLang="en-US"/>
              <a:t>The expected loss is about 1.2%</a:t>
            </a:r>
          </a:p>
          <a:p>
            <a:pPr eaLnBrk="1" hangingPunct="1"/>
            <a:r>
              <a:rPr lang="en-US" altLang="en-US"/>
              <a:t>The recovery rate is 91%</a:t>
            </a:r>
          </a:p>
        </p:txBody>
      </p:sp>
      <p:sp>
        <p:nvSpPr>
          <p:cNvPr id="5427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1783B7-0A8F-4404-A351-F41227D659E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3914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600"/>
              <a:t>The Implementation of Merton’s Model to estimate real-world default probability (e.g. Moody’s KMV)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Choose time horizon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Calculate cumulative obligations to time horizon. We denote it by </a:t>
            </a:r>
            <a:r>
              <a:rPr lang="en-US" altLang="en-US" sz="2200" i="1">
                <a:latin typeface="Times New Roman" panose="02020603050405020304" pitchFamily="18" charset="0"/>
              </a:rPr>
              <a:t>D</a:t>
            </a:r>
            <a:r>
              <a:rPr lang="en-US" altLang="en-US" sz="22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Use Merton’s model to calculate a theoretical probability of default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Use historical data to develop a one-to-one mapping of theoretical probability into real-world probability of default.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Assumption is that the rank ordering of probability of default given by the model is the same as that for real world probability of default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A distance to default measure  is </a:t>
            </a:r>
          </a:p>
        </p:txBody>
      </p:sp>
      <p:sp>
        <p:nvSpPr>
          <p:cNvPr id="5530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C498C5-1990-4370-B19D-E0973EB3063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800"/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5219700" y="5300663"/>
          <a:ext cx="28797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1790700" imgH="469900" progId="Equation.3">
                  <p:embed/>
                </p:oleObj>
              </mc:Choice>
              <mc:Fallback>
                <p:oleObj name="Equation" r:id="rId4" imgW="17907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300663"/>
                        <a:ext cx="28797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Risk-neutral vs.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412875"/>
            <a:ext cx="8229600" cy="4411663"/>
          </a:xfrm>
        </p:spPr>
        <p:txBody>
          <a:bodyPr/>
          <a:lstStyle/>
          <a:p>
            <a:pPr>
              <a:defRPr/>
            </a:pPr>
            <a:r>
              <a:rPr lang="en-CA" dirty="0"/>
              <a:t>The average growth rate of the value of the assets, </a:t>
            </a:r>
            <a:r>
              <a:rPr lang="en-CA" i="1" dirty="0">
                <a:latin typeface="+mj-lt"/>
              </a:rPr>
              <a:t>V</a:t>
            </a:r>
            <a:r>
              <a:rPr lang="en-CA" dirty="0"/>
              <a:t>, is greater in the real world than in the risk-neutral world</a:t>
            </a:r>
          </a:p>
          <a:p>
            <a:pPr>
              <a:defRPr/>
            </a:pPr>
            <a:r>
              <a:rPr lang="en-CA" dirty="0"/>
              <a:t>This means that </a:t>
            </a:r>
            <a:r>
              <a:rPr lang="en-CA" i="1" dirty="0">
                <a:latin typeface="+mj-lt"/>
              </a:rPr>
              <a:t>V</a:t>
            </a:r>
            <a:r>
              <a:rPr lang="en-CA" dirty="0"/>
              <a:t> has more chance of dropping below the default point in a risk-neutral world than in the real world</a:t>
            </a:r>
          </a:p>
          <a:p>
            <a:pPr>
              <a:defRPr/>
            </a:pPr>
            <a:r>
              <a:rPr lang="en-CA" dirty="0"/>
              <a:t>This explains why risk-neutral default probabilities are higher than real-world default probabilities</a:t>
            </a:r>
          </a:p>
          <a:p>
            <a:pPr>
              <a:defRPr/>
            </a:pPr>
            <a:endParaRPr lang="en-CA" dirty="0"/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17,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1121C1-8AB6-45A2-AA71-392BAD73408C}" type="slidenum">
              <a:rPr lang="en-US" altLang="en-US"/>
              <a:pPr/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250824" y="404813"/>
            <a:ext cx="7849567" cy="1295400"/>
          </a:xfrm>
        </p:spPr>
        <p:txBody>
          <a:bodyPr/>
          <a:lstStyle/>
          <a:p>
            <a:pPr>
              <a:tabLst>
                <a:tab pos="114300" algn="l"/>
              </a:tabLst>
            </a:pPr>
            <a:r>
              <a:rPr lang="en-US" altLang="en-US" sz="2800" dirty="0"/>
              <a:t>The Implementation of Merton’s Model </a:t>
            </a:r>
            <a:r>
              <a:rPr lang="en-US" altLang="en-US" sz="2000" dirty="0"/>
              <a:t>continued</a:t>
            </a:r>
            <a:r>
              <a:rPr lang="en-US" altLang="en-US" sz="2800" dirty="0"/>
              <a:t>. </a:t>
            </a:r>
            <a:br>
              <a:rPr lang="en-US" altLang="en-US" sz="2800" dirty="0"/>
            </a:br>
            <a:r>
              <a:rPr lang="en-US" altLang="en-US" sz="2800" dirty="0"/>
              <a:t>Estimation of risk-neutral default probability (e.g. by </a:t>
            </a:r>
            <a:r>
              <a:rPr lang="en-US" altLang="en-US" sz="2800" dirty="0" err="1"/>
              <a:t>CreditGrades</a:t>
            </a:r>
            <a:r>
              <a:rPr lang="en-US" altLang="en-US" sz="2800" dirty="0"/>
              <a:t>)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r>
              <a:rPr lang="en-US" altLang="en-US" dirty="0"/>
              <a:t>Same approach can be used</a:t>
            </a:r>
          </a:p>
          <a:p>
            <a:r>
              <a:rPr lang="en-US" altLang="en-US" dirty="0"/>
              <a:t>In this case the assumption is that the rank ordering of probability of default given by the model is the same as that for real world probability of default</a:t>
            </a:r>
          </a:p>
          <a:p>
            <a:endParaRPr lang="en-US" altLang="en-US" dirty="0"/>
          </a:p>
        </p:txBody>
      </p:sp>
      <p:sp>
        <p:nvSpPr>
          <p:cNvPr id="573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17,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52F18-68E7-4C05-B3A0-64F0616ECD8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0">
  <a:themeElements>
    <a:clrScheme name="HullRMFICh10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0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0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0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HullRMFICh10">
  <a:themeElements>
    <a:clrScheme name="HullRMFICh10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0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0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0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0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22E97B-965F-4E18-8B46-733CAEA28162}"/>
</file>

<file path=customXml/itemProps2.xml><?xml version="1.0" encoding="utf-8"?>
<ds:datastoreItem xmlns:ds="http://schemas.openxmlformats.org/officeDocument/2006/customXml" ds:itemID="{2B6B228D-9217-4D90-94BF-9012F1FCEB61}"/>
</file>

<file path=customXml/itemProps3.xml><?xml version="1.0" encoding="utf-8"?>
<ds:datastoreItem xmlns:ds="http://schemas.openxmlformats.org/officeDocument/2006/customXml" ds:itemID="{037D1D0E-04F0-49AA-A1AE-0879212B1171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E:\RiskBook\slides\HullRMFICh10.ppt</Template>
  <TotalTime>564</TotalTime>
  <Pages>17</Pages>
  <Words>2790</Words>
  <Application>Microsoft Office PowerPoint</Application>
  <PresentationFormat>Letter Paper (8.5x11 in)</PresentationFormat>
  <Paragraphs>332</Paragraphs>
  <Slides>40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Symbol</vt:lpstr>
      <vt:lpstr>Times New Roman</vt:lpstr>
      <vt:lpstr>Wingdings</vt:lpstr>
      <vt:lpstr>HullRMFICh10</vt:lpstr>
      <vt:lpstr>HullRMFICh10</vt:lpstr>
      <vt:lpstr>Document</vt:lpstr>
      <vt:lpstr>Equation</vt:lpstr>
      <vt:lpstr>Estimating Default Probabilities</vt:lpstr>
      <vt:lpstr>Altman’s Z-score  for  Manufacturing Companies</vt:lpstr>
      <vt:lpstr>Estimating Default Probabilities</vt:lpstr>
      <vt:lpstr>Historical Data</vt:lpstr>
      <vt:lpstr>Cumulative Average Default Rates % (1981-2020, S&amp;P) Table 17.1</vt:lpstr>
      <vt:lpstr>Interpretation</vt:lpstr>
      <vt:lpstr>Do Default Probabilities Increase with Time?</vt:lpstr>
      <vt:lpstr>Hazard Rate vs. Unconditional Default Probability</vt:lpstr>
      <vt:lpstr>Properties of Hazard Rates</vt:lpstr>
      <vt:lpstr>Recovery Rate</vt:lpstr>
      <vt:lpstr>Recovery Rates; Moody’s: 1983 to 2021 (Table 17.2)</vt:lpstr>
      <vt:lpstr>Credit Default Swaps (Section 17.4) </vt:lpstr>
      <vt:lpstr>CDS Structure (Figure 17.1)</vt:lpstr>
      <vt:lpstr>Other Details</vt:lpstr>
      <vt:lpstr>Attractions of the CDS Market</vt:lpstr>
      <vt:lpstr>Credit Indices (Section 17.4.2)</vt:lpstr>
      <vt:lpstr>Use of Fixed Coupons</vt:lpstr>
      <vt:lpstr>Credit Default Swaps and Bond Yields (Section 17.5.1)</vt:lpstr>
      <vt:lpstr>Risk-free Rate</vt:lpstr>
      <vt:lpstr>Asset Swaps (Section 17.5.3)</vt:lpstr>
      <vt:lpstr>Asset Swaps </vt:lpstr>
      <vt:lpstr>CDS-Bond Basis</vt:lpstr>
      <vt:lpstr>Using CDS Prices to Predict Default Probabilities</vt:lpstr>
      <vt:lpstr>More Exact Calculation (Section 17.6.2)</vt:lpstr>
      <vt:lpstr>Calculations</vt:lpstr>
      <vt:lpstr>Calculations continued</vt:lpstr>
      <vt:lpstr>Real World vs Risk-Neutral Default Probabilities </vt:lpstr>
      <vt:lpstr>A Comparison</vt:lpstr>
      <vt:lpstr>The Data (Table 17.4)</vt:lpstr>
      <vt:lpstr>Real World vs Risk Neutral Default Probabilities , 7 year averages (Table 17.5)</vt:lpstr>
      <vt:lpstr>Possible Reasons for These Results (The third reason is the most important)</vt:lpstr>
      <vt:lpstr>Which World Should We Use?</vt:lpstr>
      <vt:lpstr>Merton’s Model (Section 17.8)</vt:lpstr>
      <vt:lpstr>Equity vs. Assets</vt:lpstr>
      <vt:lpstr>Volatilities</vt:lpstr>
      <vt:lpstr>Example</vt:lpstr>
      <vt:lpstr>Example continued</vt:lpstr>
      <vt:lpstr>The Implementation of Merton’s Model to estimate real-world default probability (e.g. Moody’s KMV)</vt:lpstr>
      <vt:lpstr>Risk-neutral vs. Real World</vt:lpstr>
      <vt:lpstr>The Implementation of Merton’s Model continued.  Estimation of risk-neutral default probability (e.g. by CreditGrades)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19</dc:subject>
  <dc:creator>John  Hull</dc:creator>
  <cp:keywords>5th Edition</cp:keywords>
  <dc:description>Copyright 2018 by John  Hull._x000d_
All rights reserved.</dc:description>
  <cp:lastModifiedBy>John Hull</cp:lastModifiedBy>
  <cp:revision>167</cp:revision>
  <cp:lastPrinted>1999-11-09T00:15:00Z</cp:lastPrinted>
  <dcterms:created xsi:type="dcterms:W3CDTF">1996-07-04T22:47:30Z</dcterms:created>
  <dcterms:modified xsi:type="dcterms:W3CDTF">2022-12-01T20:44:21Z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