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entation.xml" ContentType="application/vnd.openxmlformats-officedocument.presentationml.presentation.main+xml"/>
  <Override PartName="/ppt/drawings/drawing1.xml" ContentType="application/vnd.openxmlformats-officedocument.drawingml.chartshap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theme/themeOverride5.xml" ContentType="application/vnd.openxmlformats-officedocument.themeOverride+xml"/>
  <Override PartName="/ppt/theme/themeOverride3.xml" ContentType="application/vnd.openxmlformats-officedocument.themeOverride+xml"/>
  <Override PartName="/ppt/theme/theme4.xml" ContentType="application/vnd.openxmlformats-officedocument.theme+xml"/>
  <Override PartName="/ppt/charts/chart4.xml" ContentType="application/vnd.openxmlformats-officedocument.drawingml.chart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charts/chart3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  <p:sldMasterId id="2147483654" r:id="rId2"/>
  </p:sldMasterIdLst>
  <p:notesMasterIdLst>
    <p:notesMasterId r:id="rId31"/>
  </p:notesMasterIdLst>
  <p:handoutMasterIdLst>
    <p:handoutMasterId r:id="rId32"/>
  </p:handoutMasterIdLst>
  <p:sldIdLst>
    <p:sldId id="256" r:id="rId3"/>
    <p:sldId id="339" r:id="rId4"/>
    <p:sldId id="337" r:id="rId5"/>
    <p:sldId id="340" r:id="rId6"/>
    <p:sldId id="341" r:id="rId7"/>
    <p:sldId id="324" r:id="rId8"/>
    <p:sldId id="323" r:id="rId9"/>
    <p:sldId id="342" r:id="rId10"/>
    <p:sldId id="322" r:id="rId11"/>
    <p:sldId id="325" r:id="rId12"/>
    <p:sldId id="334" r:id="rId13"/>
    <p:sldId id="307" r:id="rId14"/>
    <p:sldId id="316" r:id="rId15"/>
    <p:sldId id="308" r:id="rId16"/>
    <p:sldId id="309" r:id="rId17"/>
    <p:sldId id="317" r:id="rId18"/>
    <p:sldId id="328" r:id="rId19"/>
    <p:sldId id="336" r:id="rId20"/>
    <p:sldId id="318" r:id="rId21"/>
    <p:sldId id="329" r:id="rId22"/>
    <p:sldId id="330" r:id="rId23"/>
    <p:sldId id="319" r:id="rId24"/>
    <p:sldId id="332" r:id="rId25"/>
    <p:sldId id="331" r:id="rId26"/>
    <p:sldId id="321" r:id="rId27"/>
    <p:sldId id="333" r:id="rId28"/>
    <p:sldId id="320" r:id="rId29"/>
    <p:sldId id="281" r:id="rId3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9522" autoAdjust="0"/>
  </p:normalViewPr>
  <p:slideViewPr>
    <p:cSldViewPr>
      <p:cViewPr varScale="1">
        <p:scale>
          <a:sx n="139" d="100"/>
          <a:sy n="139" d="100"/>
        </p:scale>
        <p:origin x="72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ustomXml" Target="../customXml/item3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ull\AppData\Local\Microsoft\Windows\INetCache\Content.Outlook\5LNAA8DW\Ch14_6e_Figure%2014_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hull\My%20Documents\Misc\RiskBook2ndEd\Artwork\Figure7_3.XLS" TargetMode="External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hull\My%20Documents\Misc\RiskBook2ndEd\Artwork\Figure7_3.XLS" TargetMode="External"/><Relationship Id="rId1" Type="http://schemas.openxmlformats.org/officeDocument/2006/relationships/themeOverride" Target="../theme/themeOverride2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hull\My%20Documents\Misc\RiskBook2ndEd\Figure7_4.XLS" TargetMode="External"/><Relationship Id="rId1" Type="http://schemas.openxmlformats.org/officeDocument/2006/relationships/themeOverride" Target="../theme/themeOverride3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hull\My%20Documents\Misc\RiskBook\ArtWorkExcel\Figure4_5new.XLS" TargetMode="External"/><Relationship Id="rId1" Type="http://schemas.openxmlformats.org/officeDocument/2006/relationships/themeOverride" Target="../theme/themeOverrid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Documents%20and%20Settings\hull\My%20Documents\Misc\RiskBook\ArtWorkExcel\Figure4_6new.XLS" TargetMode="External"/><Relationship Id="rId1" Type="http://schemas.openxmlformats.org/officeDocument/2006/relationships/themeOverride" Target="../theme/themeOverrid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sz="1000" b="0"/>
              <a:t>Factor Loading</a:t>
            </a:r>
          </a:p>
        </c:rich>
      </c:tx>
      <c:layout>
        <c:manualLayout>
          <c:xMode val="edge"/>
          <c:yMode val="edge"/>
          <c:x val="0.12384711286089239"/>
          <c:y val="6.94444444444444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'[Ch14_6e_Figure 14_2.xlsx]Sheet1'!$C$6</c:f>
              <c:strCache>
                <c:ptCount val="1"/>
                <c:pt idx="0">
                  <c:v>PC1</c:v>
                </c:pt>
              </c:strCache>
            </c:strRef>
          </c:tx>
          <c:spPr>
            <a:ln w="19050" cap="rnd">
              <a:solidFill>
                <a:sysClr val="windowText" lastClr="000000"/>
              </a:solidFill>
              <a:round/>
            </a:ln>
            <a:effectLst/>
          </c:spPr>
          <c:marker>
            <c:symbol val="none"/>
          </c:marker>
          <c:xVal>
            <c:numRef>
              <c:f>'[Ch14_6e_Figure 14_2.xlsx]Sheet1'!$B$7:$B$14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  <c:pt idx="6">
                  <c:v>20</c:v>
                </c:pt>
                <c:pt idx="7">
                  <c:v>30</c:v>
                </c:pt>
              </c:numCache>
            </c:numRef>
          </c:xVal>
          <c:yVal>
            <c:numRef>
              <c:f>'[Ch14_6e_Figure 14_2.xlsx]Sheet1'!$C$7:$C$14</c:f>
              <c:numCache>
                <c:formatCode>0.000</c:formatCode>
                <c:ptCount val="8"/>
                <c:pt idx="0">
                  <c:v>8.2625710316542977E-2</c:v>
                </c:pt>
                <c:pt idx="1">
                  <c:v>0.21042336760846078</c:v>
                </c:pt>
                <c:pt idx="2">
                  <c:v>0.28594526824879379</c:v>
                </c:pt>
                <c:pt idx="3">
                  <c:v>0.38627686426450525</c:v>
                </c:pt>
                <c:pt idx="4">
                  <c:v>0.42958100964604745</c:v>
                </c:pt>
                <c:pt idx="5">
                  <c:v>0.42762797687953891</c:v>
                </c:pt>
                <c:pt idx="6">
                  <c:v>0.42641201911563964</c:v>
                </c:pt>
                <c:pt idx="7">
                  <c:v>0.41071613744072211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7E7-49D8-BA15-81C640A94303}"/>
            </c:ext>
          </c:extLst>
        </c:ser>
        <c:ser>
          <c:idx val="1"/>
          <c:order val="1"/>
          <c:tx>
            <c:strRef>
              <c:f>'[Ch14_6e_Figure 14_2.xlsx]Sheet1'!$D$6</c:f>
              <c:strCache>
                <c:ptCount val="1"/>
                <c:pt idx="0">
                  <c:v>PC2</c:v>
                </c:pt>
              </c:strCache>
            </c:strRef>
          </c:tx>
          <c:spPr>
            <a:ln w="19050" cap="rnd">
              <a:solidFill>
                <a:sysClr val="windowText" lastClr="000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'[Ch14_6e_Figure 14_2.xlsx]Sheet1'!$B$7:$B$14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  <c:pt idx="6">
                  <c:v>20</c:v>
                </c:pt>
                <c:pt idx="7">
                  <c:v>30</c:v>
                </c:pt>
              </c:numCache>
            </c:numRef>
          </c:xVal>
          <c:yVal>
            <c:numRef>
              <c:f>'[Ch14_6e_Figure 14_2.xlsx]Sheet1'!$D$7:$D$14</c:f>
              <c:numCache>
                <c:formatCode>0.000</c:formatCode>
                <c:ptCount val="8"/>
                <c:pt idx="0">
                  <c:v>-0.24185701033186399</c:v>
                </c:pt>
                <c:pt idx="1">
                  <c:v>-0.46488361657376237</c:v>
                </c:pt>
                <c:pt idx="2">
                  <c:v>-0.46677507075556435</c:v>
                </c:pt>
                <c:pt idx="3">
                  <c:v>-0.3150239325559821</c:v>
                </c:pt>
                <c:pt idx="4">
                  <c:v>-9.915401957882114E-2</c:v>
                </c:pt>
                <c:pt idx="5">
                  <c:v>0.11929196451702599</c:v>
                </c:pt>
                <c:pt idx="6">
                  <c:v>0.39409965961792792</c:v>
                </c:pt>
                <c:pt idx="7">
                  <c:v>0.47842735156426663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7E7-49D8-BA15-81C640A94303}"/>
            </c:ext>
          </c:extLst>
        </c:ser>
        <c:ser>
          <c:idx val="2"/>
          <c:order val="2"/>
          <c:tx>
            <c:strRef>
              <c:f>'[Ch14_6e_Figure 14_2.xlsx]Sheet1'!$E$6</c:f>
              <c:strCache>
                <c:ptCount val="1"/>
                <c:pt idx="0">
                  <c:v>PC3</c:v>
                </c:pt>
              </c:strCache>
            </c:strRef>
          </c:tx>
          <c:spPr>
            <a:ln w="19050" cap="rnd">
              <a:solidFill>
                <a:sysClr val="windowText" lastClr="000000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'[Ch14_6e_Figure 14_2.xlsx]Sheet1'!$B$7:$B$14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  <c:pt idx="6">
                  <c:v>20</c:v>
                </c:pt>
                <c:pt idx="7">
                  <c:v>30</c:v>
                </c:pt>
              </c:numCache>
            </c:numRef>
          </c:xVal>
          <c:yVal>
            <c:numRef>
              <c:f>'[Ch14_6e_Figure 14_2.xlsx]Sheet1'!$E$7:$E$14</c:f>
              <c:numCache>
                <c:formatCode>0.000</c:formatCode>
                <c:ptCount val="8"/>
                <c:pt idx="0">
                  <c:v>0.68475516851809726</c:v>
                </c:pt>
                <c:pt idx="1">
                  <c:v>0.37617188105228244</c:v>
                </c:pt>
                <c:pt idx="2">
                  <c:v>6.1994726225931664E-3</c:v>
                </c:pt>
                <c:pt idx="3">
                  <c:v>-0.33186478913090395</c:v>
                </c:pt>
                <c:pt idx="4">
                  <c:v>-0.34941903181684869</c:v>
                </c:pt>
                <c:pt idx="5">
                  <c:v>-0.15269486732500012</c:v>
                </c:pt>
                <c:pt idx="6">
                  <c:v>0.17205540138154535</c:v>
                </c:pt>
                <c:pt idx="7">
                  <c:v>0.3231407741524645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7E7-49D8-BA15-81C640A943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0998168"/>
        <c:axId val="400998560"/>
      </c:scatterChart>
      <c:valAx>
        <c:axId val="4009981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Maturity (years)</a:t>
                </a:r>
              </a:p>
            </c:rich>
          </c:tx>
          <c:layout>
            <c:manualLayout>
              <c:xMode val="edge"/>
              <c:yMode val="edge"/>
              <c:x val="0.77909601924759408"/>
              <c:y val="0.425554826480023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998560"/>
        <c:crosses val="autoZero"/>
        <c:crossBetween val="midCat"/>
      </c:valAx>
      <c:valAx>
        <c:axId val="400998560"/>
        <c:scaling>
          <c:orientation val="minMax"/>
        </c:scaling>
        <c:delete val="0"/>
        <c:axPos val="l"/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998168"/>
        <c:crosses val="autoZero"/>
        <c:crossBetween val="midCat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64744991251093609"/>
          <c:y val="0.66261519393409152"/>
          <c:w val="0.24121106736657918"/>
          <c:h val="0.207755176436278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1262135922330102"/>
          <c:y val="6.5656727570449588E-2"/>
          <c:w val="0.84271844660194173"/>
          <c:h val="0.76010288456558972"/>
        </c:manualLayout>
      </c:layout>
      <c:scatterChart>
        <c:scatterStyle val="lineMarker"/>
        <c:varyColors val="0"/>
        <c:ser>
          <c:idx val="0"/>
          <c:order val="0"/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Sheet1!$D$19:$D$27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Sheet1!$E$19:$E$27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4.5</c:v>
                </c:pt>
                <c:pt idx="3">
                  <c:v>4.8</c:v>
                </c:pt>
                <c:pt idx="4">
                  <c:v>5</c:v>
                </c:pt>
                <c:pt idx="5">
                  <c:v>5.0999999999999996</c:v>
                </c:pt>
                <c:pt idx="6">
                  <c:v>5.2</c:v>
                </c:pt>
                <c:pt idx="7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216-470A-ABA4-F24771903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7745632"/>
        <c:axId val="108331664"/>
      </c:scatterChart>
      <c:valAx>
        <c:axId val="7774563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Maturity (yrs)</a:t>
                </a:r>
              </a:p>
            </c:rich>
          </c:tx>
          <c:layout>
            <c:manualLayout>
              <c:xMode val="edge"/>
              <c:yMode val="edge"/>
              <c:x val="0.45242718446601943"/>
              <c:y val="0.9040426334700365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8331664"/>
        <c:crosses val="autoZero"/>
        <c:crossBetween val="midCat"/>
      </c:valAx>
      <c:valAx>
        <c:axId val="108331664"/>
        <c:scaling>
          <c:orientation val="minMax"/>
        </c:scaling>
        <c:delete val="0"/>
        <c:axPos val="l"/>
        <c:majorGridlines>
          <c:spPr>
            <a:ln w="3175">
              <a:solidFill>
                <a:srgbClr val="FFFFF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Zero Rate (%)</a:t>
                </a:r>
              </a:p>
            </c:rich>
          </c:tx>
          <c:layout>
            <c:manualLayout>
              <c:xMode val="edge"/>
              <c:yMode val="edge"/>
              <c:x val="3.1067961165048546E-2"/>
              <c:y val="0.33585941411037684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77745632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rgbClr val="FFFFFF"/>
    </a:solidFill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1262135922330099"/>
          <c:y val="6.5656727570449561E-2"/>
          <c:w val="0.84271844660194173"/>
          <c:h val="0.76010288456558972"/>
        </c:manualLayout>
      </c:layout>
      <c:scatterChart>
        <c:scatterStyle val="lineMarker"/>
        <c:varyColors val="0"/>
        <c:ser>
          <c:idx val="2"/>
          <c:order val="2"/>
          <c:spPr>
            <a:ln w="12700">
              <a:solidFill>
                <a:srgbClr val="000080"/>
              </a:solidFill>
              <a:prstDash val="solid"/>
            </a:ln>
          </c:spPr>
          <c:xVal>
            <c:numRef>
              <c:f>Sheet1!$D$19:$D$27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Sheet1!$E$19:$E$27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4.5</c:v>
                </c:pt>
                <c:pt idx="3">
                  <c:v>4.8</c:v>
                </c:pt>
                <c:pt idx="4">
                  <c:v>5</c:v>
                </c:pt>
                <c:pt idx="5">
                  <c:v>5.0999999999999996</c:v>
                </c:pt>
                <c:pt idx="6">
                  <c:v>5.2</c:v>
                </c:pt>
                <c:pt idx="7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123-4DF6-97B1-25994FAB2991}"/>
            </c:ext>
          </c:extLst>
        </c:ser>
        <c:ser>
          <c:idx val="3"/>
          <c:order val="3"/>
          <c:spPr>
            <a:ln w="3175"/>
          </c:spPr>
          <c:xVal>
            <c:numRef>
              <c:f>Sheet1!$D$19:$D$27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Sheet1!$F$19:$F$27</c:f>
              <c:numCache>
                <c:formatCode>General</c:formatCode>
                <c:ptCount val="9"/>
                <c:pt idx="0">
                  <c:v>4.2</c:v>
                </c:pt>
                <c:pt idx="1">
                  <c:v>4.2</c:v>
                </c:pt>
                <c:pt idx="2">
                  <c:v>4.7</c:v>
                </c:pt>
                <c:pt idx="3">
                  <c:v>5</c:v>
                </c:pt>
                <c:pt idx="4">
                  <c:v>5.2</c:v>
                </c:pt>
                <c:pt idx="5">
                  <c:v>5.3</c:v>
                </c:pt>
                <c:pt idx="6">
                  <c:v>5.4</c:v>
                </c:pt>
                <c:pt idx="7">
                  <c:v>5.5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123-4DF6-97B1-25994FAB2991}"/>
            </c:ext>
          </c:extLst>
        </c:ser>
        <c:ser>
          <c:idx val="0"/>
          <c:order val="0"/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Sheet1!$D$19:$D$27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Sheet1!$E$19:$E$27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4.5</c:v>
                </c:pt>
                <c:pt idx="3">
                  <c:v>4.8</c:v>
                </c:pt>
                <c:pt idx="4">
                  <c:v>5</c:v>
                </c:pt>
                <c:pt idx="5">
                  <c:v>5.0999999999999996</c:v>
                </c:pt>
                <c:pt idx="6">
                  <c:v>5.2</c:v>
                </c:pt>
                <c:pt idx="7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123-4DF6-97B1-25994FAB2991}"/>
            </c:ext>
          </c:extLst>
        </c:ser>
        <c:ser>
          <c:idx val="1"/>
          <c:order val="1"/>
          <c:spPr>
            <a:ln w="3175">
              <a:solidFill>
                <a:schemeClr val="tx1"/>
              </a:solidFill>
            </a:ln>
          </c:spPr>
          <c:marker>
            <c:spPr>
              <a:ln w="3175"/>
            </c:spPr>
          </c:marker>
          <c:xVal>
            <c:numRef>
              <c:f>Sheet1!$D$19:$D$27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Sheet1!$F$19:$F$27</c:f>
              <c:numCache>
                <c:formatCode>General</c:formatCode>
                <c:ptCount val="9"/>
                <c:pt idx="0">
                  <c:v>4.2</c:v>
                </c:pt>
                <c:pt idx="1">
                  <c:v>4.2</c:v>
                </c:pt>
                <c:pt idx="2">
                  <c:v>4.7</c:v>
                </c:pt>
                <c:pt idx="3">
                  <c:v>5</c:v>
                </c:pt>
                <c:pt idx="4">
                  <c:v>5.2</c:v>
                </c:pt>
                <c:pt idx="5">
                  <c:v>5.3</c:v>
                </c:pt>
                <c:pt idx="6">
                  <c:v>5.4</c:v>
                </c:pt>
                <c:pt idx="7">
                  <c:v>5.5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123-4DF6-97B1-25994FAB2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332448"/>
        <c:axId val="108332840"/>
      </c:scatterChart>
      <c:valAx>
        <c:axId val="10833244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Maturity (yrs)</a:t>
                </a:r>
              </a:p>
            </c:rich>
          </c:tx>
          <c:layout>
            <c:manualLayout>
              <c:xMode val="edge"/>
              <c:yMode val="edge"/>
              <c:x val="0.45242718446601943"/>
              <c:y val="0.9040426334700365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8332840"/>
        <c:crosses val="autoZero"/>
        <c:crossBetween val="midCat"/>
      </c:valAx>
      <c:valAx>
        <c:axId val="108332840"/>
        <c:scaling>
          <c:orientation val="minMax"/>
        </c:scaling>
        <c:delete val="0"/>
        <c:axPos val="l"/>
        <c:majorGridlines>
          <c:spPr>
            <a:ln w="3175">
              <a:solidFill>
                <a:srgbClr val="FFFFF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Zero Rate (%)</a:t>
                </a:r>
              </a:p>
            </c:rich>
          </c:tx>
          <c:layout>
            <c:manualLayout>
              <c:xMode val="edge"/>
              <c:yMode val="edge"/>
              <c:x val="3.1067961165048542E-2"/>
              <c:y val="0.33585941411037684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8332448"/>
        <c:crosses val="autoZero"/>
        <c:crossBetween val="midCat"/>
      </c:valAx>
      <c:spPr>
        <a:noFill/>
        <a:ln w="6350">
          <a:solidFill>
            <a:sysClr val="windowText" lastClr="000000"/>
          </a:solidFill>
        </a:ln>
      </c:spPr>
    </c:plotArea>
    <c:plotVisOnly val="1"/>
    <c:dispBlanksAs val="gap"/>
    <c:showDLblsOverMax val="0"/>
  </c:chart>
  <c:spPr>
    <a:solidFill>
      <a:srgbClr val="FFFFFF"/>
    </a:solidFill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3009708737864079"/>
          <c:y val="4.0404140043353555E-2"/>
          <c:w val="0.84271844660194173"/>
          <c:h val="0.76010288456558972"/>
        </c:manualLayout>
      </c:layout>
      <c:scatterChart>
        <c:scatterStyle val="lineMarker"/>
        <c:varyColors val="0"/>
        <c:ser>
          <c:idx val="0"/>
          <c:order val="0"/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Sheet1!$D$19:$D$26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Sheet1!$E$19:$E$26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4.5</c:v>
                </c:pt>
                <c:pt idx="3">
                  <c:v>4.8</c:v>
                </c:pt>
                <c:pt idx="4">
                  <c:v>5</c:v>
                </c:pt>
                <c:pt idx="5">
                  <c:v>5.0999999999999996</c:v>
                </c:pt>
                <c:pt idx="6">
                  <c:v>5.2</c:v>
                </c:pt>
                <c:pt idx="7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9E6-440B-BE8D-D7AF3208B80C}"/>
            </c:ext>
          </c:extLst>
        </c:ser>
        <c:ser>
          <c:idx val="1"/>
          <c:order val="1"/>
          <c:spPr>
            <a:ln w="12700">
              <a:solidFill>
                <a:srgbClr val="000000"/>
              </a:solidFill>
              <a:prstDash val="sysDash"/>
            </a:ln>
          </c:spPr>
          <c:marker>
            <c:symbol val="diamond"/>
            <c:size val="5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xVal>
            <c:numRef>
              <c:f>Sheet1!$D$19:$D$26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Sheet1!$F$19:$F$26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4.5</c:v>
                </c:pt>
                <c:pt idx="3">
                  <c:v>4.8</c:v>
                </c:pt>
                <c:pt idx="4">
                  <c:v>5</c:v>
                </c:pt>
                <c:pt idx="5">
                  <c:v>5.3</c:v>
                </c:pt>
                <c:pt idx="6">
                  <c:v>5.2</c:v>
                </c:pt>
                <c:pt idx="7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9E6-440B-BE8D-D7AF3208B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333624"/>
        <c:axId val="108334016"/>
      </c:scatterChart>
      <c:valAx>
        <c:axId val="1083336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Maturity (yrs)</a:t>
                </a:r>
              </a:p>
            </c:rich>
          </c:tx>
          <c:layout>
            <c:manualLayout>
              <c:xMode val="edge"/>
              <c:yMode val="edge"/>
              <c:x val="0.4699029126213593"/>
              <c:y val="0.87879004594293997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8334016"/>
        <c:crosses val="autoZero"/>
        <c:crossBetween val="midCat"/>
      </c:valAx>
      <c:valAx>
        <c:axId val="108334016"/>
        <c:scaling>
          <c:orientation val="minMax"/>
        </c:scaling>
        <c:delete val="0"/>
        <c:axPos val="l"/>
        <c:majorGridlines>
          <c:spPr>
            <a:ln w="3175">
              <a:solidFill>
                <a:srgbClr val="FFFFF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Zero Rate (%)</a:t>
                </a:r>
              </a:p>
            </c:rich>
          </c:tx>
          <c:layout>
            <c:manualLayout>
              <c:xMode val="edge"/>
              <c:yMode val="edge"/>
              <c:x val="4.8543689320388383E-2"/>
              <c:y val="0.31060682658328082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8333624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rgbClr val="FFFFFF"/>
    </a:solidFill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20388349514563"/>
          <c:y val="6.5656727570449561E-2"/>
          <c:w val="0.84271844660194173"/>
          <c:h val="0.76010288456558972"/>
        </c:manualLayout>
      </c:layout>
      <c:scatterChart>
        <c:scatterStyle val="lineMarker"/>
        <c:varyColors val="0"/>
        <c:ser>
          <c:idx val="0"/>
          <c:order val="0"/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Sheet1!$D$19:$D$27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Sheet1!$E$19:$E$27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4.5</c:v>
                </c:pt>
                <c:pt idx="3">
                  <c:v>4.8</c:v>
                </c:pt>
                <c:pt idx="4">
                  <c:v>5</c:v>
                </c:pt>
                <c:pt idx="5">
                  <c:v>5.0999999999999996</c:v>
                </c:pt>
                <c:pt idx="6">
                  <c:v>5.2</c:v>
                </c:pt>
                <c:pt idx="7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013-431D-BA2F-486391FEEF2F}"/>
            </c:ext>
          </c:extLst>
        </c:ser>
        <c:ser>
          <c:idx val="1"/>
          <c:order val="1"/>
          <c:spPr>
            <a:ln w="12700">
              <a:solidFill>
                <a:srgbClr val="000000"/>
              </a:solidFill>
              <a:prstDash val="sysDash"/>
            </a:ln>
          </c:spPr>
          <c:marker>
            <c:symbol val="diamond"/>
            <c:size val="5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xVal>
            <c:numRef>
              <c:f>Sheet1!$D$19:$D$27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Sheet1!$F$19:$F$27</c:f>
              <c:numCache>
                <c:formatCode>General</c:formatCode>
                <c:ptCount val="9"/>
                <c:pt idx="0">
                  <c:v>3.7</c:v>
                </c:pt>
                <c:pt idx="1">
                  <c:v>3.7</c:v>
                </c:pt>
                <c:pt idx="2">
                  <c:v>4.3</c:v>
                </c:pt>
                <c:pt idx="3">
                  <c:v>4.7</c:v>
                </c:pt>
                <c:pt idx="4">
                  <c:v>5</c:v>
                </c:pt>
                <c:pt idx="5">
                  <c:v>5.1999999999999975</c:v>
                </c:pt>
                <c:pt idx="6">
                  <c:v>5.5</c:v>
                </c:pt>
                <c:pt idx="7">
                  <c:v>5.9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013-431D-BA2F-486391FEEF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334800"/>
        <c:axId val="108335192"/>
      </c:scatterChart>
      <c:valAx>
        <c:axId val="1083348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Maturity (yrs)</a:t>
                </a:r>
              </a:p>
            </c:rich>
          </c:tx>
          <c:layout>
            <c:manualLayout>
              <c:xMode val="edge"/>
              <c:yMode val="edge"/>
              <c:x val="0.46019417475728158"/>
              <c:y val="0.9040426334700365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8335192"/>
        <c:crosses val="autoZero"/>
        <c:crossBetween val="midCat"/>
      </c:valAx>
      <c:valAx>
        <c:axId val="108335192"/>
        <c:scaling>
          <c:orientation val="minMax"/>
        </c:scaling>
        <c:delete val="0"/>
        <c:axPos val="l"/>
        <c:majorGridlines>
          <c:spPr>
            <a:ln w="3175">
              <a:solidFill>
                <a:srgbClr val="FFFFF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Zero Rate (%)</a:t>
                </a:r>
              </a:p>
            </c:rich>
          </c:tx>
          <c:layout>
            <c:manualLayout>
              <c:xMode val="edge"/>
              <c:yMode val="edge"/>
              <c:x val="3.883495145631069E-2"/>
              <c:y val="0.33585941411037684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8334800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rgbClr val="FFFFFF"/>
    </a:solidFill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1262135922330099"/>
          <c:y val="6.5656727570449561E-2"/>
          <c:w val="0.84271844660194173"/>
          <c:h val="0.76010288456558972"/>
        </c:manualLayout>
      </c:layout>
      <c:scatterChart>
        <c:scatterStyle val="lineMarker"/>
        <c:varyColors val="0"/>
        <c:ser>
          <c:idx val="0"/>
          <c:order val="0"/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Sheet1!$D$19:$D$27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10</c:v>
                </c:pt>
              </c:numCache>
            </c:numRef>
          </c:xVal>
          <c:yVal>
            <c:numRef>
              <c:f>Sheet1!$E$19:$E$27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4.5</c:v>
                </c:pt>
                <c:pt idx="3">
                  <c:v>4.8</c:v>
                </c:pt>
                <c:pt idx="4">
                  <c:v>5</c:v>
                </c:pt>
                <c:pt idx="5">
                  <c:v>5.0999999999999996</c:v>
                </c:pt>
                <c:pt idx="6">
                  <c:v>5.2</c:v>
                </c:pt>
                <c:pt idx="7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88-4859-B6BD-B55F94CA00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7363040"/>
        <c:axId val="177363432"/>
      </c:scatterChart>
      <c:valAx>
        <c:axId val="17736304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Maturity (yrs)</a:t>
                </a:r>
              </a:p>
            </c:rich>
          </c:tx>
          <c:layout>
            <c:manualLayout>
              <c:xMode val="edge"/>
              <c:yMode val="edge"/>
              <c:x val="0.45242718446601943"/>
              <c:y val="0.9040426334700365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77363432"/>
        <c:crosses val="autoZero"/>
        <c:crossBetween val="midCat"/>
      </c:valAx>
      <c:valAx>
        <c:axId val="177363432"/>
        <c:scaling>
          <c:orientation val="minMax"/>
        </c:scaling>
        <c:delete val="0"/>
        <c:axPos val="l"/>
        <c:majorGridlines>
          <c:spPr>
            <a:ln w="3175">
              <a:solidFill>
                <a:srgbClr val="FFFFF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Zero Rate (%)</a:t>
                </a:r>
              </a:p>
            </c:rich>
          </c:tx>
          <c:layout>
            <c:manualLayout>
              <c:xMode val="edge"/>
              <c:yMode val="edge"/>
              <c:x val="3.1067961165048542E-2"/>
              <c:y val="0.33585941411037684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77363040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rgbClr val="FFFFFF"/>
    </a:solidFill>
    <a:ln w="9525"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  <c:userShapes r:id="rId3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0.25215</cdr:x>
      <cdr:y>0.18294</cdr:y>
    </cdr:from>
    <cdr:to>
      <cdr:x>0.32275</cdr:x>
      <cdr:y>0.21852</cdr:y>
    </cdr:to>
    <cdr:sp macro="" textlink="">
      <cdr:nvSpPr>
        <cdr:cNvPr id="2049" name="Line 1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242458" y="694959"/>
          <a:ext cx="347015" cy="134545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val="000000"/>
          </a:solidFill>
          <a:prstDash val="dash"/>
          <a:round/>
          <a:headEnd type="none" w="sm" len="sm"/>
          <a:tailEnd type="none" w="sm" len="sm"/>
        </a:ln>
      </cdr:spPr>
    </cdr:sp>
  </cdr:relSizeAnchor>
  <cdr:relSizeAnchor xmlns:cdr="http://schemas.openxmlformats.org/drawingml/2006/chartDrawing">
    <cdr:from>
      <cdr:x>0.25215</cdr:x>
      <cdr:y>0.21852</cdr:y>
    </cdr:from>
    <cdr:to>
      <cdr:x>0.25215</cdr:x>
      <cdr:y>0.25654</cdr:y>
    </cdr:to>
    <cdr:sp macro="" textlink="">
      <cdr:nvSpPr>
        <cdr:cNvPr id="2050" name="Line 2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242458" y="829504"/>
          <a:ext cx="0" cy="143761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val="000000"/>
          </a:solidFill>
          <a:prstDash val="dash"/>
          <a:round/>
          <a:headEnd/>
          <a:tailEnd type="diamond" w="med" len="med"/>
        </a:ln>
      </cdr:spPr>
    </cdr:sp>
  </cdr:relSizeAnchor>
  <cdr:relSizeAnchor xmlns:cdr="http://schemas.openxmlformats.org/drawingml/2006/chartDrawing">
    <cdr:from>
      <cdr:x>0.32177</cdr:x>
      <cdr:y>0.18294</cdr:y>
    </cdr:from>
    <cdr:to>
      <cdr:x>0.32275</cdr:x>
      <cdr:y>0.2117</cdr:y>
    </cdr:to>
    <cdr:sp macro="" textlink="">
      <cdr:nvSpPr>
        <cdr:cNvPr id="2051" name="Line 3"/>
        <cdr:cNvSpPr>
          <a:spLocks xmlns:a="http://schemas.openxmlformats.org/drawingml/2006/main" noChangeShapeType="1"/>
        </cdr:cNvSpPr>
      </cdr:nvSpPr>
      <cdr:spPr bwMode="auto">
        <a:xfrm xmlns:a="http://schemas.openxmlformats.org/drawingml/2006/main" flipV="1">
          <a:off x="1584654" y="694959"/>
          <a:ext cx="4819" cy="108742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9525">
          <a:solidFill>
            <a:srgbClr val="000000"/>
          </a:solidFill>
          <a:prstDash val="dash"/>
          <a:round/>
          <a:headEnd/>
          <a:tailEnd type="diamond" w="med" len="med"/>
        </a:ln>
      </cdr:spPr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fld id="{B89E83C0-2806-4AE2-847B-369DE5D7B4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8653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fld id="{FE88E9E8-793F-4ACE-A890-11A9C36ACA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47129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979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31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solidFill>
            <a:srgbClr val="FFFFFF"/>
          </a:solidFill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634511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3875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647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5837" cy="3597275"/>
          </a:xfrm>
          <a:solidFill>
            <a:srgbClr val="FFFFFF"/>
          </a:solidFill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277" tIns="48139" rIns="96277" bIns="48139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46239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519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5837" cy="3597275"/>
          </a:xfrm>
          <a:solidFill>
            <a:srgbClr val="FFFFFF"/>
          </a:solidFill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277" tIns="48139" rIns="96277" bIns="48139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685859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5837" cy="3597275"/>
          </a:xfrm>
          <a:solidFill>
            <a:srgbClr val="FFFFFF"/>
          </a:solidFill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277" tIns="48139" rIns="96277" bIns="48139"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725494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2185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ECB9FF3-3E88-429F-BD41-DFE708273C0C}" type="slidenum">
              <a:rPr lang="en-US" altLang="en-US" sz="130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483952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28867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A9E6846-793A-4FCE-8215-F10C8444D5B7}" type="slidenum">
              <a:rPr lang="en-US" altLang="en-US" sz="130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62314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26EE85-BA87-448F-90A7-C8C3BBB5EEE3}" type="slidenum">
              <a:rPr lang="en-US" altLang="en-US" sz="1300"/>
              <a:pPr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529665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7459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4CFB66-DDFF-467F-B258-44DF24803AF1}" type="slidenum">
              <a:rPr lang="en-US" altLang="en-US" sz="1300"/>
              <a:pPr>
                <a:spcBef>
                  <a:spcPct val="0"/>
                </a:spcBef>
              </a:pPr>
              <a:t>23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24813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F9FCF24-9110-4A50-A19A-FCB15F7A7840}" type="slidenum">
              <a:rPr lang="en-US" altLang="en-US" sz="1300"/>
              <a:pPr>
                <a:spcBef>
                  <a:spcPct val="0"/>
                </a:spcBef>
              </a:pPr>
              <a:t>24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725282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5253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BD4C87-F0A3-4103-96B7-E8942773F0B6}" type="slidenum">
              <a:rPr lang="en-US" altLang="en-US" sz="1300"/>
              <a:pPr>
                <a:spcBef>
                  <a:spcPct val="0"/>
                </a:spcBef>
              </a:pPr>
              <a:t>26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040490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912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63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39BE158B-0E8B-4658-9618-E3E915A4B3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176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256C55-51D8-433B-8658-4AFB8CF95D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601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CF8599-39B3-4533-BCC2-F417D0B8A3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672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E735A3-97BE-4094-BEC8-0F931B093B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093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C793FD-034A-4056-B960-48921A0DD7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08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7284D9-35F3-4745-B9B9-1B5BDE4F09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370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7270F2-64C8-4208-873B-F3FCC3B4A4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502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530752-4730-4D53-B2F0-D8AECBEB0E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88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5A8871-2708-4957-B9F2-3F157465D5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7756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37DD0-56F1-4A5B-848A-1EE4E5758A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215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206C41-A336-481E-9A3D-2230D8AD1E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9603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BFDF0-B1D2-4F9B-9909-56409B6677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9238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0FE92-6D3F-4531-B70A-12B9E52F85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990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4.</a:t>
            </a:r>
            <a:fld id="{B1198E8D-550A-449F-AAFF-E82879184C8F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763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19763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10.</a:t>
            </a:r>
            <a:fld id="{3A547925-2098-4FF5-8F59-F6AD3D5C5F6A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Interest Rate Risk</a:t>
            </a:r>
          </a:p>
        </p:txBody>
      </p:sp>
      <p:sp>
        <p:nvSpPr>
          <p:cNvPr id="14339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Chapter 14</a:t>
            </a:r>
          </a:p>
        </p:txBody>
      </p:sp>
      <p:sp>
        <p:nvSpPr>
          <p:cNvPr id="14340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1434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047620-9E03-40EB-AF78-F720594E574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A6F6-C975-04C3-CD76-D8D8A4C9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Types of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81C3A-FE25-949F-471F-769F6A981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Treasury rates</a:t>
            </a:r>
          </a:p>
          <a:p>
            <a:r>
              <a:rPr lang="en-CA" dirty="0"/>
              <a:t>Overnight rates (SOFR, SARON, SONIA, ESTER, TONAR, etc.)</a:t>
            </a:r>
          </a:p>
          <a:p>
            <a:r>
              <a:rPr lang="en-CA" dirty="0"/>
              <a:t>Reference Rates (LIBOR has been discontinued and the new reference rates proposed by regulators are the overnight rates)</a:t>
            </a:r>
          </a:p>
          <a:p>
            <a:r>
              <a:rPr lang="en-CA" dirty="0"/>
              <a:t>Repo Rates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07E01-D941-A710-AEEE-5D2D455B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6488B-949A-E654-947E-A4224CBEF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C55-51D8-433B-8658-4AFB8CF95DA3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074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Repo Rate</a:t>
            </a:r>
            <a:endParaRPr lang="en-US" altLang="en-US" dirty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A financial institution owning securities agrees to sell them today for a certain price and buy them back in the future for a slightly higher price</a:t>
            </a:r>
          </a:p>
          <a:p>
            <a:r>
              <a:rPr lang="en-CA" altLang="en-US" dirty="0"/>
              <a:t>The interest on the loan is the difference between the two prices</a:t>
            </a:r>
          </a:p>
          <a:p>
            <a:pPr marL="0" indent="0">
              <a:buNone/>
            </a:pPr>
            <a:endParaRPr lang="en-CA" altLang="en-US" dirty="0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5604AC-93C7-4D7D-899F-2311ECD08551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Multiple Vertices </a:t>
            </a:r>
            <a:r>
              <a:rPr lang="en-CA" sz="2000" dirty="0"/>
              <a:t>(Figure 14.1)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Ten vertices are typically monitored on a yield curve and deltas are calculated with respect to a one-basis point change in each vertex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0FE92-6D3F-4531-B70A-12B9E52F8502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87" y="2958360"/>
            <a:ext cx="5613826" cy="351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7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 of a Single Correlation Measure for Two Term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Alternatives:</a:t>
            </a:r>
          </a:p>
          <a:p>
            <a:r>
              <a:rPr lang="en-CA" sz="2800" dirty="0"/>
              <a:t>Assume that correlation between a vertex in TS1 and a vertex in TS2 are the same for all pairs of vertices (leads to equation 14.2)</a:t>
            </a:r>
          </a:p>
          <a:p>
            <a:r>
              <a:rPr lang="en-CA" sz="2800" dirty="0"/>
              <a:t>Calculate SD of portfolio from TS1 deltas and SD of portfolio from TS2 deltas. Use the correlation to combine the two SDs (leads to equation 14.3)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0FE92-6D3F-4531-B70A-12B9E52F850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91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Principal Components Analysis</a:t>
            </a:r>
            <a:endParaRPr lang="en-CA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Attempts to identify standard shifts (or factors) for the yield curve so that most of the movements that are observed in practice are combinations of the standard shifts   </a:t>
            </a:r>
            <a:endParaRPr lang="en-CA" altLang="en-US" dirty="0">
              <a:cs typeface="Arial" panose="020B0604020202020204" pitchFamily="34" charset="0"/>
            </a:endParaRPr>
          </a:p>
        </p:txBody>
      </p:sp>
      <p:sp>
        <p:nvSpPr>
          <p:cNvPr id="409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4096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19D071-7E7B-445A-8BDA-FBBD6255E0A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45994"/>
            <a:ext cx="79248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Results for U.S. Treasury Rates</a:t>
            </a:r>
            <a:r>
              <a:rPr lang="en-CA" altLang="en-US" sz="2200" dirty="0"/>
              <a:t>(Tables </a:t>
            </a:r>
            <a:r>
              <a:rPr lang="en-US" altLang="en-US" sz="2200" dirty="0"/>
              <a:t>14.3 and 14.4</a:t>
            </a:r>
            <a:r>
              <a:rPr lang="en-CA" altLang="en-US" sz="2200" dirty="0"/>
              <a:t>)</a:t>
            </a:r>
            <a:endParaRPr lang="en-US" altLang="en-US" sz="2200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57375"/>
            <a:ext cx="8229600" cy="427355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The first factor is a  roughly parallel shift (87.3% of variance explained)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The second factor is a twist (extra 8.3% of variance explained)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The third factor is a bowing (extra 2.1% of variance explained)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cs typeface="Arial" panose="020B0604020202020204" pitchFamily="34" charset="0"/>
              </a:rPr>
              <a:t>		</a:t>
            </a: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4198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C84663-2DC7-4572-830A-9335059F71F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248E9-2946-588D-5800-67003CA6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Calculating </a:t>
            </a:r>
            <a:r>
              <a:rPr lang="en-CA" dirty="0" err="1"/>
              <a:t>VaR</a:t>
            </a:r>
            <a:r>
              <a:rPr lang="en-CA" dirty="0"/>
              <a:t> and ES (Section 14.3.1)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45C92-DD3B-031F-958B-A7EFEFDC0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Calculate the exposure to each PCA factor</a:t>
            </a:r>
          </a:p>
          <a:p>
            <a:r>
              <a:rPr lang="en-CA" dirty="0"/>
              <a:t>The factors are uncorrelated </a:t>
            </a:r>
          </a:p>
          <a:p>
            <a:r>
              <a:rPr lang="en-CA" dirty="0"/>
              <a:t>From the standard deviation of each factor score the standard deviation of the change in the value of the portfolio can be calculated</a:t>
            </a:r>
          </a:p>
          <a:p>
            <a:r>
              <a:rPr lang="en-CA" dirty="0"/>
              <a:t>Assuming normally distributed factors, </a:t>
            </a:r>
            <a:r>
              <a:rPr lang="en-CA" dirty="0" err="1"/>
              <a:t>VaR</a:t>
            </a:r>
            <a:r>
              <a:rPr lang="en-CA" dirty="0"/>
              <a:t> and ES can then be calculated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358EC-C552-F82E-ACE8-946072BA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Institutions, 6e, Chapter 14,  Copyright © John C. Hull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A058D-EFED-A665-D19E-1BC0887E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C55-51D8-433B-8658-4AFB8CF95DA3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381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Three Factors </a:t>
            </a:r>
            <a:r>
              <a:rPr lang="en-US" altLang="en-US" sz="2400" dirty="0"/>
              <a:t>(Figure 14.2)</a:t>
            </a:r>
            <a:endParaRPr lang="en-CA" altLang="en-US" sz="2400" dirty="0"/>
          </a:p>
        </p:txBody>
      </p:sp>
      <p:sp>
        <p:nvSpPr>
          <p:cNvPr id="4301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43012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E223A9-CD6C-413A-801C-AD8C436E6BF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8637952"/>
              </p:ext>
            </p:extLst>
          </p:nvPr>
        </p:nvGraphicFramePr>
        <p:xfrm>
          <a:off x="827584" y="1772816"/>
          <a:ext cx="6624736" cy="3816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7188"/>
            <a:ext cx="7543800" cy="1214437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Management of Net Interest Income </a:t>
            </a:r>
            <a:r>
              <a:rPr lang="en-US" altLang="en-US" sz="2400" dirty="0"/>
              <a:t>(Table 14.6)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28813"/>
            <a:ext cx="8002588" cy="4202112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cs typeface="Arial" panose="020B0604020202020204" pitchFamily="34" charset="0"/>
              </a:rPr>
              <a:t>Suppose that the market’s best guess is that future short-term rates will equal today’s rates</a:t>
            </a:r>
          </a:p>
          <a:p>
            <a:pPr eaLnBrk="1" hangingPunct="1"/>
            <a:r>
              <a:rPr lang="en-US" altLang="en-US" sz="2400" dirty="0">
                <a:cs typeface="Arial" panose="020B0604020202020204" pitchFamily="34" charset="0"/>
              </a:rPr>
              <a:t>What would happen if a bank posted the following rates?</a:t>
            </a:r>
          </a:p>
          <a:p>
            <a:pPr eaLnBrk="1" hangingPunct="1"/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/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/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/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/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400" dirty="0">
                <a:cs typeface="Arial" panose="020B0604020202020204" pitchFamily="34" charset="0"/>
              </a:rPr>
              <a:t>How can the bank manage its risks?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>
              <a:cs typeface="Arial" panose="020B0604020202020204" pitchFamily="34" charset="0"/>
            </a:endParaRPr>
          </a:p>
        </p:txBody>
      </p:sp>
      <p:graphicFrame>
        <p:nvGraphicFramePr>
          <p:cNvPr id="120869" name="Group 37"/>
          <p:cNvGraphicFramePr>
            <a:graphicFrameLocks noGrp="1"/>
          </p:cNvGraphicFramePr>
          <p:nvPr>
            <p:ph sz="half" idx="2"/>
          </p:nvPr>
        </p:nvGraphicFramePr>
        <p:xfrm>
          <a:off x="1692275" y="3786188"/>
          <a:ext cx="5472113" cy="1643062"/>
        </p:xfrm>
        <a:graphic>
          <a:graphicData uri="http://schemas.openxmlformats.org/drawingml/2006/table">
            <a:tbl>
              <a:tblPr/>
              <a:tblGrid>
                <a:gridCol w="1824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0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Maturity (yrs)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Deposit Rate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Mortgage Rate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0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3%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6%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0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3%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6%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382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1538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ED3AC4-6B9E-4A20-94FB-6EE0C6EDCFB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Management of Net Interest Income</a:t>
            </a:r>
            <a:endParaRPr lang="en-US" altLang="en-US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Most banks have asset-liability management groups to manage interest rate risk</a:t>
            </a:r>
          </a:p>
          <a:p>
            <a:pPr eaLnBrk="1" hangingPunct="1"/>
            <a:r>
              <a:rPr lang="en-CA" altLang="en-US"/>
              <a:t>When long term loans are funded with short term deposits interest rate swaps can be used to hedge the interest rate risk</a:t>
            </a:r>
          </a:p>
          <a:p>
            <a:pPr eaLnBrk="1" hangingPunct="1"/>
            <a:r>
              <a:rPr lang="en-CA" altLang="en-US"/>
              <a:t>But this does not hedge the liquidity risk</a:t>
            </a:r>
          </a:p>
          <a:p>
            <a:pPr eaLnBrk="1" hangingPunct="1"/>
            <a:endParaRPr lang="en-US" altLang="en-US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92ED69-D228-407B-AE62-EC12A8C93EF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Grp="1" noChangeArrowheads="1"/>
          </p:cNvSpPr>
          <p:nvPr>
            <p:ph type="title"/>
          </p:nvPr>
        </p:nvSpPr>
        <p:spPr>
          <a:xfrm>
            <a:off x="444500" y="500063"/>
            <a:ext cx="7813675" cy="121443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Duration </a:t>
            </a:r>
            <a:r>
              <a:rPr lang="en-US" altLang="en-US" sz="2400" dirty="0"/>
              <a:t>(Section 14.5)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idx="1"/>
          </p:nvPr>
        </p:nvSpPr>
        <p:spPr>
          <a:xfrm>
            <a:off x="317500" y="1727200"/>
            <a:ext cx="82550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dirty="0">
                <a:cs typeface="Arial" panose="020B0604020202020204" pitchFamily="34" charset="0"/>
              </a:rPr>
              <a:t>Duration of a bond that provides cash flow </a:t>
            </a:r>
            <a:r>
              <a:rPr lang="en-US" altLang="en-US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n-US" altLang="en-US" sz="2400" i="1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 sz="2400" baseline="-25000" dirty="0">
                <a:cs typeface="Arial" panose="020B0604020202020204" pitchFamily="34" charset="0"/>
              </a:rPr>
              <a:t> </a:t>
            </a:r>
            <a:r>
              <a:rPr lang="en-US" altLang="en-US" sz="2400" dirty="0">
                <a:cs typeface="Arial" panose="020B0604020202020204" pitchFamily="34" charset="0"/>
              </a:rPr>
              <a:t>at time </a:t>
            </a:r>
            <a:r>
              <a:rPr lang="en-US" altLang="en-US" sz="2400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altLang="en-US" sz="2400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altLang="en-US" sz="2400" dirty="0">
                <a:cs typeface="Arial" panose="020B0604020202020204" pitchFamily="34" charset="0"/>
              </a:rPr>
              <a:t> is														</a:t>
            </a:r>
          </a:p>
          <a:p>
            <a:pPr lvl="4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	where </a:t>
            </a:r>
            <a:r>
              <a:rPr lang="en-US" altLang="en-US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B </a:t>
            </a:r>
            <a:r>
              <a:rPr lang="en-US" altLang="en-US" sz="2400" dirty="0">
                <a:cs typeface="Arial" panose="020B0604020202020204" pitchFamily="34" charset="0"/>
              </a:rPr>
              <a:t>is its price and </a:t>
            </a:r>
            <a:r>
              <a:rPr lang="en-US" altLang="en-US" sz="2400" i="1" dirty="0">
                <a:latin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en-US" altLang="en-US" sz="2400" dirty="0">
                <a:cs typeface="Arial" panose="020B0604020202020204" pitchFamily="34" charset="0"/>
              </a:rPr>
              <a:t> is its yield (continuously compounded)</a:t>
            </a:r>
          </a:p>
          <a:p>
            <a:pPr eaLnBrk="1" hangingPunct="1"/>
            <a:r>
              <a:rPr lang="en-US" altLang="en-US" sz="2400" dirty="0">
                <a:cs typeface="Arial" panose="020B0604020202020204" pitchFamily="34" charset="0"/>
              </a:rPr>
              <a:t>This leads to 													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2458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F552D7-12DC-4D46-9D6C-51FB76A7AE0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  <p:graphicFrame>
        <p:nvGraphicFramePr>
          <p:cNvPr id="24582" name="Object 3"/>
          <p:cNvGraphicFramePr>
            <a:graphicFrameLocks/>
          </p:cNvGraphicFramePr>
          <p:nvPr/>
        </p:nvGraphicFramePr>
        <p:xfrm>
          <a:off x="3333750" y="2300288"/>
          <a:ext cx="2940050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837836" imgH="482391" progId="Equation.3">
                  <p:embed/>
                </p:oleObj>
              </mc:Choice>
              <mc:Fallback>
                <p:oleObj name="Equation" r:id="rId4" imgW="837836" imgH="482391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2300288"/>
                        <a:ext cx="2940050" cy="135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4"/>
          <p:cNvGraphicFramePr>
            <a:graphicFrameLocks/>
          </p:cNvGraphicFramePr>
          <p:nvPr/>
        </p:nvGraphicFramePr>
        <p:xfrm>
          <a:off x="3535363" y="5084763"/>
          <a:ext cx="31670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799753" imgH="393529" progId="Equation.3">
                  <p:embed/>
                </p:oleObj>
              </mc:Choice>
              <mc:Fallback>
                <p:oleObj name="Equation" r:id="rId6" imgW="799753" imgH="39352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5084763"/>
                        <a:ext cx="316706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8625"/>
            <a:ext cx="7543800" cy="1285875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Calculation of Duration for a 3-year bond paying a coupon 10%. Bond yield=12%. </a:t>
            </a:r>
            <a:r>
              <a:rPr lang="en-US" altLang="en-US" sz="2400" dirty="0"/>
              <a:t>(Table 14.8)</a:t>
            </a:r>
            <a:endParaRPr lang="en-CA" altLang="en-US" sz="24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 </a:t>
            </a:r>
            <a:endParaRPr lang="en-CA" altLang="en-US">
              <a:cs typeface="Arial" panose="020B0604020202020204" pitchFamily="34" charset="0"/>
            </a:endParaRP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25605" name="Slide Number Placeholder 6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5B453F-E0EF-4E19-9C7E-52A7029FBD1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  <p:graphicFrame>
        <p:nvGraphicFramePr>
          <p:cNvPr id="185416" name="Group 72"/>
          <p:cNvGraphicFramePr>
            <a:graphicFrameLocks noGrp="1"/>
          </p:cNvGraphicFramePr>
          <p:nvPr/>
        </p:nvGraphicFramePr>
        <p:xfrm>
          <a:off x="1214438" y="2214563"/>
          <a:ext cx="6958010" cy="3667136"/>
        </p:xfrm>
        <a:graphic>
          <a:graphicData uri="http://schemas.openxmlformats.org/drawingml/2006/table">
            <a:tbl>
              <a:tblPr/>
              <a:tblGrid>
                <a:gridCol w="1392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2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3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(yrs)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2" marB="460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Cash Flow ($)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2" marB="46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PV ($)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2" marB="46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Weight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2" marB="46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Weight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2" marB="460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4.709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0.050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4.435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0.047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0.047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4.176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0.044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0.066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2.0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3.933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0.042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0.083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3.704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0.039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0.098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3.0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73.256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0.778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2.333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130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94.213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1.000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2.653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R="190500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8625"/>
            <a:ext cx="8077200" cy="92868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Duration Continued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43063"/>
            <a:ext cx="7772400" cy="4452937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When the yield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en-US" altLang="en-US">
                <a:cs typeface="Arial" panose="020B0604020202020204" pitchFamily="34" charset="0"/>
              </a:rPr>
              <a:t> is expressed with compounding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US" altLang="en-US">
                <a:cs typeface="Arial" panose="020B0604020202020204" pitchFamily="34" charset="0"/>
              </a:rPr>
              <a:t> times per year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expression 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   is referred to as the “modified duration”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26629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E454B7-5D87-4CDA-ADEE-97F006A0DF6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  <p:graphicFrame>
        <p:nvGraphicFramePr>
          <p:cNvPr id="26630" name="Object 4"/>
          <p:cNvGraphicFramePr>
            <a:graphicFrameLocks/>
          </p:cNvGraphicFramePr>
          <p:nvPr/>
        </p:nvGraphicFramePr>
        <p:xfrm>
          <a:off x="2928938" y="2857500"/>
          <a:ext cx="23447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990170" imgH="431613" progId="Equation.3">
                  <p:embed/>
                </p:oleObj>
              </mc:Choice>
              <mc:Fallback>
                <p:oleObj name="Equation" r:id="rId4" imgW="990170" imgH="431613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2857500"/>
                        <a:ext cx="234473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5"/>
          <p:cNvGraphicFramePr>
            <a:graphicFrameLocks/>
          </p:cNvGraphicFramePr>
          <p:nvPr/>
        </p:nvGraphicFramePr>
        <p:xfrm>
          <a:off x="3500438" y="4572000"/>
          <a:ext cx="1600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6" imgW="520474" imgH="431613" progId="Equation.2">
                  <p:embed/>
                </p:oleObj>
              </mc:Choice>
              <mc:Fallback>
                <p:oleObj name="Equation" r:id="rId6" imgW="520474" imgH="431613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4572000"/>
                        <a:ext cx="1600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Convexity </a:t>
            </a:r>
            <a:r>
              <a:rPr lang="en-US" altLang="en-US" sz="2400" dirty="0"/>
              <a:t>(Section 14.6)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    The convexity of a bond is defined as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2765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7CD273-8B71-4746-AD57-2989D032F93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  <p:graphicFrame>
        <p:nvGraphicFramePr>
          <p:cNvPr id="27654" name="Object 4"/>
          <p:cNvGraphicFramePr>
            <a:graphicFrameLocks/>
          </p:cNvGraphicFramePr>
          <p:nvPr/>
        </p:nvGraphicFramePr>
        <p:xfrm>
          <a:off x="1000125" y="2098675"/>
          <a:ext cx="4429125" cy="401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1542982" imgH="1504880" progId="Equation.3">
                  <p:embed/>
                </p:oleObj>
              </mc:Choice>
              <mc:Fallback>
                <p:oleObj name="Equation" r:id="rId4" imgW="1542982" imgH="150488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098675"/>
                        <a:ext cx="4429125" cy="401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Portfolios</a:t>
            </a:r>
            <a:endParaRPr lang="en-CA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Duration and convexity can be defined similarly for portfolios of bonds and other interest-rate dependent securities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duration of a portfolio is the weighted average of the durations of the components of the portfolio. Similarly for convexity.</a:t>
            </a:r>
            <a:endParaRPr lang="en-CA" altLang="en-US">
              <a:cs typeface="Arial" panose="020B0604020202020204" pitchFamily="34" charset="0"/>
            </a:endParaRP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2867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235709-6D70-46AA-99F6-2A933E65889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/>
              <a:t>What Duration and Convexity Measure</a:t>
            </a:r>
            <a:endParaRPr lang="en-US" altLang="en-US" sz="360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Duration measures the effect of a small parallel shift in the yield curve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Duration plus convexity measure the effect of a larger parallel shift in the yield curve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However, they do not measure the effect of non-parallel shifts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CB2E86-B6F1-402E-A93D-6BB9DCFDCA7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Other Measures</a:t>
            </a:r>
            <a:endParaRPr lang="en-US" altLang="en-US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Dollar Duration: Product of the portfolio value and its duration </a:t>
            </a:r>
          </a:p>
          <a:p>
            <a:pPr eaLnBrk="1" hangingPunct="1"/>
            <a:r>
              <a:rPr lang="en-CA" altLang="en-US" dirty="0"/>
              <a:t>Dollar Convexity: Product of convexity and value of the portfolio </a:t>
            </a:r>
          </a:p>
          <a:p>
            <a:pPr eaLnBrk="1" hangingPunct="1"/>
            <a:r>
              <a:rPr lang="en-CA" altLang="en-US" dirty="0"/>
              <a:t>DV01: Dollar impact of a one-basis-point parallel shift</a:t>
            </a:r>
            <a:endParaRPr lang="en-US" altLang="en-US" dirty="0"/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61D8AF-3B65-436E-A35A-A53B54770FF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Starting Zero Curve </a:t>
            </a:r>
            <a:r>
              <a:rPr lang="en-US" altLang="en-US" sz="2400" dirty="0"/>
              <a:t>(Figure 14.5)</a:t>
            </a:r>
            <a:endParaRPr lang="en-CA" altLang="en-US" sz="2400" dirty="0"/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174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3E00C6-FE8B-4E21-B177-AEB4787F54A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2147888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cs typeface="Arial" panose="020B0604020202020204" pitchFamily="34" charset="0"/>
              </a:rPr>
              <a:t> </a:t>
            </a:r>
            <a:endParaRPr lang="en-CA" altLang="en-US" dirty="0">
              <a:cs typeface="Arial" panose="020B0604020202020204" pitchFamily="34" charset="0"/>
            </a:endParaRPr>
          </a:p>
        </p:txBody>
      </p:sp>
      <p:graphicFrame>
        <p:nvGraphicFramePr>
          <p:cNvPr id="10" name="Chart 9"/>
          <p:cNvGraphicFramePr>
            <a:graphicFrameLocks/>
          </p:cNvGraphicFramePr>
          <p:nvPr/>
        </p:nvGraphicFramePr>
        <p:xfrm>
          <a:off x="2071670" y="2214554"/>
          <a:ext cx="4905375" cy="357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Parallel Shift</a:t>
            </a:r>
            <a:endParaRPr lang="en-US" altLang="en-US"/>
          </a:p>
        </p:txBody>
      </p:sp>
      <p:sp>
        <p:nvSpPr>
          <p:cNvPr id="3277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F8EF14-CC47-472C-A70D-37B8800DF60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  <p:graphicFrame>
        <p:nvGraphicFramePr>
          <p:cNvPr id="4" name="Chart 3"/>
          <p:cNvGraphicFramePr>
            <a:graphicFrameLocks/>
          </p:cNvGraphicFramePr>
          <p:nvPr/>
        </p:nvGraphicFramePr>
        <p:xfrm>
          <a:off x="1857356" y="2285992"/>
          <a:ext cx="4905375" cy="377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Partial Duration</a:t>
            </a:r>
            <a:endParaRPr lang="en-US" altLang="en-US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A partial duration calculates the effect on a portfolio of a change to just one point on the zero curve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D14A28-1EAA-4559-A99E-C0BCDEC1D3E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Partial Duration continued</a:t>
            </a:r>
            <a:br>
              <a:rPr lang="en-US" altLang="en-US" dirty="0"/>
            </a:br>
            <a:r>
              <a:rPr lang="en-US" altLang="en-US" sz="2400" dirty="0"/>
              <a:t>(Figure 14.6)</a:t>
            </a:r>
            <a:br>
              <a:rPr lang="en-US" altLang="en-US" sz="2400" dirty="0"/>
            </a:br>
            <a:endParaRPr lang="en-CA" altLang="en-US" sz="2400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 </a:t>
            </a:r>
            <a:endParaRPr lang="en-CA" altLang="en-US">
              <a:cs typeface="Arial" panose="020B0604020202020204" pitchFamily="34" charset="0"/>
            </a:endParaRPr>
          </a:p>
        </p:txBody>
      </p:sp>
      <p:sp>
        <p:nvSpPr>
          <p:cNvPr id="348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482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AC4FD4-6700-41BA-B9A8-C5AE7992B8A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1714480" y="2143116"/>
          <a:ext cx="4905375" cy="377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Example </a:t>
            </a:r>
            <a:r>
              <a:rPr lang="en-CA" altLang="en-US" sz="2800" dirty="0"/>
              <a:t>(Table 14.10)</a:t>
            </a:r>
            <a:endParaRPr lang="en-US" altLang="en-US" sz="2800" dirty="0"/>
          </a:p>
        </p:txBody>
      </p:sp>
      <p:sp>
        <p:nvSpPr>
          <p:cNvPr id="3584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584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3969B1-04AB-4EE1-A7AD-B959384819B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28688" y="2643188"/>
          <a:ext cx="6524623" cy="1279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55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9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49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Maturity </a:t>
                      </a:r>
                    </a:p>
                    <a:p>
                      <a:pPr algn="ctr"/>
                      <a:r>
                        <a:rPr lang="en-CA" sz="1800" dirty="0"/>
                        <a:t>yrs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2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3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4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5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7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10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Total</a:t>
                      </a:r>
                      <a:endParaRPr lang="en-US" sz="1600" dirty="0"/>
                    </a:p>
                  </a:txBody>
                  <a:tcPr marT="45615" marB="456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Partial duration</a:t>
                      </a:r>
                      <a:endParaRPr lang="en-US" sz="18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0.2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0.6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0.9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1.6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2.0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−2.1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−3.0</a:t>
                      </a:r>
                      <a:endParaRPr lang="en-US" sz="1600" dirty="0"/>
                    </a:p>
                  </a:txBody>
                  <a:tcPr marT="45615" marB="456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dirty="0"/>
                        <a:t>0.2</a:t>
                      </a:r>
                      <a:endParaRPr lang="en-US" sz="1600" dirty="0"/>
                    </a:p>
                  </a:txBody>
                  <a:tcPr marT="45615" marB="456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246063" y="500063"/>
            <a:ext cx="7772400" cy="1857375"/>
          </a:xfrm>
        </p:spPr>
        <p:txBody>
          <a:bodyPr/>
          <a:lstStyle/>
          <a:p>
            <a:pPr eaLnBrk="1" hangingPunct="1"/>
            <a:r>
              <a:rPr lang="en-CA" altLang="en-US" sz="3600"/>
              <a:t>Partial Durations Can Be Used to Investigate the Impact of Any Yield Curve Change</a:t>
            </a:r>
            <a:endParaRPr lang="en-US" alt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75" y="2786063"/>
            <a:ext cx="7743825" cy="3476625"/>
          </a:xfrm>
        </p:spPr>
        <p:txBody>
          <a:bodyPr/>
          <a:lstStyle/>
          <a:p>
            <a:pPr eaLnBrk="1" hangingPunct="1">
              <a:defRPr/>
            </a:pPr>
            <a:r>
              <a:rPr lang="en-CA" sz="2800" dirty="0"/>
              <a:t>Any yield curve change can be defined in terms of changes to individual points on the yield curve</a:t>
            </a:r>
          </a:p>
          <a:p>
            <a:pPr eaLnBrk="1" hangingPunct="1">
              <a:defRPr/>
            </a:pPr>
            <a:r>
              <a:rPr lang="en-CA" sz="2800" dirty="0"/>
              <a:t>For example, to define a rotation we could change the 1-, 2-, 3-, 4-, 5-, 7, and 10-year maturities by −</a:t>
            </a:r>
            <a:r>
              <a:rPr lang="en-CA" sz="2800" dirty="0">
                <a:latin typeface="+mj-lt"/>
              </a:rPr>
              <a:t>3</a:t>
            </a:r>
            <a:r>
              <a:rPr lang="en-CA" sz="2800" i="1" dirty="0">
                <a:latin typeface="+mj-lt"/>
              </a:rPr>
              <a:t>e</a:t>
            </a:r>
            <a:r>
              <a:rPr lang="en-CA" sz="2800" dirty="0"/>
              <a:t>, − </a:t>
            </a:r>
            <a:r>
              <a:rPr lang="en-CA" sz="2800" dirty="0">
                <a:latin typeface="+mj-lt"/>
              </a:rPr>
              <a:t>2</a:t>
            </a:r>
            <a:r>
              <a:rPr lang="en-CA" sz="2800" i="1" dirty="0">
                <a:latin typeface="+mj-lt"/>
              </a:rPr>
              <a:t>e</a:t>
            </a:r>
            <a:r>
              <a:rPr lang="en-CA" sz="2800" dirty="0"/>
              <a:t>, − </a:t>
            </a:r>
            <a:r>
              <a:rPr lang="en-CA" sz="2800" i="1" dirty="0">
                <a:latin typeface="+mj-lt"/>
              </a:rPr>
              <a:t>e</a:t>
            </a:r>
            <a:r>
              <a:rPr lang="en-CA" sz="2800" dirty="0"/>
              <a:t>, </a:t>
            </a:r>
            <a:r>
              <a:rPr lang="en-CA" sz="2800" dirty="0">
                <a:latin typeface="+mj-lt"/>
              </a:rPr>
              <a:t>0, </a:t>
            </a:r>
            <a:r>
              <a:rPr lang="en-CA" sz="2800" i="1" dirty="0">
                <a:latin typeface="+mj-lt"/>
              </a:rPr>
              <a:t>e</a:t>
            </a:r>
            <a:r>
              <a:rPr lang="en-CA" sz="2800" dirty="0">
                <a:latin typeface="+mj-lt"/>
              </a:rPr>
              <a:t>, 3</a:t>
            </a:r>
            <a:r>
              <a:rPr lang="en-CA" sz="2800" i="1" dirty="0">
                <a:latin typeface="+mj-lt"/>
              </a:rPr>
              <a:t>e</a:t>
            </a:r>
            <a:r>
              <a:rPr lang="en-CA" sz="2800" dirty="0">
                <a:latin typeface="+mj-lt"/>
              </a:rPr>
              <a:t>, 6</a:t>
            </a:r>
            <a:r>
              <a:rPr lang="en-CA" sz="2800" i="1" dirty="0">
                <a:latin typeface="+mj-lt"/>
              </a:rPr>
              <a:t>e</a:t>
            </a:r>
          </a:p>
        </p:txBody>
      </p:sp>
      <p:sp>
        <p:nvSpPr>
          <p:cNvPr id="368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40369A-CCFB-4E80-A0DB-3F6EF2D3BF7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Combining Partial Durations  to Create Rotation in the Yield Curve </a:t>
            </a:r>
            <a:br>
              <a:rPr lang="en-US" altLang="en-US" sz="3200" dirty="0"/>
            </a:br>
            <a:r>
              <a:rPr lang="en-US" altLang="en-US" sz="2400" dirty="0"/>
              <a:t>(Figure 14,7)</a:t>
            </a:r>
            <a:endParaRPr lang="en-CA" altLang="en-US" sz="2400" dirty="0"/>
          </a:p>
        </p:txBody>
      </p:sp>
      <p:sp>
        <p:nvSpPr>
          <p:cNvPr id="3789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789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97EAE0-A3DF-4CCC-B462-E5A8F3C10E5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2071670" y="2500306"/>
          <a:ext cx="4905375" cy="3286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Impact of Rotation</a:t>
            </a:r>
            <a:endParaRPr lang="en-US" altLang="en-US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The impact of the rotation on the proportional change in the value of the portfolio in the example is</a:t>
            </a:r>
          </a:p>
          <a:p>
            <a:pPr eaLnBrk="1" hangingPunct="1">
              <a:buFontTx/>
              <a:buNone/>
            </a:pPr>
            <a:r>
              <a:rPr lang="en-CA" altLang="en-US">
                <a:cs typeface="Arial" panose="020B0604020202020204" pitchFamily="34" charset="0"/>
              </a:rPr>
              <a:t> 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9A62C3-734F-4399-A865-5FE5261456F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/>
          </a:p>
        </p:txBody>
      </p:sp>
      <p:graphicFrame>
        <p:nvGraphicFramePr>
          <p:cNvPr id="38918" name="Object 2"/>
          <p:cNvGraphicFramePr>
            <a:graphicFrameLocks noChangeAspect="1"/>
          </p:cNvGraphicFramePr>
          <p:nvPr/>
        </p:nvGraphicFramePr>
        <p:xfrm>
          <a:off x="903288" y="3857625"/>
          <a:ext cx="77946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3251200" imgH="203200" progId="Equation.3">
                  <p:embed/>
                </p:oleObj>
              </mc:Choice>
              <mc:Fallback>
                <p:oleObj name="Equation" r:id="rId4" imgW="3251200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3857625"/>
                        <a:ext cx="779462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Alternative approach </a:t>
            </a:r>
            <a:r>
              <a:rPr lang="en-US" altLang="en-US" sz="2400" dirty="0"/>
              <a:t>(Figure 14.8)</a:t>
            </a:r>
            <a:br>
              <a:rPr lang="en-US" altLang="en-US" sz="2400" dirty="0"/>
            </a:br>
            <a:r>
              <a:rPr lang="en-US" altLang="en-US" sz="2400" dirty="0"/>
              <a:t>Bucket the yield curve and investigate the effect of a small change to each bucket</a:t>
            </a:r>
            <a:endParaRPr lang="en-CA" altLang="en-US" sz="2400" dirty="0"/>
          </a:p>
        </p:txBody>
      </p:sp>
      <p:sp>
        <p:nvSpPr>
          <p:cNvPr id="3993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3994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660607-4A12-4342-BAFB-3873C18872D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800"/>
          </a:p>
        </p:txBody>
      </p:sp>
      <p:graphicFrame>
        <p:nvGraphicFramePr>
          <p:cNvPr id="9" name="Chart 8"/>
          <p:cNvGraphicFramePr>
            <a:graphicFrameLocks/>
          </p:cNvGraphicFramePr>
          <p:nvPr/>
        </p:nvGraphicFramePr>
        <p:xfrm>
          <a:off x="1571604" y="2428868"/>
          <a:ext cx="5000660" cy="357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Alternatives for Calculating Multiple Deltas to Reflect Non-Parallel Shifts in Yield Curve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14500"/>
            <a:ext cx="7772400" cy="4548188"/>
          </a:xfrm>
        </p:spPr>
        <p:txBody>
          <a:bodyPr/>
          <a:lstStyle/>
          <a:p>
            <a:pPr eaLnBrk="1" hangingPunct="1"/>
            <a:r>
              <a:rPr lang="en-US" altLang="en-US" sz="2800">
                <a:cs typeface="Arial" panose="020B0604020202020204" pitchFamily="34" charset="0"/>
              </a:rPr>
              <a:t>Shift individual points on the yield curve by one basis point (the partial duration approach)</a:t>
            </a:r>
          </a:p>
          <a:p>
            <a:pPr eaLnBrk="1" hangingPunct="1"/>
            <a:r>
              <a:rPr lang="en-US" altLang="en-US" sz="2800">
                <a:cs typeface="Arial" panose="020B0604020202020204" pitchFamily="34" charset="0"/>
              </a:rPr>
              <a:t>Shift segments of the yield curve by one basis point (the bucketing approach)</a:t>
            </a:r>
          </a:p>
          <a:p>
            <a:pPr eaLnBrk="1" hangingPunct="1"/>
            <a:r>
              <a:rPr lang="en-US" altLang="en-US" sz="2800">
                <a:cs typeface="Arial" panose="020B0604020202020204" pitchFamily="34" charset="0"/>
              </a:rPr>
              <a:t>Shift quotes on instruments used to calculate the yield curve</a:t>
            </a:r>
          </a:p>
          <a:p>
            <a:pPr eaLnBrk="1" hangingPunct="1"/>
            <a:r>
              <a:rPr lang="en-US" altLang="en-US" sz="2800">
                <a:cs typeface="Arial" panose="020B0604020202020204" pitchFamily="34" charset="0"/>
              </a:rPr>
              <a:t>Calculate deltas with respect to the shifts given by a principal components analysis.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440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Institutions, 6e, Chapter 14,  Copyright © John C. Hull 2023</a:t>
            </a:r>
          </a:p>
        </p:txBody>
      </p:sp>
      <p:sp>
        <p:nvSpPr>
          <p:cNvPr id="4403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456EE0-709B-4238-846C-B36BFBF3698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HullRMFICh09">
  <a:themeElements>
    <a:clrScheme name="HullRMFICh09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09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09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09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HullRMFICh12 9">
    <a:dk1>
      <a:srgbClr val="000000"/>
    </a:dk1>
    <a:lt1>
      <a:srgbClr val="FFFFFF"/>
    </a:lt1>
    <a:dk2>
      <a:srgbClr val="7C1302"/>
    </a:dk2>
    <a:lt2>
      <a:srgbClr val="CC9900"/>
    </a:lt2>
    <a:accent1>
      <a:srgbClr val="CC9900"/>
    </a:accent1>
    <a:accent2>
      <a:srgbClr val="CC3300"/>
    </a:accent2>
    <a:accent3>
      <a:srgbClr val="FFFFFF"/>
    </a:accent3>
    <a:accent4>
      <a:srgbClr val="000000"/>
    </a:accent4>
    <a:accent5>
      <a:srgbClr val="E2CAAA"/>
    </a:accent5>
    <a:accent6>
      <a:srgbClr val="B92D00"/>
    </a:accent6>
    <a:hlink>
      <a:srgbClr val="808080"/>
    </a:hlink>
    <a:folHlink>
      <a:srgbClr val="CCCC66"/>
    </a:folHlink>
  </a:clrScheme>
  <a:fontScheme name="HullRMFICh12">
    <a:majorFont>
      <a:latin typeface="Times New Roman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HullRMFICh12 9">
    <a:dk1>
      <a:srgbClr val="000000"/>
    </a:dk1>
    <a:lt1>
      <a:srgbClr val="FFFFFF"/>
    </a:lt1>
    <a:dk2>
      <a:srgbClr val="7C1302"/>
    </a:dk2>
    <a:lt2>
      <a:srgbClr val="CC9900"/>
    </a:lt2>
    <a:accent1>
      <a:srgbClr val="CC9900"/>
    </a:accent1>
    <a:accent2>
      <a:srgbClr val="CC3300"/>
    </a:accent2>
    <a:accent3>
      <a:srgbClr val="FFFFFF"/>
    </a:accent3>
    <a:accent4>
      <a:srgbClr val="000000"/>
    </a:accent4>
    <a:accent5>
      <a:srgbClr val="E2CAAA"/>
    </a:accent5>
    <a:accent6>
      <a:srgbClr val="B92D00"/>
    </a:accent6>
    <a:hlink>
      <a:srgbClr val="808080"/>
    </a:hlink>
    <a:folHlink>
      <a:srgbClr val="CCCC66"/>
    </a:folHlink>
  </a:clrScheme>
  <a:fontScheme name="HullRMFICh12">
    <a:majorFont>
      <a:latin typeface="Times New Roman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HullRMFICh12 9">
    <a:dk1>
      <a:srgbClr val="000000"/>
    </a:dk1>
    <a:lt1>
      <a:srgbClr val="FFFFFF"/>
    </a:lt1>
    <a:dk2>
      <a:srgbClr val="7C1302"/>
    </a:dk2>
    <a:lt2>
      <a:srgbClr val="CC9900"/>
    </a:lt2>
    <a:accent1>
      <a:srgbClr val="CC9900"/>
    </a:accent1>
    <a:accent2>
      <a:srgbClr val="CC3300"/>
    </a:accent2>
    <a:accent3>
      <a:srgbClr val="FFFFFF"/>
    </a:accent3>
    <a:accent4>
      <a:srgbClr val="000000"/>
    </a:accent4>
    <a:accent5>
      <a:srgbClr val="E2CAAA"/>
    </a:accent5>
    <a:accent6>
      <a:srgbClr val="B92D00"/>
    </a:accent6>
    <a:hlink>
      <a:srgbClr val="808080"/>
    </a:hlink>
    <a:folHlink>
      <a:srgbClr val="CCCC66"/>
    </a:folHlink>
  </a:clrScheme>
  <a:fontScheme name="HullRMFICh12">
    <a:majorFont>
      <a:latin typeface="Times New Roman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HullRMFICh12 9">
    <a:dk1>
      <a:srgbClr val="000000"/>
    </a:dk1>
    <a:lt1>
      <a:srgbClr val="FFFFFF"/>
    </a:lt1>
    <a:dk2>
      <a:srgbClr val="7C1302"/>
    </a:dk2>
    <a:lt2>
      <a:srgbClr val="CC9900"/>
    </a:lt2>
    <a:accent1>
      <a:srgbClr val="CC9900"/>
    </a:accent1>
    <a:accent2>
      <a:srgbClr val="CC3300"/>
    </a:accent2>
    <a:accent3>
      <a:srgbClr val="FFFFFF"/>
    </a:accent3>
    <a:accent4>
      <a:srgbClr val="000000"/>
    </a:accent4>
    <a:accent5>
      <a:srgbClr val="E2CAAA"/>
    </a:accent5>
    <a:accent6>
      <a:srgbClr val="B92D00"/>
    </a:accent6>
    <a:hlink>
      <a:srgbClr val="808080"/>
    </a:hlink>
    <a:folHlink>
      <a:srgbClr val="CCCC66"/>
    </a:folHlink>
  </a:clrScheme>
  <a:fontScheme name="HullRMFICh12">
    <a:majorFont>
      <a:latin typeface="Times New Roman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HullRMFICh12 9">
    <a:dk1>
      <a:srgbClr val="000000"/>
    </a:dk1>
    <a:lt1>
      <a:srgbClr val="FFFFFF"/>
    </a:lt1>
    <a:dk2>
      <a:srgbClr val="7C1302"/>
    </a:dk2>
    <a:lt2>
      <a:srgbClr val="CC9900"/>
    </a:lt2>
    <a:accent1>
      <a:srgbClr val="CC9900"/>
    </a:accent1>
    <a:accent2>
      <a:srgbClr val="CC3300"/>
    </a:accent2>
    <a:accent3>
      <a:srgbClr val="FFFFFF"/>
    </a:accent3>
    <a:accent4>
      <a:srgbClr val="000000"/>
    </a:accent4>
    <a:accent5>
      <a:srgbClr val="E2CAAA"/>
    </a:accent5>
    <a:accent6>
      <a:srgbClr val="B92D00"/>
    </a:accent6>
    <a:hlink>
      <a:srgbClr val="808080"/>
    </a:hlink>
    <a:folHlink>
      <a:srgbClr val="CCCC66"/>
    </a:folHlink>
  </a:clrScheme>
  <a:fontScheme name="HullRMFICh12">
    <a:majorFont>
      <a:latin typeface="Times New Roman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EC9651-4B51-4DCA-82F4-927E1E610B2D}"/>
</file>

<file path=customXml/itemProps2.xml><?xml version="1.0" encoding="utf-8"?>
<ds:datastoreItem xmlns:ds="http://schemas.openxmlformats.org/officeDocument/2006/customXml" ds:itemID="{9ACAFB94-79B8-4E77-83B5-822E2CE60201}"/>
</file>

<file path=customXml/itemProps3.xml><?xml version="1.0" encoding="utf-8"?>
<ds:datastoreItem xmlns:ds="http://schemas.openxmlformats.org/officeDocument/2006/customXml" ds:itemID="{D5FA002D-1C70-4052-AE8C-9139C668C094}"/>
</file>

<file path=docProps/app.xml><?xml version="1.0" encoding="utf-8"?>
<Properties xmlns="http://schemas.openxmlformats.org/officeDocument/2006/extended-properties" xmlns:vt="http://schemas.openxmlformats.org/officeDocument/2006/docPropsVTypes">
  <Template>HullRMFI2ndEdCh18</Template>
  <TotalTime>1351</TotalTime>
  <Words>1590</Words>
  <Application>Microsoft Office PowerPoint</Application>
  <PresentationFormat>On-screen Show (4:3)</PresentationFormat>
  <Paragraphs>235</Paragraphs>
  <Slides>28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Times New Roman</vt:lpstr>
      <vt:lpstr>Wingdings</vt:lpstr>
      <vt:lpstr>HullRMFICh12</vt:lpstr>
      <vt:lpstr>HullRMFICh09</vt:lpstr>
      <vt:lpstr>Equation</vt:lpstr>
      <vt:lpstr>   Interest Rate Risk</vt:lpstr>
      <vt:lpstr>Types of Rates</vt:lpstr>
      <vt:lpstr>Repo Rate</vt:lpstr>
      <vt:lpstr>Multiple Vertices (Figure 14.1)</vt:lpstr>
      <vt:lpstr>Use of a Single Correlation Measure for Two Term Structures</vt:lpstr>
      <vt:lpstr>Principal Components Analysis</vt:lpstr>
      <vt:lpstr>Results for U.S. Treasury Rates(Tables 14.3 and 14.4)</vt:lpstr>
      <vt:lpstr>Calculating VaR and ES (Section 14.3.1)</vt:lpstr>
      <vt:lpstr>The Three Factors (Figure 14.2)</vt:lpstr>
      <vt:lpstr>Management of Net Interest Income (Table 14.6)</vt:lpstr>
      <vt:lpstr>Management of Net Interest Income</vt:lpstr>
      <vt:lpstr>Duration (Section 14.5)</vt:lpstr>
      <vt:lpstr>Calculation of Duration for a 3-year bond paying a coupon 10%. Bond yield=12%. (Table 14.8)</vt:lpstr>
      <vt:lpstr>Duration Continued</vt:lpstr>
      <vt:lpstr>Convexity (Section 14.6)</vt:lpstr>
      <vt:lpstr>Portfolios</vt:lpstr>
      <vt:lpstr>What Duration and Convexity Measure</vt:lpstr>
      <vt:lpstr>Other Measures</vt:lpstr>
      <vt:lpstr>Starting Zero Curve (Figure 14.5)</vt:lpstr>
      <vt:lpstr>Parallel Shift</vt:lpstr>
      <vt:lpstr>Partial Duration</vt:lpstr>
      <vt:lpstr>Partial Duration continued (Figure 14.6) </vt:lpstr>
      <vt:lpstr>Example (Table 14.10)</vt:lpstr>
      <vt:lpstr>Partial Durations Can Be Used to Investigate the Impact of Any Yield Curve Change</vt:lpstr>
      <vt:lpstr>Combining Partial Durations  to Create Rotation in the Yield Curve  (Figure 14,7)</vt:lpstr>
      <vt:lpstr>Impact of Rotation</vt:lpstr>
      <vt:lpstr>Alternative approach (Figure 14.8) Bucket the yield curve and investigate the effect of a small change to each bucket</vt:lpstr>
      <vt:lpstr>Alternatives for Calculating Multiple Deltas to Reflect Non-Parallel Shifts in Yield Curve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9</dc:subject>
  <dc:creator>John Hull</dc:creator>
  <cp:keywords>5th Edition</cp:keywords>
  <dc:description>Copyright 2018 by John Hull._x000d_
All rights reserved.</dc:description>
  <cp:lastModifiedBy>John Hull</cp:lastModifiedBy>
  <cp:revision>68</cp:revision>
  <dcterms:created xsi:type="dcterms:W3CDTF">2002-01-08T16:48:44Z</dcterms:created>
  <dcterms:modified xsi:type="dcterms:W3CDTF">2022-12-01T20:06:28Z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