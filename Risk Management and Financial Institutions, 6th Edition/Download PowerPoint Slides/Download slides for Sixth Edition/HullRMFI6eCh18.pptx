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entation.xml" ContentType="application/vnd.openxmlformats-officedocument.presentationml.presentation.main+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6.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56" r:id="rId1"/>
    <p:sldMasterId id="2147483954" r:id="rId2"/>
    <p:sldMasterId id="2147483966" r:id="rId3"/>
    <p:sldMasterId id="2147483980" r:id="rId4"/>
  </p:sldMasterIdLst>
  <p:notesMasterIdLst>
    <p:notesMasterId r:id="rId37"/>
  </p:notesMasterIdLst>
  <p:handoutMasterIdLst>
    <p:handoutMasterId r:id="rId38"/>
  </p:handoutMasterIdLst>
  <p:sldIdLst>
    <p:sldId id="761" r:id="rId5"/>
    <p:sldId id="807" r:id="rId6"/>
    <p:sldId id="787" r:id="rId7"/>
    <p:sldId id="789" r:id="rId8"/>
    <p:sldId id="790" r:id="rId9"/>
    <p:sldId id="808" r:id="rId10"/>
    <p:sldId id="791" r:id="rId11"/>
    <p:sldId id="809" r:id="rId12"/>
    <p:sldId id="810" r:id="rId13"/>
    <p:sldId id="811" r:id="rId14"/>
    <p:sldId id="792" r:id="rId15"/>
    <p:sldId id="797" r:id="rId16"/>
    <p:sldId id="806" r:id="rId17"/>
    <p:sldId id="801" r:id="rId18"/>
    <p:sldId id="802" r:id="rId19"/>
    <p:sldId id="803" r:id="rId20"/>
    <p:sldId id="795" r:id="rId21"/>
    <p:sldId id="796" r:id="rId22"/>
    <p:sldId id="767" r:id="rId23"/>
    <p:sldId id="762" r:id="rId24"/>
    <p:sldId id="804" r:id="rId25"/>
    <p:sldId id="771" r:id="rId26"/>
    <p:sldId id="805" r:id="rId27"/>
    <p:sldId id="812" r:id="rId28"/>
    <p:sldId id="813" r:id="rId29"/>
    <p:sldId id="814" r:id="rId30"/>
    <p:sldId id="815" r:id="rId31"/>
    <p:sldId id="816" r:id="rId32"/>
    <p:sldId id="817" r:id="rId33"/>
    <p:sldId id="818" r:id="rId34"/>
    <p:sldId id="819" r:id="rId35"/>
    <p:sldId id="820" r:id="rId36"/>
  </p:sldIdLst>
  <p:sldSz cx="9144000" cy="6858000" type="letter"/>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autoAdjust="0"/>
  </p:normalViewPr>
  <p:slideViewPr>
    <p:cSldViewPr>
      <p:cViewPr varScale="1">
        <p:scale>
          <a:sx n="139" d="100"/>
          <a:sy n="139" d="100"/>
        </p:scale>
        <p:origin x="726" y="1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742"/>
    </p:cViewPr>
  </p:sorterViewPr>
  <p:notesViewPr>
    <p:cSldViewPr>
      <p:cViewPr varScale="1">
        <p:scale>
          <a:sx n="81" d="100"/>
          <a:sy n="81" d="100"/>
        </p:scale>
        <p:origin x="-1968" y="-102"/>
      </p:cViewPr>
      <p:guideLst>
        <p:guide orient="horz" pos="3024"/>
        <p:guide pos="230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ustomXml" Target="../customXml/item2.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customXml" Target="../customXml/item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l" defTabSz="958850" eaLnBrk="0" hangingPunct="0">
              <a:defRPr sz="1000" i="1">
                <a:latin typeface="Arial" charset="0"/>
              </a:defRPr>
            </a:lvl1pPr>
          </a:lstStyle>
          <a:p>
            <a:pPr>
              <a:defRPr/>
            </a:pPr>
            <a:endParaRPr lang="en-US"/>
          </a:p>
        </p:txBody>
      </p:sp>
      <p:sp>
        <p:nvSpPr>
          <p:cNvPr id="3075" name="Rectangle 3"/>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r" defTabSz="958850" eaLnBrk="0" hangingPunct="0">
              <a:defRPr sz="1000" i="1">
                <a:latin typeface="Arial" charset="0"/>
              </a:defRPr>
            </a:lvl1pPr>
          </a:lstStyle>
          <a:p>
            <a:pPr>
              <a:defRPr/>
            </a:pPr>
            <a:endParaRPr lang="en-US"/>
          </a:p>
        </p:txBody>
      </p:sp>
      <p:sp>
        <p:nvSpPr>
          <p:cNvPr id="3076" name="Rectangle 4"/>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l" defTabSz="958850" eaLnBrk="0" hangingPunct="0">
              <a:defRPr sz="1000" i="1">
                <a:latin typeface="Arial" charset="0"/>
              </a:defRPr>
            </a:lvl1pPr>
          </a:lstStyle>
          <a:p>
            <a:pPr>
              <a:defRPr/>
            </a:pPr>
            <a:endParaRPr lang="en-US"/>
          </a:p>
        </p:txBody>
      </p:sp>
      <p:sp>
        <p:nvSpPr>
          <p:cNvPr id="3077" name="Rectangle 5"/>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r" defTabSz="958850">
              <a:defRPr sz="1000" i="1"/>
            </a:lvl1pPr>
          </a:lstStyle>
          <a:p>
            <a:fld id="{AE81B44F-0159-41CF-A230-8326D9213E42}" type="slidenum">
              <a:rPr lang="en-US" altLang="en-US"/>
              <a:pPr/>
              <a:t>‹#›</a:t>
            </a:fld>
            <a:endParaRPr lang="en-US" altLang="en-US"/>
          </a:p>
        </p:txBody>
      </p:sp>
    </p:spTree>
    <p:extLst>
      <p:ext uri="{BB962C8B-B14F-4D97-AF65-F5344CB8AC3E}">
        <p14:creationId xmlns:p14="http://schemas.microsoft.com/office/powerpoint/2010/main" val="22666755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l" defTabSz="800100" eaLnBrk="0" hangingPunct="0">
              <a:defRPr sz="1000" i="1">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r" defTabSz="800100" eaLnBrk="0" hangingPunct="0">
              <a:defRPr sz="1000" i="1">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l" defTabSz="800100" eaLnBrk="0" hangingPunct="0">
              <a:defRPr sz="1000" i="1">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r" defTabSz="800100">
              <a:defRPr sz="1000" i="1">
                <a:latin typeface="Times New Roman" panose="02020603050405020304" pitchFamily="18" charset="0"/>
              </a:defRPr>
            </a:lvl1pPr>
          </a:lstStyle>
          <a:p>
            <a:fld id="{1434D64C-3847-4735-AA4E-1E9818565340}" type="slidenum">
              <a:rPr lang="en-US" altLang="en-US"/>
              <a:pPr/>
              <a:t>‹#›</a:t>
            </a:fld>
            <a:endParaRPr lang="en-US" altLang="en-US"/>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596" tIns="48298" rIns="96596" bIns="48298"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7895" name="Rectangle 7"/>
          <p:cNvSpPr>
            <a:spLocks noGrp="1" noRot="1" noChangeAspect="1" noChangeArrowheads="1" noTextEdit="1"/>
          </p:cNvSpPr>
          <p:nvPr>
            <p:ph type="sldImg" idx="2"/>
          </p:nvPr>
        </p:nvSpPr>
        <p:spPr bwMode="auto">
          <a:xfrm>
            <a:off x="1262063" y="722313"/>
            <a:ext cx="4797425" cy="35972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34831917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a:latin typeface="Arial" panose="020B0604020202020204" pitchFamily="34" charset="0"/>
            </a:endParaRPr>
          </a:p>
        </p:txBody>
      </p:sp>
    </p:spTree>
    <p:extLst>
      <p:ext uri="{BB962C8B-B14F-4D97-AF65-F5344CB8AC3E}">
        <p14:creationId xmlns:p14="http://schemas.microsoft.com/office/powerpoint/2010/main" val="586290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A281B4D-2CDB-4343-90A8-0D1F8A9C6932}" type="slidenum">
              <a:rPr lang="en-US" altLang="en-US" sz="1000">
                <a:latin typeface="Times New Roman" panose="02020603050405020304" pitchFamily="18" charset="0"/>
              </a:rPr>
              <a:pPr>
                <a:spcBef>
                  <a:spcPct val="0"/>
                </a:spcBef>
              </a:pPr>
              <a:t>3</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1305514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9B34CEE-AE7C-4952-947C-A71E6C59DAF3}" type="slidenum">
              <a:rPr lang="en-US" altLang="en-US" sz="1000">
                <a:latin typeface="Times New Roman" panose="02020603050405020304" pitchFamily="18" charset="0"/>
              </a:rPr>
              <a:pPr>
                <a:spcBef>
                  <a:spcPct val="0"/>
                </a:spcBef>
              </a:pPr>
              <a:t>4</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1935234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AB2B056-2827-4F76-BF9B-2125AF4EC306}" type="slidenum">
              <a:rPr lang="en-US" altLang="en-US" sz="1000">
                <a:latin typeface="Times New Roman" panose="02020603050405020304" pitchFamily="18" charset="0"/>
              </a:rPr>
              <a:pPr>
                <a:spcBef>
                  <a:spcPct val="0"/>
                </a:spcBef>
              </a:pPr>
              <a:t>5</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764400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59F17E1-AC5B-48F7-9643-D1F32BAFEE45}" type="slidenum">
              <a:rPr lang="en-US" altLang="en-US" sz="1000">
                <a:latin typeface="Times New Roman" panose="02020603050405020304" pitchFamily="18" charset="0"/>
              </a:rPr>
              <a:pPr>
                <a:spcBef>
                  <a:spcPct val="0"/>
                </a:spcBef>
              </a:pPr>
              <a:t>7</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447290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96925">
              <a:spcBef>
                <a:spcPct val="30000"/>
              </a:spcBef>
              <a:defRPr sz="1200">
                <a:solidFill>
                  <a:schemeClr val="tx1"/>
                </a:solidFill>
                <a:latin typeface="Arial" panose="020B0604020202020204" pitchFamily="34" charset="0"/>
              </a:defRPr>
            </a:lvl1pPr>
            <a:lvl2pPr marL="742950" indent="-285750" defTabSz="796925">
              <a:spcBef>
                <a:spcPct val="30000"/>
              </a:spcBef>
              <a:defRPr sz="1200">
                <a:solidFill>
                  <a:schemeClr val="tx1"/>
                </a:solidFill>
                <a:latin typeface="Arial" panose="020B0604020202020204" pitchFamily="34" charset="0"/>
              </a:defRPr>
            </a:lvl2pPr>
            <a:lvl3pPr marL="1143000" indent="-228600" defTabSz="796925">
              <a:spcBef>
                <a:spcPct val="30000"/>
              </a:spcBef>
              <a:defRPr sz="1200">
                <a:solidFill>
                  <a:schemeClr val="tx1"/>
                </a:solidFill>
                <a:latin typeface="Arial" panose="020B0604020202020204" pitchFamily="34" charset="0"/>
              </a:defRPr>
            </a:lvl3pPr>
            <a:lvl4pPr marL="1600200" indent="-228600" defTabSz="796925">
              <a:spcBef>
                <a:spcPct val="30000"/>
              </a:spcBef>
              <a:defRPr sz="1200">
                <a:solidFill>
                  <a:schemeClr val="tx1"/>
                </a:solidFill>
                <a:latin typeface="Arial" panose="020B0604020202020204" pitchFamily="34" charset="0"/>
              </a:defRPr>
            </a:lvl4pPr>
            <a:lvl5pPr marL="2057400" indent="-228600" defTabSz="796925">
              <a:spcBef>
                <a:spcPct val="30000"/>
              </a:spcBef>
              <a:defRPr sz="1200">
                <a:solidFill>
                  <a:schemeClr val="tx1"/>
                </a:solidFill>
                <a:latin typeface="Arial" panose="020B0604020202020204" pitchFamily="34" charset="0"/>
              </a:defRPr>
            </a:lvl5pPr>
            <a:lvl6pPr marL="2514600" indent="-228600" defTabSz="79692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9692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9692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9692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9BA11C9-6BCA-4A40-B76F-CF6135F03BA6}" type="slidenum">
              <a:rPr lang="en-US" altLang="en-US" sz="1000">
                <a:latin typeface="Times New Roman" panose="02020603050405020304" pitchFamily="18" charset="0"/>
              </a:rPr>
              <a:pPr>
                <a:spcBef>
                  <a:spcPct val="0"/>
                </a:spcBef>
              </a:pPr>
              <a:t>11</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2666431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BF93C59-C206-438E-9930-A00A3930167D}" type="slidenum">
              <a:rPr lang="en-US" altLang="en-US" sz="1000">
                <a:latin typeface="Times New Roman" panose="02020603050405020304" pitchFamily="18" charset="0"/>
              </a:rPr>
              <a:pPr>
                <a:spcBef>
                  <a:spcPct val="0"/>
                </a:spcBef>
              </a:pPr>
              <a:t>12</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498098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B254F19-D3FA-4719-B4DC-5D517E787B9D}" type="slidenum">
              <a:rPr lang="en-US" altLang="en-US" sz="1000">
                <a:latin typeface="Times New Roman" panose="02020603050405020304" pitchFamily="18" charset="0"/>
              </a:rPr>
              <a:pPr>
                <a:spcBef>
                  <a:spcPct val="0"/>
                </a:spcBef>
              </a:pPr>
              <a:t>13</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361832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7406F4E-A6E7-4962-B2E1-5411BBC86ED4}" type="slidenum">
              <a:rPr lang="en-US" altLang="en-US" sz="1000">
                <a:latin typeface="Times New Roman" panose="02020603050405020304" pitchFamily="18" charset="0"/>
              </a:rPr>
              <a:pPr>
                <a:spcBef>
                  <a:spcPct val="0"/>
                </a:spcBef>
              </a:pPr>
              <a:t>14</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2241532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B11DB8B-AB8A-462B-A43C-1CE7BD887023}" type="slidenum">
              <a:rPr lang="en-US" altLang="en-US" sz="1000">
                <a:latin typeface="Times New Roman" panose="02020603050405020304" pitchFamily="18" charset="0"/>
              </a:rPr>
              <a:pPr>
                <a:spcBef>
                  <a:spcPct val="0"/>
                </a:spcBef>
              </a:pPr>
              <a:t>15</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990486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AFE4F98-30E4-4B45-B9CE-D6A4F878C799}" type="slidenum">
              <a:rPr lang="en-US" altLang="en-US" sz="1000">
                <a:latin typeface="Times New Roman" panose="02020603050405020304" pitchFamily="18" charset="0"/>
              </a:rPr>
              <a:pPr>
                <a:spcBef>
                  <a:spcPct val="0"/>
                </a:spcBef>
              </a:pPr>
              <a:t>16</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2958076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96925">
              <a:spcBef>
                <a:spcPct val="30000"/>
              </a:spcBef>
              <a:defRPr sz="1200">
                <a:solidFill>
                  <a:schemeClr val="tx1"/>
                </a:solidFill>
                <a:latin typeface="Arial" panose="020B0604020202020204" pitchFamily="34" charset="0"/>
              </a:defRPr>
            </a:lvl1pPr>
            <a:lvl2pPr marL="742950" indent="-285750" defTabSz="796925">
              <a:spcBef>
                <a:spcPct val="30000"/>
              </a:spcBef>
              <a:defRPr sz="1200">
                <a:solidFill>
                  <a:schemeClr val="tx1"/>
                </a:solidFill>
                <a:latin typeface="Arial" panose="020B0604020202020204" pitchFamily="34" charset="0"/>
              </a:defRPr>
            </a:lvl2pPr>
            <a:lvl3pPr marL="1143000" indent="-228600" defTabSz="796925">
              <a:spcBef>
                <a:spcPct val="30000"/>
              </a:spcBef>
              <a:defRPr sz="1200">
                <a:solidFill>
                  <a:schemeClr val="tx1"/>
                </a:solidFill>
                <a:latin typeface="Arial" panose="020B0604020202020204" pitchFamily="34" charset="0"/>
              </a:defRPr>
            </a:lvl3pPr>
            <a:lvl4pPr marL="1600200" indent="-228600" defTabSz="796925">
              <a:spcBef>
                <a:spcPct val="30000"/>
              </a:spcBef>
              <a:defRPr sz="1200">
                <a:solidFill>
                  <a:schemeClr val="tx1"/>
                </a:solidFill>
                <a:latin typeface="Arial" panose="020B0604020202020204" pitchFamily="34" charset="0"/>
              </a:defRPr>
            </a:lvl4pPr>
            <a:lvl5pPr marL="2057400" indent="-228600" defTabSz="796925">
              <a:spcBef>
                <a:spcPct val="30000"/>
              </a:spcBef>
              <a:defRPr sz="1200">
                <a:solidFill>
                  <a:schemeClr val="tx1"/>
                </a:solidFill>
                <a:latin typeface="Arial" panose="020B0604020202020204" pitchFamily="34" charset="0"/>
              </a:defRPr>
            </a:lvl5pPr>
            <a:lvl6pPr marL="2514600" indent="-228600" defTabSz="79692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9692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9692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9692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A0C5D80-A1FF-49BF-A6C3-B01BB0FD1A62}" type="slidenum">
              <a:rPr lang="en-US" altLang="en-US" sz="1000">
                <a:latin typeface="Times New Roman" panose="02020603050405020304" pitchFamily="18" charset="0"/>
              </a:rPr>
              <a:pPr>
                <a:spcBef>
                  <a:spcPct val="0"/>
                </a:spcBef>
              </a:pPr>
              <a:t>17</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73163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7ECB303-CFB1-479A-88E4-C14D8AABDCC3}" type="slidenum">
              <a:rPr lang="en-US" altLang="en-US" sz="1000">
                <a:latin typeface="Times New Roman" panose="02020603050405020304" pitchFamily="18" charset="0"/>
              </a:rPr>
              <a:pPr>
                <a:spcBef>
                  <a:spcPct val="0"/>
                </a:spcBef>
              </a:pPr>
              <a:t>18</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2544746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a:latin typeface="Arial" panose="020B0604020202020204" pitchFamily="34" charset="0"/>
            </a:endParaRPr>
          </a:p>
        </p:txBody>
      </p:sp>
    </p:spTree>
    <p:extLst>
      <p:ext uri="{BB962C8B-B14F-4D97-AF65-F5344CB8AC3E}">
        <p14:creationId xmlns:p14="http://schemas.microsoft.com/office/powerpoint/2010/main" val="1281222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a:latin typeface="Arial" panose="020B0604020202020204" pitchFamily="34" charset="0"/>
            </a:endParaRPr>
          </a:p>
        </p:txBody>
      </p:sp>
    </p:spTree>
    <p:extLst>
      <p:ext uri="{BB962C8B-B14F-4D97-AF65-F5344CB8AC3E}">
        <p14:creationId xmlns:p14="http://schemas.microsoft.com/office/powerpoint/2010/main" val="26364548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C4778FA-EBFC-4511-AA14-717997193086}" type="slidenum">
              <a:rPr lang="en-US" altLang="en-US" sz="1000">
                <a:latin typeface="Times New Roman" panose="02020603050405020304" pitchFamily="18" charset="0"/>
              </a:rPr>
              <a:pPr>
                <a:spcBef>
                  <a:spcPct val="0"/>
                </a:spcBef>
              </a:pPr>
              <a:t>21</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672517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E4E8E28-88C8-47ED-A632-493EED277B3D}" type="slidenum">
              <a:rPr lang="en-US" altLang="en-US" sz="1000">
                <a:latin typeface="Times New Roman" panose="02020603050405020304" pitchFamily="18" charset="0"/>
              </a:rPr>
              <a:pPr>
                <a:spcBef>
                  <a:spcPct val="0"/>
                </a:spcBef>
              </a:pPr>
              <a:t>22</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98584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E029F51-96C4-48DC-9630-CD5361195513}" type="slidenum">
              <a:rPr lang="en-US" altLang="en-US" sz="1000">
                <a:latin typeface="Times New Roman" panose="02020603050405020304" pitchFamily="18" charset="0"/>
              </a:rPr>
              <a:pPr>
                <a:spcBef>
                  <a:spcPct val="0"/>
                </a:spcBef>
              </a:pPr>
              <a:t>23</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736572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en-US" dirty="0"/>
          </a:p>
        </p:txBody>
      </p:sp>
      <p:sp>
        <p:nvSpPr>
          <p:cNvPr id="5" name="Footer Placeholder 4"/>
          <p:cNvSpPr>
            <a:spLocks noGrp="1"/>
          </p:cNvSpPr>
          <p:nvPr>
            <p:ph type="ftr" sz="quarter" idx="11"/>
          </p:nvPr>
        </p:nvSpPr>
        <p:spPr>
          <a:xfrm>
            <a:off x="1981200" y="6248400"/>
            <a:ext cx="4648200" cy="457200"/>
          </a:xfrm>
        </p:spPr>
        <p:txBody>
          <a:bodyPr/>
          <a:lstStyle>
            <a:lvl1pPr>
              <a:defRPr smtClean="0"/>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6" name="Slide Number Placeholder 5"/>
          <p:cNvSpPr>
            <a:spLocks noGrp="1"/>
          </p:cNvSpPr>
          <p:nvPr>
            <p:ph type="sldNum" sz="quarter" idx="12"/>
          </p:nvPr>
        </p:nvSpPr>
        <p:spPr/>
        <p:txBody>
          <a:bodyPr/>
          <a:lstStyle>
            <a:lvl1pPr>
              <a:defRPr/>
            </a:lvl1pPr>
          </a:lstStyle>
          <a:p>
            <a:pPr>
              <a:defRPr/>
            </a:pPr>
            <a:fld id="{2FCAD0A3-D77E-4EC3-8AFB-FEFC1CCDFB90}" type="slidenum">
              <a:rPr lang="en-US" altLang="en-US"/>
              <a:pPr>
                <a:defRPr/>
              </a:pPr>
              <a:t>‹#›</a:t>
            </a:fld>
            <a:endParaRPr lang="en-US" altLang="en-US" dirty="0"/>
          </a:p>
        </p:txBody>
      </p:sp>
    </p:spTree>
    <p:extLst>
      <p:ext uri="{BB962C8B-B14F-4D97-AF65-F5344CB8AC3E}">
        <p14:creationId xmlns:p14="http://schemas.microsoft.com/office/powerpoint/2010/main" val="939840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7203"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94720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677150" cy="457200"/>
          </a:xfrm>
        </p:spPr>
        <p:txBody>
          <a:bodyPr/>
          <a:lstStyle>
            <a:lvl1pPr>
              <a:defRPr/>
            </a:lvl1pPr>
          </a:lstStyle>
          <a:p>
            <a:pPr>
              <a:defRPr/>
            </a:pPr>
            <a:r>
              <a:rPr lang="en-US" altLang="en-US"/>
              <a:t>Risk Management and Financial Institutions 6e, Chapter 18,  Copyright © John C. Hull 2023</a:t>
            </a:r>
            <a:endParaRPr lang="en-US" altLang="en-US" i="0"/>
          </a:p>
        </p:txBody>
      </p:sp>
      <p:sp>
        <p:nvSpPr>
          <p:cNvPr id="40" name="Rectangle 7"/>
          <p:cNvSpPr>
            <a:spLocks noGrp="1" noChangeArrowheads="1"/>
          </p:cNvSpPr>
          <p:nvPr>
            <p:ph type="sldNum" sz="quarter" idx="12"/>
          </p:nvPr>
        </p:nvSpPr>
        <p:spPr>
          <a:xfrm>
            <a:off x="6553200" y="6237288"/>
            <a:ext cx="2133600" cy="468312"/>
          </a:xfrm>
        </p:spPr>
        <p:txBody>
          <a:bodyPr/>
          <a:lstStyle>
            <a:lvl1pPr>
              <a:defRPr/>
            </a:lvl1pPr>
          </a:lstStyle>
          <a:p>
            <a:fld id="{86622969-5CA0-46D0-9732-F4D9FF80B653}" type="slidenum">
              <a:rPr lang="en-US" altLang="en-US" smtClean="0"/>
              <a:pPr/>
              <a:t>‹#›</a:t>
            </a:fld>
            <a:endParaRPr lang="en-US" altLang="en-US"/>
          </a:p>
        </p:txBody>
      </p:sp>
    </p:spTree>
    <p:extLst>
      <p:ext uri="{BB962C8B-B14F-4D97-AF65-F5344CB8AC3E}">
        <p14:creationId xmlns:p14="http://schemas.microsoft.com/office/powerpoint/2010/main" val="3814409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18,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a:lvl1pPr>
          </a:lstStyle>
          <a:p>
            <a:fld id="{8BD5A1D6-0B14-4016-AA47-B4DAB7044294}" type="slidenum">
              <a:rPr lang="en-US" altLang="en-US" smtClean="0"/>
              <a:pPr/>
              <a:t>‹#›</a:t>
            </a:fld>
            <a:endParaRPr lang="en-US" altLang="en-US"/>
          </a:p>
        </p:txBody>
      </p:sp>
    </p:spTree>
    <p:extLst>
      <p:ext uri="{BB962C8B-B14F-4D97-AF65-F5344CB8AC3E}">
        <p14:creationId xmlns:p14="http://schemas.microsoft.com/office/powerpoint/2010/main" val="2563682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18,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a:lvl1pPr>
          </a:lstStyle>
          <a:p>
            <a:fld id="{DE4FC37B-3CC7-43C9-9CA0-4B3393BE6AFB}" type="slidenum">
              <a:rPr lang="en-US" altLang="en-US" smtClean="0"/>
              <a:pPr/>
              <a:t>‹#›</a:t>
            </a:fld>
            <a:endParaRPr lang="en-US" altLang="en-US"/>
          </a:p>
        </p:txBody>
      </p:sp>
    </p:spTree>
    <p:extLst>
      <p:ext uri="{BB962C8B-B14F-4D97-AF65-F5344CB8AC3E}">
        <p14:creationId xmlns:p14="http://schemas.microsoft.com/office/powerpoint/2010/main" val="1157209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18,  Copyright © John C. Hull 2023</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a:lvl1pPr>
          </a:lstStyle>
          <a:p>
            <a:fld id="{3C4FA491-E54D-4B35-A7B0-0957CCD28A45}" type="slidenum">
              <a:rPr lang="en-US" altLang="en-US" smtClean="0"/>
              <a:pPr/>
              <a:t>‹#›</a:t>
            </a:fld>
            <a:endParaRPr lang="en-US" altLang="en-US"/>
          </a:p>
        </p:txBody>
      </p:sp>
    </p:spTree>
    <p:extLst>
      <p:ext uri="{BB962C8B-B14F-4D97-AF65-F5344CB8AC3E}">
        <p14:creationId xmlns:p14="http://schemas.microsoft.com/office/powerpoint/2010/main" val="4155376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a:lvl1pPr>
          </a:lstStyle>
          <a:p>
            <a:pPr>
              <a:defRPr/>
            </a:pPr>
            <a:r>
              <a:rPr lang="en-US" altLang="en-US"/>
              <a:t>Risk Management and Financial Institutions 6e, Chapter 18,  Copyright © John C. Hull 2023</a:t>
            </a:r>
            <a:endParaRPr lang="en-US" altLang="en-US" i="0">
              <a:cs typeface="Arial" charset="0"/>
            </a:endParaRPr>
          </a:p>
        </p:txBody>
      </p:sp>
      <p:sp>
        <p:nvSpPr>
          <p:cNvPr id="9" name="Slide Number Placeholder 8"/>
          <p:cNvSpPr>
            <a:spLocks noGrp="1"/>
          </p:cNvSpPr>
          <p:nvPr>
            <p:ph type="sldNum" sz="quarter" idx="12"/>
          </p:nvPr>
        </p:nvSpPr>
        <p:spPr/>
        <p:txBody>
          <a:bodyPr/>
          <a:lstStyle>
            <a:lvl1pPr>
              <a:defRPr/>
            </a:lvl1pPr>
          </a:lstStyle>
          <a:p>
            <a:fld id="{A324578B-F78D-4865-8F24-9662D75E01C8}" type="slidenum">
              <a:rPr lang="en-US" altLang="en-US" smtClean="0"/>
              <a:pPr/>
              <a:t>‹#›</a:t>
            </a:fld>
            <a:endParaRPr lang="en-US" altLang="en-US"/>
          </a:p>
        </p:txBody>
      </p:sp>
    </p:spTree>
    <p:extLst>
      <p:ext uri="{BB962C8B-B14F-4D97-AF65-F5344CB8AC3E}">
        <p14:creationId xmlns:p14="http://schemas.microsoft.com/office/powerpoint/2010/main" val="4183722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a:lvl1pPr>
          </a:lstStyle>
          <a:p>
            <a:pPr>
              <a:defRPr/>
            </a:pPr>
            <a:r>
              <a:rPr lang="en-US" altLang="en-US"/>
              <a:t>Risk Management and Financial Institutions 6e, Chapter 18,  Copyright © John C. Hull 2023</a:t>
            </a:r>
            <a:endParaRPr lang="en-US" altLang="en-US" i="0">
              <a:cs typeface="Arial" charset="0"/>
            </a:endParaRPr>
          </a:p>
        </p:txBody>
      </p:sp>
      <p:sp>
        <p:nvSpPr>
          <p:cNvPr id="5" name="Slide Number Placeholder 4"/>
          <p:cNvSpPr>
            <a:spLocks noGrp="1"/>
          </p:cNvSpPr>
          <p:nvPr>
            <p:ph type="sldNum" sz="quarter" idx="12"/>
          </p:nvPr>
        </p:nvSpPr>
        <p:spPr/>
        <p:txBody>
          <a:bodyPr/>
          <a:lstStyle>
            <a:lvl1pPr>
              <a:defRPr/>
            </a:lvl1pPr>
          </a:lstStyle>
          <a:p>
            <a:fld id="{8431A04E-9F2B-44B2-A318-77B43C26311C}" type="slidenum">
              <a:rPr lang="en-US" altLang="en-US" smtClean="0"/>
              <a:pPr/>
              <a:t>‹#›</a:t>
            </a:fld>
            <a:endParaRPr lang="en-US" altLang="en-US"/>
          </a:p>
        </p:txBody>
      </p:sp>
    </p:spTree>
    <p:extLst>
      <p:ext uri="{BB962C8B-B14F-4D97-AF65-F5344CB8AC3E}">
        <p14:creationId xmlns:p14="http://schemas.microsoft.com/office/powerpoint/2010/main" val="2703944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en-US" altLang="en-US"/>
              <a:t>Risk Management and Financial Institutions 6e, Chapter 18,  Copyright © John C. Hull 2023</a:t>
            </a:r>
            <a:endParaRPr lang="en-US" altLang="en-US" i="0">
              <a:cs typeface="Arial" charset="0"/>
            </a:endParaRPr>
          </a:p>
        </p:txBody>
      </p:sp>
      <p:sp>
        <p:nvSpPr>
          <p:cNvPr id="4" name="Slide Number Placeholder 3"/>
          <p:cNvSpPr>
            <a:spLocks noGrp="1"/>
          </p:cNvSpPr>
          <p:nvPr>
            <p:ph type="sldNum" sz="quarter" idx="12"/>
          </p:nvPr>
        </p:nvSpPr>
        <p:spPr/>
        <p:txBody>
          <a:bodyPr/>
          <a:lstStyle>
            <a:lvl1pPr>
              <a:defRPr/>
            </a:lvl1pPr>
          </a:lstStyle>
          <a:p>
            <a:fld id="{CF955C04-D71B-4FF2-8685-7E089670CD41}" type="slidenum">
              <a:rPr lang="en-US" altLang="en-US" smtClean="0"/>
              <a:pPr/>
              <a:t>‹#›</a:t>
            </a:fld>
            <a:endParaRPr lang="en-US" altLang="en-US"/>
          </a:p>
        </p:txBody>
      </p:sp>
    </p:spTree>
    <p:extLst>
      <p:ext uri="{BB962C8B-B14F-4D97-AF65-F5344CB8AC3E}">
        <p14:creationId xmlns:p14="http://schemas.microsoft.com/office/powerpoint/2010/main" val="3359006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18,  Copyright © John C. Hull 2023</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a:lvl1pPr>
          </a:lstStyle>
          <a:p>
            <a:fld id="{AE4556E8-EA01-4CDA-8628-46ED0A6D7B20}" type="slidenum">
              <a:rPr lang="en-US" altLang="en-US" smtClean="0"/>
              <a:pPr/>
              <a:t>‹#›</a:t>
            </a:fld>
            <a:endParaRPr lang="en-US" altLang="en-US"/>
          </a:p>
        </p:txBody>
      </p:sp>
    </p:spTree>
    <p:extLst>
      <p:ext uri="{BB962C8B-B14F-4D97-AF65-F5344CB8AC3E}">
        <p14:creationId xmlns:p14="http://schemas.microsoft.com/office/powerpoint/2010/main" val="2886946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18,  Copyright © John C. Hull 2023</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a:lvl1pPr>
          </a:lstStyle>
          <a:p>
            <a:fld id="{2640A01F-CD7E-44A8-BB54-B87146436F28}" type="slidenum">
              <a:rPr lang="en-US" altLang="en-US" smtClean="0"/>
              <a:pPr/>
              <a:t>‹#›</a:t>
            </a:fld>
            <a:endParaRPr lang="en-US" altLang="en-US"/>
          </a:p>
        </p:txBody>
      </p:sp>
    </p:spTree>
    <p:extLst>
      <p:ext uri="{BB962C8B-B14F-4D97-AF65-F5344CB8AC3E}">
        <p14:creationId xmlns:p14="http://schemas.microsoft.com/office/powerpoint/2010/main" val="2395170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18,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a:lvl1pPr>
          </a:lstStyle>
          <a:p>
            <a:fld id="{7B6C2B9F-8F71-46DD-B660-C47A8CEEE1F6}" type="slidenum">
              <a:rPr lang="en-US" altLang="en-US" smtClean="0"/>
              <a:pPr/>
              <a:t>‹#›</a:t>
            </a:fld>
            <a:endParaRPr lang="en-US" altLang="en-US"/>
          </a:p>
        </p:txBody>
      </p:sp>
    </p:spTree>
    <p:extLst>
      <p:ext uri="{BB962C8B-B14F-4D97-AF65-F5344CB8AC3E}">
        <p14:creationId xmlns:p14="http://schemas.microsoft.com/office/powerpoint/2010/main" val="18639204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18,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a:lvl1pPr>
          </a:lstStyle>
          <a:p>
            <a:fld id="{8EFB65EF-FC3D-4AE0-8629-E8FE45F1C753}" type="slidenum">
              <a:rPr lang="en-US" altLang="en-US" smtClean="0"/>
              <a:pPr/>
              <a:t>‹#›</a:t>
            </a:fld>
            <a:endParaRPr lang="en-US" altLang="en-US"/>
          </a:p>
        </p:txBody>
      </p:sp>
    </p:spTree>
    <p:extLst>
      <p:ext uri="{BB962C8B-B14F-4D97-AF65-F5344CB8AC3E}">
        <p14:creationId xmlns:p14="http://schemas.microsoft.com/office/powerpoint/2010/main" val="22021074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7203"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94720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dirty="0"/>
          </a:p>
        </p:txBody>
      </p:sp>
      <p:sp>
        <p:nvSpPr>
          <p:cNvPr id="39" name="Rectangle 6"/>
          <p:cNvSpPr>
            <a:spLocks noGrp="1" noChangeArrowheads="1"/>
          </p:cNvSpPr>
          <p:nvPr>
            <p:ph type="ftr" sz="quarter" idx="11"/>
          </p:nvPr>
        </p:nvSpPr>
        <p:spPr>
          <a:xfrm>
            <a:off x="323850" y="6248400"/>
            <a:ext cx="7677150" cy="457200"/>
          </a:xfrm>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40" name="Rectangle 7"/>
          <p:cNvSpPr>
            <a:spLocks noGrp="1" noChangeArrowheads="1"/>
          </p:cNvSpPr>
          <p:nvPr>
            <p:ph type="sldNum" sz="quarter" idx="12"/>
          </p:nvPr>
        </p:nvSpPr>
        <p:spPr>
          <a:xfrm>
            <a:off x="6553200" y="6237288"/>
            <a:ext cx="2133600" cy="468312"/>
          </a:xfrm>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12182843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dirty="0"/>
          </a:p>
        </p:txBody>
      </p:sp>
      <p:sp>
        <p:nvSpPr>
          <p:cNvPr id="5" name="Footer Placeholder 4"/>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6" name="Slide Number Placeholder 5"/>
          <p:cNvSpPr>
            <a:spLocks noGrp="1"/>
          </p:cNvSpPr>
          <p:nvPr>
            <p:ph type="sldNum" sz="quarter" idx="12"/>
          </p:nvPr>
        </p:nvSpPr>
        <p:spPr/>
        <p:txBody>
          <a:bodyPr/>
          <a:lstStyle>
            <a:lvl1pPr>
              <a:defRPr/>
            </a:lvl1pPr>
          </a:lstStyle>
          <a:p>
            <a:pPr>
              <a:defRPr/>
            </a:pPr>
            <a:fld id="{2FCAD0A3-D77E-4EC3-8AFB-FEFC1CCDFB90}" type="slidenum">
              <a:rPr lang="en-US" altLang="en-US" smtClean="0"/>
              <a:pPr>
                <a:defRPr/>
              </a:pPr>
              <a:t>‹#›</a:t>
            </a:fld>
            <a:endParaRPr lang="en-US" altLang="en-US" dirty="0"/>
          </a:p>
        </p:txBody>
      </p:sp>
    </p:spTree>
    <p:extLst>
      <p:ext uri="{BB962C8B-B14F-4D97-AF65-F5344CB8AC3E}">
        <p14:creationId xmlns:p14="http://schemas.microsoft.com/office/powerpoint/2010/main" val="454284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dirty="0"/>
          </a:p>
        </p:txBody>
      </p:sp>
      <p:sp>
        <p:nvSpPr>
          <p:cNvPr id="5" name="Footer Placeholder 4"/>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6" name="Slide Number Placeholder 5"/>
          <p:cNvSpPr>
            <a:spLocks noGrp="1"/>
          </p:cNvSpPr>
          <p:nvPr>
            <p:ph type="sldNum" sz="quarter" idx="12"/>
          </p:nvPr>
        </p:nvSpPr>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1419780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ltLang="en-US" dirty="0"/>
          </a:p>
        </p:txBody>
      </p:sp>
      <p:sp>
        <p:nvSpPr>
          <p:cNvPr id="6" name="Footer Placeholder 5"/>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7" name="Slide Number Placeholder 6"/>
          <p:cNvSpPr>
            <a:spLocks noGrp="1"/>
          </p:cNvSpPr>
          <p:nvPr>
            <p:ph type="sldNum" sz="quarter" idx="12"/>
          </p:nvPr>
        </p:nvSpPr>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3975630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altLang="en-US" dirty="0"/>
          </a:p>
        </p:txBody>
      </p:sp>
      <p:sp>
        <p:nvSpPr>
          <p:cNvPr id="8" name="Footer Placeholder 7"/>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9" name="Slide Number Placeholder 8"/>
          <p:cNvSpPr>
            <a:spLocks noGrp="1"/>
          </p:cNvSpPr>
          <p:nvPr>
            <p:ph type="sldNum" sz="quarter" idx="12"/>
          </p:nvPr>
        </p:nvSpPr>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3803269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endParaRPr lang="en-US" altLang="en-US" dirty="0"/>
          </a:p>
        </p:txBody>
      </p:sp>
      <p:sp>
        <p:nvSpPr>
          <p:cNvPr id="4" name="Footer Placeholder 3"/>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5" name="Slide Number Placeholder 4"/>
          <p:cNvSpPr>
            <a:spLocks noGrp="1"/>
          </p:cNvSpPr>
          <p:nvPr>
            <p:ph type="sldNum" sz="quarter" idx="12"/>
          </p:nvPr>
        </p:nvSpPr>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38311076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dirty="0"/>
          </a:p>
        </p:txBody>
      </p:sp>
      <p:sp>
        <p:nvSpPr>
          <p:cNvPr id="3" name="Footer Placeholder 2"/>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4" name="Slide Number Placeholder 3"/>
          <p:cNvSpPr>
            <a:spLocks noGrp="1"/>
          </p:cNvSpPr>
          <p:nvPr>
            <p:ph type="sldNum" sz="quarter" idx="12"/>
          </p:nvPr>
        </p:nvSpPr>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3835434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dirty="0"/>
          </a:p>
        </p:txBody>
      </p:sp>
      <p:sp>
        <p:nvSpPr>
          <p:cNvPr id="6" name="Footer Placeholder 5"/>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7" name="Slide Number Placeholder 6"/>
          <p:cNvSpPr>
            <a:spLocks noGrp="1"/>
          </p:cNvSpPr>
          <p:nvPr>
            <p:ph type="sldNum" sz="quarter" idx="12"/>
          </p:nvPr>
        </p:nvSpPr>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4238331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dirty="0"/>
          </a:p>
        </p:txBody>
      </p:sp>
      <p:sp>
        <p:nvSpPr>
          <p:cNvPr id="6" name="Footer Placeholder 5"/>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7" name="Slide Number Placeholder 6"/>
          <p:cNvSpPr>
            <a:spLocks noGrp="1"/>
          </p:cNvSpPr>
          <p:nvPr>
            <p:ph type="sldNum" sz="quarter" idx="12"/>
          </p:nvPr>
        </p:nvSpPr>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1442619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dirty="0"/>
          </a:p>
        </p:txBody>
      </p:sp>
      <p:sp>
        <p:nvSpPr>
          <p:cNvPr id="5" name="Footer Placeholder 4"/>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6" name="Slide Number Placeholder 5"/>
          <p:cNvSpPr>
            <a:spLocks noGrp="1"/>
          </p:cNvSpPr>
          <p:nvPr>
            <p:ph type="sldNum" sz="quarter" idx="12"/>
          </p:nvPr>
        </p:nvSpPr>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37120679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dirty="0"/>
          </a:p>
        </p:txBody>
      </p:sp>
      <p:sp>
        <p:nvSpPr>
          <p:cNvPr id="5" name="Footer Placeholder 4"/>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6" name="Slide Number Placeholder 5"/>
          <p:cNvSpPr>
            <a:spLocks noGrp="1"/>
          </p:cNvSpPr>
          <p:nvPr>
            <p:ph type="sldNum" sz="quarter" idx="12"/>
          </p:nvPr>
        </p:nvSpPr>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19015367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ltLang="en-US" dirty="0"/>
          </a:p>
        </p:txBody>
      </p:sp>
      <p:sp>
        <p:nvSpPr>
          <p:cNvPr id="6" name="Footer Placeholder 5"/>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7" name="Slide Number Placeholder 6"/>
          <p:cNvSpPr>
            <a:spLocks noGrp="1"/>
          </p:cNvSpPr>
          <p:nvPr>
            <p:ph type="sldNum" sz="quarter" idx="12"/>
          </p:nvPr>
        </p:nvSpPr>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5837503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able Placeholder 2"/>
          <p:cNvSpPr>
            <a:spLocks noGrp="1"/>
          </p:cNvSpPr>
          <p:nvPr>
            <p:ph type="tbl" idx="1"/>
          </p:nvPr>
        </p:nvSpPr>
        <p:spPr>
          <a:xfrm>
            <a:off x="457200" y="1719263"/>
            <a:ext cx="8229600" cy="4411662"/>
          </a:xfrm>
        </p:spPr>
        <p:txBody>
          <a:bodyPr/>
          <a:lstStyle/>
          <a:p>
            <a:pPr lvl="0"/>
            <a:r>
              <a:rPr lang="en-US" noProof="0"/>
              <a:t>Click icon to add table</a:t>
            </a:r>
            <a:endParaRPr lang="en-US" noProof="0" dirty="0"/>
          </a:p>
        </p:txBody>
      </p:sp>
      <p:sp>
        <p:nvSpPr>
          <p:cNvPr id="4" name="Date Placeholder 3"/>
          <p:cNvSpPr>
            <a:spLocks noGrp="1"/>
          </p:cNvSpPr>
          <p:nvPr>
            <p:ph type="dt" sz="half" idx="10"/>
          </p:nvPr>
        </p:nvSpPr>
        <p:spPr/>
        <p:txBody>
          <a:bodyPr/>
          <a:lstStyle>
            <a:lvl1pPr>
              <a:defRPr/>
            </a:lvl1pPr>
          </a:lstStyle>
          <a:p>
            <a:pPr>
              <a:defRPr/>
            </a:pPr>
            <a:endParaRPr lang="en-US" altLang="en-US" dirty="0"/>
          </a:p>
        </p:txBody>
      </p:sp>
      <p:sp>
        <p:nvSpPr>
          <p:cNvPr id="5" name="Footer Placeholder 4"/>
          <p:cNvSpPr>
            <a:spLocks noGrp="1"/>
          </p:cNvSpPr>
          <p:nvPr>
            <p:ph type="ftr" sz="quarter" idx="11"/>
          </p:nvPr>
        </p:nvSpPr>
        <p:spPr/>
        <p:txBody>
          <a:bodyPr/>
          <a:lstStyle>
            <a:lvl1pPr>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6" name="Slide Number Placeholder 5"/>
          <p:cNvSpPr>
            <a:spLocks noGrp="1"/>
          </p:cNvSpPr>
          <p:nvPr>
            <p:ph type="sldNum" sz="quarter" idx="12"/>
          </p:nvPr>
        </p:nvSpPr>
        <p:spPr/>
        <p:txBody>
          <a:bodyPr/>
          <a:lstStyle>
            <a:lvl1pPr>
              <a:defRPr/>
            </a:lvl1pPr>
          </a:lstStyle>
          <a:p>
            <a:pPr>
              <a:defRPr/>
            </a:pPr>
            <a:fld id="{1CA0915A-BEB8-4948-B334-3E34A802F101}" type="slidenum">
              <a:rPr lang="en-US" altLang="en-US" smtClean="0"/>
              <a:pPr>
                <a:defRPr/>
              </a:pPr>
              <a:t>‹#›</a:t>
            </a:fld>
            <a:endParaRPr lang="en-US" altLang="en-US" dirty="0"/>
          </a:p>
        </p:txBody>
      </p:sp>
    </p:spTree>
    <p:extLst>
      <p:ext uri="{BB962C8B-B14F-4D97-AF65-F5344CB8AC3E}">
        <p14:creationId xmlns:p14="http://schemas.microsoft.com/office/powerpoint/2010/main" val="17697778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Risk Management and Financial Institutions 6e, Chapter 18,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a:lvl1pPr>
          </a:lstStyle>
          <a:p>
            <a:fld id="{0BC8698B-A339-4D8D-A498-3BACF08219E5}" type="slidenum">
              <a:rPr lang="en-US" altLang="en-US"/>
              <a:pPr/>
              <a:t>‹#›</a:t>
            </a:fld>
            <a:endParaRPr lang="en-US" altLang="en-US"/>
          </a:p>
        </p:txBody>
      </p:sp>
    </p:spTree>
    <p:extLst>
      <p:ext uri="{BB962C8B-B14F-4D97-AF65-F5344CB8AC3E}">
        <p14:creationId xmlns:p14="http://schemas.microsoft.com/office/powerpoint/2010/main" val="393413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pPr>
              <a:defRPr/>
            </a:pPr>
            <a:endParaRPr lang="en-US" altLang="en-US" dirty="0"/>
          </a:p>
        </p:txBody>
      </p:sp>
      <p:sp>
        <p:nvSpPr>
          <p:cNvPr id="4101" name="Rectangle 5"/>
          <p:cNvSpPr>
            <a:spLocks noGrp="1" noChangeArrowheads="1"/>
          </p:cNvSpPr>
          <p:nvPr>
            <p:ph type="ftr" sz="quarter" idx="3"/>
          </p:nvPr>
        </p:nvSpPr>
        <p:spPr bwMode="auto">
          <a:xfrm>
            <a:off x="2209800" y="6324600"/>
            <a:ext cx="4343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fld id="{1CA0915A-BEB8-4948-B334-3E34A802F101}" type="slidenum">
              <a:rPr lang="en-US" altLang="en-US"/>
              <a:pPr>
                <a:defRPr/>
              </a:pPr>
              <a:t>‹#›</a:t>
            </a:fld>
            <a:endParaRPr lang="en-US" altLang="en-US" dirty="0"/>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dirty="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2 w 15"/>
                      <a:gd name="T1" fmla="*/ 4 h 23"/>
                      <a:gd name="T2" fmla="*/ 7 w 15"/>
                      <a:gd name="T3" fmla="*/ 2 h 23"/>
                      <a:gd name="T4" fmla="*/ 6 w 15"/>
                      <a:gd name="T5" fmla="*/ 6 h 23"/>
                      <a:gd name="T6" fmla="*/ 2 w 15"/>
                      <a:gd name="T7" fmla="*/ 4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29" name="Freeform 13"/>
                  <p:cNvSpPr>
                    <a:spLocks/>
                  </p:cNvSpPr>
                  <p:nvPr/>
                </p:nvSpPr>
                <p:spPr bwMode="ltGray">
                  <a:xfrm>
                    <a:off x="2332" y="660"/>
                    <a:ext cx="9" cy="8"/>
                  </a:xfrm>
                  <a:custGeom>
                    <a:avLst/>
                    <a:gdLst>
                      <a:gd name="T0" fmla="*/ 1 w 20"/>
                      <a:gd name="T1" fmla="*/ 5 h 23"/>
                      <a:gd name="T2" fmla="*/ 5 w 20"/>
                      <a:gd name="T3" fmla="*/ 1 h 23"/>
                      <a:gd name="T4" fmla="*/ 3 w 20"/>
                      <a:gd name="T5" fmla="*/ 7 h 23"/>
                      <a:gd name="T6" fmla="*/ 1 w 20"/>
                      <a:gd name="T7" fmla="*/ 5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30" name="Freeform 14"/>
                  <p:cNvSpPr>
                    <a:spLocks/>
                  </p:cNvSpPr>
                  <p:nvPr/>
                </p:nvSpPr>
                <p:spPr bwMode="ltGray">
                  <a:xfrm>
                    <a:off x="2120"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31" name="Freeform 15"/>
                  <p:cNvSpPr>
                    <a:spLocks/>
                  </p:cNvSpPr>
                  <p:nvPr/>
                </p:nvSpPr>
                <p:spPr bwMode="ltGray">
                  <a:xfrm>
                    <a:off x="1967"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32" name="Freeform 16"/>
                  <p:cNvSpPr>
                    <a:spLocks/>
                  </p:cNvSpPr>
                  <p:nvPr/>
                </p:nvSpPr>
                <p:spPr bwMode="ltGray">
                  <a:xfrm>
                    <a:off x="1921"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33" name="Freeform 17"/>
                  <p:cNvSpPr>
                    <a:spLocks/>
                  </p:cNvSpPr>
                  <p:nvPr/>
                </p:nvSpPr>
                <p:spPr bwMode="ltGray">
                  <a:xfrm>
                    <a:off x="1892"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34" name="Freeform 18"/>
                  <p:cNvSpPr>
                    <a:spLocks/>
                  </p:cNvSpPr>
                  <p:nvPr/>
                </p:nvSpPr>
                <p:spPr bwMode="ltGray">
                  <a:xfrm>
                    <a:off x="1735"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35" name="Freeform 19"/>
                  <p:cNvSpPr>
                    <a:spLocks/>
                  </p:cNvSpPr>
                  <p:nvPr/>
                </p:nvSpPr>
                <p:spPr bwMode="ltGray">
                  <a:xfrm>
                    <a:off x="1827"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36" name="Freeform 20"/>
                  <p:cNvSpPr>
                    <a:spLocks/>
                  </p:cNvSpPr>
                  <p:nvPr/>
                </p:nvSpPr>
                <p:spPr bwMode="ltGray">
                  <a:xfrm>
                    <a:off x="1892"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37" name="Freeform 21"/>
                  <p:cNvSpPr>
                    <a:spLocks/>
                  </p:cNvSpPr>
                  <p:nvPr/>
                </p:nvSpPr>
                <p:spPr bwMode="ltGray">
                  <a:xfrm>
                    <a:off x="1890"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38" name="Freeform 22"/>
                  <p:cNvSpPr>
                    <a:spLocks/>
                  </p:cNvSpPr>
                  <p:nvPr/>
                </p:nvSpPr>
                <p:spPr bwMode="ltGray">
                  <a:xfrm>
                    <a:off x="1944"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39" name="Freeform 23"/>
                  <p:cNvSpPr>
                    <a:spLocks/>
                  </p:cNvSpPr>
                  <p:nvPr/>
                </p:nvSpPr>
                <p:spPr bwMode="ltGray">
                  <a:xfrm>
                    <a:off x="1948"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40" name="Freeform 24"/>
                  <p:cNvSpPr>
                    <a:spLocks/>
                  </p:cNvSpPr>
                  <p:nvPr/>
                </p:nvSpPr>
                <p:spPr bwMode="ltGray">
                  <a:xfrm>
                    <a:off x="1969"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41" name="Freeform 25"/>
                  <p:cNvSpPr>
                    <a:spLocks/>
                  </p:cNvSpPr>
                  <p:nvPr/>
                </p:nvSpPr>
                <p:spPr bwMode="ltGray">
                  <a:xfrm>
                    <a:off x="1976"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42" name="Freeform 26"/>
                  <p:cNvSpPr>
                    <a:spLocks/>
                  </p:cNvSpPr>
                  <p:nvPr/>
                </p:nvSpPr>
                <p:spPr bwMode="ltGray">
                  <a:xfrm>
                    <a:off x="2082"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43" name="Freeform 27"/>
                  <p:cNvSpPr>
                    <a:spLocks/>
                  </p:cNvSpPr>
                  <p:nvPr/>
                </p:nvSpPr>
                <p:spPr bwMode="ltGray">
                  <a:xfrm>
                    <a:off x="2152"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44" name="Freeform 28"/>
                  <p:cNvSpPr>
                    <a:spLocks/>
                  </p:cNvSpPr>
                  <p:nvPr/>
                </p:nvSpPr>
                <p:spPr bwMode="ltGray">
                  <a:xfrm>
                    <a:off x="2194" y="584"/>
                    <a:ext cx="11" cy="8"/>
                  </a:xfrm>
                  <a:custGeom>
                    <a:avLst/>
                    <a:gdLst>
                      <a:gd name="T0" fmla="*/ 3 w 26"/>
                      <a:gd name="T1" fmla="*/ 5 h 22"/>
                      <a:gd name="T2" fmla="*/ 6 w 26"/>
                      <a:gd name="T3" fmla="*/ 0 h 22"/>
                      <a:gd name="T4" fmla="*/ 6 w 26"/>
                      <a:gd name="T5" fmla="*/ 8 h 22"/>
                      <a:gd name="T6" fmla="*/ 3 w 26"/>
                      <a:gd name="T7" fmla="*/ 5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45" name="Freeform 29"/>
                  <p:cNvSpPr>
                    <a:spLocks/>
                  </p:cNvSpPr>
                  <p:nvPr/>
                </p:nvSpPr>
                <p:spPr bwMode="ltGray">
                  <a:xfrm>
                    <a:off x="2059"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46" name="Freeform 30"/>
                  <p:cNvSpPr>
                    <a:spLocks/>
                  </p:cNvSpPr>
                  <p:nvPr/>
                </p:nvSpPr>
                <p:spPr bwMode="ltGray">
                  <a:xfrm>
                    <a:off x="1988"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47" name="Freeform 31"/>
                  <p:cNvSpPr>
                    <a:spLocks/>
                  </p:cNvSpPr>
                  <p:nvPr/>
                </p:nvSpPr>
                <p:spPr bwMode="ltGray">
                  <a:xfrm>
                    <a:off x="1910"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48" name="Freeform 32"/>
                  <p:cNvSpPr>
                    <a:spLocks/>
                  </p:cNvSpPr>
                  <p:nvPr/>
                </p:nvSpPr>
                <p:spPr bwMode="ltGray">
                  <a:xfrm>
                    <a:off x="1899"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49" name="Freeform 33"/>
                  <p:cNvSpPr>
                    <a:spLocks/>
                  </p:cNvSpPr>
                  <p:nvPr/>
                </p:nvSpPr>
                <p:spPr bwMode="ltGray">
                  <a:xfrm>
                    <a:off x="1909"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50" name="Freeform 34"/>
                  <p:cNvSpPr>
                    <a:spLocks/>
                  </p:cNvSpPr>
                  <p:nvPr/>
                </p:nvSpPr>
                <p:spPr bwMode="ltGray">
                  <a:xfrm>
                    <a:off x="1881"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51" name="Freeform 35"/>
                  <p:cNvSpPr>
                    <a:spLocks/>
                  </p:cNvSpPr>
                  <p:nvPr/>
                </p:nvSpPr>
                <p:spPr bwMode="ltGray">
                  <a:xfrm>
                    <a:off x="2930" y="489"/>
                    <a:ext cx="299" cy="179"/>
                  </a:xfrm>
                  <a:custGeom>
                    <a:avLst/>
                    <a:gdLst>
                      <a:gd name="T0" fmla="*/ 13 w 471"/>
                      <a:gd name="T1" fmla="*/ 178 h 281"/>
                      <a:gd name="T2" fmla="*/ 15 w 471"/>
                      <a:gd name="T3" fmla="*/ 159 h 281"/>
                      <a:gd name="T4" fmla="*/ 14 w 471"/>
                      <a:gd name="T5" fmla="*/ 156 h 281"/>
                      <a:gd name="T6" fmla="*/ 10 w 471"/>
                      <a:gd name="T7" fmla="*/ 139 h 281"/>
                      <a:gd name="T8" fmla="*/ 3 w 471"/>
                      <a:gd name="T9" fmla="*/ 137 h 281"/>
                      <a:gd name="T10" fmla="*/ 0 w 471"/>
                      <a:gd name="T11" fmla="*/ 122 h 281"/>
                      <a:gd name="T12" fmla="*/ 8 w 471"/>
                      <a:gd name="T13" fmla="*/ 115 h 281"/>
                      <a:gd name="T14" fmla="*/ 4 w 471"/>
                      <a:gd name="T15" fmla="*/ 105 h 281"/>
                      <a:gd name="T16" fmla="*/ 1 w 471"/>
                      <a:gd name="T17" fmla="*/ 102 h 281"/>
                      <a:gd name="T18" fmla="*/ 18 w 471"/>
                      <a:gd name="T19" fmla="*/ 76 h 281"/>
                      <a:gd name="T20" fmla="*/ 28 w 471"/>
                      <a:gd name="T21" fmla="*/ 61 h 281"/>
                      <a:gd name="T22" fmla="*/ 27 w 471"/>
                      <a:gd name="T23" fmla="*/ 45 h 281"/>
                      <a:gd name="T24" fmla="*/ 15 w 471"/>
                      <a:gd name="T25" fmla="*/ 27 h 281"/>
                      <a:gd name="T26" fmla="*/ 13 w 471"/>
                      <a:gd name="T27" fmla="*/ 20 h 281"/>
                      <a:gd name="T28" fmla="*/ 17 w 471"/>
                      <a:gd name="T29" fmla="*/ 23 h 281"/>
                      <a:gd name="T30" fmla="*/ 30 w 471"/>
                      <a:gd name="T31" fmla="*/ 22 h 281"/>
                      <a:gd name="T32" fmla="*/ 41 w 471"/>
                      <a:gd name="T33" fmla="*/ 7 h 281"/>
                      <a:gd name="T34" fmla="*/ 52 w 471"/>
                      <a:gd name="T35" fmla="*/ 0 h 281"/>
                      <a:gd name="T36" fmla="*/ 56 w 471"/>
                      <a:gd name="T37" fmla="*/ 1 h 281"/>
                      <a:gd name="T38" fmla="*/ 58 w 471"/>
                      <a:gd name="T39" fmla="*/ 6 h 281"/>
                      <a:gd name="T40" fmla="*/ 62 w 471"/>
                      <a:gd name="T41" fmla="*/ 3 h 281"/>
                      <a:gd name="T42" fmla="*/ 70 w 471"/>
                      <a:gd name="T43" fmla="*/ 5 h 281"/>
                      <a:gd name="T44" fmla="*/ 74 w 471"/>
                      <a:gd name="T45" fmla="*/ 6 h 281"/>
                      <a:gd name="T46" fmla="*/ 90 w 471"/>
                      <a:gd name="T47" fmla="*/ 9 h 281"/>
                      <a:gd name="T48" fmla="*/ 98 w 471"/>
                      <a:gd name="T49" fmla="*/ 15 h 281"/>
                      <a:gd name="T50" fmla="*/ 106 w 471"/>
                      <a:gd name="T51" fmla="*/ 11 h 281"/>
                      <a:gd name="T52" fmla="*/ 110 w 471"/>
                      <a:gd name="T53" fmla="*/ 9 h 281"/>
                      <a:gd name="T54" fmla="*/ 124 w 471"/>
                      <a:gd name="T55" fmla="*/ 9 h 281"/>
                      <a:gd name="T56" fmla="*/ 134 w 471"/>
                      <a:gd name="T57" fmla="*/ 20 h 281"/>
                      <a:gd name="T58" fmla="*/ 147 w 471"/>
                      <a:gd name="T59" fmla="*/ 38 h 281"/>
                      <a:gd name="T60" fmla="*/ 156 w 471"/>
                      <a:gd name="T61" fmla="*/ 45 h 281"/>
                      <a:gd name="T62" fmla="*/ 163 w 471"/>
                      <a:gd name="T63" fmla="*/ 43 h 281"/>
                      <a:gd name="T64" fmla="*/ 171 w 471"/>
                      <a:gd name="T65" fmla="*/ 41 h 281"/>
                      <a:gd name="T66" fmla="*/ 184 w 471"/>
                      <a:gd name="T67" fmla="*/ 45 h 281"/>
                      <a:gd name="T68" fmla="*/ 190 w 471"/>
                      <a:gd name="T69" fmla="*/ 52 h 281"/>
                      <a:gd name="T70" fmla="*/ 196 w 471"/>
                      <a:gd name="T71" fmla="*/ 57 h 281"/>
                      <a:gd name="T72" fmla="*/ 202 w 471"/>
                      <a:gd name="T73" fmla="*/ 71 h 281"/>
                      <a:gd name="T74" fmla="*/ 204 w 471"/>
                      <a:gd name="T75" fmla="*/ 76 h 281"/>
                      <a:gd name="T76" fmla="*/ 206 w 471"/>
                      <a:gd name="T77" fmla="*/ 80 h 281"/>
                      <a:gd name="T78" fmla="*/ 197 w 471"/>
                      <a:gd name="T79" fmla="*/ 90 h 281"/>
                      <a:gd name="T80" fmla="*/ 204 w 471"/>
                      <a:gd name="T81" fmla="*/ 90 h 281"/>
                      <a:gd name="T82" fmla="*/ 217 w 471"/>
                      <a:gd name="T83" fmla="*/ 99 h 281"/>
                      <a:gd name="T84" fmla="*/ 231 w 471"/>
                      <a:gd name="T85" fmla="*/ 100 h 281"/>
                      <a:gd name="T86" fmla="*/ 241 w 471"/>
                      <a:gd name="T87" fmla="*/ 107 h 281"/>
                      <a:gd name="T88" fmla="*/ 243 w 471"/>
                      <a:gd name="T89" fmla="*/ 110 h 281"/>
                      <a:gd name="T90" fmla="*/ 243 w 471"/>
                      <a:gd name="T91" fmla="*/ 112 h 281"/>
                      <a:gd name="T92" fmla="*/ 250 w 471"/>
                      <a:gd name="T93" fmla="*/ 110 h 281"/>
                      <a:gd name="T94" fmla="*/ 254 w 471"/>
                      <a:gd name="T95" fmla="*/ 109 h 281"/>
                      <a:gd name="T96" fmla="*/ 279 w 471"/>
                      <a:gd name="T97" fmla="*/ 118 h 281"/>
                      <a:gd name="T98" fmla="*/ 284 w 471"/>
                      <a:gd name="T99" fmla="*/ 127 h 281"/>
                      <a:gd name="T100" fmla="*/ 295 w 471"/>
                      <a:gd name="T101" fmla="*/ 128 h 281"/>
                      <a:gd name="T102" fmla="*/ 299 w 471"/>
                      <a:gd name="T103" fmla="*/ 137 h 281"/>
                      <a:gd name="T104" fmla="*/ 286 w 471"/>
                      <a:gd name="T105" fmla="*/ 164 h 281"/>
                      <a:gd name="T106" fmla="*/ 276 w 471"/>
                      <a:gd name="T107" fmla="*/ 179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52" name="Freeform 36"/>
                  <p:cNvSpPr>
                    <a:spLocks/>
                  </p:cNvSpPr>
                  <p:nvPr/>
                </p:nvSpPr>
                <p:spPr bwMode="ltGray">
                  <a:xfrm>
                    <a:off x="2534" y="242"/>
                    <a:ext cx="420" cy="283"/>
                  </a:xfrm>
                  <a:custGeom>
                    <a:avLst/>
                    <a:gdLst>
                      <a:gd name="T0" fmla="*/ 173 w 984"/>
                      <a:gd name="T1" fmla="*/ 2 h 844"/>
                      <a:gd name="T2" fmla="*/ 214 w 984"/>
                      <a:gd name="T3" fmla="*/ 11 h 844"/>
                      <a:gd name="T4" fmla="*/ 235 w 984"/>
                      <a:gd name="T5" fmla="*/ 13 h 844"/>
                      <a:gd name="T6" fmla="*/ 247 w 984"/>
                      <a:gd name="T7" fmla="*/ 44 h 844"/>
                      <a:gd name="T8" fmla="*/ 250 w 984"/>
                      <a:gd name="T9" fmla="*/ 30 h 844"/>
                      <a:gd name="T10" fmla="*/ 259 w 984"/>
                      <a:gd name="T11" fmla="*/ 23 h 844"/>
                      <a:gd name="T12" fmla="*/ 274 w 984"/>
                      <a:gd name="T13" fmla="*/ 42 h 844"/>
                      <a:gd name="T14" fmla="*/ 291 w 984"/>
                      <a:gd name="T15" fmla="*/ 33 h 844"/>
                      <a:gd name="T16" fmla="*/ 301 w 984"/>
                      <a:gd name="T17" fmla="*/ 29 h 844"/>
                      <a:gd name="T18" fmla="*/ 325 w 984"/>
                      <a:gd name="T19" fmla="*/ 1 h 844"/>
                      <a:gd name="T20" fmla="*/ 341 w 984"/>
                      <a:gd name="T21" fmla="*/ 23 h 844"/>
                      <a:gd name="T22" fmla="*/ 341 w 984"/>
                      <a:gd name="T23" fmla="*/ 44 h 844"/>
                      <a:gd name="T24" fmla="*/ 337 w 984"/>
                      <a:gd name="T25" fmla="*/ 53 h 844"/>
                      <a:gd name="T26" fmla="*/ 327 w 984"/>
                      <a:gd name="T27" fmla="*/ 54 h 844"/>
                      <a:gd name="T28" fmla="*/ 325 w 984"/>
                      <a:gd name="T29" fmla="*/ 62 h 844"/>
                      <a:gd name="T30" fmla="*/ 342 w 984"/>
                      <a:gd name="T31" fmla="*/ 76 h 844"/>
                      <a:gd name="T32" fmla="*/ 335 w 984"/>
                      <a:gd name="T33" fmla="*/ 108 h 844"/>
                      <a:gd name="T34" fmla="*/ 354 w 984"/>
                      <a:gd name="T35" fmla="*/ 139 h 844"/>
                      <a:gd name="T36" fmla="*/ 365 w 984"/>
                      <a:gd name="T37" fmla="*/ 151 h 844"/>
                      <a:gd name="T38" fmla="*/ 354 w 984"/>
                      <a:gd name="T39" fmla="*/ 151 h 844"/>
                      <a:gd name="T40" fmla="*/ 318 w 984"/>
                      <a:gd name="T41" fmla="*/ 127 h 844"/>
                      <a:gd name="T42" fmla="*/ 289 w 984"/>
                      <a:gd name="T43" fmla="*/ 135 h 844"/>
                      <a:gd name="T44" fmla="*/ 252 w 984"/>
                      <a:gd name="T45" fmla="*/ 148 h 844"/>
                      <a:gd name="T46" fmla="*/ 274 w 984"/>
                      <a:gd name="T47" fmla="*/ 194 h 844"/>
                      <a:gd name="T48" fmla="*/ 303 w 984"/>
                      <a:gd name="T49" fmla="*/ 205 h 844"/>
                      <a:gd name="T50" fmla="*/ 315 w 984"/>
                      <a:gd name="T51" fmla="*/ 184 h 844"/>
                      <a:gd name="T52" fmla="*/ 330 w 984"/>
                      <a:gd name="T53" fmla="*/ 191 h 844"/>
                      <a:gd name="T54" fmla="*/ 327 w 984"/>
                      <a:gd name="T55" fmla="*/ 211 h 844"/>
                      <a:gd name="T56" fmla="*/ 342 w 984"/>
                      <a:gd name="T57" fmla="*/ 225 h 844"/>
                      <a:gd name="T58" fmla="*/ 358 w 984"/>
                      <a:gd name="T59" fmla="*/ 221 h 844"/>
                      <a:gd name="T60" fmla="*/ 394 w 984"/>
                      <a:gd name="T61" fmla="*/ 270 h 844"/>
                      <a:gd name="T62" fmla="*/ 402 w 984"/>
                      <a:gd name="T63" fmla="*/ 277 h 844"/>
                      <a:gd name="T64" fmla="*/ 373 w 984"/>
                      <a:gd name="T65" fmla="*/ 272 h 844"/>
                      <a:gd name="T66" fmla="*/ 354 w 984"/>
                      <a:gd name="T67" fmla="*/ 254 h 844"/>
                      <a:gd name="T68" fmla="*/ 332 w 984"/>
                      <a:gd name="T69" fmla="*/ 238 h 844"/>
                      <a:gd name="T70" fmla="*/ 300 w 984"/>
                      <a:gd name="T71" fmla="*/ 222 h 844"/>
                      <a:gd name="T72" fmla="*/ 262 w 984"/>
                      <a:gd name="T73" fmla="*/ 217 h 844"/>
                      <a:gd name="T74" fmla="*/ 216 w 984"/>
                      <a:gd name="T75" fmla="*/ 199 h 844"/>
                      <a:gd name="T76" fmla="*/ 197 w 984"/>
                      <a:gd name="T77" fmla="*/ 170 h 844"/>
                      <a:gd name="T78" fmla="*/ 184 w 984"/>
                      <a:gd name="T79" fmla="*/ 155 h 844"/>
                      <a:gd name="T80" fmla="*/ 163 w 984"/>
                      <a:gd name="T81" fmla="*/ 144 h 844"/>
                      <a:gd name="T82" fmla="*/ 146 w 984"/>
                      <a:gd name="T83" fmla="*/ 124 h 844"/>
                      <a:gd name="T84" fmla="*/ 151 w 984"/>
                      <a:gd name="T85" fmla="*/ 139 h 844"/>
                      <a:gd name="T86" fmla="*/ 178 w 984"/>
                      <a:gd name="T87" fmla="*/ 166 h 844"/>
                      <a:gd name="T88" fmla="*/ 180 w 984"/>
                      <a:gd name="T89" fmla="*/ 176 h 844"/>
                      <a:gd name="T90" fmla="*/ 168 w 984"/>
                      <a:gd name="T91" fmla="*/ 167 h 844"/>
                      <a:gd name="T92" fmla="*/ 151 w 984"/>
                      <a:gd name="T93" fmla="*/ 156 h 844"/>
                      <a:gd name="T94" fmla="*/ 134 w 984"/>
                      <a:gd name="T95" fmla="*/ 135 h 844"/>
                      <a:gd name="T96" fmla="*/ 114 w 984"/>
                      <a:gd name="T97" fmla="*/ 116 h 844"/>
                      <a:gd name="T98" fmla="*/ 90 w 984"/>
                      <a:gd name="T99" fmla="*/ 105 h 844"/>
                      <a:gd name="T100" fmla="*/ 66 w 984"/>
                      <a:gd name="T101" fmla="*/ 80 h 844"/>
                      <a:gd name="T102" fmla="*/ 28 w 984"/>
                      <a:gd name="T103" fmla="*/ 22 h 844"/>
                      <a:gd name="T104" fmla="*/ 15 w 984"/>
                      <a:gd name="T105" fmla="*/ 13 h 844"/>
                      <a:gd name="T106" fmla="*/ 20 w 984"/>
                      <a:gd name="T107" fmla="*/ 7 h 844"/>
                      <a:gd name="T108" fmla="*/ 44 w 984"/>
                      <a:gd name="T109" fmla="*/ 2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53" name="Freeform 37"/>
                  <p:cNvSpPr>
                    <a:spLocks/>
                  </p:cNvSpPr>
                  <p:nvPr/>
                </p:nvSpPr>
                <p:spPr bwMode="ltGray">
                  <a:xfrm>
                    <a:off x="2405" y="445"/>
                    <a:ext cx="15" cy="16"/>
                  </a:xfrm>
                  <a:custGeom>
                    <a:avLst/>
                    <a:gdLst>
                      <a:gd name="T0" fmla="*/ 3 w 36"/>
                      <a:gd name="T1" fmla="*/ 9 h 48"/>
                      <a:gd name="T2" fmla="*/ 4 w 36"/>
                      <a:gd name="T3" fmla="*/ 16 h 48"/>
                      <a:gd name="T4" fmla="*/ 3 w 36"/>
                      <a:gd name="T5" fmla="*/ 9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54" name="Freeform 38"/>
                  <p:cNvSpPr>
                    <a:spLocks/>
                  </p:cNvSpPr>
                  <p:nvPr/>
                </p:nvSpPr>
                <p:spPr bwMode="ltGray">
                  <a:xfrm>
                    <a:off x="2393" y="439"/>
                    <a:ext cx="16" cy="12"/>
                  </a:xfrm>
                  <a:custGeom>
                    <a:avLst/>
                    <a:gdLst>
                      <a:gd name="T0" fmla="*/ 0 w 36"/>
                      <a:gd name="T1" fmla="*/ 2 h 37"/>
                      <a:gd name="T2" fmla="*/ 5 w 36"/>
                      <a:gd name="T3" fmla="*/ 0 h 37"/>
                      <a:gd name="T4" fmla="*/ 16 w 36"/>
                      <a:gd name="T5" fmla="*/ 6 h 37"/>
                      <a:gd name="T6" fmla="*/ 4 w 36"/>
                      <a:gd name="T7" fmla="*/ 6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55" name="Freeform 39"/>
                  <p:cNvSpPr>
                    <a:spLocks/>
                  </p:cNvSpPr>
                  <p:nvPr/>
                </p:nvSpPr>
                <p:spPr bwMode="ltGray">
                  <a:xfrm>
                    <a:off x="2878" y="406"/>
                    <a:ext cx="73" cy="33"/>
                  </a:xfrm>
                  <a:custGeom>
                    <a:avLst/>
                    <a:gdLst>
                      <a:gd name="T0" fmla="*/ 0 w 170"/>
                      <a:gd name="T1" fmla="*/ 17 h 96"/>
                      <a:gd name="T2" fmla="*/ 12 w 170"/>
                      <a:gd name="T3" fmla="*/ 9 h 96"/>
                      <a:gd name="T4" fmla="*/ 24 w 170"/>
                      <a:gd name="T5" fmla="*/ 7 h 96"/>
                      <a:gd name="T6" fmla="*/ 34 w 170"/>
                      <a:gd name="T7" fmla="*/ 3 h 96"/>
                      <a:gd name="T8" fmla="*/ 27 w 170"/>
                      <a:gd name="T9" fmla="*/ 9 h 96"/>
                      <a:gd name="T10" fmla="*/ 53 w 170"/>
                      <a:gd name="T11" fmla="*/ 17 h 96"/>
                      <a:gd name="T12" fmla="*/ 69 w 170"/>
                      <a:gd name="T13" fmla="*/ 22 h 96"/>
                      <a:gd name="T14" fmla="*/ 50 w 170"/>
                      <a:gd name="T15" fmla="*/ 26 h 96"/>
                      <a:gd name="T16" fmla="*/ 38 w 170"/>
                      <a:gd name="T17" fmla="*/ 20 h 96"/>
                      <a:gd name="T18" fmla="*/ 33 w 170"/>
                      <a:gd name="T19" fmla="*/ 18 h 96"/>
                      <a:gd name="T20" fmla="*/ 10 w 170"/>
                      <a:gd name="T21" fmla="*/ 14 h 96"/>
                      <a:gd name="T22" fmla="*/ 0 w 170"/>
                      <a:gd name="T23" fmla="*/ 1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56" name="Freeform 40"/>
                  <p:cNvSpPr>
                    <a:spLocks/>
                  </p:cNvSpPr>
                  <p:nvPr/>
                </p:nvSpPr>
                <p:spPr bwMode="ltGray">
                  <a:xfrm>
                    <a:off x="2955" y="433"/>
                    <a:ext cx="59" cy="15"/>
                  </a:xfrm>
                  <a:custGeom>
                    <a:avLst/>
                    <a:gdLst>
                      <a:gd name="T0" fmla="*/ 0 w 138"/>
                      <a:gd name="T1" fmla="*/ 0 h 44"/>
                      <a:gd name="T2" fmla="*/ 22 w 138"/>
                      <a:gd name="T3" fmla="*/ 1 h 44"/>
                      <a:gd name="T4" fmla="*/ 38 w 138"/>
                      <a:gd name="T5" fmla="*/ 8 h 44"/>
                      <a:gd name="T6" fmla="*/ 48 w 138"/>
                      <a:gd name="T7" fmla="*/ 7 h 44"/>
                      <a:gd name="T8" fmla="*/ 46 w 138"/>
                      <a:gd name="T9" fmla="*/ 15 h 44"/>
                      <a:gd name="T10" fmla="*/ 27 w 138"/>
                      <a:gd name="T11" fmla="*/ 14 h 44"/>
                      <a:gd name="T12" fmla="*/ 0 w 138"/>
                      <a:gd name="T13" fmla="*/ 12 h 44"/>
                      <a:gd name="T14" fmla="*/ 12 w 138"/>
                      <a:gd name="T15" fmla="*/ 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57" name="Freeform 41"/>
                  <p:cNvSpPr>
                    <a:spLocks/>
                  </p:cNvSpPr>
                  <p:nvPr/>
                </p:nvSpPr>
                <p:spPr bwMode="ltGray">
                  <a:xfrm>
                    <a:off x="2924" y="441"/>
                    <a:ext cx="24" cy="14"/>
                  </a:xfrm>
                  <a:custGeom>
                    <a:avLst/>
                    <a:gdLst>
                      <a:gd name="T0" fmla="*/ 7 w 57"/>
                      <a:gd name="T1" fmla="*/ 8 h 42"/>
                      <a:gd name="T2" fmla="*/ 16 w 57"/>
                      <a:gd name="T3" fmla="*/ 4 h 42"/>
                      <a:gd name="T4" fmla="*/ 7 w 57"/>
                      <a:gd name="T5" fmla="*/ 8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58" name="Freeform 42"/>
                  <p:cNvSpPr>
                    <a:spLocks/>
                  </p:cNvSpPr>
                  <p:nvPr/>
                </p:nvSpPr>
                <p:spPr bwMode="ltGray">
                  <a:xfrm>
                    <a:off x="2908" y="398"/>
                    <a:ext cx="16" cy="18"/>
                  </a:xfrm>
                  <a:custGeom>
                    <a:avLst/>
                    <a:gdLst>
                      <a:gd name="T0" fmla="*/ 8 w 39"/>
                      <a:gd name="T1" fmla="*/ 11 h 52"/>
                      <a:gd name="T2" fmla="*/ 8 w 39"/>
                      <a:gd name="T3" fmla="*/ 0 h 52"/>
                      <a:gd name="T4" fmla="*/ 8 w 39"/>
                      <a:gd name="T5" fmla="*/ 11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59" name="Freeform 43"/>
                  <p:cNvSpPr>
                    <a:spLocks/>
                  </p:cNvSpPr>
                  <p:nvPr/>
                </p:nvSpPr>
                <p:spPr bwMode="ltGray">
                  <a:xfrm>
                    <a:off x="3035" y="452"/>
                    <a:ext cx="19" cy="27"/>
                  </a:xfrm>
                  <a:custGeom>
                    <a:avLst/>
                    <a:gdLst>
                      <a:gd name="T0" fmla="*/ 2 w 44"/>
                      <a:gd name="T1" fmla="*/ 3 h 80"/>
                      <a:gd name="T2" fmla="*/ 9 w 44"/>
                      <a:gd name="T3" fmla="*/ 11 h 80"/>
                      <a:gd name="T4" fmla="*/ 10 w 44"/>
                      <a:gd name="T5" fmla="*/ 17 h 80"/>
                      <a:gd name="T6" fmla="*/ 16 w 44"/>
                      <a:gd name="T7" fmla="*/ 18 h 80"/>
                      <a:gd name="T8" fmla="*/ 10 w 44"/>
                      <a:gd name="T9" fmla="*/ 25 h 80"/>
                      <a:gd name="T10" fmla="*/ 0 w 44"/>
                      <a:gd name="T11" fmla="*/ 7 h 80"/>
                      <a:gd name="T12" fmla="*/ 2 w 44"/>
                      <a:gd name="T13" fmla="*/ 3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60" name="Freeform 44"/>
                  <p:cNvSpPr>
                    <a:spLocks/>
                  </p:cNvSpPr>
                  <p:nvPr/>
                </p:nvSpPr>
                <p:spPr bwMode="ltGray">
                  <a:xfrm>
                    <a:off x="2696" y="247"/>
                    <a:ext cx="205" cy="41"/>
                  </a:xfrm>
                  <a:custGeom>
                    <a:avLst/>
                    <a:gdLst>
                      <a:gd name="T0" fmla="*/ 140 w 323"/>
                      <a:gd name="T1" fmla="*/ 1 h 64"/>
                      <a:gd name="T2" fmla="*/ 147 w 323"/>
                      <a:gd name="T3" fmla="*/ 5 h 64"/>
                      <a:gd name="T4" fmla="*/ 149 w 323"/>
                      <a:gd name="T5" fmla="*/ 0 h 64"/>
                      <a:gd name="T6" fmla="*/ 168 w 323"/>
                      <a:gd name="T7" fmla="*/ 0 h 64"/>
                      <a:gd name="T8" fmla="*/ 182 w 323"/>
                      <a:gd name="T9" fmla="*/ 11 h 64"/>
                      <a:gd name="T10" fmla="*/ 202 w 323"/>
                      <a:gd name="T11" fmla="*/ 6 h 64"/>
                      <a:gd name="T12" fmla="*/ 199 w 323"/>
                      <a:gd name="T13" fmla="*/ 19 h 64"/>
                      <a:gd name="T14" fmla="*/ 189 w 323"/>
                      <a:gd name="T15" fmla="*/ 29 h 64"/>
                      <a:gd name="T16" fmla="*/ 187 w 323"/>
                      <a:gd name="T17" fmla="*/ 19 h 64"/>
                      <a:gd name="T18" fmla="*/ 182 w 323"/>
                      <a:gd name="T19" fmla="*/ 20 h 64"/>
                      <a:gd name="T20" fmla="*/ 177 w 323"/>
                      <a:gd name="T21" fmla="*/ 19 h 64"/>
                      <a:gd name="T22" fmla="*/ 167 w 323"/>
                      <a:gd name="T23" fmla="*/ 13 h 64"/>
                      <a:gd name="T24" fmla="*/ 145 w 323"/>
                      <a:gd name="T25" fmla="*/ 24 h 64"/>
                      <a:gd name="T26" fmla="*/ 128 w 323"/>
                      <a:gd name="T27" fmla="*/ 28 h 64"/>
                      <a:gd name="T28" fmla="*/ 135 w 323"/>
                      <a:gd name="T29" fmla="*/ 37 h 64"/>
                      <a:gd name="T30" fmla="*/ 119 w 323"/>
                      <a:gd name="T31" fmla="*/ 40 h 64"/>
                      <a:gd name="T32" fmla="*/ 107 w 323"/>
                      <a:gd name="T33" fmla="*/ 39 h 64"/>
                      <a:gd name="T34" fmla="*/ 112 w 323"/>
                      <a:gd name="T35" fmla="*/ 37 h 64"/>
                      <a:gd name="T36" fmla="*/ 109 w 323"/>
                      <a:gd name="T37" fmla="*/ 26 h 64"/>
                      <a:gd name="T38" fmla="*/ 107 w 323"/>
                      <a:gd name="T39" fmla="*/ 20 h 64"/>
                      <a:gd name="T40" fmla="*/ 100 w 323"/>
                      <a:gd name="T41" fmla="*/ 15 h 64"/>
                      <a:gd name="T42" fmla="*/ 90 w 323"/>
                      <a:gd name="T43" fmla="*/ 17 h 64"/>
                      <a:gd name="T44" fmla="*/ 85 w 323"/>
                      <a:gd name="T45" fmla="*/ 17 h 64"/>
                      <a:gd name="T46" fmla="*/ 78 w 323"/>
                      <a:gd name="T47" fmla="*/ 16 h 64"/>
                      <a:gd name="T48" fmla="*/ 53 w 323"/>
                      <a:gd name="T49" fmla="*/ 1 h 64"/>
                      <a:gd name="T50" fmla="*/ 37 w 323"/>
                      <a:gd name="T51" fmla="*/ 9 h 64"/>
                      <a:gd name="T52" fmla="*/ 1 w 323"/>
                      <a:gd name="T53" fmla="*/ 0 h 64"/>
                      <a:gd name="T54" fmla="*/ 14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61" name="Freeform 45"/>
                  <p:cNvSpPr>
                    <a:spLocks/>
                  </p:cNvSpPr>
                  <p:nvPr/>
                </p:nvSpPr>
                <p:spPr bwMode="ltGray">
                  <a:xfrm>
                    <a:off x="2515" y="246"/>
                    <a:ext cx="190" cy="20"/>
                  </a:xfrm>
                  <a:custGeom>
                    <a:avLst/>
                    <a:gdLst>
                      <a:gd name="T0" fmla="*/ 67 w 300"/>
                      <a:gd name="T1" fmla="*/ 20 h 31"/>
                      <a:gd name="T2" fmla="*/ 19 w 300"/>
                      <a:gd name="T3" fmla="*/ 1 h 31"/>
                      <a:gd name="T4" fmla="*/ 181 w 300"/>
                      <a:gd name="T5" fmla="*/ 0 h 31"/>
                      <a:gd name="T6" fmla="*/ 187 w 300"/>
                      <a:gd name="T7" fmla="*/ 9 h 31"/>
                      <a:gd name="T8" fmla="*/ 167 w 300"/>
                      <a:gd name="T9" fmla="*/ 10 h 31"/>
                      <a:gd name="T10" fmla="*/ 67 w 300"/>
                      <a:gd name="T11" fmla="*/ 20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62" name="Freeform 46"/>
                  <p:cNvSpPr>
                    <a:spLocks/>
                  </p:cNvSpPr>
                  <p:nvPr/>
                </p:nvSpPr>
                <p:spPr bwMode="ltGray">
                  <a:xfrm>
                    <a:off x="2096"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64" name="Freeform 48"/>
                  <p:cNvSpPr>
                    <a:spLocks/>
                  </p:cNvSpPr>
                  <p:nvPr/>
                </p:nvSpPr>
                <p:spPr bwMode="ltGray">
                  <a:xfrm>
                    <a:off x="2043" y="241"/>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65" name="Freeform 49"/>
                  <p:cNvSpPr>
                    <a:spLocks/>
                  </p:cNvSpPr>
                  <p:nvPr/>
                </p:nvSpPr>
                <p:spPr bwMode="ltGray">
                  <a:xfrm>
                    <a:off x="2031"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66" name="Freeform 50"/>
                  <p:cNvSpPr>
                    <a:spLocks/>
                  </p:cNvSpPr>
                  <p:nvPr/>
                </p:nvSpPr>
                <p:spPr bwMode="ltGray">
                  <a:xfrm>
                    <a:off x="1968"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67" name="Freeform 51"/>
                  <p:cNvSpPr>
                    <a:spLocks/>
                  </p:cNvSpPr>
                  <p:nvPr/>
                </p:nvSpPr>
                <p:spPr bwMode="ltGray">
                  <a:xfrm>
                    <a:off x="2021"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68" name="Freeform 52"/>
                  <p:cNvSpPr>
                    <a:spLocks/>
                  </p:cNvSpPr>
                  <p:nvPr/>
                </p:nvSpPr>
                <p:spPr bwMode="ltGray">
                  <a:xfrm>
                    <a:off x="1573"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69" name="Freeform 53"/>
                  <p:cNvSpPr>
                    <a:spLocks/>
                  </p:cNvSpPr>
                  <p:nvPr/>
                </p:nvSpPr>
                <p:spPr bwMode="ltGray">
                  <a:xfrm>
                    <a:off x="1634"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70" name="Freeform 54"/>
                  <p:cNvSpPr>
                    <a:spLocks/>
                  </p:cNvSpPr>
                  <p:nvPr/>
                </p:nvSpPr>
                <p:spPr bwMode="ltGray">
                  <a:xfrm>
                    <a:off x="1900"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71" name="Freeform 55"/>
                  <p:cNvSpPr>
                    <a:spLocks/>
                  </p:cNvSpPr>
                  <p:nvPr/>
                </p:nvSpPr>
                <p:spPr bwMode="ltGray">
                  <a:xfrm>
                    <a:off x="1951"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72" name="Freeform 56"/>
                  <p:cNvSpPr>
                    <a:spLocks/>
                  </p:cNvSpPr>
                  <p:nvPr/>
                </p:nvSpPr>
                <p:spPr bwMode="ltGray">
                  <a:xfrm>
                    <a:off x="1021" y="314"/>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73" name="Freeform 57"/>
                  <p:cNvSpPr>
                    <a:spLocks/>
                  </p:cNvSpPr>
                  <p:nvPr/>
                </p:nvSpPr>
                <p:spPr bwMode="ltGray">
                  <a:xfrm>
                    <a:off x="1189" y="447"/>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74" name="Freeform 58"/>
                  <p:cNvSpPr>
                    <a:spLocks/>
                  </p:cNvSpPr>
                  <p:nvPr/>
                </p:nvSpPr>
                <p:spPr bwMode="ltGray">
                  <a:xfrm>
                    <a:off x="1476"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75" name="Freeform 59"/>
                  <p:cNvSpPr>
                    <a:spLocks/>
                  </p:cNvSpPr>
                  <p:nvPr/>
                </p:nvSpPr>
                <p:spPr bwMode="ltGray">
                  <a:xfrm>
                    <a:off x="1467"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76" name="Freeform 60"/>
                  <p:cNvSpPr>
                    <a:spLocks/>
                  </p:cNvSpPr>
                  <p:nvPr/>
                </p:nvSpPr>
                <p:spPr bwMode="ltGray">
                  <a:xfrm>
                    <a:off x="1072"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77" name="Freeform 61"/>
                  <p:cNvSpPr>
                    <a:spLocks/>
                  </p:cNvSpPr>
                  <p:nvPr/>
                </p:nvSpPr>
                <p:spPr bwMode="ltGray">
                  <a:xfrm>
                    <a:off x="1374"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78" name="Freeform 62"/>
                  <p:cNvSpPr>
                    <a:spLocks/>
                  </p:cNvSpPr>
                  <p:nvPr/>
                </p:nvSpPr>
                <p:spPr bwMode="ltGray">
                  <a:xfrm>
                    <a:off x="1173"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79" name="Freeform 63"/>
                  <p:cNvSpPr>
                    <a:spLocks/>
                  </p:cNvSpPr>
                  <p:nvPr/>
                </p:nvSpPr>
                <p:spPr bwMode="ltGray">
                  <a:xfrm>
                    <a:off x="1293"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80" name="Freeform 64"/>
                  <p:cNvSpPr>
                    <a:spLocks/>
                  </p:cNvSpPr>
                  <p:nvPr/>
                </p:nvSpPr>
                <p:spPr bwMode="ltGray">
                  <a:xfrm>
                    <a:off x="1278"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81" name="Freeform 65"/>
                  <p:cNvSpPr>
                    <a:spLocks/>
                  </p:cNvSpPr>
                  <p:nvPr/>
                </p:nvSpPr>
                <p:spPr bwMode="ltGray">
                  <a:xfrm>
                    <a:off x="1340"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82" name="Freeform 66"/>
                  <p:cNvSpPr>
                    <a:spLocks/>
                  </p:cNvSpPr>
                  <p:nvPr/>
                </p:nvSpPr>
                <p:spPr bwMode="ltGray">
                  <a:xfrm>
                    <a:off x="1395"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83" name="Freeform 67"/>
                  <p:cNvSpPr>
                    <a:spLocks/>
                  </p:cNvSpPr>
                  <p:nvPr/>
                </p:nvSpPr>
                <p:spPr bwMode="ltGray">
                  <a:xfrm>
                    <a:off x="1248"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87" name="Freeform 70"/>
                  <p:cNvSpPr>
                    <a:spLocks/>
                  </p:cNvSpPr>
                  <p:nvPr/>
                </p:nvSpPr>
                <p:spPr bwMode="ltGray">
                  <a:xfrm>
                    <a:off x="4655"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88" name="Freeform 71"/>
                  <p:cNvSpPr>
                    <a:spLocks/>
                  </p:cNvSpPr>
                  <p:nvPr/>
                </p:nvSpPr>
                <p:spPr bwMode="ltGray">
                  <a:xfrm>
                    <a:off x="4609"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89" name="Freeform 72"/>
                  <p:cNvSpPr>
                    <a:spLocks/>
                  </p:cNvSpPr>
                  <p:nvPr/>
                </p:nvSpPr>
                <p:spPr bwMode="ltGray">
                  <a:xfrm>
                    <a:off x="4580"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90" name="Freeform 73"/>
                  <p:cNvSpPr>
                    <a:spLocks/>
                  </p:cNvSpPr>
                  <p:nvPr/>
                </p:nvSpPr>
                <p:spPr bwMode="ltGray">
                  <a:xfrm>
                    <a:off x="4423"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91" name="Freeform 74"/>
                  <p:cNvSpPr>
                    <a:spLocks/>
                  </p:cNvSpPr>
                  <p:nvPr/>
                </p:nvSpPr>
                <p:spPr bwMode="ltGray">
                  <a:xfrm>
                    <a:off x="4515"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92" name="Freeform 75"/>
                  <p:cNvSpPr>
                    <a:spLocks/>
                  </p:cNvSpPr>
                  <p:nvPr/>
                </p:nvSpPr>
                <p:spPr bwMode="ltGray">
                  <a:xfrm>
                    <a:off x="4580"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93" name="Freeform 76"/>
                  <p:cNvSpPr>
                    <a:spLocks/>
                  </p:cNvSpPr>
                  <p:nvPr/>
                </p:nvSpPr>
                <p:spPr bwMode="ltGray">
                  <a:xfrm>
                    <a:off x="4578"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94" name="Freeform 77"/>
                  <p:cNvSpPr>
                    <a:spLocks/>
                  </p:cNvSpPr>
                  <p:nvPr/>
                </p:nvSpPr>
                <p:spPr bwMode="ltGray">
                  <a:xfrm>
                    <a:off x="4632"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95" name="Freeform 78"/>
                  <p:cNvSpPr>
                    <a:spLocks/>
                  </p:cNvSpPr>
                  <p:nvPr/>
                </p:nvSpPr>
                <p:spPr bwMode="ltGray">
                  <a:xfrm>
                    <a:off x="4636"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96" name="Freeform 79"/>
                  <p:cNvSpPr>
                    <a:spLocks/>
                  </p:cNvSpPr>
                  <p:nvPr/>
                </p:nvSpPr>
                <p:spPr bwMode="ltGray">
                  <a:xfrm>
                    <a:off x="4657"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97" name="Freeform 80"/>
                  <p:cNvSpPr>
                    <a:spLocks/>
                  </p:cNvSpPr>
                  <p:nvPr/>
                </p:nvSpPr>
                <p:spPr bwMode="ltGray">
                  <a:xfrm>
                    <a:off x="4664"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98" name="Freeform 81"/>
                  <p:cNvSpPr>
                    <a:spLocks/>
                  </p:cNvSpPr>
                  <p:nvPr/>
                </p:nvSpPr>
                <p:spPr bwMode="ltGray">
                  <a:xfrm>
                    <a:off x="4770"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099" name="Freeform 82"/>
                  <p:cNvSpPr>
                    <a:spLocks/>
                  </p:cNvSpPr>
                  <p:nvPr/>
                </p:nvSpPr>
                <p:spPr bwMode="ltGray">
                  <a:xfrm>
                    <a:off x="4840"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00" name="Freeform 83"/>
                  <p:cNvSpPr>
                    <a:spLocks/>
                  </p:cNvSpPr>
                  <p:nvPr/>
                </p:nvSpPr>
                <p:spPr bwMode="ltGray">
                  <a:xfrm>
                    <a:off x="4747"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01" name="Freeform 84"/>
                  <p:cNvSpPr>
                    <a:spLocks/>
                  </p:cNvSpPr>
                  <p:nvPr/>
                </p:nvSpPr>
                <p:spPr bwMode="ltGray">
                  <a:xfrm>
                    <a:off x="4676"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02" name="Freeform 85"/>
                  <p:cNvSpPr>
                    <a:spLocks/>
                  </p:cNvSpPr>
                  <p:nvPr/>
                </p:nvSpPr>
                <p:spPr bwMode="ltGray">
                  <a:xfrm>
                    <a:off x="4598"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03" name="Freeform 86"/>
                  <p:cNvSpPr>
                    <a:spLocks/>
                  </p:cNvSpPr>
                  <p:nvPr/>
                </p:nvSpPr>
                <p:spPr bwMode="ltGray">
                  <a:xfrm>
                    <a:off x="4587"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04" name="Freeform 87"/>
                  <p:cNvSpPr>
                    <a:spLocks/>
                  </p:cNvSpPr>
                  <p:nvPr/>
                </p:nvSpPr>
                <p:spPr bwMode="ltGray">
                  <a:xfrm>
                    <a:off x="4597"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05" name="Freeform 88"/>
                  <p:cNvSpPr>
                    <a:spLocks/>
                  </p:cNvSpPr>
                  <p:nvPr/>
                </p:nvSpPr>
                <p:spPr bwMode="ltGray">
                  <a:xfrm>
                    <a:off x="4569"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06" name="Freeform 89"/>
                  <p:cNvSpPr>
                    <a:spLocks/>
                  </p:cNvSpPr>
                  <p:nvPr/>
                </p:nvSpPr>
                <p:spPr bwMode="ltGray">
                  <a:xfrm>
                    <a:off x="4784"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08" name="Freeform 91"/>
                  <p:cNvSpPr>
                    <a:spLocks/>
                  </p:cNvSpPr>
                  <p:nvPr/>
                </p:nvSpPr>
                <p:spPr bwMode="ltGray">
                  <a:xfrm>
                    <a:off x="4731" y="240"/>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09" name="Freeform 92"/>
                  <p:cNvSpPr>
                    <a:spLocks/>
                  </p:cNvSpPr>
                  <p:nvPr/>
                </p:nvSpPr>
                <p:spPr bwMode="ltGray">
                  <a:xfrm>
                    <a:off x="4719"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10" name="Freeform 93"/>
                  <p:cNvSpPr>
                    <a:spLocks/>
                  </p:cNvSpPr>
                  <p:nvPr/>
                </p:nvSpPr>
                <p:spPr bwMode="ltGray">
                  <a:xfrm>
                    <a:off x="4656"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11" name="Freeform 94"/>
                  <p:cNvSpPr>
                    <a:spLocks/>
                  </p:cNvSpPr>
                  <p:nvPr/>
                </p:nvSpPr>
                <p:spPr bwMode="ltGray">
                  <a:xfrm>
                    <a:off x="4709"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12" name="Freeform 95"/>
                  <p:cNvSpPr>
                    <a:spLocks/>
                  </p:cNvSpPr>
                  <p:nvPr/>
                </p:nvSpPr>
                <p:spPr bwMode="ltGray">
                  <a:xfrm>
                    <a:off x="4261"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13" name="Freeform 96"/>
                  <p:cNvSpPr>
                    <a:spLocks/>
                  </p:cNvSpPr>
                  <p:nvPr/>
                </p:nvSpPr>
                <p:spPr bwMode="ltGray">
                  <a:xfrm>
                    <a:off x="4322"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14" name="Freeform 97"/>
                  <p:cNvSpPr>
                    <a:spLocks/>
                  </p:cNvSpPr>
                  <p:nvPr/>
                </p:nvSpPr>
                <p:spPr bwMode="ltGray">
                  <a:xfrm>
                    <a:off x="4588"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15" name="Freeform 98"/>
                  <p:cNvSpPr>
                    <a:spLocks/>
                  </p:cNvSpPr>
                  <p:nvPr/>
                </p:nvSpPr>
                <p:spPr bwMode="ltGray">
                  <a:xfrm>
                    <a:off x="4639"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16" name="Freeform 99"/>
                  <p:cNvSpPr>
                    <a:spLocks/>
                  </p:cNvSpPr>
                  <p:nvPr/>
                </p:nvSpPr>
                <p:spPr bwMode="ltGray">
                  <a:xfrm>
                    <a:off x="3709" y="315"/>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17" name="Freeform 100"/>
                  <p:cNvSpPr>
                    <a:spLocks/>
                  </p:cNvSpPr>
                  <p:nvPr/>
                </p:nvSpPr>
                <p:spPr bwMode="ltGray">
                  <a:xfrm>
                    <a:off x="3877" y="448"/>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18" name="Freeform 101"/>
                  <p:cNvSpPr>
                    <a:spLocks/>
                  </p:cNvSpPr>
                  <p:nvPr/>
                </p:nvSpPr>
                <p:spPr bwMode="ltGray">
                  <a:xfrm>
                    <a:off x="4164"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19" name="Freeform 102"/>
                  <p:cNvSpPr>
                    <a:spLocks/>
                  </p:cNvSpPr>
                  <p:nvPr/>
                </p:nvSpPr>
                <p:spPr bwMode="ltGray">
                  <a:xfrm>
                    <a:off x="4155"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20" name="Freeform 103"/>
                  <p:cNvSpPr>
                    <a:spLocks/>
                  </p:cNvSpPr>
                  <p:nvPr/>
                </p:nvSpPr>
                <p:spPr bwMode="ltGray">
                  <a:xfrm>
                    <a:off x="3760"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21" name="Freeform 104"/>
                  <p:cNvSpPr>
                    <a:spLocks/>
                  </p:cNvSpPr>
                  <p:nvPr/>
                </p:nvSpPr>
                <p:spPr bwMode="ltGray">
                  <a:xfrm>
                    <a:off x="4062"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22" name="Freeform 105"/>
                  <p:cNvSpPr>
                    <a:spLocks/>
                  </p:cNvSpPr>
                  <p:nvPr/>
                </p:nvSpPr>
                <p:spPr bwMode="ltGray">
                  <a:xfrm>
                    <a:off x="3861"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23" name="Freeform 106"/>
                  <p:cNvSpPr>
                    <a:spLocks/>
                  </p:cNvSpPr>
                  <p:nvPr/>
                </p:nvSpPr>
                <p:spPr bwMode="ltGray">
                  <a:xfrm>
                    <a:off x="3981"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24" name="Freeform 107"/>
                  <p:cNvSpPr>
                    <a:spLocks/>
                  </p:cNvSpPr>
                  <p:nvPr/>
                </p:nvSpPr>
                <p:spPr bwMode="ltGray">
                  <a:xfrm>
                    <a:off x="3966"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25" name="Freeform 108"/>
                  <p:cNvSpPr>
                    <a:spLocks/>
                  </p:cNvSpPr>
                  <p:nvPr/>
                </p:nvSpPr>
                <p:spPr bwMode="ltGray">
                  <a:xfrm>
                    <a:off x="4028"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26" name="Freeform 109"/>
                  <p:cNvSpPr>
                    <a:spLocks/>
                  </p:cNvSpPr>
                  <p:nvPr/>
                </p:nvSpPr>
                <p:spPr bwMode="ltGray">
                  <a:xfrm>
                    <a:off x="4083"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1127" name="Freeform 110"/>
                  <p:cNvSpPr>
                    <a:spLocks/>
                  </p:cNvSpPr>
                  <p:nvPr/>
                </p:nvSpPr>
                <p:spPr bwMode="ltGray">
                  <a:xfrm>
                    <a:off x="3936"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grpSp>
        </p:grpSp>
        <p:pic>
          <p:nvPicPr>
            <p:cNvPr id="1033" name="Picture 159" descr="earth"/>
            <p:cNvPicPr>
              <a:picLocks noChangeAspect="1" noChangeArrowheads="1"/>
            </p:cNvPicPr>
            <p:nvPr userDrawn="1"/>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830" r:id="rId1"/>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5"/>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4618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ltLang="en-US"/>
          </a:p>
        </p:txBody>
      </p:sp>
      <p:sp>
        <p:nvSpPr>
          <p:cNvPr id="946182"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i="1">
                <a:latin typeface="Arial" charset="0"/>
              </a:defRPr>
            </a:lvl1pPr>
          </a:lstStyle>
          <a:p>
            <a:pPr>
              <a:defRPr/>
            </a:pPr>
            <a:r>
              <a:rPr lang="en-US" altLang="en-US"/>
              <a:t>Risk Management and Financial Institutions 6e, Chapter 18,  Copyright © John C. Hull 2023</a:t>
            </a:r>
            <a:endParaRPr lang="en-US" altLang="en-US">
              <a:cs typeface="Arial" charset="0"/>
            </a:endParaRPr>
          </a:p>
        </p:txBody>
      </p:sp>
      <p:sp>
        <p:nvSpPr>
          <p:cNvPr id="94618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a:lvl1pPr>
          </a:lstStyle>
          <a:p>
            <a:fld id="{0134388A-8587-4A72-BBBB-ADC54802CC12}" type="slidenum">
              <a:rPr lang="en-US" altLang="en-US" smtClean="0"/>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grpSp>
    </p:spTree>
    <p:extLst>
      <p:ext uri="{BB962C8B-B14F-4D97-AF65-F5344CB8AC3E}">
        <p14:creationId xmlns:p14="http://schemas.microsoft.com/office/powerpoint/2010/main" val="1167225226"/>
      </p:ext>
    </p:extLst>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Lst>
  <p:hf hdr="0" dt="0"/>
  <p:txStyles>
    <p:titleStyle>
      <a:lvl1pPr algn="l" rtl="0" eaLnBrk="1" fontAlgn="base" hangingPunct="1">
        <a:spcBef>
          <a:spcPct val="0"/>
        </a:spcBef>
        <a:spcAft>
          <a:spcPct val="0"/>
        </a:spcAft>
        <a:defRPr sz="3900" b="1">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Times New Roman" pitchFamily="18" charset="0"/>
        </a:defRPr>
      </a:lvl2pPr>
      <a:lvl3pPr algn="l" rtl="0" eaLnBrk="1" fontAlgn="base" hangingPunct="1">
        <a:spcBef>
          <a:spcPct val="0"/>
        </a:spcBef>
        <a:spcAft>
          <a:spcPct val="0"/>
        </a:spcAft>
        <a:defRPr sz="3900" b="1">
          <a:solidFill>
            <a:schemeClr val="tx2"/>
          </a:solidFill>
          <a:latin typeface="Times New Roman" pitchFamily="18" charset="0"/>
        </a:defRPr>
      </a:lvl3pPr>
      <a:lvl4pPr algn="l" rtl="0" eaLnBrk="1" fontAlgn="base" hangingPunct="1">
        <a:spcBef>
          <a:spcPct val="0"/>
        </a:spcBef>
        <a:spcAft>
          <a:spcPct val="0"/>
        </a:spcAft>
        <a:defRPr sz="3900" b="1">
          <a:solidFill>
            <a:schemeClr val="tx2"/>
          </a:solidFill>
          <a:latin typeface="Times New Roman" pitchFamily="18" charset="0"/>
        </a:defRPr>
      </a:lvl4pPr>
      <a:lvl5pPr algn="l" rtl="0" eaLnBrk="1" fontAlgn="base" hangingPunct="1">
        <a:spcBef>
          <a:spcPct val="0"/>
        </a:spcBef>
        <a:spcAft>
          <a:spcPct val="0"/>
        </a:spcAft>
        <a:defRPr sz="3900" b="1">
          <a:solidFill>
            <a:schemeClr val="tx2"/>
          </a:solidFill>
          <a:latin typeface="Times New Roman" pitchFamily="18" charset="0"/>
        </a:defRPr>
      </a:lvl5pPr>
      <a:lvl6pPr marL="457200" algn="l" rtl="0" eaLnBrk="1" fontAlgn="base" hangingPunct="1">
        <a:spcBef>
          <a:spcPct val="0"/>
        </a:spcBef>
        <a:spcAft>
          <a:spcPct val="0"/>
        </a:spcAft>
        <a:defRPr sz="3900" b="1">
          <a:solidFill>
            <a:schemeClr val="tx2"/>
          </a:solidFill>
          <a:latin typeface="Times New Roman" pitchFamily="18" charset="0"/>
        </a:defRPr>
      </a:lvl6pPr>
      <a:lvl7pPr marL="914400" algn="l" rtl="0" eaLnBrk="1" fontAlgn="base" hangingPunct="1">
        <a:spcBef>
          <a:spcPct val="0"/>
        </a:spcBef>
        <a:spcAft>
          <a:spcPct val="0"/>
        </a:spcAft>
        <a:defRPr sz="3900" b="1">
          <a:solidFill>
            <a:schemeClr val="tx2"/>
          </a:solidFill>
          <a:latin typeface="Times New Roman" pitchFamily="18" charset="0"/>
        </a:defRPr>
      </a:lvl7pPr>
      <a:lvl8pPr marL="1371600" algn="l" rtl="0" eaLnBrk="1" fontAlgn="base" hangingPunct="1">
        <a:spcBef>
          <a:spcPct val="0"/>
        </a:spcBef>
        <a:spcAft>
          <a:spcPct val="0"/>
        </a:spcAft>
        <a:defRPr sz="3900" b="1">
          <a:solidFill>
            <a:schemeClr val="tx2"/>
          </a:solidFill>
          <a:latin typeface="Times New Roman" pitchFamily="18" charset="0"/>
        </a:defRPr>
      </a:lvl8pPr>
      <a:lvl9pPr marL="1828800" algn="l" rtl="0" eaLnBrk="1" fontAlgn="base" hangingPunct="1">
        <a:spcBef>
          <a:spcPct val="0"/>
        </a:spcBef>
        <a:spcAft>
          <a:spcPct val="0"/>
        </a:spcAft>
        <a:defRPr sz="3900" b="1">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4618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ltLang="en-US" dirty="0"/>
          </a:p>
        </p:txBody>
      </p:sp>
      <p:sp>
        <p:nvSpPr>
          <p:cNvPr id="946182"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i="1">
                <a:latin typeface="Arial" charset="0"/>
              </a:defRPr>
            </a:lvl1p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
        <p:nvSpPr>
          <p:cNvPr id="94618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a:lvl1pPr>
          </a:lstStyle>
          <a:p>
            <a:pPr>
              <a:defRPr/>
            </a:pPr>
            <a:fld id="{1CA0915A-BEB8-4948-B334-3E34A802F101}" type="slidenum">
              <a:rPr lang="en-US" altLang="en-US" smtClean="0"/>
              <a:pPr>
                <a:defRPr/>
              </a:pPr>
              <a:t>‹#›</a:t>
            </a:fld>
            <a:endParaRPr lang="en-US" altLang="en-US" dirty="0"/>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grpSp>
    </p:spTree>
    <p:extLst>
      <p:ext uri="{BB962C8B-B14F-4D97-AF65-F5344CB8AC3E}">
        <p14:creationId xmlns:p14="http://schemas.microsoft.com/office/powerpoint/2010/main" val="3521056795"/>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Lst>
  <p:hf hdr="0" dt="0"/>
  <p:txStyles>
    <p:titleStyle>
      <a:lvl1pPr algn="l" rtl="0" eaLnBrk="1" fontAlgn="base" hangingPunct="1">
        <a:spcBef>
          <a:spcPct val="0"/>
        </a:spcBef>
        <a:spcAft>
          <a:spcPct val="0"/>
        </a:spcAft>
        <a:defRPr sz="3900" b="1">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Times New Roman" pitchFamily="18" charset="0"/>
        </a:defRPr>
      </a:lvl2pPr>
      <a:lvl3pPr algn="l" rtl="0" eaLnBrk="1" fontAlgn="base" hangingPunct="1">
        <a:spcBef>
          <a:spcPct val="0"/>
        </a:spcBef>
        <a:spcAft>
          <a:spcPct val="0"/>
        </a:spcAft>
        <a:defRPr sz="3900" b="1">
          <a:solidFill>
            <a:schemeClr val="tx2"/>
          </a:solidFill>
          <a:latin typeface="Times New Roman" pitchFamily="18" charset="0"/>
        </a:defRPr>
      </a:lvl3pPr>
      <a:lvl4pPr algn="l" rtl="0" eaLnBrk="1" fontAlgn="base" hangingPunct="1">
        <a:spcBef>
          <a:spcPct val="0"/>
        </a:spcBef>
        <a:spcAft>
          <a:spcPct val="0"/>
        </a:spcAft>
        <a:defRPr sz="3900" b="1">
          <a:solidFill>
            <a:schemeClr val="tx2"/>
          </a:solidFill>
          <a:latin typeface="Times New Roman" pitchFamily="18" charset="0"/>
        </a:defRPr>
      </a:lvl4pPr>
      <a:lvl5pPr algn="l" rtl="0" eaLnBrk="1" fontAlgn="base" hangingPunct="1">
        <a:spcBef>
          <a:spcPct val="0"/>
        </a:spcBef>
        <a:spcAft>
          <a:spcPct val="0"/>
        </a:spcAft>
        <a:defRPr sz="3900" b="1">
          <a:solidFill>
            <a:schemeClr val="tx2"/>
          </a:solidFill>
          <a:latin typeface="Times New Roman" pitchFamily="18" charset="0"/>
        </a:defRPr>
      </a:lvl5pPr>
      <a:lvl6pPr marL="457200" algn="l" rtl="0" eaLnBrk="1" fontAlgn="base" hangingPunct="1">
        <a:spcBef>
          <a:spcPct val="0"/>
        </a:spcBef>
        <a:spcAft>
          <a:spcPct val="0"/>
        </a:spcAft>
        <a:defRPr sz="3900" b="1">
          <a:solidFill>
            <a:schemeClr val="tx2"/>
          </a:solidFill>
          <a:latin typeface="Times New Roman" pitchFamily="18" charset="0"/>
        </a:defRPr>
      </a:lvl6pPr>
      <a:lvl7pPr marL="914400" algn="l" rtl="0" eaLnBrk="1" fontAlgn="base" hangingPunct="1">
        <a:spcBef>
          <a:spcPct val="0"/>
        </a:spcBef>
        <a:spcAft>
          <a:spcPct val="0"/>
        </a:spcAft>
        <a:defRPr sz="3900" b="1">
          <a:solidFill>
            <a:schemeClr val="tx2"/>
          </a:solidFill>
          <a:latin typeface="Times New Roman" pitchFamily="18" charset="0"/>
        </a:defRPr>
      </a:lvl7pPr>
      <a:lvl8pPr marL="1371600" algn="l" rtl="0" eaLnBrk="1" fontAlgn="base" hangingPunct="1">
        <a:spcBef>
          <a:spcPct val="0"/>
        </a:spcBef>
        <a:spcAft>
          <a:spcPct val="0"/>
        </a:spcAft>
        <a:defRPr sz="3900" b="1">
          <a:solidFill>
            <a:schemeClr val="tx2"/>
          </a:solidFill>
          <a:latin typeface="Times New Roman" pitchFamily="18" charset="0"/>
        </a:defRPr>
      </a:lvl8pPr>
      <a:lvl9pPr marL="1828800" algn="l" rtl="0" eaLnBrk="1" fontAlgn="base" hangingPunct="1">
        <a:spcBef>
          <a:spcPct val="0"/>
        </a:spcBef>
        <a:spcAft>
          <a:spcPct val="0"/>
        </a:spcAft>
        <a:defRPr sz="3900" b="1">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4618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ltLang="en-US"/>
          </a:p>
        </p:txBody>
      </p:sp>
      <p:sp>
        <p:nvSpPr>
          <p:cNvPr id="946182"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i="1">
                <a:latin typeface="Arial" charset="0"/>
              </a:defRPr>
            </a:lvl1pPr>
          </a:lstStyle>
          <a:p>
            <a:pPr>
              <a:defRPr/>
            </a:pPr>
            <a:r>
              <a:rPr lang="en-CA" altLang="en-US"/>
              <a:t>Risk Management and Financial Institutions 6e, Chapter 18,  Copyright © John C. Hull 2023</a:t>
            </a:r>
            <a:endParaRPr lang="en-US" altLang="en-US">
              <a:cs typeface="Arial" charset="0"/>
            </a:endParaRPr>
          </a:p>
        </p:txBody>
      </p:sp>
      <p:sp>
        <p:nvSpPr>
          <p:cNvPr id="94618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a:lvl1pPr>
          </a:lstStyle>
          <a:p>
            <a:r>
              <a:rPr lang="en-US" altLang="en-US"/>
              <a:t>11.</a:t>
            </a:r>
            <a:fld id="{7604AD5A-3EC2-470D-9D9D-143647F93456}" type="slidenum">
              <a:rPr lang="en-US" altLang="en-US"/>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grpSp>
    </p:spTree>
    <p:extLst>
      <p:ext uri="{BB962C8B-B14F-4D97-AF65-F5344CB8AC3E}">
        <p14:creationId xmlns:p14="http://schemas.microsoft.com/office/powerpoint/2010/main" val="2377887553"/>
      </p:ext>
    </p:extLst>
  </p:cSld>
  <p:clrMap bg1="lt1" tx1="dk1" bg2="lt2" tx2="dk2" accent1="accent1" accent2="accent2" accent3="accent3" accent4="accent4" accent5="accent5" accent6="accent6" hlink="hlink" folHlink="folHlink"/>
  <p:sldLayoutIdLst>
    <p:sldLayoutId id="2147483981" r:id="rId1"/>
  </p:sldLayoutIdLst>
  <p:hf hdr="0" dt="0"/>
  <p:txStyles>
    <p:titleStyle>
      <a:lvl1pPr algn="l" rtl="0" eaLnBrk="1" fontAlgn="base" hangingPunct="1">
        <a:spcBef>
          <a:spcPct val="0"/>
        </a:spcBef>
        <a:spcAft>
          <a:spcPct val="0"/>
        </a:spcAft>
        <a:defRPr sz="3900" b="1">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Times New Roman" pitchFamily="18" charset="0"/>
        </a:defRPr>
      </a:lvl2pPr>
      <a:lvl3pPr algn="l" rtl="0" eaLnBrk="1" fontAlgn="base" hangingPunct="1">
        <a:spcBef>
          <a:spcPct val="0"/>
        </a:spcBef>
        <a:spcAft>
          <a:spcPct val="0"/>
        </a:spcAft>
        <a:defRPr sz="3900" b="1">
          <a:solidFill>
            <a:schemeClr val="tx2"/>
          </a:solidFill>
          <a:latin typeface="Times New Roman" pitchFamily="18" charset="0"/>
        </a:defRPr>
      </a:lvl3pPr>
      <a:lvl4pPr algn="l" rtl="0" eaLnBrk="1" fontAlgn="base" hangingPunct="1">
        <a:spcBef>
          <a:spcPct val="0"/>
        </a:spcBef>
        <a:spcAft>
          <a:spcPct val="0"/>
        </a:spcAft>
        <a:defRPr sz="3900" b="1">
          <a:solidFill>
            <a:schemeClr val="tx2"/>
          </a:solidFill>
          <a:latin typeface="Times New Roman" pitchFamily="18" charset="0"/>
        </a:defRPr>
      </a:lvl4pPr>
      <a:lvl5pPr algn="l" rtl="0" eaLnBrk="1" fontAlgn="base" hangingPunct="1">
        <a:spcBef>
          <a:spcPct val="0"/>
        </a:spcBef>
        <a:spcAft>
          <a:spcPct val="0"/>
        </a:spcAft>
        <a:defRPr sz="3900" b="1">
          <a:solidFill>
            <a:schemeClr val="tx2"/>
          </a:solidFill>
          <a:latin typeface="Times New Roman" pitchFamily="18" charset="0"/>
        </a:defRPr>
      </a:lvl5pPr>
      <a:lvl6pPr marL="457200" algn="l" rtl="0" eaLnBrk="1" fontAlgn="base" hangingPunct="1">
        <a:spcBef>
          <a:spcPct val="0"/>
        </a:spcBef>
        <a:spcAft>
          <a:spcPct val="0"/>
        </a:spcAft>
        <a:defRPr sz="3900" b="1">
          <a:solidFill>
            <a:schemeClr val="tx2"/>
          </a:solidFill>
          <a:latin typeface="Times New Roman" pitchFamily="18" charset="0"/>
        </a:defRPr>
      </a:lvl6pPr>
      <a:lvl7pPr marL="914400" algn="l" rtl="0" eaLnBrk="1" fontAlgn="base" hangingPunct="1">
        <a:spcBef>
          <a:spcPct val="0"/>
        </a:spcBef>
        <a:spcAft>
          <a:spcPct val="0"/>
        </a:spcAft>
        <a:defRPr sz="3900" b="1">
          <a:solidFill>
            <a:schemeClr val="tx2"/>
          </a:solidFill>
          <a:latin typeface="Times New Roman" pitchFamily="18" charset="0"/>
        </a:defRPr>
      </a:lvl7pPr>
      <a:lvl8pPr marL="1371600" algn="l" rtl="0" eaLnBrk="1" fontAlgn="base" hangingPunct="1">
        <a:spcBef>
          <a:spcPct val="0"/>
        </a:spcBef>
        <a:spcAft>
          <a:spcPct val="0"/>
        </a:spcAft>
        <a:defRPr sz="3900" b="1">
          <a:solidFill>
            <a:schemeClr val="tx2"/>
          </a:solidFill>
          <a:latin typeface="Times New Roman" pitchFamily="18" charset="0"/>
        </a:defRPr>
      </a:lvl8pPr>
      <a:lvl9pPr marL="1828800" algn="l" rtl="0" eaLnBrk="1" fontAlgn="base" hangingPunct="1">
        <a:spcBef>
          <a:spcPct val="0"/>
        </a:spcBef>
        <a:spcAft>
          <a:spcPct val="0"/>
        </a:spcAft>
        <a:defRPr sz="3900" b="1">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6.wmf"/><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7.wmf"/><Relationship Id="rId4" Type="http://schemas.openxmlformats.org/officeDocument/2006/relationships/oleObject" Target="../embeddings/oleObject4.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050"/>
          <p:cNvSpPr>
            <a:spLocks noGrp="1" noChangeArrowheads="1"/>
          </p:cNvSpPr>
          <p:nvPr>
            <p:ph type="ctrTitle"/>
          </p:nvPr>
        </p:nvSpPr>
        <p:spPr/>
        <p:txBody>
          <a:bodyPr/>
          <a:lstStyle/>
          <a:p>
            <a:pPr eaLnBrk="1" hangingPunct="1"/>
            <a:r>
              <a:rPr lang="en-US" altLang="en-US" dirty="0" err="1"/>
              <a:t>xVAs</a:t>
            </a:r>
            <a:endParaRPr lang="en-US" altLang="en-US" dirty="0"/>
          </a:p>
        </p:txBody>
      </p:sp>
      <p:sp>
        <p:nvSpPr>
          <p:cNvPr id="13316" name="Rectangle 2051"/>
          <p:cNvSpPr>
            <a:spLocks noGrp="1" noChangeArrowheads="1"/>
          </p:cNvSpPr>
          <p:nvPr>
            <p:ph type="subTitle" idx="1"/>
          </p:nvPr>
        </p:nvSpPr>
        <p:spPr>
          <a:xfrm>
            <a:off x="1042988" y="3068638"/>
            <a:ext cx="6248400" cy="2362200"/>
          </a:xfrm>
        </p:spPr>
        <p:txBody>
          <a:bodyPr/>
          <a:lstStyle/>
          <a:p>
            <a:pPr eaLnBrk="1" hangingPunct="1"/>
            <a:r>
              <a:rPr lang="en-US" altLang="en-US" sz="3600" dirty="0"/>
              <a:t>Chapter 18 </a:t>
            </a:r>
          </a:p>
        </p:txBody>
      </p:sp>
      <p:sp>
        <p:nvSpPr>
          <p:cNvPr id="13314" name="Rectangle 6"/>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dirty="0"/>
              <a:t>Risk Management and Financial Institutions 6e, Chapter 18,  Copyright © John C. Hull 2023</a:t>
            </a:r>
            <a:endParaRPr lang="en-US" altLang="en-US" sz="1400" i="0" dirty="0"/>
          </a:p>
        </p:txBody>
      </p:sp>
      <p:sp>
        <p:nvSpPr>
          <p:cNvPr id="133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BA6A2E8-5CB8-4CA4-B2A5-0B17282434BB}" type="slidenum">
              <a:rPr lang="en-US" altLang="en-US" sz="1800"/>
              <a:pPr>
                <a:spcBef>
                  <a:spcPct val="0"/>
                </a:spcBef>
                <a:buClrTx/>
                <a:buSzTx/>
                <a:buFontTx/>
                <a:buNone/>
              </a:pPr>
              <a:t>1</a:t>
            </a:fld>
            <a:endParaRPr lang="en-US" alt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200" y="260350"/>
            <a:ext cx="7543800" cy="1157288"/>
          </a:xfrm>
        </p:spPr>
        <p:txBody>
          <a:bodyPr/>
          <a:lstStyle/>
          <a:p>
            <a:br>
              <a:rPr lang="en-CA" altLang="en-US"/>
            </a:br>
            <a:br>
              <a:rPr lang="en-CA" altLang="en-US"/>
            </a:br>
            <a:br>
              <a:rPr lang="en-CA" altLang="en-US"/>
            </a:br>
            <a:br>
              <a:rPr lang="en-CA" altLang="en-US"/>
            </a:br>
            <a:br>
              <a:rPr lang="en-CA" altLang="en-US"/>
            </a:br>
            <a:r>
              <a:rPr lang="en-CA" altLang="en-US"/>
              <a:t>Simple Situations: Single Derivative and No Collateral</a:t>
            </a:r>
          </a:p>
        </p:txBody>
      </p:sp>
      <p:sp>
        <p:nvSpPr>
          <p:cNvPr id="14339" name="Content Placeholder 5"/>
          <p:cNvSpPr>
            <a:spLocks noGrp="1"/>
          </p:cNvSpPr>
          <p:nvPr>
            <p:ph idx="1"/>
          </p:nvPr>
        </p:nvSpPr>
        <p:spPr/>
        <p:txBody>
          <a:bodyPr/>
          <a:lstStyle/>
          <a:p>
            <a:r>
              <a:rPr lang="en-CA" altLang="en-US"/>
              <a:t>What is the exposure for</a:t>
            </a:r>
          </a:p>
          <a:p>
            <a:pPr lvl="1"/>
            <a:r>
              <a:rPr lang="en-CA" altLang="en-US"/>
              <a:t>Long position in option</a:t>
            </a:r>
          </a:p>
          <a:p>
            <a:pPr lvl="1"/>
            <a:r>
              <a:rPr lang="en-CA" altLang="en-US"/>
              <a:t>Short position in option</a:t>
            </a:r>
          </a:p>
          <a:p>
            <a:pPr lvl="1"/>
            <a:r>
              <a:rPr lang="en-CA" altLang="en-US"/>
              <a:t>Interest rate swap</a:t>
            </a:r>
          </a:p>
        </p:txBody>
      </p:sp>
      <p:sp>
        <p:nvSpPr>
          <p:cNvPr id="1434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18,  Copyright © John C. Hull 2023</a:t>
            </a:r>
            <a:endParaRPr lang="en-US" altLang="en-US" sz="1400" i="0">
              <a:cs typeface="Arial" panose="020B0604020202020204" pitchFamily="34" charset="0"/>
            </a:endParaRPr>
          </a:p>
        </p:txBody>
      </p:sp>
      <p:sp>
        <p:nvSpPr>
          <p:cNvPr id="1434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2D09483-6D0E-49E8-AEE4-A93B821E20ED}" type="slidenum">
              <a:rPr lang="en-US" altLang="en-US" sz="1800"/>
              <a:pPr>
                <a:spcBef>
                  <a:spcPct val="0"/>
                </a:spcBef>
                <a:buClrTx/>
                <a:buSzTx/>
                <a:buFontTx/>
                <a:buNone/>
              </a:pPr>
              <a:t>2</a:t>
            </a:fld>
            <a:endParaRPr lang="en-US" alt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a:t>CVA</a:t>
            </a:r>
          </a:p>
        </p:txBody>
      </p:sp>
      <p:sp>
        <p:nvSpPr>
          <p:cNvPr id="15363" name="Content Placeholder 2"/>
          <p:cNvSpPr>
            <a:spLocks noGrp="1"/>
          </p:cNvSpPr>
          <p:nvPr>
            <p:ph idx="1"/>
          </p:nvPr>
        </p:nvSpPr>
        <p:spPr>
          <a:xfrm>
            <a:off x="539750" y="1916113"/>
            <a:ext cx="8229600" cy="4411662"/>
          </a:xfrm>
        </p:spPr>
        <p:txBody>
          <a:bodyPr/>
          <a:lstStyle/>
          <a:p>
            <a:r>
              <a:rPr lang="en-US" altLang="en-US"/>
              <a:t>Credit value adjustment (CVA) is the amount by which a dealer must reduce the value of transactions because of counterparty default risk</a:t>
            </a:r>
          </a:p>
        </p:txBody>
      </p:sp>
      <p:sp>
        <p:nvSpPr>
          <p:cNvPr id="1536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18,  Copyright © John C. Hull 2023</a:t>
            </a:r>
            <a:endParaRPr lang="en-US" altLang="en-US" sz="1400" i="0">
              <a:cs typeface="Arial" panose="020B0604020202020204" pitchFamily="34" charset="0"/>
            </a:endParaRPr>
          </a:p>
        </p:txBody>
      </p:sp>
      <p:sp>
        <p:nvSpPr>
          <p:cNvPr id="1536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B712BDC-EA5A-4BCF-8888-413B912C96DC}" type="slidenum">
              <a:rPr lang="en-US" altLang="en-US" sz="1800"/>
              <a:pPr>
                <a:spcBef>
                  <a:spcPct val="0"/>
                </a:spcBef>
                <a:buClrTx/>
                <a:buSzTx/>
                <a:buFontTx/>
                <a:buNone/>
              </a:pPr>
              <a:t>3</a:t>
            </a:fld>
            <a:endParaRPr lang="en-US"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CA" altLang="en-US"/>
              <a:t>The CVA Calculation</a:t>
            </a:r>
            <a:endParaRPr lang="en-US" altLang="en-US"/>
          </a:p>
        </p:txBody>
      </p:sp>
      <p:sp>
        <p:nvSpPr>
          <p:cNvPr id="1638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cs typeface="Arial" panose="020B0604020202020204" pitchFamily="34" charset="0"/>
              </a:rPr>
              <a:t>Risk Management and Financial Institutions 6e, Chapter 18,  Copyright © John C. Hull 2023</a:t>
            </a:r>
          </a:p>
        </p:txBody>
      </p:sp>
      <p:sp>
        <p:nvSpPr>
          <p:cNvPr id="1638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304E852-AE79-450E-86F2-6E1A2215592D}" type="slidenum">
              <a:rPr lang="en-US" altLang="en-US" sz="1800">
                <a:cs typeface="Arial" panose="020B0604020202020204" pitchFamily="34" charset="0"/>
              </a:rPr>
              <a:pPr>
                <a:spcBef>
                  <a:spcPct val="0"/>
                </a:spcBef>
                <a:buClrTx/>
                <a:buSzTx/>
                <a:buFontTx/>
                <a:buNone/>
              </a:pPr>
              <a:t>4</a:t>
            </a:fld>
            <a:endParaRPr lang="en-US" altLang="en-US" sz="1800">
              <a:cs typeface="Arial" panose="020B0604020202020204" pitchFamily="34" charset="0"/>
            </a:endParaRPr>
          </a:p>
        </p:txBody>
      </p:sp>
      <p:cxnSp>
        <p:nvCxnSpPr>
          <p:cNvPr id="16389" name="Straight Connector 5"/>
          <p:cNvCxnSpPr>
            <a:cxnSpLocks noChangeShapeType="1"/>
          </p:cNvCxnSpPr>
          <p:nvPr/>
        </p:nvCxnSpPr>
        <p:spPr bwMode="auto">
          <a:xfrm>
            <a:off x="1905000" y="2932113"/>
            <a:ext cx="59436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6390" name="TextBox 6"/>
          <p:cNvSpPr txBox="1">
            <a:spLocks noChangeArrowheads="1"/>
          </p:cNvSpPr>
          <p:nvPr/>
        </p:nvSpPr>
        <p:spPr bwMode="auto">
          <a:xfrm>
            <a:off x="1068388" y="2449513"/>
            <a:ext cx="76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Time</a:t>
            </a:r>
            <a:endParaRPr lang="en-US" altLang="en-US" sz="1800"/>
          </a:p>
        </p:txBody>
      </p:sp>
      <p:cxnSp>
        <p:nvCxnSpPr>
          <p:cNvPr id="16391" name="Straight Connector 8"/>
          <p:cNvCxnSpPr>
            <a:cxnSpLocks noChangeShapeType="1"/>
          </p:cNvCxnSpPr>
          <p:nvPr/>
        </p:nvCxnSpPr>
        <p:spPr bwMode="auto">
          <a:xfrm flipV="1">
            <a:off x="1905000" y="2819400"/>
            <a:ext cx="0" cy="1127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392" name="Straight Connector 10"/>
          <p:cNvCxnSpPr>
            <a:cxnSpLocks noChangeShapeType="1"/>
          </p:cNvCxnSpPr>
          <p:nvPr/>
        </p:nvCxnSpPr>
        <p:spPr bwMode="auto">
          <a:xfrm flipV="1">
            <a:off x="2438400" y="2819400"/>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393" name="Straight Connector 13"/>
          <p:cNvCxnSpPr>
            <a:cxnSpLocks noChangeShapeType="1"/>
          </p:cNvCxnSpPr>
          <p:nvPr/>
        </p:nvCxnSpPr>
        <p:spPr bwMode="auto">
          <a:xfrm flipV="1">
            <a:off x="2971800" y="2819400"/>
            <a:ext cx="0" cy="1127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394" name="Straight Connector 15"/>
          <p:cNvCxnSpPr>
            <a:cxnSpLocks noChangeShapeType="1"/>
          </p:cNvCxnSpPr>
          <p:nvPr/>
        </p:nvCxnSpPr>
        <p:spPr bwMode="auto">
          <a:xfrm flipV="1">
            <a:off x="3505200" y="2819400"/>
            <a:ext cx="0" cy="1127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395" name="Straight Connector 18"/>
          <p:cNvCxnSpPr>
            <a:cxnSpLocks noChangeShapeType="1"/>
          </p:cNvCxnSpPr>
          <p:nvPr/>
        </p:nvCxnSpPr>
        <p:spPr bwMode="auto">
          <a:xfrm flipV="1">
            <a:off x="4038600" y="2819400"/>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0" name="TextBox 19"/>
          <p:cNvSpPr txBox="1"/>
          <p:nvPr/>
        </p:nvSpPr>
        <p:spPr>
          <a:xfrm>
            <a:off x="1752600" y="2462213"/>
            <a:ext cx="381000" cy="368300"/>
          </a:xfrm>
          <a:prstGeom prst="rect">
            <a:avLst/>
          </a:prstGeom>
          <a:noFill/>
        </p:spPr>
        <p:txBody>
          <a:bodyPr>
            <a:spAutoFit/>
          </a:bodyPr>
          <a:lstStyle/>
          <a:p>
            <a:pPr eaLnBrk="1" hangingPunct="1">
              <a:defRPr/>
            </a:pPr>
            <a:r>
              <a:rPr lang="en-CA" dirty="0">
                <a:latin typeface="+mj-lt"/>
              </a:rPr>
              <a:t>0</a:t>
            </a:r>
            <a:endParaRPr lang="en-US" dirty="0">
              <a:latin typeface="+mj-lt"/>
            </a:endParaRPr>
          </a:p>
        </p:txBody>
      </p:sp>
      <p:sp>
        <p:nvSpPr>
          <p:cNvPr id="21" name="TextBox 20"/>
          <p:cNvSpPr txBox="1"/>
          <p:nvPr/>
        </p:nvSpPr>
        <p:spPr>
          <a:xfrm>
            <a:off x="2286000" y="2462213"/>
            <a:ext cx="381000" cy="369887"/>
          </a:xfrm>
          <a:prstGeom prst="rect">
            <a:avLst/>
          </a:prstGeom>
          <a:noFill/>
        </p:spPr>
        <p:txBody>
          <a:bodyPr>
            <a:spAutoFit/>
          </a:bodyPr>
          <a:lstStyle/>
          <a:p>
            <a:pPr eaLnBrk="1" hangingPunct="1">
              <a:defRPr/>
            </a:pPr>
            <a:r>
              <a:rPr lang="en-CA" i="1" dirty="0">
                <a:latin typeface="+mj-lt"/>
              </a:rPr>
              <a:t>t</a:t>
            </a:r>
            <a:r>
              <a:rPr lang="en-CA" baseline="-25000" dirty="0">
                <a:latin typeface="+mj-lt"/>
              </a:rPr>
              <a:t>1</a:t>
            </a:r>
            <a:endParaRPr lang="en-US" dirty="0">
              <a:latin typeface="+mj-lt"/>
            </a:endParaRPr>
          </a:p>
        </p:txBody>
      </p:sp>
      <p:sp>
        <p:nvSpPr>
          <p:cNvPr id="22" name="TextBox 21"/>
          <p:cNvSpPr txBox="1"/>
          <p:nvPr/>
        </p:nvSpPr>
        <p:spPr>
          <a:xfrm>
            <a:off x="2808288" y="2460625"/>
            <a:ext cx="381000" cy="368300"/>
          </a:xfrm>
          <a:prstGeom prst="rect">
            <a:avLst/>
          </a:prstGeom>
          <a:noFill/>
        </p:spPr>
        <p:txBody>
          <a:bodyPr>
            <a:spAutoFit/>
          </a:bodyPr>
          <a:lstStyle/>
          <a:p>
            <a:pPr eaLnBrk="1" hangingPunct="1">
              <a:defRPr/>
            </a:pPr>
            <a:r>
              <a:rPr lang="en-CA" i="1" dirty="0">
                <a:latin typeface="+mj-lt"/>
              </a:rPr>
              <a:t>t</a:t>
            </a:r>
            <a:r>
              <a:rPr lang="en-CA" baseline="-25000" dirty="0">
                <a:latin typeface="+mj-lt"/>
              </a:rPr>
              <a:t>2</a:t>
            </a:r>
            <a:endParaRPr lang="en-US" dirty="0">
              <a:latin typeface="+mj-lt"/>
            </a:endParaRPr>
          </a:p>
        </p:txBody>
      </p:sp>
      <p:sp>
        <p:nvSpPr>
          <p:cNvPr id="23" name="TextBox 22"/>
          <p:cNvSpPr txBox="1"/>
          <p:nvPr/>
        </p:nvSpPr>
        <p:spPr>
          <a:xfrm>
            <a:off x="3341688" y="2462213"/>
            <a:ext cx="381000" cy="369887"/>
          </a:xfrm>
          <a:prstGeom prst="rect">
            <a:avLst/>
          </a:prstGeom>
          <a:noFill/>
        </p:spPr>
        <p:txBody>
          <a:bodyPr>
            <a:spAutoFit/>
          </a:bodyPr>
          <a:lstStyle/>
          <a:p>
            <a:pPr eaLnBrk="1" hangingPunct="1">
              <a:defRPr/>
            </a:pPr>
            <a:r>
              <a:rPr lang="en-CA" i="1" dirty="0">
                <a:latin typeface="+mj-lt"/>
              </a:rPr>
              <a:t>t</a:t>
            </a:r>
            <a:r>
              <a:rPr lang="en-CA" baseline="-25000" dirty="0">
                <a:latin typeface="+mj-lt"/>
              </a:rPr>
              <a:t>3</a:t>
            </a:r>
            <a:endParaRPr lang="en-US" dirty="0">
              <a:latin typeface="+mj-lt"/>
            </a:endParaRPr>
          </a:p>
        </p:txBody>
      </p:sp>
      <p:sp>
        <p:nvSpPr>
          <p:cNvPr id="24" name="TextBox 23"/>
          <p:cNvSpPr txBox="1"/>
          <p:nvPr/>
        </p:nvSpPr>
        <p:spPr>
          <a:xfrm>
            <a:off x="3908425" y="2474913"/>
            <a:ext cx="381000" cy="369887"/>
          </a:xfrm>
          <a:prstGeom prst="rect">
            <a:avLst/>
          </a:prstGeom>
          <a:noFill/>
        </p:spPr>
        <p:txBody>
          <a:bodyPr>
            <a:spAutoFit/>
          </a:bodyPr>
          <a:lstStyle/>
          <a:p>
            <a:pPr eaLnBrk="1" hangingPunct="1">
              <a:defRPr/>
            </a:pPr>
            <a:r>
              <a:rPr lang="en-CA" i="1" dirty="0">
                <a:latin typeface="+mj-lt"/>
              </a:rPr>
              <a:t>t</a:t>
            </a:r>
            <a:r>
              <a:rPr lang="en-CA" baseline="-25000" dirty="0">
                <a:latin typeface="+mj-lt"/>
              </a:rPr>
              <a:t>4</a:t>
            </a:r>
            <a:endParaRPr lang="en-US" dirty="0">
              <a:latin typeface="+mj-lt"/>
            </a:endParaRPr>
          </a:p>
        </p:txBody>
      </p:sp>
      <p:cxnSp>
        <p:nvCxnSpPr>
          <p:cNvPr id="16401" name="Straight Connector 25"/>
          <p:cNvCxnSpPr>
            <a:cxnSpLocks noChangeShapeType="1"/>
          </p:cNvCxnSpPr>
          <p:nvPr/>
        </p:nvCxnSpPr>
        <p:spPr bwMode="auto">
          <a:xfrm flipV="1">
            <a:off x="7848600" y="2817813"/>
            <a:ext cx="0" cy="1143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7" name="TextBox 26"/>
          <p:cNvSpPr txBox="1"/>
          <p:nvPr/>
        </p:nvSpPr>
        <p:spPr>
          <a:xfrm>
            <a:off x="7620000" y="2443163"/>
            <a:ext cx="685800" cy="368300"/>
          </a:xfrm>
          <a:prstGeom prst="rect">
            <a:avLst/>
          </a:prstGeom>
          <a:noFill/>
        </p:spPr>
        <p:txBody>
          <a:bodyPr>
            <a:spAutoFit/>
          </a:bodyPr>
          <a:lstStyle/>
          <a:p>
            <a:pPr eaLnBrk="1" hangingPunct="1">
              <a:defRPr/>
            </a:pPr>
            <a:r>
              <a:rPr lang="en-CA" i="1" dirty="0" err="1">
                <a:latin typeface="+mj-lt"/>
              </a:rPr>
              <a:t>t</a:t>
            </a:r>
            <a:r>
              <a:rPr lang="en-CA" i="1" baseline="-25000" dirty="0" err="1">
                <a:latin typeface="+mj-lt"/>
              </a:rPr>
              <a:t>n</a:t>
            </a:r>
            <a:r>
              <a:rPr lang="en-CA" dirty="0">
                <a:latin typeface="+mj-lt"/>
              </a:rPr>
              <a:t>=T</a:t>
            </a:r>
            <a:endParaRPr lang="en-US" dirty="0">
              <a:latin typeface="+mj-lt"/>
            </a:endParaRPr>
          </a:p>
        </p:txBody>
      </p:sp>
      <p:sp>
        <p:nvSpPr>
          <p:cNvPr id="16403" name="TextBox 27"/>
          <p:cNvSpPr txBox="1">
            <a:spLocks noChangeArrowheads="1"/>
          </p:cNvSpPr>
          <p:nvPr/>
        </p:nvSpPr>
        <p:spPr bwMode="auto">
          <a:xfrm>
            <a:off x="153988" y="3176588"/>
            <a:ext cx="1676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Default probability</a:t>
            </a:r>
            <a:endParaRPr lang="en-US" altLang="en-US" sz="1400"/>
          </a:p>
        </p:txBody>
      </p:sp>
      <p:sp>
        <p:nvSpPr>
          <p:cNvPr id="29" name="TextBox 28"/>
          <p:cNvSpPr txBox="1"/>
          <p:nvPr/>
        </p:nvSpPr>
        <p:spPr>
          <a:xfrm>
            <a:off x="1979613" y="3117850"/>
            <a:ext cx="827087" cy="369888"/>
          </a:xfrm>
          <a:prstGeom prst="rect">
            <a:avLst/>
          </a:prstGeom>
          <a:noFill/>
        </p:spPr>
        <p:txBody>
          <a:bodyPr>
            <a:spAutoFit/>
          </a:bodyPr>
          <a:lstStyle/>
          <a:p>
            <a:pPr eaLnBrk="1" hangingPunct="1">
              <a:defRPr/>
            </a:pPr>
            <a:r>
              <a:rPr lang="en-CA" i="1" dirty="0">
                <a:latin typeface="+mj-lt"/>
              </a:rPr>
              <a:t>q</a:t>
            </a:r>
            <a:r>
              <a:rPr lang="en-CA" baseline="-25000" dirty="0">
                <a:latin typeface="Arial" charset="0"/>
              </a:rPr>
              <a:t>1</a:t>
            </a:r>
            <a:endParaRPr lang="en-US" dirty="0">
              <a:latin typeface="Arial" charset="0"/>
            </a:endParaRPr>
          </a:p>
        </p:txBody>
      </p:sp>
      <p:sp>
        <p:nvSpPr>
          <p:cNvPr id="30" name="TextBox 29"/>
          <p:cNvSpPr txBox="1"/>
          <p:nvPr/>
        </p:nvSpPr>
        <p:spPr>
          <a:xfrm>
            <a:off x="2514600" y="3117850"/>
            <a:ext cx="827088" cy="369888"/>
          </a:xfrm>
          <a:prstGeom prst="rect">
            <a:avLst/>
          </a:prstGeom>
          <a:noFill/>
        </p:spPr>
        <p:txBody>
          <a:bodyPr>
            <a:spAutoFit/>
          </a:bodyPr>
          <a:lstStyle/>
          <a:p>
            <a:pPr eaLnBrk="1" hangingPunct="1">
              <a:defRPr/>
            </a:pPr>
            <a:r>
              <a:rPr lang="en-CA" i="1" dirty="0">
                <a:latin typeface="+mj-lt"/>
              </a:rPr>
              <a:t>q</a:t>
            </a:r>
            <a:r>
              <a:rPr lang="en-CA" baseline="-25000" dirty="0">
                <a:latin typeface="Arial" charset="0"/>
              </a:rPr>
              <a:t>2</a:t>
            </a:r>
            <a:endParaRPr lang="en-US" dirty="0">
              <a:latin typeface="Arial" charset="0"/>
            </a:endParaRPr>
          </a:p>
        </p:txBody>
      </p:sp>
      <p:sp>
        <p:nvSpPr>
          <p:cNvPr id="31" name="TextBox 30"/>
          <p:cNvSpPr txBox="1"/>
          <p:nvPr/>
        </p:nvSpPr>
        <p:spPr>
          <a:xfrm>
            <a:off x="3081338" y="3117850"/>
            <a:ext cx="827087" cy="369888"/>
          </a:xfrm>
          <a:prstGeom prst="rect">
            <a:avLst/>
          </a:prstGeom>
          <a:noFill/>
        </p:spPr>
        <p:txBody>
          <a:bodyPr>
            <a:spAutoFit/>
          </a:bodyPr>
          <a:lstStyle/>
          <a:p>
            <a:pPr eaLnBrk="1" hangingPunct="1">
              <a:defRPr/>
            </a:pPr>
            <a:r>
              <a:rPr lang="en-CA" i="1" dirty="0">
                <a:latin typeface="+mj-lt"/>
              </a:rPr>
              <a:t>q</a:t>
            </a:r>
            <a:r>
              <a:rPr lang="en-CA" baseline="-25000" dirty="0">
                <a:latin typeface="Arial" charset="0"/>
              </a:rPr>
              <a:t>3</a:t>
            </a:r>
            <a:endParaRPr lang="en-US" dirty="0">
              <a:latin typeface="Arial" charset="0"/>
            </a:endParaRPr>
          </a:p>
        </p:txBody>
      </p:sp>
      <p:sp>
        <p:nvSpPr>
          <p:cNvPr id="32" name="TextBox 31"/>
          <p:cNvSpPr txBox="1"/>
          <p:nvPr/>
        </p:nvSpPr>
        <p:spPr>
          <a:xfrm>
            <a:off x="3625850" y="3117850"/>
            <a:ext cx="825500" cy="369888"/>
          </a:xfrm>
          <a:prstGeom prst="rect">
            <a:avLst/>
          </a:prstGeom>
          <a:noFill/>
        </p:spPr>
        <p:txBody>
          <a:bodyPr>
            <a:spAutoFit/>
          </a:bodyPr>
          <a:lstStyle/>
          <a:p>
            <a:pPr eaLnBrk="1" hangingPunct="1">
              <a:defRPr/>
            </a:pPr>
            <a:r>
              <a:rPr lang="en-CA" i="1" dirty="0">
                <a:latin typeface="+mj-lt"/>
              </a:rPr>
              <a:t>q</a:t>
            </a:r>
            <a:r>
              <a:rPr lang="en-CA" baseline="-25000" dirty="0">
                <a:latin typeface="Arial" charset="0"/>
              </a:rPr>
              <a:t>4</a:t>
            </a:r>
            <a:endParaRPr lang="en-US" dirty="0">
              <a:latin typeface="Arial" charset="0"/>
            </a:endParaRPr>
          </a:p>
        </p:txBody>
      </p:sp>
      <p:sp>
        <p:nvSpPr>
          <p:cNvPr id="16408" name="TextBox 32"/>
          <p:cNvSpPr txBox="1">
            <a:spLocks noChangeArrowheads="1"/>
          </p:cNvSpPr>
          <p:nvPr/>
        </p:nvSpPr>
        <p:spPr bwMode="auto">
          <a:xfrm>
            <a:off x="4321175" y="2305050"/>
            <a:ext cx="26670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a:t>………………</a:t>
            </a:r>
            <a:endParaRPr lang="en-US" altLang="en-US"/>
          </a:p>
        </p:txBody>
      </p:sp>
      <p:sp>
        <p:nvSpPr>
          <p:cNvPr id="16409" name="TextBox 34"/>
          <p:cNvSpPr txBox="1">
            <a:spLocks noChangeArrowheads="1"/>
          </p:cNvSpPr>
          <p:nvPr/>
        </p:nvSpPr>
        <p:spPr bwMode="auto">
          <a:xfrm>
            <a:off x="4344988" y="2924175"/>
            <a:ext cx="2667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a:t>………………</a:t>
            </a:r>
            <a:endParaRPr lang="en-US" altLang="en-US"/>
          </a:p>
        </p:txBody>
      </p:sp>
      <p:cxnSp>
        <p:nvCxnSpPr>
          <p:cNvPr id="16410" name="Straight Connector 36"/>
          <p:cNvCxnSpPr>
            <a:cxnSpLocks noChangeShapeType="1"/>
          </p:cNvCxnSpPr>
          <p:nvPr/>
        </p:nvCxnSpPr>
        <p:spPr bwMode="auto">
          <a:xfrm flipV="1">
            <a:off x="7162800" y="2811463"/>
            <a:ext cx="0" cy="1206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8" name="TextBox 37"/>
          <p:cNvSpPr txBox="1"/>
          <p:nvPr/>
        </p:nvSpPr>
        <p:spPr>
          <a:xfrm>
            <a:off x="7391400" y="3109913"/>
            <a:ext cx="827088" cy="368300"/>
          </a:xfrm>
          <a:prstGeom prst="rect">
            <a:avLst/>
          </a:prstGeom>
          <a:noFill/>
        </p:spPr>
        <p:txBody>
          <a:bodyPr>
            <a:spAutoFit/>
          </a:bodyPr>
          <a:lstStyle/>
          <a:p>
            <a:pPr eaLnBrk="1" hangingPunct="1">
              <a:defRPr/>
            </a:pPr>
            <a:r>
              <a:rPr lang="en-CA" i="1" dirty="0" err="1">
                <a:latin typeface="+mj-lt"/>
              </a:rPr>
              <a:t>q</a:t>
            </a:r>
            <a:r>
              <a:rPr lang="en-CA" i="1" baseline="-25000" dirty="0" err="1">
                <a:latin typeface="Arial" charset="0"/>
              </a:rPr>
              <a:t>n</a:t>
            </a:r>
            <a:endParaRPr lang="en-US" i="1" dirty="0">
              <a:latin typeface="Arial" charset="0"/>
            </a:endParaRPr>
          </a:p>
        </p:txBody>
      </p:sp>
      <p:sp>
        <p:nvSpPr>
          <p:cNvPr id="16412" name="TextBox 38"/>
          <p:cNvSpPr txBox="1">
            <a:spLocks noChangeArrowheads="1"/>
          </p:cNvSpPr>
          <p:nvPr/>
        </p:nvSpPr>
        <p:spPr bwMode="auto">
          <a:xfrm>
            <a:off x="153988" y="3886200"/>
            <a:ext cx="1979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PV of expected net exposure</a:t>
            </a:r>
            <a:endParaRPr lang="en-US" altLang="en-US" sz="1400"/>
          </a:p>
        </p:txBody>
      </p:sp>
      <p:sp>
        <p:nvSpPr>
          <p:cNvPr id="40" name="TextBox 39"/>
          <p:cNvSpPr txBox="1"/>
          <p:nvPr/>
        </p:nvSpPr>
        <p:spPr>
          <a:xfrm>
            <a:off x="2025650" y="3824288"/>
            <a:ext cx="825500" cy="369887"/>
          </a:xfrm>
          <a:prstGeom prst="rect">
            <a:avLst/>
          </a:prstGeom>
          <a:noFill/>
        </p:spPr>
        <p:txBody>
          <a:bodyPr>
            <a:spAutoFit/>
          </a:bodyPr>
          <a:lstStyle/>
          <a:p>
            <a:pPr eaLnBrk="1" hangingPunct="1">
              <a:defRPr/>
            </a:pPr>
            <a:r>
              <a:rPr lang="en-CA" i="1" dirty="0">
                <a:latin typeface="+mj-lt"/>
              </a:rPr>
              <a:t>v</a:t>
            </a:r>
            <a:r>
              <a:rPr lang="en-CA" baseline="-25000" dirty="0">
                <a:latin typeface="Arial" charset="0"/>
              </a:rPr>
              <a:t>1</a:t>
            </a:r>
            <a:endParaRPr lang="en-US" dirty="0">
              <a:latin typeface="Arial" charset="0"/>
            </a:endParaRPr>
          </a:p>
        </p:txBody>
      </p:sp>
      <p:sp>
        <p:nvSpPr>
          <p:cNvPr id="41" name="TextBox 40"/>
          <p:cNvSpPr txBox="1"/>
          <p:nvPr/>
        </p:nvSpPr>
        <p:spPr>
          <a:xfrm>
            <a:off x="2584450" y="3824288"/>
            <a:ext cx="827088" cy="369887"/>
          </a:xfrm>
          <a:prstGeom prst="rect">
            <a:avLst/>
          </a:prstGeom>
          <a:noFill/>
        </p:spPr>
        <p:txBody>
          <a:bodyPr>
            <a:spAutoFit/>
          </a:bodyPr>
          <a:lstStyle/>
          <a:p>
            <a:pPr eaLnBrk="1" hangingPunct="1">
              <a:defRPr/>
            </a:pPr>
            <a:r>
              <a:rPr lang="en-CA" i="1" dirty="0">
                <a:latin typeface="+mj-lt"/>
              </a:rPr>
              <a:t>v</a:t>
            </a:r>
            <a:r>
              <a:rPr lang="en-CA" baseline="-25000" dirty="0">
                <a:latin typeface="Arial" charset="0"/>
              </a:rPr>
              <a:t>2</a:t>
            </a:r>
            <a:endParaRPr lang="en-US" dirty="0">
              <a:latin typeface="Arial" charset="0"/>
            </a:endParaRPr>
          </a:p>
        </p:txBody>
      </p:sp>
      <p:sp>
        <p:nvSpPr>
          <p:cNvPr id="42" name="TextBox 41"/>
          <p:cNvSpPr txBox="1"/>
          <p:nvPr/>
        </p:nvSpPr>
        <p:spPr>
          <a:xfrm>
            <a:off x="3117850" y="3824288"/>
            <a:ext cx="827088" cy="369887"/>
          </a:xfrm>
          <a:prstGeom prst="rect">
            <a:avLst/>
          </a:prstGeom>
          <a:noFill/>
        </p:spPr>
        <p:txBody>
          <a:bodyPr>
            <a:spAutoFit/>
          </a:bodyPr>
          <a:lstStyle/>
          <a:p>
            <a:pPr eaLnBrk="1" hangingPunct="1">
              <a:defRPr/>
            </a:pPr>
            <a:r>
              <a:rPr lang="en-CA" i="1" dirty="0">
                <a:latin typeface="+mj-lt"/>
              </a:rPr>
              <a:t>v</a:t>
            </a:r>
            <a:r>
              <a:rPr lang="en-CA" baseline="-25000" dirty="0">
                <a:latin typeface="Arial" charset="0"/>
              </a:rPr>
              <a:t>3</a:t>
            </a:r>
            <a:endParaRPr lang="en-US" dirty="0">
              <a:latin typeface="Arial" charset="0"/>
            </a:endParaRPr>
          </a:p>
        </p:txBody>
      </p:sp>
      <p:sp>
        <p:nvSpPr>
          <p:cNvPr id="43" name="TextBox 42"/>
          <p:cNvSpPr txBox="1"/>
          <p:nvPr/>
        </p:nvSpPr>
        <p:spPr>
          <a:xfrm>
            <a:off x="3686175" y="3824288"/>
            <a:ext cx="827088" cy="369887"/>
          </a:xfrm>
          <a:prstGeom prst="rect">
            <a:avLst/>
          </a:prstGeom>
          <a:noFill/>
        </p:spPr>
        <p:txBody>
          <a:bodyPr>
            <a:spAutoFit/>
          </a:bodyPr>
          <a:lstStyle/>
          <a:p>
            <a:pPr eaLnBrk="1" hangingPunct="1">
              <a:defRPr/>
            </a:pPr>
            <a:r>
              <a:rPr lang="en-CA" i="1" dirty="0">
                <a:latin typeface="+mj-lt"/>
              </a:rPr>
              <a:t>v</a:t>
            </a:r>
            <a:r>
              <a:rPr lang="en-CA" baseline="-25000" dirty="0">
                <a:latin typeface="Arial" charset="0"/>
              </a:rPr>
              <a:t>4</a:t>
            </a:r>
            <a:endParaRPr lang="en-US" dirty="0">
              <a:latin typeface="Arial" charset="0"/>
            </a:endParaRPr>
          </a:p>
        </p:txBody>
      </p:sp>
      <p:sp>
        <p:nvSpPr>
          <p:cNvPr id="44" name="TextBox 43"/>
          <p:cNvSpPr txBox="1"/>
          <p:nvPr/>
        </p:nvSpPr>
        <p:spPr>
          <a:xfrm>
            <a:off x="7415213" y="3843338"/>
            <a:ext cx="827087" cy="369887"/>
          </a:xfrm>
          <a:prstGeom prst="rect">
            <a:avLst/>
          </a:prstGeom>
          <a:noFill/>
        </p:spPr>
        <p:txBody>
          <a:bodyPr>
            <a:spAutoFit/>
          </a:bodyPr>
          <a:lstStyle/>
          <a:p>
            <a:pPr eaLnBrk="1" hangingPunct="1">
              <a:defRPr/>
            </a:pPr>
            <a:r>
              <a:rPr lang="en-CA" i="1" dirty="0" err="1">
                <a:latin typeface="+mj-lt"/>
              </a:rPr>
              <a:t>v</a:t>
            </a:r>
            <a:r>
              <a:rPr lang="en-CA" i="1" baseline="-25000" dirty="0" err="1">
                <a:latin typeface="Arial" charset="0"/>
              </a:rPr>
              <a:t>n</a:t>
            </a:r>
            <a:endParaRPr lang="en-US" i="1" dirty="0">
              <a:latin typeface="Arial" charset="0"/>
            </a:endParaRPr>
          </a:p>
        </p:txBody>
      </p:sp>
      <p:sp>
        <p:nvSpPr>
          <p:cNvPr id="16418" name="TextBox 45"/>
          <p:cNvSpPr txBox="1">
            <a:spLocks noChangeArrowheads="1"/>
          </p:cNvSpPr>
          <p:nvPr/>
        </p:nvSpPr>
        <p:spPr bwMode="auto">
          <a:xfrm>
            <a:off x="4346575" y="3635375"/>
            <a:ext cx="2667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a:t>………………</a:t>
            </a:r>
            <a:endParaRPr lang="en-US" altLang="en-US"/>
          </a:p>
        </p:txBody>
      </p:sp>
      <p:graphicFrame>
        <p:nvGraphicFramePr>
          <p:cNvPr id="16419" name="Object 46"/>
          <p:cNvGraphicFramePr>
            <a:graphicFrameLocks noChangeAspect="1"/>
          </p:cNvGraphicFramePr>
          <p:nvPr/>
        </p:nvGraphicFramePr>
        <p:xfrm>
          <a:off x="1135063" y="5026025"/>
          <a:ext cx="2235200" cy="742950"/>
        </p:xfrm>
        <a:graphic>
          <a:graphicData uri="http://schemas.openxmlformats.org/presentationml/2006/ole">
            <mc:AlternateContent xmlns:mc="http://schemas.openxmlformats.org/markup-compatibility/2006">
              <mc:Choice xmlns:v="urn:schemas-microsoft-com:vml" Requires="v">
                <p:oleObj spid="_x0000_s1026" name="Equation" r:id="rId4" imgW="1320227" imgH="431613" progId="Equation.3">
                  <p:embed/>
                </p:oleObj>
              </mc:Choice>
              <mc:Fallback>
                <p:oleObj name="Equation" r:id="rId4" imgW="1320227" imgH="431613" progId="Equation.3">
                  <p:embed/>
                  <p:pic>
                    <p:nvPicPr>
                      <p:cNvPr id="0" name="Object 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5063" y="5026025"/>
                        <a:ext cx="22352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 name="TextBox 47"/>
          <p:cNvSpPr txBox="1"/>
          <p:nvPr/>
        </p:nvSpPr>
        <p:spPr>
          <a:xfrm>
            <a:off x="3640138" y="5211763"/>
            <a:ext cx="5334000" cy="381000"/>
          </a:xfrm>
          <a:prstGeom prst="rect">
            <a:avLst/>
          </a:prstGeom>
          <a:noFill/>
        </p:spPr>
        <p:txBody>
          <a:bodyPr>
            <a:spAutoFit/>
          </a:bodyPr>
          <a:lstStyle/>
          <a:p>
            <a:pPr eaLnBrk="1" hangingPunct="1">
              <a:defRPr/>
            </a:pPr>
            <a:r>
              <a:rPr lang="en-CA" dirty="0">
                <a:latin typeface="Arial" charset="0"/>
              </a:rPr>
              <a:t>where </a:t>
            </a:r>
            <a:r>
              <a:rPr lang="en-CA" i="1" dirty="0">
                <a:latin typeface="+mj-lt"/>
              </a:rPr>
              <a:t>R</a:t>
            </a:r>
            <a:r>
              <a:rPr lang="en-CA" dirty="0">
                <a:latin typeface="Arial" charset="0"/>
              </a:rPr>
              <a:t> is the recovery rate</a:t>
            </a:r>
            <a:endParaRPr lang="en-US" dirty="0">
              <a:latin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395288" y="115888"/>
            <a:ext cx="7543800" cy="1295400"/>
          </a:xfrm>
        </p:spPr>
        <p:txBody>
          <a:bodyPr/>
          <a:lstStyle/>
          <a:p>
            <a:r>
              <a:rPr lang="en-US" altLang="en-US" dirty="0"/>
              <a:t>The Default Probabilities </a:t>
            </a:r>
            <a:r>
              <a:rPr lang="en-US" altLang="en-US" sz="2400" dirty="0"/>
              <a:t>(equation 18.3)</a:t>
            </a:r>
          </a:p>
        </p:txBody>
      </p:sp>
      <p:sp>
        <p:nvSpPr>
          <p:cNvPr id="3" name="Content Placeholder 2"/>
          <p:cNvSpPr>
            <a:spLocks noGrp="1"/>
          </p:cNvSpPr>
          <p:nvPr>
            <p:ph idx="1"/>
          </p:nvPr>
        </p:nvSpPr>
        <p:spPr>
          <a:xfrm>
            <a:off x="685800" y="1905000"/>
            <a:ext cx="7772400" cy="4114800"/>
          </a:xfrm>
        </p:spPr>
        <p:txBody>
          <a:bodyPr/>
          <a:lstStyle/>
          <a:p>
            <a:pPr>
              <a:defRPr/>
            </a:pPr>
            <a:r>
              <a:rPr lang="en-CA" sz="2600" dirty="0"/>
              <a:t>The default probabilities (i.e., the </a:t>
            </a:r>
            <a:r>
              <a:rPr lang="en-CA" sz="2600" i="1" dirty="0">
                <a:latin typeface="+mj-lt"/>
              </a:rPr>
              <a:t>q</a:t>
            </a:r>
            <a:r>
              <a:rPr lang="en-CA" sz="2600" i="1" baseline="-25000" dirty="0">
                <a:latin typeface="+mj-lt"/>
              </a:rPr>
              <a:t>i</a:t>
            </a:r>
            <a:r>
              <a:rPr lang="en-CA" sz="2600" dirty="0"/>
              <a:t>’s) are calculated from credit spreads</a:t>
            </a:r>
          </a:p>
          <a:p>
            <a:pPr>
              <a:defRPr/>
            </a:pPr>
            <a:r>
              <a:rPr lang="en-CA" sz="2600" dirty="0"/>
              <a:t>If </a:t>
            </a:r>
            <a:r>
              <a:rPr lang="en-CA" sz="2600" i="1" dirty="0" err="1">
                <a:latin typeface="+mj-lt"/>
              </a:rPr>
              <a:t>s</a:t>
            </a:r>
            <a:r>
              <a:rPr lang="en-CA" sz="2600" i="1" baseline="-25000" dirty="0" err="1">
                <a:latin typeface="+mj-lt"/>
              </a:rPr>
              <a:t>i</a:t>
            </a:r>
            <a:r>
              <a:rPr lang="en-CA" sz="2600" dirty="0"/>
              <a:t> is the credit spread for maturity </a:t>
            </a:r>
            <a:r>
              <a:rPr lang="en-CA" sz="2600" i="1" dirty="0" err="1">
                <a:latin typeface="+mj-lt"/>
              </a:rPr>
              <a:t>t</a:t>
            </a:r>
            <a:r>
              <a:rPr lang="en-CA" sz="2600" i="1" baseline="-25000" dirty="0" err="1">
                <a:latin typeface="+mj-lt"/>
              </a:rPr>
              <a:t>i</a:t>
            </a:r>
            <a:r>
              <a:rPr lang="en-CA" sz="2600" dirty="0"/>
              <a:t>,    is the average hazard rate up to time </a:t>
            </a:r>
            <a:r>
              <a:rPr lang="en-CA" sz="2600" i="1" dirty="0" err="1">
                <a:latin typeface="+mj-lt"/>
              </a:rPr>
              <a:t>t</a:t>
            </a:r>
            <a:r>
              <a:rPr lang="en-CA" sz="2600" i="1" baseline="-25000" dirty="0" err="1">
                <a:latin typeface="+mj-lt"/>
              </a:rPr>
              <a:t>i</a:t>
            </a:r>
            <a:r>
              <a:rPr lang="en-CA" sz="2600" i="1" dirty="0">
                <a:latin typeface="+mj-lt"/>
              </a:rPr>
              <a:t> , </a:t>
            </a:r>
            <a:r>
              <a:rPr lang="en-CA" sz="2600" dirty="0"/>
              <a:t>and</a:t>
            </a:r>
            <a:r>
              <a:rPr lang="en-CA" sz="2600" i="1" dirty="0">
                <a:latin typeface="+mj-lt"/>
              </a:rPr>
              <a:t> R</a:t>
            </a:r>
            <a:r>
              <a:rPr lang="en-CA" sz="2600" dirty="0"/>
              <a:t> is the recovery rate</a:t>
            </a:r>
          </a:p>
          <a:p>
            <a:pPr marL="0" indent="0">
              <a:buFont typeface="Wingdings" panose="05000000000000000000" pitchFamily="2" charset="2"/>
              <a:buNone/>
              <a:defRPr/>
            </a:pPr>
            <a:endParaRPr lang="en-CA" sz="2600" dirty="0"/>
          </a:p>
          <a:p>
            <a:pPr>
              <a:defRPr/>
            </a:pPr>
            <a:endParaRPr lang="en-CA" sz="2600" dirty="0"/>
          </a:p>
        </p:txBody>
      </p:sp>
      <p:sp>
        <p:nvSpPr>
          <p:cNvPr id="1741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cs typeface="Arial" panose="020B0604020202020204" pitchFamily="34" charset="0"/>
              </a:rPr>
              <a:t>Risk Management and Financial Institutions 6e, Chapter 18,  Copyright © John C. Hull 2023</a:t>
            </a:r>
          </a:p>
        </p:txBody>
      </p:sp>
      <p:sp>
        <p:nvSpPr>
          <p:cNvPr id="1741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F47BEFD-8775-4EC6-B115-3B173FCD172B}" type="slidenum">
              <a:rPr lang="en-US" altLang="en-US" sz="1800">
                <a:cs typeface="Arial" panose="020B0604020202020204" pitchFamily="34" charset="0"/>
              </a:rPr>
              <a:pPr>
                <a:spcBef>
                  <a:spcPct val="0"/>
                </a:spcBef>
                <a:buClrTx/>
                <a:buSzTx/>
                <a:buFontTx/>
                <a:buNone/>
              </a:pPr>
              <a:t>5</a:t>
            </a:fld>
            <a:endParaRPr lang="en-US" altLang="en-US" sz="1800">
              <a:cs typeface="Arial" panose="020B0604020202020204" pitchFamily="34" charset="0"/>
            </a:endParaRPr>
          </a:p>
        </p:txBody>
      </p:sp>
      <p:graphicFrame>
        <p:nvGraphicFramePr>
          <p:cNvPr id="17414" name="Object 1"/>
          <p:cNvGraphicFramePr>
            <a:graphicFrameLocks noChangeAspect="1"/>
          </p:cNvGraphicFramePr>
          <p:nvPr/>
        </p:nvGraphicFramePr>
        <p:xfrm>
          <a:off x="6553200" y="2781300"/>
          <a:ext cx="387350" cy="565150"/>
        </p:xfrm>
        <a:graphic>
          <a:graphicData uri="http://schemas.openxmlformats.org/presentationml/2006/ole">
            <mc:AlternateContent xmlns:mc="http://schemas.openxmlformats.org/markup-compatibility/2006">
              <mc:Choice xmlns:v="urn:schemas-microsoft-com:vml" Requires="v">
                <p:oleObj spid="_x0000_s2050" name="Equation" r:id="rId4" imgW="164957" imgH="241091" progId="Equation.3">
                  <p:embed/>
                </p:oleObj>
              </mc:Choice>
              <mc:Fallback>
                <p:oleObj name="Equation" r:id="rId4" imgW="164957" imgH="241091"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3200" y="2781300"/>
                        <a:ext cx="3873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5" name="Object 3"/>
          <p:cNvGraphicFramePr>
            <a:graphicFrameLocks noChangeAspect="1"/>
          </p:cNvGraphicFramePr>
          <p:nvPr/>
        </p:nvGraphicFramePr>
        <p:xfrm>
          <a:off x="1258888" y="4149725"/>
          <a:ext cx="4498975" cy="1727200"/>
        </p:xfrm>
        <a:graphic>
          <a:graphicData uri="http://schemas.openxmlformats.org/presentationml/2006/ole">
            <mc:AlternateContent xmlns:mc="http://schemas.openxmlformats.org/markup-compatibility/2006">
              <mc:Choice xmlns:v="urn:schemas-microsoft-com:vml" Requires="v">
                <p:oleObj spid="_x0000_s2051" name="Equation" r:id="rId6" imgW="2273300" imgH="838200" progId="Equation.3">
                  <p:embed/>
                </p:oleObj>
              </mc:Choice>
              <mc:Fallback>
                <p:oleObj name="Equation" r:id="rId6" imgW="2273300" imgH="8382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4149725"/>
                        <a:ext cx="4498975"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CA" altLang="en-US"/>
              <a:t>The Expected Exposures</a:t>
            </a:r>
            <a:endParaRPr lang="en-US" altLang="en-US"/>
          </a:p>
        </p:txBody>
      </p:sp>
      <p:sp>
        <p:nvSpPr>
          <p:cNvPr id="3" name="Content Placeholder 2"/>
          <p:cNvSpPr>
            <a:spLocks noGrp="1"/>
          </p:cNvSpPr>
          <p:nvPr>
            <p:ph idx="1"/>
          </p:nvPr>
        </p:nvSpPr>
        <p:spPr/>
        <p:txBody>
          <a:bodyPr/>
          <a:lstStyle/>
          <a:p>
            <a:pPr>
              <a:defRPr/>
            </a:pPr>
            <a:r>
              <a:rPr lang="en-CA" dirty="0"/>
              <a:t>The </a:t>
            </a:r>
            <a:r>
              <a:rPr lang="en-CA" i="1" dirty="0">
                <a:latin typeface="+mj-lt"/>
              </a:rPr>
              <a:t>v</a:t>
            </a:r>
            <a:r>
              <a:rPr lang="en-CA" i="1" baseline="-25000" dirty="0">
                <a:latin typeface="+mj-lt"/>
              </a:rPr>
              <a:t>i</a:t>
            </a:r>
            <a:r>
              <a:rPr lang="en-CA" dirty="0"/>
              <a:t> are calculated using Monte Carlo simulation.  Random paths are chosen for all the market variables underlying the derivatives and the net exposure is calculated at the mid point of each time interval. </a:t>
            </a:r>
          </a:p>
          <a:p>
            <a:pPr>
              <a:defRPr/>
            </a:pPr>
            <a:r>
              <a:rPr lang="en-CA" i="1" dirty="0">
                <a:latin typeface="+mj-lt"/>
              </a:rPr>
              <a:t>v</a:t>
            </a:r>
            <a:r>
              <a:rPr lang="en-CA" i="1" baseline="-25000" dirty="0">
                <a:latin typeface="+mj-lt"/>
              </a:rPr>
              <a:t>i</a:t>
            </a:r>
            <a:r>
              <a:rPr lang="en-CA" dirty="0"/>
              <a:t> is the present value of the average net exposure at the </a:t>
            </a:r>
            <a:r>
              <a:rPr lang="en-CA" i="1" dirty="0" err="1">
                <a:latin typeface="+mj-lt"/>
              </a:rPr>
              <a:t>i</a:t>
            </a:r>
            <a:r>
              <a:rPr lang="en-CA" dirty="0" err="1"/>
              <a:t>th</a:t>
            </a:r>
            <a:r>
              <a:rPr lang="en-CA" dirty="0"/>
              <a:t> default time</a:t>
            </a:r>
            <a:endParaRPr lang="en-US" dirty="0"/>
          </a:p>
          <a:p>
            <a:pPr>
              <a:defRPr/>
            </a:pPr>
            <a:endParaRPr lang="en-US" dirty="0"/>
          </a:p>
        </p:txBody>
      </p:sp>
      <p:sp>
        <p:nvSpPr>
          <p:cNvPr id="1843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18,  Copyright © John C. Hull 2023</a:t>
            </a:r>
            <a:endParaRPr lang="en-US" altLang="en-US" i="0">
              <a:cs typeface="Arial" panose="020B0604020202020204" pitchFamily="34" charset="0"/>
            </a:endParaRPr>
          </a:p>
        </p:txBody>
      </p:sp>
      <p:sp>
        <p:nvSpPr>
          <p:cNvPr id="184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691353-1FF7-4A5C-95BD-2683D2E52912}" type="slidenum">
              <a:rPr lang="en-US" altLang="en-US"/>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381000" y="115888"/>
            <a:ext cx="7543800" cy="1295400"/>
          </a:xfrm>
        </p:spPr>
        <p:txBody>
          <a:bodyPr/>
          <a:lstStyle/>
          <a:p>
            <a:pPr eaLnBrk="1" hangingPunct="1"/>
            <a:r>
              <a:rPr lang="en-CA" altLang="en-US"/>
              <a:t>The Expected Exposure </a:t>
            </a:r>
            <a:endParaRPr lang="en-US" altLang="en-US"/>
          </a:p>
        </p:txBody>
      </p:sp>
      <p:sp>
        <p:nvSpPr>
          <p:cNvPr id="3" name="Content Placeholder 2"/>
          <p:cNvSpPr>
            <a:spLocks noGrp="1"/>
          </p:cNvSpPr>
          <p:nvPr>
            <p:ph idx="1"/>
          </p:nvPr>
        </p:nvSpPr>
        <p:spPr>
          <a:xfrm>
            <a:off x="381000" y="1628775"/>
            <a:ext cx="8229600" cy="4114800"/>
          </a:xfrm>
        </p:spPr>
        <p:txBody>
          <a:bodyPr/>
          <a:lstStyle/>
          <a:p>
            <a:pPr eaLnBrk="1" hangingPunct="1">
              <a:defRPr/>
            </a:pPr>
            <a:r>
              <a:rPr lang="en-US" sz="2400" dirty="0"/>
              <a:t>If no collateral is required, the exposure at each time for each random trial is max(</a:t>
            </a:r>
            <a:r>
              <a:rPr lang="en-US" sz="2400" i="1" dirty="0">
                <a:latin typeface="+mj-lt"/>
              </a:rPr>
              <a:t>V</a:t>
            </a:r>
            <a:r>
              <a:rPr lang="en-US" sz="2400" dirty="0"/>
              <a:t>,0) where </a:t>
            </a:r>
            <a:r>
              <a:rPr lang="en-US" sz="2400" i="1" dirty="0">
                <a:latin typeface="+mj-lt"/>
              </a:rPr>
              <a:t>V</a:t>
            </a:r>
            <a:r>
              <a:rPr lang="en-US" sz="2400" dirty="0"/>
              <a:t> is the value of the derivatives portfolio to the dealer</a:t>
            </a:r>
          </a:p>
          <a:p>
            <a:pPr eaLnBrk="1" hangingPunct="1">
              <a:defRPr/>
            </a:pPr>
            <a:r>
              <a:rPr lang="en-CA" sz="2400" dirty="0"/>
              <a:t>If the collateral equal to </a:t>
            </a:r>
            <a:r>
              <a:rPr lang="en-CA" sz="2400" i="1" dirty="0">
                <a:latin typeface="+mj-lt"/>
              </a:rPr>
              <a:t>C</a:t>
            </a:r>
            <a:r>
              <a:rPr lang="en-CA" sz="2400" dirty="0"/>
              <a:t> is expected to be posted by the counterparty at the time of the default (with a negative </a:t>
            </a:r>
            <a:r>
              <a:rPr lang="en-CA" sz="2400" i="1" dirty="0">
                <a:latin typeface="+mj-lt"/>
              </a:rPr>
              <a:t>C</a:t>
            </a:r>
            <a:r>
              <a:rPr lang="en-CA" sz="2400" dirty="0"/>
              <a:t> indicating collateral expected to be posted by the dealer), the exposure is max(</a:t>
            </a:r>
            <a:r>
              <a:rPr lang="en-CA" sz="2400" i="1" dirty="0">
                <a:latin typeface="+mj-lt"/>
              </a:rPr>
              <a:t>V</a:t>
            </a:r>
            <a:r>
              <a:rPr lang="en-CA" sz="2400" dirty="0"/>
              <a:t> − </a:t>
            </a:r>
            <a:r>
              <a:rPr lang="en-CA" sz="2400" i="1" dirty="0">
                <a:latin typeface="+mj-lt"/>
              </a:rPr>
              <a:t>C</a:t>
            </a:r>
            <a:r>
              <a:rPr lang="en-CA" sz="2400" dirty="0"/>
              <a:t>, 0)</a:t>
            </a:r>
          </a:p>
          <a:p>
            <a:pPr eaLnBrk="1" hangingPunct="1">
              <a:defRPr/>
            </a:pPr>
            <a:r>
              <a:rPr lang="en-CA" sz="2400" dirty="0"/>
              <a:t>This formula reflects the fact that the dealer will have an exposure if it has posted more collateral than the value of the derivatives to the counterparty. </a:t>
            </a:r>
          </a:p>
          <a:p>
            <a:pPr eaLnBrk="1" hangingPunct="1">
              <a:defRPr/>
            </a:pPr>
            <a:endParaRPr lang="en-CA" sz="2400" dirty="0"/>
          </a:p>
          <a:p>
            <a:pPr eaLnBrk="1" hangingPunct="1">
              <a:defRPr/>
            </a:pPr>
            <a:endParaRPr lang="en-CA" sz="2400" dirty="0"/>
          </a:p>
          <a:p>
            <a:pPr marL="0" indent="0" eaLnBrk="1" hangingPunct="1">
              <a:buFontTx/>
              <a:buNone/>
              <a:defRPr/>
            </a:pPr>
            <a:endParaRPr lang="en-US" sz="2400" dirty="0"/>
          </a:p>
          <a:p>
            <a:pPr eaLnBrk="1" hangingPunct="1">
              <a:defRPr/>
            </a:pPr>
            <a:endParaRPr lang="en-US" sz="2400" dirty="0"/>
          </a:p>
          <a:p>
            <a:pPr eaLnBrk="1" hangingPunct="1">
              <a:defRPr/>
            </a:pPr>
            <a:endParaRPr lang="en-US" sz="2400" dirty="0"/>
          </a:p>
          <a:p>
            <a:pPr lvl="1" eaLnBrk="1" hangingPunct="1">
              <a:buFont typeface="Arial" charset="0"/>
              <a:buNone/>
              <a:defRPr/>
            </a:pPr>
            <a:r>
              <a:rPr lang="en-US" dirty="0">
                <a:cs typeface="Times New Roman" pitchFamily="18" charset="0"/>
              </a:rPr>
              <a:t>		</a:t>
            </a:r>
          </a:p>
          <a:p>
            <a:pPr eaLnBrk="1" hangingPunct="1">
              <a:buFont typeface="Arial" charset="0"/>
              <a:buNone/>
              <a:defRPr/>
            </a:pPr>
            <a:endParaRPr lang="en-US" i="1" dirty="0">
              <a:latin typeface="Times New Roman" pitchFamily="18" charset="0"/>
              <a:cs typeface="Times New Roman" pitchFamily="18" charset="0"/>
            </a:endParaRPr>
          </a:p>
          <a:p>
            <a:pPr marL="342900" lvl="3" indent="-342900" eaLnBrk="1" hangingPunct="1">
              <a:buFont typeface="Arial" charset="0"/>
              <a:buNone/>
              <a:defRPr/>
            </a:pPr>
            <a:r>
              <a:rPr lang="en-US" dirty="0"/>
              <a:t>	 		</a:t>
            </a:r>
            <a:endParaRPr lang="en-US" i="1" dirty="0">
              <a:latin typeface="Times New Roman" pitchFamily="18" charset="0"/>
              <a:cs typeface="Times New Roman" pitchFamily="18" charset="0"/>
            </a:endParaRPr>
          </a:p>
          <a:p>
            <a:pPr eaLnBrk="1" hangingPunct="1">
              <a:defRPr/>
            </a:pPr>
            <a:endParaRPr lang="en-US" dirty="0"/>
          </a:p>
          <a:p>
            <a:pPr eaLnBrk="1" hangingPunct="1">
              <a:defRPr/>
            </a:pPr>
            <a:endParaRPr lang="en-US" dirty="0"/>
          </a:p>
          <a:p>
            <a:pPr lvl="3" eaLnBrk="1" hangingPunct="1">
              <a:buFont typeface="Arial" charset="0"/>
              <a:buNone/>
              <a:defRPr/>
            </a:pPr>
            <a:endParaRPr lang="en-US" dirty="0"/>
          </a:p>
          <a:p>
            <a:pPr lvl="3" eaLnBrk="1" hangingPunct="1">
              <a:buFont typeface="Arial" charset="0"/>
              <a:buNone/>
              <a:defRPr/>
            </a:pPr>
            <a:endParaRPr lang="en-US" dirty="0"/>
          </a:p>
        </p:txBody>
      </p:sp>
      <p:sp>
        <p:nvSpPr>
          <p:cNvPr id="19461"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cs typeface="Arial" panose="020B0604020202020204" pitchFamily="34" charset="0"/>
              </a:rPr>
              <a:t>Risk Management and Financial Institutions 6e, Chapter 18,  Copyright © John C. Hull 2023</a:t>
            </a:r>
          </a:p>
        </p:txBody>
      </p:sp>
      <p:sp>
        <p:nvSpPr>
          <p:cNvPr id="1946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0BE9CD6-0AD6-4B77-A0C5-BB8C08102CC1}" type="slidenum">
              <a:rPr lang="en-US" altLang="en-US" sz="1800">
                <a:cs typeface="Arial" panose="020B0604020202020204" pitchFamily="34" charset="0"/>
              </a:rPr>
              <a:pPr>
                <a:spcBef>
                  <a:spcPct val="0"/>
                </a:spcBef>
                <a:buClrTx/>
                <a:buSzTx/>
                <a:buFontTx/>
                <a:buNone/>
              </a:pPr>
              <a:t>7</a:t>
            </a:fld>
            <a:endParaRPr lang="en-US" altLang="en-US" sz="180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392113" y="-387350"/>
            <a:ext cx="7704137" cy="1295400"/>
          </a:xfrm>
        </p:spPr>
        <p:txBody>
          <a:bodyPr/>
          <a:lstStyle/>
          <a:p>
            <a:r>
              <a:rPr lang="en-CA" altLang="en-US"/>
              <a:t>Calculation of Available Collateral</a:t>
            </a:r>
            <a:endParaRPr lang="en-US" altLang="en-US"/>
          </a:p>
        </p:txBody>
      </p:sp>
      <p:sp>
        <p:nvSpPr>
          <p:cNvPr id="3" name="Content Placeholder 2"/>
          <p:cNvSpPr>
            <a:spLocks noGrp="1"/>
          </p:cNvSpPr>
          <p:nvPr>
            <p:ph idx="1"/>
          </p:nvPr>
        </p:nvSpPr>
        <p:spPr>
          <a:xfrm>
            <a:off x="323850" y="1412875"/>
            <a:ext cx="8229600" cy="4410075"/>
          </a:xfrm>
        </p:spPr>
        <p:txBody>
          <a:bodyPr/>
          <a:lstStyle/>
          <a:p>
            <a:pPr eaLnBrk="1" hangingPunct="1">
              <a:defRPr/>
            </a:pPr>
            <a:r>
              <a:rPr lang="en-CA" sz="2800" dirty="0"/>
              <a:t>It is assumed that there is a “cure period” (sometimes called margin period of risk) immediately before a default during which collateral is not posted</a:t>
            </a:r>
          </a:p>
          <a:p>
            <a:pPr eaLnBrk="1" hangingPunct="1">
              <a:defRPr/>
            </a:pPr>
            <a:r>
              <a:rPr lang="en-CA" sz="2800" dirty="0"/>
              <a:t>If cure period is </a:t>
            </a:r>
            <a:r>
              <a:rPr lang="en-CA" sz="2800" i="1" dirty="0">
                <a:latin typeface="+mj-lt"/>
              </a:rPr>
              <a:t>c </a:t>
            </a:r>
            <a:r>
              <a:rPr lang="en-CA" sz="2800" dirty="0"/>
              <a:t>days on each Monte Carlo trial we must calculate the value of the portfolio </a:t>
            </a:r>
            <a:r>
              <a:rPr lang="en-CA" sz="2800" i="1" dirty="0">
                <a:latin typeface="+mj-lt"/>
              </a:rPr>
              <a:t>c</a:t>
            </a:r>
            <a:r>
              <a:rPr lang="en-CA" sz="2800" dirty="0"/>
              <a:t> days before each default time</a:t>
            </a:r>
          </a:p>
          <a:p>
            <a:pPr eaLnBrk="1" hangingPunct="1">
              <a:defRPr/>
            </a:pPr>
            <a:r>
              <a:rPr lang="en-CA" sz="2800" dirty="0"/>
              <a:t>This determines the collateral available at the default time</a:t>
            </a:r>
            <a:endParaRPr lang="en-US" sz="2800" dirty="0"/>
          </a:p>
          <a:p>
            <a:pPr>
              <a:defRPr/>
            </a:pPr>
            <a:endParaRPr lang="en-US" dirty="0"/>
          </a:p>
        </p:txBody>
      </p:sp>
      <p:sp>
        <p:nvSpPr>
          <p:cNvPr id="2048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18,  Copyright © John C. Hull 2023</a:t>
            </a:r>
            <a:endParaRPr lang="en-US" altLang="en-US" i="0">
              <a:cs typeface="Arial" panose="020B0604020202020204" pitchFamily="34" charset="0"/>
            </a:endParaRPr>
          </a:p>
        </p:txBody>
      </p:sp>
      <p:sp>
        <p:nvSpPr>
          <p:cNvPr id="204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031C774-ED9D-45C0-973C-DFEA6A336D5F}" type="slidenum">
              <a:rPr lang="en-US" altLang="en-US"/>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CA" altLang="en-US" dirty="0"/>
              <a:t>Peak Exposure </a:t>
            </a:r>
            <a:r>
              <a:rPr lang="en-CA" altLang="en-US" sz="2400" dirty="0"/>
              <a:t>(Section 18.2.2)</a:t>
            </a:r>
            <a:endParaRPr lang="en-US" altLang="en-US" sz="2400" dirty="0"/>
          </a:p>
        </p:txBody>
      </p:sp>
      <p:sp>
        <p:nvSpPr>
          <p:cNvPr id="21507" name="Content Placeholder 2"/>
          <p:cNvSpPr>
            <a:spLocks noGrp="1"/>
          </p:cNvSpPr>
          <p:nvPr>
            <p:ph idx="1"/>
          </p:nvPr>
        </p:nvSpPr>
        <p:spPr/>
        <p:txBody>
          <a:bodyPr/>
          <a:lstStyle/>
          <a:p>
            <a:r>
              <a:rPr lang="en-CA" altLang="en-US"/>
              <a:t>A high percentile (e.g. 97.5%) of the exposure distribution at a particular tiem</a:t>
            </a:r>
          </a:p>
          <a:p>
            <a:r>
              <a:rPr lang="en-CA" altLang="en-US"/>
              <a:t>Maximum peak exposure (peak of peaks) is the maximum of the peak exposures across all the times considered</a:t>
            </a:r>
            <a:endParaRPr lang="en-US" altLang="en-US"/>
          </a:p>
        </p:txBody>
      </p:sp>
      <p:sp>
        <p:nvSpPr>
          <p:cNvPr id="2150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18,  Copyright © John C. Hull 2023</a:t>
            </a:r>
            <a:endParaRPr lang="en-US" altLang="en-US" i="0">
              <a:cs typeface="Arial" panose="020B0604020202020204" pitchFamily="34" charset="0"/>
            </a:endParaRPr>
          </a:p>
        </p:txBody>
      </p:sp>
      <p:sp>
        <p:nvSpPr>
          <p:cNvPr id="215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C40E00C-58D2-4D8E-9BD7-B14ADA433FB5}" type="slidenum">
              <a:rPr lang="en-US" altLang="en-US"/>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CA" altLang="en-US" dirty="0"/>
              <a:t>Downgrade Triggers </a:t>
            </a:r>
            <a:r>
              <a:rPr lang="en-CA" altLang="en-US" sz="2400" dirty="0"/>
              <a:t>(Section 18.2.3)</a:t>
            </a:r>
            <a:endParaRPr lang="en-US" altLang="en-US" sz="2400" dirty="0"/>
          </a:p>
        </p:txBody>
      </p:sp>
      <p:sp>
        <p:nvSpPr>
          <p:cNvPr id="22531" name="Content Placeholder 2"/>
          <p:cNvSpPr>
            <a:spLocks noGrp="1"/>
          </p:cNvSpPr>
          <p:nvPr>
            <p:ph idx="1"/>
          </p:nvPr>
        </p:nvSpPr>
        <p:spPr/>
        <p:txBody>
          <a:bodyPr/>
          <a:lstStyle/>
          <a:p>
            <a:r>
              <a:rPr lang="en-CA" altLang="en-US" dirty="0"/>
              <a:t>Collateral required (or possibly early termination) if counterparty is downgraded below a certain credit rating</a:t>
            </a:r>
          </a:p>
          <a:p>
            <a:r>
              <a:rPr lang="en-CA" altLang="en-US" dirty="0"/>
              <a:t>They work well if counterparty has relatively few of them</a:t>
            </a:r>
          </a:p>
          <a:p>
            <a:r>
              <a:rPr lang="en-CA" altLang="en-US" dirty="0"/>
              <a:t>Examples: AIG, Enron</a:t>
            </a:r>
            <a:endParaRPr lang="en-US" altLang="en-US" dirty="0"/>
          </a:p>
        </p:txBody>
      </p:sp>
      <p:sp>
        <p:nvSpPr>
          <p:cNvPr id="225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18,  Copyright © John C. Hull 2023</a:t>
            </a:r>
            <a:endParaRPr lang="en-US" altLang="en-US" i="0">
              <a:cs typeface="Arial" panose="020B0604020202020204" pitchFamily="34" charset="0"/>
            </a:endParaRPr>
          </a:p>
        </p:txBody>
      </p:sp>
      <p:sp>
        <p:nvSpPr>
          <p:cNvPr id="225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F5C090B-058E-4D67-9B8F-104ECD9A17FE}" type="slidenum">
              <a:rPr lang="en-US" altLang="en-US"/>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a:t>Incremental CVA</a:t>
            </a:r>
          </a:p>
        </p:txBody>
      </p:sp>
      <p:sp>
        <p:nvSpPr>
          <p:cNvPr id="23555" name="Content Placeholder 2"/>
          <p:cNvSpPr>
            <a:spLocks noGrp="1"/>
          </p:cNvSpPr>
          <p:nvPr>
            <p:ph idx="1"/>
          </p:nvPr>
        </p:nvSpPr>
        <p:spPr/>
        <p:txBody>
          <a:bodyPr/>
          <a:lstStyle/>
          <a:p>
            <a:r>
              <a:rPr lang="en-US" altLang="en-US"/>
              <a:t>Results from Monte Carlo are stored so that the incremental impact of a new trade can be calculated without simulating all the other trades.</a:t>
            </a:r>
          </a:p>
        </p:txBody>
      </p:sp>
      <p:sp>
        <p:nvSpPr>
          <p:cNvPr id="2355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cs typeface="Arial" panose="020B0604020202020204" pitchFamily="34" charset="0"/>
              </a:rPr>
              <a:t>Risk Management and Financial Institutions 6e, Chapter 18,  Copyright © John C. Hull 2023</a:t>
            </a:r>
          </a:p>
        </p:txBody>
      </p:sp>
      <p:sp>
        <p:nvSpPr>
          <p:cNvPr id="235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2D3F510-41C9-4FA4-996E-1F686788FC4C}" type="slidenum">
              <a:rPr lang="en-US" altLang="en-US" sz="1800">
                <a:cs typeface="Arial" panose="020B0604020202020204" pitchFamily="34" charset="0"/>
              </a:rPr>
              <a:pPr>
                <a:spcBef>
                  <a:spcPct val="0"/>
                </a:spcBef>
                <a:buClrTx/>
                <a:buSzTx/>
                <a:buFontTx/>
                <a:buNone/>
              </a:pPr>
              <a:t>11</a:t>
            </a:fld>
            <a:endParaRPr lang="en-US" altLang="en-US" sz="180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CA" altLang="en-US"/>
              <a:t>CVA Risk</a:t>
            </a:r>
            <a:endParaRPr lang="en-US" altLang="en-US"/>
          </a:p>
        </p:txBody>
      </p:sp>
      <p:sp>
        <p:nvSpPr>
          <p:cNvPr id="24579" name="Content Placeholder 2"/>
          <p:cNvSpPr>
            <a:spLocks noGrp="1"/>
          </p:cNvSpPr>
          <p:nvPr>
            <p:ph idx="1"/>
          </p:nvPr>
        </p:nvSpPr>
        <p:spPr>
          <a:xfrm>
            <a:off x="755650" y="1268413"/>
            <a:ext cx="7772400" cy="4114800"/>
          </a:xfrm>
        </p:spPr>
        <p:txBody>
          <a:bodyPr/>
          <a:lstStyle/>
          <a:p>
            <a:pPr eaLnBrk="1" hangingPunct="1">
              <a:buFontTx/>
              <a:buNone/>
            </a:pPr>
            <a:endParaRPr lang="en-CA" altLang="en-US"/>
          </a:p>
          <a:p>
            <a:pPr eaLnBrk="1" hangingPunct="1"/>
            <a:r>
              <a:rPr lang="en-CA" altLang="en-US"/>
              <a:t>The CVA for a counterparty can be regarded as a complex derivative</a:t>
            </a:r>
          </a:p>
          <a:p>
            <a:pPr eaLnBrk="1" hangingPunct="1"/>
            <a:r>
              <a:rPr lang="en-CA" altLang="en-US"/>
              <a:t>Increasingly dealers are managing it like any other derivative</a:t>
            </a:r>
          </a:p>
          <a:p>
            <a:pPr eaLnBrk="1" hangingPunct="1"/>
            <a:r>
              <a:rPr lang="en-CA" altLang="en-US"/>
              <a:t>Two sources of risk:</a:t>
            </a:r>
          </a:p>
          <a:p>
            <a:pPr lvl="1" eaLnBrk="1" hangingPunct="1"/>
            <a:r>
              <a:rPr lang="en-CA" altLang="en-US"/>
              <a:t>Changes in counterparty spreads</a:t>
            </a:r>
          </a:p>
          <a:p>
            <a:pPr lvl="1" eaLnBrk="1" hangingPunct="1"/>
            <a:r>
              <a:rPr lang="en-CA" altLang="en-US"/>
              <a:t>Changes in market variables underlying the portfolio  </a:t>
            </a:r>
          </a:p>
          <a:p>
            <a:pPr lvl="1" eaLnBrk="1" hangingPunct="1"/>
            <a:endParaRPr lang="en-CA" altLang="en-US"/>
          </a:p>
          <a:p>
            <a:pPr lvl="1" eaLnBrk="1" hangingPunct="1"/>
            <a:endParaRPr lang="en-US" altLang="en-US"/>
          </a:p>
        </p:txBody>
      </p:sp>
      <p:sp>
        <p:nvSpPr>
          <p:cNvPr id="24581"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cs typeface="Arial" panose="020B0604020202020204" pitchFamily="34" charset="0"/>
              </a:rPr>
              <a:t>Risk Management and Financial Institutions 6e, Chapter 18,  Copyright © John C. Hull 2023</a:t>
            </a:r>
          </a:p>
        </p:txBody>
      </p:sp>
      <p:sp>
        <p:nvSpPr>
          <p:cNvPr id="2458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6E02402-B022-470D-BE96-B2FF1461E7D4}" type="slidenum">
              <a:rPr lang="en-US" altLang="en-US" sz="1800">
                <a:cs typeface="Arial" panose="020B0604020202020204" pitchFamily="34" charset="0"/>
              </a:rPr>
              <a:pPr>
                <a:spcBef>
                  <a:spcPct val="0"/>
                </a:spcBef>
                <a:buClrTx/>
                <a:buSzTx/>
                <a:buFontTx/>
                <a:buNone/>
              </a:pPr>
              <a:t>12</a:t>
            </a:fld>
            <a:endParaRPr lang="en-US" altLang="en-US" sz="180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CA" altLang="en-US"/>
              <a:t>Wrong Way/Right Way Risk</a:t>
            </a:r>
            <a:endParaRPr lang="en-US" altLang="en-US"/>
          </a:p>
        </p:txBody>
      </p:sp>
      <p:sp>
        <p:nvSpPr>
          <p:cNvPr id="3" name="Content Placeholder 2"/>
          <p:cNvSpPr>
            <a:spLocks noGrp="1"/>
          </p:cNvSpPr>
          <p:nvPr>
            <p:ph idx="1"/>
          </p:nvPr>
        </p:nvSpPr>
        <p:spPr/>
        <p:txBody>
          <a:bodyPr/>
          <a:lstStyle/>
          <a:p>
            <a:pPr>
              <a:defRPr/>
            </a:pPr>
            <a:r>
              <a:rPr lang="en-CA" dirty="0">
                <a:cs typeface="Arial" charset="0"/>
              </a:rPr>
              <a:t>Simplest assumption is that probability of default </a:t>
            </a:r>
            <a:r>
              <a:rPr lang="en-CA" i="1" dirty="0" err="1">
                <a:latin typeface="+mj-lt"/>
                <a:cs typeface="Arial" charset="0"/>
              </a:rPr>
              <a:t>q</a:t>
            </a:r>
            <a:r>
              <a:rPr lang="en-CA" i="1" baseline="-25000" dirty="0" err="1">
                <a:latin typeface="+mj-lt"/>
                <a:cs typeface="Arial" charset="0"/>
              </a:rPr>
              <a:t>i</a:t>
            </a:r>
            <a:r>
              <a:rPr lang="en-CA" dirty="0">
                <a:cs typeface="Arial" charset="0"/>
              </a:rPr>
              <a:t> is independent of  net exposure </a:t>
            </a:r>
            <a:r>
              <a:rPr lang="en-CA" i="1" dirty="0">
                <a:latin typeface="+mj-lt"/>
                <a:cs typeface="Arial" charset="0"/>
              </a:rPr>
              <a:t>v</a:t>
            </a:r>
            <a:r>
              <a:rPr lang="en-CA" i="1" baseline="-25000" dirty="0">
                <a:latin typeface="+mj-lt"/>
                <a:cs typeface="Arial" charset="0"/>
              </a:rPr>
              <a:t>i</a:t>
            </a:r>
            <a:r>
              <a:rPr lang="en-CA" dirty="0">
                <a:cs typeface="Arial" charset="0"/>
              </a:rPr>
              <a:t>.</a:t>
            </a:r>
          </a:p>
          <a:p>
            <a:pPr>
              <a:defRPr/>
            </a:pPr>
            <a:r>
              <a:rPr lang="en-CA" dirty="0">
                <a:cs typeface="Times New Roman" pitchFamily="18" charset="0"/>
              </a:rPr>
              <a:t>Wrong-way risk occurs when </a:t>
            </a:r>
            <a:r>
              <a:rPr lang="en-CA" i="1" dirty="0" err="1">
                <a:latin typeface="+mj-lt"/>
                <a:cs typeface="Arial" charset="0"/>
              </a:rPr>
              <a:t>q</a:t>
            </a:r>
            <a:r>
              <a:rPr lang="en-CA" i="1" baseline="-25000" dirty="0" err="1">
                <a:latin typeface="+mj-lt"/>
                <a:cs typeface="Arial" charset="0"/>
              </a:rPr>
              <a:t>i</a:t>
            </a:r>
            <a:r>
              <a:rPr lang="en-CA" i="1" dirty="0">
                <a:latin typeface="+mj-lt"/>
                <a:cs typeface="Times New Roman" pitchFamily="18" charset="0"/>
              </a:rPr>
              <a:t> </a:t>
            </a:r>
            <a:r>
              <a:rPr lang="en-CA" dirty="0">
                <a:cs typeface="Times New Roman" pitchFamily="18" charset="0"/>
              </a:rPr>
              <a:t>is positively dependent on </a:t>
            </a:r>
            <a:r>
              <a:rPr lang="en-CA" i="1" dirty="0">
                <a:latin typeface="+mj-lt"/>
                <a:cs typeface="Times New Roman" pitchFamily="18" charset="0"/>
              </a:rPr>
              <a:t>v</a:t>
            </a:r>
            <a:r>
              <a:rPr lang="en-CA" i="1" baseline="-25000" dirty="0">
                <a:latin typeface="+mj-lt"/>
                <a:cs typeface="Times New Roman" pitchFamily="18" charset="0"/>
              </a:rPr>
              <a:t>i</a:t>
            </a:r>
          </a:p>
          <a:p>
            <a:pPr>
              <a:defRPr/>
            </a:pPr>
            <a:r>
              <a:rPr lang="en-CA" dirty="0">
                <a:cs typeface="Times New Roman" pitchFamily="18" charset="0"/>
              </a:rPr>
              <a:t> Right-way  risk occurs when </a:t>
            </a:r>
            <a:r>
              <a:rPr lang="en-CA" i="1" dirty="0" err="1">
                <a:latin typeface="+mj-lt"/>
                <a:cs typeface="Arial" charset="0"/>
              </a:rPr>
              <a:t>q</a:t>
            </a:r>
            <a:r>
              <a:rPr lang="en-CA" i="1" baseline="-25000" dirty="0" err="1">
                <a:latin typeface="+mj-lt"/>
                <a:cs typeface="Arial" charset="0"/>
              </a:rPr>
              <a:t>i</a:t>
            </a:r>
            <a:r>
              <a:rPr lang="en-CA" dirty="0">
                <a:latin typeface="+mj-lt"/>
                <a:cs typeface="Times New Roman" pitchFamily="18" charset="0"/>
              </a:rPr>
              <a:t> </a:t>
            </a:r>
            <a:r>
              <a:rPr lang="en-CA" dirty="0">
                <a:cs typeface="Times New Roman" pitchFamily="18" charset="0"/>
              </a:rPr>
              <a:t>is negatively dependent on </a:t>
            </a:r>
            <a:r>
              <a:rPr lang="en-CA" i="1" dirty="0">
                <a:latin typeface="+mj-lt"/>
                <a:cs typeface="Times New Roman" pitchFamily="18" charset="0"/>
              </a:rPr>
              <a:t>v</a:t>
            </a:r>
            <a:r>
              <a:rPr lang="en-CA" i="1" baseline="-25000" dirty="0">
                <a:latin typeface="+mj-lt"/>
                <a:cs typeface="Times New Roman" pitchFamily="18" charset="0"/>
              </a:rPr>
              <a:t>i</a:t>
            </a:r>
            <a:r>
              <a:rPr lang="en-CA" dirty="0">
                <a:cs typeface="Times New Roman" pitchFamily="18" charset="0"/>
              </a:rPr>
              <a:t>  </a:t>
            </a:r>
            <a:endParaRPr lang="en-US" dirty="0"/>
          </a:p>
        </p:txBody>
      </p:sp>
      <p:sp>
        <p:nvSpPr>
          <p:cNvPr id="2662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18,  Copyright © John C. Hull 2023</a:t>
            </a:r>
            <a:endParaRPr lang="en-US" altLang="en-US" sz="1400" i="0">
              <a:cs typeface="Arial" panose="020B0604020202020204" pitchFamily="34" charset="0"/>
            </a:endParaRPr>
          </a:p>
        </p:txBody>
      </p:sp>
      <p:sp>
        <p:nvSpPr>
          <p:cNvPr id="2662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8BC0C39-0271-46D3-9A73-9B73E3B14DC4}" type="slidenum">
              <a:rPr lang="en-US" altLang="en-US" sz="1800"/>
              <a:pPr>
                <a:spcBef>
                  <a:spcPct val="0"/>
                </a:spcBef>
                <a:buClrTx/>
                <a:buSzTx/>
                <a:buFontTx/>
                <a:buNone/>
              </a:pPr>
              <a:t>13</a:t>
            </a:fld>
            <a:endParaRPr lang="en-US" alt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539750" y="333375"/>
            <a:ext cx="7543800" cy="1295400"/>
          </a:xfrm>
        </p:spPr>
        <p:txBody>
          <a:bodyPr/>
          <a:lstStyle/>
          <a:p>
            <a:pPr eaLnBrk="1" hangingPunct="1"/>
            <a:r>
              <a:rPr lang="en-US" altLang="en-US"/>
              <a:t>Examples</a:t>
            </a:r>
          </a:p>
        </p:txBody>
      </p:sp>
      <p:sp>
        <p:nvSpPr>
          <p:cNvPr id="27651" name="Content Placeholder 2"/>
          <p:cNvSpPr>
            <a:spLocks noGrp="1"/>
          </p:cNvSpPr>
          <p:nvPr>
            <p:ph idx="1"/>
          </p:nvPr>
        </p:nvSpPr>
        <p:spPr/>
        <p:txBody>
          <a:bodyPr/>
          <a:lstStyle/>
          <a:p>
            <a:pPr eaLnBrk="1" hangingPunct="1"/>
            <a:r>
              <a:rPr lang="en-US" altLang="en-US"/>
              <a:t>Wrong-way risk typically occurs when</a:t>
            </a:r>
          </a:p>
          <a:p>
            <a:pPr lvl="1" eaLnBrk="1" hangingPunct="1"/>
            <a:r>
              <a:rPr lang="en-US" altLang="en-US"/>
              <a:t>Counterparty is selling credit protection</a:t>
            </a:r>
          </a:p>
          <a:p>
            <a:pPr lvl="1" eaLnBrk="1" hangingPunct="1"/>
            <a:r>
              <a:rPr lang="en-US" altLang="en-US"/>
              <a:t>Counterparty is a hedge fund taking a big speculative positions</a:t>
            </a:r>
          </a:p>
          <a:p>
            <a:pPr eaLnBrk="1" hangingPunct="1"/>
            <a:r>
              <a:rPr lang="en-US" altLang="en-US"/>
              <a:t>Right-way risk typically occurs when </a:t>
            </a:r>
          </a:p>
          <a:p>
            <a:pPr lvl="1" eaLnBrk="1" hangingPunct="1"/>
            <a:r>
              <a:rPr lang="en-US" altLang="en-US"/>
              <a:t>Counterparty is buying credit protection</a:t>
            </a:r>
          </a:p>
          <a:p>
            <a:pPr lvl="1" eaLnBrk="1" hangingPunct="1"/>
            <a:r>
              <a:rPr lang="en-US" altLang="en-US"/>
              <a:t>Counterparty is partially hedging a major exposure</a:t>
            </a:r>
          </a:p>
          <a:p>
            <a:pPr lvl="1" eaLnBrk="1" hangingPunct="1"/>
            <a:endParaRPr lang="en-US" altLang="en-US"/>
          </a:p>
          <a:p>
            <a:pPr eaLnBrk="1" hangingPunct="1">
              <a:buFontTx/>
              <a:buNone/>
            </a:pPr>
            <a:endParaRPr lang="en-US" altLang="en-US"/>
          </a:p>
        </p:txBody>
      </p:sp>
      <p:sp>
        <p:nvSpPr>
          <p:cNvPr id="27653"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cs typeface="Arial" panose="020B0604020202020204" pitchFamily="34" charset="0"/>
              </a:rPr>
              <a:t>Risk Management and Financial Institutions 6e, Chapter 18,  Copyright © John C. Hull 2023</a:t>
            </a:r>
          </a:p>
        </p:txBody>
      </p:sp>
      <p:sp>
        <p:nvSpPr>
          <p:cNvPr id="2765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4AD261C-7E9F-4AB6-89EF-D87085D19A54}" type="slidenum">
              <a:rPr lang="en-US" altLang="en-US" sz="1800">
                <a:cs typeface="Arial" panose="020B0604020202020204" pitchFamily="34" charset="0"/>
              </a:rPr>
              <a:pPr>
                <a:spcBef>
                  <a:spcPct val="0"/>
                </a:spcBef>
                <a:buClrTx/>
                <a:buSzTx/>
                <a:buFontTx/>
                <a:buNone/>
              </a:pPr>
              <a:t>14</a:t>
            </a:fld>
            <a:endParaRPr lang="en-US" altLang="en-US" sz="180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304800" y="762000"/>
            <a:ext cx="7772400" cy="1143000"/>
          </a:xfrm>
        </p:spPr>
        <p:txBody>
          <a:bodyPr/>
          <a:lstStyle/>
          <a:p>
            <a:pPr eaLnBrk="1" hangingPunct="1"/>
            <a:r>
              <a:rPr lang="en-US" altLang="en-US" sz="3600"/>
              <a:t>Problems in Estimating Wrong Way/Right Way Risk</a:t>
            </a:r>
          </a:p>
        </p:txBody>
      </p:sp>
      <p:sp>
        <p:nvSpPr>
          <p:cNvPr id="28675" name="Content Placeholder 2"/>
          <p:cNvSpPr>
            <a:spLocks noGrp="1"/>
          </p:cNvSpPr>
          <p:nvPr>
            <p:ph idx="1"/>
          </p:nvPr>
        </p:nvSpPr>
        <p:spPr>
          <a:xfrm>
            <a:off x="685800" y="1981200"/>
            <a:ext cx="7772400" cy="4114800"/>
          </a:xfrm>
        </p:spPr>
        <p:txBody>
          <a:bodyPr/>
          <a:lstStyle/>
          <a:p>
            <a:pPr eaLnBrk="1" hangingPunct="1"/>
            <a:r>
              <a:rPr lang="en-US" altLang="en-US"/>
              <a:t>Knowing trades counterparty is doing with other dealers</a:t>
            </a:r>
          </a:p>
          <a:p>
            <a:pPr eaLnBrk="1" hangingPunct="1"/>
            <a:r>
              <a:rPr lang="en-US" altLang="en-US"/>
              <a:t>Knowing how different market variables influence the fortunes of the counterparty</a:t>
            </a:r>
          </a:p>
        </p:txBody>
      </p:sp>
      <p:sp>
        <p:nvSpPr>
          <p:cNvPr id="28677"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cs typeface="Arial" panose="020B0604020202020204" pitchFamily="34" charset="0"/>
              </a:rPr>
              <a:t>Risk Management and Financial Institutions 6e, Chapter 18,  Copyright © John C. Hull 2023</a:t>
            </a:r>
          </a:p>
        </p:txBody>
      </p:sp>
      <p:sp>
        <p:nvSpPr>
          <p:cNvPr id="2867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8203A5F-820E-4D63-BB97-7644B3C96A82}" type="slidenum">
              <a:rPr lang="en-US" altLang="en-US" sz="1800">
                <a:cs typeface="Arial" panose="020B0604020202020204" pitchFamily="34" charset="0"/>
              </a:rPr>
              <a:pPr>
                <a:spcBef>
                  <a:spcPct val="0"/>
                </a:spcBef>
                <a:buClrTx/>
                <a:buSzTx/>
                <a:buFontTx/>
                <a:buNone/>
              </a:pPr>
              <a:t>15</a:t>
            </a:fld>
            <a:endParaRPr lang="en-US" altLang="en-US" sz="180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CA" altLang="en-US"/>
              <a:t>Allowing for Wrong-Way risk</a:t>
            </a:r>
            <a:endParaRPr lang="en-US" altLang="en-US"/>
          </a:p>
        </p:txBody>
      </p:sp>
      <p:sp>
        <p:nvSpPr>
          <p:cNvPr id="29699" name="Content Placeholder 6"/>
          <p:cNvSpPr>
            <a:spLocks noGrp="1"/>
          </p:cNvSpPr>
          <p:nvPr>
            <p:ph idx="1"/>
          </p:nvPr>
        </p:nvSpPr>
        <p:spPr/>
        <p:txBody>
          <a:bodyPr/>
          <a:lstStyle/>
          <a:p>
            <a:pPr eaLnBrk="1" hangingPunct="1"/>
            <a:r>
              <a:rPr lang="en-CA" altLang="en-US" dirty="0"/>
              <a:t>One common approach is to use the “alpha” multiplier to increase the </a:t>
            </a:r>
            <a:r>
              <a:rPr lang="en-CA" altLang="en-US" i="1" dirty="0">
                <a:latin typeface="Times New Roman" panose="02020603050405020304" pitchFamily="18" charset="0"/>
                <a:cs typeface="Times New Roman" panose="02020603050405020304" pitchFamily="18" charset="0"/>
              </a:rPr>
              <a:t>v</a:t>
            </a:r>
            <a:r>
              <a:rPr lang="en-CA" altLang="en-US" dirty="0"/>
              <a:t>’s</a:t>
            </a:r>
          </a:p>
          <a:p>
            <a:pPr eaLnBrk="1" hangingPunct="1"/>
            <a:r>
              <a:rPr lang="en-CA" altLang="en-US" dirty="0"/>
              <a:t>Estimates of 1.07 to 1.1 for alpha obtained from banks</a:t>
            </a:r>
          </a:p>
          <a:p>
            <a:pPr eaLnBrk="1" hangingPunct="1"/>
            <a:r>
              <a:rPr lang="en-CA" altLang="en-US" dirty="0"/>
              <a:t>Regulators set alpha equal to 1.4 or allows banks to use their own models, with a floor of 1.2</a:t>
            </a:r>
            <a:endParaRPr lang="en-US" altLang="en-US" dirty="0"/>
          </a:p>
        </p:txBody>
      </p:sp>
      <p:sp>
        <p:nvSpPr>
          <p:cNvPr id="29701"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cs typeface="Arial" panose="020B0604020202020204" pitchFamily="34" charset="0"/>
              </a:rPr>
              <a:t>Risk Management and Financial Institutions 6e, Chapter 18,  Copyright © John C. Hull 2023</a:t>
            </a:r>
          </a:p>
        </p:txBody>
      </p:sp>
      <p:sp>
        <p:nvSpPr>
          <p:cNvPr id="2970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5B00FB2-1A99-4562-9517-25E9A70116B1}" type="slidenum">
              <a:rPr lang="en-US" altLang="en-US" sz="1800">
                <a:cs typeface="Arial" panose="020B0604020202020204" pitchFamily="34" charset="0"/>
              </a:rPr>
              <a:pPr>
                <a:spcBef>
                  <a:spcPct val="0"/>
                </a:spcBef>
                <a:buClrTx/>
                <a:buSzTx/>
                <a:buFontTx/>
                <a:buNone/>
              </a:pPr>
              <a:t>16</a:t>
            </a:fld>
            <a:endParaRPr lang="en-US" altLang="en-US" sz="180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CA" altLang="en-US" dirty="0"/>
              <a:t>DVA</a:t>
            </a:r>
            <a:endParaRPr lang="en-US" altLang="en-US" dirty="0"/>
          </a:p>
        </p:txBody>
      </p:sp>
      <p:sp>
        <p:nvSpPr>
          <p:cNvPr id="30723" name="Content Placeholder 2"/>
          <p:cNvSpPr>
            <a:spLocks noGrp="1"/>
          </p:cNvSpPr>
          <p:nvPr>
            <p:ph idx="1"/>
          </p:nvPr>
        </p:nvSpPr>
        <p:spPr>
          <a:xfrm>
            <a:off x="395288" y="1773238"/>
            <a:ext cx="7772400" cy="4114800"/>
          </a:xfrm>
        </p:spPr>
        <p:txBody>
          <a:bodyPr/>
          <a:lstStyle/>
          <a:p>
            <a:pPr eaLnBrk="1" hangingPunct="1"/>
            <a:r>
              <a:rPr lang="en-CA" altLang="en-US" sz="2800"/>
              <a:t>Debit (or debt) value adjustment (DVA) is an estimate of the cost to the counterparty of a default by the dealer</a:t>
            </a:r>
          </a:p>
          <a:p>
            <a:pPr eaLnBrk="1" hangingPunct="1"/>
            <a:r>
              <a:rPr lang="en-CA" altLang="en-US" sz="2800"/>
              <a:t>Same formulas apply except that </a:t>
            </a:r>
            <a:r>
              <a:rPr lang="en-CA" altLang="en-US" sz="2800" i="1">
                <a:latin typeface="Times New Roman" panose="02020603050405020304" pitchFamily="18" charset="0"/>
                <a:cs typeface="Times New Roman" panose="02020603050405020304" pitchFamily="18" charset="0"/>
              </a:rPr>
              <a:t>v</a:t>
            </a:r>
            <a:r>
              <a:rPr lang="en-CA" altLang="en-US" sz="2800"/>
              <a:t> is counterparty’s exposure to dealer and </a:t>
            </a:r>
            <a:r>
              <a:rPr lang="en-CA" altLang="en-US" sz="2800" i="1">
                <a:latin typeface="Times New Roman" panose="02020603050405020304" pitchFamily="18" charset="0"/>
                <a:cs typeface="Times New Roman" panose="02020603050405020304" pitchFamily="18" charset="0"/>
              </a:rPr>
              <a:t>q</a:t>
            </a:r>
            <a:r>
              <a:rPr lang="en-CA" altLang="en-US" sz="2800"/>
              <a:t> is dealer’s probability of default</a:t>
            </a:r>
          </a:p>
          <a:p>
            <a:pPr eaLnBrk="1" hangingPunct="1"/>
            <a:r>
              <a:rPr lang="en-CA" altLang="en-US" sz="2800"/>
              <a:t>Accounting value  of transactions with counterparty =  No default value – CVA + DVA</a:t>
            </a:r>
            <a:endParaRPr lang="en-US" altLang="en-US" sz="2800"/>
          </a:p>
        </p:txBody>
      </p:sp>
      <p:sp>
        <p:nvSpPr>
          <p:cNvPr id="30725"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cs typeface="Arial" panose="020B0604020202020204" pitchFamily="34" charset="0"/>
              </a:rPr>
              <a:t>Risk Management and Financial Institutions 6e, Chapter 18,  Copyright © John C. Hull 2023</a:t>
            </a:r>
          </a:p>
        </p:txBody>
      </p:sp>
      <p:sp>
        <p:nvSpPr>
          <p:cNvPr id="307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4AEDCC4-F331-449B-A93C-FF7AFB6D66E7}" type="slidenum">
              <a:rPr lang="en-US" altLang="en-US" sz="1800">
                <a:cs typeface="Arial" panose="020B0604020202020204" pitchFamily="34" charset="0"/>
              </a:rPr>
              <a:pPr>
                <a:spcBef>
                  <a:spcPct val="0"/>
                </a:spcBef>
                <a:buClrTx/>
                <a:buSzTx/>
                <a:buFontTx/>
                <a:buNone/>
              </a:pPr>
              <a:t>17</a:t>
            </a:fld>
            <a:endParaRPr lang="en-US" altLang="en-US" sz="180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a:t>DVA</a:t>
            </a:r>
            <a:r>
              <a:rPr lang="en-US" altLang="en-US" sz="2000"/>
              <a:t> continued</a:t>
            </a:r>
          </a:p>
        </p:txBody>
      </p:sp>
      <p:sp>
        <p:nvSpPr>
          <p:cNvPr id="31747" name="Content Placeholder 2"/>
          <p:cNvSpPr>
            <a:spLocks noGrp="1"/>
          </p:cNvSpPr>
          <p:nvPr>
            <p:ph idx="1"/>
          </p:nvPr>
        </p:nvSpPr>
        <p:spPr/>
        <p:txBody>
          <a:bodyPr/>
          <a:lstStyle/>
          <a:p>
            <a:r>
              <a:rPr lang="en-US" altLang="en-US"/>
              <a:t>What happens to the reported value of transactions as dealer’s credit spread increases?</a:t>
            </a:r>
          </a:p>
        </p:txBody>
      </p:sp>
      <p:sp>
        <p:nvSpPr>
          <p:cNvPr id="317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18,  Copyright © John C. Hull 2023</a:t>
            </a:r>
            <a:endParaRPr lang="en-US" altLang="en-US" sz="1400" i="0">
              <a:cs typeface="Arial" panose="020B0604020202020204" pitchFamily="34" charset="0"/>
            </a:endParaRPr>
          </a:p>
        </p:txBody>
      </p:sp>
      <p:sp>
        <p:nvSpPr>
          <p:cNvPr id="317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66CC16C-127C-4BFB-89C7-302D689FD47A}" type="slidenum">
              <a:rPr lang="en-US" altLang="en-US" sz="1800"/>
              <a:pPr>
                <a:spcBef>
                  <a:spcPct val="0"/>
                </a:spcBef>
                <a:buClrTx/>
                <a:buSzTx/>
                <a:buFontTx/>
                <a:buNone/>
              </a:pPr>
              <a:t>18</a:t>
            </a:fld>
            <a:endParaRPr lang="en-US" alt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457200" y="304800"/>
            <a:ext cx="7543800" cy="1600200"/>
          </a:xfrm>
        </p:spPr>
        <p:txBody>
          <a:bodyPr/>
          <a:lstStyle/>
          <a:p>
            <a:pPr eaLnBrk="1" hangingPunct="1"/>
            <a:r>
              <a:rPr lang="en-US" altLang="en-US" sz="3200" dirty="0"/>
              <a:t>Expected Exposure on Pair of Offsetting Interest Rate Swaps and a Pair of Offsetting Currency Swaps with No Collateral Posted </a:t>
            </a:r>
            <a:r>
              <a:rPr lang="en-US" altLang="en-US" sz="2000" dirty="0"/>
              <a:t>(Figure 18.1)</a:t>
            </a:r>
            <a:endParaRPr lang="en-CA" altLang="en-US" sz="2000" dirty="0"/>
          </a:p>
        </p:txBody>
      </p:sp>
      <p:sp>
        <p:nvSpPr>
          <p:cNvPr id="3277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18,  Copyright © John C. Hull 2023</a:t>
            </a:r>
            <a:endParaRPr lang="en-US" altLang="en-US" sz="1400" i="0">
              <a:cs typeface="Arial" panose="020B0604020202020204" pitchFamily="34" charset="0"/>
            </a:endParaRPr>
          </a:p>
        </p:txBody>
      </p:sp>
      <p:sp>
        <p:nvSpPr>
          <p:cNvPr id="32783" name="Slide Number Placeholder 1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620126A-9A3E-41FC-8CB4-04C0F091E310}" type="slidenum">
              <a:rPr lang="en-US" altLang="en-US" sz="1800"/>
              <a:pPr>
                <a:spcBef>
                  <a:spcPct val="0"/>
                </a:spcBef>
                <a:buClrTx/>
                <a:buSzTx/>
                <a:buFontTx/>
                <a:buNone/>
              </a:pPr>
              <a:t>19</a:t>
            </a:fld>
            <a:endParaRPr lang="en-US" altLang="en-US" sz="1800"/>
          </a:p>
        </p:txBody>
      </p:sp>
      <p:sp>
        <p:nvSpPr>
          <p:cNvPr id="32772" name="Line 3"/>
          <p:cNvSpPr>
            <a:spLocks noChangeShapeType="1"/>
          </p:cNvSpPr>
          <p:nvPr/>
        </p:nvSpPr>
        <p:spPr bwMode="auto">
          <a:xfrm>
            <a:off x="1752600" y="2133600"/>
            <a:ext cx="0" cy="3581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spAutoFit/>
          </a:bodyPr>
          <a:lstStyle/>
          <a:p>
            <a:endParaRPr lang="en-US"/>
          </a:p>
        </p:txBody>
      </p:sp>
      <p:sp>
        <p:nvSpPr>
          <p:cNvPr id="32773" name="Line 4"/>
          <p:cNvSpPr>
            <a:spLocks noChangeShapeType="1"/>
          </p:cNvSpPr>
          <p:nvPr/>
        </p:nvSpPr>
        <p:spPr bwMode="auto">
          <a:xfrm>
            <a:off x="1752600" y="5715000"/>
            <a:ext cx="525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spAutoFit/>
          </a:bodyPr>
          <a:lstStyle/>
          <a:p>
            <a:endParaRPr lang="en-US"/>
          </a:p>
        </p:txBody>
      </p:sp>
      <p:sp>
        <p:nvSpPr>
          <p:cNvPr id="32774" name="Arc 20"/>
          <p:cNvSpPr>
            <a:spLocks/>
          </p:cNvSpPr>
          <p:nvPr/>
        </p:nvSpPr>
        <p:spPr bwMode="auto">
          <a:xfrm rot="417041">
            <a:off x="3741738" y="5110163"/>
            <a:ext cx="2516187" cy="369887"/>
          </a:xfrm>
          <a:custGeom>
            <a:avLst/>
            <a:gdLst>
              <a:gd name="T0" fmla="*/ 0 w 20642"/>
              <a:gd name="T1" fmla="*/ 0 h 21600"/>
              <a:gd name="T2" fmla="*/ 2147483647 w 20642"/>
              <a:gd name="T3" fmla="*/ 2147483647 h 21600"/>
              <a:gd name="T4" fmla="*/ 0 w 20642"/>
              <a:gd name="T5" fmla="*/ 2147483647 h 21600"/>
              <a:gd name="T6" fmla="*/ 0 60000 65536"/>
              <a:gd name="T7" fmla="*/ 0 60000 65536"/>
              <a:gd name="T8" fmla="*/ 0 60000 65536"/>
              <a:gd name="T9" fmla="*/ 0 w 20642"/>
              <a:gd name="T10" fmla="*/ 0 h 21600"/>
              <a:gd name="T11" fmla="*/ 20642 w 20642"/>
              <a:gd name="T12" fmla="*/ 21600 h 21600"/>
            </a:gdLst>
            <a:ahLst/>
            <a:cxnLst>
              <a:cxn ang="T6">
                <a:pos x="T0" y="T1"/>
              </a:cxn>
              <a:cxn ang="T7">
                <a:pos x="T2" y="T3"/>
              </a:cxn>
              <a:cxn ang="T8">
                <a:pos x="T4" y="T5"/>
              </a:cxn>
            </a:cxnLst>
            <a:rect l="T9" t="T10" r="T11" b="T12"/>
            <a:pathLst>
              <a:path w="20642" h="21600" fill="none" extrusionOk="0">
                <a:moveTo>
                  <a:pt x="-1" y="0"/>
                </a:moveTo>
                <a:cubicBezTo>
                  <a:pt x="9479" y="0"/>
                  <a:pt x="17850" y="6180"/>
                  <a:pt x="20642" y="15238"/>
                </a:cubicBezTo>
              </a:path>
              <a:path w="20642" h="21600" stroke="0" extrusionOk="0">
                <a:moveTo>
                  <a:pt x="-1" y="0"/>
                </a:moveTo>
                <a:cubicBezTo>
                  <a:pt x="9479" y="0"/>
                  <a:pt x="17850" y="6180"/>
                  <a:pt x="20642" y="15238"/>
                </a:cubicBezTo>
                <a:lnTo>
                  <a:pt x="0" y="21600"/>
                </a:lnTo>
                <a:lnTo>
                  <a:pt x="-1"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p>
            <a:endParaRPr lang="en-US"/>
          </a:p>
        </p:txBody>
      </p:sp>
      <p:sp>
        <p:nvSpPr>
          <p:cNvPr id="32775" name="Arc 21"/>
          <p:cNvSpPr>
            <a:spLocks/>
          </p:cNvSpPr>
          <p:nvPr/>
        </p:nvSpPr>
        <p:spPr bwMode="auto">
          <a:xfrm flipH="1">
            <a:off x="1752600" y="4953000"/>
            <a:ext cx="1981200" cy="8382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p>
            <a:endParaRPr lang="en-US"/>
          </a:p>
        </p:txBody>
      </p:sp>
      <p:sp>
        <p:nvSpPr>
          <p:cNvPr id="32776" name="Arc 46"/>
          <p:cNvSpPr>
            <a:spLocks/>
          </p:cNvSpPr>
          <p:nvPr/>
        </p:nvSpPr>
        <p:spPr bwMode="auto">
          <a:xfrm rot="-4782242">
            <a:off x="2678112" y="2565401"/>
            <a:ext cx="2892425" cy="4286250"/>
          </a:xfrm>
          <a:custGeom>
            <a:avLst/>
            <a:gdLst>
              <a:gd name="T0" fmla="*/ 0 w 23484"/>
              <a:gd name="T1" fmla="*/ 2147483647 h 21600"/>
              <a:gd name="T2" fmla="*/ 2147483647 w 23484"/>
              <a:gd name="T3" fmla="*/ 2147483647 h 21600"/>
              <a:gd name="T4" fmla="*/ 2147483647 w 23484"/>
              <a:gd name="T5" fmla="*/ 2147483647 h 21600"/>
              <a:gd name="T6" fmla="*/ 0 60000 65536"/>
              <a:gd name="T7" fmla="*/ 0 60000 65536"/>
              <a:gd name="T8" fmla="*/ 0 60000 65536"/>
              <a:gd name="T9" fmla="*/ 0 w 23484"/>
              <a:gd name="T10" fmla="*/ 0 h 21600"/>
              <a:gd name="T11" fmla="*/ 23484 w 23484"/>
              <a:gd name="T12" fmla="*/ 21600 h 21600"/>
            </a:gdLst>
            <a:ahLst/>
            <a:cxnLst>
              <a:cxn ang="T6">
                <a:pos x="T0" y="T1"/>
              </a:cxn>
              <a:cxn ang="T7">
                <a:pos x="T2" y="T3"/>
              </a:cxn>
              <a:cxn ang="T8">
                <a:pos x="T4" y="T5"/>
              </a:cxn>
            </a:cxnLst>
            <a:rect l="T9" t="T10" r="T11" b="T12"/>
            <a:pathLst>
              <a:path w="23484" h="21600" fill="none" extrusionOk="0">
                <a:moveTo>
                  <a:pt x="-1" y="87"/>
                </a:moveTo>
                <a:cubicBezTo>
                  <a:pt x="646" y="29"/>
                  <a:pt x="1295" y="-1"/>
                  <a:pt x="1945" y="0"/>
                </a:cubicBezTo>
                <a:cubicBezTo>
                  <a:pt x="13246" y="0"/>
                  <a:pt x="22637" y="8712"/>
                  <a:pt x="23484" y="19981"/>
                </a:cubicBezTo>
              </a:path>
              <a:path w="23484" h="21600" stroke="0" extrusionOk="0">
                <a:moveTo>
                  <a:pt x="-1" y="87"/>
                </a:moveTo>
                <a:cubicBezTo>
                  <a:pt x="646" y="29"/>
                  <a:pt x="1295" y="-1"/>
                  <a:pt x="1945" y="0"/>
                </a:cubicBezTo>
                <a:cubicBezTo>
                  <a:pt x="13246" y="0"/>
                  <a:pt x="22637" y="8712"/>
                  <a:pt x="23484" y="19981"/>
                </a:cubicBezTo>
                <a:lnTo>
                  <a:pt x="1945" y="21600"/>
                </a:lnTo>
                <a:lnTo>
                  <a:pt x="-1" y="87"/>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p>
            <a:endParaRPr lang="en-US"/>
          </a:p>
        </p:txBody>
      </p:sp>
      <p:sp>
        <p:nvSpPr>
          <p:cNvPr id="32777" name="Text Box 47"/>
          <p:cNvSpPr txBox="1">
            <a:spLocks noChangeArrowheads="1"/>
          </p:cNvSpPr>
          <p:nvPr/>
        </p:nvSpPr>
        <p:spPr bwMode="auto">
          <a:xfrm>
            <a:off x="1752600" y="22860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t>Exposure</a:t>
            </a:r>
            <a:endParaRPr lang="en-CA" altLang="en-US" sz="1800"/>
          </a:p>
        </p:txBody>
      </p:sp>
      <p:sp>
        <p:nvSpPr>
          <p:cNvPr id="32778" name="Text Box 48"/>
          <p:cNvSpPr txBox="1">
            <a:spLocks noChangeArrowheads="1"/>
          </p:cNvSpPr>
          <p:nvPr/>
        </p:nvSpPr>
        <p:spPr bwMode="auto">
          <a:xfrm>
            <a:off x="5486400" y="5791200"/>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t>Maturity</a:t>
            </a:r>
            <a:endParaRPr lang="en-CA" altLang="en-US" sz="1800"/>
          </a:p>
        </p:txBody>
      </p:sp>
      <p:sp>
        <p:nvSpPr>
          <p:cNvPr id="32779" name="Text Box 49"/>
          <p:cNvSpPr txBox="1">
            <a:spLocks noChangeArrowheads="1"/>
          </p:cNvSpPr>
          <p:nvPr/>
        </p:nvSpPr>
        <p:spPr bwMode="auto">
          <a:xfrm>
            <a:off x="5715000" y="2667000"/>
            <a:ext cx="1219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t>Currency swaps</a:t>
            </a:r>
            <a:endParaRPr lang="en-CA" altLang="en-US" sz="1800"/>
          </a:p>
        </p:txBody>
      </p:sp>
      <p:sp>
        <p:nvSpPr>
          <p:cNvPr id="32780" name="Line 50"/>
          <p:cNvSpPr>
            <a:spLocks noChangeShapeType="1"/>
          </p:cNvSpPr>
          <p:nvPr/>
        </p:nvSpPr>
        <p:spPr bwMode="auto">
          <a:xfrm flipH="1">
            <a:off x="5486400" y="3048000"/>
            <a:ext cx="381000" cy="4572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lIns="92075" tIns="46038" rIns="92075" bIns="46038">
            <a:spAutoFit/>
          </a:bodyPr>
          <a:lstStyle/>
          <a:p>
            <a:endParaRPr lang="en-US"/>
          </a:p>
        </p:txBody>
      </p:sp>
      <p:sp>
        <p:nvSpPr>
          <p:cNvPr id="32781" name="Text Box 51"/>
          <p:cNvSpPr txBox="1">
            <a:spLocks noChangeArrowheads="1"/>
          </p:cNvSpPr>
          <p:nvPr/>
        </p:nvSpPr>
        <p:spPr bwMode="auto">
          <a:xfrm>
            <a:off x="5867400" y="4419600"/>
            <a:ext cx="1676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t>Interest Rate Swaps</a:t>
            </a:r>
            <a:endParaRPr lang="en-CA" altLang="en-US" sz="1800"/>
          </a:p>
        </p:txBody>
      </p:sp>
      <p:sp>
        <p:nvSpPr>
          <p:cNvPr id="32782" name="Line 52"/>
          <p:cNvSpPr>
            <a:spLocks noChangeShapeType="1"/>
          </p:cNvSpPr>
          <p:nvPr/>
        </p:nvSpPr>
        <p:spPr bwMode="auto">
          <a:xfrm flipH="1">
            <a:off x="5562600" y="4800600"/>
            <a:ext cx="457200" cy="3810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lIns="92075" tIns="46038" rIns="92075" bIns="46038">
            <a:spAutoFit/>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en-US" altLang="en-US"/>
              <a:t>Interest Rate vs Currency Swaps</a:t>
            </a:r>
          </a:p>
        </p:txBody>
      </p:sp>
      <p:sp>
        <p:nvSpPr>
          <p:cNvPr id="33796" name="Rectangle 3"/>
          <p:cNvSpPr>
            <a:spLocks noGrp="1" noChangeArrowheads="1"/>
          </p:cNvSpPr>
          <p:nvPr>
            <p:ph idx="1"/>
          </p:nvPr>
        </p:nvSpPr>
        <p:spPr/>
        <p:txBody>
          <a:bodyPr/>
          <a:lstStyle/>
          <a:p>
            <a:pPr eaLnBrk="1" hangingPunct="1"/>
            <a:r>
              <a:rPr lang="en-US" altLang="en-US"/>
              <a:t>The </a:t>
            </a:r>
            <a:r>
              <a:rPr lang="en-US" altLang="en-US" i="1">
                <a:latin typeface="Times New Roman" panose="02020603050405020304" pitchFamily="18" charset="0"/>
              </a:rPr>
              <a:t>q</a:t>
            </a:r>
            <a:r>
              <a:rPr lang="en-US" altLang="en-US" i="1" baseline="-25000">
                <a:latin typeface="Times New Roman" panose="02020603050405020304" pitchFamily="18" charset="0"/>
              </a:rPr>
              <a:t>i</a:t>
            </a:r>
            <a:r>
              <a:rPr lang="en-US" altLang="en-US"/>
              <a:t>’s are the same for both</a:t>
            </a:r>
          </a:p>
          <a:p>
            <a:pPr eaLnBrk="1" hangingPunct="1"/>
            <a:r>
              <a:rPr lang="en-US" altLang="en-US"/>
              <a:t>The </a:t>
            </a:r>
            <a:r>
              <a:rPr lang="en-US" altLang="en-US" i="1">
                <a:latin typeface="Times New Roman" panose="02020603050405020304" pitchFamily="18" charset="0"/>
              </a:rPr>
              <a:t>v</a:t>
            </a:r>
            <a:r>
              <a:rPr lang="en-US" altLang="en-US" i="1" baseline="-25000">
                <a:latin typeface="Times New Roman" panose="02020603050405020304" pitchFamily="18" charset="0"/>
              </a:rPr>
              <a:t>i</a:t>
            </a:r>
            <a:r>
              <a:rPr lang="en-US" altLang="en-US"/>
              <a:t>’s for an interest rate swap are on average much less than the </a:t>
            </a:r>
            <a:r>
              <a:rPr lang="en-US" altLang="en-US" i="1">
                <a:latin typeface="Times New Roman" panose="02020603050405020304" pitchFamily="18" charset="0"/>
              </a:rPr>
              <a:t>v</a:t>
            </a:r>
            <a:r>
              <a:rPr lang="en-US" altLang="en-US" i="1" baseline="-25000">
                <a:latin typeface="Times New Roman" panose="02020603050405020304" pitchFamily="18" charset="0"/>
              </a:rPr>
              <a:t>i</a:t>
            </a:r>
            <a:r>
              <a:rPr lang="en-US" altLang="en-US"/>
              <a:t>’s for a currency swap</a:t>
            </a:r>
          </a:p>
          <a:p>
            <a:pPr eaLnBrk="1" hangingPunct="1"/>
            <a:r>
              <a:rPr lang="en-US" altLang="en-US"/>
              <a:t>The expected cost of defaults on a currency swap is therefore greater.</a:t>
            </a:r>
          </a:p>
        </p:txBody>
      </p:sp>
      <p:sp>
        <p:nvSpPr>
          <p:cNvPr id="3379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18,  Copyright © John C. Hull 2023</a:t>
            </a:r>
            <a:endParaRPr lang="en-US" altLang="en-US" sz="1400" i="0">
              <a:cs typeface="Arial" panose="020B0604020202020204" pitchFamily="34" charset="0"/>
            </a:endParaRPr>
          </a:p>
        </p:txBody>
      </p:sp>
      <p:sp>
        <p:nvSpPr>
          <p:cNvPr id="337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650B885-632C-4120-B517-3FDF6954E3A1}" type="slidenum">
              <a:rPr lang="en-US" altLang="en-US" sz="1800"/>
              <a:pPr>
                <a:spcBef>
                  <a:spcPct val="0"/>
                </a:spcBef>
                <a:buClrTx/>
                <a:buSzTx/>
                <a:buFontTx/>
                <a:buNone/>
              </a:pPr>
              <a:t>20</a:t>
            </a:fld>
            <a:endParaRPr lang="en-US" altLang="en-US" sz="1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sz="3200"/>
              <a:t>Simple Example: Single transaction which provides a payoff at time </a:t>
            </a:r>
            <a:r>
              <a:rPr lang="en-US" altLang="en-US" sz="3200" i="1"/>
              <a:t>T</a:t>
            </a:r>
            <a:r>
              <a:rPr lang="en-US" altLang="en-US" sz="3200"/>
              <a:t> years and always has positive value to dealer</a:t>
            </a:r>
          </a:p>
        </p:txBody>
      </p:sp>
      <p:sp>
        <p:nvSpPr>
          <p:cNvPr id="3" name="Content Placeholder 2"/>
          <p:cNvSpPr>
            <a:spLocks noGrp="1"/>
          </p:cNvSpPr>
          <p:nvPr>
            <p:ph idx="1"/>
          </p:nvPr>
        </p:nvSpPr>
        <p:spPr/>
        <p:txBody>
          <a:bodyPr/>
          <a:lstStyle/>
          <a:p>
            <a:pPr>
              <a:defRPr/>
            </a:pPr>
            <a:r>
              <a:rPr lang="en-US" dirty="0"/>
              <a:t>CVA</a:t>
            </a:r>
            <a:r>
              <a:rPr lang="en-US" dirty="0">
                <a:latin typeface="+mj-lt"/>
              </a:rPr>
              <a:t> </a:t>
            </a:r>
            <a:r>
              <a:rPr lang="en-US" dirty="0"/>
              <a:t>has the effect of multiplying value of transaction by </a:t>
            </a:r>
            <a:r>
              <a:rPr lang="en-US" i="1" dirty="0">
                <a:latin typeface="+mj-lt"/>
              </a:rPr>
              <a:t>e</a:t>
            </a:r>
            <a:r>
              <a:rPr lang="en-US" i="1" baseline="30000" dirty="0">
                <a:latin typeface="+mj-lt"/>
              </a:rPr>
              <a:t>−</a:t>
            </a:r>
            <a:r>
              <a:rPr lang="en-US" i="1" baseline="30000" dirty="0" err="1">
                <a:latin typeface="+mj-lt"/>
              </a:rPr>
              <a:t>sT</a:t>
            </a:r>
            <a:r>
              <a:rPr lang="en-US" dirty="0">
                <a:latin typeface="+mj-lt"/>
              </a:rPr>
              <a:t> </a:t>
            </a:r>
            <a:r>
              <a:rPr lang="en-US" dirty="0"/>
              <a:t>where</a:t>
            </a:r>
            <a:r>
              <a:rPr lang="en-US" dirty="0">
                <a:latin typeface="+mj-lt"/>
              </a:rPr>
              <a:t> </a:t>
            </a:r>
            <a:r>
              <a:rPr lang="en-US" i="1" dirty="0">
                <a:latin typeface="+mj-lt"/>
              </a:rPr>
              <a:t>s</a:t>
            </a:r>
            <a:r>
              <a:rPr lang="en-US" dirty="0">
                <a:latin typeface="+mj-lt"/>
              </a:rPr>
              <a:t> </a:t>
            </a:r>
            <a:r>
              <a:rPr lang="en-US" dirty="0"/>
              <a:t>is spread between </a:t>
            </a:r>
            <a:r>
              <a:rPr lang="en-US" i="1" dirty="0">
                <a:latin typeface="+mj-lt"/>
              </a:rPr>
              <a:t>T</a:t>
            </a:r>
            <a:r>
              <a:rPr lang="en-US" dirty="0"/>
              <a:t>-year bond issued by counterparty and risk-free </a:t>
            </a:r>
            <a:r>
              <a:rPr lang="en-US" i="1" dirty="0">
                <a:latin typeface="+mj-lt"/>
              </a:rPr>
              <a:t>T</a:t>
            </a:r>
            <a:r>
              <a:rPr lang="en-US" dirty="0"/>
              <a:t>-year bond</a:t>
            </a:r>
          </a:p>
          <a:p>
            <a:pPr>
              <a:defRPr/>
            </a:pPr>
            <a:r>
              <a:rPr lang="en-US" dirty="0"/>
              <a:t>DVA is zero </a:t>
            </a:r>
            <a:endParaRPr lang="en-US" i="1" dirty="0"/>
          </a:p>
        </p:txBody>
      </p:sp>
      <p:sp>
        <p:nvSpPr>
          <p:cNvPr id="348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18,  Copyright © John C. Hull 2023</a:t>
            </a:r>
            <a:endParaRPr lang="en-US" altLang="en-US" sz="1400" i="0">
              <a:cs typeface="Arial" panose="020B0604020202020204" pitchFamily="34" charset="0"/>
            </a:endParaRPr>
          </a:p>
        </p:txBody>
      </p:sp>
      <p:sp>
        <p:nvSpPr>
          <p:cNvPr id="348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8CBAD9B-ED0F-42B2-82A8-15F8727D308B}" type="slidenum">
              <a:rPr lang="en-US" altLang="en-US" sz="1800"/>
              <a:pPr>
                <a:spcBef>
                  <a:spcPct val="0"/>
                </a:spcBef>
                <a:buClrTx/>
                <a:buSzTx/>
                <a:buFontTx/>
                <a:buNone/>
              </a:pPr>
              <a:t>21</a:t>
            </a:fld>
            <a:endParaRPr lang="en-US" altLang="en-US"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altLang="en-US" dirty="0"/>
              <a:t>Example 18.2</a:t>
            </a:r>
            <a:endParaRPr lang="en-US" altLang="en-US" sz="2000" dirty="0"/>
          </a:p>
        </p:txBody>
      </p:sp>
      <p:sp>
        <p:nvSpPr>
          <p:cNvPr id="3" name="Content Placeholder 2"/>
          <p:cNvSpPr>
            <a:spLocks noGrp="1"/>
          </p:cNvSpPr>
          <p:nvPr>
            <p:ph idx="1"/>
          </p:nvPr>
        </p:nvSpPr>
        <p:spPr/>
        <p:txBody>
          <a:bodyPr/>
          <a:lstStyle/>
          <a:p>
            <a:pPr eaLnBrk="1" hangingPunct="1">
              <a:defRPr/>
            </a:pPr>
            <a:r>
              <a:rPr lang="en-US" dirty="0"/>
              <a:t>A 2-year option sold by a counterparty to the dealer has a Black-Scholes value of $3</a:t>
            </a:r>
          </a:p>
          <a:p>
            <a:pPr eaLnBrk="1" hangingPunct="1">
              <a:defRPr/>
            </a:pPr>
            <a:r>
              <a:rPr lang="en-US" dirty="0"/>
              <a:t>Assume a 2 year zero coupon bond issued by the counterparty has a yield of 1.5% greater than the risk free rate</a:t>
            </a:r>
          </a:p>
          <a:p>
            <a:pPr eaLnBrk="1" hangingPunct="1">
              <a:defRPr/>
            </a:pPr>
            <a:r>
              <a:rPr lang="en-US" dirty="0"/>
              <a:t>If there is no collateral and there are no other transactions between the parties, value of option is 3</a:t>
            </a:r>
            <a:r>
              <a:rPr lang="en-US" i="1" dirty="0">
                <a:latin typeface="+mj-lt"/>
              </a:rPr>
              <a:t>e</a:t>
            </a:r>
            <a:r>
              <a:rPr lang="en-US" baseline="30000" dirty="0"/>
              <a:t>−0.015×2</a:t>
            </a:r>
            <a:r>
              <a:rPr lang="en-US" dirty="0"/>
              <a:t>=2.91</a:t>
            </a:r>
          </a:p>
        </p:txBody>
      </p:sp>
      <p:sp>
        <p:nvSpPr>
          <p:cNvPr id="3584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18,  Copyright © John C. Hull 2023</a:t>
            </a:r>
            <a:endParaRPr lang="en-US" altLang="en-US" sz="1400" i="0">
              <a:cs typeface="Arial" panose="020B0604020202020204" pitchFamily="34" charset="0"/>
            </a:endParaRPr>
          </a:p>
        </p:txBody>
      </p:sp>
      <p:sp>
        <p:nvSpPr>
          <p:cNvPr id="358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B539262-CEDF-44A4-BCB2-4356E71E41AF}" type="slidenum">
              <a:rPr lang="en-US" altLang="en-US" sz="1800"/>
              <a:pPr>
                <a:spcBef>
                  <a:spcPct val="0"/>
                </a:spcBef>
                <a:buClrTx/>
                <a:buSzTx/>
                <a:buFontTx/>
                <a:buNone/>
              </a:pPr>
              <a:t>22</a:t>
            </a:fld>
            <a:endParaRPr lang="en-US" altLang="en-US"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611188" y="115888"/>
            <a:ext cx="7543800" cy="1295400"/>
          </a:xfrm>
        </p:spPr>
        <p:txBody>
          <a:bodyPr/>
          <a:lstStyle/>
          <a:p>
            <a:r>
              <a:rPr lang="en-US" altLang="en-US" sz="3200" dirty="0"/>
              <a:t>Dealer Has Single Uncollateralized Long Forward with Counterparty</a:t>
            </a:r>
            <a:r>
              <a:rPr lang="en-US" altLang="en-US" sz="3600" dirty="0"/>
              <a:t> </a:t>
            </a:r>
            <a:r>
              <a:rPr lang="en-US" altLang="en-US" sz="2000" dirty="0"/>
              <a:t>(Section 18.7.3)</a:t>
            </a:r>
          </a:p>
        </p:txBody>
      </p:sp>
      <p:sp>
        <p:nvSpPr>
          <p:cNvPr id="3" name="Content Placeholder 2"/>
          <p:cNvSpPr>
            <a:spLocks noGrp="1"/>
          </p:cNvSpPr>
          <p:nvPr>
            <p:ph idx="1"/>
          </p:nvPr>
        </p:nvSpPr>
        <p:spPr>
          <a:xfrm>
            <a:off x="457200" y="1719263"/>
            <a:ext cx="8229600" cy="3941762"/>
          </a:xfrm>
        </p:spPr>
        <p:txBody>
          <a:bodyPr/>
          <a:lstStyle/>
          <a:p>
            <a:pPr>
              <a:defRPr/>
            </a:pPr>
            <a:r>
              <a:rPr lang="en-US" sz="2400" dirty="0"/>
              <a:t>The value of a long forward contract at time </a:t>
            </a:r>
            <a:r>
              <a:rPr lang="en-US" sz="2400" i="1" dirty="0">
                <a:latin typeface="+mj-lt"/>
              </a:rPr>
              <a:t>t</a:t>
            </a:r>
            <a:r>
              <a:rPr lang="en-US" sz="2400" dirty="0"/>
              <a:t> is	 </a:t>
            </a:r>
          </a:p>
          <a:p>
            <a:pPr>
              <a:buFont typeface="Wingdings" panose="05000000000000000000" pitchFamily="2" charset="2"/>
              <a:buNone/>
              <a:defRPr/>
            </a:pPr>
            <a:r>
              <a:rPr lang="en-US" sz="2400" dirty="0"/>
              <a:t>	(</a:t>
            </a:r>
            <a:r>
              <a:rPr lang="en-US" sz="2400" i="1" dirty="0">
                <a:latin typeface="+mj-lt"/>
              </a:rPr>
              <a:t>F</a:t>
            </a:r>
            <a:r>
              <a:rPr lang="en-US" sz="2400" i="1" baseline="-25000" dirty="0">
                <a:latin typeface="+mj-lt"/>
              </a:rPr>
              <a:t>t</a:t>
            </a:r>
            <a:r>
              <a:rPr lang="en-US" sz="2400" i="1" dirty="0">
                <a:latin typeface="+mj-lt"/>
              </a:rPr>
              <a:t>−K</a:t>
            </a:r>
            <a:r>
              <a:rPr lang="en-US" sz="2400" dirty="0">
                <a:latin typeface="+mj-lt"/>
              </a:rPr>
              <a:t>)</a:t>
            </a:r>
            <a:r>
              <a:rPr lang="en-US" sz="2400" i="1" dirty="0">
                <a:latin typeface="+mj-lt"/>
              </a:rPr>
              <a:t>e</a:t>
            </a:r>
            <a:r>
              <a:rPr lang="en-US" sz="2400" baseline="30000" dirty="0">
                <a:latin typeface="+mj-lt"/>
              </a:rPr>
              <a:t>−</a:t>
            </a:r>
            <a:r>
              <a:rPr lang="en-US" sz="2400" i="1" baseline="30000" dirty="0">
                <a:latin typeface="+mj-lt"/>
              </a:rPr>
              <a:t>r</a:t>
            </a:r>
            <a:r>
              <a:rPr lang="en-US" sz="2400" baseline="30000" dirty="0">
                <a:latin typeface="+mj-lt"/>
              </a:rPr>
              <a:t>(</a:t>
            </a:r>
            <a:r>
              <a:rPr lang="en-US" sz="2400" i="1" baseline="30000" dirty="0">
                <a:latin typeface="+mj-lt"/>
              </a:rPr>
              <a:t>T</a:t>
            </a:r>
            <a:r>
              <a:rPr lang="en-US" sz="2400" baseline="30000" dirty="0">
                <a:latin typeface="+mj-lt"/>
              </a:rPr>
              <a:t>−</a:t>
            </a:r>
            <a:r>
              <a:rPr lang="en-US" sz="2400" i="1" baseline="30000" dirty="0">
                <a:latin typeface="+mj-lt"/>
              </a:rPr>
              <a:t>t</a:t>
            </a:r>
            <a:r>
              <a:rPr lang="en-US" sz="2400" baseline="30000" dirty="0">
                <a:latin typeface="+mj-lt"/>
              </a:rPr>
              <a:t>)</a:t>
            </a:r>
            <a:endParaRPr lang="en-US" sz="2400" dirty="0">
              <a:latin typeface="+mj-lt"/>
            </a:endParaRPr>
          </a:p>
          <a:p>
            <a:pPr>
              <a:defRPr/>
            </a:pPr>
            <a:r>
              <a:rPr lang="en-US" sz="2400" dirty="0"/>
              <a:t>The exposure at time </a:t>
            </a:r>
            <a:r>
              <a:rPr lang="en-US" sz="2400" i="1" dirty="0">
                <a:latin typeface="+mj-lt"/>
              </a:rPr>
              <a:t>t</a:t>
            </a:r>
            <a:r>
              <a:rPr lang="en-US" sz="2400" dirty="0"/>
              <a:t> is </a:t>
            </a:r>
            <a:r>
              <a:rPr lang="en-US" sz="2400" i="1" dirty="0">
                <a:latin typeface="+mj-lt"/>
              </a:rPr>
              <a:t>e</a:t>
            </a:r>
            <a:r>
              <a:rPr lang="en-US" sz="2400" baseline="30000" dirty="0"/>
              <a:t>−</a:t>
            </a:r>
            <a:r>
              <a:rPr lang="en-US" sz="2400" i="1" baseline="30000" dirty="0"/>
              <a:t>r</a:t>
            </a:r>
            <a:r>
              <a:rPr lang="en-US" sz="2400" baseline="30000" dirty="0"/>
              <a:t>(</a:t>
            </a:r>
            <a:r>
              <a:rPr lang="en-US" sz="2400" i="1" baseline="30000" dirty="0"/>
              <a:t>T</a:t>
            </a:r>
            <a:r>
              <a:rPr lang="en-US" sz="2400" baseline="30000" dirty="0"/>
              <a:t>−</a:t>
            </a:r>
            <a:r>
              <a:rPr lang="en-US" sz="2400" i="1" baseline="30000" dirty="0"/>
              <a:t>t</a:t>
            </a:r>
            <a:r>
              <a:rPr lang="en-US" sz="2400" baseline="30000" dirty="0"/>
              <a:t>) </a:t>
            </a:r>
            <a:r>
              <a:rPr lang="en-US" sz="2400" dirty="0">
                <a:latin typeface="+mj-lt"/>
              </a:rPr>
              <a:t>max</a:t>
            </a:r>
            <a:r>
              <a:rPr lang="en-US" sz="2400" dirty="0"/>
              <a:t>(</a:t>
            </a:r>
            <a:r>
              <a:rPr lang="en-US" sz="2400" i="1" dirty="0">
                <a:latin typeface="+mj-lt"/>
              </a:rPr>
              <a:t>F</a:t>
            </a:r>
            <a:r>
              <a:rPr lang="en-US" sz="2400" i="1" baseline="-25000" dirty="0">
                <a:latin typeface="+mj-lt"/>
              </a:rPr>
              <a:t>t</a:t>
            </a:r>
            <a:r>
              <a:rPr lang="en-US" sz="2400" dirty="0"/>
              <a:t>−</a:t>
            </a:r>
            <a:r>
              <a:rPr lang="en-US" sz="2400" i="1" dirty="0">
                <a:latin typeface="+mj-lt"/>
              </a:rPr>
              <a:t>K</a:t>
            </a:r>
            <a:r>
              <a:rPr lang="en-US" sz="2400" dirty="0"/>
              <a:t>, 0)</a:t>
            </a:r>
          </a:p>
          <a:p>
            <a:pPr>
              <a:defRPr/>
            </a:pPr>
            <a:r>
              <a:rPr lang="en-CA" sz="2400" dirty="0"/>
              <a:t>Using the Black-Scholes-Merton result to calculate the present value of </a:t>
            </a:r>
            <a:r>
              <a:rPr lang="en-CA" sz="2400" i="1" dirty="0">
                <a:latin typeface="+mj-lt"/>
              </a:rPr>
              <a:t>E</a:t>
            </a:r>
            <a:r>
              <a:rPr lang="en-CA" sz="2400" dirty="0"/>
              <a:t>[</a:t>
            </a:r>
            <a:r>
              <a:rPr lang="en-US" sz="2400" dirty="0"/>
              <a:t>max(</a:t>
            </a:r>
            <a:r>
              <a:rPr lang="en-US" sz="2400" i="1" dirty="0">
                <a:latin typeface="+mj-lt"/>
              </a:rPr>
              <a:t>F</a:t>
            </a:r>
            <a:r>
              <a:rPr lang="en-US" sz="2400" i="1" baseline="-25000" dirty="0">
                <a:latin typeface="+mj-lt"/>
              </a:rPr>
              <a:t>t</a:t>
            </a:r>
            <a:r>
              <a:rPr lang="en-US" sz="2400" dirty="0"/>
              <a:t>−</a:t>
            </a:r>
            <a:r>
              <a:rPr lang="en-US" sz="2400" i="1" dirty="0">
                <a:latin typeface="+mj-lt"/>
              </a:rPr>
              <a:t>K</a:t>
            </a:r>
            <a:r>
              <a:rPr lang="en-US" sz="2400" dirty="0"/>
              <a:t>, 0)] gives</a:t>
            </a:r>
          </a:p>
          <a:p>
            <a:pPr>
              <a:buFont typeface="Wingdings" panose="05000000000000000000" pitchFamily="2" charset="2"/>
              <a:buNone/>
              <a:defRPr/>
            </a:pPr>
            <a:endParaRPr lang="en-CA" sz="2400" dirty="0"/>
          </a:p>
          <a:p>
            <a:pPr>
              <a:buFont typeface="Wingdings" panose="05000000000000000000" pitchFamily="2" charset="2"/>
              <a:buNone/>
              <a:defRPr/>
            </a:pPr>
            <a:endParaRPr lang="en-US" sz="2400" dirty="0"/>
          </a:p>
          <a:p>
            <a:pPr>
              <a:buFont typeface="Wingdings" panose="05000000000000000000" pitchFamily="2" charset="2"/>
              <a:buNone/>
              <a:defRPr/>
            </a:pPr>
            <a:endParaRPr lang="en-CA" sz="2400" dirty="0"/>
          </a:p>
          <a:p>
            <a:pPr>
              <a:buFont typeface="Wingdings" panose="05000000000000000000" pitchFamily="2" charset="2"/>
              <a:buNone/>
              <a:defRPr/>
            </a:pPr>
            <a:endParaRPr lang="en-CA" sz="2400" dirty="0"/>
          </a:p>
          <a:p>
            <a:pPr>
              <a:defRPr/>
            </a:pPr>
            <a:endParaRPr lang="en-US" sz="2800" dirty="0"/>
          </a:p>
          <a:p>
            <a:pPr>
              <a:defRPr/>
            </a:pPr>
            <a:endParaRPr lang="en-US" sz="2800" dirty="0"/>
          </a:p>
          <a:p>
            <a:pPr>
              <a:defRPr/>
            </a:pPr>
            <a:endParaRPr lang="en-US" sz="2800" dirty="0"/>
          </a:p>
          <a:p>
            <a:pPr>
              <a:buFont typeface="Wingdings" panose="05000000000000000000" pitchFamily="2" charset="2"/>
              <a:buNone/>
              <a:defRPr/>
            </a:pPr>
            <a:endParaRPr lang="en-US" sz="2800" dirty="0"/>
          </a:p>
          <a:p>
            <a:pPr>
              <a:defRPr/>
            </a:pPr>
            <a:endParaRPr lang="en-US" dirty="0"/>
          </a:p>
        </p:txBody>
      </p:sp>
      <p:sp>
        <p:nvSpPr>
          <p:cNvPr id="3686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18,  Copyright © John C. Hull 2023</a:t>
            </a:r>
            <a:endParaRPr lang="en-US" altLang="en-US" sz="1400" i="0">
              <a:cs typeface="Arial" panose="020B0604020202020204" pitchFamily="34" charset="0"/>
            </a:endParaRPr>
          </a:p>
        </p:txBody>
      </p:sp>
      <p:sp>
        <p:nvSpPr>
          <p:cNvPr id="3686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050B3E9-AD11-413B-913E-333F24EBB6B6}" type="slidenum">
              <a:rPr lang="en-US" altLang="en-US" sz="1800"/>
              <a:pPr>
                <a:spcBef>
                  <a:spcPct val="0"/>
                </a:spcBef>
                <a:buClrTx/>
                <a:buSzTx/>
                <a:buFontTx/>
                <a:buNone/>
              </a:pPr>
              <a:t>23</a:t>
            </a:fld>
            <a:endParaRPr lang="en-US" altLang="en-US" sz="1800"/>
          </a:p>
        </p:txBody>
      </p:sp>
      <p:graphicFrame>
        <p:nvGraphicFramePr>
          <p:cNvPr id="36870" name="Object 2"/>
          <p:cNvGraphicFramePr>
            <a:graphicFrameLocks noChangeAspect="1"/>
          </p:cNvGraphicFramePr>
          <p:nvPr/>
        </p:nvGraphicFramePr>
        <p:xfrm>
          <a:off x="1174750" y="4005263"/>
          <a:ext cx="6459538" cy="2144712"/>
        </p:xfrm>
        <a:graphic>
          <a:graphicData uri="http://schemas.openxmlformats.org/presentationml/2006/ole">
            <mc:AlternateContent xmlns:mc="http://schemas.openxmlformats.org/markup-compatibility/2006">
              <mc:Choice xmlns:v="urn:schemas-microsoft-com:vml" Requires="v">
                <p:oleObj spid="_x0000_s3074" name="Equation" r:id="rId4" imgW="2946400" imgH="977900" progId="Equation.3">
                  <p:embed/>
                </p:oleObj>
              </mc:Choice>
              <mc:Fallback>
                <p:oleObj name="Equation" r:id="rId4" imgW="2946400" imgH="9779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4750" y="4005263"/>
                        <a:ext cx="6459538" cy="214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FVA</a:t>
            </a:r>
            <a:endParaRPr lang="en-US" sz="2800" dirty="0"/>
          </a:p>
        </p:txBody>
      </p:sp>
      <p:sp>
        <p:nvSpPr>
          <p:cNvPr id="3" name="Content Placeholder 2"/>
          <p:cNvSpPr>
            <a:spLocks noGrp="1"/>
          </p:cNvSpPr>
          <p:nvPr>
            <p:ph idx="1"/>
          </p:nvPr>
        </p:nvSpPr>
        <p:spPr/>
        <p:txBody>
          <a:bodyPr/>
          <a:lstStyle/>
          <a:p>
            <a:pPr marL="0" indent="0">
              <a:buNone/>
            </a:pPr>
            <a:r>
              <a:rPr lang="en-CA" dirty="0"/>
              <a:t>FVA, Funding Value Adjustment, considers the situation where a bank enters into a transaction with a client where no margin is posted and hedges this by entering into an offsetting transaction with another bank, e.g.:</a:t>
            </a:r>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24</a:t>
            </a:fld>
            <a:endParaRPr lang="en-US" altLang="en-US" dirty="0"/>
          </a:p>
        </p:txBody>
      </p:sp>
      <p:grpSp>
        <p:nvGrpSpPr>
          <p:cNvPr id="6" name="Group 5"/>
          <p:cNvGrpSpPr/>
          <p:nvPr/>
        </p:nvGrpSpPr>
        <p:grpSpPr>
          <a:xfrm>
            <a:off x="971600" y="5038681"/>
            <a:ext cx="7424430" cy="1092244"/>
            <a:chOff x="870282" y="3265640"/>
            <a:chExt cx="7424430" cy="1092244"/>
          </a:xfrm>
        </p:grpSpPr>
        <p:sp>
          <p:nvSpPr>
            <p:cNvPr id="7" name="Rectangle 6"/>
            <p:cNvSpPr/>
            <p:nvPr/>
          </p:nvSpPr>
          <p:spPr>
            <a:xfrm>
              <a:off x="3830216" y="3332541"/>
              <a:ext cx="1296144" cy="9144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Bank A</a:t>
              </a:r>
              <a:endParaRPr lang="en-CA" dirty="0">
                <a:latin typeface="Times New Roman" panose="02020603050405020304" pitchFamily="18" charset="0"/>
                <a:cs typeface="Times New Roman" panose="02020603050405020304" pitchFamily="18" charset="0"/>
              </a:endParaRPr>
            </a:p>
          </p:txBody>
        </p:sp>
        <p:sp>
          <p:nvSpPr>
            <p:cNvPr id="8" name="Rectangle 7"/>
            <p:cNvSpPr/>
            <p:nvPr/>
          </p:nvSpPr>
          <p:spPr>
            <a:xfrm>
              <a:off x="6757060" y="3360716"/>
              <a:ext cx="1537652" cy="91067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Bank B</a:t>
              </a:r>
              <a:endParaRPr lang="en-CA" dirty="0">
                <a:latin typeface="Times New Roman" panose="02020603050405020304" pitchFamily="18" charset="0"/>
                <a:cs typeface="Times New Roman" panose="02020603050405020304" pitchFamily="18" charset="0"/>
              </a:endParaRPr>
            </a:p>
          </p:txBody>
        </p:sp>
        <p:cxnSp>
          <p:nvCxnSpPr>
            <p:cNvPr id="9" name="Straight Arrow Connector 8"/>
            <p:cNvCxnSpPr/>
            <p:nvPr/>
          </p:nvCxnSpPr>
          <p:spPr>
            <a:xfrm flipH="1">
              <a:off x="5126360" y="3619220"/>
              <a:ext cx="160588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a:off x="5126360" y="4005064"/>
              <a:ext cx="160588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5737737" y="3277567"/>
              <a:ext cx="72008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3.0%</a:t>
              </a:r>
              <a:endParaRPr lang="en-CA"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5654877" y="3988552"/>
              <a:ext cx="10081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Floating</a:t>
              </a:r>
              <a:endParaRPr lang="en-CA" dirty="0">
                <a:latin typeface="Times New Roman" panose="02020603050405020304" pitchFamily="18" charset="0"/>
                <a:cs typeface="Times New Roman" panose="02020603050405020304" pitchFamily="18" charset="0"/>
              </a:endParaRPr>
            </a:p>
          </p:txBody>
        </p:sp>
        <p:sp>
          <p:nvSpPr>
            <p:cNvPr id="13" name="Rectangle 12"/>
            <p:cNvSpPr/>
            <p:nvPr/>
          </p:nvSpPr>
          <p:spPr>
            <a:xfrm>
              <a:off x="870282" y="3312571"/>
              <a:ext cx="1537652" cy="91067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Corporate </a:t>
              </a:r>
            </a:p>
            <a:p>
              <a:pPr algn="ctr"/>
              <a:r>
                <a:rPr lang="en-US" dirty="0">
                  <a:latin typeface="Times New Roman" panose="02020603050405020304" pitchFamily="18" charset="0"/>
                  <a:cs typeface="Times New Roman" panose="02020603050405020304" pitchFamily="18" charset="0"/>
                </a:rPr>
                <a:t>Client</a:t>
              </a:r>
              <a:endParaRPr lang="en-CA" dirty="0">
                <a:latin typeface="Times New Roman" panose="02020603050405020304" pitchFamily="18" charset="0"/>
                <a:cs typeface="Times New Roman" panose="02020603050405020304" pitchFamily="18" charset="0"/>
              </a:endParaRPr>
            </a:p>
          </p:txBody>
        </p:sp>
        <p:cxnSp>
          <p:nvCxnSpPr>
            <p:cNvPr id="14" name="Straight Arrow Connector 13"/>
            <p:cNvCxnSpPr/>
            <p:nvPr/>
          </p:nvCxnSpPr>
          <p:spPr>
            <a:xfrm>
              <a:off x="2407934" y="4005064"/>
              <a:ext cx="1422282"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2407934" y="3619220"/>
              <a:ext cx="1422282"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819937" y="3265640"/>
              <a:ext cx="641522" cy="369332"/>
            </a:xfrm>
            <a:prstGeom prst="rect">
              <a:avLst/>
            </a:prstGeom>
            <a:noFill/>
          </p:spPr>
          <p:txBody>
            <a:bodyPr wrap="none" rtlCol="0">
              <a:spAutoFit/>
            </a:bodyPr>
            <a:lstStyle/>
            <a:p>
              <a:r>
                <a:rPr lang="en-CA" dirty="0"/>
                <a:t>2.9%</a:t>
              </a:r>
              <a:endParaRPr lang="en-US" dirty="0"/>
            </a:p>
          </p:txBody>
        </p:sp>
        <p:sp>
          <p:nvSpPr>
            <p:cNvPr id="17" name="TextBox 16"/>
            <p:cNvSpPr txBox="1"/>
            <p:nvPr/>
          </p:nvSpPr>
          <p:spPr>
            <a:xfrm>
              <a:off x="2721913" y="3988552"/>
              <a:ext cx="10081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Floating</a:t>
              </a:r>
              <a:endParaRPr lang="en-CA" dirty="0">
                <a:latin typeface="Times New Roman" panose="02020603050405020304" pitchFamily="18" charset="0"/>
                <a:cs typeface="Times New Roman" panose="02020603050405020304" pitchFamily="18" charset="0"/>
              </a:endParaRPr>
            </a:p>
          </p:txBody>
        </p:sp>
      </p:grpSp>
      <p:sp>
        <p:nvSpPr>
          <p:cNvPr id="4" name="Footer Placeholder 3">
            <a:extLst>
              <a:ext uri="{FF2B5EF4-FFF2-40B4-BE49-F238E27FC236}">
                <a16:creationId xmlns:a16="http://schemas.microsoft.com/office/drawing/2014/main" id="{1884FA3E-C59B-4DD1-B9AA-A5DD5F514101}"/>
              </a:ext>
            </a:extLst>
          </p:cNvPr>
          <p:cNvSpPr>
            <a:spLocks noGrp="1"/>
          </p:cNvSpPr>
          <p:nvPr>
            <p:ph type="ftr" sz="quarter" idx="11"/>
          </p:nvPr>
        </p:nvSpPr>
        <p:spPr/>
        <p:txBody>
          <a:body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Tree>
    <p:extLst>
      <p:ext uri="{BB962C8B-B14F-4D97-AF65-F5344CB8AC3E}">
        <p14:creationId xmlns:p14="http://schemas.microsoft.com/office/powerpoint/2010/main" val="2711342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FVA </a:t>
            </a:r>
            <a:r>
              <a:rPr lang="en-CA" sz="2800" dirty="0"/>
              <a:t>continued</a:t>
            </a:r>
            <a:endParaRPr lang="en-US" sz="2800" dirty="0"/>
          </a:p>
        </p:txBody>
      </p:sp>
      <p:sp>
        <p:nvSpPr>
          <p:cNvPr id="3" name="Content Placeholder 2"/>
          <p:cNvSpPr>
            <a:spLocks noGrp="1"/>
          </p:cNvSpPr>
          <p:nvPr>
            <p:ph idx="1"/>
          </p:nvPr>
        </p:nvSpPr>
        <p:spPr>
          <a:xfrm>
            <a:off x="685800" y="2362200"/>
            <a:ext cx="7772400" cy="4114800"/>
          </a:xfrm>
        </p:spPr>
        <p:txBody>
          <a:bodyPr/>
          <a:lstStyle/>
          <a:p>
            <a:r>
              <a:rPr lang="en-CA" dirty="0"/>
              <a:t>Swap with bank will be cleared through a CCP and bank will post initial margin plus variation margin</a:t>
            </a:r>
          </a:p>
          <a:p>
            <a:r>
              <a:rPr lang="en-CA" dirty="0"/>
              <a:t>Swap with client requires no margin</a:t>
            </a:r>
          </a:p>
          <a:p>
            <a:pPr marL="0" indent="0">
              <a:buNone/>
            </a:pPr>
            <a:endParaRPr lang="en-US" dirty="0"/>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25</a:t>
            </a:fld>
            <a:endParaRPr lang="en-US" altLang="en-US" dirty="0"/>
          </a:p>
        </p:txBody>
      </p:sp>
      <p:sp>
        <p:nvSpPr>
          <p:cNvPr id="4" name="Footer Placeholder 3">
            <a:extLst>
              <a:ext uri="{FF2B5EF4-FFF2-40B4-BE49-F238E27FC236}">
                <a16:creationId xmlns:a16="http://schemas.microsoft.com/office/drawing/2014/main" id="{57482E59-1AF9-4F7E-8728-32198CAD0401}"/>
              </a:ext>
            </a:extLst>
          </p:cNvPr>
          <p:cNvSpPr>
            <a:spLocks noGrp="1"/>
          </p:cNvSpPr>
          <p:nvPr>
            <p:ph type="ftr" sz="quarter" idx="11"/>
          </p:nvPr>
        </p:nvSpPr>
        <p:spPr/>
        <p:txBody>
          <a:body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Tree>
    <p:extLst>
      <p:ext uri="{BB962C8B-B14F-4D97-AF65-F5344CB8AC3E}">
        <p14:creationId xmlns:p14="http://schemas.microsoft.com/office/powerpoint/2010/main" val="121517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FVA continued</a:t>
            </a:r>
          </a:p>
        </p:txBody>
      </p:sp>
      <p:sp>
        <p:nvSpPr>
          <p:cNvPr id="3" name="Content Placeholder 2"/>
          <p:cNvSpPr>
            <a:spLocks noGrp="1"/>
          </p:cNvSpPr>
          <p:nvPr>
            <p:ph idx="1"/>
          </p:nvPr>
        </p:nvSpPr>
        <p:spPr/>
        <p:txBody>
          <a:bodyPr/>
          <a:lstStyle/>
          <a:p>
            <a:r>
              <a:rPr lang="en-CA" dirty="0"/>
              <a:t>If the swap with Bank B is out-of-the-money and the swap with the client is in the money, the bank is paying variation margin to the CCP but not receiving variation margin from the client</a:t>
            </a:r>
          </a:p>
          <a:p>
            <a:r>
              <a:rPr lang="en-CA" dirty="0"/>
              <a:t>Cost of funding the variation margin (net of the interest received on the margin) gives rise to a positive FVA </a:t>
            </a:r>
          </a:p>
        </p:txBody>
      </p:sp>
      <p:sp>
        <p:nvSpPr>
          <p:cNvPr id="4" name="Slide Number Placeholder 3"/>
          <p:cNvSpPr>
            <a:spLocks noGrp="1"/>
          </p:cNvSpPr>
          <p:nvPr>
            <p:ph type="sldNum" sz="quarter" idx="12"/>
          </p:nvPr>
        </p:nvSpPr>
        <p:spPr/>
        <p:txBody>
          <a:bodyPr/>
          <a:lstStyle/>
          <a:p>
            <a:pPr>
              <a:defRPr/>
            </a:pPr>
            <a:fld id="{2FCAD0A3-D77E-4EC3-8AFB-FEFC1CCDFB90}" type="slidenum">
              <a:rPr lang="en-US" altLang="en-US" smtClean="0"/>
              <a:pPr>
                <a:defRPr/>
              </a:pPr>
              <a:t>26</a:t>
            </a:fld>
            <a:endParaRPr lang="en-US" altLang="en-US" dirty="0"/>
          </a:p>
        </p:txBody>
      </p:sp>
      <p:sp>
        <p:nvSpPr>
          <p:cNvPr id="5" name="Footer Placeholder 4">
            <a:extLst>
              <a:ext uri="{FF2B5EF4-FFF2-40B4-BE49-F238E27FC236}">
                <a16:creationId xmlns:a16="http://schemas.microsoft.com/office/drawing/2014/main" id="{56F5FCA4-E34F-4471-8F0E-D9139170A2DA}"/>
              </a:ext>
            </a:extLst>
          </p:cNvPr>
          <p:cNvSpPr>
            <a:spLocks noGrp="1"/>
          </p:cNvSpPr>
          <p:nvPr>
            <p:ph type="ftr" sz="quarter" idx="11"/>
          </p:nvPr>
        </p:nvSpPr>
        <p:spPr/>
        <p:txBody>
          <a:body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Tree>
    <p:extLst>
      <p:ext uri="{BB962C8B-B14F-4D97-AF65-F5344CB8AC3E}">
        <p14:creationId xmlns:p14="http://schemas.microsoft.com/office/powerpoint/2010/main" val="3684046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FVA continued</a:t>
            </a:r>
          </a:p>
        </p:txBody>
      </p:sp>
      <p:sp>
        <p:nvSpPr>
          <p:cNvPr id="3" name="Content Placeholder 2"/>
          <p:cNvSpPr>
            <a:spLocks noGrp="1"/>
          </p:cNvSpPr>
          <p:nvPr>
            <p:ph idx="1"/>
          </p:nvPr>
        </p:nvSpPr>
        <p:spPr/>
        <p:txBody>
          <a:bodyPr/>
          <a:lstStyle/>
          <a:p>
            <a:r>
              <a:rPr lang="en-CA" sz="2600" dirty="0"/>
              <a:t>If we are in the opposite position where the swap with Bank B is in-the-money and the swap with the client is out-of-the-money, the bank is receiving variation margin from the CCP but not paying variation margin to the client</a:t>
            </a:r>
          </a:p>
          <a:p>
            <a:r>
              <a:rPr lang="en-CA" sz="2600" dirty="0"/>
              <a:t>In this case the variation margin is a source of funding and FVA is negative</a:t>
            </a:r>
          </a:p>
          <a:p>
            <a:r>
              <a:rPr lang="en-US" sz="2600" dirty="0"/>
              <a:t>Note: FVA can be calculated on a transaction-by- transaction basis by using Monte Carlo simulation to explore alternative outcomes</a:t>
            </a:r>
            <a:endParaRPr lang="en-CA" sz="2600" dirty="0"/>
          </a:p>
          <a:p>
            <a:endParaRPr lang="en-CA" dirty="0"/>
          </a:p>
        </p:txBody>
      </p:sp>
      <p:sp>
        <p:nvSpPr>
          <p:cNvPr id="4" name="Slide Number Placeholder 3"/>
          <p:cNvSpPr>
            <a:spLocks noGrp="1"/>
          </p:cNvSpPr>
          <p:nvPr>
            <p:ph type="sldNum" sz="quarter" idx="12"/>
          </p:nvPr>
        </p:nvSpPr>
        <p:spPr/>
        <p:txBody>
          <a:bodyPr/>
          <a:lstStyle/>
          <a:p>
            <a:pPr>
              <a:defRPr/>
            </a:pPr>
            <a:fld id="{2FCAD0A3-D77E-4EC3-8AFB-FEFC1CCDFB90}" type="slidenum">
              <a:rPr lang="en-US" altLang="en-US" smtClean="0"/>
              <a:pPr>
                <a:defRPr/>
              </a:pPr>
              <a:t>27</a:t>
            </a:fld>
            <a:endParaRPr lang="en-US" altLang="en-US" dirty="0"/>
          </a:p>
        </p:txBody>
      </p:sp>
      <p:sp>
        <p:nvSpPr>
          <p:cNvPr id="5" name="Footer Placeholder 4">
            <a:extLst>
              <a:ext uri="{FF2B5EF4-FFF2-40B4-BE49-F238E27FC236}">
                <a16:creationId xmlns:a16="http://schemas.microsoft.com/office/drawing/2014/main" id="{51A6855D-14E2-43B9-AA5E-9098F49BC961}"/>
              </a:ext>
            </a:extLst>
          </p:cNvPr>
          <p:cNvSpPr>
            <a:spLocks noGrp="1"/>
          </p:cNvSpPr>
          <p:nvPr>
            <p:ph type="ftr" sz="quarter" idx="11"/>
          </p:nvPr>
        </p:nvSpPr>
        <p:spPr/>
        <p:txBody>
          <a:body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Tree>
    <p:extLst>
      <p:ext uri="{BB962C8B-B14F-4D97-AF65-F5344CB8AC3E}">
        <p14:creationId xmlns:p14="http://schemas.microsoft.com/office/powerpoint/2010/main" val="3653247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MVA</a:t>
            </a:r>
          </a:p>
        </p:txBody>
      </p:sp>
      <p:sp>
        <p:nvSpPr>
          <p:cNvPr id="3" name="Content Placeholder 2"/>
          <p:cNvSpPr>
            <a:spLocks noGrp="1"/>
          </p:cNvSpPr>
          <p:nvPr>
            <p:ph idx="1"/>
          </p:nvPr>
        </p:nvSpPr>
        <p:spPr/>
        <p:txBody>
          <a:bodyPr/>
          <a:lstStyle/>
          <a:p>
            <a:r>
              <a:rPr lang="en-CA" dirty="0"/>
              <a:t>MVA, margin value adjustment, is the cost of the initial margin. </a:t>
            </a:r>
          </a:p>
          <a:p>
            <a:r>
              <a:rPr lang="en-CA" dirty="0"/>
              <a:t>This is the difference between the bank’s funding cost and the interest paid on the initial margin</a:t>
            </a:r>
          </a:p>
        </p:txBody>
      </p:sp>
      <p:sp>
        <p:nvSpPr>
          <p:cNvPr id="4" name="Slide Number Placeholder 3"/>
          <p:cNvSpPr>
            <a:spLocks noGrp="1"/>
          </p:cNvSpPr>
          <p:nvPr>
            <p:ph type="sldNum" sz="quarter" idx="12"/>
          </p:nvPr>
        </p:nvSpPr>
        <p:spPr/>
        <p:txBody>
          <a:bodyPr/>
          <a:lstStyle/>
          <a:p>
            <a:pPr>
              <a:defRPr/>
            </a:pPr>
            <a:fld id="{2FCAD0A3-D77E-4EC3-8AFB-FEFC1CCDFB90}" type="slidenum">
              <a:rPr lang="en-US" altLang="en-US" smtClean="0"/>
              <a:pPr>
                <a:defRPr/>
              </a:pPr>
              <a:t>28</a:t>
            </a:fld>
            <a:endParaRPr lang="en-US" altLang="en-US" dirty="0"/>
          </a:p>
        </p:txBody>
      </p:sp>
      <p:sp>
        <p:nvSpPr>
          <p:cNvPr id="5" name="Footer Placeholder 4">
            <a:extLst>
              <a:ext uri="{FF2B5EF4-FFF2-40B4-BE49-F238E27FC236}">
                <a16:creationId xmlns:a16="http://schemas.microsoft.com/office/drawing/2014/main" id="{4EE5635A-C8FE-4724-BD13-77CA8865CF09}"/>
              </a:ext>
            </a:extLst>
          </p:cNvPr>
          <p:cNvSpPr>
            <a:spLocks noGrp="1"/>
          </p:cNvSpPr>
          <p:nvPr>
            <p:ph type="ftr" sz="quarter" idx="11"/>
          </p:nvPr>
        </p:nvSpPr>
        <p:spPr/>
        <p:txBody>
          <a:body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Tree>
    <p:extLst>
      <p:ext uri="{BB962C8B-B14F-4D97-AF65-F5344CB8AC3E}">
        <p14:creationId xmlns:p14="http://schemas.microsoft.com/office/powerpoint/2010/main" val="2174048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858490"/>
          </a:xfrm>
        </p:spPr>
        <p:txBody>
          <a:bodyPr/>
          <a:lstStyle/>
          <a:p>
            <a:r>
              <a:rPr lang="en-CA" dirty="0"/>
              <a:t>Theoretical Arguments</a:t>
            </a:r>
            <a:endParaRPr lang="en-US" dirty="0"/>
          </a:p>
        </p:txBody>
      </p:sp>
      <p:sp>
        <p:nvSpPr>
          <p:cNvPr id="3" name="Content Placeholder 2"/>
          <p:cNvSpPr>
            <a:spLocks noGrp="1"/>
          </p:cNvSpPr>
          <p:nvPr>
            <p:ph idx="1"/>
          </p:nvPr>
        </p:nvSpPr>
        <p:spPr>
          <a:xfrm>
            <a:off x="323528" y="1412776"/>
            <a:ext cx="8229600" cy="4411662"/>
          </a:xfrm>
        </p:spPr>
        <p:txBody>
          <a:bodyPr/>
          <a:lstStyle/>
          <a:p>
            <a:r>
              <a:rPr lang="en-CA" sz="2400" dirty="0"/>
              <a:t>Many banks use their average debt funding cost to calculate the cost of FVA and MVA</a:t>
            </a:r>
          </a:p>
          <a:p>
            <a:r>
              <a:rPr lang="en-CA" sz="2400" dirty="0"/>
              <a:t>Financial economic theory would suggest that the initial margin and variation margin are low risk investments. The required return is less than the bank’s average funding cost</a:t>
            </a:r>
          </a:p>
          <a:p>
            <a:r>
              <a:rPr lang="en-CA" sz="2400" dirty="0"/>
              <a:t>Consider the following situation:</a:t>
            </a:r>
          </a:p>
          <a:p>
            <a:pPr lvl="1"/>
            <a:r>
              <a:rPr lang="en-CA" sz="1800" dirty="0"/>
              <a:t>A bank’s average debt funding cost is fed funds rate plus 100 basis points.</a:t>
            </a:r>
          </a:p>
          <a:p>
            <a:pPr lvl="1"/>
            <a:r>
              <a:rPr lang="en-CA" sz="1800" dirty="0"/>
              <a:t>Because margin is a low risk investment, the return required on margin is the fed funds rate plus 10 bps. </a:t>
            </a:r>
          </a:p>
          <a:p>
            <a:pPr lvl="1"/>
            <a:r>
              <a:rPr lang="en-CA" sz="1800" dirty="0"/>
              <a:t>The interest earned on margin is the fed funds rate minus 20 basis points</a:t>
            </a:r>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29</a:t>
            </a:fld>
            <a:endParaRPr lang="en-US" altLang="en-US" dirty="0"/>
          </a:p>
        </p:txBody>
      </p:sp>
      <p:sp>
        <p:nvSpPr>
          <p:cNvPr id="4" name="Footer Placeholder 3">
            <a:extLst>
              <a:ext uri="{FF2B5EF4-FFF2-40B4-BE49-F238E27FC236}">
                <a16:creationId xmlns:a16="http://schemas.microsoft.com/office/drawing/2014/main" id="{43015B4F-FAA9-4E56-8198-2287DE6429B9}"/>
              </a:ext>
            </a:extLst>
          </p:cNvPr>
          <p:cNvSpPr>
            <a:spLocks noGrp="1"/>
          </p:cNvSpPr>
          <p:nvPr>
            <p:ph type="ftr" sz="quarter" idx="11"/>
          </p:nvPr>
        </p:nvSpPr>
        <p:spPr/>
        <p:txBody>
          <a:body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Tree>
    <p:extLst>
      <p:ext uri="{BB962C8B-B14F-4D97-AF65-F5344CB8AC3E}">
        <p14:creationId xmlns:p14="http://schemas.microsoft.com/office/powerpoint/2010/main" val="2235343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KVA</a:t>
            </a:r>
            <a:endParaRPr lang="en-US" dirty="0"/>
          </a:p>
        </p:txBody>
      </p:sp>
      <p:sp>
        <p:nvSpPr>
          <p:cNvPr id="3" name="Content Placeholder 2"/>
          <p:cNvSpPr>
            <a:spLocks noGrp="1"/>
          </p:cNvSpPr>
          <p:nvPr>
            <p:ph idx="1"/>
          </p:nvPr>
        </p:nvSpPr>
        <p:spPr/>
        <p:txBody>
          <a:bodyPr/>
          <a:lstStyle/>
          <a:p>
            <a:r>
              <a:rPr lang="en-CA" sz="2400" dirty="0"/>
              <a:t>KVA is the capital valuation adjustment. </a:t>
            </a:r>
          </a:p>
          <a:p>
            <a:r>
              <a:rPr lang="en-CA" sz="2400" dirty="0"/>
              <a:t>This is an adjustment for the incremental capital requirements associated with a derivative</a:t>
            </a:r>
          </a:p>
          <a:p>
            <a:r>
              <a:rPr lang="en-CA" sz="2400" dirty="0"/>
              <a:t>Many banks consider the cost of incremental capital to be the required return on equity</a:t>
            </a:r>
          </a:p>
          <a:p>
            <a:r>
              <a:rPr lang="en-CA" sz="2400" dirty="0"/>
              <a:t>Financial economists would argue that additional equity makes the bank less risky and should reduce the required return on both debt and equity</a:t>
            </a:r>
            <a:endParaRPr lang="en-US" sz="2400" dirty="0"/>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30</a:t>
            </a:fld>
            <a:endParaRPr lang="en-US" altLang="en-US" dirty="0"/>
          </a:p>
        </p:txBody>
      </p:sp>
      <p:sp>
        <p:nvSpPr>
          <p:cNvPr id="4" name="Footer Placeholder 3">
            <a:extLst>
              <a:ext uri="{FF2B5EF4-FFF2-40B4-BE49-F238E27FC236}">
                <a16:creationId xmlns:a16="http://schemas.microsoft.com/office/drawing/2014/main" id="{8E518BB4-EA16-499B-ABC2-DA8088E2DBD7}"/>
              </a:ext>
            </a:extLst>
          </p:cNvPr>
          <p:cNvSpPr>
            <a:spLocks noGrp="1"/>
          </p:cNvSpPr>
          <p:nvPr>
            <p:ph type="ftr" sz="quarter" idx="11"/>
          </p:nvPr>
        </p:nvSpPr>
        <p:spPr/>
        <p:txBody>
          <a:body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Tree>
    <p:extLst>
      <p:ext uri="{BB962C8B-B14F-4D97-AF65-F5344CB8AC3E}">
        <p14:creationId xmlns:p14="http://schemas.microsoft.com/office/powerpoint/2010/main" val="125303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KVA</a:t>
            </a:r>
            <a:endParaRPr lang="en-US" dirty="0"/>
          </a:p>
        </p:txBody>
      </p:sp>
      <p:sp>
        <p:nvSpPr>
          <p:cNvPr id="3" name="Content Placeholder 2"/>
          <p:cNvSpPr>
            <a:spLocks noGrp="1"/>
          </p:cNvSpPr>
          <p:nvPr>
            <p:ph idx="1"/>
          </p:nvPr>
        </p:nvSpPr>
        <p:spPr/>
        <p:txBody>
          <a:bodyPr/>
          <a:lstStyle/>
          <a:p>
            <a:r>
              <a:rPr lang="en-CA" sz="2400" dirty="0"/>
              <a:t>KVA is the capital valuation adjustment. </a:t>
            </a:r>
          </a:p>
          <a:p>
            <a:r>
              <a:rPr lang="en-CA" sz="2400" dirty="0"/>
              <a:t>This is an adjustment for the incremental capital requirements associated with a derivative</a:t>
            </a:r>
          </a:p>
          <a:p>
            <a:r>
              <a:rPr lang="en-CA" sz="2400" dirty="0"/>
              <a:t>Many banks consider the cost of incremental capital to be the required return on equity</a:t>
            </a:r>
          </a:p>
          <a:p>
            <a:r>
              <a:rPr lang="en-CA" sz="2400" dirty="0"/>
              <a:t>Financial economists would argue that additional equity makes the bank less risky and should reduce the required return on both debt and equity</a:t>
            </a:r>
            <a:endParaRPr lang="en-US" sz="2400" dirty="0"/>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31</a:t>
            </a:fld>
            <a:endParaRPr lang="en-US" altLang="en-US" dirty="0"/>
          </a:p>
        </p:txBody>
      </p:sp>
      <p:sp>
        <p:nvSpPr>
          <p:cNvPr id="4" name="Footer Placeholder 3">
            <a:extLst>
              <a:ext uri="{FF2B5EF4-FFF2-40B4-BE49-F238E27FC236}">
                <a16:creationId xmlns:a16="http://schemas.microsoft.com/office/drawing/2014/main" id="{DBF09176-1F77-439D-B4CB-8C15E34F6D2C}"/>
              </a:ext>
            </a:extLst>
          </p:cNvPr>
          <p:cNvSpPr>
            <a:spLocks noGrp="1"/>
          </p:cNvSpPr>
          <p:nvPr>
            <p:ph type="ftr" sz="quarter" idx="11"/>
          </p:nvPr>
        </p:nvSpPr>
        <p:spPr/>
        <p:txBody>
          <a:body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Tree>
    <p:extLst>
      <p:ext uri="{BB962C8B-B14F-4D97-AF65-F5344CB8AC3E}">
        <p14:creationId xmlns:p14="http://schemas.microsoft.com/office/powerpoint/2010/main" val="13648962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Calculation Issues</a:t>
            </a:r>
            <a:endParaRPr lang="en-US" dirty="0"/>
          </a:p>
        </p:txBody>
      </p:sp>
      <p:sp>
        <p:nvSpPr>
          <p:cNvPr id="3" name="Content Placeholder 2"/>
          <p:cNvSpPr>
            <a:spLocks noGrp="1"/>
          </p:cNvSpPr>
          <p:nvPr>
            <p:ph idx="1"/>
          </p:nvPr>
        </p:nvSpPr>
        <p:spPr/>
        <p:txBody>
          <a:bodyPr/>
          <a:lstStyle/>
          <a:p>
            <a:r>
              <a:rPr lang="en-CA" dirty="0"/>
              <a:t>The calculation of FVA, MVA, and KVA, like the calculations of CVA and DVA, involve very time-consuming Monte Carlo simulations. </a:t>
            </a:r>
          </a:p>
          <a:p>
            <a:r>
              <a:rPr lang="en-CA" dirty="0"/>
              <a:t>This is because it is necessary to calculate </a:t>
            </a:r>
          </a:p>
          <a:p>
            <a:pPr lvl="1"/>
            <a:r>
              <a:rPr lang="en-CA" dirty="0"/>
              <a:t>expected future variation and initial margin requirements (in the case of FVA and MVA)</a:t>
            </a:r>
          </a:p>
          <a:p>
            <a:pPr lvl="1"/>
            <a:r>
              <a:rPr lang="en-CA" dirty="0"/>
              <a:t>expected future capital requirements (in the case of KVA)</a:t>
            </a:r>
            <a:endParaRPr lang="en-US" dirty="0"/>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32</a:t>
            </a:fld>
            <a:endParaRPr lang="en-US" altLang="en-US" dirty="0"/>
          </a:p>
        </p:txBody>
      </p:sp>
      <p:sp>
        <p:nvSpPr>
          <p:cNvPr id="4" name="Footer Placeholder 3">
            <a:extLst>
              <a:ext uri="{FF2B5EF4-FFF2-40B4-BE49-F238E27FC236}">
                <a16:creationId xmlns:a16="http://schemas.microsoft.com/office/drawing/2014/main" id="{55955394-B090-429F-BD39-3CB71FFAB922}"/>
              </a:ext>
            </a:extLst>
          </p:cNvPr>
          <p:cNvSpPr>
            <a:spLocks noGrp="1"/>
          </p:cNvSpPr>
          <p:nvPr>
            <p:ph type="ftr" sz="quarter" idx="11"/>
          </p:nvPr>
        </p:nvSpPr>
        <p:spPr/>
        <p:txBody>
          <a:bodyPr/>
          <a:lstStyle/>
          <a:p>
            <a:pPr>
              <a:defRPr/>
            </a:pPr>
            <a:r>
              <a:rPr lang="en-CA" altLang="en-US">
                <a:cs typeface="Arial" charset="0"/>
              </a:rPr>
              <a:t>Risk Management and Financial Institutions 6e, Chapter 18,  Copyright © John C. Hull 2023</a:t>
            </a:r>
            <a:endParaRPr lang="en-US" altLang="en-US" dirty="0">
              <a:cs typeface="Arial" charset="0"/>
            </a:endParaRPr>
          </a:p>
        </p:txBody>
      </p:sp>
    </p:spTree>
    <p:extLst>
      <p:ext uri="{BB962C8B-B14F-4D97-AF65-F5344CB8AC3E}">
        <p14:creationId xmlns:p14="http://schemas.microsoft.com/office/powerpoint/2010/main" val="2610863071"/>
      </p:ext>
    </p:extLst>
  </p:cSld>
  <p:clrMapOvr>
    <a:masterClrMapping/>
  </p:clrMapOvr>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HullRMFICh11">
  <a:themeElements>
    <a:clrScheme name="HullRMFICh11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HullRMFICh11">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HullRMFICh11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HullRMFICh11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HullRMFICh11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HullRMFICh11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HullRMFICh11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HullRMFICh11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HullRMFICh11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HullRMFICh11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HullRMFICh11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HullRMFICh11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HullRMFICh10">
  <a:themeElements>
    <a:clrScheme name="HullRMFICh10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HullRMFICh10">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HullRMFICh10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HullRMFICh10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HullRMFICh10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HullRMFICh10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HullRMFICh10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HullRMFICh10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HullRMFICh10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HullRMFICh10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HullRMFICh10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HullRMFICh10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HullRMFICh10">
  <a:themeElements>
    <a:clrScheme name="HullRMFICh10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HullRMFICh10">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HullRMFICh10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HullRMFICh10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HullRMFICh10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HullRMFICh10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HullRMFICh10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HullRMFICh10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HullRMFICh10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HullRMFICh10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HullRMFICh10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HullRMFICh10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DF6A59F-65B8-4EAC-BAB7-75F73618FC07}"/>
</file>

<file path=customXml/itemProps2.xml><?xml version="1.0" encoding="utf-8"?>
<ds:datastoreItem xmlns:ds="http://schemas.openxmlformats.org/officeDocument/2006/customXml" ds:itemID="{61D03087-8081-4ECC-97C3-B14430063836}"/>
</file>

<file path=customXml/itemProps3.xml><?xml version="1.0" encoding="utf-8"?>
<ds:datastoreItem xmlns:ds="http://schemas.openxmlformats.org/officeDocument/2006/customXml" ds:itemID="{A9533C38-BD26-434F-B8A3-C3DD4A50D217}"/>
</file>

<file path=docProps/app.xml><?xml version="1.0" encoding="utf-8"?>
<Properties xmlns="http://schemas.openxmlformats.org/officeDocument/2006/extended-properties" xmlns:vt="http://schemas.openxmlformats.org/officeDocument/2006/docPropsVTypes">
  <Template>E:\RiskBook\slides\HullRMFICh11.ppt</Template>
  <TotalTime>786</TotalTime>
  <Pages>17</Pages>
  <Words>2155</Words>
  <Application>Microsoft Office PowerPoint</Application>
  <PresentationFormat>Letter Paper (8.5x11 in)</PresentationFormat>
  <Paragraphs>249</Paragraphs>
  <Slides>32</Slides>
  <Notes>18</Notes>
  <HiddenSlides>0</HiddenSlides>
  <MMClips>0</MMClips>
  <ScaleCrop>false</ScaleCrop>
  <HeadingPairs>
    <vt:vector size="8" baseType="variant">
      <vt:variant>
        <vt:lpstr>Fonts Used</vt:lpstr>
      </vt:variant>
      <vt:variant>
        <vt:i4>4</vt:i4>
      </vt:variant>
      <vt:variant>
        <vt:lpstr>Theme</vt:lpstr>
      </vt:variant>
      <vt:variant>
        <vt:i4>4</vt:i4>
      </vt:variant>
      <vt:variant>
        <vt:lpstr>Embedded OLE Servers</vt:lpstr>
      </vt:variant>
      <vt:variant>
        <vt:i4>1</vt:i4>
      </vt:variant>
      <vt:variant>
        <vt:lpstr>Slide Titles</vt:lpstr>
      </vt:variant>
      <vt:variant>
        <vt:i4>32</vt:i4>
      </vt:variant>
    </vt:vector>
  </HeadingPairs>
  <TitlesOfParts>
    <vt:vector size="41" baseType="lpstr">
      <vt:lpstr>Arial</vt:lpstr>
      <vt:lpstr>Tahoma</vt:lpstr>
      <vt:lpstr>Times New Roman</vt:lpstr>
      <vt:lpstr>Wingdings</vt:lpstr>
      <vt:lpstr>Global</vt:lpstr>
      <vt:lpstr>HullRMFICh11</vt:lpstr>
      <vt:lpstr>HullRMFICh10</vt:lpstr>
      <vt:lpstr>1_HullRMFICh10</vt:lpstr>
      <vt:lpstr>Equation</vt:lpstr>
      <vt:lpstr>xVAs</vt:lpstr>
      <vt:lpstr>     Simple Situations: Single Derivative and No Collateral</vt:lpstr>
      <vt:lpstr>CVA</vt:lpstr>
      <vt:lpstr>The CVA Calculation</vt:lpstr>
      <vt:lpstr>The Default Probabilities (equation 18.3)</vt:lpstr>
      <vt:lpstr>The Expected Exposures</vt:lpstr>
      <vt:lpstr>The Expected Exposure </vt:lpstr>
      <vt:lpstr>Calculation of Available Collateral</vt:lpstr>
      <vt:lpstr>Peak Exposure (Section 18.2.2)</vt:lpstr>
      <vt:lpstr>Downgrade Triggers (Section 18.2.3)</vt:lpstr>
      <vt:lpstr>Incremental CVA</vt:lpstr>
      <vt:lpstr>CVA Risk</vt:lpstr>
      <vt:lpstr>Wrong Way/Right Way Risk</vt:lpstr>
      <vt:lpstr>Examples</vt:lpstr>
      <vt:lpstr>Problems in Estimating Wrong Way/Right Way Risk</vt:lpstr>
      <vt:lpstr>Allowing for Wrong-Way risk</vt:lpstr>
      <vt:lpstr>DVA</vt:lpstr>
      <vt:lpstr>DVA continued</vt:lpstr>
      <vt:lpstr>Expected Exposure on Pair of Offsetting Interest Rate Swaps and a Pair of Offsetting Currency Swaps with No Collateral Posted (Figure 18.1)</vt:lpstr>
      <vt:lpstr>Interest Rate vs Currency Swaps</vt:lpstr>
      <vt:lpstr>Simple Example: Single transaction which provides a payoff at time T years and always has positive value to dealer</vt:lpstr>
      <vt:lpstr>Example 18.2</vt:lpstr>
      <vt:lpstr>Dealer Has Single Uncollateralized Long Forward with Counterparty (Section 18.7.3)</vt:lpstr>
      <vt:lpstr>FVA</vt:lpstr>
      <vt:lpstr>FVA continued</vt:lpstr>
      <vt:lpstr>FVA continued</vt:lpstr>
      <vt:lpstr>FVA continued</vt:lpstr>
      <vt:lpstr>MVA</vt:lpstr>
      <vt:lpstr>Theoretical Arguments</vt:lpstr>
      <vt:lpstr>KVA</vt:lpstr>
      <vt:lpstr>KVA</vt:lpstr>
      <vt:lpstr>Calculation Issues</vt:lpstr>
    </vt:vector>
  </TitlesOfParts>
  <Company>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 and Financial Institutions</dc:title>
  <dc:subject>Chapter 20</dc:subject>
  <dc:creator>John Hull</dc:creator>
  <cp:keywords>5th Edition</cp:keywords>
  <dc:description>Copyright 2018  by John Hull._x000d_
All rights reserved.</dc:description>
  <cp:lastModifiedBy>John Hull</cp:lastModifiedBy>
  <cp:revision>179</cp:revision>
  <cp:lastPrinted>1999-11-09T00:15:00Z</cp:lastPrinted>
  <dcterms:created xsi:type="dcterms:W3CDTF">1996-07-04T22:47:30Z</dcterms:created>
  <dcterms:modified xsi:type="dcterms:W3CDTF">2022-12-01T20:52:48Z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