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7" r:id="rId3"/>
    <p:sldId id="258" r:id="rId4"/>
    <p:sldId id="273" r:id="rId5"/>
    <p:sldId id="287" r:id="rId6"/>
    <p:sldId id="274" r:id="rId7"/>
    <p:sldId id="275" r:id="rId8"/>
    <p:sldId id="277" r:id="rId9"/>
    <p:sldId id="276" r:id="rId10"/>
    <p:sldId id="290" r:id="rId11"/>
    <p:sldId id="291" r:id="rId12"/>
    <p:sldId id="278" r:id="rId13"/>
    <p:sldId id="279" r:id="rId14"/>
    <p:sldId id="288" r:id="rId15"/>
    <p:sldId id="262" r:id="rId16"/>
    <p:sldId id="292" r:id="rId17"/>
    <p:sldId id="293" r:id="rId18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16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4" autoAdjust="0"/>
    <p:restoredTop sz="94576" autoAdjust="0"/>
  </p:normalViewPr>
  <p:slideViewPr>
    <p:cSldViewPr>
      <p:cViewPr varScale="1">
        <p:scale>
          <a:sx n="131" d="100"/>
          <a:sy n="131" d="100"/>
        </p:scale>
        <p:origin x="96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2928"/>
        <p:guide pos="216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t" anchorCtr="0" compatLnSpc="1">
            <a:prstTxWarp prst="textNoShape">
              <a:avLst/>
            </a:prstTxWarp>
          </a:bodyPr>
          <a:lstStyle>
            <a:lvl1pPr defTabSz="924539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7902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t" anchorCtr="0" compatLnSpc="1">
            <a:prstTxWarp prst="textNoShape">
              <a:avLst/>
            </a:prstTxWarp>
          </a:bodyPr>
          <a:lstStyle>
            <a:lvl1pPr algn="r" defTabSz="924539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0659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b" anchorCtr="0" compatLnSpc="1">
            <a:prstTxWarp prst="textNoShape">
              <a:avLst/>
            </a:prstTxWarp>
          </a:bodyPr>
          <a:lstStyle>
            <a:lvl1pPr defTabSz="924539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7902" y="8830659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b" anchorCtr="0" compatLnSpc="1">
            <a:prstTxWarp prst="textNoShape">
              <a:avLst/>
            </a:prstTxWarp>
          </a:bodyPr>
          <a:lstStyle>
            <a:lvl1pPr algn="r" defTabSz="924539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823C225-28EF-4A76-924C-49B754344C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52670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t" anchorCtr="0" compatLnSpc="1">
            <a:prstTxWarp prst="textNoShape">
              <a:avLst/>
            </a:prstTxWarp>
          </a:bodyPr>
          <a:lstStyle>
            <a:lvl1pPr defTabSz="924539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7902" y="1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t" anchorCtr="0" compatLnSpc="1">
            <a:prstTxWarp prst="textNoShape">
              <a:avLst/>
            </a:prstTxWarp>
          </a:bodyPr>
          <a:lstStyle>
            <a:lvl1pPr algn="r" defTabSz="924539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6613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81" y="4416099"/>
            <a:ext cx="5504853" cy="41824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72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0659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b" anchorCtr="0" compatLnSpc="1">
            <a:prstTxWarp prst="textNoShape">
              <a:avLst/>
            </a:prstTxWarp>
          </a:bodyPr>
          <a:lstStyle>
            <a:lvl1pPr defTabSz="924539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7902" y="8830659"/>
            <a:ext cx="2982418" cy="46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37" tIns="46219" rIns="92437" bIns="46219" numCol="1" anchor="b" anchorCtr="0" compatLnSpc="1">
            <a:prstTxWarp prst="textNoShape">
              <a:avLst/>
            </a:prstTxWarp>
          </a:bodyPr>
          <a:lstStyle>
            <a:lvl1pPr algn="r" defTabSz="924539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2070D7A-69C8-4167-957F-3E7C0377BB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3379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1910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0641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6378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972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2819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525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2836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9402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9488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0483" indent="-273263" defTabSz="92453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93051" indent="-218610" defTabSz="92453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30271" indent="-218610" defTabSz="92453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67492" indent="-218610" defTabSz="92453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04712" indent="-218610" defTabSz="92453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41932" indent="-218610" defTabSz="92453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9153" indent="-218610" defTabSz="92453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16373" indent="-218610" defTabSz="92453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DC12C28-C195-4978-B5B6-C2D83B459DBF}" type="slidenum">
              <a:rPr lang="en-US" altLang="en-US" sz="1200"/>
              <a:pPr>
                <a:spcBef>
                  <a:spcPct val="0"/>
                </a:spcBef>
              </a:pPr>
              <a:t>10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5192092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453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10483" indent="-273263" defTabSz="92453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93051" indent="-218610" defTabSz="92453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30271" indent="-218610" defTabSz="92453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967492" indent="-218610" defTabSz="924539">
              <a:spcBef>
                <a:spcPct val="30000"/>
              </a:spcBef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04712" indent="-218610" defTabSz="92453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841932" indent="-218610" defTabSz="92453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279153" indent="-218610" defTabSz="92453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716373" indent="-218610" defTabSz="924539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9DDA29A-22C8-4443-8DD4-8D9FDC74C0AE}" type="slidenum">
              <a:rPr lang="en-US" altLang="en-US" sz="1200"/>
              <a:pPr>
                <a:spcBef>
                  <a:spcPct val="0"/>
                </a:spcBef>
              </a:pPr>
              <a:t>11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064904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6215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49190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49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4190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F05909-99A9-400A-8571-7671E03182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58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651C2-9922-4559-8746-048F29A656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7234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94806-C61A-48AE-A35C-0614EEFCB9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5875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9468A0-CD59-44FF-B138-066EDDC397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4144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2443E-F159-45B4-A0DF-41C5770A4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8505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243BEE-0DEC-40D5-9ECA-1502694D7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5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A26E70-CB2B-4086-8998-D5A01C751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9948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EE961-14CC-4D70-8970-9B31714EC61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8320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2FBAAE-F6F7-4B60-8899-5C4F807A5D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62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018ADD-4834-4D99-AF54-80C3D4E06F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3352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11A4A0-AE89-4BB8-9697-DC85E6E54F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849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6794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794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 Chapter 1, Copyright © John C. Hull 2023</a:t>
            </a:r>
          </a:p>
        </p:txBody>
      </p:sp>
      <p:sp>
        <p:nvSpPr>
          <p:cNvPr id="16794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pPr>
              <a:defRPr/>
            </a:pPr>
            <a:r>
              <a:rPr lang="en-US" altLang="en-US"/>
              <a:t>1.</a:t>
            </a:r>
            <a:fld id="{A1138038-4531-418D-904F-36121D3D8E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5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5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5" cy="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5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5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5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5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Introduction: </a:t>
            </a:r>
            <a:br>
              <a:rPr lang="en-US" altLang="en-US" dirty="0"/>
            </a:br>
            <a:r>
              <a:rPr lang="en-US" altLang="en-US" dirty="0"/>
              <a:t>Risk-Return Trade-offs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/>
              <a:t>Chapter 1</a:t>
            </a:r>
            <a:endParaRPr lang="en-US" altLang="en-US" sz="4000" b="1" dirty="0">
              <a:solidFill>
                <a:schemeClr val="tx2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5364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7829C3-594B-468E-B448-680A83CFE96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Risk vs Return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There is a trade off between risk and expected return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The higher the risk, the higher the expected return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8F8D656-5EF5-4315-A0DD-407D5E6F7212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500063"/>
            <a:ext cx="7772400" cy="85725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</a:t>
            </a:r>
            <a:r>
              <a:rPr lang="en-US" altLang="en-US" sz="2400" dirty="0"/>
              <a:t>(Table 1.1, page 3)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28750"/>
            <a:ext cx="7772400" cy="46672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	Suppose Treasuries yield 5% and </a:t>
            </a:r>
            <a:r>
              <a:rPr lang="en-CA" altLang="en-US">
                <a:cs typeface="Arial" panose="020B0604020202020204" pitchFamily="34" charset="0"/>
              </a:rPr>
              <a:t>the returns for an </a:t>
            </a:r>
            <a:r>
              <a:rPr lang="en-US" altLang="en-US">
                <a:cs typeface="Arial" panose="020B0604020202020204" pitchFamily="34" charset="0"/>
              </a:rPr>
              <a:t>equity </a:t>
            </a:r>
            <a:r>
              <a:rPr lang="en-CA" altLang="en-US">
                <a:cs typeface="Arial" panose="020B0604020202020204" pitchFamily="34" charset="0"/>
              </a:rPr>
              <a:t>investment</a:t>
            </a:r>
            <a:r>
              <a:rPr lang="en-US" altLang="en-US">
                <a:cs typeface="Arial" panose="020B0604020202020204" pitchFamily="34" charset="0"/>
              </a:rPr>
              <a:t> are:</a:t>
            </a:r>
          </a:p>
          <a:p>
            <a:pPr eaLnBrk="1" hangingPunct="1">
              <a:buFontTx/>
              <a:buChar char="•"/>
            </a:pPr>
            <a:endParaRPr lang="en-US" altLang="en-US">
              <a:cs typeface="Arial" panose="020B0604020202020204" pitchFamily="34" charset="0"/>
            </a:endParaRPr>
          </a:p>
          <a:p>
            <a:pPr eaLnBrk="1" hangingPunct="1">
              <a:buFontTx/>
              <a:buChar char="•"/>
            </a:pPr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19461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1EF3332-0577-411D-9946-4AFF4068F4AF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  <p:graphicFrame>
        <p:nvGraphicFramePr>
          <p:cNvPr id="4125" name="Group 29"/>
          <p:cNvGraphicFramePr>
            <a:graphicFrameLocks noGrp="1"/>
          </p:cNvGraphicFramePr>
          <p:nvPr/>
        </p:nvGraphicFramePr>
        <p:xfrm>
          <a:off x="3429000" y="2819400"/>
          <a:ext cx="3352800" cy="3124200"/>
        </p:xfrm>
        <a:graphic>
          <a:graphicData uri="http://schemas.openxmlformats.org/drawingml/2006/table">
            <a:tbl>
              <a:tblPr/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Probability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Return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+50%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+30%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0.40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+10%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0.05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–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Example </a:t>
            </a:r>
            <a:r>
              <a:rPr lang="en-CA" altLang="en-US" sz="2200"/>
              <a:t>continued</a:t>
            </a:r>
            <a:endParaRPr lang="en-US" altLang="en-US" sz="2200"/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cs typeface="Arial" panose="020B0604020202020204" pitchFamily="34" charset="0"/>
              </a:rPr>
              <a:t>We can characterize</a:t>
            </a:r>
            <a:r>
              <a:rPr lang="en-CA" altLang="en-US">
                <a:cs typeface="Arial" panose="020B0604020202020204" pitchFamily="34" charset="0"/>
              </a:rPr>
              <a:t> investments by their expected return and standard deviation of return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For the equity investment: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Expected return =10%</a:t>
            </a:r>
          </a:p>
          <a:p>
            <a:pPr lvl="1" eaLnBrk="1" hangingPunct="1"/>
            <a:r>
              <a:rPr lang="en-CA" altLang="en-US">
                <a:cs typeface="Arial" panose="020B0604020202020204" pitchFamily="34" charset="0"/>
              </a:rPr>
              <a:t>Standard deviation of return =18.97%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2150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2150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AA49C5D-4CCD-4D3A-A097-BB1B9A8A3255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71500"/>
            <a:ext cx="7543800" cy="714375"/>
          </a:xfrm>
        </p:spPr>
        <p:txBody>
          <a:bodyPr/>
          <a:lstStyle/>
          <a:p>
            <a:pPr eaLnBrk="1" hangingPunct="1"/>
            <a:r>
              <a:rPr lang="en-US" altLang="en-US" sz="3200"/>
              <a:t>Combining Two Risky Investments </a:t>
            </a:r>
            <a:r>
              <a:rPr lang="en-US" altLang="en-US" sz="2400"/>
              <a:t>(page  5)</a:t>
            </a:r>
            <a:endParaRPr lang="en-CA" altLang="en-US" sz="240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cs typeface="Arial" panose="020B0604020202020204" pitchFamily="34" charset="0"/>
              </a:rPr>
              <a:t> </a:t>
            </a:r>
            <a:endParaRPr lang="en-CA" altLang="en-US">
              <a:cs typeface="Arial" panose="020B0604020202020204" pitchFamily="34" charset="0"/>
            </a:endParaRP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23557" name="Slide Number Placeholder 8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060FEFD-47C4-411B-84BB-6CAD2EEF714A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  <p:graphicFrame>
        <p:nvGraphicFramePr>
          <p:cNvPr id="23558" name="Object 4"/>
          <p:cNvGraphicFramePr>
            <a:graphicFrameLocks noChangeAspect="1"/>
          </p:cNvGraphicFramePr>
          <p:nvPr/>
        </p:nvGraphicFramePr>
        <p:xfrm>
          <a:off x="914400" y="1524000"/>
          <a:ext cx="652303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3581400" imgH="279400" progId="Equation.3">
                  <p:embed/>
                </p:oleObj>
              </mc:Choice>
              <mc:Fallback>
                <p:oleObj name="Equation" r:id="rId4" imgW="3581400" imgH="279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524000"/>
                        <a:ext cx="652303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55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438400"/>
            <a:ext cx="5429250" cy="353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graphicFrame>
        <p:nvGraphicFramePr>
          <p:cNvPr id="23560" name="Object 7"/>
          <p:cNvGraphicFramePr>
            <a:graphicFrameLocks noChangeAspect="1"/>
          </p:cNvGraphicFramePr>
          <p:nvPr/>
        </p:nvGraphicFramePr>
        <p:xfrm>
          <a:off x="838200" y="2971800"/>
          <a:ext cx="1198563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7" imgW="634725" imgH="1129810" progId="Equation.3">
                  <p:embed/>
                </p:oleObj>
              </mc:Choice>
              <mc:Fallback>
                <p:oleObj name="Equation" r:id="rId7" imgW="634725" imgH="112981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971800"/>
                        <a:ext cx="1198563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/>
              <a:t>Efficient Frontier of Risky Investments</a:t>
            </a:r>
            <a:r>
              <a:rPr lang="en-US" altLang="en-US" sz="3600"/>
              <a:t> </a:t>
            </a:r>
            <a:r>
              <a:rPr lang="en-US" altLang="en-US" sz="2400"/>
              <a:t>(Figure 1.3, page 6)</a:t>
            </a:r>
          </a:p>
        </p:txBody>
      </p:sp>
      <p:sp>
        <p:nvSpPr>
          <p:cNvPr id="2560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25604" name="Slide Number Placeholder 2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8755B6-084D-4069-801D-2A987A8F5A42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  <p:sp>
        <p:nvSpPr>
          <p:cNvPr id="25605" name="Text Box 3"/>
          <p:cNvSpPr txBox="1">
            <a:spLocks noChangeArrowheads="1"/>
          </p:cNvSpPr>
          <p:nvPr/>
        </p:nvSpPr>
        <p:spPr bwMode="auto">
          <a:xfrm>
            <a:off x="3581400" y="1905000"/>
            <a:ext cx="1752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CA" altLang="en-US" sz="2000">
                <a:latin typeface="Times New Roman" panose="02020603050405020304" pitchFamily="18" charset="0"/>
              </a:rPr>
              <a:t>Efficient Frontier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25606" name="Group 4"/>
          <p:cNvGrpSpPr>
            <a:grpSpLocks/>
          </p:cNvGrpSpPr>
          <p:nvPr/>
        </p:nvGrpSpPr>
        <p:grpSpPr bwMode="auto">
          <a:xfrm>
            <a:off x="1447800" y="2209800"/>
            <a:ext cx="5867400" cy="3733800"/>
            <a:chOff x="912" y="1392"/>
            <a:chExt cx="3696" cy="2352"/>
          </a:xfrm>
        </p:grpSpPr>
        <p:sp>
          <p:nvSpPr>
            <p:cNvPr id="25607" name="Line 5"/>
            <p:cNvSpPr>
              <a:spLocks noChangeShapeType="1"/>
            </p:cNvSpPr>
            <p:nvPr/>
          </p:nvSpPr>
          <p:spPr bwMode="auto">
            <a:xfrm>
              <a:off x="912" y="1392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Line 6"/>
            <p:cNvSpPr>
              <a:spLocks noChangeShapeType="1"/>
            </p:cNvSpPr>
            <p:nvPr/>
          </p:nvSpPr>
          <p:spPr bwMode="auto">
            <a:xfrm>
              <a:off x="912" y="374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9" name="Arc 7"/>
            <p:cNvSpPr>
              <a:spLocks/>
            </p:cNvSpPr>
            <p:nvPr/>
          </p:nvSpPr>
          <p:spPr bwMode="auto">
            <a:xfrm rot="12769058" flipV="1">
              <a:off x="2127" y="1554"/>
              <a:ext cx="1678" cy="2050"/>
            </a:xfrm>
            <a:custGeom>
              <a:avLst/>
              <a:gdLst>
                <a:gd name="T0" fmla="*/ 0 w 21600"/>
                <a:gd name="T1" fmla="*/ 0 h 26776"/>
                <a:gd name="T2" fmla="*/ 0 w 21600"/>
                <a:gd name="T3" fmla="*/ 0 h 26776"/>
                <a:gd name="T4" fmla="*/ 0 w 21600"/>
                <a:gd name="T5" fmla="*/ 0 h 26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776"/>
                <a:gd name="T11" fmla="*/ 21600 w 21600"/>
                <a:gd name="T12" fmla="*/ 26776 h 26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776" fill="none" extrusionOk="0">
                  <a:moveTo>
                    <a:pt x="9413" y="-1"/>
                  </a:moveTo>
                  <a:cubicBezTo>
                    <a:pt x="16866" y="3608"/>
                    <a:pt x="21600" y="11160"/>
                    <a:pt x="21600" y="19441"/>
                  </a:cubicBezTo>
                  <a:cubicBezTo>
                    <a:pt x="21600" y="21941"/>
                    <a:pt x="21165" y="24423"/>
                    <a:pt x="20316" y="26776"/>
                  </a:cubicBezTo>
                </a:path>
                <a:path w="21600" h="26776" stroke="0" extrusionOk="0">
                  <a:moveTo>
                    <a:pt x="9413" y="-1"/>
                  </a:moveTo>
                  <a:cubicBezTo>
                    <a:pt x="16866" y="3608"/>
                    <a:pt x="21600" y="11160"/>
                    <a:pt x="21600" y="19441"/>
                  </a:cubicBezTo>
                  <a:cubicBezTo>
                    <a:pt x="21600" y="21941"/>
                    <a:pt x="21165" y="24423"/>
                    <a:pt x="20316" y="26776"/>
                  </a:cubicBezTo>
                  <a:lnTo>
                    <a:pt x="0" y="19441"/>
                  </a:lnTo>
                  <a:lnTo>
                    <a:pt x="9413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10" name="AutoShape 8"/>
            <p:cNvSpPr>
              <a:spLocks noChangeArrowheads="1"/>
            </p:cNvSpPr>
            <p:nvPr/>
          </p:nvSpPr>
          <p:spPr bwMode="auto">
            <a:xfrm>
              <a:off x="2016" y="2592"/>
              <a:ext cx="192" cy="144"/>
            </a:xfrm>
            <a:prstGeom prst="flowChartSummingJunction">
              <a:avLst/>
            </a:prstGeom>
            <a:solidFill>
              <a:schemeClr val="bg1"/>
            </a:solidFill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1" name="AutoShape 9"/>
            <p:cNvSpPr>
              <a:spLocks noChangeArrowheads="1"/>
            </p:cNvSpPr>
            <p:nvPr/>
          </p:nvSpPr>
          <p:spPr bwMode="auto">
            <a:xfrm>
              <a:off x="2304" y="2304"/>
              <a:ext cx="192" cy="144"/>
            </a:xfrm>
            <a:prstGeom prst="flowChartSummingJunction">
              <a:avLst/>
            </a:prstGeom>
            <a:solidFill>
              <a:schemeClr val="bg1"/>
            </a:solidFill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2" name="AutoShape 10"/>
            <p:cNvSpPr>
              <a:spLocks noChangeArrowheads="1"/>
            </p:cNvSpPr>
            <p:nvPr/>
          </p:nvSpPr>
          <p:spPr bwMode="auto">
            <a:xfrm>
              <a:off x="2352" y="2544"/>
              <a:ext cx="192" cy="144"/>
            </a:xfrm>
            <a:prstGeom prst="flowChartSummingJunction">
              <a:avLst/>
            </a:prstGeom>
            <a:solidFill>
              <a:schemeClr val="bg1"/>
            </a:solidFill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3" name="AutoShape 11"/>
            <p:cNvSpPr>
              <a:spLocks noChangeArrowheads="1"/>
            </p:cNvSpPr>
            <p:nvPr/>
          </p:nvSpPr>
          <p:spPr bwMode="auto">
            <a:xfrm>
              <a:off x="2544" y="2016"/>
              <a:ext cx="192" cy="144"/>
            </a:xfrm>
            <a:prstGeom prst="flowChartSummingJunction">
              <a:avLst/>
            </a:prstGeom>
            <a:solidFill>
              <a:schemeClr val="bg1"/>
            </a:solidFill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4" name="AutoShape 12"/>
            <p:cNvSpPr>
              <a:spLocks noChangeArrowheads="1"/>
            </p:cNvSpPr>
            <p:nvPr/>
          </p:nvSpPr>
          <p:spPr bwMode="auto">
            <a:xfrm>
              <a:off x="2640" y="2400"/>
              <a:ext cx="192" cy="144"/>
            </a:xfrm>
            <a:prstGeom prst="flowChartSummingJunction">
              <a:avLst/>
            </a:prstGeom>
            <a:solidFill>
              <a:schemeClr val="bg1"/>
            </a:solidFill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5" name="AutoShape 13"/>
            <p:cNvSpPr>
              <a:spLocks noChangeArrowheads="1"/>
            </p:cNvSpPr>
            <p:nvPr/>
          </p:nvSpPr>
          <p:spPr bwMode="auto">
            <a:xfrm>
              <a:off x="2880" y="1920"/>
              <a:ext cx="192" cy="144"/>
            </a:xfrm>
            <a:prstGeom prst="flowChartSummingJunction">
              <a:avLst/>
            </a:prstGeom>
            <a:solidFill>
              <a:schemeClr val="bg1"/>
            </a:solidFill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6" name="AutoShape 14"/>
            <p:cNvSpPr>
              <a:spLocks noChangeArrowheads="1"/>
            </p:cNvSpPr>
            <p:nvPr/>
          </p:nvSpPr>
          <p:spPr bwMode="auto">
            <a:xfrm>
              <a:off x="2976" y="2112"/>
              <a:ext cx="192" cy="144"/>
            </a:xfrm>
            <a:prstGeom prst="flowChartSummingJunction">
              <a:avLst/>
            </a:prstGeom>
            <a:solidFill>
              <a:schemeClr val="bg1"/>
            </a:solidFill>
            <a:ln w="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5617" name="Text Box 15"/>
            <p:cNvSpPr txBox="1">
              <a:spLocks noChangeArrowheads="1"/>
            </p:cNvSpPr>
            <p:nvPr/>
          </p:nvSpPr>
          <p:spPr bwMode="auto">
            <a:xfrm>
              <a:off x="2496" y="2016"/>
              <a:ext cx="1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CA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618" name="Text Box 16"/>
            <p:cNvSpPr txBox="1">
              <a:spLocks noChangeArrowheads="1"/>
            </p:cNvSpPr>
            <p:nvPr/>
          </p:nvSpPr>
          <p:spPr bwMode="auto">
            <a:xfrm>
              <a:off x="912" y="1440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000">
                  <a:latin typeface="Times New Roman" panose="02020603050405020304" pitchFamily="18" charset="0"/>
                </a:rPr>
                <a:t>Expected Return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5619" name="Text Box 17"/>
            <p:cNvSpPr txBox="1">
              <a:spLocks noChangeArrowheads="1"/>
            </p:cNvSpPr>
            <p:nvPr/>
          </p:nvSpPr>
          <p:spPr bwMode="auto">
            <a:xfrm>
              <a:off x="3120" y="3216"/>
              <a:ext cx="1200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400">
                  <a:latin typeface="Times New Roman" panose="02020603050405020304" pitchFamily="18" charset="0"/>
                </a:rPr>
                <a:t>S.D. of Return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620" name="Text Box 18"/>
            <p:cNvSpPr txBox="1">
              <a:spLocks noChangeArrowheads="1"/>
            </p:cNvSpPr>
            <p:nvPr/>
          </p:nvSpPr>
          <p:spPr bwMode="auto">
            <a:xfrm>
              <a:off x="3312" y="2448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400">
                  <a:latin typeface="Times New Roman" panose="02020603050405020304" pitchFamily="18" charset="0"/>
                </a:rPr>
                <a:t>Investments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5621" name="Line 19"/>
            <p:cNvSpPr>
              <a:spLocks noChangeShapeType="1"/>
            </p:cNvSpPr>
            <p:nvPr/>
          </p:nvSpPr>
          <p:spPr bwMode="auto">
            <a:xfrm flipH="1" flipV="1">
              <a:off x="3168" y="2256"/>
              <a:ext cx="28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2" name="Line 20"/>
            <p:cNvSpPr>
              <a:spLocks noChangeShapeType="1"/>
            </p:cNvSpPr>
            <p:nvPr/>
          </p:nvSpPr>
          <p:spPr bwMode="auto">
            <a:xfrm flipH="1">
              <a:off x="2880" y="249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Line 21"/>
            <p:cNvSpPr>
              <a:spLocks noChangeShapeType="1"/>
            </p:cNvSpPr>
            <p:nvPr/>
          </p:nvSpPr>
          <p:spPr bwMode="auto">
            <a:xfrm flipH="1">
              <a:off x="2448" y="1584"/>
              <a:ext cx="4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 dirty="0"/>
              <a:t>Efficient Frontier of All Investments</a:t>
            </a:r>
            <a:r>
              <a:rPr lang="en-US" altLang="en-US" sz="3600" dirty="0"/>
              <a:t> </a:t>
            </a:r>
            <a:r>
              <a:rPr lang="en-US" altLang="en-US" sz="2400" dirty="0"/>
              <a:t>(Figure 1.4, page 7)</a:t>
            </a:r>
          </a:p>
        </p:txBody>
      </p:sp>
      <p:sp>
        <p:nvSpPr>
          <p:cNvPr id="2765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27652" name="Slide Number Placeholder 2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56D5B62-DBD5-4140-9659-7D7D767A2973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  <p:grpSp>
        <p:nvGrpSpPr>
          <p:cNvPr id="27653" name="Group 3"/>
          <p:cNvGrpSpPr>
            <a:grpSpLocks/>
          </p:cNvGrpSpPr>
          <p:nvPr/>
        </p:nvGrpSpPr>
        <p:grpSpPr bwMode="auto">
          <a:xfrm>
            <a:off x="533400" y="1643063"/>
            <a:ext cx="6324600" cy="4286250"/>
            <a:chOff x="336" y="1344"/>
            <a:chExt cx="3984" cy="2688"/>
          </a:xfrm>
        </p:grpSpPr>
        <p:sp>
          <p:nvSpPr>
            <p:cNvPr id="27654" name="Line 4"/>
            <p:cNvSpPr>
              <a:spLocks noChangeShapeType="1"/>
            </p:cNvSpPr>
            <p:nvPr/>
          </p:nvSpPr>
          <p:spPr bwMode="auto">
            <a:xfrm>
              <a:off x="912" y="1440"/>
              <a:ext cx="0" cy="23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5" name="Line 5"/>
            <p:cNvSpPr>
              <a:spLocks noChangeShapeType="1"/>
            </p:cNvSpPr>
            <p:nvPr/>
          </p:nvSpPr>
          <p:spPr bwMode="auto">
            <a:xfrm>
              <a:off x="912" y="3744"/>
              <a:ext cx="33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Arc 6"/>
            <p:cNvSpPr>
              <a:spLocks/>
            </p:cNvSpPr>
            <p:nvPr/>
          </p:nvSpPr>
          <p:spPr bwMode="auto">
            <a:xfrm rot="12769058" flipV="1">
              <a:off x="2127" y="1554"/>
              <a:ext cx="1678" cy="2050"/>
            </a:xfrm>
            <a:custGeom>
              <a:avLst/>
              <a:gdLst>
                <a:gd name="T0" fmla="*/ 0 w 21600"/>
                <a:gd name="T1" fmla="*/ 0 h 26776"/>
                <a:gd name="T2" fmla="*/ 0 w 21600"/>
                <a:gd name="T3" fmla="*/ 0 h 26776"/>
                <a:gd name="T4" fmla="*/ 0 w 21600"/>
                <a:gd name="T5" fmla="*/ 0 h 26776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776"/>
                <a:gd name="T11" fmla="*/ 21600 w 21600"/>
                <a:gd name="T12" fmla="*/ 26776 h 26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776" fill="none" extrusionOk="0">
                  <a:moveTo>
                    <a:pt x="9413" y="-1"/>
                  </a:moveTo>
                  <a:cubicBezTo>
                    <a:pt x="16866" y="3608"/>
                    <a:pt x="21600" y="11160"/>
                    <a:pt x="21600" y="19441"/>
                  </a:cubicBezTo>
                  <a:cubicBezTo>
                    <a:pt x="21600" y="21941"/>
                    <a:pt x="21165" y="24423"/>
                    <a:pt x="20316" y="26776"/>
                  </a:cubicBezTo>
                </a:path>
                <a:path w="21600" h="26776" stroke="0" extrusionOk="0">
                  <a:moveTo>
                    <a:pt x="9413" y="-1"/>
                  </a:moveTo>
                  <a:cubicBezTo>
                    <a:pt x="16866" y="3608"/>
                    <a:pt x="21600" y="11160"/>
                    <a:pt x="21600" y="19441"/>
                  </a:cubicBezTo>
                  <a:cubicBezTo>
                    <a:pt x="21600" y="21941"/>
                    <a:pt x="21165" y="24423"/>
                    <a:pt x="20316" y="26776"/>
                  </a:cubicBezTo>
                  <a:lnTo>
                    <a:pt x="0" y="19441"/>
                  </a:lnTo>
                  <a:lnTo>
                    <a:pt x="9413" y="-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Text Box 7"/>
            <p:cNvSpPr txBox="1">
              <a:spLocks noChangeArrowheads="1"/>
            </p:cNvSpPr>
            <p:nvPr/>
          </p:nvSpPr>
          <p:spPr bwMode="auto">
            <a:xfrm>
              <a:off x="2496" y="2016"/>
              <a:ext cx="1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CA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58" name="Text Box 8"/>
            <p:cNvSpPr txBox="1">
              <a:spLocks noChangeArrowheads="1"/>
            </p:cNvSpPr>
            <p:nvPr/>
          </p:nvSpPr>
          <p:spPr bwMode="auto">
            <a:xfrm>
              <a:off x="912" y="1440"/>
              <a:ext cx="912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000">
                  <a:latin typeface="Times New Roman" panose="02020603050405020304" pitchFamily="18" charset="0"/>
                </a:rPr>
                <a:t>Expected Return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7659" name="Text Box 9"/>
            <p:cNvSpPr txBox="1">
              <a:spLocks noChangeArrowheads="1"/>
            </p:cNvSpPr>
            <p:nvPr/>
          </p:nvSpPr>
          <p:spPr bwMode="auto">
            <a:xfrm>
              <a:off x="3120" y="3408"/>
              <a:ext cx="12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000">
                  <a:latin typeface="Times New Roman" panose="02020603050405020304" pitchFamily="18" charset="0"/>
                </a:rPr>
                <a:t>S.D. of Return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7660" name="Line 10"/>
            <p:cNvSpPr>
              <a:spLocks noChangeShapeType="1"/>
            </p:cNvSpPr>
            <p:nvPr/>
          </p:nvSpPr>
          <p:spPr bwMode="auto">
            <a:xfrm flipV="1">
              <a:off x="912" y="1440"/>
              <a:ext cx="264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Text Box 11"/>
            <p:cNvSpPr txBox="1">
              <a:spLocks noChangeArrowheads="1"/>
            </p:cNvSpPr>
            <p:nvPr/>
          </p:nvSpPr>
          <p:spPr bwMode="auto">
            <a:xfrm>
              <a:off x="576" y="273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400" i="1">
                  <a:latin typeface="Times New Roman" panose="02020603050405020304" pitchFamily="18" charset="0"/>
                </a:rPr>
                <a:t>R</a:t>
              </a:r>
              <a:r>
                <a:rPr lang="en-CA" altLang="en-US" sz="2400" i="1" baseline="-25000">
                  <a:latin typeface="Times New Roman" panose="02020603050405020304" pitchFamily="18" charset="0"/>
                </a:rPr>
                <a:t>F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62" name="Text Box 12"/>
            <p:cNvSpPr txBox="1">
              <a:spLocks noChangeArrowheads="1"/>
            </p:cNvSpPr>
            <p:nvPr/>
          </p:nvSpPr>
          <p:spPr bwMode="auto">
            <a:xfrm>
              <a:off x="336" y="1824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400">
                  <a:latin typeface="Times New Roman" panose="02020603050405020304" pitchFamily="18" charset="0"/>
                </a:rPr>
                <a:t>E(</a:t>
              </a:r>
              <a:r>
                <a:rPr lang="en-CA" altLang="en-US" sz="2400" i="1">
                  <a:latin typeface="Times New Roman" panose="02020603050405020304" pitchFamily="18" charset="0"/>
                </a:rPr>
                <a:t>R</a:t>
              </a:r>
              <a:r>
                <a:rPr lang="en-CA" altLang="en-US" sz="2400" i="1" baseline="-25000">
                  <a:latin typeface="Times New Roman" panose="02020603050405020304" pitchFamily="18" charset="0"/>
                </a:rPr>
                <a:t>M</a:t>
              </a:r>
              <a:r>
                <a:rPr lang="en-CA" altLang="en-US" sz="2400">
                  <a:latin typeface="Times New Roman" panose="02020603050405020304" pitchFamily="18" charset="0"/>
                </a:rPr>
                <a:t>)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63" name="Text Box 13"/>
            <p:cNvSpPr txBox="1">
              <a:spLocks noChangeArrowheads="1"/>
            </p:cNvSpPr>
            <p:nvPr/>
          </p:nvSpPr>
          <p:spPr bwMode="auto">
            <a:xfrm>
              <a:off x="2400" y="3744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400">
                  <a:latin typeface="Symbol" panose="05050102010706020507" pitchFamily="18" charset="2"/>
                </a:rPr>
                <a:t>s</a:t>
              </a:r>
              <a:r>
                <a:rPr lang="en-CA" altLang="en-US" sz="2400" i="1" baseline="-25000">
                  <a:latin typeface="Times New Roman" panose="02020603050405020304" pitchFamily="18" charset="0"/>
                </a:rPr>
                <a:t>M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sp>
          <p:nvSpPr>
            <p:cNvPr id="27664" name="Text Box 14"/>
            <p:cNvSpPr txBox="1">
              <a:spLocks noChangeArrowheads="1"/>
            </p:cNvSpPr>
            <p:nvPr/>
          </p:nvSpPr>
          <p:spPr bwMode="auto">
            <a:xfrm>
              <a:off x="2880" y="2352"/>
              <a:ext cx="134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000">
                  <a:latin typeface="Times New Roman" panose="02020603050405020304" pitchFamily="18" charset="0"/>
                </a:rPr>
                <a:t>Previous Efficient Frontier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7665" name="Text Box 15"/>
            <p:cNvSpPr txBox="1">
              <a:spLocks noChangeArrowheads="1"/>
            </p:cNvSpPr>
            <p:nvPr/>
          </p:nvSpPr>
          <p:spPr bwMode="auto">
            <a:xfrm>
              <a:off x="892" y="2794"/>
              <a:ext cx="33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400">
                  <a:latin typeface="Times New Roman" panose="02020603050405020304" pitchFamily="18" charset="0"/>
                </a:rPr>
                <a:t>F</a:t>
              </a:r>
              <a:endParaRPr lang="en-US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7666" name="Text Box 16"/>
            <p:cNvSpPr txBox="1">
              <a:spLocks noChangeArrowheads="1"/>
            </p:cNvSpPr>
            <p:nvPr/>
          </p:nvSpPr>
          <p:spPr bwMode="auto">
            <a:xfrm>
              <a:off x="2400" y="172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400">
                  <a:latin typeface="Times New Roman" panose="02020603050405020304" pitchFamily="18" charset="0"/>
                </a:rPr>
                <a:t>M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67" name="Text Box 17"/>
            <p:cNvSpPr txBox="1">
              <a:spLocks noChangeArrowheads="1"/>
            </p:cNvSpPr>
            <p:nvPr/>
          </p:nvSpPr>
          <p:spPr bwMode="auto">
            <a:xfrm>
              <a:off x="1632" y="211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400">
                  <a:latin typeface="Times New Roman" panose="02020603050405020304" pitchFamily="18" charset="0"/>
                </a:rPr>
                <a:t>I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68" name="Text Box 18"/>
            <p:cNvSpPr txBox="1">
              <a:spLocks noChangeArrowheads="1"/>
            </p:cNvSpPr>
            <p:nvPr/>
          </p:nvSpPr>
          <p:spPr bwMode="auto">
            <a:xfrm>
              <a:off x="3120" y="134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400">
                  <a:latin typeface="Times New Roman" panose="02020603050405020304" pitchFamily="18" charset="0"/>
                </a:rPr>
                <a:t>J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7669" name="Text Box 19"/>
            <p:cNvSpPr txBox="1">
              <a:spLocks noChangeArrowheads="1"/>
            </p:cNvSpPr>
            <p:nvPr/>
          </p:nvSpPr>
          <p:spPr bwMode="auto">
            <a:xfrm>
              <a:off x="960" y="3072"/>
              <a:ext cx="129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000">
                  <a:latin typeface="Times New Roman" panose="02020603050405020304" pitchFamily="18" charset="0"/>
                </a:rPr>
                <a:t>New Efficient Frontier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27670" name="Line 20"/>
            <p:cNvSpPr>
              <a:spLocks noChangeShapeType="1"/>
            </p:cNvSpPr>
            <p:nvPr/>
          </p:nvSpPr>
          <p:spPr bwMode="auto">
            <a:xfrm>
              <a:off x="912" y="1968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1" name="Line 21"/>
            <p:cNvSpPr>
              <a:spLocks noChangeShapeType="1"/>
            </p:cNvSpPr>
            <p:nvPr/>
          </p:nvSpPr>
          <p:spPr bwMode="auto">
            <a:xfrm flipV="1">
              <a:off x="912" y="1968"/>
              <a:ext cx="1680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2" name="Line 22"/>
            <p:cNvSpPr>
              <a:spLocks noChangeShapeType="1"/>
            </p:cNvSpPr>
            <p:nvPr/>
          </p:nvSpPr>
          <p:spPr bwMode="auto">
            <a:xfrm>
              <a:off x="2592" y="2016"/>
              <a:ext cx="0" cy="177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3" name="Line 23"/>
            <p:cNvSpPr>
              <a:spLocks noChangeShapeType="1"/>
            </p:cNvSpPr>
            <p:nvPr/>
          </p:nvSpPr>
          <p:spPr bwMode="auto">
            <a:xfrm flipH="1" flipV="1">
              <a:off x="3072" y="1776"/>
              <a:ext cx="24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4" name="Line 24"/>
            <p:cNvSpPr>
              <a:spLocks noChangeShapeType="1"/>
            </p:cNvSpPr>
            <p:nvPr/>
          </p:nvSpPr>
          <p:spPr bwMode="auto">
            <a:xfrm flipV="1">
              <a:off x="1392" y="2544"/>
              <a:ext cx="14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z="3600"/>
              <a:t>Systematic vs Non-Systematic Risk</a:t>
            </a:r>
            <a:r>
              <a:rPr lang="en-US" altLang="en-US" sz="3600"/>
              <a:t> </a:t>
            </a:r>
            <a:r>
              <a:rPr lang="en-US" altLang="en-US" sz="2400"/>
              <a:t>(equation 1.3, page 8)</a:t>
            </a:r>
          </a:p>
        </p:txBody>
      </p:sp>
      <p:sp>
        <p:nvSpPr>
          <p:cNvPr id="2052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CA" dirty="0">
                <a:cs typeface="Arial" charset="0"/>
              </a:rPr>
              <a:t>We can calculate the best fit linear relationship between return from investment and return from market</a:t>
            </a:r>
          </a:p>
          <a:p>
            <a:pPr eaLnBrk="1" hangingPunct="1">
              <a:defRPr/>
            </a:pPr>
            <a:endParaRPr lang="en-CA" dirty="0">
              <a:cs typeface="Arial" charset="0"/>
            </a:endParaRP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dirty="0">
              <a:cs typeface="Arial" charset="0"/>
            </a:endParaRP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29701" name="Slide Number Placeholder 1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96A30A8-1B72-43D1-A25F-B36CDAD184A8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  <p:graphicFrame>
        <p:nvGraphicFramePr>
          <p:cNvPr id="29702" name="Object 1024"/>
          <p:cNvGraphicFramePr>
            <a:graphicFrameLocks noChangeAspect="1"/>
          </p:cNvGraphicFramePr>
          <p:nvPr/>
        </p:nvGraphicFramePr>
        <p:xfrm>
          <a:off x="2211388" y="3733800"/>
          <a:ext cx="3119437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990360" imgH="215640" progId="Equation.3">
                  <p:embed/>
                </p:oleObj>
              </mc:Choice>
              <mc:Fallback>
                <p:oleObj name="Equation" r:id="rId4" imgW="990360" imgH="21564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388" y="3733800"/>
                        <a:ext cx="3119437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Text Box 1029"/>
          <p:cNvSpPr txBox="1">
            <a:spLocks noChangeArrowheads="1"/>
          </p:cNvSpPr>
          <p:nvPr/>
        </p:nvSpPr>
        <p:spPr bwMode="auto">
          <a:xfrm>
            <a:off x="1066800" y="5029200"/>
            <a:ext cx="274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CA" altLang="en-US" sz="2400">
                <a:latin typeface="Times New Roman" panose="02020603050405020304" pitchFamily="18" charset="0"/>
              </a:rPr>
              <a:t>Systematic Risk (non-diversifiable)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4" name="Text Box 1030"/>
          <p:cNvSpPr txBox="1">
            <a:spLocks noChangeArrowheads="1"/>
          </p:cNvSpPr>
          <p:nvPr/>
        </p:nvSpPr>
        <p:spPr bwMode="auto">
          <a:xfrm>
            <a:off x="5257800" y="5181600"/>
            <a:ext cx="26670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CA" altLang="en-US" sz="2400">
                <a:latin typeface="Times New Roman" panose="02020603050405020304" pitchFamily="18" charset="0"/>
              </a:rPr>
              <a:t>Non-systematic risk (diversifiable)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9705" name="Line 1031"/>
          <p:cNvSpPr>
            <a:spLocks noChangeShapeType="1"/>
          </p:cNvSpPr>
          <p:nvPr/>
        </p:nvSpPr>
        <p:spPr bwMode="auto">
          <a:xfrm flipV="1">
            <a:off x="2667000" y="4343400"/>
            <a:ext cx="1371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6" name="Line 1032"/>
          <p:cNvSpPr>
            <a:spLocks noChangeShapeType="1"/>
          </p:cNvSpPr>
          <p:nvPr/>
        </p:nvSpPr>
        <p:spPr bwMode="auto">
          <a:xfrm flipH="1" flipV="1">
            <a:off x="5334000" y="4343400"/>
            <a:ext cx="838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928688"/>
            <a:ext cx="7543800" cy="857250"/>
          </a:xfrm>
        </p:spPr>
        <p:txBody>
          <a:bodyPr/>
          <a:lstStyle/>
          <a:p>
            <a:pPr eaLnBrk="1" hangingPunct="1"/>
            <a:r>
              <a:rPr lang="en-CA" altLang="en-US" sz="3600"/>
              <a:t>The Capital Asset Pricing Model</a:t>
            </a:r>
            <a:r>
              <a:rPr lang="en-US" altLang="en-US" sz="3600"/>
              <a:t> </a:t>
            </a:r>
            <a:r>
              <a:rPr lang="en-US" altLang="en-US"/>
              <a:t>(</a:t>
            </a:r>
            <a:r>
              <a:rPr lang="en-US" altLang="en-US" sz="2400"/>
              <a:t>Figure 1.5, page 9)</a:t>
            </a:r>
          </a:p>
        </p:txBody>
      </p:sp>
      <p:sp>
        <p:nvSpPr>
          <p:cNvPr id="3174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31748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E064F2-5549-46B6-A929-5CA773FA7D9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  <p:grpSp>
        <p:nvGrpSpPr>
          <p:cNvPr id="31749" name="Group 20"/>
          <p:cNvGrpSpPr>
            <a:grpSpLocks/>
          </p:cNvGrpSpPr>
          <p:nvPr/>
        </p:nvGrpSpPr>
        <p:grpSpPr bwMode="auto">
          <a:xfrm>
            <a:off x="714375" y="2143125"/>
            <a:ext cx="7215188" cy="3714750"/>
            <a:chOff x="533400" y="1752600"/>
            <a:chExt cx="7705725" cy="4648200"/>
          </a:xfrm>
        </p:grpSpPr>
        <p:sp>
          <p:nvSpPr>
            <p:cNvPr id="31750" name="Text Box 6"/>
            <p:cNvSpPr txBox="1">
              <a:spLocks noChangeArrowheads="1"/>
            </p:cNvSpPr>
            <p:nvPr/>
          </p:nvSpPr>
          <p:spPr bwMode="auto">
            <a:xfrm>
              <a:off x="1447800" y="1752600"/>
              <a:ext cx="1447800" cy="70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000">
                  <a:latin typeface="Times New Roman" panose="02020603050405020304" pitchFamily="18" charset="0"/>
                </a:rPr>
                <a:t>Expected Return </a:t>
              </a:r>
              <a:r>
                <a:rPr lang="en-CA" altLang="en-US" sz="2000" i="1">
                  <a:latin typeface="Times New Roman" panose="02020603050405020304" pitchFamily="18" charset="0"/>
                </a:rPr>
                <a:t>E</a:t>
              </a:r>
              <a:r>
                <a:rPr lang="en-CA" altLang="en-US" sz="2000">
                  <a:latin typeface="Times New Roman" panose="02020603050405020304" pitchFamily="18" charset="0"/>
                </a:rPr>
                <a:t>(</a:t>
              </a:r>
              <a:r>
                <a:rPr lang="en-CA" altLang="en-US" sz="2000" i="1">
                  <a:latin typeface="Times New Roman" panose="02020603050405020304" pitchFamily="18" charset="0"/>
                </a:rPr>
                <a:t>R</a:t>
              </a:r>
              <a:r>
                <a:rPr lang="en-CA" altLang="en-US" sz="2000">
                  <a:latin typeface="Times New Roman" panose="02020603050405020304" pitchFamily="18" charset="0"/>
                </a:rPr>
                <a:t>)</a:t>
              </a:r>
              <a:endParaRPr lang="en-US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31751" name="Text Box 11"/>
            <p:cNvSpPr txBox="1">
              <a:spLocks noChangeArrowheads="1"/>
            </p:cNvSpPr>
            <p:nvPr/>
          </p:nvSpPr>
          <p:spPr bwMode="auto">
            <a:xfrm>
              <a:off x="3810000" y="594360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CA" altLang="en-US" sz="2400">
                  <a:latin typeface="Symbol" panose="05050102010706020507" pitchFamily="18" charset="2"/>
                </a:rPr>
                <a:t>1.0</a:t>
              </a:r>
              <a:endParaRPr lang="en-US" altLang="en-US" sz="2400" i="1">
                <a:latin typeface="Times New Roman" panose="02020603050405020304" pitchFamily="18" charset="0"/>
              </a:endParaRPr>
            </a:p>
          </p:txBody>
        </p:sp>
        <p:grpSp>
          <p:nvGrpSpPr>
            <p:cNvPr id="31752" name="Group 19"/>
            <p:cNvGrpSpPr>
              <a:grpSpLocks/>
            </p:cNvGrpSpPr>
            <p:nvPr/>
          </p:nvGrpSpPr>
          <p:grpSpPr bwMode="auto">
            <a:xfrm>
              <a:off x="533400" y="2285992"/>
              <a:ext cx="7705725" cy="3733808"/>
              <a:chOff x="533400" y="2286000"/>
              <a:chExt cx="7705725" cy="3733800"/>
            </a:xfrm>
          </p:grpSpPr>
          <p:sp>
            <p:nvSpPr>
              <p:cNvPr id="31753" name="Line 3"/>
              <p:cNvSpPr>
                <a:spLocks noChangeShapeType="1"/>
              </p:cNvSpPr>
              <p:nvPr/>
            </p:nvSpPr>
            <p:spPr bwMode="auto">
              <a:xfrm>
                <a:off x="1447800" y="2286000"/>
                <a:ext cx="0" cy="3657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54" name="Line 4"/>
              <p:cNvSpPr>
                <a:spLocks noChangeShapeType="1"/>
              </p:cNvSpPr>
              <p:nvPr/>
            </p:nvSpPr>
            <p:spPr bwMode="auto">
              <a:xfrm>
                <a:off x="1447800" y="5943600"/>
                <a:ext cx="52578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55" name="Text Box 5"/>
              <p:cNvSpPr txBox="1">
                <a:spLocks noChangeArrowheads="1"/>
              </p:cNvSpPr>
              <p:nvPr/>
            </p:nvSpPr>
            <p:spPr bwMode="auto">
              <a:xfrm>
                <a:off x="3962400" y="3200400"/>
                <a:ext cx="26035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CA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56" name="Text Box 7"/>
              <p:cNvSpPr txBox="1">
                <a:spLocks noChangeArrowheads="1"/>
              </p:cNvSpPr>
              <p:nvPr/>
            </p:nvSpPr>
            <p:spPr bwMode="auto">
              <a:xfrm>
                <a:off x="5562600" y="5486400"/>
                <a:ext cx="1295400" cy="3968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CA" altLang="en-US" sz="2000">
                    <a:latin typeface="Times New Roman" panose="02020603050405020304" pitchFamily="18" charset="0"/>
                  </a:rPr>
                  <a:t>Beta</a:t>
                </a:r>
                <a:endParaRPr lang="en-US" altLang="en-US" sz="20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57" name="Line 8"/>
              <p:cNvSpPr>
                <a:spLocks noChangeShapeType="1"/>
              </p:cNvSpPr>
              <p:nvPr/>
            </p:nvSpPr>
            <p:spPr bwMode="auto">
              <a:xfrm flipV="1">
                <a:off x="1447800" y="2286000"/>
                <a:ext cx="4191000" cy="2286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58" name="Text Box 9"/>
              <p:cNvSpPr txBox="1">
                <a:spLocks noChangeArrowheads="1"/>
              </p:cNvSpPr>
              <p:nvPr/>
            </p:nvSpPr>
            <p:spPr bwMode="auto">
              <a:xfrm>
                <a:off x="914400" y="4343400"/>
                <a:ext cx="6858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CA" altLang="en-US" sz="2400" i="1">
                    <a:latin typeface="Times New Roman" panose="02020603050405020304" pitchFamily="18" charset="0"/>
                  </a:rPr>
                  <a:t>R</a:t>
                </a:r>
                <a:r>
                  <a:rPr lang="en-CA" altLang="en-US" sz="2400" i="1" baseline="-25000">
                    <a:latin typeface="Times New Roman" panose="02020603050405020304" pitchFamily="18" charset="0"/>
                  </a:rPr>
                  <a:t>F</a:t>
                </a:r>
                <a:endParaRPr lang="en-US" altLang="en-US" sz="2400" i="1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59" name="Text Box 10"/>
              <p:cNvSpPr txBox="1">
                <a:spLocks noChangeArrowheads="1"/>
              </p:cNvSpPr>
              <p:nvPr/>
            </p:nvSpPr>
            <p:spPr bwMode="auto">
              <a:xfrm>
                <a:off x="533400" y="2895600"/>
                <a:ext cx="990600" cy="457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70000"/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70000"/>
                  <a:buFont typeface="Wingdings" panose="05000000000000000000" pitchFamily="2" charset="2"/>
                  <a:buChar char="l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80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CA" altLang="en-US" sz="2400">
                    <a:latin typeface="Times New Roman" panose="02020603050405020304" pitchFamily="18" charset="0"/>
                  </a:rPr>
                  <a:t>E(</a:t>
                </a:r>
                <a:r>
                  <a:rPr lang="en-CA" altLang="en-US" sz="2400" i="1">
                    <a:latin typeface="Times New Roman" panose="02020603050405020304" pitchFamily="18" charset="0"/>
                  </a:rPr>
                  <a:t>R</a:t>
                </a:r>
                <a:r>
                  <a:rPr lang="en-CA" altLang="en-US" sz="2400" i="1" baseline="-25000">
                    <a:latin typeface="Times New Roman" panose="02020603050405020304" pitchFamily="18" charset="0"/>
                  </a:rPr>
                  <a:t>M</a:t>
                </a:r>
                <a:r>
                  <a:rPr lang="en-CA" altLang="en-US" sz="2400">
                    <a:latin typeface="Times New Roman" panose="02020603050405020304" pitchFamily="18" charset="0"/>
                  </a:rPr>
                  <a:t>)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60" name="Line 12"/>
              <p:cNvSpPr>
                <a:spLocks noChangeShapeType="1"/>
              </p:cNvSpPr>
              <p:nvPr/>
            </p:nvSpPr>
            <p:spPr bwMode="auto">
              <a:xfrm>
                <a:off x="1447800" y="3124200"/>
                <a:ext cx="0" cy="76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1" name="Line 13"/>
              <p:cNvSpPr>
                <a:spLocks noChangeShapeType="1"/>
              </p:cNvSpPr>
              <p:nvPr/>
            </p:nvSpPr>
            <p:spPr bwMode="auto">
              <a:xfrm flipV="1">
                <a:off x="1447800" y="3124200"/>
                <a:ext cx="2667000" cy="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2" name="Line 14"/>
              <p:cNvSpPr>
                <a:spLocks noChangeShapeType="1"/>
              </p:cNvSpPr>
              <p:nvPr/>
            </p:nvSpPr>
            <p:spPr bwMode="auto">
              <a:xfrm>
                <a:off x="4114800" y="3200400"/>
                <a:ext cx="0" cy="2819400"/>
              </a:xfrm>
              <a:prstGeom prst="line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763" name="Line 15"/>
              <p:cNvSpPr>
                <a:spLocks noChangeShapeType="1"/>
              </p:cNvSpPr>
              <p:nvPr/>
            </p:nvSpPr>
            <p:spPr bwMode="auto">
              <a:xfrm flipH="1" flipV="1">
                <a:off x="4876800" y="2819400"/>
                <a:ext cx="381000" cy="990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31764" name="Object 1024"/>
              <p:cNvGraphicFramePr>
                <a:graphicFrameLocks noChangeAspect="1"/>
              </p:cNvGraphicFramePr>
              <p:nvPr/>
            </p:nvGraphicFramePr>
            <p:xfrm>
              <a:off x="4945063" y="4076700"/>
              <a:ext cx="3294062" cy="4079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74" name="Equation" r:id="rId4" imgW="1739900" imgH="215900" progId="Equation.3">
                      <p:embed/>
                    </p:oleObj>
                  </mc:Choice>
                  <mc:Fallback>
                    <p:oleObj name="Equation" r:id="rId4" imgW="1739900" imgH="215900" progId="Equation.3">
                      <p:embed/>
                      <p:pic>
                        <p:nvPicPr>
                          <p:cNvPr id="0" name="Object 10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45063" y="4076700"/>
                            <a:ext cx="3294062" cy="4079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Assumptions</a:t>
            </a:r>
            <a:endParaRPr lang="en-US" altLang="en-US"/>
          </a:p>
        </p:txBody>
      </p:sp>
      <p:sp>
        <p:nvSpPr>
          <p:cNvPr id="3379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Investors care only about expected return and SD of return</a:t>
            </a: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The </a:t>
            </a:r>
            <a:r>
              <a:rPr lang="en-CA" altLang="en-US" sz="2400" dirty="0">
                <a:latin typeface="Symbol" panose="05050102010706020507" pitchFamily="18" charset="2"/>
                <a:cs typeface="Arial" panose="020B0604020202020204" pitchFamily="34" charset="0"/>
              </a:rPr>
              <a:t>e</a:t>
            </a:r>
            <a:r>
              <a:rPr lang="en-CA" altLang="en-US" sz="2400" dirty="0">
                <a:cs typeface="Arial" panose="020B0604020202020204" pitchFamily="34" charset="0"/>
              </a:rPr>
              <a:t>’s of different investments are independent</a:t>
            </a: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Investors focus on returns over one period which has the same length for all investors</a:t>
            </a: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All investors can borrow or lend at the same risk-free rate</a:t>
            </a: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Tax does not influence investment decisions</a:t>
            </a:r>
          </a:p>
          <a:p>
            <a:pPr eaLnBrk="1" hangingPunct="1"/>
            <a:r>
              <a:rPr lang="en-CA" altLang="en-US" sz="2400" dirty="0">
                <a:cs typeface="Arial" panose="020B0604020202020204" pitchFamily="34" charset="0"/>
              </a:rPr>
              <a:t>All investors make the same estimates of </a:t>
            </a:r>
            <a:r>
              <a:rPr lang="en-CA" altLang="en-US" sz="2400" dirty="0">
                <a:latin typeface="Symbol" panose="05050102010706020507" pitchFamily="18" charset="2"/>
                <a:cs typeface="Arial" panose="020B0604020202020204" pitchFamily="34" charset="0"/>
              </a:rPr>
              <a:t>m</a:t>
            </a:r>
            <a:r>
              <a:rPr lang="en-CA" altLang="en-US" sz="2400" dirty="0">
                <a:cs typeface="Arial" panose="020B0604020202020204" pitchFamily="34" charset="0"/>
              </a:rPr>
              <a:t>’s, </a:t>
            </a:r>
            <a:r>
              <a:rPr lang="en-CA" altLang="en-US" sz="2400" dirty="0">
                <a:latin typeface="Symbol" panose="05050102010706020507" pitchFamily="18" charset="2"/>
                <a:cs typeface="Arial" panose="020B0604020202020204" pitchFamily="34" charset="0"/>
              </a:rPr>
              <a:t>s</a:t>
            </a:r>
            <a:r>
              <a:rPr lang="en-CA" altLang="en-US" sz="2400" dirty="0">
                <a:cs typeface="Arial" panose="020B0604020202020204" pitchFamily="34" charset="0"/>
              </a:rPr>
              <a:t>’s and </a:t>
            </a:r>
            <a:r>
              <a:rPr lang="en-CA" altLang="en-US" sz="2400" dirty="0">
                <a:latin typeface="Symbol" panose="05050102010706020507" pitchFamily="18" charset="2"/>
                <a:cs typeface="Arial" panose="020B0604020202020204" pitchFamily="34" charset="0"/>
              </a:rPr>
              <a:t>r</a:t>
            </a:r>
            <a:r>
              <a:rPr lang="en-CA" altLang="en-US" sz="2400" dirty="0">
                <a:cs typeface="Arial" panose="020B0604020202020204" pitchFamily="34" charset="0"/>
              </a:rPr>
              <a:t>’s.</a:t>
            </a:r>
          </a:p>
          <a:p>
            <a:pPr eaLnBrk="1" hangingPunct="1"/>
            <a:endParaRPr lang="en-CA" altLang="en-US" dirty="0">
              <a:cs typeface="Arial" panose="020B0604020202020204" pitchFamily="34" charset="0"/>
            </a:endParaRPr>
          </a:p>
          <a:p>
            <a:pPr eaLnBrk="1" hangingPunct="1"/>
            <a:endParaRPr lang="en-CA" altLang="en-US" dirty="0">
              <a:cs typeface="Arial" panose="020B0604020202020204" pitchFamily="34" charset="0"/>
            </a:endParaRPr>
          </a:p>
          <a:p>
            <a:pPr eaLnBrk="1" hangingPunct="1"/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33796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539A11C-A7B1-4D7B-A914-13A10AF4B083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Alpha</a:t>
            </a:r>
            <a:endParaRPr lang="en-US" altLang="en-US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Alpha measure the extra return on a portfolio in excess of that predicted by CAPM</a:t>
            </a:r>
          </a:p>
          <a:p>
            <a:pPr eaLnBrk="1" hangingPunct="1"/>
            <a:endParaRPr lang="en-CA" altLang="en-US"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en-CA" altLang="en-US">
                <a:cs typeface="Arial" panose="020B0604020202020204" pitchFamily="34" charset="0"/>
              </a:rPr>
              <a:t>	so that</a:t>
            </a:r>
          </a:p>
          <a:p>
            <a:pPr eaLnBrk="1" hangingPunct="1"/>
            <a:endParaRPr lang="en-CA" altLang="en-US">
              <a:cs typeface="Arial" panose="020B0604020202020204" pitchFamily="34" charset="0"/>
            </a:endParaRP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35845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65A7F12-6793-4AFF-B391-5A7543062D6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  <p:graphicFrame>
        <p:nvGraphicFramePr>
          <p:cNvPr id="35846" name="Object 2"/>
          <p:cNvGraphicFramePr>
            <a:graphicFrameLocks noChangeAspect="1"/>
          </p:cNvGraphicFramePr>
          <p:nvPr/>
        </p:nvGraphicFramePr>
        <p:xfrm>
          <a:off x="1357313" y="3286125"/>
          <a:ext cx="368776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1600200" imgH="215900" progId="Equation.3">
                  <p:embed/>
                </p:oleObj>
              </mc:Choice>
              <mc:Fallback>
                <p:oleObj name="Equation" r:id="rId4" imgW="1600200" imgH="2159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3286125"/>
                        <a:ext cx="368776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7" name="Object 5"/>
          <p:cNvGraphicFramePr>
            <a:graphicFrameLocks noChangeAspect="1"/>
          </p:cNvGraphicFramePr>
          <p:nvPr/>
        </p:nvGraphicFramePr>
        <p:xfrm>
          <a:off x="1428750" y="4500563"/>
          <a:ext cx="3735388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6" imgW="1612900" imgH="215900" progId="Equation.3">
                  <p:embed/>
                </p:oleObj>
              </mc:Choice>
              <mc:Fallback>
                <p:oleObj name="Equation" r:id="rId6" imgW="1612900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750" y="4500563"/>
                        <a:ext cx="3735388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Arbitrage Pricing Theory</a:t>
            </a:r>
            <a:endParaRPr lang="en-US" altLang="en-US"/>
          </a:p>
        </p:txBody>
      </p:sp>
      <p:sp>
        <p:nvSpPr>
          <p:cNvPr id="37891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>
                <a:cs typeface="Arial" panose="020B0604020202020204" pitchFamily="34" charset="0"/>
              </a:rPr>
              <a:t>Returns depend on several factors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We can form portfolios to eliminate the dependence on the factors</a:t>
            </a:r>
          </a:p>
          <a:p>
            <a:pPr eaLnBrk="1" hangingPunct="1"/>
            <a:r>
              <a:rPr lang="en-CA" altLang="en-US">
                <a:cs typeface="Arial" panose="020B0604020202020204" pitchFamily="34" charset="0"/>
              </a:rPr>
              <a:t>This leads to result that expected return is linearly dependent on </a:t>
            </a:r>
            <a:r>
              <a:rPr lang="en-US" altLang="en-US">
                <a:cs typeface="Arial" panose="020B0604020202020204" pitchFamily="34" charset="0"/>
              </a:rPr>
              <a:t>the </a:t>
            </a:r>
            <a:r>
              <a:rPr lang="en-CA" altLang="en-US">
                <a:cs typeface="Arial" panose="020B0604020202020204" pitchFamily="34" charset="0"/>
              </a:rPr>
              <a:t>realization of the factors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</p:txBody>
      </p:sp>
      <p:sp>
        <p:nvSpPr>
          <p:cNvPr id="378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378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0C487A-64AE-40AF-B2FE-2FCB56B0AD03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Risk vs Return for Companies</a:t>
            </a:r>
            <a:endParaRPr lang="en-US" alt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>
                <a:cs typeface="Arial" panose="020B0604020202020204" pitchFamily="34" charset="0"/>
              </a:rPr>
              <a:t>If shareholders care only about systematic risk, should the same be true of company managers?</a:t>
            </a:r>
          </a:p>
          <a:p>
            <a:pPr eaLnBrk="1" hangingPunct="1"/>
            <a:r>
              <a:rPr lang="en-US" altLang="en-US" sz="2400">
                <a:cs typeface="Arial" panose="020B0604020202020204" pitchFamily="34" charset="0"/>
              </a:rPr>
              <a:t>In practice c</a:t>
            </a:r>
            <a:r>
              <a:rPr lang="en-CA" altLang="en-US" sz="2400">
                <a:cs typeface="Arial" panose="020B0604020202020204" pitchFamily="34" charset="0"/>
              </a:rPr>
              <a:t>ompanies are concerned </a:t>
            </a:r>
            <a:r>
              <a:rPr lang="en-US" altLang="en-US" sz="2400">
                <a:cs typeface="Arial" panose="020B0604020202020204" pitchFamily="34" charset="0"/>
              </a:rPr>
              <a:t>about total </a:t>
            </a:r>
            <a:r>
              <a:rPr lang="en-CA" altLang="en-US" sz="2400">
                <a:cs typeface="Arial" panose="020B0604020202020204" pitchFamily="34" charset="0"/>
              </a:rPr>
              <a:t>risk</a:t>
            </a:r>
          </a:p>
          <a:p>
            <a:pPr eaLnBrk="1" hangingPunct="1"/>
            <a:r>
              <a:rPr lang="en-CA" altLang="en-US" sz="2400">
                <a:cs typeface="Arial" panose="020B0604020202020204" pitchFamily="34" charset="0"/>
              </a:rPr>
              <a:t>Earnings stability and company survival are important managerial objectives</a:t>
            </a:r>
          </a:p>
          <a:p>
            <a:pPr eaLnBrk="1" hangingPunct="1"/>
            <a:r>
              <a:rPr lang="en-CA" altLang="en-US" sz="2400">
                <a:cs typeface="Arial" panose="020B0604020202020204" pitchFamily="34" charset="0"/>
              </a:rPr>
              <a:t>The regulators of financial institutions are primarily interested in total risk </a:t>
            </a:r>
          </a:p>
          <a:p>
            <a:pPr eaLnBrk="1" hangingPunct="1"/>
            <a:r>
              <a:rPr lang="en-CA" altLang="en-US" sz="2400">
                <a:cs typeface="Arial" panose="020B0604020202020204" pitchFamily="34" charset="0"/>
              </a:rPr>
              <a:t>“Bankruptcy costs” arguments show that that</a:t>
            </a:r>
            <a:r>
              <a:rPr lang="en-US" altLang="en-US" sz="2400">
                <a:cs typeface="Arial" panose="020B0604020202020204" pitchFamily="34" charset="0"/>
              </a:rPr>
              <a:t> managers may be acting in the best interests of shareholders when they consider total risk</a:t>
            </a:r>
            <a:endParaRPr lang="en-CA" altLang="en-US" sz="2400">
              <a:cs typeface="Arial" panose="020B0604020202020204" pitchFamily="34" charset="0"/>
            </a:endParaRPr>
          </a:p>
        </p:txBody>
      </p:sp>
      <p:sp>
        <p:nvSpPr>
          <p:cNvPr id="399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399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25D5FCC-200C-4D70-9699-9569E0BD483E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What Are Bankruptcy Costs? </a:t>
            </a:r>
            <a:r>
              <a:rPr lang="en-US" altLang="en-US" sz="2400" dirty="0"/>
              <a:t>(Business Snapshot 1.1)</a:t>
            </a:r>
            <a:endParaRPr lang="en-CA" altLang="en-US" sz="2400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Lost sales (There is a reluctance to buy from a bankrupt company.)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Key employees leave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Legal and accounting cost</a:t>
            </a:r>
          </a:p>
          <a:p>
            <a:pPr eaLnBrk="1" hangingPunct="1"/>
            <a:r>
              <a:rPr lang="en-US" altLang="en-US" dirty="0">
                <a:cs typeface="Arial" panose="020B0604020202020204" pitchFamily="34" charset="0"/>
              </a:rPr>
              <a:t>Etc.</a:t>
            </a:r>
          </a:p>
        </p:txBody>
      </p:sp>
      <p:sp>
        <p:nvSpPr>
          <p:cNvPr id="419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419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AECBC7F-24B5-4D3F-9842-FEC1F8B73EAE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1357313"/>
            <a:ext cx="7772400" cy="1214437"/>
          </a:xfrm>
        </p:spPr>
        <p:txBody>
          <a:bodyPr/>
          <a:lstStyle/>
          <a:p>
            <a:pPr eaLnBrk="1" hangingPunct="1"/>
            <a:r>
              <a:rPr lang="en-US" altLang="en-US"/>
              <a:t>Approaches to Bank Risk Management</a:t>
            </a:r>
            <a:br>
              <a:rPr lang="en-US" altLang="en-US"/>
            </a:br>
            <a:endParaRPr lang="en-US" alt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altLang="en-US">
              <a:cs typeface="Arial" panose="020B0604020202020204" pitchFamily="34" charset="0"/>
            </a:endParaRP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Risk aggregation: aims to get rid of non-systematic risks with diversification 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Risk decomposition: tackles risks one by one</a:t>
            </a:r>
          </a:p>
          <a:p>
            <a:pPr eaLnBrk="1" hangingPunct="1"/>
            <a:r>
              <a:rPr lang="en-US" altLang="en-US">
                <a:cs typeface="Arial" panose="020B0604020202020204" pitchFamily="34" charset="0"/>
              </a:rPr>
              <a:t>In practice banks use both approaches</a:t>
            </a:r>
          </a:p>
        </p:txBody>
      </p:sp>
      <p:sp>
        <p:nvSpPr>
          <p:cNvPr id="440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440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8D56E28-AF34-4DF8-AF78-70697730A970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Credit Ratings</a:t>
            </a:r>
            <a:endParaRPr lang="en-US" altLang="en-US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719263"/>
          <a:ext cx="3898900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94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Moody’s</a:t>
                      </a:r>
                      <a:endParaRPr lang="en-US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S&amp;P and Fitch</a:t>
                      </a:r>
                      <a:endParaRPr lang="en-US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Aaa</a:t>
                      </a:r>
                      <a:endParaRPr lang="en-US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AAA</a:t>
                      </a:r>
                      <a:endParaRPr lang="en-US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Aa</a:t>
                      </a:r>
                      <a:endParaRPr lang="en-US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AA</a:t>
                      </a:r>
                      <a:endParaRPr lang="en-US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</a:t>
                      </a:r>
                      <a:endParaRPr lang="en-US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A</a:t>
                      </a:r>
                      <a:endParaRPr lang="en-US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Baa</a:t>
                      </a:r>
                      <a:endParaRPr lang="en-US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BBB</a:t>
                      </a:r>
                      <a:endParaRPr lang="en-US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Ba</a:t>
                      </a:r>
                      <a:endParaRPr lang="en-US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BB</a:t>
                      </a:r>
                      <a:endParaRPr lang="en-US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</a:t>
                      </a:r>
                      <a:endParaRPr lang="en-US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</a:t>
                      </a:r>
                      <a:endParaRPr lang="en-US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Caa</a:t>
                      </a:r>
                      <a:endParaRPr lang="en-US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CCC</a:t>
                      </a:r>
                      <a:endParaRPr lang="en-US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 err="1"/>
                        <a:t>Ca</a:t>
                      </a:r>
                      <a:endParaRPr lang="en-US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CC</a:t>
                      </a:r>
                      <a:endParaRPr lang="en-US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</a:t>
                      </a:r>
                      <a:endParaRPr lang="en-US" dirty="0"/>
                    </a:p>
                  </a:txBody>
                  <a:tcPr marL="91443" marR="9144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</a:t>
                      </a:r>
                      <a:endParaRPr lang="en-US" dirty="0"/>
                    </a:p>
                  </a:txBody>
                  <a:tcPr marL="91443" marR="91443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611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4611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C7A18D-97BF-4ACD-9607-9A7620DC041C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  <p:sp>
        <p:nvSpPr>
          <p:cNvPr id="46120" name="Right Brace 6"/>
          <p:cNvSpPr>
            <a:spLocks/>
          </p:cNvSpPr>
          <p:nvPr/>
        </p:nvSpPr>
        <p:spPr bwMode="auto">
          <a:xfrm>
            <a:off x="4572000" y="2133600"/>
            <a:ext cx="647700" cy="1439863"/>
          </a:xfrm>
          <a:prstGeom prst="rightBrace">
            <a:avLst>
              <a:gd name="adj1" fmla="val 8336"/>
              <a:gd name="adj2" fmla="val 50000"/>
            </a:avLst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6121" name="Right Brace 7"/>
          <p:cNvSpPr>
            <a:spLocks/>
          </p:cNvSpPr>
          <p:nvPr/>
        </p:nvSpPr>
        <p:spPr bwMode="auto">
          <a:xfrm>
            <a:off x="4635500" y="3573463"/>
            <a:ext cx="584200" cy="1706562"/>
          </a:xfrm>
          <a:prstGeom prst="rightBrace">
            <a:avLst>
              <a:gd name="adj1" fmla="val 8344"/>
              <a:gd name="adj2" fmla="val 48481"/>
            </a:avLst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6122" name="TextBox 8"/>
          <p:cNvSpPr txBox="1">
            <a:spLocks noChangeArrowheads="1"/>
          </p:cNvSpPr>
          <p:nvPr/>
        </p:nvSpPr>
        <p:spPr bwMode="auto">
          <a:xfrm>
            <a:off x="5580063" y="2530475"/>
            <a:ext cx="151288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/>
              <a:t>Investment grade bonds</a:t>
            </a:r>
            <a:endParaRPr lang="en-US" altLang="en-US" sz="1800"/>
          </a:p>
        </p:txBody>
      </p:sp>
      <p:sp>
        <p:nvSpPr>
          <p:cNvPr id="46123" name="TextBox 9"/>
          <p:cNvSpPr txBox="1">
            <a:spLocks noChangeArrowheads="1"/>
          </p:cNvSpPr>
          <p:nvPr/>
        </p:nvSpPr>
        <p:spPr bwMode="auto">
          <a:xfrm>
            <a:off x="5580063" y="4103688"/>
            <a:ext cx="23050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800"/>
              <a:t>Non-investment grade bonds</a:t>
            </a:r>
            <a:endParaRPr lang="en-US" altLang="en-US"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Subdivisions</a:t>
            </a:r>
            <a:endParaRPr lang="en-US" altLang="en-US"/>
          </a:p>
        </p:txBody>
      </p:sp>
      <p:sp>
        <p:nvSpPr>
          <p:cNvPr id="471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Moody’s divides Aa into Aa1, Aa2, Aa3.</a:t>
            </a:r>
          </a:p>
          <a:p>
            <a:pPr eaLnBrk="1" hangingPunct="1"/>
            <a:r>
              <a:rPr lang="en-CA" altLang="en-US"/>
              <a:t>S&amp;P and Fitch divide AA into AA+, AA, and AA−</a:t>
            </a:r>
          </a:p>
          <a:p>
            <a:pPr eaLnBrk="1" hangingPunct="1"/>
            <a:r>
              <a:rPr lang="en-CA" altLang="en-US"/>
              <a:t>Other rating categories are subdivided similarly except AAA (Aaa) and the two lowest categories.</a:t>
            </a:r>
            <a:endParaRPr lang="en-US" altLang="en-US"/>
          </a:p>
        </p:txBody>
      </p:sp>
      <p:sp>
        <p:nvSpPr>
          <p:cNvPr id="471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 Chapter 1, Copyright © John C. Hull 2023</a:t>
            </a:r>
          </a:p>
        </p:txBody>
      </p:sp>
      <p:sp>
        <p:nvSpPr>
          <p:cNvPr id="471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8456997-04BD-4110-B501-59CF44593B5B}" type="slidenum">
              <a:rPr lang="en-US" altLang="en-US" sz="18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16">
  <a:themeElements>
    <a:clrScheme name="HullRMFICh16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16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16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16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16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C58E4B-5F32-4C14-9EC3-768A8ED41CD8}"/>
</file>

<file path=customXml/itemProps2.xml><?xml version="1.0" encoding="utf-8"?>
<ds:datastoreItem xmlns:ds="http://schemas.openxmlformats.org/officeDocument/2006/customXml" ds:itemID="{9B9DEF1F-5606-4CB2-A120-7DBF2B61901D}"/>
</file>

<file path=customXml/itemProps3.xml><?xml version="1.0" encoding="utf-8"?>
<ds:datastoreItem xmlns:ds="http://schemas.openxmlformats.org/officeDocument/2006/customXml" ds:itemID="{942F147F-0F43-4D85-83AE-BCD4A4B8E26C}"/>
</file>

<file path=docProps/app.xml><?xml version="1.0" encoding="utf-8"?>
<Properties xmlns="http://schemas.openxmlformats.org/officeDocument/2006/extended-properties" xmlns:vt="http://schemas.openxmlformats.org/officeDocument/2006/docPropsVTypes">
  <Template>HullRMFICh18</Template>
  <TotalTime>2030</TotalTime>
  <Words>876</Words>
  <Application>Microsoft Office PowerPoint</Application>
  <PresentationFormat>On-screen Show (4:3)</PresentationFormat>
  <Paragraphs>150</Paragraphs>
  <Slides>17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Symbol</vt:lpstr>
      <vt:lpstr>Times New Roman</vt:lpstr>
      <vt:lpstr>Wingdings</vt:lpstr>
      <vt:lpstr>HullRMFICh16</vt:lpstr>
      <vt:lpstr>Equation</vt:lpstr>
      <vt:lpstr>Introduction:  Risk-Return Trade-offs</vt:lpstr>
      <vt:lpstr>Risk vs Return</vt:lpstr>
      <vt:lpstr>Example (Table 1.1, page 3)</vt:lpstr>
      <vt:lpstr>Example continued</vt:lpstr>
      <vt:lpstr>Combining Two Risky Investments (page  5)</vt:lpstr>
      <vt:lpstr>Efficient Frontier of Risky Investments (Figure 1.3, page 6)</vt:lpstr>
      <vt:lpstr>Efficient Frontier of All Investments (Figure 1.4, page 7)</vt:lpstr>
      <vt:lpstr>Systematic vs Non-Systematic Risk (equation 1.3, page 8)</vt:lpstr>
      <vt:lpstr>The Capital Asset Pricing Model (Figure 1.5, page 9)</vt:lpstr>
      <vt:lpstr>Assumptions</vt:lpstr>
      <vt:lpstr>Alpha</vt:lpstr>
      <vt:lpstr>Arbitrage Pricing Theory</vt:lpstr>
      <vt:lpstr>Risk vs Return for Companies</vt:lpstr>
      <vt:lpstr>What Are Bankruptcy Costs? (Business Snapshot 1.1)</vt:lpstr>
      <vt:lpstr>Approaches to Bank Risk Management </vt:lpstr>
      <vt:lpstr>Credit Ratings</vt:lpstr>
      <vt:lpstr>Subdivisions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1</dc:subject>
  <dc:creator>John  Hull</dc:creator>
  <cp:keywords>5th Edition</cp:keywords>
  <dc:description>Copyright 2018 by John Hull._x000d_
All rights reserved.</dc:description>
  <cp:lastModifiedBy>John Hull</cp:lastModifiedBy>
  <cp:revision>173</cp:revision>
  <cp:lastPrinted>2017-11-06T19:30:28Z</cp:lastPrinted>
  <dcterms:created xsi:type="dcterms:W3CDTF">2003-01-02T05:31:58Z</dcterms:created>
  <dcterms:modified xsi:type="dcterms:W3CDTF">2022-12-01T16:28:27Z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