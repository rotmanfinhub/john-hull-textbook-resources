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22"/>
  </p:notesMasterIdLst>
  <p:handoutMasterIdLst>
    <p:handoutMasterId r:id="rId23"/>
  </p:handoutMasterIdLst>
  <p:sldIdLst>
    <p:sldId id="303" r:id="rId2"/>
    <p:sldId id="295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297" r:id="rId13"/>
    <p:sldId id="313" r:id="rId14"/>
    <p:sldId id="298" r:id="rId15"/>
    <p:sldId id="299" r:id="rId16"/>
    <p:sldId id="300" r:id="rId17"/>
    <p:sldId id="301" r:id="rId18"/>
    <p:sldId id="302" r:id="rId19"/>
    <p:sldId id="314" r:id="rId20"/>
    <p:sldId id="315" r:id="rId2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 autoAdjust="0"/>
    <p:restoredTop sz="94576" autoAdjust="0"/>
  </p:normalViewPr>
  <p:slideViewPr>
    <p:cSldViewPr>
      <p:cViewPr varScale="1">
        <p:scale>
          <a:sx n="131" d="100"/>
          <a:sy n="131" d="100"/>
        </p:scale>
        <p:origin x="96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ull\AppData\Local\Microsoft\Windows\INetCache\Content.Outlook\5LNAA8DW\Ch03_6e_Figure%203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'[Ch03_6e_Figure 3_1.xlsx]Sheet1'!$A$1:$A$80</c:f>
              <c:numCache>
                <c:formatCode>General</c:formatCode>
                <c:ptCount val="8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</c:numCache>
            </c:numRef>
          </c:xVal>
          <c:yVal>
            <c:numRef>
              <c:f>'[Ch03_6e_Figure 3_1.xlsx]Sheet1'!$B$1:$B$80</c:f>
              <c:numCache>
                <c:formatCode>General</c:formatCode>
                <c:ptCount val="80"/>
                <c:pt idx="0">
                  <c:v>12419</c:v>
                </c:pt>
                <c:pt idx="1">
                  <c:v>12271.249989509462</c:v>
                </c:pt>
                <c:pt idx="2">
                  <c:v>12107.771516092484</c:v>
                </c:pt>
                <c:pt idx="3">
                  <c:v>11926.747429818304</c:v>
                </c:pt>
                <c:pt idx="4">
                  <c:v>11724.167680751962</c:v>
                </c:pt>
                <c:pt idx="5">
                  <c:v>11495.976616591834</c:v>
                </c:pt>
                <c:pt idx="6">
                  <c:v>11234.525135327935</c:v>
                </c:pt>
                <c:pt idx="7">
                  <c:v>10935.013878981159</c:v>
                </c:pt>
                <c:pt idx="8">
                  <c:v>10589.864672065796</c:v>
                </c:pt>
                <c:pt idx="9">
                  <c:v>10200.239918593428</c:v>
                </c:pt>
                <c:pt idx="10">
                  <c:v>9777.210524107255</c:v>
                </c:pt>
                <c:pt idx="11">
                  <c:v>9314.7786286769333</c:v>
                </c:pt>
                <c:pt idx="12">
                  <c:v>8797.219587931686</c:v>
                </c:pt>
                <c:pt idx="13">
                  <c:v>8220.8887583399774</c:v>
                </c:pt>
                <c:pt idx="14">
                  <c:v>7591.8728756661494</c:v>
                </c:pt>
                <c:pt idx="15">
                  <c:v>6922.1458919055012</c:v>
                </c:pt>
                <c:pt idx="16">
                  <c:v>6223.6599387352608</c:v>
                </c:pt>
                <c:pt idx="17">
                  <c:v>5500.2362678863665</c:v>
                </c:pt>
                <c:pt idx="18">
                  <c:v>4758.2830032310858</c:v>
                </c:pt>
                <c:pt idx="19">
                  <c:v>3997.2114997272461</c:v>
                </c:pt>
                <c:pt idx="20">
                  <c:v>3187.0548655113089</c:v>
                </c:pt>
                <c:pt idx="21">
                  <c:v>2348.0707481851373</c:v>
                </c:pt>
                <c:pt idx="22">
                  <c:v>1534.3692669212371</c:v>
                </c:pt>
                <c:pt idx="23">
                  <c:v>763.07006630019725</c:v>
                </c:pt>
                <c:pt idx="24">
                  <c:v>4.2598925768956404</c:v>
                </c:pt>
                <c:pt idx="25">
                  <c:v>-828.29142713272779</c:v>
                </c:pt>
                <c:pt idx="26">
                  <c:v>-1739.926136125215</c:v>
                </c:pt>
                <c:pt idx="27">
                  <c:v>-2662.2558851915574</c:v>
                </c:pt>
                <c:pt idx="28">
                  <c:v>-3585.6867105870501</c:v>
                </c:pt>
                <c:pt idx="29">
                  <c:v>-4554.0973416977886</c:v>
                </c:pt>
                <c:pt idx="30">
                  <c:v>-5633.5480676429861</c:v>
                </c:pt>
                <c:pt idx="31">
                  <c:v>-6857.5124522680544</c:v>
                </c:pt>
                <c:pt idx="32">
                  <c:v>-8209.8205069027736</c:v>
                </c:pt>
                <c:pt idx="33">
                  <c:v>-9694.9734379589609</c:v>
                </c:pt>
                <c:pt idx="34">
                  <c:v>-11307.430657546891</c:v>
                </c:pt>
                <c:pt idx="35">
                  <c:v>-13100.98429566531</c:v>
                </c:pt>
                <c:pt idx="36">
                  <c:v>-14998.767256934245</c:v>
                </c:pt>
                <c:pt idx="37">
                  <c:v>-16861.407190214424</c:v>
                </c:pt>
                <c:pt idx="38">
                  <c:v>-18634.472913432084</c:v>
                </c:pt>
                <c:pt idx="39">
                  <c:v>-20368.816908648401</c:v>
                </c:pt>
                <c:pt idx="40">
                  <c:v>-22178.097173849186</c:v>
                </c:pt>
                <c:pt idx="41">
                  <c:v>-24041.325594813476</c:v>
                </c:pt>
                <c:pt idx="42">
                  <c:v>-25811.93560908061</c:v>
                </c:pt>
                <c:pt idx="43">
                  <c:v>-27419.902815660276</c:v>
                </c:pt>
                <c:pt idx="44">
                  <c:v>-28817.50148965633</c:v>
                </c:pt>
                <c:pt idx="45">
                  <c:v>-29951.290755738322</c:v>
                </c:pt>
                <c:pt idx="46">
                  <c:v>-30750.237191053671</c:v>
                </c:pt>
                <c:pt idx="47">
                  <c:v>-31134.036947673201</c:v>
                </c:pt>
                <c:pt idx="48">
                  <c:v>-31019.859122571444</c:v>
                </c:pt>
                <c:pt idx="49">
                  <c:v>-30345.809114179014</c:v>
                </c:pt>
                <c:pt idx="50">
                  <c:v>-29082.973500902186</c:v>
                </c:pt>
                <c:pt idx="51">
                  <c:v>-27247.377669841801</c:v>
                </c:pt>
                <c:pt idx="52">
                  <c:v>-24901.822353237378</c:v>
                </c:pt>
                <c:pt idx="53">
                  <c:v>-22152.258497335402</c:v>
                </c:pt>
                <c:pt idx="54">
                  <c:v>-19139.556879694515</c:v>
                </c:pt>
                <c:pt idx="55">
                  <c:v>-15942.220584532753</c:v>
                </c:pt>
                <c:pt idx="56">
                  <c:v>-12795.796063950316</c:v>
                </c:pt>
                <c:pt idx="57">
                  <c:v>-9897.4182262599152</c:v>
                </c:pt>
                <c:pt idx="58">
                  <c:v>-7381.1589526247326</c:v>
                </c:pt>
                <c:pt idx="59">
                  <c:v>-5319.56064579749</c:v>
                </c:pt>
                <c:pt idx="60">
                  <c:v>-3743.7455415215477</c:v>
                </c:pt>
                <c:pt idx="61">
                  <c:v>-2568.6732092652428</c:v>
                </c:pt>
                <c:pt idx="62">
                  <c:v>-1716.6782761948723</c:v>
                </c:pt>
                <c:pt idx="63">
                  <c:v>-1110.4493516847804</c:v>
                </c:pt>
                <c:pt idx="64">
                  <c:v>-697.4489635348915</c:v>
                </c:pt>
                <c:pt idx="65">
                  <c:v>-423.05916663169825</c:v>
                </c:pt>
                <c:pt idx="66">
                  <c:v>-246.14355251563092</c:v>
                </c:pt>
                <c:pt idx="67">
                  <c:v>-139.38609374344341</c:v>
                </c:pt>
                <c:pt idx="68">
                  <c:v>-73.287923293189536</c:v>
                </c:pt>
                <c:pt idx="69">
                  <c:v>-38.53120934916705</c:v>
                </c:pt>
                <c:pt idx="70">
                  <c:v>-17.362636901514833</c:v>
                </c:pt>
                <c:pt idx="71">
                  <c:v>-6.0847950148965628</c:v>
                </c:pt>
                <c:pt idx="72">
                  <c:v>-6.3968989971046115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F97-410F-B66E-42503ABA1B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8199008"/>
        <c:axId val="398199400"/>
      </c:scatterChart>
      <c:valAx>
        <c:axId val="398199008"/>
        <c:scaling>
          <c:orientation val="minMax"/>
          <c:max val="60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Year of Policy</a:t>
                </a:r>
              </a:p>
            </c:rich>
          </c:tx>
          <c:layout>
            <c:manualLayout>
              <c:xMode val="edge"/>
              <c:yMode val="edge"/>
              <c:x val="0.88155446194225728"/>
              <c:y val="0.2073840769903762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199400"/>
        <c:crosses val="autoZero"/>
        <c:crossBetween val="midCat"/>
      </c:valAx>
      <c:valAx>
        <c:axId val="398199400"/>
        <c:scaling>
          <c:orientation val="minMax"/>
          <c:min val="-350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Expected cash flow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81990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EA8187B-53FE-4C6D-B1B3-EE8A89DFF3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1514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6735A0C-461D-476A-A0E5-9E93B7F396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6503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84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82886D2-7521-47E6-91FC-19989ABC9170}" type="slidenum">
              <a:rPr lang="en-US" altLang="en-US" sz="1300" smtClean="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209436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30A69A-A7DF-4227-B1ED-842891457A21}" type="slidenum">
              <a:rPr lang="en-US" altLang="en-US" sz="1300" smtClean="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44967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F91BE4A-015D-4035-851F-A2FDC4F57EAB}" type="slidenum">
              <a:rPr lang="en-US" altLang="en-US" sz="1300" smtClean="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108355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D8452D7-63BE-4C2A-847C-D5AB11088D66}" type="slidenum">
              <a:rPr lang="en-US" altLang="en-US" sz="1300" smtClean="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277085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1BF7B51-3444-43D1-A21A-D472C7DB4BCB}" type="slidenum">
              <a:rPr lang="en-US" altLang="en-US" sz="1300" smtClean="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6381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460DE8A-8B47-4234-86E7-E330218C86CB}" type="slidenum">
              <a:rPr lang="en-US" altLang="en-US" sz="1300" smtClean="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63123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6BCC607-3091-40D0-A44B-55AC7535CB7A}" type="slidenum">
              <a:rPr lang="en-US" altLang="en-US" sz="1300" smtClean="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061543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C2BDE8-DDFD-4323-B55A-4AC7403B63A6}" type="slidenum">
              <a:rPr lang="en-US" altLang="en-US" sz="1300" smtClean="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22206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3994B0-6E5E-4590-980B-78C0F309E7A1}" type="slidenum">
              <a:rPr lang="en-US" altLang="en-US" sz="1300" smtClean="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544996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F2DF02C-9668-420D-9B0F-2215740E7AB7}" type="slidenum">
              <a:rPr lang="en-US" altLang="en-US" sz="1300" smtClean="0"/>
              <a:pPr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13219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6115231-CEF6-4960-89D0-529EF3509F00}" type="slidenum">
              <a:rPr lang="en-US" altLang="en-US" sz="1300" smtClean="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942389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5B4E74B-287F-4E18-803C-6572F36B232F}" type="slidenum">
              <a:rPr lang="en-US" altLang="en-US" sz="1300" smtClean="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241183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8AC5DA-4B70-498F-8770-5DFF2073B972}" type="slidenum">
              <a:rPr lang="en-US" altLang="en-US" sz="1300" smtClean="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482973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D7111E2-0AFA-4C90-B934-9F8C0602BEF7}" type="slidenum">
              <a:rPr lang="en-US" altLang="en-US" sz="1300" smtClean="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641332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5788FF8-2736-4DEE-95C1-E699201A7B7B}" type="slidenum">
              <a:rPr lang="en-US" altLang="en-US" sz="1300" smtClean="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33923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BF2AE9E-84A8-4C13-B09C-11C76879E272}" type="slidenum">
              <a:rPr lang="en-US" altLang="en-US" sz="1300" smtClean="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08150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212E58B-C381-41E0-A134-011389849FAA}" type="slidenum">
              <a:rPr lang="en-US" altLang="en-US" sz="1300" smtClean="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648705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3502D8C-4545-40BB-9FDF-AAAD9109A421}" type="slidenum">
              <a:rPr lang="en-US" altLang="en-US" sz="1300" smtClean="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1831346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B58257-6B9A-43B2-A69C-3A82FB286B82}" type="slidenum">
              <a:rPr lang="en-US" altLang="en-US" sz="1300" smtClean="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52632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70CAB-E505-40E0-B6EF-39ABB474E8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605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53B0B-AFD0-4E4F-86CB-A5C5EF9C42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301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9AEF0-0DEA-472F-A46F-8796FB21BA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33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98022-F8E9-474F-8319-B297753800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776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04C8AF-9B9D-4CD5-A1C1-36001DB649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997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C2DCD-B066-4CD0-8A08-5EBE87D323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29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4E57D-4017-4EA8-89B9-50D6209B9C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0657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58C9A-3D83-4CE3-A3BF-FA32CA1851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068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1151D-8DC2-4804-95A9-200F5D7545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20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9A8C6-F947-4DED-BC66-DDFC32E576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50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697A78-F40F-4E5A-8E08-81E9444238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7248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1.</a:t>
            </a:r>
            <a:fld id="{2CC48B42-F556-49A9-8D61-D0CD12473A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096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 Chapter 3, Copyright © John C. Hull 2023</a:t>
            </a: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pPr>
              <a:defRPr/>
            </a:pPr>
            <a:r>
              <a:rPr lang="en-US" altLang="en-US"/>
              <a:t>1.</a:t>
            </a:r>
            <a:fld id="{21A86438-107B-4FB4-88EF-8DF8CA09EE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2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Insurance Companies and Pension Plans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Chapter 3</a:t>
            </a:r>
            <a:br>
              <a:rPr lang="en-US" altLang="en-US" sz="4000"/>
            </a:b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629AF5-3B31-48EE-B103-3143F56E52B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Types of Life Insurance </a:t>
            </a:r>
            <a:r>
              <a:rPr lang="en-CA" altLang="en-US" sz="2400" dirty="0"/>
              <a:t>(pages 48-51)</a:t>
            </a:r>
            <a:endParaRPr lang="en-US" altLang="en-US" sz="2400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Term life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Whole life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Variable life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Universal life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Endowment life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Group life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847940-A385-4AED-8F6F-9F4996F3655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285750" y="428625"/>
            <a:ext cx="7786688" cy="1214438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Expected cash flows to insurance company from a whole life policy taken out by a man aged 40 (Figure 3.1)</a:t>
            </a:r>
          </a:p>
        </p:txBody>
      </p:sp>
      <p:sp>
        <p:nvSpPr>
          <p:cNvPr id="1945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93871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19460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6BB9FB-D94F-4732-AD6E-AC893D725BED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4098914"/>
              </p:ext>
            </p:extLst>
          </p:nvPr>
        </p:nvGraphicFramePr>
        <p:xfrm>
          <a:off x="1259632" y="2025650"/>
          <a:ext cx="5598368" cy="3635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Investment of Surplus in Early Years</a:t>
            </a:r>
            <a:endParaRPr lang="en-US" alt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Some contracts allow the policyholder to choose how the surplus is invested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There are tax deferral advantages compared with a regular investment and in some jurisdictions the beneficiary of a life insurance policy does not have to pay any tax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1A3837-F00A-43F1-8156-431604004B6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Annuity Contracts </a:t>
            </a:r>
            <a:r>
              <a:rPr lang="en-CA" altLang="en-US" sz="2400" dirty="0"/>
              <a:t>(pages 51-52)</a:t>
            </a:r>
            <a:endParaRPr lang="en-US" altLang="en-US" sz="2400" dirty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Typically a lump sum payment is used to buy a life-time annuity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Annuity can start immediately or be deferred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Accumulation value can depend in a complicated way on the performance of stock indices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There may be penalty-free withdrawals</a:t>
            </a:r>
          </a:p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E6DB66-4052-46AD-8EDD-BDF15F721075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/>
              <a:t>Extract from US Mortality Tables (2019): Male</a:t>
            </a:r>
            <a:endParaRPr lang="en-US" altLang="en-US" sz="3600" dirty="0"/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44F6B8-7911-4625-A453-CA154E8B68B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564061"/>
              </p:ext>
            </p:extLst>
          </p:nvPr>
        </p:nvGraphicFramePr>
        <p:xfrm>
          <a:off x="785813" y="2500313"/>
          <a:ext cx="6786561" cy="2128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7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Age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Prob. death within</a:t>
                      </a:r>
                      <a:r>
                        <a:rPr lang="en-CA" sz="1800" baseline="0" dirty="0"/>
                        <a:t> one year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Prob. Survival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Life expectancy (yrs)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30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0.001798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0.97371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47.83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31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0.001860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0.97196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46.92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32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0.001926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0.97015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46.00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33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0.001994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0.96828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45.09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/>
              <a:t>Extract from US Mortality Tables (2019): Female</a:t>
            </a:r>
            <a:endParaRPr lang="en-US" altLang="en-US" sz="3600" dirty="0"/>
          </a:p>
        </p:txBody>
      </p:sp>
      <p:sp>
        <p:nvSpPr>
          <p:cNvPr id="2765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85F54E-2F9B-48CA-BCE1-88C42688CDD2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688369"/>
              </p:ext>
            </p:extLst>
          </p:nvPr>
        </p:nvGraphicFramePr>
        <p:xfrm>
          <a:off x="785813" y="2500313"/>
          <a:ext cx="6786561" cy="2128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7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Age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Prob. death within</a:t>
                      </a:r>
                      <a:r>
                        <a:rPr lang="en-CA" sz="1800" baseline="0" dirty="0"/>
                        <a:t> one year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Prob. Survival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Life expectancy (yrs)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30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0.000811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0.98594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52.26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31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0.000872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0.98514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51.30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32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0.000933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0.98428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50.34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33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0.000990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0.98336</a:t>
                      </a:r>
                      <a:endParaRPr 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49.39</a:t>
                      </a:r>
                      <a:endParaRPr 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/>
              <a:t>How Tables Are Used In Pricing Life Insurance</a:t>
            </a:r>
            <a:endParaRPr lang="en-US" altLang="en-US" sz="360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Consider a female aged 30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Probability of death during first year is 0.000811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Probability of death during second year is</a:t>
            </a:r>
          </a:p>
          <a:p>
            <a:pPr eaLnBrk="1" hangingPunct="1">
              <a:buFontTx/>
              <a:buNone/>
            </a:pPr>
            <a:r>
              <a:rPr lang="en-CA" altLang="en-US" sz="2400" dirty="0">
                <a:cs typeface="Arial" panose="020B0604020202020204" pitchFamily="34" charset="0"/>
              </a:rPr>
              <a:t>	</a:t>
            </a:r>
            <a:r>
              <a:rPr lang="en-CA" altLang="en-US" sz="2000" dirty="0">
                <a:cs typeface="Arial" panose="020B0604020202020204" pitchFamily="34" charset="0"/>
              </a:rPr>
              <a:t>    (1-0.000811) × 0.000872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Probability of death during third year is</a:t>
            </a:r>
          </a:p>
          <a:p>
            <a:pPr lvl="1" eaLnBrk="1" hangingPunct="1">
              <a:buFontTx/>
              <a:buNone/>
            </a:pPr>
            <a:r>
              <a:rPr lang="en-CA" altLang="en-US" sz="2000" dirty="0">
                <a:cs typeface="Arial" panose="020B0604020202020204" pitchFamily="34" charset="0"/>
              </a:rPr>
              <a:t>	(1-0.000811) × (1-0.000872) ×0.000933</a:t>
            </a:r>
          </a:p>
          <a:p>
            <a:pPr eaLnBrk="1" hangingPunct="1"/>
            <a:r>
              <a:rPr lang="en-CA" altLang="en-US" sz="2400" dirty="0" err="1">
                <a:cs typeface="Arial" panose="020B0604020202020204" pitchFamily="34" charset="0"/>
              </a:rPr>
              <a:t>etc</a:t>
            </a:r>
            <a:endParaRPr lang="en-CA" altLang="en-US" sz="2400" dirty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Minimum premium is such that present value of inflows equals present value of outflows.</a:t>
            </a:r>
          </a:p>
          <a:p>
            <a:pPr eaLnBrk="1" hangingPunct="1">
              <a:buFontTx/>
              <a:buNone/>
            </a:pPr>
            <a:r>
              <a:rPr lang="en-CA" altLang="en-US" sz="2400" dirty="0">
                <a:cs typeface="Arial" panose="020B0604020202020204" pitchFamily="34" charset="0"/>
              </a:rPr>
              <a:t>       </a:t>
            </a:r>
          </a:p>
          <a:p>
            <a:pPr eaLnBrk="1" hangingPunct="1">
              <a:buFontTx/>
              <a:buNone/>
            </a:pPr>
            <a:endParaRPr lang="en-US" altLang="en-US" sz="2400" dirty="0">
              <a:cs typeface="Arial" panose="020B0604020202020204" pitchFamily="34" charset="0"/>
            </a:endParaRP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CEC4F7-FF5F-4AEC-A0EE-86D46ECA70E9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Longevity Derivatives </a:t>
            </a:r>
            <a:r>
              <a:rPr lang="en-CA" altLang="en-US" sz="2400" dirty="0"/>
              <a:t>(page 57)</a:t>
            </a:r>
            <a:endParaRPr lang="en-US" altLang="en-US" sz="2400" dirty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Used by life insurance companies and pension funds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A population is defined and coupon on a bond depends on the number of members of the population still alive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3ADD0F-5D39-445D-A0CF-542C3A59DF1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Property-Casualty Insurance</a:t>
            </a:r>
            <a:endParaRPr lang="en-US" altLang="en-US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Property insurance is concerned with loss or damage to property from fire, theft, etc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Casualty insurance is concerned legal liability exposures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What are the biggest risks facing property-casualty insurers? 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1F26AF-9FA7-4158-B4D9-20BEF28F2A1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092200"/>
          </a:xfrm>
        </p:spPr>
        <p:txBody>
          <a:bodyPr/>
          <a:lstStyle/>
          <a:p>
            <a:pPr eaLnBrk="1" hangingPunct="1"/>
            <a:r>
              <a:rPr lang="en-CA" altLang="en-US" dirty="0"/>
              <a:t>CAT Bonds </a:t>
            </a:r>
            <a:r>
              <a:rPr lang="en-CA" altLang="en-US" sz="2400" dirty="0"/>
              <a:t>(page 58-59)</a:t>
            </a:r>
            <a:endParaRPr lang="en-US" altLang="en-US" sz="2400" dirty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457200" y="1571625"/>
            <a:ext cx="8229600" cy="4559300"/>
          </a:xfrm>
        </p:spPr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CAT bonds are an alternative to traditional reinsurance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This is a bond issued by a subsidiary of an insurance company that pays a higher-than-normal interest rate.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If claims of a certain type are above a certain level, the interest and possibly the principal on the bond are used to meet claims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789D3E-34C7-4EF8-A822-B4290FA2BCC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/>
              <a:t>Example of Ratios for Property-Casualty Insurance </a:t>
            </a:r>
            <a:r>
              <a:rPr lang="en-CA" altLang="en-US" sz="2400"/>
              <a:t>(Table 3.2)</a:t>
            </a:r>
            <a:endParaRPr lang="en-US" altLang="en-US" sz="2400"/>
          </a:p>
        </p:txBody>
      </p:sp>
      <p:sp>
        <p:nvSpPr>
          <p:cNvPr id="3789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9ADDF5-9E39-40C3-A7C9-D29BEF991A7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57313" y="1857375"/>
          <a:ext cx="5857875" cy="3643311"/>
        </p:xfrm>
        <a:graphic>
          <a:graphicData uri="http://schemas.openxmlformats.org/drawingml/2006/table">
            <a:tbl>
              <a:tblPr/>
              <a:tblGrid>
                <a:gridCol w="482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47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Loss Ratio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7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Expense ratio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47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Combined ratio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7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Dividends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47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Combined ratio after dividends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47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Investment income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(9%)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47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Operating ratio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246063" y="571500"/>
            <a:ext cx="7772400" cy="857250"/>
          </a:xfrm>
        </p:spPr>
        <p:txBody>
          <a:bodyPr/>
          <a:lstStyle/>
          <a:p>
            <a:pPr eaLnBrk="1" hangingPunct="1"/>
            <a:r>
              <a:rPr lang="en-CA" altLang="en-US"/>
              <a:t>When Do Premiums Change?</a:t>
            </a:r>
            <a:endParaRPr lang="en-US" altLang="en-US"/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>
          <a:xfrm>
            <a:off x="685800" y="1928813"/>
            <a:ext cx="7772400" cy="4333875"/>
          </a:xfrm>
        </p:spPr>
        <p:txBody>
          <a:bodyPr/>
          <a:lstStyle/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In life insurance, premiums typically stay the same throughout the life of the contract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In property-casualty insurance, premiums are changed from year to year as risks are reassessed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In heath insurance, premiums can rise because of the overall cost of health care but not because the health risks of the policyholder increase</a:t>
            </a:r>
            <a:endParaRPr lang="en-US" altLang="en-US" sz="2800" dirty="0">
              <a:cs typeface="Arial" panose="020B0604020202020204" pitchFamily="34" charset="0"/>
            </a:endParaRP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F04EC9-9DBA-49AD-AEFE-8062B8226C35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Moral Hazard and Adverse Selection </a:t>
            </a:r>
            <a:r>
              <a:rPr lang="en-CA" altLang="en-US" sz="2400" dirty="0"/>
              <a:t>(pages 61-62)</a:t>
            </a:r>
            <a:endParaRPr lang="en-US" altLang="en-US" sz="2400" dirty="0"/>
          </a:p>
        </p:txBody>
      </p:sp>
      <p:sp>
        <p:nvSpPr>
          <p:cNvPr id="41987" name="Content Placeholder 4"/>
          <p:cNvSpPr>
            <a:spLocks noGrp="1"/>
          </p:cNvSpPr>
          <p:nvPr>
            <p:ph idx="1"/>
          </p:nvPr>
        </p:nvSpPr>
        <p:spPr>
          <a:xfrm>
            <a:off x="685800" y="1857375"/>
            <a:ext cx="7772400" cy="4405313"/>
          </a:xfrm>
        </p:spPr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Moral hazard is the risk that the existence of the insurance policy causes the policyholder to take more risks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Adverse selection is the tendency for an insurance company to attract bad risks when it cannot perfectly distinguish between good and bad risks </a:t>
            </a: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41988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E1C891-EB8A-49C8-8916-531ECAE1DA2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212850"/>
          </a:xfrm>
        </p:spPr>
        <p:txBody>
          <a:bodyPr/>
          <a:lstStyle/>
          <a:p>
            <a:pPr eaLnBrk="1" hangingPunct="1"/>
            <a:r>
              <a:rPr lang="en-CA" altLang="en-US" sz="3600"/>
              <a:t>Typical Summary Balance Sheet: Life Insurance </a:t>
            </a:r>
            <a:r>
              <a:rPr lang="en-CA" altLang="en-US" sz="2400"/>
              <a:t>(Investments are mostly long-term corporate bonds)</a:t>
            </a:r>
            <a:endParaRPr lang="en-US" altLang="en-US" sz="2400"/>
          </a:p>
        </p:txBody>
      </p:sp>
      <p:sp>
        <p:nvSpPr>
          <p:cNvPr id="440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4403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9FC330-C08D-404F-B98A-4D49D4BA64E7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4375" y="2786063"/>
          <a:ext cx="7286624" cy="2471737"/>
        </p:xfrm>
        <a:graphic>
          <a:graphicData uri="http://schemas.openxmlformats.org/drawingml/2006/table">
            <a:tbl>
              <a:tblPr/>
              <a:tblGrid>
                <a:gridCol w="167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8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901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Assets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Liabs and Net worth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45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Investments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Policy Reserves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45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Other assets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Sub Long Term Debt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459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Equity Capital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45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592262"/>
          </a:xfrm>
        </p:spPr>
        <p:txBody>
          <a:bodyPr/>
          <a:lstStyle/>
          <a:p>
            <a:pPr eaLnBrk="1" hangingPunct="1"/>
            <a:r>
              <a:rPr lang="en-CA" altLang="en-US" sz="3600"/>
              <a:t>Typical Summary Balance Sheet: Property-Casualty Insurance </a:t>
            </a:r>
            <a:r>
              <a:rPr lang="en-CA" altLang="en-US" sz="2400"/>
              <a:t>(Investments are mostly liquid shorter maturity bonds)</a:t>
            </a:r>
            <a:endParaRPr lang="en-US" altLang="en-US" sz="2400"/>
          </a:p>
        </p:txBody>
      </p:sp>
      <p:sp>
        <p:nvSpPr>
          <p:cNvPr id="4608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4608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6C6427-FA24-4E70-9AFF-610AAD46E00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85813" y="2357438"/>
          <a:ext cx="6858000" cy="3143250"/>
        </p:xfrm>
        <a:graphic>
          <a:graphicData uri="http://schemas.openxmlformats.org/drawingml/2006/table">
            <a:tbl>
              <a:tblPr/>
              <a:tblGrid>
                <a:gridCol w="1717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7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1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6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387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Assets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Liabs and Net worth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Investments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Policy Reserves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Other assets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Unearned premiums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Sub Long Term Debt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Equity Capital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Regulation of Insurance Companies</a:t>
            </a:r>
            <a:endParaRPr lang="en-US" altLang="en-US"/>
          </a:p>
        </p:txBody>
      </p:sp>
      <p:sp>
        <p:nvSpPr>
          <p:cNvPr id="4813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>
              <a:cs typeface="Arial" panose="020B0604020202020204" pitchFamily="34" charset="0"/>
            </a:endParaRP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US: Mostly at the state level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Europe: Mostly at the EU level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48132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481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D7F818-0042-4A6C-93D9-E4267BE6ABF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246063" y="1000125"/>
            <a:ext cx="7772400" cy="857250"/>
          </a:xfrm>
        </p:spPr>
        <p:txBody>
          <a:bodyPr/>
          <a:lstStyle/>
          <a:p>
            <a:pPr eaLnBrk="1" hangingPunct="1"/>
            <a:r>
              <a:rPr lang="en-CA" altLang="en-US"/>
              <a:t>Pension Plans</a:t>
            </a:r>
            <a:endParaRPr lang="en-US" altLang="en-US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685800" y="2071688"/>
            <a:ext cx="7772400" cy="4191000"/>
          </a:xfrm>
        </p:spPr>
        <p:txBody>
          <a:bodyPr/>
          <a:lstStyle/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Defined benefit plan</a:t>
            </a:r>
          </a:p>
          <a:p>
            <a:pPr lvl="1" eaLnBrk="1" hangingPunct="1"/>
            <a:r>
              <a:rPr lang="en-CA" altLang="en-US" sz="2000" dirty="0">
                <a:cs typeface="Arial" panose="020B0604020202020204" pitchFamily="34" charset="0"/>
              </a:rPr>
              <a:t>Contributions are pooled </a:t>
            </a:r>
          </a:p>
          <a:p>
            <a:pPr lvl="1" eaLnBrk="1" hangingPunct="1"/>
            <a:r>
              <a:rPr lang="en-CA" altLang="en-US" sz="2000" dirty="0">
                <a:cs typeface="Arial" panose="020B0604020202020204" pitchFamily="34" charset="0"/>
              </a:rPr>
              <a:t>Benefits are determined by a formula  which is usually  dependent on the final salary of the employee and the number of years of service 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Defined contribution plan</a:t>
            </a:r>
          </a:p>
          <a:p>
            <a:pPr lvl="1" eaLnBrk="1" hangingPunct="1"/>
            <a:r>
              <a:rPr lang="en-CA" altLang="en-US" sz="2000" dirty="0">
                <a:cs typeface="Arial" panose="020B0604020202020204" pitchFamily="34" charset="0"/>
              </a:rPr>
              <a:t>Contributions for each employee are kept separate and invested on behalf of the employee</a:t>
            </a:r>
          </a:p>
          <a:p>
            <a:pPr lvl="1" eaLnBrk="1" hangingPunct="1"/>
            <a:r>
              <a:rPr lang="en-CA" altLang="en-US" sz="2000" dirty="0">
                <a:cs typeface="Arial" panose="020B0604020202020204" pitchFamily="34" charset="0"/>
              </a:rPr>
              <a:t>When the employee retires the accumulated value of the contributions is usually converted to an annuity</a:t>
            </a:r>
          </a:p>
          <a:p>
            <a:pPr lvl="1" eaLnBrk="1" hangingPunct="1"/>
            <a:endParaRPr lang="en-CA" altLang="en-US" dirty="0">
              <a:cs typeface="Arial" panose="020B0604020202020204" pitchFamily="34" charset="0"/>
            </a:endParaRPr>
          </a:p>
          <a:p>
            <a:pPr lvl="1" eaLnBrk="1" hangingPunct="1"/>
            <a:endParaRPr lang="en-US" altLang="en-US" dirty="0">
              <a:cs typeface="Arial" panose="020B0604020202020204" pitchFamily="34" charset="0"/>
            </a:endParaRPr>
          </a:p>
          <a:p>
            <a:pPr lvl="1" eaLnBrk="1" hangingPunct="1"/>
            <a:endParaRPr lang="en-CA" altLang="en-US" dirty="0">
              <a:cs typeface="Arial" panose="020B0604020202020204" pitchFamily="34" charset="0"/>
            </a:endParaRPr>
          </a:p>
        </p:txBody>
      </p:sp>
      <p:sp>
        <p:nvSpPr>
          <p:cNvPr id="5018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501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78E73C-17E3-4CCB-9181-42A9C2EA946B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Defined Benefit Plans</a:t>
            </a:r>
            <a:endParaRPr lang="en-US" altLang="en-US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685800" y="2000250"/>
            <a:ext cx="7772400" cy="4262438"/>
          </a:xfrm>
        </p:spPr>
        <p:txBody>
          <a:bodyPr/>
          <a:lstStyle/>
          <a:p>
            <a:pPr eaLnBrk="1" hangingPunct="1"/>
            <a:r>
              <a:rPr lang="en-CA" altLang="en-US" sz="2800">
                <a:cs typeface="Arial" panose="020B0604020202020204" pitchFamily="34" charset="0"/>
              </a:rPr>
              <a:t>Actuaries estimate liabilities and calculate a surplus or deficit for the plan.</a:t>
            </a:r>
          </a:p>
          <a:p>
            <a:pPr eaLnBrk="1" hangingPunct="1"/>
            <a:r>
              <a:rPr lang="en-CA" altLang="en-US" sz="2800">
                <a:cs typeface="Arial" panose="020B0604020202020204" pitchFamily="34" charset="0"/>
              </a:rPr>
              <a:t>The discount rate used for private plans is the AA borrowing rate</a:t>
            </a:r>
          </a:p>
          <a:p>
            <a:pPr eaLnBrk="1" hangingPunct="1"/>
            <a:r>
              <a:rPr lang="en-CA" altLang="en-US" sz="2800">
                <a:cs typeface="Arial" panose="020B0604020202020204" pitchFamily="34" charset="0"/>
              </a:rPr>
              <a:t>Deficits must be funded by the company within a prescribed period</a:t>
            </a:r>
          </a:p>
          <a:p>
            <a:pPr eaLnBrk="1" hangingPunct="1"/>
            <a:r>
              <a:rPr lang="en-CA" altLang="en-US" sz="2800">
                <a:cs typeface="Arial" panose="020B0604020202020204" pitchFamily="34" charset="0"/>
              </a:rPr>
              <a:t>A perfect storm: Declining equity prices coupled with declining interest rates</a:t>
            </a:r>
            <a:endParaRPr lang="en-US" altLang="en-US" sz="2800">
              <a:cs typeface="Arial" panose="020B0604020202020204" pitchFamily="34" charset="0"/>
            </a:endParaRP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DDDA00-B8FB-4DEF-98D7-37E8EEA4212A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/>
              <a:t>Are Defined Benefit Plans Viable?</a:t>
            </a:r>
            <a:endParaRPr lang="en-US" altLang="en-US" sz="360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685800" y="1857375"/>
            <a:ext cx="7772400" cy="4405313"/>
          </a:xfrm>
        </p:spPr>
        <p:txBody>
          <a:bodyPr/>
          <a:lstStyle/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Employer plus employee contributions are typically 15% of salary or less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Actuarial estimates show that about 25% of salary is necessary to fund most plans</a:t>
            </a:r>
          </a:p>
          <a:p>
            <a:pPr eaLnBrk="1" hangingPunct="1"/>
            <a:r>
              <a:rPr lang="en-CA" altLang="en-US" sz="2800" dirty="0">
                <a:cs typeface="Arial" panose="020B0604020202020204" pitchFamily="34" charset="0"/>
              </a:rPr>
              <a:t>Funds typically invest 60% in equities and are relying on good investment returns from equity investments to meet obligations</a:t>
            </a:r>
          </a:p>
          <a:p>
            <a:pPr eaLnBrk="1" hangingPunct="1"/>
            <a:r>
              <a:rPr lang="en-CA" altLang="en-US" sz="2800">
                <a:cs typeface="Arial" panose="020B0604020202020204" pitchFamily="34" charset="0"/>
              </a:rPr>
              <a:t>Should members of DB plans bear some of the risk associated with equity returns?</a:t>
            </a:r>
            <a:endParaRPr lang="en-US" altLang="en-US" sz="2800" dirty="0">
              <a:cs typeface="Arial" panose="020B0604020202020204" pitchFamily="34" charset="0"/>
            </a:endParaRPr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3, Copyright © John C. Hull 2023</a:t>
            </a: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F50BE3-1B42-4461-B9E5-BA9C55E1F54B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A1DC6B-8707-40AE-9A73-59056F2AF69C}"/>
</file>

<file path=customXml/itemProps2.xml><?xml version="1.0" encoding="utf-8"?>
<ds:datastoreItem xmlns:ds="http://schemas.openxmlformats.org/officeDocument/2006/customXml" ds:itemID="{B0661044-7CB4-4100-A9C4-10C91DE0FFD5}"/>
</file>

<file path=customXml/itemProps3.xml><?xml version="1.0" encoding="utf-8"?>
<ds:datastoreItem xmlns:ds="http://schemas.openxmlformats.org/officeDocument/2006/customXml" ds:itemID="{4F90D40A-2C77-4130-AB6C-391C1706D277}"/>
</file>

<file path=docProps/app.xml><?xml version="1.0" encoding="utf-8"?>
<Properties xmlns="http://schemas.openxmlformats.org/officeDocument/2006/extended-properties" xmlns:vt="http://schemas.openxmlformats.org/officeDocument/2006/docPropsVTypes">
  <Template>HullRMFI2ndEdCh18</Template>
  <TotalTime>1098</TotalTime>
  <Words>1238</Words>
  <Application>Microsoft Office PowerPoint</Application>
  <PresentationFormat>On-screen Show (4:3)</PresentationFormat>
  <Paragraphs>222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HullRMFICh12</vt:lpstr>
      <vt:lpstr>Insurance Companies and Pension Plans</vt:lpstr>
      <vt:lpstr>Types of Life Insurance (pages 48-51)</vt:lpstr>
      <vt:lpstr>Expected cash flows to insurance company from a whole life policy taken out by a man aged 40 (Figure 3.1)</vt:lpstr>
      <vt:lpstr>Investment of Surplus in Early Years</vt:lpstr>
      <vt:lpstr>Annuity Contracts (pages 51-52)</vt:lpstr>
      <vt:lpstr>Extract from US Mortality Tables (2019): Male</vt:lpstr>
      <vt:lpstr>Extract from US Mortality Tables (2019): Female</vt:lpstr>
      <vt:lpstr>How Tables Are Used In Pricing Life Insurance</vt:lpstr>
      <vt:lpstr>Longevity Derivatives (page 57)</vt:lpstr>
      <vt:lpstr>Property-Casualty Insurance</vt:lpstr>
      <vt:lpstr>CAT Bonds (page 58-59)</vt:lpstr>
      <vt:lpstr>Example of Ratios for Property-Casualty Insurance (Table 3.2)</vt:lpstr>
      <vt:lpstr>When Do Premiums Change?</vt:lpstr>
      <vt:lpstr>Moral Hazard and Adverse Selection (pages 61-62)</vt:lpstr>
      <vt:lpstr>Typical Summary Balance Sheet: Life Insurance (Investments are mostly long-term corporate bonds)</vt:lpstr>
      <vt:lpstr>Typical Summary Balance Sheet: Property-Casualty Insurance (Investments are mostly liquid shorter maturity bonds)</vt:lpstr>
      <vt:lpstr>Regulation of Insurance Companies</vt:lpstr>
      <vt:lpstr>Pension Plans</vt:lpstr>
      <vt:lpstr>Defined Benefit Plans</vt:lpstr>
      <vt:lpstr>Are Defined Benefit Plans Viable?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3</dc:subject>
  <dc:creator>John  Hull</dc:creator>
  <cp:keywords>5th Edition</cp:keywords>
  <dc:description>Copyright 2018 by John Hull._x000d_
All rights reserved.</dc:description>
  <cp:lastModifiedBy>John Hull</cp:lastModifiedBy>
  <cp:revision>82</cp:revision>
  <dcterms:created xsi:type="dcterms:W3CDTF">2003-01-02T05:31:58Z</dcterms:created>
  <dcterms:modified xsi:type="dcterms:W3CDTF">2022-12-01T16:38:16Z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