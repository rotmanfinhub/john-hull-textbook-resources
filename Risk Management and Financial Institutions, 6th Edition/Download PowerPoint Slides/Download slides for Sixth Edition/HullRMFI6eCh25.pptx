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13.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7"/>
  </p:notesMasterIdLst>
  <p:handoutMasterIdLst>
    <p:handoutMasterId r:id="rId38"/>
  </p:handoutMasterIdLst>
  <p:sldIdLst>
    <p:sldId id="256" r:id="rId2"/>
    <p:sldId id="259" r:id="rId3"/>
    <p:sldId id="260" r:id="rId4"/>
    <p:sldId id="261" r:id="rId5"/>
    <p:sldId id="273" r:id="rId6"/>
    <p:sldId id="262" r:id="rId7"/>
    <p:sldId id="263" r:id="rId8"/>
    <p:sldId id="291" r:id="rId9"/>
    <p:sldId id="290" r:id="rId10"/>
    <p:sldId id="292" r:id="rId11"/>
    <p:sldId id="274" r:id="rId12"/>
    <p:sldId id="293" r:id="rId13"/>
    <p:sldId id="294" r:id="rId14"/>
    <p:sldId id="264" r:id="rId15"/>
    <p:sldId id="295" r:id="rId16"/>
    <p:sldId id="276" r:id="rId17"/>
    <p:sldId id="277" r:id="rId18"/>
    <p:sldId id="296" r:id="rId19"/>
    <p:sldId id="278" r:id="rId20"/>
    <p:sldId id="279" r:id="rId21"/>
    <p:sldId id="298" r:id="rId22"/>
    <p:sldId id="281" r:id="rId23"/>
    <p:sldId id="282" r:id="rId24"/>
    <p:sldId id="283" r:id="rId25"/>
    <p:sldId id="284" r:id="rId26"/>
    <p:sldId id="303" r:id="rId27"/>
    <p:sldId id="285" r:id="rId28"/>
    <p:sldId id="286" r:id="rId29"/>
    <p:sldId id="297" r:id="rId30"/>
    <p:sldId id="299" r:id="rId31"/>
    <p:sldId id="287" r:id="rId32"/>
    <p:sldId id="288" r:id="rId33"/>
    <p:sldId id="289" r:id="rId34"/>
    <p:sldId id="301" r:id="rId35"/>
    <p:sldId id="302" r:id="rId36"/>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32" d="100"/>
          <a:sy n="132" d="100"/>
        </p:scale>
        <p:origin x="93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1" d="100"/>
          <a:sy n="81" d="100"/>
        </p:scale>
        <p:origin x="-1968" y="-102"/>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4"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eaLnBrk="1" hangingPunct="1">
              <a:defRPr sz="1300">
                <a:latin typeface="Times New Roman" pitchFamily="18" charset="0"/>
              </a:defRPr>
            </a:lvl1pPr>
          </a:lstStyle>
          <a:p>
            <a:pPr>
              <a:defRPr/>
            </a:pPr>
            <a:endParaRPr lang="en-US"/>
          </a:p>
        </p:txBody>
      </p:sp>
      <p:sp>
        <p:nvSpPr>
          <p:cNvPr id="20483"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hangingPunct="1">
              <a:defRPr sz="1300">
                <a:latin typeface="Times New Roman" pitchFamily="18" charset="0"/>
              </a:defRPr>
            </a:lvl1pPr>
          </a:lstStyle>
          <a:p>
            <a:pPr>
              <a:defRPr/>
            </a:pPr>
            <a:endParaRPr lang="en-US"/>
          </a:p>
        </p:txBody>
      </p:sp>
      <p:sp>
        <p:nvSpPr>
          <p:cNvPr id="20484"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eaLnBrk="1" hangingPunct="1">
              <a:defRPr sz="1300">
                <a:latin typeface="Times New Roman" pitchFamily="18" charset="0"/>
              </a:defRPr>
            </a:lvl1pPr>
          </a:lstStyle>
          <a:p>
            <a:pPr>
              <a:defRPr/>
            </a:pPr>
            <a:endParaRPr lang="en-US"/>
          </a:p>
        </p:txBody>
      </p:sp>
      <p:sp>
        <p:nvSpPr>
          <p:cNvPr id="20485"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smtClean="0">
                <a:latin typeface="Times New Roman" panose="02020603050405020304" pitchFamily="18" charset="0"/>
              </a:defRPr>
            </a:lvl1pPr>
          </a:lstStyle>
          <a:p>
            <a:pPr>
              <a:defRPr/>
            </a:pPr>
            <a:fld id="{EB221875-C54B-4669-84BB-B5670A45EB19}" type="slidenum">
              <a:rPr lang="en-US" altLang="en-US"/>
              <a:pPr>
                <a:defRPr/>
              </a:pPr>
              <a:t>‹#›</a:t>
            </a:fld>
            <a:endParaRPr lang="en-US" altLang="en-US"/>
          </a:p>
        </p:txBody>
      </p:sp>
    </p:spTree>
    <p:extLst>
      <p:ext uri="{BB962C8B-B14F-4D97-AF65-F5344CB8AC3E}">
        <p14:creationId xmlns:p14="http://schemas.microsoft.com/office/powerpoint/2010/main" val="17515487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eaLnBrk="1" hangingPunct="1">
              <a:defRPr sz="1300">
                <a:latin typeface="Times New Roman" pitchFamily="18" charset="0"/>
              </a:defRPr>
            </a:lvl1pPr>
          </a:lstStyle>
          <a:p>
            <a:pPr>
              <a:defRPr/>
            </a:pPr>
            <a:endParaRPr lang="en-US"/>
          </a:p>
        </p:txBody>
      </p:sp>
      <p:sp>
        <p:nvSpPr>
          <p:cNvPr id="19459"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hangingPunct="1">
              <a:defRPr sz="1300">
                <a:latin typeface="Times New Roman" pitchFamily="18" charset="0"/>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61"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9462"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eaLnBrk="1" hangingPunct="1">
              <a:defRPr sz="1300">
                <a:latin typeface="Times New Roman" pitchFamily="18" charset="0"/>
              </a:defRPr>
            </a:lvl1pPr>
          </a:lstStyle>
          <a:p>
            <a:pPr>
              <a:defRPr/>
            </a:pPr>
            <a:endParaRPr lang="en-US"/>
          </a:p>
        </p:txBody>
      </p:sp>
      <p:sp>
        <p:nvSpPr>
          <p:cNvPr id="19463"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smtClean="0">
                <a:latin typeface="Times New Roman" panose="02020603050405020304" pitchFamily="18" charset="0"/>
              </a:defRPr>
            </a:lvl1pPr>
          </a:lstStyle>
          <a:p>
            <a:pPr>
              <a:defRPr/>
            </a:pPr>
            <a:fld id="{B5DAC1DA-3AFD-496D-B228-A555251583A7}" type="slidenum">
              <a:rPr lang="en-US" altLang="en-US"/>
              <a:pPr>
                <a:defRPr/>
              </a:pPr>
              <a:t>‹#›</a:t>
            </a:fld>
            <a:endParaRPr lang="en-US" altLang="en-US"/>
          </a:p>
        </p:txBody>
      </p:sp>
    </p:spTree>
    <p:extLst>
      <p:ext uri="{BB962C8B-B14F-4D97-AF65-F5344CB8AC3E}">
        <p14:creationId xmlns:p14="http://schemas.microsoft.com/office/powerpoint/2010/main" val="8422700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34337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441452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303817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647748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04325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892449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258157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746694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650716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804335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38339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7140747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9130539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522055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91699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1114406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9241481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4888565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809072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148281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503324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5630421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854942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2791217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5695418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03566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7871812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9123248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2440991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817383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8271709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403405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839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970BAD3-466A-4CC0-BB6E-921C7788B76A}" type="slidenum">
              <a:rPr lang="en-US" altLang="en-US" sz="1300"/>
              <a:pPr>
                <a:spcBef>
                  <a:spcPct val="0"/>
                </a:spcBef>
              </a:pPr>
              <a:t>34</a:t>
            </a:fld>
            <a:endParaRPr lang="en-US" altLang="en-US" sz="1300"/>
          </a:p>
        </p:txBody>
      </p:sp>
    </p:spTree>
    <p:extLst>
      <p:ext uri="{BB962C8B-B14F-4D97-AF65-F5344CB8AC3E}">
        <p14:creationId xmlns:p14="http://schemas.microsoft.com/office/powerpoint/2010/main" val="12704675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D2AEA1B-57F9-471F-B7F7-74657D985C99}" type="slidenum">
              <a:rPr lang="en-US" altLang="en-US" sz="1300"/>
              <a:pPr>
                <a:spcBef>
                  <a:spcPct val="0"/>
                </a:spcBef>
              </a:pPr>
              <a:t>35</a:t>
            </a:fld>
            <a:endParaRPr lang="en-US" altLang="en-US" sz="1300"/>
          </a:p>
        </p:txBody>
      </p:sp>
    </p:spTree>
    <p:extLst>
      <p:ext uri="{BB962C8B-B14F-4D97-AF65-F5344CB8AC3E}">
        <p14:creationId xmlns:p14="http://schemas.microsoft.com/office/powerpoint/2010/main" val="2407923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011"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171012"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a:xfrm>
            <a:off x="323850" y="6248400"/>
            <a:ext cx="7677150" cy="457200"/>
          </a:xfrm>
        </p:spPr>
        <p:txBody>
          <a:bodyPr/>
          <a:lstStyle>
            <a:lvl1pPr>
              <a:defRPr/>
            </a:lvl1pPr>
          </a:lstStyle>
          <a:p>
            <a:pPr>
              <a:defRPr/>
            </a:pPr>
            <a:r>
              <a:rPr lang="en-US" altLang="en-US"/>
              <a:t>Risk Management and Financial Institutions 6e, Chapter 25,  Copyright © John C. Hull 2023</a:t>
            </a:r>
          </a:p>
        </p:txBody>
      </p:sp>
      <p:sp>
        <p:nvSpPr>
          <p:cNvPr id="40" name="Rectangle 7"/>
          <p:cNvSpPr>
            <a:spLocks noGrp="1" noChangeArrowheads="1"/>
          </p:cNvSpPr>
          <p:nvPr>
            <p:ph type="sldNum" sz="quarter" idx="12"/>
          </p:nvPr>
        </p:nvSpPr>
        <p:spPr>
          <a:xfrm>
            <a:off x="6553200" y="6237288"/>
            <a:ext cx="2133600" cy="468312"/>
          </a:xfrm>
        </p:spPr>
        <p:txBody>
          <a:bodyPr/>
          <a:lstStyle>
            <a:lvl1pPr>
              <a:defRPr smtClean="0"/>
            </a:lvl1pPr>
          </a:lstStyle>
          <a:p>
            <a:pPr>
              <a:defRPr/>
            </a:pPr>
            <a:fld id="{18ECB6B6-0E3F-420B-BE70-51318D5790F3}" type="slidenum">
              <a:rPr lang="en-US" altLang="en-US"/>
              <a:pPr>
                <a:defRPr/>
              </a:pPr>
              <a:t>‹#›</a:t>
            </a:fld>
            <a:endParaRPr lang="en-US" altLang="en-US"/>
          </a:p>
        </p:txBody>
      </p:sp>
    </p:spTree>
    <p:extLst>
      <p:ext uri="{BB962C8B-B14F-4D97-AF65-F5344CB8AC3E}">
        <p14:creationId xmlns:p14="http://schemas.microsoft.com/office/powerpoint/2010/main" val="1293363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25,  Copyright © John C. Hull 2023</a:t>
            </a:r>
          </a:p>
        </p:txBody>
      </p:sp>
      <p:sp>
        <p:nvSpPr>
          <p:cNvPr id="6" name="Slide Number Placeholder 5"/>
          <p:cNvSpPr>
            <a:spLocks noGrp="1"/>
          </p:cNvSpPr>
          <p:nvPr>
            <p:ph type="sldNum" sz="quarter" idx="12"/>
          </p:nvPr>
        </p:nvSpPr>
        <p:spPr/>
        <p:txBody>
          <a:bodyPr/>
          <a:lstStyle>
            <a:lvl1pPr>
              <a:defRPr smtClean="0"/>
            </a:lvl1pPr>
          </a:lstStyle>
          <a:p>
            <a:pPr>
              <a:defRPr/>
            </a:pPr>
            <a:fld id="{220B9C9D-DFD9-499C-99FC-10CCA45C3A9D}" type="slidenum">
              <a:rPr lang="en-US" altLang="en-US"/>
              <a:pPr>
                <a:defRPr/>
              </a:pPr>
              <a:t>‹#›</a:t>
            </a:fld>
            <a:endParaRPr lang="en-US" altLang="en-US"/>
          </a:p>
        </p:txBody>
      </p:sp>
    </p:spTree>
    <p:extLst>
      <p:ext uri="{BB962C8B-B14F-4D97-AF65-F5344CB8AC3E}">
        <p14:creationId xmlns:p14="http://schemas.microsoft.com/office/powerpoint/2010/main" val="3301875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25,  Copyright © John C. Hull 2023</a:t>
            </a:r>
          </a:p>
        </p:txBody>
      </p:sp>
      <p:sp>
        <p:nvSpPr>
          <p:cNvPr id="6" name="Slide Number Placeholder 5"/>
          <p:cNvSpPr>
            <a:spLocks noGrp="1"/>
          </p:cNvSpPr>
          <p:nvPr>
            <p:ph type="sldNum" sz="quarter" idx="12"/>
          </p:nvPr>
        </p:nvSpPr>
        <p:spPr/>
        <p:txBody>
          <a:bodyPr/>
          <a:lstStyle>
            <a:lvl1pPr>
              <a:defRPr smtClean="0"/>
            </a:lvl1pPr>
          </a:lstStyle>
          <a:p>
            <a:pPr>
              <a:defRPr/>
            </a:pPr>
            <a:fld id="{C9EDC357-FB8D-4527-A469-FC84893EBA44}" type="slidenum">
              <a:rPr lang="en-US" altLang="en-US"/>
              <a:pPr>
                <a:defRPr/>
              </a:pPr>
              <a:t>‹#›</a:t>
            </a:fld>
            <a:endParaRPr lang="en-US" altLang="en-US"/>
          </a:p>
        </p:txBody>
      </p:sp>
    </p:spTree>
    <p:extLst>
      <p:ext uri="{BB962C8B-B14F-4D97-AF65-F5344CB8AC3E}">
        <p14:creationId xmlns:p14="http://schemas.microsoft.com/office/powerpoint/2010/main" val="191174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25,  Copyright © John C. Hull 2023</a:t>
            </a:r>
          </a:p>
        </p:txBody>
      </p:sp>
      <p:sp>
        <p:nvSpPr>
          <p:cNvPr id="7" name="Slide Number Placeholder 6"/>
          <p:cNvSpPr>
            <a:spLocks noGrp="1"/>
          </p:cNvSpPr>
          <p:nvPr>
            <p:ph type="sldNum" sz="quarter" idx="12"/>
          </p:nvPr>
        </p:nvSpPr>
        <p:spPr/>
        <p:txBody>
          <a:bodyPr/>
          <a:lstStyle>
            <a:lvl1pPr>
              <a:defRPr smtClean="0"/>
            </a:lvl1pPr>
          </a:lstStyle>
          <a:p>
            <a:pPr>
              <a:defRPr/>
            </a:pPr>
            <a:fld id="{EBBECAB0-F8FF-40D7-853D-FDD044A6F023}" type="slidenum">
              <a:rPr lang="en-US" altLang="en-US"/>
              <a:pPr>
                <a:defRPr/>
              </a:pPr>
              <a:t>‹#›</a:t>
            </a:fld>
            <a:endParaRPr lang="en-US" altLang="en-US"/>
          </a:p>
        </p:txBody>
      </p:sp>
    </p:spTree>
    <p:extLst>
      <p:ext uri="{BB962C8B-B14F-4D97-AF65-F5344CB8AC3E}">
        <p14:creationId xmlns:p14="http://schemas.microsoft.com/office/powerpoint/2010/main" val="606639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endParaRPr lang="en-US" altLang="en-US"/>
          </a:p>
        </p:txBody>
      </p:sp>
      <p:sp>
        <p:nvSpPr>
          <p:cNvPr id="8" name="Footer Placeholder 7"/>
          <p:cNvSpPr>
            <a:spLocks noGrp="1"/>
          </p:cNvSpPr>
          <p:nvPr>
            <p:ph type="ftr" sz="quarter" idx="11"/>
          </p:nvPr>
        </p:nvSpPr>
        <p:spPr/>
        <p:txBody>
          <a:bodyPr/>
          <a:lstStyle>
            <a:lvl1pPr>
              <a:defRPr/>
            </a:lvl1pPr>
          </a:lstStyle>
          <a:p>
            <a:pPr>
              <a:defRPr/>
            </a:pPr>
            <a:r>
              <a:rPr lang="en-US" altLang="en-US"/>
              <a:t>Risk Management and Financial Institutions 6e, Chapter 25,  Copyright © John C. Hull 2023</a:t>
            </a:r>
          </a:p>
        </p:txBody>
      </p:sp>
      <p:sp>
        <p:nvSpPr>
          <p:cNvPr id="9" name="Slide Number Placeholder 8"/>
          <p:cNvSpPr>
            <a:spLocks noGrp="1"/>
          </p:cNvSpPr>
          <p:nvPr>
            <p:ph type="sldNum" sz="quarter" idx="12"/>
          </p:nvPr>
        </p:nvSpPr>
        <p:spPr/>
        <p:txBody>
          <a:bodyPr/>
          <a:lstStyle>
            <a:lvl1pPr>
              <a:defRPr smtClean="0"/>
            </a:lvl1pPr>
          </a:lstStyle>
          <a:p>
            <a:pPr>
              <a:defRPr/>
            </a:pPr>
            <a:fld id="{63984DAE-BBFA-4930-AB41-4A3A229D0EA0}" type="slidenum">
              <a:rPr lang="en-US" altLang="en-US"/>
              <a:pPr>
                <a:defRPr/>
              </a:pPr>
              <a:t>‹#›</a:t>
            </a:fld>
            <a:endParaRPr lang="en-US" altLang="en-US"/>
          </a:p>
        </p:txBody>
      </p:sp>
    </p:spTree>
    <p:extLst>
      <p:ext uri="{BB962C8B-B14F-4D97-AF65-F5344CB8AC3E}">
        <p14:creationId xmlns:p14="http://schemas.microsoft.com/office/powerpoint/2010/main" val="3761800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p:txBody>
          <a:bodyPr/>
          <a:lstStyle>
            <a:lvl1pPr>
              <a:defRPr/>
            </a:lvl1pPr>
          </a:lstStyle>
          <a:p>
            <a:pPr>
              <a:defRPr/>
            </a:pPr>
            <a:r>
              <a:rPr lang="en-US" altLang="en-US"/>
              <a:t>Risk Management and Financial Institutions 6e, Chapter 25,  Copyright © John C. Hull 2023</a:t>
            </a:r>
          </a:p>
        </p:txBody>
      </p:sp>
      <p:sp>
        <p:nvSpPr>
          <p:cNvPr id="5" name="Slide Number Placeholder 4"/>
          <p:cNvSpPr>
            <a:spLocks noGrp="1"/>
          </p:cNvSpPr>
          <p:nvPr>
            <p:ph type="sldNum" sz="quarter" idx="12"/>
          </p:nvPr>
        </p:nvSpPr>
        <p:spPr/>
        <p:txBody>
          <a:bodyPr/>
          <a:lstStyle>
            <a:lvl1pPr>
              <a:defRPr smtClean="0"/>
            </a:lvl1pPr>
          </a:lstStyle>
          <a:p>
            <a:pPr>
              <a:defRPr/>
            </a:pPr>
            <a:fld id="{DEAC4D3D-DD5B-467C-836A-50A6D6D56FDD}" type="slidenum">
              <a:rPr lang="en-US" altLang="en-US"/>
              <a:pPr>
                <a:defRPr/>
              </a:pPr>
              <a:t>‹#›</a:t>
            </a:fld>
            <a:endParaRPr lang="en-US" altLang="en-US"/>
          </a:p>
        </p:txBody>
      </p:sp>
    </p:spTree>
    <p:extLst>
      <p:ext uri="{BB962C8B-B14F-4D97-AF65-F5344CB8AC3E}">
        <p14:creationId xmlns:p14="http://schemas.microsoft.com/office/powerpoint/2010/main" val="66117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en-US" altLang="en-US"/>
              <a:t>Risk Management and Financial Institutions 6e, Chapter 25,  Copyright © John C. Hull 2023</a:t>
            </a:r>
          </a:p>
        </p:txBody>
      </p:sp>
      <p:sp>
        <p:nvSpPr>
          <p:cNvPr id="4" name="Slide Number Placeholder 3"/>
          <p:cNvSpPr>
            <a:spLocks noGrp="1"/>
          </p:cNvSpPr>
          <p:nvPr>
            <p:ph type="sldNum" sz="quarter" idx="12"/>
          </p:nvPr>
        </p:nvSpPr>
        <p:spPr/>
        <p:txBody>
          <a:bodyPr/>
          <a:lstStyle>
            <a:lvl1pPr>
              <a:defRPr smtClean="0"/>
            </a:lvl1pPr>
          </a:lstStyle>
          <a:p>
            <a:pPr>
              <a:defRPr/>
            </a:pPr>
            <a:fld id="{18450D16-746F-4F45-BC19-190A40340FA5}" type="slidenum">
              <a:rPr lang="en-US" altLang="en-US"/>
              <a:pPr>
                <a:defRPr/>
              </a:pPr>
              <a:t>‹#›</a:t>
            </a:fld>
            <a:endParaRPr lang="en-US" altLang="en-US"/>
          </a:p>
        </p:txBody>
      </p:sp>
    </p:spTree>
    <p:extLst>
      <p:ext uri="{BB962C8B-B14F-4D97-AF65-F5344CB8AC3E}">
        <p14:creationId xmlns:p14="http://schemas.microsoft.com/office/powerpoint/2010/main" val="1025211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25,  Copyright © John C. Hull 2023</a:t>
            </a:r>
          </a:p>
        </p:txBody>
      </p:sp>
      <p:sp>
        <p:nvSpPr>
          <p:cNvPr id="7" name="Slide Number Placeholder 6"/>
          <p:cNvSpPr>
            <a:spLocks noGrp="1"/>
          </p:cNvSpPr>
          <p:nvPr>
            <p:ph type="sldNum" sz="quarter" idx="12"/>
          </p:nvPr>
        </p:nvSpPr>
        <p:spPr/>
        <p:txBody>
          <a:bodyPr/>
          <a:lstStyle>
            <a:lvl1pPr>
              <a:defRPr smtClean="0"/>
            </a:lvl1pPr>
          </a:lstStyle>
          <a:p>
            <a:pPr>
              <a:defRPr/>
            </a:pPr>
            <a:fld id="{4AC4BA5B-257A-462D-AA07-47806B877CE1}" type="slidenum">
              <a:rPr lang="en-US" altLang="en-US"/>
              <a:pPr>
                <a:defRPr/>
              </a:pPr>
              <a:t>‹#›</a:t>
            </a:fld>
            <a:endParaRPr lang="en-US" altLang="en-US"/>
          </a:p>
        </p:txBody>
      </p:sp>
    </p:spTree>
    <p:extLst>
      <p:ext uri="{BB962C8B-B14F-4D97-AF65-F5344CB8AC3E}">
        <p14:creationId xmlns:p14="http://schemas.microsoft.com/office/powerpoint/2010/main" val="2077458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25,  Copyright © John C. Hull 2023</a:t>
            </a:r>
          </a:p>
        </p:txBody>
      </p:sp>
      <p:sp>
        <p:nvSpPr>
          <p:cNvPr id="7" name="Slide Number Placeholder 6"/>
          <p:cNvSpPr>
            <a:spLocks noGrp="1"/>
          </p:cNvSpPr>
          <p:nvPr>
            <p:ph type="sldNum" sz="quarter" idx="12"/>
          </p:nvPr>
        </p:nvSpPr>
        <p:spPr/>
        <p:txBody>
          <a:bodyPr/>
          <a:lstStyle>
            <a:lvl1pPr>
              <a:defRPr smtClean="0"/>
            </a:lvl1pPr>
          </a:lstStyle>
          <a:p>
            <a:pPr>
              <a:defRPr/>
            </a:pPr>
            <a:fld id="{9D15AF74-3669-4347-82A4-37ECF210CD40}" type="slidenum">
              <a:rPr lang="en-US" altLang="en-US"/>
              <a:pPr>
                <a:defRPr/>
              </a:pPr>
              <a:t>‹#›</a:t>
            </a:fld>
            <a:endParaRPr lang="en-US" altLang="en-US"/>
          </a:p>
        </p:txBody>
      </p:sp>
    </p:spTree>
    <p:extLst>
      <p:ext uri="{BB962C8B-B14F-4D97-AF65-F5344CB8AC3E}">
        <p14:creationId xmlns:p14="http://schemas.microsoft.com/office/powerpoint/2010/main" val="1616261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25,  Copyright © John C. Hull 2023</a:t>
            </a:r>
          </a:p>
        </p:txBody>
      </p:sp>
      <p:sp>
        <p:nvSpPr>
          <p:cNvPr id="6" name="Slide Number Placeholder 5"/>
          <p:cNvSpPr>
            <a:spLocks noGrp="1"/>
          </p:cNvSpPr>
          <p:nvPr>
            <p:ph type="sldNum" sz="quarter" idx="12"/>
          </p:nvPr>
        </p:nvSpPr>
        <p:spPr/>
        <p:txBody>
          <a:bodyPr/>
          <a:lstStyle>
            <a:lvl1pPr>
              <a:defRPr smtClean="0"/>
            </a:lvl1pPr>
          </a:lstStyle>
          <a:p>
            <a:pPr>
              <a:defRPr/>
            </a:pPr>
            <a:fld id="{A71F53FF-2049-45F5-9FB7-74F53B8394D8}" type="slidenum">
              <a:rPr lang="en-US" altLang="en-US"/>
              <a:pPr>
                <a:defRPr/>
              </a:pPr>
              <a:t>‹#›</a:t>
            </a:fld>
            <a:endParaRPr lang="en-US" altLang="en-US"/>
          </a:p>
        </p:txBody>
      </p:sp>
    </p:spTree>
    <p:extLst>
      <p:ext uri="{BB962C8B-B14F-4D97-AF65-F5344CB8AC3E}">
        <p14:creationId xmlns:p14="http://schemas.microsoft.com/office/powerpoint/2010/main" val="3950787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25,  Copyright © John C. Hull 2023</a:t>
            </a:r>
          </a:p>
        </p:txBody>
      </p:sp>
      <p:sp>
        <p:nvSpPr>
          <p:cNvPr id="6" name="Slide Number Placeholder 5"/>
          <p:cNvSpPr>
            <a:spLocks noGrp="1"/>
          </p:cNvSpPr>
          <p:nvPr>
            <p:ph type="sldNum" sz="quarter" idx="12"/>
          </p:nvPr>
        </p:nvSpPr>
        <p:spPr/>
        <p:txBody>
          <a:bodyPr/>
          <a:lstStyle>
            <a:lvl1pPr>
              <a:defRPr smtClean="0"/>
            </a:lvl1pPr>
          </a:lstStyle>
          <a:p>
            <a:pPr>
              <a:defRPr/>
            </a:pPr>
            <a:fld id="{8AACE573-68AE-4795-BAA7-3D5FF2EBDC32}" type="slidenum">
              <a:rPr lang="en-US" altLang="en-US"/>
              <a:pPr>
                <a:defRPr/>
              </a:pPr>
              <a:t>‹#›</a:t>
            </a:fld>
            <a:endParaRPr lang="en-US" altLang="en-US"/>
          </a:p>
        </p:txBody>
      </p:sp>
    </p:spTree>
    <p:extLst>
      <p:ext uri="{BB962C8B-B14F-4D97-AF65-F5344CB8AC3E}">
        <p14:creationId xmlns:p14="http://schemas.microsoft.com/office/powerpoint/2010/main" val="897593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25,  Copyright © John C. Hull 2023</a:t>
            </a:r>
          </a:p>
        </p:txBody>
      </p:sp>
      <p:sp>
        <p:nvSpPr>
          <p:cNvPr id="7" name="Slide Number Placeholder 6"/>
          <p:cNvSpPr>
            <a:spLocks noGrp="1"/>
          </p:cNvSpPr>
          <p:nvPr>
            <p:ph type="sldNum" sz="quarter" idx="12"/>
          </p:nvPr>
        </p:nvSpPr>
        <p:spPr/>
        <p:txBody>
          <a:bodyPr/>
          <a:lstStyle>
            <a:lvl1pPr>
              <a:defRPr smtClean="0"/>
            </a:lvl1pPr>
          </a:lstStyle>
          <a:p>
            <a:pPr>
              <a:defRPr/>
            </a:pPr>
            <a:fld id="{4B896109-8BFC-460E-A836-73EF07AF86ED}" type="slidenum">
              <a:rPr lang="en-US" altLang="en-US"/>
              <a:pPr>
                <a:defRPr/>
              </a:pPr>
              <a:t>‹#›</a:t>
            </a:fld>
            <a:endParaRPr lang="en-US" altLang="en-US"/>
          </a:p>
        </p:txBody>
      </p:sp>
    </p:spTree>
    <p:extLst>
      <p:ext uri="{BB962C8B-B14F-4D97-AF65-F5344CB8AC3E}">
        <p14:creationId xmlns:p14="http://schemas.microsoft.com/office/powerpoint/2010/main" val="95078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69989"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Arial" charset="0"/>
              </a:defRPr>
            </a:lvl1pPr>
          </a:lstStyle>
          <a:p>
            <a:pPr>
              <a:defRPr/>
            </a:pPr>
            <a:endParaRPr lang="en-US" altLang="en-US"/>
          </a:p>
        </p:txBody>
      </p:sp>
      <p:sp>
        <p:nvSpPr>
          <p:cNvPr id="169990"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i="1">
                <a:latin typeface="Arial" charset="0"/>
              </a:defRPr>
            </a:lvl1pPr>
          </a:lstStyle>
          <a:p>
            <a:pPr>
              <a:defRPr/>
            </a:pPr>
            <a:r>
              <a:rPr lang="en-US" altLang="en-US"/>
              <a:t>Risk Management and Financial Institutions 6e, Chapter 25,  Copyright © John C. Hull 2023</a:t>
            </a:r>
          </a:p>
        </p:txBody>
      </p:sp>
      <p:sp>
        <p:nvSpPr>
          <p:cNvPr id="169991"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smtClean="0"/>
            </a:lvl1pPr>
          </a:lstStyle>
          <a:p>
            <a:pPr>
              <a:defRPr/>
            </a:pPr>
            <a:r>
              <a:rPr lang="en-US" altLang="en-US"/>
              <a:t>7.</a:t>
            </a:r>
            <a:fld id="{4FCB0B19-29BE-41C8-A59C-CAF125007BC9}" type="slidenum">
              <a:rPr lang="en-US" altLang="en-US"/>
              <a:pPr>
                <a:defRPr/>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9"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0"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1"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2"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3"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4"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8"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2"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7"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1"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3"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gr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Times New Roman" pitchFamily="18" charset="0"/>
        </a:defRPr>
      </a:lvl2pPr>
      <a:lvl3pPr algn="l" rtl="0" eaLnBrk="0" fontAlgn="base" hangingPunct="0">
        <a:spcBef>
          <a:spcPct val="0"/>
        </a:spcBef>
        <a:spcAft>
          <a:spcPct val="0"/>
        </a:spcAft>
        <a:defRPr sz="3900" b="1">
          <a:solidFill>
            <a:schemeClr val="tx2"/>
          </a:solidFill>
          <a:latin typeface="Times New Roman" pitchFamily="18" charset="0"/>
        </a:defRPr>
      </a:lvl3pPr>
      <a:lvl4pPr algn="l" rtl="0" eaLnBrk="0" fontAlgn="base" hangingPunct="0">
        <a:spcBef>
          <a:spcPct val="0"/>
        </a:spcBef>
        <a:spcAft>
          <a:spcPct val="0"/>
        </a:spcAft>
        <a:defRPr sz="3900" b="1">
          <a:solidFill>
            <a:schemeClr val="tx2"/>
          </a:solidFill>
          <a:latin typeface="Times New Roman" pitchFamily="18" charset="0"/>
        </a:defRPr>
      </a:lvl4pPr>
      <a:lvl5pPr algn="l" rtl="0" eaLnBrk="0" fontAlgn="base" hangingPunct="0">
        <a:spcBef>
          <a:spcPct val="0"/>
        </a:spcBef>
        <a:spcAft>
          <a:spcPct val="0"/>
        </a:spcAft>
        <a:defRPr sz="3900" b="1">
          <a:solidFill>
            <a:schemeClr val="tx2"/>
          </a:solidFill>
          <a:latin typeface="Times New Roman" pitchFamily="18" charset="0"/>
        </a:defRPr>
      </a:lvl5pPr>
      <a:lvl6pPr marL="457200" algn="l" rtl="0" eaLnBrk="1" fontAlgn="base" hangingPunct="1">
        <a:spcBef>
          <a:spcPct val="0"/>
        </a:spcBef>
        <a:spcAft>
          <a:spcPct val="0"/>
        </a:spcAft>
        <a:defRPr sz="3900" b="1">
          <a:solidFill>
            <a:schemeClr val="tx2"/>
          </a:solidFill>
          <a:latin typeface="Times New Roman" pitchFamily="18" charset="0"/>
        </a:defRPr>
      </a:lvl6pPr>
      <a:lvl7pPr marL="914400" algn="l" rtl="0" eaLnBrk="1" fontAlgn="base" hangingPunct="1">
        <a:spcBef>
          <a:spcPct val="0"/>
        </a:spcBef>
        <a:spcAft>
          <a:spcPct val="0"/>
        </a:spcAft>
        <a:defRPr sz="3900" b="1">
          <a:solidFill>
            <a:schemeClr val="tx2"/>
          </a:solidFill>
          <a:latin typeface="Times New Roman" pitchFamily="18" charset="0"/>
        </a:defRPr>
      </a:lvl7pPr>
      <a:lvl8pPr marL="1371600" algn="l" rtl="0" eaLnBrk="1" fontAlgn="base" hangingPunct="1">
        <a:spcBef>
          <a:spcPct val="0"/>
        </a:spcBef>
        <a:spcAft>
          <a:spcPct val="0"/>
        </a:spcAft>
        <a:defRPr sz="3900" b="1">
          <a:solidFill>
            <a:schemeClr val="tx2"/>
          </a:solidFill>
          <a:latin typeface="Times New Roman" pitchFamily="18" charset="0"/>
        </a:defRPr>
      </a:lvl8pPr>
      <a:lvl9pPr marL="1828800" algn="l" rtl="0" eaLnBrk="1" fontAlgn="base" hangingPunct="1">
        <a:spcBef>
          <a:spcPct val="0"/>
        </a:spcBef>
        <a:spcAft>
          <a:spcPct val="0"/>
        </a:spcAft>
        <a:defRPr sz="39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12.xml"/><Relationship Id="rId7"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5.wmf"/><Relationship Id="rId5" Type="http://schemas.openxmlformats.org/officeDocument/2006/relationships/image" Target="../media/image2.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4.w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image" Target="../media/image6.wmf"/><Relationship Id="rId4"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8.wmf"/><Relationship Id="rId4" Type="http://schemas.openxmlformats.org/officeDocument/2006/relationships/oleObject" Target="../embeddings/oleObject8.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0.wmf"/><Relationship Id="rId4" Type="http://schemas.openxmlformats.org/officeDocument/2006/relationships/oleObject" Target="../embeddings/oleObject9.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1.wmf"/><Relationship Id="rId4" Type="http://schemas.openxmlformats.org/officeDocument/2006/relationships/oleObject" Target="../embeddings/oleObject10.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2.wmf"/><Relationship Id="rId4" Type="http://schemas.openxmlformats.org/officeDocument/2006/relationships/oleObject" Target="../embeddings/oleObject11.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3.w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4.wmf"/><Relationship Id="rId4" Type="http://schemas.openxmlformats.org/officeDocument/2006/relationships/oleObject" Target="../embeddings/oleObject13.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p:txBody>
          <a:bodyPr/>
          <a:lstStyle/>
          <a:p>
            <a:pPr eaLnBrk="1" hangingPunct="1"/>
            <a:r>
              <a:rPr lang="en-US" altLang="en-US"/>
              <a:t>Basel I, Basel II, and Solvency II</a:t>
            </a:r>
          </a:p>
        </p:txBody>
      </p:sp>
      <p:sp>
        <p:nvSpPr>
          <p:cNvPr id="16387" name="Subtitle 8"/>
          <p:cNvSpPr>
            <a:spLocks noGrp="1"/>
          </p:cNvSpPr>
          <p:nvPr>
            <p:ph type="subTitle" idx="1"/>
          </p:nvPr>
        </p:nvSpPr>
        <p:spPr/>
        <p:txBody>
          <a:bodyPr/>
          <a:lstStyle/>
          <a:p>
            <a:pPr eaLnBrk="1" hangingPunct="1"/>
            <a:r>
              <a:rPr lang="en-US" altLang="en-US" dirty="0"/>
              <a:t>Chapter 25</a:t>
            </a:r>
            <a:br>
              <a:rPr lang="en-US" altLang="en-US" dirty="0"/>
            </a:br>
            <a:r>
              <a:rPr lang="en-US" altLang="en-US" dirty="0">
                <a:cs typeface="Arial" panose="020B0604020202020204" pitchFamily="34" charset="0"/>
              </a:rPr>
              <a:t> </a:t>
            </a:r>
          </a:p>
        </p:txBody>
      </p:sp>
      <p:sp>
        <p:nvSpPr>
          <p:cNvPr id="16388" name="Rectangle 6"/>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1638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8B72D18-3319-4B38-BAC2-D831303DCB71}" type="slidenum">
              <a:rPr lang="en-US" altLang="en-US" sz="1800"/>
              <a:pPr>
                <a:spcBef>
                  <a:spcPct val="0"/>
                </a:spcBef>
                <a:buClrTx/>
                <a:buSzTx/>
                <a:buFontTx/>
                <a:buNone/>
              </a:pPr>
              <a:t>1</a:t>
            </a:fld>
            <a:endParaRPr lang="en-US" alt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a:t>History of Bank Regulation</a:t>
            </a:r>
          </a:p>
        </p:txBody>
      </p:sp>
      <p:sp>
        <p:nvSpPr>
          <p:cNvPr id="18435" name="Rectangle 3"/>
          <p:cNvSpPr>
            <a:spLocks noGrp="1" noChangeArrowheads="1"/>
          </p:cNvSpPr>
          <p:nvPr>
            <p:ph idx="1"/>
          </p:nvPr>
        </p:nvSpPr>
        <p:spPr/>
        <p:txBody>
          <a:bodyPr/>
          <a:lstStyle/>
          <a:p>
            <a:pPr eaLnBrk="1" hangingPunct="1"/>
            <a:r>
              <a:rPr lang="en-US" altLang="en-US">
                <a:cs typeface="Arial" panose="020B0604020202020204" pitchFamily="34" charset="0"/>
              </a:rPr>
              <a:t>Pre-1988</a:t>
            </a:r>
          </a:p>
          <a:p>
            <a:pPr eaLnBrk="1" hangingPunct="1"/>
            <a:r>
              <a:rPr lang="en-US" altLang="en-US">
                <a:cs typeface="Arial" panose="020B0604020202020204" pitchFamily="34" charset="0"/>
              </a:rPr>
              <a:t>1988: BIS Accord (Basel I)</a:t>
            </a:r>
          </a:p>
          <a:p>
            <a:pPr eaLnBrk="1" hangingPunct="1"/>
            <a:r>
              <a:rPr lang="en-US" altLang="en-US">
                <a:cs typeface="Arial" panose="020B0604020202020204" pitchFamily="34" charset="0"/>
              </a:rPr>
              <a:t>1996: Amendment to BIS Accord</a:t>
            </a:r>
          </a:p>
          <a:p>
            <a:pPr eaLnBrk="1" hangingPunct="1"/>
            <a:r>
              <a:rPr lang="en-US" altLang="en-US">
                <a:cs typeface="Arial" panose="020B0604020202020204" pitchFamily="34" charset="0"/>
              </a:rPr>
              <a:t>1999: Basel II first proposed</a:t>
            </a:r>
          </a:p>
        </p:txBody>
      </p:sp>
      <p:sp>
        <p:nvSpPr>
          <p:cNvPr id="1843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1843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0F110C3-AA90-4E10-9DF4-D19CE333AC3C}" type="slidenum">
              <a:rPr lang="en-US" altLang="en-US" sz="1800"/>
              <a:pPr>
                <a:spcBef>
                  <a:spcPct val="0"/>
                </a:spcBef>
                <a:buClrTx/>
                <a:buSzTx/>
                <a:buFontTx/>
                <a:buNone/>
              </a:pPr>
              <a:t>2</a:t>
            </a:fld>
            <a:endParaRPr lang="en-US" alt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en-US"/>
              <a:t>Pre-1988</a:t>
            </a:r>
          </a:p>
        </p:txBody>
      </p:sp>
      <p:sp>
        <p:nvSpPr>
          <p:cNvPr id="20483" name="Rectangle 3"/>
          <p:cNvSpPr>
            <a:spLocks noGrp="1" noChangeArrowheads="1"/>
          </p:cNvSpPr>
          <p:nvPr>
            <p:ph idx="1"/>
          </p:nvPr>
        </p:nvSpPr>
        <p:spPr/>
        <p:txBody>
          <a:bodyPr/>
          <a:lstStyle/>
          <a:p>
            <a:pPr eaLnBrk="1" hangingPunct="1">
              <a:lnSpc>
                <a:spcPct val="90000"/>
              </a:lnSpc>
            </a:pPr>
            <a:r>
              <a:rPr lang="en-US" altLang="en-US" sz="2400" dirty="0">
                <a:cs typeface="Arial" panose="020B0604020202020204" pitchFamily="34" charset="0"/>
              </a:rPr>
              <a:t>Banks were regulated using balance sheet measures such as the ratio of capital to assets</a:t>
            </a:r>
          </a:p>
          <a:p>
            <a:pPr eaLnBrk="1" hangingPunct="1">
              <a:lnSpc>
                <a:spcPct val="90000"/>
              </a:lnSpc>
            </a:pPr>
            <a:r>
              <a:rPr lang="en-US" altLang="en-US" sz="2400" dirty="0">
                <a:cs typeface="Arial" panose="020B0604020202020204" pitchFamily="34" charset="0"/>
              </a:rPr>
              <a:t>Definitions and required ratios varied from country to country</a:t>
            </a:r>
          </a:p>
          <a:p>
            <a:pPr eaLnBrk="1" hangingPunct="1">
              <a:lnSpc>
                <a:spcPct val="90000"/>
              </a:lnSpc>
            </a:pPr>
            <a:r>
              <a:rPr lang="en-US" altLang="en-US" sz="2400" dirty="0">
                <a:cs typeface="Arial" panose="020B0604020202020204" pitchFamily="34" charset="0"/>
              </a:rPr>
              <a:t>Enforcement of regulations varied from country to country</a:t>
            </a:r>
          </a:p>
          <a:p>
            <a:pPr eaLnBrk="1" hangingPunct="1">
              <a:lnSpc>
                <a:spcPct val="90000"/>
              </a:lnSpc>
            </a:pPr>
            <a:r>
              <a:rPr lang="en-US" altLang="en-US" sz="2400" dirty="0">
                <a:cs typeface="Arial" panose="020B0604020202020204" pitchFamily="34" charset="0"/>
              </a:rPr>
              <a:t>Bank leverage increased in 1980s</a:t>
            </a:r>
          </a:p>
          <a:p>
            <a:pPr eaLnBrk="1" hangingPunct="1">
              <a:lnSpc>
                <a:spcPct val="90000"/>
              </a:lnSpc>
            </a:pPr>
            <a:r>
              <a:rPr lang="en-US" altLang="en-US" sz="2400" dirty="0">
                <a:cs typeface="Arial" panose="020B0604020202020204" pitchFamily="34" charset="0"/>
              </a:rPr>
              <a:t>Off-balance sheet derivatives trading increased</a:t>
            </a:r>
          </a:p>
          <a:p>
            <a:pPr eaLnBrk="1" hangingPunct="1">
              <a:lnSpc>
                <a:spcPct val="90000"/>
              </a:lnSpc>
            </a:pPr>
            <a:r>
              <a:rPr lang="en-US" altLang="en-US" sz="2400" dirty="0">
                <a:cs typeface="Arial" panose="020B0604020202020204" pitchFamily="34" charset="0"/>
              </a:rPr>
              <a:t>LDC debt was a major problem </a:t>
            </a:r>
          </a:p>
          <a:p>
            <a:pPr eaLnBrk="1" hangingPunct="1">
              <a:lnSpc>
                <a:spcPct val="90000"/>
              </a:lnSpc>
            </a:pPr>
            <a:endParaRPr lang="en-US" altLang="en-US" sz="2400" dirty="0">
              <a:cs typeface="Arial" panose="020B0604020202020204" pitchFamily="34" charset="0"/>
            </a:endParaRPr>
          </a:p>
        </p:txBody>
      </p:sp>
      <p:sp>
        <p:nvSpPr>
          <p:cNvPr id="2048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2048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44C10DA-DA03-4ECD-BEFC-6D06C90F574E}" type="slidenum">
              <a:rPr lang="en-US" altLang="en-US" sz="1800"/>
              <a:pPr>
                <a:spcBef>
                  <a:spcPct val="0"/>
                </a:spcBef>
                <a:buClrTx/>
                <a:buSzTx/>
                <a:buFontTx/>
                <a:buNone/>
              </a:pPr>
              <a:t>3</a:t>
            </a:fld>
            <a:endParaRPr lang="en-US" alt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dirty="0"/>
              <a:t>1988: BIS Accord </a:t>
            </a:r>
            <a:r>
              <a:rPr lang="en-US" altLang="en-US" sz="2400" dirty="0"/>
              <a:t>(Section 25.3)</a:t>
            </a:r>
          </a:p>
        </p:txBody>
      </p:sp>
      <p:sp>
        <p:nvSpPr>
          <p:cNvPr id="18435" name="Rectangle 3"/>
          <p:cNvSpPr>
            <a:spLocks noGrp="1" noChangeArrowheads="1"/>
          </p:cNvSpPr>
          <p:nvPr>
            <p:ph idx="1"/>
          </p:nvPr>
        </p:nvSpPr>
        <p:spPr/>
        <p:txBody>
          <a:bodyPr/>
          <a:lstStyle/>
          <a:p>
            <a:pPr marL="0" indent="0" eaLnBrk="1" hangingPunct="1">
              <a:buFont typeface="Wingdings" panose="05000000000000000000" pitchFamily="2" charset="2"/>
              <a:buNone/>
              <a:defRPr/>
            </a:pPr>
            <a:r>
              <a:rPr lang="en-US" altLang="en-US" dirty="0">
                <a:cs typeface="Arial" charset="0"/>
              </a:rPr>
              <a:t>Main Provisions:</a:t>
            </a:r>
          </a:p>
          <a:p>
            <a:pPr eaLnBrk="1" hangingPunct="1">
              <a:defRPr/>
            </a:pPr>
            <a:r>
              <a:rPr lang="en-US" altLang="en-US" dirty="0">
                <a:cs typeface="Arial" charset="0"/>
              </a:rPr>
              <a:t>Capital must be 8% of risk weighted amount. </a:t>
            </a:r>
          </a:p>
          <a:p>
            <a:pPr eaLnBrk="1" hangingPunct="1">
              <a:defRPr/>
            </a:pPr>
            <a:r>
              <a:rPr lang="en-US" altLang="en-US" dirty="0">
                <a:cs typeface="Arial" charset="0"/>
              </a:rPr>
              <a:t>At least 50% of capital must be Tier 1</a:t>
            </a:r>
          </a:p>
        </p:txBody>
      </p:sp>
      <p:sp>
        <p:nvSpPr>
          <p:cNvPr id="225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2253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A2C52A0-BC18-4E99-8820-AA146F0DFD75}" type="slidenum">
              <a:rPr lang="en-US" altLang="en-US" sz="1800"/>
              <a:pPr>
                <a:spcBef>
                  <a:spcPct val="0"/>
                </a:spcBef>
                <a:buClrTx/>
                <a:buSzTx/>
                <a:buFontTx/>
                <a:buNone/>
              </a:pPr>
              <a:t>4</a:t>
            </a:fld>
            <a:endParaRPr lang="en-US" alt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Types of Capital </a:t>
            </a:r>
            <a:r>
              <a:rPr lang="en-US" altLang="en-US" sz="2400" dirty="0"/>
              <a:t>(Section 25.3.2)</a:t>
            </a:r>
          </a:p>
        </p:txBody>
      </p:sp>
      <p:sp>
        <p:nvSpPr>
          <p:cNvPr id="24579" name="Rectangle 3"/>
          <p:cNvSpPr>
            <a:spLocks noGrp="1" noChangeArrowheads="1"/>
          </p:cNvSpPr>
          <p:nvPr>
            <p:ph idx="1"/>
          </p:nvPr>
        </p:nvSpPr>
        <p:spPr>
          <a:xfrm>
            <a:off x="457200" y="2000250"/>
            <a:ext cx="8229600" cy="4130675"/>
          </a:xfrm>
        </p:spPr>
        <p:txBody>
          <a:bodyPr/>
          <a:lstStyle/>
          <a:p>
            <a:pPr eaLnBrk="1" hangingPunct="1"/>
            <a:r>
              <a:rPr lang="en-US" altLang="en-US" b="1">
                <a:cs typeface="Arial" panose="020B0604020202020204" pitchFamily="34" charset="0"/>
              </a:rPr>
              <a:t>Tier 1 Capital</a:t>
            </a:r>
            <a:r>
              <a:rPr lang="en-US" altLang="en-US">
                <a:cs typeface="Arial" panose="020B0604020202020204" pitchFamily="34" charset="0"/>
              </a:rPr>
              <a:t>: common equity, non-cumulative perpetual preferred shares</a:t>
            </a:r>
          </a:p>
          <a:p>
            <a:pPr eaLnBrk="1" hangingPunct="1"/>
            <a:r>
              <a:rPr lang="en-US" altLang="en-US">
                <a:cs typeface="Arial" panose="020B0604020202020204" pitchFamily="34" charset="0"/>
              </a:rPr>
              <a:t> </a:t>
            </a:r>
            <a:r>
              <a:rPr lang="en-US" altLang="en-US" b="1">
                <a:cs typeface="Arial" panose="020B0604020202020204" pitchFamily="34" charset="0"/>
              </a:rPr>
              <a:t>Tier 2 Capital:</a:t>
            </a:r>
            <a:r>
              <a:rPr lang="en-US" altLang="en-US">
                <a:cs typeface="Arial" panose="020B0604020202020204" pitchFamily="34" charset="0"/>
              </a:rPr>
              <a:t> cumulative preferred stock, certain types of 99-year debentures, subordinated debt with an original life of more than 5 years</a:t>
            </a:r>
            <a:endParaRPr lang="en-US" altLang="en-US" b="1">
              <a:cs typeface="Arial" panose="020B0604020202020204" pitchFamily="34" charset="0"/>
            </a:endParaRPr>
          </a:p>
        </p:txBody>
      </p:sp>
      <p:sp>
        <p:nvSpPr>
          <p:cNvPr id="2458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2458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A6D4A6C-F510-408F-9DE0-B4D897737A51}" type="slidenum">
              <a:rPr lang="en-US" altLang="en-US" sz="1800"/>
              <a:pPr>
                <a:spcBef>
                  <a:spcPct val="0"/>
                </a:spcBef>
                <a:buClrTx/>
                <a:buSzTx/>
                <a:buFontTx/>
                <a:buNone/>
              </a:pPr>
              <a:t>5</a:t>
            </a:fld>
            <a:endParaRPr lang="en-US" alt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a:t>Risk-Weighted Capital</a:t>
            </a:r>
          </a:p>
        </p:txBody>
      </p:sp>
      <p:sp>
        <p:nvSpPr>
          <p:cNvPr id="26627" name="Rectangle 3"/>
          <p:cNvSpPr>
            <a:spLocks noGrp="1" noChangeArrowheads="1"/>
          </p:cNvSpPr>
          <p:nvPr>
            <p:ph idx="1"/>
          </p:nvPr>
        </p:nvSpPr>
        <p:spPr>
          <a:xfrm>
            <a:off x="539750" y="1700213"/>
            <a:ext cx="7772400" cy="4333875"/>
          </a:xfrm>
        </p:spPr>
        <p:txBody>
          <a:bodyPr/>
          <a:lstStyle/>
          <a:p>
            <a:pPr eaLnBrk="1" hangingPunct="1">
              <a:lnSpc>
                <a:spcPct val="90000"/>
              </a:lnSpc>
            </a:pPr>
            <a:r>
              <a:rPr lang="en-US" altLang="en-US" sz="2400">
                <a:cs typeface="Arial" panose="020B0604020202020204" pitchFamily="34" charset="0"/>
              </a:rPr>
              <a:t>A  risk weight is applied to each on-balance- sheet asset according to its risk (e.g. 0% to cash and govt bonds; 20% to claims on OECD banks; 50% to residential mortgages; 100% to corporate loans, corporate bonds, etc.)</a:t>
            </a:r>
          </a:p>
          <a:p>
            <a:pPr eaLnBrk="1" hangingPunct="1">
              <a:lnSpc>
                <a:spcPct val="90000"/>
              </a:lnSpc>
            </a:pPr>
            <a:r>
              <a:rPr lang="en-US" altLang="en-US" sz="2400">
                <a:cs typeface="Arial" panose="020B0604020202020204" pitchFamily="34" charset="0"/>
              </a:rPr>
              <a:t>For bilateral OTC derivatives and off-balance sheet commitments, first calculate a credit equivalent amount is calculated and then a risk weight is applied</a:t>
            </a:r>
          </a:p>
          <a:p>
            <a:pPr eaLnBrk="1" hangingPunct="1">
              <a:lnSpc>
                <a:spcPct val="90000"/>
              </a:lnSpc>
            </a:pPr>
            <a:r>
              <a:rPr lang="en-US" altLang="en-US" sz="2400">
                <a:cs typeface="Arial" panose="020B0604020202020204" pitchFamily="34" charset="0"/>
              </a:rPr>
              <a:t>Risk weighted amount (RWA) consists of</a:t>
            </a:r>
          </a:p>
          <a:p>
            <a:pPr lvl="1" eaLnBrk="1" hangingPunct="1">
              <a:lnSpc>
                <a:spcPct val="90000"/>
              </a:lnSpc>
            </a:pPr>
            <a:r>
              <a:rPr lang="en-US" altLang="en-US" sz="2000">
                <a:cs typeface="Arial" panose="020B0604020202020204" pitchFamily="34" charset="0"/>
              </a:rPr>
              <a:t>Sum of products of risk weight times asset amount for on-balance sheet items</a:t>
            </a:r>
          </a:p>
          <a:p>
            <a:pPr lvl="1" eaLnBrk="1" hangingPunct="1">
              <a:lnSpc>
                <a:spcPct val="90000"/>
              </a:lnSpc>
            </a:pPr>
            <a:r>
              <a:rPr lang="en-US" altLang="en-US" sz="2000">
                <a:cs typeface="Arial" panose="020B0604020202020204" pitchFamily="34" charset="0"/>
              </a:rPr>
              <a:t>Sum of products of risk weight times credit equivalent amount for derivatives and off-balance sheet commitments</a:t>
            </a:r>
            <a:endParaRPr lang="en-US" altLang="en-US">
              <a:cs typeface="Arial" panose="020B0604020202020204" pitchFamily="34" charset="0"/>
            </a:endParaRPr>
          </a:p>
          <a:p>
            <a:pPr lvl="1" eaLnBrk="1" hangingPunct="1">
              <a:lnSpc>
                <a:spcPct val="90000"/>
              </a:lnSpc>
              <a:buFont typeface="Wingdings" panose="05000000000000000000" pitchFamily="2" charset="2"/>
              <a:buNone/>
            </a:pPr>
            <a:endParaRPr lang="en-US" altLang="en-US">
              <a:cs typeface="Arial" panose="020B0604020202020204" pitchFamily="34" charset="0"/>
            </a:endParaRPr>
          </a:p>
        </p:txBody>
      </p:sp>
      <p:sp>
        <p:nvSpPr>
          <p:cNvPr id="2662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2662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417FA42-4BF3-4188-8095-5CB40C07F9BE}" type="slidenum">
              <a:rPr lang="en-US" altLang="en-US" sz="1800"/>
              <a:pPr>
                <a:spcBef>
                  <a:spcPct val="0"/>
                </a:spcBef>
                <a:buClrTx/>
                <a:buSzTx/>
                <a:buFontTx/>
                <a:buNone/>
              </a:pPr>
              <a:t>6</a:t>
            </a:fld>
            <a:endParaRPr lang="en-US" alt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en-US" dirty="0"/>
              <a:t>Credit Equivalent Amount for Derivatives</a:t>
            </a:r>
          </a:p>
        </p:txBody>
      </p:sp>
      <p:sp>
        <p:nvSpPr>
          <p:cNvPr id="28675" name="Rectangle 3"/>
          <p:cNvSpPr>
            <a:spLocks noGrp="1" noChangeArrowheads="1"/>
          </p:cNvSpPr>
          <p:nvPr>
            <p:ph idx="1"/>
          </p:nvPr>
        </p:nvSpPr>
        <p:spPr/>
        <p:txBody>
          <a:bodyPr/>
          <a:lstStyle/>
          <a:p>
            <a:pPr eaLnBrk="1" hangingPunct="1"/>
            <a:r>
              <a:rPr lang="en-US" altLang="en-US" dirty="0">
                <a:cs typeface="Arial" panose="020B0604020202020204" pitchFamily="34" charset="0"/>
              </a:rPr>
              <a:t>The credit equivalent amount is calculated as the current replacement cost (zero if negative) plus an add on factor. (This is known as the current exposure method, CEM)</a:t>
            </a:r>
          </a:p>
          <a:p>
            <a:pPr eaLnBrk="1" hangingPunct="1"/>
            <a:r>
              <a:rPr lang="en-US" altLang="en-US" dirty="0">
                <a:cs typeface="Arial" panose="020B0604020202020204" pitchFamily="34" charset="0"/>
              </a:rPr>
              <a:t>The add on amount varies from instrument to instrument (e.g. 0.5% for a 1-5 year interest rate swap; 5.0% for a 1-5 year foreign currency swap)</a:t>
            </a:r>
          </a:p>
          <a:p>
            <a:pPr eaLnBrk="1" hangingPunct="1">
              <a:buFont typeface="Wingdings" panose="05000000000000000000" pitchFamily="2" charset="2"/>
              <a:buNone/>
            </a:pPr>
            <a:endParaRPr lang="en-US" altLang="en-US" dirty="0">
              <a:cs typeface="Arial" panose="020B0604020202020204" pitchFamily="34" charset="0"/>
            </a:endParaRPr>
          </a:p>
        </p:txBody>
      </p:sp>
      <p:sp>
        <p:nvSpPr>
          <p:cNvPr id="2867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2867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9406AB2-7991-4541-92C8-9289182C03DB}" type="slidenum">
              <a:rPr lang="en-US" altLang="en-US" sz="1800"/>
              <a:pPr>
                <a:spcBef>
                  <a:spcPct val="0"/>
                </a:spcBef>
                <a:buClrTx/>
                <a:buSzTx/>
                <a:buFontTx/>
                <a:buNone/>
              </a:pPr>
              <a:t>7</a:t>
            </a:fld>
            <a:endParaRPr lang="en-US" alt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CA" altLang="en-US" dirty="0"/>
              <a:t>Add-on Factors (% of Principal)</a:t>
            </a:r>
            <a:r>
              <a:rPr lang="en-US" altLang="en-US" dirty="0"/>
              <a:t> </a:t>
            </a:r>
            <a:r>
              <a:rPr lang="en-US" altLang="en-US" sz="2400" dirty="0"/>
              <a:t>Table 25.2</a:t>
            </a:r>
          </a:p>
        </p:txBody>
      </p:sp>
      <p:sp>
        <p:nvSpPr>
          <p:cNvPr id="30723" name="Rectangle 3"/>
          <p:cNvSpPr>
            <a:spLocks noGrp="1" noChangeArrowheads="1"/>
          </p:cNvSpPr>
          <p:nvPr>
            <p:ph idx="1"/>
          </p:nvPr>
        </p:nvSpPr>
        <p:spPr/>
        <p:txBody>
          <a:bodyPr/>
          <a:lstStyle/>
          <a:p>
            <a:pPr eaLnBrk="1" hangingPunct="1">
              <a:buFont typeface="Wingdings" panose="05000000000000000000" pitchFamily="2" charset="2"/>
              <a:buNone/>
            </a:pPr>
            <a:r>
              <a:rPr lang="en-CA" altLang="en-US">
                <a:cs typeface="Arial" panose="020B0604020202020204" pitchFamily="34" charset="0"/>
              </a:rPr>
              <a:t> </a:t>
            </a:r>
            <a:endParaRPr lang="en-US" altLang="en-US">
              <a:cs typeface="Arial" panose="020B0604020202020204" pitchFamily="34" charset="0"/>
            </a:endParaRPr>
          </a:p>
        </p:txBody>
      </p:sp>
      <p:sp>
        <p:nvSpPr>
          <p:cNvPr id="3072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graphicFrame>
        <p:nvGraphicFramePr>
          <p:cNvPr id="48200" name="Group 72"/>
          <p:cNvGraphicFramePr>
            <a:graphicFrameLocks noGrp="1"/>
          </p:cNvGraphicFramePr>
          <p:nvPr/>
        </p:nvGraphicFramePr>
        <p:xfrm>
          <a:off x="571500" y="2500313"/>
          <a:ext cx="7929562" cy="2019300"/>
        </p:xfrm>
        <a:graphic>
          <a:graphicData uri="http://schemas.openxmlformats.org/drawingml/2006/table">
            <a:tbl>
              <a:tblPr/>
              <a:tblGrid>
                <a:gridCol w="1583576">
                  <a:extLst>
                    <a:ext uri="{9D8B030D-6E8A-4147-A177-3AD203B41FA5}">
                      <a16:colId xmlns:a16="http://schemas.microsoft.com/office/drawing/2014/main" val="20000"/>
                    </a:ext>
                  </a:extLst>
                </a:gridCol>
                <a:gridCol w="1059611">
                  <a:extLst>
                    <a:ext uri="{9D8B030D-6E8A-4147-A177-3AD203B41FA5}">
                      <a16:colId xmlns:a16="http://schemas.microsoft.com/office/drawing/2014/main" val="20001"/>
                    </a:ext>
                  </a:extLst>
                </a:gridCol>
                <a:gridCol w="1281546">
                  <a:extLst>
                    <a:ext uri="{9D8B030D-6E8A-4147-A177-3AD203B41FA5}">
                      <a16:colId xmlns:a16="http://schemas.microsoft.com/office/drawing/2014/main" val="20002"/>
                    </a:ext>
                  </a:extLst>
                </a:gridCol>
                <a:gridCol w="881062">
                  <a:extLst>
                    <a:ext uri="{9D8B030D-6E8A-4147-A177-3AD203B41FA5}">
                      <a16:colId xmlns:a16="http://schemas.microsoft.com/office/drawing/2014/main" val="20003"/>
                    </a:ext>
                  </a:extLst>
                </a:gridCol>
                <a:gridCol w="1521836">
                  <a:extLst>
                    <a:ext uri="{9D8B030D-6E8A-4147-A177-3AD203B41FA5}">
                      <a16:colId xmlns:a16="http://schemas.microsoft.com/office/drawing/2014/main" val="20004"/>
                    </a:ext>
                  </a:extLst>
                </a:gridCol>
                <a:gridCol w="1601931">
                  <a:extLst>
                    <a:ext uri="{9D8B030D-6E8A-4147-A177-3AD203B41FA5}">
                      <a16:colId xmlns:a16="http://schemas.microsoft.com/office/drawing/2014/main" val="20005"/>
                    </a:ext>
                  </a:extLst>
                </a:gridCol>
              </a:tblGrid>
              <a:tr h="915319">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Remaining Maturity (yrs)</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Interest rate</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Exch Rate and Gold</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Equity</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Precious Metals except gold</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Other Commodities</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709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&lt;1</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0.0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1.0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6.0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7.0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10.0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6509">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1 to 5</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0.5</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5.0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8.0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7.0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12.0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66509">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&gt;5</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1.5</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7.5</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10.0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6.0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15.0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0762" name="Rectangle 71"/>
          <p:cNvSpPr>
            <a:spLocks noChangeArrowheads="1"/>
          </p:cNvSpPr>
          <p:nvPr/>
        </p:nvSpPr>
        <p:spPr bwMode="auto">
          <a:xfrm>
            <a:off x="900113" y="5029200"/>
            <a:ext cx="76327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Example: A $100 million swap with 3 years to maturity worth $5 million would have a credit equivalent amount of $5.5 million</a:t>
            </a:r>
          </a:p>
        </p:txBody>
      </p:sp>
      <p:sp>
        <p:nvSpPr>
          <p:cNvPr id="30763"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79B9370-2788-4A9E-B449-C823A9EF8607}" type="slidenum">
              <a:rPr lang="en-US" altLang="en-US" sz="1800"/>
              <a:pPr>
                <a:spcBef>
                  <a:spcPct val="0"/>
                </a:spcBef>
                <a:buClrTx/>
                <a:buSzTx/>
                <a:buFontTx/>
                <a:buNone/>
              </a:pPr>
              <a:t>8</a:t>
            </a:fld>
            <a:endParaRPr lang="en-US"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CA" altLang="en-US"/>
              <a:t>The Math</a:t>
            </a:r>
            <a:endParaRPr lang="en-US" altLang="en-US"/>
          </a:p>
        </p:txBody>
      </p:sp>
      <p:sp>
        <p:nvSpPr>
          <p:cNvPr id="32771" name="Rectangle 3"/>
          <p:cNvSpPr>
            <a:spLocks noGrp="1" noChangeArrowheads="1"/>
          </p:cNvSpPr>
          <p:nvPr>
            <p:ph idx="1"/>
          </p:nvPr>
        </p:nvSpPr>
        <p:spPr/>
        <p:txBody>
          <a:bodyPr/>
          <a:lstStyle/>
          <a:p>
            <a:pPr eaLnBrk="1" hangingPunct="1"/>
            <a:endParaRPr lang="en-CA" altLang="en-US">
              <a:cs typeface="Arial" panose="020B0604020202020204" pitchFamily="34" charset="0"/>
            </a:endParaRPr>
          </a:p>
          <a:p>
            <a:pPr eaLnBrk="1" hangingPunct="1">
              <a:buFont typeface="Wingdings" panose="05000000000000000000" pitchFamily="2" charset="2"/>
              <a:buNone/>
            </a:pPr>
            <a:endParaRPr lang="en-US" altLang="en-US">
              <a:cs typeface="Arial" panose="020B0604020202020204" pitchFamily="34" charset="0"/>
            </a:endParaRPr>
          </a:p>
        </p:txBody>
      </p:sp>
      <p:sp>
        <p:nvSpPr>
          <p:cNvPr id="3277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graphicFrame>
        <p:nvGraphicFramePr>
          <p:cNvPr id="32773" name="Object 4"/>
          <p:cNvGraphicFramePr>
            <a:graphicFrameLocks noChangeAspect="1"/>
          </p:cNvGraphicFramePr>
          <p:nvPr/>
        </p:nvGraphicFramePr>
        <p:xfrm>
          <a:off x="1371600" y="1601788"/>
          <a:ext cx="6400800" cy="1958975"/>
        </p:xfrm>
        <a:graphic>
          <a:graphicData uri="http://schemas.openxmlformats.org/presentationml/2006/ole">
            <mc:AlternateContent xmlns:mc="http://schemas.openxmlformats.org/markup-compatibility/2006">
              <mc:Choice xmlns:v="urn:schemas-microsoft-com:vml" Requires="v">
                <p:oleObj spid="_x0000_s1026" name="Equation" r:id="rId4" imgW="1574117" imgH="634725" progId="Equation.3">
                  <p:embed/>
                </p:oleObj>
              </mc:Choice>
              <mc:Fallback>
                <p:oleObj name="Equation" r:id="rId4" imgW="1574117" imgH="634725"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601788"/>
                        <a:ext cx="6400800"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4" name="Text Box 5"/>
          <p:cNvSpPr txBox="1">
            <a:spLocks noChangeArrowheads="1"/>
          </p:cNvSpPr>
          <p:nvPr/>
        </p:nvSpPr>
        <p:spPr bwMode="auto">
          <a:xfrm>
            <a:off x="1447800" y="3352800"/>
            <a:ext cx="2438400"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CA" altLang="en-US" sz="2400">
                <a:latin typeface="Times New Roman" panose="02020603050405020304" pitchFamily="18" charset="0"/>
              </a:rPr>
              <a:t>On-balance sheet assets: principal times risk weight</a:t>
            </a:r>
            <a:endParaRPr lang="en-US" altLang="en-US" sz="2400">
              <a:latin typeface="Times New Roman" panose="02020603050405020304" pitchFamily="18" charset="0"/>
            </a:endParaRPr>
          </a:p>
        </p:txBody>
      </p:sp>
      <p:sp>
        <p:nvSpPr>
          <p:cNvPr id="32775" name="Text Box 6"/>
          <p:cNvSpPr txBox="1">
            <a:spLocks noChangeArrowheads="1"/>
          </p:cNvSpPr>
          <p:nvPr/>
        </p:nvSpPr>
        <p:spPr bwMode="auto">
          <a:xfrm>
            <a:off x="5364163" y="3352800"/>
            <a:ext cx="360045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CA" altLang="en-US" sz="2400">
                <a:latin typeface="Times New Roman" panose="02020603050405020304" pitchFamily="18" charset="0"/>
              </a:rPr>
              <a:t>Derivatives and off-balance sheet commitments: credit equivalent amount times risk weight</a:t>
            </a:r>
            <a:endParaRPr lang="en-US" altLang="en-US" sz="2400">
              <a:latin typeface="Times New Roman" panose="02020603050405020304" pitchFamily="18" charset="0"/>
            </a:endParaRPr>
          </a:p>
        </p:txBody>
      </p:sp>
      <p:sp>
        <p:nvSpPr>
          <p:cNvPr id="32776" name="Line 7"/>
          <p:cNvSpPr>
            <a:spLocks noChangeShapeType="1"/>
          </p:cNvSpPr>
          <p:nvPr/>
        </p:nvSpPr>
        <p:spPr bwMode="auto">
          <a:xfrm flipV="1">
            <a:off x="3352800" y="2819400"/>
            <a:ext cx="762000" cy="4572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lIns="92075" tIns="46038" rIns="92075" bIns="46038">
            <a:spAutoFit/>
          </a:bodyPr>
          <a:lstStyle/>
          <a:p>
            <a:endParaRPr lang="en-US"/>
          </a:p>
        </p:txBody>
      </p:sp>
      <p:sp>
        <p:nvSpPr>
          <p:cNvPr id="32777" name="Line 8"/>
          <p:cNvSpPr>
            <a:spLocks noChangeShapeType="1"/>
          </p:cNvSpPr>
          <p:nvPr/>
        </p:nvSpPr>
        <p:spPr bwMode="auto">
          <a:xfrm flipV="1">
            <a:off x="6477000" y="2743200"/>
            <a:ext cx="76200" cy="6858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lIns="92075" tIns="46038" rIns="92075" bIns="46038">
            <a:spAutoFit/>
          </a:bodyPr>
          <a:lstStyle/>
          <a:p>
            <a:endParaRPr lang="en-US"/>
          </a:p>
        </p:txBody>
      </p:sp>
      <p:sp>
        <p:nvSpPr>
          <p:cNvPr id="32778" name="Text Box 9"/>
          <p:cNvSpPr txBox="1">
            <a:spLocks noChangeArrowheads="1"/>
          </p:cNvSpPr>
          <p:nvPr/>
        </p:nvSpPr>
        <p:spPr bwMode="auto">
          <a:xfrm>
            <a:off x="1219200" y="5105400"/>
            <a:ext cx="69342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CA" altLang="en-US" sz="2400">
                <a:latin typeface="Times New Roman" panose="02020603050405020304" pitchFamily="18" charset="0"/>
              </a:rPr>
              <a:t>For a derivative </a:t>
            </a:r>
            <a:r>
              <a:rPr lang="en-CA" altLang="en-US" sz="2400" i="1">
                <a:latin typeface="Times New Roman" panose="02020603050405020304" pitchFamily="18" charset="0"/>
              </a:rPr>
              <a:t>C</a:t>
            </a:r>
            <a:r>
              <a:rPr lang="en-CA" altLang="en-US" sz="2400" i="1" baseline="-25000">
                <a:latin typeface="Times New Roman" panose="02020603050405020304" pitchFamily="18" charset="0"/>
              </a:rPr>
              <a:t>j</a:t>
            </a:r>
            <a:r>
              <a:rPr lang="en-CA" altLang="en-US" sz="2400" baseline="-25000">
                <a:latin typeface="Times New Roman" panose="02020603050405020304" pitchFamily="18" charset="0"/>
              </a:rPr>
              <a:t> </a:t>
            </a:r>
            <a:r>
              <a:rPr lang="en-CA" altLang="en-US" sz="2400">
                <a:latin typeface="Times New Roman" panose="02020603050405020304" pitchFamily="18" charset="0"/>
              </a:rPr>
              <a:t>=  max(</a:t>
            </a:r>
            <a:r>
              <a:rPr lang="en-CA" altLang="en-US" sz="2400" i="1">
                <a:latin typeface="Times New Roman" panose="02020603050405020304" pitchFamily="18" charset="0"/>
              </a:rPr>
              <a:t>V</a:t>
            </a:r>
            <a:r>
              <a:rPr lang="en-CA" altLang="en-US" sz="2400" i="1" baseline="-25000">
                <a:latin typeface="Times New Roman" panose="02020603050405020304" pitchFamily="18" charset="0"/>
              </a:rPr>
              <a:t>j</a:t>
            </a:r>
            <a:r>
              <a:rPr lang="en-CA" altLang="en-US" sz="2400">
                <a:latin typeface="Times New Roman" panose="02020603050405020304" pitchFamily="18" charset="0"/>
              </a:rPr>
              <a:t>,0) + </a:t>
            </a:r>
            <a:r>
              <a:rPr lang="en-CA" altLang="en-US" sz="2400" i="1">
                <a:latin typeface="Times New Roman" panose="02020603050405020304" pitchFamily="18" charset="0"/>
              </a:rPr>
              <a:t>a</a:t>
            </a:r>
            <a:r>
              <a:rPr lang="en-CA" altLang="en-US" sz="2400" i="1" baseline="-25000">
                <a:latin typeface="Times New Roman" panose="02020603050405020304" pitchFamily="18" charset="0"/>
              </a:rPr>
              <a:t>j</a:t>
            </a:r>
            <a:r>
              <a:rPr lang="en-CA" altLang="en-US" sz="2400" i="1">
                <a:latin typeface="Times New Roman" panose="02020603050405020304" pitchFamily="18" charset="0"/>
              </a:rPr>
              <a:t>L</a:t>
            </a:r>
            <a:r>
              <a:rPr lang="en-CA" altLang="en-US" sz="2400" i="1" baseline="-25000">
                <a:latin typeface="Times New Roman" panose="02020603050405020304" pitchFamily="18" charset="0"/>
              </a:rPr>
              <a:t>j</a:t>
            </a:r>
            <a:r>
              <a:rPr lang="en-CA" altLang="en-US" sz="2400" i="1">
                <a:latin typeface="Times New Roman" panose="02020603050405020304" pitchFamily="18" charset="0"/>
              </a:rPr>
              <a:t> </a:t>
            </a:r>
            <a:r>
              <a:rPr lang="en-CA" altLang="en-US" sz="2400">
                <a:latin typeface="Times New Roman" panose="02020603050405020304" pitchFamily="18" charset="0"/>
              </a:rPr>
              <a:t>where </a:t>
            </a:r>
            <a:r>
              <a:rPr lang="en-CA" altLang="en-US" sz="2400" i="1">
                <a:latin typeface="Times New Roman" panose="02020603050405020304" pitchFamily="18" charset="0"/>
              </a:rPr>
              <a:t>V</a:t>
            </a:r>
            <a:r>
              <a:rPr lang="en-CA" altLang="en-US" sz="2400" i="1" baseline="-25000">
                <a:latin typeface="Times New Roman" panose="02020603050405020304" pitchFamily="18" charset="0"/>
              </a:rPr>
              <a:t>j</a:t>
            </a:r>
            <a:r>
              <a:rPr lang="en-CA" altLang="en-US" sz="2400">
                <a:latin typeface="Times New Roman" panose="02020603050405020304" pitchFamily="18" charset="0"/>
              </a:rPr>
              <a:t> is value, </a:t>
            </a:r>
            <a:r>
              <a:rPr lang="en-CA" altLang="en-US" sz="2400" i="1">
                <a:latin typeface="Times New Roman" panose="02020603050405020304" pitchFamily="18" charset="0"/>
              </a:rPr>
              <a:t>L</a:t>
            </a:r>
            <a:r>
              <a:rPr lang="en-CA" altLang="en-US" sz="2400" i="1" baseline="-25000">
                <a:latin typeface="Times New Roman" panose="02020603050405020304" pitchFamily="18" charset="0"/>
              </a:rPr>
              <a:t>j</a:t>
            </a:r>
            <a:r>
              <a:rPr lang="en-CA" altLang="en-US" sz="2400">
                <a:latin typeface="Times New Roman" panose="02020603050405020304" pitchFamily="18" charset="0"/>
              </a:rPr>
              <a:t> is principal and </a:t>
            </a:r>
            <a:r>
              <a:rPr lang="en-CA" altLang="en-US" sz="2400" i="1">
                <a:latin typeface="Times New Roman" panose="02020603050405020304" pitchFamily="18" charset="0"/>
              </a:rPr>
              <a:t>a</a:t>
            </a:r>
            <a:r>
              <a:rPr lang="en-CA" altLang="en-US" sz="2400" i="1" baseline="-25000">
                <a:latin typeface="Times New Roman" panose="02020603050405020304" pitchFamily="18" charset="0"/>
              </a:rPr>
              <a:t>j</a:t>
            </a:r>
            <a:r>
              <a:rPr lang="en-CA" altLang="en-US" sz="2400">
                <a:latin typeface="Times New Roman" panose="02020603050405020304" pitchFamily="18" charset="0"/>
              </a:rPr>
              <a:t> is add-on factor</a:t>
            </a:r>
            <a:endParaRPr lang="en-US" altLang="en-US" sz="2400" i="1">
              <a:latin typeface="Times New Roman" panose="02020603050405020304" pitchFamily="18" charset="0"/>
            </a:endParaRPr>
          </a:p>
        </p:txBody>
      </p:sp>
      <p:sp>
        <p:nvSpPr>
          <p:cNvPr id="32779" name="Slide Number Placeholder 1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959A26D-96CE-4856-8292-B4F7859FAC71}" type="slidenum">
              <a:rPr lang="en-US" altLang="en-US" sz="1800"/>
              <a:pPr>
                <a:spcBef>
                  <a:spcPct val="0"/>
                </a:spcBef>
                <a:buClrTx/>
                <a:buSzTx/>
                <a:buFontTx/>
                <a:buNone/>
              </a:pPr>
              <a:t>9</a:t>
            </a:fld>
            <a:endParaRPr lang="en-US" altLang="en-US"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CA" altLang="en-US" dirty="0"/>
              <a:t>G-30 Policy Recommendations</a:t>
            </a:r>
            <a:br>
              <a:rPr lang="en-US" altLang="en-US" dirty="0"/>
            </a:br>
            <a:r>
              <a:rPr lang="en-US" altLang="en-US" sz="2400" dirty="0"/>
              <a:t>(Section 25.4)</a:t>
            </a:r>
          </a:p>
        </p:txBody>
      </p:sp>
      <p:sp>
        <p:nvSpPr>
          <p:cNvPr id="34819" name="Rectangle 3"/>
          <p:cNvSpPr>
            <a:spLocks noGrp="1" noChangeArrowheads="1"/>
          </p:cNvSpPr>
          <p:nvPr>
            <p:ph idx="1"/>
          </p:nvPr>
        </p:nvSpPr>
        <p:spPr/>
        <p:txBody>
          <a:bodyPr/>
          <a:lstStyle/>
          <a:p>
            <a:pPr eaLnBrk="1" hangingPunct="1"/>
            <a:r>
              <a:rPr lang="en-CA" altLang="en-US">
                <a:cs typeface="Arial" panose="020B0604020202020204" pitchFamily="34" charset="0"/>
              </a:rPr>
              <a:t>Influential publication from derivatives dealers, end users, academics, accountants, and lawyers</a:t>
            </a:r>
          </a:p>
          <a:p>
            <a:pPr eaLnBrk="1" hangingPunct="1"/>
            <a:r>
              <a:rPr lang="en-CA" altLang="en-US">
                <a:cs typeface="Arial" panose="020B0604020202020204" pitchFamily="34" charset="0"/>
              </a:rPr>
              <a:t>20 recommendations published in 1993 </a:t>
            </a:r>
            <a:endParaRPr lang="en-US" altLang="en-US">
              <a:cs typeface="Arial" panose="020B0604020202020204" pitchFamily="34" charset="0"/>
            </a:endParaRPr>
          </a:p>
        </p:txBody>
      </p:sp>
      <p:sp>
        <p:nvSpPr>
          <p:cNvPr id="3482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348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0CE4D49-8C47-4B5D-A9B8-8942E2C50618}" type="slidenum">
              <a:rPr lang="en-US" altLang="en-US" sz="1800"/>
              <a:pPr>
                <a:spcBef>
                  <a:spcPct val="0"/>
                </a:spcBef>
                <a:buClrTx/>
                <a:buSzTx/>
                <a:buFontTx/>
                <a:buNone/>
              </a:pPr>
              <a:t>10</a:t>
            </a:fld>
            <a:endParaRPr lang="en-US" altLang="en-US"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en-US" dirty="0"/>
              <a:t>Netting </a:t>
            </a:r>
            <a:r>
              <a:rPr lang="en-US" altLang="en-US" sz="2400" dirty="0"/>
              <a:t>(Section 25.5)</a:t>
            </a:r>
          </a:p>
        </p:txBody>
      </p:sp>
      <p:sp>
        <p:nvSpPr>
          <p:cNvPr id="36867" name="Rectangle 3"/>
          <p:cNvSpPr>
            <a:spLocks noGrp="1" noChangeArrowheads="1"/>
          </p:cNvSpPr>
          <p:nvPr>
            <p:ph idx="1"/>
          </p:nvPr>
        </p:nvSpPr>
        <p:spPr>
          <a:xfrm>
            <a:off x="468313" y="1844675"/>
            <a:ext cx="8229600" cy="4411663"/>
          </a:xfrm>
        </p:spPr>
        <p:txBody>
          <a:bodyPr/>
          <a:lstStyle/>
          <a:p>
            <a:pPr eaLnBrk="1" hangingPunct="1"/>
            <a:r>
              <a:rPr lang="en-US" altLang="en-US" sz="2800">
                <a:cs typeface="Arial" panose="020B0604020202020204" pitchFamily="34" charset="0"/>
              </a:rPr>
              <a:t>Netting refers to a clause in Master Agreements, which states that all OTC derivatives with a counterparty are treated as a single transaction in the event of a default</a:t>
            </a:r>
          </a:p>
          <a:p>
            <a:pPr eaLnBrk="1" hangingPunct="1"/>
            <a:r>
              <a:rPr lang="en-US" altLang="en-US" sz="2800">
                <a:cs typeface="Arial" panose="020B0604020202020204" pitchFamily="34" charset="0"/>
              </a:rPr>
              <a:t>In 1995 the 1988 accord was modified to allow banks to reduce their credit equivalent totals when bilateral netting agreements were in place</a:t>
            </a:r>
          </a:p>
        </p:txBody>
      </p:sp>
      <p:sp>
        <p:nvSpPr>
          <p:cNvPr id="368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3686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597050E-69FE-4FE5-A135-273219DFEA3F}" type="slidenum">
              <a:rPr lang="en-US" altLang="en-US" sz="1800"/>
              <a:pPr>
                <a:spcBef>
                  <a:spcPct val="0"/>
                </a:spcBef>
                <a:buClrTx/>
                <a:buSzTx/>
                <a:buFontTx/>
                <a:buNone/>
              </a:pPr>
              <a:t>11</a:t>
            </a:fld>
            <a:endParaRPr lang="en-US"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CA" altLang="en-US"/>
              <a:t>Netting Calculations</a:t>
            </a:r>
            <a:endParaRPr lang="en-US" altLang="en-US"/>
          </a:p>
        </p:txBody>
      </p:sp>
      <p:sp>
        <p:nvSpPr>
          <p:cNvPr id="38915" name="Rectangle 3"/>
          <p:cNvSpPr>
            <a:spLocks noGrp="1" noChangeArrowheads="1"/>
          </p:cNvSpPr>
          <p:nvPr>
            <p:ph idx="1"/>
          </p:nvPr>
        </p:nvSpPr>
        <p:spPr/>
        <p:txBody>
          <a:bodyPr/>
          <a:lstStyle/>
          <a:p>
            <a:pPr eaLnBrk="1" hangingPunct="1"/>
            <a:r>
              <a:rPr lang="en-CA" altLang="en-US">
                <a:cs typeface="Arial" panose="020B0604020202020204" pitchFamily="34" charset="0"/>
              </a:rPr>
              <a:t>Without netting exposure is</a:t>
            </a:r>
          </a:p>
          <a:p>
            <a:pPr eaLnBrk="1" hangingPunct="1"/>
            <a:endParaRPr lang="en-CA" altLang="en-US">
              <a:cs typeface="Arial" panose="020B0604020202020204" pitchFamily="34" charset="0"/>
            </a:endParaRPr>
          </a:p>
          <a:p>
            <a:pPr eaLnBrk="1" hangingPunct="1"/>
            <a:endParaRPr lang="en-CA" altLang="en-US">
              <a:cs typeface="Arial" panose="020B0604020202020204" pitchFamily="34" charset="0"/>
            </a:endParaRPr>
          </a:p>
          <a:p>
            <a:pPr eaLnBrk="1" hangingPunct="1"/>
            <a:r>
              <a:rPr lang="en-CA" altLang="en-US">
                <a:cs typeface="Arial" panose="020B0604020202020204" pitchFamily="34" charset="0"/>
              </a:rPr>
              <a:t>With netting exposure is</a:t>
            </a:r>
          </a:p>
          <a:p>
            <a:pPr eaLnBrk="1" hangingPunct="1"/>
            <a:endParaRPr lang="en-CA" altLang="en-US">
              <a:cs typeface="Arial" panose="020B0604020202020204" pitchFamily="34" charset="0"/>
            </a:endParaRPr>
          </a:p>
          <a:p>
            <a:pPr eaLnBrk="1" hangingPunct="1"/>
            <a:endParaRPr lang="en-CA" altLang="en-US">
              <a:cs typeface="Arial" panose="020B0604020202020204" pitchFamily="34" charset="0"/>
            </a:endParaRPr>
          </a:p>
          <a:p>
            <a:pPr eaLnBrk="1" hangingPunct="1"/>
            <a:r>
              <a:rPr lang="en-CA" altLang="en-US">
                <a:cs typeface="Arial" panose="020B0604020202020204" pitchFamily="34" charset="0"/>
              </a:rPr>
              <a:t>  </a:t>
            </a:r>
            <a:endParaRPr lang="en-US" altLang="en-US">
              <a:cs typeface="Arial" panose="020B0604020202020204" pitchFamily="34" charset="0"/>
            </a:endParaRPr>
          </a:p>
        </p:txBody>
      </p:sp>
      <p:sp>
        <p:nvSpPr>
          <p:cNvPr id="3891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graphicFrame>
        <p:nvGraphicFramePr>
          <p:cNvPr id="38917" name="Object 4"/>
          <p:cNvGraphicFramePr>
            <a:graphicFrameLocks noChangeAspect="1"/>
          </p:cNvGraphicFramePr>
          <p:nvPr/>
        </p:nvGraphicFramePr>
        <p:xfrm>
          <a:off x="2916238" y="2276475"/>
          <a:ext cx="1649412" cy="863600"/>
        </p:xfrm>
        <a:graphic>
          <a:graphicData uri="http://schemas.openxmlformats.org/presentationml/2006/ole">
            <mc:AlternateContent xmlns:mc="http://schemas.openxmlformats.org/markup-compatibility/2006">
              <mc:Choice xmlns:v="urn:schemas-microsoft-com:vml" Requires="v">
                <p:oleObj spid="_x0000_s2050" name="Equation" r:id="rId4" imgW="850531" imgH="444307" progId="Equation.3">
                  <p:embed/>
                </p:oleObj>
              </mc:Choice>
              <mc:Fallback>
                <p:oleObj name="Equation" r:id="rId4" imgW="850531" imgH="444307"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6238" y="2276475"/>
                        <a:ext cx="164941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18" name="Object 5"/>
          <p:cNvGraphicFramePr>
            <a:graphicFrameLocks noChangeAspect="1"/>
          </p:cNvGraphicFramePr>
          <p:nvPr/>
        </p:nvGraphicFramePr>
        <p:xfrm>
          <a:off x="2960688" y="4246563"/>
          <a:ext cx="1700212" cy="798512"/>
        </p:xfrm>
        <a:graphic>
          <a:graphicData uri="http://schemas.openxmlformats.org/presentationml/2006/ole">
            <mc:AlternateContent xmlns:mc="http://schemas.openxmlformats.org/markup-compatibility/2006">
              <mc:Choice xmlns:v="urn:schemas-microsoft-com:vml" Requires="v">
                <p:oleObj spid="_x0000_s2051" name="Equation" r:id="rId6" imgW="888614" imgH="482391" progId="Equation.3">
                  <p:embed/>
                </p:oleObj>
              </mc:Choice>
              <mc:Fallback>
                <p:oleObj name="Equation" r:id="rId6" imgW="888614" imgH="482391"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0688" y="4246563"/>
                        <a:ext cx="1700212"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19" name="Object 6"/>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52" name="Equation" r:id="rId8" imgW="114151" imgH="215619" progId="Equation.3">
                  <p:embed/>
                </p:oleObj>
              </mc:Choice>
              <mc:Fallback>
                <p:oleObj name="Equation" r:id="rId8" imgW="114151" imgH="215619"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0" name="Object 7"/>
          <p:cNvGraphicFramePr>
            <a:graphicFrameLocks noChangeAspect="1"/>
          </p:cNvGraphicFramePr>
          <p:nvPr/>
        </p:nvGraphicFramePr>
        <p:xfrm>
          <a:off x="1447800" y="5410200"/>
          <a:ext cx="3276600" cy="642938"/>
        </p:xfrm>
        <a:graphic>
          <a:graphicData uri="http://schemas.openxmlformats.org/presentationml/2006/ole">
            <mc:AlternateContent xmlns:mc="http://schemas.openxmlformats.org/markup-compatibility/2006">
              <mc:Choice xmlns:v="urn:schemas-microsoft-com:vml" Requires="v">
                <p:oleObj spid="_x0000_s2053" name="Equation" r:id="rId10" imgW="2133600" imgH="419100" progId="Equation.3">
                  <p:embed/>
                </p:oleObj>
              </mc:Choice>
              <mc:Fallback>
                <p:oleObj name="Equation" r:id="rId10" imgW="2133600" imgH="41910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7800" y="5410200"/>
                        <a:ext cx="32766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1" name="Slide Number Placeholder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685AB88-CBD2-403E-906C-C984290D7EE0}" type="slidenum">
              <a:rPr lang="en-US" altLang="en-US" sz="1800"/>
              <a:pPr>
                <a:spcBef>
                  <a:spcPct val="0"/>
                </a:spcBef>
                <a:buClrTx/>
                <a:buSzTx/>
                <a:buFontTx/>
                <a:buNone/>
              </a:pPr>
              <a:t>12</a:t>
            </a:fld>
            <a:endParaRPr lang="en-US" alt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CA" altLang="en-US"/>
              <a:t>Netting Calculations </a:t>
            </a:r>
            <a:r>
              <a:rPr lang="en-CA" altLang="en-US" sz="3200"/>
              <a:t>continued</a:t>
            </a:r>
            <a:endParaRPr lang="en-US" altLang="en-US" sz="3200"/>
          </a:p>
        </p:txBody>
      </p:sp>
      <p:sp>
        <p:nvSpPr>
          <p:cNvPr id="27651" name="Rectangle 3"/>
          <p:cNvSpPr>
            <a:spLocks noGrp="1" noChangeArrowheads="1"/>
          </p:cNvSpPr>
          <p:nvPr>
            <p:ph idx="1"/>
          </p:nvPr>
        </p:nvSpPr>
        <p:spPr/>
        <p:txBody>
          <a:bodyPr/>
          <a:lstStyle/>
          <a:p>
            <a:pPr marL="0" indent="0" eaLnBrk="1" hangingPunct="1">
              <a:buFont typeface="Wingdings" panose="05000000000000000000" pitchFamily="2" charset="2"/>
              <a:buNone/>
              <a:defRPr/>
            </a:pPr>
            <a:r>
              <a:rPr lang="en-CA" altLang="en-US" dirty="0">
                <a:cs typeface="Arial" charset="0"/>
              </a:rPr>
              <a:t>   Credit equivalent amount modified from</a:t>
            </a:r>
          </a:p>
          <a:p>
            <a:pPr eaLnBrk="1" hangingPunct="1">
              <a:defRPr/>
            </a:pPr>
            <a:endParaRPr lang="en-CA" altLang="en-US" dirty="0">
              <a:cs typeface="Arial" charset="0"/>
            </a:endParaRPr>
          </a:p>
          <a:p>
            <a:pPr eaLnBrk="1" hangingPunct="1">
              <a:defRPr/>
            </a:pPr>
            <a:endParaRPr lang="en-CA" altLang="en-US" dirty="0">
              <a:cs typeface="Arial" charset="0"/>
            </a:endParaRPr>
          </a:p>
          <a:p>
            <a:pPr marL="0" indent="0" eaLnBrk="1" hangingPunct="1">
              <a:buFont typeface="Wingdings" panose="05000000000000000000" pitchFamily="2" charset="2"/>
              <a:buNone/>
              <a:defRPr/>
            </a:pPr>
            <a:r>
              <a:rPr lang="en-CA" altLang="en-US" dirty="0">
                <a:cs typeface="Arial" charset="0"/>
              </a:rPr>
              <a:t>   to</a:t>
            </a:r>
          </a:p>
          <a:p>
            <a:pPr eaLnBrk="1" hangingPunct="1">
              <a:defRPr/>
            </a:pPr>
            <a:endParaRPr lang="en-US" altLang="en-US" dirty="0">
              <a:cs typeface="Arial" charset="0"/>
            </a:endParaRPr>
          </a:p>
        </p:txBody>
      </p:sp>
      <p:sp>
        <p:nvSpPr>
          <p:cNvPr id="4096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graphicFrame>
        <p:nvGraphicFramePr>
          <p:cNvPr id="40965" name="Object 4"/>
          <p:cNvGraphicFramePr>
            <a:graphicFrameLocks noChangeAspect="1"/>
          </p:cNvGraphicFramePr>
          <p:nvPr/>
        </p:nvGraphicFramePr>
        <p:xfrm>
          <a:off x="2627313" y="2349500"/>
          <a:ext cx="2735262" cy="904875"/>
        </p:xfrm>
        <a:graphic>
          <a:graphicData uri="http://schemas.openxmlformats.org/presentationml/2006/ole">
            <mc:AlternateContent xmlns:mc="http://schemas.openxmlformats.org/markup-compatibility/2006">
              <mc:Choice xmlns:v="urn:schemas-microsoft-com:vml" Requires="v">
                <p:oleObj spid="_x0000_s3074" name="Equation" r:id="rId4" imgW="1345616" imgH="444307" progId="Equation.3">
                  <p:embed/>
                </p:oleObj>
              </mc:Choice>
              <mc:Fallback>
                <p:oleObj name="Equation" r:id="rId4" imgW="1345616" imgH="444307"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7313" y="2349500"/>
                        <a:ext cx="2735262"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6" name="Object 5"/>
          <p:cNvGraphicFramePr>
            <a:graphicFrameLocks noChangeAspect="1"/>
          </p:cNvGraphicFramePr>
          <p:nvPr/>
        </p:nvGraphicFramePr>
        <p:xfrm>
          <a:off x="1538288" y="4349750"/>
          <a:ext cx="6069012" cy="1071563"/>
        </p:xfrm>
        <a:graphic>
          <a:graphicData uri="http://schemas.openxmlformats.org/presentationml/2006/ole">
            <mc:AlternateContent xmlns:mc="http://schemas.openxmlformats.org/markup-compatibility/2006">
              <mc:Choice xmlns:v="urn:schemas-microsoft-com:vml" Requires="v">
                <p:oleObj spid="_x0000_s3075" name="Equation" r:id="rId6" imgW="2514600" imgH="444500" progId="Equation.3">
                  <p:embed/>
                </p:oleObj>
              </mc:Choice>
              <mc:Fallback>
                <p:oleObj name="Equation" r:id="rId6" imgW="2514600" imgH="4445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38288" y="4349750"/>
                        <a:ext cx="6069012"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7"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6E81E88-CCC2-462E-90DE-5CD5CFE7B729}" type="slidenum">
              <a:rPr lang="en-US" altLang="en-US" sz="1800"/>
              <a:pPr>
                <a:spcBef>
                  <a:spcPct val="0"/>
                </a:spcBef>
                <a:buClrTx/>
                <a:buSzTx/>
                <a:buFontTx/>
                <a:buNone/>
              </a:pPr>
              <a:t>13</a:t>
            </a:fld>
            <a:endParaRPr lang="en-US" altLang="en-US"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1996 Amendment </a:t>
            </a:r>
            <a:r>
              <a:rPr lang="en-US" altLang="en-US" sz="2400" dirty="0"/>
              <a:t>(Section 25.6)</a:t>
            </a:r>
          </a:p>
        </p:txBody>
      </p:sp>
      <p:sp>
        <p:nvSpPr>
          <p:cNvPr id="43011" name="Rectangle 3"/>
          <p:cNvSpPr>
            <a:spLocks noGrp="1" noChangeArrowheads="1"/>
          </p:cNvSpPr>
          <p:nvPr>
            <p:ph idx="1"/>
          </p:nvPr>
        </p:nvSpPr>
        <p:spPr/>
        <p:txBody>
          <a:bodyPr/>
          <a:lstStyle/>
          <a:p>
            <a:pPr eaLnBrk="1" hangingPunct="1"/>
            <a:r>
              <a:rPr lang="en-US" altLang="en-US">
                <a:cs typeface="Arial" panose="020B0604020202020204" pitchFamily="34" charset="0"/>
              </a:rPr>
              <a:t>Implemented in 1998</a:t>
            </a:r>
          </a:p>
          <a:p>
            <a:pPr eaLnBrk="1" hangingPunct="1"/>
            <a:r>
              <a:rPr lang="en-US" altLang="en-US">
                <a:cs typeface="Arial" panose="020B0604020202020204" pitchFamily="34" charset="0"/>
              </a:rPr>
              <a:t>Requires banks to hold capital for market risk for all instruments in the trading book including those off balance sheet (This is in addition to the BIS Accord credit risk capital)</a:t>
            </a:r>
          </a:p>
          <a:p>
            <a:pPr eaLnBrk="1" hangingPunct="1">
              <a:buFont typeface="Wingdings" panose="05000000000000000000" pitchFamily="2" charset="2"/>
              <a:buNone/>
            </a:pPr>
            <a:endParaRPr lang="en-US" altLang="en-US">
              <a:cs typeface="Arial" panose="020B0604020202020204" pitchFamily="34" charset="0"/>
            </a:endParaRPr>
          </a:p>
          <a:p>
            <a:pPr eaLnBrk="1" hangingPunct="1">
              <a:buFont typeface="Wingdings" panose="05000000000000000000" pitchFamily="2" charset="2"/>
              <a:buNone/>
            </a:pPr>
            <a:endParaRPr lang="en-US" altLang="en-US">
              <a:cs typeface="Arial" panose="020B0604020202020204" pitchFamily="34" charset="0"/>
            </a:endParaRPr>
          </a:p>
        </p:txBody>
      </p:sp>
      <p:sp>
        <p:nvSpPr>
          <p:cNvPr id="4301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4301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5038510-59EB-4B6D-841F-8F3F9EEDC154}" type="slidenum">
              <a:rPr lang="en-US" altLang="en-US" sz="1800"/>
              <a:pPr>
                <a:spcBef>
                  <a:spcPct val="0"/>
                </a:spcBef>
                <a:buClrTx/>
                <a:buSzTx/>
                <a:buFontTx/>
                <a:buNone/>
              </a:pPr>
              <a:t>14</a:t>
            </a:fld>
            <a:endParaRPr lang="en-US" altLang="en-US"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Grp="1" noChangeArrowheads="1"/>
          </p:cNvSpPr>
          <p:nvPr>
            <p:ph type="title"/>
          </p:nvPr>
        </p:nvSpPr>
        <p:spPr/>
        <p:txBody>
          <a:bodyPr/>
          <a:lstStyle/>
          <a:p>
            <a:pPr eaLnBrk="1" hangingPunct="1"/>
            <a:r>
              <a:rPr lang="en-CA" altLang="en-US"/>
              <a:t>The Market Risk Capital</a:t>
            </a:r>
            <a:endParaRPr lang="en-US" altLang="en-US"/>
          </a:p>
        </p:txBody>
      </p:sp>
      <p:sp>
        <p:nvSpPr>
          <p:cNvPr id="4100" name="Rectangle 6"/>
          <p:cNvSpPr>
            <a:spLocks noGrp="1" noChangeArrowheads="1"/>
          </p:cNvSpPr>
          <p:nvPr>
            <p:ph idx="1"/>
          </p:nvPr>
        </p:nvSpPr>
        <p:spPr/>
        <p:txBody>
          <a:bodyPr/>
          <a:lstStyle/>
          <a:p>
            <a:pPr eaLnBrk="1" hangingPunct="1">
              <a:defRPr/>
            </a:pPr>
            <a:r>
              <a:rPr lang="en-CA" dirty="0">
                <a:cs typeface="Arial" charset="0"/>
              </a:rPr>
              <a:t> </a:t>
            </a:r>
            <a:r>
              <a:rPr lang="en-CA" sz="2800" dirty="0">
                <a:cs typeface="Arial" charset="0"/>
              </a:rPr>
              <a:t>The capital requirement is</a:t>
            </a:r>
          </a:p>
          <a:p>
            <a:pPr eaLnBrk="1" hangingPunct="1">
              <a:defRPr/>
            </a:pPr>
            <a:endParaRPr lang="en-CA" sz="2800" dirty="0">
              <a:cs typeface="Arial" charset="0"/>
            </a:endParaRPr>
          </a:p>
          <a:p>
            <a:pPr marL="0" indent="0" eaLnBrk="1" hangingPunct="1">
              <a:buFont typeface="Wingdings" panose="05000000000000000000" pitchFamily="2" charset="2"/>
              <a:buNone/>
              <a:defRPr/>
            </a:pPr>
            <a:r>
              <a:rPr lang="en-CA" sz="2800" dirty="0">
                <a:cs typeface="Arial" charset="0"/>
              </a:rPr>
              <a:t>where </a:t>
            </a:r>
            <a:r>
              <a:rPr lang="en-CA" sz="2800" i="1" dirty="0">
                <a:latin typeface="Times New Roman" pitchFamily="18" charset="0"/>
                <a:cs typeface="Arial" charset="0"/>
              </a:rPr>
              <a:t>m</a:t>
            </a:r>
            <a:r>
              <a:rPr lang="en-CA" sz="2800" i="1" baseline="-25000" dirty="0">
                <a:latin typeface="Times New Roman" pitchFamily="18" charset="0"/>
                <a:cs typeface="Arial" charset="0"/>
              </a:rPr>
              <a:t>c</a:t>
            </a:r>
            <a:r>
              <a:rPr lang="en-CA" sz="2800" dirty="0">
                <a:cs typeface="Arial" charset="0"/>
              </a:rPr>
              <a:t> is a multiplicative factor chosen by regulators (at least 3), </a:t>
            </a:r>
            <a:r>
              <a:rPr lang="en-CA" sz="2800" dirty="0" err="1">
                <a:cs typeface="Arial" charset="0"/>
              </a:rPr>
              <a:t>VaR</a:t>
            </a:r>
            <a:r>
              <a:rPr lang="en-CA" sz="2800" dirty="0">
                <a:cs typeface="Arial" charset="0"/>
              </a:rPr>
              <a:t> is the 99% 10-day value at risk, and SRC is the specific risk charge for idiosyncratic risk related to specific companies. VaR</a:t>
            </a:r>
            <a:r>
              <a:rPr lang="en-CA" sz="2800" i="1" baseline="-25000" dirty="0">
                <a:cs typeface="Arial" charset="0"/>
              </a:rPr>
              <a:t>t</a:t>
            </a:r>
            <a:r>
              <a:rPr lang="en-CA" sz="2800" baseline="-25000" dirty="0">
                <a:cs typeface="Arial" charset="0"/>
              </a:rPr>
              <a:t>-1</a:t>
            </a:r>
            <a:r>
              <a:rPr lang="en-CA" sz="2800" dirty="0">
                <a:cs typeface="Arial" charset="0"/>
              </a:rPr>
              <a:t> is the most recently calculated </a:t>
            </a:r>
            <a:r>
              <a:rPr lang="en-CA" sz="2800" dirty="0" err="1">
                <a:cs typeface="Arial" charset="0"/>
              </a:rPr>
              <a:t>VaR</a:t>
            </a:r>
            <a:r>
              <a:rPr lang="en-CA" sz="2800" dirty="0">
                <a:cs typeface="Arial" charset="0"/>
              </a:rPr>
              <a:t> and </a:t>
            </a:r>
            <a:r>
              <a:rPr lang="en-CA" sz="2800" dirty="0" err="1">
                <a:cs typeface="Arial" charset="0"/>
              </a:rPr>
              <a:t>VaR</a:t>
            </a:r>
            <a:r>
              <a:rPr lang="en-CA" sz="2800" baseline="-25000" dirty="0" err="1">
                <a:cs typeface="Arial" charset="0"/>
              </a:rPr>
              <a:t>avg</a:t>
            </a:r>
            <a:r>
              <a:rPr lang="en-CA" sz="2800" dirty="0">
                <a:cs typeface="Arial" charset="0"/>
              </a:rPr>
              <a:t> is the average </a:t>
            </a:r>
            <a:r>
              <a:rPr lang="en-CA" sz="2800" dirty="0" err="1">
                <a:cs typeface="Arial" charset="0"/>
              </a:rPr>
              <a:t>VaR</a:t>
            </a:r>
            <a:r>
              <a:rPr lang="en-CA" sz="2800" dirty="0">
                <a:cs typeface="Arial" charset="0"/>
              </a:rPr>
              <a:t> over the last 60 days</a:t>
            </a:r>
            <a:endParaRPr lang="en-US" sz="2800" dirty="0">
              <a:cs typeface="Arial" charset="0"/>
            </a:endParaRPr>
          </a:p>
        </p:txBody>
      </p:sp>
      <p:sp>
        <p:nvSpPr>
          <p:cNvPr id="4506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graphicFrame>
        <p:nvGraphicFramePr>
          <p:cNvPr id="45061" name="Object 4"/>
          <p:cNvGraphicFramePr>
            <a:graphicFrameLocks noChangeAspect="1"/>
          </p:cNvGraphicFramePr>
          <p:nvPr/>
        </p:nvGraphicFramePr>
        <p:xfrm>
          <a:off x="1619250" y="2276475"/>
          <a:ext cx="4702175" cy="568325"/>
        </p:xfrm>
        <a:graphic>
          <a:graphicData uri="http://schemas.openxmlformats.org/presentationml/2006/ole">
            <mc:AlternateContent xmlns:mc="http://schemas.openxmlformats.org/markup-compatibility/2006">
              <mc:Choice xmlns:v="urn:schemas-microsoft-com:vml" Requires="v">
                <p:oleObj spid="_x0000_s4098" name="Equation" r:id="rId4" imgW="2006600" imgH="241300" progId="Equation.3">
                  <p:embed/>
                </p:oleObj>
              </mc:Choice>
              <mc:Fallback>
                <p:oleObj name="Equation" r:id="rId4" imgW="2006600" imgH="2413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2276475"/>
                        <a:ext cx="4702175"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3B210B5-1DC7-40C3-9272-A8EFBCEF4EFB}" type="slidenum">
              <a:rPr lang="en-US" altLang="en-US" sz="1800"/>
              <a:pPr>
                <a:spcBef>
                  <a:spcPct val="0"/>
                </a:spcBef>
                <a:buClrTx/>
                <a:buSzTx/>
                <a:buFontTx/>
                <a:buNone/>
              </a:pPr>
              <a:t>15</a:t>
            </a:fld>
            <a:endParaRPr lang="en-US" altLang="en-US"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en-US"/>
              <a:t>Basel II</a:t>
            </a:r>
          </a:p>
        </p:txBody>
      </p:sp>
      <p:sp>
        <p:nvSpPr>
          <p:cNvPr id="47107" name="Rectangle 3"/>
          <p:cNvSpPr>
            <a:spLocks noGrp="1" noChangeArrowheads="1"/>
          </p:cNvSpPr>
          <p:nvPr>
            <p:ph idx="1"/>
          </p:nvPr>
        </p:nvSpPr>
        <p:spPr/>
        <p:txBody>
          <a:bodyPr/>
          <a:lstStyle/>
          <a:p>
            <a:pPr eaLnBrk="1" hangingPunct="1"/>
            <a:r>
              <a:rPr lang="en-US" altLang="en-US">
                <a:cs typeface="Arial" panose="020B0604020202020204" pitchFamily="34" charset="0"/>
              </a:rPr>
              <a:t>Implemented in 2007 </a:t>
            </a:r>
          </a:p>
          <a:p>
            <a:pPr eaLnBrk="1" hangingPunct="1"/>
            <a:r>
              <a:rPr lang="en-US" altLang="en-US">
                <a:cs typeface="Arial" panose="020B0604020202020204" pitchFamily="34" charset="0"/>
              </a:rPr>
              <a:t>Three pillars</a:t>
            </a:r>
          </a:p>
          <a:p>
            <a:pPr lvl="1" eaLnBrk="1" hangingPunct="1"/>
            <a:r>
              <a:rPr lang="en-US" altLang="en-US">
                <a:cs typeface="Arial" panose="020B0604020202020204" pitchFamily="34" charset="0"/>
              </a:rPr>
              <a:t>New minimum capital requirements for credit and operational risk </a:t>
            </a:r>
          </a:p>
          <a:p>
            <a:pPr lvl="1" eaLnBrk="1" hangingPunct="1"/>
            <a:r>
              <a:rPr lang="en-US" altLang="en-US">
                <a:cs typeface="Arial" panose="020B0604020202020204" pitchFamily="34" charset="0"/>
              </a:rPr>
              <a:t>Supervisory review: more thorough and uniform</a:t>
            </a:r>
          </a:p>
          <a:p>
            <a:pPr lvl="1" eaLnBrk="1" hangingPunct="1"/>
            <a:r>
              <a:rPr lang="en-US" altLang="en-US">
                <a:cs typeface="Arial" panose="020B0604020202020204" pitchFamily="34" charset="0"/>
              </a:rPr>
              <a:t>Market discipline: more disclosure</a:t>
            </a:r>
          </a:p>
        </p:txBody>
      </p:sp>
      <p:sp>
        <p:nvSpPr>
          <p:cNvPr id="4710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471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209BECA-1185-4499-BD24-61CBA6801518}" type="slidenum">
              <a:rPr lang="en-US" altLang="en-US" sz="1800"/>
              <a:pPr>
                <a:spcBef>
                  <a:spcPct val="0"/>
                </a:spcBef>
                <a:buClrTx/>
                <a:buSzTx/>
                <a:buFontTx/>
                <a:buNone/>
              </a:pPr>
              <a:t>16</a:t>
            </a:fld>
            <a:endParaRPr lang="en-US" altLang="en-US" sz="1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ltLang="en-US"/>
              <a:t>New Capital Requirements</a:t>
            </a:r>
          </a:p>
        </p:txBody>
      </p:sp>
      <p:sp>
        <p:nvSpPr>
          <p:cNvPr id="49155" name="Rectangle 3"/>
          <p:cNvSpPr>
            <a:spLocks noGrp="1" noChangeArrowheads="1"/>
          </p:cNvSpPr>
          <p:nvPr>
            <p:ph idx="1"/>
          </p:nvPr>
        </p:nvSpPr>
        <p:spPr/>
        <p:txBody>
          <a:bodyPr/>
          <a:lstStyle/>
          <a:p>
            <a:pPr eaLnBrk="1" hangingPunct="1"/>
            <a:r>
              <a:rPr lang="en-US" altLang="en-US">
                <a:cs typeface="Arial" panose="020B0604020202020204" pitchFamily="34" charset="0"/>
              </a:rPr>
              <a:t>Risk weights based on either external credit rating (standardized approach) or a bank’s own internal credit ratings (IRB approach)</a:t>
            </a:r>
          </a:p>
          <a:p>
            <a:pPr eaLnBrk="1" hangingPunct="1"/>
            <a:r>
              <a:rPr lang="en-US" altLang="en-US">
                <a:cs typeface="Arial" panose="020B0604020202020204" pitchFamily="34" charset="0"/>
              </a:rPr>
              <a:t>Recognition of credit risk mitigants</a:t>
            </a:r>
          </a:p>
          <a:p>
            <a:pPr eaLnBrk="1" hangingPunct="1"/>
            <a:r>
              <a:rPr lang="en-US" altLang="en-US">
                <a:cs typeface="Arial" panose="020B0604020202020204" pitchFamily="34" charset="0"/>
              </a:rPr>
              <a:t>Separate capital charge for operational risk</a:t>
            </a:r>
          </a:p>
          <a:p>
            <a:pPr eaLnBrk="1" hangingPunct="1"/>
            <a:endParaRPr lang="en-US" altLang="en-US">
              <a:cs typeface="Arial" panose="020B0604020202020204" pitchFamily="34" charset="0"/>
            </a:endParaRPr>
          </a:p>
        </p:txBody>
      </p:sp>
      <p:sp>
        <p:nvSpPr>
          <p:cNvPr id="4915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4915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5FA633B-D0EA-455D-B500-DA4C8129F745}" type="slidenum">
              <a:rPr lang="en-US" altLang="en-US" sz="1800"/>
              <a:pPr>
                <a:spcBef>
                  <a:spcPct val="0"/>
                </a:spcBef>
                <a:buClrTx/>
                <a:buSzTx/>
                <a:buFontTx/>
                <a:buNone/>
              </a:pPr>
              <a:t>17</a:t>
            </a:fld>
            <a:endParaRPr lang="en-US" altLang="en-US"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en-US"/>
              <a:t>USA vs European Implementation</a:t>
            </a:r>
            <a:endParaRPr lang="en-CA" altLang="en-US"/>
          </a:p>
        </p:txBody>
      </p:sp>
      <p:sp>
        <p:nvSpPr>
          <p:cNvPr id="51203" name="Rectangle 3"/>
          <p:cNvSpPr>
            <a:spLocks noGrp="1" noChangeArrowheads="1"/>
          </p:cNvSpPr>
          <p:nvPr>
            <p:ph idx="1"/>
          </p:nvPr>
        </p:nvSpPr>
        <p:spPr/>
        <p:txBody>
          <a:bodyPr/>
          <a:lstStyle/>
          <a:p>
            <a:pPr eaLnBrk="1" hangingPunct="1"/>
            <a:r>
              <a:rPr lang="en-US" altLang="en-US">
                <a:cs typeface="Arial" panose="020B0604020202020204" pitchFamily="34" charset="0"/>
              </a:rPr>
              <a:t>In US Basel II applies only to large international banks</a:t>
            </a:r>
          </a:p>
          <a:p>
            <a:pPr eaLnBrk="1" hangingPunct="1"/>
            <a:r>
              <a:rPr lang="en-US" altLang="en-US">
                <a:cs typeface="Arial" panose="020B0604020202020204" pitchFamily="34" charset="0"/>
              </a:rPr>
              <a:t>Small regional banks required to implement “Basel 1A’’ (similar to Basel I), rather than Basel II</a:t>
            </a:r>
          </a:p>
          <a:p>
            <a:pPr eaLnBrk="1" hangingPunct="1"/>
            <a:r>
              <a:rPr lang="en-US" altLang="en-US">
                <a:cs typeface="Arial" panose="020B0604020202020204" pitchFamily="34" charset="0"/>
              </a:rPr>
              <a:t>European Union requires Basel II to be implemented by securities companies as well as all banks</a:t>
            </a:r>
            <a:endParaRPr lang="en-CA" altLang="en-US">
              <a:cs typeface="Arial" panose="020B0604020202020204" pitchFamily="34" charset="0"/>
            </a:endParaRPr>
          </a:p>
        </p:txBody>
      </p:sp>
      <p:sp>
        <p:nvSpPr>
          <p:cNvPr id="5120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5120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41C07FC-BA1D-4D63-BDF2-C295091C5213}" type="slidenum">
              <a:rPr lang="en-US" altLang="en-US" sz="1800"/>
              <a:pPr>
                <a:spcBef>
                  <a:spcPct val="0"/>
                </a:spcBef>
                <a:buClrTx/>
                <a:buSzTx/>
                <a:buFontTx/>
                <a:buNone/>
              </a:pPr>
              <a:t>18</a:t>
            </a:fld>
            <a:endParaRPr lang="en-US" altLang="en-US"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ltLang="en-US" dirty="0"/>
              <a:t>New Capital Requirements</a:t>
            </a:r>
            <a:br>
              <a:rPr lang="en-US" altLang="en-US" dirty="0"/>
            </a:br>
            <a:r>
              <a:rPr lang="en-US" altLang="en-US" sz="2600" dirty="0"/>
              <a:t>Standardized Approach, Table 25.4</a:t>
            </a:r>
          </a:p>
        </p:txBody>
      </p:sp>
      <p:sp>
        <p:nvSpPr>
          <p:cNvPr id="53251" name="Rectangle 3"/>
          <p:cNvSpPr>
            <a:spLocks noGrp="1" noChangeArrowheads="1"/>
          </p:cNvSpPr>
          <p:nvPr>
            <p:ph idx="1"/>
          </p:nvPr>
        </p:nvSpPr>
        <p:spPr/>
        <p:txBody>
          <a:bodyPr/>
          <a:lstStyle/>
          <a:p>
            <a:pPr eaLnBrk="1" hangingPunct="1">
              <a:lnSpc>
                <a:spcPct val="90000"/>
              </a:lnSpc>
              <a:buFont typeface="Wingdings" panose="05000000000000000000" pitchFamily="2" charset="2"/>
              <a:buNone/>
            </a:pPr>
            <a:r>
              <a:rPr lang="en-US" altLang="en-US" sz="2000">
                <a:cs typeface="Arial" panose="020B0604020202020204" pitchFamily="34" charset="0"/>
              </a:rPr>
              <a:t>	Bank and corporations treated similarly (unlike Basel I)</a:t>
            </a:r>
            <a:endParaRPr lang="en-US" altLang="en-US">
              <a:cs typeface="Arial" panose="020B0604020202020204" pitchFamily="34" charset="0"/>
            </a:endParaRPr>
          </a:p>
          <a:p>
            <a:pPr eaLnBrk="1" hangingPunct="1">
              <a:lnSpc>
                <a:spcPct val="90000"/>
              </a:lnSpc>
              <a:buFont typeface="Wingdings" panose="05000000000000000000" pitchFamily="2" charset="2"/>
              <a:buNone/>
            </a:pPr>
            <a:r>
              <a:rPr lang="en-US" altLang="en-US">
                <a:cs typeface="Arial" panose="020B0604020202020204" pitchFamily="34" charset="0"/>
              </a:rPr>
              <a:t> </a:t>
            </a:r>
          </a:p>
          <a:p>
            <a:pPr eaLnBrk="1" hangingPunct="1">
              <a:lnSpc>
                <a:spcPct val="90000"/>
              </a:lnSpc>
              <a:buFontTx/>
              <a:buChar char="•"/>
            </a:pPr>
            <a:endParaRPr lang="en-US" altLang="en-US">
              <a:cs typeface="Arial" panose="020B0604020202020204" pitchFamily="34" charset="0"/>
            </a:endParaRPr>
          </a:p>
          <a:p>
            <a:pPr eaLnBrk="1" hangingPunct="1">
              <a:lnSpc>
                <a:spcPct val="90000"/>
              </a:lnSpc>
              <a:buFontTx/>
              <a:buChar char="•"/>
            </a:pPr>
            <a:endParaRPr lang="en-US" altLang="en-US">
              <a:cs typeface="Arial" panose="020B0604020202020204" pitchFamily="34" charset="0"/>
            </a:endParaRPr>
          </a:p>
          <a:p>
            <a:pPr eaLnBrk="1" hangingPunct="1">
              <a:lnSpc>
                <a:spcPct val="90000"/>
              </a:lnSpc>
              <a:buFontTx/>
              <a:buChar char="•"/>
            </a:pPr>
            <a:endParaRPr lang="en-US" altLang="en-US">
              <a:cs typeface="Arial" panose="020B0604020202020204" pitchFamily="34" charset="0"/>
            </a:endParaRPr>
          </a:p>
          <a:p>
            <a:pPr eaLnBrk="1" hangingPunct="1">
              <a:lnSpc>
                <a:spcPct val="90000"/>
              </a:lnSpc>
              <a:buFontTx/>
              <a:buChar char="•"/>
            </a:pPr>
            <a:endParaRPr lang="en-US" altLang="en-US">
              <a:cs typeface="Arial" panose="020B0604020202020204" pitchFamily="34" charset="0"/>
            </a:endParaRPr>
          </a:p>
        </p:txBody>
      </p:sp>
      <p:sp>
        <p:nvSpPr>
          <p:cNvPr id="5325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graphicFrame>
        <p:nvGraphicFramePr>
          <p:cNvPr id="34916" name="Group 100"/>
          <p:cNvGraphicFramePr>
            <a:graphicFrameLocks noGrp="1"/>
          </p:cNvGraphicFramePr>
          <p:nvPr>
            <p:extLst>
              <p:ext uri="{D42A27DB-BD31-4B8C-83A1-F6EECF244321}">
                <p14:modId xmlns:p14="http://schemas.microsoft.com/office/powerpoint/2010/main" val="4165338046"/>
              </p:ext>
            </p:extLst>
          </p:nvPr>
        </p:nvGraphicFramePr>
        <p:xfrm>
          <a:off x="500063" y="2643188"/>
          <a:ext cx="8032377" cy="3430586"/>
        </p:xfrm>
        <a:graphic>
          <a:graphicData uri="http://schemas.openxmlformats.org/drawingml/2006/table">
            <a:tbl>
              <a:tblPr/>
              <a:tblGrid>
                <a:gridCol w="1345049">
                  <a:extLst>
                    <a:ext uri="{9D8B030D-6E8A-4147-A177-3AD203B41FA5}">
                      <a16:colId xmlns:a16="http://schemas.microsoft.com/office/drawing/2014/main" val="20000"/>
                    </a:ext>
                  </a:extLst>
                </a:gridCol>
                <a:gridCol w="782143">
                  <a:extLst>
                    <a:ext uri="{9D8B030D-6E8A-4147-A177-3AD203B41FA5}">
                      <a16:colId xmlns:a16="http://schemas.microsoft.com/office/drawing/2014/main" val="20001"/>
                    </a:ext>
                  </a:extLst>
                </a:gridCol>
                <a:gridCol w="967309">
                  <a:extLst>
                    <a:ext uri="{9D8B030D-6E8A-4147-A177-3AD203B41FA5}">
                      <a16:colId xmlns:a16="http://schemas.microsoft.com/office/drawing/2014/main" val="20002"/>
                    </a:ext>
                  </a:extLst>
                </a:gridCol>
                <a:gridCol w="967308">
                  <a:extLst>
                    <a:ext uri="{9D8B030D-6E8A-4147-A177-3AD203B41FA5}">
                      <a16:colId xmlns:a16="http://schemas.microsoft.com/office/drawing/2014/main" val="20003"/>
                    </a:ext>
                  </a:extLst>
                </a:gridCol>
                <a:gridCol w="965826">
                  <a:extLst>
                    <a:ext uri="{9D8B030D-6E8A-4147-A177-3AD203B41FA5}">
                      <a16:colId xmlns:a16="http://schemas.microsoft.com/office/drawing/2014/main" val="20004"/>
                    </a:ext>
                  </a:extLst>
                </a:gridCol>
                <a:gridCol w="967309">
                  <a:extLst>
                    <a:ext uri="{9D8B030D-6E8A-4147-A177-3AD203B41FA5}">
                      <a16:colId xmlns:a16="http://schemas.microsoft.com/office/drawing/2014/main" val="20005"/>
                    </a:ext>
                  </a:extLst>
                </a:gridCol>
                <a:gridCol w="993973">
                  <a:extLst>
                    <a:ext uri="{9D8B030D-6E8A-4147-A177-3AD203B41FA5}">
                      <a16:colId xmlns:a16="http://schemas.microsoft.com/office/drawing/2014/main" val="20006"/>
                    </a:ext>
                  </a:extLst>
                </a:gridCol>
                <a:gridCol w="1043460">
                  <a:extLst>
                    <a:ext uri="{9D8B030D-6E8A-4147-A177-3AD203B41FA5}">
                      <a16:colId xmlns:a16="http://schemas.microsoft.com/office/drawing/2014/main" val="20007"/>
                    </a:ext>
                  </a:extLst>
                </a:gridCol>
              </a:tblGrid>
              <a:tr h="1055302">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Rating</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AAA to AA-</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A+ to A-</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BBB+ to BBB-</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BB+ to BB-</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B+ to B-</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Below B-</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Unrated</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83411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Country</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20%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774321">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Banks</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20%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76684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Corporates</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20%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330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AEE0871-4799-4642-AD14-DCBE6D7D0377}" type="slidenum">
              <a:rPr lang="en-US" altLang="en-US" sz="1800"/>
              <a:pPr>
                <a:spcBef>
                  <a:spcPct val="0"/>
                </a:spcBef>
                <a:buClrTx/>
                <a:buSzTx/>
                <a:buFontTx/>
                <a:buNone/>
              </a:pPr>
              <a:t>19</a:t>
            </a:fld>
            <a:endParaRPr lang="en-US" altLang="en-US"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altLang="en-US"/>
              <a:t>New Capital Requirements</a:t>
            </a:r>
            <a:br>
              <a:rPr lang="en-US" altLang="en-US"/>
            </a:br>
            <a:r>
              <a:rPr lang="en-US" altLang="en-US" sz="2600"/>
              <a:t>IRB Approach for corporate, banks and sovereign exposures</a:t>
            </a:r>
          </a:p>
        </p:txBody>
      </p:sp>
      <p:sp>
        <p:nvSpPr>
          <p:cNvPr id="55299" name="Rectangle 3"/>
          <p:cNvSpPr>
            <a:spLocks noGrp="1" noChangeArrowheads="1"/>
          </p:cNvSpPr>
          <p:nvPr>
            <p:ph idx="1"/>
          </p:nvPr>
        </p:nvSpPr>
        <p:spPr/>
        <p:txBody>
          <a:bodyPr/>
          <a:lstStyle/>
          <a:p>
            <a:pPr eaLnBrk="1" hangingPunct="1"/>
            <a:r>
              <a:rPr lang="en-US" altLang="en-US" sz="2800">
                <a:cs typeface="Arial" panose="020B0604020202020204" pitchFamily="34" charset="0"/>
              </a:rPr>
              <a:t>Basel II provides a formula for translating PD (probability of default), LGD (loss given default), EAD (exposure at default), and M (effective maturity) into a risk weight</a:t>
            </a:r>
          </a:p>
          <a:p>
            <a:pPr eaLnBrk="1" hangingPunct="1"/>
            <a:r>
              <a:rPr lang="en-US" altLang="en-US" sz="2800">
                <a:cs typeface="Arial" panose="020B0604020202020204" pitchFamily="34" charset="0"/>
              </a:rPr>
              <a:t>Under the Advanced IRB approach banks estimate PD, LGD, EAD, and M</a:t>
            </a:r>
          </a:p>
          <a:p>
            <a:pPr eaLnBrk="1" hangingPunct="1"/>
            <a:r>
              <a:rPr lang="en-US" altLang="en-US" sz="2800">
                <a:cs typeface="Arial" panose="020B0604020202020204" pitchFamily="34" charset="0"/>
              </a:rPr>
              <a:t>Under the Foundation IRB approach banks estimate only PD and the Basel II guidelines determine the other variables for the formula</a:t>
            </a:r>
          </a:p>
        </p:txBody>
      </p:sp>
      <p:sp>
        <p:nvSpPr>
          <p:cNvPr id="5530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5530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6BB144C-0823-4B64-B1C2-153F368252E2}" type="slidenum">
              <a:rPr lang="en-US" altLang="en-US" sz="1800"/>
              <a:pPr>
                <a:spcBef>
                  <a:spcPct val="0"/>
                </a:spcBef>
                <a:buClrTx/>
                <a:buSzTx/>
                <a:buFontTx/>
                <a:buNone/>
              </a:pPr>
              <a:t>20</a:t>
            </a:fld>
            <a:endParaRPr lang="en-US" altLang="en-US" sz="1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ltLang="en-US" dirty="0"/>
              <a:t>The Model used by Regulators </a:t>
            </a:r>
            <a:r>
              <a:rPr lang="en-US" altLang="en-US" sz="2400" dirty="0"/>
              <a:t>(Figure 25.1)</a:t>
            </a:r>
            <a:endParaRPr lang="en-CA" altLang="en-US" sz="2400" dirty="0"/>
          </a:p>
        </p:txBody>
      </p:sp>
      <p:sp>
        <p:nvSpPr>
          <p:cNvPr id="57347" name="Rectangle 6"/>
          <p:cNvSpPr>
            <a:spLocks noGrp="1" noChangeArrowheads="1"/>
          </p:cNvSpPr>
          <p:nvPr>
            <p:ph idx="1"/>
          </p:nvPr>
        </p:nvSpPr>
        <p:spPr/>
        <p:txBody>
          <a:bodyPr/>
          <a:lstStyle/>
          <a:p>
            <a:pPr eaLnBrk="1" hangingPunct="1">
              <a:buFont typeface="Wingdings" panose="05000000000000000000" pitchFamily="2" charset="2"/>
              <a:buNone/>
            </a:pPr>
            <a:r>
              <a:rPr lang="en-US" altLang="en-US">
                <a:cs typeface="Arial" panose="020B0604020202020204" pitchFamily="34" charset="0"/>
              </a:rPr>
              <a:t> </a:t>
            </a:r>
            <a:endParaRPr lang="en-CA" altLang="en-US">
              <a:cs typeface="Arial" panose="020B0604020202020204" pitchFamily="34" charset="0"/>
            </a:endParaRPr>
          </a:p>
        </p:txBody>
      </p:sp>
      <p:sp>
        <p:nvSpPr>
          <p:cNvPr id="5734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5734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B2A82C3-FCE4-4584-8FC9-4639DB249A13}" type="slidenum">
              <a:rPr lang="en-US" altLang="en-US" sz="1800"/>
              <a:pPr>
                <a:spcBef>
                  <a:spcPct val="0"/>
                </a:spcBef>
                <a:buClrTx/>
                <a:buSzTx/>
                <a:buFontTx/>
                <a:buNone/>
              </a:pPr>
              <a:t>21</a:t>
            </a:fld>
            <a:endParaRPr lang="en-US" altLang="en-US" sz="1800"/>
          </a:p>
        </p:txBody>
      </p:sp>
      <p:pic>
        <p:nvPicPr>
          <p:cNvPr id="2" name="Picture 1"/>
          <p:cNvPicPr>
            <a:picLocks noChangeAspect="1"/>
          </p:cNvPicPr>
          <p:nvPr/>
        </p:nvPicPr>
        <p:blipFill>
          <a:blip r:embed="rId3"/>
          <a:stretch>
            <a:fillRect/>
          </a:stretch>
        </p:blipFill>
        <p:spPr>
          <a:xfrm>
            <a:off x="1168710" y="2204864"/>
            <a:ext cx="6346278" cy="402915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ltLang="en-US"/>
              <a:t>Key Model (Gaussian Copula)</a:t>
            </a:r>
          </a:p>
        </p:txBody>
      </p:sp>
      <p:sp>
        <p:nvSpPr>
          <p:cNvPr id="5124" name="Rectangle 3"/>
          <p:cNvSpPr>
            <a:spLocks noGrp="1" noChangeArrowheads="1"/>
          </p:cNvSpPr>
          <p:nvPr>
            <p:ph idx="1"/>
          </p:nvPr>
        </p:nvSpPr>
        <p:spPr/>
        <p:txBody>
          <a:bodyPr/>
          <a:lstStyle/>
          <a:p>
            <a:pPr eaLnBrk="1" hangingPunct="1">
              <a:buFont typeface="Wingdings" panose="05000000000000000000" pitchFamily="2" charset="2"/>
              <a:buNone/>
              <a:defRPr/>
            </a:pPr>
            <a:endParaRPr lang="en-US" dirty="0">
              <a:cs typeface="Arial" charset="0"/>
            </a:endParaRPr>
          </a:p>
          <a:p>
            <a:pPr marL="0" indent="0" eaLnBrk="1" hangingPunct="1">
              <a:buFont typeface="Wingdings" panose="05000000000000000000" pitchFamily="2" charset="2"/>
              <a:buNone/>
              <a:defRPr/>
            </a:pPr>
            <a:r>
              <a:rPr lang="en-US" dirty="0">
                <a:cs typeface="Arial" charset="0"/>
              </a:rPr>
              <a:t>The 99.9% worst case default rate is base don </a:t>
            </a:r>
            <a:r>
              <a:rPr lang="en-US" dirty="0" err="1">
                <a:cs typeface="Arial" charset="0"/>
              </a:rPr>
              <a:t>Vasicek’s</a:t>
            </a:r>
            <a:r>
              <a:rPr lang="en-US" dirty="0">
                <a:cs typeface="Arial" charset="0"/>
              </a:rPr>
              <a:t> model:</a:t>
            </a:r>
          </a:p>
          <a:p>
            <a:pPr marL="0" indent="0" eaLnBrk="1" hangingPunct="1">
              <a:buFont typeface="Wingdings" panose="05000000000000000000" pitchFamily="2" charset="2"/>
              <a:buNone/>
              <a:defRPr/>
            </a:pPr>
            <a:endParaRPr lang="en-US" dirty="0">
              <a:cs typeface="Arial" charset="0"/>
            </a:endParaRPr>
          </a:p>
        </p:txBody>
      </p:sp>
      <p:sp>
        <p:nvSpPr>
          <p:cNvPr id="5939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graphicFrame>
        <p:nvGraphicFramePr>
          <p:cNvPr id="59397" name="Object 4"/>
          <p:cNvGraphicFramePr>
            <a:graphicFrameLocks noChangeAspect="1"/>
          </p:cNvGraphicFramePr>
          <p:nvPr>
            <p:extLst>
              <p:ext uri="{D42A27DB-BD31-4B8C-83A1-F6EECF244321}">
                <p14:modId xmlns:p14="http://schemas.microsoft.com/office/powerpoint/2010/main" val="2568442887"/>
              </p:ext>
            </p:extLst>
          </p:nvPr>
        </p:nvGraphicFramePr>
        <p:xfrm>
          <a:off x="973931" y="3636963"/>
          <a:ext cx="6115050" cy="1701800"/>
        </p:xfrm>
        <a:graphic>
          <a:graphicData uri="http://schemas.openxmlformats.org/presentationml/2006/ole">
            <mc:AlternateContent xmlns:mc="http://schemas.openxmlformats.org/markup-compatibility/2006">
              <mc:Choice xmlns:v="urn:schemas-microsoft-com:vml" Requires="v">
                <p:oleObj spid="_x0000_s5122" name="Equation" r:id="rId4" imgW="2578100" imgH="685800" progId="Equation.3">
                  <p:embed/>
                </p:oleObj>
              </mc:Choice>
              <mc:Fallback>
                <p:oleObj name="Equation" r:id="rId4" imgW="2578100" imgH="6858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3931" y="3636963"/>
                        <a:ext cx="6115050"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3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F39B406-EFA4-4266-86F1-E5323E6BB8BA}" type="slidenum">
              <a:rPr lang="en-US" altLang="en-US" sz="1800"/>
              <a:pPr>
                <a:spcBef>
                  <a:spcPct val="0"/>
                </a:spcBef>
                <a:buClrTx/>
                <a:buSzTx/>
                <a:buFontTx/>
                <a:buNone/>
              </a:pPr>
              <a:t>22</a:t>
            </a:fld>
            <a:endParaRPr lang="en-US" altLang="en-US"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ltLang="en-US" dirty="0"/>
              <a:t>Numerical Results for WCDR</a:t>
            </a:r>
            <a:br>
              <a:rPr lang="en-US" altLang="en-US" dirty="0"/>
            </a:br>
            <a:r>
              <a:rPr lang="en-US" altLang="en-US" dirty="0"/>
              <a:t>(</a:t>
            </a:r>
            <a:r>
              <a:rPr lang="en-US" altLang="en-US" sz="2400" dirty="0"/>
              <a:t>Table 25.5)</a:t>
            </a:r>
          </a:p>
        </p:txBody>
      </p:sp>
      <p:sp>
        <p:nvSpPr>
          <p:cNvPr id="61443" name="Rectangle 3"/>
          <p:cNvSpPr>
            <a:spLocks noGrp="1" noChangeArrowheads="1"/>
          </p:cNvSpPr>
          <p:nvPr>
            <p:ph idx="1"/>
          </p:nvPr>
        </p:nvSpPr>
        <p:spPr/>
        <p:txBody>
          <a:bodyPr/>
          <a:lstStyle/>
          <a:p>
            <a:pPr eaLnBrk="1" hangingPunct="1">
              <a:buFont typeface="Wingdings" panose="05000000000000000000" pitchFamily="2" charset="2"/>
              <a:buNone/>
            </a:pPr>
            <a:r>
              <a:rPr lang="en-US" altLang="en-US">
                <a:cs typeface="Arial" panose="020B0604020202020204" pitchFamily="34" charset="0"/>
              </a:rPr>
              <a:t> </a:t>
            </a:r>
          </a:p>
        </p:txBody>
      </p:sp>
      <p:sp>
        <p:nvSpPr>
          <p:cNvPr id="6144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graphicFrame>
        <p:nvGraphicFramePr>
          <p:cNvPr id="38985" name="Group 73"/>
          <p:cNvGraphicFramePr>
            <a:graphicFrameLocks noGrp="1"/>
          </p:cNvGraphicFramePr>
          <p:nvPr/>
        </p:nvGraphicFramePr>
        <p:xfrm>
          <a:off x="304800" y="2209800"/>
          <a:ext cx="8153400" cy="3276600"/>
        </p:xfrm>
        <a:graphic>
          <a:graphicData uri="http://schemas.openxmlformats.org/drawingml/2006/table">
            <a:tbl>
              <a:tblPr/>
              <a:tblGrid>
                <a:gridCol w="9906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479550">
                  <a:extLst>
                    <a:ext uri="{9D8B030D-6E8A-4147-A177-3AD203B41FA5}">
                      <a16:colId xmlns:a16="http://schemas.microsoft.com/office/drawing/2014/main" val="20004"/>
                    </a:ext>
                  </a:extLst>
                </a:gridCol>
                <a:gridCol w="1339850">
                  <a:extLst>
                    <a:ext uri="{9D8B030D-6E8A-4147-A177-3AD203B41FA5}">
                      <a16:colId xmlns:a16="http://schemas.microsoft.com/office/drawing/2014/main" val="20005"/>
                    </a:ext>
                  </a:extLst>
                </a:gridCol>
              </a:tblGrid>
              <a:tr h="54292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CA" sz="2800" b="0" i="0" u="none" strike="noStrike" cap="none" normalizeH="0" baseline="0" dirty="0">
                        <a:ln>
                          <a:noFill/>
                        </a:ln>
                        <a:solidFill>
                          <a:schemeClr val="tx1"/>
                        </a:solidFill>
                        <a:effectLst/>
                        <a:latin typeface="Arial" charset="0"/>
                      </a:endParaRPr>
                    </a:p>
                  </a:txBody>
                  <a:tcPr marL="92075" marR="92075"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rPr>
                        <a:t>PD</a:t>
                      </a:r>
                      <a:r>
                        <a:rPr kumimoji="0" lang="en-US" sz="2400" b="0" i="0" u="none" strike="noStrike" cap="none" normalizeH="0" baseline="0" dirty="0">
                          <a:ln>
                            <a:noFill/>
                          </a:ln>
                          <a:solidFill>
                            <a:schemeClr val="tx1"/>
                          </a:solidFill>
                          <a:effectLst/>
                          <a:latin typeface="Arial" charset="0"/>
                        </a:rPr>
                        <a:t>=0.1%</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rPr>
                        <a:t>PD</a:t>
                      </a:r>
                      <a:r>
                        <a:rPr kumimoji="0" lang="en-US" sz="2400" b="0" i="0" u="none" strike="noStrike" cap="none" normalizeH="0" baseline="0" dirty="0">
                          <a:ln>
                            <a:noFill/>
                          </a:ln>
                          <a:solidFill>
                            <a:schemeClr val="tx1"/>
                          </a:solidFill>
                          <a:effectLst/>
                          <a:latin typeface="Arial" charset="0"/>
                        </a:rPr>
                        <a:t>=0.5%</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rPr>
                        <a:t>PD</a:t>
                      </a:r>
                      <a:r>
                        <a:rPr kumimoji="0" lang="en-US" sz="2400" b="0" i="0" u="none" strike="noStrike" cap="none" normalizeH="0" baseline="0" dirty="0">
                          <a:ln>
                            <a:noFill/>
                          </a:ln>
                          <a:solidFill>
                            <a:schemeClr val="tx1"/>
                          </a:solidFill>
                          <a:effectLst/>
                          <a:latin typeface="Arial" charset="0"/>
                        </a:rPr>
                        <a:t>=1%</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rPr>
                        <a:t>PD</a:t>
                      </a:r>
                      <a:r>
                        <a:rPr kumimoji="0" lang="en-US" sz="2400" b="0" i="0" u="none" strike="noStrike" cap="none" normalizeH="0" baseline="0" dirty="0">
                          <a:ln>
                            <a:noFill/>
                          </a:ln>
                          <a:solidFill>
                            <a:schemeClr val="tx1"/>
                          </a:solidFill>
                          <a:effectLst/>
                          <a:latin typeface="Arial" charset="0"/>
                        </a:rPr>
                        <a:t>=1.5%</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rPr>
                        <a:t>PD</a:t>
                      </a:r>
                      <a:r>
                        <a:rPr kumimoji="0" lang="en-US" sz="2400" b="0" i="0" u="none" strike="noStrike" cap="none" normalizeH="0" baseline="0" dirty="0">
                          <a:ln>
                            <a:noFill/>
                          </a:ln>
                          <a:solidFill>
                            <a:schemeClr val="tx1"/>
                          </a:solidFill>
                          <a:effectLst/>
                          <a:latin typeface="Arial" charset="0"/>
                        </a:rPr>
                        <a:t>=2%</a:t>
                      </a:r>
                    </a:p>
                  </a:txBody>
                  <a:tcPr marL="92075" marR="92075"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397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Symbol" pitchFamily="18" charset="2"/>
                        </a:rPr>
                        <a:t>r</a:t>
                      </a:r>
                      <a:r>
                        <a:rPr kumimoji="0" lang="en-US" sz="2400" b="0" i="0" u="none" strike="noStrike" cap="none" normalizeH="0" baseline="0" dirty="0">
                          <a:ln>
                            <a:noFill/>
                          </a:ln>
                          <a:solidFill>
                            <a:schemeClr val="tx1"/>
                          </a:solidFill>
                          <a:effectLst/>
                          <a:latin typeface="Arial" charset="0"/>
                        </a:rPr>
                        <a:t>=0.0</a:t>
                      </a:r>
                    </a:p>
                  </a:txBody>
                  <a:tcPr marL="92075" marR="92075"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0.1%           </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0.5%</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1.0%</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1.5%</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2.0%</a:t>
                      </a:r>
                    </a:p>
                  </a:txBody>
                  <a:tcPr marL="92075" marR="92075"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6832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Symbol" pitchFamily="18" charset="2"/>
                        </a:rPr>
                        <a:t>r</a:t>
                      </a:r>
                      <a:r>
                        <a:rPr kumimoji="0" lang="en-US" sz="2400" b="0" i="0" u="none" strike="noStrike" cap="none" normalizeH="0" baseline="0" dirty="0">
                          <a:ln>
                            <a:noFill/>
                          </a:ln>
                          <a:solidFill>
                            <a:schemeClr val="tx1"/>
                          </a:solidFill>
                          <a:effectLst/>
                          <a:latin typeface="Arial" charset="0"/>
                        </a:rPr>
                        <a:t>=0.2</a:t>
                      </a:r>
                    </a:p>
                  </a:txBody>
                  <a:tcPr marL="92075" marR="92075"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2.8%</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9.1%</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14.6%</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18.9%</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22.6%</a:t>
                      </a:r>
                    </a:p>
                  </a:txBody>
                  <a:tcPr marL="92075" marR="92075"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4292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Symbol" pitchFamily="18" charset="2"/>
                        </a:rPr>
                        <a:t>r</a:t>
                      </a:r>
                      <a:r>
                        <a:rPr kumimoji="0" lang="en-US" sz="2400" b="0" i="0" u="none" strike="noStrike" cap="none" normalizeH="0" baseline="0" dirty="0">
                          <a:ln>
                            <a:noFill/>
                          </a:ln>
                          <a:solidFill>
                            <a:schemeClr val="tx1"/>
                          </a:solidFill>
                          <a:effectLst/>
                          <a:latin typeface="Arial" charset="0"/>
                        </a:rPr>
                        <a:t>=0.4</a:t>
                      </a:r>
                    </a:p>
                  </a:txBody>
                  <a:tcPr marL="92075" marR="92075"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7.1%</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21.1%</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31.6%</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39.0%</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44.9%</a:t>
                      </a:r>
                    </a:p>
                  </a:txBody>
                  <a:tcPr marL="92075" marR="92075"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397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Symbol" pitchFamily="18" charset="2"/>
                        </a:rPr>
                        <a:t>r</a:t>
                      </a:r>
                      <a:r>
                        <a:rPr kumimoji="0" lang="en-US" sz="2400" b="0" i="0" u="none" strike="noStrike" cap="none" normalizeH="0" baseline="0" dirty="0">
                          <a:ln>
                            <a:noFill/>
                          </a:ln>
                          <a:solidFill>
                            <a:schemeClr val="tx1"/>
                          </a:solidFill>
                          <a:effectLst/>
                          <a:latin typeface="Arial" charset="0"/>
                        </a:rPr>
                        <a:t>=0.6</a:t>
                      </a:r>
                    </a:p>
                  </a:txBody>
                  <a:tcPr marL="92075" marR="92075"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13.5%</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38.7%</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54.2%</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63.8%</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70.5%</a:t>
                      </a:r>
                    </a:p>
                  </a:txBody>
                  <a:tcPr marL="92075" marR="92075"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54292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Symbol" pitchFamily="18" charset="2"/>
                        </a:rPr>
                        <a:t>r</a:t>
                      </a:r>
                      <a:r>
                        <a:rPr kumimoji="0" lang="en-US" sz="2400" b="0" i="0" u="none" strike="noStrike" cap="none" normalizeH="0" baseline="0" dirty="0">
                          <a:ln>
                            <a:noFill/>
                          </a:ln>
                          <a:solidFill>
                            <a:schemeClr val="tx1"/>
                          </a:solidFill>
                          <a:effectLst/>
                          <a:latin typeface="Arial" charset="0"/>
                        </a:rPr>
                        <a:t>=0.8</a:t>
                      </a:r>
                    </a:p>
                  </a:txBody>
                  <a:tcPr marL="92075" marR="92075"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23.3%</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66.3%</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83.6%</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90.8%</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94.4%</a:t>
                      </a:r>
                    </a:p>
                  </a:txBody>
                  <a:tcPr marL="92075" marR="92075"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14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A472FAC-94CF-4328-936F-ADF8074ADC3D}" type="slidenum">
              <a:rPr lang="en-US" altLang="en-US" sz="1800"/>
              <a:pPr>
                <a:spcBef>
                  <a:spcPct val="0"/>
                </a:spcBef>
                <a:buClrTx/>
                <a:buSzTx/>
                <a:buFontTx/>
                <a:buNone/>
              </a:pPr>
              <a:t>23</a:t>
            </a:fld>
            <a:endParaRPr lang="en-US" altLang="en-US" sz="18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026"/>
          <p:cNvSpPr>
            <a:spLocks noGrp="1" noChangeArrowheads="1"/>
          </p:cNvSpPr>
          <p:nvPr>
            <p:ph type="title"/>
          </p:nvPr>
        </p:nvSpPr>
        <p:spPr/>
        <p:txBody>
          <a:bodyPr/>
          <a:lstStyle/>
          <a:p>
            <a:pPr eaLnBrk="1" hangingPunct="1"/>
            <a:r>
              <a:rPr lang="en-US" altLang="en-US"/>
              <a:t>Dependence of </a:t>
            </a:r>
            <a:r>
              <a:rPr lang="en-US" altLang="en-US">
                <a:latin typeface="Symbol" panose="05050102010706020507" pitchFamily="18" charset="2"/>
              </a:rPr>
              <a:t>r</a:t>
            </a:r>
            <a:r>
              <a:rPr lang="en-US" altLang="en-US"/>
              <a:t> on PD</a:t>
            </a:r>
          </a:p>
        </p:txBody>
      </p:sp>
      <p:sp>
        <p:nvSpPr>
          <p:cNvPr id="63491" name="Rectangle 1027"/>
          <p:cNvSpPr>
            <a:spLocks noGrp="1" noChangeArrowheads="1"/>
          </p:cNvSpPr>
          <p:nvPr>
            <p:ph idx="1"/>
          </p:nvPr>
        </p:nvSpPr>
        <p:spPr/>
        <p:txBody>
          <a:bodyPr/>
          <a:lstStyle/>
          <a:p>
            <a:pPr eaLnBrk="1" hangingPunct="1">
              <a:lnSpc>
                <a:spcPct val="90000"/>
              </a:lnSpc>
            </a:pPr>
            <a:r>
              <a:rPr lang="en-US" altLang="en-US">
                <a:cs typeface="Arial" panose="020B0604020202020204" pitchFamily="34" charset="0"/>
              </a:rPr>
              <a:t>For corporate, sovereign and bank exposure</a:t>
            </a:r>
          </a:p>
          <a:p>
            <a:pPr lvl="1" eaLnBrk="1" hangingPunct="1">
              <a:lnSpc>
                <a:spcPct val="90000"/>
              </a:lnSpc>
              <a:buFont typeface="Wingdings" panose="05000000000000000000" pitchFamily="2" charset="2"/>
              <a:buNone/>
            </a:pPr>
            <a:endParaRPr lang="en-US" altLang="en-US">
              <a:cs typeface="Arial" panose="020B0604020202020204" pitchFamily="34" charset="0"/>
            </a:endParaRPr>
          </a:p>
          <a:p>
            <a:pPr lvl="1" eaLnBrk="1" hangingPunct="1">
              <a:lnSpc>
                <a:spcPct val="90000"/>
              </a:lnSpc>
              <a:buFont typeface="Wingdings" panose="05000000000000000000" pitchFamily="2" charset="2"/>
              <a:buNone/>
            </a:pPr>
            <a:endParaRPr lang="en-US" altLang="en-US">
              <a:cs typeface="Arial" panose="020B0604020202020204" pitchFamily="34" charset="0"/>
            </a:endParaRPr>
          </a:p>
          <a:p>
            <a:pPr lvl="1" eaLnBrk="1" hangingPunct="1">
              <a:lnSpc>
                <a:spcPct val="90000"/>
              </a:lnSpc>
              <a:buFont typeface="Wingdings" panose="05000000000000000000" pitchFamily="2" charset="2"/>
              <a:buNone/>
            </a:pPr>
            <a:endParaRPr lang="en-US" altLang="en-US">
              <a:cs typeface="Arial" panose="020B0604020202020204" pitchFamily="34" charset="0"/>
            </a:endParaRPr>
          </a:p>
          <a:p>
            <a:pPr lvl="1" eaLnBrk="1" hangingPunct="1">
              <a:lnSpc>
                <a:spcPct val="90000"/>
              </a:lnSpc>
              <a:buFont typeface="Wingdings" panose="05000000000000000000" pitchFamily="2" charset="2"/>
              <a:buNone/>
            </a:pPr>
            <a:endParaRPr lang="en-US" altLang="en-US">
              <a:cs typeface="Arial" panose="020B0604020202020204" pitchFamily="34" charset="0"/>
            </a:endParaRPr>
          </a:p>
          <a:p>
            <a:pPr lvl="1" eaLnBrk="1" hangingPunct="1">
              <a:lnSpc>
                <a:spcPct val="90000"/>
              </a:lnSpc>
              <a:buFont typeface="Wingdings" panose="05000000000000000000" pitchFamily="2" charset="2"/>
              <a:buNone/>
            </a:pPr>
            <a:endParaRPr lang="en-US" altLang="en-US">
              <a:cs typeface="Arial" panose="020B0604020202020204" pitchFamily="34" charset="0"/>
            </a:endParaRPr>
          </a:p>
          <a:p>
            <a:pPr lvl="1" eaLnBrk="1" hangingPunct="1">
              <a:lnSpc>
                <a:spcPct val="90000"/>
              </a:lnSpc>
              <a:buFont typeface="Wingdings" panose="05000000000000000000" pitchFamily="2" charset="2"/>
              <a:buNone/>
            </a:pPr>
            <a:endParaRPr lang="en-US" altLang="en-US">
              <a:cs typeface="Arial" panose="020B0604020202020204" pitchFamily="34" charset="0"/>
            </a:endParaRPr>
          </a:p>
          <a:p>
            <a:pPr lvl="1" eaLnBrk="1" hangingPunct="1">
              <a:lnSpc>
                <a:spcPct val="90000"/>
              </a:lnSpc>
              <a:buFont typeface="Wingdings" panose="05000000000000000000" pitchFamily="2" charset="2"/>
              <a:buNone/>
            </a:pPr>
            <a:r>
              <a:rPr lang="en-US" altLang="en-US">
                <a:cs typeface="Arial" panose="020B0604020202020204" pitchFamily="34" charset="0"/>
              </a:rPr>
              <a:t>(For small firms </a:t>
            </a:r>
            <a:r>
              <a:rPr lang="en-US" altLang="en-US">
                <a:latin typeface="Symbol" panose="05050102010706020507" pitchFamily="18" charset="2"/>
                <a:cs typeface="Arial" panose="020B0604020202020204" pitchFamily="34" charset="0"/>
              </a:rPr>
              <a:t>r</a:t>
            </a:r>
            <a:r>
              <a:rPr lang="en-US" altLang="en-US">
                <a:cs typeface="Arial" panose="020B0604020202020204" pitchFamily="34" charset="0"/>
              </a:rPr>
              <a:t> is reduced) </a:t>
            </a:r>
          </a:p>
        </p:txBody>
      </p:sp>
      <p:sp>
        <p:nvSpPr>
          <p:cNvPr id="6349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graphicFrame>
        <p:nvGraphicFramePr>
          <p:cNvPr id="63493" name="Object 1028"/>
          <p:cNvGraphicFramePr>
            <a:graphicFrameLocks noChangeAspect="1"/>
          </p:cNvGraphicFramePr>
          <p:nvPr/>
        </p:nvGraphicFramePr>
        <p:xfrm>
          <a:off x="1317625" y="2832100"/>
          <a:ext cx="6584950" cy="838200"/>
        </p:xfrm>
        <a:graphic>
          <a:graphicData uri="http://schemas.openxmlformats.org/presentationml/2006/ole">
            <mc:AlternateContent xmlns:mc="http://schemas.openxmlformats.org/markup-compatibility/2006">
              <mc:Choice xmlns:v="urn:schemas-microsoft-com:vml" Requires="v">
                <p:oleObj spid="_x0000_s6146" name="Equation" r:id="rId4" imgW="3797300" imgH="482600" progId="Equation.3">
                  <p:embed/>
                </p:oleObj>
              </mc:Choice>
              <mc:Fallback>
                <p:oleObj name="Equation" r:id="rId4" imgW="3797300" imgH="482600" progId="Equation.3">
                  <p:embed/>
                  <p:pic>
                    <p:nvPicPr>
                      <p:cNvPr id="0" name="Object 10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7625" y="2832100"/>
                        <a:ext cx="65849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67" name="Group 1055"/>
          <p:cNvGraphicFramePr>
            <a:graphicFrameLocks noGrp="1"/>
          </p:cNvGraphicFramePr>
          <p:nvPr/>
        </p:nvGraphicFramePr>
        <p:xfrm>
          <a:off x="914400" y="3810000"/>
          <a:ext cx="7086600" cy="1166813"/>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989013">
                  <a:extLst>
                    <a:ext uri="{9D8B030D-6E8A-4147-A177-3AD203B41FA5}">
                      <a16:colId xmlns:a16="http://schemas.microsoft.com/office/drawing/2014/main" val="20002"/>
                    </a:ext>
                  </a:extLst>
                </a:gridCol>
                <a:gridCol w="1069975">
                  <a:extLst>
                    <a:ext uri="{9D8B030D-6E8A-4147-A177-3AD203B41FA5}">
                      <a16:colId xmlns:a16="http://schemas.microsoft.com/office/drawing/2014/main" val="20003"/>
                    </a:ext>
                  </a:extLst>
                </a:gridCol>
                <a:gridCol w="985837">
                  <a:extLst>
                    <a:ext uri="{9D8B030D-6E8A-4147-A177-3AD203B41FA5}">
                      <a16:colId xmlns:a16="http://schemas.microsoft.com/office/drawing/2014/main" val="20004"/>
                    </a:ext>
                  </a:extLst>
                </a:gridCol>
                <a:gridCol w="993775">
                  <a:extLst>
                    <a:ext uri="{9D8B030D-6E8A-4147-A177-3AD203B41FA5}">
                      <a16:colId xmlns:a16="http://schemas.microsoft.com/office/drawing/2014/main" val="20005"/>
                    </a:ext>
                  </a:extLst>
                </a:gridCol>
              </a:tblGrid>
              <a:tr h="53340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200" b="0" i="1" u="none" strike="noStrike" cap="none" normalizeH="0" baseline="0" dirty="0">
                          <a:ln>
                            <a:noFill/>
                          </a:ln>
                          <a:solidFill>
                            <a:schemeClr val="tx1"/>
                          </a:solidFill>
                          <a:effectLst/>
                          <a:latin typeface="Times New Roman" pitchFamily="18" charset="0"/>
                        </a:rPr>
                        <a:t>PD</a:t>
                      </a:r>
                    </a:p>
                  </a:txBody>
                  <a:tcPr marL="92075" marR="92075"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200" b="0" i="0" u="none" strike="noStrike" cap="none" normalizeH="0" baseline="0" dirty="0">
                          <a:ln>
                            <a:noFill/>
                          </a:ln>
                          <a:solidFill>
                            <a:schemeClr val="tx1"/>
                          </a:solidFill>
                          <a:effectLst/>
                          <a:latin typeface="Arial" charset="0"/>
                        </a:rPr>
                        <a:t>0.1%</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200" b="0" i="0" u="none" strike="noStrike" cap="none" normalizeH="0" baseline="0" dirty="0">
                          <a:ln>
                            <a:noFill/>
                          </a:ln>
                          <a:solidFill>
                            <a:schemeClr val="tx1"/>
                          </a:solidFill>
                          <a:effectLst/>
                          <a:latin typeface="Arial" charset="0"/>
                        </a:rPr>
                        <a:t>0.5%</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200" b="0" i="0" u="none" strike="noStrike" cap="none" normalizeH="0" baseline="0" dirty="0">
                          <a:ln>
                            <a:noFill/>
                          </a:ln>
                          <a:solidFill>
                            <a:schemeClr val="tx1"/>
                          </a:solidFill>
                          <a:effectLst/>
                          <a:latin typeface="Arial" charset="0"/>
                        </a:rPr>
                        <a:t>1.0%</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200" b="0" i="0" u="none" strike="noStrike" cap="none" normalizeH="0" baseline="0" dirty="0">
                          <a:ln>
                            <a:noFill/>
                          </a:ln>
                          <a:solidFill>
                            <a:schemeClr val="tx1"/>
                          </a:solidFill>
                          <a:effectLst/>
                          <a:latin typeface="Arial" charset="0"/>
                        </a:rPr>
                        <a:t>1.5%</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200" b="0" i="0" u="none" strike="noStrike" cap="none" normalizeH="0" baseline="0" dirty="0">
                          <a:ln>
                            <a:noFill/>
                          </a:ln>
                          <a:solidFill>
                            <a:schemeClr val="tx1"/>
                          </a:solidFill>
                          <a:effectLst/>
                          <a:latin typeface="Arial" charset="0"/>
                        </a:rPr>
                        <a:t>2.0%</a:t>
                      </a:r>
                    </a:p>
                  </a:txBody>
                  <a:tcPr marL="92075" marR="92075"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33413">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200" b="0" i="1" u="none" strike="noStrike" cap="none" normalizeH="0" baseline="0" dirty="0">
                          <a:ln>
                            <a:noFill/>
                          </a:ln>
                          <a:solidFill>
                            <a:schemeClr val="tx1"/>
                          </a:solidFill>
                          <a:effectLst/>
                          <a:latin typeface="Times New Roman" pitchFamily="18" charset="0"/>
                        </a:rPr>
                        <a:t>WCDR</a:t>
                      </a:r>
                    </a:p>
                  </a:txBody>
                  <a:tcPr marL="92075" marR="92075"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200" b="0" i="0" u="none" strike="noStrike" cap="none" normalizeH="0" baseline="0" dirty="0">
                          <a:ln>
                            <a:noFill/>
                          </a:ln>
                          <a:solidFill>
                            <a:schemeClr val="tx1"/>
                          </a:solidFill>
                          <a:effectLst/>
                          <a:latin typeface="Arial" charset="0"/>
                        </a:rPr>
                        <a:t>3.4%</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200" b="0" i="0" u="none" strike="noStrike" cap="none" normalizeH="0" baseline="0" dirty="0">
                          <a:ln>
                            <a:noFill/>
                          </a:ln>
                          <a:solidFill>
                            <a:schemeClr val="tx1"/>
                          </a:solidFill>
                          <a:effectLst/>
                          <a:latin typeface="Arial" charset="0"/>
                        </a:rPr>
                        <a:t>9.8%</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200" b="0" i="0" u="none" strike="noStrike" cap="none" normalizeH="0" baseline="0" dirty="0">
                          <a:ln>
                            <a:noFill/>
                          </a:ln>
                          <a:solidFill>
                            <a:schemeClr val="tx1"/>
                          </a:solidFill>
                          <a:effectLst/>
                          <a:latin typeface="Arial" charset="0"/>
                        </a:rPr>
                        <a:t>14.0%</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200" b="0" i="0" u="none" strike="noStrike" cap="none" normalizeH="0" baseline="0" dirty="0">
                          <a:ln>
                            <a:noFill/>
                          </a:ln>
                          <a:solidFill>
                            <a:schemeClr val="tx1"/>
                          </a:solidFill>
                          <a:effectLst/>
                          <a:latin typeface="Arial" charset="0"/>
                        </a:rPr>
                        <a:t>16.9%</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200" b="0" i="0" u="none" strike="noStrike" cap="none" normalizeH="0" baseline="0" dirty="0">
                          <a:ln>
                            <a:noFill/>
                          </a:ln>
                          <a:solidFill>
                            <a:schemeClr val="tx1"/>
                          </a:solidFill>
                          <a:effectLst/>
                          <a:latin typeface="Arial" charset="0"/>
                        </a:rPr>
                        <a:t>19.0%</a:t>
                      </a:r>
                    </a:p>
                  </a:txBody>
                  <a:tcPr marL="92075" marR="92075"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3517"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E1D4417-CE39-4492-A29E-205C874F56B3}" type="slidenum">
              <a:rPr lang="en-US" altLang="en-US" sz="1800"/>
              <a:pPr>
                <a:spcBef>
                  <a:spcPct val="0"/>
                </a:spcBef>
                <a:buClrTx/>
                <a:buSzTx/>
                <a:buFontTx/>
                <a:buNone/>
              </a:pPr>
              <a:t>24</a:t>
            </a:fld>
            <a:endParaRPr lang="en-US" altLang="en-US" sz="1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altLang="en-US" sz="3200"/>
              <a:t>Capital Requirements</a:t>
            </a:r>
          </a:p>
        </p:txBody>
      </p:sp>
      <p:sp>
        <p:nvSpPr>
          <p:cNvPr id="65539" name="Rectangle 3"/>
          <p:cNvSpPr>
            <a:spLocks noGrp="1" noChangeArrowheads="1"/>
          </p:cNvSpPr>
          <p:nvPr>
            <p:ph idx="1"/>
          </p:nvPr>
        </p:nvSpPr>
        <p:spPr/>
        <p:txBody>
          <a:bodyPr/>
          <a:lstStyle/>
          <a:p>
            <a:pPr eaLnBrk="1" hangingPunct="1"/>
            <a:endParaRPr lang="en-US" altLang="en-US">
              <a:cs typeface="Arial" panose="020B0604020202020204" pitchFamily="34" charset="0"/>
            </a:endParaRPr>
          </a:p>
          <a:p>
            <a:pPr eaLnBrk="1" hangingPunct="1">
              <a:buFont typeface="Wingdings" panose="05000000000000000000" pitchFamily="2" charset="2"/>
              <a:buNone/>
            </a:pPr>
            <a:r>
              <a:rPr lang="en-US" altLang="en-US">
                <a:cs typeface="Arial" panose="020B0604020202020204" pitchFamily="34" charset="0"/>
              </a:rPr>
              <a:t> </a:t>
            </a:r>
          </a:p>
        </p:txBody>
      </p:sp>
      <p:sp>
        <p:nvSpPr>
          <p:cNvPr id="6554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graphicFrame>
        <p:nvGraphicFramePr>
          <p:cNvPr id="65541" name="Object 4"/>
          <p:cNvGraphicFramePr>
            <a:graphicFrameLocks noChangeAspect="1"/>
          </p:cNvGraphicFramePr>
          <p:nvPr>
            <p:extLst>
              <p:ext uri="{D42A27DB-BD31-4B8C-83A1-F6EECF244321}">
                <p14:modId xmlns:p14="http://schemas.microsoft.com/office/powerpoint/2010/main" val="3161480652"/>
              </p:ext>
            </p:extLst>
          </p:nvPr>
        </p:nvGraphicFramePr>
        <p:xfrm>
          <a:off x="900112" y="1628775"/>
          <a:ext cx="7416303" cy="4160838"/>
        </p:xfrm>
        <a:graphic>
          <a:graphicData uri="http://schemas.openxmlformats.org/presentationml/2006/ole">
            <mc:AlternateContent xmlns:mc="http://schemas.openxmlformats.org/markup-compatibility/2006">
              <mc:Choice xmlns:v="urn:schemas-microsoft-com:vml" Requires="v">
                <p:oleObj spid="_x0000_s7170" name="Equation" r:id="rId4" imgW="3124200" imgH="1778000" progId="Equation.3">
                  <p:embed/>
                </p:oleObj>
              </mc:Choice>
              <mc:Fallback>
                <p:oleObj name="Equation" r:id="rId4" imgW="3124200" imgH="1778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2" y="1628775"/>
                        <a:ext cx="7416303" cy="4160838"/>
                      </a:xfrm>
                      <a:prstGeom prst="rect">
                        <a:avLst/>
                      </a:prstGeom>
                      <a:noFill/>
                      <a:ln>
                        <a:noFill/>
                      </a:ln>
                    </p:spPr>
                  </p:pic>
                </p:oleObj>
              </mc:Fallback>
            </mc:AlternateContent>
          </a:graphicData>
        </a:graphic>
      </p:graphicFrame>
      <p:sp>
        <p:nvSpPr>
          <p:cNvPr id="655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899440D-57A7-47F2-BB7A-EEA367B3F7C9}" type="slidenum">
              <a:rPr lang="en-US" altLang="en-US" sz="1800"/>
              <a:pPr>
                <a:spcBef>
                  <a:spcPct val="0"/>
                </a:spcBef>
                <a:buClrTx/>
                <a:buSzTx/>
                <a:buFontTx/>
                <a:buNone/>
              </a:pPr>
              <a:t>25</a:t>
            </a:fld>
            <a:endParaRPr lang="en-US" altLang="en-US" sz="1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CA" altLang="en-US"/>
              <a:t>Extension</a:t>
            </a:r>
            <a:endParaRPr lang="en-US" altLang="en-US"/>
          </a:p>
        </p:txBody>
      </p:sp>
      <p:sp>
        <p:nvSpPr>
          <p:cNvPr id="3" name="Content Placeholder 2"/>
          <p:cNvSpPr>
            <a:spLocks noGrp="1"/>
          </p:cNvSpPr>
          <p:nvPr>
            <p:ph idx="1"/>
          </p:nvPr>
        </p:nvSpPr>
        <p:spPr/>
        <p:txBody>
          <a:bodyPr/>
          <a:lstStyle/>
          <a:p>
            <a:pPr>
              <a:defRPr/>
            </a:pPr>
            <a:r>
              <a:rPr lang="en-CA" dirty="0"/>
              <a:t>For a portfolio where PDs, EADs, etc. are different, Gordy shows that, in a one-factor world, </a:t>
            </a:r>
            <a:r>
              <a:rPr lang="en-CA" dirty="0" err="1"/>
              <a:t>Vasicek’s</a:t>
            </a:r>
            <a:r>
              <a:rPr lang="en-CA" dirty="0"/>
              <a:t> model can be extended </a:t>
            </a:r>
          </a:p>
          <a:p>
            <a:pPr>
              <a:defRPr/>
            </a:pPr>
            <a:endParaRPr lang="en-CA" dirty="0"/>
          </a:p>
          <a:p>
            <a:pPr>
              <a:defRPr/>
            </a:pPr>
            <a:endParaRPr lang="en-CA" dirty="0"/>
          </a:p>
          <a:p>
            <a:pPr>
              <a:defRPr/>
            </a:pPr>
            <a:endParaRPr lang="en-CA" dirty="0"/>
          </a:p>
          <a:p>
            <a:pPr marL="0" indent="0">
              <a:buFont typeface="Wingdings" panose="05000000000000000000" pitchFamily="2" charset="2"/>
              <a:buNone/>
              <a:defRPr/>
            </a:pPr>
            <a:endParaRPr lang="en-US" dirty="0"/>
          </a:p>
        </p:txBody>
      </p:sp>
      <p:sp>
        <p:nvSpPr>
          <p:cNvPr id="6758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6758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7A3838D-7604-47B2-B74F-23C51E21F36B}" type="slidenum">
              <a:rPr lang="en-US" altLang="en-US" sz="1800"/>
              <a:pPr>
                <a:spcBef>
                  <a:spcPct val="0"/>
                </a:spcBef>
                <a:buClrTx/>
                <a:buSzTx/>
                <a:buFontTx/>
                <a:buNone/>
              </a:pPr>
              <a:t>26</a:t>
            </a:fld>
            <a:endParaRPr lang="en-US" altLang="en-US" sz="1800"/>
          </a:p>
        </p:txBody>
      </p:sp>
      <p:graphicFrame>
        <p:nvGraphicFramePr>
          <p:cNvPr id="67590" name="Object 5"/>
          <p:cNvGraphicFramePr>
            <a:graphicFrameLocks noChangeAspect="1"/>
          </p:cNvGraphicFramePr>
          <p:nvPr/>
        </p:nvGraphicFramePr>
        <p:xfrm>
          <a:off x="611188" y="3573463"/>
          <a:ext cx="7218362" cy="1308100"/>
        </p:xfrm>
        <a:graphic>
          <a:graphicData uri="http://schemas.openxmlformats.org/presentationml/2006/ole">
            <mc:AlternateContent xmlns:mc="http://schemas.openxmlformats.org/markup-compatibility/2006">
              <mc:Choice xmlns:v="urn:schemas-microsoft-com:vml" Requires="v">
                <p:oleObj spid="_x0000_s8194" name="Equation" r:id="rId3" imgW="3187700" imgH="558800" progId="Equation.3">
                  <p:embed/>
                </p:oleObj>
              </mc:Choice>
              <mc:Fallback>
                <p:oleObj name="Equation" r:id="rId3" imgW="3187700" imgH="5588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3573463"/>
                        <a:ext cx="7218362"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ltLang="en-US" sz="3500"/>
              <a:t>Retail Exposures</a:t>
            </a:r>
            <a:endParaRPr lang="en-US" altLang="en-US" sz="2200"/>
          </a:p>
        </p:txBody>
      </p:sp>
      <p:sp>
        <p:nvSpPr>
          <p:cNvPr id="68611" name="Rectangle 3"/>
          <p:cNvSpPr>
            <a:spLocks noGrp="1" noChangeArrowheads="1"/>
          </p:cNvSpPr>
          <p:nvPr>
            <p:ph idx="1"/>
          </p:nvPr>
        </p:nvSpPr>
        <p:spPr/>
        <p:txBody>
          <a:bodyPr/>
          <a:lstStyle/>
          <a:p>
            <a:pPr eaLnBrk="1" hangingPunct="1">
              <a:buFont typeface="Wingdings" panose="05000000000000000000" pitchFamily="2" charset="2"/>
              <a:buNone/>
            </a:pPr>
            <a:endParaRPr lang="en-US" altLang="en-US">
              <a:cs typeface="Arial" panose="020B0604020202020204" pitchFamily="34" charset="0"/>
            </a:endParaRPr>
          </a:p>
          <a:p>
            <a:pPr eaLnBrk="1" hangingPunct="1">
              <a:buFontTx/>
              <a:buChar char="•"/>
            </a:pPr>
            <a:endParaRPr lang="en-US" altLang="en-US">
              <a:cs typeface="Arial" panose="020B0604020202020204" pitchFamily="34" charset="0"/>
            </a:endParaRPr>
          </a:p>
        </p:txBody>
      </p:sp>
      <p:sp>
        <p:nvSpPr>
          <p:cNvPr id="6861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graphicFrame>
        <p:nvGraphicFramePr>
          <p:cNvPr id="68613" name="Object 4"/>
          <p:cNvGraphicFramePr>
            <a:graphicFrameLocks noChangeAspect="1"/>
          </p:cNvGraphicFramePr>
          <p:nvPr>
            <p:extLst>
              <p:ext uri="{D42A27DB-BD31-4B8C-83A1-F6EECF244321}">
                <p14:modId xmlns:p14="http://schemas.microsoft.com/office/powerpoint/2010/main" val="3494968882"/>
              </p:ext>
            </p:extLst>
          </p:nvPr>
        </p:nvGraphicFramePr>
        <p:xfrm>
          <a:off x="304800" y="1981200"/>
          <a:ext cx="7867600" cy="3708400"/>
        </p:xfrm>
        <a:graphic>
          <a:graphicData uri="http://schemas.openxmlformats.org/presentationml/2006/ole">
            <mc:AlternateContent xmlns:mc="http://schemas.openxmlformats.org/markup-compatibility/2006">
              <mc:Choice xmlns:v="urn:schemas-microsoft-com:vml" Requires="v">
                <p:oleObj spid="_x0000_s9218" name="Equation" r:id="rId4" imgW="4610100" imgH="2082800" progId="Equation.3">
                  <p:embed/>
                </p:oleObj>
              </mc:Choice>
              <mc:Fallback>
                <p:oleObj name="Equation" r:id="rId4" imgW="4610100" imgH="20828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1981200"/>
                        <a:ext cx="7867600" cy="3708400"/>
                      </a:xfrm>
                      <a:prstGeom prst="rect">
                        <a:avLst/>
                      </a:prstGeom>
                      <a:noFill/>
                      <a:ln>
                        <a:noFill/>
                      </a:ln>
                    </p:spPr>
                  </p:pic>
                </p:oleObj>
              </mc:Fallback>
            </mc:AlternateContent>
          </a:graphicData>
        </a:graphic>
      </p:graphicFrame>
      <p:sp>
        <p:nvSpPr>
          <p:cNvPr id="686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9BC4DDE-8651-4E1D-AAD3-FA94803A2AA0}" type="slidenum">
              <a:rPr lang="en-US" altLang="en-US" sz="1800"/>
              <a:pPr>
                <a:spcBef>
                  <a:spcPct val="0"/>
                </a:spcBef>
                <a:buClrTx/>
                <a:buSzTx/>
                <a:buFontTx/>
                <a:buNone/>
              </a:pPr>
              <a:t>27</a:t>
            </a:fld>
            <a:endParaRPr lang="en-US" altLang="en-US" sz="1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ltLang="en-US"/>
              <a:t>Credit Risk Mitigants</a:t>
            </a:r>
          </a:p>
        </p:txBody>
      </p:sp>
      <p:sp>
        <p:nvSpPr>
          <p:cNvPr id="70659" name="Rectangle 3"/>
          <p:cNvSpPr>
            <a:spLocks noGrp="1" noChangeArrowheads="1"/>
          </p:cNvSpPr>
          <p:nvPr>
            <p:ph idx="1"/>
          </p:nvPr>
        </p:nvSpPr>
        <p:spPr/>
        <p:txBody>
          <a:bodyPr/>
          <a:lstStyle/>
          <a:p>
            <a:pPr eaLnBrk="1" hangingPunct="1"/>
            <a:r>
              <a:rPr lang="en-US" altLang="en-US">
                <a:cs typeface="Arial" panose="020B0604020202020204" pitchFamily="34" charset="0"/>
              </a:rPr>
              <a:t>Credit risk mitigants (CRMs) include collateral, guarantees, netting, the use of credit derivatives, etc</a:t>
            </a:r>
          </a:p>
          <a:p>
            <a:pPr eaLnBrk="1" hangingPunct="1"/>
            <a:r>
              <a:rPr lang="en-US" altLang="en-US">
                <a:cs typeface="Arial" panose="020B0604020202020204" pitchFamily="34" charset="0"/>
              </a:rPr>
              <a:t>The benefits of CRMs increase as a bank moves from the standardized approach to the foundation IRB approach to the advanced IRB approach </a:t>
            </a:r>
          </a:p>
        </p:txBody>
      </p:sp>
      <p:sp>
        <p:nvSpPr>
          <p:cNvPr id="7066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7066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F34B701-CD75-4A03-BB07-FFE6E188233A}" type="slidenum">
              <a:rPr lang="en-US" altLang="en-US" sz="1800"/>
              <a:pPr>
                <a:spcBef>
                  <a:spcPct val="0"/>
                </a:spcBef>
                <a:buClrTx/>
                <a:buSzTx/>
                <a:buFontTx/>
                <a:buNone/>
              </a:pPr>
              <a:t>28</a:t>
            </a:fld>
            <a:endParaRPr lang="en-US" altLang="en-US" sz="18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US" altLang="en-US"/>
              <a:t>Adjustments for Collateral</a:t>
            </a:r>
            <a:endParaRPr lang="en-CA" altLang="en-US"/>
          </a:p>
        </p:txBody>
      </p:sp>
      <p:sp>
        <p:nvSpPr>
          <p:cNvPr id="72707" name="Rectangle 3"/>
          <p:cNvSpPr>
            <a:spLocks noGrp="1" noChangeArrowheads="1"/>
          </p:cNvSpPr>
          <p:nvPr>
            <p:ph idx="1"/>
          </p:nvPr>
        </p:nvSpPr>
        <p:spPr/>
        <p:txBody>
          <a:bodyPr/>
          <a:lstStyle/>
          <a:p>
            <a:pPr eaLnBrk="1" hangingPunct="1">
              <a:lnSpc>
                <a:spcPct val="90000"/>
              </a:lnSpc>
            </a:pPr>
            <a:r>
              <a:rPr lang="en-US" altLang="en-US">
                <a:cs typeface="Arial" panose="020B0604020202020204" pitchFamily="34" charset="0"/>
              </a:rPr>
              <a:t>Two approaches</a:t>
            </a:r>
          </a:p>
          <a:p>
            <a:pPr lvl="1" eaLnBrk="1" hangingPunct="1">
              <a:lnSpc>
                <a:spcPct val="90000"/>
              </a:lnSpc>
            </a:pPr>
            <a:r>
              <a:rPr lang="en-US" altLang="en-US">
                <a:cs typeface="Arial" panose="020B0604020202020204" pitchFamily="34" charset="0"/>
              </a:rPr>
              <a:t>Simple approach: risk weight of counterparty replaced by risk weight of collateral</a:t>
            </a:r>
          </a:p>
          <a:p>
            <a:pPr lvl="1" eaLnBrk="1" hangingPunct="1">
              <a:lnSpc>
                <a:spcPct val="90000"/>
              </a:lnSpc>
            </a:pPr>
            <a:r>
              <a:rPr lang="en-US" altLang="en-US">
                <a:cs typeface="Arial" panose="020B0604020202020204" pitchFamily="34" charset="0"/>
              </a:rPr>
              <a:t>Comprehensive approach: exposure adjusted upwards to allow to possible increases; value of collateral adjusted downward to allow for possible decreases; new exposure equals excess of adjusted exposure over adjusted collateral; counterparty risk weight applied to the new exposure</a:t>
            </a:r>
            <a:endParaRPr lang="en-CA" altLang="en-US">
              <a:cs typeface="Arial" panose="020B0604020202020204" pitchFamily="34" charset="0"/>
            </a:endParaRPr>
          </a:p>
        </p:txBody>
      </p:sp>
      <p:sp>
        <p:nvSpPr>
          <p:cNvPr id="7270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727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2629D54-A6FE-4EDA-BFC6-FADA5C9AD3C1}" type="slidenum">
              <a:rPr lang="en-US" altLang="en-US" sz="1800"/>
              <a:pPr>
                <a:spcBef>
                  <a:spcPct val="0"/>
                </a:spcBef>
                <a:buClrTx/>
                <a:buSzTx/>
                <a:buFontTx/>
                <a:buNone/>
              </a:pPr>
              <a:t>29</a:t>
            </a:fld>
            <a:endParaRPr lang="en-US" altLang="en-US" sz="1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altLang="en-US"/>
              <a:t>Guarantees</a:t>
            </a:r>
            <a:endParaRPr lang="en-CA" altLang="en-US"/>
          </a:p>
        </p:txBody>
      </p:sp>
      <p:sp>
        <p:nvSpPr>
          <p:cNvPr id="74755" name="Rectangle 3"/>
          <p:cNvSpPr>
            <a:spLocks noGrp="1" noChangeArrowheads="1"/>
          </p:cNvSpPr>
          <p:nvPr>
            <p:ph idx="1"/>
          </p:nvPr>
        </p:nvSpPr>
        <p:spPr>
          <a:xfrm>
            <a:off x="785813" y="2143125"/>
            <a:ext cx="8001000" cy="3500438"/>
          </a:xfrm>
        </p:spPr>
        <p:txBody>
          <a:bodyPr/>
          <a:lstStyle/>
          <a:p>
            <a:pPr eaLnBrk="1" hangingPunct="1">
              <a:lnSpc>
                <a:spcPct val="90000"/>
              </a:lnSpc>
            </a:pPr>
            <a:r>
              <a:rPr lang="en-US" altLang="en-US" sz="2400" dirty="0"/>
              <a:t>Traditionally the Basel Committee has used the credit substitution approach (where the credit rating of the guarantor is substituted for that of the borrower)</a:t>
            </a:r>
          </a:p>
          <a:p>
            <a:pPr eaLnBrk="1" hangingPunct="1">
              <a:lnSpc>
                <a:spcPct val="90000"/>
              </a:lnSpc>
            </a:pPr>
            <a:r>
              <a:rPr lang="en-US" altLang="en-US" sz="2400" dirty="0"/>
              <a:t>However, this overstates the credit risk because both the guarantor and the borrower must default for money to be lost</a:t>
            </a:r>
          </a:p>
          <a:p>
            <a:pPr eaLnBrk="1" hangingPunct="1">
              <a:lnSpc>
                <a:spcPct val="90000"/>
              </a:lnSpc>
            </a:pPr>
            <a:r>
              <a:rPr lang="en-US" altLang="en-US" sz="2400" dirty="0"/>
              <a:t>As a result, the Basel Committee developed a formula reflecting double default risk</a:t>
            </a:r>
            <a:endParaRPr lang="en-CA" altLang="en-US" sz="2400" dirty="0"/>
          </a:p>
        </p:txBody>
      </p:sp>
      <p:sp>
        <p:nvSpPr>
          <p:cNvPr id="7475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7475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8257FE2-7EDA-46A8-BEDA-1DC8CAFA5C5F}" type="slidenum">
              <a:rPr lang="en-US" altLang="en-US" sz="1800"/>
              <a:pPr>
                <a:spcBef>
                  <a:spcPct val="0"/>
                </a:spcBef>
                <a:buClrTx/>
                <a:buSzTx/>
                <a:buFontTx/>
                <a:buNone/>
              </a:pPr>
              <a:t>30</a:t>
            </a:fld>
            <a:endParaRPr lang="en-US" altLang="en-US" sz="18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altLang="en-US"/>
              <a:t>Operational Risk Capital</a:t>
            </a:r>
          </a:p>
        </p:txBody>
      </p:sp>
      <p:sp>
        <p:nvSpPr>
          <p:cNvPr id="76803" name="Rectangle 3"/>
          <p:cNvSpPr>
            <a:spLocks noGrp="1" noChangeArrowheads="1"/>
          </p:cNvSpPr>
          <p:nvPr>
            <p:ph idx="1"/>
          </p:nvPr>
        </p:nvSpPr>
        <p:spPr/>
        <p:txBody>
          <a:bodyPr/>
          <a:lstStyle/>
          <a:p>
            <a:pPr eaLnBrk="1" hangingPunct="1"/>
            <a:r>
              <a:rPr lang="en-US" altLang="en-US" dirty="0">
                <a:cs typeface="Arial" panose="020B0604020202020204" pitchFamily="34" charset="0"/>
              </a:rPr>
              <a:t>Basic Indicator Approach: 15% of gross income</a:t>
            </a:r>
          </a:p>
          <a:p>
            <a:pPr eaLnBrk="1" hangingPunct="1"/>
            <a:r>
              <a:rPr lang="en-US" altLang="en-US" dirty="0">
                <a:cs typeface="Arial" panose="020B0604020202020204" pitchFamily="34" charset="0"/>
              </a:rPr>
              <a:t>Standardized Approach: different multiplicative factor for gross income arising from each business line</a:t>
            </a:r>
          </a:p>
          <a:p>
            <a:pPr eaLnBrk="1" hangingPunct="1"/>
            <a:r>
              <a:rPr lang="en-US" altLang="en-US" dirty="0">
                <a:cs typeface="Arial" panose="020B0604020202020204" pitchFamily="34" charset="0"/>
              </a:rPr>
              <a:t>Internal Measurement Approach: capital equals one-year 99.9% </a:t>
            </a:r>
            <a:r>
              <a:rPr lang="en-US" altLang="en-US" dirty="0" err="1">
                <a:cs typeface="Arial" panose="020B0604020202020204" pitchFamily="34" charset="0"/>
              </a:rPr>
              <a:t>VaR</a:t>
            </a:r>
            <a:r>
              <a:rPr lang="en-US" altLang="en-US" dirty="0">
                <a:cs typeface="Arial" panose="020B0604020202020204" pitchFamily="34" charset="0"/>
              </a:rPr>
              <a:t> loss minus expected one year loss</a:t>
            </a:r>
          </a:p>
        </p:txBody>
      </p:sp>
      <p:sp>
        <p:nvSpPr>
          <p:cNvPr id="7680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7680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834DF21-858C-4087-88C4-2DE00F9F08EE}" type="slidenum">
              <a:rPr lang="en-US" altLang="en-US" sz="1800"/>
              <a:pPr>
                <a:spcBef>
                  <a:spcPct val="0"/>
                </a:spcBef>
                <a:buClrTx/>
                <a:buSzTx/>
                <a:buFontTx/>
                <a:buNone/>
              </a:pPr>
              <a:t>31</a:t>
            </a:fld>
            <a:endParaRPr lang="en-US" altLang="en-US" sz="18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altLang="en-US"/>
              <a:t>Supervisory Review Changes </a:t>
            </a:r>
            <a:br>
              <a:rPr lang="en-US" altLang="en-US"/>
            </a:br>
            <a:endParaRPr lang="en-US" altLang="en-US" sz="2400"/>
          </a:p>
        </p:txBody>
      </p:sp>
      <p:sp>
        <p:nvSpPr>
          <p:cNvPr id="78851" name="Rectangle 3"/>
          <p:cNvSpPr>
            <a:spLocks noGrp="1" noChangeArrowheads="1"/>
          </p:cNvSpPr>
          <p:nvPr>
            <p:ph idx="1"/>
          </p:nvPr>
        </p:nvSpPr>
        <p:spPr/>
        <p:txBody>
          <a:bodyPr/>
          <a:lstStyle/>
          <a:p>
            <a:pPr eaLnBrk="1" hangingPunct="1"/>
            <a:r>
              <a:rPr lang="en-US" altLang="en-US">
                <a:cs typeface="Arial" panose="020B0604020202020204" pitchFamily="34" charset="0"/>
              </a:rPr>
              <a:t>Similar amount of thoroughness in different countries</a:t>
            </a:r>
          </a:p>
          <a:p>
            <a:pPr eaLnBrk="1" hangingPunct="1"/>
            <a:r>
              <a:rPr lang="en-US" altLang="en-US">
                <a:cs typeface="Arial" panose="020B0604020202020204" pitchFamily="34" charset="0"/>
              </a:rPr>
              <a:t>Local regulators can adjust parameters to suit local conditions</a:t>
            </a:r>
          </a:p>
          <a:p>
            <a:pPr eaLnBrk="1" hangingPunct="1"/>
            <a:r>
              <a:rPr lang="en-US" altLang="en-US">
                <a:cs typeface="Arial" panose="020B0604020202020204" pitchFamily="34" charset="0"/>
              </a:rPr>
              <a:t>Importance of early intervention stressed</a:t>
            </a:r>
          </a:p>
          <a:p>
            <a:pPr eaLnBrk="1" hangingPunct="1"/>
            <a:endParaRPr lang="en-US" altLang="en-US">
              <a:cs typeface="Arial" panose="020B0604020202020204" pitchFamily="34" charset="0"/>
            </a:endParaRPr>
          </a:p>
        </p:txBody>
      </p:sp>
      <p:sp>
        <p:nvSpPr>
          <p:cNvPr id="7885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7885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1F59EBD-1E7C-47B6-8FD4-E36C2331BA08}" type="slidenum">
              <a:rPr lang="en-US" altLang="en-US" sz="1800"/>
              <a:pPr>
                <a:spcBef>
                  <a:spcPct val="0"/>
                </a:spcBef>
                <a:buClrTx/>
                <a:buSzTx/>
                <a:buFontTx/>
                <a:buNone/>
              </a:pPr>
              <a:t>32</a:t>
            </a:fld>
            <a:endParaRPr lang="en-US" altLang="en-US" sz="1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altLang="en-US"/>
              <a:t>Market Discipline</a:t>
            </a:r>
            <a:endParaRPr lang="en-US" altLang="en-US" sz="2400"/>
          </a:p>
        </p:txBody>
      </p:sp>
      <p:sp>
        <p:nvSpPr>
          <p:cNvPr id="80899" name="Rectangle 3"/>
          <p:cNvSpPr>
            <a:spLocks noGrp="1" noChangeArrowheads="1"/>
          </p:cNvSpPr>
          <p:nvPr>
            <p:ph idx="1"/>
          </p:nvPr>
        </p:nvSpPr>
        <p:spPr/>
        <p:txBody>
          <a:bodyPr/>
          <a:lstStyle/>
          <a:p>
            <a:pPr eaLnBrk="1" hangingPunct="1"/>
            <a:r>
              <a:rPr lang="en-US" altLang="en-US">
                <a:cs typeface="Arial" panose="020B0604020202020204" pitchFamily="34" charset="0"/>
              </a:rPr>
              <a:t>Banks will be required to disclose </a:t>
            </a:r>
          </a:p>
          <a:p>
            <a:pPr lvl="1" eaLnBrk="1" hangingPunct="1"/>
            <a:r>
              <a:rPr lang="en-US" altLang="en-US">
                <a:cs typeface="Arial" panose="020B0604020202020204" pitchFamily="34" charset="0"/>
              </a:rPr>
              <a:t>Scope and application of Basel framework</a:t>
            </a:r>
          </a:p>
          <a:p>
            <a:pPr lvl="1" eaLnBrk="1" hangingPunct="1"/>
            <a:r>
              <a:rPr lang="en-US" altLang="en-US">
                <a:cs typeface="Arial" panose="020B0604020202020204" pitchFamily="34" charset="0"/>
              </a:rPr>
              <a:t>Nature of capital held</a:t>
            </a:r>
          </a:p>
          <a:p>
            <a:pPr lvl="1" eaLnBrk="1" hangingPunct="1"/>
            <a:r>
              <a:rPr lang="en-US" altLang="en-US">
                <a:cs typeface="Arial" panose="020B0604020202020204" pitchFamily="34" charset="0"/>
              </a:rPr>
              <a:t>Regulatory capital requirements</a:t>
            </a:r>
          </a:p>
          <a:p>
            <a:pPr lvl="1" eaLnBrk="1" hangingPunct="1"/>
            <a:r>
              <a:rPr lang="en-US" altLang="en-US">
                <a:cs typeface="Arial" panose="020B0604020202020204" pitchFamily="34" charset="0"/>
              </a:rPr>
              <a:t>Nature of institution’s risk exposures</a:t>
            </a:r>
          </a:p>
        </p:txBody>
      </p:sp>
      <p:sp>
        <p:nvSpPr>
          <p:cNvPr id="8090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8090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288DF75-8841-4B82-B465-195B042AD1AE}" type="slidenum">
              <a:rPr lang="en-US" altLang="en-US" sz="1800"/>
              <a:pPr>
                <a:spcBef>
                  <a:spcPct val="0"/>
                </a:spcBef>
                <a:buClrTx/>
                <a:buSzTx/>
                <a:buFontTx/>
                <a:buNone/>
              </a:pPr>
              <a:t>33</a:t>
            </a:fld>
            <a:endParaRPr lang="en-US" altLang="en-US" sz="1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a:xfrm>
            <a:off x="395288" y="115888"/>
            <a:ext cx="7543800" cy="1295400"/>
          </a:xfrm>
        </p:spPr>
        <p:txBody>
          <a:bodyPr/>
          <a:lstStyle/>
          <a:p>
            <a:pPr eaLnBrk="1" hangingPunct="1"/>
            <a:r>
              <a:rPr lang="en-US" altLang="en-US" dirty="0"/>
              <a:t>Solvency II </a:t>
            </a:r>
            <a:r>
              <a:rPr lang="en-US" altLang="en-US" sz="2400" dirty="0"/>
              <a:t>(Section 25.12)</a:t>
            </a:r>
          </a:p>
        </p:txBody>
      </p:sp>
      <p:sp>
        <p:nvSpPr>
          <p:cNvPr id="82947" name="Content Placeholder 2"/>
          <p:cNvSpPr>
            <a:spLocks noGrp="1"/>
          </p:cNvSpPr>
          <p:nvPr>
            <p:ph idx="1"/>
          </p:nvPr>
        </p:nvSpPr>
        <p:spPr>
          <a:xfrm>
            <a:off x="685800" y="2214563"/>
            <a:ext cx="7772400" cy="4048125"/>
          </a:xfrm>
        </p:spPr>
        <p:txBody>
          <a:bodyPr/>
          <a:lstStyle/>
          <a:p>
            <a:pPr eaLnBrk="1" hangingPunct="1"/>
            <a:r>
              <a:rPr lang="en-US" altLang="en-US" sz="2400">
                <a:cs typeface="Arial" panose="020B0604020202020204" pitchFamily="34" charset="0"/>
              </a:rPr>
              <a:t>Similar three pillars to Basel II</a:t>
            </a:r>
          </a:p>
          <a:p>
            <a:pPr eaLnBrk="1" hangingPunct="1"/>
            <a:r>
              <a:rPr lang="en-US" altLang="en-US" sz="2400">
                <a:cs typeface="Arial" panose="020B0604020202020204" pitchFamily="34" charset="0"/>
              </a:rPr>
              <a:t>Pillar I specifies the minimum capital requirement (MCR) and solvency capital requirement (SCR)</a:t>
            </a:r>
          </a:p>
          <a:p>
            <a:pPr eaLnBrk="1" hangingPunct="1"/>
            <a:r>
              <a:rPr lang="en-US" altLang="en-US" sz="2400">
                <a:cs typeface="Arial" panose="020B0604020202020204" pitchFamily="34" charset="0"/>
              </a:rPr>
              <a:t>If capital falls below SCR the insurance company must submit a plan for bringing it back up to SCR. </a:t>
            </a:r>
          </a:p>
          <a:p>
            <a:pPr eaLnBrk="1" hangingPunct="1"/>
            <a:r>
              <a:rPr lang="en-US" altLang="en-US" sz="2400">
                <a:cs typeface="Arial" panose="020B0604020202020204" pitchFamily="34" charset="0"/>
              </a:rPr>
              <a:t>If capital drops below MCR supervisors may prevent the insurance company from taking new business</a:t>
            </a:r>
          </a:p>
        </p:txBody>
      </p:sp>
      <p:sp>
        <p:nvSpPr>
          <p:cNvPr id="8294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8294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E11CFD8-7E5F-4F3F-90F3-53A61D5E03C4}" type="slidenum">
              <a:rPr lang="en-US" altLang="en-US" sz="1800"/>
              <a:pPr>
                <a:spcBef>
                  <a:spcPct val="0"/>
                </a:spcBef>
                <a:buClrTx/>
                <a:buSzTx/>
                <a:buFontTx/>
                <a:buNone/>
              </a:pPr>
              <a:t>34</a:t>
            </a:fld>
            <a:endParaRPr lang="en-US" altLang="en-US" sz="1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p:txBody>
          <a:bodyPr/>
          <a:lstStyle/>
          <a:p>
            <a:pPr eaLnBrk="1" hangingPunct="1"/>
            <a:r>
              <a:rPr lang="en-US" altLang="en-US" dirty="0"/>
              <a:t>Solvency II</a:t>
            </a:r>
            <a:r>
              <a:rPr lang="en-US" altLang="en-US" sz="2800" dirty="0"/>
              <a:t> continued</a:t>
            </a:r>
          </a:p>
        </p:txBody>
      </p:sp>
      <p:sp>
        <p:nvSpPr>
          <p:cNvPr id="84995" name="Content Placeholder 2"/>
          <p:cNvSpPr>
            <a:spLocks noGrp="1"/>
          </p:cNvSpPr>
          <p:nvPr>
            <p:ph idx="1"/>
          </p:nvPr>
        </p:nvSpPr>
        <p:spPr/>
        <p:txBody>
          <a:bodyPr/>
          <a:lstStyle/>
          <a:p>
            <a:pPr eaLnBrk="1" hangingPunct="1"/>
            <a:r>
              <a:rPr lang="en-US" altLang="en-US" sz="2400" dirty="0">
                <a:cs typeface="Arial" panose="020B0604020202020204" pitchFamily="34" charset="0"/>
              </a:rPr>
              <a:t>Internal models vs standardized approach</a:t>
            </a:r>
          </a:p>
          <a:p>
            <a:pPr eaLnBrk="1" hangingPunct="1"/>
            <a:r>
              <a:rPr lang="en-US" altLang="en-US" sz="2400" dirty="0">
                <a:cs typeface="Arial" panose="020B0604020202020204" pitchFamily="34" charset="0"/>
              </a:rPr>
              <a:t>One year 99.5% confidence for internal models</a:t>
            </a:r>
          </a:p>
          <a:p>
            <a:pPr eaLnBrk="1" hangingPunct="1"/>
            <a:r>
              <a:rPr lang="en-US" altLang="en-US" sz="2400" dirty="0">
                <a:cs typeface="Arial" panose="020B0604020202020204" pitchFamily="34" charset="0"/>
              </a:rPr>
              <a:t>Capital charge for investment risk, underwriting risk, and operational risk</a:t>
            </a:r>
          </a:p>
          <a:p>
            <a:pPr eaLnBrk="1" hangingPunct="1"/>
            <a:r>
              <a:rPr lang="en-US" altLang="en-US" sz="2400" dirty="0">
                <a:cs typeface="Arial" panose="020B0604020202020204" pitchFamily="34" charset="0"/>
              </a:rPr>
              <a:t>Three types of capital</a:t>
            </a:r>
          </a:p>
          <a:p>
            <a:pPr marL="0" indent="0" eaLnBrk="1" hangingPunct="1">
              <a:buNone/>
            </a:pPr>
            <a:endParaRPr lang="en-US" altLang="en-US" dirty="0">
              <a:cs typeface="Arial" panose="020B0604020202020204" pitchFamily="34" charset="0"/>
            </a:endParaRPr>
          </a:p>
        </p:txBody>
      </p:sp>
      <p:sp>
        <p:nvSpPr>
          <p:cNvPr id="8499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25,  Copyright © John C. Hull 2023</a:t>
            </a:r>
          </a:p>
        </p:txBody>
      </p:sp>
      <p:sp>
        <p:nvSpPr>
          <p:cNvPr id="8499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26C53A4-A7E4-4F31-91DD-A63C0CA94A3C}" type="slidenum">
              <a:rPr lang="en-US" altLang="en-US" sz="1800"/>
              <a:pPr>
                <a:spcBef>
                  <a:spcPct val="0"/>
                </a:spcBef>
                <a:buClrTx/>
                <a:buSzTx/>
                <a:buFontTx/>
                <a:buNone/>
              </a:pPr>
              <a:t>35</a:t>
            </a:fld>
            <a:endParaRPr lang="en-US" altLang="en-US" sz="1800"/>
          </a:p>
        </p:txBody>
      </p:sp>
    </p:spTree>
  </p:cSld>
  <p:clrMapOvr>
    <a:masterClrMapping/>
  </p:clrMapOvr>
</p:sld>
</file>

<file path=ppt/theme/theme1.xml><?xml version="1.0" encoding="utf-8"?>
<a:theme xmlns:a="http://schemas.openxmlformats.org/drawingml/2006/main" name="HullRMFICh12">
  <a:themeElements>
    <a:clrScheme name="HullRMFICh1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HullRMFICh12">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HullRMFICh12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HullRMFICh12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HullRMFICh12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HullRMFICh12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HullRMFICh12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HullRMFICh12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HullRMFICh12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HullRMFICh12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HullRMFICh1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HullRMFICh1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737245B-B59F-4FD1-8CAB-096FACDE5DD9}"/>
</file>

<file path=customXml/itemProps2.xml><?xml version="1.0" encoding="utf-8"?>
<ds:datastoreItem xmlns:ds="http://schemas.openxmlformats.org/officeDocument/2006/customXml" ds:itemID="{318EB85F-C876-43E4-9F40-51D7D8C2CECA}"/>
</file>

<file path=customXml/itemProps3.xml><?xml version="1.0" encoding="utf-8"?>
<ds:datastoreItem xmlns:ds="http://schemas.openxmlformats.org/officeDocument/2006/customXml" ds:itemID="{E5B02C75-CDF3-4BB4-A9A4-88A991EF012C}"/>
</file>

<file path=docProps/app.xml><?xml version="1.0" encoding="utf-8"?>
<Properties xmlns="http://schemas.openxmlformats.org/officeDocument/2006/extended-properties" xmlns:vt="http://schemas.openxmlformats.org/officeDocument/2006/docPropsVTypes">
  <Template>HullRMFI2ndEdCh18</Template>
  <TotalTime>958</TotalTime>
  <Words>2175</Words>
  <Application>Microsoft Office PowerPoint</Application>
  <PresentationFormat>On-screen Show (4:3)</PresentationFormat>
  <Paragraphs>320</Paragraphs>
  <Slides>35</Slides>
  <Notes>34</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1" baseType="lpstr">
      <vt:lpstr>Arial</vt:lpstr>
      <vt:lpstr>Symbol</vt:lpstr>
      <vt:lpstr>Times New Roman</vt:lpstr>
      <vt:lpstr>Wingdings</vt:lpstr>
      <vt:lpstr>HullRMFICh12</vt:lpstr>
      <vt:lpstr>Equation</vt:lpstr>
      <vt:lpstr>Basel I, Basel II, and Solvency II</vt:lpstr>
      <vt:lpstr>History of Bank Regulation</vt:lpstr>
      <vt:lpstr>Pre-1988</vt:lpstr>
      <vt:lpstr>1988: BIS Accord (Section 25.3)</vt:lpstr>
      <vt:lpstr>Types of Capital (Section 25.3.2)</vt:lpstr>
      <vt:lpstr>Risk-Weighted Capital</vt:lpstr>
      <vt:lpstr>Credit Equivalent Amount for Derivatives</vt:lpstr>
      <vt:lpstr>Add-on Factors (% of Principal) Table 25.2</vt:lpstr>
      <vt:lpstr>The Math</vt:lpstr>
      <vt:lpstr>G-30 Policy Recommendations (Section 25.4)</vt:lpstr>
      <vt:lpstr>Netting (Section 25.5)</vt:lpstr>
      <vt:lpstr>Netting Calculations</vt:lpstr>
      <vt:lpstr>Netting Calculations continued</vt:lpstr>
      <vt:lpstr>1996 Amendment (Section 25.6)</vt:lpstr>
      <vt:lpstr>The Market Risk Capital</vt:lpstr>
      <vt:lpstr>Basel II</vt:lpstr>
      <vt:lpstr>New Capital Requirements</vt:lpstr>
      <vt:lpstr>USA vs European Implementation</vt:lpstr>
      <vt:lpstr>New Capital Requirements Standardized Approach, Table 25.4</vt:lpstr>
      <vt:lpstr>New Capital Requirements IRB Approach for corporate, banks and sovereign exposures</vt:lpstr>
      <vt:lpstr>The Model used by Regulators (Figure 25.1)</vt:lpstr>
      <vt:lpstr>Key Model (Gaussian Copula)</vt:lpstr>
      <vt:lpstr>Numerical Results for WCDR (Table 25.5)</vt:lpstr>
      <vt:lpstr>Dependence of r on PD</vt:lpstr>
      <vt:lpstr>Capital Requirements</vt:lpstr>
      <vt:lpstr>Extension</vt:lpstr>
      <vt:lpstr>Retail Exposures</vt:lpstr>
      <vt:lpstr>Credit Risk Mitigants</vt:lpstr>
      <vt:lpstr>Adjustments for Collateral</vt:lpstr>
      <vt:lpstr>Guarantees</vt:lpstr>
      <vt:lpstr>Operational Risk Capital</vt:lpstr>
      <vt:lpstr>Supervisory Review Changes  </vt:lpstr>
      <vt:lpstr>Market Discipline</vt:lpstr>
      <vt:lpstr>Solvency II (Section 25.12)</vt:lpstr>
      <vt:lpstr>Solvency II continued</vt:lpstr>
    </vt:vector>
  </TitlesOfParts>
  <Company>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Management and Financial Institutions</dc:title>
  <dc:subject>Chapter 15</dc:subject>
  <dc:creator>John Hull</dc:creator>
  <cp:keywords>5th Edition</cp:keywords>
  <dc:description>Copyright 2018 by John Hull._x000d_
All rights reserved.</dc:description>
  <cp:lastModifiedBy>John Hull</cp:lastModifiedBy>
  <cp:revision>70</cp:revision>
  <dcterms:created xsi:type="dcterms:W3CDTF">2002-01-08T16:48:44Z</dcterms:created>
  <dcterms:modified xsi:type="dcterms:W3CDTF">2022-12-01T21:39:52Z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