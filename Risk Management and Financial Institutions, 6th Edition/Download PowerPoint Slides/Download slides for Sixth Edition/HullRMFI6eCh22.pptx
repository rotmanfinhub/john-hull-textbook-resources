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18"/>
  </p:notesMasterIdLst>
  <p:handoutMasterIdLst>
    <p:handoutMasterId r:id="rId19"/>
  </p:handoutMasterIdLst>
  <p:sldIdLst>
    <p:sldId id="256" r:id="rId2"/>
    <p:sldId id="312" r:id="rId3"/>
    <p:sldId id="313" r:id="rId4"/>
    <p:sldId id="314" r:id="rId5"/>
    <p:sldId id="285" r:id="rId6"/>
    <p:sldId id="279" r:id="rId7"/>
    <p:sldId id="287" r:id="rId8"/>
    <p:sldId id="310" r:id="rId9"/>
    <p:sldId id="300" r:id="rId10"/>
    <p:sldId id="315" r:id="rId11"/>
    <p:sldId id="302" r:id="rId12"/>
    <p:sldId id="303" r:id="rId13"/>
    <p:sldId id="311" r:id="rId14"/>
    <p:sldId id="305" r:id="rId15"/>
    <p:sldId id="306" r:id="rId16"/>
    <p:sldId id="304" r:id="rId1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EF72C2EB-3A36-4745-A2E7-AB6BD96893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091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2E9DBC7A-EDCB-4F47-A957-26556579F0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6530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214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639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526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628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B9D2EEC-32E2-4804-870B-9C6F58056FDE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993333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58477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691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064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23492B-5A0B-452E-A01D-4FF8903D02A3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819715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734D3E-2470-4C91-9E3C-DC67F1224E7F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76598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9161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FBE190B4-1BB4-4025-9D72-152CB9D308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12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BF2DC-1FEC-498C-87EF-183D70B124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6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5811D-B436-4181-8496-8380303630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36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B48B3D-9931-4E75-A4E8-480A6E3B03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55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65B3D5-0F94-48FD-A56F-FDA0EDEBE5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821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5F9082-D49B-4C28-B6D7-47AE6FE3AD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58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F97E22-28C7-471B-97BB-920226081D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16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10FF6-9D14-42BC-A283-B31F0725A9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19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B941E-FA03-4903-96EA-00F237D7BC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55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F1678F-F85F-43D0-8BEB-F676374CD1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61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C4CC2-EB95-44BB-A124-E0BC5BFAF4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88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15.</a:t>
            </a:r>
            <a:fld id="{413FA810-2330-4A84-9D1A-78B8637841F8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Risk Management and Financial Institutions 6e, Chapter 22,  Copyright © John C. Hull 2023</a:t>
            </a:r>
            <a:endParaRPr lang="en-US" altLang="en-US" sz="1400" i="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981075"/>
            <a:ext cx="5905500" cy="1511300"/>
          </a:xfrm>
        </p:spPr>
        <p:txBody>
          <a:bodyPr/>
          <a:lstStyle/>
          <a:p>
            <a:pPr eaLnBrk="1" hangingPunct="1"/>
            <a:r>
              <a:rPr lang="en-US" altLang="en-US" dirty="0"/>
              <a:t>Model Risk Management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827088" y="3213100"/>
            <a:ext cx="63373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3600" dirty="0">
                <a:latin typeface="+mn-lt"/>
              </a:rPr>
              <a:t>Chapter  22  </a:t>
            </a:r>
          </a:p>
        </p:txBody>
      </p:sp>
      <p:sp>
        <p:nvSpPr>
          <p:cNvPr id="1331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484262-D494-4142-A5B4-97B22C6F69A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Uses of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Credit decisions and credit exposures</a:t>
            </a:r>
          </a:p>
          <a:p>
            <a:r>
              <a:rPr lang="en-CA" dirty="0"/>
              <a:t>Liquidity management</a:t>
            </a:r>
          </a:p>
          <a:p>
            <a:r>
              <a:rPr lang="en-CA" dirty="0"/>
              <a:t>Derivatives valuation</a:t>
            </a:r>
          </a:p>
          <a:p>
            <a:r>
              <a:rPr lang="en-CA" dirty="0"/>
              <a:t>Calculation of </a:t>
            </a:r>
            <a:r>
              <a:rPr lang="en-CA" dirty="0" err="1"/>
              <a:t>VaR</a:t>
            </a:r>
            <a:r>
              <a:rPr lang="en-CA" dirty="0"/>
              <a:t>, ES, and other risk measures</a:t>
            </a:r>
          </a:p>
          <a:p>
            <a:r>
              <a:rPr lang="en-CA" dirty="0"/>
              <a:t>Asset management</a:t>
            </a:r>
          </a:p>
          <a:p>
            <a:r>
              <a:rPr lang="en-CA" dirty="0"/>
              <a:t>Fraud detection</a:t>
            </a:r>
          </a:p>
          <a:p>
            <a:r>
              <a:rPr lang="en-CA" dirty="0" err="1"/>
              <a:t>etc</a:t>
            </a:r>
            <a:endParaRPr lang="en-CA" dirty="0"/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69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SR 11-7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9263"/>
            <a:ext cx="8435280" cy="4411662"/>
          </a:xfrm>
        </p:spPr>
        <p:txBody>
          <a:bodyPr/>
          <a:lstStyle/>
          <a:p>
            <a:r>
              <a:rPr lang="en-CA" sz="2800" dirty="0"/>
              <a:t>SR11-7 from the U.S. Board of Governors provides guidance to banks on model risk management</a:t>
            </a:r>
          </a:p>
          <a:p>
            <a:r>
              <a:rPr lang="en-CA" sz="2800" dirty="0"/>
              <a:t>Model risk is defines as “the potential for adverse consequences from decisions based on incorrect or misused model outputs and reports”</a:t>
            </a:r>
          </a:p>
          <a:p>
            <a:r>
              <a:rPr lang="en-CA" sz="2800" dirty="0"/>
              <a:t>Model risk can arise from </a:t>
            </a:r>
          </a:p>
          <a:p>
            <a:pPr lvl="1"/>
            <a:r>
              <a:rPr lang="en-CA" sz="2400" dirty="0"/>
              <a:t>fundamental errors involving data, calculations, numerical procedures, and assumptions</a:t>
            </a:r>
          </a:p>
          <a:p>
            <a:pPr lvl="1"/>
            <a:r>
              <a:rPr lang="en-CA" sz="2400" dirty="0"/>
              <a:t>Inappropriate use of the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07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SR 11-7 </a:t>
            </a:r>
            <a:r>
              <a:rPr lang="en-CA" sz="24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SR11-7 contains directives on </a:t>
            </a:r>
          </a:p>
          <a:p>
            <a:pPr lvl="1"/>
            <a:r>
              <a:rPr lang="en-CA" dirty="0"/>
              <a:t>Model development, testing, and documentation</a:t>
            </a:r>
          </a:p>
          <a:p>
            <a:pPr lvl="1"/>
            <a:r>
              <a:rPr lang="en-CA" dirty="0"/>
              <a:t>The role of model validation groups</a:t>
            </a:r>
          </a:p>
          <a:p>
            <a:pPr lvl="1"/>
            <a:r>
              <a:rPr lang="en-CA" dirty="0"/>
              <a:t>The use of vendor models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5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Finance vs Physics </a:t>
            </a:r>
            <a:r>
              <a:rPr lang="en-US" altLang="en-US" sz="2400" dirty="0"/>
              <a:t>(Section 22.2)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models of physics describe physical processes and are highly accurate. Their parameters do not change through time.</a:t>
            </a:r>
          </a:p>
          <a:p>
            <a:pPr eaLnBrk="1" hangingPunct="1"/>
            <a:r>
              <a:rPr lang="en-US" altLang="en-US"/>
              <a:t>The models of finance describe human behavior. They are at best approximations. Parameters do change through time</a:t>
            </a:r>
          </a:p>
        </p:txBody>
      </p:sp>
      <p:sp>
        <p:nvSpPr>
          <p:cNvPr id="1741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929193-518C-419C-8A65-DE851F23AFB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Linear Products </a:t>
            </a:r>
            <a:endParaRPr lang="en-CA" altLang="en-US" sz="240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Very little uncertainty about the right model</a:t>
            </a:r>
          </a:p>
          <a:p>
            <a:pPr eaLnBrk="1" hangingPunct="1"/>
            <a:r>
              <a:rPr lang="en-US" altLang="en-US" dirty="0"/>
              <a:t>But mistakes do happen. For example…</a:t>
            </a:r>
          </a:p>
          <a:p>
            <a:pPr lvl="1" eaLnBrk="1" hangingPunct="1"/>
            <a:r>
              <a:rPr lang="en-US" altLang="en-US" dirty="0"/>
              <a:t>Kidder Peabody (Business Snapshot 22.2)</a:t>
            </a:r>
          </a:p>
          <a:p>
            <a:pPr lvl="1" eaLnBrk="1" hangingPunct="1"/>
            <a:r>
              <a:rPr lang="en-US" altLang="en-US" dirty="0"/>
              <a:t>In Arrears Swaps (Business Snapshot 22.3)</a:t>
            </a:r>
          </a:p>
          <a:p>
            <a:pPr eaLnBrk="1" hangingPunct="1"/>
            <a:r>
              <a:rPr lang="en-US" altLang="en-US" dirty="0"/>
              <a:t>It is important to monitor trading patterns. Getting a lot of business of a certain type can indicate that your models are wrong.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CA" altLang="en-US" dirty="0"/>
          </a:p>
        </p:txBody>
      </p:sp>
      <p:sp>
        <p:nvSpPr>
          <p:cNvPr id="2048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5E2166-77BC-4EA9-B576-DF3A58591A8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Models for Pricing Actively Traded products</a:t>
            </a:r>
            <a:endParaRPr lang="en-US" altLang="en-US" sz="24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do not need usually a model to know the price of an actively traded product. The market tells us the price.</a:t>
            </a:r>
          </a:p>
          <a:p>
            <a:pPr eaLnBrk="1" hangingPunct="1"/>
            <a:r>
              <a:rPr lang="en-US" altLang="en-US"/>
              <a:t>The model is a communication tool (e.g., implied volatilities are quoted for options)</a:t>
            </a:r>
          </a:p>
          <a:p>
            <a:pPr eaLnBrk="1" hangingPunct="1"/>
            <a:r>
              <a:rPr lang="en-US" altLang="en-US"/>
              <a:t>It is also an interpolation tool (e.g., a tool for interpolating between strike prices and maturities.</a:t>
            </a:r>
          </a:p>
        </p:txBody>
      </p:sp>
      <p:sp>
        <p:nvSpPr>
          <p:cNvPr id="2150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ADD11F-5C68-4370-BE4B-45E5792F25D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Procedure</a:t>
            </a:r>
          </a:p>
        </p:txBody>
      </p:sp>
      <p:sp>
        <p:nvSpPr>
          <p:cNvPr id="1945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8F2D87-27F2-4BB6-83F5-B41FF54AE5F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2428875" y="2071688"/>
            <a:ext cx="3214688" cy="6477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Observe model prices for similar instruments that trade</a:t>
            </a: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2500313" y="3286125"/>
            <a:ext cx="3071812" cy="6477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Imply model parameters. Interpolate as appropriate</a:t>
            </a:r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2500313" y="4643438"/>
            <a:ext cx="3071812" cy="369887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Value new instrument</a:t>
            </a:r>
          </a:p>
        </p:txBody>
      </p:sp>
      <p:cxnSp>
        <p:nvCxnSpPr>
          <p:cNvPr id="19464" name="Straight Arrow Connector 13"/>
          <p:cNvCxnSpPr>
            <a:cxnSpLocks noChangeShapeType="1"/>
            <a:stCxn id="19462" idx="2"/>
            <a:endCxn id="19463" idx="0"/>
          </p:cNvCxnSpPr>
          <p:nvPr/>
        </p:nvCxnSpPr>
        <p:spPr bwMode="auto">
          <a:xfrm rot="5400000">
            <a:off x="3680619" y="4288631"/>
            <a:ext cx="711200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5" name="Straight Arrow Connector 19"/>
          <p:cNvCxnSpPr>
            <a:cxnSpLocks noChangeShapeType="1"/>
            <a:stCxn id="19461" idx="2"/>
            <a:endCxn id="19462" idx="0"/>
          </p:cNvCxnSpPr>
          <p:nvPr/>
        </p:nvCxnSpPr>
        <p:spPr bwMode="auto">
          <a:xfrm rot="5400000">
            <a:off x="3752850" y="3001963"/>
            <a:ext cx="566737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22238"/>
            <a:ext cx="7849567" cy="12954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dirty="0"/>
              <a:t>Example of a Volatility Surface for Actively Traded Options on an Exchange Rate</a:t>
            </a:r>
            <a:br>
              <a:rPr lang="en-US" altLang="en-US" dirty="0"/>
            </a:br>
            <a:r>
              <a:rPr lang="en-US" altLang="en-US" sz="2200" dirty="0"/>
              <a:t>(Table 22.1)</a:t>
            </a:r>
            <a:endParaRPr lang="en-US" altLang="en-US" dirty="0"/>
          </a:p>
        </p:txBody>
      </p:sp>
      <p:graphicFrame>
        <p:nvGraphicFramePr>
          <p:cNvPr id="26628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4271855"/>
              </p:ext>
            </p:extLst>
          </p:nvPr>
        </p:nvGraphicFramePr>
        <p:xfrm>
          <a:off x="1835696" y="2708920"/>
          <a:ext cx="5112792" cy="3460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4" imgW="6086856" imgH="5507736" progId="Word.Document.8">
                  <p:embed/>
                </p:oleObj>
              </mc:Choice>
              <mc:Fallback>
                <p:oleObj name="Document" r:id="rId4" imgW="6086856" imgH="5507736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708920"/>
                        <a:ext cx="5112792" cy="3460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D8D810-7BAA-468F-9403-30D02C2F6FC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  <p:sp>
        <p:nvSpPr>
          <p:cNvPr id="2" name="TextBox 1"/>
          <p:cNvSpPr txBox="1"/>
          <p:nvPr/>
        </p:nvSpPr>
        <p:spPr>
          <a:xfrm>
            <a:off x="683568" y="1628800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How would you price a 1.5 year option with a strike price of 0.92?</a:t>
            </a:r>
            <a:endParaRPr lang="en-C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risk for Actively Traded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Little pricing risk in most cases</a:t>
            </a:r>
          </a:p>
          <a:p>
            <a:r>
              <a:rPr lang="en-CA" dirty="0"/>
              <a:t>Hedging performance can depend on the model used and should be carefully investigated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414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P&amp;L Decomposition </a:t>
            </a:r>
            <a:r>
              <a:rPr lang="en-US" altLang="en-US" sz="2400" dirty="0"/>
              <a:t>(Section 22.4.3)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Distinguishes between:</a:t>
            </a:r>
          </a:p>
          <a:p>
            <a:pPr eaLnBrk="1" hangingPunct="1"/>
            <a:r>
              <a:rPr lang="en-US" altLang="en-US"/>
              <a:t>P&amp;L changes from risks that were unhedged</a:t>
            </a:r>
          </a:p>
          <a:p>
            <a:pPr eaLnBrk="1" hangingPunct="1"/>
            <a:r>
              <a:rPr lang="en-US" altLang="en-US"/>
              <a:t>P&amp;L changes from the hedging model being imperfect</a:t>
            </a:r>
          </a:p>
          <a:p>
            <a:pPr eaLnBrk="1" hangingPunct="1"/>
            <a:r>
              <a:rPr lang="en-US" altLang="en-US"/>
              <a:t>P&amp;L changes from new trades done during day</a:t>
            </a:r>
          </a:p>
        </p:txBody>
      </p:sp>
      <p:sp>
        <p:nvSpPr>
          <p:cNvPr id="2970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9CC591-51DE-4AAA-89B2-04DB2F20097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Models for Less Actively Traded Products </a:t>
            </a:r>
            <a:r>
              <a:rPr lang="en-US" altLang="en-US" sz="2400" dirty="0"/>
              <a:t>(Section 22.5)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In the case of less actively traded products, models play a key role in both pricing and hedging</a:t>
            </a:r>
          </a:p>
        </p:txBody>
      </p:sp>
      <p:sp>
        <p:nvSpPr>
          <p:cNvPr id="3072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7B7F40-EF6A-44A5-BB7B-9D50ADB518C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Pricing Risk for Less Actively Traded Instruments</a:t>
            </a:r>
            <a:endParaRPr lang="en-US" altLang="en-US" dirty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411662"/>
          </a:xfrm>
        </p:spPr>
        <p:txBody>
          <a:bodyPr/>
          <a:lstStyle/>
          <a:p>
            <a:pPr lvl="1"/>
            <a:r>
              <a:rPr lang="en-CA" altLang="en-US" dirty="0"/>
              <a:t>Use more than one model for pricing.</a:t>
            </a:r>
          </a:p>
          <a:p>
            <a:pPr lvl="1"/>
            <a:r>
              <a:rPr lang="en-CA" altLang="en-US" dirty="0"/>
              <a:t>Calibrate all models used to the prices of actively traded instruments </a:t>
            </a:r>
          </a:p>
          <a:p>
            <a:pPr lvl="1"/>
            <a:r>
              <a:rPr lang="en-CA" altLang="en-US" dirty="0"/>
              <a:t>Create reserve accounts so that profits are not recognized immediately</a:t>
            </a:r>
          </a:p>
          <a:p>
            <a:pPr lvl="1"/>
            <a:r>
              <a:rPr lang="en-CA" altLang="en-US" dirty="0"/>
              <a:t>Use weighted Monte Carlo to determine the range of models that price actively traded standard instruments consistently with the market. </a:t>
            </a:r>
            <a:endParaRPr lang="en-US" altLang="en-US" dirty="0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22,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921FFA-9421-48B8-991A-BD4706EFFEB0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Marking the Prices of an Instrument to Market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prices quoted by market maker</a:t>
            </a:r>
          </a:p>
          <a:p>
            <a:pPr eaLnBrk="1" hangingPunct="1"/>
            <a:r>
              <a:rPr lang="en-US" altLang="en-US"/>
              <a:t>Use price at which financial institution has traded product</a:t>
            </a:r>
          </a:p>
          <a:p>
            <a:pPr eaLnBrk="1" hangingPunct="1"/>
            <a:r>
              <a:rPr lang="en-US" altLang="en-US"/>
              <a:t>Use prices from SEFs or interdealer brokers</a:t>
            </a:r>
          </a:p>
          <a:p>
            <a:pPr eaLnBrk="1" hangingPunct="1"/>
            <a:r>
              <a:rPr lang="en-US" altLang="en-US"/>
              <a:t>Use price indications</a:t>
            </a:r>
          </a:p>
          <a:p>
            <a:pPr eaLnBrk="1" hangingPunct="1"/>
            <a:r>
              <a:rPr lang="en-US" altLang="en-US"/>
              <a:t>Use model (marking to model)</a:t>
            </a:r>
          </a:p>
          <a:p>
            <a:pPr eaLnBrk="1" hangingPunct="1"/>
            <a:endParaRPr lang="en-US" altLang="en-US"/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E9352F-F431-4595-A4E2-5D4A7102F57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Accounting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FASB 157 and IASB 39 classify instruments as “held for sale” or “held to maturity” </a:t>
            </a:r>
          </a:p>
          <a:p>
            <a:pPr eaLnBrk="1" hangingPunct="1"/>
            <a:r>
              <a:rPr lang="en-US" altLang="en-US" sz="2800"/>
              <a:t>Those classified as held for sale have to be marked to market</a:t>
            </a:r>
          </a:p>
          <a:p>
            <a:pPr lvl="1" eaLnBrk="1" hangingPunct="1"/>
            <a:r>
              <a:rPr lang="en-US" altLang="en-US" sz="2400"/>
              <a:t>Level 1: uses quoted prices in active markets</a:t>
            </a:r>
          </a:p>
          <a:p>
            <a:pPr lvl="1" eaLnBrk="1" hangingPunct="1"/>
            <a:r>
              <a:rPr lang="en-US" altLang="en-US" sz="2400"/>
              <a:t>Level 2: uses quoted prices for similar product in active markets or same product in non-active markets</a:t>
            </a:r>
          </a:p>
          <a:p>
            <a:pPr lvl="1" eaLnBrk="1" hangingPunct="1"/>
            <a:r>
              <a:rPr lang="en-US" altLang="en-US" sz="2400"/>
              <a:t>Level 3: requires valuation assumptions </a:t>
            </a: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0FAC20-B4E4-41E8-971A-0BA35229663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22,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Model Building Missteps </a:t>
            </a:r>
            <a:r>
              <a:rPr lang="en-US" altLang="en-US" sz="2400" dirty="0"/>
              <a:t>(Section 22.8)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Overfitting</a:t>
            </a:r>
          </a:p>
          <a:p>
            <a:pPr eaLnBrk="1" hangingPunct="1"/>
            <a:r>
              <a:rPr lang="en-US" altLang="en-US" dirty="0" err="1"/>
              <a:t>Overparametrization</a:t>
            </a:r>
            <a:endParaRPr lang="en-US" altLang="en-US" dirty="0"/>
          </a:p>
          <a:p>
            <a:pPr eaLnBrk="1" hangingPunct="1"/>
            <a:r>
              <a:rPr lang="en-US" altLang="en-US" dirty="0"/>
              <a:t>Making the model so complicated that the intended user will not be able to use it </a:t>
            </a:r>
          </a:p>
          <a:p>
            <a:pPr eaLnBrk="1" hangingPunct="1"/>
            <a:r>
              <a:rPr lang="en-US" altLang="en-US" dirty="0"/>
              <a:t>Black-Scholes has been successful because it is a simple interpolation tool that structures the trader’s thinking about the market</a:t>
            </a:r>
          </a:p>
        </p:txBody>
      </p:sp>
      <p:sp>
        <p:nvSpPr>
          <p:cNvPr id="3379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6B33B6-F06F-4EE2-A1FE-A5C31B54A4F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38D10C-A583-47E2-9E24-D467D35F014B}"/>
</file>

<file path=customXml/itemProps2.xml><?xml version="1.0" encoding="utf-8"?>
<ds:datastoreItem xmlns:ds="http://schemas.openxmlformats.org/officeDocument/2006/customXml" ds:itemID="{677E05EF-DE10-4BE1-96C2-38321DEF8831}"/>
</file>

<file path=customXml/itemProps3.xml><?xml version="1.0" encoding="utf-8"?>
<ds:datastoreItem xmlns:ds="http://schemas.openxmlformats.org/officeDocument/2006/customXml" ds:itemID="{47B64646-3E20-46F3-B9A3-F81789146631}"/>
</file>

<file path=docProps/app.xml><?xml version="1.0" encoding="utf-8"?>
<Properties xmlns="http://schemas.openxmlformats.org/officeDocument/2006/extended-properties" xmlns:vt="http://schemas.openxmlformats.org/officeDocument/2006/docPropsVTypes">
  <Template>HullRMFICh14</Template>
  <TotalTime>636</TotalTime>
  <Words>938</Words>
  <Application>Microsoft Office PowerPoint</Application>
  <PresentationFormat>On-screen Show (4:3)</PresentationFormat>
  <Paragraphs>109</Paragraphs>
  <Slides>16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Times New Roman</vt:lpstr>
      <vt:lpstr>Wingdings</vt:lpstr>
      <vt:lpstr>HullRMFICh12</vt:lpstr>
      <vt:lpstr>Document</vt:lpstr>
      <vt:lpstr>Model Risk Management</vt:lpstr>
      <vt:lpstr>Uses of Models</vt:lpstr>
      <vt:lpstr>SR 11-7</vt:lpstr>
      <vt:lpstr>SR 11-7 continued</vt:lpstr>
      <vt:lpstr>Finance vs Physics (Section 22.2)</vt:lpstr>
      <vt:lpstr>Linear Products </vt:lpstr>
      <vt:lpstr>Models for Pricing Actively Traded products</vt:lpstr>
      <vt:lpstr>The Procedure</vt:lpstr>
      <vt:lpstr>Example of a Volatility Surface for Actively Traded Options on an Exchange Rate (Table 22.1)</vt:lpstr>
      <vt:lpstr>Model risk for Actively Traded Products</vt:lpstr>
      <vt:lpstr>P&amp;L Decomposition (Section 22.4.3)</vt:lpstr>
      <vt:lpstr>Models for Less Actively Traded Products (Section 22.5)</vt:lpstr>
      <vt:lpstr>Pricing Risk for Less Actively Traded Instruments</vt:lpstr>
      <vt:lpstr>Marking the Prices of an Instrument to Market</vt:lpstr>
      <vt:lpstr>Accounting</vt:lpstr>
      <vt:lpstr>Model Building Missteps (Section 22.8)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25</dc:subject>
  <dc:creator>John Hull</dc:creator>
  <cp:keywords>5th Edition</cp:keywords>
  <dc:description>Copyright 2018 by John Hull._x000d_
All rights reserved.</dc:description>
  <cp:lastModifiedBy>John Hull</cp:lastModifiedBy>
  <cp:revision>48</cp:revision>
  <dcterms:created xsi:type="dcterms:W3CDTF">2002-03-17T23:57:27Z</dcterms:created>
  <dcterms:modified xsi:type="dcterms:W3CDTF">2022-12-01T21:26:14Z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