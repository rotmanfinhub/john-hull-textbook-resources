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23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3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9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2" r:id="rId1"/>
  </p:sldMasterIdLst>
  <p:notesMasterIdLst>
    <p:notesMasterId r:id="rId26"/>
  </p:notesMasterIdLst>
  <p:sldIdLst>
    <p:sldId id="256" r:id="rId2"/>
    <p:sldId id="280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81" r:id="rId17"/>
    <p:sldId id="276" r:id="rId18"/>
    <p:sldId id="282" r:id="rId19"/>
    <p:sldId id="277" r:id="rId20"/>
    <p:sldId id="278" r:id="rId21"/>
    <p:sldId id="279" r:id="rId22"/>
    <p:sldId id="273" r:id="rId23"/>
    <p:sldId id="274" r:id="rId24"/>
    <p:sldId id="283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2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EA55923-A622-4715-BF63-87928670DA14}" type="datetimeFigureOut">
              <a:rPr lang="en-US"/>
              <a:pPr>
                <a:defRPr/>
              </a:pPr>
              <a:t>9/30/2020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2CECE57-5181-42B4-B1B9-97B26EC1F3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2027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7A94D43-13DF-45E6-8750-EE88194B0EEA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636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73750D5-6600-4A39-BDC0-CD72DD93294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14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BE52DEB-96B1-4ED0-9539-C09BD7EF6B5B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804739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ABE9F7C-B70C-40C2-BABD-83B19D324967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721088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87FEACE-38A2-4ADF-9D36-0CF9235F5C0C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038968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4EFD117-1866-4D13-821A-B1AE5ED8D6F8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9639007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209A605-104F-4185-9EA9-DB9B8A38080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 smtClean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2270138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E39BE6A-DB8A-42A7-99ED-0C1978459C2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 smtClean="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5942077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C2DCA55-BA3B-4430-AD84-75C7F9B23666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 smtClean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0764334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1D66D6-931D-40D4-9309-7023C4EEEA6D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4059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224FC3C-0B4A-422A-8EC7-0994A36B0A93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494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C28D1DA-959A-4141-8EED-79C98946885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US" smtClean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3435829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D13FBAF-1155-4790-9EAC-18F6AE57556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US" smtClean="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4881592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7591882-FA77-4BF2-94D6-147FF5D9F905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n-US" smtClean="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5098816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503DF2D-3B1D-489F-B2DB-7E45809DA14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n-US" smtClean="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3950438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46DA89A-28A7-4E94-8FB1-9558D41D765B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3088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C6085DB-50CD-42AD-970D-872AAADECAE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n-US" smtClean="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5396695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C404E75-E8E8-430B-B3FA-0BFE13062ED2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0371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D3CC629-27AC-4D63-8D1D-C5DE7B716AA5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19</a:t>
            </a:fld>
            <a:endParaRPr lang="en-US" smtClean="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7507518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0FFAFDF-A63A-4EB3-BC48-481DBABE0620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</a:t>
            </a:fld>
            <a:endParaRPr lang="en-US" smtClean="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372608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E0880C5-8257-4C12-BE26-BBB1D07CE8D7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US" smtClean="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07417503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66B87D-61CE-41AB-9089-1C7A340E69F0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US" smtClean="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150784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A85DC36-9674-434C-B574-0E038A4DC3EC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23</a:t>
            </a:fld>
            <a:endParaRPr lang="en-US" smtClean="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034621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4848 w 4848"/>
                  <a:gd name="T1" fmla="*/ 432 h 432"/>
                  <a:gd name="T2" fmla="*/ 0 w 4848"/>
                  <a:gd name="T3" fmla="*/ 432 h 432"/>
                  <a:gd name="T4" fmla="*/ 0 w 4848"/>
                  <a:gd name="T5" fmla="*/ 0 h 432"/>
                  <a:gd name="T6" fmla="*/ 4848 w 4848"/>
                  <a:gd name="T7" fmla="*/ 0 h 432"/>
                  <a:gd name="T8" fmla="*/ 4848 w 4848"/>
                  <a:gd name="T9" fmla="*/ 4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69DD28C-59D5-4BAE-9024-2DC879F930E5}" type="datetime1">
              <a:rPr lang="en-US" smtClean="0"/>
              <a:t>9/30/2020</a:t>
            </a:fld>
            <a:endParaRPr 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2057400" y="6324600"/>
            <a:ext cx="43434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 11th  Edition, Copyright © John  C. Hull 2021</a:t>
            </a:r>
            <a:endParaRPr lang="en-US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997129-8891-40C1-BF90-4C406D2CDB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655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87E2E64-7F6F-47EF-9975-41D64A87D24B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 11th  Edition, Copyright © John  C. Hull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CC6A64-D704-4F89-9C09-1694D09196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94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FA1652-DDC7-4031-9745-01E889ED1259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 Edition, Copyright © John 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4BC06C-8F2D-46D3-A125-9809706D3E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477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3921B2-CEA4-4A98-BC27-8499AA4ED1DC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 Edition, Copyright © John 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CF9777-6515-4CCE-8BDF-860DDBFC3C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93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A438F3-6BD1-4E7D-9098-37E87A6933FB}" type="datetime1">
              <a:rPr lang="en-US" smtClean="0"/>
              <a:t>9/30/2020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 Edition, Copyright © John  C. Hull 2021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47DF2F-5506-4320-9022-FD64E6D926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373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DC59D4-AA8F-4AD6-9167-E3E1FABE1C18}" type="datetime1">
              <a:rPr lang="en-US" smtClean="0"/>
              <a:t>9/30/2020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 11th  Edition, Copyright © John 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488AE-3CA6-4AC5-8E2C-D571DB75F5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755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E773C6-3059-4625-85E3-8E992754B6BF}" type="datetime1">
              <a:rPr lang="en-US" smtClean="0"/>
              <a:t>9/30/2020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 Edition, Copyright © John  C. Hull 2021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86D2CE-D420-4961-8B8A-7F7E7E93BD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820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4E0996-C3F2-4814-A841-1E832C30A2EB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 Edition, Copyright © John 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DA612A-8B8F-4C50-9516-ACCBAF262D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039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688F61-5D5B-48B1-8F17-7971AB0D5C28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 Edition, Copyright © John 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CCCEC6-F476-4C10-ABE1-A2FE76D02F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768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139B93-AFF8-44A9-B4D7-1430A32C935E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 Edition, Copyright © John 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21330E-AF33-41A9-9334-C7C16D0B71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1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919AC-E57C-4218-9149-6CB71938FEC0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 11th  Edition, Copyright © John 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86CD33-56B9-4902-9549-FB6AFD9FD61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438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29516E5-551F-43CD-B30B-5D3FA46A7CBA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0825" y="6248400"/>
            <a:ext cx="7561263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 11th  Edition, Copyright © John  C. Hull 2021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A23CD5-43E4-463B-8C92-7C9F33AF47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9692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EE45DF8-2893-4432-BC0D-1AAD24977102}" type="datetime1">
              <a:rPr lang="en-US" smtClean="0"/>
              <a:t>9/30/2020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50825" y="6248400"/>
            <a:ext cx="7561263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 11th  Edition, Copyright © John  C. Hull 2021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DE8960-8D47-4FA9-9F7F-179C32FDD3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055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fld id="{AF0AF5FB-4E19-45B4-BE46-5B1712127633}" type="datetime1">
              <a:rPr lang="en-US" smtClean="0"/>
              <a:t>9/30/2020</a:t>
            </a:fld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667000" y="6324600"/>
            <a:ext cx="441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smtClean="0"/>
              <a:t>Options, Futures, and Other Derivatives,  11th  Edition, Copyright © John  C. Hull 2021</a:t>
            </a: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EF75769-631B-4800-90E8-085E4F1783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5 w 15"/>
                      <a:gd name="T1" fmla="*/ 11 h 23"/>
                      <a:gd name="T2" fmla="*/ 15 w 15"/>
                      <a:gd name="T3" fmla="*/ 5 h 23"/>
                      <a:gd name="T4" fmla="*/ 13 w 15"/>
                      <a:gd name="T5" fmla="*/ 17 h 23"/>
                      <a:gd name="T6" fmla="*/ 5 w 15"/>
                      <a:gd name="T7" fmla="*/ 11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3 w 20"/>
                      <a:gd name="T1" fmla="*/ 13 h 23"/>
                      <a:gd name="T2" fmla="*/ 11 w 20"/>
                      <a:gd name="T3" fmla="*/ 3 h 23"/>
                      <a:gd name="T4" fmla="*/ 7 w 20"/>
                      <a:gd name="T5" fmla="*/ 19 h 23"/>
                      <a:gd name="T6" fmla="*/ 3 w 20"/>
                      <a:gd name="T7" fmla="*/ 13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8 w 26"/>
                      <a:gd name="T1" fmla="*/ 14 h 22"/>
                      <a:gd name="T2" fmla="*/ 14 w 26"/>
                      <a:gd name="T3" fmla="*/ 0 h 22"/>
                      <a:gd name="T4" fmla="*/ 14 w 26"/>
                      <a:gd name="T5" fmla="*/ 22 h 22"/>
                      <a:gd name="T6" fmla="*/ 8 w 26"/>
                      <a:gd name="T7" fmla="*/ 14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21 w 471"/>
                      <a:gd name="T1" fmla="*/ 280 h 281"/>
                      <a:gd name="T2" fmla="*/ 24 w 471"/>
                      <a:gd name="T3" fmla="*/ 250 h 281"/>
                      <a:gd name="T4" fmla="*/ 22 w 471"/>
                      <a:gd name="T5" fmla="*/ 245 h 281"/>
                      <a:gd name="T6" fmla="*/ 16 w 471"/>
                      <a:gd name="T7" fmla="*/ 218 h 281"/>
                      <a:gd name="T8" fmla="*/ 4 w 471"/>
                      <a:gd name="T9" fmla="*/ 215 h 281"/>
                      <a:gd name="T10" fmla="*/ 0 w 471"/>
                      <a:gd name="T11" fmla="*/ 191 h 281"/>
                      <a:gd name="T12" fmla="*/ 12 w 471"/>
                      <a:gd name="T13" fmla="*/ 180 h 281"/>
                      <a:gd name="T14" fmla="*/ 6 w 471"/>
                      <a:gd name="T15" fmla="*/ 165 h 281"/>
                      <a:gd name="T16" fmla="*/ 2 w 471"/>
                      <a:gd name="T17" fmla="*/ 160 h 281"/>
                      <a:gd name="T18" fmla="*/ 28 w 471"/>
                      <a:gd name="T19" fmla="*/ 120 h 281"/>
                      <a:gd name="T20" fmla="*/ 44 w 471"/>
                      <a:gd name="T21" fmla="*/ 96 h 281"/>
                      <a:gd name="T22" fmla="*/ 42 w 471"/>
                      <a:gd name="T23" fmla="*/ 70 h 281"/>
                      <a:gd name="T24" fmla="*/ 24 w 471"/>
                      <a:gd name="T25" fmla="*/ 43 h 281"/>
                      <a:gd name="T26" fmla="*/ 20 w 471"/>
                      <a:gd name="T27" fmla="*/ 32 h 281"/>
                      <a:gd name="T28" fmla="*/ 26 w 471"/>
                      <a:gd name="T29" fmla="*/ 36 h 281"/>
                      <a:gd name="T30" fmla="*/ 48 w 471"/>
                      <a:gd name="T31" fmla="*/ 35 h 281"/>
                      <a:gd name="T32" fmla="*/ 64 w 471"/>
                      <a:gd name="T33" fmla="*/ 11 h 281"/>
                      <a:gd name="T34" fmla="*/ 82 w 471"/>
                      <a:gd name="T35" fmla="*/ 0 h 281"/>
                      <a:gd name="T36" fmla="*/ 88 w 471"/>
                      <a:gd name="T37" fmla="*/ 2 h 281"/>
                      <a:gd name="T38" fmla="*/ 92 w 471"/>
                      <a:gd name="T39" fmla="*/ 9 h 281"/>
                      <a:gd name="T40" fmla="*/ 98 w 471"/>
                      <a:gd name="T41" fmla="*/ 5 h 281"/>
                      <a:gd name="T42" fmla="*/ 110 w 471"/>
                      <a:gd name="T43" fmla="*/ 8 h 281"/>
                      <a:gd name="T44" fmla="*/ 116 w 471"/>
                      <a:gd name="T45" fmla="*/ 9 h 281"/>
                      <a:gd name="T46" fmla="*/ 141 w 471"/>
                      <a:gd name="T47" fmla="*/ 14 h 281"/>
                      <a:gd name="T48" fmla="*/ 155 w 471"/>
                      <a:gd name="T49" fmla="*/ 24 h 281"/>
                      <a:gd name="T50" fmla="*/ 167 w 471"/>
                      <a:gd name="T51" fmla="*/ 17 h 281"/>
                      <a:gd name="T52" fmla="*/ 173 w 471"/>
                      <a:gd name="T53" fmla="*/ 14 h 281"/>
                      <a:gd name="T54" fmla="*/ 195 w 471"/>
                      <a:gd name="T55" fmla="*/ 14 h 281"/>
                      <a:gd name="T56" fmla="*/ 211 w 471"/>
                      <a:gd name="T57" fmla="*/ 32 h 281"/>
                      <a:gd name="T58" fmla="*/ 231 w 471"/>
                      <a:gd name="T59" fmla="*/ 59 h 281"/>
                      <a:gd name="T60" fmla="*/ 245 w 471"/>
                      <a:gd name="T61" fmla="*/ 70 h 281"/>
                      <a:gd name="T62" fmla="*/ 257 w 471"/>
                      <a:gd name="T63" fmla="*/ 68 h 281"/>
                      <a:gd name="T64" fmla="*/ 270 w 471"/>
                      <a:gd name="T65" fmla="*/ 65 h 281"/>
                      <a:gd name="T66" fmla="*/ 290 w 471"/>
                      <a:gd name="T67" fmla="*/ 71 h 281"/>
                      <a:gd name="T68" fmla="*/ 300 w 471"/>
                      <a:gd name="T69" fmla="*/ 81 h 281"/>
                      <a:gd name="T70" fmla="*/ 308 w 471"/>
                      <a:gd name="T71" fmla="*/ 90 h 281"/>
                      <a:gd name="T72" fmla="*/ 318 w 471"/>
                      <a:gd name="T73" fmla="*/ 111 h 281"/>
                      <a:gd name="T74" fmla="*/ 322 w 471"/>
                      <a:gd name="T75" fmla="*/ 120 h 281"/>
                      <a:gd name="T76" fmla="*/ 324 w 471"/>
                      <a:gd name="T77" fmla="*/ 125 h 281"/>
                      <a:gd name="T78" fmla="*/ 310 w 471"/>
                      <a:gd name="T79" fmla="*/ 142 h 281"/>
                      <a:gd name="T80" fmla="*/ 322 w 471"/>
                      <a:gd name="T81" fmla="*/ 141 h 281"/>
                      <a:gd name="T82" fmla="*/ 342 w 471"/>
                      <a:gd name="T83" fmla="*/ 155 h 281"/>
                      <a:gd name="T84" fmla="*/ 364 w 471"/>
                      <a:gd name="T85" fmla="*/ 157 h 281"/>
                      <a:gd name="T86" fmla="*/ 380 w 471"/>
                      <a:gd name="T87" fmla="*/ 168 h 281"/>
                      <a:gd name="T88" fmla="*/ 382 w 471"/>
                      <a:gd name="T89" fmla="*/ 172 h 281"/>
                      <a:gd name="T90" fmla="*/ 382 w 471"/>
                      <a:gd name="T91" fmla="*/ 176 h 281"/>
                      <a:gd name="T92" fmla="*/ 394 w 471"/>
                      <a:gd name="T93" fmla="*/ 172 h 281"/>
                      <a:gd name="T94" fmla="*/ 400 w 471"/>
                      <a:gd name="T95" fmla="*/ 171 h 281"/>
                      <a:gd name="T96" fmla="*/ 439 w 471"/>
                      <a:gd name="T97" fmla="*/ 185 h 281"/>
                      <a:gd name="T98" fmla="*/ 447 w 471"/>
                      <a:gd name="T99" fmla="*/ 199 h 281"/>
                      <a:gd name="T100" fmla="*/ 465 w 471"/>
                      <a:gd name="T101" fmla="*/ 201 h 281"/>
                      <a:gd name="T102" fmla="*/ 471 w 471"/>
                      <a:gd name="T103" fmla="*/ 215 h 281"/>
                      <a:gd name="T104" fmla="*/ 451 w 471"/>
                      <a:gd name="T105" fmla="*/ 258 h 281"/>
                      <a:gd name="T106" fmla="*/ 435 w 471"/>
                      <a:gd name="T107" fmla="*/ 28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406 w 984"/>
                      <a:gd name="T1" fmla="*/ 6 h 844"/>
                      <a:gd name="T2" fmla="*/ 502 w 984"/>
                      <a:gd name="T3" fmla="*/ 34 h 844"/>
                      <a:gd name="T4" fmla="*/ 550 w 984"/>
                      <a:gd name="T5" fmla="*/ 38 h 844"/>
                      <a:gd name="T6" fmla="*/ 578 w 984"/>
                      <a:gd name="T7" fmla="*/ 130 h 844"/>
                      <a:gd name="T8" fmla="*/ 586 w 984"/>
                      <a:gd name="T9" fmla="*/ 90 h 844"/>
                      <a:gd name="T10" fmla="*/ 606 w 984"/>
                      <a:gd name="T11" fmla="*/ 70 h 844"/>
                      <a:gd name="T12" fmla="*/ 642 w 984"/>
                      <a:gd name="T13" fmla="*/ 126 h 844"/>
                      <a:gd name="T14" fmla="*/ 682 w 984"/>
                      <a:gd name="T15" fmla="*/ 98 h 844"/>
                      <a:gd name="T16" fmla="*/ 706 w 984"/>
                      <a:gd name="T17" fmla="*/ 86 h 844"/>
                      <a:gd name="T18" fmla="*/ 762 w 984"/>
                      <a:gd name="T19" fmla="*/ 2 h 844"/>
                      <a:gd name="T20" fmla="*/ 798 w 984"/>
                      <a:gd name="T21" fmla="*/ 70 h 844"/>
                      <a:gd name="T22" fmla="*/ 798 w 984"/>
                      <a:gd name="T23" fmla="*/ 130 h 844"/>
                      <a:gd name="T24" fmla="*/ 790 w 984"/>
                      <a:gd name="T25" fmla="*/ 158 h 844"/>
                      <a:gd name="T26" fmla="*/ 766 w 984"/>
                      <a:gd name="T27" fmla="*/ 162 h 844"/>
                      <a:gd name="T28" fmla="*/ 762 w 984"/>
                      <a:gd name="T29" fmla="*/ 186 h 844"/>
                      <a:gd name="T30" fmla="*/ 802 w 984"/>
                      <a:gd name="T31" fmla="*/ 226 h 844"/>
                      <a:gd name="T32" fmla="*/ 786 w 984"/>
                      <a:gd name="T33" fmla="*/ 322 h 844"/>
                      <a:gd name="T34" fmla="*/ 830 w 984"/>
                      <a:gd name="T35" fmla="*/ 414 h 844"/>
                      <a:gd name="T36" fmla="*/ 854 w 984"/>
                      <a:gd name="T37" fmla="*/ 450 h 844"/>
                      <a:gd name="T38" fmla="*/ 830 w 984"/>
                      <a:gd name="T39" fmla="*/ 450 h 844"/>
                      <a:gd name="T40" fmla="*/ 746 w 984"/>
                      <a:gd name="T41" fmla="*/ 378 h 844"/>
                      <a:gd name="T42" fmla="*/ 678 w 984"/>
                      <a:gd name="T43" fmla="*/ 402 h 844"/>
                      <a:gd name="T44" fmla="*/ 590 w 984"/>
                      <a:gd name="T45" fmla="*/ 442 h 844"/>
                      <a:gd name="T46" fmla="*/ 642 w 984"/>
                      <a:gd name="T47" fmla="*/ 578 h 844"/>
                      <a:gd name="T48" fmla="*/ 710 w 984"/>
                      <a:gd name="T49" fmla="*/ 610 h 844"/>
                      <a:gd name="T50" fmla="*/ 738 w 984"/>
                      <a:gd name="T51" fmla="*/ 550 h 844"/>
                      <a:gd name="T52" fmla="*/ 774 w 984"/>
                      <a:gd name="T53" fmla="*/ 570 h 844"/>
                      <a:gd name="T54" fmla="*/ 766 w 984"/>
                      <a:gd name="T55" fmla="*/ 630 h 844"/>
                      <a:gd name="T56" fmla="*/ 802 w 984"/>
                      <a:gd name="T57" fmla="*/ 670 h 844"/>
                      <a:gd name="T58" fmla="*/ 838 w 984"/>
                      <a:gd name="T59" fmla="*/ 658 h 844"/>
                      <a:gd name="T60" fmla="*/ 922 w 984"/>
                      <a:gd name="T61" fmla="*/ 806 h 844"/>
                      <a:gd name="T62" fmla="*/ 942 w 984"/>
                      <a:gd name="T63" fmla="*/ 826 h 844"/>
                      <a:gd name="T64" fmla="*/ 874 w 984"/>
                      <a:gd name="T65" fmla="*/ 810 h 844"/>
                      <a:gd name="T66" fmla="*/ 830 w 984"/>
                      <a:gd name="T67" fmla="*/ 758 h 844"/>
                      <a:gd name="T68" fmla="*/ 778 w 984"/>
                      <a:gd name="T69" fmla="*/ 710 h 844"/>
                      <a:gd name="T70" fmla="*/ 702 w 984"/>
                      <a:gd name="T71" fmla="*/ 662 h 844"/>
                      <a:gd name="T72" fmla="*/ 614 w 984"/>
                      <a:gd name="T73" fmla="*/ 646 h 844"/>
                      <a:gd name="T74" fmla="*/ 506 w 984"/>
                      <a:gd name="T75" fmla="*/ 594 h 844"/>
                      <a:gd name="T76" fmla="*/ 462 w 984"/>
                      <a:gd name="T77" fmla="*/ 506 h 844"/>
                      <a:gd name="T78" fmla="*/ 430 w 984"/>
                      <a:gd name="T79" fmla="*/ 462 h 844"/>
                      <a:gd name="T80" fmla="*/ 382 w 984"/>
                      <a:gd name="T81" fmla="*/ 430 h 844"/>
                      <a:gd name="T82" fmla="*/ 342 w 984"/>
                      <a:gd name="T83" fmla="*/ 370 h 844"/>
                      <a:gd name="T84" fmla="*/ 354 w 984"/>
                      <a:gd name="T85" fmla="*/ 414 h 844"/>
                      <a:gd name="T86" fmla="*/ 418 w 984"/>
                      <a:gd name="T87" fmla="*/ 494 h 844"/>
                      <a:gd name="T88" fmla="*/ 422 w 984"/>
                      <a:gd name="T89" fmla="*/ 526 h 844"/>
                      <a:gd name="T90" fmla="*/ 394 w 984"/>
                      <a:gd name="T91" fmla="*/ 498 h 844"/>
                      <a:gd name="T92" fmla="*/ 354 w 984"/>
                      <a:gd name="T93" fmla="*/ 466 h 844"/>
                      <a:gd name="T94" fmla="*/ 314 w 984"/>
                      <a:gd name="T95" fmla="*/ 402 h 844"/>
                      <a:gd name="T96" fmla="*/ 266 w 984"/>
                      <a:gd name="T97" fmla="*/ 346 h 844"/>
                      <a:gd name="T98" fmla="*/ 210 w 984"/>
                      <a:gd name="T99" fmla="*/ 314 h 844"/>
                      <a:gd name="T100" fmla="*/ 154 w 984"/>
                      <a:gd name="T101" fmla="*/ 238 h 844"/>
                      <a:gd name="T102" fmla="*/ 66 w 984"/>
                      <a:gd name="T103" fmla="*/ 66 h 844"/>
                      <a:gd name="T104" fmla="*/ 34 w 984"/>
                      <a:gd name="T105" fmla="*/ 38 h 844"/>
                      <a:gd name="T106" fmla="*/ 46 w 984"/>
                      <a:gd name="T107" fmla="*/ 22 h 844"/>
                      <a:gd name="T108" fmla="*/ 102 w 984"/>
                      <a:gd name="T109" fmla="*/ 7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6 w 36"/>
                      <a:gd name="T1" fmla="*/ 28 h 48"/>
                      <a:gd name="T2" fmla="*/ 10 w 36"/>
                      <a:gd name="T3" fmla="*/ 48 h 48"/>
                      <a:gd name="T4" fmla="*/ 6 w 36"/>
                      <a:gd name="T5" fmla="*/ 28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5 h 37"/>
                      <a:gd name="T2" fmla="*/ 12 w 36"/>
                      <a:gd name="T3" fmla="*/ 1 h 37"/>
                      <a:gd name="T4" fmla="*/ 36 w 36"/>
                      <a:gd name="T5" fmla="*/ 17 h 37"/>
                      <a:gd name="T6" fmla="*/ 8 w 36"/>
                      <a:gd name="T7" fmla="*/ 17 h 37"/>
                      <a:gd name="T8" fmla="*/ 0 w 36"/>
                      <a:gd name="T9" fmla="*/ 5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49 h 96"/>
                      <a:gd name="T2" fmla="*/ 28 w 170"/>
                      <a:gd name="T3" fmla="*/ 25 h 96"/>
                      <a:gd name="T4" fmla="*/ 56 w 170"/>
                      <a:gd name="T5" fmla="*/ 21 h 96"/>
                      <a:gd name="T6" fmla="*/ 80 w 170"/>
                      <a:gd name="T7" fmla="*/ 9 h 96"/>
                      <a:gd name="T8" fmla="*/ 64 w 170"/>
                      <a:gd name="T9" fmla="*/ 25 h 96"/>
                      <a:gd name="T10" fmla="*/ 124 w 170"/>
                      <a:gd name="T11" fmla="*/ 49 h 96"/>
                      <a:gd name="T12" fmla="*/ 160 w 170"/>
                      <a:gd name="T13" fmla="*/ 65 h 96"/>
                      <a:gd name="T14" fmla="*/ 116 w 170"/>
                      <a:gd name="T15" fmla="*/ 77 h 96"/>
                      <a:gd name="T16" fmla="*/ 88 w 170"/>
                      <a:gd name="T17" fmla="*/ 57 h 96"/>
                      <a:gd name="T18" fmla="*/ 76 w 170"/>
                      <a:gd name="T19" fmla="*/ 53 h 96"/>
                      <a:gd name="T20" fmla="*/ 24 w 170"/>
                      <a:gd name="T21" fmla="*/ 41 h 96"/>
                      <a:gd name="T22" fmla="*/ 0 w 170"/>
                      <a:gd name="T23" fmla="*/ 49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52 w 138"/>
                      <a:gd name="T3" fmla="*/ 4 h 44"/>
                      <a:gd name="T4" fmla="*/ 88 w 138"/>
                      <a:gd name="T5" fmla="*/ 24 h 44"/>
                      <a:gd name="T6" fmla="*/ 112 w 138"/>
                      <a:gd name="T7" fmla="*/ 20 h 44"/>
                      <a:gd name="T8" fmla="*/ 108 w 138"/>
                      <a:gd name="T9" fmla="*/ 44 h 44"/>
                      <a:gd name="T10" fmla="*/ 64 w 138"/>
                      <a:gd name="T11" fmla="*/ 40 h 44"/>
                      <a:gd name="T12" fmla="*/ 0 w 138"/>
                      <a:gd name="T13" fmla="*/ 36 h 44"/>
                      <a:gd name="T14" fmla="*/ 28 w 138"/>
                      <a:gd name="T15" fmla="*/ 2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17 w 57"/>
                      <a:gd name="T1" fmla="*/ 25 h 42"/>
                      <a:gd name="T2" fmla="*/ 37 w 57"/>
                      <a:gd name="T3" fmla="*/ 13 h 42"/>
                      <a:gd name="T4" fmla="*/ 17 w 57"/>
                      <a:gd name="T5" fmla="*/ 25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19 w 39"/>
                      <a:gd name="T1" fmla="*/ 32 h 52"/>
                      <a:gd name="T2" fmla="*/ 19 w 39"/>
                      <a:gd name="T3" fmla="*/ 0 h 52"/>
                      <a:gd name="T4" fmla="*/ 19 w 39"/>
                      <a:gd name="T5" fmla="*/ 32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4 w 44"/>
                      <a:gd name="T1" fmla="*/ 9 h 80"/>
                      <a:gd name="T2" fmla="*/ 20 w 44"/>
                      <a:gd name="T3" fmla="*/ 33 h 80"/>
                      <a:gd name="T4" fmla="*/ 24 w 44"/>
                      <a:gd name="T5" fmla="*/ 49 h 80"/>
                      <a:gd name="T6" fmla="*/ 36 w 44"/>
                      <a:gd name="T7" fmla="*/ 53 h 80"/>
                      <a:gd name="T8" fmla="*/ 24 w 44"/>
                      <a:gd name="T9" fmla="*/ 73 h 80"/>
                      <a:gd name="T10" fmla="*/ 0 w 44"/>
                      <a:gd name="T11" fmla="*/ 21 h 80"/>
                      <a:gd name="T12" fmla="*/ 4 w 44"/>
                      <a:gd name="T13" fmla="*/ 9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220 w 323"/>
                      <a:gd name="T1" fmla="*/ 1 h 64"/>
                      <a:gd name="T2" fmla="*/ 231 w 323"/>
                      <a:gd name="T3" fmla="*/ 8 h 64"/>
                      <a:gd name="T4" fmla="*/ 235 w 323"/>
                      <a:gd name="T5" fmla="*/ 0 h 64"/>
                      <a:gd name="T6" fmla="*/ 265 w 323"/>
                      <a:gd name="T7" fmla="*/ 0 h 64"/>
                      <a:gd name="T8" fmla="*/ 287 w 323"/>
                      <a:gd name="T9" fmla="*/ 17 h 64"/>
                      <a:gd name="T10" fmla="*/ 319 w 323"/>
                      <a:gd name="T11" fmla="*/ 10 h 64"/>
                      <a:gd name="T12" fmla="*/ 314 w 323"/>
                      <a:gd name="T13" fmla="*/ 29 h 64"/>
                      <a:gd name="T14" fmla="*/ 298 w 323"/>
                      <a:gd name="T15" fmla="*/ 46 h 64"/>
                      <a:gd name="T16" fmla="*/ 295 w 323"/>
                      <a:gd name="T17" fmla="*/ 29 h 64"/>
                      <a:gd name="T18" fmla="*/ 287 w 323"/>
                      <a:gd name="T19" fmla="*/ 31 h 64"/>
                      <a:gd name="T20" fmla="*/ 279 w 323"/>
                      <a:gd name="T21" fmla="*/ 29 h 64"/>
                      <a:gd name="T22" fmla="*/ 263 w 323"/>
                      <a:gd name="T23" fmla="*/ 21 h 64"/>
                      <a:gd name="T24" fmla="*/ 228 w 323"/>
                      <a:gd name="T25" fmla="*/ 38 h 64"/>
                      <a:gd name="T26" fmla="*/ 201 w 323"/>
                      <a:gd name="T27" fmla="*/ 44 h 64"/>
                      <a:gd name="T28" fmla="*/ 212 w 323"/>
                      <a:gd name="T29" fmla="*/ 57 h 64"/>
                      <a:gd name="T30" fmla="*/ 188 w 323"/>
                      <a:gd name="T31" fmla="*/ 63 h 64"/>
                      <a:gd name="T32" fmla="*/ 169 w 323"/>
                      <a:gd name="T33" fmla="*/ 61 h 64"/>
                      <a:gd name="T34" fmla="*/ 177 w 323"/>
                      <a:gd name="T35" fmla="*/ 57 h 64"/>
                      <a:gd name="T36" fmla="*/ 171 w 323"/>
                      <a:gd name="T37" fmla="*/ 40 h 64"/>
                      <a:gd name="T38" fmla="*/ 169 w 323"/>
                      <a:gd name="T39" fmla="*/ 31 h 64"/>
                      <a:gd name="T40" fmla="*/ 158 w 323"/>
                      <a:gd name="T41" fmla="*/ 23 h 64"/>
                      <a:gd name="T42" fmla="*/ 142 w 323"/>
                      <a:gd name="T43" fmla="*/ 27 h 64"/>
                      <a:gd name="T44" fmla="*/ 134 w 323"/>
                      <a:gd name="T45" fmla="*/ 27 h 64"/>
                      <a:gd name="T46" fmla="*/ 123 w 323"/>
                      <a:gd name="T47" fmla="*/ 25 h 64"/>
                      <a:gd name="T48" fmla="*/ 83 w 323"/>
                      <a:gd name="T49" fmla="*/ 2 h 64"/>
                      <a:gd name="T50" fmla="*/ 59 w 323"/>
                      <a:gd name="T51" fmla="*/ 14 h 64"/>
                      <a:gd name="T52" fmla="*/ 1 w 323"/>
                      <a:gd name="T53" fmla="*/ 0 h 64"/>
                      <a:gd name="T54" fmla="*/ 22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05 w 300"/>
                      <a:gd name="T1" fmla="*/ 31 h 31"/>
                      <a:gd name="T2" fmla="*/ 30 w 300"/>
                      <a:gd name="T3" fmla="*/ 1 h 31"/>
                      <a:gd name="T4" fmla="*/ 285 w 300"/>
                      <a:gd name="T5" fmla="*/ 0 h 31"/>
                      <a:gd name="T6" fmla="*/ 296 w 300"/>
                      <a:gd name="T7" fmla="*/ 14 h 31"/>
                      <a:gd name="T8" fmla="*/ 264 w 300"/>
                      <a:gd name="T9" fmla="*/ 16 h 31"/>
                      <a:gd name="T10" fmla="*/ 105 w 300"/>
                      <a:gd name="T11" fmla="*/ 3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5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57" r:id="rId3"/>
    <p:sldLayoutId id="2147483858" r:id="rId4"/>
    <p:sldLayoutId id="2147483859" r:id="rId5"/>
    <p:sldLayoutId id="2147483867" r:id="rId6"/>
    <p:sldLayoutId id="2147483860" r:id="rId7"/>
    <p:sldLayoutId id="2147483861" r:id="rId8"/>
    <p:sldLayoutId id="2147483862" r:id="rId9"/>
    <p:sldLayoutId id="2147483863" r:id="rId10"/>
    <p:sldLayoutId id="2147483864" r:id="rId11"/>
    <p:sldLayoutId id="2147483868" r:id="rId12"/>
    <p:sldLayoutId id="2147483869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6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7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png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7.wmf"/><Relationship Id="rId5" Type="http://schemas.openxmlformats.org/officeDocument/2006/relationships/image" Target="../media/image3.png"/><Relationship Id="rId10" Type="http://schemas.openxmlformats.org/officeDocument/2006/relationships/oleObject" Target="../embeddings/oleObject4.bin"/><Relationship Id="rId4" Type="http://schemas.openxmlformats.org/officeDocument/2006/relationships/image" Target="../media/image2.png"/><Relationship Id="rId9" Type="http://schemas.openxmlformats.org/officeDocument/2006/relationships/image" Target="../media/image6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.png"/><Relationship Id="rId5" Type="http://schemas.openxmlformats.org/officeDocument/2006/relationships/image" Target="../media/image9.wmf"/><Relationship Id="rId4" Type="http://schemas.openxmlformats.org/officeDocument/2006/relationships/oleObject" Target="../embeddings/oleObject6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1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4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1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Chapter 17</a:t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Options on Stock Indices and Currencies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5000" y="6324600"/>
            <a:ext cx="4572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E31EE08-ABDA-4DCD-9753-80491E086FE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Index Options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)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latin typeface="Arial" charset="0"/>
                <a:cs typeface="Arial" charset="0"/>
              </a:rPr>
              <a:t>The most popular underlying indices in the U.S. are 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dirty="0" smtClean="0">
                <a:latin typeface="Arial" charset="0"/>
                <a:cs typeface="Arial" charset="0"/>
              </a:rPr>
              <a:t>The S&amp;P 100 Index (OEX and XEO)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dirty="0" smtClean="0">
                <a:latin typeface="Arial" charset="0"/>
                <a:cs typeface="Arial" charset="0"/>
              </a:rPr>
              <a:t>The S&amp;P 500 Index (SPX)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dirty="0" smtClean="0">
                <a:latin typeface="Arial" charset="0"/>
                <a:cs typeface="Arial" charset="0"/>
              </a:rPr>
              <a:t>The Dow Jones Index times 0.01 (DJX)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</a:pPr>
            <a:r>
              <a:rPr lang="en-US" altLang="en-US" dirty="0" smtClean="0">
                <a:latin typeface="Arial" charset="0"/>
                <a:cs typeface="Arial" charset="0"/>
              </a:rPr>
              <a:t>The Nasdaq 100 Index (NDX)</a:t>
            </a:r>
          </a:p>
          <a:p>
            <a:pPr lvl="1" eaLnBrk="1" hangingPunct="1">
              <a:lnSpc>
                <a:spcPct val="90000"/>
              </a:lnSpc>
              <a:buClr>
                <a:schemeClr val="tx1"/>
              </a:buClr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 smtClean="0">
                <a:latin typeface="Arial" charset="0"/>
                <a:cs typeface="Arial" charset="0"/>
              </a:rPr>
              <a:t>Exchange-traded contracts are on 100 times index; they are settled in cash; OEX is American; the XEO and all others are European</a:t>
            </a:r>
          </a:p>
        </p:txBody>
      </p:sp>
      <p:sp>
        <p:nvSpPr>
          <p:cNvPr id="81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8197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E4BC8C3-0D44-42EF-97DE-6DAA3BAE263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Index Option Example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1008063" y="1931988"/>
            <a:ext cx="6970712" cy="390207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Consider a call option on an index with a strike price of 880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Suppose 1 contract is exercised  when the index level is 900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What is the payoff?</a:t>
            </a:r>
          </a:p>
        </p:txBody>
      </p:sp>
      <p:sp>
        <p:nvSpPr>
          <p:cNvPr id="922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92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A07033A-F39F-450F-B563-F02FCA526BE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Using Index Options for Portfolio Insurance</a:t>
            </a:r>
          </a:p>
        </p:txBody>
      </p:sp>
      <p:sp>
        <p:nvSpPr>
          <p:cNvPr id="10243" name="Content Placeholder 5"/>
          <p:cNvSpPr>
            <a:spLocks noGrp="1"/>
          </p:cNvSpPr>
          <p:nvPr>
            <p:ph idx="1"/>
          </p:nvPr>
        </p:nvSpPr>
        <p:spPr>
          <a:xfrm>
            <a:off x="609600" y="23622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Suppose the value of the index is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2400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smtClean="0">
                <a:latin typeface="Arial" charset="0"/>
                <a:cs typeface="Arial" charset="0"/>
              </a:rPr>
              <a:t> and the strike price is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K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If a portfolio has a </a:t>
            </a:r>
            <a:r>
              <a:rPr lang="en-US" altLang="en-US" sz="2400" smtClean="0">
                <a:latin typeface="Symbol" pitchFamily="18" charset="2"/>
                <a:cs typeface="Arial" charset="0"/>
              </a:rPr>
              <a:t>b</a:t>
            </a:r>
            <a:r>
              <a:rPr lang="en-US" altLang="en-US" sz="2400" smtClean="0">
                <a:latin typeface="Arial" charset="0"/>
                <a:cs typeface="Arial" charset="0"/>
              </a:rPr>
              <a:t> of 1.0, the portfolio insurance is obtained by buying 1 put option contract on the index for each 100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2400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smtClean="0">
                <a:latin typeface="Arial" charset="0"/>
                <a:cs typeface="Arial" charset="0"/>
              </a:rPr>
              <a:t>  dollars held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If the </a:t>
            </a:r>
            <a:r>
              <a:rPr lang="en-US" altLang="en-US" sz="2400" smtClean="0">
                <a:latin typeface="Symbol" pitchFamily="18" charset="2"/>
                <a:cs typeface="Arial" charset="0"/>
              </a:rPr>
              <a:t>b</a:t>
            </a:r>
            <a:r>
              <a:rPr lang="en-US" altLang="en-US" sz="2400" smtClean="0">
                <a:latin typeface="Arial" charset="0"/>
                <a:cs typeface="Arial" charset="0"/>
              </a:rPr>
              <a:t> is not 1.0, the portfolio manager buys </a:t>
            </a:r>
            <a:r>
              <a:rPr lang="en-US" altLang="en-US" sz="2400" smtClean="0">
                <a:latin typeface="Symbol" pitchFamily="18" charset="2"/>
                <a:cs typeface="Arial" charset="0"/>
              </a:rPr>
              <a:t>b</a:t>
            </a:r>
            <a:r>
              <a:rPr lang="en-US" altLang="en-US" sz="2400" smtClean="0">
                <a:latin typeface="Arial" charset="0"/>
                <a:cs typeface="Arial" charset="0"/>
              </a:rPr>
              <a:t> put options for each 100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2400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smtClean="0">
                <a:latin typeface="Arial" charset="0"/>
                <a:cs typeface="Arial" charset="0"/>
              </a:rPr>
              <a:t>  dollars held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In both cases, </a:t>
            </a:r>
            <a:r>
              <a:rPr lang="en-US" altLang="en-US" sz="2400" i="1" smtClean="0">
                <a:latin typeface="Times New Roman" pitchFamily="18" charset="0"/>
                <a:cs typeface="Arial" charset="0"/>
              </a:rPr>
              <a:t>K</a:t>
            </a:r>
            <a:r>
              <a:rPr lang="en-US" altLang="en-US" sz="240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2400" smtClean="0">
                <a:latin typeface="Arial" charset="0"/>
                <a:cs typeface="Arial" charset="0"/>
              </a:rPr>
              <a:t> is chosen to give the appropriate insurance level</a:t>
            </a: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1024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024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B28D4FC-BC96-4B4B-A769-FDA4B64C119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Example 1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Portfolio has a beta of 1.0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It is currently worth $500,000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index currently stands at 1000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What trade is necessary to provide insurance against the portfolio value falling below $450,000?</a:t>
            </a:r>
          </a:p>
        </p:txBody>
      </p:sp>
      <p:sp>
        <p:nvSpPr>
          <p:cNvPr id="1126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12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6FDC7D6-A43B-46B9-B555-EFBCAA23E30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930275"/>
            <a:ext cx="7772400" cy="746125"/>
          </a:xfrm>
        </p:spPr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Example 2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693863"/>
            <a:ext cx="7467600" cy="4402137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Portfolio has a beta of 2.0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It is currently worth $500,000 and index stands at 1000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risk-free rate is 12% per annum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dividend yield on both the portfolio and the index is 4%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How many put option contracts should be purchased for portfolio insurance? </a:t>
            </a:r>
          </a:p>
        </p:txBody>
      </p:sp>
      <p:sp>
        <p:nvSpPr>
          <p:cNvPr id="122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22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47E82B9-2C84-4FB6-BBDA-00277DB3126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3"/>
          <p:cNvSpPr>
            <a:spLocks noGrp="1" noChangeArrowheads="1"/>
          </p:cNvSpPr>
          <p:nvPr>
            <p:ph type="title"/>
          </p:nvPr>
        </p:nvSpPr>
        <p:spPr>
          <a:xfrm>
            <a:off x="246063" y="930275"/>
            <a:ext cx="7772400" cy="822325"/>
          </a:xfrm>
        </p:spPr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000" dirty="0">
                <a:solidFill>
                  <a:schemeClr val="tx2">
                    <a:satMod val="130000"/>
                  </a:schemeClr>
                </a:solidFill>
              </a:rPr>
              <a:t>Calculating Relation Between Index Level and Portfolio Value in 3 months </a:t>
            </a:r>
            <a:r>
              <a:rPr lang="en-US" sz="2000" dirty="0" smtClean="0">
                <a:solidFill>
                  <a:schemeClr val="tx2">
                    <a:satMod val="130000"/>
                  </a:schemeClr>
                </a:solidFill>
              </a:rPr>
              <a:t>(Table 17.1)</a:t>
            </a:r>
            <a:endParaRPr lang="en-US" sz="20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idx="1"/>
          </p:nvPr>
        </p:nvSpPr>
        <p:spPr>
          <a:xfrm>
            <a:off x="1371600" y="2057400"/>
            <a:ext cx="7239000" cy="44196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If index rises to 1040, it provides a 40/1000 or 4% return in 3 months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Total return (incl. dividends) = 5%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Excess return over risk-free rate = 2%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Excess return for portfolio = 4%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Increase in Portfolio Value = 4+3−1=6%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Portfolio value=$530,000</a:t>
            </a:r>
          </a:p>
        </p:txBody>
      </p:sp>
      <p:sp>
        <p:nvSpPr>
          <p:cNvPr id="1331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400B046-03DA-4DB6-B33A-D7D934BA11E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990600"/>
            <a:ext cx="7772400" cy="1082675"/>
          </a:xfrm>
        </p:spPr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Determining the Strike Price 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(Table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17.2,)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graphicFrame>
        <p:nvGraphicFramePr>
          <p:cNvPr id="14339" name="Object 3"/>
          <p:cNvGraphicFramePr>
            <a:graphicFrameLocks noGrp="1"/>
          </p:cNvGraphicFramePr>
          <p:nvPr>
            <p:ph idx="1"/>
          </p:nvPr>
        </p:nvGraphicFramePr>
        <p:xfrm>
          <a:off x="1143000" y="1905000"/>
          <a:ext cx="7234238" cy="422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7" name="Document" r:id="rId4" imgW="7819917" imgH="4562417" progId="Word.Document.8">
                  <p:embed/>
                </p:oleObj>
              </mc:Choice>
              <mc:Fallback>
                <p:oleObj name="Document" r:id="rId4" imgW="7819917" imgH="4562417" progId="Word.Document.8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905000"/>
                        <a:ext cx="7234238" cy="422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6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7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6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7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DA92FE2A-FDB7-442F-BBBF-1069B448C7B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14342" name="Rectangle 4"/>
          <p:cNvSpPr>
            <a:spLocks noChangeArrowheads="1"/>
          </p:cNvSpPr>
          <p:nvPr/>
        </p:nvSpPr>
        <p:spPr bwMode="auto">
          <a:xfrm>
            <a:off x="1143000" y="5105400"/>
            <a:ext cx="7767638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6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7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charset="0"/>
              </a:rPr>
              <a:t>An option with a strike price of 960 will provide protection against a 10% decline in the portfolio value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609600"/>
            <a:ext cx="8001000" cy="1143000"/>
          </a:xfrm>
        </p:spPr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Currency Options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727200"/>
            <a:ext cx="7237413" cy="41148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Currency options trade on NASDAQ OMX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There also exists a very active over-the-counter (OTC) market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Currency options are used by corporations to buy insurance when they have an FX exposure</a:t>
            </a:r>
          </a:p>
          <a:p>
            <a:pPr algn="ctr"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2458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458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E44F872-842C-47EC-8621-9DE74181997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Range Forward Contracts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600" dirty="0" smtClean="0"/>
              <a:t>Have the effect of ensuring that the exchange rate paid or received will lie within a certain range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600" dirty="0" smtClean="0"/>
              <a:t>When currency is to be paid it involves selling a put with strike </a:t>
            </a:r>
            <a:r>
              <a:rPr lang="en-US" sz="2600" i="1" dirty="0" smtClean="0">
                <a:latin typeface="+mj-lt"/>
              </a:rPr>
              <a:t>K</a:t>
            </a:r>
            <a:r>
              <a:rPr lang="en-US" sz="2600" baseline="-25000" dirty="0" smtClean="0"/>
              <a:t>1</a:t>
            </a:r>
            <a:r>
              <a:rPr lang="en-US" sz="2600" dirty="0" smtClean="0"/>
              <a:t> and buying a call with strike </a:t>
            </a:r>
            <a:r>
              <a:rPr lang="en-US" sz="26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600" baseline="-25000" dirty="0" smtClean="0"/>
              <a:t>2  </a:t>
            </a:r>
            <a:r>
              <a:rPr lang="en-US" sz="2600" dirty="0" smtClean="0"/>
              <a:t>(with </a:t>
            </a:r>
            <a:r>
              <a:rPr lang="en-US" sz="26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600" baseline="-25000" dirty="0" smtClean="0"/>
              <a:t>2 </a:t>
            </a:r>
            <a:r>
              <a:rPr lang="en-US" sz="2600" dirty="0" smtClean="0"/>
              <a:t>&gt;</a:t>
            </a:r>
            <a:r>
              <a:rPr lang="en-US" sz="2600" i="1" dirty="0" smtClean="0"/>
              <a:t> </a:t>
            </a:r>
            <a:r>
              <a:rPr lang="en-US" sz="2600" i="1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600" i="1" baseline="-25000" dirty="0" smtClean="0"/>
              <a:t>1</a:t>
            </a:r>
            <a:r>
              <a:rPr lang="en-US" sz="2600" dirty="0" smtClean="0"/>
              <a:t>)</a:t>
            </a:r>
            <a:endParaRPr lang="en-US" sz="2600" baseline="-25000" dirty="0" smtClean="0"/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600" dirty="0" smtClean="0"/>
              <a:t>When currency is to be received it involves buying a put with strike </a:t>
            </a:r>
            <a:r>
              <a:rPr lang="en-US" sz="2600" i="1" dirty="0" smtClean="0">
                <a:latin typeface="+mj-lt"/>
              </a:rPr>
              <a:t>K</a:t>
            </a:r>
            <a:r>
              <a:rPr lang="en-US" sz="2600" baseline="-25000" dirty="0" smtClean="0"/>
              <a:t>1</a:t>
            </a:r>
            <a:r>
              <a:rPr lang="en-US" sz="2600" dirty="0" smtClean="0"/>
              <a:t> and selling a call with strike </a:t>
            </a:r>
            <a:r>
              <a:rPr lang="en-US" sz="2600" i="1" dirty="0" smtClean="0">
                <a:latin typeface="+mj-lt"/>
              </a:rPr>
              <a:t>K</a:t>
            </a:r>
            <a:r>
              <a:rPr lang="en-US" sz="2600" baseline="-25000" dirty="0" smtClean="0"/>
              <a:t>2</a:t>
            </a:r>
          </a:p>
          <a:p>
            <a:pPr marL="365760" indent="-283464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600" baseline="-25000" dirty="0" smtClean="0"/>
              <a:t> </a:t>
            </a:r>
            <a:r>
              <a:rPr lang="en-US" sz="2600" dirty="0" smtClean="0"/>
              <a:t>Normally the price of the put equals the price of the call </a:t>
            </a:r>
            <a:endParaRPr lang="en-US" sz="2600" baseline="-25000" dirty="0" smtClean="0"/>
          </a:p>
        </p:txBody>
      </p:sp>
      <p:sp>
        <p:nvSpPr>
          <p:cNvPr id="2560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560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D74ED85-2AFC-4DE5-B671-F6CA6662AD0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Range Forward Contract </a:t>
            </a:r>
            <a:r>
              <a:rPr lang="en-US" sz="2400" dirty="0" smtClean="0">
                <a:solidFill>
                  <a:schemeClr val="tx2">
                    <a:satMod val="130000"/>
                  </a:schemeClr>
                </a:solidFill>
              </a:rPr>
              <a:t>continued Figure 17.1, page 368 </a:t>
            </a:r>
            <a:endParaRPr lang="en-US" sz="2400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6627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3F28CF5-BBB8-4F4A-BEC2-F76B554727F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26629" name="Rectangle 3"/>
          <p:cNvSpPr txBox="1">
            <a:spLocks noChangeArrowheads="1"/>
          </p:cNvSpPr>
          <p:nvPr/>
        </p:nvSpPr>
        <p:spPr bwMode="auto">
          <a:xfrm>
            <a:off x="1371600" y="1828800"/>
            <a:ext cx="7239000" cy="448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5125" indent="-282575"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altLang="en-US">
                <a:latin typeface="Arial" charset="0"/>
              </a:rPr>
              <a:t> </a:t>
            </a:r>
          </a:p>
        </p:txBody>
      </p:sp>
      <p:sp>
        <p:nvSpPr>
          <p:cNvPr id="26630" name="Rectangle 3"/>
          <p:cNvSpPr txBox="1">
            <a:spLocks noChangeArrowheads="1"/>
          </p:cNvSpPr>
          <p:nvPr/>
        </p:nvSpPr>
        <p:spPr bwMode="auto">
          <a:xfrm>
            <a:off x="457200" y="1828800"/>
            <a:ext cx="8229600" cy="441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5125" indent="-282575"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lang="en-US" altLang="en-US">
                <a:latin typeface="Arial" charset="0"/>
              </a:rPr>
              <a:t> </a:t>
            </a:r>
          </a:p>
        </p:txBody>
      </p:sp>
      <p:grpSp>
        <p:nvGrpSpPr>
          <p:cNvPr id="26631" name="Group 6"/>
          <p:cNvGrpSpPr>
            <a:grpSpLocks/>
          </p:cNvGrpSpPr>
          <p:nvPr/>
        </p:nvGrpSpPr>
        <p:grpSpPr bwMode="auto">
          <a:xfrm>
            <a:off x="1524000" y="2286000"/>
            <a:ext cx="7010400" cy="3460750"/>
            <a:chOff x="609600" y="2133600"/>
            <a:chExt cx="7924800" cy="3384550"/>
          </a:xfrm>
        </p:grpSpPr>
        <p:sp>
          <p:nvSpPr>
            <p:cNvPr id="26632" name="Line 4"/>
            <p:cNvSpPr>
              <a:spLocks noChangeShapeType="1"/>
            </p:cNvSpPr>
            <p:nvPr/>
          </p:nvSpPr>
          <p:spPr bwMode="auto">
            <a:xfrm>
              <a:off x="685800" y="2438400"/>
              <a:ext cx="0" cy="1905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endParaRPr lang="en-US"/>
            </a:p>
          </p:txBody>
        </p:sp>
        <p:sp>
          <p:nvSpPr>
            <p:cNvPr id="26633" name="Line 5"/>
            <p:cNvSpPr>
              <a:spLocks noChangeShapeType="1"/>
            </p:cNvSpPr>
            <p:nvPr/>
          </p:nvSpPr>
          <p:spPr bwMode="auto">
            <a:xfrm>
              <a:off x="685800" y="3352800"/>
              <a:ext cx="2590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endParaRPr lang="en-US"/>
            </a:p>
          </p:txBody>
        </p:sp>
        <p:sp>
          <p:nvSpPr>
            <p:cNvPr id="26634" name="Line 6"/>
            <p:cNvSpPr>
              <a:spLocks noChangeShapeType="1"/>
            </p:cNvSpPr>
            <p:nvPr/>
          </p:nvSpPr>
          <p:spPr bwMode="auto">
            <a:xfrm>
              <a:off x="685800" y="2590800"/>
              <a:ext cx="762000" cy="762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endParaRPr lang="en-US"/>
            </a:p>
          </p:txBody>
        </p:sp>
        <p:sp>
          <p:nvSpPr>
            <p:cNvPr id="26635" name="Line 7"/>
            <p:cNvSpPr>
              <a:spLocks noChangeShapeType="1"/>
            </p:cNvSpPr>
            <p:nvPr/>
          </p:nvSpPr>
          <p:spPr bwMode="auto">
            <a:xfrm>
              <a:off x="1447800" y="3352800"/>
              <a:ext cx="990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>
              <a:spAutoFit/>
            </a:bodyPr>
            <a:lstStyle/>
            <a:p>
              <a:endParaRPr lang="en-US"/>
            </a:p>
          </p:txBody>
        </p:sp>
        <p:sp>
          <p:nvSpPr>
            <p:cNvPr id="26636" name="Line 8"/>
            <p:cNvSpPr>
              <a:spLocks noChangeShapeType="1"/>
            </p:cNvSpPr>
            <p:nvPr/>
          </p:nvSpPr>
          <p:spPr bwMode="auto">
            <a:xfrm>
              <a:off x="2438400" y="3352800"/>
              <a:ext cx="609600" cy="685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>
              <a:spAutoFit/>
            </a:bodyPr>
            <a:lstStyle/>
            <a:p>
              <a:endParaRPr lang="en-US"/>
            </a:p>
          </p:txBody>
        </p:sp>
        <p:sp>
          <p:nvSpPr>
            <p:cNvPr id="26637" name="Text Box 9"/>
            <p:cNvSpPr txBox="1">
              <a:spLocks noChangeArrowheads="1"/>
            </p:cNvSpPr>
            <p:nvPr/>
          </p:nvSpPr>
          <p:spPr bwMode="auto">
            <a:xfrm>
              <a:off x="609600" y="2133600"/>
              <a:ext cx="11430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>
                  <a:latin typeface="Arial" charset="0"/>
                </a:rPr>
                <a:t>Payoff</a:t>
              </a:r>
            </a:p>
          </p:txBody>
        </p:sp>
        <p:sp>
          <p:nvSpPr>
            <p:cNvPr id="26638" name="Text Box 10"/>
            <p:cNvSpPr txBox="1">
              <a:spLocks noChangeArrowheads="1"/>
            </p:cNvSpPr>
            <p:nvPr/>
          </p:nvSpPr>
          <p:spPr bwMode="auto">
            <a:xfrm>
              <a:off x="2743200" y="2743200"/>
              <a:ext cx="1066800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>
                  <a:latin typeface="Arial" charset="0"/>
                </a:rPr>
                <a:t>Asset Price</a:t>
              </a:r>
            </a:p>
          </p:txBody>
        </p:sp>
        <p:sp>
          <p:nvSpPr>
            <p:cNvPr id="26639" name="Text Box 11"/>
            <p:cNvSpPr txBox="1">
              <a:spLocks noChangeArrowheads="1"/>
            </p:cNvSpPr>
            <p:nvPr/>
          </p:nvSpPr>
          <p:spPr bwMode="auto">
            <a:xfrm>
              <a:off x="1295399" y="3352800"/>
              <a:ext cx="520148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 i="1">
                  <a:latin typeface="Times New Roman" pitchFamily="18" charset="0"/>
                </a:rPr>
                <a:t>K</a:t>
              </a:r>
              <a:r>
                <a:rPr lang="en-US" altLang="en-US" sz="1800" baseline="-25000">
                  <a:latin typeface="Arial" charset="0"/>
                </a:rPr>
                <a:t>1</a:t>
              </a:r>
              <a:endParaRPr lang="en-US" altLang="en-US" sz="1800">
                <a:latin typeface="Arial" charset="0"/>
              </a:endParaRPr>
            </a:p>
          </p:txBody>
        </p:sp>
        <p:sp>
          <p:nvSpPr>
            <p:cNvPr id="26640" name="Text Box 12"/>
            <p:cNvSpPr txBox="1">
              <a:spLocks noChangeArrowheads="1"/>
            </p:cNvSpPr>
            <p:nvPr/>
          </p:nvSpPr>
          <p:spPr bwMode="auto">
            <a:xfrm>
              <a:off x="2209800" y="3352800"/>
              <a:ext cx="6096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 i="1">
                  <a:latin typeface="Times New Roman" pitchFamily="18" charset="0"/>
                </a:rPr>
                <a:t>K</a:t>
              </a:r>
              <a:r>
                <a:rPr lang="en-US" altLang="en-US" sz="1800" baseline="-25000">
                  <a:latin typeface="Arial" charset="0"/>
                </a:rPr>
                <a:t>2</a:t>
              </a:r>
              <a:endParaRPr lang="en-US" altLang="en-US" sz="1800">
                <a:latin typeface="Arial" charset="0"/>
              </a:endParaRPr>
            </a:p>
          </p:txBody>
        </p:sp>
        <p:sp>
          <p:nvSpPr>
            <p:cNvPr id="26641" name="Line 13"/>
            <p:cNvSpPr>
              <a:spLocks noChangeShapeType="1"/>
            </p:cNvSpPr>
            <p:nvPr/>
          </p:nvSpPr>
          <p:spPr bwMode="auto">
            <a:xfrm>
              <a:off x="5105400" y="2362200"/>
              <a:ext cx="0" cy="1828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endParaRPr lang="en-US"/>
            </a:p>
          </p:txBody>
        </p:sp>
        <p:sp>
          <p:nvSpPr>
            <p:cNvPr id="26642" name="Line 14"/>
            <p:cNvSpPr>
              <a:spLocks noChangeShapeType="1"/>
            </p:cNvSpPr>
            <p:nvPr/>
          </p:nvSpPr>
          <p:spPr bwMode="auto">
            <a:xfrm>
              <a:off x="5105400" y="3352800"/>
              <a:ext cx="2667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endParaRPr lang="en-US"/>
            </a:p>
          </p:txBody>
        </p:sp>
        <p:sp>
          <p:nvSpPr>
            <p:cNvPr id="26643" name="Line 15"/>
            <p:cNvSpPr>
              <a:spLocks noChangeShapeType="1"/>
            </p:cNvSpPr>
            <p:nvPr/>
          </p:nvSpPr>
          <p:spPr bwMode="auto">
            <a:xfrm flipV="1">
              <a:off x="5105400" y="3352800"/>
              <a:ext cx="838200" cy="762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endParaRPr lang="en-US"/>
            </a:p>
          </p:txBody>
        </p:sp>
        <p:sp>
          <p:nvSpPr>
            <p:cNvPr id="26644" name="Line 16"/>
            <p:cNvSpPr>
              <a:spLocks noChangeShapeType="1"/>
            </p:cNvSpPr>
            <p:nvPr/>
          </p:nvSpPr>
          <p:spPr bwMode="auto">
            <a:xfrm>
              <a:off x="5943600" y="3352800"/>
              <a:ext cx="914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endParaRPr lang="en-US"/>
            </a:p>
          </p:txBody>
        </p:sp>
        <p:sp>
          <p:nvSpPr>
            <p:cNvPr id="26645" name="Line 17"/>
            <p:cNvSpPr>
              <a:spLocks noChangeShapeType="1"/>
            </p:cNvSpPr>
            <p:nvPr/>
          </p:nvSpPr>
          <p:spPr bwMode="auto">
            <a:xfrm flipV="1">
              <a:off x="6858000" y="2743200"/>
              <a:ext cx="685800" cy="609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endParaRPr lang="en-US"/>
            </a:p>
          </p:txBody>
        </p:sp>
        <p:sp>
          <p:nvSpPr>
            <p:cNvPr id="26646" name="Text Box 18"/>
            <p:cNvSpPr txBox="1">
              <a:spLocks noChangeArrowheads="1"/>
            </p:cNvSpPr>
            <p:nvPr/>
          </p:nvSpPr>
          <p:spPr bwMode="auto">
            <a:xfrm>
              <a:off x="5105400" y="2286000"/>
              <a:ext cx="9906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>
                  <a:latin typeface="Arial" charset="0"/>
                </a:rPr>
                <a:t>Payoff</a:t>
              </a:r>
            </a:p>
          </p:txBody>
        </p:sp>
        <p:sp>
          <p:nvSpPr>
            <p:cNvPr id="26647" name="Text Box 19"/>
            <p:cNvSpPr txBox="1">
              <a:spLocks noChangeArrowheads="1"/>
            </p:cNvSpPr>
            <p:nvPr/>
          </p:nvSpPr>
          <p:spPr bwMode="auto">
            <a:xfrm>
              <a:off x="7543800" y="3352800"/>
              <a:ext cx="990600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>
                  <a:latin typeface="Arial" charset="0"/>
                </a:rPr>
                <a:t>Asset Price</a:t>
              </a:r>
            </a:p>
          </p:txBody>
        </p:sp>
        <p:sp>
          <p:nvSpPr>
            <p:cNvPr id="26648" name="Text Box 20"/>
            <p:cNvSpPr txBox="1">
              <a:spLocks noChangeArrowheads="1"/>
            </p:cNvSpPr>
            <p:nvPr/>
          </p:nvSpPr>
          <p:spPr bwMode="auto">
            <a:xfrm>
              <a:off x="5851525" y="3352800"/>
              <a:ext cx="549275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 i="1">
                  <a:latin typeface="Times New Roman" pitchFamily="18" charset="0"/>
                </a:rPr>
                <a:t>K</a:t>
              </a:r>
              <a:r>
                <a:rPr lang="en-US" altLang="en-US" sz="1800" baseline="-25000">
                  <a:latin typeface="Arial" charset="0"/>
                </a:rPr>
                <a:t>1</a:t>
              </a:r>
              <a:endParaRPr lang="en-US" altLang="en-US" sz="1800">
                <a:latin typeface="Arial" charset="0"/>
              </a:endParaRPr>
            </a:p>
          </p:txBody>
        </p:sp>
        <p:sp>
          <p:nvSpPr>
            <p:cNvPr id="26649" name="Text Box 21"/>
            <p:cNvSpPr txBox="1">
              <a:spLocks noChangeArrowheads="1"/>
            </p:cNvSpPr>
            <p:nvPr/>
          </p:nvSpPr>
          <p:spPr bwMode="auto">
            <a:xfrm>
              <a:off x="6629400" y="3352800"/>
              <a:ext cx="526774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 i="1">
                  <a:latin typeface="Times New Roman" pitchFamily="18" charset="0"/>
                </a:rPr>
                <a:t>K</a:t>
              </a:r>
              <a:r>
                <a:rPr lang="en-US" altLang="en-US" sz="1800" baseline="-25000">
                  <a:latin typeface="Arial" charset="0"/>
                </a:rPr>
                <a:t>2</a:t>
              </a:r>
              <a:endParaRPr lang="en-US" altLang="en-US" sz="1800">
                <a:latin typeface="Arial" charset="0"/>
              </a:endParaRPr>
            </a:p>
          </p:txBody>
        </p:sp>
        <p:sp>
          <p:nvSpPr>
            <p:cNvPr id="26650" name="Text Box 22"/>
            <p:cNvSpPr txBox="1">
              <a:spLocks noChangeArrowheads="1"/>
            </p:cNvSpPr>
            <p:nvPr/>
          </p:nvSpPr>
          <p:spPr bwMode="auto">
            <a:xfrm>
              <a:off x="990600" y="4876800"/>
              <a:ext cx="1447800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>
                  <a:latin typeface="Arial" charset="0"/>
                </a:rPr>
                <a:t>Short Position</a:t>
              </a:r>
            </a:p>
          </p:txBody>
        </p:sp>
        <p:sp>
          <p:nvSpPr>
            <p:cNvPr id="26651" name="Text Box 23"/>
            <p:cNvSpPr txBox="1">
              <a:spLocks noChangeArrowheads="1"/>
            </p:cNvSpPr>
            <p:nvPr/>
          </p:nvSpPr>
          <p:spPr bwMode="auto">
            <a:xfrm>
              <a:off x="6019800" y="4800600"/>
              <a:ext cx="1371600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Blip>
                  <a:blip r:embed="rId3"/>
                </a:buBlip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 eaLnBrk="0" hangingPunct="0">
                <a:spcBef>
                  <a:spcPct val="20000"/>
                </a:spcBef>
                <a:buSzPct val="75000"/>
                <a:buBlip>
                  <a:blip r:embed="rId4"/>
                </a:buBlip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Char char="–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800">
                  <a:latin typeface="Arial" charset="0"/>
                </a:rPr>
                <a:t>Long Position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1219200"/>
            <a:ext cx="7340600" cy="609600"/>
          </a:xfrm>
        </p:spPr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European Options on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Assets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Providing a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Known 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Yield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985838" y="2133600"/>
            <a:ext cx="7224712" cy="4025900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z="2400" dirty="0" smtClean="0">
                <a:latin typeface="Arial" charset="0"/>
                <a:cs typeface="Arial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We get the same probability distribution for the asset price at time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dirty="0" smtClean="0">
                <a:latin typeface="Arial" charset="0"/>
                <a:cs typeface="Arial" charset="0"/>
              </a:rPr>
              <a:t> in each of the following cases: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1.	The asset starts at price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dirty="0" smtClean="0">
                <a:latin typeface="Arial" charset="0"/>
                <a:cs typeface="Arial" charset="0"/>
              </a:rPr>
              <a:t>  and provides a yield =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q</a:t>
            </a:r>
            <a:endParaRPr lang="en-US" altLang="en-US" dirty="0" smtClean="0">
              <a:latin typeface="Times New Roman" pitchFamily="18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	2.	The asset starts at price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e</a:t>
            </a:r>
            <a:r>
              <a:rPr lang="en-US" altLang="en-US" baseline="30000" dirty="0" smtClean="0">
                <a:latin typeface="Times New Roman" pitchFamily="18" charset="0"/>
                <a:cs typeface="Arial" charset="0"/>
              </a:rPr>
              <a:t>–</a:t>
            </a:r>
            <a:r>
              <a:rPr lang="en-US" altLang="en-US" i="1" baseline="30000" dirty="0" err="1" smtClean="0">
                <a:latin typeface="Times New Roman" pitchFamily="18" charset="0"/>
                <a:cs typeface="Arial" charset="0"/>
              </a:rPr>
              <a:t>qT</a:t>
            </a:r>
            <a:r>
              <a:rPr lang="en-US" altLang="en-US" baseline="30000" dirty="0" smtClean="0">
                <a:latin typeface="Arial" charset="0"/>
                <a:cs typeface="Arial" charset="0"/>
              </a:rPr>
              <a:t>  </a:t>
            </a:r>
            <a:r>
              <a:rPr lang="en-US" altLang="en-US" dirty="0" smtClean="0">
                <a:latin typeface="Arial" charset="0"/>
                <a:cs typeface="Arial" charset="0"/>
              </a:rPr>
              <a:t>and provides no income</a:t>
            </a:r>
            <a:endParaRPr lang="en-US" altLang="en-US" u="sng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u="sng" dirty="0" smtClean="0">
              <a:latin typeface="Arial" charset="0"/>
              <a:cs typeface="Arial" charset="0"/>
            </a:endParaRPr>
          </a:p>
        </p:txBody>
      </p:sp>
      <p:sp>
        <p:nvSpPr>
          <p:cNvPr id="153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BAF8A1D-B3B6-4B49-B26D-42ADE5A1DE9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1371600"/>
            <a:ext cx="6705600" cy="685800"/>
          </a:xfrm>
        </p:spPr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European Options on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Assets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Providing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Known Yield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/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3100" dirty="0">
                <a:solidFill>
                  <a:schemeClr val="tx2">
                    <a:satMod val="130000"/>
                  </a:schemeClr>
                </a:solidFill>
              </a:rPr>
              <a:t>continued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2514600"/>
            <a:ext cx="7924800" cy="3616325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endParaRPr lang="en-US" altLang="en-US" sz="2400" u="sng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400" smtClean="0">
                <a:latin typeface="Arial" charset="0"/>
                <a:cs typeface="Arial" charset="0"/>
              </a:rPr>
              <a:t>	</a:t>
            </a:r>
            <a:r>
              <a:rPr lang="en-US" altLang="en-US" smtClean="0">
                <a:latin typeface="Arial" charset="0"/>
                <a:cs typeface="Arial" charset="0"/>
              </a:rPr>
              <a:t>We can value European options by reducing the asset price to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e</a:t>
            </a:r>
            <a:r>
              <a:rPr lang="en-US" altLang="en-US" baseline="30000" smtClean="0">
                <a:latin typeface="Times New Roman" pitchFamily="18" charset="0"/>
                <a:cs typeface="Arial" charset="0"/>
              </a:rPr>
              <a:t>–</a:t>
            </a:r>
            <a:r>
              <a:rPr lang="en-US" altLang="en-US" i="1" baseline="30000" smtClean="0">
                <a:latin typeface="Times New Roman" pitchFamily="18" charset="0"/>
                <a:cs typeface="Arial" charset="0"/>
              </a:rPr>
              <a:t>qT</a:t>
            </a:r>
            <a:r>
              <a:rPr lang="en-US" altLang="en-US" baseline="30000" smtClean="0">
                <a:latin typeface="Arial" charset="0"/>
                <a:cs typeface="Arial" charset="0"/>
              </a:rPr>
              <a:t>  </a:t>
            </a:r>
            <a:r>
              <a:rPr lang="en-US" altLang="en-US" smtClean="0">
                <a:latin typeface="Arial" charset="0"/>
                <a:cs typeface="Arial" charset="0"/>
              </a:rPr>
              <a:t>and then behaving as though there is no income</a:t>
            </a:r>
          </a:p>
        </p:txBody>
      </p:sp>
      <p:sp>
        <p:nvSpPr>
          <p:cNvPr id="163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BC01231-8114-429B-A16F-59F05702AD1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930275"/>
            <a:ext cx="7772400" cy="974725"/>
          </a:xfrm>
        </p:spPr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Extension of Chapter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11 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Results</a:t>
            </a:r>
            <a:br>
              <a:rPr lang="en-US" dirty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(Equations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17.1 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to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17.3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)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7411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741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14C5B86-3410-431E-8E4C-58A13A5B0E2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7413" name="Object 3"/>
          <p:cNvGraphicFramePr>
            <a:graphicFrameLocks/>
          </p:cNvGraphicFramePr>
          <p:nvPr/>
        </p:nvGraphicFramePr>
        <p:xfrm>
          <a:off x="2266950" y="2743200"/>
          <a:ext cx="3697288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1" name="Equation" r:id="rId6" imgW="1612800" imgH="241200" progId="Equation.3">
                  <p:embed/>
                </p:oleObj>
              </mc:Choice>
              <mc:Fallback>
                <p:oleObj name="Equation" r:id="rId6" imgW="1612800" imgH="241200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950" y="2743200"/>
                        <a:ext cx="3697288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Rectangle 4"/>
          <p:cNvSpPr>
            <a:spLocks noChangeArrowheads="1"/>
          </p:cNvSpPr>
          <p:nvPr/>
        </p:nvSpPr>
        <p:spPr bwMode="auto">
          <a:xfrm>
            <a:off x="1219200" y="2209800"/>
            <a:ext cx="4529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Arial" charset="0"/>
              </a:rPr>
              <a:t>Lower Bound for calls:</a:t>
            </a:r>
          </a:p>
        </p:txBody>
      </p:sp>
      <p:sp>
        <p:nvSpPr>
          <p:cNvPr id="17415" name="Rectangle 5"/>
          <p:cNvSpPr>
            <a:spLocks noChangeArrowheads="1"/>
          </p:cNvSpPr>
          <p:nvPr/>
        </p:nvSpPr>
        <p:spPr bwMode="auto">
          <a:xfrm>
            <a:off x="1335088" y="3216275"/>
            <a:ext cx="330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Arial" charset="0"/>
              </a:rPr>
              <a:t>Lower Bound for puts</a:t>
            </a:r>
          </a:p>
        </p:txBody>
      </p:sp>
      <p:graphicFrame>
        <p:nvGraphicFramePr>
          <p:cNvPr id="17416" name="Object 6"/>
          <p:cNvGraphicFramePr>
            <a:graphicFrameLocks/>
          </p:cNvGraphicFramePr>
          <p:nvPr/>
        </p:nvGraphicFramePr>
        <p:xfrm>
          <a:off x="2357438" y="3733800"/>
          <a:ext cx="359251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2" name="Equation" r:id="rId8" imgW="1650960" imgH="241200" progId="Equation.3">
                  <p:embed/>
                </p:oleObj>
              </mc:Choice>
              <mc:Fallback>
                <p:oleObj name="Equation" r:id="rId8" imgW="1650960" imgH="241200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438" y="3733800"/>
                        <a:ext cx="3592512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Rectangle 7"/>
          <p:cNvSpPr>
            <a:spLocks noChangeArrowheads="1"/>
          </p:cNvSpPr>
          <p:nvPr/>
        </p:nvSpPr>
        <p:spPr bwMode="auto">
          <a:xfrm>
            <a:off x="1524000" y="4719638"/>
            <a:ext cx="3068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Arial" charset="0"/>
              </a:rPr>
              <a:t>Put Call Parity</a:t>
            </a:r>
          </a:p>
        </p:txBody>
      </p:sp>
      <p:graphicFrame>
        <p:nvGraphicFramePr>
          <p:cNvPr id="17418" name="Object 8"/>
          <p:cNvGraphicFramePr>
            <a:graphicFrameLocks/>
          </p:cNvGraphicFramePr>
          <p:nvPr/>
        </p:nvGraphicFramePr>
        <p:xfrm>
          <a:off x="901700" y="5410200"/>
          <a:ext cx="7737475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3" name="Equation" r:id="rId10" imgW="3060700" imgH="241300" progId="Equation.3">
                  <p:embed/>
                </p:oleObj>
              </mc:Choice>
              <mc:Fallback>
                <p:oleObj name="Equation" r:id="rId10" imgW="3060700" imgH="241300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700" y="5410200"/>
                        <a:ext cx="7737475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838200"/>
            <a:ext cx="7315200" cy="1295400"/>
          </a:xfrm>
        </p:spPr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Extension of Chapter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15 </a:t>
            </a: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Results 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(Equations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17.4 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and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17.5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)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843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843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76D3FC2-67DD-42C5-A153-D6F7CCC2A6F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8437" name="Object 3"/>
          <p:cNvGraphicFramePr>
            <a:graphicFrameLocks/>
          </p:cNvGraphicFramePr>
          <p:nvPr/>
        </p:nvGraphicFramePr>
        <p:xfrm>
          <a:off x="1143000" y="2286000"/>
          <a:ext cx="5334000" cy="310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2" name="Equation" r:id="rId6" imgW="2527300" imgH="1498600" progId="Equation.3">
                  <p:embed/>
                </p:oleObj>
              </mc:Choice>
              <mc:Fallback>
                <p:oleObj name="Equation" r:id="rId6" imgW="2527300" imgH="1498600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286000"/>
                        <a:ext cx="5334000" cy="3100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62" y="930275"/>
            <a:ext cx="8745538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Alternative Formulas </a:t>
            </a:r>
            <a:r>
              <a:rPr lang="en-US" sz="2700" dirty="0" smtClean="0">
                <a:solidFill>
                  <a:schemeClr val="tx2">
                    <a:satMod val="130000"/>
                  </a:schemeClr>
                </a:solidFill>
              </a:rPr>
              <a:t>(</a:t>
            </a:r>
            <a:r>
              <a:rPr lang="en-US" sz="2400" dirty="0" smtClean="0">
                <a:solidFill>
                  <a:schemeClr val="tx2">
                    <a:satMod val="130000"/>
                  </a:schemeClr>
                </a:solidFill>
              </a:rPr>
              <a:t>equations 17.8 and 17.9)</a:t>
            </a:r>
            <a:endParaRPr lang="en-US" sz="2400" dirty="0">
              <a:solidFill>
                <a:schemeClr val="tx2">
                  <a:satMod val="130000"/>
                </a:schemeClr>
              </a:solidFill>
            </a:endParaRPr>
          </a:p>
        </p:txBody>
      </p:sp>
      <p:graphicFrame>
        <p:nvGraphicFramePr>
          <p:cNvPr id="19459" name="Object 5"/>
          <p:cNvGraphicFramePr>
            <a:graphicFrameLocks noGrp="1"/>
          </p:cNvGraphicFramePr>
          <p:nvPr>
            <p:ph idx="1"/>
          </p:nvPr>
        </p:nvGraphicFramePr>
        <p:xfrm>
          <a:off x="1219200" y="2286000"/>
          <a:ext cx="4184650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6" name="Equation" r:id="rId4" imgW="1854200" imgH="1384300" progId="Equation.3">
                  <p:embed/>
                </p:oleObj>
              </mc:Choice>
              <mc:Fallback>
                <p:oleObj name="Equation" r:id="rId4" imgW="1854200" imgH="1384300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286000"/>
                        <a:ext cx="4184650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6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7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946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6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7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6A39113-8CAD-41D3-92D7-B8C47A8AE04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Valuing  European Index Options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1981200"/>
            <a:ext cx="7015163" cy="4114800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en-US" dirty="0" smtClean="0">
                <a:latin typeface="Arial" charset="0"/>
                <a:cs typeface="Arial" charset="0"/>
              </a:rPr>
              <a:t>	We can use  these formulas for an option on an asset paying a dividend yield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en-US" dirty="0" smtClean="0">
                <a:latin typeface="Arial" charset="0"/>
                <a:cs typeface="Arial" charset="0"/>
              </a:rPr>
              <a:t>	Set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dirty="0" smtClean="0">
                <a:latin typeface="Arial" charset="0"/>
                <a:cs typeface="Arial" charset="0"/>
              </a:rPr>
              <a:t> = current index level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en-US" dirty="0" smtClean="0">
                <a:latin typeface="Arial" charset="0"/>
                <a:cs typeface="Arial" charset="0"/>
              </a:rPr>
              <a:t>   Set </a:t>
            </a:r>
            <a:r>
              <a:rPr lang="en-US" altLang="en-US" i="1" dirty="0" smtClean="0">
                <a:latin typeface="+mj-lt"/>
                <a:cs typeface="Arial" charset="0"/>
              </a:rPr>
              <a:t>F</a:t>
            </a:r>
            <a:r>
              <a:rPr lang="en-US" altLang="en-US" baseline="-25000" dirty="0" smtClean="0">
                <a:latin typeface="+mj-lt"/>
                <a:cs typeface="Arial" charset="0"/>
              </a:rPr>
              <a:t>0</a:t>
            </a:r>
            <a:r>
              <a:rPr lang="en-US" altLang="en-US" dirty="0" smtClean="0">
                <a:latin typeface="Arial" charset="0"/>
                <a:cs typeface="Arial" charset="0"/>
              </a:rPr>
              <a:t>= futures or forward index price for a contract maturing at the same time as the option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altLang="en-US" dirty="0" smtClean="0">
                <a:latin typeface="Arial" charset="0"/>
                <a:cs typeface="Arial" charset="0"/>
              </a:rPr>
              <a:t>	Set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q</a:t>
            </a:r>
            <a:r>
              <a:rPr lang="en-US" altLang="en-US" dirty="0" smtClean="0">
                <a:latin typeface="Arial" charset="0"/>
                <a:cs typeface="Arial" charset="0"/>
              </a:rPr>
              <a:t> = average dividend yield expected during the life of the option</a:t>
            </a:r>
          </a:p>
        </p:txBody>
      </p:sp>
      <p:sp>
        <p:nvSpPr>
          <p:cNvPr id="2048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04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4AEF486-E39D-43F4-B9E8-8B5312B2F48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 smtClean="0"/>
              <a:t>Implied Forward Prices and Dividend Yields </a:t>
            </a:r>
            <a:r>
              <a:rPr lang="en-US" altLang="en-US" sz="2400" dirty="0" smtClean="0"/>
              <a:t>(equation (17.10)</a:t>
            </a:r>
          </a:p>
        </p:txBody>
      </p:sp>
      <p:sp>
        <p:nvSpPr>
          <p:cNvPr id="5125" name="Content Placeholder 2"/>
          <p:cNvSpPr>
            <a:spLocks noGrp="1"/>
          </p:cNvSpPr>
          <p:nvPr>
            <p:ph idx="1"/>
          </p:nvPr>
        </p:nvSpPr>
        <p:spPr>
          <a:xfrm>
            <a:off x="685800" y="2057400"/>
            <a:ext cx="8077200" cy="4205288"/>
          </a:xfrm>
        </p:spPr>
        <p:txBody>
          <a:bodyPr/>
          <a:lstStyle/>
          <a:p>
            <a:pPr eaLnBrk="1" hangingPunct="1">
              <a:defRPr/>
            </a:pPr>
            <a:r>
              <a:rPr lang="en-US" sz="2400" dirty="0" smtClean="0">
                <a:latin typeface="Arial" charset="0"/>
                <a:cs typeface="Arial" charset="0"/>
              </a:rPr>
              <a:t>From European calls and puts with the same strike price and time to maturity</a:t>
            </a:r>
          </a:p>
          <a:p>
            <a:pPr eaLnBrk="1" hangingPunct="1">
              <a:buFontTx/>
              <a:buNone/>
              <a:defRPr/>
            </a:pPr>
            <a:endParaRPr lang="en-US" dirty="0" smtClean="0">
              <a:latin typeface="Arial" charset="0"/>
              <a:cs typeface="Arial" charset="0"/>
            </a:endParaRPr>
          </a:p>
          <a:p>
            <a:pPr eaLnBrk="1" hangingPunct="1">
              <a:buFontTx/>
              <a:buNone/>
              <a:defRPr/>
            </a:pPr>
            <a:endParaRPr lang="en-US" sz="2400" dirty="0" smtClean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en-US" sz="2400" dirty="0" smtClean="0">
                <a:latin typeface="Arial" charset="0"/>
                <a:cs typeface="Arial" charset="0"/>
              </a:rPr>
              <a:t>These formulas allow term structures of forward prices and dividend yields to be estimated</a:t>
            </a:r>
          </a:p>
          <a:p>
            <a:pPr eaLnBrk="1" hangingPunct="1">
              <a:defRPr/>
            </a:pPr>
            <a:r>
              <a:rPr lang="en-US" sz="2400" dirty="0" smtClean="0">
                <a:latin typeface="Arial" charset="0"/>
                <a:cs typeface="Arial" charset="0"/>
              </a:rPr>
              <a:t>OTC European options are typically valued using the forward prices (Estimates of </a:t>
            </a:r>
            <a:r>
              <a:rPr lang="en-US" sz="2400" i="1" dirty="0" smtClean="0">
                <a:latin typeface="+mj-lt"/>
                <a:cs typeface="Arial" charset="0"/>
              </a:rPr>
              <a:t>q</a:t>
            </a:r>
            <a:r>
              <a:rPr lang="en-US" sz="2400" dirty="0" smtClean="0">
                <a:latin typeface="Arial" charset="0"/>
                <a:cs typeface="Arial" charset="0"/>
              </a:rPr>
              <a:t> are not then required)</a:t>
            </a:r>
          </a:p>
          <a:p>
            <a:pPr eaLnBrk="1" hangingPunct="1">
              <a:defRPr/>
            </a:pPr>
            <a:r>
              <a:rPr lang="en-US" sz="2400" dirty="0" smtClean="0">
                <a:latin typeface="Arial" charset="0"/>
                <a:cs typeface="Arial" charset="0"/>
              </a:rPr>
              <a:t>American options require the dividend yield term structure</a:t>
            </a:r>
          </a:p>
        </p:txBody>
      </p:sp>
      <p:sp>
        <p:nvSpPr>
          <p:cNvPr id="2150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150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B033A3E-1E0C-4AF9-9633-776E4F1A694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1510" name="Object 2"/>
          <p:cNvGraphicFramePr>
            <a:graphicFrameLocks noChangeAspect="1"/>
          </p:cNvGraphicFramePr>
          <p:nvPr/>
        </p:nvGraphicFramePr>
        <p:xfrm>
          <a:off x="4514850" y="3338513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0" name="Equation" r:id="rId6" imgW="114102" imgH="177492" progId="Equation.DSMT4">
                  <p:embed/>
                </p:oleObj>
              </mc:Choice>
              <mc:Fallback>
                <p:oleObj name="Equation" r:id="rId6" imgW="114102" imgH="177492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38513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8"/>
          <p:cNvGraphicFramePr>
            <a:graphicFrameLocks noChangeAspect="1"/>
          </p:cNvGraphicFramePr>
          <p:nvPr/>
        </p:nvGraphicFramePr>
        <p:xfrm>
          <a:off x="925513" y="2971800"/>
          <a:ext cx="5683250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1" name="Equation" r:id="rId8" imgW="3060700" imgH="457200" progId="Equation.3">
                  <p:embed/>
                </p:oleObj>
              </mc:Choice>
              <mc:Fallback>
                <p:oleObj name="Equation" r:id="rId8" imgW="3060700" imgH="457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513" y="2971800"/>
                        <a:ext cx="5683250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990600"/>
            <a:ext cx="7467600" cy="914400"/>
          </a:xfrm>
        </p:spPr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Valuing  European Currency Options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143000"/>
            <a:ext cx="6972300" cy="4783138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endParaRPr lang="en-US" altLang="en-US" u="sng" smtClean="0">
              <a:latin typeface="Arial" charset="0"/>
              <a:cs typeface="Arial" charset="0"/>
            </a:endParaRP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 foreign currency is an asset that provides a yield equal to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r</a:t>
            </a:r>
            <a:r>
              <a:rPr lang="en-US" altLang="en-US" i="1" baseline="-25000" smtClean="0">
                <a:latin typeface="Times New Roman" pitchFamily="18" charset="0"/>
                <a:cs typeface="Arial" charset="0"/>
              </a:rPr>
              <a:t>f</a:t>
            </a:r>
            <a:endParaRPr lang="en-US" altLang="en-US" i="1" smtClean="0">
              <a:latin typeface="Times New Roman" pitchFamily="18" charset="0"/>
              <a:cs typeface="Arial" charset="0"/>
            </a:endParaRP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We can use  the formula for an option on a stock paying a dividend yield :</a:t>
            </a:r>
          </a:p>
          <a:p>
            <a:pPr lvl="1" eaLnBrk="1" hangingPunct="1"/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mtClean="0">
                <a:latin typeface="Arial" charset="0"/>
                <a:cs typeface="Arial" charset="0"/>
              </a:rPr>
              <a:t> = current exchange rate</a:t>
            </a:r>
          </a:p>
          <a:p>
            <a:pPr lvl="1" eaLnBrk="1" hangingPunct="1"/>
            <a:r>
              <a:rPr lang="en-US" altLang="en-US" i="1" smtClean="0">
                <a:latin typeface="Times New Roman" pitchFamily="18" charset="0"/>
                <a:cs typeface="Arial" charset="0"/>
              </a:rPr>
              <a:t>q 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 =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r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ƒ</a:t>
            </a:r>
            <a:endParaRPr lang="en-US" altLang="en-US" smtClean="0">
              <a:latin typeface="Arial" charset="0"/>
              <a:cs typeface="Arial" charset="0"/>
            </a:endParaRPr>
          </a:p>
          <a:p>
            <a:pPr lvl="1" eaLnBrk="1" hangingPunct="1"/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2867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867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76F6366-15D4-4164-81B8-817DB7FDFAA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Formulas for European Currency Options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(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Equations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17.11 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and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17.12)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2970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970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530571F-EE60-493C-9174-023A4B62DEE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9702" name="Object 4"/>
          <p:cNvGraphicFramePr>
            <a:graphicFrameLocks/>
          </p:cNvGraphicFramePr>
          <p:nvPr/>
        </p:nvGraphicFramePr>
        <p:xfrm>
          <a:off x="1295400" y="2362200"/>
          <a:ext cx="5842000" cy="376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8" name="Equation" r:id="rId6" imgW="2616200" imgH="1676400" progId="Equation.3">
                  <p:embed/>
                </p:oleObj>
              </mc:Choice>
              <mc:Fallback>
                <p:oleObj name="Equation" r:id="rId6" imgW="2616200" imgH="167640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362200"/>
                        <a:ext cx="5842000" cy="3762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930275"/>
            <a:ext cx="9126537" cy="974725"/>
          </a:xfrm>
        </p:spPr>
        <p:txBody>
          <a:bodyPr lIns="92075" tIns="46038" rIns="92075" bIns="46038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Alternative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Formulas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(Equations 17.13 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and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17.14)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 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072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072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D6FB5B9-5D47-4714-A3C6-17F6D0BFBBB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30725" name="Object 3"/>
          <p:cNvGraphicFramePr>
            <a:graphicFrameLocks/>
          </p:cNvGraphicFramePr>
          <p:nvPr/>
        </p:nvGraphicFramePr>
        <p:xfrm>
          <a:off x="2743200" y="1981200"/>
          <a:ext cx="3186113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6" name="Equation" r:id="rId6" imgW="876300" imgH="241300" progId="Equation.3">
                  <p:embed/>
                </p:oleObj>
              </mc:Choice>
              <mc:Fallback>
                <p:oleObj name="Equation" r:id="rId6" imgW="876300" imgH="241300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981200"/>
                        <a:ext cx="3186113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6" name="Rectangle 4"/>
          <p:cNvSpPr>
            <a:spLocks noChangeArrowheads="1"/>
          </p:cNvSpPr>
          <p:nvPr/>
        </p:nvSpPr>
        <p:spPr bwMode="auto">
          <a:xfrm>
            <a:off x="1270000" y="2011363"/>
            <a:ext cx="15668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>
                <a:latin typeface="Arial" charset="0"/>
              </a:rPr>
              <a:t>Using</a:t>
            </a:r>
          </a:p>
        </p:txBody>
      </p:sp>
      <p:graphicFrame>
        <p:nvGraphicFramePr>
          <p:cNvPr id="30727" name="Object 5"/>
          <p:cNvGraphicFramePr>
            <a:graphicFrameLocks/>
          </p:cNvGraphicFramePr>
          <p:nvPr/>
        </p:nvGraphicFramePr>
        <p:xfrm>
          <a:off x="1600200" y="2971800"/>
          <a:ext cx="5038725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7" name="Equation" r:id="rId8" imgW="1917700" imgH="1193800" progId="Equation.3">
                  <p:embed/>
                </p:oleObj>
              </mc:Choice>
              <mc:Fallback>
                <p:oleObj name="Equation" r:id="rId8" imgW="1917700" imgH="1193800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2971800"/>
                        <a:ext cx="5038725" cy="289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chemeClr val="tx2">
                    <a:satMod val="130000"/>
                  </a:schemeClr>
                </a:solidFill>
              </a:rPr>
              <a:t>The Binomial Model</a:t>
            </a:r>
          </a:p>
        </p:txBody>
      </p:sp>
      <p:sp>
        <p:nvSpPr>
          <p:cNvPr id="2253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253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453C2F3-DA0D-4015-8E32-A2C8010EB2A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22533" name="Line 3"/>
          <p:cNvSpPr>
            <a:spLocks noChangeShapeType="1"/>
          </p:cNvSpPr>
          <p:nvPr/>
        </p:nvSpPr>
        <p:spPr bwMode="auto">
          <a:xfrm flipV="1">
            <a:off x="3298825" y="2425700"/>
            <a:ext cx="2036763" cy="7921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4" name="Line 4"/>
          <p:cNvSpPr>
            <a:spLocks noChangeShapeType="1"/>
          </p:cNvSpPr>
          <p:nvPr/>
        </p:nvSpPr>
        <p:spPr bwMode="auto">
          <a:xfrm>
            <a:off x="3298825" y="3217863"/>
            <a:ext cx="2036763" cy="7921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35" name="Rectangle 5"/>
          <p:cNvSpPr>
            <a:spLocks noChangeArrowheads="1"/>
          </p:cNvSpPr>
          <p:nvPr/>
        </p:nvSpPr>
        <p:spPr bwMode="auto">
          <a:xfrm>
            <a:off x="5295900" y="1866900"/>
            <a:ext cx="7239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S</a:t>
            </a:r>
            <a:r>
              <a:rPr lang="en-US" altLang="en-US" baseline="-25000">
                <a:latin typeface="Times New Roman" pitchFamily="18" charset="0"/>
              </a:rPr>
              <a:t>0</a:t>
            </a:r>
            <a:r>
              <a:rPr lang="en-US" altLang="en-US" i="1">
                <a:latin typeface="Times New Roman" pitchFamily="18" charset="0"/>
              </a:rPr>
              <a:t>u</a:t>
            </a:r>
            <a:endParaRPr lang="en-US" altLang="en-US">
              <a:latin typeface="Times New Roman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Arial" charset="0"/>
              </a:rPr>
              <a:t> </a:t>
            </a:r>
            <a:r>
              <a:rPr lang="en-US" altLang="en-US">
                <a:latin typeface="Times New Roman" pitchFamily="18" charset="0"/>
              </a:rPr>
              <a:t>ƒ</a:t>
            </a:r>
            <a:r>
              <a:rPr lang="en-US" altLang="en-US" i="1" baseline="-25000">
                <a:latin typeface="Times New Roman" pitchFamily="18" charset="0"/>
              </a:rPr>
              <a:t>u</a:t>
            </a:r>
          </a:p>
        </p:txBody>
      </p:sp>
      <p:sp>
        <p:nvSpPr>
          <p:cNvPr id="22536" name="Rectangle 6"/>
          <p:cNvSpPr>
            <a:spLocks noChangeArrowheads="1"/>
          </p:cNvSpPr>
          <p:nvPr/>
        </p:nvSpPr>
        <p:spPr bwMode="auto">
          <a:xfrm>
            <a:off x="5295900" y="3435350"/>
            <a:ext cx="7239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S</a:t>
            </a:r>
            <a:r>
              <a:rPr lang="en-US" altLang="en-US" baseline="-25000">
                <a:latin typeface="Times New Roman" pitchFamily="18" charset="0"/>
              </a:rPr>
              <a:t>0</a:t>
            </a:r>
            <a:r>
              <a:rPr lang="en-US" altLang="en-US" i="1">
                <a:latin typeface="Times New Roman" pitchFamily="18" charset="0"/>
              </a:rPr>
              <a:t>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Arial" charset="0"/>
              </a:rPr>
              <a:t> </a:t>
            </a:r>
            <a:r>
              <a:rPr lang="en-US" altLang="en-US">
                <a:latin typeface="Times New Roman" pitchFamily="18" charset="0"/>
              </a:rPr>
              <a:t>ƒ</a:t>
            </a:r>
            <a:r>
              <a:rPr lang="en-US" altLang="en-US" i="1" baseline="-25000">
                <a:latin typeface="Times New Roman" pitchFamily="18" charset="0"/>
              </a:rPr>
              <a:t>d</a:t>
            </a:r>
          </a:p>
        </p:txBody>
      </p:sp>
      <p:sp>
        <p:nvSpPr>
          <p:cNvPr id="22537" name="Rectangle 7"/>
          <p:cNvSpPr>
            <a:spLocks noChangeArrowheads="1"/>
          </p:cNvSpPr>
          <p:nvPr/>
        </p:nvSpPr>
        <p:spPr bwMode="auto">
          <a:xfrm>
            <a:off x="2819400" y="2692400"/>
            <a:ext cx="611188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i="1">
                <a:latin typeface="Times New Roman" pitchFamily="18" charset="0"/>
              </a:rPr>
              <a:t>S</a:t>
            </a:r>
            <a:r>
              <a:rPr lang="en-US" altLang="en-US" baseline="-25000">
                <a:latin typeface="Arial" charset="0"/>
              </a:rPr>
              <a:t>0</a:t>
            </a:r>
            <a:endParaRPr lang="en-US" altLang="en-US">
              <a:latin typeface="Arial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Arial" charset="0"/>
              </a:rPr>
              <a:t> </a:t>
            </a:r>
            <a:r>
              <a:rPr lang="en-US" altLang="en-US">
                <a:latin typeface="Times New Roman" pitchFamily="18" charset="0"/>
              </a:rPr>
              <a:t>ƒ</a:t>
            </a:r>
          </a:p>
        </p:txBody>
      </p:sp>
      <p:sp>
        <p:nvSpPr>
          <p:cNvPr id="22538" name="Rectangle 8"/>
          <p:cNvSpPr>
            <a:spLocks noChangeArrowheads="1"/>
          </p:cNvSpPr>
          <p:nvPr/>
        </p:nvSpPr>
        <p:spPr bwMode="auto">
          <a:xfrm rot="-1200000">
            <a:off x="4062413" y="2241550"/>
            <a:ext cx="38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buFontTx/>
              <a:buNone/>
            </a:pPr>
            <a:r>
              <a:rPr lang="en-US" altLang="en-US" i="1">
                <a:latin typeface="Times New Roman" pitchFamily="18" charset="0"/>
              </a:rPr>
              <a:t>p</a:t>
            </a:r>
          </a:p>
        </p:txBody>
      </p:sp>
      <p:sp>
        <p:nvSpPr>
          <p:cNvPr id="22539" name="Rectangle 9"/>
          <p:cNvSpPr>
            <a:spLocks noChangeArrowheads="1"/>
          </p:cNvSpPr>
          <p:nvPr/>
        </p:nvSpPr>
        <p:spPr bwMode="auto">
          <a:xfrm rot="1140000">
            <a:off x="3579813" y="3698875"/>
            <a:ext cx="14382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buFontTx/>
              <a:buNone/>
            </a:pPr>
            <a:r>
              <a:rPr lang="en-US" altLang="en-US">
                <a:latin typeface="Arial" charset="0"/>
              </a:rPr>
              <a:t>(1</a:t>
            </a:r>
            <a:r>
              <a:rPr lang="en-US" altLang="en-US">
                <a:latin typeface="Symbol" pitchFamily="18" charset="2"/>
              </a:rPr>
              <a:t> </a:t>
            </a:r>
            <a:r>
              <a:rPr lang="en-US" altLang="en-US">
                <a:latin typeface="Arial" charset="0"/>
              </a:rPr>
              <a:t>– </a:t>
            </a:r>
            <a:r>
              <a:rPr lang="en-US" altLang="en-US" i="1">
                <a:latin typeface="Times New Roman" pitchFamily="18" charset="0"/>
              </a:rPr>
              <a:t>p</a:t>
            </a:r>
            <a:r>
              <a:rPr lang="en-US" altLang="en-US">
                <a:latin typeface="Arial" charset="0"/>
              </a:rPr>
              <a:t> )</a:t>
            </a:r>
          </a:p>
        </p:txBody>
      </p:sp>
      <p:sp>
        <p:nvSpPr>
          <p:cNvPr id="22540" name="Rectangle 10"/>
          <p:cNvSpPr>
            <a:spLocks noChangeArrowheads="1"/>
          </p:cNvSpPr>
          <p:nvPr/>
        </p:nvSpPr>
        <p:spPr bwMode="auto">
          <a:xfrm>
            <a:off x="990600" y="5257800"/>
            <a:ext cx="57150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marL="342900" indent="-342900"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lvl="4" algn="ctr">
              <a:spcBef>
                <a:spcPct val="0"/>
              </a:spcBef>
              <a:buClrTx/>
              <a:buFontTx/>
              <a:buNone/>
            </a:pPr>
            <a:r>
              <a:rPr lang="en-US" altLang="en-US" sz="3200" i="1">
                <a:latin typeface="Times New Roman" pitchFamily="18" charset="0"/>
              </a:rPr>
              <a:t>f=e</a:t>
            </a:r>
            <a:r>
              <a:rPr lang="en-US" altLang="en-US" sz="3200" i="1" baseline="30000">
                <a:latin typeface="Times New Roman" pitchFamily="18" charset="0"/>
              </a:rPr>
              <a:t>-rT</a:t>
            </a:r>
            <a:r>
              <a:rPr lang="en-US" altLang="en-US" sz="3200">
                <a:latin typeface="Times New Roman" pitchFamily="18" charset="0"/>
              </a:rPr>
              <a:t>[</a:t>
            </a:r>
            <a:r>
              <a:rPr lang="en-US" altLang="en-US" sz="3200" i="1">
                <a:latin typeface="Times New Roman" pitchFamily="18" charset="0"/>
              </a:rPr>
              <a:t>pf</a:t>
            </a:r>
            <a:r>
              <a:rPr lang="en-US" altLang="en-US" sz="3200" i="1" baseline="-25000">
                <a:latin typeface="Times New Roman" pitchFamily="18" charset="0"/>
              </a:rPr>
              <a:t>u</a:t>
            </a:r>
            <a:r>
              <a:rPr lang="en-US" altLang="en-US" sz="3200" i="1">
                <a:latin typeface="Times New Roman" pitchFamily="18" charset="0"/>
              </a:rPr>
              <a:t>+</a:t>
            </a:r>
            <a:r>
              <a:rPr lang="en-US" altLang="en-US" sz="3200">
                <a:latin typeface="Times New Roman" pitchFamily="18" charset="0"/>
              </a:rPr>
              <a:t>(1</a:t>
            </a:r>
            <a:r>
              <a:rPr lang="en-US" altLang="en-US" sz="3200" i="1">
                <a:latin typeface="Times New Roman" pitchFamily="18" charset="0"/>
              </a:rPr>
              <a:t>−p</a:t>
            </a:r>
            <a:r>
              <a:rPr lang="en-US" altLang="en-US" sz="3200">
                <a:latin typeface="Times New Roman" pitchFamily="18" charset="0"/>
              </a:rPr>
              <a:t>)</a:t>
            </a:r>
            <a:r>
              <a:rPr lang="en-US" altLang="en-US" sz="3200" i="1">
                <a:latin typeface="Times New Roman" pitchFamily="18" charset="0"/>
              </a:rPr>
              <a:t>f</a:t>
            </a:r>
            <a:r>
              <a:rPr lang="en-US" altLang="en-US" sz="3200" i="1" baseline="-25000">
                <a:latin typeface="Times New Roman" pitchFamily="18" charset="0"/>
              </a:rPr>
              <a:t>d </a:t>
            </a:r>
            <a:r>
              <a:rPr lang="en-US" altLang="en-US" sz="3200">
                <a:latin typeface="Times New Roman" pitchFamily="18" charset="0"/>
              </a:rPr>
              <a:t>]          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609600"/>
            <a:ext cx="7239000" cy="1371600"/>
          </a:xfrm>
        </p:spPr>
        <p:txBody>
          <a:bodyPr lIns="92075" tIns="46038" rIns="92075" bIns="46038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 Binomial </a:t>
            </a: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Model  </a:t>
            </a:r>
            <a:r>
              <a:rPr lang="en-US" sz="2200" dirty="0" smtClean="0">
                <a:solidFill>
                  <a:schemeClr val="tx2">
                    <a:satMod val="130000"/>
                  </a:schemeClr>
                </a:solidFill>
              </a:rPr>
              <a:t>continued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828800"/>
            <a:ext cx="7315200" cy="4267200"/>
          </a:xfrm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In a risk-neutral world the asset price grows at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r−q</a:t>
            </a:r>
            <a:r>
              <a:rPr lang="en-US" altLang="en-US" i="1" smtClean="0">
                <a:latin typeface="Arial" charset="0"/>
                <a:cs typeface="Arial" charset="0"/>
              </a:rPr>
              <a:t> </a:t>
            </a:r>
            <a:r>
              <a:rPr lang="en-US" altLang="en-US" smtClean="0">
                <a:latin typeface="Arial" charset="0"/>
                <a:cs typeface="Arial" charset="0"/>
              </a:rPr>
              <a:t>rather than at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r</a:t>
            </a:r>
            <a:r>
              <a:rPr lang="en-US" altLang="en-US" i="1" smtClean="0">
                <a:latin typeface="Arial" charset="0"/>
                <a:cs typeface="Arial" charset="0"/>
              </a:rPr>
              <a:t> </a:t>
            </a:r>
            <a:r>
              <a:rPr lang="en-US" altLang="en-US" smtClean="0">
                <a:latin typeface="Arial" charset="0"/>
                <a:cs typeface="Arial" charset="0"/>
              </a:rPr>
              <a:t>when there is a dividend yield at rate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q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latin typeface="Arial" charset="0"/>
                <a:cs typeface="Arial" charset="0"/>
              </a:rPr>
              <a:t>The probability,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p</a:t>
            </a:r>
            <a:r>
              <a:rPr lang="en-US" altLang="en-US" smtClean="0">
                <a:latin typeface="Arial" charset="0"/>
                <a:cs typeface="Arial" charset="0"/>
              </a:rPr>
              <a:t>, of an up movement must therefore satisfy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i="1" smtClean="0">
                <a:latin typeface="Arial" charset="0"/>
                <a:cs typeface="Arial" charset="0"/>
              </a:rPr>
              <a:t>			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pS</a:t>
            </a:r>
            <a:r>
              <a:rPr lang="en-US" altLang="en-US" baseline="-25000" smtClean="0">
                <a:latin typeface="Arial" charset="0"/>
                <a:cs typeface="Arial" charset="0"/>
              </a:rPr>
              <a:t>0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u+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1−p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)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d = S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e</a:t>
            </a:r>
            <a:r>
              <a:rPr lang="en-US" altLang="en-US" i="1" baseline="3000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baseline="30000" smtClean="0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 baseline="30000" smtClean="0">
                <a:latin typeface="Times New Roman" pitchFamily="18" charset="0"/>
                <a:cs typeface="Arial" charset="0"/>
              </a:rPr>
              <a:t>r−q</a:t>
            </a:r>
            <a:r>
              <a:rPr lang="en-US" altLang="en-US" baseline="30000" smtClean="0">
                <a:latin typeface="Times New Roman" pitchFamily="18" charset="0"/>
                <a:cs typeface="Arial" charset="0"/>
              </a:rPr>
              <a:t>)</a:t>
            </a:r>
            <a:r>
              <a:rPr lang="en-US" altLang="en-US" i="1" baseline="30000" smtClean="0">
                <a:latin typeface="Times New Roman" pitchFamily="18" charset="0"/>
                <a:cs typeface="Arial" charset="0"/>
              </a:rPr>
              <a:t>T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i="1" smtClean="0">
                <a:latin typeface="Arial" charset="0"/>
                <a:cs typeface="Arial" charset="0"/>
              </a:rPr>
              <a:t>	</a:t>
            </a:r>
            <a:r>
              <a:rPr lang="en-US" altLang="en-US" smtClean="0">
                <a:latin typeface="Arial" charset="0"/>
                <a:cs typeface="Arial" charset="0"/>
              </a:rPr>
              <a:t>so that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		</a:t>
            </a:r>
          </a:p>
        </p:txBody>
      </p:sp>
      <p:sp>
        <p:nvSpPr>
          <p:cNvPr id="2355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 11th  Edition, Copyright © John 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35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CF04B75-0222-4FA5-B188-B16D9298BFF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3558" name="Object 4"/>
          <p:cNvGraphicFramePr>
            <a:graphicFrameLocks/>
          </p:cNvGraphicFramePr>
          <p:nvPr/>
        </p:nvGraphicFramePr>
        <p:xfrm>
          <a:off x="3657600" y="4724400"/>
          <a:ext cx="1960563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4" name="Equation" r:id="rId6" imgW="7095656" imgH="3056050" progId="Equation.2">
                  <p:embed/>
                </p:oleObj>
              </mc:Choice>
              <mc:Fallback>
                <p:oleObj name="Equation" r:id="rId6" imgW="7095656" imgH="3056050" progId="Equation.2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724400"/>
                        <a:ext cx="1960563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satMod val="130000"/>
                  </a:schemeClr>
                </a:solidFill>
              </a:rPr>
              <a:t>The Binomial Model  </a:t>
            </a:r>
            <a:r>
              <a:rPr lang="en-US" sz="2200" dirty="0">
                <a:solidFill>
                  <a:schemeClr val="tx2">
                    <a:satMod val="130000"/>
                  </a:schemeClr>
                </a:solidFill>
              </a:rPr>
              <a:t>continued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the case of an option on a stock index we set </a:t>
            </a:r>
            <a:r>
              <a:rPr lang="en-US" i="1" dirty="0" smtClean="0">
                <a:latin typeface="+mj-lt"/>
              </a:rPr>
              <a:t>q</a:t>
            </a:r>
            <a:r>
              <a:rPr lang="en-US" dirty="0" smtClean="0"/>
              <a:t> equal to the dividend yield on the index</a:t>
            </a:r>
          </a:p>
          <a:p>
            <a:r>
              <a:rPr lang="en-US" dirty="0" smtClean="0"/>
              <a:t>In the case of a currency we set </a:t>
            </a:r>
            <a:r>
              <a:rPr lang="en-US" i="1" dirty="0" smtClean="0">
                <a:latin typeface="+mj-lt"/>
              </a:rPr>
              <a:t>q</a:t>
            </a:r>
            <a:r>
              <a:rPr lang="en-US" dirty="0" smtClean="0"/>
              <a:t> equal to the foreign risk-free rate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Options, Futures, and Other Derivatives,  11th  Edition, Copyright © John 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CC6A64-D704-4F89-9C09-1694D0919605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843768"/>
      </p:ext>
    </p:extLst>
  </p:cSld>
  <p:clrMapOvr>
    <a:masterClrMapping/>
  </p:clrMapOvr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0" ma:contentTypeDescription="Create a new document." ma:contentTypeScope="" ma:versionID="9ec98e71a396c75c5e8fb3166c3ab2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45E46BA-006D-4DC0-B3F5-BD1718F2C289}"/>
</file>

<file path=customXml/itemProps2.xml><?xml version="1.0" encoding="utf-8"?>
<ds:datastoreItem xmlns:ds="http://schemas.openxmlformats.org/officeDocument/2006/customXml" ds:itemID="{3F4C76A5-CA26-478C-834E-6EC6A9E6EC9F}"/>
</file>

<file path=customXml/itemProps3.xml><?xml version="1.0" encoding="utf-8"?>
<ds:datastoreItem xmlns:ds="http://schemas.openxmlformats.org/officeDocument/2006/customXml" ds:itemID="{DAE8F0AD-2B6B-4F8A-BE84-40FED9CF9C49}"/>
</file>

<file path=docProps/app.xml><?xml version="1.0" encoding="utf-8"?>
<Properties xmlns="http://schemas.openxmlformats.org/officeDocument/2006/extended-properties" xmlns:vt="http://schemas.openxmlformats.org/officeDocument/2006/docPropsVTypes">
  <Template>Ch15HullOFOD8thEd</Template>
  <TotalTime>1018</TotalTime>
  <Words>1269</Words>
  <Application>Microsoft Office PowerPoint</Application>
  <PresentationFormat>On-screen Show (4:3)</PresentationFormat>
  <Paragraphs>187</Paragraphs>
  <Slides>24</Slides>
  <Notes>23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Calibri</vt:lpstr>
      <vt:lpstr>Symbol</vt:lpstr>
      <vt:lpstr>Tahoma</vt:lpstr>
      <vt:lpstr>Times New Roman</vt:lpstr>
      <vt:lpstr>Wingdings</vt:lpstr>
      <vt:lpstr>Wingdings 2</vt:lpstr>
      <vt:lpstr>Global</vt:lpstr>
      <vt:lpstr>Document</vt:lpstr>
      <vt:lpstr>Equation</vt:lpstr>
      <vt:lpstr> Chapter 17 Options on Stock Indices and Currencies</vt:lpstr>
      <vt:lpstr>Index Options)</vt:lpstr>
      <vt:lpstr>Index Option Example</vt:lpstr>
      <vt:lpstr>Using Index Options for Portfolio Insurance</vt:lpstr>
      <vt:lpstr>Example 1</vt:lpstr>
      <vt:lpstr>Example 2</vt:lpstr>
      <vt:lpstr>Calculating Relation Between Index Level and Portfolio Value in 3 months (Table 17.1)</vt:lpstr>
      <vt:lpstr>Determining the Strike Price (Table 17.2,) </vt:lpstr>
      <vt:lpstr>Currency Options</vt:lpstr>
      <vt:lpstr>Range Forward Contracts</vt:lpstr>
      <vt:lpstr>Range Forward Contract continued Figure 17.1, page 368 </vt:lpstr>
      <vt:lpstr>European Options on Assets Providing a Known Yield</vt:lpstr>
      <vt:lpstr>European Options on Assets Providing Known Yield continued</vt:lpstr>
      <vt:lpstr>Extension of Chapter 11 Results (Equations 17.1 to 17.3)</vt:lpstr>
      <vt:lpstr>Extension of Chapter 15 Results (Equations 17.4 and 17.5)</vt:lpstr>
      <vt:lpstr>Alternative Formulas (equations 17.8 and 17.9)</vt:lpstr>
      <vt:lpstr>Valuing  European Index Options</vt:lpstr>
      <vt:lpstr>Implied Forward Prices and Dividend Yields (equation (17.10)</vt:lpstr>
      <vt:lpstr>Valuing  European Currency Options</vt:lpstr>
      <vt:lpstr>Formulas for European Currency Options (Equations 17.11 and 17.12)</vt:lpstr>
      <vt:lpstr>Alternative Formulas (Equations 17.13 and 17.14) </vt:lpstr>
      <vt:lpstr>The Binomial Model</vt:lpstr>
      <vt:lpstr>The Binomial Model  continued</vt:lpstr>
      <vt:lpstr>The Binomial Model  continued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Options on Stock Indices and Currencies</dc:title>
  <dc:subject>Options, Futures, and Other Derivatives, 11e</dc:subject>
  <dc:creator>John C. Hull</dc:creator>
  <cp:keywords>Chapter 17</cp:keywords>
  <dc:description>Copyright 2021 by John C. Hull. All Rights Reserved. Published 2021</dc:description>
  <cp:lastModifiedBy>John Hull</cp:lastModifiedBy>
  <cp:revision>113</cp:revision>
  <dcterms:created xsi:type="dcterms:W3CDTF">2008-05-30T23:52:09Z</dcterms:created>
  <dcterms:modified xsi:type="dcterms:W3CDTF">2020-09-30T15:25:49Z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