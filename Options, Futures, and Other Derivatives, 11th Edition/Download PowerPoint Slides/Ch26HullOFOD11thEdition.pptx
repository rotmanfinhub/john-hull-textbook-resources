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35.xml" ContentType="application/vnd.openxmlformats-officedocument.presentationml.slide+xml"/>
  <Override PartName="/ppt/slides/slide1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2" r:id="rId1"/>
  </p:sldMasterIdLst>
  <p:notesMasterIdLst>
    <p:notesMasterId r:id="rId37"/>
  </p:notesMasterIdLst>
  <p:sldIdLst>
    <p:sldId id="256" r:id="rId2"/>
    <p:sldId id="259" r:id="rId3"/>
    <p:sldId id="260" r:id="rId4"/>
    <p:sldId id="291" r:id="rId5"/>
    <p:sldId id="292" r:id="rId6"/>
    <p:sldId id="261" r:id="rId7"/>
    <p:sldId id="287" r:id="rId8"/>
    <p:sldId id="262" r:id="rId9"/>
    <p:sldId id="288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84" r:id="rId25"/>
    <p:sldId id="285" r:id="rId26"/>
    <p:sldId id="289" r:id="rId27"/>
    <p:sldId id="286" r:id="rId28"/>
    <p:sldId id="277" r:id="rId29"/>
    <p:sldId id="278" r:id="rId30"/>
    <p:sldId id="279" r:id="rId31"/>
    <p:sldId id="290" r:id="rId32"/>
    <p:sldId id="280" r:id="rId33"/>
    <p:sldId id="281" r:id="rId34"/>
    <p:sldId id="282" r:id="rId35"/>
    <p:sldId id="283" r:id="rId3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52" y="1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4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E76697E-1170-498D-AD6D-37DE3EE49369}" type="datetimeFigureOut">
              <a:rPr lang="en-US"/>
              <a:pPr>
                <a:defRPr/>
              </a:pPr>
              <a:t>10/1/2020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9C0F195-3A7F-4986-8A57-42E0A4676E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3507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7DFE522-F486-4293-8372-F41AC5148267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803361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CC7848F-4A4A-462C-861C-913B269BE2B8}" type="slidenum">
              <a:rPr lang="en-US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461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013FFFE-5EC3-47F2-9FDF-642B7539C540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441049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797007-B4C1-45C2-AEBB-8D3BFEEDD5EB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6222064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8824080-303E-4FC5-8FFB-A651083366C7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370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3CF6DD4-5E9D-4920-9A45-8ED66767C772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2526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1BAC157-185F-4EFA-9946-A2A30194A670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465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89F897-8D57-45F3-8425-C46404C58DF1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401553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5342BDF-6642-49EF-B7A1-29B5980DEA07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1750591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9A20B64-96E5-45D4-8D61-6051341EDB45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8819357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9F65542-0335-4B8A-8273-C9F8D53D01DD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7851185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2B7A005-C5E6-4BAC-90BA-8A60B35313FC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4981478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B5599F8-3A0B-4261-86B2-9126236EA551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071910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F6570AF-A160-427D-98A3-0AC97CB494A3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146350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4A60D73-BD59-422D-93D0-E17A9057FBE9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5345098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AF8B7F8-81FC-4B92-9DBC-B774D787BCB2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4680939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397AA59-F191-4131-8057-7C2B74766DEC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565950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523D0F3-C134-48C8-A9BC-521697EAA818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1692557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3F2DC14-CBCC-416E-B37E-22D63BB93C73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953663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15F3FDA-ABAC-45C3-A104-AFE0162965D7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1996833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6EAA20-B007-493A-B09C-52C2F0CC89A3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495987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2E0EF4-CBDF-4F87-845D-7000E07271FF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1733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36EB27D-B198-446F-B48D-2EBCE6F923B8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2222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85883BA-3AB0-4DE3-8F60-300E09FF1EF1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3973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050CE36-6145-49B5-A673-3DB9BC2C023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8540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B25226-3D66-4BDA-9618-A0D6F9B123B8}" type="slidenum">
              <a:rPr lang="en-US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2441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E0DBB1-AB3F-4D63-BAEB-8E5BAB47247E}" type="slidenum">
              <a:rPr lang="en-US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61312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4CB8C7-E02D-4CD0-B60E-EB8FDB74025A}" type="slidenum">
              <a:rPr lang="en-US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5518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D6994D6-8227-4799-9E07-49F30DC614DA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093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8D3B4CD-27CC-4470-A2EA-229FE60C170A}" type="slidenum">
              <a:rPr lang="en-US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7964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9473238-4A7C-4380-BAB8-7CEB4D1132A3}" type="slidenum">
              <a:rPr lang="en-US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3880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C77D0E2-CD7B-4520-8A7A-7ABFC03986AD}" type="slidenum">
              <a:rPr lang="en-US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4657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66E3FA3-06A8-475A-B795-7B206AD5A759}" type="slidenum">
              <a:rPr lang="en-US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075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4848 w 4848"/>
                  <a:gd name="T1" fmla="*/ 432 h 432"/>
                  <a:gd name="T2" fmla="*/ 0 w 4848"/>
                  <a:gd name="T3" fmla="*/ 432 h 432"/>
                  <a:gd name="T4" fmla="*/ 0 w 4848"/>
                  <a:gd name="T5" fmla="*/ 0 h 432"/>
                  <a:gd name="T6" fmla="*/ 4848 w 4848"/>
                  <a:gd name="T7" fmla="*/ 0 h 432"/>
                  <a:gd name="T8" fmla="*/ 4848 w 4848"/>
                  <a:gd name="T9" fmla="*/ 432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03029F6-AF5E-47F6-A946-3A73A48E7A24}" type="datetime1">
              <a:rPr lang="en-US" smtClean="0"/>
              <a:t>10/1/2020</a:t>
            </a:fld>
            <a:endParaRPr lang="en-US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2057400" y="6324600"/>
            <a:ext cx="43434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A84D40-CCB3-4E90-8E33-7267477A19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55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E68DFD8-84BA-48DB-AD51-2206BD298A6E}" type="datetime1">
              <a:rPr lang="en-US" smtClean="0"/>
              <a:t>10/1/2020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524931-9178-4291-BD7F-278BD3EB37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160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02FD17-AFCA-4B92-AB5D-0C17B9BD2081}" type="datetime1">
              <a:rPr lang="en-US" smtClean="0"/>
              <a:t>10/1/2020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1AEEF1-F9AA-46A4-AE26-F85861C3B5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54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6AA9D2-BEB5-4A3C-83D3-81ACB4E75C4E}" type="datetime1">
              <a:rPr lang="en-US" smtClean="0"/>
              <a:t>10/1/2020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6B2C4C-E2C0-4EB0-A9E5-D3BDD74137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773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DFE3E1-4CC2-4DB7-8166-A60639048CF2}" type="datetime1">
              <a:rPr lang="en-US" smtClean="0"/>
              <a:t>10/1/2020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86344C-360B-498F-8C9E-5817318C2A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783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F36E79C-ACA5-4298-928F-7E5FF3588395}" type="datetime1">
              <a:rPr lang="en-US" smtClean="0"/>
              <a:t>10/1/2020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33600" y="6324600"/>
            <a:ext cx="4800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1DE5DF-6121-4319-BDD5-E3FB1AAA63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215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4B98B2-7697-4DE0-85CE-CB471CC51412}" type="datetime1">
              <a:rPr lang="en-US" smtClean="0"/>
              <a:t>10/1/2020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26A1F3-57A9-47F1-A556-218C67B818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723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FB1A21-9D2A-4455-8C19-2D4368074E73}" type="datetime1">
              <a:rPr lang="en-US" smtClean="0"/>
              <a:t>10/1/2020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0C6030-C5F1-479B-96B2-04A5193E4E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375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236150-28ED-4F78-983C-27C8745F048C}" type="datetime1">
              <a:rPr lang="en-US" smtClean="0"/>
              <a:t>10/1/2020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035368-783D-4718-BC65-AE28334BF8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051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59FD3F-2A50-45D9-937E-532D466CEADF}" type="datetime1">
              <a:rPr lang="en-US" smtClean="0"/>
              <a:t>10/1/2020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E47AF5-6C39-4B64-BC12-7E5A601F00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565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EF4C20-5FAC-4B91-953E-CF3437816325}" type="datetime1">
              <a:rPr lang="en-US" smtClean="0"/>
              <a:t>10/1/2020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BDE50E-A135-4B78-8F72-21D8802D99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979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295B9AF-DDCB-4DAB-89F7-A38F486CB015}" type="datetime1">
              <a:rPr lang="en-US" smtClean="0"/>
              <a:t>10/1/2020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0825" y="6248400"/>
            <a:ext cx="7561263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440405-0327-4A10-BD84-A93F958F7D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2549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719263"/>
            <a:ext cx="4038600" cy="21288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21304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A983D7C-88D5-4423-B4F9-18E98D392D8F}" type="datetime1">
              <a:rPr lang="en-US" smtClean="0"/>
              <a:t>10/1/2020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50825" y="6248400"/>
            <a:ext cx="7561263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DF6249-E0FF-4B6A-B9A6-9F4CA16D22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212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fld id="{CB0A6417-C7B0-4EB5-8425-EF3B6FF2E330}" type="datetime1">
              <a:rPr lang="en-US" smtClean="0"/>
              <a:t>10/1/2020</a:t>
            </a:fld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67000" y="6324600"/>
            <a:ext cx="441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B08B975-7A94-4455-91D2-9F517D4C9D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5 w 15"/>
                      <a:gd name="T1" fmla="*/ 11 h 23"/>
                      <a:gd name="T2" fmla="*/ 15 w 15"/>
                      <a:gd name="T3" fmla="*/ 5 h 23"/>
                      <a:gd name="T4" fmla="*/ 13 w 15"/>
                      <a:gd name="T5" fmla="*/ 17 h 23"/>
                      <a:gd name="T6" fmla="*/ 5 w 15"/>
                      <a:gd name="T7" fmla="*/ 11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3 w 20"/>
                      <a:gd name="T1" fmla="*/ 13 h 23"/>
                      <a:gd name="T2" fmla="*/ 11 w 20"/>
                      <a:gd name="T3" fmla="*/ 3 h 23"/>
                      <a:gd name="T4" fmla="*/ 7 w 20"/>
                      <a:gd name="T5" fmla="*/ 19 h 23"/>
                      <a:gd name="T6" fmla="*/ 3 w 20"/>
                      <a:gd name="T7" fmla="*/ 13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8 w 26"/>
                      <a:gd name="T1" fmla="*/ 14 h 22"/>
                      <a:gd name="T2" fmla="*/ 14 w 26"/>
                      <a:gd name="T3" fmla="*/ 0 h 22"/>
                      <a:gd name="T4" fmla="*/ 14 w 26"/>
                      <a:gd name="T5" fmla="*/ 22 h 22"/>
                      <a:gd name="T6" fmla="*/ 8 w 26"/>
                      <a:gd name="T7" fmla="*/ 14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21 w 471"/>
                      <a:gd name="T1" fmla="*/ 280 h 281"/>
                      <a:gd name="T2" fmla="*/ 24 w 471"/>
                      <a:gd name="T3" fmla="*/ 250 h 281"/>
                      <a:gd name="T4" fmla="*/ 22 w 471"/>
                      <a:gd name="T5" fmla="*/ 245 h 281"/>
                      <a:gd name="T6" fmla="*/ 16 w 471"/>
                      <a:gd name="T7" fmla="*/ 218 h 281"/>
                      <a:gd name="T8" fmla="*/ 4 w 471"/>
                      <a:gd name="T9" fmla="*/ 215 h 281"/>
                      <a:gd name="T10" fmla="*/ 0 w 471"/>
                      <a:gd name="T11" fmla="*/ 191 h 281"/>
                      <a:gd name="T12" fmla="*/ 12 w 471"/>
                      <a:gd name="T13" fmla="*/ 180 h 281"/>
                      <a:gd name="T14" fmla="*/ 6 w 471"/>
                      <a:gd name="T15" fmla="*/ 165 h 281"/>
                      <a:gd name="T16" fmla="*/ 2 w 471"/>
                      <a:gd name="T17" fmla="*/ 160 h 281"/>
                      <a:gd name="T18" fmla="*/ 28 w 471"/>
                      <a:gd name="T19" fmla="*/ 120 h 281"/>
                      <a:gd name="T20" fmla="*/ 44 w 471"/>
                      <a:gd name="T21" fmla="*/ 96 h 281"/>
                      <a:gd name="T22" fmla="*/ 42 w 471"/>
                      <a:gd name="T23" fmla="*/ 70 h 281"/>
                      <a:gd name="T24" fmla="*/ 24 w 471"/>
                      <a:gd name="T25" fmla="*/ 43 h 281"/>
                      <a:gd name="T26" fmla="*/ 20 w 471"/>
                      <a:gd name="T27" fmla="*/ 32 h 281"/>
                      <a:gd name="T28" fmla="*/ 26 w 471"/>
                      <a:gd name="T29" fmla="*/ 36 h 281"/>
                      <a:gd name="T30" fmla="*/ 48 w 471"/>
                      <a:gd name="T31" fmla="*/ 35 h 281"/>
                      <a:gd name="T32" fmla="*/ 64 w 471"/>
                      <a:gd name="T33" fmla="*/ 11 h 281"/>
                      <a:gd name="T34" fmla="*/ 82 w 471"/>
                      <a:gd name="T35" fmla="*/ 0 h 281"/>
                      <a:gd name="T36" fmla="*/ 88 w 471"/>
                      <a:gd name="T37" fmla="*/ 2 h 281"/>
                      <a:gd name="T38" fmla="*/ 92 w 471"/>
                      <a:gd name="T39" fmla="*/ 9 h 281"/>
                      <a:gd name="T40" fmla="*/ 98 w 471"/>
                      <a:gd name="T41" fmla="*/ 5 h 281"/>
                      <a:gd name="T42" fmla="*/ 110 w 471"/>
                      <a:gd name="T43" fmla="*/ 8 h 281"/>
                      <a:gd name="T44" fmla="*/ 116 w 471"/>
                      <a:gd name="T45" fmla="*/ 9 h 281"/>
                      <a:gd name="T46" fmla="*/ 141 w 471"/>
                      <a:gd name="T47" fmla="*/ 14 h 281"/>
                      <a:gd name="T48" fmla="*/ 155 w 471"/>
                      <a:gd name="T49" fmla="*/ 24 h 281"/>
                      <a:gd name="T50" fmla="*/ 167 w 471"/>
                      <a:gd name="T51" fmla="*/ 17 h 281"/>
                      <a:gd name="T52" fmla="*/ 173 w 471"/>
                      <a:gd name="T53" fmla="*/ 14 h 281"/>
                      <a:gd name="T54" fmla="*/ 195 w 471"/>
                      <a:gd name="T55" fmla="*/ 14 h 281"/>
                      <a:gd name="T56" fmla="*/ 211 w 471"/>
                      <a:gd name="T57" fmla="*/ 32 h 281"/>
                      <a:gd name="T58" fmla="*/ 231 w 471"/>
                      <a:gd name="T59" fmla="*/ 59 h 281"/>
                      <a:gd name="T60" fmla="*/ 245 w 471"/>
                      <a:gd name="T61" fmla="*/ 70 h 281"/>
                      <a:gd name="T62" fmla="*/ 257 w 471"/>
                      <a:gd name="T63" fmla="*/ 68 h 281"/>
                      <a:gd name="T64" fmla="*/ 270 w 471"/>
                      <a:gd name="T65" fmla="*/ 65 h 281"/>
                      <a:gd name="T66" fmla="*/ 290 w 471"/>
                      <a:gd name="T67" fmla="*/ 71 h 281"/>
                      <a:gd name="T68" fmla="*/ 300 w 471"/>
                      <a:gd name="T69" fmla="*/ 81 h 281"/>
                      <a:gd name="T70" fmla="*/ 308 w 471"/>
                      <a:gd name="T71" fmla="*/ 90 h 281"/>
                      <a:gd name="T72" fmla="*/ 318 w 471"/>
                      <a:gd name="T73" fmla="*/ 111 h 281"/>
                      <a:gd name="T74" fmla="*/ 322 w 471"/>
                      <a:gd name="T75" fmla="*/ 120 h 281"/>
                      <a:gd name="T76" fmla="*/ 324 w 471"/>
                      <a:gd name="T77" fmla="*/ 125 h 281"/>
                      <a:gd name="T78" fmla="*/ 310 w 471"/>
                      <a:gd name="T79" fmla="*/ 142 h 281"/>
                      <a:gd name="T80" fmla="*/ 322 w 471"/>
                      <a:gd name="T81" fmla="*/ 141 h 281"/>
                      <a:gd name="T82" fmla="*/ 342 w 471"/>
                      <a:gd name="T83" fmla="*/ 155 h 281"/>
                      <a:gd name="T84" fmla="*/ 364 w 471"/>
                      <a:gd name="T85" fmla="*/ 157 h 281"/>
                      <a:gd name="T86" fmla="*/ 380 w 471"/>
                      <a:gd name="T87" fmla="*/ 168 h 281"/>
                      <a:gd name="T88" fmla="*/ 382 w 471"/>
                      <a:gd name="T89" fmla="*/ 172 h 281"/>
                      <a:gd name="T90" fmla="*/ 382 w 471"/>
                      <a:gd name="T91" fmla="*/ 176 h 281"/>
                      <a:gd name="T92" fmla="*/ 394 w 471"/>
                      <a:gd name="T93" fmla="*/ 172 h 281"/>
                      <a:gd name="T94" fmla="*/ 400 w 471"/>
                      <a:gd name="T95" fmla="*/ 171 h 281"/>
                      <a:gd name="T96" fmla="*/ 439 w 471"/>
                      <a:gd name="T97" fmla="*/ 185 h 281"/>
                      <a:gd name="T98" fmla="*/ 447 w 471"/>
                      <a:gd name="T99" fmla="*/ 199 h 281"/>
                      <a:gd name="T100" fmla="*/ 465 w 471"/>
                      <a:gd name="T101" fmla="*/ 201 h 281"/>
                      <a:gd name="T102" fmla="*/ 471 w 471"/>
                      <a:gd name="T103" fmla="*/ 215 h 281"/>
                      <a:gd name="T104" fmla="*/ 451 w 471"/>
                      <a:gd name="T105" fmla="*/ 258 h 281"/>
                      <a:gd name="T106" fmla="*/ 435 w 471"/>
                      <a:gd name="T107" fmla="*/ 28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406 w 984"/>
                      <a:gd name="T1" fmla="*/ 6 h 844"/>
                      <a:gd name="T2" fmla="*/ 502 w 984"/>
                      <a:gd name="T3" fmla="*/ 34 h 844"/>
                      <a:gd name="T4" fmla="*/ 550 w 984"/>
                      <a:gd name="T5" fmla="*/ 38 h 844"/>
                      <a:gd name="T6" fmla="*/ 578 w 984"/>
                      <a:gd name="T7" fmla="*/ 130 h 844"/>
                      <a:gd name="T8" fmla="*/ 586 w 984"/>
                      <a:gd name="T9" fmla="*/ 90 h 844"/>
                      <a:gd name="T10" fmla="*/ 606 w 984"/>
                      <a:gd name="T11" fmla="*/ 70 h 844"/>
                      <a:gd name="T12" fmla="*/ 642 w 984"/>
                      <a:gd name="T13" fmla="*/ 126 h 844"/>
                      <a:gd name="T14" fmla="*/ 682 w 984"/>
                      <a:gd name="T15" fmla="*/ 98 h 844"/>
                      <a:gd name="T16" fmla="*/ 706 w 984"/>
                      <a:gd name="T17" fmla="*/ 86 h 844"/>
                      <a:gd name="T18" fmla="*/ 762 w 984"/>
                      <a:gd name="T19" fmla="*/ 2 h 844"/>
                      <a:gd name="T20" fmla="*/ 798 w 984"/>
                      <a:gd name="T21" fmla="*/ 70 h 844"/>
                      <a:gd name="T22" fmla="*/ 798 w 984"/>
                      <a:gd name="T23" fmla="*/ 130 h 844"/>
                      <a:gd name="T24" fmla="*/ 790 w 984"/>
                      <a:gd name="T25" fmla="*/ 158 h 844"/>
                      <a:gd name="T26" fmla="*/ 766 w 984"/>
                      <a:gd name="T27" fmla="*/ 162 h 844"/>
                      <a:gd name="T28" fmla="*/ 762 w 984"/>
                      <a:gd name="T29" fmla="*/ 186 h 844"/>
                      <a:gd name="T30" fmla="*/ 802 w 984"/>
                      <a:gd name="T31" fmla="*/ 226 h 844"/>
                      <a:gd name="T32" fmla="*/ 786 w 984"/>
                      <a:gd name="T33" fmla="*/ 322 h 844"/>
                      <a:gd name="T34" fmla="*/ 830 w 984"/>
                      <a:gd name="T35" fmla="*/ 414 h 844"/>
                      <a:gd name="T36" fmla="*/ 854 w 984"/>
                      <a:gd name="T37" fmla="*/ 450 h 844"/>
                      <a:gd name="T38" fmla="*/ 830 w 984"/>
                      <a:gd name="T39" fmla="*/ 450 h 844"/>
                      <a:gd name="T40" fmla="*/ 746 w 984"/>
                      <a:gd name="T41" fmla="*/ 378 h 844"/>
                      <a:gd name="T42" fmla="*/ 678 w 984"/>
                      <a:gd name="T43" fmla="*/ 402 h 844"/>
                      <a:gd name="T44" fmla="*/ 590 w 984"/>
                      <a:gd name="T45" fmla="*/ 442 h 844"/>
                      <a:gd name="T46" fmla="*/ 642 w 984"/>
                      <a:gd name="T47" fmla="*/ 578 h 844"/>
                      <a:gd name="T48" fmla="*/ 710 w 984"/>
                      <a:gd name="T49" fmla="*/ 610 h 844"/>
                      <a:gd name="T50" fmla="*/ 738 w 984"/>
                      <a:gd name="T51" fmla="*/ 550 h 844"/>
                      <a:gd name="T52" fmla="*/ 774 w 984"/>
                      <a:gd name="T53" fmla="*/ 570 h 844"/>
                      <a:gd name="T54" fmla="*/ 766 w 984"/>
                      <a:gd name="T55" fmla="*/ 630 h 844"/>
                      <a:gd name="T56" fmla="*/ 802 w 984"/>
                      <a:gd name="T57" fmla="*/ 670 h 844"/>
                      <a:gd name="T58" fmla="*/ 838 w 984"/>
                      <a:gd name="T59" fmla="*/ 658 h 844"/>
                      <a:gd name="T60" fmla="*/ 922 w 984"/>
                      <a:gd name="T61" fmla="*/ 806 h 844"/>
                      <a:gd name="T62" fmla="*/ 942 w 984"/>
                      <a:gd name="T63" fmla="*/ 826 h 844"/>
                      <a:gd name="T64" fmla="*/ 874 w 984"/>
                      <a:gd name="T65" fmla="*/ 810 h 844"/>
                      <a:gd name="T66" fmla="*/ 830 w 984"/>
                      <a:gd name="T67" fmla="*/ 758 h 844"/>
                      <a:gd name="T68" fmla="*/ 778 w 984"/>
                      <a:gd name="T69" fmla="*/ 710 h 844"/>
                      <a:gd name="T70" fmla="*/ 702 w 984"/>
                      <a:gd name="T71" fmla="*/ 662 h 844"/>
                      <a:gd name="T72" fmla="*/ 614 w 984"/>
                      <a:gd name="T73" fmla="*/ 646 h 844"/>
                      <a:gd name="T74" fmla="*/ 506 w 984"/>
                      <a:gd name="T75" fmla="*/ 594 h 844"/>
                      <a:gd name="T76" fmla="*/ 462 w 984"/>
                      <a:gd name="T77" fmla="*/ 506 h 844"/>
                      <a:gd name="T78" fmla="*/ 430 w 984"/>
                      <a:gd name="T79" fmla="*/ 462 h 844"/>
                      <a:gd name="T80" fmla="*/ 382 w 984"/>
                      <a:gd name="T81" fmla="*/ 430 h 844"/>
                      <a:gd name="T82" fmla="*/ 342 w 984"/>
                      <a:gd name="T83" fmla="*/ 370 h 844"/>
                      <a:gd name="T84" fmla="*/ 354 w 984"/>
                      <a:gd name="T85" fmla="*/ 414 h 844"/>
                      <a:gd name="T86" fmla="*/ 418 w 984"/>
                      <a:gd name="T87" fmla="*/ 494 h 844"/>
                      <a:gd name="T88" fmla="*/ 422 w 984"/>
                      <a:gd name="T89" fmla="*/ 526 h 844"/>
                      <a:gd name="T90" fmla="*/ 394 w 984"/>
                      <a:gd name="T91" fmla="*/ 498 h 844"/>
                      <a:gd name="T92" fmla="*/ 354 w 984"/>
                      <a:gd name="T93" fmla="*/ 466 h 844"/>
                      <a:gd name="T94" fmla="*/ 314 w 984"/>
                      <a:gd name="T95" fmla="*/ 402 h 844"/>
                      <a:gd name="T96" fmla="*/ 266 w 984"/>
                      <a:gd name="T97" fmla="*/ 346 h 844"/>
                      <a:gd name="T98" fmla="*/ 210 w 984"/>
                      <a:gd name="T99" fmla="*/ 314 h 844"/>
                      <a:gd name="T100" fmla="*/ 154 w 984"/>
                      <a:gd name="T101" fmla="*/ 238 h 844"/>
                      <a:gd name="T102" fmla="*/ 66 w 984"/>
                      <a:gd name="T103" fmla="*/ 66 h 844"/>
                      <a:gd name="T104" fmla="*/ 34 w 984"/>
                      <a:gd name="T105" fmla="*/ 38 h 844"/>
                      <a:gd name="T106" fmla="*/ 46 w 984"/>
                      <a:gd name="T107" fmla="*/ 22 h 844"/>
                      <a:gd name="T108" fmla="*/ 102 w 984"/>
                      <a:gd name="T109" fmla="*/ 7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6 w 36"/>
                      <a:gd name="T1" fmla="*/ 28 h 48"/>
                      <a:gd name="T2" fmla="*/ 10 w 36"/>
                      <a:gd name="T3" fmla="*/ 48 h 48"/>
                      <a:gd name="T4" fmla="*/ 6 w 36"/>
                      <a:gd name="T5" fmla="*/ 28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5 h 37"/>
                      <a:gd name="T2" fmla="*/ 12 w 36"/>
                      <a:gd name="T3" fmla="*/ 1 h 37"/>
                      <a:gd name="T4" fmla="*/ 36 w 36"/>
                      <a:gd name="T5" fmla="*/ 17 h 37"/>
                      <a:gd name="T6" fmla="*/ 8 w 36"/>
                      <a:gd name="T7" fmla="*/ 17 h 37"/>
                      <a:gd name="T8" fmla="*/ 0 w 36"/>
                      <a:gd name="T9" fmla="*/ 5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49 h 96"/>
                      <a:gd name="T2" fmla="*/ 28 w 170"/>
                      <a:gd name="T3" fmla="*/ 25 h 96"/>
                      <a:gd name="T4" fmla="*/ 56 w 170"/>
                      <a:gd name="T5" fmla="*/ 21 h 96"/>
                      <a:gd name="T6" fmla="*/ 80 w 170"/>
                      <a:gd name="T7" fmla="*/ 9 h 96"/>
                      <a:gd name="T8" fmla="*/ 64 w 170"/>
                      <a:gd name="T9" fmla="*/ 25 h 96"/>
                      <a:gd name="T10" fmla="*/ 124 w 170"/>
                      <a:gd name="T11" fmla="*/ 49 h 96"/>
                      <a:gd name="T12" fmla="*/ 160 w 170"/>
                      <a:gd name="T13" fmla="*/ 65 h 96"/>
                      <a:gd name="T14" fmla="*/ 116 w 170"/>
                      <a:gd name="T15" fmla="*/ 77 h 96"/>
                      <a:gd name="T16" fmla="*/ 88 w 170"/>
                      <a:gd name="T17" fmla="*/ 57 h 96"/>
                      <a:gd name="T18" fmla="*/ 76 w 170"/>
                      <a:gd name="T19" fmla="*/ 53 h 96"/>
                      <a:gd name="T20" fmla="*/ 24 w 170"/>
                      <a:gd name="T21" fmla="*/ 41 h 96"/>
                      <a:gd name="T22" fmla="*/ 0 w 170"/>
                      <a:gd name="T23" fmla="*/ 49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52 w 138"/>
                      <a:gd name="T3" fmla="*/ 4 h 44"/>
                      <a:gd name="T4" fmla="*/ 88 w 138"/>
                      <a:gd name="T5" fmla="*/ 24 h 44"/>
                      <a:gd name="T6" fmla="*/ 112 w 138"/>
                      <a:gd name="T7" fmla="*/ 20 h 44"/>
                      <a:gd name="T8" fmla="*/ 108 w 138"/>
                      <a:gd name="T9" fmla="*/ 44 h 44"/>
                      <a:gd name="T10" fmla="*/ 64 w 138"/>
                      <a:gd name="T11" fmla="*/ 40 h 44"/>
                      <a:gd name="T12" fmla="*/ 0 w 138"/>
                      <a:gd name="T13" fmla="*/ 36 h 44"/>
                      <a:gd name="T14" fmla="*/ 28 w 138"/>
                      <a:gd name="T15" fmla="*/ 2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17 w 57"/>
                      <a:gd name="T1" fmla="*/ 25 h 42"/>
                      <a:gd name="T2" fmla="*/ 37 w 57"/>
                      <a:gd name="T3" fmla="*/ 13 h 42"/>
                      <a:gd name="T4" fmla="*/ 17 w 57"/>
                      <a:gd name="T5" fmla="*/ 25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19 w 39"/>
                      <a:gd name="T1" fmla="*/ 32 h 52"/>
                      <a:gd name="T2" fmla="*/ 19 w 39"/>
                      <a:gd name="T3" fmla="*/ 0 h 52"/>
                      <a:gd name="T4" fmla="*/ 19 w 39"/>
                      <a:gd name="T5" fmla="*/ 32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4 w 44"/>
                      <a:gd name="T1" fmla="*/ 9 h 80"/>
                      <a:gd name="T2" fmla="*/ 20 w 44"/>
                      <a:gd name="T3" fmla="*/ 33 h 80"/>
                      <a:gd name="T4" fmla="*/ 24 w 44"/>
                      <a:gd name="T5" fmla="*/ 49 h 80"/>
                      <a:gd name="T6" fmla="*/ 36 w 44"/>
                      <a:gd name="T7" fmla="*/ 53 h 80"/>
                      <a:gd name="T8" fmla="*/ 24 w 44"/>
                      <a:gd name="T9" fmla="*/ 73 h 80"/>
                      <a:gd name="T10" fmla="*/ 0 w 44"/>
                      <a:gd name="T11" fmla="*/ 21 h 80"/>
                      <a:gd name="T12" fmla="*/ 4 w 44"/>
                      <a:gd name="T13" fmla="*/ 9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220 w 323"/>
                      <a:gd name="T1" fmla="*/ 1 h 64"/>
                      <a:gd name="T2" fmla="*/ 231 w 323"/>
                      <a:gd name="T3" fmla="*/ 8 h 64"/>
                      <a:gd name="T4" fmla="*/ 235 w 323"/>
                      <a:gd name="T5" fmla="*/ 0 h 64"/>
                      <a:gd name="T6" fmla="*/ 265 w 323"/>
                      <a:gd name="T7" fmla="*/ 0 h 64"/>
                      <a:gd name="T8" fmla="*/ 287 w 323"/>
                      <a:gd name="T9" fmla="*/ 17 h 64"/>
                      <a:gd name="T10" fmla="*/ 319 w 323"/>
                      <a:gd name="T11" fmla="*/ 10 h 64"/>
                      <a:gd name="T12" fmla="*/ 314 w 323"/>
                      <a:gd name="T13" fmla="*/ 29 h 64"/>
                      <a:gd name="T14" fmla="*/ 298 w 323"/>
                      <a:gd name="T15" fmla="*/ 46 h 64"/>
                      <a:gd name="T16" fmla="*/ 295 w 323"/>
                      <a:gd name="T17" fmla="*/ 29 h 64"/>
                      <a:gd name="T18" fmla="*/ 287 w 323"/>
                      <a:gd name="T19" fmla="*/ 31 h 64"/>
                      <a:gd name="T20" fmla="*/ 279 w 323"/>
                      <a:gd name="T21" fmla="*/ 29 h 64"/>
                      <a:gd name="T22" fmla="*/ 263 w 323"/>
                      <a:gd name="T23" fmla="*/ 21 h 64"/>
                      <a:gd name="T24" fmla="*/ 228 w 323"/>
                      <a:gd name="T25" fmla="*/ 38 h 64"/>
                      <a:gd name="T26" fmla="*/ 201 w 323"/>
                      <a:gd name="T27" fmla="*/ 44 h 64"/>
                      <a:gd name="T28" fmla="*/ 212 w 323"/>
                      <a:gd name="T29" fmla="*/ 57 h 64"/>
                      <a:gd name="T30" fmla="*/ 188 w 323"/>
                      <a:gd name="T31" fmla="*/ 63 h 64"/>
                      <a:gd name="T32" fmla="*/ 169 w 323"/>
                      <a:gd name="T33" fmla="*/ 61 h 64"/>
                      <a:gd name="T34" fmla="*/ 177 w 323"/>
                      <a:gd name="T35" fmla="*/ 57 h 64"/>
                      <a:gd name="T36" fmla="*/ 171 w 323"/>
                      <a:gd name="T37" fmla="*/ 40 h 64"/>
                      <a:gd name="T38" fmla="*/ 169 w 323"/>
                      <a:gd name="T39" fmla="*/ 31 h 64"/>
                      <a:gd name="T40" fmla="*/ 158 w 323"/>
                      <a:gd name="T41" fmla="*/ 23 h 64"/>
                      <a:gd name="T42" fmla="*/ 142 w 323"/>
                      <a:gd name="T43" fmla="*/ 27 h 64"/>
                      <a:gd name="T44" fmla="*/ 134 w 323"/>
                      <a:gd name="T45" fmla="*/ 27 h 64"/>
                      <a:gd name="T46" fmla="*/ 123 w 323"/>
                      <a:gd name="T47" fmla="*/ 25 h 64"/>
                      <a:gd name="T48" fmla="*/ 83 w 323"/>
                      <a:gd name="T49" fmla="*/ 2 h 64"/>
                      <a:gd name="T50" fmla="*/ 59 w 323"/>
                      <a:gd name="T51" fmla="*/ 14 h 64"/>
                      <a:gd name="T52" fmla="*/ 1 w 323"/>
                      <a:gd name="T53" fmla="*/ 0 h 64"/>
                      <a:gd name="T54" fmla="*/ 220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05 w 300"/>
                      <a:gd name="T1" fmla="*/ 31 h 31"/>
                      <a:gd name="T2" fmla="*/ 30 w 300"/>
                      <a:gd name="T3" fmla="*/ 1 h 31"/>
                      <a:gd name="T4" fmla="*/ 285 w 300"/>
                      <a:gd name="T5" fmla="*/ 0 h 31"/>
                      <a:gd name="T6" fmla="*/ 296 w 300"/>
                      <a:gd name="T7" fmla="*/ 14 h 31"/>
                      <a:gd name="T8" fmla="*/ 264 w 300"/>
                      <a:gd name="T9" fmla="*/ 16 h 31"/>
                      <a:gd name="T10" fmla="*/ 105 w 300"/>
                      <a:gd name="T11" fmla="*/ 3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5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35" r:id="rId3"/>
    <p:sldLayoutId id="2147483936" r:id="rId4"/>
    <p:sldLayoutId id="2147483937" r:id="rId5"/>
    <p:sldLayoutId id="2147483945" r:id="rId6"/>
    <p:sldLayoutId id="2147483938" r:id="rId7"/>
    <p:sldLayoutId id="2147483939" r:id="rId8"/>
    <p:sldLayoutId id="2147483940" r:id="rId9"/>
    <p:sldLayoutId id="2147483941" r:id="rId10"/>
    <p:sldLayoutId id="2147483942" r:id="rId11"/>
    <p:sldLayoutId id="2147483946" r:id="rId12"/>
    <p:sldLayoutId id="2147483947" r:id="rId1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6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7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9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1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emf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CA" dirty="0" smtClean="0">
                <a:solidFill>
                  <a:schemeClr val="tx2">
                    <a:satMod val="130000"/>
                  </a:schemeClr>
                </a:solidFill>
              </a:rPr>
              <a:t>Chapter 26</a:t>
            </a:r>
            <a:br>
              <a:rPr lang="en-CA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CA" dirty="0" smtClean="0">
                <a:solidFill>
                  <a:schemeClr val="tx2">
                    <a:satMod val="130000"/>
                  </a:schemeClr>
                </a:solidFill>
              </a:rPr>
              <a:t>Exotic Options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Arial" charset="0"/>
              </a:rPr>
              <a:t>Options, Futures, and Other Derivatives,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Arial" charset="0"/>
              </a:rPr>
              <a:t>11th Edition, Copyright © John C. Hull 2021</a:t>
            </a:r>
            <a:endParaRPr lang="en-US" altLang="en-US" sz="1400" dirty="0">
              <a:latin typeface="Arial" charset="0"/>
            </a:endParaRP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E1EE1B7-7B4A-4DD6-B116-EED098D6D62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838200"/>
            <a:ext cx="4467225" cy="11430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Types of Exotics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990600" y="2057400"/>
            <a:ext cx="3886200" cy="41148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2200" smtClean="0">
                <a:latin typeface="Arial" charset="0"/>
                <a:cs typeface="Arial" charset="0"/>
              </a:rPr>
              <a:t>Packages</a:t>
            </a:r>
          </a:p>
          <a:p>
            <a:pPr eaLnBrk="1" hangingPunct="1"/>
            <a:r>
              <a:rPr lang="en-US" altLang="en-US" sz="2200" smtClean="0">
                <a:latin typeface="Arial" charset="0"/>
                <a:cs typeface="Arial" charset="0"/>
              </a:rPr>
              <a:t>Perpetual American calls and puts</a:t>
            </a:r>
          </a:p>
          <a:p>
            <a:pPr eaLnBrk="1" hangingPunct="1"/>
            <a:r>
              <a:rPr lang="en-US" altLang="en-US" sz="2200" smtClean="0">
                <a:latin typeface="Arial" charset="0"/>
                <a:cs typeface="Arial" charset="0"/>
              </a:rPr>
              <a:t>Nonstandard American options</a:t>
            </a:r>
          </a:p>
          <a:p>
            <a:pPr eaLnBrk="1" hangingPunct="1"/>
            <a:r>
              <a:rPr lang="en-CA" altLang="en-US" sz="2200" smtClean="0">
                <a:latin typeface="Arial" charset="0"/>
                <a:cs typeface="Arial" charset="0"/>
              </a:rPr>
              <a:t>Gap options</a:t>
            </a:r>
            <a:endParaRPr lang="en-US" altLang="en-US" sz="2200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sz="2200" smtClean="0">
                <a:latin typeface="Arial" charset="0"/>
                <a:cs typeface="Arial" charset="0"/>
              </a:rPr>
              <a:t>Forward start options</a:t>
            </a:r>
          </a:p>
          <a:p>
            <a:pPr eaLnBrk="1" hangingPunct="1"/>
            <a:r>
              <a:rPr lang="en-CA" altLang="en-US" sz="2200" smtClean="0">
                <a:latin typeface="Arial" charset="0"/>
                <a:cs typeface="Arial" charset="0"/>
              </a:rPr>
              <a:t>Cliquet options</a:t>
            </a:r>
            <a:endParaRPr lang="en-US" altLang="en-US" sz="2200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sz="2200" smtClean="0">
                <a:latin typeface="Arial" charset="0"/>
                <a:cs typeface="Arial" charset="0"/>
              </a:rPr>
              <a:t>Compound options</a:t>
            </a:r>
          </a:p>
          <a:p>
            <a:pPr eaLnBrk="1" hangingPunct="1"/>
            <a:r>
              <a:rPr lang="en-US" altLang="en-US" sz="2200" smtClean="0">
                <a:latin typeface="Arial" charset="0"/>
                <a:cs typeface="Arial" charset="0"/>
              </a:rPr>
              <a:t>Chooser options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2400" smtClean="0">
              <a:latin typeface="Arial" charset="0"/>
              <a:cs typeface="Arial" charset="0"/>
            </a:endParaRPr>
          </a:p>
        </p:txBody>
      </p:sp>
      <p:sp>
        <p:nvSpPr>
          <p:cNvPr id="8196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4876800" y="2057400"/>
            <a:ext cx="4114800" cy="41148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2200" smtClean="0">
                <a:latin typeface="Arial" charset="0"/>
                <a:cs typeface="Arial" charset="0"/>
              </a:rPr>
              <a:t>Barrier options</a:t>
            </a:r>
          </a:p>
          <a:p>
            <a:pPr eaLnBrk="1" hangingPunct="1"/>
            <a:r>
              <a:rPr lang="en-US" altLang="en-US" sz="2200" smtClean="0">
                <a:latin typeface="Arial" charset="0"/>
                <a:cs typeface="Arial" charset="0"/>
              </a:rPr>
              <a:t>Binary options</a:t>
            </a:r>
          </a:p>
          <a:p>
            <a:pPr eaLnBrk="1" hangingPunct="1"/>
            <a:r>
              <a:rPr lang="en-US" altLang="en-US" sz="2200" smtClean="0">
                <a:latin typeface="Arial" charset="0"/>
                <a:cs typeface="Arial" charset="0"/>
              </a:rPr>
              <a:t>Lookback options</a:t>
            </a:r>
          </a:p>
          <a:p>
            <a:pPr eaLnBrk="1" hangingPunct="1"/>
            <a:r>
              <a:rPr lang="en-US" altLang="en-US" sz="2200" smtClean="0">
                <a:latin typeface="Arial" charset="0"/>
                <a:cs typeface="Arial" charset="0"/>
              </a:rPr>
              <a:t>Shout options</a:t>
            </a:r>
          </a:p>
          <a:p>
            <a:pPr eaLnBrk="1" hangingPunct="1"/>
            <a:r>
              <a:rPr lang="en-US" altLang="en-US" sz="2200" smtClean="0">
                <a:latin typeface="Arial" charset="0"/>
                <a:cs typeface="Arial" charset="0"/>
              </a:rPr>
              <a:t>Asian options</a:t>
            </a:r>
          </a:p>
          <a:p>
            <a:pPr eaLnBrk="1" hangingPunct="1"/>
            <a:r>
              <a:rPr lang="en-US" altLang="en-US" sz="2200" smtClean="0">
                <a:latin typeface="Arial" charset="0"/>
                <a:cs typeface="Arial" charset="0"/>
              </a:rPr>
              <a:t>Options to exchange one asset for another</a:t>
            </a:r>
          </a:p>
          <a:p>
            <a:pPr eaLnBrk="1" hangingPunct="1"/>
            <a:r>
              <a:rPr lang="en-US" altLang="en-US" sz="2200" smtClean="0">
                <a:latin typeface="Arial" charset="0"/>
                <a:cs typeface="Arial" charset="0"/>
              </a:rPr>
              <a:t>Options involving several assets </a:t>
            </a:r>
          </a:p>
          <a:p>
            <a:pPr eaLnBrk="1" hangingPunct="1"/>
            <a:r>
              <a:rPr lang="en-CA" altLang="en-US" sz="2200" smtClean="0">
                <a:latin typeface="Arial" charset="0"/>
                <a:cs typeface="Arial" charset="0"/>
              </a:rPr>
              <a:t>Volatility and Variance swaps</a:t>
            </a:r>
            <a:endParaRPr lang="en-US" altLang="en-US" sz="220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8197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819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7B824F9-D033-4EB3-BEAE-0101A4FD890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Packages </a:t>
            </a:r>
            <a:r>
              <a:rPr lang="en-US" altLang="en-US" sz="2600" dirty="0" smtClean="0"/>
              <a:t>(Section 26.1)</a:t>
            </a:r>
            <a:endParaRPr lang="en-US" altLang="en-US" sz="2600" dirty="0" smtClean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1981200"/>
            <a:ext cx="7315200" cy="4114800"/>
          </a:xfrm>
        </p:spPr>
        <p:txBody>
          <a:bodyPr/>
          <a:lstStyle/>
          <a:p>
            <a:pPr eaLnBrk="1" hangingPunct="1"/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Portfolios of standard options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Examples from Chapter 11: bull spreads, bear spreads, straddles, </a:t>
            </a:r>
            <a:r>
              <a:rPr lang="en-US" altLang="en-US" dirty="0" err="1" smtClean="0">
                <a:latin typeface="Arial" charset="0"/>
                <a:cs typeface="Arial" charset="0"/>
              </a:rPr>
              <a:t>etc</a:t>
            </a:r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Often structured to have zero cost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One popular package is a range forward contract (see Chapter 17)</a:t>
            </a:r>
          </a:p>
        </p:txBody>
      </p:sp>
      <p:sp>
        <p:nvSpPr>
          <p:cNvPr id="922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922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6D4660A-8EFF-42F0-958C-C8EE98D0A327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228600" y="762000"/>
            <a:ext cx="7772400" cy="1143000"/>
          </a:xfrm>
        </p:spPr>
        <p:txBody>
          <a:bodyPr/>
          <a:lstStyle/>
          <a:p>
            <a:r>
              <a:rPr lang="en-US" altLang="en-US" dirty="0" smtClean="0"/>
              <a:t>Perpetual American </a:t>
            </a:r>
            <a:r>
              <a:rPr lang="en-US" altLang="en-US" dirty="0" smtClean="0"/>
              <a:t>Options </a:t>
            </a:r>
            <a:r>
              <a:rPr lang="en-US" altLang="en-US" sz="2400" dirty="0" smtClean="0"/>
              <a:t>(Section 26.2)</a:t>
            </a:r>
            <a:endParaRPr lang="en-CA" altLang="en-US" sz="2400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05000"/>
            <a:ext cx="7772400" cy="4114800"/>
          </a:xfrm>
        </p:spPr>
        <p:txBody>
          <a:bodyPr/>
          <a:lstStyle/>
          <a:p>
            <a:pPr>
              <a:defRPr/>
            </a:pPr>
            <a:r>
              <a:rPr lang="en-US" sz="2400" dirty="0" smtClean="0"/>
              <a:t>Consider first a derivative that pays off </a:t>
            </a:r>
            <a:r>
              <a:rPr lang="en-US" sz="2400" i="1" dirty="0" smtClean="0">
                <a:latin typeface="+mj-lt"/>
              </a:rPr>
              <a:t>Q</a:t>
            </a:r>
            <a:r>
              <a:rPr lang="en-US" sz="2400" dirty="0" smtClean="0"/>
              <a:t> when </a:t>
            </a:r>
            <a:r>
              <a:rPr lang="en-US" sz="2400" i="1" dirty="0" smtClean="0">
                <a:latin typeface="+mj-lt"/>
              </a:rPr>
              <a:t>S = H</a:t>
            </a:r>
            <a:r>
              <a:rPr lang="en-US" sz="2400" dirty="0" smtClean="0"/>
              <a:t> for the first time and </a:t>
            </a:r>
            <a:r>
              <a:rPr lang="en-US" sz="2400" i="1" dirty="0" smtClean="0">
                <a:latin typeface="+mj-lt"/>
              </a:rPr>
              <a:t>S</a:t>
            </a:r>
            <a:r>
              <a:rPr lang="en-US" sz="2400" baseline="-25000" dirty="0" smtClean="0"/>
              <a:t>0</a:t>
            </a:r>
            <a:r>
              <a:rPr lang="en-US" sz="2400" dirty="0" smtClean="0"/>
              <a:t> &lt; </a:t>
            </a:r>
            <a:r>
              <a:rPr lang="en-US" sz="2400" i="1" dirty="0" smtClean="0">
                <a:latin typeface="+mj-lt"/>
              </a:rPr>
              <a:t>H</a:t>
            </a:r>
          </a:p>
          <a:p>
            <a:pPr>
              <a:defRPr/>
            </a:pPr>
            <a:r>
              <a:rPr lang="en-US" sz="2400" dirty="0"/>
              <a:t> </a:t>
            </a:r>
            <a:r>
              <a:rPr lang="en-US" sz="2400" dirty="0" smtClean="0"/>
              <a:t>                   (</a:t>
            </a:r>
            <a:r>
              <a:rPr lang="en-US" sz="2400" dirty="0" smtClean="0">
                <a:latin typeface="Symbol" panose="05050102010706020507" pitchFamily="18" charset="2"/>
              </a:rPr>
              <a:t>a </a:t>
            </a:r>
            <a:r>
              <a:rPr lang="en-US" sz="2400" dirty="0" smtClean="0"/>
              <a:t>&gt; 0) satisfies the boundary conditions. It satisfies the differential equation</a:t>
            </a:r>
          </a:p>
          <a:p>
            <a:pPr>
              <a:defRPr/>
            </a:pPr>
            <a:endParaRPr lang="en-US" sz="2400" dirty="0"/>
          </a:p>
          <a:p>
            <a:pPr marL="0" indent="0">
              <a:buFontTx/>
              <a:buNone/>
              <a:defRPr/>
            </a:pPr>
            <a:r>
              <a:rPr lang="en-US" sz="2400" dirty="0" smtClean="0"/>
              <a:t>    when  </a:t>
            </a:r>
            <a:endParaRPr lang="en-US" sz="2400" dirty="0"/>
          </a:p>
          <a:p>
            <a:pPr marL="0" indent="0">
              <a:buFontTx/>
              <a:buNone/>
              <a:defRPr/>
            </a:pPr>
            <a:r>
              <a:rPr lang="en-US" sz="2400" dirty="0"/>
              <a:t>    </a:t>
            </a:r>
          </a:p>
          <a:p>
            <a:pPr marL="0" indent="0">
              <a:buFontTx/>
              <a:buNone/>
              <a:defRPr/>
            </a:pPr>
            <a:r>
              <a:rPr lang="en-US" sz="2400" dirty="0"/>
              <a:t> </a:t>
            </a:r>
            <a:r>
              <a:rPr lang="en-US" sz="2400" dirty="0" smtClean="0"/>
              <a:t>   This </a:t>
            </a:r>
            <a:r>
              <a:rPr lang="en-US" sz="2400" dirty="0"/>
              <a:t>has solutions </a:t>
            </a:r>
            <a:r>
              <a:rPr lang="en-US" sz="2400" dirty="0">
                <a:latin typeface="Symbol" panose="05050102010706020507" pitchFamily="18" charset="2"/>
              </a:rPr>
              <a:t>a</a:t>
            </a:r>
            <a:r>
              <a:rPr lang="en-US" sz="2400" baseline="-25000" dirty="0"/>
              <a:t>1</a:t>
            </a:r>
            <a:r>
              <a:rPr lang="en-US" sz="2400" dirty="0"/>
              <a:t>&gt;0 and </a:t>
            </a:r>
            <a:r>
              <a:rPr lang="en-US" sz="2400" dirty="0">
                <a:latin typeface="Symbol" panose="05050102010706020507" pitchFamily="18" charset="2"/>
              </a:rPr>
              <a:t>a</a:t>
            </a:r>
            <a:r>
              <a:rPr lang="en-US" sz="2400" baseline="-25000" dirty="0"/>
              <a:t>2</a:t>
            </a:r>
            <a:r>
              <a:rPr lang="en-US" sz="2400" dirty="0"/>
              <a:t>&lt;0</a:t>
            </a:r>
          </a:p>
          <a:p>
            <a:pPr>
              <a:defRPr/>
            </a:pPr>
            <a:r>
              <a:rPr lang="en-US" sz="2400" dirty="0" smtClean="0"/>
              <a:t>The value of the derivative is therefore</a:t>
            </a:r>
          </a:p>
          <a:p>
            <a:pPr marL="0" indent="0">
              <a:buFontTx/>
              <a:buNone/>
              <a:defRPr/>
            </a:pPr>
            <a:endParaRPr lang="en-US" sz="2400" dirty="0" smtClean="0"/>
          </a:p>
          <a:p>
            <a:pPr>
              <a:defRPr/>
            </a:pPr>
            <a:endParaRPr lang="en-US" dirty="0"/>
          </a:p>
          <a:p>
            <a:pPr marL="0" indent="0">
              <a:buFontTx/>
              <a:buNone/>
              <a:defRPr/>
            </a:pPr>
            <a:r>
              <a:rPr lang="en-US" sz="2400" dirty="0"/>
              <a:t> </a:t>
            </a:r>
            <a:r>
              <a:rPr lang="en-US" sz="2400" dirty="0" smtClean="0"/>
              <a:t>   </a:t>
            </a:r>
            <a:endParaRPr lang="en-US" dirty="0" smtClean="0"/>
          </a:p>
          <a:p>
            <a:pPr marL="0" indent="0">
              <a:buFontTx/>
              <a:buNone/>
              <a:defRPr/>
            </a:pPr>
            <a:endParaRPr lang="en-CA" dirty="0"/>
          </a:p>
        </p:txBody>
      </p:sp>
      <p:sp>
        <p:nvSpPr>
          <p:cNvPr id="1024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mtClean="0"/>
              <a:t>Options, Futures, and Other Derivatives, 11th Edition, Copyright © John C. Hull 2021</a:t>
            </a:r>
            <a:endParaRPr lang="en-US" altLang="en-US"/>
          </a:p>
        </p:txBody>
      </p:sp>
      <p:sp>
        <p:nvSpPr>
          <p:cNvPr id="1024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403E8FF-289D-48DC-82EA-56A3AA89B59A}" type="slidenum">
              <a:rPr lang="en-US" altLang="en-US" smtClean="0"/>
              <a:pPr eaLnBrk="1" hangingPunct="1"/>
              <a:t>4</a:t>
            </a:fld>
            <a:endParaRPr lang="en-US" altLang="en-US" smtClean="0"/>
          </a:p>
        </p:txBody>
      </p:sp>
      <p:graphicFrame>
        <p:nvGraphicFramePr>
          <p:cNvPr id="10246" name="Object 5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6" name="Equation" r:id="rId3" imgW="114120" imgH="215640" progId="Equation.3">
                  <p:embed/>
                </p:oleObj>
              </mc:Choice>
              <mc:Fallback>
                <p:oleObj name="Equation" r:id="rId3" imgW="114120" imgH="215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6"/>
          <p:cNvGraphicFramePr>
            <a:graphicFrameLocks noChangeAspect="1"/>
          </p:cNvGraphicFramePr>
          <p:nvPr/>
        </p:nvGraphicFramePr>
        <p:xfrm>
          <a:off x="1066800" y="2667000"/>
          <a:ext cx="16367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7" name="Equation" r:id="rId5" imgW="863280" imgH="241200" progId="Equation.3">
                  <p:embed/>
                </p:oleObj>
              </mc:Choice>
              <mc:Fallback>
                <p:oleObj name="Equation" r:id="rId5" imgW="863280" imgH="241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667000"/>
                        <a:ext cx="16367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Object 7"/>
          <p:cNvGraphicFramePr>
            <a:graphicFrameLocks noChangeAspect="1"/>
          </p:cNvGraphicFramePr>
          <p:nvPr/>
        </p:nvGraphicFramePr>
        <p:xfrm>
          <a:off x="2514600" y="3429000"/>
          <a:ext cx="339566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8" name="Equation" r:id="rId7" imgW="2197080" imgH="419040" progId="Equation.3">
                  <p:embed/>
                </p:oleObj>
              </mc:Choice>
              <mc:Fallback>
                <p:oleObj name="Equation" r:id="rId7" imgW="2197080" imgH="4190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429000"/>
                        <a:ext cx="3395663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9" name="Object 8"/>
          <p:cNvGraphicFramePr>
            <a:graphicFrameLocks noChangeAspect="1"/>
          </p:cNvGraphicFramePr>
          <p:nvPr/>
        </p:nvGraphicFramePr>
        <p:xfrm>
          <a:off x="2743200" y="4267200"/>
          <a:ext cx="2290763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9" name="Equation" r:id="rId9" imgW="1650960" imgH="393480" progId="Equation.3">
                  <p:embed/>
                </p:oleObj>
              </mc:Choice>
              <mc:Fallback>
                <p:oleObj name="Equation" r:id="rId9" imgW="1650960" imgH="393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267200"/>
                        <a:ext cx="2290763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" name="Object 10"/>
          <p:cNvGraphicFramePr>
            <a:graphicFrameLocks noChangeAspect="1"/>
          </p:cNvGraphicFramePr>
          <p:nvPr/>
        </p:nvGraphicFramePr>
        <p:xfrm>
          <a:off x="3721100" y="5638800"/>
          <a:ext cx="12033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0" name="Equation" r:id="rId11" imgW="634680" imgH="241200" progId="Equation.3">
                  <p:embed/>
                </p:oleObj>
              </mc:Choice>
              <mc:Fallback>
                <p:oleObj name="Equation" r:id="rId11" imgW="634680" imgH="241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1100" y="5638800"/>
                        <a:ext cx="12033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228600" y="685800"/>
            <a:ext cx="8288338" cy="1143000"/>
          </a:xfrm>
        </p:spPr>
        <p:txBody>
          <a:bodyPr/>
          <a:lstStyle/>
          <a:p>
            <a:r>
              <a:rPr lang="en-US" altLang="en-US" smtClean="0"/>
              <a:t>Perpetual American Options </a:t>
            </a:r>
            <a:r>
              <a:rPr lang="en-US" altLang="en-US" sz="2400" smtClean="0"/>
              <a:t>continued</a:t>
            </a:r>
            <a:r>
              <a:rPr lang="en-US" altLang="en-US" smtClean="0"/>
              <a:t> </a:t>
            </a:r>
            <a:endParaRPr lang="en-CA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52600"/>
            <a:ext cx="7772400" cy="4114800"/>
          </a:xfrm>
        </p:spPr>
        <p:txBody>
          <a:bodyPr/>
          <a:lstStyle/>
          <a:p>
            <a:pPr>
              <a:defRPr/>
            </a:pPr>
            <a:r>
              <a:rPr lang="en-US" sz="2400" dirty="0" smtClean="0"/>
              <a:t>Consider next a perpetual American call option with strike price </a:t>
            </a:r>
            <a:r>
              <a:rPr lang="en-US" sz="2400" i="1" dirty="0" smtClean="0">
                <a:latin typeface="+mj-lt"/>
              </a:rPr>
              <a:t>K</a:t>
            </a:r>
          </a:p>
          <a:p>
            <a:pPr>
              <a:defRPr/>
            </a:pPr>
            <a:r>
              <a:rPr lang="en-US" sz="2400" dirty="0" smtClean="0"/>
              <a:t>If it is exercised when </a:t>
            </a:r>
            <a:r>
              <a:rPr lang="en-US" sz="2400" i="1" dirty="0" smtClean="0">
                <a:latin typeface="+mj-lt"/>
              </a:rPr>
              <a:t>S=H </a:t>
            </a:r>
            <a:r>
              <a:rPr lang="en-US" sz="2400" dirty="0" smtClean="0"/>
              <a:t>the value is </a:t>
            </a:r>
          </a:p>
          <a:p>
            <a:pPr>
              <a:defRPr/>
            </a:pPr>
            <a:r>
              <a:rPr lang="en-US" sz="2400" dirty="0" smtClean="0"/>
              <a:t>This is maximized when</a:t>
            </a:r>
          </a:p>
          <a:p>
            <a:pPr>
              <a:defRPr/>
            </a:pPr>
            <a:r>
              <a:rPr lang="en-US" sz="2400" dirty="0" smtClean="0"/>
              <a:t>The value of the perpetual call is therefore</a:t>
            </a:r>
          </a:p>
          <a:p>
            <a:pPr>
              <a:defRPr/>
            </a:pPr>
            <a:endParaRPr lang="en-US" sz="2400" dirty="0"/>
          </a:p>
          <a:p>
            <a:pPr>
              <a:defRPr/>
            </a:pPr>
            <a:endParaRPr lang="en-US" sz="2400" dirty="0" smtClean="0"/>
          </a:p>
          <a:p>
            <a:pPr>
              <a:defRPr/>
            </a:pPr>
            <a:r>
              <a:rPr lang="en-US" sz="2400" dirty="0" smtClean="0"/>
              <a:t>The value of a perpetual put is similarly</a:t>
            </a:r>
          </a:p>
          <a:p>
            <a:pPr marL="0" indent="0">
              <a:buFontTx/>
              <a:buNone/>
              <a:defRPr/>
            </a:pPr>
            <a:r>
              <a:rPr lang="en-US" dirty="0" smtClean="0"/>
              <a:t> </a:t>
            </a:r>
          </a:p>
          <a:p>
            <a:pPr marL="0" indent="0">
              <a:buFontTx/>
              <a:buNone/>
              <a:defRPr/>
            </a:pPr>
            <a:endParaRPr lang="en-CA" i="1" dirty="0">
              <a:latin typeface="+mj-lt"/>
            </a:endParaRPr>
          </a:p>
        </p:txBody>
      </p:sp>
      <p:sp>
        <p:nvSpPr>
          <p:cNvPr id="1126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mtClean="0"/>
              <a:t>Options, Futures, and Other Derivatives, 11th Edition, Copyright © John C. Hull 2021</a:t>
            </a:r>
            <a:endParaRPr lang="en-US" altLang="en-US"/>
          </a:p>
        </p:txBody>
      </p:sp>
      <p:sp>
        <p:nvSpPr>
          <p:cNvPr id="1126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B4DCCC9-B792-4E0A-A21A-399265BC1810}" type="slidenum">
              <a:rPr lang="en-US" altLang="en-US" smtClean="0"/>
              <a:pPr eaLnBrk="1" hangingPunct="1"/>
              <a:t>5</a:t>
            </a:fld>
            <a:endParaRPr lang="en-US" altLang="en-US" smtClean="0"/>
          </a:p>
        </p:txBody>
      </p:sp>
      <p:graphicFrame>
        <p:nvGraphicFramePr>
          <p:cNvPr id="11270" name="Object 5"/>
          <p:cNvGraphicFramePr>
            <a:graphicFrameLocks noChangeAspect="1"/>
          </p:cNvGraphicFramePr>
          <p:nvPr/>
        </p:nvGraphicFramePr>
        <p:xfrm>
          <a:off x="6324600" y="2514600"/>
          <a:ext cx="19494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4" name="Equation" r:id="rId3" imgW="1028520" imgH="241200" progId="Equation.3">
                  <p:embed/>
                </p:oleObj>
              </mc:Choice>
              <mc:Fallback>
                <p:oleObj name="Equation" r:id="rId3" imgW="1028520" imgH="24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2514600"/>
                        <a:ext cx="19494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1" name="Object 6"/>
          <p:cNvGraphicFramePr>
            <a:graphicFrameLocks noChangeAspect="1"/>
          </p:cNvGraphicFramePr>
          <p:nvPr/>
        </p:nvGraphicFramePr>
        <p:xfrm>
          <a:off x="4419600" y="3030538"/>
          <a:ext cx="228600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5" name="Equation" r:id="rId5" imgW="1130040" imgH="215640" progId="Equation.3">
                  <p:embed/>
                </p:oleObj>
              </mc:Choice>
              <mc:Fallback>
                <p:oleObj name="Equation" r:id="rId5" imgW="1130040" imgH="215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3030538"/>
                        <a:ext cx="2286000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2" name="Object 7"/>
          <p:cNvGraphicFramePr>
            <a:graphicFrameLocks noChangeAspect="1"/>
          </p:cNvGraphicFramePr>
          <p:nvPr/>
        </p:nvGraphicFramePr>
        <p:xfrm>
          <a:off x="3352800" y="3886200"/>
          <a:ext cx="197008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6" name="Equation" r:id="rId7" imgW="1193760" imgH="507960" progId="Equation.3">
                  <p:embed/>
                </p:oleObj>
              </mc:Choice>
              <mc:Fallback>
                <p:oleObj name="Equation" r:id="rId7" imgW="1193760" imgH="50796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886200"/>
                        <a:ext cx="1970088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3" name="Object 8"/>
          <p:cNvGraphicFramePr>
            <a:graphicFrameLocks noChangeAspect="1"/>
          </p:cNvGraphicFramePr>
          <p:nvPr/>
        </p:nvGraphicFramePr>
        <p:xfrm>
          <a:off x="3352800" y="5181600"/>
          <a:ext cx="23304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7" name="Equation" r:id="rId9" imgW="1295280" imgH="507960" progId="Equation.3">
                  <p:embed/>
                </p:oleObj>
              </mc:Choice>
              <mc:Fallback>
                <p:oleObj name="Equation" r:id="rId9" imgW="1295280" imgH="50796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181600"/>
                        <a:ext cx="233045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Non-Standard American Options </a:t>
            </a:r>
            <a:r>
              <a:rPr lang="en-US" sz="2200" dirty="0" smtClean="0"/>
              <a:t>(Section 26.3)</a:t>
            </a:r>
            <a:endParaRPr lang="en-US" sz="2200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371600" y="2133600"/>
            <a:ext cx="6305550" cy="354965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Exercisable only on specific dates (Bermudans)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Early exercise allowed during only part of life (initial “lock out” period)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Strike price changes over the life (warrants, convertibles)</a:t>
            </a:r>
          </a:p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  <a:p>
            <a:pPr lvl="1"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1229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22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149A592-089A-4BA7-815C-E4D0B7BCFF7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326231" y="1079709"/>
            <a:ext cx="7772400" cy="1143000"/>
          </a:xfrm>
        </p:spPr>
        <p:txBody>
          <a:bodyPr/>
          <a:lstStyle/>
          <a:p>
            <a:pPr eaLnBrk="1" hangingPunct="1"/>
            <a:r>
              <a:rPr lang="en-CA" altLang="en-US" dirty="0" smtClean="0"/>
              <a:t>Gap </a:t>
            </a:r>
            <a:r>
              <a:rPr lang="en-CA" altLang="en-US" dirty="0" smtClean="0"/>
              <a:t>Options </a:t>
            </a:r>
            <a:r>
              <a:rPr lang="en-CA" altLang="en-US" sz="2400" dirty="0" smtClean="0"/>
              <a:t>(equations 26.1 and 26.2)</a:t>
            </a:r>
            <a:endParaRPr lang="en-US" altLang="en-US" sz="2400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CA" sz="2400" dirty="0" smtClean="0"/>
              <a:t>Gap call pays </a:t>
            </a:r>
            <a:r>
              <a:rPr lang="en-CA" sz="2400" i="1" dirty="0" smtClean="0">
                <a:latin typeface="+mj-lt"/>
              </a:rPr>
              <a:t>S</a:t>
            </a:r>
            <a:r>
              <a:rPr lang="en-CA" sz="2400" i="1" baseline="-25000" dirty="0" smtClean="0">
                <a:latin typeface="+mj-lt"/>
              </a:rPr>
              <a:t>T</a:t>
            </a:r>
            <a:r>
              <a:rPr lang="en-CA" sz="2400" baseline="-25000" dirty="0" smtClean="0"/>
              <a:t> </a:t>
            </a:r>
            <a:r>
              <a:rPr lang="en-CA" sz="2400" dirty="0" smtClean="0"/>
              <a:t>− </a:t>
            </a:r>
            <a:r>
              <a:rPr lang="en-CA" sz="2400" i="1" dirty="0" smtClean="0">
                <a:latin typeface="+mj-lt"/>
              </a:rPr>
              <a:t>K</a:t>
            </a:r>
            <a:r>
              <a:rPr lang="en-CA" sz="2400" baseline="-25000" dirty="0" smtClean="0"/>
              <a:t>1</a:t>
            </a:r>
            <a:r>
              <a:rPr lang="en-CA" sz="2400" dirty="0" smtClean="0"/>
              <a:t> when </a:t>
            </a:r>
            <a:r>
              <a:rPr lang="en-CA" sz="2400" i="1" dirty="0" smtClean="0">
                <a:latin typeface="+mj-lt"/>
              </a:rPr>
              <a:t>S</a:t>
            </a:r>
            <a:r>
              <a:rPr lang="en-CA" sz="2400" i="1" baseline="-25000" dirty="0" smtClean="0">
                <a:latin typeface="+mj-lt"/>
              </a:rPr>
              <a:t>T</a:t>
            </a:r>
            <a:r>
              <a:rPr lang="en-CA" sz="2400" dirty="0" smtClean="0"/>
              <a:t> &gt; </a:t>
            </a:r>
            <a:r>
              <a:rPr lang="en-CA" sz="2400" i="1" dirty="0" smtClean="0">
                <a:latin typeface="+mj-lt"/>
              </a:rPr>
              <a:t>K</a:t>
            </a:r>
            <a:r>
              <a:rPr lang="en-CA" sz="2400" baseline="-25000" dirty="0" smtClean="0"/>
              <a:t>2</a:t>
            </a:r>
          </a:p>
          <a:p>
            <a:pPr eaLnBrk="1" hangingPunct="1">
              <a:defRPr/>
            </a:pPr>
            <a:r>
              <a:rPr lang="en-CA" sz="2400" dirty="0" smtClean="0"/>
              <a:t>Gap put pays off </a:t>
            </a:r>
            <a:r>
              <a:rPr lang="en-CA" sz="2400" i="1" dirty="0" smtClean="0">
                <a:latin typeface="+mj-lt"/>
              </a:rPr>
              <a:t>K</a:t>
            </a:r>
            <a:r>
              <a:rPr lang="en-CA" sz="2400" baseline="-25000" dirty="0" smtClean="0"/>
              <a:t>1</a:t>
            </a:r>
            <a:r>
              <a:rPr lang="en-CA" sz="2400" dirty="0" smtClean="0"/>
              <a:t> − </a:t>
            </a:r>
            <a:r>
              <a:rPr lang="en-CA" sz="2400" i="1" dirty="0" smtClean="0">
                <a:latin typeface="+mj-lt"/>
              </a:rPr>
              <a:t>S</a:t>
            </a:r>
            <a:r>
              <a:rPr lang="en-CA" sz="2400" i="1" baseline="-25000" dirty="0" smtClean="0">
                <a:latin typeface="+mj-lt"/>
              </a:rPr>
              <a:t>T</a:t>
            </a:r>
            <a:r>
              <a:rPr lang="en-CA" sz="2400" baseline="-25000" dirty="0" smtClean="0"/>
              <a:t>  </a:t>
            </a:r>
            <a:r>
              <a:rPr lang="en-CA" sz="2400" dirty="0" smtClean="0"/>
              <a:t>when </a:t>
            </a:r>
            <a:r>
              <a:rPr lang="en-CA" sz="2400" i="1" dirty="0" smtClean="0">
                <a:latin typeface="+mj-lt"/>
              </a:rPr>
              <a:t>S</a:t>
            </a:r>
            <a:r>
              <a:rPr lang="en-CA" sz="2400" i="1" baseline="-25000" dirty="0" smtClean="0">
                <a:latin typeface="+mj-lt"/>
              </a:rPr>
              <a:t>T</a:t>
            </a:r>
            <a:r>
              <a:rPr lang="en-CA" sz="2400" dirty="0" smtClean="0"/>
              <a:t> &lt; </a:t>
            </a:r>
            <a:r>
              <a:rPr lang="en-CA" sz="2400" i="1" dirty="0" smtClean="0">
                <a:latin typeface="+mj-lt"/>
              </a:rPr>
              <a:t>K</a:t>
            </a:r>
            <a:r>
              <a:rPr lang="en-CA" sz="2400" baseline="-25000" dirty="0" smtClean="0"/>
              <a:t>2</a:t>
            </a:r>
          </a:p>
          <a:p>
            <a:pPr eaLnBrk="1" hangingPunct="1">
              <a:defRPr/>
            </a:pPr>
            <a:r>
              <a:rPr lang="en-CA" sz="2400" dirty="0" smtClean="0"/>
              <a:t>Can be valued with a small modification to BSM</a:t>
            </a:r>
          </a:p>
        </p:txBody>
      </p:sp>
      <p:sp>
        <p:nvSpPr>
          <p:cNvPr id="1331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331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09684C9-BCB2-4DB2-8B94-0F3D48024F2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33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9111271"/>
              </p:ext>
            </p:extLst>
          </p:nvPr>
        </p:nvGraphicFramePr>
        <p:xfrm>
          <a:off x="1804988" y="3336925"/>
          <a:ext cx="4814887" cy="2751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4" name="Equation" r:id="rId6" imgW="2489040" imgH="1422360" progId="Equation.3">
                  <p:embed/>
                </p:oleObj>
              </mc:Choice>
              <mc:Fallback>
                <p:oleObj name="Equation" r:id="rId6" imgW="2489040" imgH="142236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4988" y="3336925"/>
                        <a:ext cx="4814887" cy="2751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Forward Start Options </a:t>
            </a:r>
            <a:r>
              <a:rPr lang="en-US" altLang="en-US" sz="2200" dirty="0" smtClean="0"/>
              <a:t>(Section 26.5)</a:t>
            </a:r>
            <a:endParaRPr lang="en-US" altLang="en-US" sz="2200" dirty="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916113"/>
            <a:ext cx="7772400" cy="3925887"/>
          </a:xfrm>
        </p:spPr>
        <p:txBody>
          <a:bodyPr/>
          <a:lstStyle/>
          <a:p>
            <a:pPr eaLnBrk="1" hangingPunct="1"/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Option starts at a future time,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baseline="-25000" dirty="0" smtClean="0">
                <a:latin typeface="Times New Roman" pitchFamily="18" charset="0"/>
                <a:cs typeface="Arial" charset="0"/>
              </a:rPr>
              <a:t>1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Implicit in employee stock option plans</a:t>
            </a:r>
            <a:endParaRPr lang="en-US" altLang="en-US" baseline="-25000" dirty="0" smtClean="0">
              <a:latin typeface="Times New Roman" pitchFamily="18" charset="0"/>
              <a:cs typeface="Arial" charset="0"/>
            </a:endParaRP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Often structured so that strike price equals asset price at time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baseline="-25000" dirty="0" smtClean="0">
                <a:latin typeface="Arial" charset="0"/>
                <a:cs typeface="Arial" charset="0"/>
              </a:rPr>
              <a:t>1</a:t>
            </a:r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CA" altLang="en-US" dirty="0" smtClean="0">
                <a:latin typeface="Arial" charset="0"/>
                <a:cs typeface="Arial" charset="0"/>
              </a:rPr>
              <a:t>Value is then        times the value of similar option starting today </a:t>
            </a:r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/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1434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F6C0811-5CA1-4EA4-973A-B5513073C429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4342" name="Object 6"/>
          <p:cNvGraphicFramePr>
            <a:graphicFrameLocks noChangeAspect="1"/>
          </p:cNvGraphicFramePr>
          <p:nvPr/>
        </p:nvGraphicFramePr>
        <p:xfrm>
          <a:off x="3505200" y="4419600"/>
          <a:ext cx="685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8" name="Equation" r:id="rId6" imgW="304536" imgH="203024" progId="Equation.3">
                  <p:embed/>
                </p:oleObj>
              </mc:Choice>
              <mc:Fallback>
                <p:oleObj name="Equation" r:id="rId6" imgW="304536" imgH="20302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419600"/>
                        <a:ext cx="685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 err="1" smtClean="0"/>
              <a:t>Cliquet</a:t>
            </a:r>
            <a:r>
              <a:rPr lang="en-CA" altLang="en-US" dirty="0" smtClean="0"/>
              <a:t> </a:t>
            </a:r>
            <a:r>
              <a:rPr lang="en-CA" altLang="en-US" dirty="0" smtClean="0"/>
              <a:t>Option </a:t>
            </a:r>
            <a:r>
              <a:rPr lang="en-CA" altLang="en-US" sz="2400" dirty="0" smtClean="0"/>
              <a:t>(Section 26.6)</a:t>
            </a:r>
            <a:endParaRPr lang="en-US" altLang="en-US" sz="2400" dirty="0" smtClean="0"/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dirty="0" smtClean="0">
                <a:latin typeface="Arial" charset="0"/>
                <a:cs typeface="Arial" charset="0"/>
              </a:rPr>
              <a:t>A series of call or put options with rules determining how the strike price is determined</a:t>
            </a:r>
          </a:p>
          <a:p>
            <a:pPr eaLnBrk="1" hangingPunct="1"/>
            <a:r>
              <a:rPr lang="en-CA" altLang="en-US" dirty="0" smtClean="0">
                <a:latin typeface="Arial" charset="0"/>
                <a:cs typeface="Arial" charset="0"/>
              </a:rPr>
              <a:t>For example, a </a:t>
            </a:r>
            <a:r>
              <a:rPr lang="en-CA" altLang="en-US" dirty="0" err="1" smtClean="0">
                <a:latin typeface="Arial" charset="0"/>
                <a:cs typeface="Arial" charset="0"/>
              </a:rPr>
              <a:t>cliquet</a:t>
            </a:r>
            <a:r>
              <a:rPr lang="en-CA" altLang="en-US" dirty="0" smtClean="0">
                <a:latin typeface="Arial" charset="0"/>
                <a:cs typeface="Arial" charset="0"/>
              </a:rPr>
              <a:t> might consist of 20 at-the-money three-month options. The total life would then be five years </a:t>
            </a:r>
          </a:p>
          <a:p>
            <a:pPr eaLnBrk="1" hangingPunct="1"/>
            <a:r>
              <a:rPr lang="en-CA" altLang="en-US" dirty="0" smtClean="0">
                <a:latin typeface="Arial" charset="0"/>
                <a:cs typeface="Arial" charset="0"/>
              </a:rPr>
              <a:t>When one option expires a new similar at-the-money is comes into existence </a:t>
            </a: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1536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536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C43DB54-1E3E-4A56-8BEF-ABA18BEF545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Compound </a:t>
            </a:r>
            <a:r>
              <a:rPr lang="en-US" altLang="en-US" dirty="0" smtClean="0"/>
              <a:t>Options </a:t>
            </a:r>
            <a:r>
              <a:rPr lang="en-US" altLang="en-US" sz="2200" dirty="0" smtClean="0"/>
              <a:t>(Section 26.7)</a:t>
            </a:r>
            <a:endParaRPr lang="en-US" altLang="en-US" sz="2200" dirty="0" smtClean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700213"/>
            <a:ext cx="7620000" cy="4776787"/>
          </a:xfrm>
        </p:spPr>
        <p:txBody>
          <a:bodyPr/>
          <a:lstStyle/>
          <a:p>
            <a:pPr eaLnBrk="1" hangingPunct="1"/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Option to buy or sell an option</a:t>
            </a:r>
          </a:p>
          <a:p>
            <a:pPr lvl="1" eaLnBrk="1" hangingPunct="1"/>
            <a:r>
              <a:rPr lang="en-US" altLang="en-US" dirty="0" smtClean="0">
                <a:latin typeface="Arial" charset="0"/>
                <a:cs typeface="Arial" charset="0"/>
              </a:rPr>
              <a:t>Call on call</a:t>
            </a:r>
          </a:p>
          <a:p>
            <a:pPr lvl="1" eaLnBrk="1" hangingPunct="1"/>
            <a:r>
              <a:rPr lang="en-US" altLang="en-US" dirty="0" smtClean="0">
                <a:latin typeface="Arial" charset="0"/>
                <a:cs typeface="Arial" charset="0"/>
              </a:rPr>
              <a:t>Put on call</a:t>
            </a:r>
          </a:p>
          <a:p>
            <a:pPr lvl="1" eaLnBrk="1" hangingPunct="1"/>
            <a:r>
              <a:rPr lang="en-US" altLang="en-US" dirty="0" smtClean="0">
                <a:latin typeface="Arial" charset="0"/>
                <a:cs typeface="Arial" charset="0"/>
              </a:rPr>
              <a:t>Call on put</a:t>
            </a:r>
          </a:p>
          <a:p>
            <a:pPr lvl="1" eaLnBrk="1" hangingPunct="1"/>
            <a:r>
              <a:rPr lang="en-US" altLang="en-US" dirty="0" smtClean="0">
                <a:latin typeface="Arial" charset="0"/>
                <a:cs typeface="Arial" charset="0"/>
              </a:rPr>
              <a:t>Put on put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Can be valued analytically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Price is quite low compared with a regular option</a:t>
            </a:r>
          </a:p>
        </p:txBody>
      </p:sp>
      <p:sp>
        <p:nvSpPr>
          <p:cNvPr id="163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63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2F83542-DBA7-4BDB-AE16-10B1277052C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Chooser Option </a:t>
            </a:r>
            <a:r>
              <a:rPr lang="en-US" altLang="en-US" sz="3500" dirty="0" smtClean="0"/>
              <a:t>“As You Like It” </a:t>
            </a:r>
            <a:r>
              <a:rPr lang="en-US" altLang="en-US" sz="2200" dirty="0" smtClean="0"/>
              <a:t>(Section 26.8)</a:t>
            </a:r>
            <a:endParaRPr lang="en-US" altLang="en-US" sz="2200" dirty="0" smtClean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1833221"/>
            <a:ext cx="7499350" cy="4572000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/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Option starts at time 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dirty="0" smtClean="0">
                <a:latin typeface="Arial" charset="0"/>
                <a:cs typeface="Arial" charset="0"/>
              </a:rPr>
              <a:t>, matures at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baseline="-25000" dirty="0" smtClean="0">
                <a:latin typeface="Times New Roman" pitchFamily="18" charset="0"/>
                <a:cs typeface="Arial" charset="0"/>
              </a:rPr>
              <a:t>2</a:t>
            </a:r>
            <a:endParaRPr lang="en-US" altLang="en-US" i="1" dirty="0" smtClean="0">
              <a:latin typeface="Times New Roman" pitchFamily="18" charset="0"/>
              <a:cs typeface="Arial" charset="0"/>
            </a:endParaRP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At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baseline="-25000" dirty="0" smtClean="0">
                <a:latin typeface="Times New Roman" pitchFamily="18" charset="0"/>
                <a:cs typeface="Arial" charset="0"/>
              </a:rPr>
              <a:t>1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 (0 &lt;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baseline="-25000" dirty="0" smtClean="0">
                <a:latin typeface="Times New Roman" pitchFamily="18" charset="0"/>
                <a:cs typeface="Arial" charset="0"/>
              </a:rPr>
              <a:t>1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 &lt;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baseline="-25000" dirty="0" smtClean="0">
                <a:latin typeface="Times New Roman" pitchFamily="18" charset="0"/>
                <a:cs typeface="Arial" charset="0"/>
              </a:rPr>
              <a:t>2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)</a:t>
            </a:r>
            <a:r>
              <a:rPr lang="en-US" altLang="en-US" dirty="0" smtClean="0">
                <a:latin typeface="Arial" charset="0"/>
                <a:cs typeface="Arial" charset="0"/>
              </a:rPr>
              <a:t> buyer chooses whether it is a put or call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This is a package!</a:t>
            </a:r>
          </a:p>
        </p:txBody>
      </p:sp>
      <p:sp>
        <p:nvSpPr>
          <p:cNvPr id="1741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741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7219FD0-83BB-41ED-B842-E6CBA0CDA93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Chooser Option as a Package</a:t>
            </a:r>
          </a:p>
        </p:txBody>
      </p:sp>
      <p:sp>
        <p:nvSpPr>
          <p:cNvPr id="18435" name="Rectangle 8"/>
          <p:cNvSpPr>
            <a:spLocks noGrp="1" noChangeArrowheads="1"/>
          </p:cNvSpPr>
          <p:nvPr>
            <p:ph idx="1"/>
          </p:nvPr>
        </p:nvSpPr>
        <p:spPr>
          <a:xfrm>
            <a:off x="1905000" y="1447800"/>
            <a:ext cx="7029450" cy="48006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1843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84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E3DE61B-3C56-45BB-A271-9DBB6D3A6F8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8438" name="Object 7"/>
          <p:cNvGraphicFramePr>
            <a:graphicFrameLocks noChangeAspect="1"/>
          </p:cNvGraphicFramePr>
          <p:nvPr/>
        </p:nvGraphicFramePr>
        <p:xfrm>
          <a:off x="1452563" y="2174875"/>
          <a:ext cx="5476875" cy="294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4" name="Equation" r:id="rId6" imgW="2235200" imgH="1270000" progId="Equation.3">
                  <p:embed/>
                </p:oleObj>
              </mc:Choice>
              <mc:Fallback>
                <p:oleObj name="Equation" r:id="rId6" imgW="2235200" imgH="1270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2563" y="2174875"/>
                        <a:ext cx="5476875" cy="294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Barrier Options </a:t>
            </a:r>
            <a:r>
              <a:rPr lang="en-US" altLang="en-US" sz="2200" dirty="0" smtClean="0"/>
              <a:t>(Section 26.9)</a:t>
            </a:r>
            <a:endParaRPr lang="en-US" altLang="en-US" sz="2200" dirty="0" smtClean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Option comes into existence only if stock price hits barrier before option maturity</a:t>
            </a:r>
          </a:p>
          <a:p>
            <a:pPr lvl="1" eaLnBrk="1" hangingPunct="1"/>
            <a:r>
              <a:rPr lang="en-US" altLang="en-US" dirty="0" smtClean="0">
                <a:latin typeface="Arial" charset="0"/>
                <a:cs typeface="Arial" charset="0"/>
              </a:rPr>
              <a:t>‘In’ options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Option dies if stock price hits barrier before option maturity</a:t>
            </a:r>
          </a:p>
          <a:p>
            <a:pPr lvl="1" eaLnBrk="1" hangingPunct="1"/>
            <a:r>
              <a:rPr lang="en-US" altLang="en-US" dirty="0" smtClean="0">
                <a:latin typeface="Arial" charset="0"/>
                <a:cs typeface="Arial" charset="0"/>
              </a:rPr>
              <a:t>‘Out’ options</a:t>
            </a:r>
          </a:p>
        </p:txBody>
      </p:sp>
      <p:sp>
        <p:nvSpPr>
          <p:cNvPr id="1946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94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EC7CEDF-1E97-4422-A56B-38DB85A05FF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Barrier Options </a:t>
            </a:r>
            <a:r>
              <a:rPr lang="en-US" altLang="en-US" sz="3000" smtClean="0"/>
              <a:t>(continued)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Stock price must hit barrier from below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‘Up’ options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Stock price must hit barrier from above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‘Down’ options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Option may be a put or a call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Eight possible combinations</a:t>
            </a:r>
            <a:endParaRPr lang="en-US" altLang="en-US" baseline="-25000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2048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04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19107A1-C720-4CA4-A40F-74DCB9B6A9C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Parity Relations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4000" i="1" smtClean="0">
                <a:latin typeface="Times New Roman" pitchFamily="18" charset="0"/>
                <a:cs typeface="Arial" charset="0"/>
              </a:rPr>
              <a:t>c</a:t>
            </a:r>
            <a:r>
              <a:rPr lang="en-US" altLang="en-US" sz="4000" smtClean="0">
                <a:latin typeface="Times New Roman" pitchFamily="18" charset="0"/>
                <a:cs typeface="Arial" charset="0"/>
              </a:rPr>
              <a:t> = </a:t>
            </a:r>
            <a:r>
              <a:rPr lang="en-US" altLang="en-US" sz="4000" i="1" smtClean="0">
                <a:latin typeface="Times New Roman" pitchFamily="18" charset="0"/>
                <a:cs typeface="Arial" charset="0"/>
              </a:rPr>
              <a:t>c</a:t>
            </a:r>
            <a:r>
              <a:rPr lang="en-US" altLang="en-US" sz="4000" baseline="-25000" smtClean="0">
                <a:latin typeface="Times New Roman" pitchFamily="18" charset="0"/>
                <a:cs typeface="Arial" charset="0"/>
              </a:rPr>
              <a:t>ui</a:t>
            </a:r>
            <a:r>
              <a:rPr lang="en-US" altLang="en-US" sz="4000" smtClean="0">
                <a:latin typeface="Times New Roman" pitchFamily="18" charset="0"/>
                <a:cs typeface="Arial" charset="0"/>
              </a:rPr>
              <a:t> + </a:t>
            </a:r>
            <a:r>
              <a:rPr lang="en-US" altLang="en-US" sz="4000" i="1" smtClean="0">
                <a:latin typeface="Times New Roman" pitchFamily="18" charset="0"/>
                <a:cs typeface="Arial" charset="0"/>
              </a:rPr>
              <a:t>c</a:t>
            </a:r>
            <a:r>
              <a:rPr lang="en-US" altLang="en-US" sz="4000" baseline="-25000" smtClean="0">
                <a:latin typeface="Times New Roman" pitchFamily="18" charset="0"/>
                <a:cs typeface="Arial" charset="0"/>
              </a:rPr>
              <a:t>uo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4000" i="1" smtClean="0">
                <a:latin typeface="Times New Roman" pitchFamily="18" charset="0"/>
                <a:cs typeface="Arial" charset="0"/>
              </a:rPr>
              <a:t>c</a:t>
            </a:r>
            <a:r>
              <a:rPr lang="en-US" altLang="en-US" sz="4000" smtClean="0">
                <a:latin typeface="Times New Roman" pitchFamily="18" charset="0"/>
                <a:cs typeface="Arial" charset="0"/>
              </a:rPr>
              <a:t> = </a:t>
            </a:r>
            <a:r>
              <a:rPr lang="en-US" altLang="en-US" sz="4000" i="1" smtClean="0">
                <a:latin typeface="Times New Roman" pitchFamily="18" charset="0"/>
                <a:cs typeface="Arial" charset="0"/>
              </a:rPr>
              <a:t>c</a:t>
            </a:r>
            <a:r>
              <a:rPr lang="en-US" altLang="en-US" sz="4000" baseline="-25000" smtClean="0">
                <a:latin typeface="Times New Roman" pitchFamily="18" charset="0"/>
                <a:cs typeface="Arial" charset="0"/>
              </a:rPr>
              <a:t>di</a:t>
            </a:r>
            <a:r>
              <a:rPr lang="en-US" altLang="en-US" sz="4000" smtClean="0">
                <a:latin typeface="Times New Roman" pitchFamily="18" charset="0"/>
                <a:cs typeface="Arial" charset="0"/>
              </a:rPr>
              <a:t> + </a:t>
            </a:r>
            <a:r>
              <a:rPr lang="en-US" altLang="en-US" sz="4000" i="1" smtClean="0">
                <a:latin typeface="Times New Roman" pitchFamily="18" charset="0"/>
                <a:cs typeface="Arial" charset="0"/>
              </a:rPr>
              <a:t>c</a:t>
            </a:r>
            <a:r>
              <a:rPr lang="en-US" altLang="en-US" sz="4000" baseline="-25000" smtClean="0">
                <a:latin typeface="Times New Roman" pitchFamily="18" charset="0"/>
                <a:cs typeface="Arial" charset="0"/>
              </a:rPr>
              <a:t>do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4000" i="1" smtClean="0">
                <a:latin typeface="Times New Roman" pitchFamily="18" charset="0"/>
                <a:cs typeface="Arial" charset="0"/>
              </a:rPr>
              <a:t>p</a:t>
            </a:r>
            <a:r>
              <a:rPr lang="en-US" altLang="en-US" sz="4000" smtClean="0">
                <a:latin typeface="Times New Roman" pitchFamily="18" charset="0"/>
                <a:cs typeface="Arial" charset="0"/>
              </a:rPr>
              <a:t> = </a:t>
            </a:r>
            <a:r>
              <a:rPr lang="en-US" altLang="en-US" sz="4000" i="1" smtClean="0">
                <a:latin typeface="Times New Roman" pitchFamily="18" charset="0"/>
                <a:cs typeface="Arial" charset="0"/>
              </a:rPr>
              <a:t>p</a:t>
            </a:r>
            <a:r>
              <a:rPr lang="en-US" altLang="en-US" sz="4000" baseline="-25000" smtClean="0">
                <a:latin typeface="Times New Roman" pitchFamily="18" charset="0"/>
                <a:cs typeface="Arial" charset="0"/>
              </a:rPr>
              <a:t>ui</a:t>
            </a:r>
            <a:r>
              <a:rPr lang="en-US" altLang="en-US" sz="4000" smtClean="0">
                <a:latin typeface="Times New Roman" pitchFamily="18" charset="0"/>
                <a:cs typeface="Arial" charset="0"/>
              </a:rPr>
              <a:t> + </a:t>
            </a:r>
            <a:r>
              <a:rPr lang="en-US" altLang="en-US" sz="4000" i="1" smtClean="0">
                <a:latin typeface="Times New Roman" pitchFamily="18" charset="0"/>
                <a:cs typeface="Arial" charset="0"/>
              </a:rPr>
              <a:t>p</a:t>
            </a:r>
            <a:r>
              <a:rPr lang="en-US" altLang="en-US" sz="4000" baseline="-25000" smtClean="0">
                <a:latin typeface="Times New Roman" pitchFamily="18" charset="0"/>
                <a:cs typeface="Arial" charset="0"/>
              </a:rPr>
              <a:t>uo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4000" i="1" smtClean="0">
                <a:latin typeface="Times New Roman" pitchFamily="18" charset="0"/>
                <a:cs typeface="Arial" charset="0"/>
              </a:rPr>
              <a:t>p</a:t>
            </a:r>
            <a:r>
              <a:rPr lang="en-US" altLang="en-US" sz="4000" smtClean="0">
                <a:latin typeface="Times New Roman" pitchFamily="18" charset="0"/>
                <a:cs typeface="Arial" charset="0"/>
              </a:rPr>
              <a:t> = </a:t>
            </a:r>
            <a:r>
              <a:rPr lang="en-US" altLang="en-US" sz="4000" i="1" smtClean="0">
                <a:latin typeface="Times New Roman" pitchFamily="18" charset="0"/>
                <a:cs typeface="Arial" charset="0"/>
              </a:rPr>
              <a:t>p</a:t>
            </a:r>
            <a:r>
              <a:rPr lang="en-US" altLang="en-US" sz="4000" baseline="-25000" smtClean="0">
                <a:latin typeface="Times New Roman" pitchFamily="18" charset="0"/>
                <a:cs typeface="Arial" charset="0"/>
              </a:rPr>
              <a:t>di</a:t>
            </a:r>
            <a:r>
              <a:rPr lang="en-US" altLang="en-US" sz="4000" smtClean="0">
                <a:latin typeface="Times New Roman" pitchFamily="18" charset="0"/>
                <a:cs typeface="Arial" charset="0"/>
              </a:rPr>
              <a:t> + </a:t>
            </a:r>
            <a:r>
              <a:rPr lang="en-US" altLang="en-US" sz="4000" i="1" smtClean="0">
                <a:latin typeface="Times New Roman" pitchFamily="18" charset="0"/>
                <a:cs typeface="Arial" charset="0"/>
              </a:rPr>
              <a:t>p</a:t>
            </a:r>
            <a:r>
              <a:rPr lang="en-US" altLang="en-US" sz="4000" baseline="-25000" smtClean="0">
                <a:latin typeface="Times New Roman" pitchFamily="18" charset="0"/>
                <a:cs typeface="Arial" charset="0"/>
              </a:rPr>
              <a:t>do</a:t>
            </a:r>
          </a:p>
          <a:p>
            <a:pPr eaLnBrk="1" hangingPunct="1">
              <a:buFontTx/>
              <a:buChar char="•"/>
            </a:pPr>
            <a:endParaRPr lang="en-US" altLang="en-US" sz="4000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2150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15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AB73F52-A1F0-4B33-B02A-6014C31E451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Binary Options  </a:t>
            </a:r>
            <a:r>
              <a:rPr lang="en-US" altLang="en-US" sz="2200" dirty="0" smtClean="0"/>
              <a:t>(Section 26.10)</a:t>
            </a:r>
            <a:endParaRPr lang="en-US" altLang="en-US" sz="2200" dirty="0" smtClean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Cash-or-nothing: pays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Q</a:t>
            </a:r>
            <a:r>
              <a:rPr lang="en-US" altLang="en-US" smtClean="0">
                <a:latin typeface="Arial" charset="0"/>
                <a:cs typeface="Arial" charset="0"/>
              </a:rPr>
              <a:t> if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&gt;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K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,</a:t>
            </a:r>
            <a:r>
              <a:rPr lang="en-US" altLang="en-US" smtClean="0">
                <a:latin typeface="Arial" charset="0"/>
                <a:cs typeface="Arial" charset="0"/>
              </a:rPr>
              <a:t> otherwise pays nothing.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 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Value =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e</a:t>
            </a:r>
            <a:r>
              <a:rPr lang="en-US" altLang="en-US" i="1" baseline="30000" smtClean="0">
                <a:latin typeface="Times New Roman" pitchFamily="18" charset="0"/>
                <a:cs typeface="Arial" charset="0"/>
              </a:rPr>
              <a:t>–rT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 Q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N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(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d</a:t>
            </a:r>
            <a:r>
              <a:rPr lang="en-US" altLang="en-US" baseline="-25000" smtClean="0">
                <a:latin typeface="Times New Roman" pitchFamily="18" charset="0"/>
                <a:cs typeface="Arial" charset="0"/>
              </a:rPr>
              <a:t>2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)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Asset-or-nothing: pays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mtClean="0">
                <a:latin typeface="Arial" charset="0"/>
                <a:cs typeface="Arial" charset="0"/>
              </a:rPr>
              <a:t> if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&gt;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K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,</a:t>
            </a:r>
            <a:r>
              <a:rPr lang="en-US" altLang="en-US" smtClean="0">
                <a:latin typeface="Arial" charset="0"/>
                <a:cs typeface="Arial" charset="0"/>
              </a:rPr>
              <a:t> otherwise pays nothing.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 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Value =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e</a:t>
            </a:r>
            <a:r>
              <a:rPr lang="en-US" altLang="en-US" i="1" baseline="30000" smtClean="0">
                <a:latin typeface="Times New Roman" pitchFamily="18" charset="0"/>
                <a:cs typeface="Arial" charset="0"/>
              </a:rPr>
              <a:t>-qT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N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(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d</a:t>
            </a:r>
            <a:r>
              <a:rPr lang="en-US" altLang="en-US" baseline="-25000" smtClean="0">
                <a:latin typeface="Times New Roman" pitchFamily="18" charset="0"/>
                <a:cs typeface="Arial" charset="0"/>
              </a:rPr>
              <a:t>1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)</a:t>
            </a:r>
          </a:p>
          <a:p>
            <a:pPr eaLnBrk="1" hangingPunct="1"/>
            <a:endParaRPr lang="en-US" altLang="en-US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2253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253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2E52EC2-7F4B-4526-9878-18E7F108EE3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Decomposition of a Call Option 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Long: Asset-or-Nothing option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Short: Cash-or-Nothing option where payoff is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K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Value =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i="1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en-US" i="1" baseline="30000" smtClean="0">
                <a:latin typeface="Times New Roman" pitchFamily="18" charset="0"/>
                <a:cs typeface="Times New Roman" pitchFamily="18" charset="0"/>
              </a:rPr>
              <a:t>-qT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N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(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d</a:t>
            </a:r>
            <a:r>
              <a:rPr lang="en-US" altLang="en-US" baseline="-25000" smtClean="0">
                <a:latin typeface="Times New Roman" pitchFamily="18" charset="0"/>
                <a:cs typeface="Arial" charset="0"/>
              </a:rPr>
              <a:t>1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) –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e</a:t>
            </a:r>
            <a:r>
              <a:rPr lang="en-US" altLang="en-US" i="1" baseline="30000" smtClean="0">
                <a:latin typeface="Times New Roman" pitchFamily="18" charset="0"/>
                <a:cs typeface="Arial" charset="0"/>
              </a:rPr>
              <a:t>–rT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 KN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(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d</a:t>
            </a:r>
            <a:r>
              <a:rPr lang="en-US" altLang="en-US" baseline="-25000" smtClean="0">
                <a:latin typeface="Times New Roman" pitchFamily="18" charset="0"/>
                <a:cs typeface="Arial" charset="0"/>
              </a:rPr>
              <a:t>2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)</a:t>
            </a: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2355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355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02DFDAB-2AAD-4D1C-B0C9-833E5E81F50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Lookback Options </a:t>
            </a:r>
            <a:r>
              <a:rPr lang="en-US" altLang="en-US" sz="2200" dirty="0" smtClean="0"/>
              <a:t>(Section 26.11)</a:t>
            </a:r>
            <a:endParaRPr lang="en-US" altLang="en-US" sz="2200" dirty="0" smtClean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2133600"/>
            <a:ext cx="8401050" cy="4114800"/>
          </a:xfrm>
        </p:spPr>
        <p:txBody>
          <a:bodyPr/>
          <a:lstStyle/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Floating lookback call pays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z="2400" i="1" baseline="-2500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z="2400" smtClean="0">
                <a:latin typeface="Times New Roman" pitchFamily="18" charset="0"/>
                <a:cs typeface="Arial" charset="0"/>
              </a:rPr>
              <a:t> –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z="2400" baseline="-25000" smtClean="0">
                <a:latin typeface="Times New Roman" pitchFamily="18" charset="0"/>
                <a:cs typeface="Arial" charset="0"/>
              </a:rPr>
              <a:t>min</a:t>
            </a:r>
            <a:r>
              <a:rPr lang="en-US" altLang="en-US" sz="2400" smtClean="0">
                <a:latin typeface="Arial" charset="0"/>
                <a:cs typeface="Arial" charset="0"/>
              </a:rPr>
              <a:t> at time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T </a:t>
            </a:r>
            <a:r>
              <a:rPr lang="en-US" altLang="en-US" sz="2400" smtClean="0">
                <a:latin typeface="Times New Roman" pitchFamily="18" charset="0"/>
                <a:cs typeface="Arial" charset="0"/>
              </a:rPr>
              <a:t>(</a:t>
            </a:r>
            <a:r>
              <a:rPr lang="en-US" altLang="en-US" sz="2400" smtClean="0">
                <a:latin typeface="Arial" charset="0"/>
                <a:cs typeface="Arial" charset="0"/>
              </a:rPr>
              <a:t>Allows buyer to buy stock at lowest observed price in some interval of time)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Floating lookback put pays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z="2400" baseline="-25000" smtClean="0">
                <a:latin typeface="Times New Roman" pitchFamily="18" charset="0"/>
                <a:cs typeface="Arial" charset="0"/>
              </a:rPr>
              <a:t>max</a:t>
            </a:r>
            <a:r>
              <a:rPr lang="en-US" altLang="en-US" sz="2400" smtClean="0">
                <a:latin typeface="Times New Roman" pitchFamily="18" charset="0"/>
                <a:cs typeface="Arial" charset="0"/>
              </a:rPr>
              <a:t>–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z="2400" i="1" baseline="-2500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z="240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2400" smtClean="0">
                <a:latin typeface="Arial" charset="0"/>
                <a:cs typeface="Arial" charset="0"/>
              </a:rPr>
              <a:t>at time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T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altLang="en-US" sz="2400" smtClean="0">
                <a:latin typeface="Arial" charset="0"/>
                <a:cs typeface="Arial" charset="0"/>
              </a:rPr>
              <a:t>	(Allows buyer to sell stock at highest observed price in some interval of time)</a:t>
            </a:r>
          </a:p>
          <a:p>
            <a:pPr eaLnBrk="1" hangingPunct="1"/>
            <a:r>
              <a:rPr lang="en-CA" altLang="en-US" sz="2400" smtClean="0">
                <a:latin typeface="Arial" charset="0"/>
                <a:cs typeface="Arial" charset="0"/>
              </a:rPr>
              <a:t>Fixed lookback call pays max(</a:t>
            </a:r>
            <a:r>
              <a:rPr lang="en-CA" altLang="en-US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CA" altLang="en-US" sz="2400" baseline="-25000" smtClean="0">
                <a:latin typeface="Times New Roman" pitchFamily="18" charset="0"/>
                <a:cs typeface="Times New Roman" pitchFamily="18" charset="0"/>
              </a:rPr>
              <a:t>max</a:t>
            </a:r>
            <a:r>
              <a:rPr lang="en-CA" altLang="en-US" sz="2400" smtClean="0">
                <a:latin typeface="Arial" charset="0"/>
                <a:cs typeface="Arial" charset="0"/>
              </a:rPr>
              <a:t>−</a:t>
            </a:r>
            <a:r>
              <a:rPr lang="en-CA" altLang="en-US" sz="2400" i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CA" altLang="en-US" sz="2400" smtClean="0">
                <a:latin typeface="Arial" charset="0"/>
                <a:cs typeface="Arial" charset="0"/>
              </a:rPr>
              <a:t>, </a:t>
            </a:r>
            <a:r>
              <a:rPr lang="en-CA" altLang="en-US" sz="240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CA" altLang="en-US" sz="2400" smtClean="0">
                <a:latin typeface="Arial" charset="0"/>
                <a:cs typeface="Arial" charset="0"/>
              </a:rPr>
              <a:t>)</a:t>
            </a:r>
          </a:p>
          <a:p>
            <a:pPr eaLnBrk="1" hangingPunct="1"/>
            <a:r>
              <a:rPr lang="en-CA" altLang="en-US" sz="2400" smtClean="0">
                <a:latin typeface="Arial" charset="0"/>
                <a:cs typeface="Arial" charset="0"/>
              </a:rPr>
              <a:t>Fixed lookback put pays max(</a:t>
            </a:r>
            <a:r>
              <a:rPr lang="en-CA" altLang="en-US" sz="2400" i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CA" altLang="en-US" sz="2400" smtClean="0">
                <a:latin typeface="Arial" charset="0"/>
                <a:cs typeface="Arial" charset="0"/>
              </a:rPr>
              <a:t> −</a:t>
            </a:r>
            <a:r>
              <a:rPr lang="en-CA" altLang="en-US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CA" altLang="en-US" sz="2400" baseline="-25000" smtClean="0">
                <a:latin typeface="Times New Roman" pitchFamily="18" charset="0"/>
                <a:cs typeface="Times New Roman" pitchFamily="18" charset="0"/>
              </a:rPr>
              <a:t>min</a:t>
            </a:r>
            <a:r>
              <a:rPr lang="en-CA" altLang="en-US" sz="2400" smtClean="0">
                <a:latin typeface="Arial" charset="0"/>
                <a:cs typeface="Arial" charset="0"/>
              </a:rPr>
              <a:t>, </a:t>
            </a:r>
            <a:r>
              <a:rPr lang="en-CA" altLang="en-US" sz="240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CA" altLang="en-US" sz="2400" smtClean="0">
                <a:latin typeface="Arial" charset="0"/>
                <a:cs typeface="Arial" charset="0"/>
              </a:rPr>
              <a:t>)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Analytic valuation for all types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2458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458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79EB738-DB40-4804-BF25-02DCD8BF661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Shout Options </a:t>
            </a:r>
            <a:r>
              <a:rPr lang="en-US" altLang="en-US" sz="2200" dirty="0" smtClean="0"/>
              <a:t>(Section 26.12)</a:t>
            </a:r>
            <a:endParaRPr lang="en-US" altLang="en-US" sz="2200" dirty="0" smtClean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1030288" y="2057400"/>
            <a:ext cx="7772400" cy="3733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Buyer can ‘shout’ once during option life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Final payoff is either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Usual option payoff, 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max(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 –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K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, 0)</a:t>
            </a:r>
            <a:r>
              <a:rPr lang="en-US" altLang="en-US" smtClean="0">
                <a:latin typeface="Arial" charset="0"/>
                <a:cs typeface="Arial" charset="0"/>
              </a:rPr>
              <a:t>, 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Intrinsic value at time of shout,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i="1" baseline="-25000" smtClean="0">
                <a:latin typeface="Symbol" pitchFamily="18" charset="2"/>
                <a:cs typeface="Arial" charset="0"/>
              </a:rPr>
              <a:t>t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 –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K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Payoff: 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max(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 –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i="1" baseline="-25000" smtClean="0">
                <a:latin typeface="Symbol" pitchFamily="18" charset="2"/>
                <a:cs typeface="Arial" charset="0"/>
              </a:rPr>
              <a:t>t 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, 0) +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i="1" baseline="-25000" smtClean="0">
                <a:latin typeface="Symbol" pitchFamily="18" charset="2"/>
                <a:cs typeface="Arial" charset="0"/>
              </a:rPr>
              <a:t>t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 –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K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Similar to lookback option but cheaper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2560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560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7313C79-CEFA-4B4B-B9CD-76CC2B58530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Asian Options </a:t>
            </a:r>
            <a:r>
              <a:rPr lang="en-US" altLang="en-US" sz="2200" dirty="0" smtClean="0"/>
              <a:t>(Section 26.13)</a:t>
            </a:r>
            <a:endParaRPr lang="en-US" altLang="en-US" sz="2200" dirty="0" smtClean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Payoff related to average stock price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Average Price options pay: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Call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: max(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baseline="-25000" smtClean="0">
                <a:latin typeface="Times New Roman" pitchFamily="18" charset="0"/>
                <a:cs typeface="Arial" charset="0"/>
              </a:rPr>
              <a:t>ave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 –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K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, 0)</a:t>
            </a:r>
            <a:r>
              <a:rPr lang="en-US" altLang="en-US" smtClean="0">
                <a:latin typeface="Arial" charset="0"/>
                <a:cs typeface="Arial" charset="0"/>
              </a:rPr>
              <a:t> 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Put: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  max(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K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 –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baseline="-25000" smtClean="0">
                <a:latin typeface="Times New Roman" pitchFamily="18" charset="0"/>
                <a:cs typeface="Arial" charset="0"/>
              </a:rPr>
              <a:t>ave 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, 0)</a:t>
            </a:r>
            <a:r>
              <a:rPr lang="en-US" altLang="en-US" smtClean="0">
                <a:latin typeface="Arial" charset="0"/>
                <a:cs typeface="Arial" charset="0"/>
              </a:rPr>
              <a:t> 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Average Strike options pay: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Call: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 max(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 –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baseline="-25000" smtClean="0">
                <a:latin typeface="Times New Roman" pitchFamily="18" charset="0"/>
                <a:cs typeface="Arial" charset="0"/>
              </a:rPr>
              <a:t>ave 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, 0)</a:t>
            </a:r>
            <a:r>
              <a:rPr lang="en-US" altLang="en-US" smtClean="0">
                <a:latin typeface="Arial" charset="0"/>
                <a:cs typeface="Arial" charset="0"/>
              </a:rPr>
              <a:t>  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Put: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  max(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baseline="-25000" smtClean="0">
                <a:latin typeface="Times New Roman" pitchFamily="18" charset="0"/>
                <a:cs typeface="Arial" charset="0"/>
              </a:rPr>
              <a:t>ave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 –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T 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, 0)</a:t>
            </a:r>
            <a:r>
              <a:rPr lang="en-US" altLang="en-US" smtClean="0">
                <a:latin typeface="Arial" charset="0"/>
                <a:cs typeface="Arial" charset="0"/>
              </a:rPr>
              <a:t> </a:t>
            </a:r>
          </a:p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2662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662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8859859-5ACB-45F3-B333-C44BFED0789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Asian Options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No exact analytic valuation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Can be approximately valued by assuming  that the average stock price is lognormally distributed</a:t>
            </a:r>
          </a:p>
        </p:txBody>
      </p:sp>
      <p:sp>
        <p:nvSpPr>
          <p:cNvPr id="2765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765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A13F328-9FE2-4215-96C6-D8D549E0D58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Exchange Options </a:t>
            </a:r>
            <a:r>
              <a:rPr lang="en-US" altLang="en-US" sz="2200" dirty="0" smtClean="0"/>
              <a:t>(Section 26.14)</a:t>
            </a:r>
            <a:endParaRPr lang="en-US" altLang="en-US" sz="2200" dirty="0" smtClean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1295400" y="2362200"/>
            <a:ext cx="6792913" cy="3768725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Option to exchange one asset for another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For example, an option to exchange one unit of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U</a:t>
            </a:r>
            <a:r>
              <a:rPr lang="en-US" altLang="en-US" smtClean="0">
                <a:latin typeface="Arial" charset="0"/>
                <a:cs typeface="Arial" charset="0"/>
              </a:rPr>
              <a:t>  for one unit of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V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Payoff is 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max(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V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 –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U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, 0) 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2867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867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99ECB72-A2CC-439E-92D0-37D1D5CDCD5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Basket Options </a:t>
            </a:r>
            <a:r>
              <a:rPr lang="en-US" altLang="en-US" sz="2200" dirty="0" smtClean="0"/>
              <a:t>(Section 26.15)</a:t>
            </a:r>
            <a:endParaRPr lang="en-US" altLang="en-US" sz="2200" dirty="0" smtClean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A basket option is an option to buy  or sell a portfolio of assets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This can be valued by calculating the first two moments of the value of the basket at option maturity and then assuming it is lognormal</a:t>
            </a:r>
          </a:p>
        </p:txBody>
      </p:sp>
      <p:sp>
        <p:nvSpPr>
          <p:cNvPr id="2970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970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450BDB0-121B-4701-A2B6-9F906E85F3B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 smtClean="0"/>
              <a:t>Volatility and Variance </a:t>
            </a:r>
            <a:r>
              <a:rPr lang="en-CA" altLang="en-US" dirty="0" smtClean="0"/>
              <a:t>Swaps </a:t>
            </a:r>
            <a:r>
              <a:rPr lang="en-CA" altLang="en-US" sz="2400" dirty="0" smtClean="0"/>
              <a:t>(Section 26.16)</a:t>
            </a:r>
            <a:endParaRPr lang="en-US" altLang="en-US" sz="2400" dirty="0" smtClean="0"/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sz="2400" smtClean="0">
                <a:latin typeface="Arial" charset="0"/>
                <a:cs typeface="Arial" charset="0"/>
              </a:rPr>
              <a:t>Volatility swap is agreement to exchange the realized volatility between time 0 and time </a:t>
            </a:r>
            <a:r>
              <a:rPr lang="en-CA" altLang="en-US" sz="2400" i="1" smtClean="0">
                <a:latin typeface="Times New Roman" pitchFamily="18" charset="0"/>
                <a:cs typeface="Times New Roman" pitchFamily="18" charset="0"/>
              </a:rPr>
              <a:t>T </a:t>
            </a:r>
            <a:r>
              <a:rPr lang="en-CA" altLang="en-US" sz="2400" smtClean="0">
                <a:latin typeface="Arial" charset="0"/>
                <a:cs typeface="Times New Roman" pitchFamily="18" charset="0"/>
              </a:rPr>
              <a:t>for a prespecified fixed volatility with both being multiplied by a prespecified principal</a:t>
            </a:r>
          </a:p>
          <a:p>
            <a:pPr eaLnBrk="1" hangingPunct="1"/>
            <a:r>
              <a:rPr lang="en-CA" altLang="en-US" sz="2400" smtClean="0">
                <a:latin typeface="Arial" charset="0"/>
                <a:cs typeface="Times New Roman" pitchFamily="18" charset="0"/>
              </a:rPr>
              <a:t>Variance swap is agreement to exchange the realized </a:t>
            </a:r>
            <a:r>
              <a:rPr lang="en-CA" altLang="en-US" sz="2400" smtClean="0">
                <a:latin typeface="Arial" charset="0"/>
                <a:cs typeface="Arial" charset="0"/>
              </a:rPr>
              <a:t>variance rate between time 0 and time </a:t>
            </a:r>
            <a:r>
              <a:rPr lang="en-CA" altLang="en-US" sz="2400" i="1" smtClean="0">
                <a:latin typeface="Arial" charset="0"/>
                <a:cs typeface="Times New Roman" pitchFamily="18" charset="0"/>
              </a:rPr>
              <a:t>T </a:t>
            </a:r>
            <a:r>
              <a:rPr lang="en-CA" altLang="en-US" sz="2400" smtClean="0">
                <a:latin typeface="Arial" charset="0"/>
                <a:cs typeface="Times New Roman" pitchFamily="18" charset="0"/>
              </a:rPr>
              <a:t>for a prespecified fixed variance rate with both being multiplied by a prespecified principal</a:t>
            </a:r>
          </a:p>
          <a:p>
            <a:pPr eaLnBrk="1" hangingPunct="1"/>
            <a:r>
              <a:rPr lang="en-CA" altLang="en-US" sz="2400" smtClean="0">
                <a:latin typeface="Arial" charset="0"/>
                <a:cs typeface="Times New Roman" pitchFamily="18" charset="0"/>
              </a:rPr>
              <a:t>Daily return is assumed to be zero in calculating the volatility or variance rate</a:t>
            </a:r>
          </a:p>
          <a:p>
            <a:pPr eaLnBrk="1" hangingPunct="1"/>
            <a:endParaRPr lang="en-US" altLang="en-US" smtClean="0">
              <a:latin typeface="Arial" charset="0"/>
              <a:cs typeface="Times New Roman" pitchFamily="18" charset="0"/>
            </a:endParaRPr>
          </a:p>
        </p:txBody>
      </p:sp>
      <p:sp>
        <p:nvSpPr>
          <p:cNvPr id="3072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072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FB31262-3E37-4096-9A5C-F34999EA1BB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 smtClean="0"/>
              <a:t>Variance </a:t>
            </a:r>
            <a:r>
              <a:rPr lang="en-CA" altLang="en-US" dirty="0" smtClean="0"/>
              <a:t>Swap </a:t>
            </a:r>
            <a:r>
              <a:rPr lang="en-CA" altLang="en-US" sz="2400" dirty="0" smtClean="0"/>
              <a:t>(equation 26.6)</a:t>
            </a:r>
            <a:endParaRPr lang="en-US" altLang="en-US" sz="2400" dirty="0" smtClean="0"/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685800" y="2133600"/>
            <a:ext cx="8185150" cy="4114800"/>
          </a:xfrm>
        </p:spPr>
        <p:txBody>
          <a:bodyPr/>
          <a:lstStyle/>
          <a:p>
            <a:pPr eaLnBrk="1" hangingPunct="1"/>
            <a:r>
              <a:rPr lang="en-CA" altLang="en-US" sz="2400" smtClean="0">
                <a:latin typeface="Arial" charset="0"/>
                <a:cs typeface="Arial" charset="0"/>
              </a:rPr>
              <a:t>The (risk-neutral) expected variance rate between times 0 and </a:t>
            </a:r>
            <a:r>
              <a:rPr lang="en-CA" altLang="en-US" sz="2400" i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CA" altLang="en-US" sz="2400" smtClean="0">
                <a:latin typeface="Arial" charset="0"/>
                <a:cs typeface="Arial" charset="0"/>
              </a:rPr>
              <a:t> can be calculated from the prices of European call and  put options with different strikes and maturity </a:t>
            </a:r>
            <a:r>
              <a:rPr lang="en-CA" altLang="en-US" sz="2400" i="1" smtClean="0">
                <a:latin typeface="Times New Roman" pitchFamily="18" charset="0"/>
                <a:cs typeface="Times New Roman" pitchFamily="18" charset="0"/>
              </a:rPr>
              <a:t>T</a:t>
            </a:r>
          </a:p>
          <a:p>
            <a:pPr eaLnBrk="1" hangingPunct="1"/>
            <a:r>
              <a:rPr lang="en-CA" altLang="en-US" sz="2400" smtClean="0">
                <a:latin typeface="Arial" charset="0"/>
                <a:cs typeface="Arial" charset="0"/>
              </a:rPr>
              <a:t>For any value of </a:t>
            </a:r>
            <a:r>
              <a:rPr lang="en-CA" altLang="en-US" sz="2400" i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CA" altLang="en-US" sz="2400" baseline="30000" smtClean="0">
                <a:latin typeface="Times New Roman" pitchFamily="18" charset="0"/>
                <a:cs typeface="Times New Roman" pitchFamily="18" charset="0"/>
              </a:rPr>
              <a:t>*</a:t>
            </a:r>
            <a:endParaRPr lang="en-CA" altLang="en-US" sz="2400" smtClean="0">
              <a:latin typeface="Arial" charset="0"/>
              <a:cs typeface="Arial" charset="0"/>
            </a:endParaRPr>
          </a:p>
        </p:txBody>
      </p:sp>
      <p:sp>
        <p:nvSpPr>
          <p:cNvPr id="3174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174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55A980C-E6CC-4B91-B319-2DC1A59F3CF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31750" name="Object 2"/>
          <p:cNvGraphicFramePr>
            <a:graphicFrameLocks noChangeAspect="1"/>
          </p:cNvGraphicFramePr>
          <p:nvPr/>
        </p:nvGraphicFramePr>
        <p:xfrm>
          <a:off x="914400" y="3810000"/>
          <a:ext cx="768985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6" name="Equation" r:id="rId6" imgW="4394200" imgH="508000" progId="Equation.3">
                  <p:embed/>
                </p:oleObj>
              </mc:Choice>
              <mc:Fallback>
                <p:oleObj name="Equation" r:id="rId6" imgW="4394200" imgH="508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810000"/>
                        <a:ext cx="768985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 smtClean="0"/>
              <a:t>Volatility </a:t>
            </a:r>
            <a:r>
              <a:rPr lang="en-CA" altLang="en-US" dirty="0" smtClean="0"/>
              <a:t>Swap </a:t>
            </a:r>
            <a:r>
              <a:rPr lang="en-CA" altLang="en-US" sz="2400" dirty="0" smtClean="0"/>
              <a:t>(equation 26.9)</a:t>
            </a:r>
            <a:endParaRPr lang="en-US" altLang="en-US" sz="2400" dirty="0" smtClean="0"/>
          </a:p>
        </p:txBody>
      </p:sp>
      <p:sp>
        <p:nvSpPr>
          <p:cNvPr id="32771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277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6ED2936-1CFA-4EE5-BDD8-7A6C360E20A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32773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dirty="0" smtClean="0">
                <a:latin typeface="Arial" charset="0"/>
                <a:cs typeface="Arial" charset="0"/>
              </a:rPr>
              <a:t>For a volatility swap it is necessary to use the approximate relation</a:t>
            </a:r>
            <a:endParaRPr lang="en-US" altLang="en-US" dirty="0" smtClean="0">
              <a:latin typeface="Arial" charset="0"/>
              <a:cs typeface="Arial" charset="0"/>
            </a:endParaRPr>
          </a:p>
        </p:txBody>
      </p:sp>
      <p:graphicFrame>
        <p:nvGraphicFramePr>
          <p:cNvPr id="32774" name="Object 2"/>
          <p:cNvGraphicFramePr>
            <a:graphicFrameLocks noChangeAspect="1"/>
          </p:cNvGraphicFramePr>
          <p:nvPr/>
        </p:nvGraphicFramePr>
        <p:xfrm>
          <a:off x="2590800" y="3581400"/>
          <a:ext cx="344487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0" name="Equation" r:id="rId6" imgW="1968500" imgH="508000" progId="Equation.3">
                  <p:embed/>
                </p:oleObj>
              </mc:Choice>
              <mc:Fallback>
                <p:oleObj name="Equation" r:id="rId6" imgW="1968500" imgH="508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581400"/>
                        <a:ext cx="3444875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 smtClean="0"/>
              <a:t>VIX </a:t>
            </a:r>
            <a:r>
              <a:rPr lang="en-CA" altLang="en-US" dirty="0" smtClean="0"/>
              <a:t>Index</a:t>
            </a:r>
            <a:endParaRPr lang="en-US" altLang="en-US" sz="2400" dirty="0" smtClean="0"/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The expected value of the variance of the S&amp;P 500  over 30 days is calculated from the CBOE market prices of European put and call options on the S&amp;P 500 using the expression for </a:t>
            </a:r>
          </a:p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This is then multiplied by 365/30 and the VIX index is set equal to the square root of the result</a:t>
            </a: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3379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379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1D5E791-1B7A-43B7-A806-1C9F60CDAA7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33798" name="Object 6"/>
          <p:cNvGraphicFramePr>
            <a:graphicFrameLocks noChangeAspect="1"/>
          </p:cNvGraphicFramePr>
          <p:nvPr/>
        </p:nvGraphicFramePr>
        <p:xfrm>
          <a:off x="1524000" y="3886200"/>
          <a:ext cx="7620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4" name="Equation" r:id="rId6" imgW="330200" imgH="228600" progId="Equation.3">
                  <p:embed/>
                </p:oleObj>
              </mc:Choice>
              <mc:Fallback>
                <p:oleObj name="Equation" r:id="rId6" imgW="3302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886200"/>
                        <a:ext cx="7620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990600"/>
            <a:ext cx="7362825" cy="15240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How Difficult is it to </a:t>
            </a:r>
            <a:br>
              <a:rPr lang="en-US" altLang="en-US" smtClean="0"/>
            </a:br>
            <a:r>
              <a:rPr lang="en-US" altLang="en-US" smtClean="0"/>
              <a:t>Hedge Exotic Options?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2971800"/>
            <a:ext cx="7267575" cy="27432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In some cases exotic options are easier to hedge than the corresponding vanilla options (e.g., Asian options)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In other cases they are more difficult to hedge (e.g., barrier options)</a:t>
            </a:r>
          </a:p>
        </p:txBody>
      </p:sp>
      <p:sp>
        <p:nvSpPr>
          <p:cNvPr id="3482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482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E311727-AED4-4014-BF1E-E8EF68BD2097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219200" y="609600"/>
            <a:ext cx="6211888" cy="15240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Static Options Replication</a:t>
            </a:r>
            <a:br>
              <a:rPr lang="en-US" altLang="en-US" dirty="0" smtClean="0"/>
            </a:br>
            <a:r>
              <a:rPr lang="en-US" altLang="en-US" sz="2200" dirty="0" smtClean="0"/>
              <a:t>(Section </a:t>
            </a:r>
            <a:r>
              <a:rPr lang="en-US" altLang="en-US" sz="2200" dirty="0" smtClean="0"/>
              <a:t>26.17)</a:t>
            </a:r>
            <a:endParaRPr lang="en-US" altLang="en-US" dirty="0" smtClean="0"/>
          </a:p>
        </p:txBody>
      </p:sp>
      <p:sp>
        <p:nvSpPr>
          <p:cNvPr id="35843" name="Rectangle 1027"/>
          <p:cNvSpPr>
            <a:spLocks noGrp="1" noChangeArrowheads="1"/>
          </p:cNvSpPr>
          <p:nvPr>
            <p:ph idx="1"/>
          </p:nvPr>
        </p:nvSpPr>
        <p:spPr>
          <a:xfrm>
            <a:off x="533400" y="2209800"/>
            <a:ext cx="7391400" cy="38100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 smtClean="0">
                <a:latin typeface="Arial" charset="0"/>
                <a:cs typeface="Arial" charset="0"/>
              </a:rPr>
              <a:t>This involves approximately replicating an exotic option with a portfolio of vanilla options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>
                <a:latin typeface="Arial" charset="0"/>
                <a:cs typeface="Arial" charset="0"/>
              </a:rPr>
              <a:t>Underlying principle: if we match the value of an exotic option on some boundary , we have matched it at all interior points of the boundary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>
                <a:latin typeface="Arial" charset="0"/>
                <a:cs typeface="Arial" charset="0"/>
              </a:rPr>
              <a:t>Static options replication can be contrasted with dynamic options replication where we have to trade continuously to match the option </a:t>
            </a:r>
          </a:p>
        </p:txBody>
      </p:sp>
      <p:sp>
        <p:nvSpPr>
          <p:cNvPr id="3584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584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1D6B946-4A58-423D-91D8-319D60A6099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404813"/>
            <a:ext cx="4876800" cy="1576387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Example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981200"/>
            <a:ext cx="8153400" cy="35814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A 9-month up-and-out call option an a non-dividend paying stock where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mtClean="0">
                <a:latin typeface="Arial" charset="0"/>
                <a:cs typeface="Arial" charset="0"/>
              </a:rPr>
              <a:t>  = 50,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K</a:t>
            </a:r>
            <a:r>
              <a:rPr lang="en-US" altLang="en-US" smtClean="0">
                <a:latin typeface="Arial" charset="0"/>
                <a:cs typeface="Arial" charset="0"/>
              </a:rPr>
              <a:t>  = 50, the barrier is 60,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r</a:t>
            </a:r>
            <a:r>
              <a:rPr lang="en-US" altLang="en-US" smtClean="0">
                <a:latin typeface="Arial" charset="0"/>
                <a:cs typeface="Arial" charset="0"/>
              </a:rPr>
              <a:t>  = 10%, and </a:t>
            </a:r>
            <a:r>
              <a:rPr lang="en-US" altLang="en-US" i="1" smtClean="0">
                <a:latin typeface="Symbol" pitchFamily="18" charset="2"/>
                <a:cs typeface="Arial" charset="0"/>
              </a:rPr>
              <a:t>s</a:t>
            </a:r>
            <a:r>
              <a:rPr lang="en-US" altLang="en-US" smtClean="0">
                <a:latin typeface="Arial" charset="0"/>
                <a:cs typeface="Arial" charset="0"/>
              </a:rPr>
              <a:t> = 30%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Any boundary can be chosen but the natural one is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c</a:t>
            </a:r>
            <a:r>
              <a:rPr lang="en-US" altLang="en-US" smtClean="0">
                <a:latin typeface="Arial" charset="0"/>
                <a:cs typeface="Arial" charset="0"/>
              </a:rPr>
              <a:t> (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mtClean="0">
                <a:latin typeface="Arial" charset="0"/>
                <a:cs typeface="Arial" charset="0"/>
              </a:rPr>
              <a:t>, 0.75) = max(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mtClean="0">
                <a:latin typeface="Arial" charset="0"/>
                <a:cs typeface="Arial" charset="0"/>
              </a:rPr>
              <a:t> – 50, 0)  when 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mtClean="0">
                <a:latin typeface="Arial" charset="0"/>
                <a:cs typeface="Arial" charset="0"/>
              </a:rPr>
              <a:t>  </a:t>
            </a:r>
            <a:r>
              <a:rPr lang="en-US" altLang="en-US" smtClean="0">
                <a:latin typeface="Symbol" pitchFamily="18" charset="2"/>
                <a:cs typeface="Arial" charset="0"/>
              </a:rPr>
              <a:t>&lt;</a:t>
            </a:r>
            <a:r>
              <a:rPr lang="en-US" altLang="en-US" smtClean="0">
                <a:latin typeface="Arial" charset="0"/>
                <a:cs typeface="Arial" charset="0"/>
              </a:rPr>
              <a:t> 60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c</a:t>
            </a:r>
            <a:r>
              <a:rPr lang="en-US" altLang="en-US" smtClean="0">
                <a:latin typeface="Arial" charset="0"/>
                <a:cs typeface="Arial" charset="0"/>
              </a:rPr>
              <a:t> (60,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mtClean="0">
                <a:latin typeface="Arial" charset="0"/>
                <a:cs typeface="Arial" charset="0"/>
              </a:rPr>
              <a:t> ) = 0  when   0 </a:t>
            </a:r>
            <a:r>
              <a:rPr lang="en-US" altLang="en-US" smtClean="0">
                <a:latin typeface="Symbol" pitchFamily="18" charset="2"/>
                <a:cs typeface="Arial" charset="0"/>
              </a:rPr>
              <a:t>£</a:t>
            </a:r>
            <a:r>
              <a:rPr lang="en-US" altLang="en-US" i="1" smtClean="0">
                <a:latin typeface="Arial" charset="0"/>
                <a:cs typeface="Arial" charset="0"/>
              </a:rPr>
              <a:t>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i="1" smtClean="0">
                <a:latin typeface="Arial" charset="0"/>
                <a:cs typeface="Arial" charset="0"/>
              </a:rPr>
              <a:t> </a:t>
            </a:r>
            <a:r>
              <a:rPr lang="en-US" altLang="en-US" smtClean="0">
                <a:latin typeface="Arial" charset="0"/>
                <a:cs typeface="Arial" charset="0"/>
              </a:rPr>
              <a:t> </a:t>
            </a:r>
            <a:r>
              <a:rPr lang="en-US" altLang="en-US" smtClean="0">
                <a:latin typeface="Symbol" pitchFamily="18" charset="2"/>
                <a:cs typeface="Arial" charset="0"/>
              </a:rPr>
              <a:t>£</a:t>
            </a:r>
            <a:r>
              <a:rPr lang="en-US" altLang="en-US" smtClean="0">
                <a:latin typeface="Arial" charset="0"/>
                <a:cs typeface="Arial" charset="0"/>
              </a:rPr>
              <a:t> 0.75</a:t>
            </a:r>
          </a:p>
        </p:txBody>
      </p:sp>
      <p:sp>
        <p:nvSpPr>
          <p:cNvPr id="3686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686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C455BCC-776F-42E3-88EB-D6FBEB6EBC0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 smtClean="0"/>
              <a:t>The </a:t>
            </a:r>
            <a:r>
              <a:rPr lang="en-CA" altLang="en-US" dirty="0" smtClean="0"/>
              <a:t>Boundary </a:t>
            </a:r>
            <a:r>
              <a:rPr lang="en-CA" altLang="en-US" sz="2400" dirty="0" smtClean="0"/>
              <a:t>(Figure 26.1) </a:t>
            </a:r>
            <a:endParaRPr lang="en-US" altLang="en-US" sz="2400" dirty="0" smtClean="0"/>
          </a:p>
        </p:txBody>
      </p:sp>
      <p:sp>
        <p:nvSpPr>
          <p:cNvPr id="37891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DDECA73-1B39-4E7E-B328-C48CFA69CDA9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400" smtClean="0">
              <a:latin typeface="Arial" charset="0"/>
            </a:endParaRPr>
          </a:p>
        </p:txBody>
      </p:sp>
      <p:pic>
        <p:nvPicPr>
          <p:cNvPr id="37893" name="Picture 4" descr="OFOD7_24-01.eps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425" y="2438400"/>
            <a:ext cx="404495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404813"/>
            <a:ext cx="6705600" cy="1652587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Example </a:t>
            </a:r>
            <a:r>
              <a:rPr lang="en-US" altLang="en-US" sz="2600" smtClean="0"/>
              <a:t>(continued)</a:t>
            </a:r>
          </a:p>
        </p:txBody>
      </p:sp>
      <p:sp>
        <p:nvSpPr>
          <p:cNvPr id="33797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2133600"/>
            <a:ext cx="7239000" cy="3429000"/>
          </a:xfrm>
        </p:spPr>
        <p:txBody>
          <a:bodyPr lIns="92075" tIns="46038" rIns="92075" bIns="46038"/>
          <a:lstStyle/>
          <a:p>
            <a:pPr eaLnBrk="1" hangingPunct="1">
              <a:buFont typeface="Wingdings 2" pitchFamily="18" charset="2"/>
              <a:buNone/>
              <a:defRPr/>
            </a:pPr>
            <a:r>
              <a:rPr lang="en-US" dirty="0" smtClean="0"/>
              <a:t>	We might try to match the following points on the boundary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dirty="0" smtClean="0"/>
              <a:t>	</a:t>
            </a:r>
            <a:r>
              <a:rPr lang="en-US" i="1" dirty="0" smtClean="0">
                <a:latin typeface="Times New Roman" pitchFamily="18" charset="0"/>
              </a:rPr>
              <a:t>c</a:t>
            </a:r>
            <a:r>
              <a:rPr lang="en-US" dirty="0" smtClean="0"/>
              <a:t>(</a:t>
            </a:r>
            <a:r>
              <a:rPr lang="en-US" i="1" dirty="0" smtClean="0">
                <a:latin typeface="+mj-lt"/>
              </a:rPr>
              <a:t>S</a:t>
            </a:r>
            <a:r>
              <a:rPr lang="en-US" dirty="0" smtClean="0"/>
              <a:t> , 0.75) = MAX(</a:t>
            </a:r>
            <a:r>
              <a:rPr lang="en-US" i="1" dirty="0" smtClean="0">
                <a:latin typeface="Times New Roman" pitchFamily="18" charset="0"/>
              </a:rPr>
              <a:t>S</a:t>
            </a:r>
            <a:r>
              <a:rPr lang="en-US" dirty="0" smtClean="0"/>
              <a:t> – 50, 0)  for  </a:t>
            </a:r>
            <a:r>
              <a:rPr lang="en-US" i="1" dirty="0" smtClean="0">
                <a:latin typeface="Times New Roman" pitchFamily="18" charset="0"/>
              </a:rPr>
              <a:t>S</a:t>
            </a:r>
            <a:r>
              <a:rPr lang="en-US" dirty="0" smtClean="0"/>
              <a:t>  </a:t>
            </a:r>
            <a:r>
              <a:rPr lang="en-US" dirty="0" smtClean="0">
                <a:latin typeface="Symbol" pitchFamily="18" charset="2"/>
              </a:rPr>
              <a:t>&lt;</a:t>
            </a:r>
            <a:r>
              <a:rPr lang="en-US" dirty="0" smtClean="0"/>
              <a:t> 60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dirty="0" smtClean="0"/>
              <a:t>	</a:t>
            </a:r>
            <a:r>
              <a:rPr lang="en-US" i="1" dirty="0" smtClean="0">
                <a:latin typeface="Times New Roman" pitchFamily="18" charset="0"/>
              </a:rPr>
              <a:t>c</a:t>
            </a:r>
            <a:r>
              <a:rPr lang="en-US" dirty="0" smtClean="0"/>
              <a:t>(60, 0.50) = 0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dirty="0" smtClean="0"/>
              <a:t> 	</a:t>
            </a:r>
            <a:r>
              <a:rPr lang="en-US" i="1" dirty="0" smtClean="0">
                <a:latin typeface="Times New Roman" pitchFamily="18" charset="0"/>
              </a:rPr>
              <a:t>c</a:t>
            </a:r>
            <a:r>
              <a:rPr lang="en-US" dirty="0" smtClean="0"/>
              <a:t>(60, 0.25) = 0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dirty="0" smtClean="0"/>
              <a:t> 	</a:t>
            </a:r>
            <a:r>
              <a:rPr lang="en-US" i="1" dirty="0" smtClean="0">
                <a:latin typeface="Times New Roman" pitchFamily="18" charset="0"/>
              </a:rPr>
              <a:t>c</a:t>
            </a:r>
            <a:r>
              <a:rPr lang="en-US" dirty="0" smtClean="0"/>
              <a:t>(60, 0.00) = 0</a:t>
            </a:r>
          </a:p>
        </p:txBody>
      </p:sp>
      <p:sp>
        <p:nvSpPr>
          <p:cNvPr id="3891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89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2A16395-667E-444E-87B2-26D3766FE8C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609600"/>
            <a:ext cx="6070600" cy="14478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Example </a:t>
            </a:r>
            <a:r>
              <a:rPr lang="en-US" altLang="en-US" sz="2600" dirty="0" smtClean="0"/>
              <a:t>continued</a:t>
            </a:r>
            <a:br>
              <a:rPr lang="en-US" altLang="en-US" sz="2600" dirty="0" smtClean="0"/>
            </a:br>
            <a:r>
              <a:rPr lang="en-US" altLang="en-US" sz="2200" dirty="0" smtClean="0"/>
              <a:t>(See Table </a:t>
            </a:r>
            <a:r>
              <a:rPr lang="en-US" altLang="en-US" sz="2200" dirty="0" smtClean="0"/>
              <a:t>26.1)</a:t>
            </a:r>
            <a:endParaRPr lang="en-US" altLang="en-US" sz="2600" dirty="0" smtClean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1600200" y="2133600"/>
            <a:ext cx="6850063" cy="30480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We can do this as follows: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+1.00 call with maturity 0.75 &amp; strike 50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–2.66 call with maturity 0.75 &amp; strike 60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+0.97 call with maturity 0.50 &amp; strike 60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+0.28 call with maturity 0.25 &amp; strike 60</a:t>
            </a:r>
          </a:p>
        </p:txBody>
      </p:sp>
      <p:sp>
        <p:nvSpPr>
          <p:cNvPr id="3994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99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DFDAE9A-5306-4950-9CB6-74F41049114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33375"/>
            <a:ext cx="6781800" cy="202882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Example </a:t>
            </a:r>
            <a:r>
              <a:rPr lang="en-US" altLang="en-US" sz="2600" smtClean="0"/>
              <a:t>(continued)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2209800"/>
            <a:ext cx="6881813" cy="36576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This portfolio is worth 0.73 at time zero compared with 0.31 for the up-and out option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As we use more options the value of the replicating portfolio converges to the value of the exotic option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For example, with 18 points matched on the horizontal boundary the value of the replicating portfolio reduces to 0.38; with 100 points being matched it reduces to 0.32</a:t>
            </a:r>
          </a:p>
        </p:txBody>
      </p:sp>
      <p:sp>
        <p:nvSpPr>
          <p:cNvPr id="4096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409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DCDED5A-BAEA-4EC7-8C1A-5F797954741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762000"/>
            <a:ext cx="6207125" cy="1371600"/>
          </a:xfrm>
        </p:spPr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Using Static Options Replication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2438400"/>
            <a:ext cx="7029450" cy="32004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To hedge an exotic option we short the portfolio that replicates the boundary conditions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 portfolio must be unwound when any part of the boundary is reached</a:t>
            </a:r>
          </a:p>
        </p:txBody>
      </p:sp>
      <p:sp>
        <p:nvSpPr>
          <p:cNvPr id="419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419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5489265-DC94-47F8-9C9E-A24CF545144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al">
  <a:themeElements>
    <a:clrScheme name="Custom 5">
      <a:dk1>
        <a:srgbClr val="000000"/>
      </a:dk1>
      <a:lt1>
        <a:srgbClr val="FFFFFF"/>
      </a:lt1>
      <a:dk2>
        <a:srgbClr val="3A3015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0" ma:contentTypeDescription="Create a new document." ma:contentTypeScope="" ma:versionID="9ec98e71a396c75c5e8fb3166c3ab2c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173499A-BCC1-4F64-922F-8F46C05E0B0A}"/>
</file>

<file path=customXml/itemProps2.xml><?xml version="1.0" encoding="utf-8"?>
<ds:datastoreItem xmlns:ds="http://schemas.openxmlformats.org/officeDocument/2006/customXml" ds:itemID="{89F88234-D19F-4A25-B918-0AA009D5E031}"/>
</file>

<file path=customXml/itemProps3.xml><?xml version="1.0" encoding="utf-8"?>
<ds:datastoreItem xmlns:ds="http://schemas.openxmlformats.org/officeDocument/2006/customXml" ds:itemID="{BC74E726-E30B-44D4-BB4B-35F1DE1039D4}"/>
</file>

<file path=docProps/app.xml><?xml version="1.0" encoding="utf-8"?>
<Properties xmlns="http://schemas.openxmlformats.org/officeDocument/2006/extended-properties" xmlns:vt="http://schemas.openxmlformats.org/officeDocument/2006/docPropsVTypes">
  <Template>Ch20HullOFOD8thEdition</Template>
  <TotalTime>264</TotalTime>
  <Words>2083</Words>
  <Application>Microsoft Office PowerPoint</Application>
  <PresentationFormat>On-screen Show (4:3)</PresentationFormat>
  <Paragraphs>288</Paragraphs>
  <Slides>35</Slides>
  <Notes>33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Arial</vt:lpstr>
      <vt:lpstr>Calibri</vt:lpstr>
      <vt:lpstr>Symbol</vt:lpstr>
      <vt:lpstr>Tahoma</vt:lpstr>
      <vt:lpstr>Times New Roman</vt:lpstr>
      <vt:lpstr>Wingdings</vt:lpstr>
      <vt:lpstr>Wingdings 2</vt:lpstr>
      <vt:lpstr>Global</vt:lpstr>
      <vt:lpstr>Equation</vt:lpstr>
      <vt:lpstr>Chapter 26 Exotic Options</vt:lpstr>
      <vt:lpstr>Types of Exotics</vt:lpstr>
      <vt:lpstr>Packages (Section 26.1)</vt:lpstr>
      <vt:lpstr>Perpetual American Options (Section 26.2)</vt:lpstr>
      <vt:lpstr>Perpetual American Options continued </vt:lpstr>
      <vt:lpstr>Non-Standard American Options (Section 26.3)</vt:lpstr>
      <vt:lpstr>Gap Options (equations 26.1 and 26.2)</vt:lpstr>
      <vt:lpstr>Forward Start Options (Section 26.5)</vt:lpstr>
      <vt:lpstr>Cliquet Option (Section 26.6)</vt:lpstr>
      <vt:lpstr>Compound Options (Section 26.7)</vt:lpstr>
      <vt:lpstr>Chooser Option “As You Like It” (Section 26.8)</vt:lpstr>
      <vt:lpstr>Chooser Option as a Package</vt:lpstr>
      <vt:lpstr>Barrier Options (Section 26.9)</vt:lpstr>
      <vt:lpstr>Barrier Options (continued)</vt:lpstr>
      <vt:lpstr>Parity Relations</vt:lpstr>
      <vt:lpstr>Binary Options  (Section 26.10)</vt:lpstr>
      <vt:lpstr>Decomposition of a Call Option </vt:lpstr>
      <vt:lpstr>Lookback Options (Section 26.11)</vt:lpstr>
      <vt:lpstr>Shout Options (Section 26.12)</vt:lpstr>
      <vt:lpstr>Asian Options (Section 26.13)</vt:lpstr>
      <vt:lpstr>Asian Options</vt:lpstr>
      <vt:lpstr>Exchange Options (Section 26.14)</vt:lpstr>
      <vt:lpstr>Basket Options (Section 26.15)</vt:lpstr>
      <vt:lpstr>Volatility and Variance Swaps (Section 26.16)</vt:lpstr>
      <vt:lpstr>Variance Swap (equation 26.6)</vt:lpstr>
      <vt:lpstr>Volatility Swap (equation 26.9)</vt:lpstr>
      <vt:lpstr>VIX Index</vt:lpstr>
      <vt:lpstr>How Difficult is it to  Hedge Exotic Options?</vt:lpstr>
      <vt:lpstr>Static Options Replication (Section 26.17)</vt:lpstr>
      <vt:lpstr>Example</vt:lpstr>
      <vt:lpstr>The Boundary (Figure 26.1) </vt:lpstr>
      <vt:lpstr>Example (continued)</vt:lpstr>
      <vt:lpstr>Example continued (See Table 26.1)</vt:lpstr>
      <vt:lpstr>Example (continued)</vt:lpstr>
      <vt:lpstr>Using Static Options Replication</vt:lpstr>
    </vt:vector>
  </TitlesOfParts>
  <Company>Joseph L. 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Exotic Options</dc:title>
  <dc:subject>Options, Futures, and Other Derivatives, 11e</dc:subject>
  <dc:creator>John C. Hull</dc:creator>
  <cp:keywords>Chapter 26</cp:keywords>
  <dc:description>Copyright 2021 by John C. Hull. All Rights Reserved. Published 2021</dc:description>
  <cp:lastModifiedBy>John Hull</cp:lastModifiedBy>
  <cp:revision>45</cp:revision>
  <dcterms:created xsi:type="dcterms:W3CDTF">2008-05-29T16:38:10Z</dcterms:created>
  <dcterms:modified xsi:type="dcterms:W3CDTF">2020-10-01T16:32:27Z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