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8.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40.xml" ContentType="application/vnd.openxmlformats-officedocument.presentationml.slide+xml"/>
  <Override PartName="/ppt/slides/slide39.xml" ContentType="application/vnd.openxmlformats-officedocument.presentationml.slide+xml"/>
  <Override PartName="/ppt/slides/slide38.xml" ContentType="application/vnd.openxmlformats-officedocument.presentationml.slide+xml"/>
  <Override PartName="/ppt/slides/slide12.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37.xml" ContentType="application/vnd.openxmlformats-officedocument.presentationml.slide+xml"/>
  <Override PartName="/ppt/slides/slide36.xml" ContentType="application/vnd.openxmlformats-officedocument.presentationml.slide+xml"/>
  <Override PartName="/ppt/slides/slide35.xml" ContentType="application/vnd.openxmlformats-officedocument.presentationml.slide+xml"/>
  <Override PartName="/ppt/slides/slide25.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20.xml" ContentType="application/vnd.openxmlformats-officedocument.presentationml.slide+xml"/>
  <Override PartName="/ppt/slides/slide19.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4.xml" ContentType="application/vnd.openxmlformats-officedocument.presentationml.slide+xml"/>
  <Override PartName="/ppt/slides/slide33.xml" ContentType="application/vnd.openxmlformats-officedocument.presentationml.slide+xml"/>
  <Override PartName="/ppt/slides/slide32.xml" ContentType="application/vnd.openxmlformats-officedocument.presentationml.slide+xml"/>
  <Override PartName="/ppt/slides/slide31.xml" ContentType="application/vnd.openxmlformats-officedocument.presentationml.slide+xml"/>
  <Override PartName="/ppt/slides/slide30.xml" ContentType="application/vnd.openxmlformats-officedocument.presentationml.slide+xml"/>
  <Override PartName="/ppt/slides/slide29.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notesSlides/notesSlide10.xml" ContentType="application/vnd.openxmlformats-officedocument.presentationml.notesSlide+xml"/>
  <Override PartName="/ppt/notesSlides/notesSlide5.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13.xml" ContentType="application/vnd.openxmlformats-officedocument.presentationml.notesSlide+xml"/>
  <Override PartName="/ppt/notesSlides/notesSlide17.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4.xml" ContentType="application/vnd.openxmlformats-officedocument.presentationml.notesSlid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theme/theme1.xml" ContentType="application/vnd.openxmlformats-officedocument.theme+xml"/>
  <Override PartName="/ppt/theme/theme3.xml" ContentType="application/vnd.openxmlformats-officedocument.theme+xml"/>
  <Override PartName="/ppt/theme/theme2.xml" ContentType="application/vnd.openxmlformats-officedocument.theme+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927" r:id="rId1"/>
  </p:sldMasterIdLst>
  <p:notesMasterIdLst>
    <p:notesMasterId r:id="rId42"/>
  </p:notesMasterIdLst>
  <p:handoutMasterIdLst>
    <p:handoutMasterId r:id="rId43"/>
  </p:handoutMasterIdLst>
  <p:sldIdLst>
    <p:sldId id="281" r:id="rId2"/>
    <p:sldId id="257" r:id="rId3"/>
    <p:sldId id="294" r:id="rId4"/>
    <p:sldId id="259" r:id="rId5"/>
    <p:sldId id="323" r:id="rId6"/>
    <p:sldId id="324" r:id="rId7"/>
    <p:sldId id="325" r:id="rId8"/>
    <p:sldId id="260" r:id="rId9"/>
    <p:sldId id="317" r:id="rId10"/>
    <p:sldId id="261" r:id="rId11"/>
    <p:sldId id="313" r:id="rId12"/>
    <p:sldId id="314" r:id="rId13"/>
    <p:sldId id="316" r:id="rId14"/>
    <p:sldId id="315" r:id="rId15"/>
    <p:sldId id="283" r:id="rId16"/>
    <p:sldId id="295" r:id="rId17"/>
    <p:sldId id="296" r:id="rId18"/>
    <p:sldId id="265" r:id="rId19"/>
    <p:sldId id="266" r:id="rId20"/>
    <p:sldId id="318" r:id="rId21"/>
    <p:sldId id="268" r:id="rId22"/>
    <p:sldId id="298" r:id="rId23"/>
    <p:sldId id="319" r:id="rId24"/>
    <p:sldId id="326" r:id="rId25"/>
    <p:sldId id="320" r:id="rId26"/>
    <p:sldId id="327" r:id="rId27"/>
    <p:sldId id="272" r:id="rId28"/>
    <p:sldId id="273" r:id="rId29"/>
    <p:sldId id="303" r:id="rId30"/>
    <p:sldId id="275" r:id="rId31"/>
    <p:sldId id="304" r:id="rId32"/>
    <p:sldId id="277" r:id="rId33"/>
    <p:sldId id="291" r:id="rId34"/>
    <p:sldId id="292" r:id="rId35"/>
    <p:sldId id="293" r:id="rId36"/>
    <p:sldId id="311" r:id="rId37"/>
    <p:sldId id="278" r:id="rId38"/>
    <p:sldId id="305" r:id="rId39"/>
    <p:sldId id="312" r:id="rId40"/>
    <p:sldId id="286" r:id="rId41"/>
  </p:sldIdLst>
  <p:sldSz cx="9144000" cy="6858000" type="letter"/>
  <p:notesSz cx="6858000" cy="92075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0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65" autoAdjust="0"/>
    <p:restoredTop sz="94681" autoAdjust="0"/>
  </p:normalViewPr>
  <p:slideViewPr>
    <p:cSldViewPr>
      <p:cViewPr varScale="1">
        <p:scale>
          <a:sx n="121" d="100"/>
          <a:sy n="121" d="100"/>
        </p:scale>
        <p:origin x="1236"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43" d="100"/>
          <a:sy n="43" d="100"/>
        </p:scale>
        <p:origin x="-1476" y="-84"/>
      </p:cViewPr>
      <p:guideLst>
        <p:guide orient="horz" pos="290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tableStyles" Target="tableStyles.xml"/><Relationship Id="rId50" Type="http://schemas.openxmlformats.org/officeDocument/2006/relationships/customXml" Target="../customXml/item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customXml" Target="../customXml/item2.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handoutMaster" Target="handoutMasters/handoutMaster1.xml"/><Relationship Id="rId48" Type="http://schemas.openxmlformats.org/officeDocument/2006/relationships/customXml" Target="../customXml/item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4249177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2971800" cy="460375"/>
          </a:xfrm>
          <a:prstGeom prst="rect">
            <a:avLst/>
          </a:prstGeom>
          <a:noFill/>
          <a:ln w="9525">
            <a:noFill/>
            <a:miter lim="800000"/>
            <a:headEnd/>
            <a:tailEnd/>
          </a:ln>
          <a:effectLst/>
        </p:spPr>
        <p:txBody>
          <a:bodyPr vert="horz" wrap="square" lIns="19050" tIns="0" rIns="19050" bIns="0" numCol="1" anchor="t" anchorCtr="0" compatLnSpc="1">
            <a:prstTxWarp prst="textNoShape">
              <a:avLst/>
            </a:prstTxWarp>
          </a:bodyPr>
          <a:lstStyle>
            <a:lvl1pPr defTabSz="762000" eaLnBrk="0" hangingPunct="0">
              <a:defRPr sz="1000" i="1">
                <a:latin typeface="Times New Roman" pitchFamily="18" charset="0"/>
              </a:defRPr>
            </a:lvl1pPr>
          </a:lstStyle>
          <a:p>
            <a:pPr>
              <a:defRPr/>
            </a:pPr>
            <a:endParaRPr lang="en-US"/>
          </a:p>
        </p:txBody>
      </p:sp>
      <p:sp>
        <p:nvSpPr>
          <p:cNvPr id="2051" name="Rectangle 3"/>
          <p:cNvSpPr>
            <a:spLocks noGrp="1" noChangeArrowheads="1"/>
          </p:cNvSpPr>
          <p:nvPr>
            <p:ph type="dt" idx="1"/>
          </p:nvPr>
        </p:nvSpPr>
        <p:spPr bwMode="auto">
          <a:xfrm>
            <a:off x="3886200" y="0"/>
            <a:ext cx="2971800" cy="460375"/>
          </a:xfrm>
          <a:prstGeom prst="rect">
            <a:avLst/>
          </a:prstGeom>
          <a:noFill/>
          <a:ln w="9525">
            <a:noFill/>
            <a:miter lim="800000"/>
            <a:headEnd/>
            <a:tailEnd/>
          </a:ln>
          <a:effectLst/>
        </p:spPr>
        <p:txBody>
          <a:bodyPr vert="horz" wrap="square" lIns="19050" tIns="0" rIns="19050" bIns="0" numCol="1" anchor="t" anchorCtr="0" compatLnSpc="1">
            <a:prstTxWarp prst="textNoShape">
              <a:avLst/>
            </a:prstTxWarp>
          </a:bodyPr>
          <a:lstStyle>
            <a:lvl1pPr algn="r" defTabSz="762000" eaLnBrk="0" hangingPunct="0">
              <a:defRPr sz="1000" i="1">
                <a:latin typeface="Times New Roman" pitchFamily="18" charset="0"/>
              </a:defRPr>
            </a:lvl1pPr>
          </a:lstStyle>
          <a:p>
            <a:pPr>
              <a:defRPr/>
            </a:pPr>
            <a:endParaRPr lang="en-US"/>
          </a:p>
        </p:txBody>
      </p:sp>
      <p:sp>
        <p:nvSpPr>
          <p:cNvPr id="2052" name="Rectangle 4"/>
          <p:cNvSpPr>
            <a:spLocks noGrp="1" noChangeArrowheads="1"/>
          </p:cNvSpPr>
          <p:nvPr>
            <p:ph type="ftr" sz="quarter" idx="4"/>
          </p:nvPr>
        </p:nvSpPr>
        <p:spPr bwMode="auto">
          <a:xfrm>
            <a:off x="0" y="8747125"/>
            <a:ext cx="2971800" cy="460375"/>
          </a:xfrm>
          <a:prstGeom prst="rect">
            <a:avLst/>
          </a:prstGeom>
          <a:noFill/>
          <a:ln w="9525">
            <a:noFill/>
            <a:miter lim="800000"/>
            <a:headEnd/>
            <a:tailEnd/>
          </a:ln>
          <a:effectLst/>
        </p:spPr>
        <p:txBody>
          <a:bodyPr vert="horz" wrap="square" lIns="19050" tIns="0" rIns="19050" bIns="0" numCol="1" anchor="b" anchorCtr="0" compatLnSpc="1">
            <a:prstTxWarp prst="textNoShape">
              <a:avLst/>
            </a:prstTxWarp>
          </a:bodyPr>
          <a:lstStyle>
            <a:lvl1pPr defTabSz="762000" eaLnBrk="0" hangingPunct="0">
              <a:defRPr sz="1000" i="1">
                <a:latin typeface="Times New Roman" pitchFamily="18" charset="0"/>
              </a:defRPr>
            </a:lvl1pPr>
          </a:lstStyle>
          <a:p>
            <a:pPr>
              <a:defRPr/>
            </a:pPr>
            <a:endParaRPr lang="en-US"/>
          </a:p>
        </p:txBody>
      </p:sp>
      <p:sp>
        <p:nvSpPr>
          <p:cNvPr id="2053" name="Rectangle 5"/>
          <p:cNvSpPr>
            <a:spLocks noGrp="1" noChangeArrowheads="1"/>
          </p:cNvSpPr>
          <p:nvPr>
            <p:ph type="sldNum" sz="quarter" idx="5"/>
          </p:nvPr>
        </p:nvSpPr>
        <p:spPr bwMode="auto">
          <a:xfrm>
            <a:off x="3886200" y="8747125"/>
            <a:ext cx="2971800" cy="460375"/>
          </a:xfrm>
          <a:prstGeom prst="rect">
            <a:avLst/>
          </a:prstGeom>
          <a:noFill/>
          <a:ln w="9525">
            <a:noFill/>
            <a:miter lim="800000"/>
            <a:headEnd/>
            <a:tailEnd/>
          </a:ln>
          <a:effectLst/>
        </p:spPr>
        <p:txBody>
          <a:bodyPr vert="horz" wrap="square" lIns="19050" tIns="0" rIns="19050" bIns="0" numCol="1" anchor="b" anchorCtr="0" compatLnSpc="1">
            <a:prstTxWarp prst="textNoShape">
              <a:avLst/>
            </a:prstTxWarp>
          </a:bodyPr>
          <a:lstStyle>
            <a:lvl1pPr algn="r" defTabSz="762000">
              <a:defRPr sz="1000" i="1" smtClean="0">
                <a:latin typeface="Times New Roman" panose="02020603050405020304" pitchFamily="18" charset="0"/>
              </a:defRPr>
            </a:lvl1pPr>
          </a:lstStyle>
          <a:p>
            <a:pPr>
              <a:defRPr/>
            </a:pPr>
            <a:fld id="{9E0DDD9F-3D61-4772-8B0A-7142CDA55369}" type="slidenum">
              <a:rPr lang="en-US" altLang="en-US"/>
              <a:pPr>
                <a:defRPr/>
              </a:pPr>
              <a:t>‹#›</a:t>
            </a:fld>
            <a:endParaRPr lang="en-US" altLang="en-US"/>
          </a:p>
        </p:txBody>
      </p:sp>
      <p:sp>
        <p:nvSpPr>
          <p:cNvPr id="2054" name="Rectangle 6"/>
          <p:cNvSpPr>
            <a:spLocks noGrp="1" noChangeArrowheads="1"/>
          </p:cNvSpPr>
          <p:nvPr>
            <p:ph type="body" sz="quarter" idx="3"/>
          </p:nvPr>
        </p:nvSpPr>
        <p:spPr bwMode="auto">
          <a:xfrm>
            <a:off x="914400" y="4373563"/>
            <a:ext cx="5029200" cy="4143375"/>
          </a:xfrm>
          <a:prstGeom prst="rect">
            <a:avLst/>
          </a:prstGeom>
          <a:noFill/>
          <a:ln w="9525">
            <a:noFill/>
            <a:miter lim="800000"/>
            <a:headEnd/>
            <a:tailEnd/>
          </a:ln>
          <a:effectLst/>
        </p:spPr>
        <p:txBody>
          <a:bodyPr vert="horz" wrap="square" lIns="92075" tIns="46038" rIns="92075" bIns="46038" numCol="1" anchor="t" anchorCtr="0" compatLnSpc="1">
            <a:prstTxWarp prst="textNoShape">
              <a:avLst/>
            </a:prstTxWarp>
          </a:bodyPr>
          <a:lstStyle/>
          <a:p>
            <a:pPr lvl="0"/>
            <a:r>
              <a:rPr lang="en-US" noProof="0" smtClean="0"/>
              <a:t>Click to edit Master notes styles</a:t>
            </a:r>
          </a:p>
          <a:p>
            <a:pPr lvl="0"/>
            <a:r>
              <a:rPr lang="en-US" noProof="0" smtClean="0"/>
              <a:t>Second Level</a:t>
            </a:r>
          </a:p>
          <a:p>
            <a:pPr lvl="0"/>
            <a:r>
              <a:rPr lang="en-US" noProof="0" smtClean="0"/>
              <a:t>Third Level</a:t>
            </a:r>
          </a:p>
          <a:p>
            <a:pPr lvl="0"/>
            <a:r>
              <a:rPr lang="en-US" noProof="0" smtClean="0"/>
              <a:t>Fourth Level</a:t>
            </a:r>
          </a:p>
          <a:p>
            <a:pPr lvl="0"/>
            <a:r>
              <a:rPr lang="en-US" noProof="0" smtClean="0"/>
              <a:t>Fifth Level</a:t>
            </a:r>
          </a:p>
        </p:txBody>
      </p:sp>
      <p:sp>
        <p:nvSpPr>
          <p:cNvPr id="14343" name="Rectangle 7"/>
          <p:cNvSpPr>
            <a:spLocks noGrp="1" noRot="1" noChangeAspect="1" noChangeArrowheads="1" noTextEdit="1"/>
          </p:cNvSpPr>
          <p:nvPr>
            <p:ph type="sldImg" idx="2"/>
          </p:nvPr>
        </p:nvSpPr>
        <p:spPr bwMode="auto">
          <a:xfrm>
            <a:off x="1127125" y="692150"/>
            <a:ext cx="4603750" cy="3449638"/>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sp>
    </p:spTree>
    <p:extLst>
      <p:ext uri="{BB962C8B-B14F-4D97-AF65-F5344CB8AC3E}">
        <p14:creationId xmlns:p14="http://schemas.microsoft.com/office/powerpoint/2010/main" val="180282388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742950" indent="-28575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1143000" indent="-2286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600200" indent="-228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2057400" indent="-2286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Rot="1" noChangeAspect="1" noChangeArrowheads="1" noTextEdit="1"/>
          </p:cNvSpPr>
          <p:nvPr>
            <p:ph type="sldImg"/>
          </p:nvPr>
        </p:nvSpPr>
        <p:spPr>
          <a:xfrm>
            <a:off x="1128713" y="692150"/>
            <a:ext cx="4600575" cy="3449638"/>
          </a:xfrm>
          <a:ln/>
        </p:spPr>
      </p:sp>
      <p:sp>
        <p:nvSpPr>
          <p:cNvPr id="1638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645430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Rot="1" noChangeAspect="1" noChangeArrowheads="1" noTextEdit="1"/>
          </p:cNvSpPr>
          <p:nvPr>
            <p:ph type="sldImg"/>
          </p:nvPr>
        </p:nvSpPr>
        <p:spPr>
          <a:xfrm>
            <a:off x="1128713" y="692150"/>
            <a:ext cx="4600575" cy="3449638"/>
          </a:xfrm>
          <a:ln cap="flat"/>
        </p:spPr>
      </p:sp>
      <p:sp>
        <p:nvSpPr>
          <p:cNvPr id="184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US" altLang="en-US" sz="2400" smtClean="0"/>
          </a:p>
        </p:txBody>
      </p:sp>
    </p:spTree>
    <p:extLst>
      <p:ext uri="{BB962C8B-B14F-4D97-AF65-F5344CB8AC3E}">
        <p14:creationId xmlns:p14="http://schemas.microsoft.com/office/powerpoint/2010/main" val="4152243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Rot="1" noChangeAspect="1" noChangeArrowheads="1" noTextEdit="1"/>
          </p:cNvSpPr>
          <p:nvPr>
            <p:ph type="sldImg"/>
          </p:nvPr>
        </p:nvSpPr>
        <p:spPr>
          <a:xfrm>
            <a:off x="1130300" y="692150"/>
            <a:ext cx="4597400" cy="3449638"/>
          </a:xfrm>
          <a:ln cap="flat"/>
        </p:spPr>
      </p:sp>
      <p:sp>
        <p:nvSpPr>
          <p:cNvPr id="2048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CA" altLang="en-US" sz="2400" smtClean="0"/>
          </a:p>
        </p:txBody>
      </p:sp>
    </p:spTree>
    <p:extLst>
      <p:ext uri="{BB962C8B-B14F-4D97-AF65-F5344CB8AC3E}">
        <p14:creationId xmlns:p14="http://schemas.microsoft.com/office/powerpoint/2010/main" val="13444879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Rot="1" noChangeAspect="1" noChangeArrowheads="1" noTextEdit="1"/>
          </p:cNvSpPr>
          <p:nvPr>
            <p:ph type="sldImg"/>
          </p:nvPr>
        </p:nvSpPr>
        <p:spPr>
          <a:xfrm>
            <a:off x="1128713" y="692150"/>
            <a:ext cx="4600575" cy="3449638"/>
          </a:xfrm>
          <a:ln cap="flat"/>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US" altLang="en-US" sz="2400" smtClean="0"/>
          </a:p>
        </p:txBody>
      </p:sp>
    </p:spTree>
    <p:extLst>
      <p:ext uri="{BB962C8B-B14F-4D97-AF65-F5344CB8AC3E}">
        <p14:creationId xmlns:p14="http://schemas.microsoft.com/office/powerpoint/2010/main" val="11112900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US" altLang="en-US" sz="2400" smtClean="0"/>
          </a:p>
        </p:txBody>
      </p:sp>
      <p:sp>
        <p:nvSpPr>
          <p:cNvPr id="24579" name="Rectangle 3"/>
          <p:cNvSpPr>
            <a:spLocks noGrp="1" noRot="1" noChangeAspect="1" noChangeArrowheads="1" noTextEdit="1"/>
          </p:cNvSpPr>
          <p:nvPr>
            <p:ph type="sldImg"/>
          </p:nvPr>
        </p:nvSpPr>
        <p:spPr>
          <a:xfrm>
            <a:off x="1128713" y="692150"/>
            <a:ext cx="4600575" cy="3449638"/>
          </a:xfrm>
          <a:ln cap="flat"/>
        </p:spPr>
      </p:sp>
    </p:spTree>
    <p:extLst>
      <p:ext uri="{BB962C8B-B14F-4D97-AF65-F5344CB8AC3E}">
        <p14:creationId xmlns:p14="http://schemas.microsoft.com/office/powerpoint/2010/main" val="17853630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Rot="1" noChangeAspect="1" noChangeArrowheads="1" noTextEdit="1"/>
          </p:cNvSpPr>
          <p:nvPr>
            <p:ph type="sldImg"/>
          </p:nvPr>
        </p:nvSpPr>
        <p:spPr>
          <a:xfrm>
            <a:off x="1128713" y="692150"/>
            <a:ext cx="4600575" cy="3449638"/>
          </a:xfrm>
          <a:ln cap="flat"/>
        </p:spPr>
      </p:sp>
      <p:sp>
        <p:nvSpPr>
          <p:cNvPr id="2765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US" altLang="en-US" sz="2400" smtClean="0"/>
          </a:p>
        </p:txBody>
      </p:sp>
    </p:spTree>
    <p:extLst>
      <p:ext uri="{BB962C8B-B14F-4D97-AF65-F5344CB8AC3E}">
        <p14:creationId xmlns:p14="http://schemas.microsoft.com/office/powerpoint/2010/main" val="1280565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Rot="1" noChangeAspect="1" noChangeArrowheads="1" noTextEdit="1"/>
          </p:cNvSpPr>
          <p:nvPr>
            <p:ph type="sldImg"/>
          </p:nvPr>
        </p:nvSpPr>
        <p:spPr>
          <a:xfrm>
            <a:off x="1128713" y="692150"/>
            <a:ext cx="4600575" cy="3449638"/>
          </a:xfrm>
          <a:ln/>
        </p:spPr>
      </p:sp>
      <p:sp>
        <p:nvSpPr>
          <p:cNvPr id="3379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2314877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xfrm>
            <a:off x="1128713" y="692150"/>
            <a:ext cx="4600575" cy="3449638"/>
          </a:xfrm>
          <a:ln/>
        </p:spPr>
      </p:sp>
      <p:sp>
        <p:nvSpPr>
          <p:cNvPr id="358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358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62000">
              <a:spcBef>
                <a:spcPct val="30000"/>
              </a:spcBef>
              <a:defRPr sz="1200">
                <a:solidFill>
                  <a:schemeClr val="tx1"/>
                </a:solidFill>
                <a:latin typeface="Times New Roman" panose="02020603050405020304" pitchFamily="18" charset="0"/>
              </a:defRPr>
            </a:lvl1pPr>
            <a:lvl2pPr marL="742950" indent="-285750" defTabSz="762000">
              <a:spcBef>
                <a:spcPct val="30000"/>
              </a:spcBef>
              <a:defRPr sz="1200">
                <a:solidFill>
                  <a:schemeClr val="tx1"/>
                </a:solidFill>
                <a:latin typeface="Times New Roman" panose="02020603050405020304" pitchFamily="18" charset="0"/>
              </a:defRPr>
            </a:lvl2pPr>
            <a:lvl3pPr marL="1143000" indent="-228600" defTabSz="762000">
              <a:spcBef>
                <a:spcPct val="30000"/>
              </a:spcBef>
              <a:defRPr sz="1200">
                <a:solidFill>
                  <a:schemeClr val="tx1"/>
                </a:solidFill>
                <a:latin typeface="Times New Roman" panose="02020603050405020304" pitchFamily="18" charset="0"/>
              </a:defRPr>
            </a:lvl3pPr>
            <a:lvl4pPr marL="1600200" indent="-228600" defTabSz="762000">
              <a:spcBef>
                <a:spcPct val="30000"/>
              </a:spcBef>
              <a:defRPr sz="1200">
                <a:solidFill>
                  <a:schemeClr val="tx1"/>
                </a:solidFill>
                <a:latin typeface="Times New Roman" panose="02020603050405020304" pitchFamily="18" charset="0"/>
              </a:defRPr>
            </a:lvl4pPr>
            <a:lvl5pPr marL="2057400" indent="-228600" defTabSz="762000">
              <a:spcBef>
                <a:spcPct val="30000"/>
              </a:spcBef>
              <a:defRPr sz="1200">
                <a:solidFill>
                  <a:schemeClr val="tx1"/>
                </a:solidFill>
                <a:latin typeface="Times New Roman" panose="02020603050405020304" pitchFamily="18" charset="0"/>
              </a:defRPr>
            </a:lvl5pPr>
            <a:lvl6pPr marL="2514600" indent="-228600" defTabSz="7620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7620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7620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7620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D7AA3E98-9D7C-4E59-A46B-D89E72CB5BF4}" type="slidenum">
              <a:rPr lang="en-US" altLang="en-US" sz="1000"/>
              <a:pPr>
                <a:spcBef>
                  <a:spcPct val="0"/>
                </a:spcBef>
              </a:pPr>
              <a:t>16</a:t>
            </a:fld>
            <a:endParaRPr lang="en-US" altLang="en-US" sz="1000"/>
          </a:p>
        </p:txBody>
      </p:sp>
    </p:spTree>
    <p:extLst>
      <p:ext uri="{BB962C8B-B14F-4D97-AF65-F5344CB8AC3E}">
        <p14:creationId xmlns:p14="http://schemas.microsoft.com/office/powerpoint/2010/main" val="32186738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a:xfrm>
            <a:off x="1128713" y="692150"/>
            <a:ext cx="4600575" cy="3449638"/>
          </a:xfrm>
          <a:ln/>
        </p:spPr>
      </p:sp>
      <p:sp>
        <p:nvSpPr>
          <p:cNvPr id="3789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3789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62000">
              <a:spcBef>
                <a:spcPct val="30000"/>
              </a:spcBef>
              <a:defRPr sz="1200">
                <a:solidFill>
                  <a:schemeClr val="tx1"/>
                </a:solidFill>
                <a:latin typeface="Times New Roman" panose="02020603050405020304" pitchFamily="18" charset="0"/>
              </a:defRPr>
            </a:lvl1pPr>
            <a:lvl2pPr marL="742950" indent="-285750" defTabSz="762000">
              <a:spcBef>
                <a:spcPct val="30000"/>
              </a:spcBef>
              <a:defRPr sz="1200">
                <a:solidFill>
                  <a:schemeClr val="tx1"/>
                </a:solidFill>
                <a:latin typeface="Times New Roman" panose="02020603050405020304" pitchFamily="18" charset="0"/>
              </a:defRPr>
            </a:lvl2pPr>
            <a:lvl3pPr marL="1143000" indent="-228600" defTabSz="762000">
              <a:spcBef>
                <a:spcPct val="30000"/>
              </a:spcBef>
              <a:defRPr sz="1200">
                <a:solidFill>
                  <a:schemeClr val="tx1"/>
                </a:solidFill>
                <a:latin typeface="Times New Roman" panose="02020603050405020304" pitchFamily="18" charset="0"/>
              </a:defRPr>
            </a:lvl3pPr>
            <a:lvl4pPr marL="1600200" indent="-228600" defTabSz="762000">
              <a:spcBef>
                <a:spcPct val="30000"/>
              </a:spcBef>
              <a:defRPr sz="1200">
                <a:solidFill>
                  <a:schemeClr val="tx1"/>
                </a:solidFill>
                <a:latin typeface="Times New Roman" panose="02020603050405020304" pitchFamily="18" charset="0"/>
              </a:defRPr>
            </a:lvl4pPr>
            <a:lvl5pPr marL="2057400" indent="-228600" defTabSz="762000">
              <a:spcBef>
                <a:spcPct val="30000"/>
              </a:spcBef>
              <a:defRPr sz="1200">
                <a:solidFill>
                  <a:schemeClr val="tx1"/>
                </a:solidFill>
                <a:latin typeface="Times New Roman" panose="02020603050405020304" pitchFamily="18" charset="0"/>
              </a:defRPr>
            </a:lvl5pPr>
            <a:lvl6pPr marL="2514600" indent="-228600" defTabSz="7620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7620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7620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7620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A3467FEF-2FCE-462D-967C-A182C04E1A37}" type="slidenum">
              <a:rPr lang="en-US" altLang="en-US" sz="1000"/>
              <a:pPr>
                <a:spcBef>
                  <a:spcPct val="0"/>
                </a:spcBef>
              </a:pPr>
              <a:t>17</a:t>
            </a:fld>
            <a:endParaRPr lang="en-US" altLang="en-US" sz="1000"/>
          </a:p>
        </p:txBody>
      </p:sp>
    </p:spTree>
    <p:extLst>
      <p:ext uri="{BB962C8B-B14F-4D97-AF65-F5344CB8AC3E}">
        <p14:creationId xmlns:p14="http://schemas.microsoft.com/office/powerpoint/2010/main" val="9851647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US" altLang="en-US" sz="2400" smtClean="0"/>
          </a:p>
        </p:txBody>
      </p:sp>
      <p:sp>
        <p:nvSpPr>
          <p:cNvPr id="39939" name="Rectangle 3"/>
          <p:cNvSpPr>
            <a:spLocks noGrp="1" noRot="1" noChangeAspect="1" noChangeArrowheads="1" noTextEdit="1"/>
          </p:cNvSpPr>
          <p:nvPr>
            <p:ph type="sldImg"/>
          </p:nvPr>
        </p:nvSpPr>
        <p:spPr>
          <a:xfrm>
            <a:off x="1128713" y="692150"/>
            <a:ext cx="4600575" cy="3449638"/>
          </a:xfrm>
          <a:ln cap="flat"/>
        </p:spPr>
      </p:sp>
    </p:spTree>
    <p:extLst>
      <p:ext uri="{BB962C8B-B14F-4D97-AF65-F5344CB8AC3E}">
        <p14:creationId xmlns:p14="http://schemas.microsoft.com/office/powerpoint/2010/main" val="24446645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Rot="1" noChangeAspect="1" noChangeArrowheads="1" noTextEdit="1"/>
          </p:cNvSpPr>
          <p:nvPr>
            <p:ph type="sldImg"/>
          </p:nvPr>
        </p:nvSpPr>
        <p:spPr>
          <a:xfrm>
            <a:off x="1128713" y="692150"/>
            <a:ext cx="4600575" cy="3449638"/>
          </a:xfrm>
          <a:ln cap="flat"/>
        </p:spPr>
      </p:sp>
      <p:sp>
        <p:nvSpPr>
          <p:cNvPr id="4198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US" altLang="en-US" sz="2400" smtClean="0"/>
          </a:p>
        </p:txBody>
      </p:sp>
    </p:spTree>
    <p:extLst>
      <p:ext uri="{BB962C8B-B14F-4D97-AF65-F5344CB8AC3E}">
        <p14:creationId xmlns:p14="http://schemas.microsoft.com/office/powerpoint/2010/main" val="31760758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Rot="1" noChangeAspect="1" noChangeArrowheads="1" noTextEdit="1"/>
          </p:cNvSpPr>
          <p:nvPr>
            <p:ph type="sldImg"/>
          </p:nvPr>
        </p:nvSpPr>
        <p:spPr>
          <a:xfrm>
            <a:off x="1128713" y="692150"/>
            <a:ext cx="4600575" cy="3449638"/>
          </a:xfrm>
          <a:ln cap="flat"/>
        </p:spPr>
      </p:sp>
      <p:sp>
        <p:nvSpPr>
          <p:cNvPr id="4505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US" altLang="en-US" sz="2400" smtClean="0"/>
          </a:p>
        </p:txBody>
      </p:sp>
    </p:spTree>
    <p:extLst>
      <p:ext uri="{BB962C8B-B14F-4D97-AF65-F5344CB8AC3E}">
        <p14:creationId xmlns:p14="http://schemas.microsoft.com/office/powerpoint/2010/main" val="27422499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Rot="1" noChangeAspect="1" noChangeArrowheads="1" noTextEdit="1"/>
          </p:cNvSpPr>
          <p:nvPr>
            <p:ph type="sldImg"/>
          </p:nvPr>
        </p:nvSpPr>
        <p:spPr>
          <a:xfrm>
            <a:off x="1130300" y="692150"/>
            <a:ext cx="4597400" cy="3449638"/>
          </a:xfrm>
          <a:ln cap="flat"/>
        </p:spPr>
      </p:sp>
      <p:sp>
        <p:nvSpPr>
          <p:cNvPr id="4710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CA" altLang="en-US" sz="2400" smtClean="0"/>
          </a:p>
        </p:txBody>
      </p:sp>
    </p:spTree>
    <p:extLst>
      <p:ext uri="{BB962C8B-B14F-4D97-AF65-F5344CB8AC3E}">
        <p14:creationId xmlns:p14="http://schemas.microsoft.com/office/powerpoint/2010/main" val="10708145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Rot="1" noChangeAspect="1" noChangeArrowheads="1" noTextEdit="1"/>
          </p:cNvSpPr>
          <p:nvPr>
            <p:ph type="sldImg"/>
          </p:nvPr>
        </p:nvSpPr>
        <p:spPr>
          <a:xfrm>
            <a:off x="1128713" y="692150"/>
            <a:ext cx="4600575" cy="3449638"/>
          </a:xfrm>
          <a:ln cap="flat"/>
        </p:spPr>
      </p:sp>
      <p:sp>
        <p:nvSpPr>
          <p:cNvPr id="5325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US" altLang="en-US" sz="2400" smtClean="0"/>
          </a:p>
        </p:txBody>
      </p:sp>
    </p:spTree>
    <p:extLst>
      <p:ext uri="{BB962C8B-B14F-4D97-AF65-F5344CB8AC3E}">
        <p14:creationId xmlns:p14="http://schemas.microsoft.com/office/powerpoint/2010/main" val="28142349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Rot="1" noChangeAspect="1" noChangeArrowheads="1" noTextEdit="1"/>
          </p:cNvSpPr>
          <p:nvPr>
            <p:ph type="sldImg"/>
          </p:nvPr>
        </p:nvSpPr>
        <p:spPr>
          <a:xfrm>
            <a:off x="1128713" y="692150"/>
            <a:ext cx="4600575" cy="3449638"/>
          </a:xfrm>
          <a:ln cap="flat"/>
        </p:spPr>
      </p:sp>
      <p:sp>
        <p:nvSpPr>
          <p:cNvPr id="5529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US" altLang="en-US" sz="2400" smtClean="0"/>
          </a:p>
        </p:txBody>
      </p:sp>
    </p:spTree>
    <p:extLst>
      <p:ext uri="{BB962C8B-B14F-4D97-AF65-F5344CB8AC3E}">
        <p14:creationId xmlns:p14="http://schemas.microsoft.com/office/powerpoint/2010/main" val="228078052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Rot="1" noChangeAspect="1" noChangeArrowheads="1" noTextEdit="1"/>
          </p:cNvSpPr>
          <p:nvPr>
            <p:ph type="sldImg"/>
          </p:nvPr>
        </p:nvSpPr>
        <p:spPr>
          <a:xfrm>
            <a:off x="1130300" y="692150"/>
            <a:ext cx="4597400" cy="3449638"/>
          </a:xfrm>
          <a:ln cap="flat"/>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CA" altLang="en-US" sz="2400" smtClean="0"/>
          </a:p>
        </p:txBody>
      </p:sp>
    </p:spTree>
    <p:extLst>
      <p:ext uri="{BB962C8B-B14F-4D97-AF65-F5344CB8AC3E}">
        <p14:creationId xmlns:p14="http://schemas.microsoft.com/office/powerpoint/2010/main" val="17940871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Rot="1" noChangeAspect="1" noChangeArrowheads="1" noTextEdit="1"/>
          </p:cNvSpPr>
          <p:nvPr>
            <p:ph type="sldImg"/>
          </p:nvPr>
        </p:nvSpPr>
        <p:spPr>
          <a:xfrm>
            <a:off x="1128713" y="692150"/>
            <a:ext cx="4600575" cy="3449638"/>
          </a:xfrm>
          <a:ln cap="flat"/>
        </p:spPr>
      </p:sp>
      <p:sp>
        <p:nvSpPr>
          <p:cNvPr id="5939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US" altLang="en-US" sz="2400" smtClean="0"/>
          </a:p>
        </p:txBody>
      </p:sp>
    </p:spTree>
    <p:extLst>
      <p:ext uri="{BB962C8B-B14F-4D97-AF65-F5344CB8AC3E}">
        <p14:creationId xmlns:p14="http://schemas.microsoft.com/office/powerpoint/2010/main" val="163843806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noTextEdit="1"/>
          </p:cNvSpPr>
          <p:nvPr>
            <p:ph type="sldImg"/>
          </p:nvPr>
        </p:nvSpPr>
        <p:spPr>
          <a:xfrm>
            <a:off x="1128713" y="692150"/>
            <a:ext cx="4600575" cy="3449638"/>
          </a:xfrm>
          <a:ln/>
        </p:spPr>
      </p:sp>
      <p:sp>
        <p:nvSpPr>
          <p:cNvPr id="614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614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62000">
              <a:spcBef>
                <a:spcPct val="30000"/>
              </a:spcBef>
              <a:defRPr sz="1200">
                <a:solidFill>
                  <a:schemeClr val="tx1"/>
                </a:solidFill>
                <a:latin typeface="Times New Roman" panose="02020603050405020304" pitchFamily="18" charset="0"/>
              </a:defRPr>
            </a:lvl1pPr>
            <a:lvl2pPr marL="742950" indent="-285750" defTabSz="762000">
              <a:spcBef>
                <a:spcPct val="30000"/>
              </a:spcBef>
              <a:defRPr sz="1200">
                <a:solidFill>
                  <a:schemeClr val="tx1"/>
                </a:solidFill>
                <a:latin typeface="Times New Roman" panose="02020603050405020304" pitchFamily="18" charset="0"/>
              </a:defRPr>
            </a:lvl2pPr>
            <a:lvl3pPr marL="1143000" indent="-228600" defTabSz="762000">
              <a:spcBef>
                <a:spcPct val="30000"/>
              </a:spcBef>
              <a:defRPr sz="1200">
                <a:solidFill>
                  <a:schemeClr val="tx1"/>
                </a:solidFill>
                <a:latin typeface="Times New Roman" panose="02020603050405020304" pitchFamily="18" charset="0"/>
              </a:defRPr>
            </a:lvl3pPr>
            <a:lvl4pPr marL="1600200" indent="-228600" defTabSz="762000">
              <a:spcBef>
                <a:spcPct val="30000"/>
              </a:spcBef>
              <a:defRPr sz="1200">
                <a:solidFill>
                  <a:schemeClr val="tx1"/>
                </a:solidFill>
                <a:latin typeface="Times New Roman" panose="02020603050405020304" pitchFamily="18" charset="0"/>
              </a:defRPr>
            </a:lvl4pPr>
            <a:lvl5pPr marL="2057400" indent="-228600" defTabSz="762000">
              <a:spcBef>
                <a:spcPct val="30000"/>
              </a:spcBef>
              <a:defRPr sz="1200">
                <a:solidFill>
                  <a:schemeClr val="tx1"/>
                </a:solidFill>
                <a:latin typeface="Times New Roman" panose="02020603050405020304" pitchFamily="18" charset="0"/>
              </a:defRPr>
            </a:lvl5pPr>
            <a:lvl6pPr marL="2514600" indent="-228600" defTabSz="7620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7620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7620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7620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109A6742-3908-4E8B-A80C-31CBFBF850B5}" type="slidenum">
              <a:rPr lang="en-US" altLang="en-US" sz="1000"/>
              <a:pPr>
                <a:spcBef>
                  <a:spcPct val="0"/>
                </a:spcBef>
              </a:pPr>
              <a:t>31</a:t>
            </a:fld>
            <a:endParaRPr lang="en-US" altLang="en-US" sz="1000"/>
          </a:p>
        </p:txBody>
      </p:sp>
    </p:spTree>
    <p:extLst>
      <p:ext uri="{BB962C8B-B14F-4D97-AF65-F5344CB8AC3E}">
        <p14:creationId xmlns:p14="http://schemas.microsoft.com/office/powerpoint/2010/main" val="210342447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Rot="1" noChangeAspect="1" noChangeArrowheads="1" noTextEdit="1"/>
          </p:cNvSpPr>
          <p:nvPr>
            <p:ph type="sldImg"/>
          </p:nvPr>
        </p:nvSpPr>
        <p:spPr>
          <a:xfrm>
            <a:off x="1128713" y="692150"/>
            <a:ext cx="4600575" cy="3449638"/>
          </a:xfrm>
          <a:ln cap="flat"/>
        </p:spPr>
      </p:sp>
      <p:sp>
        <p:nvSpPr>
          <p:cNvPr id="6349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US" altLang="en-US" sz="2400" smtClean="0"/>
          </a:p>
        </p:txBody>
      </p:sp>
    </p:spTree>
    <p:extLst>
      <p:ext uri="{BB962C8B-B14F-4D97-AF65-F5344CB8AC3E}">
        <p14:creationId xmlns:p14="http://schemas.microsoft.com/office/powerpoint/2010/main" val="35058130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p:cNvSpPr>
            <a:spLocks noGrp="1" noRot="1" noChangeAspect="1" noTextEdit="1"/>
          </p:cNvSpPr>
          <p:nvPr>
            <p:ph type="sldImg"/>
          </p:nvPr>
        </p:nvSpPr>
        <p:spPr>
          <a:xfrm>
            <a:off x="1128713" y="692150"/>
            <a:ext cx="4600575" cy="3449638"/>
          </a:xfrm>
          <a:ln/>
        </p:spPr>
      </p:sp>
      <p:sp>
        <p:nvSpPr>
          <p:cNvPr id="655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6554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62000">
              <a:spcBef>
                <a:spcPct val="30000"/>
              </a:spcBef>
              <a:defRPr sz="1200">
                <a:solidFill>
                  <a:schemeClr val="tx1"/>
                </a:solidFill>
                <a:latin typeface="Times New Roman" panose="02020603050405020304" pitchFamily="18" charset="0"/>
              </a:defRPr>
            </a:lvl1pPr>
            <a:lvl2pPr marL="742950" indent="-285750" defTabSz="762000">
              <a:spcBef>
                <a:spcPct val="30000"/>
              </a:spcBef>
              <a:defRPr sz="1200">
                <a:solidFill>
                  <a:schemeClr val="tx1"/>
                </a:solidFill>
                <a:latin typeface="Times New Roman" panose="02020603050405020304" pitchFamily="18" charset="0"/>
              </a:defRPr>
            </a:lvl2pPr>
            <a:lvl3pPr marL="1143000" indent="-228600" defTabSz="762000">
              <a:spcBef>
                <a:spcPct val="30000"/>
              </a:spcBef>
              <a:defRPr sz="1200">
                <a:solidFill>
                  <a:schemeClr val="tx1"/>
                </a:solidFill>
                <a:latin typeface="Times New Roman" panose="02020603050405020304" pitchFamily="18" charset="0"/>
              </a:defRPr>
            </a:lvl3pPr>
            <a:lvl4pPr marL="1600200" indent="-228600" defTabSz="762000">
              <a:spcBef>
                <a:spcPct val="30000"/>
              </a:spcBef>
              <a:defRPr sz="1200">
                <a:solidFill>
                  <a:schemeClr val="tx1"/>
                </a:solidFill>
                <a:latin typeface="Times New Roman" panose="02020603050405020304" pitchFamily="18" charset="0"/>
              </a:defRPr>
            </a:lvl4pPr>
            <a:lvl5pPr marL="2057400" indent="-228600" defTabSz="762000">
              <a:spcBef>
                <a:spcPct val="30000"/>
              </a:spcBef>
              <a:defRPr sz="1200">
                <a:solidFill>
                  <a:schemeClr val="tx1"/>
                </a:solidFill>
                <a:latin typeface="Times New Roman" panose="02020603050405020304" pitchFamily="18" charset="0"/>
              </a:defRPr>
            </a:lvl5pPr>
            <a:lvl6pPr marL="2514600" indent="-228600" defTabSz="7620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7620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7620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7620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9196769-0E21-43D6-853E-71EFA861E5CD}" type="slidenum">
              <a:rPr lang="en-US" altLang="en-US" sz="1000"/>
              <a:pPr>
                <a:spcBef>
                  <a:spcPct val="0"/>
                </a:spcBef>
              </a:pPr>
              <a:t>33</a:t>
            </a:fld>
            <a:endParaRPr lang="en-US" altLang="en-US" sz="1000"/>
          </a:p>
        </p:txBody>
      </p:sp>
    </p:spTree>
    <p:extLst>
      <p:ext uri="{BB962C8B-B14F-4D97-AF65-F5344CB8AC3E}">
        <p14:creationId xmlns:p14="http://schemas.microsoft.com/office/powerpoint/2010/main" val="92139318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Image Placeholder 1"/>
          <p:cNvSpPr>
            <a:spLocks noGrp="1" noRot="1" noChangeAspect="1" noTextEdit="1"/>
          </p:cNvSpPr>
          <p:nvPr>
            <p:ph type="sldImg"/>
          </p:nvPr>
        </p:nvSpPr>
        <p:spPr>
          <a:xfrm>
            <a:off x="1128713" y="692150"/>
            <a:ext cx="4600575" cy="3449638"/>
          </a:xfrm>
          <a:ln/>
        </p:spPr>
      </p:sp>
      <p:sp>
        <p:nvSpPr>
          <p:cNvPr id="675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6758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62000">
              <a:spcBef>
                <a:spcPct val="30000"/>
              </a:spcBef>
              <a:defRPr sz="1200">
                <a:solidFill>
                  <a:schemeClr val="tx1"/>
                </a:solidFill>
                <a:latin typeface="Times New Roman" panose="02020603050405020304" pitchFamily="18" charset="0"/>
              </a:defRPr>
            </a:lvl1pPr>
            <a:lvl2pPr marL="742950" indent="-285750" defTabSz="762000">
              <a:spcBef>
                <a:spcPct val="30000"/>
              </a:spcBef>
              <a:defRPr sz="1200">
                <a:solidFill>
                  <a:schemeClr val="tx1"/>
                </a:solidFill>
                <a:latin typeface="Times New Roman" panose="02020603050405020304" pitchFamily="18" charset="0"/>
              </a:defRPr>
            </a:lvl2pPr>
            <a:lvl3pPr marL="1143000" indent="-228600" defTabSz="762000">
              <a:spcBef>
                <a:spcPct val="30000"/>
              </a:spcBef>
              <a:defRPr sz="1200">
                <a:solidFill>
                  <a:schemeClr val="tx1"/>
                </a:solidFill>
                <a:latin typeface="Times New Roman" panose="02020603050405020304" pitchFamily="18" charset="0"/>
              </a:defRPr>
            </a:lvl3pPr>
            <a:lvl4pPr marL="1600200" indent="-228600" defTabSz="762000">
              <a:spcBef>
                <a:spcPct val="30000"/>
              </a:spcBef>
              <a:defRPr sz="1200">
                <a:solidFill>
                  <a:schemeClr val="tx1"/>
                </a:solidFill>
                <a:latin typeface="Times New Roman" panose="02020603050405020304" pitchFamily="18" charset="0"/>
              </a:defRPr>
            </a:lvl4pPr>
            <a:lvl5pPr marL="2057400" indent="-228600" defTabSz="762000">
              <a:spcBef>
                <a:spcPct val="30000"/>
              </a:spcBef>
              <a:defRPr sz="1200">
                <a:solidFill>
                  <a:schemeClr val="tx1"/>
                </a:solidFill>
                <a:latin typeface="Times New Roman" panose="02020603050405020304" pitchFamily="18" charset="0"/>
              </a:defRPr>
            </a:lvl5pPr>
            <a:lvl6pPr marL="2514600" indent="-228600" defTabSz="7620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7620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7620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7620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39B37523-BAEF-4378-BBBD-FC5AFF5DFF9E}" type="slidenum">
              <a:rPr lang="en-US" altLang="en-US" sz="1000"/>
              <a:pPr>
                <a:spcBef>
                  <a:spcPct val="0"/>
                </a:spcBef>
              </a:pPr>
              <a:t>34</a:t>
            </a:fld>
            <a:endParaRPr lang="en-US" altLang="en-US" sz="1000"/>
          </a:p>
        </p:txBody>
      </p:sp>
    </p:spTree>
    <p:extLst>
      <p:ext uri="{BB962C8B-B14F-4D97-AF65-F5344CB8AC3E}">
        <p14:creationId xmlns:p14="http://schemas.microsoft.com/office/powerpoint/2010/main" val="143108898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Image Placeholder 1"/>
          <p:cNvSpPr>
            <a:spLocks noGrp="1" noRot="1" noChangeAspect="1" noTextEdit="1"/>
          </p:cNvSpPr>
          <p:nvPr>
            <p:ph type="sldImg"/>
          </p:nvPr>
        </p:nvSpPr>
        <p:spPr>
          <a:xfrm>
            <a:off x="1128713" y="692150"/>
            <a:ext cx="4600575" cy="3449638"/>
          </a:xfrm>
          <a:ln/>
        </p:spPr>
      </p:sp>
      <p:sp>
        <p:nvSpPr>
          <p:cNvPr id="6963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6963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62000">
              <a:spcBef>
                <a:spcPct val="30000"/>
              </a:spcBef>
              <a:defRPr sz="1200">
                <a:solidFill>
                  <a:schemeClr val="tx1"/>
                </a:solidFill>
                <a:latin typeface="Times New Roman" panose="02020603050405020304" pitchFamily="18" charset="0"/>
              </a:defRPr>
            </a:lvl1pPr>
            <a:lvl2pPr marL="742950" indent="-285750" defTabSz="762000">
              <a:spcBef>
                <a:spcPct val="30000"/>
              </a:spcBef>
              <a:defRPr sz="1200">
                <a:solidFill>
                  <a:schemeClr val="tx1"/>
                </a:solidFill>
                <a:latin typeface="Times New Roman" panose="02020603050405020304" pitchFamily="18" charset="0"/>
              </a:defRPr>
            </a:lvl2pPr>
            <a:lvl3pPr marL="1143000" indent="-228600" defTabSz="762000">
              <a:spcBef>
                <a:spcPct val="30000"/>
              </a:spcBef>
              <a:defRPr sz="1200">
                <a:solidFill>
                  <a:schemeClr val="tx1"/>
                </a:solidFill>
                <a:latin typeface="Times New Roman" panose="02020603050405020304" pitchFamily="18" charset="0"/>
              </a:defRPr>
            </a:lvl3pPr>
            <a:lvl4pPr marL="1600200" indent="-228600" defTabSz="762000">
              <a:spcBef>
                <a:spcPct val="30000"/>
              </a:spcBef>
              <a:defRPr sz="1200">
                <a:solidFill>
                  <a:schemeClr val="tx1"/>
                </a:solidFill>
                <a:latin typeface="Times New Roman" panose="02020603050405020304" pitchFamily="18" charset="0"/>
              </a:defRPr>
            </a:lvl4pPr>
            <a:lvl5pPr marL="2057400" indent="-228600" defTabSz="762000">
              <a:spcBef>
                <a:spcPct val="30000"/>
              </a:spcBef>
              <a:defRPr sz="1200">
                <a:solidFill>
                  <a:schemeClr val="tx1"/>
                </a:solidFill>
                <a:latin typeface="Times New Roman" panose="02020603050405020304" pitchFamily="18" charset="0"/>
              </a:defRPr>
            </a:lvl5pPr>
            <a:lvl6pPr marL="2514600" indent="-228600" defTabSz="7620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7620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7620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7620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C0EF112-06C5-4AC8-8CF6-817A3E06EFD6}" type="slidenum">
              <a:rPr lang="en-US" altLang="en-US" sz="1000"/>
              <a:pPr>
                <a:spcBef>
                  <a:spcPct val="0"/>
                </a:spcBef>
              </a:pPr>
              <a:t>35</a:t>
            </a:fld>
            <a:endParaRPr lang="en-US" altLang="en-US" sz="1000"/>
          </a:p>
        </p:txBody>
      </p:sp>
    </p:spTree>
    <p:extLst>
      <p:ext uri="{BB962C8B-B14F-4D97-AF65-F5344CB8AC3E}">
        <p14:creationId xmlns:p14="http://schemas.microsoft.com/office/powerpoint/2010/main" val="132769160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Rot="1" noChangeAspect="1" noChangeArrowheads="1" noTextEdit="1"/>
          </p:cNvSpPr>
          <p:nvPr>
            <p:ph type="sldImg"/>
          </p:nvPr>
        </p:nvSpPr>
        <p:spPr>
          <a:xfrm>
            <a:off x="1128713" y="692150"/>
            <a:ext cx="4600575" cy="3449638"/>
          </a:xfrm>
          <a:ln cap="flat"/>
        </p:spPr>
      </p:sp>
      <p:sp>
        <p:nvSpPr>
          <p:cNvPr id="7270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US" altLang="en-US" sz="2400" smtClean="0"/>
          </a:p>
        </p:txBody>
      </p:sp>
    </p:spTree>
    <p:extLst>
      <p:ext uri="{BB962C8B-B14F-4D97-AF65-F5344CB8AC3E}">
        <p14:creationId xmlns:p14="http://schemas.microsoft.com/office/powerpoint/2010/main" val="32402085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Rot="1" noChangeAspect="1" noChangeArrowheads="1" noTextEdit="1"/>
          </p:cNvSpPr>
          <p:nvPr>
            <p:ph type="sldImg"/>
          </p:nvPr>
        </p:nvSpPr>
        <p:spPr>
          <a:xfrm>
            <a:off x="1130300" y="692150"/>
            <a:ext cx="4597400" cy="3449638"/>
          </a:xfrm>
          <a:ln cap="flat"/>
        </p:spPr>
      </p:sp>
      <p:sp>
        <p:nvSpPr>
          <p:cNvPr id="7475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CA" altLang="en-US" sz="2400" smtClean="0"/>
          </a:p>
        </p:txBody>
      </p:sp>
    </p:spTree>
    <p:extLst>
      <p:ext uri="{BB962C8B-B14F-4D97-AF65-F5344CB8AC3E}">
        <p14:creationId xmlns:p14="http://schemas.microsoft.com/office/powerpoint/2010/main" val="9196620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Rot="1" noChangeAspect="1" noChangeArrowheads="1" noTextEdit="1"/>
          </p:cNvSpPr>
          <p:nvPr>
            <p:ph type="sldImg"/>
          </p:nvPr>
        </p:nvSpPr>
        <p:spPr>
          <a:xfrm>
            <a:off x="1128713" y="692150"/>
            <a:ext cx="4600575" cy="3449638"/>
          </a:xfrm>
          <a:ln/>
        </p:spPr>
      </p:sp>
      <p:sp>
        <p:nvSpPr>
          <p:cNvPr id="7782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147306487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grpSp>
        <p:nvGrpSpPr>
          <p:cNvPr id="4" name="Group 2"/>
          <p:cNvGrpSpPr>
            <a:grpSpLocks/>
          </p:cNvGrpSpPr>
          <p:nvPr/>
        </p:nvGrpSpPr>
        <p:grpSpPr bwMode="auto">
          <a:xfrm>
            <a:off x="0" y="-19050"/>
            <a:ext cx="9144000" cy="6877050"/>
            <a:chOff x="0" y="-12"/>
            <a:chExt cx="5760" cy="4332"/>
          </a:xfrm>
        </p:grpSpPr>
        <p:sp>
          <p:nvSpPr>
            <p:cNvPr id="5" name="Rectangle 3"/>
            <p:cNvSpPr>
              <a:spLocks noChangeArrowheads="1"/>
            </p:cNvSpPr>
            <p:nvPr userDrawn="1"/>
          </p:nvSpPr>
          <p:spPr bwMode="hidden">
            <a:xfrm>
              <a:off x="1104" y="1008"/>
              <a:ext cx="4656" cy="3312"/>
            </a:xfrm>
            <a:prstGeom prst="rect">
              <a:avLst/>
            </a:prstGeom>
            <a:gradFill rotWithShape="0">
              <a:gsLst>
                <a:gs pos="0">
                  <a:schemeClr val="bg2"/>
                </a:gs>
                <a:gs pos="50000">
                  <a:schemeClr val="bg1"/>
                </a:gs>
                <a:gs pos="100000">
                  <a:schemeClr val="bg2"/>
                </a:gs>
              </a:gsLst>
              <a:lin ang="2700000" scaled="1"/>
            </a:gradFill>
            <a:ln w="9525">
              <a:noFill/>
              <a:miter lim="800000"/>
              <a:headEnd/>
              <a:tailEnd/>
            </a:ln>
            <a:effectLst/>
          </p:spPr>
          <p:txBody>
            <a:bodyPr wrap="none" anchor="ctr"/>
            <a:lstStyle/>
            <a:p>
              <a:pPr>
                <a:defRPr/>
              </a:pPr>
              <a:endParaRPr lang="en-US">
                <a:latin typeface="Arial" charset="0"/>
                <a:cs typeface="Arial" charset="0"/>
              </a:endParaRPr>
            </a:p>
          </p:txBody>
        </p:sp>
        <p:grpSp>
          <p:nvGrpSpPr>
            <p:cNvPr id="6" name="Group 4"/>
            <p:cNvGrpSpPr>
              <a:grpSpLocks/>
            </p:cNvGrpSpPr>
            <p:nvPr userDrawn="1"/>
          </p:nvGrpSpPr>
          <p:grpSpPr bwMode="auto">
            <a:xfrm>
              <a:off x="-1261" y="-157"/>
              <a:ext cx="7021" cy="1190"/>
              <a:chOff x="-1261" y="-154"/>
              <a:chExt cx="7021" cy="1190"/>
            </a:xfrm>
          </p:grpSpPr>
          <p:sp>
            <p:nvSpPr>
              <p:cNvPr id="8" name="Freeform 5"/>
              <p:cNvSpPr>
                <a:spLocks/>
              </p:cNvSpPr>
              <p:nvPr userDrawn="1"/>
            </p:nvSpPr>
            <p:spPr bwMode="ltGray">
              <a:xfrm>
                <a:off x="0" y="4"/>
                <a:ext cx="5760" cy="1032"/>
              </a:xfrm>
              <a:custGeom>
                <a:avLst/>
                <a:gdLst>
                  <a:gd name="T0" fmla="*/ 5760 w 4848"/>
                  <a:gd name="T1" fmla="*/ 1032 h 432"/>
                  <a:gd name="T2" fmla="*/ 0 w 4848"/>
                  <a:gd name="T3" fmla="*/ 1032 h 432"/>
                  <a:gd name="T4" fmla="*/ 0 w 4848"/>
                  <a:gd name="T5" fmla="*/ 0 h 432"/>
                  <a:gd name="T6" fmla="*/ 5760 w 4848"/>
                  <a:gd name="T7" fmla="*/ 0 h 432"/>
                  <a:gd name="T8" fmla="*/ 5760 w 4848"/>
                  <a:gd name="T9" fmla="*/ 1032 h 4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848" h="432">
                    <a:moveTo>
                      <a:pt x="4848" y="432"/>
                    </a:moveTo>
                    <a:lnTo>
                      <a:pt x="0" y="432"/>
                    </a:lnTo>
                    <a:lnTo>
                      <a:pt x="0" y="0"/>
                    </a:lnTo>
                    <a:lnTo>
                      <a:pt x="4848" y="0"/>
                    </a:lnTo>
                    <a:lnTo>
                      <a:pt x="4848" y="432"/>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nvGrpSpPr>
              <p:cNvPr id="9" name="Group 6"/>
              <p:cNvGrpSpPr>
                <a:grpSpLocks/>
              </p:cNvGrpSpPr>
              <p:nvPr userDrawn="1"/>
            </p:nvGrpSpPr>
            <p:grpSpPr bwMode="auto">
              <a:xfrm>
                <a:off x="333" y="-9"/>
                <a:ext cx="5176" cy="1044"/>
                <a:chOff x="333" y="-9"/>
                <a:chExt cx="5176" cy="1044"/>
              </a:xfrm>
            </p:grpSpPr>
            <p:sp>
              <p:nvSpPr>
                <p:cNvPr id="38" name="Freeform 7"/>
                <p:cNvSpPr>
                  <a:spLocks/>
                </p:cNvSpPr>
                <p:nvPr userDrawn="1"/>
              </p:nvSpPr>
              <p:spPr bwMode="ltGray">
                <a:xfrm>
                  <a:off x="3230" y="949"/>
                  <a:ext cx="17" cy="20"/>
                </a:xfrm>
                <a:custGeom>
                  <a:avLst/>
                  <a:gdLst>
                    <a:gd name="T0" fmla="*/ 6 w 15"/>
                    <a:gd name="T1" fmla="*/ 10 h 23"/>
                    <a:gd name="T2" fmla="*/ 17 w 15"/>
                    <a:gd name="T3" fmla="*/ 4 h 23"/>
                    <a:gd name="T4" fmla="*/ 15 w 15"/>
                    <a:gd name="T5" fmla="*/ 15 h 23"/>
                    <a:gd name="T6" fmla="*/ 6 w 15"/>
                    <a:gd name="T7" fmla="*/ 1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 h="23">
                      <a:moveTo>
                        <a:pt x="5" y="11"/>
                      </a:moveTo>
                      <a:cubicBezTo>
                        <a:pt x="2" y="1"/>
                        <a:pt x="7" y="0"/>
                        <a:pt x="15" y="5"/>
                      </a:cubicBezTo>
                      <a:cubicBezTo>
                        <a:pt x="14" y="9"/>
                        <a:pt x="15" y="13"/>
                        <a:pt x="13" y="17"/>
                      </a:cubicBezTo>
                      <a:cubicBezTo>
                        <a:pt x="9" y="23"/>
                        <a:pt x="0" y="16"/>
                        <a:pt x="5"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39" name="Freeform 8"/>
                <p:cNvSpPr>
                  <a:spLocks/>
                </p:cNvSpPr>
                <p:nvPr userDrawn="1"/>
              </p:nvSpPr>
              <p:spPr bwMode="ltGray">
                <a:xfrm>
                  <a:off x="3406" y="1015"/>
                  <a:ext cx="21" cy="20"/>
                </a:xfrm>
                <a:custGeom>
                  <a:avLst/>
                  <a:gdLst>
                    <a:gd name="T0" fmla="*/ 3 w 20"/>
                    <a:gd name="T1" fmla="*/ 11 h 23"/>
                    <a:gd name="T2" fmla="*/ 12 w 20"/>
                    <a:gd name="T3" fmla="*/ 3 h 23"/>
                    <a:gd name="T4" fmla="*/ 7 w 20"/>
                    <a:gd name="T5" fmla="*/ 17 h 23"/>
                    <a:gd name="T6" fmla="*/ 3 w 20"/>
                    <a:gd name="T7" fmla="*/ 1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23">
                      <a:moveTo>
                        <a:pt x="3" y="13"/>
                      </a:moveTo>
                      <a:cubicBezTo>
                        <a:pt x="0" y="5"/>
                        <a:pt x="2" y="0"/>
                        <a:pt x="11" y="3"/>
                      </a:cubicBezTo>
                      <a:cubicBezTo>
                        <a:pt x="16" y="10"/>
                        <a:pt x="20" y="23"/>
                        <a:pt x="7" y="19"/>
                      </a:cubicBezTo>
                      <a:cubicBezTo>
                        <a:pt x="6" y="17"/>
                        <a:pt x="3" y="13"/>
                        <a:pt x="3" y="1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0" name="Freeform 9"/>
                <p:cNvSpPr>
                  <a:spLocks/>
                </p:cNvSpPr>
                <p:nvPr userDrawn="1"/>
              </p:nvSpPr>
              <p:spPr bwMode="ltGray">
                <a:xfrm>
                  <a:off x="2909" y="908"/>
                  <a:ext cx="31" cy="34"/>
                </a:xfrm>
                <a:custGeom>
                  <a:avLst/>
                  <a:gdLst>
                    <a:gd name="T0" fmla="*/ 17 w 30"/>
                    <a:gd name="T1" fmla="*/ 27 h 42"/>
                    <a:gd name="T2" fmla="*/ 8 w 30"/>
                    <a:gd name="T3" fmla="*/ 17 h 42"/>
                    <a:gd name="T4" fmla="*/ 0 w 30"/>
                    <a:gd name="T5" fmla="*/ 7 h 42"/>
                    <a:gd name="T6" fmla="*/ 17 w 30"/>
                    <a:gd name="T7" fmla="*/ 2 h 42"/>
                    <a:gd name="T8" fmla="*/ 31 w 30"/>
                    <a:gd name="T9" fmla="*/ 19 h 42"/>
                    <a:gd name="T10" fmla="*/ 29 w 30"/>
                    <a:gd name="T11" fmla="*/ 25 h 42"/>
                    <a:gd name="T12" fmla="*/ 17 w 30"/>
                    <a:gd name="T13" fmla="*/ 27 h 4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 h="42">
                      <a:moveTo>
                        <a:pt x="16" y="33"/>
                      </a:moveTo>
                      <a:cubicBezTo>
                        <a:pt x="3" y="20"/>
                        <a:pt x="15" y="34"/>
                        <a:pt x="8" y="21"/>
                      </a:cubicBezTo>
                      <a:cubicBezTo>
                        <a:pt x="6" y="17"/>
                        <a:pt x="0" y="9"/>
                        <a:pt x="0" y="9"/>
                      </a:cubicBezTo>
                      <a:cubicBezTo>
                        <a:pt x="5" y="1"/>
                        <a:pt x="7" y="0"/>
                        <a:pt x="16" y="3"/>
                      </a:cubicBezTo>
                      <a:cubicBezTo>
                        <a:pt x="25" y="16"/>
                        <a:pt x="10" y="16"/>
                        <a:pt x="30" y="23"/>
                      </a:cubicBezTo>
                      <a:cubicBezTo>
                        <a:pt x="29" y="26"/>
                        <a:pt x="30" y="29"/>
                        <a:pt x="28" y="31"/>
                      </a:cubicBezTo>
                      <a:cubicBezTo>
                        <a:pt x="15" y="42"/>
                        <a:pt x="16" y="38"/>
                        <a:pt x="16" y="3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1" name="Freeform 10"/>
                <p:cNvSpPr>
                  <a:spLocks/>
                </p:cNvSpPr>
                <p:nvPr userDrawn="1"/>
              </p:nvSpPr>
              <p:spPr bwMode="ltGray">
                <a:xfrm>
                  <a:off x="2551" y="940"/>
                  <a:ext cx="25" cy="12"/>
                </a:xfrm>
                <a:custGeom>
                  <a:avLst/>
                  <a:gdLst>
                    <a:gd name="T0" fmla="*/ 15 w 25"/>
                    <a:gd name="T1" fmla="*/ 12 h 16"/>
                    <a:gd name="T2" fmla="*/ 3 w 25"/>
                    <a:gd name="T3" fmla="*/ 6 h 16"/>
                    <a:gd name="T4" fmla="*/ 15 w 25"/>
                    <a:gd name="T5" fmla="*/ 0 h 16"/>
                    <a:gd name="T6" fmla="*/ 15 w 25"/>
                    <a:gd name="T7" fmla="*/ 12 h 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 h="16">
                      <a:moveTo>
                        <a:pt x="15" y="16"/>
                      </a:moveTo>
                      <a:cubicBezTo>
                        <a:pt x="10" y="15"/>
                        <a:pt x="0" y="12"/>
                        <a:pt x="3" y="8"/>
                      </a:cubicBezTo>
                      <a:cubicBezTo>
                        <a:pt x="6" y="4"/>
                        <a:pt x="15" y="0"/>
                        <a:pt x="15" y="0"/>
                      </a:cubicBezTo>
                      <a:cubicBezTo>
                        <a:pt x="17" y="3"/>
                        <a:pt x="25" y="16"/>
                        <a:pt x="15"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2" name="Freeform 11"/>
                <p:cNvSpPr>
                  <a:spLocks/>
                </p:cNvSpPr>
                <p:nvPr userDrawn="1"/>
              </p:nvSpPr>
              <p:spPr bwMode="ltGray">
                <a:xfrm>
                  <a:off x="2443" y="954"/>
                  <a:ext cx="65" cy="39"/>
                </a:xfrm>
                <a:custGeom>
                  <a:avLst/>
                  <a:gdLst>
                    <a:gd name="T0" fmla="*/ 14 w 65"/>
                    <a:gd name="T1" fmla="*/ 20 h 46"/>
                    <a:gd name="T2" fmla="*/ 30 w 65"/>
                    <a:gd name="T3" fmla="*/ 3 h 46"/>
                    <a:gd name="T4" fmla="*/ 42 w 65"/>
                    <a:gd name="T5" fmla="*/ 0 h 46"/>
                    <a:gd name="T6" fmla="*/ 58 w 65"/>
                    <a:gd name="T7" fmla="*/ 10 h 46"/>
                    <a:gd name="T8" fmla="*/ 32 w 65"/>
                    <a:gd name="T9" fmla="*/ 22 h 46"/>
                    <a:gd name="T10" fmla="*/ 12 w 65"/>
                    <a:gd name="T11" fmla="*/ 39 h 46"/>
                    <a:gd name="T12" fmla="*/ 8 w 65"/>
                    <a:gd name="T13" fmla="*/ 17 h 46"/>
                    <a:gd name="T14" fmla="*/ 12 w 65"/>
                    <a:gd name="T15" fmla="*/ 12 h 46"/>
                    <a:gd name="T16" fmla="*/ 14 w 65"/>
                    <a:gd name="T17" fmla="*/ 20 h 4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5" h="46">
                      <a:moveTo>
                        <a:pt x="14" y="24"/>
                      </a:moveTo>
                      <a:cubicBezTo>
                        <a:pt x="18" y="13"/>
                        <a:pt x="16" y="9"/>
                        <a:pt x="30" y="4"/>
                      </a:cubicBezTo>
                      <a:cubicBezTo>
                        <a:pt x="34" y="3"/>
                        <a:pt x="42" y="0"/>
                        <a:pt x="42" y="0"/>
                      </a:cubicBezTo>
                      <a:cubicBezTo>
                        <a:pt x="50" y="1"/>
                        <a:pt x="65" y="0"/>
                        <a:pt x="58" y="12"/>
                      </a:cubicBezTo>
                      <a:cubicBezTo>
                        <a:pt x="53" y="21"/>
                        <a:pt x="40" y="21"/>
                        <a:pt x="32" y="26"/>
                      </a:cubicBezTo>
                      <a:cubicBezTo>
                        <a:pt x="26" y="35"/>
                        <a:pt x="23" y="42"/>
                        <a:pt x="12" y="46"/>
                      </a:cubicBezTo>
                      <a:cubicBezTo>
                        <a:pt x="0" y="42"/>
                        <a:pt x="5" y="30"/>
                        <a:pt x="8" y="20"/>
                      </a:cubicBezTo>
                      <a:cubicBezTo>
                        <a:pt x="9" y="18"/>
                        <a:pt x="10" y="13"/>
                        <a:pt x="12" y="14"/>
                      </a:cubicBezTo>
                      <a:cubicBezTo>
                        <a:pt x="15" y="16"/>
                        <a:pt x="13" y="21"/>
                        <a:pt x="14"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3" name="Freeform 12"/>
                <p:cNvSpPr>
                  <a:spLocks/>
                </p:cNvSpPr>
                <p:nvPr userDrawn="1"/>
              </p:nvSpPr>
              <p:spPr bwMode="ltGray">
                <a:xfrm>
                  <a:off x="2375" y="952"/>
                  <a:ext cx="68" cy="39"/>
                </a:xfrm>
                <a:custGeom>
                  <a:avLst/>
                  <a:gdLst>
                    <a:gd name="T0" fmla="*/ 0 w 69"/>
                    <a:gd name="T1" fmla="*/ 26 h 47"/>
                    <a:gd name="T2" fmla="*/ 18 w 69"/>
                    <a:gd name="T3" fmla="*/ 21 h 47"/>
                    <a:gd name="T4" fmla="*/ 51 w 69"/>
                    <a:gd name="T5" fmla="*/ 1 h 47"/>
                    <a:gd name="T6" fmla="*/ 63 w 69"/>
                    <a:gd name="T7" fmla="*/ 2 h 47"/>
                    <a:gd name="T8" fmla="*/ 49 w 69"/>
                    <a:gd name="T9" fmla="*/ 16 h 47"/>
                    <a:gd name="T10" fmla="*/ 28 w 69"/>
                    <a:gd name="T11" fmla="*/ 27 h 47"/>
                    <a:gd name="T12" fmla="*/ 22 w 69"/>
                    <a:gd name="T13" fmla="*/ 39 h 47"/>
                    <a:gd name="T14" fmla="*/ 16 w 69"/>
                    <a:gd name="T15" fmla="*/ 37 h 47"/>
                    <a:gd name="T16" fmla="*/ 12 w 69"/>
                    <a:gd name="T17" fmla="*/ 32 h 47"/>
                    <a:gd name="T18" fmla="*/ 0 w 69"/>
                    <a:gd name="T19" fmla="*/ 29 h 47"/>
                    <a:gd name="T20" fmla="*/ 0 w 69"/>
                    <a:gd name="T21" fmla="*/ 26 h 4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 h="47">
                      <a:moveTo>
                        <a:pt x="0" y="31"/>
                      </a:moveTo>
                      <a:cubicBezTo>
                        <a:pt x="7" y="24"/>
                        <a:pt x="9" y="22"/>
                        <a:pt x="18" y="25"/>
                      </a:cubicBezTo>
                      <a:cubicBezTo>
                        <a:pt x="25" y="4"/>
                        <a:pt x="36" y="12"/>
                        <a:pt x="52" y="1"/>
                      </a:cubicBezTo>
                      <a:cubicBezTo>
                        <a:pt x="56" y="2"/>
                        <a:pt x="61" y="0"/>
                        <a:pt x="64" y="3"/>
                      </a:cubicBezTo>
                      <a:cubicBezTo>
                        <a:pt x="69" y="8"/>
                        <a:pt x="50" y="19"/>
                        <a:pt x="50" y="19"/>
                      </a:cubicBezTo>
                      <a:cubicBezTo>
                        <a:pt x="46" y="31"/>
                        <a:pt x="35" y="22"/>
                        <a:pt x="28" y="33"/>
                      </a:cubicBezTo>
                      <a:cubicBezTo>
                        <a:pt x="31" y="41"/>
                        <a:pt x="31" y="44"/>
                        <a:pt x="22" y="47"/>
                      </a:cubicBezTo>
                      <a:cubicBezTo>
                        <a:pt x="20" y="46"/>
                        <a:pt x="18" y="46"/>
                        <a:pt x="16" y="45"/>
                      </a:cubicBezTo>
                      <a:cubicBezTo>
                        <a:pt x="14" y="43"/>
                        <a:pt x="14" y="40"/>
                        <a:pt x="12" y="39"/>
                      </a:cubicBezTo>
                      <a:cubicBezTo>
                        <a:pt x="8" y="37"/>
                        <a:pt x="0" y="35"/>
                        <a:pt x="0" y="35"/>
                      </a:cubicBezTo>
                      <a:cubicBezTo>
                        <a:pt x="2" y="26"/>
                        <a:pt x="3" y="25"/>
                        <a:pt x="0" y="3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4" name="Freeform 13"/>
                <p:cNvSpPr>
                  <a:spLocks/>
                </p:cNvSpPr>
                <p:nvPr userDrawn="1"/>
              </p:nvSpPr>
              <p:spPr bwMode="ltGray">
                <a:xfrm>
                  <a:off x="2007" y="739"/>
                  <a:ext cx="354" cy="228"/>
                </a:xfrm>
                <a:custGeom>
                  <a:avLst/>
                  <a:gdLst>
                    <a:gd name="T0" fmla="*/ 10 w 355"/>
                    <a:gd name="T1" fmla="*/ 3 h 277"/>
                    <a:gd name="T2" fmla="*/ 36 w 355"/>
                    <a:gd name="T3" fmla="*/ 15 h 277"/>
                    <a:gd name="T4" fmla="*/ 46 w 355"/>
                    <a:gd name="T5" fmla="*/ 25 h 277"/>
                    <a:gd name="T6" fmla="*/ 76 w 355"/>
                    <a:gd name="T7" fmla="*/ 43 h 277"/>
                    <a:gd name="T8" fmla="*/ 92 w 355"/>
                    <a:gd name="T9" fmla="*/ 54 h 277"/>
                    <a:gd name="T10" fmla="*/ 122 w 355"/>
                    <a:gd name="T11" fmla="*/ 81 h 277"/>
                    <a:gd name="T12" fmla="*/ 136 w 355"/>
                    <a:gd name="T13" fmla="*/ 105 h 277"/>
                    <a:gd name="T14" fmla="*/ 148 w 355"/>
                    <a:gd name="T15" fmla="*/ 109 h 277"/>
                    <a:gd name="T16" fmla="*/ 154 w 355"/>
                    <a:gd name="T17" fmla="*/ 123 h 277"/>
                    <a:gd name="T18" fmla="*/ 176 w 355"/>
                    <a:gd name="T19" fmla="*/ 125 h 277"/>
                    <a:gd name="T20" fmla="*/ 170 w 355"/>
                    <a:gd name="T21" fmla="*/ 161 h 277"/>
                    <a:gd name="T22" fmla="*/ 179 w 355"/>
                    <a:gd name="T23" fmla="*/ 184 h 277"/>
                    <a:gd name="T24" fmla="*/ 197 w 355"/>
                    <a:gd name="T25" fmla="*/ 191 h 277"/>
                    <a:gd name="T26" fmla="*/ 215 w 355"/>
                    <a:gd name="T27" fmla="*/ 193 h 277"/>
                    <a:gd name="T28" fmla="*/ 235 w 355"/>
                    <a:gd name="T29" fmla="*/ 199 h 277"/>
                    <a:gd name="T30" fmla="*/ 253 w 355"/>
                    <a:gd name="T31" fmla="*/ 194 h 277"/>
                    <a:gd name="T32" fmla="*/ 271 w 355"/>
                    <a:gd name="T33" fmla="*/ 204 h 277"/>
                    <a:gd name="T34" fmla="*/ 295 w 355"/>
                    <a:gd name="T35" fmla="*/ 211 h 277"/>
                    <a:gd name="T36" fmla="*/ 313 w 355"/>
                    <a:gd name="T37" fmla="*/ 217 h 277"/>
                    <a:gd name="T38" fmla="*/ 351 w 355"/>
                    <a:gd name="T39" fmla="*/ 219 h 277"/>
                    <a:gd name="T40" fmla="*/ 341 w 355"/>
                    <a:gd name="T41" fmla="*/ 226 h 277"/>
                    <a:gd name="T42" fmla="*/ 321 w 355"/>
                    <a:gd name="T43" fmla="*/ 224 h 277"/>
                    <a:gd name="T44" fmla="*/ 299 w 355"/>
                    <a:gd name="T45" fmla="*/ 222 h 277"/>
                    <a:gd name="T46" fmla="*/ 287 w 355"/>
                    <a:gd name="T47" fmla="*/ 219 h 277"/>
                    <a:gd name="T48" fmla="*/ 251 w 355"/>
                    <a:gd name="T49" fmla="*/ 217 h 277"/>
                    <a:gd name="T50" fmla="*/ 233 w 355"/>
                    <a:gd name="T51" fmla="*/ 214 h 277"/>
                    <a:gd name="T52" fmla="*/ 172 w 355"/>
                    <a:gd name="T53" fmla="*/ 199 h 277"/>
                    <a:gd name="T54" fmla="*/ 160 w 355"/>
                    <a:gd name="T55" fmla="*/ 178 h 277"/>
                    <a:gd name="T56" fmla="*/ 126 w 355"/>
                    <a:gd name="T57" fmla="*/ 165 h 277"/>
                    <a:gd name="T58" fmla="*/ 108 w 355"/>
                    <a:gd name="T59" fmla="*/ 153 h 277"/>
                    <a:gd name="T60" fmla="*/ 94 w 355"/>
                    <a:gd name="T61" fmla="*/ 130 h 277"/>
                    <a:gd name="T62" fmla="*/ 68 w 355"/>
                    <a:gd name="T63" fmla="*/ 89 h 277"/>
                    <a:gd name="T64" fmla="*/ 64 w 355"/>
                    <a:gd name="T65" fmla="*/ 84 h 277"/>
                    <a:gd name="T66" fmla="*/ 58 w 355"/>
                    <a:gd name="T67" fmla="*/ 82 h 277"/>
                    <a:gd name="T68" fmla="*/ 54 w 355"/>
                    <a:gd name="T69" fmla="*/ 72 h 277"/>
                    <a:gd name="T70" fmla="*/ 38 w 355"/>
                    <a:gd name="T71" fmla="*/ 48 h 277"/>
                    <a:gd name="T72" fmla="*/ 20 w 355"/>
                    <a:gd name="T73" fmla="*/ 33 h 277"/>
                    <a:gd name="T74" fmla="*/ 4 w 355"/>
                    <a:gd name="T75" fmla="*/ 18 h 277"/>
                    <a:gd name="T76" fmla="*/ 10 w 355"/>
                    <a:gd name="T77" fmla="*/ 2 h 277"/>
                    <a:gd name="T78" fmla="*/ 10 w 355"/>
                    <a:gd name="T79" fmla="*/ 3 h 27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55" h="277">
                      <a:moveTo>
                        <a:pt x="10" y="4"/>
                      </a:moveTo>
                      <a:cubicBezTo>
                        <a:pt x="22" y="0"/>
                        <a:pt x="24" y="14"/>
                        <a:pt x="36" y="18"/>
                      </a:cubicBezTo>
                      <a:cubicBezTo>
                        <a:pt x="37" y="19"/>
                        <a:pt x="45" y="29"/>
                        <a:pt x="46" y="30"/>
                      </a:cubicBezTo>
                      <a:cubicBezTo>
                        <a:pt x="56" y="40"/>
                        <a:pt x="67" y="38"/>
                        <a:pt x="76" y="52"/>
                      </a:cubicBezTo>
                      <a:cubicBezTo>
                        <a:pt x="80" y="58"/>
                        <a:pt x="92" y="66"/>
                        <a:pt x="92" y="66"/>
                      </a:cubicBezTo>
                      <a:cubicBezTo>
                        <a:pt x="96" y="79"/>
                        <a:pt x="112" y="88"/>
                        <a:pt x="122" y="98"/>
                      </a:cubicBezTo>
                      <a:cubicBezTo>
                        <a:pt x="124" y="105"/>
                        <a:pt x="130" y="124"/>
                        <a:pt x="136" y="128"/>
                      </a:cubicBezTo>
                      <a:cubicBezTo>
                        <a:pt x="140" y="130"/>
                        <a:pt x="148" y="132"/>
                        <a:pt x="148" y="132"/>
                      </a:cubicBezTo>
                      <a:cubicBezTo>
                        <a:pt x="150" y="138"/>
                        <a:pt x="154" y="150"/>
                        <a:pt x="154" y="150"/>
                      </a:cubicBezTo>
                      <a:cubicBezTo>
                        <a:pt x="161" y="139"/>
                        <a:pt x="168" y="144"/>
                        <a:pt x="176" y="152"/>
                      </a:cubicBezTo>
                      <a:cubicBezTo>
                        <a:pt x="174" y="167"/>
                        <a:pt x="173" y="181"/>
                        <a:pt x="170" y="196"/>
                      </a:cubicBezTo>
                      <a:cubicBezTo>
                        <a:pt x="171" y="202"/>
                        <a:pt x="174" y="220"/>
                        <a:pt x="180" y="224"/>
                      </a:cubicBezTo>
                      <a:cubicBezTo>
                        <a:pt x="185" y="228"/>
                        <a:pt x="193" y="228"/>
                        <a:pt x="198" y="232"/>
                      </a:cubicBezTo>
                      <a:cubicBezTo>
                        <a:pt x="204" y="230"/>
                        <a:pt x="216" y="234"/>
                        <a:pt x="216" y="234"/>
                      </a:cubicBezTo>
                      <a:cubicBezTo>
                        <a:pt x="223" y="241"/>
                        <a:pt x="225" y="245"/>
                        <a:pt x="236" y="242"/>
                      </a:cubicBezTo>
                      <a:cubicBezTo>
                        <a:pt x="242" y="240"/>
                        <a:pt x="254" y="236"/>
                        <a:pt x="254" y="236"/>
                      </a:cubicBezTo>
                      <a:cubicBezTo>
                        <a:pt x="260" y="240"/>
                        <a:pt x="265" y="246"/>
                        <a:pt x="272" y="248"/>
                      </a:cubicBezTo>
                      <a:cubicBezTo>
                        <a:pt x="277" y="250"/>
                        <a:pt x="291" y="252"/>
                        <a:pt x="296" y="256"/>
                      </a:cubicBezTo>
                      <a:cubicBezTo>
                        <a:pt x="301" y="260"/>
                        <a:pt x="314" y="264"/>
                        <a:pt x="314" y="264"/>
                      </a:cubicBezTo>
                      <a:cubicBezTo>
                        <a:pt x="330" y="263"/>
                        <a:pt x="338" y="261"/>
                        <a:pt x="352" y="266"/>
                      </a:cubicBezTo>
                      <a:cubicBezTo>
                        <a:pt x="355" y="275"/>
                        <a:pt x="350" y="277"/>
                        <a:pt x="342" y="274"/>
                      </a:cubicBezTo>
                      <a:cubicBezTo>
                        <a:pt x="336" y="276"/>
                        <a:pt x="322" y="272"/>
                        <a:pt x="322" y="272"/>
                      </a:cubicBezTo>
                      <a:cubicBezTo>
                        <a:pt x="314" y="275"/>
                        <a:pt x="308" y="272"/>
                        <a:pt x="300" y="270"/>
                      </a:cubicBezTo>
                      <a:cubicBezTo>
                        <a:pt x="296" y="269"/>
                        <a:pt x="288" y="266"/>
                        <a:pt x="288" y="266"/>
                      </a:cubicBezTo>
                      <a:cubicBezTo>
                        <a:pt x="276" y="270"/>
                        <a:pt x="264" y="266"/>
                        <a:pt x="252" y="264"/>
                      </a:cubicBezTo>
                      <a:cubicBezTo>
                        <a:pt x="245" y="259"/>
                        <a:pt x="242" y="257"/>
                        <a:pt x="234" y="260"/>
                      </a:cubicBezTo>
                      <a:cubicBezTo>
                        <a:pt x="211" y="252"/>
                        <a:pt x="192" y="256"/>
                        <a:pt x="172" y="242"/>
                      </a:cubicBezTo>
                      <a:cubicBezTo>
                        <a:pt x="165" y="231"/>
                        <a:pt x="176" y="221"/>
                        <a:pt x="160" y="216"/>
                      </a:cubicBezTo>
                      <a:cubicBezTo>
                        <a:pt x="154" y="233"/>
                        <a:pt x="136" y="203"/>
                        <a:pt x="126" y="200"/>
                      </a:cubicBezTo>
                      <a:cubicBezTo>
                        <a:pt x="120" y="196"/>
                        <a:pt x="114" y="190"/>
                        <a:pt x="108" y="186"/>
                      </a:cubicBezTo>
                      <a:cubicBezTo>
                        <a:pt x="104" y="175"/>
                        <a:pt x="104" y="165"/>
                        <a:pt x="94" y="158"/>
                      </a:cubicBezTo>
                      <a:cubicBezTo>
                        <a:pt x="83" y="142"/>
                        <a:pt x="85" y="119"/>
                        <a:pt x="68" y="108"/>
                      </a:cubicBezTo>
                      <a:cubicBezTo>
                        <a:pt x="67" y="106"/>
                        <a:pt x="66" y="104"/>
                        <a:pt x="64" y="102"/>
                      </a:cubicBezTo>
                      <a:cubicBezTo>
                        <a:pt x="62" y="101"/>
                        <a:pt x="59" y="102"/>
                        <a:pt x="58" y="100"/>
                      </a:cubicBezTo>
                      <a:cubicBezTo>
                        <a:pt x="56" y="97"/>
                        <a:pt x="54" y="88"/>
                        <a:pt x="54" y="88"/>
                      </a:cubicBezTo>
                      <a:cubicBezTo>
                        <a:pt x="59" y="73"/>
                        <a:pt x="52" y="61"/>
                        <a:pt x="38" y="58"/>
                      </a:cubicBezTo>
                      <a:cubicBezTo>
                        <a:pt x="32" y="49"/>
                        <a:pt x="31" y="44"/>
                        <a:pt x="20" y="40"/>
                      </a:cubicBezTo>
                      <a:cubicBezTo>
                        <a:pt x="16" y="27"/>
                        <a:pt x="16" y="26"/>
                        <a:pt x="4" y="22"/>
                      </a:cubicBezTo>
                      <a:cubicBezTo>
                        <a:pt x="1" y="13"/>
                        <a:pt x="0" y="5"/>
                        <a:pt x="10" y="2"/>
                      </a:cubicBezTo>
                      <a:cubicBezTo>
                        <a:pt x="18" y="5"/>
                        <a:pt x="18" y="4"/>
                        <a:pt x="10"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5" name="Freeform 14"/>
                <p:cNvSpPr>
                  <a:spLocks/>
                </p:cNvSpPr>
                <p:nvPr userDrawn="1"/>
              </p:nvSpPr>
              <p:spPr bwMode="ltGray">
                <a:xfrm>
                  <a:off x="2222" y="724"/>
                  <a:ext cx="157" cy="167"/>
                </a:xfrm>
                <a:custGeom>
                  <a:avLst/>
                  <a:gdLst>
                    <a:gd name="T0" fmla="*/ 54 w 156"/>
                    <a:gd name="T1" fmla="*/ 54 h 206"/>
                    <a:gd name="T2" fmla="*/ 66 w 156"/>
                    <a:gd name="T3" fmla="*/ 47 h 206"/>
                    <a:gd name="T4" fmla="*/ 68 w 156"/>
                    <a:gd name="T5" fmla="*/ 42 h 206"/>
                    <a:gd name="T6" fmla="*/ 81 w 156"/>
                    <a:gd name="T7" fmla="*/ 36 h 206"/>
                    <a:gd name="T8" fmla="*/ 107 w 156"/>
                    <a:gd name="T9" fmla="*/ 18 h 206"/>
                    <a:gd name="T10" fmla="*/ 113 w 156"/>
                    <a:gd name="T11" fmla="*/ 3 h 206"/>
                    <a:gd name="T12" fmla="*/ 125 w 156"/>
                    <a:gd name="T13" fmla="*/ 0 h 206"/>
                    <a:gd name="T14" fmla="*/ 151 w 156"/>
                    <a:gd name="T15" fmla="*/ 23 h 206"/>
                    <a:gd name="T16" fmla="*/ 147 w 156"/>
                    <a:gd name="T17" fmla="*/ 36 h 206"/>
                    <a:gd name="T18" fmla="*/ 127 w 156"/>
                    <a:gd name="T19" fmla="*/ 52 h 206"/>
                    <a:gd name="T20" fmla="*/ 133 w 156"/>
                    <a:gd name="T21" fmla="*/ 76 h 206"/>
                    <a:gd name="T22" fmla="*/ 143 w 156"/>
                    <a:gd name="T23" fmla="*/ 89 h 206"/>
                    <a:gd name="T24" fmla="*/ 147 w 156"/>
                    <a:gd name="T25" fmla="*/ 104 h 206"/>
                    <a:gd name="T26" fmla="*/ 129 w 156"/>
                    <a:gd name="T27" fmla="*/ 104 h 206"/>
                    <a:gd name="T28" fmla="*/ 117 w 156"/>
                    <a:gd name="T29" fmla="*/ 118 h 206"/>
                    <a:gd name="T30" fmla="*/ 105 w 156"/>
                    <a:gd name="T31" fmla="*/ 126 h 206"/>
                    <a:gd name="T32" fmla="*/ 101 w 156"/>
                    <a:gd name="T33" fmla="*/ 161 h 206"/>
                    <a:gd name="T34" fmla="*/ 89 w 156"/>
                    <a:gd name="T35" fmla="*/ 164 h 206"/>
                    <a:gd name="T36" fmla="*/ 83 w 156"/>
                    <a:gd name="T37" fmla="*/ 167 h 206"/>
                    <a:gd name="T38" fmla="*/ 76 w 156"/>
                    <a:gd name="T39" fmla="*/ 164 h 206"/>
                    <a:gd name="T40" fmla="*/ 72 w 156"/>
                    <a:gd name="T41" fmla="*/ 154 h 206"/>
                    <a:gd name="T42" fmla="*/ 60 w 156"/>
                    <a:gd name="T43" fmla="*/ 151 h 206"/>
                    <a:gd name="T44" fmla="*/ 42 w 156"/>
                    <a:gd name="T45" fmla="*/ 157 h 206"/>
                    <a:gd name="T46" fmla="*/ 28 w 156"/>
                    <a:gd name="T47" fmla="*/ 151 h 206"/>
                    <a:gd name="T48" fmla="*/ 10 w 156"/>
                    <a:gd name="T49" fmla="*/ 120 h 206"/>
                    <a:gd name="T50" fmla="*/ 4 w 156"/>
                    <a:gd name="T51" fmla="*/ 105 h 206"/>
                    <a:gd name="T52" fmla="*/ 0 w 156"/>
                    <a:gd name="T53" fmla="*/ 96 h 206"/>
                    <a:gd name="T54" fmla="*/ 20 w 156"/>
                    <a:gd name="T55" fmla="*/ 78 h 206"/>
                    <a:gd name="T56" fmla="*/ 32 w 156"/>
                    <a:gd name="T57" fmla="*/ 84 h 206"/>
                    <a:gd name="T58" fmla="*/ 34 w 156"/>
                    <a:gd name="T59" fmla="*/ 65 h 206"/>
                    <a:gd name="T60" fmla="*/ 52 w 156"/>
                    <a:gd name="T61" fmla="*/ 57 h 206"/>
                    <a:gd name="T62" fmla="*/ 54 w 156"/>
                    <a:gd name="T63" fmla="*/ 54 h 20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56" h="206">
                      <a:moveTo>
                        <a:pt x="54" y="66"/>
                      </a:moveTo>
                      <a:cubicBezTo>
                        <a:pt x="58" y="63"/>
                        <a:pt x="64" y="63"/>
                        <a:pt x="66" y="58"/>
                      </a:cubicBezTo>
                      <a:cubicBezTo>
                        <a:pt x="67" y="56"/>
                        <a:pt x="67" y="53"/>
                        <a:pt x="68" y="52"/>
                      </a:cubicBezTo>
                      <a:cubicBezTo>
                        <a:pt x="71" y="49"/>
                        <a:pt x="80" y="44"/>
                        <a:pt x="80" y="44"/>
                      </a:cubicBezTo>
                      <a:cubicBezTo>
                        <a:pt x="113" y="55"/>
                        <a:pt x="85" y="29"/>
                        <a:pt x="106" y="22"/>
                      </a:cubicBezTo>
                      <a:cubicBezTo>
                        <a:pt x="110" y="17"/>
                        <a:pt x="108" y="9"/>
                        <a:pt x="112" y="4"/>
                      </a:cubicBezTo>
                      <a:cubicBezTo>
                        <a:pt x="115" y="1"/>
                        <a:pt x="124" y="0"/>
                        <a:pt x="124" y="0"/>
                      </a:cubicBezTo>
                      <a:cubicBezTo>
                        <a:pt x="138" y="14"/>
                        <a:pt x="126" y="23"/>
                        <a:pt x="150" y="28"/>
                      </a:cubicBezTo>
                      <a:cubicBezTo>
                        <a:pt x="156" y="36"/>
                        <a:pt x="154" y="39"/>
                        <a:pt x="146" y="44"/>
                      </a:cubicBezTo>
                      <a:cubicBezTo>
                        <a:pt x="141" y="52"/>
                        <a:pt x="135" y="61"/>
                        <a:pt x="126" y="64"/>
                      </a:cubicBezTo>
                      <a:cubicBezTo>
                        <a:pt x="118" y="75"/>
                        <a:pt x="128" y="83"/>
                        <a:pt x="132" y="94"/>
                      </a:cubicBezTo>
                      <a:cubicBezTo>
                        <a:pt x="129" y="103"/>
                        <a:pt x="135" y="105"/>
                        <a:pt x="142" y="110"/>
                      </a:cubicBezTo>
                      <a:cubicBezTo>
                        <a:pt x="145" y="119"/>
                        <a:pt x="141" y="120"/>
                        <a:pt x="146" y="128"/>
                      </a:cubicBezTo>
                      <a:cubicBezTo>
                        <a:pt x="142" y="139"/>
                        <a:pt x="135" y="133"/>
                        <a:pt x="128" y="128"/>
                      </a:cubicBezTo>
                      <a:cubicBezTo>
                        <a:pt x="116" y="132"/>
                        <a:pt x="122" y="136"/>
                        <a:pt x="116" y="146"/>
                      </a:cubicBezTo>
                      <a:cubicBezTo>
                        <a:pt x="113" y="151"/>
                        <a:pt x="108" y="152"/>
                        <a:pt x="104" y="156"/>
                      </a:cubicBezTo>
                      <a:cubicBezTo>
                        <a:pt x="107" y="167"/>
                        <a:pt x="112" y="191"/>
                        <a:pt x="100" y="198"/>
                      </a:cubicBezTo>
                      <a:cubicBezTo>
                        <a:pt x="96" y="200"/>
                        <a:pt x="92" y="200"/>
                        <a:pt x="88" y="202"/>
                      </a:cubicBezTo>
                      <a:cubicBezTo>
                        <a:pt x="86" y="203"/>
                        <a:pt x="84" y="205"/>
                        <a:pt x="82" y="206"/>
                      </a:cubicBezTo>
                      <a:cubicBezTo>
                        <a:pt x="80" y="205"/>
                        <a:pt x="77" y="204"/>
                        <a:pt x="76" y="202"/>
                      </a:cubicBezTo>
                      <a:cubicBezTo>
                        <a:pt x="74" y="198"/>
                        <a:pt x="76" y="191"/>
                        <a:pt x="72" y="190"/>
                      </a:cubicBezTo>
                      <a:cubicBezTo>
                        <a:pt x="68" y="189"/>
                        <a:pt x="60" y="186"/>
                        <a:pt x="60" y="186"/>
                      </a:cubicBezTo>
                      <a:cubicBezTo>
                        <a:pt x="53" y="188"/>
                        <a:pt x="49" y="192"/>
                        <a:pt x="42" y="194"/>
                      </a:cubicBezTo>
                      <a:cubicBezTo>
                        <a:pt x="34" y="189"/>
                        <a:pt x="37" y="183"/>
                        <a:pt x="28" y="186"/>
                      </a:cubicBezTo>
                      <a:cubicBezTo>
                        <a:pt x="12" y="181"/>
                        <a:pt x="19" y="161"/>
                        <a:pt x="10" y="148"/>
                      </a:cubicBezTo>
                      <a:cubicBezTo>
                        <a:pt x="5" y="121"/>
                        <a:pt x="11" y="147"/>
                        <a:pt x="4" y="130"/>
                      </a:cubicBezTo>
                      <a:cubicBezTo>
                        <a:pt x="2" y="126"/>
                        <a:pt x="0" y="118"/>
                        <a:pt x="0" y="118"/>
                      </a:cubicBezTo>
                      <a:cubicBezTo>
                        <a:pt x="2" y="95"/>
                        <a:pt x="0" y="83"/>
                        <a:pt x="20" y="96"/>
                      </a:cubicBezTo>
                      <a:cubicBezTo>
                        <a:pt x="23" y="105"/>
                        <a:pt x="23" y="110"/>
                        <a:pt x="32" y="104"/>
                      </a:cubicBezTo>
                      <a:cubicBezTo>
                        <a:pt x="35" y="95"/>
                        <a:pt x="29" y="88"/>
                        <a:pt x="34" y="80"/>
                      </a:cubicBezTo>
                      <a:cubicBezTo>
                        <a:pt x="36" y="76"/>
                        <a:pt x="48" y="73"/>
                        <a:pt x="52" y="70"/>
                      </a:cubicBezTo>
                      <a:cubicBezTo>
                        <a:pt x="57" y="63"/>
                        <a:pt x="58" y="62"/>
                        <a:pt x="54" y="6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6" name="Freeform 15"/>
                <p:cNvSpPr>
                  <a:spLocks/>
                </p:cNvSpPr>
                <p:nvPr userDrawn="1"/>
              </p:nvSpPr>
              <p:spPr bwMode="ltGray">
                <a:xfrm>
                  <a:off x="2375" y="800"/>
                  <a:ext cx="110" cy="32"/>
                </a:xfrm>
                <a:custGeom>
                  <a:avLst/>
                  <a:gdLst>
                    <a:gd name="T0" fmla="*/ 4 w 109"/>
                    <a:gd name="T1" fmla="*/ 27 h 38"/>
                    <a:gd name="T2" fmla="*/ 18 w 109"/>
                    <a:gd name="T3" fmla="*/ 8 h 38"/>
                    <a:gd name="T4" fmla="*/ 46 w 109"/>
                    <a:gd name="T5" fmla="*/ 17 h 38"/>
                    <a:gd name="T6" fmla="*/ 73 w 109"/>
                    <a:gd name="T7" fmla="*/ 12 h 38"/>
                    <a:gd name="T8" fmla="*/ 91 w 109"/>
                    <a:gd name="T9" fmla="*/ 0 h 38"/>
                    <a:gd name="T10" fmla="*/ 77 w 109"/>
                    <a:gd name="T11" fmla="*/ 22 h 38"/>
                    <a:gd name="T12" fmla="*/ 61 w 109"/>
                    <a:gd name="T13" fmla="*/ 32 h 38"/>
                    <a:gd name="T14" fmla="*/ 42 w 109"/>
                    <a:gd name="T15" fmla="*/ 27 h 38"/>
                    <a:gd name="T16" fmla="*/ 14 w 109"/>
                    <a:gd name="T17" fmla="*/ 25 h 38"/>
                    <a:gd name="T18" fmla="*/ 4 w 109"/>
                    <a:gd name="T19" fmla="*/ 27 h 3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9" h="38">
                      <a:moveTo>
                        <a:pt x="4" y="32"/>
                      </a:moveTo>
                      <a:cubicBezTo>
                        <a:pt x="7" y="22"/>
                        <a:pt x="7" y="14"/>
                        <a:pt x="18" y="10"/>
                      </a:cubicBezTo>
                      <a:cubicBezTo>
                        <a:pt x="28" y="12"/>
                        <a:pt x="37" y="14"/>
                        <a:pt x="46" y="20"/>
                      </a:cubicBezTo>
                      <a:cubicBezTo>
                        <a:pt x="62" y="15"/>
                        <a:pt x="54" y="17"/>
                        <a:pt x="72" y="14"/>
                      </a:cubicBezTo>
                      <a:cubicBezTo>
                        <a:pt x="77" y="9"/>
                        <a:pt x="90" y="0"/>
                        <a:pt x="90" y="0"/>
                      </a:cubicBezTo>
                      <a:cubicBezTo>
                        <a:pt x="109" y="6"/>
                        <a:pt x="85" y="23"/>
                        <a:pt x="76" y="26"/>
                      </a:cubicBezTo>
                      <a:cubicBezTo>
                        <a:pt x="71" y="33"/>
                        <a:pt x="68" y="35"/>
                        <a:pt x="60" y="38"/>
                      </a:cubicBezTo>
                      <a:cubicBezTo>
                        <a:pt x="54" y="36"/>
                        <a:pt x="42" y="32"/>
                        <a:pt x="42" y="32"/>
                      </a:cubicBezTo>
                      <a:cubicBezTo>
                        <a:pt x="33" y="23"/>
                        <a:pt x="26" y="26"/>
                        <a:pt x="14" y="30"/>
                      </a:cubicBezTo>
                      <a:cubicBezTo>
                        <a:pt x="1" y="28"/>
                        <a:pt x="0" y="24"/>
                        <a:pt x="4"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7" name="Freeform 16"/>
                <p:cNvSpPr>
                  <a:spLocks/>
                </p:cNvSpPr>
                <p:nvPr userDrawn="1"/>
              </p:nvSpPr>
              <p:spPr bwMode="ltGray">
                <a:xfrm>
                  <a:off x="2370" y="839"/>
                  <a:ext cx="75" cy="84"/>
                </a:xfrm>
                <a:custGeom>
                  <a:avLst/>
                  <a:gdLst>
                    <a:gd name="T0" fmla="*/ 8 w 76"/>
                    <a:gd name="T1" fmla="*/ 15 h 104"/>
                    <a:gd name="T2" fmla="*/ 18 w 76"/>
                    <a:gd name="T3" fmla="*/ 0 h 104"/>
                    <a:gd name="T4" fmla="*/ 34 w 76"/>
                    <a:gd name="T5" fmla="*/ 15 h 104"/>
                    <a:gd name="T6" fmla="*/ 61 w 76"/>
                    <a:gd name="T7" fmla="*/ 3 h 104"/>
                    <a:gd name="T8" fmla="*/ 45 w 76"/>
                    <a:gd name="T9" fmla="*/ 27 h 104"/>
                    <a:gd name="T10" fmla="*/ 53 w 76"/>
                    <a:gd name="T11" fmla="*/ 39 h 104"/>
                    <a:gd name="T12" fmla="*/ 57 w 76"/>
                    <a:gd name="T13" fmla="*/ 48 h 104"/>
                    <a:gd name="T14" fmla="*/ 45 w 76"/>
                    <a:gd name="T15" fmla="*/ 60 h 104"/>
                    <a:gd name="T16" fmla="*/ 34 w 76"/>
                    <a:gd name="T17" fmla="*/ 48 h 104"/>
                    <a:gd name="T18" fmla="*/ 22 w 76"/>
                    <a:gd name="T19" fmla="*/ 39 h 104"/>
                    <a:gd name="T20" fmla="*/ 28 w 76"/>
                    <a:gd name="T21" fmla="*/ 55 h 104"/>
                    <a:gd name="T22" fmla="*/ 30 w 76"/>
                    <a:gd name="T23" fmla="*/ 60 h 104"/>
                    <a:gd name="T24" fmla="*/ 20 w 76"/>
                    <a:gd name="T25" fmla="*/ 84 h 104"/>
                    <a:gd name="T26" fmla="*/ 12 w 76"/>
                    <a:gd name="T27" fmla="*/ 82 h 104"/>
                    <a:gd name="T28" fmla="*/ 8 w 76"/>
                    <a:gd name="T29" fmla="*/ 73 h 104"/>
                    <a:gd name="T30" fmla="*/ 0 w 76"/>
                    <a:gd name="T31" fmla="*/ 44 h 104"/>
                    <a:gd name="T32" fmla="*/ 2 w 76"/>
                    <a:gd name="T33" fmla="*/ 24 h 104"/>
                    <a:gd name="T34" fmla="*/ 8 w 76"/>
                    <a:gd name="T35" fmla="*/ 15 h 10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6" h="104">
                      <a:moveTo>
                        <a:pt x="8" y="18"/>
                      </a:moveTo>
                      <a:cubicBezTo>
                        <a:pt x="10" y="8"/>
                        <a:pt x="9" y="3"/>
                        <a:pt x="18" y="0"/>
                      </a:cubicBezTo>
                      <a:cubicBezTo>
                        <a:pt x="28" y="3"/>
                        <a:pt x="25" y="12"/>
                        <a:pt x="34" y="18"/>
                      </a:cubicBezTo>
                      <a:cubicBezTo>
                        <a:pt x="46" y="16"/>
                        <a:pt x="51" y="8"/>
                        <a:pt x="62" y="4"/>
                      </a:cubicBezTo>
                      <a:cubicBezTo>
                        <a:pt x="76" y="9"/>
                        <a:pt x="56" y="31"/>
                        <a:pt x="46" y="34"/>
                      </a:cubicBezTo>
                      <a:cubicBezTo>
                        <a:pt x="51" y="56"/>
                        <a:pt x="43" y="29"/>
                        <a:pt x="54" y="48"/>
                      </a:cubicBezTo>
                      <a:cubicBezTo>
                        <a:pt x="56" y="52"/>
                        <a:pt x="58" y="60"/>
                        <a:pt x="58" y="60"/>
                      </a:cubicBezTo>
                      <a:cubicBezTo>
                        <a:pt x="55" y="68"/>
                        <a:pt x="54" y="71"/>
                        <a:pt x="46" y="74"/>
                      </a:cubicBezTo>
                      <a:cubicBezTo>
                        <a:pt x="38" y="71"/>
                        <a:pt x="37" y="68"/>
                        <a:pt x="34" y="60"/>
                      </a:cubicBezTo>
                      <a:cubicBezTo>
                        <a:pt x="33" y="50"/>
                        <a:pt x="32" y="33"/>
                        <a:pt x="22" y="48"/>
                      </a:cubicBezTo>
                      <a:cubicBezTo>
                        <a:pt x="25" y="60"/>
                        <a:pt x="23" y="53"/>
                        <a:pt x="28" y="68"/>
                      </a:cubicBezTo>
                      <a:cubicBezTo>
                        <a:pt x="29" y="70"/>
                        <a:pt x="30" y="74"/>
                        <a:pt x="30" y="74"/>
                      </a:cubicBezTo>
                      <a:cubicBezTo>
                        <a:pt x="24" y="84"/>
                        <a:pt x="22" y="93"/>
                        <a:pt x="20" y="104"/>
                      </a:cubicBezTo>
                      <a:cubicBezTo>
                        <a:pt x="17" y="103"/>
                        <a:pt x="14" y="104"/>
                        <a:pt x="12" y="102"/>
                      </a:cubicBezTo>
                      <a:cubicBezTo>
                        <a:pt x="9" y="99"/>
                        <a:pt x="8" y="90"/>
                        <a:pt x="8" y="90"/>
                      </a:cubicBezTo>
                      <a:cubicBezTo>
                        <a:pt x="13" y="75"/>
                        <a:pt x="14" y="64"/>
                        <a:pt x="0" y="54"/>
                      </a:cubicBezTo>
                      <a:cubicBezTo>
                        <a:pt x="1" y="46"/>
                        <a:pt x="1" y="38"/>
                        <a:pt x="2" y="30"/>
                      </a:cubicBezTo>
                      <a:cubicBezTo>
                        <a:pt x="2" y="27"/>
                        <a:pt x="13" y="2"/>
                        <a:pt x="8"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8" name="Freeform 17"/>
                <p:cNvSpPr>
                  <a:spLocks/>
                </p:cNvSpPr>
                <p:nvPr userDrawn="1"/>
              </p:nvSpPr>
              <p:spPr bwMode="ltGray">
                <a:xfrm>
                  <a:off x="2497" y="793"/>
                  <a:ext cx="37" cy="49"/>
                </a:xfrm>
                <a:custGeom>
                  <a:avLst/>
                  <a:gdLst>
                    <a:gd name="T0" fmla="*/ 3 w 37"/>
                    <a:gd name="T1" fmla="*/ 22 h 61"/>
                    <a:gd name="T2" fmla="*/ 13 w 37"/>
                    <a:gd name="T3" fmla="*/ 0 h 61"/>
                    <a:gd name="T4" fmla="*/ 15 w 37"/>
                    <a:gd name="T5" fmla="*/ 22 h 61"/>
                    <a:gd name="T6" fmla="*/ 37 w 37"/>
                    <a:gd name="T7" fmla="*/ 31 h 61"/>
                    <a:gd name="T8" fmla="*/ 19 w 37"/>
                    <a:gd name="T9" fmla="*/ 35 h 61"/>
                    <a:gd name="T10" fmla="*/ 5 w 37"/>
                    <a:gd name="T11" fmla="*/ 47 h 61"/>
                    <a:gd name="T12" fmla="*/ 1 w 37"/>
                    <a:gd name="T13" fmla="*/ 27 h 61"/>
                    <a:gd name="T14" fmla="*/ 3 w 37"/>
                    <a:gd name="T15" fmla="*/ 22 h 6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7" h="61">
                      <a:moveTo>
                        <a:pt x="3" y="28"/>
                      </a:moveTo>
                      <a:cubicBezTo>
                        <a:pt x="5" y="14"/>
                        <a:pt x="2" y="7"/>
                        <a:pt x="13" y="0"/>
                      </a:cubicBezTo>
                      <a:cubicBezTo>
                        <a:pt x="26" y="9"/>
                        <a:pt x="23" y="17"/>
                        <a:pt x="15" y="28"/>
                      </a:cubicBezTo>
                      <a:cubicBezTo>
                        <a:pt x="25" y="31"/>
                        <a:pt x="33" y="27"/>
                        <a:pt x="37" y="38"/>
                      </a:cubicBezTo>
                      <a:cubicBezTo>
                        <a:pt x="30" y="45"/>
                        <a:pt x="28" y="47"/>
                        <a:pt x="19" y="44"/>
                      </a:cubicBezTo>
                      <a:cubicBezTo>
                        <a:pt x="13" y="54"/>
                        <a:pt x="18" y="61"/>
                        <a:pt x="5" y="58"/>
                      </a:cubicBezTo>
                      <a:cubicBezTo>
                        <a:pt x="0" y="50"/>
                        <a:pt x="3" y="44"/>
                        <a:pt x="1" y="34"/>
                      </a:cubicBezTo>
                      <a:cubicBezTo>
                        <a:pt x="2" y="32"/>
                        <a:pt x="3" y="28"/>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9" name="Freeform 18"/>
                <p:cNvSpPr>
                  <a:spLocks/>
                </p:cNvSpPr>
                <p:nvPr userDrawn="1"/>
              </p:nvSpPr>
              <p:spPr bwMode="ltGray">
                <a:xfrm>
                  <a:off x="2506" y="869"/>
                  <a:ext cx="47" cy="24"/>
                </a:xfrm>
                <a:custGeom>
                  <a:avLst/>
                  <a:gdLst>
                    <a:gd name="T0" fmla="*/ 7 w 49"/>
                    <a:gd name="T1" fmla="*/ 0 h 29"/>
                    <a:gd name="T2" fmla="*/ 28 w 49"/>
                    <a:gd name="T3" fmla="*/ 0 h 29"/>
                    <a:gd name="T4" fmla="*/ 47 w 49"/>
                    <a:gd name="T5" fmla="*/ 13 h 29"/>
                    <a:gd name="T6" fmla="*/ 34 w 49"/>
                    <a:gd name="T7" fmla="*/ 12 h 29"/>
                    <a:gd name="T8" fmla="*/ 3 w 49"/>
                    <a:gd name="T9" fmla="*/ 13 h 29"/>
                    <a:gd name="T10" fmla="*/ 7 w 49"/>
                    <a:gd name="T11" fmla="*/ 0 h 2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29">
                      <a:moveTo>
                        <a:pt x="7" y="0"/>
                      </a:moveTo>
                      <a:cubicBezTo>
                        <a:pt x="15" y="6"/>
                        <a:pt x="19" y="2"/>
                        <a:pt x="29" y="0"/>
                      </a:cubicBezTo>
                      <a:cubicBezTo>
                        <a:pt x="45" y="5"/>
                        <a:pt x="40" y="3"/>
                        <a:pt x="49" y="16"/>
                      </a:cubicBezTo>
                      <a:cubicBezTo>
                        <a:pt x="46" y="29"/>
                        <a:pt x="42" y="21"/>
                        <a:pt x="35" y="14"/>
                      </a:cubicBezTo>
                      <a:cubicBezTo>
                        <a:pt x="26" y="15"/>
                        <a:pt x="12" y="19"/>
                        <a:pt x="3" y="16"/>
                      </a:cubicBezTo>
                      <a:cubicBezTo>
                        <a:pt x="0" y="6"/>
                        <a:pt x="7" y="10"/>
                        <a:pt x="7"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0" name="Freeform 19"/>
                <p:cNvSpPr>
                  <a:spLocks/>
                </p:cNvSpPr>
                <p:nvPr userDrawn="1"/>
              </p:nvSpPr>
              <p:spPr bwMode="ltGray">
                <a:xfrm>
                  <a:off x="2555" y="832"/>
                  <a:ext cx="61" cy="42"/>
                </a:xfrm>
                <a:custGeom>
                  <a:avLst/>
                  <a:gdLst>
                    <a:gd name="T0" fmla="*/ 21 w 61"/>
                    <a:gd name="T1" fmla="*/ 33 h 48"/>
                    <a:gd name="T2" fmla="*/ 15 w 61"/>
                    <a:gd name="T3" fmla="*/ 23 h 48"/>
                    <a:gd name="T4" fmla="*/ 3 w 61"/>
                    <a:gd name="T5" fmla="*/ 19 h 48"/>
                    <a:gd name="T6" fmla="*/ 13 w 61"/>
                    <a:gd name="T7" fmla="*/ 7 h 48"/>
                    <a:gd name="T8" fmla="*/ 25 w 61"/>
                    <a:gd name="T9" fmla="*/ 0 h 48"/>
                    <a:gd name="T10" fmla="*/ 49 w 61"/>
                    <a:gd name="T11" fmla="*/ 9 h 48"/>
                    <a:gd name="T12" fmla="*/ 53 w 61"/>
                    <a:gd name="T13" fmla="*/ 18 h 48"/>
                    <a:gd name="T14" fmla="*/ 61 w 61"/>
                    <a:gd name="T15" fmla="*/ 28 h 48"/>
                    <a:gd name="T16" fmla="*/ 41 w 61"/>
                    <a:gd name="T17" fmla="*/ 33 h 48"/>
                    <a:gd name="T18" fmla="*/ 23 w 61"/>
                    <a:gd name="T19" fmla="*/ 39 h 48"/>
                    <a:gd name="T20" fmla="*/ 21 w 61"/>
                    <a:gd name="T21" fmla="*/ 33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1" h="48">
                      <a:moveTo>
                        <a:pt x="21" y="38"/>
                      </a:moveTo>
                      <a:cubicBezTo>
                        <a:pt x="19" y="34"/>
                        <a:pt x="19" y="29"/>
                        <a:pt x="15" y="26"/>
                      </a:cubicBezTo>
                      <a:cubicBezTo>
                        <a:pt x="12" y="24"/>
                        <a:pt x="3" y="22"/>
                        <a:pt x="3" y="22"/>
                      </a:cubicBezTo>
                      <a:cubicBezTo>
                        <a:pt x="0" y="12"/>
                        <a:pt x="5" y="12"/>
                        <a:pt x="13" y="8"/>
                      </a:cubicBezTo>
                      <a:cubicBezTo>
                        <a:pt x="17" y="6"/>
                        <a:pt x="25" y="0"/>
                        <a:pt x="25" y="0"/>
                      </a:cubicBezTo>
                      <a:cubicBezTo>
                        <a:pt x="37" y="2"/>
                        <a:pt x="41" y="2"/>
                        <a:pt x="49" y="10"/>
                      </a:cubicBezTo>
                      <a:cubicBezTo>
                        <a:pt x="45" y="21"/>
                        <a:pt x="46" y="12"/>
                        <a:pt x="53" y="20"/>
                      </a:cubicBezTo>
                      <a:cubicBezTo>
                        <a:pt x="56" y="24"/>
                        <a:pt x="61" y="32"/>
                        <a:pt x="61" y="32"/>
                      </a:cubicBezTo>
                      <a:cubicBezTo>
                        <a:pt x="56" y="47"/>
                        <a:pt x="53" y="42"/>
                        <a:pt x="41" y="38"/>
                      </a:cubicBezTo>
                      <a:cubicBezTo>
                        <a:pt x="27" y="47"/>
                        <a:pt x="34" y="48"/>
                        <a:pt x="23" y="44"/>
                      </a:cubicBezTo>
                      <a:cubicBezTo>
                        <a:pt x="22" y="42"/>
                        <a:pt x="21" y="38"/>
                        <a:pt x="21"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1" name="Freeform 20"/>
                <p:cNvSpPr>
                  <a:spLocks/>
                </p:cNvSpPr>
                <p:nvPr userDrawn="1"/>
              </p:nvSpPr>
              <p:spPr bwMode="ltGray">
                <a:xfrm>
                  <a:off x="2572" y="852"/>
                  <a:ext cx="286" cy="149"/>
                </a:xfrm>
                <a:custGeom>
                  <a:avLst/>
                  <a:gdLst>
                    <a:gd name="T0" fmla="*/ 46 w 286"/>
                    <a:gd name="T1" fmla="*/ 23 h 182"/>
                    <a:gd name="T2" fmla="*/ 36 w 286"/>
                    <a:gd name="T3" fmla="*/ 11 h 182"/>
                    <a:gd name="T4" fmla="*/ 26 w 286"/>
                    <a:gd name="T5" fmla="*/ 25 h 182"/>
                    <a:gd name="T6" fmla="*/ 0 w 286"/>
                    <a:gd name="T7" fmla="*/ 20 h 182"/>
                    <a:gd name="T8" fmla="*/ 10 w 286"/>
                    <a:gd name="T9" fmla="*/ 34 h 182"/>
                    <a:gd name="T10" fmla="*/ 16 w 286"/>
                    <a:gd name="T11" fmla="*/ 51 h 182"/>
                    <a:gd name="T12" fmla="*/ 24 w 286"/>
                    <a:gd name="T13" fmla="*/ 39 h 182"/>
                    <a:gd name="T14" fmla="*/ 30 w 286"/>
                    <a:gd name="T15" fmla="*/ 36 h 182"/>
                    <a:gd name="T16" fmla="*/ 48 w 286"/>
                    <a:gd name="T17" fmla="*/ 46 h 182"/>
                    <a:gd name="T18" fmla="*/ 70 w 286"/>
                    <a:gd name="T19" fmla="*/ 51 h 182"/>
                    <a:gd name="T20" fmla="*/ 88 w 286"/>
                    <a:gd name="T21" fmla="*/ 59 h 182"/>
                    <a:gd name="T22" fmla="*/ 106 w 286"/>
                    <a:gd name="T23" fmla="*/ 84 h 182"/>
                    <a:gd name="T24" fmla="*/ 104 w 286"/>
                    <a:gd name="T25" fmla="*/ 100 h 182"/>
                    <a:gd name="T26" fmla="*/ 98 w 286"/>
                    <a:gd name="T27" fmla="*/ 110 h 182"/>
                    <a:gd name="T28" fmla="*/ 122 w 286"/>
                    <a:gd name="T29" fmla="*/ 105 h 182"/>
                    <a:gd name="T30" fmla="*/ 140 w 286"/>
                    <a:gd name="T31" fmla="*/ 115 h 182"/>
                    <a:gd name="T32" fmla="*/ 168 w 286"/>
                    <a:gd name="T33" fmla="*/ 121 h 182"/>
                    <a:gd name="T34" fmla="*/ 174 w 286"/>
                    <a:gd name="T35" fmla="*/ 120 h 182"/>
                    <a:gd name="T36" fmla="*/ 168 w 286"/>
                    <a:gd name="T37" fmla="*/ 110 h 182"/>
                    <a:gd name="T38" fmla="*/ 178 w 286"/>
                    <a:gd name="T39" fmla="*/ 111 h 182"/>
                    <a:gd name="T40" fmla="*/ 186 w 286"/>
                    <a:gd name="T41" fmla="*/ 97 h 182"/>
                    <a:gd name="T42" fmla="*/ 202 w 286"/>
                    <a:gd name="T43" fmla="*/ 100 h 182"/>
                    <a:gd name="T44" fmla="*/ 214 w 286"/>
                    <a:gd name="T45" fmla="*/ 106 h 182"/>
                    <a:gd name="T46" fmla="*/ 244 w 286"/>
                    <a:gd name="T47" fmla="*/ 138 h 182"/>
                    <a:gd name="T48" fmla="*/ 262 w 286"/>
                    <a:gd name="T49" fmla="*/ 146 h 182"/>
                    <a:gd name="T50" fmla="*/ 284 w 286"/>
                    <a:gd name="T51" fmla="*/ 139 h 182"/>
                    <a:gd name="T52" fmla="*/ 268 w 286"/>
                    <a:gd name="T53" fmla="*/ 131 h 182"/>
                    <a:gd name="T54" fmla="*/ 256 w 286"/>
                    <a:gd name="T55" fmla="*/ 113 h 182"/>
                    <a:gd name="T56" fmla="*/ 250 w 286"/>
                    <a:gd name="T57" fmla="*/ 108 h 182"/>
                    <a:gd name="T58" fmla="*/ 248 w 286"/>
                    <a:gd name="T59" fmla="*/ 100 h 182"/>
                    <a:gd name="T60" fmla="*/ 236 w 286"/>
                    <a:gd name="T61" fmla="*/ 95 h 182"/>
                    <a:gd name="T62" fmla="*/ 240 w 286"/>
                    <a:gd name="T63" fmla="*/ 79 h 182"/>
                    <a:gd name="T64" fmla="*/ 220 w 286"/>
                    <a:gd name="T65" fmla="*/ 70 h 182"/>
                    <a:gd name="T66" fmla="*/ 210 w 286"/>
                    <a:gd name="T67" fmla="*/ 57 h 182"/>
                    <a:gd name="T68" fmla="*/ 190 w 286"/>
                    <a:gd name="T69" fmla="*/ 44 h 182"/>
                    <a:gd name="T70" fmla="*/ 168 w 286"/>
                    <a:gd name="T71" fmla="*/ 31 h 182"/>
                    <a:gd name="T72" fmla="*/ 156 w 286"/>
                    <a:gd name="T73" fmla="*/ 28 h 182"/>
                    <a:gd name="T74" fmla="*/ 120 w 286"/>
                    <a:gd name="T75" fmla="*/ 13 h 182"/>
                    <a:gd name="T76" fmla="*/ 102 w 286"/>
                    <a:gd name="T77" fmla="*/ 3 h 182"/>
                    <a:gd name="T78" fmla="*/ 96 w 286"/>
                    <a:gd name="T79" fmla="*/ 0 h 182"/>
                    <a:gd name="T80" fmla="*/ 70 w 286"/>
                    <a:gd name="T81" fmla="*/ 8 h 182"/>
                    <a:gd name="T82" fmla="*/ 56 w 286"/>
                    <a:gd name="T83" fmla="*/ 26 h 182"/>
                    <a:gd name="T84" fmla="*/ 46 w 286"/>
                    <a:gd name="T85" fmla="*/ 23 h 18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86" h="182">
                      <a:moveTo>
                        <a:pt x="46" y="28"/>
                      </a:moveTo>
                      <a:cubicBezTo>
                        <a:pt x="41" y="14"/>
                        <a:pt x="46" y="17"/>
                        <a:pt x="36" y="14"/>
                      </a:cubicBezTo>
                      <a:cubicBezTo>
                        <a:pt x="31" y="17"/>
                        <a:pt x="26" y="30"/>
                        <a:pt x="26" y="30"/>
                      </a:cubicBezTo>
                      <a:cubicBezTo>
                        <a:pt x="12" y="25"/>
                        <a:pt x="19" y="21"/>
                        <a:pt x="0" y="24"/>
                      </a:cubicBezTo>
                      <a:cubicBezTo>
                        <a:pt x="2" y="33"/>
                        <a:pt x="2" y="37"/>
                        <a:pt x="10" y="42"/>
                      </a:cubicBezTo>
                      <a:cubicBezTo>
                        <a:pt x="12" y="49"/>
                        <a:pt x="14" y="55"/>
                        <a:pt x="16" y="62"/>
                      </a:cubicBezTo>
                      <a:cubicBezTo>
                        <a:pt x="24" y="59"/>
                        <a:pt x="27" y="57"/>
                        <a:pt x="24" y="48"/>
                      </a:cubicBezTo>
                      <a:cubicBezTo>
                        <a:pt x="26" y="47"/>
                        <a:pt x="28" y="43"/>
                        <a:pt x="30" y="44"/>
                      </a:cubicBezTo>
                      <a:cubicBezTo>
                        <a:pt x="48" y="48"/>
                        <a:pt x="36" y="52"/>
                        <a:pt x="48" y="56"/>
                      </a:cubicBezTo>
                      <a:cubicBezTo>
                        <a:pt x="74" y="65"/>
                        <a:pt x="47" y="56"/>
                        <a:pt x="70" y="62"/>
                      </a:cubicBezTo>
                      <a:cubicBezTo>
                        <a:pt x="77" y="64"/>
                        <a:pt x="88" y="72"/>
                        <a:pt x="88" y="72"/>
                      </a:cubicBezTo>
                      <a:cubicBezTo>
                        <a:pt x="96" y="84"/>
                        <a:pt x="102" y="87"/>
                        <a:pt x="106" y="102"/>
                      </a:cubicBezTo>
                      <a:cubicBezTo>
                        <a:pt x="105" y="109"/>
                        <a:pt x="106" y="115"/>
                        <a:pt x="104" y="122"/>
                      </a:cubicBezTo>
                      <a:cubicBezTo>
                        <a:pt x="103" y="126"/>
                        <a:pt x="94" y="132"/>
                        <a:pt x="98" y="134"/>
                      </a:cubicBezTo>
                      <a:cubicBezTo>
                        <a:pt x="106" y="137"/>
                        <a:pt x="122" y="128"/>
                        <a:pt x="122" y="128"/>
                      </a:cubicBezTo>
                      <a:cubicBezTo>
                        <a:pt x="130" y="131"/>
                        <a:pt x="133" y="135"/>
                        <a:pt x="140" y="140"/>
                      </a:cubicBezTo>
                      <a:cubicBezTo>
                        <a:pt x="148" y="145"/>
                        <a:pt x="159" y="145"/>
                        <a:pt x="168" y="148"/>
                      </a:cubicBezTo>
                      <a:cubicBezTo>
                        <a:pt x="170" y="147"/>
                        <a:pt x="173" y="148"/>
                        <a:pt x="174" y="146"/>
                      </a:cubicBezTo>
                      <a:cubicBezTo>
                        <a:pt x="176" y="142"/>
                        <a:pt x="164" y="136"/>
                        <a:pt x="168" y="134"/>
                      </a:cubicBezTo>
                      <a:cubicBezTo>
                        <a:pt x="171" y="132"/>
                        <a:pt x="175" y="135"/>
                        <a:pt x="178" y="136"/>
                      </a:cubicBezTo>
                      <a:cubicBezTo>
                        <a:pt x="182" y="131"/>
                        <a:pt x="186" y="118"/>
                        <a:pt x="186" y="118"/>
                      </a:cubicBezTo>
                      <a:cubicBezTo>
                        <a:pt x="189" y="119"/>
                        <a:pt x="199" y="120"/>
                        <a:pt x="202" y="122"/>
                      </a:cubicBezTo>
                      <a:cubicBezTo>
                        <a:pt x="206" y="124"/>
                        <a:pt x="214" y="130"/>
                        <a:pt x="214" y="130"/>
                      </a:cubicBezTo>
                      <a:cubicBezTo>
                        <a:pt x="224" y="145"/>
                        <a:pt x="228" y="158"/>
                        <a:pt x="244" y="168"/>
                      </a:cubicBezTo>
                      <a:cubicBezTo>
                        <a:pt x="250" y="172"/>
                        <a:pt x="262" y="178"/>
                        <a:pt x="262" y="178"/>
                      </a:cubicBezTo>
                      <a:cubicBezTo>
                        <a:pt x="265" y="178"/>
                        <a:pt x="286" y="182"/>
                        <a:pt x="284" y="170"/>
                      </a:cubicBezTo>
                      <a:cubicBezTo>
                        <a:pt x="283" y="164"/>
                        <a:pt x="268" y="160"/>
                        <a:pt x="268" y="160"/>
                      </a:cubicBezTo>
                      <a:cubicBezTo>
                        <a:pt x="261" y="150"/>
                        <a:pt x="270" y="143"/>
                        <a:pt x="256" y="138"/>
                      </a:cubicBezTo>
                      <a:cubicBezTo>
                        <a:pt x="254" y="136"/>
                        <a:pt x="251" y="135"/>
                        <a:pt x="250" y="132"/>
                      </a:cubicBezTo>
                      <a:cubicBezTo>
                        <a:pt x="248" y="129"/>
                        <a:pt x="250" y="125"/>
                        <a:pt x="248" y="122"/>
                      </a:cubicBezTo>
                      <a:cubicBezTo>
                        <a:pt x="246" y="118"/>
                        <a:pt x="240" y="118"/>
                        <a:pt x="236" y="116"/>
                      </a:cubicBezTo>
                      <a:cubicBezTo>
                        <a:pt x="230" y="107"/>
                        <a:pt x="227" y="100"/>
                        <a:pt x="240" y="96"/>
                      </a:cubicBezTo>
                      <a:cubicBezTo>
                        <a:pt x="236" y="83"/>
                        <a:pt x="236" y="84"/>
                        <a:pt x="220" y="86"/>
                      </a:cubicBezTo>
                      <a:cubicBezTo>
                        <a:pt x="209" y="82"/>
                        <a:pt x="208" y="82"/>
                        <a:pt x="210" y="70"/>
                      </a:cubicBezTo>
                      <a:cubicBezTo>
                        <a:pt x="207" y="60"/>
                        <a:pt x="199" y="57"/>
                        <a:pt x="190" y="54"/>
                      </a:cubicBezTo>
                      <a:cubicBezTo>
                        <a:pt x="181" y="45"/>
                        <a:pt x="181" y="42"/>
                        <a:pt x="168" y="38"/>
                      </a:cubicBezTo>
                      <a:cubicBezTo>
                        <a:pt x="164" y="37"/>
                        <a:pt x="156" y="34"/>
                        <a:pt x="156" y="34"/>
                      </a:cubicBezTo>
                      <a:cubicBezTo>
                        <a:pt x="146" y="24"/>
                        <a:pt x="134" y="21"/>
                        <a:pt x="120" y="16"/>
                      </a:cubicBezTo>
                      <a:cubicBezTo>
                        <a:pt x="113" y="14"/>
                        <a:pt x="108" y="8"/>
                        <a:pt x="102" y="4"/>
                      </a:cubicBezTo>
                      <a:cubicBezTo>
                        <a:pt x="100" y="3"/>
                        <a:pt x="96" y="0"/>
                        <a:pt x="96" y="0"/>
                      </a:cubicBezTo>
                      <a:cubicBezTo>
                        <a:pt x="83" y="2"/>
                        <a:pt x="79" y="1"/>
                        <a:pt x="70" y="10"/>
                      </a:cubicBezTo>
                      <a:cubicBezTo>
                        <a:pt x="67" y="19"/>
                        <a:pt x="63" y="27"/>
                        <a:pt x="56" y="32"/>
                      </a:cubicBezTo>
                      <a:cubicBezTo>
                        <a:pt x="49" y="30"/>
                        <a:pt x="52" y="31"/>
                        <a:pt x="4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2" name="Freeform 21"/>
                <p:cNvSpPr>
                  <a:spLocks/>
                </p:cNvSpPr>
                <p:nvPr userDrawn="1"/>
              </p:nvSpPr>
              <p:spPr bwMode="ltGray">
                <a:xfrm>
                  <a:off x="2820" y="866"/>
                  <a:ext cx="78" cy="64"/>
                </a:xfrm>
                <a:custGeom>
                  <a:avLst/>
                  <a:gdLst>
                    <a:gd name="T0" fmla="*/ 1 w 78"/>
                    <a:gd name="T1" fmla="*/ 48 h 78"/>
                    <a:gd name="T2" fmla="*/ 27 w 78"/>
                    <a:gd name="T3" fmla="*/ 49 h 78"/>
                    <a:gd name="T4" fmla="*/ 45 w 78"/>
                    <a:gd name="T5" fmla="*/ 39 h 78"/>
                    <a:gd name="T6" fmla="*/ 57 w 78"/>
                    <a:gd name="T7" fmla="*/ 25 h 78"/>
                    <a:gd name="T8" fmla="*/ 43 w 78"/>
                    <a:gd name="T9" fmla="*/ 11 h 78"/>
                    <a:gd name="T10" fmla="*/ 43 w 78"/>
                    <a:gd name="T11" fmla="*/ 3 h 78"/>
                    <a:gd name="T12" fmla="*/ 71 w 78"/>
                    <a:gd name="T13" fmla="*/ 21 h 78"/>
                    <a:gd name="T14" fmla="*/ 67 w 78"/>
                    <a:gd name="T15" fmla="*/ 44 h 78"/>
                    <a:gd name="T16" fmla="*/ 33 w 78"/>
                    <a:gd name="T17" fmla="*/ 64 h 78"/>
                    <a:gd name="T18" fmla="*/ 9 w 78"/>
                    <a:gd name="T19" fmla="*/ 54 h 78"/>
                    <a:gd name="T20" fmla="*/ 3 w 78"/>
                    <a:gd name="T21" fmla="*/ 51 h 78"/>
                    <a:gd name="T22" fmla="*/ 1 w 78"/>
                    <a:gd name="T23" fmla="*/ 48 h 7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8" h="78">
                      <a:moveTo>
                        <a:pt x="1" y="58"/>
                      </a:moveTo>
                      <a:cubicBezTo>
                        <a:pt x="6" y="44"/>
                        <a:pt x="18" y="57"/>
                        <a:pt x="27" y="60"/>
                      </a:cubicBezTo>
                      <a:cubicBezTo>
                        <a:pt x="35" y="57"/>
                        <a:pt x="38" y="52"/>
                        <a:pt x="45" y="48"/>
                      </a:cubicBezTo>
                      <a:cubicBezTo>
                        <a:pt x="48" y="40"/>
                        <a:pt x="51" y="36"/>
                        <a:pt x="57" y="30"/>
                      </a:cubicBezTo>
                      <a:cubicBezTo>
                        <a:pt x="55" y="23"/>
                        <a:pt x="43" y="14"/>
                        <a:pt x="43" y="14"/>
                      </a:cubicBezTo>
                      <a:cubicBezTo>
                        <a:pt x="33" y="0"/>
                        <a:pt x="30" y="1"/>
                        <a:pt x="43" y="4"/>
                      </a:cubicBezTo>
                      <a:cubicBezTo>
                        <a:pt x="54" y="11"/>
                        <a:pt x="58" y="22"/>
                        <a:pt x="71" y="26"/>
                      </a:cubicBezTo>
                      <a:cubicBezTo>
                        <a:pt x="78" y="37"/>
                        <a:pt x="78" y="46"/>
                        <a:pt x="67" y="54"/>
                      </a:cubicBezTo>
                      <a:cubicBezTo>
                        <a:pt x="51" y="49"/>
                        <a:pt x="53" y="71"/>
                        <a:pt x="33" y="78"/>
                      </a:cubicBezTo>
                      <a:cubicBezTo>
                        <a:pt x="16" y="72"/>
                        <a:pt x="25" y="76"/>
                        <a:pt x="9" y="66"/>
                      </a:cubicBezTo>
                      <a:cubicBezTo>
                        <a:pt x="7" y="65"/>
                        <a:pt x="3" y="62"/>
                        <a:pt x="3" y="62"/>
                      </a:cubicBezTo>
                      <a:cubicBezTo>
                        <a:pt x="0" y="54"/>
                        <a:pt x="13" y="42"/>
                        <a:pt x="1" y="5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3" name="Freeform 22"/>
                <p:cNvSpPr>
                  <a:spLocks/>
                </p:cNvSpPr>
                <p:nvPr userDrawn="1"/>
              </p:nvSpPr>
              <p:spPr bwMode="ltGray">
                <a:xfrm>
                  <a:off x="2984" y="732"/>
                  <a:ext cx="19" cy="14"/>
                </a:xfrm>
                <a:custGeom>
                  <a:avLst/>
                  <a:gdLst>
                    <a:gd name="T0" fmla="*/ 3 w 17"/>
                    <a:gd name="T1" fmla="*/ 3 h 18"/>
                    <a:gd name="T2" fmla="*/ 3 w 17"/>
                    <a:gd name="T3" fmla="*/ 11 h 18"/>
                    <a:gd name="T4" fmla="*/ 3 w 17"/>
                    <a:gd name="T5" fmla="*/ 3 h 18"/>
                    <a:gd name="T6" fmla="*/ 0 60000 65536"/>
                    <a:gd name="T7" fmla="*/ 0 60000 65536"/>
                    <a:gd name="T8" fmla="*/ 0 60000 65536"/>
                  </a:gdLst>
                  <a:ahLst/>
                  <a:cxnLst>
                    <a:cxn ang="T6">
                      <a:pos x="T0" y="T1"/>
                    </a:cxn>
                    <a:cxn ang="T7">
                      <a:pos x="T2" y="T3"/>
                    </a:cxn>
                    <a:cxn ang="T8">
                      <a:pos x="T4" y="T5"/>
                    </a:cxn>
                  </a:cxnLst>
                  <a:rect l="0" t="0" r="r" b="b"/>
                  <a:pathLst>
                    <a:path w="17" h="18">
                      <a:moveTo>
                        <a:pt x="3" y="4"/>
                      </a:moveTo>
                      <a:cubicBezTo>
                        <a:pt x="17" y="7"/>
                        <a:pt x="16" y="18"/>
                        <a:pt x="3" y="14"/>
                      </a:cubicBezTo>
                      <a:cubicBezTo>
                        <a:pt x="0" y="6"/>
                        <a:pt x="7" y="0"/>
                        <a:pt x="3"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4" name="Freeform 23"/>
                <p:cNvSpPr>
                  <a:spLocks/>
                </p:cNvSpPr>
                <p:nvPr userDrawn="1"/>
              </p:nvSpPr>
              <p:spPr bwMode="ltGray">
                <a:xfrm>
                  <a:off x="3083" y="830"/>
                  <a:ext cx="26" cy="19"/>
                </a:xfrm>
                <a:custGeom>
                  <a:avLst/>
                  <a:gdLst>
                    <a:gd name="T0" fmla="*/ 8 w 26"/>
                    <a:gd name="T1" fmla="*/ 12 h 22"/>
                    <a:gd name="T2" fmla="*/ 14 w 26"/>
                    <a:gd name="T3" fmla="*/ 0 h 22"/>
                    <a:gd name="T4" fmla="*/ 14 w 26"/>
                    <a:gd name="T5" fmla="*/ 19 h 22"/>
                    <a:gd name="T6" fmla="*/ 8 w 26"/>
                    <a:gd name="T7" fmla="*/ 12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2">
                      <a:moveTo>
                        <a:pt x="8" y="14"/>
                      </a:moveTo>
                      <a:cubicBezTo>
                        <a:pt x="5" y="6"/>
                        <a:pt x="5" y="3"/>
                        <a:pt x="14" y="0"/>
                      </a:cubicBezTo>
                      <a:cubicBezTo>
                        <a:pt x="26" y="4"/>
                        <a:pt x="23" y="16"/>
                        <a:pt x="14" y="22"/>
                      </a:cubicBezTo>
                      <a:cubicBezTo>
                        <a:pt x="0" y="17"/>
                        <a:pt x="13" y="3"/>
                        <a:pt x="8" y="1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5" name="Freeform 24"/>
                <p:cNvSpPr>
                  <a:spLocks/>
                </p:cNvSpPr>
                <p:nvPr userDrawn="1"/>
              </p:nvSpPr>
              <p:spPr bwMode="ltGray">
                <a:xfrm>
                  <a:off x="2766" y="610"/>
                  <a:ext cx="19" cy="12"/>
                </a:xfrm>
                <a:custGeom>
                  <a:avLst/>
                  <a:gdLst>
                    <a:gd name="T0" fmla="*/ 7 w 20"/>
                    <a:gd name="T1" fmla="*/ 10 h 15"/>
                    <a:gd name="T2" fmla="*/ 16 w 20"/>
                    <a:gd name="T3" fmla="*/ 2 h 15"/>
                    <a:gd name="T4" fmla="*/ 9 w 20"/>
                    <a:gd name="T5" fmla="*/ 10 h 15"/>
                    <a:gd name="T6" fmla="*/ 7 w 20"/>
                    <a:gd name="T7" fmla="*/ 10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1"/>
                        <a:pt x="6" y="0"/>
                        <a:pt x="17" y="2"/>
                      </a:cubicBezTo>
                      <a:cubicBezTo>
                        <a:pt x="20" y="10"/>
                        <a:pt x="18" y="15"/>
                        <a:pt x="9" y="12"/>
                      </a:cubicBezTo>
                      <a:cubicBezTo>
                        <a:pt x="4" y="4"/>
                        <a:pt x="4" y="4"/>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6" name="Freeform 25"/>
                <p:cNvSpPr>
                  <a:spLocks/>
                </p:cNvSpPr>
                <p:nvPr userDrawn="1"/>
              </p:nvSpPr>
              <p:spPr bwMode="ltGray">
                <a:xfrm>
                  <a:off x="2600" y="712"/>
                  <a:ext cx="19" cy="12"/>
                </a:xfrm>
                <a:custGeom>
                  <a:avLst/>
                  <a:gdLst>
                    <a:gd name="T0" fmla="*/ 7 w 20"/>
                    <a:gd name="T1" fmla="*/ 10 h 15"/>
                    <a:gd name="T2" fmla="*/ 14 w 20"/>
                    <a:gd name="T3" fmla="*/ 2 h 15"/>
                    <a:gd name="T4" fmla="*/ 14 w 20"/>
                    <a:gd name="T5" fmla="*/ 11 h 15"/>
                    <a:gd name="T6" fmla="*/ 7 w 20"/>
                    <a:gd name="T7" fmla="*/ 10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2"/>
                        <a:pt x="3" y="0"/>
                        <a:pt x="15" y="2"/>
                      </a:cubicBezTo>
                      <a:cubicBezTo>
                        <a:pt x="16" y="4"/>
                        <a:pt x="20" y="12"/>
                        <a:pt x="15" y="14"/>
                      </a:cubicBezTo>
                      <a:cubicBezTo>
                        <a:pt x="12" y="15"/>
                        <a:pt x="7" y="12"/>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7" name="Freeform 26"/>
                <p:cNvSpPr>
                  <a:spLocks/>
                </p:cNvSpPr>
                <p:nvPr userDrawn="1"/>
              </p:nvSpPr>
              <p:spPr bwMode="ltGray">
                <a:xfrm>
                  <a:off x="2417" y="680"/>
                  <a:ext cx="80" cy="66"/>
                </a:xfrm>
                <a:custGeom>
                  <a:avLst/>
                  <a:gdLst>
                    <a:gd name="T0" fmla="*/ 0 w 80"/>
                    <a:gd name="T1" fmla="*/ 41 h 80"/>
                    <a:gd name="T2" fmla="*/ 14 w 80"/>
                    <a:gd name="T3" fmla="*/ 20 h 80"/>
                    <a:gd name="T4" fmla="*/ 26 w 80"/>
                    <a:gd name="T5" fmla="*/ 17 h 80"/>
                    <a:gd name="T6" fmla="*/ 48 w 80"/>
                    <a:gd name="T7" fmla="*/ 15 h 80"/>
                    <a:gd name="T8" fmla="*/ 58 w 80"/>
                    <a:gd name="T9" fmla="*/ 0 h 80"/>
                    <a:gd name="T10" fmla="*/ 80 w 80"/>
                    <a:gd name="T11" fmla="*/ 33 h 80"/>
                    <a:gd name="T12" fmla="*/ 70 w 80"/>
                    <a:gd name="T13" fmla="*/ 46 h 80"/>
                    <a:gd name="T14" fmla="*/ 54 w 80"/>
                    <a:gd name="T15" fmla="*/ 51 h 80"/>
                    <a:gd name="T16" fmla="*/ 48 w 80"/>
                    <a:gd name="T17" fmla="*/ 66 h 80"/>
                    <a:gd name="T18" fmla="*/ 32 w 80"/>
                    <a:gd name="T19" fmla="*/ 56 h 80"/>
                    <a:gd name="T20" fmla="*/ 38 w 80"/>
                    <a:gd name="T21" fmla="*/ 43 h 80"/>
                    <a:gd name="T22" fmla="*/ 30 w 80"/>
                    <a:gd name="T23" fmla="*/ 23 h 80"/>
                    <a:gd name="T24" fmla="*/ 20 w 80"/>
                    <a:gd name="T25" fmla="*/ 40 h 80"/>
                    <a:gd name="T26" fmla="*/ 8 w 80"/>
                    <a:gd name="T27" fmla="*/ 46 h 80"/>
                    <a:gd name="T28" fmla="*/ 0 w 80"/>
                    <a:gd name="T29" fmla="*/ 41 h 8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0" h="80">
                      <a:moveTo>
                        <a:pt x="0" y="50"/>
                      </a:moveTo>
                      <a:cubicBezTo>
                        <a:pt x="1" y="47"/>
                        <a:pt x="12" y="25"/>
                        <a:pt x="14" y="24"/>
                      </a:cubicBezTo>
                      <a:cubicBezTo>
                        <a:pt x="17" y="22"/>
                        <a:pt x="26" y="20"/>
                        <a:pt x="26" y="20"/>
                      </a:cubicBezTo>
                      <a:cubicBezTo>
                        <a:pt x="34" y="23"/>
                        <a:pt x="40" y="21"/>
                        <a:pt x="48" y="18"/>
                      </a:cubicBezTo>
                      <a:cubicBezTo>
                        <a:pt x="52" y="12"/>
                        <a:pt x="54" y="6"/>
                        <a:pt x="58" y="0"/>
                      </a:cubicBezTo>
                      <a:cubicBezTo>
                        <a:pt x="70" y="4"/>
                        <a:pt x="76" y="28"/>
                        <a:pt x="80" y="40"/>
                      </a:cubicBezTo>
                      <a:cubicBezTo>
                        <a:pt x="75" y="54"/>
                        <a:pt x="80" y="50"/>
                        <a:pt x="70" y="56"/>
                      </a:cubicBezTo>
                      <a:cubicBezTo>
                        <a:pt x="61" y="53"/>
                        <a:pt x="59" y="54"/>
                        <a:pt x="54" y="62"/>
                      </a:cubicBezTo>
                      <a:cubicBezTo>
                        <a:pt x="57" y="71"/>
                        <a:pt x="56" y="75"/>
                        <a:pt x="48" y="80"/>
                      </a:cubicBezTo>
                      <a:cubicBezTo>
                        <a:pt x="40" y="77"/>
                        <a:pt x="39" y="72"/>
                        <a:pt x="32" y="68"/>
                      </a:cubicBezTo>
                      <a:cubicBezTo>
                        <a:pt x="26" y="59"/>
                        <a:pt x="30" y="57"/>
                        <a:pt x="38" y="52"/>
                      </a:cubicBezTo>
                      <a:cubicBezTo>
                        <a:pt x="41" y="42"/>
                        <a:pt x="39" y="34"/>
                        <a:pt x="30" y="28"/>
                      </a:cubicBezTo>
                      <a:cubicBezTo>
                        <a:pt x="20" y="31"/>
                        <a:pt x="30" y="40"/>
                        <a:pt x="20" y="48"/>
                      </a:cubicBezTo>
                      <a:cubicBezTo>
                        <a:pt x="16" y="51"/>
                        <a:pt x="8" y="56"/>
                        <a:pt x="8" y="56"/>
                      </a:cubicBezTo>
                      <a:cubicBezTo>
                        <a:pt x="2" y="50"/>
                        <a:pt x="5" y="50"/>
                        <a:pt x="0" y="5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8" name="Freeform 27"/>
                <p:cNvSpPr>
                  <a:spLocks/>
                </p:cNvSpPr>
                <p:nvPr userDrawn="1"/>
              </p:nvSpPr>
              <p:spPr bwMode="ltGray">
                <a:xfrm>
                  <a:off x="2391" y="541"/>
                  <a:ext cx="94" cy="142"/>
                </a:xfrm>
                <a:custGeom>
                  <a:avLst/>
                  <a:gdLst>
                    <a:gd name="T0" fmla="*/ 14 w 94"/>
                    <a:gd name="T1" fmla="*/ 78 h 174"/>
                    <a:gd name="T2" fmla="*/ 26 w 94"/>
                    <a:gd name="T3" fmla="*/ 104 h 174"/>
                    <a:gd name="T4" fmla="*/ 32 w 94"/>
                    <a:gd name="T5" fmla="*/ 88 h 174"/>
                    <a:gd name="T6" fmla="*/ 52 w 94"/>
                    <a:gd name="T7" fmla="*/ 82 h 174"/>
                    <a:gd name="T8" fmla="*/ 46 w 94"/>
                    <a:gd name="T9" fmla="*/ 101 h 174"/>
                    <a:gd name="T10" fmla="*/ 66 w 94"/>
                    <a:gd name="T11" fmla="*/ 103 h 174"/>
                    <a:gd name="T12" fmla="*/ 76 w 94"/>
                    <a:gd name="T13" fmla="*/ 116 h 174"/>
                    <a:gd name="T14" fmla="*/ 58 w 94"/>
                    <a:gd name="T15" fmla="*/ 121 h 174"/>
                    <a:gd name="T16" fmla="*/ 74 w 94"/>
                    <a:gd name="T17" fmla="*/ 142 h 174"/>
                    <a:gd name="T18" fmla="*/ 84 w 94"/>
                    <a:gd name="T19" fmla="*/ 126 h 174"/>
                    <a:gd name="T20" fmla="*/ 82 w 94"/>
                    <a:gd name="T21" fmla="*/ 91 h 174"/>
                    <a:gd name="T22" fmla="*/ 60 w 94"/>
                    <a:gd name="T23" fmla="*/ 87 h 174"/>
                    <a:gd name="T24" fmla="*/ 50 w 94"/>
                    <a:gd name="T25" fmla="*/ 67 h 174"/>
                    <a:gd name="T26" fmla="*/ 34 w 94"/>
                    <a:gd name="T27" fmla="*/ 67 h 174"/>
                    <a:gd name="T28" fmla="*/ 30 w 94"/>
                    <a:gd name="T29" fmla="*/ 57 h 174"/>
                    <a:gd name="T30" fmla="*/ 42 w 94"/>
                    <a:gd name="T31" fmla="*/ 34 h 174"/>
                    <a:gd name="T32" fmla="*/ 30 w 94"/>
                    <a:gd name="T33" fmla="*/ 0 h 174"/>
                    <a:gd name="T34" fmla="*/ 18 w 94"/>
                    <a:gd name="T35" fmla="*/ 18 h 174"/>
                    <a:gd name="T36" fmla="*/ 4 w 94"/>
                    <a:gd name="T37" fmla="*/ 38 h 174"/>
                    <a:gd name="T38" fmla="*/ 14 w 94"/>
                    <a:gd name="T39" fmla="*/ 62 h 174"/>
                    <a:gd name="T40" fmla="*/ 14 w 94"/>
                    <a:gd name="T41" fmla="*/ 78 h 17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4" h="174">
                      <a:moveTo>
                        <a:pt x="14" y="96"/>
                      </a:moveTo>
                      <a:cubicBezTo>
                        <a:pt x="11" y="109"/>
                        <a:pt x="15" y="120"/>
                        <a:pt x="26" y="128"/>
                      </a:cubicBezTo>
                      <a:cubicBezTo>
                        <a:pt x="34" y="120"/>
                        <a:pt x="35" y="119"/>
                        <a:pt x="32" y="108"/>
                      </a:cubicBezTo>
                      <a:cubicBezTo>
                        <a:pt x="35" y="92"/>
                        <a:pt x="39" y="92"/>
                        <a:pt x="52" y="100"/>
                      </a:cubicBezTo>
                      <a:cubicBezTo>
                        <a:pt x="59" y="110"/>
                        <a:pt x="49" y="114"/>
                        <a:pt x="46" y="124"/>
                      </a:cubicBezTo>
                      <a:cubicBezTo>
                        <a:pt x="50" y="137"/>
                        <a:pt x="57" y="129"/>
                        <a:pt x="66" y="126"/>
                      </a:cubicBezTo>
                      <a:cubicBezTo>
                        <a:pt x="77" y="129"/>
                        <a:pt x="79" y="131"/>
                        <a:pt x="76" y="142"/>
                      </a:cubicBezTo>
                      <a:cubicBezTo>
                        <a:pt x="67" y="139"/>
                        <a:pt x="65" y="141"/>
                        <a:pt x="58" y="148"/>
                      </a:cubicBezTo>
                      <a:cubicBezTo>
                        <a:pt x="60" y="160"/>
                        <a:pt x="62" y="170"/>
                        <a:pt x="74" y="174"/>
                      </a:cubicBezTo>
                      <a:cubicBezTo>
                        <a:pt x="77" y="165"/>
                        <a:pt x="74" y="157"/>
                        <a:pt x="84" y="154"/>
                      </a:cubicBezTo>
                      <a:cubicBezTo>
                        <a:pt x="91" y="143"/>
                        <a:pt x="94" y="122"/>
                        <a:pt x="82" y="112"/>
                      </a:cubicBezTo>
                      <a:cubicBezTo>
                        <a:pt x="77" y="108"/>
                        <a:pt x="66" y="108"/>
                        <a:pt x="60" y="106"/>
                      </a:cubicBezTo>
                      <a:cubicBezTo>
                        <a:pt x="65" y="92"/>
                        <a:pt x="66" y="87"/>
                        <a:pt x="50" y="82"/>
                      </a:cubicBezTo>
                      <a:cubicBezTo>
                        <a:pt x="48" y="82"/>
                        <a:pt x="37" y="86"/>
                        <a:pt x="34" y="82"/>
                      </a:cubicBezTo>
                      <a:cubicBezTo>
                        <a:pt x="32" y="79"/>
                        <a:pt x="30" y="70"/>
                        <a:pt x="30" y="70"/>
                      </a:cubicBezTo>
                      <a:cubicBezTo>
                        <a:pt x="32" y="54"/>
                        <a:pt x="32" y="52"/>
                        <a:pt x="42" y="42"/>
                      </a:cubicBezTo>
                      <a:cubicBezTo>
                        <a:pt x="41" y="30"/>
                        <a:pt x="45" y="5"/>
                        <a:pt x="30" y="0"/>
                      </a:cubicBezTo>
                      <a:cubicBezTo>
                        <a:pt x="14" y="4"/>
                        <a:pt x="16" y="4"/>
                        <a:pt x="18" y="22"/>
                      </a:cubicBezTo>
                      <a:cubicBezTo>
                        <a:pt x="16" y="39"/>
                        <a:pt x="15" y="35"/>
                        <a:pt x="4" y="46"/>
                      </a:cubicBezTo>
                      <a:cubicBezTo>
                        <a:pt x="0" y="59"/>
                        <a:pt x="5" y="67"/>
                        <a:pt x="14" y="76"/>
                      </a:cubicBezTo>
                      <a:cubicBezTo>
                        <a:pt x="15" y="80"/>
                        <a:pt x="17" y="93"/>
                        <a:pt x="14" y="9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9" name="Freeform 28"/>
                <p:cNvSpPr>
                  <a:spLocks/>
                </p:cNvSpPr>
                <p:nvPr userDrawn="1"/>
              </p:nvSpPr>
              <p:spPr bwMode="ltGray">
                <a:xfrm>
                  <a:off x="2415" y="644"/>
                  <a:ext cx="32" cy="41"/>
                </a:xfrm>
                <a:custGeom>
                  <a:avLst/>
                  <a:gdLst>
                    <a:gd name="T0" fmla="*/ 6 w 32"/>
                    <a:gd name="T1" fmla="*/ 20 h 50"/>
                    <a:gd name="T2" fmla="*/ 12 w 32"/>
                    <a:gd name="T3" fmla="*/ 0 h 50"/>
                    <a:gd name="T4" fmla="*/ 20 w 32"/>
                    <a:gd name="T5" fmla="*/ 13 h 50"/>
                    <a:gd name="T6" fmla="*/ 22 w 32"/>
                    <a:gd name="T7" fmla="*/ 20 h 50"/>
                    <a:gd name="T8" fmla="*/ 28 w 32"/>
                    <a:gd name="T9" fmla="*/ 21 h 50"/>
                    <a:gd name="T10" fmla="*/ 32 w 32"/>
                    <a:gd name="T11" fmla="*/ 31 h 50"/>
                    <a:gd name="T12" fmla="*/ 18 w 32"/>
                    <a:gd name="T13" fmla="*/ 41 h 50"/>
                    <a:gd name="T14" fmla="*/ 6 w 32"/>
                    <a:gd name="T15" fmla="*/ 20 h 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50">
                      <a:moveTo>
                        <a:pt x="6" y="24"/>
                      </a:moveTo>
                      <a:cubicBezTo>
                        <a:pt x="0" y="15"/>
                        <a:pt x="3" y="6"/>
                        <a:pt x="12" y="0"/>
                      </a:cubicBezTo>
                      <a:cubicBezTo>
                        <a:pt x="23" y="3"/>
                        <a:pt x="23" y="5"/>
                        <a:pt x="20" y="16"/>
                      </a:cubicBezTo>
                      <a:cubicBezTo>
                        <a:pt x="21" y="19"/>
                        <a:pt x="20" y="22"/>
                        <a:pt x="22" y="24"/>
                      </a:cubicBezTo>
                      <a:cubicBezTo>
                        <a:pt x="23" y="26"/>
                        <a:pt x="27" y="24"/>
                        <a:pt x="28" y="26"/>
                      </a:cubicBezTo>
                      <a:cubicBezTo>
                        <a:pt x="30" y="29"/>
                        <a:pt x="32" y="38"/>
                        <a:pt x="32" y="38"/>
                      </a:cubicBezTo>
                      <a:cubicBezTo>
                        <a:pt x="29" y="46"/>
                        <a:pt x="26" y="47"/>
                        <a:pt x="18" y="50"/>
                      </a:cubicBezTo>
                      <a:cubicBezTo>
                        <a:pt x="12" y="41"/>
                        <a:pt x="18" y="24"/>
                        <a:pt x="6"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0" name="Freeform 29"/>
                <p:cNvSpPr>
                  <a:spLocks/>
                </p:cNvSpPr>
                <p:nvPr userDrawn="1"/>
              </p:nvSpPr>
              <p:spPr bwMode="ltGray">
                <a:xfrm>
                  <a:off x="2349" y="654"/>
                  <a:ext cx="45" cy="41"/>
                </a:xfrm>
                <a:custGeom>
                  <a:avLst/>
                  <a:gdLst>
                    <a:gd name="T0" fmla="*/ 0 w 43"/>
                    <a:gd name="T1" fmla="*/ 36 h 50"/>
                    <a:gd name="T2" fmla="*/ 23 w 43"/>
                    <a:gd name="T3" fmla="*/ 16 h 50"/>
                    <a:gd name="T4" fmla="*/ 38 w 43"/>
                    <a:gd name="T5" fmla="*/ 0 h 50"/>
                    <a:gd name="T6" fmla="*/ 25 w 43"/>
                    <a:gd name="T7" fmla="*/ 23 h 50"/>
                    <a:gd name="T8" fmla="*/ 2 w 43"/>
                    <a:gd name="T9" fmla="*/ 41 h 50"/>
                    <a:gd name="T10" fmla="*/ 0 w 43"/>
                    <a:gd name="T11" fmla="*/ 36 h 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50">
                      <a:moveTo>
                        <a:pt x="0" y="44"/>
                      </a:moveTo>
                      <a:cubicBezTo>
                        <a:pt x="6" y="38"/>
                        <a:pt x="18" y="29"/>
                        <a:pt x="22" y="20"/>
                      </a:cubicBezTo>
                      <a:cubicBezTo>
                        <a:pt x="27" y="10"/>
                        <a:pt x="25" y="4"/>
                        <a:pt x="36" y="0"/>
                      </a:cubicBezTo>
                      <a:cubicBezTo>
                        <a:pt x="43" y="11"/>
                        <a:pt x="36" y="24"/>
                        <a:pt x="24" y="28"/>
                      </a:cubicBezTo>
                      <a:cubicBezTo>
                        <a:pt x="21" y="38"/>
                        <a:pt x="12" y="47"/>
                        <a:pt x="2" y="50"/>
                      </a:cubicBezTo>
                      <a:cubicBezTo>
                        <a:pt x="1" y="48"/>
                        <a:pt x="0" y="44"/>
                        <a:pt x="0" y="4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1" name="Freeform 30"/>
                <p:cNvSpPr>
                  <a:spLocks/>
                </p:cNvSpPr>
                <p:nvPr userDrawn="1"/>
              </p:nvSpPr>
              <p:spPr bwMode="ltGray">
                <a:xfrm>
                  <a:off x="4808" y="597"/>
                  <a:ext cx="701" cy="438"/>
                </a:xfrm>
                <a:custGeom>
                  <a:avLst/>
                  <a:gdLst>
                    <a:gd name="T0" fmla="*/ 31 w 471"/>
                    <a:gd name="T1" fmla="*/ 436 h 281"/>
                    <a:gd name="T2" fmla="*/ 36 w 471"/>
                    <a:gd name="T3" fmla="*/ 390 h 281"/>
                    <a:gd name="T4" fmla="*/ 33 w 471"/>
                    <a:gd name="T5" fmla="*/ 382 h 281"/>
                    <a:gd name="T6" fmla="*/ 24 w 471"/>
                    <a:gd name="T7" fmla="*/ 340 h 281"/>
                    <a:gd name="T8" fmla="*/ 6 w 471"/>
                    <a:gd name="T9" fmla="*/ 335 h 281"/>
                    <a:gd name="T10" fmla="*/ 0 w 471"/>
                    <a:gd name="T11" fmla="*/ 298 h 281"/>
                    <a:gd name="T12" fmla="*/ 18 w 471"/>
                    <a:gd name="T13" fmla="*/ 281 h 281"/>
                    <a:gd name="T14" fmla="*/ 9 w 471"/>
                    <a:gd name="T15" fmla="*/ 257 h 281"/>
                    <a:gd name="T16" fmla="*/ 3 w 471"/>
                    <a:gd name="T17" fmla="*/ 249 h 281"/>
                    <a:gd name="T18" fmla="*/ 42 w 471"/>
                    <a:gd name="T19" fmla="*/ 187 h 281"/>
                    <a:gd name="T20" fmla="*/ 65 w 471"/>
                    <a:gd name="T21" fmla="*/ 150 h 281"/>
                    <a:gd name="T22" fmla="*/ 63 w 471"/>
                    <a:gd name="T23" fmla="*/ 109 h 281"/>
                    <a:gd name="T24" fmla="*/ 36 w 471"/>
                    <a:gd name="T25" fmla="*/ 67 h 281"/>
                    <a:gd name="T26" fmla="*/ 30 w 471"/>
                    <a:gd name="T27" fmla="*/ 50 h 281"/>
                    <a:gd name="T28" fmla="*/ 39 w 471"/>
                    <a:gd name="T29" fmla="*/ 56 h 281"/>
                    <a:gd name="T30" fmla="*/ 71 w 471"/>
                    <a:gd name="T31" fmla="*/ 55 h 281"/>
                    <a:gd name="T32" fmla="*/ 95 w 471"/>
                    <a:gd name="T33" fmla="*/ 17 h 281"/>
                    <a:gd name="T34" fmla="*/ 122 w 471"/>
                    <a:gd name="T35" fmla="*/ 0 h 281"/>
                    <a:gd name="T36" fmla="*/ 131 w 471"/>
                    <a:gd name="T37" fmla="*/ 3 h 281"/>
                    <a:gd name="T38" fmla="*/ 137 w 471"/>
                    <a:gd name="T39" fmla="*/ 14 h 281"/>
                    <a:gd name="T40" fmla="*/ 146 w 471"/>
                    <a:gd name="T41" fmla="*/ 8 h 281"/>
                    <a:gd name="T42" fmla="*/ 164 w 471"/>
                    <a:gd name="T43" fmla="*/ 12 h 281"/>
                    <a:gd name="T44" fmla="*/ 173 w 471"/>
                    <a:gd name="T45" fmla="*/ 14 h 281"/>
                    <a:gd name="T46" fmla="*/ 210 w 471"/>
                    <a:gd name="T47" fmla="*/ 22 h 281"/>
                    <a:gd name="T48" fmla="*/ 231 w 471"/>
                    <a:gd name="T49" fmla="*/ 37 h 281"/>
                    <a:gd name="T50" fmla="*/ 249 w 471"/>
                    <a:gd name="T51" fmla="*/ 26 h 281"/>
                    <a:gd name="T52" fmla="*/ 257 w 471"/>
                    <a:gd name="T53" fmla="*/ 22 h 281"/>
                    <a:gd name="T54" fmla="*/ 290 w 471"/>
                    <a:gd name="T55" fmla="*/ 22 h 281"/>
                    <a:gd name="T56" fmla="*/ 314 w 471"/>
                    <a:gd name="T57" fmla="*/ 50 h 281"/>
                    <a:gd name="T58" fmla="*/ 344 w 471"/>
                    <a:gd name="T59" fmla="*/ 92 h 281"/>
                    <a:gd name="T60" fmla="*/ 365 w 471"/>
                    <a:gd name="T61" fmla="*/ 109 h 281"/>
                    <a:gd name="T62" fmla="*/ 382 w 471"/>
                    <a:gd name="T63" fmla="*/ 106 h 281"/>
                    <a:gd name="T64" fmla="*/ 402 w 471"/>
                    <a:gd name="T65" fmla="*/ 101 h 281"/>
                    <a:gd name="T66" fmla="*/ 432 w 471"/>
                    <a:gd name="T67" fmla="*/ 111 h 281"/>
                    <a:gd name="T68" fmla="*/ 446 w 471"/>
                    <a:gd name="T69" fmla="*/ 126 h 281"/>
                    <a:gd name="T70" fmla="*/ 458 w 471"/>
                    <a:gd name="T71" fmla="*/ 140 h 281"/>
                    <a:gd name="T72" fmla="*/ 473 w 471"/>
                    <a:gd name="T73" fmla="*/ 173 h 281"/>
                    <a:gd name="T74" fmla="*/ 479 w 471"/>
                    <a:gd name="T75" fmla="*/ 187 h 281"/>
                    <a:gd name="T76" fmla="*/ 482 w 471"/>
                    <a:gd name="T77" fmla="*/ 195 h 281"/>
                    <a:gd name="T78" fmla="*/ 461 w 471"/>
                    <a:gd name="T79" fmla="*/ 221 h 281"/>
                    <a:gd name="T80" fmla="*/ 479 w 471"/>
                    <a:gd name="T81" fmla="*/ 220 h 281"/>
                    <a:gd name="T82" fmla="*/ 509 w 471"/>
                    <a:gd name="T83" fmla="*/ 242 h 281"/>
                    <a:gd name="T84" fmla="*/ 542 w 471"/>
                    <a:gd name="T85" fmla="*/ 245 h 281"/>
                    <a:gd name="T86" fmla="*/ 566 w 471"/>
                    <a:gd name="T87" fmla="*/ 262 h 281"/>
                    <a:gd name="T88" fmla="*/ 569 w 471"/>
                    <a:gd name="T89" fmla="*/ 268 h 281"/>
                    <a:gd name="T90" fmla="*/ 569 w 471"/>
                    <a:gd name="T91" fmla="*/ 274 h 281"/>
                    <a:gd name="T92" fmla="*/ 586 w 471"/>
                    <a:gd name="T93" fmla="*/ 268 h 281"/>
                    <a:gd name="T94" fmla="*/ 595 w 471"/>
                    <a:gd name="T95" fmla="*/ 267 h 281"/>
                    <a:gd name="T96" fmla="*/ 653 w 471"/>
                    <a:gd name="T97" fmla="*/ 288 h 281"/>
                    <a:gd name="T98" fmla="*/ 665 w 471"/>
                    <a:gd name="T99" fmla="*/ 310 h 281"/>
                    <a:gd name="T100" fmla="*/ 692 w 471"/>
                    <a:gd name="T101" fmla="*/ 313 h 281"/>
                    <a:gd name="T102" fmla="*/ 701 w 471"/>
                    <a:gd name="T103" fmla="*/ 335 h 281"/>
                    <a:gd name="T104" fmla="*/ 671 w 471"/>
                    <a:gd name="T105" fmla="*/ 402 h 281"/>
                    <a:gd name="T106" fmla="*/ 647 w 471"/>
                    <a:gd name="T107" fmla="*/ 438 h 281"/>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71" h="281">
                      <a:moveTo>
                        <a:pt x="21" y="280"/>
                      </a:moveTo>
                      <a:cubicBezTo>
                        <a:pt x="32" y="281"/>
                        <a:pt x="25" y="253"/>
                        <a:pt x="24" y="250"/>
                      </a:cubicBezTo>
                      <a:cubicBezTo>
                        <a:pt x="23" y="248"/>
                        <a:pt x="22" y="245"/>
                        <a:pt x="22" y="245"/>
                      </a:cubicBezTo>
                      <a:cubicBezTo>
                        <a:pt x="21" y="243"/>
                        <a:pt x="20" y="221"/>
                        <a:pt x="16" y="218"/>
                      </a:cubicBezTo>
                      <a:cubicBezTo>
                        <a:pt x="13" y="216"/>
                        <a:pt x="4" y="215"/>
                        <a:pt x="4" y="215"/>
                      </a:cubicBezTo>
                      <a:cubicBezTo>
                        <a:pt x="0" y="207"/>
                        <a:pt x="3" y="200"/>
                        <a:pt x="0" y="191"/>
                      </a:cubicBezTo>
                      <a:cubicBezTo>
                        <a:pt x="2" y="185"/>
                        <a:pt x="7" y="186"/>
                        <a:pt x="12" y="180"/>
                      </a:cubicBezTo>
                      <a:cubicBezTo>
                        <a:pt x="14" y="172"/>
                        <a:pt x="14" y="169"/>
                        <a:pt x="6" y="165"/>
                      </a:cubicBezTo>
                      <a:cubicBezTo>
                        <a:pt x="4" y="163"/>
                        <a:pt x="2" y="162"/>
                        <a:pt x="2" y="160"/>
                      </a:cubicBezTo>
                      <a:cubicBezTo>
                        <a:pt x="2" y="150"/>
                        <a:pt x="16" y="123"/>
                        <a:pt x="28" y="120"/>
                      </a:cubicBezTo>
                      <a:cubicBezTo>
                        <a:pt x="32" y="111"/>
                        <a:pt x="40" y="105"/>
                        <a:pt x="44" y="96"/>
                      </a:cubicBezTo>
                      <a:cubicBezTo>
                        <a:pt x="39" y="83"/>
                        <a:pt x="38" y="85"/>
                        <a:pt x="42" y="70"/>
                      </a:cubicBezTo>
                      <a:cubicBezTo>
                        <a:pt x="38" y="60"/>
                        <a:pt x="34" y="48"/>
                        <a:pt x="24" y="43"/>
                      </a:cubicBezTo>
                      <a:cubicBezTo>
                        <a:pt x="18" y="36"/>
                        <a:pt x="10" y="37"/>
                        <a:pt x="20" y="32"/>
                      </a:cubicBezTo>
                      <a:cubicBezTo>
                        <a:pt x="27" y="34"/>
                        <a:pt x="26" y="32"/>
                        <a:pt x="26" y="36"/>
                      </a:cubicBezTo>
                      <a:cubicBezTo>
                        <a:pt x="34" y="41"/>
                        <a:pt x="39" y="39"/>
                        <a:pt x="48" y="35"/>
                      </a:cubicBezTo>
                      <a:cubicBezTo>
                        <a:pt x="45" y="22"/>
                        <a:pt x="48" y="14"/>
                        <a:pt x="64" y="11"/>
                      </a:cubicBezTo>
                      <a:cubicBezTo>
                        <a:pt x="71" y="8"/>
                        <a:pt x="75" y="3"/>
                        <a:pt x="82" y="0"/>
                      </a:cubicBezTo>
                      <a:cubicBezTo>
                        <a:pt x="84" y="1"/>
                        <a:pt x="88" y="0"/>
                        <a:pt x="88" y="2"/>
                      </a:cubicBezTo>
                      <a:cubicBezTo>
                        <a:pt x="90" y="12"/>
                        <a:pt x="75" y="13"/>
                        <a:pt x="92" y="9"/>
                      </a:cubicBezTo>
                      <a:cubicBezTo>
                        <a:pt x="94" y="8"/>
                        <a:pt x="96" y="5"/>
                        <a:pt x="98" y="5"/>
                      </a:cubicBezTo>
                      <a:cubicBezTo>
                        <a:pt x="102" y="4"/>
                        <a:pt x="106" y="7"/>
                        <a:pt x="110" y="8"/>
                      </a:cubicBezTo>
                      <a:cubicBezTo>
                        <a:pt x="112" y="8"/>
                        <a:pt x="116" y="9"/>
                        <a:pt x="116" y="9"/>
                      </a:cubicBezTo>
                      <a:cubicBezTo>
                        <a:pt x="122" y="16"/>
                        <a:pt x="129" y="13"/>
                        <a:pt x="141" y="14"/>
                      </a:cubicBezTo>
                      <a:cubicBezTo>
                        <a:pt x="143" y="21"/>
                        <a:pt x="147" y="22"/>
                        <a:pt x="155" y="24"/>
                      </a:cubicBezTo>
                      <a:cubicBezTo>
                        <a:pt x="159" y="22"/>
                        <a:pt x="163" y="20"/>
                        <a:pt x="167" y="17"/>
                      </a:cubicBezTo>
                      <a:cubicBezTo>
                        <a:pt x="169" y="16"/>
                        <a:pt x="173" y="14"/>
                        <a:pt x="173" y="14"/>
                      </a:cubicBezTo>
                      <a:cubicBezTo>
                        <a:pt x="195" y="26"/>
                        <a:pt x="175" y="20"/>
                        <a:pt x="195" y="14"/>
                      </a:cubicBezTo>
                      <a:cubicBezTo>
                        <a:pt x="207" y="17"/>
                        <a:pt x="201" y="26"/>
                        <a:pt x="211" y="32"/>
                      </a:cubicBezTo>
                      <a:cubicBezTo>
                        <a:pt x="214" y="38"/>
                        <a:pt x="224" y="55"/>
                        <a:pt x="231" y="59"/>
                      </a:cubicBezTo>
                      <a:cubicBezTo>
                        <a:pt x="241" y="70"/>
                        <a:pt x="235" y="67"/>
                        <a:pt x="245" y="70"/>
                      </a:cubicBezTo>
                      <a:cubicBezTo>
                        <a:pt x="249" y="69"/>
                        <a:pt x="253" y="69"/>
                        <a:pt x="257" y="68"/>
                      </a:cubicBezTo>
                      <a:cubicBezTo>
                        <a:pt x="261" y="67"/>
                        <a:pt x="270" y="65"/>
                        <a:pt x="270" y="65"/>
                      </a:cubicBezTo>
                      <a:cubicBezTo>
                        <a:pt x="278" y="66"/>
                        <a:pt x="283" y="67"/>
                        <a:pt x="290" y="71"/>
                      </a:cubicBezTo>
                      <a:cubicBezTo>
                        <a:pt x="304" y="88"/>
                        <a:pt x="282" y="62"/>
                        <a:pt x="300" y="81"/>
                      </a:cubicBezTo>
                      <a:cubicBezTo>
                        <a:pt x="302" y="84"/>
                        <a:pt x="308" y="90"/>
                        <a:pt x="308" y="90"/>
                      </a:cubicBezTo>
                      <a:cubicBezTo>
                        <a:pt x="311" y="98"/>
                        <a:pt x="315" y="103"/>
                        <a:pt x="318" y="111"/>
                      </a:cubicBezTo>
                      <a:cubicBezTo>
                        <a:pt x="319" y="114"/>
                        <a:pt x="321" y="117"/>
                        <a:pt x="322" y="120"/>
                      </a:cubicBezTo>
                      <a:cubicBezTo>
                        <a:pt x="323" y="122"/>
                        <a:pt x="324" y="125"/>
                        <a:pt x="324" y="125"/>
                      </a:cubicBezTo>
                      <a:cubicBezTo>
                        <a:pt x="321" y="132"/>
                        <a:pt x="313" y="134"/>
                        <a:pt x="310" y="142"/>
                      </a:cubicBezTo>
                      <a:cubicBezTo>
                        <a:pt x="313" y="151"/>
                        <a:pt x="317" y="146"/>
                        <a:pt x="322" y="141"/>
                      </a:cubicBezTo>
                      <a:cubicBezTo>
                        <a:pt x="341" y="143"/>
                        <a:pt x="339" y="142"/>
                        <a:pt x="342" y="155"/>
                      </a:cubicBezTo>
                      <a:cubicBezTo>
                        <a:pt x="351" y="150"/>
                        <a:pt x="355" y="152"/>
                        <a:pt x="364" y="157"/>
                      </a:cubicBezTo>
                      <a:cubicBezTo>
                        <a:pt x="369" y="162"/>
                        <a:pt x="372" y="166"/>
                        <a:pt x="380" y="168"/>
                      </a:cubicBezTo>
                      <a:cubicBezTo>
                        <a:pt x="381" y="169"/>
                        <a:pt x="383" y="171"/>
                        <a:pt x="382" y="172"/>
                      </a:cubicBezTo>
                      <a:cubicBezTo>
                        <a:pt x="380" y="176"/>
                        <a:pt x="368" y="172"/>
                        <a:pt x="382" y="176"/>
                      </a:cubicBezTo>
                      <a:cubicBezTo>
                        <a:pt x="386" y="175"/>
                        <a:pt x="390" y="173"/>
                        <a:pt x="394" y="172"/>
                      </a:cubicBezTo>
                      <a:cubicBezTo>
                        <a:pt x="396" y="172"/>
                        <a:pt x="400" y="171"/>
                        <a:pt x="400" y="171"/>
                      </a:cubicBezTo>
                      <a:cubicBezTo>
                        <a:pt x="413" y="177"/>
                        <a:pt x="427" y="179"/>
                        <a:pt x="439" y="185"/>
                      </a:cubicBezTo>
                      <a:cubicBezTo>
                        <a:pt x="441" y="190"/>
                        <a:pt x="445" y="194"/>
                        <a:pt x="447" y="199"/>
                      </a:cubicBezTo>
                      <a:cubicBezTo>
                        <a:pt x="453" y="198"/>
                        <a:pt x="460" y="195"/>
                        <a:pt x="465" y="201"/>
                      </a:cubicBezTo>
                      <a:cubicBezTo>
                        <a:pt x="468" y="205"/>
                        <a:pt x="471" y="215"/>
                        <a:pt x="471" y="215"/>
                      </a:cubicBezTo>
                      <a:cubicBezTo>
                        <a:pt x="468" y="231"/>
                        <a:pt x="469" y="248"/>
                        <a:pt x="451" y="258"/>
                      </a:cubicBezTo>
                      <a:cubicBezTo>
                        <a:pt x="447" y="262"/>
                        <a:pt x="437" y="275"/>
                        <a:pt x="435" y="281"/>
                      </a:cubicBezTo>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2" name="Freeform 31"/>
                <p:cNvSpPr>
                  <a:spLocks/>
                </p:cNvSpPr>
                <p:nvPr userDrawn="1"/>
              </p:nvSpPr>
              <p:spPr bwMode="ltGray">
                <a:xfrm>
                  <a:off x="3880" y="-7"/>
                  <a:ext cx="984" cy="692"/>
                </a:xfrm>
                <a:custGeom>
                  <a:avLst/>
                  <a:gdLst>
                    <a:gd name="T0" fmla="*/ 406 w 984"/>
                    <a:gd name="T1" fmla="*/ 5 h 844"/>
                    <a:gd name="T2" fmla="*/ 502 w 984"/>
                    <a:gd name="T3" fmla="*/ 28 h 844"/>
                    <a:gd name="T4" fmla="*/ 550 w 984"/>
                    <a:gd name="T5" fmla="*/ 31 h 844"/>
                    <a:gd name="T6" fmla="*/ 578 w 984"/>
                    <a:gd name="T7" fmla="*/ 107 h 844"/>
                    <a:gd name="T8" fmla="*/ 586 w 984"/>
                    <a:gd name="T9" fmla="*/ 74 h 844"/>
                    <a:gd name="T10" fmla="*/ 606 w 984"/>
                    <a:gd name="T11" fmla="*/ 57 h 844"/>
                    <a:gd name="T12" fmla="*/ 642 w 984"/>
                    <a:gd name="T13" fmla="*/ 103 h 844"/>
                    <a:gd name="T14" fmla="*/ 682 w 984"/>
                    <a:gd name="T15" fmla="*/ 80 h 844"/>
                    <a:gd name="T16" fmla="*/ 706 w 984"/>
                    <a:gd name="T17" fmla="*/ 71 h 844"/>
                    <a:gd name="T18" fmla="*/ 762 w 984"/>
                    <a:gd name="T19" fmla="*/ 2 h 844"/>
                    <a:gd name="T20" fmla="*/ 798 w 984"/>
                    <a:gd name="T21" fmla="*/ 57 h 844"/>
                    <a:gd name="T22" fmla="*/ 798 w 984"/>
                    <a:gd name="T23" fmla="*/ 107 h 844"/>
                    <a:gd name="T24" fmla="*/ 790 w 984"/>
                    <a:gd name="T25" fmla="*/ 130 h 844"/>
                    <a:gd name="T26" fmla="*/ 766 w 984"/>
                    <a:gd name="T27" fmla="*/ 133 h 844"/>
                    <a:gd name="T28" fmla="*/ 762 w 984"/>
                    <a:gd name="T29" fmla="*/ 153 h 844"/>
                    <a:gd name="T30" fmla="*/ 802 w 984"/>
                    <a:gd name="T31" fmla="*/ 185 h 844"/>
                    <a:gd name="T32" fmla="*/ 786 w 984"/>
                    <a:gd name="T33" fmla="*/ 264 h 844"/>
                    <a:gd name="T34" fmla="*/ 830 w 984"/>
                    <a:gd name="T35" fmla="*/ 339 h 844"/>
                    <a:gd name="T36" fmla="*/ 854 w 984"/>
                    <a:gd name="T37" fmla="*/ 369 h 844"/>
                    <a:gd name="T38" fmla="*/ 830 w 984"/>
                    <a:gd name="T39" fmla="*/ 369 h 844"/>
                    <a:gd name="T40" fmla="*/ 746 w 984"/>
                    <a:gd name="T41" fmla="*/ 310 h 844"/>
                    <a:gd name="T42" fmla="*/ 678 w 984"/>
                    <a:gd name="T43" fmla="*/ 330 h 844"/>
                    <a:gd name="T44" fmla="*/ 590 w 984"/>
                    <a:gd name="T45" fmla="*/ 362 h 844"/>
                    <a:gd name="T46" fmla="*/ 642 w 984"/>
                    <a:gd name="T47" fmla="*/ 474 h 844"/>
                    <a:gd name="T48" fmla="*/ 710 w 984"/>
                    <a:gd name="T49" fmla="*/ 500 h 844"/>
                    <a:gd name="T50" fmla="*/ 738 w 984"/>
                    <a:gd name="T51" fmla="*/ 451 h 844"/>
                    <a:gd name="T52" fmla="*/ 774 w 984"/>
                    <a:gd name="T53" fmla="*/ 467 h 844"/>
                    <a:gd name="T54" fmla="*/ 766 w 984"/>
                    <a:gd name="T55" fmla="*/ 517 h 844"/>
                    <a:gd name="T56" fmla="*/ 802 w 984"/>
                    <a:gd name="T57" fmla="*/ 549 h 844"/>
                    <a:gd name="T58" fmla="*/ 838 w 984"/>
                    <a:gd name="T59" fmla="*/ 539 h 844"/>
                    <a:gd name="T60" fmla="*/ 922 w 984"/>
                    <a:gd name="T61" fmla="*/ 661 h 844"/>
                    <a:gd name="T62" fmla="*/ 942 w 984"/>
                    <a:gd name="T63" fmla="*/ 677 h 844"/>
                    <a:gd name="T64" fmla="*/ 874 w 984"/>
                    <a:gd name="T65" fmla="*/ 664 h 844"/>
                    <a:gd name="T66" fmla="*/ 830 w 984"/>
                    <a:gd name="T67" fmla="*/ 621 h 844"/>
                    <a:gd name="T68" fmla="*/ 778 w 984"/>
                    <a:gd name="T69" fmla="*/ 582 h 844"/>
                    <a:gd name="T70" fmla="*/ 702 w 984"/>
                    <a:gd name="T71" fmla="*/ 543 h 844"/>
                    <a:gd name="T72" fmla="*/ 614 w 984"/>
                    <a:gd name="T73" fmla="*/ 530 h 844"/>
                    <a:gd name="T74" fmla="*/ 506 w 984"/>
                    <a:gd name="T75" fmla="*/ 487 h 844"/>
                    <a:gd name="T76" fmla="*/ 462 w 984"/>
                    <a:gd name="T77" fmla="*/ 415 h 844"/>
                    <a:gd name="T78" fmla="*/ 430 w 984"/>
                    <a:gd name="T79" fmla="*/ 379 h 844"/>
                    <a:gd name="T80" fmla="*/ 382 w 984"/>
                    <a:gd name="T81" fmla="*/ 353 h 844"/>
                    <a:gd name="T82" fmla="*/ 342 w 984"/>
                    <a:gd name="T83" fmla="*/ 303 h 844"/>
                    <a:gd name="T84" fmla="*/ 354 w 984"/>
                    <a:gd name="T85" fmla="*/ 339 h 844"/>
                    <a:gd name="T86" fmla="*/ 418 w 984"/>
                    <a:gd name="T87" fmla="*/ 405 h 844"/>
                    <a:gd name="T88" fmla="*/ 422 w 984"/>
                    <a:gd name="T89" fmla="*/ 431 h 844"/>
                    <a:gd name="T90" fmla="*/ 394 w 984"/>
                    <a:gd name="T91" fmla="*/ 408 h 844"/>
                    <a:gd name="T92" fmla="*/ 354 w 984"/>
                    <a:gd name="T93" fmla="*/ 382 h 844"/>
                    <a:gd name="T94" fmla="*/ 314 w 984"/>
                    <a:gd name="T95" fmla="*/ 330 h 844"/>
                    <a:gd name="T96" fmla="*/ 266 w 984"/>
                    <a:gd name="T97" fmla="*/ 284 h 844"/>
                    <a:gd name="T98" fmla="*/ 210 w 984"/>
                    <a:gd name="T99" fmla="*/ 257 h 844"/>
                    <a:gd name="T100" fmla="*/ 154 w 984"/>
                    <a:gd name="T101" fmla="*/ 195 h 844"/>
                    <a:gd name="T102" fmla="*/ 66 w 984"/>
                    <a:gd name="T103" fmla="*/ 54 h 844"/>
                    <a:gd name="T104" fmla="*/ 34 w 984"/>
                    <a:gd name="T105" fmla="*/ 31 h 844"/>
                    <a:gd name="T106" fmla="*/ 46 w 984"/>
                    <a:gd name="T107" fmla="*/ 18 h 844"/>
                    <a:gd name="T108" fmla="*/ 102 w 984"/>
                    <a:gd name="T109" fmla="*/ 57 h 84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984" h="844">
                      <a:moveTo>
                        <a:pt x="82" y="38"/>
                      </a:moveTo>
                      <a:lnTo>
                        <a:pt x="406" y="6"/>
                      </a:lnTo>
                      <a:cubicBezTo>
                        <a:pt x="497" y="22"/>
                        <a:pt x="465" y="0"/>
                        <a:pt x="474" y="54"/>
                      </a:cubicBezTo>
                      <a:cubicBezTo>
                        <a:pt x="492" y="48"/>
                        <a:pt x="484" y="40"/>
                        <a:pt x="502" y="34"/>
                      </a:cubicBezTo>
                      <a:cubicBezTo>
                        <a:pt x="510" y="37"/>
                        <a:pt x="517" y="46"/>
                        <a:pt x="526" y="46"/>
                      </a:cubicBezTo>
                      <a:cubicBezTo>
                        <a:pt x="534" y="46"/>
                        <a:pt x="550" y="38"/>
                        <a:pt x="550" y="38"/>
                      </a:cubicBezTo>
                      <a:cubicBezTo>
                        <a:pt x="556" y="55"/>
                        <a:pt x="552" y="60"/>
                        <a:pt x="542" y="74"/>
                      </a:cubicBezTo>
                      <a:cubicBezTo>
                        <a:pt x="555" y="114"/>
                        <a:pt x="550" y="102"/>
                        <a:pt x="578" y="130"/>
                      </a:cubicBezTo>
                      <a:cubicBezTo>
                        <a:pt x="584" y="148"/>
                        <a:pt x="590" y="148"/>
                        <a:pt x="606" y="138"/>
                      </a:cubicBezTo>
                      <a:cubicBezTo>
                        <a:pt x="600" y="119"/>
                        <a:pt x="594" y="107"/>
                        <a:pt x="586" y="90"/>
                      </a:cubicBezTo>
                      <a:cubicBezTo>
                        <a:pt x="583" y="82"/>
                        <a:pt x="578" y="66"/>
                        <a:pt x="578" y="66"/>
                      </a:cubicBezTo>
                      <a:cubicBezTo>
                        <a:pt x="585" y="44"/>
                        <a:pt x="597" y="56"/>
                        <a:pt x="606" y="70"/>
                      </a:cubicBezTo>
                      <a:cubicBezTo>
                        <a:pt x="609" y="86"/>
                        <a:pt x="608" y="117"/>
                        <a:pt x="626" y="90"/>
                      </a:cubicBezTo>
                      <a:cubicBezTo>
                        <a:pt x="648" y="97"/>
                        <a:pt x="646" y="104"/>
                        <a:pt x="642" y="126"/>
                      </a:cubicBezTo>
                      <a:cubicBezTo>
                        <a:pt x="650" y="150"/>
                        <a:pt x="665" y="141"/>
                        <a:pt x="682" y="130"/>
                      </a:cubicBezTo>
                      <a:cubicBezTo>
                        <a:pt x="689" y="108"/>
                        <a:pt x="673" y="124"/>
                        <a:pt x="682" y="98"/>
                      </a:cubicBezTo>
                      <a:cubicBezTo>
                        <a:pt x="683" y="94"/>
                        <a:pt x="690" y="96"/>
                        <a:pt x="694" y="94"/>
                      </a:cubicBezTo>
                      <a:cubicBezTo>
                        <a:pt x="698" y="92"/>
                        <a:pt x="702" y="89"/>
                        <a:pt x="706" y="86"/>
                      </a:cubicBezTo>
                      <a:cubicBezTo>
                        <a:pt x="717" y="54"/>
                        <a:pt x="688" y="54"/>
                        <a:pt x="742" y="46"/>
                      </a:cubicBezTo>
                      <a:cubicBezTo>
                        <a:pt x="748" y="27"/>
                        <a:pt x="741" y="9"/>
                        <a:pt x="762" y="2"/>
                      </a:cubicBezTo>
                      <a:cubicBezTo>
                        <a:pt x="788" y="11"/>
                        <a:pt x="777" y="38"/>
                        <a:pt x="802" y="46"/>
                      </a:cubicBezTo>
                      <a:cubicBezTo>
                        <a:pt x="831" y="36"/>
                        <a:pt x="805" y="63"/>
                        <a:pt x="798" y="70"/>
                      </a:cubicBezTo>
                      <a:cubicBezTo>
                        <a:pt x="789" y="96"/>
                        <a:pt x="787" y="96"/>
                        <a:pt x="802" y="118"/>
                      </a:cubicBezTo>
                      <a:cubicBezTo>
                        <a:pt x="801" y="122"/>
                        <a:pt x="801" y="127"/>
                        <a:pt x="798" y="130"/>
                      </a:cubicBezTo>
                      <a:cubicBezTo>
                        <a:pt x="794" y="133"/>
                        <a:pt x="784" y="129"/>
                        <a:pt x="782" y="134"/>
                      </a:cubicBezTo>
                      <a:cubicBezTo>
                        <a:pt x="780" y="142"/>
                        <a:pt x="790" y="158"/>
                        <a:pt x="790" y="158"/>
                      </a:cubicBezTo>
                      <a:cubicBezTo>
                        <a:pt x="786" y="161"/>
                        <a:pt x="783" y="165"/>
                        <a:pt x="778" y="166"/>
                      </a:cubicBezTo>
                      <a:cubicBezTo>
                        <a:pt x="774" y="167"/>
                        <a:pt x="769" y="159"/>
                        <a:pt x="766" y="162"/>
                      </a:cubicBezTo>
                      <a:cubicBezTo>
                        <a:pt x="758" y="170"/>
                        <a:pt x="794" y="182"/>
                        <a:pt x="794" y="182"/>
                      </a:cubicBezTo>
                      <a:cubicBezTo>
                        <a:pt x="804" y="211"/>
                        <a:pt x="775" y="190"/>
                        <a:pt x="762" y="186"/>
                      </a:cubicBezTo>
                      <a:cubicBezTo>
                        <a:pt x="767" y="194"/>
                        <a:pt x="773" y="202"/>
                        <a:pt x="778" y="210"/>
                      </a:cubicBezTo>
                      <a:cubicBezTo>
                        <a:pt x="783" y="218"/>
                        <a:pt x="802" y="226"/>
                        <a:pt x="802" y="226"/>
                      </a:cubicBezTo>
                      <a:cubicBezTo>
                        <a:pt x="813" y="242"/>
                        <a:pt x="804" y="245"/>
                        <a:pt x="810" y="262"/>
                      </a:cubicBezTo>
                      <a:cubicBezTo>
                        <a:pt x="803" y="282"/>
                        <a:pt x="793" y="301"/>
                        <a:pt x="786" y="322"/>
                      </a:cubicBezTo>
                      <a:cubicBezTo>
                        <a:pt x="783" y="330"/>
                        <a:pt x="778" y="346"/>
                        <a:pt x="778" y="346"/>
                      </a:cubicBezTo>
                      <a:cubicBezTo>
                        <a:pt x="785" y="366"/>
                        <a:pt x="817" y="394"/>
                        <a:pt x="830" y="414"/>
                      </a:cubicBezTo>
                      <a:cubicBezTo>
                        <a:pt x="835" y="422"/>
                        <a:pt x="841" y="430"/>
                        <a:pt x="846" y="438"/>
                      </a:cubicBezTo>
                      <a:cubicBezTo>
                        <a:pt x="849" y="442"/>
                        <a:pt x="854" y="450"/>
                        <a:pt x="854" y="450"/>
                      </a:cubicBezTo>
                      <a:cubicBezTo>
                        <a:pt x="853" y="457"/>
                        <a:pt x="855" y="466"/>
                        <a:pt x="850" y="470"/>
                      </a:cubicBezTo>
                      <a:cubicBezTo>
                        <a:pt x="844" y="475"/>
                        <a:pt x="831" y="451"/>
                        <a:pt x="830" y="450"/>
                      </a:cubicBezTo>
                      <a:cubicBezTo>
                        <a:pt x="811" y="431"/>
                        <a:pt x="789" y="421"/>
                        <a:pt x="774" y="398"/>
                      </a:cubicBezTo>
                      <a:cubicBezTo>
                        <a:pt x="769" y="379"/>
                        <a:pt x="766" y="371"/>
                        <a:pt x="746" y="378"/>
                      </a:cubicBezTo>
                      <a:cubicBezTo>
                        <a:pt x="717" y="368"/>
                        <a:pt x="730" y="368"/>
                        <a:pt x="706" y="374"/>
                      </a:cubicBezTo>
                      <a:cubicBezTo>
                        <a:pt x="688" y="402"/>
                        <a:pt x="699" y="395"/>
                        <a:pt x="678" y="402"/>
                      </a:cubicBezTo>
                      <a:cubicBezTo>
                        <a:pt x="654" y="386"/>
                        <a:pt x="650" y="390"/>
                        <a:pt x="618" y="394"/>
                      </a:cubicBezTo>
                      <a:cubicBezTo>
                        <a:pt x="607" y="411"/>
                        <a:pt x="601" y="426"/>
                        <a:pt x="590" y="442"/>
                      </a:cubicBezTo>
                      <a:cubicBezTo>
                        <a:pt x="600" y="471"/>
                        <a:pt x="593" y="459"/>
                        <a:pt x="606" y="478"/>
                      </a:cubicBezTo>
                      <a:cubicBezTo>
                        <a:pt x="593" y="518"/>
                        <a:pt x="622" y="548"/>
                        <a:pt x="642" y="578"/>
                      </a:cubicBezTo>
                      <a:cubicBezTo>
                        <a:pt x="651" y="591"/>
                        <a:pt x="651" y="601"/>
                        <a:pt x="666" y="606"/>
                      </a:cubicBezTo>
                      <a:cubicBezTo>
                        <a:pt x="680" y="627"/>
                        <a:pt x="691" y="623"/>
                        <a:pt x="710" y="610"/>
                      </a:cubicBezTo>
                      <a:cubicBezTo>
                        <a:pt x="729" y="616"/>
                        <a:pt x="729" y="606"/>
                        <a:pt x="734" y="590"/>
                      </a:cubicBezTo>
                      <a:cubicBezTo>
                        <a:pt x="735" y="577"/>
                        <a:pt x="731" y="562"/>
                        <a:pt x="738" y="550"/>
                      </a:cubicBezTo>
                      <a:cubicBezTo>
                        <a:pt x="742" y="543"/>
                        <a:pt x="762" y="542"/>
                        <a:pt x="762" y="542"/>
                      </a:cubicBezTo>
                      <a:cubicBezTo>
                        <a:pt x="783" y="547"/>
                        <a:pt x="786" y="552"/>
                        <a:pt x="774" y="570"/>
                      </a:cubicBezTo>
                      <a:cubicBezTo>
                        <a:pt x="779" y="590"/>
                        <a:pt x="790" y="605"/>
                        <a:pt x="770" y="618"/>
                      </a:cubicBezTo>
                      <a:cubicBezTo>
                        <a:pt x="769" y="622"/>
                        <a:pt x="764" y="626"/>
                        <a:pt x="766" y="630"/>
                      </a:cubicBezTo>
                      <a:cubicBezTo>
                        <a:pt x="768" y="634"/>
                        <a:pt x="775" y="634"/>
                        <a:pt x="778" y="638"/>
                      </a:cubicBezTo>
                      <a:cubicBezTo>
                        <a:pt x="788" y="651"/>
                        <a:pt x="786" y="660"/>
                        <a:pt x="802" y="670"/>
                      </a:cubicBezTo>
                      <a:cubicBezTo>
                        <a:pt x="810" y="667"/>
                        <a:pt x="818" y="665"/>
                        <a:pt x="826" y="662"/>
                      </a:cubicBezTo>
                      <a:cubicBezTo>
                        <a:pt x="830" y="661"/>
                        <a:pt x="838" y="658"/>
                        <a:pt x="838" y="658"/>
                      </a:cubicBezTo>
                      <a:cubicBezTo>
                        <a:pt x="857" y="664"/>
                        <a:pt x="864" y="680"/>
                        <a:pt x="870" y="698"/>
                      </a:cubicBezTo>
                      <a:cubicBezTo>
                        <a:pt x="859" y="731"/>
                        <a:pt x="887" y="794"/>
                        <a:pt x="922" y="806"/>
                      </a:cubicBezTo>
                      <a:cubicBezTo>
                        <a:pt x="938" y="801"/>
                        <a:pt x="941" y="792"/>
                        <a:pt x="958" y="798"/>
                      </a:cubicBezTo>
                      <a:cubicBezTo>
                        <a:pt x="984" y="837"/>
                        <a:pt x="928" y="784"/>
                        <a:pt x="942" y="826"/>
                      </a:cubicBezTo>
                      <a:cubicBezTo>
                        <a:pt x="936" y="844"/>
                        <a:pt x="930" y="844"/>
                        <a:pt x="914" y="834"/>
                      </a:cubicBezTo>
                      <a:cubicBezTo>
                        <a:pt x="903" y="817"/>
                        <a:pt x="890" y="821"/>
                        <a:pt x="874" y="810"/>
                      </a:cubicBezTo>
                      <a:cubicBezTo>
                        <a:pt x="851" y="776"/>
                        <a:pt x="882" y="816"/>
                        <a:pt x="854" y="794"/>
                      </a:cubicBezTo>
                      <a:cubicBezTo>
                        <a:pt x="843" y="785"/>
                        <a:pt x="840" y="768"/>
                        <a:pt x="830" y="758"/>
                      </a:cubicBezTo>
                      <a:cubicBezTo>
                        <a:pt x="824" y="739"/>
                        <a:pt x="817" y="724"/>
                        <a:pt x="798" y="718"/>
                      </a:cubicBezTo>
                      <a:cubicBezTo>
                        <a:pt x="791" y="696"/>
                        <a:pt x="800" y="712"/>
                        <a:pt x="778" y="710"/>
                      </a:cubicBezTo>
                      <a:cubicBezTo>
                        <a:pt x="767" y="709"/>
                        <a:pt x="746" y="702"/>
                        <a:pt x="746" y="702"/>
                      </a:cubicBezTo>
                      <a:cubicBezTo>
                        <a:pt x="729" y="691"/>
                        <a:pt x="720" y="674"/>
                        <a:pt x="702" y="662"/>
                      </a:cubicBezTo>
                      <a:cubicBezTo>
                        <a:pt x="694" y="665"/>
                        <a:pt x="687" y="673"/>
                        <a:pt x="678" y="674"/>
                      </a:cubicBezTo>
                      <a:cubicBezTo>
                        <a:pt x="657" y="677"/>
                        <a:pt x="630" y="657"/>
                        <a:pt x="614" y="646"/>
                      </a:cubicBezTo>
                      <a:cubicBezTo>
                        <a:pt x="600" y="637"/>
                        <a:pt x="580" y="639"/>
                        <a:pt x="566" y="630"/>
                      </a:cubicBezTo>
                      <a:cubicBezTo>
                        <a:pt x="546" y="617"/>
                        <a:pt x="525" y="607"/>
                        <a:pt x="506" y="594"/>
                      </a:cubicBezTo>
                      <a:cubicBezTo>
                        <a:pt x="513" y="572"/>
                        <a:pt x="509" y="551"/>
                        <a:pt x="490" y="538"/>
                      </a:cubicBezTo>
                      <a:cubicBezTo>
                        <a:pt x="485" y="522"/>
                        <a:pt x="476" y="515"/>
                        <a:pt x="462" y="506"/>
                      </a:cubicBezTo>
                      <a:cubicBezTo>
                        <a:pt x="441" y="474"/>
                        <a:pt x="469" y="513"/>
                        <a:pt x="442" y="486"/>
                      </a:cubicBezTo>
                      <a:cubicBezTo>
                        <a:pt x="436" y="480"/>
                        <a:pt x="436" y="468"/>
                        <a:pt x="430" y="462"/>
                      </a:cubicBezTo>
                      <a:cubicBezTo>
                        <a:pt x="427" y="459"/>
                        <a:pt x="422" y="459"/>
                        <a:pt x="418" y="458"/>
                      </a:cubicBezTo>
                      <a:cubicBezTo>
                        <a:pt x="407" y="447"/>
                        <a:pt x="382" y="430"/>
                        <a:pt x="382" y="430"/>
                      </a:cubicBezTo>
                      <a:cubicBezTo>
                        <a:pt x="371" y="413"/>
                        <a:pt x="358" y="399"/>
                        <a:pt x="346" y="382"/>
                      </a:cubicBezTo>
                      <a:cubicBezTo>
                        <a:pt x="344" y="378"/>
                        <a:pt x="345" y="373"/>
                        <a:pt x="342" y="370"/>
                      </a:cubicBezTo>
                      <a:cubicBezTo>
                        <a:pt x="339" y="367"/>
                        <a:pt x="334" y="367"/>
                        <a:pt x="330" y="366"/>
                      </a:cubicBezTo>
                      <a:cubicBezTo>
                        <a:pt x="322" y="390"/>
                        <a:pt x="342" y="398"/>
                        <a:pt x="354" y="414"/>
                      </a:cubicBezTo>
                      <a:cubicBezTo>
                        <a:pt x="368" y="432"/>
                        <a:pt x="372" y="446"/>
                        <a:pt x="390" y="458"/>
                      </a:cubicBezTo>
                      <a:cubicBezTo>
                        <a:pt x="409" y="487"/>
                        <a:pt x="399" y="475"/>
                        <a:pt x="418" y="494"/>
                      </a:cubicBezTo>
                      <a:cubicBezTo>
                        <a:pt x="423" y="510"/>
                        <a:pt x="428" y="517"/>
                        <a:pt x="442" y="526"/>
                      </a:cubicBezTo>
                      <a:cubicBezTo>
                        <a:pt x="450" y="550"/>
                        <a:pt x="432" y="533"/>
                        <a:pt x="422" y="526"/>
                      </a:cubicBezTo>
                      <a:cubicBezTo>
                        <a:pt x="399" y="492"/>
                        <a:pt x="430" y="532"/>
                        <a:pt x="402" y="510"/>
                      </a:cubicBezTo>
                      <a:cubicBezTo>
                        <a:pt x="398" y="507"/>
                        <a:pt x="397" y="501"/>
                        <a:pt x="394" y="498"/>
                      </a:cubicBezTo>
                      <a:cubicBezTo>
                        <a:pt x="391" y="495"/>
                        <a:pt x="386" y="493"/>
                        <a:pt x="382" y="490"/>
                      </a:cubicBezTo>
                      <a:cubicBezTo>
                        <a:pt x="377" y="474"/>
                        <a:pt x="370" y="471"/>
                        <a:pt x="354" y="466"/>
                      </a:cubicBezTo>
                      <a:cubicBezTo>
                        <a:pt x="344" y="452"/>
                        <a:pt x="340" y="447"/>
                        <a:pt x="346" y="430"/>
                      </a:cubicBezTo>
                      <a:cubicBezTo>
                        <a:pt x="338" y="418"/>
                        <a:pt x="314" y="402"/>
                        <a:pt x="314" y="402"/>
                      </a:cubicBezTo>
                      <a:cubicBezTo>
                        <a:pt x="306" y="390"/>
                        <a:pt x="298" y="378"/>
                        <a:pt x="290" y="366"/>
                      </a:cubicBezTo>
                      <a:cubicBezTo>
                        <a:pt x="284" y="357"/>
                        <a:pt x="273" y="354"/>
                        <a:pt x="266" y="346"/>
                      </a:cubicBezTo>
                      <a:cubicBezTo>
                        <a:pt x="263" y="342"/>
                        <a:pt x="262" y="337"/>
                        <a:pt x="258" y="334"/>
                      </a:cubicBezTo>
                      <a:cubicBezTo>
                        <a:pt x="243" y="324"/>
                        <a:pt x="225" y="324"/>
                        <a:pt x="210" y="314"/>
                      </a:cubicBezTo>
                      <a:cubicBezTo>
                        <a:pt x="201" y="300"/>
                        <a:pt x="194" y="291"/>
                        <a:pt x="178" y="286"/>
                      </a:cubicBezTo>
                      <a:cubicBezTo>
                        <a:pt x="160" y="260"/>
                        <a:pt x="192" y="247"/>
                        <a:pt x="154" y="238"/>
                      </a:cubicBezTo>
                      <a:cubicBezTo>
                        <a:pt x="111" y="209"/>
                        <a:pt x="106" y="149"/>
                        <a:pt x="90" y="102"/>
                      </a:cubicBezTo>
                      <a:cubicBezTo>
                        <a:pt x="86" y="90"/>
                        <a:pt x="76" y="73"/>
                        <a:pt x="66" y="66"/>
                      </a:cubicBezTo>
                      <a:cubicBezTo>
                        <a:pt x="58" y="60"/>
                        <a:pt x="42" y="50"/>
                        <a:pt x="42" y="50"/>
                      </a:cubicBezTo>
                      <a:cubicBezTo>
                        <a:pt x="39" y="46"/>
                        <a:pt x="38" y="41"/>
                        <a:pt x="34" y="38"/>
                      </a:cubicBezTo>
                      <a:cubicBezTo>
                        <a:pt x="27" y="34"/>
                        <a:pt x="10" y="30"/>
                        <a:pt x="10" y="30"/>
                      </a:cubicBezTo>
                      <a:cubicBezTo>
                        <a:pt x="0" y="1"/>
                        <a:pt x="31" y="17"/>
                        <a:pt x="46" y="22"/>
                      </a:cubicBezTo>
                      <a:cubicBezTo>
                        <a:pt x="65" y="51"/>
                        <a:pt x="61" y="41"/>
                        <a:pt x="86" y="58"/>
                      </a:cubicBezTo>
                      <a:cubicBezTo>
                        <a:pt x="94" y="70"/>
                        <a:pt x="94" y="93"/>
                        <a:pt x="102" y="70"/>
                      </a:cubicBezTo>
                      <a:cubicBezTo>
                        <a:pt x="95" y="49"/>
                        <a:pt x="82" y="62"/>
                        <a:pt x="82"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3" name="Freeform 32"/>
                <p:cNvSpPr>
                  <a:spLocks/>
                </p:cNvSpPr>
                <p:nvPr userDrawn="1"/>
              </p:nvSpPr>
              <p:spPr bwMode="ltGray">
                <a:xfrm>
                  <a:off x="3577" y="490"/>
                  <a:ext cx="36" cy="39"/>
                </a:xfrm>
                <a:custGeom>
                  <a:avLst/>
                  <a:gdLst>
                    <a:gd name="T0" fmla="*/ 6 w 36"/>
                    <a:gd name="T1" fmla="*/ 23 h 48"/>
                    <a:gd name="T2" fmla="*/ 10 w 36"/>
                    <a:gd name="T3" fmla="*/ 39 h 48"/>
                    <a:gd name="T4" fmla="*/ 6 w 36"/>
                    <a:gd name="T5" fmla="*/ 23 h 48"/>
                    <a:gd name="T6" fmla="*/ 0 60000 65536"/>
                    <a:gd name="T7" fmla="*/ 0 60000 65536"/>
                    <a:gd name="T8" fmla="*/ 0 60000 65536"/>
                  </a:gdLst>
                  <a:ahLst/>
                  <a:cxnLst>
                    <a:cxn ang="T6">
                      <a:pos x="T0" y="T1"/>
                    </a:cxn>
                    <a:cxn ang="T7">
                      <a:pos x="T2" y="T3"/>
                    </a:cxn>
                    <a:cxn ang="T8">
                      <a:pos x="T4" y="T5"/>
                    </a:cxn>
                  </a:cxnLst>
                  <a:rect l="0" t="0" r="r" b="b"/>
                  <a:pathLst>
                    <a:path w="36" h="48">
                      <a:moveTo>
                        <a:pt x="6" y="28"/>
                      </a:moveTo>
                      <a:cubicBezTo>
                        <a:pt x="25" y="0"/>
                        <a:pt x="36" y="31"/>
                        <a:pt x="10" y="48"/>
                      </a:cubicBezTo>
                      <a:cubicBezTo>
                        <a:pt x="0" y="34"/>
                        <a:pt x="0" y="40"/>
                        <a:pt x="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4" name="Freeform 33"/>
                <p:cNvSpPr>
                  <a:spLocks/>
                </p:cNvSpPr>
                <p:nvPr userDrawn="1"/>
              </p:nvSpPr>
              <p:spPr bwMode="ltGray">
                <a:xfrm>
                  <a:off x="3549" y="475"/>
                  <a:ext cx="38" cy="29"/>
                </a:xfrm>
                <a:custGeom>
                  <a:avLst/>
                  <a:gdLst>
                    <a:gd name="T0" fmla="*/ 0 w 36"/>
                    <a:gd name="T1" fmla="*/ 4 h 37"/>
                    <a:gd name="T2" fmla="*/ 13 w 36"/>
                    <a:gd name="T3" fmla="*/ 1 h 37"/>
                    <a:gd name="T4" fmla="*/ 38 w 36"/>
                    <a:gd name="T5" fmla="*/ 13 h 37"/>
                    <a:gd name="T6" fmla="*/ 8 w 36"/>
                    <a:gd name="T7" fmla="*/ 13 h 37"/>
                    <a:gd name="T8" fmla="*/ 0 w 36"/>
                    <a:gd name="T9" fmla="*/ 4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 h="37">
                      <a:moveTo>
                        <a:pt x="0" y="5"/>
                      </a:moveTo>
                      <a:cubicBezTo>
                        <a:pt x="4" y="4"/>
                        <a:pt x="8" y="0"/>
                        <a:pt x="12" y="1"/>
                      </a:cubicBezTo>
                      <a:cubicBezTo>
                        <a:pt x="21" y="4"/>
                        <a:pt x="36" y="17"/>
                        <a:pt x="36" y="17"/>
                      </a:cubicBezTo>
                      <a:cubicBezTo>
                        <a:pt x="29" y="37"/>
                        <a:pt x="22" y="26"/>
                        <a:pt x="8" y="17"/>
                      </a:cubicBezTo>
                      <a:cubicBezTo>
                        <a:pt x="5" y="13"/>
                        <a:pt x="0" y="5"/>
                        <a:pt x="0" y="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5" name="Freeform 34"/>
                <p:cNvSpPr>
                  <a:spLocks/>
                </p:cNvSpPr>
                <p:nvPr userDrawn="1"/>
              </p:nvSpPr>
              <p:spPr bwMode="ltGray">
                <a:xfrm>
                  <a:off x="4686" y="394"/>
                  <a:ext cx="171" cy="81"/>
                </a:xfrm>
                <a:custGeom>
                  <a:avLst/>
                  <a:gdLst>
                    <a:gd name="T0" fmla="*/ 0 w 170"/>
                    <a:gd name="T1" fmla="*/ 41 h 96"/>
                    <a:gd name="T2" fmla="*/ 28 w 170"/>
                    <a:gd name="T3" fmla="*/ 21 h 96"/>
                    <a:gd name="T4" fmla="*/ 56 w 170"/>
                    <a:gd name="T5" fmla="*/ 18 h 96"/>
                    <a:gd name="T6" fmla="*/ 80 w 170"/>
                    <a:gd name="T7" fmla="*/ 8 h 96"/>
                    <a:gd name="T8" fmla="*/ 64 w 170"/>
                    <a:gd name="T9" fmla="*/ 21 h 96"/>
                    <a:gd name="T10" fmla="*/ 125 w 170"/>
                    <a:gd name="T11" fmla="*/ 41 h 96"/>
                    <a:gd name="T12" fmla="*/ 161 w 170"/>
                    <a:gd name="T13" fmla="*/ 55 h 96"/>
                    <a:gd name="T14" fmla="*/ 117 w 170"/>
                    <a:gd name="T15" fmla="*/ 65 h 96"/>
                    <a:gd name="T16" fmla="*/ 89 w 170"/>
                    <a:gd name="T17" fmla="*/ 48 h 96"/>
                    <a:gd name="T18" fmla="*/ 76 w 170"/>
                    <a:gd name="T19" fmla="*/ 45 h 96"/>
                    <a:gd name="T20" fmla="*/ 24 w 170"/>
                    <a:gd name="T21" fmla="*/ 35 h 96"/>
                    <a:gd name="T22" fmla="*/ 0 w 170"/>
                    <a:gd name="T23" fmla="*/ 41 h 9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0" h="96">
                      <a:moveTo>
                        <a:pt x="0" y="49"/>
                      </a:moveTo>
                      <a:cubicBezTo>
                        <a:pt x="5" y="33"/>
                        <a:pt x="12" y="30"/>
                        <a:pt x="28" y="25"/>
                      </a:cubicBezTo>
                      <a:cubicBezTo>
                        <a:pt x="20" y="0"/>
                        <a:pt x="42" y="16"/>
                        <a:pt x="56" y="21"/>
                      </a:cubicBezTo>
                      <a:cubicBezTo>
                        <a:pt x="56" y="21"/>
                        <a:pt x="77" y="6"/>
                        <a:pt x="80" y="9"/>
                      </a:cubicBezTo>
                      <a:cubicBezTo>
                        <a:pt x="85" y="14"/>
                        <a:pt x="71" y="23"/>
                        <a:pt x="64" y="25"/>
                      </a:cubicBezTo>
                      <a:cubicBezTo>
                        <a:pt x="82" y="37"/>
                        <a:pt x="103" y="42"/>
                        <a:pt x="124" y="49"/>
                      </a:cubicBezTo>
                      <a:cubicBezTo>
                        <a:pt x="136" y="53"/>
                        <a:pt x="160" y="65"/>
                        <a:pt x="160" y="65"/>
                      </a:cubicBezTo>
                      <a:cubicBezTo>
                        <a:pt x="170" y="96"/>
                        <a:pt x="134" y="83"/>
                        <a:pt x="116" y="77"/>
                      </a:cubicBezTo>
                      <a:cubicBezTo>
                        <a:pt x="109" y="57"/>
                        <a:pt x="116" y="66"/>
                        <a:pt x="88" y="57"/>
                      </a:cubicBezTo>
                      <a:cubicBezTo>
                        <a:pt x="84" y="56"/>
                        <a:pt x="76" y="53"/>
                        <a:pt x="76" y="53"/>
                      </a:cubicBezTo>
                      <a:cubicBezTo>
                        <a:pt x="57" y="34"/>
                        <a:pt x="53" y="37"/>
                        <a:pt x="24" y="41"/>
                      </a:cubicBezTo>
                      <a:cubicBezTo>
                        <a:pt x="9" y="51"/>
                        <a:pt x="17" y="49"/>
                        <a:pt x="0" y="4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6" name="Freeform 35"/>
                <p:cNvSpPr>
                  <a:spLocks/>
                </p:cNvSpPr>
                <p:nvPr userDrawn="1"/>
              </p:nvSpPr>
              <p:spPr bwMode="ltGray">
                <a:xfrm>
                  <a:off x="4867" y="460"/>
                  <a:ext cx="138" cy="37"/>
                </a:xfrm>
                <a:custGeom>
                  <a:avLst/>
                  <a:gdLst>
                    <a:gd name="T0" fmla="*/ 0 w 138"/>
                    <a:gd name="T1" fmla="*/ 0 h 44"/>
                    <a:gd name="T2" fmla="*/ 52 w 138"/>
                    <a:gd name="T3" fmla="*/ 3 h 44"/>
                    <a:gd name="T4" fmla="*/ 88 w 138"/>
                    <a:gd name="T5" fmla="*/ 20 h 44"/>
                    <a:gd name="T6" fmla="*/ 112 w 138"/>
                    <a:gd name="T7" fmla="*/ 17 h 44"/>
                    <a:gd name="T8" fmla="*/ 108 w 138"/>
                    <a:gd name="T9" fmla="*/ 37 h 44"/>
                    <a:gd name="T10" fmla="*/ 64 w 138"/>
                    <a:gd name="T11" fmla="*/ 34 h 44"/>
                    <a:gd name="T12" fmla="*/ 0 w 138"/>
                    <a:gd name="T13" fmla="*/ 30 h 44"/>
                    <a:gd name="T14" fmla="*/ 28 w 138"/>
                    <a:gd name="T15" fmla="*/ 17 h 44"/>
                    <a:gd name="T16" fmla="*/ 0 w 138"/>
                    <a:gd name="T17" fmla="*/ 0 h 4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38" h="44">
                      <a:moveTo>
                        <a:pt x="0" y="0"/>
                      </a:moveTo>
                      <a:cubicBezTo>
                        <a:pt x="19" y="3"/>
                        <a:pt x="35" y="10"/>
                        <a:pt x="52" y="4"/>
                      </a:cubicBezTo>
                      <a:cubicBezTo>
                        <a:pt x="87" y="11"/>
                        <a:pt x="61" y="15"/>
                        <a:pt x="88" y="24"/>
                      </a:cubicBezTo>
                      <a:cubicBezTo>
                        <a:pt x="96" y="23"/>
                        <a:pt x="104" y="19"/>
                        <a:pt x="112" y="20"/>
                      </a:cubicBezTo>
                      <a:cubicBezTo>
                        <a:pt x="138" y="23"/>
                        <a:pt x="118" y="41"/>
                        <a:pt x="108" y="44"/>
                      </a:cubicBezTo>
                      <a:cubicBezTo>
                        <a:pt x="78" y="34"/>
                        <a:pt x="92" y="34"/>
                        <a:pt x="64" y="40"/>
                      </a:cubicBezTo>
                      <a:cubicBezTo>
                        <a:pt x="41" y="37"/>
                        <a:pt x="22" y="41"/>
                        <a:pt x="0" y="36"/>
                      </a:cubicBezTo>
                      <a:cubicBezTo>
                        <a:pt x="6" y="11"/>
                        <a:pt x="7" y="27"/>
                        <a:pt x="28" y="20"/>
                      </a:cubicBezTo>
                      <a:cubicBezTo>
                        <a:pt x="17" y="13"/>
                        <a:pt x="0" y="13"/>
                        <a:pt x="0"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7" name="Freeform 36"/>
                <p:cNvSpPr>
                  <a:spLocks/>
                </p:cNvSpPr>
                <p:nvPr userDrawn="1"/>
              </p:nvSpPr>
              <p:spPr bwMode="ltGray">
                <a:xfrm>
                  <a:off x="4794" y="480"/>
                  <a:ext cx="56" cy="34"/>
                </a:xfrm>
                <a:custGeom>
                  <a:avLst/>
                  <a:gdLst>
                    <a:gd name="T0" fmla="*/ 17 w 57"/>
                    <a:gd name="T1" fmla="*/ 20 h 42"/>
                    <a:gd name="T2" fmla="*/ 36 w 57"/>
                    <a:gd name="T3" fmla="*/ 11 h 42"/>
                    <a:gd name="T4" fmla="*/ 17 w 57"/>
                    <a:gd name="T5" fmla="*/ 20 h 42"/>
                    <a:gd name="T6" fmla="*/ 0 60000 65536"/>
                    <a:gd name="T7" fmla="*/ 0 60000 65536"/>
                    <a:gd name="T8" fmla="*/ 0 60000 65536"/>
                  </a:gdLst>
                  <a:ahLst/>
                  <a:cxnLst>
                    <a:cxn ang="T6">
                      <a:pos x="T0" y="T1"/>
                    </a:cxn>
                    <a:cxn ang="T7">
                      <a:pos x="T2" y="T3"/>
                    </a:cxn>
                    <a:cxn ang="T8">
                      <a:pos x="T4" y="T5"/>
                    </a:cxn>
                  </a:cxnLst>
                  <a:rect l="0" t="0" r="r" b="b"/>
                  <a:pathLst>
                    <a:path w="57" h="42">
                      <a:moveTo>
                        <a:pt x="17" y="25"/>
                      </a:moveTo>
                      <a:cubicBezTo>
                        <a:pt x="0" y="0"/>
                        <a:pt x="21" y="9"/>
                        <a:pt x="37" y="13"/>
                      </a:cubicBezTo>
                      <a:cubicBezTo>
                        <a:pt x="57" y="42"/>
                        <a:pt x="30" y="25"/>
                        <a:pt x="1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8" name="Freeform 37"/>
                <p:cNvSpPr>
                  <a:spLocks/>
                </p:cNvSpPr>
                <p:nvPr userDrawn="1"/>
              </p:nvSpPr>
              <p:spPr bwMode="ltGray">
                <a:xfrm>
                  <a:off x="4757" y="375"/>
                  <a:ext cx="37" cy="44"/>
                </a:xfrm>
                <a:custGeom>
                  <a:avLst/>
                  <a:gdLst>
                    <a:gd name="T0" fmla="*/ 18 w 39"/>
                    <a:gd name="T1" fmla="*/ 27 h 52"/>
                    <a:gd name="T2" fmla="*/ 18 w 39"/>
                    <a:gd name="T3" fmla="*/ 0 h 52"/>
                    <a:gd name="T4" fmla="*/ 18 w 39"/>
                    <a:gd name="T5" fmla="*/ 27 h 52"/>
                    <a:gd name="T6" fmla="*/ 0 60000 65536"/>
                    <a:gd name="T7" fmla="*/ 0 60000 65536"/>
                    <a:gd name="T8" fmla="*/ 0 60000 65536"/>
                  </a:gdLst>
                  <a:ahLst/>
                  <a:cxnLst>
                    <a:cxn ang="T6">
                      <a:pos x="T0" y="T1"/>
                    </a:cxn>
                    <a:cxn ang="T7">
                      <a:pos x="T2" y="T3"/>
                    </a:cxn>
                    <a:cxn ang="T8">
                      <a:pos x="T4" y="T5"/>
                    </a:cxn>
                  </a:cxnLst>
                  <a:rect l="0" t="0" r="r" b="b"/>
                  <a:pathLst>
                    <a:path w="39" h="52">
                      <a:moveTo>
                        <a:pt x="19" y="32"/>
                      </a:moveTo>
                      <a:cubicBezTo>
                        <a:pt x="13" y="14"/>
                        <a:pt x="0" y="13"/>
                        <a:pt x="19" y="0"/>
                      </a:cubicBezTo>
                      <a:cubicBezTo>
                        <a:pt x="23" y="5"/>
                        <a:pt x="39" y="52"/>
                        <a:pt x="19"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9" name="Freeform 38"/>
                <p:cNvSpPr>
                  <a:spLocks/>
                </p:cNvSpPr>
                <p:nvPr userDrawn="1"/>
              </p:nvSpPr>
              <p:spPr bwMode="ltGray">
                <a:xfrm>
                  <a:off x="5054" y="507"/>
                  <a:ext cx="45" cy="66"/>
                </a:xfrm>
                <a:custGeom>
                  <a:avLst/>
                  <a:gdLst>
                    <a:gd name="T0" fmla="*/ 4 w 44"/>
                    <a:gd name="T1" fmla="*/ 7 h 80"/>
                    <a:gd name="T2" fmla="*/ 20 w 44"/>
                    <a:gd name="T3" fmla="*/ 27 h 80"/>
                    <a:gd name="T4" fmla="*/ 25 w 44"/>
                    <a:gd name="T5" fmla="*/ 40 h 80"/>
                    <a:gd name="T6" fmla="*/ 37 w 44"/>
                    <a:gd name="T7" fmla="*/ 44 h 80"/>
                    <a:gd name="T8" fmla="*/ 25 w 44"/>
                    <a:gd name="T9" fmla="*/ 60 h 80"/>
                    <a:gd name="T10" fmla="*/ 0 w 44"/>
                    <a:gd name="T11" fmla="*/ 17 h 80"/>
                    <a:gd name="T12" fmla="*/ 4 w 44"/>
                    <a:gd name="T13" fmla="*/ 7 h 8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4" h="80">
                      <a:moveTo>
                        <a:pt x="4" y="9"/>
                      </a:moveTo>
                      <a:cubicBezTo>
                        <a:pt x="9" y="17"/>
                        <a:pt x="18" y="24"/>
                        <a:pt x="20" y="33"/>
                      </a:cubicBezTo>
                      <a:cubicBezTo>
                        <a:pt x="21" y="38"/>
                        <a:pt x="21" y="45"/>
                        <a:pt x="24" y="49"/>
                      </a:cubicBezTo>
                      <a:cubicBezTo>
                        <a:pt x="27" y="52"/>
                        <a:pt x="32" y="52"/>
                        <a:pt x="36" y="53"/>
                      </a:cubicBezTo>
                      <a:cubicBezTo>
                        <a:pt x="41" y="68"/>
                        <a:pt x="44" y="80"/>
                        <a:pt x="24" y="73"/>
                      </a:cubicBezTo>
                      <a:cubicBezTo>
                        <a:pt x="19" y="55"/>
                        <a:pt x="11" y="37"/>
                        <a:pt x="0" y="21"/>
                      </a:cubicBezTo>
                      <a:cubicBezTo>
                        <a:pt x="4" y="4"/>
                        <a:pt x="4" y="0"/>
                        <a:pt x="4"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0" name="Freeform 39"/>
                <p:cNvSpPr>
                  <a:spLocks/>
                </p:cNvSpPr>
                <p:nvPr userDrawn="1"/>
              </p:nvSpPr>
              <p:spPr bwMode="ltGray">
                <a:xfrm>
                  <a:off x="4260" y="6"/>
                  <a:ext cx="480" cy="100"/>
                </a:xfrm>
                <a:custGeom>
                  <a:avLst/>
                  <a:gdLst>
                    <a:gd name="T0" fmla="*/ 327 w 323"/>
                    <a:gd name="T1" fmla="*/ 2 h 64"/>
                    <a:gd name="T2" fmla="*/ 343 w 323"/>
                    <a:gd name="T3" fmla="*/ 13 h 64"/>
                    <a:gd name="T4" fmla="*/ 349 w 323"/>
                    <a:gd name="T5" fmla="*/ 0 h 64"/>
                    <a:gd name="T6" fmla="*/ 394 w 323"/>
                    <a:gd name="T7" fmla="*/ 0 h 64"/>
                    <a:gd name="T8" fmla="*/ 427 w 323"/>
                    <a:gd name="T9" fmla="*/ 27 h 64"/>
                    <a:gd name="T10" fmla="*/ 474 w 323"/>
                    <a:gd name="T11" fmla="*/ 16 h 64"/>
                    <a:gd name="T12" fmla="*/ 467 w 323"/>
                    <a:gd name="T13" fmla="*/ 45 h 64"/>
                    <a:gd name="T14" fmla="*/ 443 w 323"/>
                    <a:gd name="T15" fmla="*/ 72 h 64"/>
                    <a:gd name="T16" fmla="*/ 438 w 323"/>
                    <a:gd name="T17" fmla="*/ 45 h 64"/>
                    <a:gd name="T18" fmla="*/ 427 w 323"/>
                    <a:gd name="T19" fmla="*/ 48 h 64"/>
                    <a:gd name="T20" fmla="*/ 415 w 323"/>
                    <a:gd name="T21" fmla="*/ 45 h 64"/>
                    <a:gd name="T22" fmla="*/ 391 w 323"/>
                    <a:gd name="T23" fmla="*/ 33 h 64"/>
                    <a:gd name="T24" fmla="*/ 339 w 323"/>
                    <a:gd name="T25" fmla="*/ 59 h 64"/>
                    <a:gd name="T26" fmla="*/ 299 w 323"/>
                    <a:gd name="T27" fmla="*/ 69 h 64"/>
                    <a:gd name="T28" fmla="*/ 315 w 323"/>
                    <a:gd name="T29" fmla="*/ 89 h 64"/>
                    <a:gd name="T30" fmla="*/ 279 w 323"/>
                    <a:gd name="T31" fmla="*/ 98 h 64"/>
                    <a:gd name="T32" fmla="*/ 251 w 323"/>
                    <a:gd name="T33" fmla="*/ 95 h 64"/>
                    <a:gd name="T34" fmla="*/ 263 w 323"/>
                    <a:gd name="T35" fmla="*/ 89 h 64"/>
                    <a:gd name="T36" fmla="*/ 254 w 323"/>
                    <a:gd name="T37" fmla="*/ 63 h 64"/>
                    <a:gd name="T38" fmla="*/ 251 w 323"/>
                    <a:gd name="T39" fmla="*/ 48 h 64"/>
                    <a:gd name="T40" fmla="*/ 235 w 323"/>
                    <a:gd name="T41" fmla="*/ 36 h 64"/>
                    <a:gd name="T42" fmla="*/ 211 w 323"/>
                    <a:gd name="T43" fmla="*/ 42 h 64"/>
                    <a:gd name="T44" fmla="*/ 199 w 323"/>
                    <a:gd name="T45" fmla="*/ 42 h 64"/>
                    <a:gd name="T46" fmla="*/ 183 w 323"/>
                    <a:gd name="T47" fmla="*/ 39 h 64"/>
                    <a:gd name="T48" fmla="*/ 123 w 323"/>
                    <a:gd name="T49" fmla="*/ 3 h 64"/>
                    <a:gd name="T50" fmla="*/ 88 w 323"/>
                    <a:gd name="T51" fmla="*/ 22 h 64"/>
                    <a:gd name="T52" fmla="*/ 1 w 323"/>
                    <a:gd name="T53" fmla="*/ 0 h 64"/>
                    <a:gd name="T54" fmla="*/ 327 w 323"/>
                    <a:gd name="T55" fmla="*/ 2 h 6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323" h="64">
                      <a:moveTo>
                        <a:pt x="220" y="1"/>
                      </a:moveTo>
                      <a:cubicBezTo>
                        <a:pt x="215" y="12"/>
                        <a:pt x="225" y="17"/>
                        <a:pt x="231" y="8"/>
                      </a:cubicBezTo>
                      <a:cubicBezTo>
                        <a:pt x="235" y="0"/>
                        <a:pt x="229" y="7"/>
                        <a:pt x="235" y="0"/>
                      </a:cubicBezTo>
                      <a:lnTo>
                        <a:pt x="265" y="0"/>
                      </a:lnTo>
                      <a:cubicBezTo>
                        <a:pt x="277" y="6"/>
                        <a:pt x="276" y="11"/>
                        <a:pt x="287" y="17"/>
                      </a:cubicBezTo>
                      <a:cubicBezTo>
                        <a:pt x="308" y="11"/>
                        <a:pt x="293" y="7"/>
                        <a:pt x="319" y="10"/>
                      </a:cubicBezTo>
                      <a:cubicBezTo>
                        <a:pt x="323" y="19"/>
                        <a:pt x="321" y="22"/>
                        <a:pt x="314" y="29"/>
                      </a:cubicBezTo>
                      <a:cubicBezTo>
                        <a:pt x="312" y="39"/>
                        <a:pt x="313" y="50"/>
                        <a:pt x="298" y="46"/>
                      </a:cubicBezTo>
                      <a:cubicBezTo>
                        <a:pt x="297" y="40"/>
                        <a:pt x="298" y="34"/>
                        <a:pt x="295" y="29"/>
                      </a:cubicBezTo>
                      <a:cubicBezTo>
                        <a:pt x="294" y="27"/>
                        <a:pt x="290" y="31"/>
                        <a:pt x="287" y="31"/>
                      </a:cubicBezTo>
                      <a:cubicBezTo>
                        <a:pt x="284" y="31"/>
                        <a:pt x="282" y="30"/>
                        <a:pt x="279" y="29"/>
                      </a:cubicBezTo>
                      <a:cubicBezTo>
                        <a:pt x="274" y="27"/>
                        <a:pt x="263" y="21"/>
                        <a:pt x="263" y="21"/>
                      </a:cubicBezTo>
                      <a:cubicBezTo>
                        <a:pt x="249" y="23"/>
                        <a:pt x="241" y="31"/>
                        <a:pt x="228" y="38"/>
                      </a:cubicBezTo>
                      <a:cubicBezTo>
                        <a:pt x="220" y="41"/>
                        <a:pt x="209" y="42"/>
                        <a:pt x="201" y="44"/>
                      </a:cubicBezTo>
                      <a:cubicBezTo>
                        <a:pt x="193" y="54"/>
                        <a:pt x="200" y="53"/>
                        <a:pt x="212" y="57"/>
                      </a:cubicBezTo>
                      <a:cubicBezTo>
                        <a:pt x="200" y="62"/>
                        <a:pt x="199" y="57"/>
                        <a:pt x="188" y="63"/>
                      </a:cubicBezTo>
                      <a:cubicBezTo>
                        <a:pt x="181" y="62"/>
                        <a:pt x="174" y="64"/>
                        <a:pt x="169" y="61"/>
                      </a:cubicBezTo>
                      <a:cubicBezTo>
                        <a:pt x="166" y="59"/>
                        <a:pt x="175" y="59"/>
                        <a:pt x="177" y="57"/>
                      </a:cubicBezTo>
                      <a:cubicBezTo>
                        <a:pt x="181" y="48"/>
                        <a:pt x="149" y="28"/>
                        <a:pt x="171" y="40"/>
                      </a:cubicBezTo>
                      <a:cubicBezTo>
                        <a:pt x="184" y="55"/>
                        <a:pt x="184" y="36"/>
                        <a:pt x="169" y="31"/>
                      </a:cubicBezTo>
                      <a:cubicBezTo>
                        <a:pt x="167" y="27"/>
                        <a:pt x="167" y="22"/>
                        <a:pt x="158" y="23"/>
                      </a:cubicBezTo>
                      <a:cubicBezTo>
                        <a:pt x="153" y="23"/>
                        <a:pt x="142" y="27"/>
                        <a:pt x="142" y="27"/>
                      </a:cubicBezTo>
                      <a:cubicBezTo>
                        <a:pt x="136" y="39"/>
                        <a:pt x="143" y="31"/>
                        <a:pt x="134" y="27"/>
                      </a:cubicBezTo>
                      <a:cubicBezTo>
                        <a:pt x="130" y="25"/>
                        <a:pt x="126" y="25"/>
                        <a:pt x="123" y="25"/>
                      </a:cubicBezTo>
                      <a:cubicBezTo>
                        <a:pt x="117" y="11"/>
                        <a:pt x="100" y="6"/>
                        <a:pt x="83" y="2"/>
                      </a:cubicBezTo>
                      <a:cubicBezTo>
                        <a:pt x="70" y="4"/>
                        <a:pt x="69" y="9"/>
                        <a:pt x="59" y="14"/>
                      </a:cubicBezTo>
                      <a:cubicBezTo>
                        <a:pt x="45" y="14"/>
                        <a:pt x="0" y="12"/>
                        <a:pt x="1" y="0"/>
                      </a:cubicBezTo>
                      <a:lnTo>
                        <a:pt x="220"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1" name="Freeform 40"/>
                <p:cNvSpPr>
                  <a:spLocks/>
                </p:cNvSpPr>
                <p:nvPr userDrawn="1"/>
              </p:nvSpPr>
              <p:spPr bwMode="ltGray">
                <a:xfrm>
                  <a:off x="3835" y="3"/>
                  <a:ext cx="446" cy="49"/>
                </a:xfrm>
                <a:custGeom>
                  <a:avLst/>
                  <a:gdLst>
                    <a:gd name="T0" fmla="*/ 156 w 300"/>
                    <a:gd name="T1" fmla="*/ 49 h 31"/>
                    <a:gd name="T2" fmla="*/ 45 w 300"/>
                    <a:gd name="T3" fmla="*/ 2 h 31"/>
                    <a:gd name="T4" fmla="*/ 424 w 300"/>
                    <a:gd name="T5" fmla="*/ 0 h 31"/>
                    <a:gd name="T6" fmla="*/ 440 w 300"/>
                    <a:gd name="T7" fmla="*/ 22 h 31"/>
                    <a:gd name="T8" fmla="*/ 392 w 300"/>
                    <a:gd name="T9" fmla="*/ 25 h 31"/>
                    <a:gd name="T10" fmla="*/ 156 w 300"/>
                    <a:gd name="T11" fmla="*/ 49 h 3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00" h="31">
                      <a:moveTo>
                        <a:pt x="105" y="31"/>
                      </a:moveTo>
                      <a:cubicBezTo>
                        <a:pt x="83" y="19"/>
                        <a:pt x="0" y="6"/>
                        <a:pt x="30" y="1"/>
                      </a:cubicBezTo>
                      <a:lnTo>
                        <a:pt x="285" y="0"/>
                      </a:lnTo>
                      <a:cubicBezTo>
                        <a:pt x="296" y="4"/>
                        <a:pt x="300" y="5"/>
                        <a:pt x="296" y="14"/>
                      </a:cubicBezTo>
                      <a:cubicBezTo>
                        <a:pt x="285" y="11"/>
                        <a:pt x="276" y="16"/>
                        <a:pt x="264" y="16"/>
                      </a:cubicBezTo>
                      <a:lnTo>
                        <a:pt x="105" y="3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2" name="Freeform 41"/>
                <p:cNvSpPr>
                  <a:spLocks/>
                </p:cNvSpPr>
                <p:nvPr userDrawn="1"/>
              </p:nvSpPr>
              <p:spPr bwMode="ltGray">
                <a:xfrm>
                  <a:off x="2853" y="74"/>
                  <a:ext cx="42" cy="25"/>
                </a:xfrm>
                <a:custGeom>
                  <a:avLst/>
                  <a:gdLst>
                    <a:gd name="T0" fmla="*/ 0 w 41"/>
                    <a:gd name="T1" fmla="*/ 22 h 29"/>
                    <a:gd name="T2" fmla="*/ 12 w 41"/>
                    <a:gd name="T3" fmla="*/ 25 h 29"/>
                    <a:gd name="T4" fmla="*/ 0 w 41"/>
                    <a:gd name="T5" fmla="*/ 22 h 29"/>
                    <a:gd name="T6" fmla="*/ 0 60000 65536"/>
                    <a:gd name="T7" fmla="*/ 0 60000 65536"/>
                    <a:gd name="T8" fmla="*/ 0 60000 65536"/>
                  </a:gdLst>
                  <a:ahLst/>
                  <a:cxnLst>
                    <a:cxn ang="T6">
                      <a:pos x="T0" y="T1"/>
                    </a:cxn>
                    <a:cxn ang="T7">
                      <a:pos x="T2" y="T3"/>
                    </a:cxn>
                    <a:cxn ang="T8">
                      <a:pos x="T4" y="T5"/>
                    </a:cxn>
                  </a:cxnLst>
                  <a:rect l="0" t="0" r="r" b="b"/>
                  <a:pathLst>
                    <a:path w="41" h="29">
                      <a:moveTo>
                        <a:pt x="0" y="25"/>
                      </a:moveTo>
                      <a:cubicBezTo>
                        <a:pt x="10" y="11"/>
                        <a:pt x="41" y="0"/>
                        <a:pt x="12" y="29"/>
                      </a:cubicBezTo>
                      <a:cubicBezTo>
                        <a:pt x="8" y="28"/>
                        <a:pt x="0" y="25"/>
                        <a:pt x="0"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3" name="Freeform 42"/>
                <p:cNvSpPr>
                  <a:spLocks/>
                </p:cNvSpPr>
                <p:nvPr userDrawn="1"/>
              </p:nvSpPr>
              <p:spPr bwMode="ltGray">
                <a:xfrm>
                  <a:off x="1704" y="3"/>
                  <a:ext cx="1022" cy="372"/>
                </a:xfrm>
                <a:custGeom>
                  <a:avLst/>
                  <a:gdLst>
                    <a:gd name="T0" fmla="*/ 171 w 436"/>
                    <a:gd name="T1" fmla="*/ 2 h 152"/>
                    <a:gd name="T2" fmla="*/ 1022 w 436"/>
                    <a:gd name="T3" fmla="*/ 0 h 152"/>
                    <a:gd name="T4" fmla="*/ 975 w 436"/>
                    <a:gd name="T5" fmla="*/ 132 h 152"/>
                    <a:gd name="T6" fmla="*/ 931 w 436"/>
                    <a:gd name="T7" fmla="*/ 166 h 152"/>
                    <a:gd name="T8" fmla="*/ 919 w 436"/>
                    <a:gd name="T9" fmla="*/ 171 h 152"/>
                    <a:gd name="T10" fmla="*/ 879 w 436"/>
                    <a:gd name="T11" fmla="*/ 179 h 152"/>
                    <a:gd name="T12" fmla="*/ 846 w 436"/>
                    <a:gd name="T13" fmla="*/ 215 h 152"/>
                    <a:gd name="T14" fmla="*/ 849 w 436"/>
                    <a:gd name="T15" fmla="*/ 242 h 152"/>
                    <a:gd name="T16" fmla="*/ 853 w 436"/>
                    <a:gd name="T17" fmla="*/ 262 h 152"/>
                    <a:gd name="T18" fmla="*/ 858 w 436"/>
                    <a:gd name="T19" fmla="*/ 277 h 152"/>
                    <a:gd name="T20" fmla="*/ 849 w 436"/>
                    <a:gd name="T21" fmla="*/ 299 h 152"/>
                    <a:gd name="T22" fmla="*/ 823 w 436"/>
                    <a:gd name="T23" fmla="*/ 294 h 152"/>
                    <a:gd name="T24" fmla="*/ 802 w 436"/>
                    <a:gd name="T25" fmla="*/ 316 h 152"/>
                    <a:gd name="T26" fmla="*/ 813 w 436"/>
                    <a:gd name="T27" fmla="*/ 257 h 152"/>
                    <a:gd name="T28" fmla="*/ 792 w 436"/>
                    <a:gd name="T29" fmla="*/ 245 h 152"/>
                    <a:gd name="T30" fmla="*/ 806 w 436"/>
                    <a:gd name="T31" fmla="*/ 228 h 152"/>
                    <a:gd name="T32" fmla="*/ 802 w 436"/>
                    <a:gd name="T33" fmla="*/ 218 h 152"/>
                    <a:gd name="T34" fmla="*/ 750 w 436"/>
                    <a:gd name="T35" fmla="*/ 230 h 152"/>
                    <a:gd name="T36" fmla="*/ 743 w 436"/>
                    <a:gd name="T37" fmla="*/ 208 h 152"/>
                    <a:gd name="T38" fmla="*/ 696 w 436"/>
                    <a:gd name="T39" fmla="*/ 230 h 152"/>
                    <a:gd name="T40" fmla="*/ 750 w 436"/>
                    <a:gd name="T41" fmla="*/ 252 h 152"/>
                    <a:gd name="T42" fmla="*/ 715 w 436"/>
                    <a:gd name="T43" fmla="*/ 286 h 152"/>
                    <a:gd name="T44" fmla="*/ 729 w 436"/>
                    <a:gd name="T45" fmla="*/ 308 h 152"/>
                    <a:gd name="T46" fmla="*/ 738 w 436"/>
                    <a:gd name="T47" fmla="*/ 338 h 152"/>
                    <a:gd name="T48" fmla="*/ 724 w 436"/>
                    <a:gd name="T49" fmla="*/ 340 h 152"/>
                    <a:gd name="T50" fmla="*/ 736 w 436"/>
                    <a:gd name="T51" fmla="*/ 352 h 152"/>
                    <a:gd name="T52" fmla="*/ 720 w 436"/>
                    <a:gd name="T53" fmla="*/ 372 h 152"/>
                    <a:gd name="T54" fmla="*/ 0 w 436"/>
                    <a:gd name="T55" fmla="*/ 365 h 152"/>
                    <a:gd name="T56" fmla="*/ 171 w 436"/>
                    <a:gd name="T57" fmla="*/ 2 h 1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36" h="152">
                      <a:moveTo>
                        <a:pt x="73" y="1"/>
                      </a:moveTo>
                      <a:lnTo>
                        <a:pt x="436" y="0"/>
                      </a:lnTo>
                      <a:cubicBezTo>
                        <a:pt x="430" y="15"/>
                        <a:pt x="429" y="42"/>
                        <a:pt x="416" y="54"/>
                      </a:cubicBezTo>
                      <a:cubicBezTo>
                        <a:pt x="410" y="60"/>
                        <a:pt x="405" y="63"/>
                        <a:pt x="397" y="68"/>
                      </a:cubicBezTo>
                      <a:cubicBezTo>
                        <a:pt x="396" y="69"/>
                        <a:pt x="392" y="70"/>
                        <a:pt x="392" y="70"/>
                      </a:cubicBezTo>
                      <a:cubicBezTo>
                        <a:pt x="377" y="63"/>
                        <a:pt x="385" y="68"/>
                        <a:pt x="375" y="73"/>
                      </a:cubicBezTo>
                      <a:cubicBezTo>
                        <a:pt x="371" y="82"/>
                        <a:pt x="371" y="83"/>
                        <a:pt x="361" y="88"/>
                      </a:cubicBezTo>
                      <a:cubicBezTo>
                        <a:pt x="359" y="92"/>
                        <a:pt x="364" y="93"/>
                        <a:pt x="362" y="99"/>
                      </a:cubicBezTo>
                      <a:cubicBezTo>
                        <a:pt x="363" y="102"/>
                        <a:pt x="364" y="105"/>
                        <a:pt x="364" y="107"/>
                      </a:cubicBezTo>
                      <a:cubicBezTo>
                        <a:pt x="365" y="109"/>
                        <a:pt x="366" y="111"/>
                        <a:pt x="366" y="113"/>
                      </a:cubicBezTo>
                      <a:cubicBezTo>
                        <a:pt x="365" y="115"/>
                        <a:pt x="364" y="120"/>
                        <a:pt x="362" y="122"/>
                      </a:cubicBezTo>
                      <a:cubicBezTo>
                        <a:pt x="359" y="123"/>
                        <a:pt x="354" y="119"/>
                        <a:pt x="351" y="120"/>
                      </a:cubicBezTo>
                      <a:cubicBezTo>
                        <a:pt x="347" y="129"/>
                        <a:pt x="352" y="127"/>
                        <a:pt x="342" y="129"/>
                      </a:cubicBezTo>
                      <a:cubicBezTo>
                        <a:pt x="340" y="123"/>
                        <a:pt x="345" y="111"/>
                        <a:pt x="347" y="105"/>
                      </a:cubicBezTo>
                      <a:cubicBezTo>
                        <a:pt x="347" y="100"/>
                        <a:pt x="338" y="102"/>
                        <a:pt x="338" y="100"/>
                      </a:cubicBezTo>
                      <a:cubicBezTo>
                        <a:pt x="338" y="98"/>
                        <a:pt x="344" y="95"/>
                        <a:pt x="344" y="93"/>
                      </a:cubicBezTo>
                      <a:cubicBezTo>
                        <a:pt x="344" y="92"/>
                        <a:pt x="344" y="89"/>
                        <a:pt x="342" y="89"/>
                      </a:cubicBezTo>
                      <a:cubicBezTo>
                        <a:pt x="339" y="89"/>
                        <a:pt x="324" y="94"/>
                        <a:pt x="320" y="94"/>
                      </a:cubicBezTo>
                      <a:cubicBezTo>
                        <a:pt x="317" y="86"/>
                        <a:pt x="328" y="88"/>
                        <a:pt x="317" y="85"/>
                      </a:cubicBezTo>
                      <a:cubicBezTo>
                        <a:pt x="311" y="91"/>
                        <a:pt x="306" y="93"/>
                        <a:pt x="297" y="94"/>
                      </a:cubicBezTo>
                      <a:cubicBezTo>
                        <a:pt x="300" y="104"/>
                        <a:pt x="307" y="101"/>
                        <a:pt x="320" y="103"/>
                      </a:cubicBezTo>
                      <a:cubicBezTo>
                        <a:pt x="318" y="109"/>
                        <a:pt x="311" y="111"/>
                        <a:pt x="305" y="117"/>
                      </a:cubicBezTo>
                      <a:lnTo>
                        <a:pt x="311" y="126"/>
                      </a:lnTo>
                      <a:lnTo>
                        <a:pt x="315" y="138"/>
                      </a:lnTo>
                      <a:lnTo>
                        <a:pt x="309" y="139"/>
                      </a:lnTo>
                      <a:lnTo>
                        <a:pt x="314" y="144"/>
                      </a:lnTo>
                      <a:lnTo>
                        <a:pt x="307" y="152"/>
                      </a:lnTo>
                      <a:lnTo>
                        <a:pt x="0" y="149"/>
                      </a:lnTo>
                      <a:lnTo>
                        <a:pt x="73"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4" name="Freeform 43"/>
                <p:cNvSpPr>
                  <a:spLocks/>
                </p:cNvSpPr>
                <p:nvPr userDrawn="1"/>
              </p:nvSpPr>
              <p:spPr bwMode="ltGray">
                <a:xfrm>
                  <a:off x="2729" y="-9"/>
                  <a:ext cx="47" cy="134"/>
                </a:xfrm>
                <a:custGeom>
                  <a:avLst/>
                  <a:gdLst>
                    <a:gd name="T0" fmla="*/ 5 w 47"/>
                    <a:gd name="T1" fmla="*/ 127 h 165"/>
                    <a:gd name="T2" fmla="*/ 15 w 47"/>
                    <a:gd name="T3" fmla="*/ 88 h 165"/>
                    <a:gd name="T4" fmla="*/ 17 w 47"/>
                    <a:gd name="T5" fmla="*/ 55 h 165"/>
                    <a:gd name="T6" fmla="*/ 11 w 47"/>
                    <a:gd name="T7" fmla="*/ 32 h 165"/>
                    <a:gd name="T8" fmla="*/ 17 w 47"/>
                    <a:gd name="T9" fmla="*/ 10 h 165"/>
                    <a:gd name="T10" fmla="*/ 21 w 47"/>
                    <a:gd name="T11" fmla="*/ 0 h 165"/>
                    <a:gd name="T12" fmla="*/ 31 w 47"/>
                    <a:gd name="T13" fmla="*/ 24 h 165"/>
                    <a:gd name="T14" fmla="*/ 47 w 47"/>
                    <a:gd name="T15" fmla="*/ 80 h 165"/>
                    <a:gd name="T16" fmla="*/ 31 w 47"/>
                    <a:gd name="T17" fmla="*/ 88 h 165"/>
                    <a:gd name="T18" fmla="*/ 23 w 47"/>
                    <a:gd name="T19" fmla="*/ 102 h 165"/>
                    <a:gd name="T20" fmla="*/ 21 w 47"/>
                    <a:gd name="T21" fmla="*/ 107 h 165"/>
                    <a:gd name="T22" fmla="*/ 27 w 47"/>
                    <a:gd name="T23" fmla="*/ 109 h 165"/>
                    <a:gd name="T24" fmla="*/ 31 w 47"/>
                    <a:gd name="T25" fmla="*/ 119 h 165"/>
                    <a:gd name="T26" fmla="*/ 13 w 47"/>
                    <a:gd name="T27" fmla="*/ 120 h 165"/>
                    <a:gd name="T28" fmla="*/ 7 w 47"/>
                    <a:gd name="T29" fmla="*/ 130 h 165"/>
                    <a:gd name="T30" fmla="*/ 3 w 47"/>
                    <a:gd name="T31" fmla="*/ 125 h 165"/>
                    <a:gd name="T32" fmla="*/ 5 w 47"/>
                    <a:gd name="T33" fmla="*/ 127 h 1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7" h="165">
                      <a:moveTo>
                        <a:pt x="5" y="156"/>
                      </a:moveTo>
                      <a:cubicBezTo>
                        <a:pt x="0" y="141"/>
                        <a:pt x="1" y="118"/>
                        <a:pt x="15" y="108"/>
                      </a:cubicBezTo>
                      <a:cubicBezTo>
                        <a:pt x="16" y="95"/>
                        <a:pt x="17" y="81"/>
                        <a:pt x="17" y="68"/>
                      </a:cubicBezTo>
                      <a:cubicBezTo>
                        <a:pt x="17" y="58"/>
                        <a:pt x="11" y="40"/>
                        <a:pt x="11" y="40"/>
                      </a:cubicBezTo>
                      <a:cubicBezTo>
                        <a:pt x="14" y="20"/>
                        <a:pt x="11" y="29"/>
                        <a:pt x="17" y="12"/>
                      </a:cubicBezTo>
                      <a:cubicBezTo>
                        <a:pt x="18" y="8"/>
                        <a:pt x="21" y="0"/>
                        <a:pt x="21" y="0"/>
                      </a:cubicBezTo>
                      <a:cubicBezTo>
                        <a:pt x="38" y="6"/>
                        <a:pt x="33" y="7"/>
                        <a:pt x="31" y="30"/>
                      </a:cubicBezTo>
                      <a:cubicBezTo>
                        <a:pt x="38" y="52"/>
                        <a:pt x="40" y="76"/>
                        <a:pt x="47" y="98"/>
                      </a:cubicBezTo>
                      <a:cubicBezTo>
                        <a:pt x="44" y="116"/>
                        <a:pt x="45" y="113"/>
                        <a:pt x="31" y="108"/>
                      </a:cubicBezTo>
                      <a:cubicBezTo>
                        <a:pt x="25" y="118"/>
                        <a:pt x="28" y="112"/>
                        <a:pt x="23" y="126"/>
                      </a:cubicBezTo>
                      <a:cubicBezTo>
                        <a:pt x="22" y="128"/>
                        <a:pt x="21" y="132"/>
                        <a:pt x="21" y="132"/>
                      </a:cubicBezTo>
                      <a:cubicBezTo>
                        <a:pt x="23" y="133"/>
                        <a:pt x="26" y="132"/>
                        <a:pt x="27" y="134"/>
                      </a:cubicBezTo>
                      <a:cubicBezTo>
                        <a:pt x="29" y="137"/>
                        <a:pt x="31" y="146"/>
                        <a:pt x="31" y="146"/>
                      </a:cubicBezTo>
                      <a:cubicBezTo>
                        <a:pt x="27" y="165"/>
                        <a:pt x="23" y="155"/>
                        <a:pt x="13" y="148"/>
                      </a:cubicBezTo>
                      <a:cubicBezTo>
                        <a:pt x="11" y="152"/>
                        <a:pt x="11" y="160"/>
                        <a:pt x="7" y="160"/>
                      </a:cubicBezTo>
                      <a:cubicBezTo>
                        <a:pt x="5" y="160"/>
                        <a:pt x="4" y="156"/>
                        <a:pt x="3" y="154"/>
                      </a:cubicBezTo>
                      <a:cubicBezTo>
                        <a:pt x="3" y="153"/>
                        <a:pt x="4" y="155"/>
                        <a:pt x="5" y="15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5" name="Freeform 44"/>
                <p:cNvSpPr>
                  <a:spLocks/>
                </p:cNvSpPr>
                <p:nvPr userDrawn="1"/>
              </p:nvSpPr>
              <p:spPr bwMode="ltGray">
                <a:xfrm>
                  <a:off x="2701" y="103"/>
                  <a:ext cx="138" cy="84"/>
                </a:xfrm>
                <a:custGeom>
                  <a:avLst/>
                  <a:gdLst>
                    <a:gd name="T0" fmla="*/ 26 w 138"/>
                    <a:gd name="T1" fmla="*/ 50 h 103"/>
                    <a:gd name="T2" fmla="*/ 30 w 138"/>
                    <a:gd name="T3" fmla="*/ 35 h 103"/>
                    <a:gd name="T4" fmla="*/ 50 w 138"/>
                    <a:gd name="T5" fmla="*/ 27 h 103"/>
                    <a:gd name="T6" fmla="*/ 54 w 138"/>
                    <a:gd name="T7" fmla="*/ 37 h 103"/>
                    <a:gd name="T8" fmla="*/ 66 w 138"/>
                    <a:gd name="T9" fmla="*/ 40 h 103"/>
                    <a:gd name="T10" fmla="*/ 80 w 138"/>
                    <a:gd name="T11" fmla="*/ 45 h 103"/>
                    <a:gd name="T12" fmla="*/ 116 w 138"/>
                    <a:gd name="T13" fmla="*/ 27 h 103"/>
                    <a:gd name="T14" fmla="*/ 130 w 138"/>
                    <a:gd name="T15" fmla="*/ 14 h 103"/>
                    <a:gd name="T16" fmla="*/ 138 w 138"/>
                    <a:gd name="T17" fmla="*/ 9 h 103"/>
                    <a:gd name="T18" fmla="*/ 106 w 138"/>
                    <a:gd name="T19" fmla="*/ 40 h 103"/>
                    <a:gd name="T20" fmla="*/ 84 w 138"/>
                    <a:gd name="T21" fmla="*/ 55 h 103"/>
                    <a:gd name="T22" fmla="*/ 66 w 138"/>
                    <a:gd name="T23" fmla="*/ 66 h 103"/>
                    <a:gd name="T24" fmla="*/ 48 w 138"/>
                    <a:gd name="T25" fmla="*/ 84 h 103"/>
                    <a:gd name="T26" fmla="*/ 26 w 138"/>
                    <a:gd name="T27" fmla="*/ 73 h 103"/>
                    <a:gd name="T28" fmla="*/ 20 w 138"/>
                    <a:gd name="T29" fmla="*/ 71 h 103"/>
                    <a:gd name="T30" fmla="*/ 22 w 138"/>
                    <a:gd name="T31" fmla="*/ 79 h 103"/>
                    <a:gd name="T32" fmla="*/ 0 w 138"/>
                    <a:gd name="T33" fmla="*/ 79 h 103"/>
                    <a:gd name="T34" fmla="*/ 10 w 138"/>
                    <a:gd name="T35" fmla="*/ 64 h 103"/>
                    <a:gd name="T36" fmla="*/ 26 w 138"/>
                    <a:gd name="T37" fmla="*/ 50 h 10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38" h="103">
                      <a:moveTo>
                        <a:pt x="26" y="61"/>
                      </a:moveTo>
                      <a:cubicBezTo>
                        <a:pt x="29" y="53"/>
                        <a:pt x="33" y="51"/>
                        <a:pt x="30" y="43"/>
                      </a:cubicBezTo>
                      <a:cubicBezTo>
                        <a:pt x="33" y="27"/>
                        <a:pt x="37" y="24"/>
                        <a:pt x="50" y="33"/>
                      </a:cubicBezTo>
                      <a:cubicBezTo>
                        <a:pt x="51" y="37"/>
                        <a:pt x="53" y="41"/>
                        <a:pt x="54" y="45"/>
                      </a:cubicBezTo>
                      <a:cubicBezTo>
                        <a:pt x="55" y="49"/>
                        <a:pt x="66" y="49"/>
                        <a:pt x="66" y="49"/>
                      </a:cubicBezTo>
                      <a:cubicBezTo>
                        <a:pt x="75" y="43"/>
                        <a:pt x="77" y="45"/>
                        <a:pt x="80" y="55"/>
                      </a:cubicBezTo>
                      <a:cubicBezTo>
                        <a:pt x="92" y="47"/>
                        <a:pt x="101" y="37"/>
                        <a:pt x="116" y="33"/>
                      </a:cubicBezTo>
                      <a:cubicBezTo>
                        <a:pt x="125" y="19"/>
                        <a:pt x="120" y="24"/>
                        <a:pt x="130" y="17"/>
                      </a:cubicBezTo>
                      <a:cubicBezTo>
                        <a:pt x="134" y="11"/>
                        <a:pt x="134" y="0"/>
                        <a:pt x="138" y="11"/>
                      </a:cubicBezTo>
                      <a:cubicBezTo>
                        <a:pt x="135" y="31"/>
                        <a:pt x="126" y="45"/>
                        <a:pt x="106" y="49"/>
                      </a:cubicBezTo>
                      <a:cubicBezTo>
                        <a:pt x="97" y="55"/>
                        <a:pt x="93" y="61"/>
                        <a:pt x="84" y="67"/>
                      </a:cubicBezTo>
                      <a:cubicBezTo>
                        <a:pt x="80" y="79"/>
                        <a:pt x="79" y="79"/>
                        <a:pt x="66" y="81"/>
                      </a:cubicBezTo>
                      <a:cubicBezTo>
                        <a:pt x="60" y="90"/>
                        <a:pt x="57" y="97"/>
                        <a:pt x="48" y="103"/>
                      </a:cubicBezTo>
                      <a:cubicBezTo>
                        <a:pt x="42" y="94"/>
                        <a:pt x="37" y="93"/>
                        <a:pt x="26" y="89"/>
                      </a:cubicBezTo>
                      <a:cubicBezTo>
                        <a:pt x="24" y="88"/>
                        <a:pt x="20" y="87"/>
                        <a:pt x="20" y="87"/>
                      </a:cubicBezTo>
                      <a:cubicBezTo>
                        <a:pt x="10" y="90"/>
                        <a:pt x="14" y="94"/>
                        <a:pt x="22" y="97"/>
                      </a:cubicBezTo>
                      <a:cubicBezTo>
                        <a:pt x="14" y="103"/>
                        <a:pt x="9" y="100"/>
                        <a:pt x="0" y="97"/>
                      </a:cubicBezTo>
                      <a:cubicBezTo>
                        <a:pt x="2" y="87"/>
                        <a:pt x="1" y="82"/>
                        <a:pt x="10" y="79"/>
                      </a:cubicBezTo>
                      <a:cubicBezTo>
                        <a:pt x="15" y="63"/>
                        <a:pt x="14" y="69"/>
                        <a:pt x="26" y="6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6" name="Freeform 45"/>
                <p:cNvSpPr>
                  <a:spLocks/>
                </p:cNvSpPr>
                <p:nvPr userDrawn="1"/>
              </p:nvSpPr>
              <p:spPr bwMode="ltGray">
                <a:xfrm>
                  <a:off x="2553" y="182"/>
                  <a:ext cx="187" cy="176"/>
                </a:xfrm>
                <a:custGeom>
                  <a:avLst/>
                  <a:gdLst>
                    <a:gd name="T0" fmla="*/ 157 w 188"/>
                    <a:gd name="T1" fmla="*/ 20 h 214"/>
                    <a:gd name="T2" fmla="*/ 159 w 188"/>
                    <a:gd name="T3" fmla="*/ 5 h 214"/>
                    <a:gd name="T4" fmla="*/ 169 w 188"/>
                    <a:gd name="T5" fmla="*/ 0 h 214"/>
                    <a:gd name="T6" fmla="*/ 181 w 188"/>
                    <a:gd name="T7" fmla="*/ 20 h 214"/>
                    <a:gd name="T8" fmla="*/ 187 w 188"/>
                    <a:gd name="T9" fmla="*/ 35 h 214"/>
                    <a:gd name="T10" fmla="*/ 177 w 188"/>
                    <a:gd name="T11" fmla="*/ 48 h 214"/>
                    <a:gd name="T12" fmla="*/ 169 w 188"/>
                    <a:gd name="T13" fmla="*/ 63 h 214"/>
                    <a:gd name="T14" fmla="*/ 161 w 188"/>
                    <a:gd name="T15" fmla="*/ 104 h 214"/>
                    <a:gd name="T16" fmla="*/ 143 w 188"/>
                    <a:gd name="T17" fmla="*/ 112 h 214"/>
                    <a:gd name="T18" fmla="*/ 119 w 188"/>
                    <a:gd name="T19" fmla="*/ 113 h 214"/>
                    <a:gd name="T20" fmla="*/ 111 w 188"/>
                    <a:gd name="T21" fmla="*/ 102 h 214"/>
                    <a:gd name="T22" fmla="*/ 101 w 188"/>
                    <a:gd name="T23" fmla="*/ 120 h 214"/>
                    <a:gd name="T24" fmla="*/ 90 w 188"/>
                    <a:gd name="T25" fmla="*/ 123 h 214"/>
                    <a:gd name="T26" fmla="*/ 80 w 188"/>
                    <a:gd name="T27" fmla="*/ 109 h 214"/>
                    <a:gd name="T28" fmla="*/ 58 w 188"/>
                    <a:gd name="T29" fmla="*/ 118 h 214"/>
                    <a:gd name="T30" fmla="*/ 76 w 188"/>
                    <a:gd name="T31" fmla="*/ 117 h 214"/>
                    <a:gd name="T32" fmla="*/ 78 w 188"/>
                    <a:gd name="T33" fmla="*/ 132 h 214"/>
                    <a:gd name="T34" fmla="*/ 58 w 188"/>
                    <a:gd name="T35" fmla="*/ 137 h 214"/>
                    <a:gd name="T36" fmla="*/ 34 w 188"/>
                    <a:gd name="T37" fmla="*/ 137 h 214"/>
                    <a:gd name="T38" fmla="*/ 36 w 188"/>
                    <a:gd name="T39" fmla="*/ 127 h 214"/>
                    <a:gd name="T40" fmla="*/ 46 w 188"/>
                    <a:gd name="T41" fmla="*/ 118 h 214"/>
                    <a:gd name="T42" fmla="*/ 34 w 188"/>
                    <a:gd name="T43" fmla="*/ 122 h 214"/>
                    <a:gd name="T44" fmla="*/ 26 w 188"/>
                    <a:gd name="T45" fmla="*/ 137 h 214"/>
                    <a:gd name="T46" fmla="*/ 30 w 188"/>
                    <a:gd name="T47" fmla="*/ 156 h 214"/>
                    <a:gd name="T48" fmla="*/ 14 w 188"/>
                    <a:gd name="T49" fmla="*/ 164 h 214"/>
                    <a:gd name="T50" fmla="*/ 0 w 188"/>
                    <a:gd name="T51" fmla="*/ 176 h 214"/>
                    <a:gd name="T52" fmla="*/ 8 w 188"/>
                    <a:gd name="T53" fmla="*/ 155 h 214"/>
                    <a:gd name="T54" fmla="*/ 0 w 188"/>
                    <a:gd name="T55" fmla="*/ 135 h 214"/>
                    <a:gd name="T56" fmla="*/ 14 w 188"/>
                    <a:gd name="T57" fmla="*/ 125 h 214"/>
                    <a:gd name="T58" fmla="*/ 32 w 188"/>
                    <a:gd name="T59" fmla="*/ 110 h 214"/>
                    <a:gd name="T60" fmla="*/ 44 w 188"/>
                    <a:gd name="T61" fmla="*/ 97 h 214"/>
                    <a:gd name="T62" fmla="*/ 72 w 188"/>
                    <a:gd name="T63" fmla="*/ 95 h 214"/>
                    <a:gd name="T64" fmla="*/ 84 w 188"/>
                    <a:gd name="T65" fmla="*/ 92 h 214"/>
                    <a:gd name="T66" fmla="*/ 113 w 188"/>
                    <a:gd name="T67" fmla="*/ 64 h 214"/>
                    <a:gd name="T68" fmla="*/ 119 w 188"/>
                    <a:gd name="T69" fmla="*/ 76 h 214"/>
                    <a:gd name="T70" fmla="*/ 131 w 188"/>
                    <a:gd name="T71" fmla="*/ 63 h 214"/>
                    <a:gd name="T72" fmla="*/ 149 w 188"/>
                    <a:gd name="T73" fmla="*/ 44 h 214"/>
                    <a:gd name="T74" fmla="*/ 153 w 188"/>
                    <a:gd name="T75" fmla="*/ 35 h 214"/>
                    <a:gd name="T76" fmla="*/ 147 w 188"/>
                    <a:gd name="T77" fmla="*/ 31 h 214"/>
                    <a:gd name="T78" fmla="*/ 151 w 188"/>
                    <a:gd name="T79" fmla="*/ 26 h 214"/>
                    <a:gd name="T80" fmla="*/ 157 w 188"/>
                    <a:gd name="T81" fmla="*/ 20 h 21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88" h="214">
                      <a:moveTo>
                        <a:pt x="158" y="24"/>
                      </a:moveTo>
                      <a:cubicBezTo>
                        <a:pt x="156" y="18"/>
                        <a:pt x="160" y="6"/>
                        <a:pt x="160" y="6"/>
                      </a:cubicBezTo>
                      <a:cubicBezTo>
                        <a:pt x="167" y="16"/>
                        <a:pt x="167" y="8"/>
                        <a:pt x="170" y="0"/>
                      </a:cubicBezTo>
                      <a:cubicBezTo>
                        <a:pt x="181" y="4"/>
                        <a:pt x="179" y="14"/>
                        <a:pt x="182" y="24"/>
                      </a:cubicBezTo>
                      <a:cubicBezTo>
                        <a:pt x="184" y="30"/>
                        <a:pt x="188" y="42"/>
                        <a:pt x="188" y="42"/>
                      </a:cubicBezTo>
                      <a:cubicBezTo>
                        <a:pt x="183" y="56"/>
                        <a:pt x="188" y="52"/>
                        <a:pt x="178" y="58"/>
                      </a:cubicBezTo>
                      <a:cubicBezTo>
                        <a:pt x="174" y="63"/>
                        <a:pt x="170" y="76"/>
                        <a:pt x="170" y="76"/>
                      </a:cubicBezTo>
                      <a:cubicBezTo>
                        <a:pt x="169" y="100"/>
                        <a:pt x="173" y="110"/>
                        <a:pt x="162" y="126"/>
                      </a:cubicBezTo>
                      <a:cubicBezTo>
                        <a:pt x="150" y="118"/>
                        <a:pt x="155" y="132"/>
                        <a:pt x="144" y="136"/>
                      </a:cubicBezTo>
                      <a:cubicBezTo>
                        <a:pt x="135" y="134"/>
                        <a:pt x="129" y="135"/>
                        <a:pt x="120" y="138"/>
                      </a:cubicBezTo>
                      <a:cubicBezTo>
                        <a:pt x="114" y="129"/>
                        <a:pt x="122" y="127"/>
                        <a:pt x="112" y="124"/>
                      </a:cubicBezTo>
                      <a:cubicBezTo>
                        <a:pt x="108" y="130"/>
                        <a:pt x="108" y="142"/>
                        <a:pt x="102" y="146"/>
                      </a:cubicBezTo>
                      <a:cubicBezTo>
                        <a:pt x="98" y="148"/>
                        <a:pt x="90" y="150"/>
                        <a:pt x="90" y="150"/>
                      </a:cubicBezTo>
                      <a:cubicBezTo>
                        <a:pt x="87" y="141"/>
                        <a:pt x="89" y="135"/>
                        <a:pt x="80" y="132"/>
                      </a:cubicBezTo>
                      <a:cubicBezTo>
                        <a:pt x="68" y="134"/>
                        <a:pt x="65" y="134"/>
                        <a:pt x="58" y="144"/>
                      </a:cubicBezTo>
                      <a:cubicBezTo>
                        <a:pt x="66" y="150"/>
                        <a:pt x="68" y="147"/>
                        <a:pt x="76" y="142"/>
                      </a:cubicBezTo>
                      <a:cubicBezTo>
                        <a:pt x="81" y="146"/>
                        <a:pt x="85" y="155"/>
                        <a:pt x="78" y="160"/>
                      </a:cubicBezTo>
                      <a:cubicBezTo>
                        <a:pt x="75" y="162"/>
                        <a:pt x="62" y="165"/>
                        <a:pt x="58" y="166"/>
                      </a:cubicBezTo>
                      <a:cubicBezTo>
                        <a:pt x="48" y="173"/>
                        <a:pt x="44" y="173"/>
                        <a:pt x="34" y="166"/>
                      </a:cubicBezTo>
                      <a:cubicBezTo>
                        <a:pt x="35" y="162"/>
                        <a:pt x="34" y="158"/>
                        <a:pt x="36" y="154"/>
                      </a:cubicBezTo>
                      <a:cubicBezTo>
                        <a:pt x="38" y="150"/>
                        <a:pt x="55" y="146"/>
                        <a:pt x="46" y="144"/>
                      </a:cubicBezTo>
                      <a:cubicBezTo>
                        <a:pt x="42" y="143"/>
                        <a:pt x="34" y="148"/>
                        <a:pt x="34" y="148"/>
                      </a:cubicBezTo>
                      <a:cubicBezTo>
                        <a:pt x="32" y="155"/>
                        <a:pt x="28" y="159"/>
                        <a:pt x="26" y="166"/>
                      </a:cubicBezTo>
                      <a:cubicBezTo>
                        <a:pt x="36" y="182"/>
                        <a:pt x="36" y="173"/>
                        <a:pt x="30" y="190"/>
                      </a:cubicBezTo>
                      <a:cubicBezTo>
                        <a:pt x="28" y="196"/>
                        <a:pt x="14" y="200"/>
                        <a:pt x="14" y="200"/>
                      </a:cubicBezTo>
                      <a:cubicBezTo>
                        <a:pt x="5" y="214"/>
                        <a:pt x="11" y="210"/>
                        <a:pt x="0" y="214"/>
                      </a:cubicBezTo>
                      <a:cubicBezTo>
                        <a:pt x="2" y="202"/>
                        <a:pt x="5" y="198"/>
                        <a:pt x="8" y="188"/>
                      </a:cubicBezTo>
                      <a:cubicBezTo>
                        <a:pt x="6" y="178"/>
                        <a:pt x="3" y="173"/>
                        <a:pt x="0" y="164"/>
                      </a:cubicBezTo>
                      <a:cubicBezTo>
                        <a:pt x="3" y="156"/>
                        <a:pt x="7" y="157"/>
                        <a:pt x="14" y="152"/>
                      </a:cubicBezTo>
                      <a:cubicBezTo>
                        <a:pt x="18" y="141"/>
                        <a:pt x="23" y="140"/>
                        <a:pt x="32" y="134"/>
                      </a:cubicBezTo>
                      <a:cubicBezTo>
                        <a:pt x="37" y="127"/>
                        <a:pt x="37" y="123"/>
                        <a:pt x="44" y="118"/>
                      </a:cubicBezTo>
                      <a:cubicBezTo>
                        <a:pt x="64" y="121"/>
                        <a:pt x="55" y="122"/>
                        <a:pt x="72" y="116"/>
                      </a:cubicBezTo>
                      <a:cubicBezTo>
                        <a:pt x="76" y="115"/>
                        <a:pt x="84" y="112"/>
                        <a:pt x="84" y="112"/>
                      </a:cubicBezTo>
                      <a:cubicBezTo>
                        <a:pt x="105" y="119"/>
                        <a:pt x="97" y="84"/>
                        <a:pt x="114" y="78"/>
                      </a:cubicBezTo>
                      <a:cubicBezTo>
                        <a:pt x="117" y="87"/>
                        <a:pt x="110" y="89"/>
                        <a:pt x="120" y="92"/>
                      </a:cubicBezTo>
                      <a:cubicBezTo>
                        <a:pt x="125" y="85"/>
                        <a:pt x="125" y="81"/>
                        <a:pt x="132" y="76"/>
                      </a:cubicBezTo>
                      <a:cubicBezTo>
                        <a:pt x="138" y="68"/>
                        <a:pt x="146" y="65"/>
                        <a:pt x="150" y="54"/>
                      </a:cubicBezTo>
                      <a:cubicBezTo>
                        <a:pt x="151" y="50"/>
                        <a:pt x="154" y="42"/>
                        <a:pt x="154" y="42"/>
                      </a:cubicBezTo>
                      <a:cubicBezTo>
                        <a:pt x="152" y="41"/>
                        <a:pt x="148" y="40"/>
                        <a:pt x="148" y="38"/>
                      </a:cubicBezTo>
                      <a:cubicBezTo>
                        <a:pt x="148" y="36"/>
                        <a:pt x="161" y="33"/>
                        <a:pt x="152" y="32"/>
                      </a:cubicBezTo>
                      <a:lnTo>
                        <a:pt x="158" y="2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7" name="Freeform 46"/>
                <p:cNvSpPr>
                  <a:spLocks/>
                </p:cNvSpPr>
                <p:nvPr userDrawn="1"/>
              </p:nvSpPr>
              <p:spPr bwMode="ltGray">
                <a:xfrm>
                  <a:off x="2677" y="233"/>
                  <a:ext cx="14" cy="10"/>
                </a:xfrm>
                <a:custGeom>
                  <a:avLst/>
                  <a:gdLst>
                    <a:gd name="T0" fmla="*/ 0 w 13"/>
                    <a:gd name="T1" fmla="*/ 7 h 13"/>
                    <a:gd name="T2" fmla="*/ 4 w 13"/>
                    <a:gd name="T3" fmla="*/ 10 h 13"/>
                    <a:gd name="T4" fmla="*/ 0 w 13"/>
                    <a:gd name="T5" fmla="*/ 7 h 13"/>
                    <a:gd name="T6" fmla="*/ 0 60000 65536"/>
                    <a:gd name="T7" fmla="*/ 0 60000 65536"/>
                    <a:gd name="T8" fmla="*/ 0 60000 65536"/>
                  </a:gdLst>
                  <a:ahLst/>
                  <a:cxnLst>
                    <a:cxn ang="T6">
                      <a:pos x="T0" y="T1"/>
                    </a:cxn>
                    <a:cxn ang="T7">
                      <a:pos x="T2" y="T3"/>
                    </a:cxn>
                    <a:cxn ang="T8">
                      <a:pos x="T4" y="T5"/>
                    </a:cxn>
                  </a:cxnLst>
                  <a:rect l="0" t="0" r="r" b="b"/>
                  <a:pathLst>
                    <a:path w="13" h="13">
                      <a:moveTo>
                        <a:pt x="0" y="9"/>
                      </a:moveTo>
                      <a:cubicBezTo>
                        <a:pt x="6" y="0"/>
                        <a:pt x="13" y="7"/>
                        <a:pt x="4" y="13"/>
                      </a:cubicBezTo>
                      <a:cubicBezTo>
                        <a:pt x="0" y="6"/>
                        <a:pt x="0" y="5"/>
                        <a:pt x="0"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8" name="Freeform 47"/>
                <p:cNvSpPr>
                  <a:spLocks/>
                </p:cNvSpPr>
                <p:nvPr userDrawn="1"/>
              </p:nvSpPr>
              <p:spPr bwMode="ltGray">
                <a:xfrm>
                  <a:off x="1627" y="353"/>
                  <a:ext cx="813" cy="462"/>
                </a:xfrm>
                <a:custGeom>
                  <a:avLst/>
                  <a:gdLst>
                    <a:gd name="T0" fmla="*/ 813 w 812"/>
                    <a:gd name="T1" fmla="*/ 21 h 564"/>
                    <a:gd name="T2" fmla="*/ 779 w 812"/>
                    <a:gd name="T3" fmla="*/ 64 h 564"/>
                    <a:gd name="T4" fmla="*/ 749 w 812"/>
                    <a:gd name="T5" fmla="*/ 100 h 564"/>
                    <a:gd name="T6" fmla="*/ 723 w 812"/>
                    <a:gd name="T7" fmla="*/ 116 h 564"/>
                    <a:gd name="T8" fmla="*/ 635 w 812"/>
                    <a:gd name="T9" fmla="*/ 147 h 564"/>
                    <a:gd name="T10" fmla="*/ 633 w 812"/>
                    <a:gd name="T11" fmla="*/ 172 h 564"/>
                    <a:gd name="T12" fmla="*/ 605 w 812"/>
                    <a:gd name="T13" fmla="*/ 188 h 564"/>
                    <a:gd name="T14" fmla="*/ 621 w 812"/>
                    <a:gd name="T15" fmla="*/ 146 h 564"/>
                    <a:gd name="T16" fmla="*/ 577 w 812"/>
                    <a:gd name="T17" fmla="*/ 154 h 564"/>
                    <a:gd name="T18" fmla="*/ 557 w 812"/>
                    <a:gd name="T19" fmla="*/ 179 h 564"/>
                    <a:gd name="T20" fmla="*/ 597 w 812"/>
                    <a:gd name="T21" fmla="*/ 229 h 564"/>
                    <a:gd name="T22" fmla="*/ 595 w 812"/>
                    <a:gd name="T23" fmla="*/ 301 h 564"/>
                    <a:gd name="T24" fmla="*/ 543 w 812"/>
                    <a:gd name="T25" fmla="*/ 333 h 564"/>
                    <a:gd name="T26" fmla="*/ 523 w 812"/>
                    <a:gd name="T27" fmla="*/ 316 h 564"/>
                    <a:gd name="T28" fmla="*/ 483 w 812"/>
                    <a:gd name="T29" fmla="*/ 285 h 564"/>
                    <a:gd name="T30" fmla="*/ 463 w 812"/>
                    <a:gd name="T31" fmla="*/ 285 h 564"/>
                    <a:gd name="T32" fmla="*/ 451 w 812"/>
                    <a:gd name="T33" fmla="*/ 323 h 564"/>
                    <a:gd name="T34" fmla="*/ 501 w 812"/>
                    <a:gd name="T35" fmla="*/ 380 h 564"/>
                    <a:gd name="T36" fmla="*/ 511 w 812"/>
                    <a:gd name="T37" fmla="*/ 429 h 564"/>
                    <a:gd name="T38" fmla="*/ 527 w 812"/>
                    <a:gd name="T39" fmla="*/ 459 h 564"/>
                    <a:gd name="T40" fmla="*/ 493 w 812"/>
                    <a:gd name="T41" fmla="*/ 446 h 564"/>
                    <a:gd name="T42" fmla="*/ 471 w 812"/>
                    <a:gd name="T43" fmla="*/ 424 h 564"/>
                    <a:gd name="T44" fmla="*/ 423 w 812"/>
                    <a:gd name="T45" fmla="*/ 347 h 564"/>
                    <a:gd name="T46" fmla="*/ 427 w 812"/>
                    <a:gd name="T47" fmla="*/ 254 h 564"/>
                    <a:gd name="T48" fmla="*/ 423 w 812"/>
                    <a:gd name="T49" fmla="*/ 220 h 564"/>
                    <a:gd name="T50" fmla="*/ 413 w 812"/>
                    <a:gd name="T51" fmla="*/ 226 h 564"/>
                    <a:gd name="T52" fmla="*/ 386 w 812"/>
                    <a:gd name="T53" fmla="*/ 218 h 564"/>
                    <a:gd name="T54" fmla="*/ 360 w 812"/>
                    <a:gd name="T55" fmla="*/ 139 h 564"/>
                    <a:gd name="T56" fmla="*/ 330 w 812"/>
                    <a:gd name="T57" fmla="*/ 136 h 564"/>
                    <a:gd name="T58" fmla="*/ 288 w 812"/>
                    <a:gd name="T59" fmla="*/ 141 h 564"/>
                    <a:gd name="T60" fmla="*/ 242 w 812"/>
                    <a:gd name="T61" fmla="*/ 190 h 564"/>
                    <a:gd name="T62" fmla="*/ 196 w 812"/>
                    <a:gd name="T63" fmla="*/ 220 h 564"/>
                    <a:gd name="T64" fmla="*/ 184 w 812"/>
                    <a:gd name="T65" fmla="*/ 224 h 564"/>
                    <a:gd name="T66" fmla="*/ 160 w 812"/>
                    <a:gd name="T67" fmla="*/ 269 h 564"/>
                    <a:gd name="T68" fmla="*/ 152 w 812"/>
                    <a:gd name="T69" fmla="*/ 290 h 564"/>
                    <a:gd name="T70" fmla="*/ 128 w 812"/>
                    <a:gd name="T71" fmla="*/ 331 h 564"/>
                    <a:gd name="T72" fmla="*/ 94 w 812"/>
                    <a:gd name="T73" fmla="*/ 321 h 564"/>
                    <a:gd name="T74" fmla="*/ 66 w 812"/>
                    <a:gd name="T75" fmla="*/ 211 h 564"/>
                    <a:gd name="T76" fmla="*/ 72 w 812"/>
                    <a:gd name="T77" fmla="*/ 128 h 564"/>
                    <a:gd name="T78" fmla="*/ 44 w 812"/>
                    <a:gd name="T79" fmla="*/ 147 h 564"/>
                    <a:gd name="T80" fmla="*/ 20 w 812"/>
                    <a:gd name="T81" fmla="*/ 123 h 564"/>
                    <a:gd name="T82" fmla="*/ 24 w 812"/>
                    <a:gd name="T83" fmla="*/ 113 h 564"/>
                    <a:gd name="T84" fmla="*/ 0 w 812"/>
                    <a:gd name="T85" fmla="*/ 75 h 564"/>
                    <a:gd name="T86" fmla="*/ 799 w 812"/>
                    <a:gd name="T87" fmla="*/ 5 h 56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812" h="564">
                      <a:moveTo>
                        <a:pt x="798" y="6"/>
                      </a:moveTo>
                      <a:cubicBezTo>
                        <a:pt x="801" y="15"/>
                        <a:pt x="809" y="16"/>
                        <a:pt x="812" y="26"/>
                      </a:cubicBezTo>
                      <a:cubicBezTo>
                        <a:pt x="809" y="36"/>
                        <a:pt x="801" y="41"/>
                        <a:pt x="796" y="50"/>
                      </a:cubicBezTo>
                      <a:cubicBezTo>
                        <a:pt x="791" y="61"/>
                        <a:pt x="788" y="71"/>
                        <a:pt x="778" y="78"/>
                      </a:cubicBezTo>
                      <a:cubicBezTo>
                        <a:pt x="773" y="85"/>
                        <a:pt x="771" y="88"/>
                        <a:pt x="774" y="96"/>
                      </a:cubicBezTo>
                      <a:cubicBezTo>
                        <a:pt x="767" y="107"/>
                        <a:pt x="758" y="114"/>
                        <a:pt x="748" y="122"/>
                      </a:cubicBezTo>
                      <a:cubicBezTo>
                        <a:pt x="744" y="125"/>
                        <a:pt x="736" y="130"/>
                        <a:pt x="736" y="130"/>
                      </a:cubicBezTo>
                      <a:cubicBezTo>
                        <a:pt x="740" y="141"/>
                        <a:pt x="731" y="140"/>
                        <a:pt x="722" y="142"/>
                      </a:cubicBezTo>
                      <a:cubicBezTo>
                        <a:pt x="716" y="148"/>
                        <a:pt x="712" y="151"/>
                        <a:pt x="704" y="154"/>
                      </a:cubicBezTo>
                      <a:cubicBezTo>
                        <a:pt x="686" y="150"/>
                        <a:pt x="650" y="169"/>
                        <a:pt x="634" y="180"/>
                      </a:cubicBezTo>
                      <a:cubicBezTo>
                        <a:pt x="636" y="189"/>
                        <a:pt x="631" y="193"/>
                        <a:pt x="640" y="196"/>
                      </a:cubicBezTo>
                      <a:cubicBezTo>
                        <a:pt x="643" y="205"/>
                        <a:pt x="640" y="207"/>
                        <a:pt x="632" y="210"/>
                      </a:cubicBezTo>
                      <a:cubicBezTo>
                        <a:pt x="626" y="219"/>
                        <a:pt x="623" y="226"/>
                        <a:pt x="614" y="232"/>
                      </a:cubicBezTo>
                      <a:cubicBezTo>
                        <a:pt x="611" y="231"/>
                        <a:pt x="606" y="233"/>
                        <a:pt x="604" y="230"/>
                      </a:cubicBezTo>
                      <a:cubicBezTo>
                        <a:pt x="599" y="220"/>
                        <a:pt x="610" y="199"/>
                        <a:pt x="620" y="196"/>
                      </a:cubicBezTo>
                      <a:cubicBezTo>
                        <a:pt x="623" y="187"/>
                        <a:pt x="617" y="187"/>
                        <a:pt x="620" y="178"/>
                      </a:cubicBezTo>
                      <a:cubicBezTo>
                        <a:pt x="617" y="164"/>
                        <a:pt x="609" y="168"/>
                        <a:pt x="598" y="172"/>
                      </a:cubicBezTo>
                      <a:cubicBezTo>
                        <a:pt x="592" y="180"/>
                        <a:pt x="585" y="185"/>
                        <a:pt x="576" y="188"/>
                      </a:cubicBezTo>
                      <a:cubicBezTo>
                        <a:pt x="572" y="194"/>
                        <a:pt x="568" y="200"/>
                        <a:pt x="564" y="206"/>
                      </a:cubicBezTo>
                      <a:cubicBezTo>
                        <a:pt x="561" y="210"/>
                        <a:pt x="556" y="218"/>
                        <a:pt x="556" y="218"/>
                      </a:cubicBezTo>
                      <a:cubicBezTo>
                        <a:pt x="558" y="234"/>
                        <a:pt x="559" y="243"/>
                        <a:pt x="572" y="252"/>
                      </a:cubicBezTo>
                      <a:cubicBezTo>
                        <a:pt x="579" y="262"/>
                        <a:pt x="586" y="273"/>
                        <a:pt x="596" y="280"/>
                      </a:cubicBezTo>
                      <a:cubicBezTo>
                        <a:pt x="598" y="286"/>
                        <a:pt x="602" y="298"/>
                        <a:pt x="602" y="298"/>
                      </a:cubicBezTo>
                      <a:cubicBezTo>
                        <a:pt x="601" y="308"/>
                        <a:pt x="599" y="361"/>
                        <a:pt x="594" y="368"/>
                      </a:cubicBezTo>
                      <a:cubicBezTo>
                        <a:pt x="590" y="374"/>
                        <a:pt x="576" y="378"/>
                        <a:pt x="570" y="382"/>
                      </a:cubicBezTo>
                      <a:cubicBezTo>
                        <a:pt x="563" y="393"/>
                        <a:pt x="550" y="396"/>
                        <a:pt x="542" y="406"/>
                      </a:cubicBezTo>
                      <a:cubicBezTo>
                        <a:pt x="536" y="413"/>
                        <a:pt x="539" y="417"/>
                        <a:pt x="530" y="420"/>
                      </a:cubicBezTo>
                      <a:cubicBezTo>
                        <a:pt x="526" y="408"/>
                        <a:pt x="538" y="391"/>
                        <a:pt x="522" y="386"/>
                      </a:cubicBezTo>
                      <a:cubicBezTo>
                        <a:pt x="516" y="377"/>
                        <a:pt x="510" y="364"/>
                        <a:pt x="502" y="356"/>
                      </a:cubicBezTo>
                      <a:cubicBezTo>
                        <a:pt x="497" y="341"/>
                        <a:pt x="505" y="360"/>
                        <a:pt x="482" y="348"/>
                      </a:cubicBezTo>
                      <a:cubicBezTo>
                        <a:pt x="478" y="346"/>
                        <a:pt x="478" y="339"/>
                        <a:pt x="474" y="336"/>
                      </a:cubicBezTo>
                      <a:cubicBezTo>
                        <a:pt x="470" y="323"/>
                        <a:pt x="466" y="342"/>
                        <a:pt x="462" y="348"/>
                      </a:cubicBezTo>
                      <a:cubicBezTo>
                        <a:pt x="460" y="358"/>
                        <a:pt x="456" y="363"/>
                        <a:pt x="454" y="374"/>
                      </a:cubicBezTo>
                      <a:cubicBezTo>
                        <a:pt x="457" y="383"/>
                        <a:pt x="455" y="387"/>
                        <a:pt x="450" y="394"/>
                      </a:cubicBezTo>
                      <a:cubicBezTo>
                        <a:pt x="454" y="399"/>
                        <a:pt x="464" y="411"/>
                        <a:pt x="466" y="418"/>
                      </a:cubicBezTo>
                      <a:cubicBezTo>
                        <a:pt x="474" y="443"/>
                        <a:pt x="472" y="458"/>
                        <a:pt x="500" y="464"/>
                      </a:cubicBezTo>
                      <a:cubicBezTo>
                        <a:pt x="507" y="469"/>
                        <a:pt x="510" y="474"/>
                        <a:pt x="516" y="480"/>
                      </a:cubicBezTo>
                      <a:cubicBezTo>
                        <a:pt x="511" y="494"/>
                        <a:pt x="513" y="509"/>
                        <a:pt x="510" y="524"/>
                      </a:cubicBezTo>
                      <a:cubicBezTo>
                        <a:pt x="512" y="537"/>
                        <a:pt x="511" y="541"/>
                        <a:pt x="522" y="548"/>
                      </a:cubicBezTo>
                      <a:cubicBezTo>
                        <a:pt x="523" y="552"/>
                        <a:pt x="525" y="556"/>
                        <a:pt x="526" y="560"/>
                      </a:cubicBezTo>
                      <a:cubicBezTo>
                        <a:pt x="527" y="564"/>
                        <a:pt x="514" y="556"/>
                        <a:pt x="514" y="556"/>
                      </a:cubicBezTo>
                      <a:cubicBezTo>
                        <a:pt x="502" y="564"/>
                        <a:pt x="501" y="551"/>
                        <a:pt x="492" y="544"/>
                      </a:cubicBezTo>
                      <a:cubicBezTo>
                        <a:pt x="488" y="541"/>
                        <a:pt x="480" y="536"/>
                        <a:pt x="480" y="536"/>
                      </a:cubicBezTo>
                      <a:cubicBezTo>
                        <a:pt x="471" y="522"/>
                        <a:pt x="474" y="529"/>
                        <a:pt x="470" y="518"/>
                      </a:cubicBezTo>
                      <a:cubicBezTo>
                        <a:pt x="467" y="491"/>
                        <a:pt x="461" y="446"/>
                        <a:pt x="436" y="430"/>
                      </a:cubicBezTo>
                      <a:cubicBezTo>
                        <a:pt x="428" y="433"/>
                        <a:pt x="425" y="433"/>
                        <a:pt x="422" y="424"/>
                      </a:cubicBezTo>
                      <a:cubicBezTo>
                        <a:pt x="427" y="404"/>
                        <a:pt x="432" y="383"/>
                        <a:pt x="438" y="364"/>
                      </a:cubicBezTo>
                      <a:cubicBezTo>
                        <a:pt x="436" y="343"/>
                        <a:pt x="431" y="330"/>
                        <a:pt x="426" y="310"/>
                      </a:cubicBezTo>
                      <a:cubicBezTo>
                        <a:pt x="429" y="302"/>
                        <a:pt x="425" y="300"/>
                        <a:pt x="422" y="292"/>
                      </a:cubicBezTo>
                      <a:cubicBezTo>
                        <a:pt x="424" y="282"/>
                        <a:pt x="428" y="277"/>
                        <a:pt x="422" y="268"/>
                      </a:cubicBezTo>
                      <a:cubicBezTo>
                        <a:pt x="420" y="269"/>
                        <a:pt x="418" y="269"/>
                        <a:pt x="416" y="270"/>
                      </a:cubicBezTo>
                      <a:cubicBezTo>
                        <a:pt x="414" y="272"/>
                        <a:pt x="414" y="275"/>
                        <a:pt x="412" y="276"/>
                      </a:cubicBezTo>
                      <a:cubicBezTo>
                        <a:pt x="408" y="278"/>
                        <a:pt x="400" y="280"/>
                        <a:pt x="400" y="280"/>
                      </a:cubicBezTo>
                      <a:cubicBezTo>
                        <a:pt x="394" y="274"/>
                        <a:pt x="389" y="274"/>
                        <a:pt x="386" y="266"/>
                      </a:cubicBezTo>
                      <a:cubicBezTo>
                        <a:pt x="391" y="251"/>
                        <a:pt x="379" y="206"/>
                        <a:pt x="364" y="196"/>
                      </a:cubicBezTo>
                      <a:cubicBezTo>
                        <a:pt x="357" y="186"/>
                        <a:pt x="358" y="182"/>
                        <a:pt x="360" y="170"/>
                      </a:cubicBezTo>
                      <a:cubicBezTo>
                        <a:pt x="358" y="160"/>
                        <a:pt x="356" y="147"/>
                        <a:pt x="346" y="144"/>
                      </a:cubicBezTo>
                      <a:cubicBezTo>
                        <a:pt x="343" y="154"/>
                        <a:pt x="338" y="160"/>
                        <a:pt x="330" y="166"/>
                      </a:cubicBezTo>
                      <a:cubicBezTo>
                        <a:pt x="323" y="164"/>
                        <a:pt x="308" y="160"/>
                        <a:pt x="308" y="160"/>
                      </a:cubicBezTo>
                      <a:cubicBezTo>
                        <a:pt x="296" y="162"/>
                        <a:pt x="297" y="166"/>
                        <a:pt x="288" y="172"/>
                      </a:cubicBezTo>
                      <a:cubicBezTo>
                        <a:pt x="284" y="185"/>
                        <a:pt x="282" y="191"/>
                        <a:pt x="268" y="196"/>
                      </a:cubicBezTo>
                      <a:cubicBezTo>
                        <a:pt x="264" y="200"/>
                        <a:pt x="243" y="231"/>
                        <a:pt x="242" y="232"/>
                      </a:cubicBezTo>
                      <a:cubicBezTo>
                        <a:pt x="231" y="239"/>
                        <a:pt x="215" y="247"/>
                        <a:pt x="206" y="256"/>
                      </a:cubicBezTo>
                      <a:cubicBezTo>
                        <a:pt x="202" y="260"/>
                        <a:pt x="200" y="265"/>
                        <a:pt x="196" y="268"/>
                      </a:cubicBezTo>
                      <a:cubicBezTo>
                        <a:pt x="194" y="269"/>
                        <a:pt x="192" y="269"/>
                        <a:pt x="190" y="270"/>
                      </a:cubicBezTo>
                      <a:cubicBezTo>
                        <a:pt x="188" y="271"/>
                        <a:pt x="186" y="272"/>
                        <a:pt x="184" y="274"/>
                      </a:cubicBezTo>
                      <a:cubicBezTo>
                        <a:pt x="180" y="278"/>
                        <a:pt x="172" y="286"/>
                        <a:pt x="172" y="286"/>
                      </a:cubicBezTo>
                      <a:cubicBezTo>
                        <a:pt x="167" y="300"/>
                        <a:pt x="165" y="314"/>
                        <a:pt x="160" y="328"/>
                      </a:cubicBezTo>
                      <a:cubicBezTo>
                        <a:pt x="158" y="335"/>
                        <a:pt x="156" y="341"/>
                        <a:pt x="154" y="348"/>
                      </a:cubicBezTo>
                      <a:cubicBezTo>
                        <a:pt x="153" y="350"/>
                        <a:pt x="152" y="354"/>
                        <a:pt x="152" y="354"/>
                      </a:cubicBezTo>
                      <a:cubicBezTo>
                        <a:pt x="152" y="359"/>
                        <a:pt x="156" y="384"/>
                        <a:pt x="146" y="392"/>
                      </a:cubicBezTo>
                      <a:cubicBezTo>
                        <a:pt x="141" y="397"/>
                        <a:pt x="128" y="404"/>
                        <a:pt x="128" y="404"/>
                      </a:cubicBezTo>
                      <a:cubicBezTo>
                        <a:pt x="125" y="412"/>
                        <a:pt x="122" y="421"/>
                        <a:pt x="114" y="424"/>
                      </a:cubicBezTo>
                      <a:cubicBezTo>
                        <a:pt x="100" y="419"/>
                        <a:pt x="97" y="405"/>
                        <a:pt x="94" y="392"/>
                      </a:cubicBezTo>
                      <a:cubicBezTo>
                        <a:pt x="86" y="362"/>
                        <a:pt x="82" y="332"/>
                        <a:pt x="72" y="302"/>
                      </a:cubicBezTo>
                      <a:cubicBezTo>
                        <a:pt x="71" y="281"/>
                        <a:pt x="70" y="275"/>
                        <a:pt x="66" y="258"/>
                      </a:cubicBezTo>
                      <a:cubicBezTo>
                        <a:pt x="66" y="251"/>
                        <a:pt x="68" y="219"/>
                        <a:pt x="64" y="208"/>
                      </a:cubicBezTo>
                      <a:cubicBezTo>
                        <a:pt x="70" y="191"/>
                        <a:pt x="66" y="173"/>
                        <a:pt x="72" y="156"/>
                      </a:cubicBezTo>
                      <a:cubicBezTo>
                        <a:pt x="66" y="139"/>
                        <a:pt x="60" y="168"/>
                        <a:pt x="56" y="172"/>
                      </a:cubicBezTo>
                      <a:cubicBezTo>
                        <a:pt x="53" y="175"/>
                        <a:pt x="44" y="180"/>
                        <a:pt x="44" y="180"/>
                      </a:cubicBezTo>
                      <a:cubicBezTo>
                        <a:pt x="35" y="177"/>
                        <a:pt x="28" y="173"/>
                        <a:pt x="24" y="162"/>
                      </a:cubicBezTo>
                      <a:cubicBezTo>
                        <a:pt x="23" y="158"/>
                        <a:pt x="20" y="150"/>
                        <a:pt x="20" y="150"/>
                      </a:cubicBezTo>
                      <a:cubicBezTo>
                        <a:pt x="30" y="148"/>
                        <a:pt x="30" y="143"/>
                        <a:pt x="38" y="138"/>
                      </a:cubicBezTo>
                      <a:cubicBezTo>
                        <a:pt x="35" y="128"/>
                        <a:pt x="31" y="133"/>
                        <a:pt x="24" y="138"/>
                      </a:cubicBezTo>
                      <a:cubicBezTo>
                        <a:pt x="15" y="135"/>
                        <a:pt x="15" y="132"/>
                        <a:pt x="18" y="124"/>
                      </a:cubicBezTo>
                      <a:cubicBezTo>
                        <a:pt x="11" y="114"/>
                        <a:pt x="9" y="101"/>
                        <a:pt x="0" y="92"/>
                      </a:cubicBezTo>
                      <a:lnTo>
                        <a:pt x="76" y="0"/>
                      </a:lnTo>
                      <a:lnTo>
                        <a:pt x="798" y="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9" name="Freeform 48"/>
                <p:cNvSpPr>
                  <a:spLocks/>
                </p:cNvSpPr>
                <p:nvPr userDrawn="1"/>
              </p:nvSpPr>
              <p:spPr bwMode="ltGray">
                <a:xfrm>
                  <a:off x="1770" y="671"/>
                  <a:ext cx="45" cy="71"/>
                </a:xfrm>
                <a:custGeom>
                  <a:avLst/>
                  <a:gdLst>
                    <a:gd name="T0" fmla="*/ 7 w 43"/>
                    <a:gd name="T1" fmla="*/ 9 h 85"/>
                    <a:gd name="T2" fmla="*/ 18 w 43"/>
                    <a:gd name="T3" fmla="*/ 3 h 85"/>
                    <a:gd name="T4" fmla="*/ 39 w 43"/>
                    <a:gd name="T5" fmla="*/ 28 h 85"/>
                    <a:gd name="T6" fmla="*/ 20 w 43"/>
                    <a:gd name="T7" fmla="*/ 71 h 85"/>
                    <a:gd name="T8" fmla="*/ 1 w 43"/>
                    <a:gd name="T9" fmla="*/ 58 h 85"/>
                    <a:gd name="T10" fmla="*/ 7 w 43"/>
                    <a:gd name="T11" fmla="*/ 9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85">
                      <a:moveTo>
                        <a:pt x="7" y="11"/>
                      </a:moveTo>
                      <a:cubicBezTo>
                        <a:pt x="4" y="2"/>
                        <a:pt x="9" y="0"/>
                        <a:pt x="17" y="3"/>
                      </a:cubicBezTo>
                      <a:cubicBezTo>
                        <a:pt x="24" y="13"/>
                        <a:pt x="28" y="24"/>
                        <a:pt x="37" y="33"/>
                      </a:cubicBezTo>
                      <a:cubicBezTo>
                        <a:pt x="43" y="52"/>
                        <a:pt x="40" y="78"/>
                        <a:pt x="19" y="85"/>
                      </a:cubicBezTo>
                      <a:cubicBezTo>
                        <a:pt x="6" y="81"/>
                        <a:pt x="5" y="81"/>
                        <a:pt x="1" y="69"/>
                      </a:cubicBezTo>
                      <a:cubicBezTo>
                        <a:pt x="2" y="66"/>
                        <a:pt x="0" y="4"/>
                        <a:pt x="7"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0" name="Freeform 49"/>
                <p:cNvSpPr>
                  <a:spLocks/>
                </p:cNvSpPr>
                <p:nvPr userDrawn="1"/>
              </p:nvSpPr>
              <p:spPr bwMode="ltGray">
                <a:xfrm>
                  <a:off x="2394" y="431"/>
                  <a:ext cx="42" cy="59"/>
                </a:xfrm>
                <a:custGeom>
                  <a:avLst/>
                  <a:gdLst>
                    <a:gd name="T0" fmla="*/ 12 w 44"/>
                    <a:gd name="T1" fmla="*/ 22 h 74"/>
                    <a:gd name="T2" fmla="*/ 28 w 44"/>
                    <a:gd name="T3" fmla="*/ 2 h 74"/>
                    <a:gd name="T4" fmla="*/ 41 w 44"/>
                    <a:gd name="T5" fmla="*/ 3 h 74"/>
                    <a:gd name="T6" fmla="*/ 37 w 44"/>
                    <a:gd name="T7" fmla="*/ 21 h 74"/>
                    <a:gd name="T8" fmla="*/ 12 w 44"/>
                    <a:gd name="T9" fmla="*/ 59 h 74"/>
                    <a:gd name="T10" fmla="*/ 7 w 44"/>
                    <a:gd name="T11" fmla="*/ 48 h 74"/>
                    <a:gd name="T12" fmla="*/ 3 w 44"/>
                    <a:gd name="T13" fmla="*/ 29 h 74"/>
                    <a:gd name="T14" fmla="*/ 12 w 44"/>
                    <a:gd name="T15" fmla="*/ 22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4" h="74">
                      <a:moveTo>
                        <a:pt x="13" y="28"/>
                      </a:moveTo>
                      <a:cubicBezTo>
                        <a:pt x="15" y="13"/>
                        <a:pt x="14" y="7"/>
                        <a:pt x="29" y="2"/>
                      </a:cubicBezTo>
                      <a:cubicBezTo>
                        <a:pt x="34" y="3"/>
                        <a:pt x="40" y="0"/>
                        <a:pt x="43" y="4"/>
                      </a:cubicBezTo>
                      <a:cubicBezTo>
                        <a:pt x="44" y="6"/>
                        <a:pt x="41" y="21"/>
                        <a:pt x="39" y="26"/>
                      </a:cubicBezTo>
                      <a:cubicBezTo>
                        <a:pt x="31" y="43"/>
                        <a:pt x="30" y="63"/>
                        <a:pt x="13" y="74"/>
                      </a:cubicBezTo>
                      <a:cubicBezTo>
                        <a:pt x="4" y="71"/>
                        <a:pt x="4" y="68"/>
                        <a:pt x="7" y="60"/>
                      </a:cubicBezTo>
                      <a:cubicBezTo>
                        <a:pt x="5" y="50"/>
                        <a:pt x="0" y="46"/>
                        <a:pt x="3" y="36"/>
                      </a:cubicBezTo>
                      <a:cubicBezTo>
                        <a:pt x="4" y="32"/>
                        <a:pt x="8" y="23"/>
                        <a:pt x="1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1" name="Freeform 50"/>
                <p:cNvSpPr>
                  <a:spLocks/>
                </p:cNvSpPr>
                <p:nvPr userDrawn="1"/>
              </p:nvSpPr>
              <p:spPr bwMode="ltGray">
                <a:xfrm>
                  <a:off x="2513" y="402"/>
                  <a:ext cx="21" cy="24"/>
                </a:xfrm>
                <a:custGeom>
                  <a:avLst/>
                  <a:gdLst>
                    <a:gd name="T0" fmla="*/ 7 w 20"/>
                    <a:gd name="T1" fmla="*/ 13 h 30"/>
                    <a:gd name="T2" fmla="*/ 5 w 20"/>
                    <a:gd name="T3" fmla="*/ 24 h 30"/>
                    <a:gd name="T4" fmla="*/ 7 w 20"/>
                    <a:gd name="T5" fmla="*/ 13 h 30"/>
                    <a:gd name="T6" fmla="*/ 0 60000 65536"/>
                    <a:gd name="T7" fmla="*/ 0 60000 65536"/>
                    <a:gd name="T8" fmla="*/ 0 60000 65536"/>
                  </a:gdLst>
                  <a:ahLst/>
                  <a:cxnLst>
                    <a:cxn ang="T6">
                      <a:pos x="T0" y="T1"/>
                    </a:cxn>
                    <a:cxn ang="T7">
                      <a:pos x="T2" y="T3"/>
                    </a:cxn>
                    <a:cxn ang="T8">
                      <a:pos x="T4" y="T5"/>
                    </a:cxn>
                  </a:cxnLst>
                  <a:rect l="0" t="0" r="r" b="b"/>
                  <a:pathLst>
                    <a:path w="20" h="30">
                      <a:moveTo>
                        <a:pt x="7" y="16"/>
                      </a:moveTo>
                      <a:cubicBezTo>
                        <a:pt x="18" y="0"/>
                        <a:pt x="20" y="20"/>
                        <a:pt x="5" y="30"/>
                      </a:cubicBezTo>
                      <a:cubicBezTo>
                        <a:pt x="0" y="23"/>
                        <a:pt x="1" y="22"/>
                        <a:pt x="7"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2" name="Freeform 51"/>
                <p:cNvSpPr>
                  <a:spLocks/>
                </p:cNvSpPr>
                <p:nvPr userDrawn="1"/>
              </p:nvSpPr>
              <p:spPr bwMode="ltGray">
                <a:xfrm>
                  <a:off x="333" y="169"/>
                  <a:ext cx="1015" cy="866"/>
                </a:xfrm>
                <a:custGeom>
                  <a:avLst/>
                  <a:gdLst>
                    <a:gd name="T0" fmla="*/ 716 w 682"/>
                    <a:gd name="T1" fmla="*/ 721 h 557"/>
                    <a:gd name="T2" fmla="*/ 723 w 682"/>
                    <a:gd name="T3" fmla="*/ 701 h 557"/>
                    <a:gd name="T4" fmla="*/ 744 w 682"/>
                    <a:gd name="T5" fmla="*/ 642 h 557"/>
                    <a:gd name="T6" fmla="*/ 460 w 682"/>
                    <a:gd name="T7" fmla="*/ 446 h 557"/>
                    <a:gd name="T8" fmla="*/ 420 w 682"/>
                    <a:gd name="T9" fmla="*/ 538 h 557"/>
                    <a:gd name="T10" fmla="*/ 451 w 682"/>
                    <a:gd name="T11" fmla="*/ 864 h 557"/>
                    <a:gd name="T12" fmla="*/ 420 w 682"/>
                    <a:gd name="T13" fmla="*/ 768 h 557"/>
                    <a:gd name="T14" fmla="*/ 360 w 682"/>
                    <a:gd name="T15" fmla="*/ 683 h 557"/>
                    <a:gd name="T16" fmla="*/ 365 w 682"/>
                    <a:gd name="T17" fmla="*/ 642 h 557"/>
                    <a:gd name="T18" fmla="*/ 368 w 682"/>
                    <a:gd name="T19" fmla="*/ 613 h 557"/>
                    <a:gd name="T20" fmla="*/ 327 w 682"/>
                    <a:gd name="T21" fmla="*/ 583 h 557"/>
                    <a:gd name="T22" fmla="*/ 289 w 682"/>
                    <a:gd name="T23" fmla="*/ 538 h 557"/>
                    <a:gd name="T24" fmla="*/ 220 w 682"/>
                    <a:gd name="T25" fmla="*/ 550 h 557"/>
                    <a:gd name="T26" fmla="*/ 188 w 682"/>
                    <a:gd name="T27" fmla="*/ 567 h 557"/>
                    <a:gd name="T28" fmla="*/ 116 w 682"/>
                    <a:gd name="T29" fmla="*/ 567 h 557"/>
                    <a:gd name="T30" fmla="*/ 33 w 682"/>
                    <a:gd name="T31" fmla="*/ 485 h 557"/>
                    <a:gd name="T32" fmla="*/ 16 w 682"/>
                    <a:gd name="T33" fmla="*/ 459 h 557"/>
                    <a:gd name="T34" fmla="*/ 0 w 682"/>
                    <a:gd name="T35" fmla="*/ 410 h 557"/>
                    <a:gd name="T36" fmla="*/ 36 w 682"/>
                    <a:gd name="T37" fmla="*/ 331 h 557"/>
                    <a:gd name="T38" fmla="*/ 48 w 682"/>
                    <a:gd name="T39" fmla="*/ 281 h 557"/>
                    <a:gd name="T40" fmla="*/ 76 w 682"/>
                    <a:gd name="T41" fmla="*/ 222 h 557"/>
                    <a:gd name="T42" fmla="*/ 121 w 682"/>
                    <a:gd name="T43" fmla="*/ 180 h 557"/>
                    <a:gd name="T44" fmla="*/ 249 w 682"/>
                    <a:gd name="T45" fmla="*/ 104 h 557"/>
                    <a:gd name="T46" fmla="*/ 327 w 682"/>
                    <a:gd name="T47" fmla="*/ 47 h 557"/>
                    <a:gd name="T48" fmla="*/ 384 w 682"/>
                    <a:gd name="T49" fmla="*/ 9 h 557"/>
                    <a:gd name="T50" fmla="*/ 540 w 682"/>
                    <a:gd name="T51" fmla="*/ 3 h 557"/>
                    <a:gd name="T52" fmla="*/ 592 w 682"/>
                    <a:gd name="T53" fmla="*/ 0 h 557"/>
                    <a:gd name="T54" fmla="*/ 571 w 682"/>
                    <a:gd name="T55" fmla="*/ 53 h 557"/>
                    <a:gd name="T56" fmla="*/ 659 w 682"/>
                    <a:gd name="T57" fmla="*/ 131 h 557"/>
                    <a:gd name="T58" fmla="*/ 740 w 682"/>
                    <a:gd name="T59" fmla="*/ 115 h 557"/>
                    <a:gd name="T60" fmla="*/ 787 w 682"/>
                    <a:gd name="T61" fmla="*/ 127 h 557"/>
                    <a:gd name="T62" fmla="*/ 832 w 682"/>
                    <a:gd name="T63" fmla="*/ 151 h 557"/>
                    <a:gd name="T64" fmla="*/ 851 w 682"/>
                    <a:gd name="T65" fmla="*/ 292 h 557"/>
                    <a:gd name="T66" fmla="*/ 851 w 682"/>
                    <a:gd name="T67" fmla="*/ 373 h 557"/>
                    <a:gd name="T68" fmla="*/ 891 w 682"/>
                    <a:gd name="T69" fmla="*/ 440 h 557"/>
                    <a:gd name="T70" fmla="*/ 960 w 682"/>
                    <a:gd name="T71" fmla="*/ 466 h 557"/>
                    <a:gd name="T72" fmla="*/ 1012 w 682"/>
                    <a:gd name="T73" fmla="*/ 459 h 557"/>
                    <a:gd name="T74" fmla="*/ 988 w 682"/>
                    <a:gd name="T75" fmla="*/ 529 h 557"/>
                    <a:gd name="T76" fmla="*/ 891 w 682"/>
                    <a:gd name="T77" fmla="*/ 633 h 557"/>
                    <a:gd name="T78" fmla="*/ 816 w 682"/>
                    <a:gd name="T79" fmla="*/ 754 h 557"/>
                    <a:gd name="T80" fmla="*/ 827 w 682"/>
                    <a:gd name="T81" fmla="*/ 790 h 557"/>
                    <a:gd name="T82" fmla="*/ 647 w 682"/>
                    <a:gd name="T83" fmla="*/ 864 h 55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682" h="557">
                      <a:moveTo>
                        <a:pt x="435" y="556"/>
                      </a:moveTo>
                      <a:lnTo>
                        <a:pt x="481" y="464"/>
                      </a:lnTo>
                      <a:lnTo>
                        <a:pt x="473" y="449"/>
                      </a:lnTo>
                      <a:lnTo>
                        <a:pt x="486" y="451"/>
                      </a:lnTo>
                      <a:lnTo>
                        <a:pt x="495" y="441"/>
                      </a:lnTo>
                      <a:lnTo>
                        <a:pt x="500" y="413"/>
                      </a:lnTo>
                      <a:lnTo>
                        <a:pt x="500" y="371"/>
                      </a:lnTo>
                      <a:lnTo>
                        <a:pt x="309" y="287"/>
                      </a:lnTo>
                      <a:lnTo>
                        <a:pt x="296" y="308"/>
                      </a:lnTo>
                      <a:lnTo>
                        <a:pt x="282" y="346"/>
                      </a:lnTo>
                      <a:lnTo>
                        <a:pt x="396" y="557"/>
                      </a:lnTo>
                      <a:lnTo>
                        <a:pt x="303" y="556"/>
                      </a:lnTo>
                      <a:lnTo>
                        <a:pt x="304" y="536"/>
                      </a:lnTo>
                      <a:cubicBezTo>
                        <a:pt x="284" y="520"/>
                        <a:pt x="296" y="510"/>
                        <a:pt x="282" y="494"/>
                      </a:cubicBezTo>
                      <a:cubicBezTo>
                        <a:pt x="276" y="475"/>
                        <a:pt x="267" y="468"/>
                        <a:pt x="253" y="451"/>
                      </a:cubicBezTo>
                      <a:cubicBezTo>
                        <a:pt x="249" y="447"/>
                        <a:pt x="245" y="443"/>
                        <a:pt x="242" y="439"/>
                      </a:cubicBezTo>
                      <a:lnTo>
                        <a:pt x="237" y="432"/>
                      </a:lnTo>
                      <a:cubicBezTo>
                        <a:pt x="237" y="432"/>
                        <a:pt x="245" y="413"/>
                        <a:pt x="245" y="413"/>
                      </a:cubicBezTo>
                      <a:cubicBezTo>
                        <a:pt x="247" y="409"/>
                        <a:pt x="250" y="401"/>
                        <a:pt x="250" y="401"/>
                      </a:cubicBezTo>
                      <a:cubicBezTo>
                        <a:pt x="249" y="399"/>
                        <a:pt x="247" y="397"/>
                        <a:pt x="247" y="394"/>
                      </a:cubicBezTo>
                      <a:cubicBezTo>
                        <a:pt x="248" y="390"/>
                        <a:pt x="253" y="382"/>
                        <a:pt x="253" y="382"/>
                      </a:cubicBezTo>
                      <a:cubicBezTo>
                        <a:pt x="243" y="370"/>
                        <a:pt x="237" y="371"/>
                        <a:pt x="220" y="375"/>
                      </a:cubicBezTo>
                      <a:cubicBezTo>
                        <a:pt x="217" y="371"/>
                        <a:pt x="210" y="369"/>
                        <a:pt x="207" y="365"/>
                      </a:cubicBezTo>
                      <a:cubicBezTo>
                        <a:pt x="185" y="337"/>
                        <a:pt x="216" y="363"/>
                        <a:pt x="194" y="346"/>
                      </a:cubicBezTo>
                      <a:cubicBezTo>
                        <a:pt x="167" y="349"/>
                        <a:pt x="179" y="346"/>
                        <a:pt x="156" y="352"/>
                      </a:cubicBezTo>
                      <a:cubicBezTo>
                        <a:pt x="153" y="353"/>
                        <a:pt x="148" y="354"/>
                        <a:pt x="148" y="354"/>
                      </a:cubicBezTo>
                      <a:cubicBezTo>
                        <a:pt x="146" y="356"/>
                        <a:pt x="145" y="359"/>
                        <a:pt x="142" y="361"/>
                      </a:cubicBezTo>
                      <a:cubicBezTo>
                        <a:pt x="138" y="363"/>
                        <a:pt x="126" y="365"/>
                        <a:pt x="126" y="365"/>
                      </a:cubicBezTo>
                      <a:cubicBezTo>
                        <a:pt x="105" y="354"/>
                        <a:pt x="116" y="355"/>
                        <a:pt x="94" y="361"/>
                      </a:cubicBezTo>
                      <a:cubicBezTo>
                        <a:pt x="89" y="362"/>
                        <a:pt x="78" y="365"/>
                        <a:pt x="78" y="365"/>
                      </a:cubicBezTo>
                      <a:cubicBezTo>
                        <a:pt x="62" y="383"/>
                        <a:pt x="46" y="346"/>
                        <a:pt x="35" y="337"/>
                      </a:cubicBezTo>
                      <a:cubicBezTo>
                        <a:pt x="32" y="330"/>
                        <a:pt x="24" y="320"/>
                        <a:pt x="22" y="312"/>
                      </a:cubicBezTo>
                      <a:cubicBezTo>
                        <a:pt x="20" y="308"/>
                        <a:pt x="22" y="303"/>
                        <a:pt x="19" y="300"/>
                      </a:cubicBezTo>
                      <a:cubicBezTo>
                        <a:pt x="17" y="297"/>
                        <a:pt x="13" y="297"/>
                        <a:pt x="11" y="295"/>
                      </a:cubicBezTo>
                      <a:cubicBezTo>
                        <a:pt x="3" y="277"/>
                        <a:pt x="15" y="306"/>
                        <a:pt x="5" y="276"/>
                      </a:cubicBezTo>
                      <a:cubicBezTo>
                        <a:pt x="4" y="272"/>
                        <a:pt x="0" y="264"/>
                        <a:pt x="0" y="264"/>
                      </a:cubicBezTo>
                      <a:cubicBezTo>
                        <a:pt x="3" y="253"/>
                        <a:pt x="2" y="248"/>
                        <a:pt x="13" y="243"/>
                      </a:cubicBezTo>
                      <a:cubicBezTo>
                        <a:pt x="20" y="221"/>
                        <a:pt x="17" y="231"/>
                        <a:pt x="24" y="213"/>
                      </a:cubicBezTo>
                      <a:cubicBezTo>
                        <a:pt x="26" y="209"/>
                        <a:pt x="30" y="200"/>
                        <a:pt x="30" y="200"/>
                      </a:cubicBezTo>
                      <a:cubicBezTo>
                        <a:pt x="26" y="192"/>
                        <a:pt x="24" y="191"/>
                        <a:pt x="32" y="181"/>
                      </a:cubicBezTo>
                      <a:cubicBezTo>
                        <a:pt x="36" y="177"/>
                        <a:pt x="43" y="169"/>
                        <a:pt x="43" y="169"/>
                      </a:cubicBezTo>
                      <a:cubicBezTo>
                        <a:pt x="37" y="155"/>
                        <a:pt x="36" y="153"/>
                        <a:pt x="51" y="143"/>
                      </a:cubicBezTo>
                      <a:cubicBezTo>
                        <a:pt x="56" y="140"/>
                        <a:pt x="67" y="135"/>
                        <a:pt x="67" y="135"/>
                      </a:cubicBezTo>
                      <a:cubicBezTo>
                        <a:pt x="73" y="129"/>
                        <a:pt x="75" y="122"/>
                        <a:pt x="81" y="116"/>
                      </a:cubicBezTo>
                      <a:cubicBezTo>
                        <a:pt x="89" y="107"/>
                        <a:pt x="102" y="105"/>
                        <a:pt x="113" y="99"/>
                      </a:cubicBezTo>
                      <a:cubicBezTo>
                        <a:pt x="125" y="85"/>
                        <a:pt x="149" y="76"/>
                        <a:pt x="167" y="67"/>
                      </a:cubicBezTo>
                      <a:cubicBezTo>
                        <a:pt x="174" y="59"/>
                        <a:pt x="175" y="50"/>
                        <a:pt x="188" y="46"/>
                      </a:cubicBezTo>
                      <a:cubicBezTo>
                        <a:pt x="198" y="39"/>
                        <a:pt x="208" y="36"/>
                        <a:pt x="220" y="30"/>
                      </a:cubicBezTo>
                      <a:cubicBezTo>
                        <a:pt x="223" y="28"/>
                        <a:pt x="228" y="25"/>
                        <a:pt x="228" y="25"/>
                      </a:cubicBezTo>
                      <a:cubicBezTo>
                        <a:pt x="237" y="16"/>
                        <a:pt x="245" y="10"/>
                        <a:pt x="258" y="6"/>
                      </a:cubicBezTo>
                      <a:cubicBezTo>
                        <a:pt x="269" y="31"/>
                        <a:pt x="301" y="6"/>
                        <a:pt x="320" y="4"/>
                      </a:cubicBezTo>
                      <a:cubicBezTo>
                        <a:pt x="334" y="3"/>
                        <a:pt x="349" y="3"/>
                        <a:pt x="363" y="2"/>
                      </a:cubicBezTo>
                      <a:cubicBezTo>
                        <a:pt x="369" y="3"/>
                        <a:pt x="376" y="5"/>
                        <a:pt x="382" y="4"/>
                      </a:cubicBezTo>
                      <a:cubicBezTo>
                        <a:pt x="387" y="4"/>
                        <a:pt x="398" y="0"/>
                        <a:pt x="398" y="0"/>
                      </a:cubicBezTo>
                      <a:cubicBezTo>
                        <a:pt x="415" y="8"/>
                        <a:pt x="406" y="16"/>
                        <a:pt x="400" y="30"/>
                      </a:cubicBezTo>
                      <a:cubicBezTo>
                        <a:pt x="398" y="34"/>
                        <a:pt x="384" y="34"/>
                        <a:pt x="384" y="34"/>
                      </a:cubicBezTo>
                      <a:cubicBezTo>
                        <a:pt x="379" y="47"/>
                        <a:pt x="398" y="51"/>
                        <a:pt x="411" y="55"/>
                      </a:cubicBezTo>
                      <a:cubicBezTo>
                        <a:pt x="419" y="72"/>
                        <a:pt x="421" y="79"/>
                        <a:pt x="443" y="84"/>
                      </a:cubicBezTo>
                      <a:cubicBezTo>
                        <a:pt x="461" y="71"/>
                        <a:pt x="435" y="65"/>
                        <a:pt x="468" y="57"/>
                      </a:cubicBezTo>
                      <a:cubicBezTo>
                        <a:pt x="482" y="61"/>
                        <a:pt x="485" y="70"/>
                        <a:pt x="497" y="74"/>
                      </a:cubicBezTo>
                      <a:cubicBezTo>
                        <a:pt x="505" y="76"/>
                        <a:pt x="513" y="78"/>
                        <a:pt x="521" y="80"/>
                      </a:cubicBezTo>
                      <a:cubicBezTo>
                        <a:pt x="524" y="81"/>
                        <a:pt x="529" y="82"/>
                        <a:pt x="529" y="82"/>
                      </a:cubicBezTo>
                      <a:cubicBezTo>
                        <a:pt x="547" y="78"/>
                        <a:pt x="547" y="76"/>
                        <a:pt x="562" y="84"/>
                      </a:cubicBezTo>
                      <a:cubicBezTo>
                        <a:pt x="566" y="95"/>
                        <a:pt x="565" y="86"/>
                        <a:pt x="559" y="97"/>
                      </a:cubicBezTo>
                      <a:cubicBezTo>
                        <a:pt x="557" y="101"/>
                        <a:pt x="554" y="110"/>
                        <a:pt x="554" y="110"/>
                      </a:cubicBezTo>
                      <a:cubicBezTo>
                        <a:pt x="556" y="132"/>
                        <a:pt x="556" y="168"/>
                        <a:pt x="572" y="188"/>
                      </a:cubicBezTo>
                      <a:cubicBezTo>
                        <a:pt x="568" y="198"/>
                        <a:pt x="564" y="208"/>
                        <a:pt x="562" y="219"/>
                      </a:cubicBezTo>
                      <a:cubicBezTo>
                        <a:pt x="564" y="227"/>
                        <a:pt x="569" y="233"/>
                        <a:pt x="572" y="240"/>
                      </a:cubicBezTo>
                      <a:cubicBezTo>
                        <a:pt x="573" y="247"/>
                        <a:pt x="572" y="254"/>
                        <a:pt x="575" y="259"/>
                      </a:cubicBezTo>
                      <a:cubicBezTo>
                        <a:pt x="577" y="263"/>
                        <a:pt x="595" y="272"/>
                        <a:pt x="599" y="283"/>
                      </a:cubicBezTo>
                      <a:cubicBezTo>
                        <a:pt x="594" y="295"/>
                        <a:pt x="603" y="306"/>
                        <a:pt x="618" y="310"/>
                      </a:cubicBezTo>
                      <a:cubicBezTo>
                        <a:pt x="630" y="307"/>
                        <a:pt x="638" y="308"/>
                        <a:pt x="645" y="300"/>
                      </a:cubicBezTo>
                      <a:cubicBezTo>
                        <a:pt x="660" y="302"/>
                        <a:pt x="663" y="303"/>
                        <a:pt x="672" y="293"/>
                      </a:cubicBezTo>
                      <a:cubicBezTo>
                        <a:pt x="675" y="294"/>
                        <a:pt x="679" y="293"/>
                        <a:pt x="680" y="295"/>
                      </a:cubicBezTo>
                      <a:cubicBezTo>
                        <a:pt x="682" y="301"/>
                        <a:pt x="674" y="321"/>
                        <a:pt x="672" y="327"/>
                      </a:cubicBezTo>
                      <a:cubicBezTo>
                        <a:pt x="668" y="340"/>
                        <a:pt x="671" y="326"/>
                        <a:pt x="664" y="340"/>
                      </a:cubicBezTo>
                      <a:cubicBezTo>
                        <a:pt x="652" y="360"/>
                        <a:pt x="646" y="381"/>
                        <a:pt x="621" y="394"/>
                      </a:cubicBezTo>
                      <a:cubicBezTo>
                        <a:pt x="614" y="402"/>
                        <a:pt x="609" y="402"/>
                        <a:pt x="599" y="407"/>
                      </a:cubicBezTo>
                      <a:cubicBezTo>
                        <a:pt x="590" y="418"/>
                        <a:pt x="579" y="429"/>
                        <a:pt x="567" y="439"/>
                      </a:cubicBezTo>
                      <a:cubicBezTo>
                        <a:pt x="560" y="454"/>
                        <a:pt x="555" y="470"/>
                        <a:pt x="548" y="485"/>
                      </a:cubicBezTo>
                      <a:cubicBezTo>
                        <a:pt x="549" y="489"/>
                        <a:pt x="550" y="492"/>
                        <a:pt x="551" y="496"/>
                      </a:cubicBezTo>
                      <a:cubicBezTo>
                        <a:pt x="552" y="500"/>
                        <a:pt x="556" y="508"/>
                        <a:pt x="556" y="508"/>
                      </a:cubicBezTo>
                      <a:cubicBezTo>
                        <a:pt x="559" y="524"/>
                        <a:pt x="562" y="546"/>
                        <a:pt x="576" y="557"/>
                      </a:cubicBezTo>
                      <a:lnTo>
                        <a:pt x="435" y="55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3" name="Freeform 52"/>
                <p:cNvSpPr>
                  <a:spLocks/>
                </p:cNvSpPr>
                <p:nvPr userDrawn="1"/>
              </p:nvSpPr>
              <p:spPr bwMode="ltGray">
                <a:xfrm>
                  <a:off x="727" y="495"/>
                  <a:ext cx="382" cy="540"/>
                </a:xfrm>
                <a:custGeom>
                  <a:avLst/>
                  <a:gdLst>
                    <a:gd name="T0" fmla="*/ 361 w 257"/>
                    <a:gd name="T1" fmla="*/ 540 h 347"/>
                    <a:gd name="T2" fmla="*/ 346 w 257"/>
                    <a:gd name="T3" fmla="*/ 468 h 347"/>
                    <a:gd name="T4" fmla="*/ 323 w 257"/>
                    <a:gd name="T5" fmla="*/ 448 h 347"/>
                    <a:gd name="T6" fmla="*/ 320 w 257"/>
                    <a:gd name="T7" fmla="*/ 419 h 347"/>
                    <a:gd name="T8" fmla="*/ 311 w 257"/>
                    <a:gd name="T9" fmla="*/ 395 h 347"/>
                    <a:gd name="T10" fmla="*/ 311 w 257"/>
                    <a:gd name="T11" fmla="*/ 356 h 347"/>
                    <a:gd name="T12" fmla="*/ 308 w 257"/>
                    <a:gd name="T13" fmla="*/ 333 h 347"/>
                    <a:gd name="T14" fmla="*/ 339 w 257"/>
                    <a:gd name="T15" fmla="*/ 314 h 347"/>
                    <a:gd name="T16" fmla="*/ 382 w 257"/>
                    <a:gd name="T17" fmla="*/ 307 h 347"/>
                    <a:gd name="T18" fmla="*/ 382 w 257"/>
                    <a:gd name="T19" fmla="*/ 212 h 347"/>
                    <a:gd name="T20" fmla="*/ 80 w 257"/>
                    <a:gd name="T21" fmla="*/ 149 h 347"/>
                    <a:gd name="T22" fmla="*/ 48 w 257"/>
                    <a:gd name="T23" fmla="*/ 153 h 347"/>
                    <a:gd name="T24" fmla="*/ 24 w 257"/>
                    <a:gd name="T25" fmla="*/ 159 h 347"/>
                    <a:gd name="T26" fmla="*/ 0 w 257"/>
                    <a:gd name="T27" fmla="*/ 232 h 347"/>
                    <a:gd name="T28" fmla="*/ 138 w 257"/>
                    <a:gd name="T29" fmla="*/ 538 h 347"/>
                    <a:gd name="T30" fmla="*/ 361 w 257"/>
                    <a:gd name="T31" fmla="*/ 540 h 34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57" h="347">
                      <a:moveTo>
                        <a:pt x="243" y="347"/>
                      </a:moveTo>
                      <a:lnTo>
                        <a:pt x="233" y="301"/>
                      </a:lnTo>
                      <a:lnTo>
                        <a:pt x="217" y="288"/>
                      </a:lnTo>
                      <a:lnTo>
                        <a:pt x="215" y="269"/>
                      </a:lnTo>
                      <a:lnTo>
                        <a:pt x="209" y="254"/>
                      </a:lnTo>
                      <a:lnTo>
                        <a:pt x="209" y="229"/>
                      </a:lnTo>
                      <a:lnTo>
                        <a:pt x="207" y="214"/>
                      </a:lnTo>
                      <a:lnTo>
                        <a:pt x="228" y="202"/>
                      </a:lnTo>
                      <a:lnTo>
                        <a:pt x="257" y="197"/>
                      </a:lnTo>
                      <a:lnTo>
                        <a:pt x="257" y="136"/>
                      </a:lnTo>
                      <a:cubicBezTo>
                        <a:pt x="209" y="119"/>
                        <a:pt x="13" y="0"/>
                        <a:pt x="54" y="96"/>
                      </a:cubicBezTo>
                      <a:cubicBezTo>
                        <a:pt x="36" y="106"/>
                        <a:pt x="57" y="97"/>
                        <a:pt x="32" y="98"/>
                      </a:cubicBezTo>
                      <a:cubicBezTo>
                        <a:pt x="27" y="99"/>
                        <a:pt x="16" y="102"/>
                        <a:pt x="16" y="102"/>
                      </a:cubicBezTo>
                      <a:lnTo>
                        <a:pt x="0" y="149"/>
                      </a:lnTo>
                      <a:lnTo>
                        <a:pt x="93" y="346"/>
                      </a:lnTo>
                      <a:lnTo>
                        <a:pt x="243" y="347"/>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4" name="Freeform 53"/>
                <p:cNvSpPr>
                  <a:spLocks/>
                </p:cNvSpPr>
                <p:nvPr userDrawn="1"/>
              </p:nvSpPr>
              <p:spPr bwMode="ltGray">
                <a:xfrm>
                  <a:off x="1400" y="896"/>
                  <a:ext cx="16" cy="29"/>
                </a:xfrm>
                <a:custGeom>
                  <a:avLst/>
                  <a:gdLst>
                    <a:gd name="T0" fmla="*/ 6 w 19"/>
                    <a:gd name="T1" fmla="*/ 20 h 37"/>
                    <a:gd name="T2" fmla="*/ 16 w 19"/>
                    <a:gd name="T3" fmla="*/ 16 h 37"/>
                    <a:gd name="T4" fmla="*/ 6 w 19"/>
                    <a:gd name="T5" fmla="*/ 20 h 37"/>
                    <a:gd name="T6" fmla="*/ 0 60000 65536"/>
                    <a:gd name="T7" fmla="*/ 0 60000 65536"/>
                    <a:gd name="T8" fmla="*/ 0 60000 65536"/>
                  </a:gdLst>
                  <a:ahLst/>
                  <a:cxnLst>
                    <a:cxn ang="T6">
                      <a:pos x="T0" y="T1"/>
                    </a:cxn>
                    <a:cxn ang="T7">
                      <a:pos x="T2" y="T3"/>
                    </a:cxn>
                    <a:cxn ang="T8">
                      <a:pos x="T4" y="T5"/>
                    </a:cxn>
                  </a:cxnLst>
                  <a:rect l="0" t="0" r="r" b="b"/>
                  <a:pathLst>
                    <a:path w="19" h="37">
                      <a:moveTo>
                        <a:pt x="7" y="25"/>
                      </a:moveTo>
                      <a:cubicBezTo>
                        <a:pt x="0" y="4"/>
                        <a:pt x="12" y="0"/>
                        <a:pt x="19" y="21"/>
                      </a:cubicBezTo>
                      <a:cubicBezTo>
                        <a:pt x="14" y="37"/>
                        <a:pt x="18" y="36"/>
                        <a:pt x="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5" name="Freeform 54"/>
                <p:cNvSpPr>
                  <a:spLocks/>
                </p:cNvSpPr>
                <p:nvPr userDrawn="1"/>
              </p:nvSpPr>
              <p:spPr bwMode="ltGray">
                <a:xfrm>
                  <a:off x="1379" y="617"/>
                  <a:ext cx="21" cy="17"/>
                </a:xfrm>
                <a:custGeom>
                  <a:avLst/>
                  <a:gdLst>
                    <a:gd name="T0" fmla="*/ 11 w 22"/>
                    <a:gd name="T1" fmla="*/ 10 h 20"/>
                    <a:gd name="T2" fmla="*/ 15 w 22"/>
                    <a:gd name="T3" fmla="*/ 0 h 20"/>
                    <a:gd name="T4" fmla="*/ 19 w 22"/>
                    <a:gd name="T5" fmla="*/ 10 h 20"/>
                    <a:gd name="T6" fmla="*/ 8 w 22"/>
                    <a:gd name="T7" fmla="*/ 17 h 20"/>
                    <a:gd name="T8" fmla="*/ 11 w 22"/>
                    <a:gd name="T9" fmla="*/ 1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20">
                      <a:moveTo>
                        <a:pt x="12" y="12"/>
                      </a:moveTo>
                      <a:cubicBezTo>
                        <a:pt x="13" y="8"/>
                        <a:pt x="12" y="0"/>
                        <a:pt x="16" y="0"/>
                      </a:cubicBezTo>
                      <a:cubicBezTo>
                        <a:pt x="20" y="0"/>
                        <a:pt x="22" y="8"/>
                        <a:pt x="20" y="12"/>
                      </a:cubicBezTo>
                      <a:cubicBezTo>
                        <a:pt x="18" y="16"/>
                        <a:pt x="12" y="17"/>
                        <a:pt x="8" y="20"/>
                      </a:cubicBezTo>
                      <a:cubicBezTo>
                        <a:pt x="3" y="5"/>
                        <a:pt x="0" y="6"/>
                        <a:pt x="12"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6" name="Freeform 55"/>
                <p:cNvSpPr>
                  <a:spLocks/>
                </p:cNvSpPr>
                <p:nvPr userDrawn="1"/>
              </p:nvSpPr>
              <p:spPr bwMode="ltGray">
                <a:xfrm>
                  <a:off x="453" y="275"/>
                  <a:ext cx="58" cy="24"/>
                </a:xfrm>
                <a:custGeom>
                  <a:avLst/>
                  <a:gdLst>
                    <a:gd name="T0" fmla="*/ 24 w 57"/>
                    <a:gd name="T1" fmla="*/ 14 h 30"/>
                    <a:gd name="T2" fmla="*/ 33 w 57"/>
                    <a:gd name="T3" fmla="*/ 5 h 30"/>
                    <a:gd name="T4" fmla="*/ 37 w 57"/>
                    <a:gd name="T5" fmla="*/ 24 h 30"/>
                    <a:gd name="T6" fmla="*/ 24 w 57"/>
                    <a:gd name="T7" fmla="*/ 14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7" h="30">
                      <a:moveTo>
                        <a:pt x="24" y="18"/>
                      </a:moveTo>
                      <a:cubicBezTo>
                        <a:pt x="0" y="10"/>
                        <a:pt x="9" y="0"/>
                        <a:pt x="32" y="6"/>
                      </a:cubicBezTo>
                      <a:cubicBezTo>
                        <a:pt x="46" y="15"/>
                        <a:pt x="57" y="23"/>
                        <a:pt x="36" y="30"/>
                      </a:cubicBezTo>
                      <a:cubicBezTo>
                        <a:pt x="21" y="25"/>
                        <a:pt x="24" y="30"/>
                        <a:pt x="24"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7" name="Freeform 56"/>
                <p:cNvSpPr>
                  <a:spLocks/>
                </p:cNvSpPr>
                <p:nvPr userDrawn="1"/>
              </p:nvSpPr>
              <p:spPr bwMode="ltGray">
                <a:xfrm>
                  <a:off x="1161" y="50"/>
                  <a:ext cx="691" cy="569"/>
                </a:xfrm>
                <a:custGeom>
                  <a:avLst/>
                  <a:gdLst>
                    <a:gd name="T0" fmla="*/ 472 w 693"/>
                    <a:gd name="T1" fmla="*/ 379 h 696"/>
                    <a:gd name="T2" fmla="*/ 392 w 693"/>
                    <a:gd name="T3" fmla="*/ 370 h 696"/>
                    <a:gd name="T4" fmla="*/ 324 w 693"/>
                    <a:gd name="T5" fmla="*/ 337 h 696"/>
                    <a:gd name="T6" fmla="*/ 264 w 693"/>
                    <a:gd name="T7" fmla="*/ 327 h 696"/>
                    <a:gd name="T8" fmla="*/ 236 w 693"/>
                    <a:gd name="T9" fmla="*/ 340 h 696"/>
                    <a:gd name="T10" fmla="*/ 260 w 693"/>
                    <a:gd name="T11" fmla="*/ 350 h 696"/>
                    <a:gd name="T12" fmla="*/ 292 w 693"/>
                    <a:gd name="T13" fmla="*/ 383 h 696"/>
                    <a:gd name="T14" fmla="*/ 320 w 693"/>
                    <a:gd name="T15" fmla="*/ 389 h 696"/>
                    <a:gd name="T16" fmla="*/ 332 w 693"/>
                    <a:gd name="T17" fmla="*/ 438 h 696"/>
                    <a:gd name="T18" fmla="*/ 312 w 693"/>
                    <a:gd name="T19" fmla="*/ 451 h 696"/>
                    <a:gd name="T20" fmla="*/ 260 w 693"/>
                    <a:gd name="T21" fmla="*/ 504 h 696"/>
                    <a:gd name="T22" fmla="*/ 224 w 693"/>
                    <a:gd name="T23" fmla="*/ 513 h 696"/>
                    <a:gd name="T24" fmla="*/ 97 w 693"/>
                    <a:gd name="T25" fmla="*/ 569 h 696"/>
                    <a:gd name="T26" fmla="*/ 77 w 693"/>
                    <a:gd name="T27" fmla="*/ 504 h 696"/>
                    <a:gd name="T28" fmla="*/ 45 w 693"/>
                    <a:gd name="T29" fmla="*/ 428 h 696"/>
                    <a:gd name="T30" fmla="*/ 33 w 693"/>
                    <a:gd name="T31" fmla="*/ 366 h 696"/>
                    <a:gd name="T32" fmla="*/ 53 w 693"/>
                    <a:gd name="T33" fmla="*/ 281 h 696"/>
                    <a:gd name="T34" fmla="*/ 17 w 693"/>
                    <a:gd name="T35" fmla="*/ 320 h 696"/>
                    <a:gd name="T36" fmla="*/ 81 w 693"/>
                    <a:gd name="T37" fmla="*/ 229 h 696"/>
                    <a:gd name="T38" fmla="*/ 113 w 693"/>
                    <a:gd name="T39" fmla="*/ 167 h 696"/>
                    <a:gd name="T40" fmla="*/ 37 w 693"/>
                    <a:gd name="T41" fmla="*/ 167 h 696"/>
                    <a:gd name="T42" fmla="*/ 1 w 693"/>
                    <a:gd name="T43" fmla="*/ 160 h 696"/>
                    <a:gd name="T44" fmla="*/ 25 w 693"/>
                    <a:gd name="T45" fmla="*/ 114 h 696"/>
                    <a:gd name="T46" fmla="*/ 97 w 693"/>
                    <a:gd name="T47" fmla="*/ 92 h 696"/>
                    <a:gd name="T48" fmla="*/ 220 w 693"/>
                    <a:gd name="T49" fmla="*/ 101 h 696"/>
                    <a:gd name="T50" fmla="*/ 228 w 693"/>
                    <a:gd name="T51" fmla="*/ 52 h 696"/>
                    <a:gd name="T52" fmla="*/ 260 w 693"/>
                    <a:gd name="T53" fmla="*/ 0 h 696"/>
                    <a:gd name="T54" fmla="*/ 356 w 693"/>
                    <a:gd name="T55" fmla="*/ 36 h 696"/>
                    <a:gd name="T56" fmla="*/ 328 w 693"/>
                    <a:gd name="T57" fmla="*/ 72 h 696"/>
                    <a:gd name="T58" fmla="*/ 300 w 693"/>
                    <a:gd name="T59" fmla="*/ 144 h 696"/>
                    <a:gd name="T60" fmla="*/ 360 w 693"/>
                    <a:gd name="T61" fmla="*/ 157 h 696"/>
                    <a:gd name="T62" fmla="*/ 372 w 693"/>
                    <a:gd name="T63" fmla="*/ 111 h 696"/>
                    <a:gd name="T64" fmla="*/ 416 w 693"/>
                    <a:gd name="T65" fmla="*/ 75 h 696"/>
                    <a:gd name="T66" fmla="*/ 496 w 693"/>
                    <a:gd name="T67" fmla="*/ 72 h 696"/>
                    <a:gd name="T68" fmla="*/ 527 w 693"/>
                    <a:gd name="T69" fmla="*/ 43 h 696"/>
                    <a:gd name="T70" fmla="*/ 539 w 693"/>
                    <a:gd name="T71" fmla="*/ 376 h 69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93" h="696">
                      <a:moveTo>
                        <a:pt x="541" y="460"/>
                      </a:moveTo>
                      <a:lnTo>
                        <a:pt x="473" y="464"/>
                      </a:lnTo>
                      <a:lnTo>
                        <a:pt x="441" y="452"/>
                      </a:lnTo>
                      <a:lnTo>
                        <a:pt x="393" y="452"/>
                      </a:lnTo>
                      <a:cubicBezTo>
                        <a:pt x="365" y="448"/>
                        <a:pt x="360" y="444"/>
                        <a:pt x="337" y="436"/>
                      </a:cubicBezTo>
                      <a:cubicBezTo>
                        <a:pt x="336" y="432"/>
                        <a:pt x="330" y="413"/>
                        <a:pt x="325" y="412"/>
                      </a:cubicBezTo>
                      <a:cubicBezTo>
                        <a:pt x="317" y="411"/>
                        <a:pt x="301" y="420"/>
                        <a:pt x="301" y="420"/>
                      </a:cubicBezTo>
                      <a:cubicBezTo>
                        <a:pt x="289" y="412"/>
                        <a:pt x="277" y="408"/>
                        <a:pt x="265" y="400"/>
                      </a:cubicBezTo>
                      <a:cubicBezTo>
                        <a:pt x="252" y="380"/>
                        <a:pt x="256" y="356"/>
                        <a:pt x="233" y="348"/>
                      </a:cubicBezTo>
                      <a:cubicBezTo>
                        <a:pt x="217" y="372"/>
                        <a:pt x="221" y="392"/>
                        <a:pt x="237" y="416"/>
                      </a:cubicBezTo>
                      <a:cubicBezTo>
                        <a:pt x="234" y="428"/>
                        <a:pt x="228" y="445"/>
                        <a:pt x="237" y="444"/>
                      </a:cubicBezTo>
                      <a:cubicBezTo>
                        <a:pt x="247" y="443"/>
                        <a:pt x="261" y="428"/>
                        <a:pt x="261" y="428"/>
                      </a:cubicBezTo>
                      <a:cubicBezTo>
                        <a:pt x="258" y="450"/>
                        <a:pt x="243" y="475"/>
                        <a:pt x="269" y="484"/>
                      </a:cubicBezTo>
                      <a:cubicBezTo>
                        <a:pt x="277" y="479"/>
                        <a:pt x="288" y="476"/>
                        <a:pt x="293" y="468"/>
                      </a:cubicBezTo>
                      <a:cubicBezTo>
                        <a:pt x="302" y="454"/>
                        <a:pt x="303" y="446"/>
                        <a:pt x="317" y="436"/>
                      </a:cubicBezTo>
                      <a:cubicBezTo>
                        <a:pt x="315" y="448"/>
                        <a:pt x="306" y="467"/>
                        <a:pt x="321" y="476"/>
                      </a:cubicBezTo>
                      <a:cubicBezTo>
                        <a:pt x="328" y="480"/>
                        <a:pt x="345" y="484"/>
                        <a:pt x="345" y="484"/>
                      </a:cubicBezTo>
                      <a:cubicBezTo>
                        <a:pt x="382" y="472"/>
                        <a:pt x="347" y="527"/>
                        <a:pt x="333" y="536"/>
                      </a:cubicBezTo>
                      <a:cubicBezTo>
                        <a:pt x="330" y="540"/>
                        <a:pt x="329" y="545"/>
                        <a:pt x="325" y="548"/>
                      </a:cubicBezTo>
                      <a:cubicBezTo>
                        <a:pt x="322" y="551"/>
                        <a:pt x="316" y="549"/>
                        <a:pt x="313" y="552"/>
                      </a:cubicBezTo>
                      <a:cubicBezTo>
                        <a:pt x="300" y="565"/>
                        <a:pt x="320" y="575"/>
                        <a:pt x="293" y="584"/>
                      </a:cubicBezTo>
                      <a:cubicBezTo>
                        <a:pt x="286" y="595"/>
                        <a:pt x="272" y="610"/>
                        <a:pt x="261" y="616"/>
                      </a:cubicBezTo>
                      <a:cubicBezTo>
                        <a:pt x="254" y="620"/>
                        <a:pt x="245" y="621"/>
                        <a:pt x="237" y="624"/>
                      </a:cubicBezTo>
                      <a:cubicBezTo>
                        <a:pt x="233" y="625"/>
                        <a:pt x="225" y="628"/>
                        <a:pt x="225" y="628"/>
                      </a:cubicBezTo>
                      <a:cubicBezTo>
                        <a:pt x="215" y="659"/>
                        <a:pt x="212" y="652"/>
                        <a:pt x="173" y="656"/>
                      </a:cubicBezTo>
                      <a:cubicBezTo>
                        <a:pt x="140" y="667"/>
                        <a:pt x="132" y="687"/>
                        <a:pt x="97" y="696"/>
                      </a:cubicBezTo>
                      <a:cubicBezTo>
                        <a:pt x="77" y="691"/>
                        <a:pt x="75" y="687"/>
                        <a:pt x="81" y="668"/>
                      </a:cubicBezTo>
                      <a:cubicBezTo>
                        <a:pt x="77" y="646"/>
                        <a:pt x="72" y="639"/>
                        <a:pt x="77" y="616"/>
                      </a:cubicBezTo>
                      <a:cubicBezTo>
                        <a:pt x="73" y="598"/>
                        <a:pt x="71" y="587"/>
                        <a:pt x="61" y="572"/>
                      </a:cubicBezTo>
                      <a:cubicBezTo>
                        <a:pt x="58" y="551"/>
                        <a:pt x="51" y="543"/>
                        <a:pt x="45" y="524"/>
                      </a:cubicBezTo>
                      <a:cubicBezTo>
                        <a:pt x="52" y="502"/>
                        <a:pt x="58" y="496"/>
                        <a:pt x="49" y="472"/>
                      </a:cubicBezTo>
                      <a:cubicBezTo>
                        <a:pt x="46" y="463"/>
                        <a:pt x="33" y="448"/>
                        <a:pt x="33" y="448"/>
                      </a:cubicBezTo>
                      <a:cubicBezTo>
                        <a:pt x="42" y="422"/>
                        <a:pt x="42" y="408"/>
                        <a:pt x="33" y="380"/>
                      </a:cubicBezTo>
                      <a:cubicBezTo>
                        <a:pt x="49" y="369"/>
                        <a:pt x="48" y="362"/>
                        <a:pt x="53" y="344"/>
                      </a:cubicBezTo>
                      <a:cubicBezTo>
                        <a:pt x="47" y="327"/>
                        <a:pt x="49" y="308"/>
                        <a:pt x="33" y="332"/>
                      </a:cubicBezTo>
                      <a:cubicBezTo>
                        <a:pt x="40" y="353"/>
                        <a:pt x="29" y="374"/>
                        <a:pt x="17" y="392"/>
                      </a:cubicBezTo>
                      <a:cubicBezTo>
                        <a:pt x="6" y="360"/>
                        <a:pt x="10" y="340"/>
                        <a:pt x="13" y="304"/>
                      </a:cubicBezTo>
                      <a:cubicBezTo>
                        <a:pt x="44" y="314"/>
                        <a:pt x="54" y="289"/>
                        <a:pt x="81" y="280"/>
                      </a:cubicBezTo>
                      <a:cubicBezTo>
                        <a:pt x="94" y="261"/>
                        <a:pt x="85" y="242"/>
                        <a:pt x="105" y="228"/>
                      </a:cubicBezTo>
                      <a:cubicBezTo>
                        <a:pt x="108" y="220"/>
                        <a:pt x="110" y="212"/>
                        <a:pt x="113" y="204"/>
                      </a:cubicBezTo>
                      <a:cubicBezTo>
                        <a:pt x="116" y="196"/>
                        <a:pt x="89" y="196"/>
                        <a:pt x="89" y="196"/>
                      </a:cubicBezTo>
                      <a:cubicBezTo>
                        <a:pt x="81" y="221"/>
                        <a:pt x="58" y="211"/>
                        <a:pt x="37" y="204"/>
                      </a:cubicBezTo>
                      <a:cubicBezTo>
                        <a:pt x="33" y="207"/>
                        <a:pt x="30" y="213"/>
                        <a:pt x="25" y="212"/>
                      </a:cubicBezTo>
                      <a:cubicBezTo>
                        <a:pt x="16" y="210"/>
                        <a:pt x="1" y="196"/>
                        <a:pt x="1" y="196"/>
                      </a:cubicBezTo>
                      <a:cubicBezTo>
                        <a:pt x="4" y="186"/>
                        <a:pt x="4" y="174"/>
                        <a:pt x="9" y="164"/>
                      </a:cubicBezTo>
                      <a:cubicBezTo>
                        <a:pt x="13" y="155"/>
                        <a:pt x="25" y="140"/>
                        <a:pt x="25" y="140"/>
                      </a:cubicBezTo>
                      <a:cubicBezTo>
                        <a:pt x="0" y="132"/>
                        <a:pt x="25" y="128"/>
                        <a:pt x="37" y="124"/>
                      </a:cubicBezTo>
                      <a:cubicBezTo>
                        <a:pt x="58" y="131"/>
                        <a:pt x="75" y="116"/>
                        <a:pt x="97" y="112"/>
                      </a:cubicBezTo>
                      <a:cubicBezTo>
                        <a:pt x="135" y="87"/>
                        <a:pt x="159" y="122"/>
                        <a:pt x="197" y="132"/>
                      </a:cubicBezTo>
                      <a:cubicBezTo>
                        <a:pt x="205" y="129"/>
                        <a:pt x="213" y="127"/>
                        <a:pt x="221" y="124"/>
                      </a:cubicBezTo>
                      <a:cubicBezTo>
                        <a:pt x="225" y="123"/>
                        <a:pt x="226" y="147"/>
                        <a:pt x="233" y="120"/>
                      </a:cubicBezTo>
                      <a:lnTo>
                        <a:pt x="229" y="64"/>
                      </a:lnTo>
                      <a:lnTo>
                        <a:pt x="209" y="40"/>
                      </a:lnTo>
                      <a:cubicBezTo>
                        <a:pt x="243" y="21"/>
                        <a:pt x="240" y="21"/>
                        <a:pt x="261" y="0"/>
                      </a:cubicBezTo>
                      <a:cubicBezTo>
                        <a:pt x="297" y="16"/>
                        <a:pt x="333" y="32"/>
                        <a:pt x="369" y="48"/>
                      </a:cubicBezTo>
                      <a:cubicBezTo>
                        <a:pt x="373" y="50"/>
                        <a:pt x="361" y="44"/>
                        <a:pt x="357" y="44"/>
                      </a:cubicBezTo>
                      <a:cubicBezTo>
                        <a:pt x="349" y="45"/>
                        <a:pt x="333" y="52"/>
                        <a:pt x="333" y="52"/>
                      </a:cubicBezTo>
                      <a:cubicBezTo>
                        <a:pt x="322" y="68"/>
                        <a:pt x="318" y="71"/>
                        <a:pt x="329" y="88"/>
                      </a:cubicBezTo>
                      <a:cubicBezTo>
                        <a:pt x="308" y="119"/>
                        <a:pt x="323" y="118"/>
                        <a:pt x="333" y="148"/>
                      </a:cubicBezTo>
                      <a:cubicBezTo>
                        <a:pt x="320" y="157"/>
                        <a:pt x="314" y="167"/>
                        <a:pt x="301" y="176"/>
                      </a:cubicBezTo>
                      <a:cubicBezTo>
                        <a:pt x="306" y="213"/>
                        <a:pt x="303" y="213"/>
                        <a:pt x="337" y="220"/>
                      </a:cubicBezTo>
                      <a:cubicBezTo>
                        <a:pt x="358" y="216"/>
                        <a:pt x="368" y="214"/>
                        <a:pt x="361" y="192"/>
                      </a:cubicBezTo>
                      <a:cubicBezTo>
                        <a:pt x="362" y="177"/>
                        <a:pt x="362" y="162"/>
                        <a:pt x="365" y="148"/>
                      </a:cubicBezTo>
                      <a:cubicBezTo>
                        <a:pt x="366" y="143"/>
                        <a:pt x="369" y="133"/>
                        <a:pt x="373" y="136"/>
                      </a:cubicBezTo>
                      <a:cubicBezTo>
                        <a:pt x="379" y="140"/>
                        <a:pt x="376" y="149"/>
                        <a:pt x="377" y="156"/>
                      </a:cubicBezTo>
                      <a:cubicBezTo>
                        <a:pt x="404" y="147"/>
                        <a:pt x="409" y="116"/>
                        <a:pt x="417" y="92"/>
                      </a:cubicBezTo>
                      <a:cubicBezTo>
                        <a:pt x="422" y="76"/>
                        <a:pt x="453" y="74"/>
                        <a:pt x="465" y="72"/>
                      </a:cubicBezTo>
                      <a:cubicBezTo>
                        <a:pt x="472" y="92"/>
                        <a:pt x="477" y="93"/>
                        <a:pt x="497" y="88"/>
                      </a:cubicBezTo>
                      <a:cubicBezTo>
                        <a:pt x="512" y="78"/>
                        <a:pt x="515" y="74"/>
                        <a:pt x="509" y="56"/>
                      </a:cubicBezTo>
                      <a:cubicBezTo>
                        <a:pt x="523" y="46"/>
                        <a:pt x="517" y="46"/>
                        <a:pt x="529" y="52"/>
                      </a:cubicBezTo>
                      <a:lnTo>
                        <a:pt x="693" y="72"/>
                      </a:lnTo>
                      <a:lnTo>
                        <a:pt x="541" y="46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8" name="Freeform 57"/>
                <p:cNvSpPr>
                  <a:spLocks/>
                </p:cNvSpPr>
                <p:nvPr userDrawn="1"/>
              </p:nvSpPr>
              <p:spPr bwMode="ltGray">
                <a:xfrm>
                  <a:off x="689" y="6"/>
                  <a:ext cx="1386" cy="232"/>
                </a:xfrm>
                <a:custGeom>
                  <a:avLst/>
                  <a:gdLst>
                    <a:gd name="T0" fmla="*/ 1228 w 931"/>
                    <a:gd name="T1" fmla="*/ 0 h 149"/>
                    <a:gd name="T2" fmla="*/ 213 w 931"/>
                    <a:gd name="T3" fmla="*/ 45 h 149"/>
                    <a:gd name="T4" fmla="*/ 135 w 931"/>
                    <a:gd name="T5" fmla="*/ 65 h 149"/>
                    <a:gd name="T6" fmla="*/ 92 w 931"/>
                    <a:gd name="T7" fmla="*/ 65 h 149"/>
                    <a:gd name="T8" fmla="*/ 33 w 931"/>
                    <a:gd name="T9" fmla="*/ 120 h 149"/>
                    <a:gd name="T10" fmla="*/ 0 w 931"/>
                    <a:gd name="T11" fmla="*/ 163 h 149"/>
                    <a:gd name="T12" fmla="*/ 88 w 931"/>
                    <a:gd name="T13" fmla="*/ 179 h 149"/>
                    <a:gd name="T14" fmla="*/ 144 w 931"/>
                    <a:gd name="T15" fmla="*/ 149 h 149"/>
                    <a:gd name="T16" fmla="*/ 161 w 931"/>
                    <a:gd name="T17" fmla="*/ 131 h 149"/>
                    <a:gd name="T18" fmla="*/ 249 w 931"/>
                    <a:gd name="T19" fmla="*/ 81 h 149"/>
                    <a:gd name="T20" fmla="*/ 320 w 931"/>
                    <a:gd name="T21" fmla="*/ 72 h 149"/>
                    <a:gd name="T22" fmla="*/ 353 w 931"/>
                    <a:gd name="T23" fmla="*/ 146 h 149"/>
                    <a:gd name="T24" fmla="*/ 280 w 931"/>
                    <a:gd name="T25" fmla="*/ 170 h 149"/>
                    <a:gd name="T26" fmla="*/ 344 w 931"/>
                    <a:gd name="T27" fmla="*/ 176 h 149"/>
                    <a:gd name="T28" fmla="*/ 372 w 931"/>
                    <a:gd name="T29" fmla="*/ 140 h 149"/>
                    <a:gd name="T30" fmla="*/ 396 w 931"/>
                    <a:gd name="T31" fmla="*/ 143 h 149"/>
                    <a:gd name="T32" fmla="*/ 377 w 931"/>
                    <a:gd name="T33" fmla="*/ 84 h 149"/>
                    <a:gd name="T34" fmla="*/ 396 w 931"/>
                    <a:gd name="T35" fmla="*/ 69 h 149"/>
                    <a:gd name="T36" fmla="*/ 412 w 931"/>
                    <a:gd name="T37" fmla="*/ 137 h 149"/>
                    <a:gd name="T38" fmla="*/ 396 w 931"/>
                    <a:gd name="T39" fmla="*/ 176 h 149"/>
                    <a:gd name="T40" fmla="*/ 441 w 931"/>
                    <a:gd name="T41" fmla="*/ 202 h 149"/>
                    <a:gd name="T42" fmla="*/ 445 w 931"/>
                    <a:gd name="T43" fmla="*/ 143 h 149"/>
                    <a:gd name="T44" fmla="*/ 493 w 931"/>
                    <a:gd name="T45" fmla="*/ 160 h 149"/>
                    <a:gd name="T46" fmla="*/ 569 w 931"/>
                    <a:gd name="T47" fmla="*/ 114 h 149"/>
                    <a:gd name="T48" fmla="*/ 609 w 931"/>
                    <a:gd name="T49" fmla="*/ 78 h 149"/>
                    <a:gd name="T50" fmla="*/ 654 w 931"/>
                    <a:gd name="T51" fmla="*/ 87 h 149"/>
                    <a:gd name="T52" fmla="*/ 677 w 931"/>
                    <a:gd name="T53" fmla="*/ 78 h 149"/>
                    <a:gd name="T54" fmla="*/ 642 w 931"/>
                    <a:gd name="T55" fmla="*/ 69 h 149"/>
                    <a:gd name="T56" fmla="*/ 706 w 931"/>
                    <a:gd name="T57" fmla="*/ 54 h 149"/>
                    <a:gd name="T58" fmla="*/ 810 w 931"/>
                    <a:gd name="T59" fmla="*/ 84 h 149"/>
                    <a:gd name="T60" fmla="*/ 865 w 931"/>
                    <a:gd name="T61" fmla="*/ 65 h 149"/>
                    <a:gd name="T62" fmla="*/ 869 w 931"/>
                    <a:gd name="T63" fmla="*/ 98 h 149"/>
                    <a:gd name="T64" fmla="*/ 846 w 931"/>
                    <a:gd name="T65" fmla="*/ 157 h 149"/>
                    <a:gd name="T66" fmla="*/ 910 w 931"/>
                    <a:gd name="T67" fmla="*/ 137 h 149"/>
                    <a:gd name="T68" fmla="*/ 929 w 931"/>
                    <a:gd name="T69" fmla="*/ 125 h 149"/>
                    <a:gd name="T70" fmla="*/ 965 w 931"/>
                    <a:gd name="T71" fmla="*/ 95 h 149"/>
                    <a:gd name="T72" fmla="*/ 1182 w 931"/>
                    <a:gd name="T73" fmla="*/ 131 h 14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31" h="149">
                      <a:moveTo>
                        <a:pt x="794" y="84"/>
                      </a:moveTo>
                      <a:cubicBezTo>
                        <a:pt x="813" y="72"/>
                        <a:pt x="931" y="14"/>
                        <a:pt x="825" y="0"/>
                      </a:cubicBezTo>
                      <a:lnTo>
                        <a:pt x="159" y="0"/>
                      </a:lnTo>
                      <a:cubicBezTo>
                        <a:pt x="149" y="12"/>
                        <a:pt x="162" y="18"/>
                        <a:pt x="143" y="29"/>
                      </a:cubicBezTo>
                      <a:cubicBezTo>
                        <a:pt x="130" y="44"/>
                        <a:pt x="133" y="39"/>
                        <a:pt x="116" y="48"/>
                      </a:cubicBezTo>
                      <a:cubicBezTo>
                        <a:pt x="108" y="46"/>
                        <a:pt x="100" y="44"/>
                        <a:pt x="91" y="42"/>
                      </a:cubicBezTo>
                      <a:cubicBezTo>
                        <a:pt x="89" y="41"/>
                        <a:pt x="83" y="40"/>
                        <a:pt x="83" y="40"/>
                      </a:cubicBezTo>
                      <a:cubicBezTo>
                        <a:pt x="76" y="40"/>
                        <a:pt x="68" y="39"/>
                        <a:pt x="62" y="42"/>
                      </a:cubicBezTo>
                      <a:cubicBezTo>
                        <a:pt x="54" y="45"/>
                        <a:pt x="46" y="61"/>
                        <a:pt x="38" y="67"/>
                      </a:cubicBezTo>
                      <a:cubicBezTo>
                        <a:pt x="32" y="71"/>
                        <a:pt x="27" y="74"/>
                        <a:pt x="22" y="77"/>
                      </a:cubicBezTo>
                      <a:cubicBezTo>
                        <a:pt x="16" y="81"/>
                        <a:pt x="5" y="86"/>
                        <a:pt x="5" y="86"/>
                      </a:cubicBezTo>
                      <a:cubicBezTo>
                        <a:pt x="9" y="95"/>
                        <a:pt x="7" y="97"/>
                        <a:pt x="0" y="105"/>
                      </a:cubicBezTo>
                      <a:cubicBezTo>
                        <a:pt x="17" y="107"/>
                        <a:pt x="22" y="107"/>
                        <a:pt x="16" y="120"/>
                      </a:cubicBezTo>
                      <a:cubicBezTo>
                        <a:pt x="27" y="122"/>
                        <a:pt x="48" y="116"/>
                        <a:pt x="59" y="115"/>
                      </a:cubicBezTo>
                      <a:cubicBezTo>
                        <a:pt x="71" y="112"/>
                        <a:pt x="73" y="117"/>
                        <a:pt x="83" y="111"/>
                      </a:cubicBezTo>
                      <a:cubicBezTo>
                        <a:pt x="89" y="96"/>
                        <a:pt x="83" y="100"/>
                        <a:pt x="97" y="96"/>
                      </a:cubicBezTo>
                      <a:cubicBezTo>
                        <a:pt x="100" y="94"/>
                        <a:pt x="103" y="93"/>
                        <a:pt x="105" y="90"/>
                      </a:cubicBezTo>
                      <a:cubicBezTo>
                        <a:pt x="106" y="88"/>
                        <a:pt x="106" y="85"/>
                        <a:pt x="108" y="84"/>
                      </a:cubicBezTo>
                      <a:cubicBezTo>
                        <a:pt x="112" y="80"/>
                        <a:pt x="140" y="69"/>
                        <a:pt x="148" y="67"/>
                      </a:cubicBezTo>
                      <a:cubicBezTo>
                        <a:pt x="160" y="52"/>
                        <a:pt x="153" y="56"/>
                        <a:pt x="167" y="52"/>
                      </a:cubicBezTo>
                      <a:cubicBezTo>
                        <a:pt x="178" y="55"/>
                        <a:pt x="179" y="62"/>
                        <a:pt x="191" y="58"/>
                      </a:cubicBezTo>
                      <a:cubicBezTo>
                        <a:pt x="199" y="52"/>
                        <a:pt x="206" y="51"/>
                        <a:pt x="215" y="46"/>
                      </a:cubicBezTo>
                      <a:cubicBezTo>
                        <a:pt x="226" y="58"/>
                        <a:pt x="217" y="46"/>
                        <a:pt x="223" y="69"/>
                      </a:cubicBezTo>
                      <a:cubicBezTo>
                        <a:pt x="226" y="79"/>
                        <a:pt x="233" y="85"/>
                        <a:pt x="237" y="94"/>
                      </a:cubicBezTo>
                      <a:cubicBezTo>
                        <a:pt x="227" y="100"/>
                        <a:pt x="229" y="104"/>
                        <a:pt x="218" y="107"/>
                      </a:cubicBezTo>
                      <a:cubicBezTo>
                        <a:pt x="207" y="120"/>
                        <a:pt x="203" y="113"/>
                        <a:pt x="188" y="109"/>
                      </a:cubicBezTo>
                      <a:cubicBezTo>
                        <a:pt x="191" y="117"/>
                        <a:pt x="200" y="127"/>
                        <a:pt x="210" y="132"/>
                      </a:cubicBezTo>
                      <a:cubicBezTo>
                        <a:pt x="218" y="114"/>
                        <a:pt x="211" y="122"/>
                        <a:pt x="231" y="113"/>
                      </a:cubicBezTo>
                      <a:cubicBezTo>
                        <a:pt x="237" y="111"/>
                        <a:pt x="248" y="105"/>
                        <a:pt x="248" y="105"/>
                      </a:cubicBezTo>
                      <a:cubicBezTo>
                        <a:pt x="248" y="100"/>
                        <a:pt x="246" y="94"/>
                        <a:pt x="250" y="90"/>
                      </a:cubicBezTo>
                      <a:cubicBezTo>
                        <a:pt x="253" y="88"/>
                        <a:pt x="254" y="96"/>
                        <a:pt x="258" y="96"/>
                      </a:cubicBezTo>
                      <a:cubicBezTo>
                        <a:pt x="262" y="97"/>
                        <a:pt x="264" y="94"/>
                        <a:pt x="266" y="92"/>
                      </a:cubicBezTo>
                      <a:cubicBezTo>
                        <a:pt x="262" y="82"/>
                        <a:pt x="252" y="77"/>
                        <a:pt x="248" y="67"/>
                      </a:cubicBezTo>
                      <a:cubicBezTo>
                        <a:pt x="250" y="63"/>
                        <a:pt x="255" y="58"/>
                        <a:pt x="253" y="54"/>
                      </a:cubicBezTo>
                      <a:cubicBezTo>
                        <a:pt x="251" y="50"/>
                        <a:pt x="248" y="42"/>
                        <a:pt x="248" y="42"/>
                      </a:cubicBezTo>
                      <a:cubicBezTo>
                        <a:pt x="256" y="32"/>
                        <a:pt x="259" y="35"/>
                        <a:pt x="266" y="44"/>
                      </a:cubicBezTo>
                      <a:cubicBezTo>
                        <a:pt x="270" y="56"/>
                        <a:pt x="276" y="61"/>
                        <a:pt x="285" y="71"/>
                      </a:cubicBezTo>
                      <a:cubicBezTo>
                        <a:pt x="281" y="81"/>
                        <a:pt x="289" y="82"/>
                        <a:pt x="277" y="88"/>
                      </a:cubicBezTo>
                      <a:cubicBezTo>
                        <a:pt x="262" y="106"/>
                        <a:pt x="278" y="83"/>
                        <a:pt x="274" y="101"/>
                      </a:cubicBezTo>
                      <a:cubicBezTo>
                        <a:pt x="274" y="105"/>
                        <a:pt x="268" y="109"/>
                        <a:pt x="266" y="113"/>
                      </a:cubicBezTo>
                      <a:cubicBezTo>
                        <a:pt x="270" y="122"/>
                        <a:pt x="268" y="125"/>
                        <a:pt x="261" y="132"/>
                      </a:cubicBezTo>
                      <a:cubicBezTo>
                        <a:pt x="268" y="149"/>
                        <a:pt x="282" y="134"/>
                        <a:pt x="296" y="130"/>
                      </a:cubicBezTo>
                      <a:cubicBezTo>
                        <a:pt x="299" y="122"/>
                        <a:pt x="295" y="119"/>
                        <a:pt x="299" y="111"/>
                      </a:cubicBezTo>
                      <a:cubicBezTo>
                        <a:pt x="296" y="105"/>
                        <a:pt x="288" y="97"/>
                        <a:pt x="299" y="92"/>
                      </a:cubicBezTo>
                      <a:cubicBezTo>
                        <a:pt x="303" y="90"/>
                        <a:pt x="315" y="88"/>
                        <a:pt x="315" y="88"/>
                      </a:cubicBezTo>
                      <a:cubicBezTo>
                        <a:pt x="326" y="91"/>
                        <a:pt x="325" y="95"/>
                        <a:pt x="331" y="103"/>
                      </a:cubicBezTo>
                      <a:cubicBezTo>
                        <a:pt x="339" y="84"/>
                        <a:pt x="331" y="90"/>
                        <a:pt x="361" y="92"/>
                      </a:cubicBezTo>
                      <a:cubicBezTo>
                        <a:pt x="355" y="76"/>
                        <a:pt x="365" y="76"/>
                        <a:pt x="382" y="73"/>
                      </a:cubicBezTo>
                      <a:cubicBezTo>
                        <a:pt x="383" y="71"/>
                        <a:pt x="387" y="57"/>
                        <a:pt x="393" y="54"/>
                      </a:cubicBezTo>
                      <a:cubicBezTo>
                        <a:pt x="398" y="52"/>
                        <a:pt x="409" y="50"/>
                        <a:pt x="409" y="50"/>
                      </a:cubicBezTo>
                      <a:cubicBezTo>
                        <a:pt x="430" y="54"/>
                        <a:pt x="413" y="58"/>
                        <a:pt x="431" y="63"/>
                      </a:cubicBezTo>
                      <a:cubicBezTo>
                        <a:pt x="433" y="61"/>
                        <a:pt x="435" y="57"/>
                        <a:pt x="439" y="56"/>
                      </a:cubicBezTo>
                      <a:cubicBezTo>
                        <a:pt x="445" y="55"/>
                        <a:pt x="452" y="61"/>
                        <a:pt x="457" y="58"/>
                      </a:cubicBezTo>
                      <a:cubicBezTo>
                        <a:pt x="461" y="57"/>
                        <a:pt x="457" y="52"/>
                        <a:pt x="455" y="50"/>
                      </a:cubicBezTo>
                      <a:cubicBezTo>
                        <a:pt x="451" y="47"/>
                        <a:pt x="444" y="47"/>
                        <a:pt x="439" y="46"/>
                      </a:cubicBezTo>
                      <a:cubicBezTo>
                        <a:pt x="436" y="45"/>
                        <a:pt x="431" y="44"/>
                        <a:pt x="431" y="44"/>
                      </a:cubicBezTo>
                      <a:cubicBezTo>
                        <a:pt x="440" y="38"/>
                        <a:pt x="443" y="36"/>
                        <a:pt x="455" y="40"/>
                      </a:cubicBezTo>
                      <a:cubicBezTo>
                        <a:pt x="461" y="38"/>
                        <a:pt x="467" y="35"/>
                        <a:pt x="474" y="35"/>
                      </a:cubicBezTo>
                      <a:cubicBezTo>
                        <a:pt x="483" y="36"/>
                        <a:pt x="511" y="43"/>
                        <a:pt x="519" y="46"/>
                      </a:cubicBezTo>
                      <a:cubicBezTo>
                        <a:pt x="527" y="49"/>
                        <a:pt x="544" y="54"/>
                        <a:pt x="544" y="54"/>
                      </a:cubicBezTo>
                      <a:cubicBezTo>
                        <a:pt x="548" y="54"/>
                        <a:pt x="560" y="52"/>
                        <a:pt x="565" y="50"/>
                      </a:cubicBezTo>
                      <a:cubicBezTo>
                        <a:pt x="570" y="47"/>
                        <a:pt x="581" y="42"/>
                        <a:pt x="581" y="42"/>
                      </a:cubicBezTo>
                      <a:cubicBezTo>
                        <a:pt x="585" y="42"/>
                        <a:pt x="598" y="44"/>
                        <a:pt x="600" y="48"/>
                      </a:cubicBezTo>
                      <a:cubicBezTo>
                        <a:pt x="603" y="55"/>
                        <a:pt x="589" y="61"/>
                        <a:pt x="584" y="63"/>
                      </a:cubicBezTo>
                      <a:cubicBezTo>
                        <a:pt x="576" y="69"/>
                        <a:pt x="568" y="69"/>
                        <a:pt x="565" y="77"/>
                      </a:cubicBezTo>
                      <a:cubicBezTo>
                        <a:pt x="568" y="86"/>
                        <a:pt x="564" y="92"/>
                        <a:pt x="568" y="101"/>
                      </a:cubicBezTo>
                      <a:cubicBezTo>
                        <a:pt x="574" y="93"/>
                        <a:pt x="577" y="91"/>
                        <a:pt x="589" y="94"/>
                      </a:cubicBezTo>
                      <a:cubicBezTo>
                        <a:pt x="595" y="108"/>
                        <a:pt x="602" y="93"/>
                        <a:pt x="611" y="88"/>
                      </a:cubicBezTo>
                      <a:cubicBezTo>
                        <a:pt x="613" y="86"/>
                        <a:pt x="613" y="83"/>
                        <a:pt x="616" y="82"/>
                      </a:cubicBezTo>
                      <a:cubicBezTo>
                        <a:pt x="618" y="80"/>
                        <a:pt x="622" y="81"/>
                        <a:pt x="624" y="80"/>
                      </a:cubicBezTo>
                      <a:cubicBezTo>
                        <a:pt x="626" y="78"/>
                        <a:pt x="626" y="75"/>
                        <a:pt x="627" y="73"/>
                      </a:cubicBezTo>
                      <a:cubicBezTo>
                        <a:pt x="632" y="65"/>
                        <a:pt x="638" y="63"/>
                        <a:pt x="648" y="61"/>
                      </a:cubicBezTo>
                      <a:cubicBezTo>
                        <a:pt x="664" y="62"/>
                        <a:pt x="684" y="69"/>
                        <a:pt x="700" y="69"/>
                      </a:cubicBezTo>
                      <a:lnTo>
                        <a:pt x="794" y="8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9" name="Freeform 58"/>
                <p:cNvSpPr>
                  <a:spLocks/>
                </p:cNvSpPr>
                <p:nvPr userDrawn="1"/>
              </p:nvSpPr>
              <p:spPr bwMode="ltGray">
                <a:xfrm>
                  <a:off x="971" y="91"/>
                  <a:ext cx="30" cy="25"/>
                </a:xfrm>
                <a:custGeom>
                  <a:avLst/>
                  <a:gdLst>
                    <a:gd name="T0" fmla="*/ 3 w 31"/>
                    <a:gd name="T1" fmla="*/ 23 h 30"/>
                    <a:gd name="T2" fmla="*/ 30 w 31"/>
                    <a:gd name="T3" fmla="*/ 0 h 30"/>
                    <a:gd name="T4" fmla="*/ 18 w 31"/>
                    <a:gd name="T5" fmla="*/ 20 h 30"/>
                    <a:gd name="T6" fmla="*/ 3 w 31"/>
                    <a:gd name="T7" fmla="*/ 23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 h="30">
                      <a:moveTo>
                        <a:pt x="3" y="28"/>
                      </a:moveTo>
                      <a:cubicBezTo>
                        <a:pt x="8" y="8"/>
                        <a:pt x="12" y="6"/>
                        <a:pt x="31" y="0"/>
                      </a:cubicBezTo>
                      <a:cubicBezTo>
                        <a:pt x="29" y="5"/>
                        <a:pt x="25" y="22"/>
                        <a:pt x="19" y="24"/>
                      </a:cubicBezTo>
                      <a:cubicBezTo>
                        <a:pt x="0" y="30"/>
                        <a:pt x="3" y="9"/>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90" name="Freeform 59"/>
                <p:cNvSpPr>
                  <a:spLocks/>
                </p:cNvSpPr>
                <p:nvPr userDrawn="1"/>
              </p:nvSpPr>
              <p:spPr bwMode="ltGray">
                <a:xfrm>
                  <a:off x="935" y="125"/>
                  <a:ext cx="45" cy="27"/>
                </a:xfrm>
                <a:custGeom>
                  <a:avLst/>
                  <a:gdLst>
                    <a:gd name="T0" fmla="*/ 6 w 44"/>
                    <a:gd name="T1" fmla="*/ 27 h 32"/>
                    <a:gd name="T2" fmla="*/ 23 w 44"/>
                    <a:gd name="T3" fmla="*/ 0 h 32"/>
                    <a:gd name="T4" fmla="*/ 39 w 44"/>
                    <a:gd name="T5" fmla="*/ 3 h 32"/>
                    <a:gd name="T6" fmla="*/ 6 w 44"/>
                    <a:gd name="T7" fmla="*/ 27 h 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 h="32">
                      <a:moveTo>
                        <a:pt x="6" y="32"/>
                      </a:moveTo>
                      <a:cubicBezTo>
                        <a:pt x="0" y="14"/>
                        <a:pt x="7" y="10"/>
                        <a:pt x="22" y="0"/>
                      </a:cubicBezTo>
                      <a:cubicBezTo>
                        <a:pt x="27" y="1"/>
                        <a:pt x="35" y="0"/>
                        <a:pt x="38" y="4"/>
                      </a:cubicBezTo>
                      <a:cubicBezTo>
                        <a:pt x="44" y="13"/>
                        <a:pt x="16" y="32"/>
                        <a:pt x="6"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91" name="Freeform 60"/>
                <p:cNvSpPr>
                  <a:spLocks/>
                </p:cNvSpPr>
                <p:nvPr userDrawn="1"/>
              </p:nvSpPr>
              <p:spPr bwMode="ltGray">
                <a:xfrm>
                  <a:off x="1081" y="226"/>
                  <a:ext cx="75" cy="14"/>
                </a:xfrm>
                <a:custGeom>
                  <a:avLst/>
                  <a:gdLst>
                    <a:gd name="T0" fmla="*/ 37 w 76"/>
                    <a:gd name="T1" fmla="*/ 14 h 18"/>
                    <a:gd name="T2" fmla="*/ 25 w 76"/>
                    <a:gd name="T3" fmla="*/ 2 h 18"/>
                    <a:gd name="T4" fmla="*/ 37 w 76"/>
                    <a:gd name="T5" fmla="*/ 14 h 18"/>
                    <a:gd name="T6" fmla="*/ 0 60000 65536"/>
                    <a:gd name="T7" fmla="*/ 0 60000 65536"/>
                    <a:gd name="T8" fmla="*/ 0 60000 65536"/>
                  </a:gdLst>
                  <a:ahLst/>
                  <a:cxnLst>
                    <a:cxn ang="T6">
                      <a:pos x="T0" y="T1"/>
                    </a:cxn>
                    <a:cxn ang="T7">
                      <a:pos x="T2" y="T3"/>
                    </a:cxn>
                    <a:cxn ang="T8">
                      <a:pos x="T4" y="T5"/>
                    </a:cxn>
                  </a:cxnLst>
                  <a:rect l="0" t="0" r="r" b="b"/>
                  <a:pathLst>
                    <a:path w="76" h="18">
                      <a:moveTo>
                        <a:pt x="37" y="18"/>
                      </a:moveTo>
                      <a:cubicBezTo>
                        <a:pt x="25" y="14"/>
                        <a:pt x="0" y="10"/>
                        <a:pt x="25" y="2"/>
                      </a:cubicBezTo>
                      <a:cubicBezTo>
                        <a:pt x="76" y="9"/>
                        <a:pt x="46" y="0"/>
                        <a:pt x="37"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92" name="Freeform 61"/>
                <p:cNvSpPr>
                  <a:spLocks/>
                </p:cNvSpPr>
                <p:nvPr userDrawn="1"/>
              </p:nvSpPr>
              <p:spPr bwMode="ltGray">
                <a:xfrm>
                  <a:off x="1210" y="223"/>
                  <a:ext cx="42" cy="37"/>
                </a:xfrm>
                <a:custGeom>
                  <a:avLst/>
                  <a:gdLst>
                    <a:gd name="T0" fmla="*/ 0 w 42"/>
                    <a:gd name="T1" fmla="*/ 18 h 44"/>
                    <a:gd name="T2" fmla="*/ 12 w 42"/>
                    <a:gd name="T3" fmla="*/ 8 h 44"/>
                    <a:gd name="T4" fmla="*/ 0 w 42"/>
                    <a:gd name="T5" fmla="*/ 18 h 44"/>
                    <a:gd name="T6" fmla="*/ 0 60000 65536"/>
                    <a:gd name="T7" fmla="*/ 0 60000 65536"/>
                    <a:gd name="T8" fmla="*/ 0 60000 65536"/>
                  </a:gdLst>
                  <a:ahLst/>
                  <a:cxnLst>
                    <a:cxn ang="T6">
                      <a:pos x="T0" y="T1"/>
                    </a:cxn>
                    <a:cxn ang="T7">
                      <a:pos x="T2" y="T3"/>
                    </a:cxn>
                    <a:cxn ang="T8">
                      <a:pos x="T4" y="T5"/>
                    </a:cxn>
                  </a:cxnLst>
                  <a:rect l="0" t="0" r="r" b="b"/>
                  <a:pathLst>
                    <a:path w="42" h="44">
                      <a:moveTo>
                        <a:pt x="0" y="21"/>
                      </a:moveTo>
                      <a:cubicBezTo>
                        <a:pt x="4" y="17"/>
                        <a:pt x="7" y="11"/>
                        <a:pt x="12" y="9"/>
                      </a:cubicBezTo>
                      <a:cubicBezTo>
                        <a:pt x="42" y="0"/>
                        <a:pt x="23" y="44"/>
                        <a:pt x="0" y="2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93" name="Freeform 62"/>
                <p:cNvSpPr>
                  <a:spLocks/>
                </p:cNvSpPr>
                <p:nvPr userDrawn="1"/>
              </p:nvSpPr>
              <p:spPr bwMode="ltGray">
                <a:xfrm>
                  <a:off x="865" y="123"/>
                  <a:ext cx="33" cy="24"/>
                </a:xfrm>
                <a:custGeom>
                  <a:avLst/>
                  <a:gdLst>
                    <a:gd name="T0" fmla="*/ 7 w 31"/>
                    <a:gd name="T1" fmla="*/ 18 h 30"/>
                    <a:gd name="T2" fmla="*/ 33 w 31"/>
                    <a:gd name="T3" fmla="*/ 8 h 30"/>
                    <a:gd name="T4" fmla="*/ 7 w 31"/>
                    <a:gd name="T5" fmla="*/ 18 h 30"/>
                    <a:gd name="T6" fmla="*/ 0 60000 65536"/>
                    <a:gd name="T7" fmla="*/ 0 60000 65536"/>
                    <a:gd name="T8" fmla="*/ 0 60000 65536"/>
                  </a:gdLst>
                  <a:ahLst/>
                  <a:cxnLst>
                    <a:cxn ang="T6">
                      <a:pos x="T0" y="T1"/>
                    </a:cxn>
                    <a:cxn ang="T7">
                      <a:pos x="T2" y="T3"/>
                    </a:cxn>
                    <a:cxn ang="T8">
                      <a:pos x="T4" y="T5"/>
                    </a:cxn>
                  </a:cxnLst>
                  <a:rect l="0" t="0" r="r" b="b"/>
                  <a:pathLst>
                    <a:path w="31" h="30">
                      <a:moveTo>
                        <a:pt x="7" y="22"/>
                      </a:moveTo>
                      <a:cubicBezTo>
                        <a:pt x="0" y="0"/>
                        <a:pt x="15" y="6"/>
                        <a:pt x="31" y="10"/>
                      </a:cubicBezTo>
                      <a:cubicBezTo>
                        <a:pt x="14" y="16"/>
                        <a:pt x="15" y="30"/>
                        <a:pt x="7" y="2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grpSp>
            <p:nvGrpSpPr>
              <p:cNvPr id="10" name="Group 63"/>
              <p:cNvGrpSpPr>
                <a:grpSpLocks/>
              </p:cNvGrpSpPr>
              <p:nvPr userDrawn="1"/>
            </p:nvGrpSpPr>
            <p:grpSpPr bwMode="auto">
              <a:xfrm>
                <a:off x="7" y="-154"/>
                <a:ext cx="5739" cy="418"/>
                <a:chOff x="1056" y="111"/>
                <a:chExt cx="2448" cy="418"/>
              </a:xfrm>
            </p:grpSpPr>
            <p:sp>
              <p:nvSpPr>
                <p:cNvPr id="27" name="Line 64"/>
                <p:cNvSpPr>
                  <a:spLocks noChangeShapeType="1"/>
                </p:cNvSpPr>
                <p:nvPr/>
              </p:nvSpPr>
              <p:spPr bwMode="white">
                <a:xfrm>
                  <a:off x="1056" y="332"/>
                  <a:ext cx="2448"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8" name="Line 65"/>
                <p:cNvSpPr>
                  <a:spLocks noChangeShapeType="1"/>
                </p:cNvSpPr>
                <p:nvPr/>
              </p:nvSpPr>
              <p:spPr bwMode="white">
                <a:xfrm>
                  <a:off x="1254"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 name="Line 66"/>
                <p:cNvSpPr>
                  <a:spLocks noChangeShapeType="1"/>
                </p:cNvSpPr>
                <p:nvPr/>
              </p:nvSpPr>
              <p:spPr bwMode="white">
                <a:xfrm>
                  <a:off x="1482"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 name="Line 67"/>
                <p:cNvSpPr>
                  <a:spLocks noChangeShapeType="1"/>
                </p:cNvSpPr>
                <p:nvPr/>
              </p:nvSpPr>
              <p:spPr bwMode="white">
                <a:xfrm>
                  <a:off x="1710"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1" name="Line 68"/>
                <p:cNvSpPr>
                  <a:spLocks noChangeShapeType="1"/>
                </p:cNvSpPr>
                <p:nvPr/>
              </p:nvSpPr>
              <p:spPr bwMode="white">
                <a:xfrm>
                  <a:off x="1938"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 name="Line 69"/>
                <p:cNvSpPr>
                  <a:spLocks noChangeShapeType="1"/>
                </p:cNvSpPr>
                <p:nvPr/>
              </p:nvSpPr>
              <p:spPr bwMode="white">
                <a:xfrm>
                  <a:off x="2166"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3" name="Line 70"/>
                <p:cNvSpPr>
                  <a:spLocks noChangeShapeType="1"/>
                </p:cNvSpPr>
                <p:nvPr/>
              </p:nvSpPr>
              <p:spPr bwMode="white">
                <a:xfrm>
                  <a:off x="2394"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 name="Line 71"/>
                <p:cNvSpPr>
                  <a:spLocks noChangeShapeType="1"/>
                </p:cNvSpPr>
                <p:nvPr/>
              </p:nvSpPr>
              <p:spPr bwMode="white">
                <a:xfrm>
                  <a:off x="2622"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 name="Line 72"/>
                <p:cNvSpPr>
                  <a:spLocks noChangeShapeType="1"/>
                </p:cNvSpPr>
                <p:nvPr/>
              </p:nvSpPr>
              <p:spPr bwMode="white">
                <a:xfrm>
                  <a:off x="2850"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6" name="Line 73"/>
                <p:cNvSpPr>
                  <a:spLocks noChangeShapeType="1"/>
                </p:cNvSpPr>
                <p:nvPr/>
              </p:nvSpPr>
              <p:spPr bwMode="white">
                <a:xfrm>
                  <a:off x="3078"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 name="Line 74"/>
                <p:cNvSpPr>
                  <a:spLocks noChangeShapeType="1"/>
                </p:cNvSpPr>
                <p:nvPr/>
              </p:nvSpPr>
              <p:spPr bwMode="white">
                <a:xfrm>
                  <a:off x="3306"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1" name="Group 75"/>
              <p:cNvGrpSpPr>
                <a:grpSpLocks/>
              </p:cNvGrpSpPr>
              <p:nvPr userDrawn="1"/>
            </p:nvGrpSpPr>
            <p:grpSpPr bwMode="auto">
              <a:xfrm>
                <a:off x="-1261" y="-1"/>
                <a:ext cx="2098" cy="1030"/>
                <a:chOff x="1208" y="109"/>
                <a:chExt cx="2098" cy="423"/>
              </a:xfrm>
            </p:grpSpPr>
            <p:sp>
              <p:nvSpPr>
                <p:cNvPr id="12" name="Line 76"/>
                <p:cNvSpPr>
                  <a:spLocks noChangeShapeType="1"/>
                </p:cNvSpPr>
                <p:nvPr/>
              </p:nvSpPr>
              <p:spPr bwMode="ltGray">
                <a:xfrm>
                  <a:off x="2850" y="110"/>
                  <a:ext cx="0" cy="14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 name="Line 77"/>
                <p:cNvSpPr>
                  <a:spLocks noChangeShapeType="1"/>
                </p:cNvSpPr>
                <p:nvPr/>
              </p:nvSpPr>
              <p:spPr bwMode="ltGray">
                <a:xfrm>
                  <a:off x="2972" y="332"/>
                  <a:ext cx="7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4" name="Line 78"/>
                <p:cNvSpPr>
                  <a:spLocks noChangeShapeType="1"/>
                </p:cNvSpPr>
                <p:nvPr/>
              </p:nvSpPr>
              <p:spPr bwMode="ltGray">
                <a:xfrm>
                  <a:off x="3078" y="350"/>
                  <a:ext cx="0" cy="2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5" name="Line 79"/>
                <p:cNvSpPr>
                  <a:spLocks noChangeShapeType="1"/>
                </p:cNvSpPr>
                <p:nvPr/>
              </p:nvSpPr>
              <p:spPr bwMode="ltGray">
                <a:xfrm>
                  <a:off x="3306" y="450"/>
                  <a:ext cx="0" cy="79"/>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 name="Line 80"/>
                <p:cNvSpPr>
                  <a:spLocks noChangeShapeType="1"/>
                </p:cNvSpPr>
                <p:nvPr/>
              </p:nvSpPr>
              <p:spPr bwMode="ltGray">
                <a:xfrm>
                  <a:off x="2166" y="114"/>
                  <a:ext cx="0" cy="6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 name="Line 81"/>
                <p:cNvSpPr>
                  <a:spLocks noChangeShapeType="1"/>
                </p:cNvSpPr>
                <p:nvPr/>
              </p:nvSpPr>
              <p:spPr bwMode="ltGray">
                <a:xfrm>
                  <a:off x="1938" y="111"/>
                  <a:ext cx="0" cy="337"/>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 name="Line 82"/>
                <p:cNvSpPr>
                  <a:spLocks noChangeShapeType="1"/>
                </p:cNvSpPr>
                <p:nvPr/>
              </p:nvSpPr>
              <p:spPr bwMode="ltGray">
                <a:xfrm flipH="1">
                  <a:off x="1912" y="332"/>
                  <a:ext cx="6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9" name="Line 83"/>
                <p:cNvSpPr>
                  <a:spLocks noChangeShapeType="1"/>
                </p:cNvSpPr>
                <p:nvPr/>
              </p:nvSpPr>
              <p:spPr bwMode="ltGray">
                <a:xfrm>
                  <a:off x="1778" y="332"/>
                  <a:ext cx="6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 name="Line 84"/>
                <p:cNvSpPr>
                  <a:spLocks noChangeShapeType="1"/>
                </p:cNvSpPr>
                <p:nvPr/>
              </p:nvSpPr>
              <p:spPr bwMode="ltGray">
                <a:xfrm flipH="1">
                  <a:off x="1578" y="332"/>
                  <a:ext cx="82"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1" name="Line 85"/>
                <p:cNvSpPr>
                  <a:spLocks noChangeShapeType="1"/>
                </p:cNvSpPr>
                <p:nvPr/>
              </p:nvSpPr>
              <p:spPr bwMode="ltGray">
                <a:xfrm>
                  <a:off x="1208" y="332"/>
                  <a:ext cx="34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2" name="Line 86"/>
                <p:cNvSpPr>
                  <a:spLocks noChangeShapeType="1"/>
                </p:cNvSpPr>
                <p:nvPr/>
              </p:nvSpPr>
              <p:spPr bwMode="ltGray">
                <a:xfrm>
                  <a:off x="1480" y="234"/>
                  <a:ext cx="0" cy="29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 name="Line 87"/>
                <p:cNvSpPr>
                  <a:spLocks noChangeShapeType="1"/>
                </p:cNvSpPr>
                <p:nvPr/>
              </p:nvSpPr>
              <p:spPr bwMode="ltGray">
                <a:xfrm>
                  <a:off x="1254" y="252"/>
                  <a:ext cx="0" cy="15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4" name="Line 88"/>
                <p:cNvSpPr>
                  <a:spLocks noChangeShapeType="1"/>
                </p:cNvSpPr>
                <p:nvPr/>
              </p:nvSpPr>
              <p:spPr bwMode="ltGray">
                <a:xfrm flipH="1" flipV="1">
                  <a:off x="1482" y="109"/>
                  <a:ext cx="0" cy="27"/>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 name="Line 89"/>
                <p:cNvSpPr>
                  <a:spLocks noChangeShapeType="1"/>
                </p:cNvSpPr>
                <p:nvPr/>
              </p:nvSpPr>
              <p:spPr bwMode="ltGray">
                <a:xfrm>
                  <a:off x="1710" y="180"/>
                  <a:ext cx="0" cy="9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6" name="Line 90"/>
                <p:cNvSpPr>
                  <a:spLocks noChangeShapeType="1"/>
                </p:cNvSpPr>
                <p:nvPr/>
              </p:nvSpPr>
              <p:spPr bwMode="ltGray">
                <a:xfrm flipV="1">
                  <a:off x="1710" y="111"/>
                  <a:ext cx="0" cy="2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pic>
          <p:nvPicPr>
            <p:cNvPr id="7" name="Picture 91" descr="earth"/>
            <p:cNvPicPr>
              <a:picLocks noChangeAspect="1" noChangeArrowheads="1"/>
            </p:cNvPicPr>
            <p:nvPr userDrawn="1"/>
          </p:nvPicPr>
          <p:blipFill>
            <a:blip r:embed="rId2">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gray">
            <a:xfrm>
              <a:off x="336" y="1566"/>
              <a:ext cx="690" cy="6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5212" name="Rectangle 92"/>
          <p:cNvSpPr>
            <a:spLocks noGrp="1" noChangeArrowheads="1"/>
          </p:cNvSpPr>
          <p:nvPr>
            <p:ph type="ctrTitle"/>
          </p:nvPr>
        </p:nvSpPr>
        <p:spPr>
          <a:xfrm>
            <a:off x="1828800" y="1828800"/>
            <a:ext cx="6934200" cy="2362200"/>
          </a:xfrm>
        </p:spPr>
        <p:txBody>
          <a:bodyPr/>
          <a:lstStyle>
            <a:lvl1pPr>
              <a:defRPr b="1"/>
            </a:lvl1pPr>
          </a:lstStyle>
          <a:p>
            <a:r>
              <a:rPr lang="en-US" smtClean="0"/>
              <a:t>Click to edit Master title style</a:t>
            </a:r>
            <a:endParaRPr lang="en-US" dirty="0"/>
          </a:p>
        </p:txBody>
      </p:sp>
      <p:sp>
        <p:nvSpPr>
          <p:cNvPr id="5213" name="Rectangle 93"/>
          <p:cNvSpPr>
            <a:spLocks noGrp="1" noChangeArrowheads="1"/>
          </p:cNvSpPr>
          <p:nvPr>
            <p:ph type="subTitle" idx="1"/>
          </p:nvPr>
        </p:nvSpPr>
        <p:spPr>
          <a:xfrm>
            <a:off x="1828800" y="4572000"/>
            <a:ext cx="6934200" cy="1295400"/>
          </a:xfrm>
        </p:spPr>
        <p:txBody>
          <a:bodyPr/>
          <a:lstStyle>
            <a:lvl1pPr marL="0" indent="0">
              <a:buFontTx/>
              <a:buNone/>
              <a:defRPr/>
            </a:lvl1pPr>
          </a:lstStyle>
          <a:p>
            <a:r>
              <a:rPr lang="en-US" smtClean="0"/>
              <a:t>Click to edit Master subtitle style</a:t>
            </a:r>
            <a:endParaRPr lang="en-US"/>
          </a:p>
        </p:txBody>
      </p:sp>
      <p:sp>
        <p:nvSpPr>
          <p:cNvPr id="94" name="Rectangle 94"/>
          <p:cNvSpPr>
            <a:spLocks noGrp="1" noChangeArrowheads="1"/>
          </p:cNvSpPr>
          <p:nvPr>
            <p:ph type="dt" sz="half" idx="10"/>
          </p:nvPr>
        </p:nvSpPr>
        <p:spPr>
          <a:xfrm>
            <a:off x="533400" y="6324600"/>
            <a:ext cx="1905000" cy="457200"/>
          </a:xfrm>
        </p:spPr>
        <p:txBody>
          <a:bodyPr/>
          <a:lstStyle>
            <a:lvl1pPr>
              <a:defRPr smtClean="0"/>
            </a:lvl1pPr>
          </a:lstStyle>
          <a:p>
            <a:pPr>
              <a:defRPr/>
            </a:pPr>
            <a:endParaRPr lang="en-US" altLang="en-US"/>
          </a:p>
        </p:txBody>
      </p:sp>
      <p:sp>
        <p:nvSpPr>
          <p:cNvPr id="95" name="Rectangle 95"/>
          <p:cNvSpPr>
            <a:spLocks noGrp="1" noChangeArrowheads="1"/>
          </p:cNvSpPr>
          <p:nvPr>
            <p:ph type="ftr" sz="quarter" idx="11"/>
          </p:nvPr>
        </p:nvSpPr>
        <p:spPr>
          <a:xfrm>
            <a:off x="1905000" y="6324600"/>
            <a:ext cx="5791200" cy="457200"/>
          </a:xfrm>
        </p:spPr>
        <p:txBody>
          <a:bodyPr/>
          <a:lstStyle>
            <a:lvl1pPr>
              <a:defRPr/>
            </a:lvl1pPr>
          </a:lstStyle>
          <a:p>
            <a:pPr>
              <a:defRPr/>
            </a:pPr>
            <a:r>
              <a:rPr lang="en-US" altLang="en-US" smtClean="0"/>
              <a:t>Options, Futures, and Other Derivatives, 11th Edition, Copyright © John C. Hull 2021</a:t>
            </a:r>
            <a:endParaRPr lang="en-US" altLang="en-US" i="0"/>
          </a:p>
        </p:txBody>
      </p:sp>
      <p:sp>
        <p:nvSpPr>
          <p:cNvPr id="96" name="Rectangle 96"/>
          <p:cNvSpPr>
            <a:spLocks noGrp="1" noChangeArrowheads="1"/>
          </p:cNvSpPr>
          <p:nvPr>
            <p:ph type="sldNum" sz="quarter" idx="12"/>
          </p:nvPr>
        </p:nvSpPr>
        <p:spPr>
          <a:xfrm>
            <a:off x="6858000" y="6324600"/>
            <a:ext cx="1905000" cy="457200"/>
          </a:xfrm>
        </p:spPr>
        <p:txBody>
          <a:bodyPr/>
          <a:lstStyle>
            <a:lvl1pPr>
              <a:defRPr/>
            </a:lvl1pPr>
          </a:lstStyle>
          <a:p>
            <a:pPr>
              <a:defRPr/>
            </a:pPr>
            <a:fld id="{2863C8D7-02E6-4272-874C-11AA223959B3}" type="slidenum">
              <a:rPr lang="en-US" altLang="en-US" smtClean="0"/>
              <a:pPr>
                <a:defRPr/>
              </a:pPr>
              <a:t>‹#›</a:t>
            </a:fld>
            <a:endParaRPr lang="en-US" altLang="en-US"/>
          </a:p>
        </p:txBody>
      </p:sp>
    </p:spTree>
    <p:extLst>
      <p:ext uri="{BB962C8B-B14F-4D97-AF65-F5344CB8AC3E}">
        <p14:creationId xmlns:p14="http://schemas.microsoft.com/office/powerpoint/2010/main" val="15855643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lvl1pPr>
              <a:defRPr sz="2800">
                <a:latin typeface="Arial" pitchFamily="34" charset="0"/>
                <a:cs typeface="Arial" pitchFamily="34" charset="0"/>
              </a:defRPr>
            </a:lvl1pPr>
            <a:lvl2pPr>
              <a:defRPr sz="2400">
                <a:latin typeface="Arial" pitchFamily="34" charset="0"/>
                <a:cs typeface="Arial" pitchFamily="34" charset="0"/>
              </a:defRPr>
            </a:lvl2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lvl1pPr>
              <a:defRPr smtClean="0"/>
            </a:lvl1pPr>
          </a:lstStyle>
          <a:p>
            <a:pPr>
              <a:defRPr/>
            </a:pPr>
            <a:endParaRPr lang="en-US" altLang="en-US"/>
          </a:p>
        </p:txBody>
      </p:sp>
      <p:sp>
        <p:nvSpPr>
          <p:cNvPr id="5" name="Footer Placeholder 4"/>
          <p:cNvSpPr>
            <a:spLocks noGrp="1"/>
          </p:cNvSpPr>
          <p:nvPr>
            <p:ph type="ftr" sz="quarter" idx="11"/>
          </p:nvPr>
        </p:nvSpPr>
        <p:spPr>
          <a:xfrm>
            <a:off x="1600200" y="6248400"/>
            <a:ext cx="5029200" cy="457200"/>
          </a:xfrm>
        </p:spPr>
        <p:txBody>
          <a:bodyPr/>
          <a:lstStyle>
            <a:lvl1pPr>
              <a:defRPr/>
            </a:lvl1pPr>
          </a:lstStyle>
          <a:p>
            <a:pPr>
              <a:defRPr/>
            </a:pPr>
            <a:r>
              <a:rPr lang="en-US" altLang="en-US" smtClean="0"/>
              <a:t>Options, Futures, and Other Derivatives, 11th Edition, Copyright © John C. Hull 2021</a:t>
            </a:r>
            <a:endParaRPr lang="en-US" altLang="en-US" i="0"/>
          </a:p>
        </p:txBody>
      </p:sp>
      <p:sp>
        <p:nvSpPr>
          <p:cNvPr id="6" name="Slide Number Placeholder 5"/>
          <p:cNvSpPr>
            <a:spLocks noGrp="1"/>
          </p:cNvSpPr>
          <p:nvPr>
            <p:ph type="sldNum" sz="quarter" idx="12"/>
          </p:nvPr>
        </p:nvSpPr>
        <p:spPr/>
        <p:txBody>
          <a:bodyPr/>
          <a:lstStyle>
            <a:lvl1pPr>
              <a:defRPr/>
            </a:lvl1pPr>
          </a:lstStyle>
          <a:p>
            <a:pPr>
              <a:defRPr/>
            </a:pPr>
            <a:fld id="{B279D880-1821-47EF-A47D-DFD410122695}" type="slidenum">
              <a:rPr lang="en-US" altLang="en-US" smtClean="0"/>
              <a:pPr>
                <a:defRPr/>
              </a:pPr>
              <a:t>‹#›</a:t>
            </a:fld>
            <a:endParaRPr lang="en-US" altLang="en-US"/>
          </a:p>
        </p:txBody>
      </p:sp>
    </p:spTree>
    <p:extLst>
      <p:ext uri="{BB962C8B-B14F-4D97-AF65-F5344CB8AC3E}">
        <p14:creationId xmlns:p14="http://schemas.microsoft.com/office/powerpoint/2010/main" val="38318107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altLang="en-US" smtClean="0"/>
              <a:t>Options, Futures, and Other Derivatives, 11th Edition, Copyright © John C. Hull 2021</a:t>
            </a:r>
            <a:endParaRPr lang="en-US" altLang="en-US" i="0"/>
          </a:p>
        </p:txBody>
      </p:sp>
      <p:sp>
        <p:nvSpPr>
          <p:cNvPr id="6" name="Rectangle 6"/>
          <p:cNvSpPr>
            <a:spLocks noGrp="1" noChangeArrowheads="1"/>
          </p:cNvSpPr>
          <p:nvPr>
            <p:ph type="sldNum" sz="quarter" idx="12"/>
          </p:nvPr>
        </p:nvSpPr>
        <p:spPr>
          <a:ln/>
        </p:spPr>
        <p:txBody>
          <a:bodyPr/>
          <a:lstStyle>
            <a:lvl1pPr>
              <a:defRPr/>
            </a:lvl1pPr>
          </a:lstStyle>
          <a:p>
            <a:pPr>
              <a:defRPr/>
            </a:pPr>
            <a:fld id="{C8007485-0160-4E3C-A0B7-7D6A82D77445}" type="slidenum">
              <a:rPr lang="en-US" altLang="en-US" smtClean="0"/>
              <a:pPr>
                <a:defRPr/>
              </a:pPr>
              <a:t>‹#›</a:t>
            </a:fld>
            <a:endParaRPr lang="en-US" altLang="en-US"/>
          </a:p>
        </p:txBody>
      </p:sp>
    </p:spTree>
    <p:extLst>
      <p:ext uri="{BB962C8B-B14F-4D97-AF65-F5344CB8AC3E}">
        <p14:creationId xmlns:p14="http://schemas.microsoft.com/office/powerpoint/2010/main" val="16550129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2147888"/>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2147888"/>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altLang="en-US" smtClean="0"/>
              <a:t>Options, Futures, and Other Derivatives, 11th Edition, Copyright © John C. Hull 2021</a:t>
            </a:r>
            <a:endParaRPr lang="en-US" altLang="en-US" i="0"/>
          </a:p>
        </p:txBody>
      </p:sp>
      <p:sp>
        <p:nvSpPr>
          <p:cNvPr id="7" name="Rectangle 6"/>
          <p:cNvSpPr>
            <a:spLocks noGrp="1" noChangeArrowheads="1"/>
          </p:cNvSpPr>
          <p:nvPr>
            <p:ph type="sldNum" sz="quarter" idx="12"/>
          </p:nvPr>
        </p:nvSpPr>
        <p:spPr>
          <a:ln/>
        </p:spPr>
        <p:txBody>
          <a:bodyPr/>
          <a:lstStyle>
            <a:lvl1pPr>
              <a:defRPr/>
            </a:lvl1pPr>
          </a:lstStyle>
          <a:p>
            <a:pPr>
              <a:defRPr/>
            </a:pPr>
            <a:fld id="{0A0FD4D2-268D-4916-A7C8-A4A1259BB4B0}" type="slidenum">
              <a:rPr lang="en-US" altLang="en-US" smtClean="0"/>
              <a:pPr>
                <a:defRPr/>
              </a:pPr>
              <a:t>‹#›</a:t>
            </a:fld>
            <a:endParaRPr lang="en-US" altLang="en-US"/>
          </a:p>
        </p:txBody>
      </p:sp>
    </p:spTree>
    <p:extLst>
      <p:ext uri="{BB962C8B-B14F-4D97-AF65-F5344CB8AC3E}">
        <p14:creationId xmlns:p14="http://schemas.microsoft.com/office/powerpoint/2010/main" val="12782985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8" name="Rectangle 5"/>
          <p:cNvSpPr>
            <a:spLocks noGrp="1" noChangeArrowheads="1"/>
          </p:cNvSpPr>
          <p:nvPr>
            <p:ph type="ftr" sz="quarter" idx="11"/>
          </p:nvPr>
        </p:nvSpPr>
        <p:spPr>
          <a:ln/>
        </p:spPr>
        <p:txBody>
          <a:bodyPr/>
          <a:lstStyle>
            <a:lvl1pPr>
              <a:defRPr/>
            </a:lvl1pPr>
          </a:lstStyle>
          <a:p>
            <a:pPr>
              <a:defRPr/>
            </a:pPr>
            <a:r>
              <a:rPr lang="en-US" altLang="en-US" smtClean="0"/>
              <a:t>Options, Futures, and Other Derivatives, 11th Edition, Copyright © John C. Hull 2021</a:t>
            </a:r>
            <a:endParaRPr lang="en-US" altLang="en-US" i="0"/>
          </a:p>
        </p:txBody>
      </p:sp>
      <p:sp>
        <p:nvSpPr>
          <p:cNvPr id="9" name="Rectangle 6"/>
          <p:cNvSpPr>
            <a:spLocks noGrp="1" noChangeArrowheads="1"/>
          </p:cNvSpPr>
          <p:nvPr>
            <p:ph type="sldNum" sz="quarter" idx="12"/>
          </p:nvPr>
        </p:nvSpPr>
        <p:spPr>
          <a:ln/>
        </p:spPr>
        <p:txBody>
          <a:bodyPr/>
          <a:lstStyle>
            <a:lvl1pPr>
              <a:defRPr/>
            </a:lvl1pPr>
          </a:lstStyle>
          <a:p>
            <a:pPr>
              <a:defRPr/>
            </a:pPr>
            <a:fld id="{0F131806-AEEC-48CC-8864-897F2368C934}" type="slidenum">
              <a:rPr lang="en-US" altLang="en-US" smtClean="0"/>
              <a:pPr>
                <a:defRPr/>
              </a:pPr>
              <a:t>‹#›</a:t>
            </a:fld>
            <a:endParaRPr lang="en-US" altLang="en-US"/>
          </a:p>
        </p:txBody>
      </p:sp>
    </p:spTree>
    <p:extLst>
      <p:ext uri="{BB962C8B-B14F-4D97-AF65-F5344CB8AC3E}">
        <p14:creationId xmlns:p14="http://schemas.microsoft.com/office/powerpoint/2010/main" val="38410599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defRPr smtClean="0"/>
            </a:lvl1pPr>
          </a:lstStyle>
          <a:p>
            <a:pPr>
              <a:defRPr/>
            </a:pPr>
            <a:endParaRPr lang="en-US" altLang="en-US"/>
          </a:p>
        </p:txBody>
      </p:sp>
      <p:sp>
        <p:nvSpPr>
          <p:cNvPr id="4" name="Footer Placeholder 3"/>
          <p:cNvSpPr>
            <a:spLocks noGrp="1"/>
          </p:cNvSpPr>
          <p:nvPr>
            <p:ph type="ftr" sz="quarter" idx="11"/>
          </p:nvPr>
        </p:nvSpPr>
        <p:spPr>
          <a:xfrm>
            <a:off x="2133600" y="6324600"/>
            <a:ext cx="4800600" cy="457200"/>
          </a:xfrm>
        </p:spPr>
        <p:txBody>
          <a:bodyPr/>
          <a:lstStyle>
            <a:lvl1pPr>
              <a:defRPr/>
            </a:lvl1pPr>
          </a:lstStyle>
          <a:p>
            <a:pPr>
              <a:defRPr/>
            </a:pPr>
            <a:r>
              <a:rPr lang="en-US" altLang="en-US" smtClean="0"/>
              <a:t>Options, Futures, and Other Derivatives, 11th Edition, Copyright © John C. Hull 2021</a:t>
            </a:r>
            <a:endParaRPr lang="en-US" altLang="en-US" i="0"/>
          </a:p>
        </p:txBody>
      </p:sp>
      <p:sp>
        <p:nvSpPr>
          <p:cNvPr id="5" name="Slide Number Placeholder 4"/>
          <p:cNvSpPr>
            <a:spLocks noGrp="1"/>
          </p:cNvSpPr>
          <p:nvPr>
            <p:ph type="sldNum" sz="quarter" idx="12"/>
          </p:nvPr>
        </p:nvSpPr>
        <p:spPr/>
        <p:txBody>
          <a:bodyPr/>
          <a:lstStyle>
            <a:lvl1pPr>
              <a:defRPr/>
            </a:lvl1pPr>
          </a:lstStyle>
          <a:p>
            <a:pPr>
              <a:defRPr/>
            </a:pPr>
            <a:fld id="{22CA72A1-CDC7-48E0-A975-2B9E53CE00D3}" type="slidenum">
              <a:rPr lang="en-US" altLang="en-US" smtClean="0"/>
              <a:pPr>
                <a:defRPr/>
              </a:pPr>
              <a:t>‹#›</a:t>
            </a:fld>
            <a:endParaRPr lang="en-US" altLang="en-US"/>
          </a:p>
        </p:txBody>
      </p:sp>
    </p:spTree>
    <p:extLst>
      <p:ext uri="{BB962C8B-B14F-4D97-AF65-F5344CB8AC3E}">
        <p14:creationId xmlns:p14="http://schemas.microsoft.com/office/powerpoint/2010/main" val="16615679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3" name="Rectangle 5"/>
          <p:cNvSpPr>
            <a:spLocks noGrp="1" noChangeArrowheads="1"/>
          </p:cNvSpPr>
          <p:nvPr>
            <p:ph type="ftr" sz="quarter" idx="11"/>
          </p:nvPr>
        </p:nvSpPr>
        <p:spPr>
          <a:ln/>
        </p:spPr>
        <p:txBody>
          <a:bodyPr/>
          <a:lstStyle>
            <a:lvl1pPr>
              <a:defRPr/>
            </a:lvl1pPr>
          </a:lstStyle>
          <a:p>
            <a:pPr>
              <a:defRPr/>
            </a:pPr>
            <a:r>
              <a:rPr lang="en-US" altLang="en-US" smtClean="0"/>
              <a:t>Options, Futures, and Other Derivatives, 11th Edition, Copyright © John C. Hull 2021</a:t>
            </a:r>
            <a:endParaRPr lang="en-US" altLang="en-US" i="0"/>
          </a:p>
        </p:txBody>
      </p:sp>
      <p:sp>
        <p:nvSpPr>
          <p:cNvPr id="4" name="Rectangle 6"/>
          <p:cNvSpPr>
            <a:spLocks noGrp="1" noChangeArrowheads="1"/>
          </p:cNvSpPr>
          <p:nvPr>
            <p:ph type="sldNum" sz="quarter" idx="12"/>
          </p:nvPr>
        </p:nvSpPr>
        <p:spPr>
          <a:ln/>
        </p:spPr>
        <p:txBody>
          <a:bodyPr/>
          <a:lstStyle>
            <a:lvl1pPr>
              <a:defRPr/>
            </a:lvl1pPr>
          </a:lstStyle>
          <a:p>
            <a:pPr>
              <a:defRPr/>
            </a:pPr>
            <a:fld id="{9CF66308-5E30-4DBF-B1D1-C7686376E9CE}" type="slidenum">
              <a:rPr lang="en-US" altLang="en-US" smtClean="0"/>
              <a:pPr>
                <a:defRPr/>
              </a:pPr>
              <a:t>‹#›</a:t>
            </a:fld>
            <a:endParaRPr lang="en-US" altLang="en-US"/>
          </a:p>
        </p:txBody>
      </p:sp>
    </p:spTree>
    <p:extLst>
      <p:ext uri="{BB962C8B-B14F-4D97-AF65-F5344CB8AC3E}">
        <p14:creationId xmlns:p14="http://schemas.microsoft.com/office/powerpoint/2010/main" val="33349663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altLang="en-US" smtClean="0"/>
              <a:t>Options, Futures, and Other Derivatives, 11th Edition, Copyright © John C. Hull 2021</a:t>
            </a:r>
            <a:endParaRPr lang="en-US" altLang="en-US" i="0"/>
          </a:p>
        </p:txBody>
      </p:sp>
      <p:sp>
        <p:nvSpPr>
          <p:cNvPr id="7" name="Rectangle 6"/>
          <p:cNvSpPr>
            <a:spLocks noGrp="1" noChangeArrowheads="1"/>
          </p:cNvSpPr>
          <p:nvPr>
            <p:ph type="sldNum" sz="quarter" idx="12"/>
          </p:nvPr>
        </p:nvSpPr>
        <p:spPr>
          <a:ln/>
        </p:spPr>
        <p:txBody>
          <a:bodyPr/>
          <a:lstStyle>
            <a:lvl1pPr>
              <a:defRPr/>
            </a:lvl1pPr>
          </a:lstStyle>
          <a:p>
            <a:pPr>
              <a:defRPr/>
            </a:pPr>
            <a:fld id="{35093D9D-243B-440F-9F21-C9128C6CB081}" type="slidenum">
              <a:rPr lang="en-US" altLang="en-US" smtClean="0"/>
              <a:pPr>
                <a:defRPr/>
              </a:pPr>
              <a:t>‹#›</a:t>
            </a:fld>
            <a:endParaRPr lang="en-US" altLang="en-US"/>
          </a:p>
        </p:txBody>
      </p:sp>
    </p:spTree>
    <p:extLst>
      <p:ext uri="{BB962C8B-B14F-4D97-AF65-F5344CB8AC3E}">
        <p14:creationId xmlns:p14="http://schemas.microsoft.com/office/powerpoint/2010/main" val="30435288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altLang="en-US" smtClean="0"/>
              <a:t>Options, Futures, and Other Derivatives, 11th Edition, Copyright © John C. Hull 2021</a:t>
            </a:r>
            <a:endParaRPr lang="en-US" altLang="en-US" i="0"/>
          </a:p>
        </p:txBody>
      </p:sp>
      <p:sp>
        <p:nvSpPr>
          <p:cNvPr id="7" name="Rectangle 6"/>
          <p:cNvSpPr>
            <a:spLocks noGrp="1" noChangeArrowheads="1"/>
          </p:cNvSpPr>
          <p:nvPr>
            <p:ph type="sldNum" sz="quarter" idx="12"/>
          </p:nvPr>
        </p:nvSpPr>
        <p:spPr>
          <a:ln/>
        </p:spPr>
        <p:txBody>
          <a:bodyPr/>
          <a:lstStyle>
            <a:lvl1pPr>
              <a:defRPr/>
            </a:lvl1pPr>
          </a:lstStyle>
          <a:p>
            <a:pPr>
              <a:defRPr/>
            </a:pPr>
            <a:fld id="{A6CC9E67-64BC-446D-B521-A80A11B1720D}" type="slidenum">
              <a:rPr lang="en-US" altLang="en-US" smtClean="0"/>
              <a:pPr>
                <a:defRPr/>
              </a:pPr>
              <a:t>‹#›</a:t>
            </a:fld>
            <a:endParaRPr lang="en-US" altLang="en-US"/>
          </a:p>
        </p:txBody>
      </p:sp>
    </p:spTree>
    <p:extLst>
      <p:ext uri="{BB962C8B-B14F-4D97-AF65-F5344CB8AC3E}">
        <p14:creationId xmlns:p14="http://schemas.microsoft.com/office/powerpoint/2010/main" val="25279729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altLang="en-US" smtClean="0"/>
              <a:t>Options, Futures, and Other Derivatives, 11th Edition, Copyright © John C. Hull 2021</a:t>
            </a:r>
            <a:endParaRPr lang="en-US" altLang="en-US" i="0"/>
          </a:p>
        </p:txBody>
      </p:sp>
      <p:sp>
        <p:nvSpPr>
          <p:cNvPr id="6" name="Rectangle 6"/>
          <p:cNvSpPr>
            <a:spLocks noGrp="1" noChangeArrowheads="1"/>
          </p:cNvSpPr>
          <p:nvPr>
            <p:ph type="sldNum" sz="quarter" idx="12"/>
          </p:nvPr>
        </p:nvSpPr>
        <p:spPr>
          <a:ln/>
        </p:spPr>
        <p:txBody>
          <a:bodyPr/>
          <a:lstStyle>
            <a:lvl1pPr>
              <a:defRPr/>
            </a:lvl1pPr>
          </a:lstStyle>
          <a:p>
            <a:pPr>
              <a:defRPr/>
            </a:pPr>
            <a:fld id="{6439CBC3-161F-4BC6-88E4-8573D5ABD4C9}" type="slidenum">
              <a:rPr lang="en-US" altLang="en-US" smtClean="0"/>
              <a:pPr>
                <a:defRPr/>
              </a:pPr>
              <a:t>‹#›</a:t>
            </a:fld>
            <a:endParaRPr lang="en-US" altLang="en-US"/>
          </a:p>
        </p:txBody>
      </p:sp>
    </p:spTree>
    <p:extLst>
      <p:ext uri="{BB962C8B-B14F-4D97-AF65-F5344CB8AC3E}">
        <p14:creationId xmlns:p14="http://schemas.microsoft.com/office/powerpoint/2010/main" val="19122703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05563" y="930275"/>
            <a:ext cx="2052637" cy="5332413"/>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246063" y="930275"/>
            <a:ext cx="6007100" cy="5332413"/>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altLang="en-US" smtClean="0"/>
              <a:t>Options, Futures, and Other Derivatives, 11th Edition, Copyright © John C. Hull 2021</a:t>
            </a:r>
            <a:endParaRPr lang="en-US" altLang="en-US" i="0"/>
          </a:p>
        </p:txBody>
      </p:sp>
      <p:sp>
        <p:nvSpPr>
          <p:cNvPr id="6" name="Rectangle 6"/>
          <p:cNvSpPr>
            <a:spLocks noGrp="1" noChangeArrowheads="1"/>
          </p:cNvSpPr>
          <p:nvPr>
            <p:ph type="sldNum" sz="quarter" idx="12"/>
          </p:nvPr>
        </p:nvSpPr>
        <p:spPr>
          <a:ln/>
        </p:spPr>
        <p:txBody>
          <a:bodyPr/>
          <a:lstStyle>
            <a:lvl1pPr>
              <a:defRPr/>
            </a:lvl1pPr>
          </a:lstStyle>
          <a:p>
            <a:pPr>
              <a:defRPr/>
            </a:pPr>
            <a:fld id="{AE73D632-1568-4259-84D1-67246985CB9C}" type="slidenum">
              <a:rPr lang="en-US" altLang="en-US" smtClean="0"/>
              <a:pPr>
                <a:defRPr/>
              </a:pPr>
              <a:t>‹#›</a:t>
            </a:fld>
            <a:endParaRPr lang="en-US" altLang="en-US"/>
          </a:p>
        </p:txBody>
      </p:sp>
    </p:spTree>
    <p:extLst>
      <p:ext uri="{BB962C8B-B14F-4D97-AF65-F5344CB8AC3E}">
        <p14:creationId xmlns:p14="http://schemas.microsoft.com/office/powerpoint/2010/main" val="1356340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22238"/>
            <a:ext cx="7543800" cy="1295400"/>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457200" y="1719263"/>
            <a:ext cx="8229600" cy="4411662"/>
          </a:xfrm>
        </p:spPr>
        <p:txBody>
          <a:bodyPr/>
          <a:lstStyle/>
          <a:p>
            <a:pPr lvl="0"/>
            <a:endParaRPr lang="en-US" noProof="0" smtClean="0"/>
          </a:p>
        </p:txBody>
      </p:sp>
      <p:sp>
        <p:nvSpPr>
          <p:cNvPr id="4" name="Date Placeholder 3"/>
          <p:cNvSpPr>
            <a:spLocks noGrp="1"/>
          </p:cNvSpPr>
          <p:nvPr>
            <p:ph type="dt" sz="half" idx="10"/>
          </p:nvPr>
        </p:nvSpPr>
        <p:spPr/>
        <p:txBody>
          <a:bodyPr/>
          <a:lstStyle>
            <a:lvl1pPr>
              <a:defRPr/>
            </a:lvl1pPr>
          </a:lstStyle>
          <a:p>
            <a:pPr>
              <a:defRPr/>
            </a:pPr>
            <a:endParaRPr lang="en-US" altLang="en-US"/>
          </a:p>
        </p:txBody>
      </p:sp>
      <p:sp>
        <p:nvSpPr>
          <p:cNvPr id="5" name="Footer Placeholder 4"/>
          <p:cNvSpPr>
            <a:spLocks noGrp="1"/>
          </p:cNvSpPr>
          <p:nvPr>
            <p:ph type="ftr" sz="quarter" idx="11"/>
          </p:nvPr>
        </p:nvSpPr>
        <p:spPr/>
        <p:txBody>
          <a:bodyPr/>
          <a:lstStyle>
            <a:lvl1pPr>
              <a:defRPr smtClean="0"/>
            </a:lvl1pPr>
          </a:lstStyle>
          <a:p>
            <a:pPr>
              <a:defRPr/>
            </a:pPr>
            <a:r>
              <a:rPr lang="en-US" altLang="en-US" smtClean="0"/>
              <a:t>Options, Futures, and Other Derivatives, 11th Edition, Copyright © John C. Hull 2021</a:t>
            </a:r>
            <a:endParaRPr lang="en-US" altLang="en-US" i="0"/>
          </a:p>
        </p:txBody>
      </p:sp>
      <p:sp>
        <p:nvSpPr>
          <p:cNvPr id="6" name="Slide Number Placeholder 5"/>
          <p:cNvSpPr>
            <a:spLocks noGrp="1"/>
          </p:cNvSpPr>
          <p:nvPr>
            <p:ph type="sldNum" sz="quarter" idx="12"/>
          </p:nvPr>
        </p:nvSpPr>
        <p:spPr/>
        <p:txBody>
          <a:bodyPr/>
          <a:lstStyle>
            <a:lvl1pPr>
              <a:defRPr smtClean="0"/>
            </a:lvl1pPr>
          </a:lstStyle>
          <a:p>
            <a:pPr>
              <a:defRPr/>
            </a:pPr>
            <a:fld id="{852BCA4C-F770-4E24-BD3A-5FB95B6B0FCB}" type="slidenum">
              <a:rPr lang="en-US" altLang="en-US"/>
              <a:pPr>
                <a:defRPr/>
              </a:pPr>
              <a:t>‹#›</a:t>
            </a:fld>
            <a:endParaRPr lang="en-US" altLang="en-US"/>
          </a:p>
        </p:txBody>
      </p:sp>
    </p:spTree>
    <p:extLst>
      <p:ext uri="{BB962C8B-B14F-4D97-AF65-F5344CB8AC3E}">
        <p14:creationId xmlns:p14="http://schemas.microsoft.com/office/powerpoint/2010/main" val="3240324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2"/>
            </a:gs>
            <a:gs pos="50000">
              <a:schemeClr val="bg1"/>
            </a:gs>
            <a:gs pos="100000">
              <a:schemeClr val="bg2"/>
            </a:gs>
          </a:gsLst>
          <a:lin ang="2700000" scaled="1"/>
        </a:gra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246063" y="930275"/>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1027" name="Rectangle 3"/>
          <p:cNvSpPr>
            <a:spLocks noGrp="1" noChangeArrowheads="1"/>
          </p:cNvSpPr>
          <p:nvPr>
            <p:ph type="body" idx="1"/>
          </p:nvPr>
        </p:nvSpPr>
        <p:spPr bwMode="auto">
          <a:xfrm>
            <a:off x="685800" y="2147888"/>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4100" name="Rectangle 4"/>
          <p:cNvSpPr>
            <a:spLocks noGrp="1" noChangeArrowheads="1"/>
          </p:cNvSpPr>
          <p:nvPr>
            <p:ph type="dt" sz="half" idx="2"/>
          </p:nvPr>
        </p:nvSpPr>
        <p:spPr bwMode="auto">
          <a:xfrm>
            <a:off x="685800" y="63246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400" smtClean="0">
                <a:latin typeface="Arial" charset="0"/>
                <a:cs typeface="Arial" charset="0"/>
              </a:defRPr>
            </a:lvl1pPr>
          </a:lstStyle>
          <a:p>
            <a:pPr>
              <a:defRPr/>
            </a:pPr>
            <a:endParaRPr lang="en-US" altLang="en-US"/>
          </a:p>
        </p:txBody>
      </p:sp>
      <p:sp>
        <p:nvSpPr>
          <p:cNvPr id="4101" name="Rectangle 5"/>
          <p:cNvSpPr>
            <a:spLocks noGrp="1" noChangeArrowheads="1"/>
          </p:cNvSpPr>
          <p:nvPr>
            <p:ph type="ftr" sz="quarter" idx="3"/>
          </p:nvPr>
        </p:nvSpPr>
        <p:spPr bwMode="auto">
          <a:xfrm>
            <a:off x="1828800" y="6324600"/>
            <a:ext cx="54864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400">
                <a:latin typeface="Arial" charset="0"/>
                <a:cs typeface="Arial" charset="0"/>
              </a:defRPr>
            </a:lvl1pPr>
          </a:lstStyle>
          <a:p>
            <a:pPr>
              <a:defRPr/>
            </a:pPr>
            <a:r>
              <a:rPr lang="en-US" altLang="en-US" smtClean="0"/>
              <a:t>Options, Futures, and Other Derivatives, 11th Edition, Copyright © John C. Hull 2021</a:t>
            </a:r>
            <a:endParaRPr lang="en-US" altLang="en-US"/>
          </a:p>
        </p:txBody>
      </p:sp>
      <p:sp>
        <p:nvSpPr>
          <p:cNvPr id="4102" name="Rectangle 6"/>
          <p:cNvSpPr>
            <a:spLocks noGrp="1" noChangeArrowheads="1"/>
          </p:cNvSpPr>
          <p:nvPr>
            <p:ph type="sldNum" sz="quarter" idx="4"/>
          </p:nvPr>
        </p:nvSpPr>
        <p:spPr bwMode="auto">
          <a:xfrm>
            <a:off x="6553200" y="63246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400"/>
            </a:lvl1pPr>
          </a:lstStyle>
          <a:p>
            <a:pPr>
              <a:defRPr/>
            </a:pPr>
            <a:r>
              <a:rPr lang="en-US" altLang="en-US" smtClean="0"/>
              <a:t>7.</a:t>
            </a:r>
            <a:fld id="{B58BA2A1-E63E-44FE-9D36-B1B1C7771BB6}" type="slidenum">
              <a:rPr lang="en-US" altLang="en-US" smtClean="0"/>
              <a:pPr>
                <a:defRPr/>
              </a:pPr>
              <a:t>‹#›</a:t>
            </a:fld>
            <a:endParaRPr lang="en-US" altLang="en-US"/>
          </a:p>
        </p:txBody>
      </p:sp>
      <p:grpSp>
        <p:nvGrpSpPr>
          <p:cNvPr id="1031" name="Group 7"/>
          <p:cNvGrpSpPr>
            <a:grpSpLocks/>
          </p:cNvGrpSpPr>
          <p:nvPr/>
        </p:nvGrpSpPr>
        <p:grpSpPr bwMode="auto">
          <a:xfrm>
            <a:off x="261938" y="87313"/>
            <a:ext cx="8488362" cy="831850"/>
            <a:chOff x="165" y="55"/>
            <a:chExt cx="5347" cy="524"/>
          </a:xfrm>
        </p:grpSpPr>
        <p:grpSp>
          <p:nvGrpSpPr>
            <p:cNvPr id="1032" name="Group 8"/>
            <p:cNvGrpSpPr>
              <a:grpSpLocks/>
            </p:cNvGrpSpPr>
            <p:nvPr userDrawn="1"/>
          </p:nvGrpSpPr>
          <p:grpSpPr bwMode="auto">
            <a:xfrm>
              <a:off x="664" y="104"/>
              <a:ext cx="4848" cy="432"/>
              <a:chOff x="664" y="104"/>
              <a:chExt cx="4848" cy="432"/>
            </a:xfrm>
          </p:grpSpPr>
          <p:sp>
            <p:nvSpPr>
              <p:cNvPr id="1034" name="Freeform 9"/>
              <p:cNvSpPr>
                <a:spLocks/>
              </p:cNvSpPr>
              <p:nvPr/>
            </p:nvSpPr>
            <p:spPr bwMode="ltGray">
              <a:xfrm>
                <a:off x="664" y="104"/>
                <a:ext cx="4848" cy="432"/>
              </a:xfrm>
              <a:custGeom>
                <a:avLst/>
                <a:gdLst>
                  <a:gd name="T0" fmla="*/ 4848 w 4848"/>
                  <a:gd name="T1" fmla="*/ 48 h 432"/>
                  <a:gd name="T2" fmla="*/ 4848 w 4848"/>
                  <a:gd name="T3" fmla="*/ 432 h 432"/>
                  <a:gd name="T4" fmla="*/ 0 w 4848"/>
                  <a:gd name="T5" fmla="*/ 432 h 432"/>
                  <a:gd name="T6" fmla="*/ 0 w 4848"/>
                  <a:gd name="T7" fmla="*/ 0 h 432"/>
                  <a:gd name="T8" fmla="*/ 4848 w 4848"/>
                  <a:gd name="T9" fmla="*/ 0 h 432"/>
                  <a:gd name="T10" fmla="*/ 4848 w 4848"/>
                  <a:gd name="T11" fmla="*/ 48 h 4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848" h="432">
                    <a:moveTo>
                      <a:pt x="4848" y="48"/>
                    </a:moveTo>
                    <a:lnTo>
                      <a:pt x="4848" y="432"/>
                    </a:lnTo>
                    <a:cubicBezTo>
                      <a:pt x="4848" y="432"/>
                      <a:pt x="2424" y="432"/>
                      <a:pt x="0" y="432"/>
                    </a:cubicBezTo>
                    <a:cubicBezTo>
                      <a:pt x="161" y="345"/>
                      <a:pt x="169" y="61"/>
                      <a:pt x="0" y="0"/>
                    </a:cubicBezTo>
                    <a:cubicBezTo>
                      <a:pt x="2424" y="0"/>
                      <a:pt x="4848" y="0"/>
                      <a:pt x="4848" y="0"/>
                    </a:cubicBezTo>
                    <a:lnTo>
                      <a:pt x="4848" y="48"/>
                    </a:lnTo>
                    <a:close/>
                  </a:path>
                </a:pathLst>
              </a:custGeom>
              <a:solidFill>
                <a:schemeClr val="hlink"/>
              </a:solidFill>
              <a:ln w="9525">
                <a:solidFill>
                  <a:schemeClr val="bg2"/>
                </a:solidFill>
                <a:round/>
                <a:headEnd/>
                <a:tailEnd/>
              </a:ln>
            </p:spPr>
            <p:txBody>
              <a:bodyPr wrap="none" anchor="ctr"/>
              <a:lstStyle/>
              <a:p>
                <a:endParaRPr lang="en-US"/>
              </a:p>
            </p:txBody>
          </p:sp>
          <p:grpSp>
            <p:nvGrpSpPr>
              <p:cNvPr id="1035" name="Group 10"/>
              <p:cNvGrpSpPr>
                <a:grpSpLocks/>
              </p:cNvGrpSpPr>
              <p:nvPr/>
            </p:nvGrpSpPr>
            <p:grpSpPr bwMode="auto">
              <a:xfrm>
                <a:off x="1195" y="104"/>
                <a:ext cx="3827" cy="429"/>
                <a:chOff x="1021" y="240"/>
                <a:chExt cx="3827" cy="429"/>
              </a:xfrm>
            </p:grpSpPr>
            <p:grpSp>
              <p:nvGrpSpPr>
                <p:cNvPr id="1084" name="Group 11"/>
                <p:cNvGrpSpPr>
                  <a:grpSpLocks/>
                </p:cNvGrpSpPr>
                <p:nvPr/>
              </p:nvGrpSpPr>
              <p:grpSpPr bwMode="auto">
                <a:xfrm>
                  <a:off x="1021" y="241"/>
                  <a:ext cx="2208" cy="427"/>
                  <a:chOff x="1021" y="241"/>
                  <a:chExt cx="2208" cy="427"/>
                </a:xfrm>
              </p:grpSpPr>
              <p:sp>
                <p:nvSpPr>
                  <p:cNvPr id="1128" name="Freeform 12"/>
                  <p:cNvSpPr>
                    <a:spLocks/>
                  </p:cNvSpPr>
                  <p:nvPr/>
                </p:nvSpPr>
                <p:spPr bwMode="ltGray">
                  <a:xfrm>
                    <a:off x="2257" y="633"/>
                    <a:ext cx="7" cy="8"/>
                  </a:xfrm>
                  <a:custGeom>
                    <a:avLst/>
                    <a:gdLst>
                      <a:gd name="T0" fmla="*/ 2 w 15"/>
                      <a:gd name="T1" fmla="*/ 4 h 23"/>
                      <a:gd name="T2" fmla="*/ 7 w 15"/>
                      <a:gd name="T3" fmla="*/ 2 h 23"/>
                      <a:gd name="T4" fmla="*/ 6 w 15"/>
                      <a:gd name="T5" fmla="*/ 6 h 23"/>
                      <a:gd name="T6" fmla="*/ 2 w 15"/>
                      <a:gd name="T7" fmla="*/ 4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 h="23">
                        <a:moveTo>
                          <a:pt x="5" y="11"/>
                        </a:moveTo>
                        <a:cubicBezTo>
                          <a:pt x="2" y="1"/>
                          <a:pt x="7" y="0"/>
                          <a:pt x="15" y="5"/>
                        </a:cubicBezTo>
                        <a:cubicBezTo>
                          <a:pt x="14" y="9"/>
                          <a:pt x="15" y="13"/>
                          <a:pt x="13" y="17"/>
                        </a:cubicBezTo>
                        <a:cubicBezTo>
                          <a:pt x="9" y="23"/>
                          <a:pt x="0" y="16"/>
                          <a:pt x="5"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9" name="Freeform 13"/>
                  <p:cNvSpPr>
                    <a:spLocks/>
                  </p:cNvSpPr>
                  <p:nvPr/>
                </p:nvSpPr>
                <p:spPr bwMode="ltGray">
                  <a:xfrm>
                    <a:off x="2332" y="660"/>
                    <a:ext cx="9" cy="8"/>
                  </a:xfrm>
                  <a:custGeom>
                    <a:avLst/>
                    <a:gdLst>
                      <a:gd name="T0" fmla="*/ 1 w 20"/>
                      <a:gd name="T1" fmla="*/ 5 h 23"/>
                      <a:gd name="T2" fmla="*/ 5 w 20"/>
                      <a:gd name="T3" fmla="*/ 1 h 23"/>
                      <a:gd name="T4" fmla="*/ 3 w 20"/>
                      <a:gd name="T5" fmla="*/ 7 h 23"/>
                      <a:gd name="T6" fmla="*/ 1 w 20"/>
                      <a:gd name="T7" fmla="*/ 5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23">
                        <a:moveTo>
                          <a:pt x="3" y="13"/>
                        </a:moveTo>
                        <a:cubicBezTo>
                          <a:pt x="0" y="5"/>
                          <a:pt x="2" y="0"/>
                          <a:pt x="11" y="3"/>
                        </a:cubicBezTo>
                        <a:cubicBezTo>
                          <a:pt x="16" y="10"/>
                          <a:pt x="20" y="23"/>
                          <a:pt x="7" y="19"/>
                        </a:cubicBezTo>
                        <a:cubicBezTo>
                          <a:pt x="6" y="17"/>
                          <a:pt x="3" y="13"/>
                          <a:pt x="3" y="1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0" name="Freeform 14"/>
                  <p:cNvSpPr>
                    <a:spLocks/>
                  </p:cNvSpPr>
                  <p:nvPr/>
                </p:nvSpPr>
                <p:spPr bwMode="ltGray">
                  <a:xfrm>
                    <a:off x="2120" y="616"/>
                    <a:ext cx="13" cy="14"/>
                  </a:xfrm>
                  <a:custGeom>
                    <a:avLst/>
                    <a:gdLst>
                      <a:gd name="T0" fmla="*/ 7 w 30"/>
                      <a:gd name="T1" fmla="*/ 11 h 42"/>
                      <a:gd name="T2" fmla="*/ 3 w 30"/>
                      <a:gd name="T3" fmla="*/ 7 h 42"/>
                      <a:gd name="T4" fmla="*/ 0 w 30"/>
                      <a:gd name="T5" fmla="*/ 3 h 42"/>
                      <a:gd name="T6" fmla="*/ 7 w 30"/>
                      <a:gd name="T7" fmla="*/ 1 h 42"/>
                      <a:gd name="T8" fmla="*/ 13 w 30"/>
                      <a:gd name="T9" fmla="*/ 8 h 42"/>
                      <a:gd name="T10" fmla="*/ 12 w 30"/>
                      <a:gd name="T11" fmla="*/ 10 h 42"/>
                      <a:gd name="T12" fmla="*/ 7 w 30"/>
                      <a:gd name="T13" fmla="*/ 11 h 4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 h="42">
                        <a:moveTo>
                          <a:pt x="16" y="33"/>
                        </a:moveTo>
                        <a:cubicBezTo>
                          <a:pt x="3" y="20"/>
                          <a:pt x="15" y="34"/>
                          <a:pt x="8" y="21"/>
                        </a:cubicBezTo>
                        <a:cubicBezTo>
                          <a:pt x="6" y="17"/>
                          <a:pt x="0" y="9"/>
                          <a:pt x="0" y="9"/>
                        </a:cubicBezTo>
                        <a:cubicBezTo>
                          <a:pt x="5" y="1"/>
                          <a:pt x="7" y="0"/>
                          <a:pt x="16" y="3"/>
                        </a:cubicBezTo>
                        <a:cubicBezTo>
                          <a:pt x="25" y="16"/>
                          <a:pt x="10" y="16"/>
                          <a:pt x="30" y="23"/>
                        </a:cubicBezTo>
                        <a:cubicBezTo>
                          <a:pt x="29" y="26"/>
                          <a:pt x="30" y="29"/>
                          <a:pt x="28" y="31"/>
                        </a:cubicBezTo>
                        <a:cubicBezTo>
                          <a:pt x="15" y="42"/>
                          <a:pt x="16" y="38"/>
                          <a:pt x="16" y="3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1" name="Freeform 15"/>
                  <p:cNvSpPr>
                    <a:spLocks/>
                  </p:cNvSpPr>
                  <p:nvPr/>
                </p:nvSpPr>
                <p:spPr bwMode="ltGray">
                  <a:xfrm>
                    <a:off x="1967" y="629"/>
                    <a:ext cx="11" cy="5"/>
                  </a:xfrm>
                  <a:custGeom>
                    <a:avLst/>
                    <a:gdLst>
                      <a:gd name="T0" fmla="*/ 7 w 25"/>
                      <a:gd name="T1" fmla="*/ 5 h 16"/>
                      <a:gd name="T2" fmla="*/ 1 w 25"/>
                      <a:gd name="T3" fmla="*/ 3 h 16"/>
                      <a:gd name="T4" fmla="*/ 7 w 25"/>
                      <a:gd name="T5" fmla="*/ 0 h 16"/>
                      <a:gd name="T6" fmla="*/ 7 w 25"/>
                      <a:gd name="T7" fmla="*/ 5 h 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 h="16">
                        <a:moveTo>
                          <a:pt x="15" y="16"/>
                        </a:moveTo>
                        <a:cubicBezTo>
                          <a:pt x="10" y="15"/>
                          <a:pt x="0" y="12"/>
                          <a:pt x="3" y="8"/>
                        </a:cubicBezTo>
                        <a:cubicBezTo>
                          <a:pt x="6" y="4"/>
                          <a:pt x="15" y="0"/>
                          <a:pt x="15" y="0"/>
                        </a:cubicBezTo>
                        <a:cubicBezTo>
                          <a:pt x="17" y="3"/>
                          <a:pt x="25" y="16"/>
                          <a:pt x="15"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2" name="Freeform 16"/>
                  <p:cNvSpPr>
                    <a:spLocks/>
                  </p:cNvSpPr>
                  <p:nvPr/>
                </p:nvSpPr>
                <p:spPr bwMode="ltGray">
                  <a:xfrm>
                    <a:off x="1921" y="635"/>
                    <a:ext cx="28" cy="16"/>
                  </a:xfrm>
                  <a:custGeom>
                    <a:avLst/>
                    <a:gdLst>
                      <a:gd name="T0" fmla="*/ 6 w 65"/>
                      <a:gd name="T1" fmla="*/ 8 h 46"/>
                      <a:gd name="T2" fmla="*/ 13 w 65"/>
                      <a:gd name="T3" fmla="*/ 1 h 46"/>
                      <a:gd name="T4" fmla="*/ 18 w 65"/>
                      <a:gd name="T5" fmla="*/ 0 h 46"/>
                      <a:gd name="T6" fmla="*/ 25 w 65"/>
                      <a:gd name="T7" fmla="*/ 4 h 46"/>
                      <a:gd name="T8" fmla="*/ 14 w 65"/>
                      <a:gd name="T9" fmla="*/ 9 h 46"/>
                      <a:gd name="T10" fmla="*/ 5 w 65"/>
                      <a:gd name="T11" fmla="*/ 16 h 46"/>
                      <a:gd name="T12" fmla="*/ 3 w 65"/>
                      <a:gd name="T13" fmla="*/ 7 h 46"/>
                      <a:gd name="T14" fmla="*/ 5 w 65"/>
                      <a:gd name="T15" fmla="*/ 5 h 46"/>
                      <a:gd name="T16" fmla="*/ 6 w 65"/>
                      <a:gd name="T17" fmla="*/ 8 h 4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5" h="46">
                        <a:moveTo>
                          <a:pt x="14" y="24"/>
                        </a:moveTo>
                        <a:cubicBezTo>
                          <a:pt x="18" y="13"/>
                          <a:pt x="16" y="9"/>
                          <a:pt x="30" y="4"/>
                        </a:cubicBezTo>
                        <a:cubicBezTo>
                          <a:pt x="34" y="3"/>
                          <a:pt x="42" y="0"/>
                          <a:pt x="42" y="0"/>
                        </a:cubicBezTo>
                        <a:cubicBezTo>
                          <a:pt x="50" y="1"/>
                          <a:pt x="65" y="0"/>
                          <a:pt x="58" y="12"/>
                        </a:cubicBezTo>
                        <a:cubicBezTo>
                          <a:pt x="53" y="21"/>
                          <a:pt x="40" y="21"/>
                          <a:pt x="32" y="26"/>
                        </a:cubicBezTo>
                        <a:cubicBezTo>
                          <a:pt x="26" y="35"/>
                          <a:pt x="23" y="42"/>
                          <a:pt x="12" y="46"/>
                        </a:cubicBezTo>
                        <a:cubicBezTo>
                          <a:pt x="0" y="42"/>
                          <a:pt x="5" y="30"/>
                          <a:pt x="8" y="20"/>
                        </a:cubicBezTo>
                        <a:cubicBezTo>
                          <a:pt x="9" y="18"/>
                          <a:pt x="10" y="13"/>
                          <a:pt x="12" y="14"/>
                        </a:cubicBezTo>
                        <a:cubicBezTo>
                          <a:pt x="15" y="16"/>
                          <a:pt x="13" y="21"/>
                          <a:pt x="14"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3" name="Freeform 17"/>
                  <p:cNvSpPr>
                    <a:spLocks/>
                  </p:cNvSpPr>
                  <p:nvPr/>
                </p:nvSpPr>
                <p:spPr bwMode="ltGray">
                  <a:xfrm>
                    <a:off x="1892" y="634"/>
                    <a:ext cx="29" cy="16"/>
                  </a:xfrm>
                  <a:custGeom>
                    <a:avLst/>
                    <a:gdLst>
                      <a:gd name="T0" fmla="*/ 0 w 69"/>
                      <a:gd name="T1" fmla="*/ 11 h 47"/>
                      <a:gd name="T2" fmla="*/ 8 w 69"/>
                      <a:gd name="T3" fmla="*/ 9 h 47"/>
                      <a:gd name="T4" fmla="*/ 22 w 69"/>
                      <a:gd name="T5" fmla="*/ 0 h 47"/>
                      <a:gd name="T6" fmla="*/ 27 w 69"/>
                      <a:gd name="T7" fmla="*/ 1 h 47"/>
                      <a:gd name="T8" fmla="*/ 21 w 69"/>
                      <a:gd name="T9" fmla="*/ 6 h 47"/>
                      <a:gd name="T10" fmla="*/ 12 w 69"/>
                      <a:gd name="T11" fmla="*/ 11 h 47"/>
                      <a:gd name="T12" fmla="*/ 9 w 69"/>
                      <a:gd name="T13" fmla="*/ 16 h 47"/>
                      <a:gd name="T14" fmla="*/ 7 w 69"/>
                      <a:gd name="T15" fmla="*/ 15 h 47"/>
                      <a:gd name="T16" fmla="*/ 5 w 69"/>
                      <a:gd name="T17" fmla="*/ 13 h 47"/>
                      <a:gd name="T18" fmla="*/ 0 w 69"/>
                      <a:gd name="T19" fmla="*/ 12 h 47"/>
                      <a:gd name="T20" fmla="*/ 0 w 69"/>
                      <a:gd name="T21" fmla="*/ 11 h 4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 h="47">
                        <a:moveTo>
                          <a:pt x="0" y="31"/>
                        </a:moveTo>
                        <a:cubicBezTo>
                          <a:pt x="7" y="24"/>
                          <a:pt x="9" y="22"/>
                          <a:pt x="18" y="25"/>
                        </a:cubicBezTo>
                        <a:cubicBezTo>
                          <a:pt x="25" y="4"/>
                          <a:pt x="36" y="12"/>
                          <a:pt x="52" y="1"/>
                        </a:cubicBezTo>
                        <a:cubicBezTo>
                          <a:pt x="56" y="2"/>
                          <a:pt x="61" y="0"/>
                          <a:pt x="64" y="3"/>
                        </a:cubicBezTo>
                        <a:cubicBezTo>
                          <a:pt x="69" y="8"/>
                          <a:pt x="50" y="19"/>
                          <a:pt x="50" y="19"/>
                        </a:cubicBezTo>
                        <a:cubicBezTo>
                          <a:pt x="46" y="31"/>
                          <a:pt x="35" y="22"/>
                          <a:pt x="28" y="33"/>
                        </a:cubicBezTo>
                        <a:cubicBezTo>
                          <a:pt x="31" y="41"/>
                          <a:pt x="31" y="44"/>
                          <a:pt x="22" y="47"/>
                        </a:cubicBezTo>
                        <a:cubicBezTo>
                          <a:pt x="20" y="46"/>
                          <a:pt x="18" y="46"/>
                          <a:pt x="16" y="45"/>
                        </a:cubicBezTo>
                        <a:cubicBezTo>
                          <a:pt x="14" y="43"/>
                          <a:pt x="14" y="40"/>
                          <a:pt x="12" y="39"/>
                        </a:cubicBezTo>
                        <a:cubicBezTo>
                          <a:pt x="8" y="37"/>
                          <a:pt x="0" y="35"/>
                          <a:pt x="0" y="35"/>
                        </a:cubicBezTo>
                        <a:cubicBezTo>
                          <a:pt x="2" y="26"/>
                          <a:pt x="3" y="25"/>
                          <a:pt x="0" y="3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4" name="Freeform 18"/>
                  <p:cNvSpPr>
                    <a:spLocks/>
                  </p:cNvSpPr>
                  <p:nvPr/>
                </p:nvSpPr>
                <p:spPr bwMode="ltGray">
                  <a:xfrm>
                    <a:off x="1735" y="547"/>
                    <a:ext cx="151" cy="93"/>
                  </a:xfrm>
                  <a:custGeom>
                    <a:avLst/>
                    <a:gdLst>
                      <a:gd name="T0" fmla="*/ 4 w 355"/>
                      <a:gd name="T1" fmla="*/ 1 h 277"/>
                      <a:gd name="T2" fmla="*/ 15 w 355"/>
                      <a:gd name="T3" fmla="*/ 6 h 277"/>
                      <a:gd name="T4" fmla="*/ 20 w 355"/>
                      <a:gd name="T5" fmla="*/ 10 h 277"/>
                      <a:gd name="T6" fmla="*/ 32 w 355"/>
                      <a:gd name="T7" fmla="*/ 17 h 277"/>
                      <a:gd name="T8" fmla="*/ 39 w 355"/>
                      <a:gd name="T9" fmla="*/ 22 h 277"/>
                      <a:gd name="T10" fmla="*/ 52 w 355"/>
                      <a:gd name="T11" fmla="*/ 33 h 277"/>
                      <a:gd name="T12" fmla="*/ 58 w 355"/>
                      <a:gd name="T13" fmla="*/ 43 h 277"/>
                      <a:gd name="T14" fmla="*/ 63 w 355"/>
                      <a:gd name="T15" fmla="*/ 44 h 277"/>
                      <a:gd name="T16" fmla="*/ 66 w 355"/>
                      <a:gd name="T17" fmla="*/ 50 h 277"/>
                      <a:gd name="T18" fmla="*/ 75 w 355"/>
                      <a:gd name="T19" fmla="*/ 51 h 277"/>
                      <a:gd name="T20" fmla="*/ 72 w 355"/>
                      <a:gd name="T21" fmla="*/ 66 h 277"/>
                      <a:gd name="T22" fmla="*/ 77 w 355"/>
                      <a:gd name="T23" fmla="*/ 75 h 277"/>
                      <a:gd name="T24" fmla="*/ 84 w 355"/>
                      <a:gd name="T25" fmla="*/ 78 h 277"/>
                      <a:gd name="T26" fmla="*/ 92 w 355"/>
                      <a:gd name="T27" fmla="*/ 79 h 277"/>
                      <a:gd name="T28" fmla="*/ 100 w 355"/>
                      <a:gd name="T29" fmla="*/ 81 h 277"/>
                      <a:gd name="T30" fmla="*/ 108 w 355"/>
                      <a:gd name="T31" fmla="*/ 79 h 277"/>
                      <a:gd name="T32" fmla="*/ 116 w 355"/>
                      <a:gd name="T33" fmla="*/ 83 h 277"/>
                      <a:gd name="T34" fmla="*/ 126 w 355"/>
                      <a:gd name="T35" fmla="*/ 86 h 277"/>
                      <a:gd name="T36" fmla="*/ 134 w 355"/>
                      <a:gd name="T37" fmla="*/ 89 h 277"/>
                      <a:gd name="T38" fmla="*/ 150 w 355"/>
                      <a:gd name="T39" fmla="*/ 89 h 277"/>
                      <a:gd name="T40" fmla="*/ 145 w 355"/>
                      <a:gd name="T41" fmla="*/ 92 h 277"/>
                      <a:gd name="T42" fmla="*/ 137 w 355"/>
                      <a:gd name="T43" fmla="*/ 91 h 277"/>
                      <a:gd name="T44" fmla="*/ 128 w 355"/>
                      <a:gd name="T45" fmla="*/ 91 h 277"/>
                      <a:gd name="T46" fmla="*/ 123 w 355"/>
                      <a:gd name="T47" fmla="*/ 89 h 277"/>
                      <a:gd name="T48" fmla="*/ 107 w 355"/>
                      <a:gd name="T49" fmla="*/ 89 h 277"/>
                      <a:gd name="T50" fmla="*/ 100 w 355"/>
                      <a:gd name="T51" fmla="*/ 87 h 277"/>
                      <a:gd name="T52" fmla="*/ 73 w 355"/>
                      <a:gd name="T53" fmla="*/ 81 h 277"/>
                      <a:gd name="T54" fmla="*/ 68 w 355"/>
                      <a:gd name="T55" fmla="*/ 73 h 277"/>
                      <a:gd name="T56" fmla="*/ 54 w 355"/>
                      <a:gd name="T57" fmla="*/ 67 h 277"/>
                      <a:gd name="T58" fmla="*/ 46 w 355"/>
                      <a:gd name="T59" fmla="*/ 62 h 277"/>
                      <a:gd name="T60" fmla="*/ 40 w 355"/>
                      <a:gd name="T61" fmla="*/ 53 h 277"/>
                      <a:gd name="T62" fmla="*/ 29 w 355"/>
                      <a:gd name="T63" fmla="*/ 36 h 277"/>
                      <a:gd name="T64" fmla="*/ 27 w 355"/>
                      <a:gd name="T65" fmla="*/ 34 h 277"/>
                      <a:gd name="T66" fmla="*/ 25 w 355"/>
                      <a:gd name="T67" fmla="*/ 34 h 277"/>
                      <a:gd name="T68" fmla="*/ 23 w 355"/>
                      <a:gd name="T69" fmla="*/ 30 h 277"/>
                      <a:gd name="T70" fmla="*/ 16 w 355"/>
                      <a:gd name="T71" fmla="*/ 19 h 277"/>
                      <a:gd name="T72" fmla="*/ 9 w 355"/>
                      <a:gd name="T73" fmla="*/ 13 h 277"/>
                      <a:gd name="T74" fmla="*/ 2 w 355"/>
                      <a:gd name="T75" fmla="*/ 7 h 277"/>
                      <a:gd name="T76" fmla="*/ 4 w 355"/>
                      <a:gd name="T77" fmla="*/ 1 h 277"/>
                      <a:gd name="T78" fmla="*/ 4 w 355"/>
                      <a:gd name="T79" fmla="*/ 1 h 27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55" h="277">
                        <a:moveTo>
                          <a:pt x="10" y="4"/>
                        </a:moveTo>
                        <a:cubicBezTo>
                          <a:pt x="22" y="0"/>
                          <a:pt x="24" y="14"/>
                          <a:pt x="36" y="18"/>
                        </a:cubicBezTo>
                        <a:cubicBezTo>
                          <a:pt x="37" y="19"/>
                          <a:pt x="45" y="29"/>
                          <a:pt x="46" y="30"/>
                        </a:cubicBezTo>
                        <a:cubicBezTo>
                          <a:pt x="56" y="40"/>
                          <a:pt x="67" y="38"/>
                          <a:pt x="76" y="52"/>
                        </a:cubicBezTo>
                        <a:cubicBezTo>
                          <a:pt x="80" y="58"/>
                          <a:pt x="92" y="66"/>
                          <a:pt x="92" y="66"/>
                        </a:cubicBezTo>
                        <a:cubicBezTo>
                          <a:pt x="96" y="79"/>
                          <a:pt x="112" y="88"/>
                          <a:pt x="122" y="98"/>
                        </a:cubicBezTo>
                        <a:cubicBezTo>
                          <a:pt x="124" y="105"/>
                          <a:pt x="130" y="124"/>
                          <a:pt x="136" y="128"/>
                        </a:cubicBezTo>
                        <a:cubicBezTo>
                          <a:pt x="140" y="130"/>
                          <a:pt x="148" y="132"/>
                          <a:pt x="148" y="132"/>
                        </a:cubicBezTo>
                        <a:cubicBezTo>
                          <a:pt x="150" y="138"/>
                          <a:pt x="154" y="150"/>
                          <a:pt x="154" y="150"/>
                        </a:cubicBezTo>
                        <a:cubicBezTo>
                          <a:pt x="161" y="139"/>
                          <a:pt x="168" y="144"/>
                          <a:pt x="176" y="152"/>
                        </a:cubicBezTo>
                        <a:cubicBezTo>
                          <a:pt x="174" y="167"/>
                          <a:pt x="173" y="181"/>
                          <a:pt x="170" y="196"/>
                        </a:cubicBezTo>
                        <a:cubicBezTo>
                          <a:pt x="171" y="202"/>
                          <a:pt x="174" y="220"/>
                          <a:pt x="180" y="224"/>
                        </a:cubicBezTo>
                        <a:cubicBezTo>
                          <a:pt x="185" y="228"/>
                          <a:pt x="193" y="228"/>
                          <a:pt x="198" y="232"/>
                        </a:cubicBezTo>
                        <a:cubicBezTo>
                          <a:pt x="204" y="230"/>
                          <a:pt x="216" y="234"/>
                          <a:pt x="216" y="234"/>
                        </a:cubicBezTo>
                        <a:cubicBezTo>
                          <a:pt x="223" y="241"/>
                          <a:pt x="225" y="245"/>
                          <a:pt x="236" y="242"/>
                        </a:cubicBezTo>
                        <a:cubicBezTo>
                          <a:pt x="242" y="240"/>
                          <a:pt x="254" y="236"/>
                          <a:pt x="254" y="236"/>
                        </a:cubicBezTo>
                        <a:cubicBezTo>
                          <a:pt x="260" y="240"/>
                          <a:pt x="265" y="246"/>
                          <a:pt x="272" y="248"/>
                        </a:cubicBezTo>
                        <a:cubicBezTo>
                          <a:pt x="277" y="250"/>
                          <a:pt x="291" y="252"/>
                          <a:pt x="296" y="256"/>
                        </a:cubicBezTo>
                        <a:cubicBezTo>
                          <a:pt x="301" y="260"/>
                          <a:pt x="314" y="264"/>
                          <a:pt x="314" y="264"/>
                        </a:cubicBezTo>
                        <a:cubicBezTo>
                          <a:pt x="330" y="263"/>
                          <a:pt x="338" y="261"/>
                          <a:pt x="352" y="266"/>
                        </a:cubicBezTo>
                        <a:cubicBezTo>
                          <a:pt x="355" y="275"/>
                          <a:pt x="350" y="277"/>
                          <a:pt x="342" y="274"/>
                        </a:cubicBezTo>
                        <a:cubicBezTo>
                          <a:pt x="336" y="276"/>
                          <a:pt x="322" y="272"/>
                          <a:pt x="322" y="272"/>
                        </a:cubicBezTo>
                        <a:cubicBezTo>
                          <a:pt x="314" y="275"/>
                          <a:pt x="308" y="272"/>
                          <a:pt x="300" y="270"/>
                        </a:cubicBezTo>
                        <a:cubicBezTo>
                          <a:pt x="296" y="269"/>
                          <a:pt x="288" y="266"/>
                          <a:pt x="288" y="266"/>
                        </a:cubicBezTo>
                        <a:cubicBezTo>
                          <a:pt x="276" y="270"/>
                          <a:pt x="264" y="266"/>
                          <a:pt x="252" y="264"/>
                        </a:cubicBezTo>
                        <a:cubicBezTo>
                          <a:pt x="245" y="259"/>
                          <a:pt x="242" y="257"/>
                          <a:pt x="234" y="260"/>
                        </a:cubicBezTo>
                        <a:cubicBezTo>
                          <a:pt x="211" y="252"/>
                          <a:pt x="192" y="256"/>
                          <a:pt x="172" y="242"/>
                        </a:cubicBezTo>
                        <a:cubicBezTo>
                          <a:pt x="165" y="231"/>
                          <a:pt x="176" y="221"/>
                          <a:pt x="160" y="216"/>
                        </a:cubicBezTo>
                        <a:cubicBezTo>
                          <a:pt x="154" y="233"/>
                          <a:pt x="136" y="203"/>
                          <a:pt x="126" y="200"/>
                        </a:cubicBezTo>
                        <a:cubicBezTo>
                          <a:pt x="120" y="196"/>
                          <a:pt x="114" y="190"/>
                          <a:pt x="108" y="186"/>
                        </a:cubicBezTo>
                        <a:cubicBezTo>
                          <a:pt x="104" y="175"/>
                          <a:pt x="104" y="165"/>
                          <a:pt x="94" y="158"/>
                        </a:cubicBezTo>
                        <a:cubicBezTo>
                          <a:pt x="83" y="142"/>
                          <a:pt x="85" y="119"/>
                          <a:pt x="68" y="108"/>
                        </a:cubicBezTo>
                        <a:cubicBezTo>
                          <a:pt x="67" y="106"/>
                          <a:pt x="66" y="104"/>
                          <a:pt x="64" y="102"/>
                        </a:cubicBezTo>
                        <a:cubicBezTo>
                          <a:pt x="62" y="101"/>
                          <a:pt x="59" y="102"/>
                          <a:pt x="58" y="100"/>
                        </a:cubicBezTo>
                        <a:cubicBezTo>
                          <a:pt x="56" y="97"/>
                          <a:pt x="54" y="88"/>
                          <a:pt x="54" y="88"/>
                        </a:cubicBezTo>
                        <a:cubicBezTo>
                          <a:pt x="59" y="73"/>
                          <a:pt x="52" y="61"/>
                          <a:pt x="38" y="58"/>
                        </a:cubicBezTo>
                        <a:cubicBezTo>
                          <a:pt x="32" y="49"/>
                          <a:pt x="31" y="44"/>
                          <a:pt x="20" y="40"/>
                        </a:cubicBezTo>
                        <a:cubicBezTo>
                          <a:pt x="16" y="27"/>
                          <a:pt x="16" y="26"/>
                          <a:pt x="4" y="22"/>
                        </a:cubicBezTo>
                        <a:cubicBezTo>
                          <a:pt x="1" y="13"/>
                          <a:pt x="0" y="5"/>
                          <a:pt x="10" y="2"/>
                        </a:cubicBezTo>
                        <a:cubicBezTo>
                          <a:pt x="18" y="5"/>
                          <a:pt x="18" y="4"/>
                          <a:pt x="10"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5" name="Freeform 19"/>
                  <p:cNvSpPr>
                    <a:spLocks/>
                  </p:cNvSpPr>
                  <p:nvPr/>
                </p:nvSpPr>
                <p:spPr bwMode="ltGray">
                  <a:xfrm>
                    <a:off x="1827" y="541"/>
                    <a:ext cx="67" cy="68"/>
                  </a:xfrm>
                  <a:custGeom>
                    <a:avLst/>
                    <a:gdLst>
                      <a:gd name="T0" fmla="*/ 23 w 156"/>
                      <a:gd name="T1" fmla="*/ 22 h 206"/>
                      <a:gd name="T2" fmla="*/ 28 w 156"/>
                      <a:gd name="T3" fmla="*/ 19 h 206"/>
                      <a:gd name="T4" fmla="*/ 29 w 156"/>
                      <a:gd name="T5" fmla="*/ 17 h 206"/>
                      <a:gd name="T6" fmla="*/ 34 w 156"/>
                      <a:gd name="T7" fmla="*/ 15 h 206"/>
                      <a:gd name="T8" fmla="*/ 46 w 156"/>
                      <a:gd name="T9" fmla="*/ 7 h 206"/>
                      <a:gd name="T10" fmla="*/ 48 w 156"/>
                      <a:gd name="T11" fmla="*/ 1 h 206"/>
                      <a:gd name="T12" fmla="*/ 53 w 156"/>
                      <a:gd name="T13" fmla="*/ 0 h 206"/>
                      <a:gd name="T14" fmla="*/ 64 w 156"/>
                      <a:gd name="T15" fmla="*/ 9 h 206"/>
                      <a:gd name="T16" fmla="*/ 63 w 156"/>
                      <a:gd name="T17" fmla="*/ 15 h 206"/>
                      <a:gd name="T18" fmla="*/ 54 w 156"/>
                      <a:gd name="T19" fmla="*/ 21 h 206"/>
                      <a:gd name="T20" fmla="*/ 57 w 156"/>
                      <a:gd name="T21" fmla="*/ 31 h 206"/>
                      <a:gd name="T22" fmla="*/ 61 w 156"/>
                      <a:gd name="T23" fmla="*/ 36 h 206"/>
                      <a:gd name="T24" fmla="*/ 63 w 156"/>
                      <a:gd name="T25" fmla="*/ 42 h 206"/>
                      <a:gd name="T26" fmla="*/ 55 w 156"/>
                      <a:gd name="T27" fmla="*/ 42 h 206"/>
                      <a:gd name="T28" fmla="*/ 50 w 156"/>
                      <a:gd name="T29" fmla="*/ 48 h 206"/>
                      <a:gd name="T30" fmla="*/ 45 w 156"/>
                      <a:gd name="T31" fmla="*/ 51 h 206"/>
                      <a:gd name="T32" fmla="*/ 43 w 156"/>
                      <a:gd name="T33" fmla="*/ 65 h 206"/>
                      <a:gd name="T34" fmla="*/ 38 w 156"/>
                      <a:gd name="T35" fmla="*/ 67 h 206"/>
                      <a:gd name="T36" fmla="*/ 35 w 156"/>
                      <a:gd name="T37" fmla="*/ 68 h 206"/>
                      <a:gd name="T38" fmla="*/ 33 w 156"/>
                      <a:gd name="T39" fmla="*/ 67 h 206"/>
                      <a:gd name="T40" fmla="*/ 31 w 156"/>
                      <a:gd name="T41" fmla="*/ 63 h 206"/>
                      <a:gd name="T42" fmla="*/ 26 w 156"/>
                      <a:gd name="T43" fmla="*/ 61 h 206"/>
                      <a:gd name="T44" fmla="*/ 18 w 156"/>
                      <a:gd name="T45" fmla="*/ 64 h 206"/>
                      <a:gd name="T46" fmla="*/ 12 w 156"/>
                      <a:gd name="T47" fmla="*/ 61 h 206"/>
                      <a:gd name="T48" fmla="*/ 4 w 156"/>
                      <a:gd name="T49" fmla="*/ 49 h 206"/>
                      <a:gd name="T50" fmla="*/ 2 w 156"/>
                      <a:gd name="T51" fmla="*/ 43 h 206"/>
                      <a:gd name="T52" fmla="*/ 0 w 156"/>
                      <a:gd name="T53" fmla="*/ 39 h 206"/>
                      <a:gd name="T54" fmla="*/ 9 w 156"/>
                      <a:gd name="T55" fmla="*/ 32 h 206"/>
                      <a:gd name="T56" fmla="*/ 14 w 156"/>
                      <a:gd name="T57" fmla="*/ 34 h 206"/>
                      <a:gd name="T58" fmla="*/ 15 w 156"/>
                      <a:gd name="T59" fmla="*/ 26 h 206"/>
                      <a:gd name="T60" fmla="*/ 22 w 156"/>
                      <a:gd name="T61" fmla="*/ 23 h 206"/>
                      <a:gd name="T62" fmla="*/ 23 w 156"/>
                      <a:gd name="T63" fmla="*/ 22 h 20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56" h="206">
                        <a:moveTo>
                          <a:pt x="54" y="66"/>
                        </a:moveTo>
                        <a:cubicBezTo>
                          <a:pt x="58" y="63"/>
                          <a:pt x="64" y="63"/>
                          <a:pt x="66" y="58"/>
                        </a:cubicBezTo>
                        <a:cubicBezTo>
                          <a:pt x="67" y="56"/>
                          <a:pt x="67" y="53"/>
                          <a:pt x="68" y="52"/>
                        </a:cubicBezTo>
                        <a:cubicBezTo>
                          <a:pt x="71" y="49"/>
                          <a:pt x="80" y="44"/>
                          <a:pt x="80" y="44"/>
                        </a:cubicBezTo>
                        <a:cubicBezTo>
                          <a:pt x="113" y="55"/>
                          <a:pt x="85" y="29"/>
                          <a:pt x="106" y="22"/>
                        </a:cubicBezTo>
                        <a:cubicBezTo>
                          <a:pt x="110" y="17"/>
                          <a:pt x="108" y="9"/>
                          <a:pt x="112" y="4"/>
                        </a:cubicBezTo>
                        <a:cubicBezTo>
                          <a:pt x="115" y="1"/>
                          <a:pt x="124" y="0"/>
                          <a:pt x="124" y="0"/>
                        </a:cubicBezTo>
                        <a:cubicBezTo>
                          <a:pt x="138" y="14"/>
                          <a:pt x="126" y="23"/>
                          <a:pt x="150" y="28"/>
                        </a:cubicBezTo>
                        <a:cubicBezTo>
                          <a:pt x="156" y="36"/>
                          <a:pt x="154" y="39"/>
                          <a:pt x="146" y="44"/>
                        </a:cubicBezTo>
                        <a:cubicBezTo>
                          <a:pt x="141" y="52"/>
                          <a:pt x="135" y="61"/>
                          <a:pt x="126" y="64"/>
                        </a:cubicBezTo>
                        <a:cubicBezTo>
                          <a:pt x="118" y="75"/>
                          <a:pt x="128" y="83"/>
                          <a:pt x="132" y="94"/>
                        </a:cubicBezTo>
                        <a:cubicBezTo>
                          <a:pt x="129" y="103"/>
                          <a:pt x="135" y="105"/>
                          <a:pt x="142" y="110"/>
                        </a:cubicBezTo>
                        <a:cubicBezTo>
                          <a:pt x="145" y="119"/>
                          <a:pt x="141" y="120"/>
                          <a:pt x="146" y="128"/>
                        </a:cubicBezTo>
                        <a:cubicBezTo>
                          <a:pt x="142" y="139"/>
                          <a:pt x="135" y="133"/>
                          <a:pt x="128" y="128"/>
                        </a:cubicBezTo>
                        <a:cubicBezTo>
                          <a:pt x="116" y="132"/>
                          <a:pt x="122" y="136"/>
                          <a:pt x="116" y="146"/>
                        </a:cubicBezTo>
                        <a:cubicBezTo>
                          <a:pt x="113" y="151"/>
                          <a:pt x="108" y="152"/>
                          <a:pt x="104" y="156"/>
                        </a:cubicBezTo>
                        <a:cubicBezTo>
                          <a:pt x="107" y="167"/>
                          <a:pt x="112" y="191"/>
                          <a:pt x="100" y="198"/>
                        </a:cubicBezTo>
                        <a:cubicBezTo>
                          <a:pt x="96" y="200"/>
                          <a:pt x="92" y="200"/>
                          <a:pt x="88" y="202"/>
                        </a:cubicBezTo>
                        <a:cubicBezTo>
                          <a:pt x="86" y="203"/>
                          <a:pt x="84" y="205"/>
                          <a:pt x="82" y="206"/>
                        </a:cubicBezTo>
                        <a:cubicBezTo>
                          <a:pt x="80" y="205"/>
                          <a:pt x="77" y="204"/>
                          <a:pt x="76" y="202"/>
                        </a:cubicBezTo>
                        <a:cubicBezTo>
                          <a:pt x="74" y="198"/>
                          <a:pt x="76" y="191"/>
                          <a:pt x="72" y="190"/>
                        </a:cubicBezTo>
                        <a:cubicBezTo>
                          <a:pt x="68" y="189"/>
                          <a:pt x="60" y="186"/>
                          <a:pt x="60" y="186"/>
                        </a:cubicBezTo>
                        <a:cubicBezTo>
                          <a:pt x="53" y="188"/>
                          <a:pt x="49" y="192"/>
                          <a:pt x="42" y="194"/>
                        </a:cubicBezTo>
                        <a:cubicBezTo>
                          <a:pt x="34" y="189"/>
                          <a:pt x="37" y="183"/>
                          <a:pt x="28" y="186"/>
                        </a:cubicBezTo>
                        <a:cubicBezTo>
                          <a:pt x="12" y="181"/>
                          <a:pt x="19" y="161"/>
                          <a:pt x="10" y="148"/>
                        </a:cubicBezTo>
                        <a:cubicBezTo>
                          <a:pt x="5" y="121"/>
                          <a:pt x="11" y="147"/>
                          <a:pt x="4" y="130"/>
                        </a:cubicBezTo>
                        <a:cubicBezTo>
                          <a:pt x="2" y="126"/>
                          <a:pt x="0" y="118"/>
                          <a:pt x="0" y="118"/>
                        </a:cubicBezTo>
                        <a:cubicBezTo>
                          <a:pt x="2" y="95"/>
                          <a:pt x="0" y="83"/>
                          <a:pt x="20" y="96"/>
                        </a:cubicBezTo>
                        <a:cubicBezTo>
                          <a:pt x="23" y="105"/>
                          <a:pt x="23" y="110"/>
                          <a:pt x="32" y="104"/>
                        </a:cubicBezTo>
                        <a:cubicBezTo>
                          <a:pt x="35" y="95"/>
                          <a:pt x="29" y="88"/>
                          <a:pt x="34" y="80"/>
                        </a:cubicBezTo>
                        <a:cubicBezTo>
                          <a:pt x="36" y="76"/>
                          <a:pt x="48" y="73"/>
                          <a:pt x="52" y="70"/>
                        </a:cubicBezTo>
                        <a:cubicBezTo>
                          <a:pt x="57" y="63"/>
                          <a:pt x="58" y="62"/>
                          <a:pt x="54" y="6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6" name="Freeform 20"/>
                  <p:cNvSpPr>
                    <a:spLocks/>
                  </p:cNvSpPr>
                  <p:nvPr/>
                </p:nvSpPr>
                <p:spPr bwMode="ltGray">
                  <a:xfrm>
                    <a:off x="1892" y="572"/>
                    <a:ext cx="47" cy="13"/>
                  </a:xfrm>
                  <a:custGeom>
                    <a:avLst/>
                    <a:gdLst>
                      <a:gd name="T0" fmla="*/ 2 w 109"/>
                      <a:gd name="T1" fmla="*/ 11 h 38"/>
                      <a:gd name="T2" fmla="*/ 8 w 109"/>
                      <a:gd name="T3" fmla="*/ 3 h 38"/>
                      <a:gd name="T4" fmla="*/ 20 w 109"/>
                      <a:gd name="T5" fmla="*/ 7 h 38"/>
                      <a:gd name="T6" fmla="*/ 31 w 109"/>
                      <a:gd name="T7" fmla="*/ 5 h 38"/>
                      <a:gd name="T8" fmla="*/ 39 w 109"/>
                      <a:gd name="T9" fmla="*/ 0 h 38"/>
                      <a:gd name="T10" fmla="*/ 33 w 109"/>
                      <a:gd name="T11" fmla="*/ 9 h 38"/>
                      <a:gd name="T12" fmla="*/ 26 w 109"/>
                      <a:gd name="T13" fmla="*/ 13 h 38"/>
                      <a:gd name="T14" fmla="*/ 18 w 109"/>
                      <a:gd name="T15" fmla="*/ 11 h 38"/>
                      <a:gd name="T16" fmla="*/ 6 w 109"/>
                      <a:gd name="T17" fmla="*/ 10 h 38"/>
                      <a:gd name="T18" fmla="*/ 2 w 109"/>
                      <a:gd name="T19" fmla="*/ 11 h 3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9" h="38">
                        <a:moveTo>
                          <a:pt x="4" y="32"/>
                        </a:moveTo>
                        <a:cubicBezTo>
                          <a:pt x="7" y="22"/>
                          <a:pt x="7" y="14"/>
                          <a:pt x="18" y="10"/>
                        </a:cubicBezTo>
                        <a:cubicBezTo>
                          <a:pt x="28" y="12"/>
                          <a:pt x="37" y="14"/>
                          <a:pt x="46" y="20"/>
                        </a:cubicBezTo>
                        <a:cubicBezTo>
                          <a:pt x="62" y="15"/>
                          <a:pt x="54" y="17"/>
                          <a:pt x="72" y="14"/>
                        </a:cubicBezTo>
                        <a:cubicBezTo>
                          <a:pt x="77" y="9"/>
                          <a:pt x="90" y="0"/>
                          <a:pt x="90" y="0"/>
                        </a:cubicBezTo>
                        <a:cubicBezTo>
                          <a:pt x="109" y="6"/>
                          <a:pt x="85" y="23"/>
                          <a:pt x="76" y="26"/>
                        </a:cubicBezTo>
                        <a:cubicBezTo>
                          <a:pt x="71" y="33"/>
                          <a:pt x="68" y="35"/>
                          <a:pt x="60" y="38"/>
                        </a:cubicBezTo>
                        <a:cubicBezTo>
                          <a:pt x="54" y="36"/>
                          <a:pt x="42" y="32"/>
                          <a:pt x="42" y="32"/>
                        </a:cubicBezTo>
                        <a:cubicBezTo>
                          <a:pt x="33" y="23"/>
                          <a:pt x="26" y="26"/>
                          <a:pt x="14" y="30"/>
                        </a:cubicBezTo>
                        <a:cubicBezTo>
                          <a:pt x="1" y="28"/>
                          <a:pt x="0" y="24"/>
                          <a:pt x="4"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7" name="Freeform 21"/>
                  <p:cNvSpPr>
                    <a:spLocks/>
                  </p:cNvSpPr>
                  <p:nvPr/>
                </p:nvSpPr>
                <p:spPr bwMode="ltGray">
                  <a:xfrm>
                    <a:off x="1890" y="588"/>
                    <a:ext cx="32" cy="34"/>
                  </a:xfrm>
                  <a:custGeom>
                    <a:avLst/>
                    <a:gdLst>
                      <a:gd name="T0" fmla="*/ 3 w 76"/>
                      <a:gd name="T1" fmla="*/ 6 h 104"/>
                      <a:gd name="T2" fmla="*/ 8 w 76"/>
                      <a:gd name="T3" fmla="*/ 0 h 104"/>
                      <a:gd name="T4" fmla="*/ 14 w 76"/>
                      <a:gd name="T5" fmla="*/ 6 h 104"/>
                      <a:gd name="T6" fmla="*/ 26 w 76"/>
                      <a:gd name="T7" fmla="*/ 1 h 104"/>
                      <a:gd name="T8" fmla="*/ 19 w 76"/>
                      <a:gd name="T9" fmla="*/ 11 h 104"/>
                      <a:gd name="T10" fmla="*/ 23 w 76"/>
                      <a:gd name="T11" fmla="*/ 16 h 104"/>
                      <a:gd name="T12" fmla="*/ 24 w 76"/>
                      <a:gd name="T13" fmla="*/ 20 h 104"/>
                      <a:gd name="T14" fmla="*/ 19 w 76"/>
                      <a:gd name="T15" fmla="*/ 24 h 104"/>
                      <a:gd name="T16" fmla="*/ 14 w 76"/>
                      <a:gd name="T17" fmla="*/ 20 h 104"/>
                      <a:gd name="T18" fmla="*/ 9 w 76"/>
                      <a:gd name="T19" fmla="*/ 16 h 104"/>
                      <a:gd name="T20" fmla="*/ 12 w 76"/>
                      <a:gd name="T21" fmla="*/ 22 h 104"/>
                      <a:gd name="T22" fmla="*/ 13 w 76"/>
                      <a:gd name="T23" fmla="*/ 24 h 104"/>
                      <a:gd name="T24" fmla="*/ 8 w 76"/>
                      <a:gd name="T25" fmla="*/ 34 h 104"/>
                      <a:gd name="T26" fmla="*/ 5 w 76"/>
                      <a:gd name="T27" fmla="*/ 33 h 104"/>
                      <a:gd name="T28" fmla="*/ 3 w 76"/>
                      <a:gd name="T29" fmla="*/ 29 h 104"/>
                      <a:gd name="T30" fmla="*/ 0 w 76"/>
                      <a:gd name="T31" fmla="*/ 18 h 104"/>
                      <a:gd name="T32" fmla="*/ 1 w 76"/>
                      <a:gd name="T33" fmla="*/ 10 h 104"/>
                      <a:gd name="T34" fmla="*/ 3 w 76"/>
                      <a:gd name="T35" fmla="*/ 6 h 10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6" h="104">
                        <a:moveTo>
                          <a:pt x="8" y="18"/>
                        </a:moveTo>
                        <a:cubicBezTo>
                          <a:pt x="10" y="8"/>
                          <a:pt x="9" y="3"/>
                          <a:pt x="18" y="0"/>
                        </a:cubicBezTo>
                        <a:cubicBezTo>
                          <a:pt x="28" y="3"/>
                          <a:pt x="25" y="12"/>
                          <a:pt x="34" y="18"/>
                        </a:cubicBezTo>
                        <a:cubicBezTo>
                          <a:pt x="46" y="16"/>
                          <a:pt x="51" y="8"/>
                          <a:pt x="62" y="4"/>
                        </a:cubicBezTo>
                        <a:cubicBezTo>
                          <a:pt x="76" y="9"/>
                          <a:pt x="56" y="31"/>
                          <a:pt x="46" y="34"/>
                        </a:cubicBezTo>
                        <a:cubicBezTo>
                          <a:pt x="51" y="56"/>
                          <a:pt x="43" y="29"/>
                          <a:pt x="54" y="48"/>
                        </a:cubicBezTo>
                        <a:cubicBezTo>
                          <a:pt x="56" y="52"/>
                          <a:pt x="58" y="60"/>
                          <a:pt x="58" y="60"/>
                        </a:cubicBezTo>
                        <a:cubicBezTo>
                          <a:pt x="55" y="68"/>
                          <a:pt x="54" y="71"/>
                          <a:pt x="46" y="74"/>
                        </a:cubicBezTo>
                        <a:cubicBezTo>
                          <a:pt x="38" y="71"/>
                          <a:pt x="37" y="68"/>
                          <a:pt x="34" y="60"/>
                        </a:cubicBezTo>
                        <a:cubicBezTo>
                          <a:pt x="33" y="50"/>
                          <a:pt x="32" y="33"/>
                          <a:pt x="22" y="48"/>
                        </a:cubicBezTo>
                        <a:cubicBezTo>
                          <a:pt x="25" y="60"/>
                          <a:pt x="23" y="53"/>
                          <a:pt x="28" y="68"/>
                        </a:cubicBezTo>
                        <a:cubicBezTo>
                          <a:pt x="29" y="70"/>
                          <a:pt x="30" y="74"/>
                          <a:pt x="30" y="74"/>
                        </a:cubicBezTo>
                        <a:cubicBezTo>
                          <a:pt x="24" y="84"/>
                          <a:pt x="22" y="93"/>
                          <a:pt x="20" y="104"/>
                        </a:cubicBezTo>
                        <a:cubicBezTo>
                          <a:pt x="17" y="103"/>
                          <a:pt x="14" y="104"/>
                          <a:pt x="12" y="102"/>
                        </a:cubicBezTo>
                        <a:cubicBezTo>
                          <a:pt x="9" y="99"/>
                          <a:pt x="8" y="90"/>
                          <a:pt x="8" y="90"/>
                        </a:cubicBezTo>
                        <a:cubicBezTo>
                          <a:pt x="13" y="75"/>
                          <a:pt x="14" y="64"/>
                          <a:pt x="0" y="54"/>
                        </a:cubicBezTo>
                        <a:cubicBezTo>
                          <a:pt x="1" y="46"/>
                          <a:pt x="1" y="38"/>
                          <a:pt x="2" y="30"/>
                        </a:cubicBezTo>
                        <a:cubicBezTo>
                          <a:pt x="2" y="27"/>
                          <a:pt x="13" y="2"/>
                          <a:pt x="8"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8" name="Freeform 22"/>
                  <p:cNvSpPr>
                    <a:spLocks/>
                  </p:cNvSpPr>
                  <p:nvPr/>
                </p:nvSpPr>
                <p:spPr bwMode="ltGray">
                  <a:xfrm>
                    <a:off x="1944" y="569"/>
                    <a:ext cx="16" cy="20"/>
                  </a:xfrm>
                  <a:custGeom>
                    <a:avLst/>
                    <a:gdLst>
                      <a:gd name="T0" fmla="*/ 1 w 37"/>
                      <a:gd name="T1" fmla="*/ 9 h 61"/>
                      <a:gd name="T2" fmla="*/ 6 w 37"/>
                      <a:gd name="T3" fmla="*/ 0 h 61"/>
                      <a:gd name="T4" fmla="*/ 6 w 37"/>
                      <a:gd name="T5" fmla="*/ 9 h 61"/>
                      <a:gd name="T6" fmla="*/ 16 w 37"/>
                      <a:gd name="T7" fmla="*/ 12 h 61"/>
                      <a:gd name="T8" fmla="*/ 8 w 37"/>
                      <a:gd name="T9" fmla="*/ 14 h 61"/>
                      <a:gd name="T10" fmla="*/ 2 w 37"/>
                      <a:gd name="T11" fmla="*/ 19 h 61"/>
                      <a:gd name="T12" fmla="*/ 0 w 37"/>
                      <a:gd name="T13" fmla="*/ 11 h 61"/>
                      <a:gd name="T14" fmla="*/ 1 w 37"/>
                      <a:gd name="T15" fmla="*/ 9 h 6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7" h="61">
                        <a:moveTo>
                          <a:pt x="3" y="28"/>
                        </a:moveTo>
                        <a:cubicBezTo>
                          <a:pt x="5" y="14"/>
                          <a:pt x="2" y="7"/>
                          <a:pt x="13" y="0"/>
                        </a:cubicBezTo>
                        <a:cubicBezTo>
                          <a:pt x="26" y="9"/>
                          <a:pt x="23" y="17"/>
                          <a:pt x="15" y="28"/>
                        </a:cubicBezTo>
                        <a:cubicBezTo>
                          <a:pt x="25" y="31"/>
                          <a:pt x="33" y="27"/>
                          <a:pt x="37" y="38"/>
                        </a:cubicBezTo>
                        <a:cubicBezTo>
                          <a:pt x="30" y="45"/>
                          <a:pt x="28" y="47"/>
                          <a:pt x="19" y="44"/>
                        </a:cubicBezTo>
                        <a:cubicBezTo>
                          <a:pt x="13" y="54"/>
                          <a:pt x="18" y="61"/>
                          <a:pt x="5" y="58"/>
                        </a:cubicBezTo>
                        <a:cubicBezTo>
                          <a:pt x="0" y="50"/>
                          <a:pt x="3" y="44"/>
                          <a:pt x="1" y="34"/>
                        </a:cubicBezTo>
                        <a:cubicBezTo>
                          <a:pt x="2" y="32"/>
                          <a:pt x="3" y="28"/>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9" name="Freeform 23"/>
                  <p:cNvSpPr>
                    <a:spLocks/>
                  </p:cNvSpPr>
                  <p:nvPr/>
                </p:nvSpPr>
                <p:spPr bwMode="ltGray">
                  <a:xfrm>
                    <a:off x="1948" y="600"/>
                    <a:ext cx="20" cy="10"/>
                  </a:xfrm>
                  <a:custGeom>
                    <a:avLst/>
                    <a:gdLst>
                      <a:gd name="T0" fmla="*/ 3 w 49"/>
                      <a:gd name="T1" fmla="*/ 0 h 29"/>
                      <a:gd name="T2" fmla="*/ 12 w 49"/>
                      <a:gd name="T3" fmla="*/ 0 h 29"/>
                      <a:gd name="T4" fmla="*/ 20 w 49"/>
                      <a:gd name="T5" fmla="*/ 6 h 29"/>
                      <a:gd name="T6" fmla="*/ 14 w 49"/>
                      <a:gd name="T7" fmla="*/ 5 h 29"/>
                      <a:gd name="T8" fmla="*/ 1 w 49"/>
                      <a:gd name="T9" fmla="*/ 6 h 29"/>
                      <a:gd name="T10" fmla="*/ 3 w 49"/>
                      <a:gd name="T11" fmla="*/ 0 h 2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29">
                        <a:moveTo>
                          <a:pt x="7" y="0"/>
                        </a:moveTo>
                        <a:cubicBezTo>
                          <a:pt x="15" y="6"/>
                          <a:pt x="19" y="2"/>
                          <a:pt x="29" y="0"/>
                        </a:cubicBezTo>
                        <a:cubicBezTo>
                          <a:pt x="45" y="5"/>
                          <a:pt x="40" y="3"/>
                          <a:pt x="49" y="16"/>
                        </a:cubicBezTo>
                        <a:cubicBezTo>
                          <a:pt x="46" y="29"/>
                          <a:pt x="42" y="21"/>
                          <a:pt x="35" y="14"/>
                        </a:cubicBezTo>
                        <a:cubicBezTo>
                          <a:pt x="26" y="15"/>
                          <a:pt x="12" y="19"/>
                          <a:pt x="3" y="16"/>
                        </a:cubicBezTo>
                        <a:cubicBezTo>
                          <a:pt x="0" y="6"/>
                          <a:pt x="7" y="10"/>
                          <a:pt x="7"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0" name="Freeform 24"/>
                  <p:cNvSpPr>
                    <a:spLocks/>
                  </p:cNvSpPr>
                  <p:nvPr/>
                </p:nvSpPr>
                <p:spPr bwMode="ltGray">
                  <a:xfrm>
                    <a:off x="1969" y="585"/>
                    <a:ext cx="26" cy="17"/>
                  </a:xfrm>
                  <a:custGeom>
                    <a:avLst/>
                    <a:gdLst>
                      <a:gd name="T0" fmla="*/ 9 w 61"/>
                      <a:gd name="T1" fmla="*/ 13 h 48"/>
                      <a:gd name="T2" fmla="*/ 6 w 61"/>
                      <a:gd name="T3" fmla="*/ 9 h 48"/>
                      <a:gd name="T4" fmla="*/ 1 w 61"/>
                      <a:gd name="T5" fmla="*/ 8 h 48"/>
                      <a:gd name="T6" fmla="*/ 6 w 61"/>
                      <a:gd name="T7" fmla="*/ 3 h 48"/>
                      <a:gd name="T8" fmla="*/ 11 w 61"/>
                      <a:gd name="T9" fmla="*/ 0 h 48"/>
                      <a:gd name="T10" fmla="*/ 21 w 61"/>
                      <a:gd name="T11" fmla="*/ 4 h 48"/>
                      <a:gd name="T12" fmla="*/ 23 w 61"/>
                      <a:gd name="T13" fmla="*/ 7 h 48"/>
                      <a:gd name="T14" fmla="*/ 26 w 61"/>
                      <a:gd name="T15" fmla="*/ 11 h 48"/>
                      <a:gd name="T16" fmla="*/ 17 w 61"/>
                      <a:gd name="T17" fmla="*/ 13 h 48"/>
                      <a:gd name="T18" fmla="*/ 10 w 61"/>
                      <a:gd name="T19" fmla="*/ 16 h 48"/>
                      <a:gd name="T20" fmla="*/ 9 w 61"/>
                      <a:gd name="T21" fmla="*/ 13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1" h="48">
                        <a:moveTo>
                          <a:pt x="21" y="38"/>
                        </a:moveTo>
                        <a:cubicBezTo>
                          <a:pt x="19" y="34"/>
                          <a:pt x="19" y="29"/>
                          <a:pt x="15" y="26"/>
                        </a:cubicBezTo>
                        <a:cubicBezTo>
                          <a:pt x="12" y="24"/>
                          <a:pt x="3" y="22"/>
                          <a:pt x="3" y="22"/>
                        </a:cubicBezTo>
                        <a:cubicBezTo>
                          <a:pt x="0" y="12"/>
                          <a:pt x="5" y="12"/>
                          <a:pt x="13" y="8"/>
                        </a:cubicBezTo>
                        <a:cubicBezTo>
                          <a:pt x="17" y="6"/>
                          <a:pt x="25" y="0"/>
                          <a:pt x="25" y="0"/>
                        </a:cubicBezTo>
                        <a:cubicBezTo>
                          <a:pt x="37" y="2"/>
                          <a:pt x="41" y="2"/>
                          <a:pt x="49" y="10"/>
                        </a:cubicBezTo>
                        <a:cubicBezTo>
                          <a:pt x="45" y="21"/>
                          <a:pt x="46" y="12"/>
                          <a:pt x="53" y="20"/>
                        </a:cubicBezTo>
                        <a:cubicBezTo>
                          <a:pt x="56" y="24"/>
                          <a:pt x="61" y="32"/>
                          <a:pt x="61" y="32"/>
                        </a:cubicBezTo>
                        <a:cubicBezTo>
                          <a:pt x="56" y="47"/>
                          <a:pt x="53" y="42"/>
                          <a:pt x="41" y="38"/>
                        </a:cubicBezTo>
                        <a:cubicBezTo>
                          <a:pt x="27" y="47"/>
                          <a:pt x="34" y="48"/>
                          <a:pt x="23" y="44"/>
                        </a:cubicBezTo>
                        <a:cubicBezTo>
                          <a:pt x="22" y="42"/>
                          <a:pt x="21" y="38"/>
                          <a:pt x="21"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1" name="Freeform 25"/>
                  <p:cNvSpPr>
                    <a:spLocks/>
                  </p:cNvSpPr>
                  <p:nvPr/>
                </p:nvSpPr>
                <p:spPr bwMode="ltGray">
                  <a:xfrm>
                    <a:off x="1976" y="593"/>
                    <a:ext cx="122" cy="61"/>
                  </a:xfrm>
                  <a:custGeom>
                    <a:avLst/>
                    <a:gdLst>
                      <a:gd name="T0" fmla="*/ 20 w 286"/>
                      <a:gd name="T1" fmla="*/ 9 h 182"/>
                      <a:gd name="T2" fmla="*/ 15 w 286"/>
                      <a:gd name="T3" fmla="*/ 5 h 182"/>
                      <a:gd name="T4" fmla="*/ 11 w 286"/>
                      <a:gd name="T5" fmla="*/ 10 h 182"/>
                      <a:gd name="T6" fmla="*/ 0 w 286"/>
                      <a:gd name="T7" fmla="*/ 8 h 182"/>
                      <a:gd name="T8" fmla="*/ 4 w 286"/>
                      <a:gd name="T9" fmla="*/ 14 h 182"/>
                      <a:gd name="T10" fmla="*/ 7 w 286"/>
                      <a:gd name="T11" fmla="*/ 21 h 182"/>
                      <a:gd name="T12" fmla="*/ 10 w 286"/>
                      <a:gd name="T13" fmla="*/ 16 h 182"/>
                      <a:gd name="T14" fmla="*/ 13 w 286"/>
                      <a:gd name="T15" fmla="*/ 15 h 182"/>
                      <a:gd name="T16" fmla="*/ 20 w 286"/>
                      <a:gd name="T17" fmla="*/ 19 h 182"/>
                      <a:gd name="T18" fmla="*/ 30 w 286"/>
                      <a:gd name="T19" fmla="*/ 21 h 182"/>
                      <a:gd name="T20" fmla="*/ 38 w 286"/>
                      <a:gd name="T21" fmla="*/ 24 h 182"/>
                      <a:gd name="T22" fmla="*/ 45 w 286"/>
                      <a:gd name="T23" fmla="*/ 34 h 182"/>
                      <a:gd name="T24" fmla="*/ 44 w 286"/>
                      <a:gd name="T25" fmla="*/ 41 h 182"/>
                      <a:gd name="T26" fmla="*/ 42 w 286"/>
                      <a:gd name="T27" fmla="*/ 45 h 182"/>
                      <a:gd name="T28" fmla="*/ 52 w 286"/>
                      <a:gd name="T29" fmla="*/ 43 h 182"/>
                      <a:gd name="T30" fmla="*/ 60 w 286"/>
                      <a:gd name="T31" fmla="*/ 47 h 182"/>
                      <a:gd name="T32" fmla="*/ 72 w 286"/>
                      <a:gd name="T33" fmla="*/ 50 h 182"/>
                      <a:gd name="T34" fmla="*/ 74 w 286"/>
                      <a:gd name="T35" fmla="*/ 49 h 182"/>
                      <a:gd name="T36" fmla="*/ 72 w 286"/>
                      <a:gd name="T37" fmla="*/ 45 h 182"/>
                      <a:gd name="T38" fmla="*/ 76 w 286"/>
                      <a:gd name="T39" fmla="*/ 46 h 182"/>
                      <a:gd name="T40" fmla="*/ 79 w 286"/>
                      <a:gd name="T41" fmla="*/ 40 h 182"/>
                      <a:gd name="T42" fmla="*/ 86 w 286"/>
                      <a:gd name="T43" fmla="*/ 41 h 182"/>
                      <a:gd name="T44" fmla="*/ 91 w 286"/>
                      <a:gd name="T45" fmla="*/ 44 h 182"/>
                      <a:gd name="T46" fmla="*/ 104 w 286"/>
                      <a:gd name="T47" fmla="*/ 56 h 182"/>
                      <a:gd name="T48" fmla="*/ 112 w 286"/>
                      <a:gd name="T49" fmla="*/ 60 h 182"/>
                      <a:gd name="T50" fmla="*/ 121 w 286"/>
                      <a:gd name="T51" fmla="*/ 57 h 182"/>
                      <a:gd name="T52" fmla="*/ 114 w 286"/>
                      <a:gd name="T53" fmla="*/ 54 h 182"/>
                      <a:gd name="T54" fmla="*/ 109 w 286"/>
                      <a:gd name="T55" fmla="*/ 46 h 182"/>
                      <a:gd name="T56" fmla="*/ 107 w 286"/>
                      <a:gd name="T57" fmla="*/ 44 h 182"/>
                      <a:gd name="T58" fmla="*/ 106 w 286"/>
                      <a:gd name="T59" fmla="*/ 41 h 182"/>
                      <a:gd name="T60" fmla="*/ 101 w 286"/>
                      <a:gd name="T61" fmla="*/ 39 h 182"/>
                      <a:gd name="T62" fmla="*/ 102 w 286"/>
                      <a:gd name="T63" fmla="*/ 32 h 182"/>
                      <a:gd name="T64" fmla="*/ 94 w 286"/>
                      <a:gd name="T65" fmla="*/ 29 h 182"/>
                      <a:gd name="T66" fmla="*/ 90 w 286"/>
                      <a:gd name="T67" fmla="*/ 23 h 182"/>
                      <a:gd name="T68" fmla="*/ 81 w 286"/>
                      <a:gd name="T69" fmla="*/ 18 h 182"/>
                      <a:gd name="T70" fmla="*/ 72 w 286"/>
                      <a:gd name="T71" fmla="*/ 13 h 182"/>
                      <a:gd name="T72" fmla="*/ 67 w 286"/>
                      <a:gd name="T73" fmla="*/ 11 h 182"/>
                      <a:gd name="T74" fmla="*/ 51 w 286"/>
                      <a:gd name="T75" fmla="*/ 5 h 182"/>
                      <a:gd name="T76" fmla="*/ 44 w 286"/>
                      <a:gd name="T77" fmla="*/ 1 h 182"/>
                      <a:gd name="T78" fmla="*/ 41 w 286"/>
                      <a:gd name="T79" fmla="*/ 0 h 182"/>
                      <a:gd name="T80" fmla="*/ 30 w 286"/>
                      <a:gd name="T81" fmla="*/ 3 h 182"/>
                      <a:gd name="T82" fmla="*/ 24 w 286"/>
                      <a:gd name="T83" fmla="*/ 11 h 182"/>
                      <a:gd name="T84" fmla="*/ 20 w 286"/>
                      <a:gd name="T85" fmla="*/ 9 h 18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86" h="182">
                        <a:moveTo>
                          <a:pt x="46" y="28"/>
                        </a:moveTo>
                        <a:cubicBezTo>
                          <a:pt x="41" y="14"/>
                          <a:pt x="46" y="17"/>
                          <a:pt x="36" y="14"/>
                        </a:cubicBezTo>
                        <a:cubicBezTo>
                          <a:pt x="31" y="17"/>
                          <a:pt x="26" y="30"/>
                          <a:pt x="26" y="30"/>
                        </a:cubicBezTo>
                        <a:cubicBezTo>
                          <a:pt x="12" y="25"/>
                          <a:pt x="19" y="21"/>
                          <a:pt x="0" y="24"/>
                        </a:cubicBezTo>
                        <a:cubicBezTo>
                          <a:pt x="2" y="33"/>
                          <a:pt x="2" y="37"/>
                          <a:pt x="10" y="42"/>
                        </a:cubicBezTo>
                        <a:cubicBezTo>
                          <a:pt x="12" y="49"/>
                          <a:pt x="14" y="55"/>
                          <a:pt x="16" y="62"/>
                        </a:cubicBezTo>
                        <a:cubicBezTo>
                          <a:pt x="24" y="59"/>
                          <a:pt x="27" y="57"/>
                          <a:pt x="24" y="48"/>
                        </a:cubicBezTo>
                        <a:cubicBezTo>
                          <a:pt x="26" y="47"/>
                          <a:pt x="28" y="43"/>
                          <a:pt x="30" y="44"/>
                        </a:cubicBezTo>
                        <a:cubicBezTo>
                          <a:pt x="48" y="48"/>
                          <a:pt x="36" y="52"/>
                          <a:pt x="48" y="56"/>
                        </a:cubicBezTo>
                        <a:cubicBezTo>
                          <a:pt x="74" y="65"/>
                          <a:pt x="47" y="56"/>
                          <a:pt x="70" y="62"/>
                        </a:cubicBezTo>
                        <a:cubicBezTo>
                          <a:pt x="77" y="64"/>
                          <a:pt x="88" y="72"/>
                          <a:pt x="88" y="72"/>
                        </a:cubicBezTo>
                        <a:cubicBezTo>
                          <a:pt x="96" y="84"/>
                          <a:pt x="102" y="87"/>
                          <a:pt x="106" y="102"/>
                        </a:cubicBezTo>
                        <a:cubicBezTo>
                          <a:pt x="105" y="109"/>
                          <a:pt x="106" y="115"/>
                          <a:pt x="104" y="122"/>
                        </a:cubicBezTo>
                        <a:cubicBezTo>
                          <a:pt x="103" y="126"/>
                          <a:pt x="94" y="132"/>
                          <a:pt x="98" y="134"/>
                        </a:cubicBezTo>
                        <a:cubicBezTo>
                          <a:pt x="106" y="137"/>
                          <a:pt x="122" y="128"/>
                          <a:pt x="122" y="128"/>
                        </a:cubicBezTo>
                        <a:cubicBezTo>
                          <a:pt x="130" y="131"/>
                          <a:pt x="133" y="135"/>
                          <a:pt x="140" y="140"/>
                        </a:cubicBezTo>
                        <a:cubicBezTo>
                          <a:pt x="148" y="145"/>
                          <a:pt x="159" y="145"/>
                          <a:pt x="168" y="148"/>
                        </a:cubicBezTo>
                        <a:cubicBezTo>
                          <a:pt x="170" y="147"/>
                          <a:pt x="173" y="148"/>
                          <a:pt x="174" y="146"/>
                        </a:cubicBezTo>
                        <a:cubicBezTo>
                          <a:pt x="176" y="142"/>
                          <a:pt x="164" y="136"/>
                          <a:pt x="168" y="134"/>
                        </a:cubicBezTo>
                        <a:cubicBezTo>
                          <a:pt x="171" y="132"/>
                          <a:pt x="175" y="135"/>
                          <a:pt x="178" y="136"/>
                        </a:cubicBezTo>
                        <a:cubicBezTo>
                          <a:pt x="182" y="131"/>
                          <a:pt x="186" y="118"/>
                          <a:pt x="186" y="118"/>
                        </a:cubicBezTo>
                        <a:cubicBezTo>
                          <a:pt x="189" y="119"/>
                          <a:pt x="199" y="120"/>
                          <a:pt x="202" y="122"/>
                        </a:cubicBezTo>
                        <a:cubicBezTo>
                          <a:pt x="206" y="124"/>
                          <a:pt x="214" y="130"/>
                          <a:pt x="214" y="130"/>
                        </a:cubicBezTo>
                        <a:cubicBezTo>
                          <a:pt x="224" y="145"/>
                          <a:pt x="228" y="158"/>
                          <a:pt x="244" y="168"/>
                        </a:cubicBezTo>
                        <a:cubicBezTo>
                          <a:pt x="250" y="172"/>
                          <a:pt x="262" y="178"/>
                          <a:pt x="262" y="178"/>
                        </a:cubicBezTo>
                        <a:cubicBezTo>
                          <a:pt x="265" y="178"/>
                          <a:pt x="286" y="182"/>
                          <a:pt x="284" y="170"/>
                        </a:cubicBezTo>
                        <a:cubicBezTo>
                          <a:pt x="283" y="164"/>
                          <a:pt x="268" y="160"/>
                          <a:pt x="268" y="160"/>
                        </a:cubicBezTo>
                        <a:cubicBezTo>
                          <a:pt x="261" y="150"/>
                          <a:pt x="270" y="143"/>
                          <a:pt x="256" y="138"/>
                        </a:cubicBezTo>
                        <a:cubicBezTo>
                          <a:pt x="254" y="136"/>
                          <a:pt x="251" y="135"/>
                          <a:pt x="250" y="132"/>
                        </a:cubicBezTo>
                        <a:cubicBezTo>
                          <a:pt x="248" y="129"/>
                          <a:pt x="250" y="125"/>
                          <a:pt x="248" y="122"/>
                        </a:cubicBezTo>
                        <a:cubicBezTo>
                          <a:pt x="246" y="118"/>
                          <a:pt x="240" y="118"/>
                          <a:pt x="236" y="116"/>
                        </a:cubicBezTo>
                        <a:cubicBezTo>
                          <a:pt x="230" y="107"/>
                          <a:pt x="227" y="100"/>
                          <a:pt x="240" y="96"/>
                        </a:cubicBezTo>
                        <a:cubicBezTo>
                          <a:pt x="236" y="83"/>
                          <a:pt x="236" y="84"/>
                          <a:pt x="220" y="86"/>
                        </a:cubicBezTo>
                        <a:cubicBezTo>
                          <a:pt x="209" y="82"/>
                          <a:pt x="208" y="82"/>
                          <a:pt x="210" y="70"/>
                        </a:cubicBezTo>
                        <a:cubicBezTo>
                          <a:pt x="207" y="60"/>
                          <a:pt x="199" y="57"/>
                          <a:pt x="190" y="54"/>
                        </a:cubicBezTo>
                        <a:cubicBezTo>
                          <a:pt x="181" y="45"/>
                          <a:pt x="181" y="42"/>
                          <a:pt x="168" y="38"/>
                        </a:cubicBezTo>
                        <a:cubicBezTo>
                          <a:pt x="164" y="37"/>
                          <a:pt x="156" y="34"/>
                          <a:pt x="156" y="34"/>
                        </a:cubicBezTo>
                        <a:cubicBezTo>
                          <a:pt x="146" y="24"/>
                          <a:pt x="134" y="21"/>
                          <a:pt x="120" y="16"/>
                        </a:cubicBezTo>
                        <a:cubicBezTo>
                          <a:pt x="113" y="14"/>
                          <a:pt x="108" y="8"/>
                          <a:pt x="102" y="4"/>
                        </a:cubicBezTo>
                        <a:cubicBezTo>
                          <a:pt x="100" y="3"/>
                          <a:pt x="96" y="0"/>
                          <a:pt x="96" y="0"/>
                        </a:cubicBezTo>
                        <a:cubicBezTo>
                          <a:pt x="83" y="2"/>
                          <a:pt x="79" y="1"/>
                          <a:pt x="70" y="10"/>
                        </a:cubicBezTo>
                        <a:cubicBezTo>
                          <a:pt x="67" y="19"/>
                          <a:pt x="63" y="27"/>
                          <a:pt x="56" y="32"/>
                        </a:cubicBezTo>
                        <a:cubicBezTo>
                          <a:pt x="49" y="30"/>
                          <a:pt x="52" y="31"/>
                          <a:pt x="4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2" name="Freeform 26"/>
                  <p:cNvSpPr>
                    <a:spLocks/>
                  </p:cNvSpPr>
                  <p:nvPr/>
                </p:nvSpPr>
                <p:spPr bwMode="ltGray">
                  <a:xfrm>
                    <a:off x="2082" y="599"/>
                    <a:ext cx="33" cy="26"/>
                  </a:xfrm>
                  <a:custGeom>
                    <a:avLst/>
                    <a:gdLst>
                      <a:gd name="T0" fmla="*/ 0 w 78"/>
                      <a:gd name="T1" fmla="*/ 19 h 78"/>
                      <a:gd name="T2" fmla="*/ 11 w 78"/>
                      <a:gd name="T3" fmla="*/ 20 h 78"/>
                      <a:gd name="T4" fmla="*/ 19 w 78"/>
                      <a:gd name="T5" fmla="*/ 16 h 78"/>
                      <a:gd name="T6" fmla="*/ 24 w 78"/>
                      <a:gd name="T7" fmla="*/ 10 h 78"/>
                      <a:gd name="T8" fmla="*/ 18 w 78"/>
                      <a:gd name="T9" fmla="*/ 5 h 78"/>
                      <a:gd name="T10" fmla="*/ 18 w 78"/>
                      <a:gd name="T11" fmla="*/ 1 h 78"/>
                      <a:gd name="T12" fmla="*/ 30 w 78"/>
                      <a:gd name="T13" fmla="*/ 9 h 78"/>
                      <a:gd name="T14" fmla="*/ 28 w 78"/>
                      <a:gd name="T15" fmla="*/ 18 h 78"/>
                      <a:gd name="T16" fmla="*/ 14 w 78"/>
                      <a:gd name="T17" fmla="*/ 26 h 78"/>
                      <a:gd name="T18" fmla="*/ 4 w 78"/>
                      <a:gd name="T19" fmla="*/ 22 h 78"/>
                      <a:gd name="T20" fmla="*/ 1 w 78"/>
                      <a:gd name="T21" fmla="*/ 21 h 78"/>
                      <a:gd name="T22" fmla="*/ 0 w 78"/>
                      <a:gd name="T23" fmla="*/ 19 h 7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8" h="78">
                        <a:moveTo>
                          <a:pt x="1" y="58"/>
                        </a:moveTo>
                        <a:cubicBezTo>
                          <a:pt x="6" y="44"/>
                          <a:pt x="18" y="57"/>
                          <a:pt x="27" y="60"/>
                        </a:cubicBezTo>
                        <a:cubicBezTo>
                          <a:pt x="35" y="57"/>
                          <a:pt x="38" y="52"/>
                          <a:pt x="45" y="48"/>
                        </a:cubicBezTo>
                        <a:cubicBezTo>
                          <a:pt x="48" y="40"/>
                          <a:pt x="51" y="36"/>
                          <a:pt x="57" y="30"/>
                        </a:cubicBezTo>
                        <a:cubicBezTo>
                          <a:pt x="55" y="23"/>
                          <a:pt x="43" y="14"/>
                          <a:pt x="43" y="14"/>
                        </a:cubicBezTo>
                        <a:cubicBezTo>
                          <a:pt x="33" y="0"/>
                          <a:pt x="30" y="1"/>
                          <a:pt x="43" y="4"/>
                        </a:cubicBezTo>
                        <a:cubicBezTo>
                          <a:pt x="54" y="11"/>
                          <a:pt x="58" y="22"/>
                          <a:pt x="71" y="26"/>
                        </a:cubicBezTo>
                        <a:cubicBezTo>
                          <a:pt x="78" y="37"/>
                          <a:pt x="78" y="46"/>
                          <a:pt x="67" y="54"/>
                        </a:cubicBezTo>
                        <a:cubicBezTo>
                          <a:pt x="51" y="49"/>
                          <a:pt x="53" y="71"/>
                          <a:pt x="33" y="78"/>
                        </a:cubicBezTo>
                        <a:cubicBezTo>
                          <a:pt x="16" y="72"/>
                          <a:pt x="25" y="76"/>
                          <a:pt x="9" y="66"/>
                        </a:cubicBezTo>
                        <a:cubicBezTo>
                          <a:pt x="7" y="65"/>
                          <a:pt x="3" y="62"/>
                          <a:pt x="3" y="62"/>
                        </a:cubicBezTo>
                        <a:cubicBezTo>
                          <a:pt x="0" y="54"/>
                          <a:pt x="13" y="42"/>
                          <a:pt x="1" y="5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3" name="Freeform 27"/>
                  <p:cNvSpPr>
                    <a:spLocks/>
                  </p:cNvSpPr>
                  <p:nvPr/>
                </p:nvSpPr>
                <p:spPr bwMode="ltGray">
                  <a:xfrm>
                    <a:off x="2152" y="544"/>
                    <a:ext cx="8" cy="6"/>
                  </a:xfrm>
                  <a:custGeom>
                    <a:avLst/>
                    <a:gdLst>
                      <a:gd name="T0" fmla="*/ 1 w 17"/>
                      <a:gd name="T1" fmla="*/ 1 h 18"/>
                      <a:gd name="T2" fmla="*/ 1 w 17"/>
                      <a:gd name="T3" fmla="*/ 5 h 18"/>
                      <a:gd name="T4" fmla="*/ 1 w 17"/>
                      <a:gd name="T5" fmla="*/ 1 h 18"/>
                      <a:gd name="T6" fmla="*/ 0 60000 65536"/>
                      <a:gd name="T7" fmla="*/ 0 60000 65536"/>
                      <a:gd name="T8" fmla="*/ 0 60000 65536"/>
                    </a:gdLst>
                    <a:ahLst/>
                    <a:cxnLst>
                      <a:cxn ang="T6">
                        <a:pos x="T0" y="T1"/>
                      </a:cxn>
                      <a:cxn ang="T7">
                        <a:pos x="T2" y="T3"/>
                      </a:cxn>
                      <a:cxn ang="T8">
                        <a:pos x="T4" y="T5"/>
                      </a:cxn>
                    </a:cxnLst>
                    <a:rect l="0" t="0" r="r" b="b"/>
                    <a:pathLst>
                      <a:path w="17" h="18">
                        <a:moveTo>
                          <a:pt x="3" y="4"/>
                        </a:moveTo>
                        <a:cubicBezTo>
                          <a:pt x="17" y="7"/>
                          <a:pt x="16" y="18"/>
                          <a:pt x="3" y="14"/>
                        </a:cubicBezTo>
                        <a:cubicBezTo>
                          <a:pt x="0" y="6"/>
                          <a:pt x="7" y="0"/>
                          <a:pt x="3"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4" name="Freeform 28"/>
                  <p:cNvSpPr>
                    <a:spLocks/>
                  </p:cNvSpPr>
                  <p:nvPr/>
                </p:nvSpPr>
                <p:spPr bwMode="ltGray">
                  <a:xfrm>
                    <a:off x="2194" y="584"/>
                    <a:ext cx="11" cy="8"/>
                  </a:xfrm>
                  <a:custGeom>
                    <a:avLst/>
                    <a:gdLst>
                      <a:gd name="T0" fmla="*/ 3 w 26"/>
                      <a:gd name="T1" fmla="*/ 5 h 22"/>
                      <a:gd name="T2" fmla="*/ 6 w 26"/>
                      <a:gd name="T3" fmla="*/ 0 h 22"/>
                      <a:gd name="T4" fmla="*/ 6 w 26"/>
                      <a:gd name="T5" fmla="*/ 8 h 22"/>
                      <a:gd name="T6" fmla="*/ 3 w 26"/>
                      <a:gd name="T7" fmla="*/ 5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2">
                        <a:moveTo>
                          <a:pt x="8" y="14"/>
                        </a:moveTo>
                        <a:cubicBezTo>
                          <a:pt x="5" y="6"/>
                          <a:pt x="5" y="3"/>
                          <a:pt x="14" y="0"/>
                        </a:cubicBezTo>
                        <a:cubicBezTo>
                          <a:pt x="26" y="4"/>
                          <a:pt x="23" y="16"/>
                          <a:pt x="14" y="22"/>
                        </a:cubicBezTo>
                        <a:cubicBezTo>
                          <a:pt x="0" y="17"/>
                          <a:pt x="13" y="3"/>
                          <a:pt x="8" y="1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5" name="Freeform 29"/>
                  <p:cNvSpPr>
                    <a:spLocks/>
                  </p:cNvSpPr>
                  <p:nvPr/>
                </p:nvSpPr>
                <p:spPr bwMode="ltGray">
                  <a:xfrm>
                    <a:off x="2059" y="494"/>
                    <a:ext cx="8" cy="5"/>
                  </a:xfrm>
                  <a:custGeom>
                    <a:avLst/>
                    <a:gdLst>
                      <a:gd name="T0" fmla="*/ 3 w 20"/>
                      <a:gd name="T1" fmla="*/ 4 h 15"/>
                      <a:gd name="T2" fmla="*/ 7 w 20"/>
                      <a:gd name="T3" fmla="*/ 1 h 15"/>
                      <a:gd name="T4" fmla="*/ 4 w 20"/>
                      <a:gd name="T5" fmla="*/ 4 h 15"/>
                      <a:gd name="T6" fmla="*/ 3 w 20"/>
                      <a:gd name="T7" fmla="*/ 4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1"/>
                          <a:pt x="6" y="0"/>
                          <a:pt x="17" y="2"/>
                        </a:cubicBezTo>
                        <a:cubicBezTo>
                          <a:pt x="20" y="10"/>
                          <a:pt x="18" y="15"/>
                          <a:pt x="9" y="12"/>
                        </a:cubicBezTo>
                        <a:cubicBezTo>
                          <a:pt x="4" y="4"/>
                          <a:pt x="4" y="4"/>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6" name="Freeform 30"/>
                  <p:cNvSpPr>
                    <a:spLocks/>
                  </p:cNvSpPr>
                  <p:nvPr/>
                </p:nvSpPr>
                <p:spPr bwMode="ltGray">
                  <a:xfrm>
                    <a:off x="1988" y="536"/>
                    <a:ext cx="8" cy="5"/>
                  </a:xfrm>
                  <a:custGeom>
                    <a:avLst/>
                    <a:gdLst>
                      <a:gd name="T0" fmla="*/ 3 w 20"/>
                      <a:gd name="T1" fmla="*/ 4 h 15"/>
                      <a:gd name="T2" fmla="*/ 6 w 20"/>
                      <a:gd name="T3" fmla="*/ 1 h 15"/>
                      <a:gd name="T4" fmla="*/ 6 w 20"/>
                      <a:gd name="T5" fmla="*/ 5 h 15"/>
                      <a:gd name="T6" fmla="*/ 3 w 20"/>
                      <a:gd name="T7" fmla="*/ 4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2"/>
                          <a:pt x="3" y="0"/>
                          <a:pt x="15" y="2"/>
                        </a:cubicBezTo>
                        <a:cubicBezTo>
                          <a:pt x="16" y="4"/>
                          <a:pt x="20" y="12"/>
                          <a:pt x="15" y="14"/>
                        </a:cubicBezTo>
                        <a:cubicBezTo>
                          <a:pt x="12" y="15"/>
                          <a:pt x="7" y="12"/>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7" name="Freeform 31"/>
                  <p:cNvSpPr>
                    <a:spLocks/>
                  </p:cNvSpPr>
                  <p:nvPr/>
                </p:nvSpPr>
                <p:spPr bwMode="ltGray">
                  <a:xfrm>
                    <a:off x="1910" y="523"/>
                    <a:ext cx="34" cy="27"/>
                  </a:xfrm>
                  <a:custGeom>
                    <a:avLst/>
                    <a:gdLst>
                      <a:gd name="T0" fmla="*/ 0 w 80"/>
                      <a:gd name="T1" fmla="*/ 17 h 80"/>
                      <a:gd name="T2" fmla="*/ 6 w 80"/>
                      <a:gd name="T3" fmla="*/ 8 h 80"/>
                      <a:gd name="T4" fmla="*/ 11 w 80"/>
                      <a:gd name="T5" fmla="*/ 7 h 80"/>
                      <a:gd name="T6" fmla="*/ 20 w 80"/>
                      <a:gd name="T7" fmla="*/ 6 h 80"/>
                      <a:gd name="T8" fmla="*/ 25 w 80"/>
                      <a:gd name="T9" fmla="*/ 0 h 80"/>
                      <a:gd name="T10" fmla="*/ 34 w 80"/>
                      <a:gd name="T11" fmla="*/ 14 h 80"/>
                      <a:gd name="T12" fmla="*/ 30 w 80"/>
                      <a:gd name="T13" fmla="*/ 19 h 80"/>
                      <a:gd name="T14" fmla="*/ 23 w 80"/>
                      <a:gd name="T15" fmla="*/ 21 h 80"/>
                      <a:gd name="T16" fmla="*/ 20 w 80"/>
                      <a:gd name="T17" fmla="*/ 27 h 80"/>
                      <a:gd name="T18" fmla="*/ 14 w 80"/>
                      <a:gd name="T19" fmla="*/ 23 h 80"/>
                      <a:gd name="T20" fmla="*/ 16 w 80"/>
                      <a:gd name="T21" fmla="*/ 18 h 80"/>
                      <a:gd name="T22" fmla="*/ 13 w 80"/>
                      <a:gd name="T23" fmla="*/ 9 h 80"/>
                      <a:gd name="T24" fmla="*/ 9 w 80"/>
                      <a:gd name="T25" fmla="*/ 16 h 80"/>
                      <a:gd name="T26" fmla="*/ 3 w 80"/>
                      <a:gd name="T27" fmla="*/ 19 h 80"/>
                      <a:gd name="T28" fmla="*/ 0 w 80"/>
                      <a:gd name="T29" fmla="*/ 17 h 8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0" h="80">
                        <a:moveTo>
                          <a:pt x="0" y="50"/>
                        </a:moveTo>
                        <a:cubicBezTo>
                          <a:pt x="1" y="47"/>
                          <a:pt x="12" y="25"/>
                          <a:pt x="14" y="24"/>
                        </a:cubicBezTo>
                        <a:cubicBezTo>
                          <a:pt x="17" y="22"/>
                          <a:pt x="26" y="20"/>
                          <a:pt x="26" y="20"/>
                        </a:cubicBezTo>
                        <a:cubicBezTo>
                          <a:pt x="34" y="23"/>
                          <a:pt x="40" y="21"/>
                          <a:pt x="48" y="18"/>
                        </a:cubicBezTo>
                        <a:cubicBezTo>
                          <a:pt x="52" y="12"/>
                          <a:pt x="54" y="6"/>
                          <a:pt x="58" y="0"/>
                        </a:cubicBezTo>
                        <a:cubicBezTo>
                          <a:pt x="70" y="4"/>
                          <a:pt x="76" y="28"/>
                          <a:pt x="80" y="40"/>
                        </a:cubicBezTo>
                        <a:cubicBezTo>
                          <a:pt x="75" y="54"/>
                          <a:pt x="80" y="50"/>
                          <a:pt x="70" y="56"/>
                        </a:cubicBezTo>
                        <a:cubicBezTo>
                          <a:pt x="61" y="53"/>
                          <a:pt x="59" y="54"/>
                          <a:pt x="54" y="62"/>
                        </a:cubicBezTo>
                        <a:cubicBezTo>
                          <a:pt x="57" y="71"/>
                          <a:pt x="56" y="75"/>
                          <a:pt x="48" y="80"/>
                        </a:cubicBezTo>
                        <a:cubicBezTo>
                          <a:pt x="40" y="77"/>
                          <a:pt x="39" y="72"/>
                          <a:pt x="32" y="68"/>
                        </a:cubicBezTo>
                        <a:cubicBezTo>
                          <a:pt x="26" y="59"/>
                          <a:pt x="30" y="57"/>
                          <a:pt x="38" y="52"/>
                        </a:cubicBezTo>
                        <a:cubicBezTo>
                          <a:pt x="41" y="42"/>
                          <a:pt x="39" y="34"/>
                          <a:pt x="30" y="28"/>
                        </a:cubicBezTo>
                        <a:cubicBezTo>
                          <a:pt x="20" y="31"/>
                          <a:pt x="30" y="40"/>
                          <a:pt x="20" y="48"/>
                        </a:cubicBezTo>
                        <a:cubicBezTo>
                          <a:pt x="16" y="51"/>
                          <a:pt x="8" y="56"/>
                          <a:pt x="8" y="56"/>
                        </a:cubicBezTo>
                        <a:cubicBezTo>
                          <a:pt x="2" y="50"/>
                          <a:pt x="5" y="50"/>
                          <a:pt x="0" y="5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8" name="Freeform 32"/>
                  <p:cNvSpPr>
                    <a:spLocks/>
                  </p:cNvSpPr>
                  <p:nvPr/>
                </p:nvSpPr>
                <p:spPr bwMode="ltGray">
                  <a:xfrm>
                    <a:off x="1899" y="466"/>
                    <a:ext cx="40" cy="58"/>
                  </a:xfrm>
                  <a:custGeom>
                    <a:avLst/>
                    <a:gdLst>
                      <a:gd name="T0" fmla="*/ 6 w 94"/>
                      <a:gd name="T1" fmla="*/ 32 h 174"/>
                      <a:gd name="T2" fmla="*/ 11 w 94"/>
                      <a:gd name="T3" fmla="*/ 43 h 174"/>
                      <a:gd name="T4" fmla="*/ 14 w 94"/>
                      <a:gd name="T5" fmla="*/ 36 h 174"/>
                      <a:gd name="T6" fmla="*/ 22 w 94"/>
                      <a:gd name="T7" fmla="*/ 33 h 174"/>
                      <a:gd name="T8" fmla="*/ 20 w 94"/>
                      <a:gd name="T9" fmla="*/ 41 h 174"/>
                      <a:gd name="T10" fmla="*/ 28 w 94"/>
                      <a:gd name="T11" fmla="*/ 42 h 174"/>
                      <a:gd name="T12" fmla="*/ 32 w 94"/>
                      <a:gd name="T13" fmla="*/ 47 h 174"/>
                      <a:gd name="T14" fmla="*/ 25 w 94"/>
                      <a:gd name="T15" fmla="*/ 49 h 174"/>
                      <a:gd name="T16" fmla="*/ 31 w 94"/>
                      <a:gd name="T17" fmla="*/ 58 h 174"/>
                      <a:gd name="T18" fmla="*/ 36 w 94"/>
                      <a:gd name="T19" fmla="*/ 51 h 174"/>
                      <a:gd name="T20" fmla="*/ 35 w 94"/>
                      <a:gd name="T21" fmla="*/ 37 h 174"/>
                      <a:gd name="T22" fmla="*/ 26 w 94"/>
                      <a:gd name="T23" fmla="*/ 35 h 174"/>
                      <a:gd name="T24" fmla="*/ 21 w 94"/>
                      <a:gd name="T25" fmla="*/ 27 h 174"/>
                      <a:gd name="T26" fmla="*/ 14 w 94"/>
                      <a:gd name="T27" fmla="*/ 27 h 174"/>
                      <a:gd name="T28" fmla="*/ 13 w 94"/>
                      <a:gd name="T29" fmla="*/ 23 h 174"/>
                      <a:gd name="T30" fmla="*/ 18 w 94"/>
                      <a:gd name="T31" fmla="*/ 14 h 174"/>
                      <a:gd name="T32" fmla="*/ 13 w 94"/>
                      <a:gd name="T33" fmla="*/ 0 h 174"/>
                      <a:gd name="T34" fmla="*/ 8 w 94"/>
                      <a:gd name="T35" fmla="*/ 7 h 174"/>
                      <a:gd name="T36" fmla="*/ 2 w 94"/>
                      <a:gd name="T37" fmla="*/ 15 h 174"/>
                      <a:gd name="T38" fmla="*/ 6 w 94"/>
                      <a:gd name="T39" fmla="*/ 25 h 174"/>
                      <a:gd name="T40" fmla="*/ 6 w 94"/>
                      <a:gd name="T41" fmla="*/ 32 h 17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4" h="174">
                        <a:moveTo>
                          <a:pt x="14" y="96"/>
                        </a:moveTo>
                        <a:cubicBezTo>
                          <a:pt x="11" y="109"/>
                          <a:pt x="15" y="120"/>
                          <a:pt x="26" y="128"/>
                        </a:cubicBezTo>
                        <a:cubicBezTo>
                          <a:pt x="34" y="120"/>
                          <a:pt x="35" y="119"/>
                          <a:pt x="32" y="108"/>
                        </a:cubicBezTo>
                        <a:cubicBezTo>
                          <a:pt x="35" y="92"/>
                          <a:pt x="39" y="92"/>
                          <a:pt x="52" y="100"/>
                        </a:cubicBezTo>
                        <a:cubicBezTo>
                          <a:pt x="59" y="110"/>
                          <a:pt x="49" y="114"/>
                          <a:pt x="46" y="124"/>
                        </a:cubicBezTo>
                        <a:cubicBezTo>
                          <a:pt x="50" y="137"/>
                          <a:pt x="57" y="129"/>
                          <a:pt x="66" y="126"/>
                        </a:cubicBezTo>
                        <a:cubicBezTo>
                          <a:pt x="77" y="129"/>
                          <a:pt x="79" y="131"/>
                          <a:pt x="76" y="142"/>
                        </a:cubicBezTo>
                        <a:cubicBezTo>
                          <a:pt x="67" y="139"/>
                          <a:pt x="65" y="141"/>
                          <a:pt x="58" y="148"/>
                        </a:cubicBezTo>
                        <a:cubicBezTo>
                          <a:pt x="60" y="160"/>
                          <a:pt x="62" y="170"/>
                          <a:pt x="74" y="174"/>
                        </a:cubicBezTo>
                        <a:cubicBezTo>
                          <a:pt x="77" y="165"/>
                          <a:pt x="74" y="157"/>
                          <a:pt x="84" y="154"/>
                        </a:cubicBezTo>
                        <a:cubicBezTo>
                          <a:pt x="91" y="143"/>
                          <a:pt x="94" y="122"/>
                          <a:pt x="82" y="112"/>
                        </a:cubicBezTo>
                        <a:cubicBezTo>
                          <a:pt x="77" y="108"/>
                          <a:pt x="66" y="108"/>
                          <a:pt x="60" y="106"/>
                        </a:cubicBezTo>
                        <a:cubicBezTo>
                          <a:pt x="65" y="92"/>
                          <a:pt x="66" y="87"/>
                          <a:pt x="50" y="82"/>
                        </a:cubicBezTo>
                        <a:cubicBezTo>
                          <a:pt x="48" y="82"/>
                          <a:pt x="37" y="86"/>
                          <a:pt x="34" y="82"/>
                        </a:cubicBezTo>
                        <a:cubicBezTo>
                          <a:pt x="32" y="79"/>
                          <a:pt x="30" y="70"/>
                          <a:pt x="30" y="70"/>
                        </a:cubicBezTo>
                        <a:cubicBezTo>
                          <a:pt x="32" y="54"/>
                          <a:pt x="32" y="52"/>
                          <a:pt x="42" y="42"/>
                        </a:cubicBezTo>
                        <a:cubicBezTo>
                          <a:pt x="41" y="30"/>
                          <a:pt x="45" y="5"/>
                          <a:pt x="30" y="0"/>
                        </a:cubicBezTo>
                        <a:cubicBezTo>
                          <a:pt x="14" y="4"/>
                          <a:pt x="16" y="4"/>
                          <a:pt x="18" y="22"/>
                        </a:cubicBezTo>
                        <a:cubicBezTo>
                          <a:pt x="16" y="39"/>
                          <a:pt x="15" y="35"/>
                          <a:pt x="4" y="46"/>
                        </a:cubicBezTo>
                        <a:cubicBezTo>
                          <a:pt x="0" y="59"/>
                          <a:pt x="5" y="67"/>
                          <a:pt x="14" y="76"/>
                        </a:cubicBezTo>
                        <a:cubicBezTo>
                          <a:pt x="15" y="80"/>
                          <a:pt x="17" y="93"/>
                          <a:pt x="14" y="9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9" name="Freeform 33"/>
                  <p:cNvSpPr>
                    <a:spLocks/>
                  </p:cNvSpPr>
                  <p:nvPr/>
                </p:nvSpPr>
                <p:spPr bwMode="ltGray">
                  <a:xfrm>
                    <a:off x="1909" y="508"/>
                    <a:ext cx="14" cy="17"/>
                  </a:xfrm>
                  <a:custGeom>
                    <a:avLst/>
                    <a:gdLst>
                      <a:gd name="T0" fmla="*/ 3 w 32"/>
                      <a:gd name="T1" fmla="*/ 8 h 50"/>
                      <a:gd name="T2" fmla="*/ 5 w 32"/>
                      <a:gd name="T3" fmla="*/ 0 h 50"/>
                      <a:gd name="T4" fmla="*/ 9 w 32"/>
                      <a:gd name="T5" fmla="*/ 5 h 50"/>
                      <a:gd name="T6" fmla="*/ 10 w 32"/>
                      <a:gd name="T7" fmla="*/ 8 h 50"/>
                      <a:gd name="T8" fmla="*/ 12 w 32"/>
                      <a:gd name="T9" fmla="*/ 9 h 50"/>
                      <a:gd name="T10" fmla="*/ 14 w 32"/>
                      <a:gd name="T11" fmla="*/ 13 h 50"/>
                      <a:gd name="T12" fmla="*/ 8 w 32"/>
                      <a:gd name="T13" fmla="*/ 17 h 50"/>
                      <a:gd name="T14" fmla="*/ 3 w 32"/>
                      <a:gd name="T15" fmla="*/ 8 h 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50">
                        <a:moveTo>
                          <a:pt x="6" y="24"/>
                        </a:moveTo>
                        <a:cubicBezTo>
                          <a:pt x="0" y="15"/>
                          <a:pt x="3" y="6"/>
                          <a:pt x="12" y="0"/>
                        </a:cubicBezTo>
                        <a:cubicBezTo>
                          <a:pt x="23" y="3"/>
                          <a:pt x="23" y="5"/>
                          <a:pt x="20" y="16"/>
                        </a:cubicBezTo>
                        <a:cubicBezTo>
                          <a:pt x="21" y="19"/>
                          <a:pt x="20" y="22"/>
                          <a:pt x="22" y="24"/>
                        </a:cubicBezTo>
                        <a:cubicBezTo>
                          <a:pt x="23" y="26"/>
                          <a:pt x="27" y="24"/>
                          <a:pt x="28" y="26"/>
                        </a:cubicBezTo>
                        <a:cubicBezTo>
                          <a:pt x="30" y="29"/>
                          <a:pt x="32" y="38"/>
                          <a:pt x="32" y="38"/>
                        </a:cubicBezTo>
                        <a:cubicBezTo>
                          <a:pt x="29" y="46"/>
                          <a:pt x="26" y="47"/>
                          <a:pt x="18" y="50"/>
                        </a:cubicBezTo>
                        <a:cubicBezTo>
                          <a:pt x="12" y="41"/>
                          <a:pt x="18" y="24"/>
                          <a:pt x="6"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0" name="Freeform 34"/>
                  <p:cNvSpPr>
                    <a:spLocks/>
                  </p:cNvSpPr>
                  <p:nvPr/>
                </p:nvSpPr>
                <p:spPr bwMode="ltGray">
                  <a:xfrm>
                    <a:off x="1881" y="512"/>
                    <a:ext cx="19" cy="17"/>
                  </a:xfrm>
                  <a:custGeom>
                    <a:avLst/>
                    <a:gdLst>
                      <a:gd name="T0" fmla="*/ 0 w 43"/>
                      <a:gd name="T1" fmla="*/ 15 h 50"/>
                      <a:gd name="T2" fmla="*/ 10 w 43"/>
                      <a:gd name="T3" fmla="*/ 7 h 50"/>
                      <a:gd name="T4" fmla="*/ 16 w 43"/>
                      <a:gd name="T5" fmla="*/ 0 h 50"/>
                      <a:gd name="T6" fmla="*/ 11 w 43"/>
                      <a:gd name="T7" fmla="*/ 10 h 50"/>
                      <a:gd name="T8" fmla="*/ 1 w 43"/>
                      <a:gd name="T9" fmla="*/ 17 h 50"/>
                      <a:gd name="T10" fmla="*/ 0 w 43"/>
                      <a:gd name="T11" fmla="*/ 15 h 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50">
                        <a:moveTo>
                          <a:pt x="0" y="44"/>
                        </a:moveTo>
                        <a:cubicBezTo>
                          <a:pt x="6" y="38"/>
                          <a:pt x="18" y="29"/>
                          <a:pt x="22" y="20"/>
                        </a:cubicBezTo>
                        <a:cubicBezTo>
                          <a:pt x="27" y="10"/>
                          <a:pt x="25" y="4"/>
                          <a:pt x="36" y="0"/>
                        </a:cubicBezTo>
                        <a:cubicBezTo>
                          <a:pt x="43" y="11"/>
                          <a:pt x="36" y="24"/>
                          <a:pt x="24" y="28"/>
                        </a:cubicBezTo>
                        <a:cubicBezTo>
                          <a:pt x="21" y="38"/>
                          <a:pt x="12" y="47"/>
                          <a:pt x="2" y="50"/>
                        </a:cubicBezTo>
                        <a:cubicBezTo>
                          <a:pt x="1" y="48"/>
                          <a:pt x="0" y="44"/>
                          <a:pt x="0" y="4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1" name="Freeform 35"/>
                  <p:cNvSpPr>
                    <a:spLocks/>
                  </p:cNvSpPr>
                  <p:nvPr/>
                </p:nvSpPr>
                <p:spPr bwMode="ltGray">
                  <a:xfrm>
                    <a:off x="2930" y="489"/>
                    <a:ext cx="299" cy="179"/>
                  </a:xfrm>
                  <a:custGeom>
                    <a:avLst/>
                    <a:gdLst>
                      <a:gd name="T0" fmla="*/ 13 w 471"/>
                      <a:gd name="T1" fmla="*/ 178 h 281"/>
                      <a:gd name="T2" fmla="*/ 15 w 471"/>
                      <a:gd name="T3" fmla="*/ 159 h 281"/>
                      <a:gd name="T4" fmla="*/ 14 w 471"/>
                      <a:gd name="T5" fmla="*/ 156 h 281"/>
                      <a:gd name="T6" fmla="*/ 10 w 471"/>
                      <a:gd name="T7" fmla="*/ 139 h 281"/>
                      <a:gd name="T8" fmla="*/ 3 w 471"/>
                      <a:gd name="T9" fmla="*/ 137 h 281"/>
                      <a:gd name="T10" fmla="*/ 0 w 471"/>
                      <a:gd name="T11" fmla="*/ 122 h 281"/>
                      <a:gd name="T12" fmla="*/ 8 w 471"/>
                      <a:gd name="T13" fmla="*/ 115 h 281"/>
                      <a:gd name="T14" fmla="*/ 4 w 471"/>
                      <a:gd name="T15" fmla="*/ 105 h 281"/>
                      <a:gd name="T16" fmla="*/ 1 w 471"/>
                      <a:gd name="T17" fmla="*/ 102 h 281"/>
                      <a:gd name="T18" fmla="*/ 18 w 471"/>
                      <a:gd name="T19" fmla="*/ 76 h 281"/>
                      <a:gd name="T20" fmla="*/ 28 w 471"/>
                      <a:gd name="T21" fmla="*/ 61 h 281"/>
                      <a:gd name="T22" fmla="*/ 27 w 471"/>
                      <a:gd name="T23" fmla="*/ 45 h 281"/>
                      <a:gd name="T24" fmla="*/ 15 w 471"/>
                      <a:gd name="T25" fmla="*/ 27 h 281"/>
                      <a:gd name="T26" fmla="*/ 13 w 471"/>
                      <a:gd name="T27" fmla="*/ 20 h 281"/>
                      <a:gd name="T28" fmla="*/ 17 w 471"/>
                      <a:gd name="T29" fmla="*/ 23 h 281"/>
                      <a:gd name="T30" fmla="*/ 30 w 471"/>
                      <a:gd name="T31" fmla="*/ 22 h 281"/>
                      <a:gd name="T32" fmla="*/ 41 w 471"/>
                      <a:gd name="T33" fmla="*/ 7 h 281"/>
                      <a:gd name="T34" fmla="*/ 52 w 471"/>
                      <a:gd name="T35" fmla="*/ 0 h 281"/>
                      <a:gd name="T36" fmla="*/ 56 w 471"/>
                      <a:gd name="T37" fmla="*/ 1 h 281"/>
                      <a:gd name="T38" fmla="*/ 58 w 471"/>
                      <a:gd name="T39" fmla="*/ 6 h 281"/>
                      <a:gd name="T40" fmla="*/ 62 w 471"/>
                      <a:gd name="T41" fmla="*/ 3 h 281"/>
                      <a:gd name="T42" fmla="*/ 70 w 471"/>
                      <a:gd name="T43" fmla="*/ 5 h 281"/>
                      <a:gd name="T44" fmla="*/ 74 w 471"/>
                      <a:gd name="T45" fmla="*/ 6 h 281"/>
                      <a:gd name="T46" fmla="*/ 90 w 471"/>
                      <a:gd name="T47" fmla="*/ 9 h 281"/>
                      <a:gd name="T48" fmla="*/ 98 w 471"/>
                      <a:gd name="T49" fmla="*/ 15 h 281"/>
                      <a:gd name="T50" fmla="*/ 106 w 471"/>
                      <a:gd name="T51" fmla="*/ 11 h 281"/>
                      <a:gd name="T52" fmla="*/ 110 w 471"/>
                      <a:gd name="T53" fmla="*/ 9 h 281"/>
                      <a:gd name="T54" fmla="*/ 124 w 471"/>
                      <a:gd name="T55" fmla="*/ 9 h 281"/>
                      <a:gd name="T56" fmla="*/ 134 w 471"/>
                      <a:gd name="T57" fmla="*/ 20 h 281"/>
                      <a:gd name="T58" fmla="*/ 147 w 471"/>
                      <a:gd name="T59" fmla="*/ 38 h 281"/>
                      <a:gd name="T60" fmla="*/ 156 w 471"/>
                      <a:gd name="T61" fmla="*/ 45 h 281"/>
                      <a:gd name="T62" fmla="*/ 163 w 471"/>
                      <a:gd name="T63" fmla="*/ 43 h 281"/>
                      <a:gd name="T64" fmla="*/ 171 w 471"/>
                      <a:gd name="T65" fmla="*/ 41 h 281"/>
                      <a:gd name="T66" fmla="*/ 184 w 471"/>
                      <a:gd name="T67" fmla="*/ 45 h 281"/>
                      <a:gd name="T68" fmla="*/ 190 w 471"/>
                      <a:gd name="T69" fmla="*/ 52 h 281"/>
                      <a:gd name="T70" fmla="*/ 196 w 471"/>
                      <a:gd name="T71" fmla="*/ 57 h 281"/>
                      <a:gd name="T72" fmla="*/ 202 w 471"/>
                      <a:gd name="T73" fmla="*/ 71 h 281"/>
                      <a:gd name="T74" fmla="*/ 204 w 471"/>
                      <a:gd name="T75" fmla="*/ 76 h 281"/>
                      <a:gd name="T76" fmla="*/ 206 w 471"/>
                      <a:gd name="T77" fmla="*/ 80 h 281"/>
                      <a:gd name="T78" fmla="*/ 197 w 471"/>
                      <a:gd name="T79" fmla="*/ 90 h 281"/>
                      <a:gd name="T80" fmla="*/ 204 w 471"/>
                      <a:gd name="T81" fmla="*/ 90 h 281"/>
                      <a:gd name="T82" fmla="*/ 217 w 471"/>
                      <a:gd name="T83" fmla="*/ 99 h 281"/>
                      <a:gd name="T84" fmla="*/ 231 w 471"/>
                      <a:gd name="T85" fmla="*/ 100 h 281"/>
                      <a:gd name="T86" fmla="*/ 241 w 471"/>
                      <a:gd name="T87" fmla="*/ 107 h 281"/>
                      <a:gd name="T88" fmla="*/ 243 w 471"/>
                      <a:gd name="T89" fmla="*/ 110 h 281"/>
                      <a:gd name="T90" fmla="*/ 243 w 471"/>
                      <a:gd name="T91" fmla="*/ 112 h 281"/>
                      <a:gd name="T92" fmla="*/ 250 w 471"/>
                      <a:gd name="T93" fmla="*/ 110 h 281"/>
                      <a:gd name="T94" fmla="*/ 254 w 471"/>
                      <a:gd name="T95" fmla="*/ 109 h 281"/>
                      <a:gd name="T96" fmla="*/ 279 w 471"/>
                      <a:gd name="T97" fmla="*/ 118 h 281"/>
                      <a:gd name="T98" fmla="*/ 284 w 471"/>
                      <a:gd name="T99" fmla="*/ 127 h 281"/>
                      <a:gd name="T100" fmla="*/ 295 w 471"/>
                      <a:gd name="T101" fmla="*/ 128 h 281"/>
                      <a:gd name="T102" fmla="*/ 299 w 471"/>
                      <a:gd name="T103" fmla="*/ 137 h 281"/>
                      <a:gd name="T104" fmla="*/ 286 w 471"/>
                      <a:gd name="T105" fmla="*/ 164 h 281"/>
                      <a:gd name="T106" fmla="*/ 276 w 471"/>
                      <a:gd name="T107" fmla="*/ 179 h 281"/>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71" h="281">
                        <a:moveTo>
                          <a:pt x="21" y="280"/>
                        </a:moveTo>
                        <a:cubicBezTo>
                          <a:pt x="32" y="281"/>
                          <a:pt x="25" y="253"/>
                          <a:pt x="24" y="250"/>
                        </a:cubicBezTo>
                        <a:cubicBezTo>
                          <a:pt x="23" y="248"/>
                          <a:pt x="22" y="245"/>
                          <a:pt x="22" y="245"/>
                        </a:cubicBezTo>
                        <a:cubicBezTo>
                          <a:pt x="21" y="243"/>
                          <a:pt x="20" y="221"/>
                          <a:pt x="16" y="218"/>
                        </a:cubicBezTo>
                        <a:cubicBezTo>
                          <a:pt x="13" y="216"/>
                          <a:pt x="4" y="215"/>
                          <a:pt x="4" y="215"/>
                        </a:cubicBezTo>
                        <a:cubicBezTo>
                          <a:pt x="0" y="207"/>
                          <a:pt x="3" y="200"/>
                          <a:pt x="0" y="191"/>
                        </a:cubicBezTo>
                        <a:cubicBezTo>
                          <a:pt x="2" y="185"/>
                          <a:pt x="7" y="186"/>
                          <a:pt x="12" y="180"/>
                        </a:cubicBezTo>
                        <a:cubicBezTo>
                          <a:pt x="14" y="172"/>
                          <a:pt x="14" y="169"/>
                          <a:pt x="6" y="165"/>
                        </a:cubicBezTo>
                        <a:cubicBezTo>
                          <a:pt x="4" y="163"/>
                          <a:pt x="2" y="162"/>
                          <a:pt x="2" y="160"/>
                        </a:cubicBezTo>
                        <a:cubicBezTo>
                          <a:pt x="2" y="150"/>
                          <a:pt x="16" y="123"/>
                          <a:pt x="28" y="120"/>
                        </a:cubicBezTo>
                        <a:cubicBezTo>
                          <a:pt x="32" y="111"/>
                          <a:pt x="40" y="105"/>
                          <a:pt x="44" y="96"/>
                        </a:cubicBezTo>
                        <a:cubicBezTo>
                          <a:pt x="39" y="83"/>
                          <a:pt x="38" y="85"/>
                          <a:pt x="42" y="70"/>
                        </a:cubicBezTo>
                        <a:cubicBezTo>
                          <a:pt x="38" y="60"/>
                          <a:pt x="34" y="48"/>
                          <a:pt x="24" y="43"/>
                        </a:cubicBezTo>
                        <a:cubicBezTo>
                          <a:pt x="18" y="36"/>
                          <a:pt x="10" y="37"/>
                          <a:pt x="20" y="32"/>
                        </a:cubicBezTo>
                        <a:cubicBezTo>
                          <a:pt x="27" y="34"/>
                          <a:pt x="26" y="32"/>
                          <a:pt x="26" y="36"/>
                        </a:cubicBezTo>
                        <a:cubicBezTo>
                          <a:pt x="34" y="41"/>
                          <a:pt x="39" y="39"/>
                          <a:pt x="48" y="35"/>
                        </a:cubicBezTo>
                        <a:cubicBezTo>
                          <a:pt x="45" y="22"/>
                          <a:pt x="48" y="14"/>
                          <a:pt x="64" y="11"/>
                        </a:cubicBezTo>
                        <a:cubicBezTo>
                          <a:pt x="71" y="8"/>
                          <a:pt x="75" y="3"/>
                          <a:pt x="82" y="0"/>
                        </a:cubicBezTo>
                        <a:cubicBezTo>
                          <a:pt x="84" y="1"/>
                          <a:pt x="88" y="0"/>
                          <a:pt x="88" y="2"/>
                        </a:cubicBezTo>
                        <a:cubicBezTo>
                          <a:pt x="90" y="12"/>
                          <a:pt x="75" y="13"/>
                          <a:pt x="92" y="9"/>
                        </a:cubicBezTo>
                        <a:cubicBezTo>
                          <a:pt x="94" y="8"/>
                          <a:pt x="96" y="5"/>
                          <a:pt x="98" y="5"/>
                        </a:cubicBezTo>
                        <a:cubicBezTo>
                          <a:pt x="102" y="4"/>
                          <a:pt x="106" y="7"/>
                          <a:pt x="110" y="8"/>
                        </a:cubicBezTo>
                        <a:cubicBezTo>
                          <a:pt x="112" y="8"/>
                          <a:pt x="116" y="9"/>
                          <a:pt x="116" y="9"/>
                        </a:cubicBezTo>
                        <a:cubicBezTo>
                          <a:pt x="122" y="16"/>
                          <a:pt x="129" y="13"/>
                          <a:pt x="141" y="14"/>
                        </a:cubicBezTo>
                        <a:cubicBezTo>
                          <a:pt x="143" y="21"/>
                          <a:pt x="147" y="22"/>
                          <a:pt x="155" y="24"/>
                        </a:cubicBezTo>
                        <a:cubicBezTo>
                          <a:pt x="159" y="22"/>
                          <a:pt x="163" y="20"/>
                          <a:pt x="167" y="17"/>
                        </a:cubicBezTo>
                        <a:cubicBezTo>
                          <a:pt x="169" y="16"/>
                          <a:pt x="173" y="14"/>
                          <a:pt x="173" y="14"/>
                        </a:cubicBezTo>
                        <a:cubicBezTo>
                          <a:pt x="195" y="26"/>
                          <a:pt x="175" y="20"/>
                          <a:pt x="195" y="14"/>
                        </a:cubicBezTo>
                        <a:cubicBezTo>
                          <a:pt x="207" y="17"/>
                          <a:pt x="201" y="26"/>
                          <a:pt x="211" y="32"/>
                        </a:cubicBezTo>
                        <a:cubicBezTo>
                          <a:pt x="214" y="38"/>
                          <a:pt x="224" y="55"/>
                          <a:pt x="231" y="59"/>
                        </a:cubicBezTo>
                        <a:cubicBezTo>
                          <a:pt x="241" y="70"/>
                          <a:pt x="235" y="67"/>
                          <a:pt x="245" y="70"/>
                        </a:cubicBezTo>
                        <a:cubicBezTo>
                          <a:pt x="249" y="69"/>
                          <a:pt x="253" y="69"/>
                          <a:pt x="257" y="68"/>
                        </a:cubicBezTo>
                        <a:cubicBezTo>
                          <a:pt x="261" y="67"/>
                          <a:pt x="270" y="65"/>
                          <a:pt x="270" y="65"/>
                        </a:cubicBezTo>
                        <a:cubicBezTo>
                          <a:pt x="278" y="66"/>
                          <a:pt x="283" y="67"/>
                          <a:pt x="290" y="71"/>
                        </a:cubicBezTo>
                        <a:cubicBezTo>
                          <a:pt x="304" y="88"/>
                          <a:pt x="282" y="62"/>
                          <a:pt x="300" y="81"/>
                        </a:cubicBezTo>
                        <a:cubicBezTo>
                          <a:pt x="302" y="84"/>
                          <a:pt x="308" y="90"/>
                          <a:pt x="308" y="90"/>
                        </a:cubicBezTo>
                        <a:cubicBezTo>
                          <a:pt x="311" y="98"/>
                          <a:pt x="315" y="103"/>
                          <a:pt x="318" y="111"/>
                        </a:cubicBezTo>
                        <a:cubicBezTo>
                          <a:pt x="319" y="114"/>
                          <a:pt x="321" y="117"/>
                          <a:pt x="322" y="120"/>
                        </a:cubicBezTo>
                        <a:cubicBezTo>
                          <a:pt x="323" y="122"/>
                          <a:pt x="324" y="125"/>
                          <a:pt x="324" y="125"/>
                        </a:cubicBezTo>
                        <a:cubicBezTo>
                          <a:pt x="321" y="132"/>
                          <a:pt x="313" y="134"/>
                          <a:pt x="310" y="142"/>
                        </a:cubicBezTo>
                        <a:cubicBezTo>
                          <a:pt x="313" y="151"/>
                          <a:pt x="317" y="146"/>
                          <a:pt x="322" y="141"/>
                        </a:cubicBezTo>
                        <a:cubicBezTo>
                          <a:pt x="341" y="143"/>
                          <a:pt x="339" y="142"/>
                          <a:pt x="342" y="155"/>
                        </a:cubicBezTo>
                        <a:cubicBezTo>
                          <a:pt x="351" y="150"/>
                          <a:pt x="355" y="152"/>
                          <a:pt x="364" y="157"/>
                        </a:cubicBezTo>
                        <a:cubicBezTo>
                          <a:pt x="369" y="162"/>
                          <a:pt x="372" y="166"/>
                          <a:pt x="380" y="168"/>
                        </a:cubicBezTo>
                        <a:cubicBezTo>
                          <a:pt x="381" y="169"/>
                          <a:pt x="383" y="171"/>
                          <a:pt x="382" y="172"/>
                        </a:cubicBezTo>
                        <a:cubicBezTo>
                          <a:pt x="380" y="176"/>
                          <a:pt x="368" y="172"/>
                          <a:pt x="382" y="176"/>
                        </a:cubicBezTo>
                        <a:cubicBezTo>
                          <a:pt x="386" y="175"/>
                          <a:pt x="390" y="173"/>
                          <a:pt x="394" y="172"/>
                        </a:cubicBezTo>
                        <a:cubicBezTo>
                          <a:pt x="396" y="172"/>
                          <a:pt x="400" y="171"/>
                          <a:pt x="400" y="171"/>
                        </a:cubicBezTo>
                        <a:cubicBezTo>
                          <a:pt x="413" y="177"/>
                          <a:pt x="427" y="179"/>
                          <a:pt x="439" y="185"/>
                        </a:cubicBezTo>
                        <a:cubicBezTo>
                          <a:pt x="441" y="190"/>
                          <a:pt x="445" y="194"/>
                          <a:pt x="447" y="199"/>
                        </a:cubicBezTo>
                        <a:cubicBezTo>
                          <a:pt x="453" y="198"/>
                          <a:pt x="460" y="195"/>
                          <a:pt x="465" y="201"/>
                        </a:cubicBezTo>
                        <a:cubicBezTo>
                          <a:pt x="468" y="205"/>
                          <a:pt x="471" y="215"/>
                          <a:pt x="471" y="215"/>
                        </a:cubicBezTo>
                        <a:cubicBezTo>
                          <a:pt x="468" y="231"/>
                          <a:pt x="469" y="248"/>
                          <a:pt x="451" y="258"/>
                        </a:cubicBezTo>
                        <a:cubicBezTo>
                          <a:pt x="447" y="262"/>
                          <a:pt x="437" y="275"/>
                          <a:pt x="435" y="281"/>
                        </a:cubicBezTo>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2" name="Freeform 36"/>
                  <p:cNvSpPr>
                    <a:spLocks/>
                  </p:cNvSpPr>
                  <p:nvPr/>
                </p:nvSpPr>
                <p:spPr bwMode="ltGray">
                  <a:xfrm>
                    <a:off x="2534" y="242"/>
                    <a:ext cx="420" cy="283"/>
                  </a:xfrm>
                  <a:custGeom>
                    <a:avLst/>
                    <a:gdLst>
                      <a:gd name="T0" fmla="*/ 173 w 984"/>
                      <a:gd name="T1" fmla="*/ 2 h 844"/>
                      <a:gd name="T2" fmla="*/ 214 w 984"/>
                      <a:gd name="T3" fmla="*/ 11 h 844"/>
                      <a:gd name="T4" fmla="*/ 235 w 984"/>
                      <a:gd name="T5" fmla="*/ 13 h 844"/>
                      <a:gd name="T6" fmla="*/ 247 w 984"/>
                      <a:gd name="T7" fmla="*/ 44 h 844"/>
                      <a:gd name="T8" fmla="*/ 250 w 984"/>
                      <a:gd name="T9" fmla="*/ 30 h 844"/>
                      <a:gd name="T10" fmla="*/ 259 w 984"/>
                      <a:gd name="T11" fmla="*/ 23 h 844"/>
                      <a:gd name="T12" fmla="*/ 274 w 984"/>
                      <a:gd name="T13" fmla="*/ 42 h 844"/>
                      <a:gd name="T14" fmla="*/ 291 w 984"/>
                      <a:gd name="T15" fmla="*/ 33 h 844"/>
                      <a:gd name="T16" fmla="*/ 301 w 984"/>
                      <a:gd name="T17" fmla="*/ 29 h 844"/>
                      <a:gd name="T18" fmla="*/ 325 w 984"/>
                      <a:gd name="T19" fmla="*/ 1 h 844"/>
                      <a:gd name="T20" fmla="*/ 341 w 984"/>
                      <a:gd name="T21" fmla="*/ 23 h 844"/>
                      <a:gd name="T22" fmla="*/ 341 w 984"/>
                      <a:gd name="T23" fmla="*/ 44 h 844"/>
                      <a:gd name="T24" fmla="*/ 337 w 984"/>
                      <a:gd name="T25" fmla="*/ 53 h 844"/>
                      <a:gd name="T26" fmla="*/ 327 w 984"/>
                      <a:gd name="T27" fmla="*/ 54 h 844"/>
                      <a:gd name="T28" fmla="*/ 325 w 984"/>
                      <a:gd name="T29" fmla="*/ 62 h 844"/>
                      <a:gd name="T30" fmla="*/ 342 w 984"/>
                      <a:gd name="T31" fmla="*/ 76 h 844"/>
                      <a:gd name="T32" fmla="*/ 335 w 984"/>
                      <a:gd name="T33" fmla="*/ 108 h 844"/>
                      <a:gd name="T34" fmla="*/ 354 w 984"/>
                      <a:gd name="T35" fmla="*/ 139 h 844"/>
                      <a:gd name="T36" fmla="*/ 365 w 984"/>
                      <a:gd name="T37" fmla="*/ 151 h 844"/>
                      <a:gd name="T38" fmla="*/ 354 w 984"/>
                      <a:gd name="T39" fmla="*/ 151 h 844"/>
                      <a:gd name="T40" fmla="*/ 318 w 984"/>
                      <a:gd name="T41" fmla="*/ 127 h 844"/>
                      <a:gd name="T42" fmla="*/ 289 w 984"/>
                      <a:gd name="T43" fmla="*/ 135 h 844"/>
                      <a:gd name="T44" fmla="*/ 252 w 984"/>
                      <a:gd name="T45" fmla="*/ 148 h 844"/>
                      <a:gd name="T46" fmla="*/ 274 w 984"/>
                      <a:gd name="T47" fmla="*/ 194 h 844"/>
                      <a:gd name="T48" fmla="*/ 303 w 984"/>
                      <a:gd name="T49" fmla="*/ 205 h 844"/>
                      <a:gd name="T50" fmla="*/ 315 w 984"/>
                      <a:gd name="T51" fmla="*/ 184 h 844"/>
                      <a:gd name="T52" fmla="*/ 330 w 984"/>
                      <a:gd name="T53" fmla="*/ 191 h 844"/>
                      <a:gd name="T54" fmla="*/ 327 w 984"/>
                      <a:gd name="T55" fmla="*/ 211 h 844"/>
                      <a:gd name="T56" fmla="*/ 342 w 984"/>
                      <a:gd name="T57" fmla="*/ 225 h 844"/>
                      <a:gd name="T58" fmla="*/ 358 w 984"/>
                      <a:gd name="T59" fmla="*/ 221 h 844"/>
                      <a:gd name="T60" fmla="*/ 394 w 984"/>
                      <a:gd name="T61" fmla="*/ 270 h 844"/>
                      <a:gd name="T62" fmla="*/ 402 w 984"/>
                      <a:gd name="T63" fmla="*/ 277 h 844"/>
                      <a:gd name="T64" fmla="*/ 373 w 984"/>
                      <a:gd name="T65" fmla="*/ 272 h 844"/>
                      <a:gd name="T66" fmla="*/ 354 w 984"/>
                      <a:gd name="T67" fmla="*/ 254 h 844"/>
                      <a:gd name="T68" fmla="*/ 332 w 984"/>
                      <a:gd name="T69" fmla="*/ 238 h 844"/>
                      <a:gd name="T70" fmla="*/ 300 w 984"/>
                      <a:gd name="T71" fmla="*/ 222 h 844"/>
                      <a:gd name="T72" fmla="*/ 262 w 984"/>
                      <a:gd name="T73" fmla="*/ 217 h 844"/>
                      <a:gd name="T74" fmla="*/ 216 w 984"/>
                      <a:gd name="T75" fmla="*/ 199 h 844"/>
                      <a:gd name="T76" fmla="*/ 197 w 984"/>
                      <a:gd name="T77" fmla="*/ 170 h 844"/>
                      <a:gd name="T78" fmla="*/ 184 w 984"/>
                      <a:gd name="T79" fmla="*/ 155 h 844"/>
                      <a:gd name="T80" fmla="*/ 163 w 984"/>
                      <a:gd name="T81" fmla="*/ 144 h 844"/>
                      <a:gd name="T82" fmla="*/ 146 w 984"/>
                      <a:gd name="T83" fmla="*/ 124 h 844"/>
                      <a:gd name="T84" fmla="*/ 151 w 984"/>
                      <a:gd name="T85" fmla="*/ 139 h 844"/>
                      <a:gd name="T86" fmla="*/ 178 w 984"/>
                      <a:gd name="T87" fmla="*/ 166 h 844"/>
                      <a:gd name="T88" fmla="*/ 180 w 984"/>
                      <a:gd name="T89" fmla="*/ 176 h 844"/>
                      <a:gd name="T90" fmla="*/ 168 w 984"/>
                      <a:gd name="T91" fmla="*/ 167 h 844"/>
                      <a:gd name="T92" fmla="*/ 151 w 984"/>
                      <a:gd name="T93" fmla="*/ 156 h 844"/>
                      <a:gd name="T94" fmla="*/ 134 w 984"/>
                      <a:gd name="T95" fmla="*/ 135 h 844"/>
                      <a:gd name="T96" fmla="*/ 114 w 984"/>
                      <a:gd name="T97" fmla="*/ 116 h 844"/>
                      <a:gd name="T98" fmla="*/ 90 w 984"/>
                      <a:gd name="T99" fmla="*/ 105 h 844"/>
                      <a:gd name="T100" fmla="*/ 66 w 984"/>
                      <a:gd name="T101" fmla="*/ 80 h 844"/>
                      <a:gd name="T102" fmla="*/ 28 w 984"/>
                      <a:gd name="T103" fmla="*/ 22 h 844"/>
                      <a:gd name="T104" fmla="*/ 15 w 984"/>
                      <a:gd name="T105" fmla="*/ 13 h 844"/>
                      <a:gd name="T106" fmla="*/ 20 w 984"/>
                      <a:gd name="T107" fmla="*/ 7 h 844"/>
                      <a:gd name="T108" fmla="*/ 44 w 984"/>
                      <a:gd name="T109" fmla="*/ 23 h 84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984" h="844">
                        <a:moveTo>
                          <a:pt x="82" y="38"/>
                        </a:moveTo>
                        <a:lnTo>
                          <a:pt x="406" y="6"/>
                        </a:lnTo>
                        <a:cubicBezTo>
                          <a:pt x="497" y="22"/>
                          <a:pt x="465" y="0"/>
                          <a:pt x="474" y="54"/>
                        </a:cubicBezTo>
                        <a:cubicBezTo>
                          <a:pt x="492" y="48"/>
                          <a:pt x="484" y="40"/>
                          <a:pt x="502" y="34"/>
                        </a:cubicBezTo>
                        <a:cubicBezTo>
                          <a:pt x="510" y="37"/>
                          <a:pt x="517" y="46"/>
                          <a:pt x="526" y="46"/>
                        </a:cubicBezTo>
                        <a:cubicBezTo>
                          <a:pt x="534" y="46"/>
                          <a:pt x="550" y="38"/>
                          <a:pt x="550" y="38"/>
                        </a:cubicBezTo>
                        <a:cubicBezTo>
                          <a:pt x="556" y="55"/>
                          <a:pt x="552" y="60"/>
                          <a:pt x="542" y="74"/>
                        </a:cubicBezTo>
                        <a:cubicBezTo>
                          <a:pt x="555" y="114"/>
                          <a:pt x="550" y="102"/>
                          <a:pt x="578" y="130"/>
                        </a:cubicBezTo>
                        <a:cubicBezTo>
                          <a:pt x="584" y="148"/>
                          <a:pt x="590" y="148"/>
                          <a:pt x="606" y="138"/>
                        </a:cubicBezTo>
                        <a:cubicBezTo>
                          <a:pt x="600" y="119"/>
                          <a:pt x="594" y="107"/>
                          <a:pt x="586" y="90"/>
                        </a:cubicBezTo>
                        <a:cubicBezTo>
                          <a:pt x="583" y="82"/>
                          <a:pt x="578" y="66"/>
                          <a:pt x="578" y="66"/>
                        </a:cubicBezTo>
                        <a:cubicBezTo>
                          <a:pt x="585" y="44"/>
                          <a:pt x="597" y="56"/>
                          <a:pt x="606" y="70"/>
                        </a:cubicBezTo>
                        <a:cubicBezTo>
                          <a:pt x="609" y="86"/>
                          <a:pt x="608" y="117"/>
                          <a:pt x="626" y="90"/>
                        </a:cubicBezTo>
                        <a:cubicBezTo>
                          <a:pt x="648" y="97"/>
                          <a:pt x="646" y="104"/>
                          <a:pt x="642" y="126"/>
                        </a:cubicBezTo>
                        <a:cubicBezTo>
                          <a:pt x="650" y="150"/>
                          <a:pt x="665" y="141"/>
                          <a:pt x="682" y="130"/>
                        </a:cubicBezTo>
                        <a:cubicBezTo>
                          <a:pt x="689" y="108"/>
                          <a:pt x="673" y="124"/>
                          <a:pt x="682" y="98"/>
                        </a:cubicBezTo>
                        <a:cubicBezTo>
                          <a:pt x="683" y="94"/>
                          <a:pt x="690" y="96"/>
                          <a:pt x="694" y="94"/>
                        </a:cubicBezTo>
                        <a:cubicBezTo>
                          <a:pt x="698" y="92"/>
                          <a:pt x="702" y="89"/>
                          <a:pt x="706" y="86"/>
                        </a:cubicBezTo>
                        <a:cubicBezTo>
                          <a:pt x="717" y="54"/>
                          <a:pt x="688" y="54"/>
                          <a:pt x="742" y="46"/>
                        </a:cubicBezTo>
                        <a:cubicBezTo>
                          <a:pt x="748" y="27"/>
                          <a:pt x="741" y="9"/>
                          <a:pt x="762" y="2"/>
                        </a:cubicBezTo>
                        <a:cubicBezTo>
                          <a:pt x="788" y="11"/>
                          <a:pt x="777" y="38"/>
                          <a:pt x="802" y="46"/>
                        </a:cubicBezTo>
                        <a:cubicBezTo>
                          <a:pt x="831" y="36"/>
                          <a:pt x="805" y="63"/>
                          <a:pt x="798" y="70"/>
                        </a:cubicBezTo>
                        <a:cubicBezTo>
                          <a:pt x="789" y="96"/>
                          <a:pt x="787" y="96"/>
                          <a:pt x="802" y="118"/>
                        </a:cubicBezTo>
                        <a:cubicBezTo>
                          <a:pt x="801" y="122"/>
                          <a:pt x="801" y="127"/>
                          <a:pt x="798" y="130"/>
                        </a:cubicBezTo>
                        <a:cubicBezTo>
                          <a:pt x="794" y="133"/>
                          <a:pt x="784" y="129"/>
                          <a:pt x="782" y="134"/>
                        </a:cubicBezTo>
                        <a:cubicBezTo>
                          <a:pt x="780" y="142"/>
                          <a:pt x="790" y="158"/>
                          <a:pt x="790" y="158"/>
                        </a:cubicBezTo>
                        <a:cubicBezTo>
                          <a:pt x="786" y="161"/>
                          <a:pt x="783" y="165"/>
                          <a:pt x="778" y="166"/>
                        </a:cubicBezTo>
                        <a:cubicBezTo>
                          <a:pt x="774" y="167"/>
                          <a:pt x="769" y="159"/>
                          <a:pt x="766" y="162"/>
                        </a:cubicBezTo>
                        <a:cubicBezTo>
                          <a:pt x="758" y="170"/>
                          <a:pt x="794" y="182"/>
                          <a:pt x="794" y="182"/>
                        </a:cubicBezTo>
                        <a:cubicBezTo>
                          <a:pt x="804" y="211"/>
                          <a:pt x="775" y="190"/>
                          <a:pt x="762" y="186"/>
                        </a:cubicBezTo>
                        <a:cubicBezTo>
                          <a:pt x="767" y="194"/>
                          <a:pt x="773" y="202"/>
                          <a:pt x="778" y="210"/>
                        </a:cubicBezTo>
                        <a:cubicBezTo>
                          <a:pt x="783" y="218"/>
                          <a:pt x="802" y="226"/>
                          <a:pt x="802" y="226"/>
                        </a:cubicBezTo>
                        <a:cubicBezTo>
                          <a:pt x="813" y="242"/>
                          <a:pt x="804" y="245"/>
                          <a:pt x="810" y="262"/>
                        </a:cubicBezTo>
                        <a:cubicBezTo>
                          <a:pt x="803" y="282"/>
                          <a:pt x="793" y="301"/>
                          <a:pt x="786" y="322"/>
                        </a:cubicBezTo>
                        <a:cubicBezTo>
                          <a:pt x="783" y="330"/>
                          <a:pt x="778" y="346"/>
                          <a:pt x="778" y="346"/>
                        </a:cubicBezTo>
                        <a:cubicBezTo>
                          <a:pt x="785" y="366"/>
                          <a:pt x="817" y="394"/>
                          <a:pt x="830" y="414"/>
                        </a:cubicBezTo>
                        <a:cubicBezTo>
                          <a:pt x="835" y="422"/>
                          <a:pt x="841" y="430"/>
                          <a:pt x="846" y="438"/>
                        </a:cubicBezTo>
                        <a:cubicBezTo>
                          <a:pt x="849" y="442"/>
                          <a:pt x="854" y="450"/>
                          <a:pt x="854" y="450"/>
                        </a:cubicBezTo>
                        <a:cubicBezTo>
                          <a:pt x="853" y="457"/>
                          <a:pt x="855" y="466"/>
                          <a:pt x="850" y="470"/>
                        </a:cubicBezTo>
                        <a:cubicBezTo>
                          <a:pt x="844" y="475"/>
                          <a:pt x="831" y="451"/>
                          <a:pt x="830" y="450"/>
                        </a:cubicBezTo>
                        <a:cubicBezTo>
                          <a:pt x="811" y="431"/>
                          <a:pt x="789" y="421"/>
                          <a:pt x="774" y="398"/>
                        </a:cubicBezTo>
                        <a:cubicBezTo>
                          <a:pt x="769" y="379"/>
                          <a:pt x="766" y="371"/>
                          <a:pt x="746" y="378"/>
                        </a:cubicBezTo>
                        <a:cubicBezTo>
                          <a:pt x="717" y="368"/>
                          <a:pt x="730" y="368"/>
                          <a:pt x="706" y="374"/>
                        </a:cubicBezTo>
                        <a:cubicBezTo>
                          <a:pt x="688" y="402"/>
                          <a:pt x="699" y="395"/>
                          <a:pt x="678" y="402"/>
                        </a:cubicBezTo>
                        <a:cubicBezTo>
                          <a:pt x="654" y="386"/>
                          <a:pt x="650" y="390"/>
                          <a:pt x="618" y="394"/>
                        </a:cubicBezTo>
                        <a:cubicBezTo>
                          <a:pt x="607" y="411"/>
                          <a:pt x="601" y="426"/>
                          <a:pt x="590" y="442"/>
                        </a:cubicBezTo>
                        <a:cubicBezTo>
                          <a:pt x="600" y="471"/>
                          <a:pt x="593" y="459"/>
                          <a:pt x="606" y="478"/>
                        </a:cubicBezTo>
                        <a:cubicBezTo>
                          <a:pt x="593" y="518"/>
                          <a:pt x="622" y="548"/>
                          <a:pt x="642" y="578"/>
                        </a:cubicBezTo>
                        <a:cubicBezTo>
                          <a:pt x="651" y="591"/>
                          <a:pt x="651" y="601"/>
                          <a:pt x="666" y="606"/>
                        </a:cubicBezTo>
                        <a:cubicBezTo>
                          <a:pt x="680" y="627"/>
                          <a:pt x="691" y="623"/>
                          <a:pt x="710" y="610"/>
                        </a:cubicBezTo>
                        <a:cubicBezTo>
                          <a:pt x="729" y="616"/>
                          <a:pt x="729" y="606"/>
                          <a:pt x="734" y="590"/>
                        </a:cubicBezTo>
                        <a:cubicBezTo>
                          <a:pt x="735" y="577"/>
                          <a:pt x="731" y="562"/>
                          <a:pt x="738" y="550"/>
                        </a:cubicBezTo>
                        <a:cubicBezTo>
                          <a:pt x="742" y="543"/>
                          <a:pt x="762" y="542"/>
                          <a:pt x="762" y="542"/>
                        </a:cubicBezTo>
                        <a:cubicBezTo>
                          <a:pt x="783" y="547"/>
                          <a:pt x="786" y="552"/>
                          <a:pt x="774" y="570"/>
                        </a:cubicBezTo>
                        <a:cubicBezTo>
                          <a:pt x="779" y="590"/>
                          <a:pt x="790" y="605"/>
                          <a:pt x="770" y="618"/>
                        </a:cubicBezTo>
                        <a:cubicBezTo>
                          <a:pt x="769" y="622"/>
                          <a:pt x="764" y="626"/>
                          <a:pt x="766" y="630"/>
                        </a:cubicBezTo>
                        <a:cubicBezTo>
                          <a:pt x="768" y="634"/>
                          <a:pt x="775" y="634"/>
                          <a:pt x="778" y="638"/>
                        </a:cubicBezTo>
                        <a:cubicBezTo>
                          <a:pt x="788" y="651"/>
                          <a:pt x="786" y="660"/>
                          <a:pt x="802" y="670"/>
                        </a:cubicBezTo>
                        <a:cubicBezTo>
                          <a:pt x="810" y="667"/>
                          <a:pt x="818" y="665"/>
                          <a:pt x="826" y="662"/>
                        </a:cubicBezTo>
                        <a:cubicBezTo>
                          <a:pt x="830" y="661"/>
                          <a:pt x="838" y="658"/>
                          <a:pt x="838" y="658"/>
                        </a:cubicBezTo>
                        <a:cubicBezTo>
                          <a:pt x="857" y="664"/>
                          <a:pt x="864" y="680"/>
                          <a:pt x="870" y="698"/>
                        </a:cubicBezTo>
                        <a:cubicBezTo>
                          <a:pt x="859" y="731"/>
                          <a:pt x="887" y="794"/>
                          <a:pt x="922" y="806"/>
                        </a:cubicBezTo>
                        <a:cubicBezTo>
                          <a:pt x="938" y="801"/>
                          <a:pt x="941" y="792"/>
                          <a:pt x="958" y="798"/>
                        </a:cubicBezTo>
                        <a:cubicBezTo>
                          <a:pt x="984" y="837"/>
                          <a:pt x="928" y="784"/>
                          <a:pt x="942" y="826"/>
                        </a:cubicBezTo>
                        <a:cubicBezTo>
                          <a:pt x="936" y="844"/>
                          <a:pt x="930" y="844"/>
                          <a:pt x="914" y="834"/>
                        </a:cubicBezTo>
                        <a:cubicBezTo>
                          <a:pt x="903" y="817"/>
                          <a:pt x="890" y="821"/>
                          <a:pt x="874" y="810"/>
                        </a:cubicBezTo>
                        <a:cubicBezTo>
                          <a:pt x="851" y="776"/>
                          <a:pt x="882" y="816"/>
                          <a:pt x="854" y="794"/>
                        </a:cubicBezTo>
                        <a:cubicBezTo>
                          <a:pt x="843" y="785"/>
                          <a:pt x="840" y="768"/>
                          <a:pt x="830" y="758"/>
                        </a:cubicBezTo>
                        <a:cubicBezTo>
                          <a:pt x="824" y="739"/>
                          <a:pt x="817" y="724"/>
                          <a:pt x="798" y="718"/>
                        </a:cubicBezTo>
                        <a:cubicBezTo>
                          <a:pt x="791" y="696"/>
                          <a:pt x="800" y="712"/>
                          <a:pt x="778" y="710"/>
                        </a:cubicBezTo>
                        <a:cubicBezTo>
                          <a:pt x="767" y="709"/>
                          <a:pt x="746" y="702"/>
                          <a:pt x="746" y="702"/>
                        </a:cubicBezTo>
                        <a:cubicBezTo>
                          <a:pt x="729" y="691"/>
                          <a:pt x="720" y="674"/>
                          <a:pt x="702" y="662"/>
                        </a:cubicBezTo>
                        <a:cubicBezTo>
                          <a:pt x="694" y="665"/>
                          <a:pt x="687" y="673"/>
                          <a:pt x="678" y="674"/>
                        </a:cubicBezTo>
                        <a:cubicBezTo>
                          <a:pt x="657" y="677"/>
                          <a:pt x="630" y="657"/>
                          <a:pt x="614" y="646"/>
                        </a:cubicBezTo>
                        <a:cubicBezTo>
                          <a:pt x="600" y="637"/>
                          <a:pt x="580" y="639"/>
                          <a:pt x="566" y="630"/>
                        </a:cubicBezTo>
                        <a:cubicBezTo>
                          <a:pt x="546" y="617"/>
                          <a:pt x="525" y="607"/>
                          <a:pt x="506" y="594"/>
                        </a:cubicBezTo>
                        <a:cubicBezTo>
                          <a:pt x="513" y="572"/>
                          <a:pt x="509" y="551"/>
                          <a:pt x="490" y="538"/>
                        </a:cubicBezTo>
                        <a:cubicBezTo>
                          <a:pt x="485" y="522"/>
                          <a:pt x="476" y="515"/>
                          <a:pt x="462" y="506"/>
                        </a:cubicBezTo>
                        <a:cubicBezTo>
                          <a:pt x="441" y="474"/>
                          <a:pt x="469" y="513"/>
                          <a:pt x="442" y="486"/>
                        </a:cubicBezTo>
                        <a:cubicBezTo>
                          <a:pt x="436" y="480"/>
                          <a:pt x="436" y="468"/>
                          <a:pt x="430" y="462"/>
                        </a:cubicBezTo>
                        <a:cubicBezTo>
                          <a:pt x="427" y="459"/>
                          <a:pt x="422" y="459"/>
                          <a:pt x="418" y="458"/>
                        </a:cubicBezTo>
                        <a:cubicBezTo>
                          <a:pt x="407" y="447"/>
                          <a:pt x="382" y="430"/>
                          <a:pt x="382" y="430"/>
                        </a:cubicBezTo>
                        <a:cubicBezTo>
                          <a:pt x="371" y="413"/>
                          <a:pt x="358" y="399"/>
                          <a:pt x="346" y="382"/>
                        </a:cubicBezTo>
                        <a:cubicBezTo>
                          <a:pt x="344" y="378"/>
                          <a:pt x="345" y="373"/>
                          <a:pt x="342" y="370"/>
                        </a:cubicBezTo>
                        <a:cubicBezTo>
                          <a:pt x="339" y="367"/>
                          <a:pt x="334" y="367"/>
                          <a:pt x="330" y="366"/>
                        </a:cubicBezTo>
                        <a:cubicBezTo>
                          <a:pt x="322" y="390"/>
                          <a:pt x="342" y="398"/>
                          <a:pt x="354" y="414"/>
                        </a:cubicBezTo>
                        <a:cubicBezTo>
                          <a:pt x="368" y="432"/>
                          <a:pt x="372" y="446"/>
                          <a:pt x="390" y="458"/>
                        </a:cubicBezTo>
                        <a:cubicBezTo>
                          <a:pt x="409" y="487"/>
                          <a:pt x="399" y="475"/>
                          <a:pt x="418" y="494"/>
                        </a:cubicBezTo>
                        <a:cubicBezTo>
                          <a:pt x="423" y="510"/>
                          <a:pt x="428" y="517"/>
                          <a:pt x="442" y="526"/>
                        </a:cubicBezTo>
                        <a:cubicBezTo>
                          <a:pt x="450" y="550"/>
                          <a:pt x="432" y="533"/>
                          <a:pt x="422" y="526"/>
                        </a:cubicBezTo>
                        <a:cubicBezTo>
                          <a:pt x="399" y="492"/>
                          <a:pt x="430" y="532"/>
                          <a:pt x="402" y="510"/>
                        </a:cubicBezTo>
                        <a:cubicBezTo>
                          <a:pt x="398" y="507"/>
                          <a:pt x="397" y="501"/>
                          <a:pt x="394" y="498"/>
                        </a:cubicBezTo>
                        <a:cubicBezTo>
                          <a:pt x="391" y="495"/>
                          <a:pt x="386" y="493"/>
                          <a:pt x="382" y="490"/>
                        </a:cubicBezTo>
                        <a:cubicBezTo>
                          <a:pt x="377" y="474"/>
                          <a:pt x="370" y="471"/>
                          <a:pt x="354" y="466"/>
                        </a:cubicBezTo>
                        <a:cubicBezTo>
                          <a:pt x="344" y="452"/>
                          <a:pt x="340" y="447"/>
                          <a:pt x="346" y="430"/>
                        </a:cubicBezTo>
                        <a:cubicBezTo>
                          <a:pt x="338" y="418"/>
                          <a:pt x="314" y="402"/>
                          <a:pt x="314" y="402"/>
                        </a:cubicBezTo>
                        <a:cubicBezTo>
                          <a:pt x="306" y="390"/>
                          <a:pt x="298" y="378"/>
                          <a:pt x="290" y="366"/>
                        </a:cubicBezTo>
                        <a:cubicBezTo>
                          <a:pt x="284" y="357"/>
                          <a:pt x="273" y="354"/>
                          <a:pt x="266" y="346"/>
                        </a:cubicBezTo>
                        <a:cubicBezTo>
                          <a:pt x="263" y="342"/>
                          <a:pt x="262" y="337"/>
                          <a:pt x="258" y="334"/>
                        </a:cubicBezTo>
                        <a:cubicBezTo>
                          <a:pt x="243" y="324"/>
                          <a:pt x="225" y="324"/>
                          <a:pt x="210" y="314"/>
                        </a:cubicBezTo>
                        <a:cubicBezTo>
                          <a:pt x="201" y="300"/>
                          <a:pt x="194" y="291"/>
                          <a:pt x="178" y="286"/>
                        </a:cubicBezTo>
                        <a:cubicBezTo>
                          <a:pt x="160" y="260"/>
                          <a:pt x="192" y="247"/>
                          <a:pt x="154" y="238"/>
                        </a:cubicBezTo>
                        <a:cubicBezTo>
                          <a:pt x="111" y="209"/>
                          <a:pt x="106" y="149"/>
                          <a:pt x="90" y="102"/>
                        </a:cubicBezTo>
                        <a:cubicBezTo>
                          <a:pt x="86" y="90"/>
                          <a:pt x="76" y="73"/>
                          <a:pt x="66" y="66"/>
                        </a:cubicBezTo>
                        <a:cubicBezTo>
                          <a:pt x="58" y="60"/>
                          <a:pt x="42" y="50"/>
                          <a:pt x="42" y="50"/>
                        </a:cubicBezTo>
                        <a:cubicBezTo>
                          <a:pt x="39" y="46"/>
                          <a:pt x="38" y="41"/>
                          <a:pt x="34" y="38"/>
                        </a:cubicBezTo>
                        <a:cubicBezTo>
                          <a:pt x="27" y="34"/>
                          <a:pt x="10" y="30"/>
                          <a:pt x="10" y="30"/>
                        </a:cubicBezTo>
                        <a:cubicBezTo>
                          <a:pt x="0" y="1"/>
                          <a:pt x="31" y="17"/>
                          <a:pt x="46" y="22"/>
                        </a:cubicBezTo>
                        <a:cubicBezTo>
                          <a:pt x="65" y="51"/>
                          <a:pt x="61" y="41"/>
                          <a:pt x="86" y="58"/>
                        </a:cubicBezTo>
                        <a:cubicBezTo>
                          <a:pt x="94" y="70"/>
                          <a:pt x="94" y="93"/>
                          <a:pt x="102" y="70"/>
                        </a:cubicBezTo>
                        <a:cubicBezTo>
                          <a:pt x="95" y="49"/>
                          <a:pt x="82" y="62"/>
                          <a:pt x="82"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3" name="Freeform 37"/>
                  <p:cNvSpPr>
                    <a:spLocks/>
                  </p:cNvSpPr>
                  <p:nvPr/>
                </p:nvSpPr>
                <p:spPr bwMode="ltGray">
                  <a:xfrm>
                    <a:off x="2405" y="445"/>
                    <a:ext cx="15" cy="16"/>
                  </a:xfrm>
                  <a:custGeom>
                    <a:avLst/>
                    <a:gdLst>
                      <a:gd name="T0" fmla="*/ 3 w 36"/>
                      <a:gd name="T1" fmla="*/ 9 h 48"/>
                      <a:gd name="T2" fmla="*/ 4 w 36"/>
                      <a:gd name="T3" fmla="*/ 16 h 48"/>
                      <a:gd name="T4" fmla="*/ 3 w 36"/>
                      <a:gd name="T5" fmla="*/ 9 h 48"/>
                      <a:gd name="T6" fmla="*/ 0 60000 65536"/>
                      <a:gd name="T7" fmla="*/ 0 60000 65536"/>
                      <a:gd name="T8" fmla="*/ 0 60000 65536"/>
                    </a:gdLst>
                    <a:ahLst/>
                    <a:cxnLst>
                      <a:cxn ang="T6">
                        <a:pos x="T0" y="T1"/>
                      </a:cxn>
                      <a:cxn ang="T7">
                        <a:pos x="T2" y="T3"/>
                      </a:cxn>
                      <a:cxn ang="T8">
                        <a:pos x="T4" y="T5"/>
                      </a:cxn>
                    </a:cxnLst>
                    <a:rect l="0" t="0" r="r" b="b"/>
                    <a:pathLst>
                      <a:path w="36" h="48">
                        <a:moveTo>
                          <a:pt x="6" y="28"/>
                        </a:moveTo>
                        <a:cubicBezTo>
                          <a:pt x="25" y="0"/>
                          <a:pt x="36" y="31"/>
                          <a:pt x="10" y="48"/>
                        </a:cubicBezTo>
                        <a:cubicBezTo>
                          <a:pt x="0" y="34"/>
                          <a:pt x="0" y="40"/>
                          <a:pt x="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4" name="Freeform 38"/>
                  <p:cNvSpPr>
                    <a:spLocks/>
                  </p:cNvSpPr>
                  <p:nvPr/>
                </p:nvSpPr>
                <p:spPr bwMode="ltGray">
                  <a:xfrm>
                    <a:off x="2393" y="439"/>
                    <a:ext cx="16" cy="12"/>
                  </a:xfrm>
                  <a:custGeom>
                    <a:avLst/>
                    <a:gdLst>
                      <a:gd name="T0" fmla="*/ 0 w 36"/>
                      <a:gd name="T1" fmla="*/ 2 h 37"/>
                      <a:gd name="T2" fmla="*/ 5 w 36"/>
                      <a:gd name="T3" fmla="*/ 0 h 37"/>
                      <a:gd name="T4" fmla="*/ 16 w 36"/>
                      <a:gd name="T5" fmla="*/ 6 h 37"/>
                      <a:gd name="T6" fmla="*/ 4 w 36"/>
                      <a:gd name="T7" fmla="*/ 6 h 37"/>
                      <a:gd name="T8" fmla="*/ 0 w 36"/>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 h="37">
                        <a:moveTo>
                          <a:pt x="0" y="5"/>
                        </a:moveTo>
                        <a:cubicBezTo>
                          <a:pt x="4" y="4"/>
                          <a:pt x="8" y="0"/>
                          <a:pt x="12" y="1"/>
                        </a:cubicBezTo>
                        <a:cubicBezTo>
                          <a:pt x="21" y="4"/>
                          <a:pt x="36" y="17"/>
                          <a:pt x="36" y="17"/>
                        </a:cubicBezTo>
                        <a:cubicBezTo>
                          <a:pt x="29" y="37"/>
                          <a:pt x="22" y="26"/>
                          <a:pt x="8" y="17"/>
                        </a:cubicBezTo>
                        <a:cubicBezTo>
                          <a:pt x="5" y="13"/>
                          <a:pt x="0" y="5"/>
                          <a:pt x="0" y="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5" name="Freeform 39"/>
                  <p:cNvSpPr>
                    <a:spLocks/>
                  </p:cNvSpPr>
                  <p:nvPr/>
                </p:nvSpPr>
                <p:spPr bwMode="ltGray">
                  <a:xfrm>
                    <a:off x="2878" y="406"/>
                    <a:ext cx="73" cy="33"/>
                  </a:xfrm>
                  <a:custGeom>
                    <a:avLst/>
                    <a:gdLst>
                      <a:gd name="T0" fmla="*/ 0 w 170"/>
                      <a:gd name="T1" fmla="*/ 17 h 96"/>
                      <a:gd name="T2" fmla="*/ 12 w 170"/>
                      <a:gd name="T3" fmla="*/ 9 h 96"/>
                      <a:gd name="T4" fmla="*/ 24 w 170"/>
                      <a:gd name="T5" fmla="*/ 7 h 96"/>
                      <a:gd name="T6" fmla="*/ 34 w 170"/>
                      <a:gd name="T7" fmla="*/ 3 h 96"/>
                      <a:gd name="T8" fmla="*/ 27 w 170"/>
                      <a:gd name="T9" fmla="*/ 9 h 96"/>
                      <a:gd name="T10" fmla="*/ 53 w 170"/>
                      <a:gd name="T11" fmla="*/ 17 h 96"/>
                      <a:gd name="T12" fmla="*/ 69 w 170"/>
                      <a:gd name="T13" fmla="*/ 22 h 96"/>
                      <a:gd name="T14" fmla="*/ 50 w 170"/>
                      <a:gd name="T15" fmla="*/ 26 h 96"/>
                      <a:gd name="T16" fmla="*/ 38 w 170"/>
                      <a:gd name="T17" fmla="*/ 20 h 96"/>
                      <a:gd name="T18" fmla="*/ 33 w 170"/>
                      <a:gd name="T19" fmla="*/ 18 h 96"/>
                      <a:gd name="T20" fmla="*/ 10 w 170"/>
                      <a:gd name="T21" fmla="*/ 14 h 96"/>
                      <a:gd name="T22" fmla="*/ 0 w 170"/>
                      <a:gd name="T23" fmla="*/ 17 h 9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0" h="96">
                        <a:moveTo>
                          <a:pt x="0" y="49"/>
                        </a:moveTo>
                        <a:cubicBezTo>
                          <a:pt x="5" y="33"/>
                          <a:pt x="12" y="30"/>
                          <a:pt x="28" y="25"/>
                        </a:cubicBezTo>
                        <a:cubicBezTo>
                          <a:pt x="20" y="0"/>
                          <a:pt x="42" y="16"/>
                          <a:pt x="56" y="21"/>
                        </a:cubicBezTo>
                        <a:cubicBezTo>
                          <a:pt x="56" y="21"/>
                          <a:pt x="77" y="6"/>
                          <a:pt x="80" y="9"/>
                        </a:cubicBezTo>
                        <a:cubicBezTo>
                          <a:pt x="85" y="14"/>
                          <a:pt x="71" y="23"/>
                          <a:pt x="64" y="25"/>
                        </a:cubicBezTo>
                        <a:cubicBezTo>
                          <a:pt x="82" y="37"/>
                          <a:pt x="103" y="42"/>
                          <a:pt x="124" y="49"/>
                        </a:cubicBezTo>
                        <a:cubicBezTo>
                          <a:pt x="136" y="53"/>
                          <a:pt x="160" y="65"/>
                          <a:pt x="160" y="65"/>
                        </a:cubicBezTo>
                        <a:cubicBezTo>
                          <a:pt x="170" y="96"/>
                          <a:pt x="134" y="83"/>
                          <a:pt x="116" y="77"/>
                        </a:cubicBezTo>
                        <a:cubicBezTo>
                          <a:pt x="109" y="57"/>
                          <a:pt x="116" y="66"/>
                          <a:pt x="88" y="57"/>
                        </a:cubicBezTo>
                        <a:cubicBezTo>
                          <a:pt x="84" y="56"/>
                          <a:pt x="76" y="53"/>
                          <a:pt x="76" y="53"/>
                        </a:cubicBezTo>
                        <a:cubicBezTo>
                          <a:pt x="57" y="34"/>
                          <a:pt x="53" y="37"/>
                          <a:pt x="24" y="41"/>
                        </a:cubicBezTo>
                        <a:cubicBezTo>
                          <a:pt x="9" y="51"/>
                          <a:pt x="17" y="49"/>
                          <a:pt x="0" y="4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6" name="Freeform 40"/>
                  <p:cNvSpPr>
                    <a:spLocks/>
                  </p:cNvSpPr>
                  <p:nvPr/>
                </p:nvSpPr>
                <p:spPr bwMode="ltGray">
                  <a:xfrm>
                    <a:off x="2955" y="433"/>
                    <a:ext cx="59" cy="15"/>
                  </a:xfrm>
                  <a:custGeom>
                    <a:avLst/>
                    <a:gdLst>
                      <a:gd name="T0" fmla="*/ 0 w 138"/>
                      <a:gd name="T1" fmla="*/ 0 h 44"/>
                      <a:gd name="T2" fmla="*/ 22 w 138"/>
                      <a:gd name="T3" fmla="*/ 1 h 44"/>
                      <a:gd name="T4" fmla="*/ 38 w 138"/>
                      <a:gd name="T5" fmla="*/ 8 h 44"/>
                      <a:gd name="T6" fmla="*/ 48 w 138"/>
                      <a:gd name="T7" fmla="*/ 7 h 44"/>
                      <a:gd name="T8" fmla="*/ 46 w 138"/>
                      <a:gd name="T9" fmla="*/ 15 h 44"/>
                      <a:gd name="T10" fmla="*/ 27 w 138"/>
                      <a:gd name="T11" fmla="*/ 14 h 44"/>
                      <a:gd name="T12" fmla="*/ 0 w 138"/>
                      <a:gd name="T13" fmla="*/ 12 h 44"/>
                      <a:gd name="T14" fmla="*/ 12 w 138"/>
                      <a:gd name="T15" fmla="*/ 7 h 44"/>
                      <a:gd name="T16" fmla="*/ 0 w 138"/>
                      <a:gd name="T17" fmla="*/ 0 h 4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38" h="44">
                        <a:moveTo>
                          <a:pt x="0" y="0"/>
                        </a:moveTo>
                        <a:cubicBezTo>
                          <a:pt x="19" y="3"/>
                          <a:pt x="35" y="10"/>
                          <a:pt x="52" y="4"/>
                        </a:cubicBezTo>
                        <a:cubicBezTo>
                          <a:pt x="87" y="11"/>
                          <a:pt x="61" y="15"/>
                          <a:pt x="88" y="24"/>
                        </a:cubicBezTo>
                        <a:cubicBezTo>
                          <a:pt x="96" y="23"/>
                          <a:pt x="104" y="19"/>
                          <a:pt x="112" y="20"/>
                        </a:cubicBezTo>
                        <a:cubicBezTo>
                          <a:pt x="138" y="23"/>
                          <a:pt x="118" y="41"/>
                          <a:pt x="108" y="44"/>
                        </a:cubicBezTo>
                        <a:cubicBezTo>
                          <a:pt x="78" y="34"/>
                          <a:pt x="92" y="34"/>
                          <a:pt x="64" y="40"/>
                        </a:cubicBezTo>
                        <a:cubicBezTo>
                          <a:pt x="41" y="37"/>
                          <a:pt x="22" y="41"/>
                          <a:pt x="0" y="36"/>
                        </a:cubicBezTo>
                        <a:cubicBezTo>
                          <a:pt x="6" y="11"/>
                          <a:pt x="7" y="27"/>
                          <a:pt x="28" y="20"/>
                        </a:cubicBezTo>
                        <a:cubicBezTo>
                          <a:pt x="17" y="13"/>
                          <a:pt x="0" y="13"/>
                          <a:pt x="0"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7" name="Freeform 41"/>
                  <p:cNvSpPr>
                    <a:spLocks/>
                  </p:cNvSpPr>
                  <p:nvPr/>
                </p:nvSpPr>
                <p:spPr bwMode="ltGray">
                  <a:xfrm>
                    <a:off x="2924" y="441"/>
                    <a:ext cx="24" cy="14"/>
                  </a:xfrm>
                  <a:custGeom>
                    <a:avLst/>
                    <a:gdLst>
                      <a:gd name="T0" fmla="*/ 7 w 57"/>
                      <a:gd name="T1" fmla="*/ 8 h 42"/>
                      <a:gd name="T2" fmla="*/ 16 w 57"/>
                      <a:gd name="T3" fmla="*/ 4 h 42"/>
                      <a:gd name="T4" fmla="*/ 7 w 57"/>
                      <a:gd name="T5" fmla="*/ 8 h 42"/>
                      <a:gd name="T6" fmla="*/ 0 60000 65536"/>
                      <a:gd name="T7" fmla="*/ 0 60000 65536"/>
                      <a:gd name="T8" fmla="*/ 0 60000 65536"/>
                    </a:gdLst>
                    <a:ahLst/>
                    <a:cxnLst>
                      <a:cxn ang="T6">
                        <a:pos x="T0" y="T1"/>
                      </a:cxn>
                      <a:cxn ang="T7">
                        <a:pos x="T2" y="T3"/>
                      </a:cxn>
                      <a:cxn ang="T8">
                        <a:pos x="T4" y="T5"/>
                      </a:cxn>
                    </a:cxnLst>
                    <a:rect l="0" t="0" r="r" b="b"/>
                    <a:pathLst>
                      <a:path w="57" h="42">
                        <a:moveTo>
                          <a:pt x="17" y="25"/>
                        </a:moveTo>
                        <a:cubicBezTo>
                          <a:pt x="0" y="0"/>
                          <a:pt x="21" y="9"/>
                          <a:pt x="37" y="13"/>
                        </a:cubicBezTo>
                        <a:cubicBezTo>
                          <a:pt x="57" y="42"/>
                          <a:pt x="30" y="25"/>
                          <a:pt x="1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8" name="Freeform 42"/>
                  <p:cNvSpPr>
                    <a:spLocks/>
                  </p:cNvSpPr>
                  <p:nvPr/>
                </p:nvSpPr>
                <p:spPr bwMode="ltGray">
                  <a:xfrm>
                    <a:off x="2908" y="398"/>
                    <a:ext cx="16" cy="18"/>
                  </a:xfrm>
                  <a:custGeom>
                    <a:avLst/>
                    <a:gdLst>
                      <a:gd name="T0" fmla="*/ 8 w 39"/>
                      <a:gd name="T1" fmla="*/ 11 h 52"/>
                      <a:gd name="T2" fmla="*/ 8 w 39"/>
                      <a:gd name="T3" fmla="*/ 0 h 52"/>
                      <a:gd name="T4" fmla="*/ 8 w 39"/>
                      <a:gd name="T5" fmla="*/ 11 h 52"/>
                      <a:gd name="T6" fmla="*/ 0 60000 65536"/>
                      <a:gd name="T7" fmla="*/ 0 60000 65536"/>
                      <a:gd name="T8" fmla="*/ 0 60000 65536"/>
                    </a:gdLst>
                    <a:ahLst/>
                    <a:cxnLst>
                      <a:cxn ang="T6">
                        <a:pos x="T0" y="T1"/>
                      </a:cxn>
                      <a:cxn ang="T7">
                        <a:pos x="T2" y="T3"/>
                      </a:cxn>
                      <a:cxn ang="T8">
                        <a:pos x="T4" y="T5"/>
                      </a:cxn>
                    </a:cxnLst>
                    <a:rect l="0" t="0" r="r" b="b"/>
                    <a:pathLst>
                      <a:path w="39" h="52">
                        <a:moveTo>
                          <a:pt x="19" y="32"/>
                        </a:moveTo>
                        <a:cubicBezTo>
                          <a:pt x="13" y="14"/>
                          <a:pt x="0" y="13"/>
                          <a:pt x="19" y="0"/>
                        </a:cubicBezTo>
                        <a:cubicBezTo>
                          <a:pt x="23" y="5"/>
                          <a:pt x="39" y="52"/>
                          <a:pt x="19"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9" name="Freeform 43"/>
                  <p:cNvSpPr>
                    <a:spLocks/>
                  </p:cNvSpPr>
                  <p:nvPr/>
                </p:nvSpPr>
                <p:spPr bwMode="ltGray">
                  <a:xfrm>
                    <a:off x="3035" y="452"/>
                    <a:ext cx="19" cy="27"/>
                  </a:xfrm>
                  <a:custGeom>
                    <a:avLst/>
                    <a:gdLst>
                      <a:gd name="T0" fmla="*/ 2 w 44"/>
                      <a:gd name="T1" fmla="*/ 3 h 80"/>
                      <a:gd name="T2" fmla="*/ 9 w 44"/>
                      <a:gd name="T3" fmla="*/ 11 h 80"/>
                      <a:gd name="T4" fmla="*/ 10 w 44"/>
                      <a:gd name="T5" fmla="*/ 17 h 80"/>
                      <a:gd name="T6" fmla="*/ 16 w 44"/>
                      <a:gd name="T7" fmla="*/ 18 h 80"/>
                      <a:gd name="T8" fmla="*/ 10 w 44"/>
                      <a:gd name="T9" fmla="*/ 25 h 80"/>
                      <a:gd name="T10" fmla="*/ 0 w 44"/>
                      <a:gd name="T11" fmla="*/ 7 h 80"/>
                      <a:gd name="T12" fmla="*/ 2 w 44"/>
                      <a:gd name="T13" fmla="*/ 3 h 8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4" h="80">
                        <a:moveTo>
                          <a:pt x="4" y="9"/>
                        </a:moveTo>
                        <a:cubicBezTo>
                          <a:pt x="9" y="17"/>
                          <a:pt x="18" y="24"/>
                          <a:pt x="20" y="33"/>
                        </a:cubicBezTo>
                        <a:cubicBezTo>
                          <a:pt x="21" y="38"/>
                          <a:pt x="21" y="45"/>
                          <a:pt x="24" y="49"/>
                        </a:cubicBezTo>
                        <a:cubicBezTo>
                          <a:pt x="27" y="52"/>
                          <a:pt x="32" y="52"/>
                          <a:pt x="36" y="53"/>
                        </a:cubicBezTo>
                        <a:cubicBezTo>
                          <a:pt x="41" y="68"/>
                          <a:pt x="44" y="80"/>
                          <a:pt x="24" y="73"/>
                        </a:cubicBezTo>
                        <a:cubicBezTo>
                          <a:pt x="19" y="55"/>
                          <a:pt x="11" y="37"/>
                          <a:pt x="0" y="21"/>
                        </a:cubicBezTo>
                        <a:cubicBezTo>
                          <a:pt x="4" y="4"/>
                          <a:pt x="4" y="0"/>
                          <a:pt x="4"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0" name="Freeform 44"/>
                  <p:cNvSpPr>
                    <a:spLocks/>
                  </p:cNvSpPr>
                  <p:nvPr/>
                </p:nvSpPr>
                <p:spPr bwMode="ltGray">
                  <a:xfrm>
                    <a:off x="2696" y="247"/>
                    <a:ext cx="205" cy="41"/>
                  </a:xfrm>
                  <a:custGeom>
                    <a:avLst/>
                    <a:gdLst>
                      <a:gd name="T0" fmla="*/ 140 w 323"/>
                      <a:gd name="T1" fmla="*/ 1 h 64"/>
                      <a:gd name="T2" fmla="*/ 147 w 323"/>
                      <a:gd name="T3" fmla="*/ 5 h 64"/>
                      <a:gd name="T4" fmla="*/ 149 w 323"/>
                      <a:gd name="T5" fmla="*/ 0 h 64"/>
                      <a:gd name="T6" fmla="*/ 168 w 323"/>
                      <a:gd name="T7" fmla="*/ 0 h 64"/>
                      <a:gd name="T8" fmla="*/ 182 w 323"/>
                      <a:gd name="T9" fmla="*/ 11 h 64"/>
                      <a:gd name="T10" fmla="*/ 202 w 323"/>
                      <a:gd name="T11" fmla="*/ 6 h 64"/>
                      <a:gd name="T12" fmla="*/ 199 w 323"/>
                      <a:gd name="T13" fmla="*/ 19 h 64"/>
                      <a:gd name="T14" fmla="*/ 189 w 323"/>
                      <a:gd name="T15" fmla="*/ 29 h 64"/>
                      <a:gd name="T16" fmla="*/ 187 w 323"/>
                      <a:gd name="T17" fmla="*/ 19 h 64"/>
                      <a:gd name="T18" fmla="*/ 182 w 323"/>
                      <a:gd name="T19" fmla="*/ 20 h 64"/>
                      <a:gd name="T20" fmla="*/ 177 w 323"/>
                      <a:gd name="T21" fmla="*/ 19 h 64"/>
                      <a:gd name="T22" fmla="*/ 167 w 323"/>
                      <a:gd name="T23" fmla="*/ 13 h 64"/>
                      <a:gd name="T24" fmla="*/ 145 w 323"/>
                      <a:gd name="T25" fmla="*/ 24 h 64"/>
                      <a:gd name="T26" fmla="*/ 128 w 323"/>
                      <a:gd name="T27" fmla="*/ 28 h 64"/>
                      <a:gd name="T28" fmla="*/ 135 w 323"/>
                      <a:gd name="T29" fmla="*/ 37 h 64"/>
                      <a:gd name="T30" fmla="*/ 119 w 323"/>
                      <a:gd name="T31" fmla="*/ 40 h 64"/>
                      <a:gd name="T32" fmla="*/ 107 w 323"/>
                      <a:gd name="T33" fmla="*/ 39 h 64"/>
                      <a:gd name="T34" fmla="*/ 112 w 323"/>
                      <a:gd name="T35" fmla="*/ 37 h 64"/>
                      <a:gd name="T36" fmla="*/ 109 w 323"/>
                      <a:gd name="T37" fmla="*/ 26 h 64"/>
                      <a:gd name="T38" fmla="*/ 107 w 323"/>
                      <a:gd name="T39" fmla="*/ 20 h 64"/>
                      <a:gd name="T40" fmla="*/ 100 w 323"/>
                      <a:gd name="T41" fmla="*/ 15 h 64"/>
                      <a:gd name="T42" fmla="*/ 90 w 323"/>
                      <a:gd name="T43" fmla="*/ 17 h 64"/>
                      <a:gd name="T44" fmla="*/ 85 w 323"/>
                      <a:gd name="T45" fmla="*/ 17 h 64"/>
                      <a:gd name="T46" fmla="*/ 78 w 323"/>
                      <a:gd name="T47" fmla="*/ 16 h 64"/>
                      <a:gd name="T48" fmla="*/ 53 w 323"/>
                      <a:gd name="T49" fmla="*/ 1 h 64"/>
                      <a:gd name="T50" fmla="*/ 37 w 323"/>
                      <a:gd name="T51" fmla="*/ 9 h 64"/>
                      <a:gd name="T52" fmla="*/ 1 w 323"/>
                      <a:gd name="T53" fmla="*/ 0 h 64"/>
                      <a:gd name="T54" fmla="*/ 140 w 323"/>
                      <a:gd name="T55" fmla="*/ 1 h 6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323" h="64">
                        <a:moveTo>
                          <a:pt x="220" y="1"/>
                        </a:moveTo>
                        <a:cubicBezTo>
                          <a:pt x="215" y="12"/>
                          <a:pt x="225" y="17"/>
                          <a:pt x="231" y="8"/>
                        </a:cubicBezTo>
                        <a:cubicBezTo>
                          <a:pt x="235" y="0"/>
                          <a:pt x="229" y="7"/>
                          <a:pt x="235" y="0"/>
                        </a:cubicBezTo>
                        <a:lnTo>
                          <a:pt x="265" y="0"/>
                        </a:lnTo>
                        <a:cubicBezTo>
                          <a:pt x="277" y="6"/>
                          <a:pt x="276" y="11"/>
                          <a:pt x="287" y="17"/>
                        </a:cubicBezTo>
                        <a:cubicBezTo>
                          <a:pt x="308" y="11"/>
                          <a:pt x="293" y="7"/>
                          <a:pt x="319" y="10"/>
                        </a:cubicBezTo>
                        <a:cubicBezTo>
                          <a:pt x="323" y="19"/>
                          <a:pt x="321" y="22"/>
                          <a:pt x="314" y="29"/>
                        </a:cubicBezTo>
                        <a:cubicBezTo>
                          <a:pt x="312" y="39"/>
                          <a:pt x="313" y="50"/>
                          <a:pt x="298" y="46"/>
                        </a:cubicBezTo>
                        <a:cubicBezTo>
                          <a:pt x="297" y="40"/>
                          <a:pt x="298" y="34"/>
                          <a:pt x="295" y="29"/>
                        </a:cubicBezTo>
                        <a:cubicBezTo>
                          <a:pt x="294" y="27"/>
                          <a:pt x="290" y="31"/>
                          <a:pt x="287" y="31"/>
                        </a:cubicBezTo>
                        <a:cubicBezTo>
                          <a:pt x="284" y="31"/>
                          <a:pt x="282" y="30"/>
                          <a:pt x="279" y="29"/>
                        </a:cubicBezTo>
                        <a:cubicBezTo>
                          <a:pt x="274" y="27"/>
                          <a:pt x="263" y="21"/>
                          <a:pt x="263" y="21"/>
                        </a:cubicBezTo>
                        <a:cubicBezTo>
                          <a:pt x="249" y="23"/>
                          <a:pt x="241" y="31"/>
                          <a:pt x="228" y="38"/>
                        </a:cubicBezTo>
                        <a:cubicBezTo>
                          <a:pt x="220" y="41"/>
                          <a:pt x="209" y="42"/>
                          <a:pt x="201" y="44"/>
                        </a:cubicBezTo>
                        <a:cubicBezTo>
                          <a:pt x="193" y="54"/>
                          <a:pt x="200" y="53"/>
                          <a:pt x="212" y="57"/>
                        </a:cubicBezTo>
                        <a:cubicBezTo>
                          <a:pt x="200" y="62"/>
                          <a:pt x="199" y="57"/>
                          <a:pt x="188" y="63"/>
                        </a:cubicBezTo>
                        <a:cubicBezTo>
                          <a:pt x="181" y="62"/>
                          <a:pt x="174" y="64"/>
                          <a:pt x="169" y="61"/>
                        </a:cubicBezTo>
                        <a:cubicBezTo>
                          <a:pt x="166" y="59"/>
                          <a:pt x="175" y="59"/>
                          <a:pt x="177" y="57"/>
                        </a:cubicBezTo>
                        <a:cubicBezTo>
                          <a:pt x="181" y="48"/>
                          <a:pt x="149" y="28"/>
                          <a:pt x="171" y="40"/>
                        </a:cubicBezTo>
                        <a:cubicBezTo>
                          <a:pt x="184" y="55"/>
                          <a:pt x="184" y="36"/>
                          <a:pt x="169" y="31"/>
                        </a:cubicBezTo>
                        <a:cubicBezTo>
                          <a:pt x="167" y="27"/>
                          <a:pt x="167" y="22"/>
                          <a:pt x="158" y="23"/>
                        </a:cubicBezTo>
                        <a:cubicBezTo>
                          <a:pt x="153" y="23"/>
                          <a:pt x="142" y="27"/>
                          <a:pt x="142" y="27"/>
                        </a:cubicBezTo>
                        <a:cubicBezTo>
                          <a:pt x="136" y="39"/>
                          <a:pt x="143" y="31"/>
                          <a:pt x="134" y="27"/>
                        </a:cubicBezTo>
                        <a:cubicBezTo>
                          <a:pt x="130" y="25"/>
                          <a:pt x="126" y="25"/>
                          <a:pt x="123" y="25"/>
                        </a:cubicBezTo>
                        <a:cubicBezTo>
                          <a:pt x="117" y="11"/>
                          <a:pt x="100" y="6"/>
                          <a:pt x="83" y="2"/>
                        </a:cubicBezTo>
                        <a:cubicBezTo>
                          <a:pt x="70" y="4"/>
                          <a:pt x="69" y="9"/>
                          <a:pt x="59" y="14"/>
                        </a:cubicBezTo>
                        <a:cubicBezTo>
                          <a:pt x="45" y="14"/>
                          <a:pt x="0" y="12"/>
                          <a:pt x="1" y="0"/>
                        </a:cubicBezTo>
                        <a:lnTo>
                          <a:pt x="220"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1" name="Freeform 45"/>
                  <p:cNvSpPr>
                    <a:spLocks/>
                  </p:cNvSpPr>
                  <p:nvPr/>
                </p:nvSpPr>
                <p:spPr bwMode="ltGray">
                  <a:xfrm>
                    <a:off x="2515" y="246"/>
                    <a:ext cx="190" cy="20"/>
                  </a:xfrm>
                  <a:custGeom>
                    <a:avLst/>
                    <a:gdLst>
                      <a:gd name="T0" fmla="*/ 67 w 300"/>
                      <a:gd name="T1" fmla="*/ 20 h 31"/>
                      <a:gd name="T2" fmla="*/ 19 w 300"/>
                      <a:gd name="T3" fmla="*/ 1 h 31"/>
                      <a:gd name="T4" fmla="*/ 181 w 300"/>
                      <a:gd name="T5" fmla="*/ 0 h 31"/>
                      <a:gd name="T6" fmla="*/ 187 w 300"/>
                      <a:gd name="T7" fmla="*/ 9 h 31"/>
                      <a:gd name="T8" fmla="*/ 167 w 300"/>
                      <a:gd name="T9" fmla="*/ 10 h 31"/>
                      <a:gd name="T10" fmla="*/ 67 w 300"/>
                      <a:gd name="T11" fmla="*/ 20 h 3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00" h="31">
                        <a:moveTo>
                          <a:pt x="105" y="31"/>
                        </a:moveTo>
                        <a:cubicBezTo>
                          <a:pt x="83" y="19"/>
                          <a:pt x="0" y="6"/>
                          <a:pt x="30" y="1"/>
                        </a:cubicBezTo>
                        <a:lnTo>
                          <a:pt x="285" y="0"/>
                        </a:lnTo>
                        <a:cubicBezTo>
                          <a:pt x="296" y="4"/>
                          <a:pt x="300" y="5"/>
                          <a:pt x="296" y="14"/>
                        </a:cubicBezTo>
                        <a:cubicBezTo>
                          <a:pt x="285" y="11"/>
                          <a:pt x="276" y="16"/>
                          <a:pt x="264" y="16"/>
                        </a:cubicBezTo>
                        <a:lnTo>
                          <a:pt x="105" y="3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2" name="Freeform 46"/>
                  <p:cNvSpPr>
                    <a:spLocks/>
                  </p:cNvSpPr>
                  <p:nvPr/>
                </p:nvSpPr>
                <p:spPr bwMode="ltGray">
                  <a:xfrm>
                    <a:off x="2096" y="275"/>
                    <a:ext cx="18" cy="10"/>
                  </a:xfrm>
                  <a:custGeom>
                    <a:avLst/>
                    <a:gdLst>
                      <a:gd name="T0" fmla="*/ 0 w 41"/>
                      <a:gd name="T1" fmla="*/ 9 h 29"/>
                      <a:gd name="T2" fmla="*/ 5 w 41"/>
                      <a:gd name="T3" fmla="*/ 10 h 29"/>
                      <a:gd name="T4" fmla="*/ 0 w 41"/>
                      <a:gd name="T5" fmla="*/ 9 h 29"/>
                      <a:gd name="T6" fmla="*/ 0 60000 65536"/>
                      <a:gd name="T7" fmla="*/ 0 60000 65536"/>
                      <a:gd name="T8" fmla="*/ 0 60000 65536"/>
                    </a:gdLst>
                    <a:ahLst/>
                    <a:cxnLst>
                      <a:cxn ang="T6">
                        <a:pos x="T0" y="T1"/>
                      </a:cxn>
                      <a:cxn ang="T7">
                        <a:pos x="T2" y="T3"/>
                      </a:cxn>
                      <a:cxn ang="T8">
                        <a:pos x="T4" y="T5"/>
                      </a:cxn>
                    </a:cxnLst>
                    <a:rect l="0" t="0" r="r" b="b"/>
                    <a:pathLst>
                      <a:path w="41" h="29">
                        <a:moveTo>
                          <a:pt x="0" y="25"/>
                        </a:moveTo>
                        <a:cubicBezTo>
                          <a:pt x="10" y="11"/>
                          <a:pt x="41" y="0"/>
                          <a:pt x="12" y="29"/>
                        </a:cubicBezTo>
                        <a:cubicBezTo>
                          <a:pt x="8" y="28"/>
                          <a:pt x="0" y="25"/>
                          <a:pt x="0"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3" name="Freeform 47"/>
                  <p:cNvSpPr>
                    <a:spLocks/>
                  </p:cNvSpPr>
                  <p:nvPr/>
                </p:nvSpPr>
                <p:spPr bwMode="ltGray">
                  <a:xfrm>
                    <a:off x="1606" y="246"/>
                    <a:ext cx="436" cy="152"/>
                  </a:xfrm>
                  <a:custGeom>
                    <a:avLst/>
                    <a:gdLst>
                      <a:gd name="T0" fmla="*/ 73 w 436"/>
                      <a:gd name="T1" fmla="*/ 1 h 152"/>
                      <a:gd name="T2" fmla="*/ 436 w 436"/>
                      <a:gd name="T3" fmla="*/ 0 h 152"/>
                      <a:gd name="T4" fmla="*/ 416 w 436"/>
                      <a:gd name="T5" fmla="*/ 54 h 152"/>
                      <a:gd name="T6" fmla="*/ 397 w 436"/>
                      <a:gd name="T7" fmla="*/ 68 h 152"/>
                      <a:gd name="T8" fmla="*/ 392 w 436"/>
                      <a:gd name="T9" fmla="*/ 70 h 152"/>
                      <a:gd name="T10" fmla="*/ 375 w 436"/>
                      <a:gd name="T11" fmla="*/ 73 h 152"/>
                      <a:gd name="T12" fmla="*/ 361 w 436"/>
                      <a:gd name="T13" fmla="*/ 88 h 152"/>
                      <a:gd name="T14" fmla="*/ 362 w 436"/>
                      <a:gd name="T15" fmla="*/ 99 h 152"/>
                      <a:gd name="T16" fmla="*/ 364 w 436"/>
                      <a:gd name="T17" fmla="*/ 107 h 152"/>
                      <a:gd name="T18" fmla="*/ 366 w 436"/>
                      <a:gd name="T19" fmla="*/ 113 h 152"/>
                      <a:gd name="T20" fmla="*/ 362 w 436"/>
                      <a:gd name="T21" fmla="*/ 122 h 152"/>
                      <a:gd name="T22" fmla="*/ 351 w 436"/>
                      <a:gd name="T23" fmla="*/ 120 h 152"/>
                      <a:gd name="T24" fmla="*/ 342 w 436"/>
                      <a:gd name="T25" fmla="*/ 129 h 152"/>
                      <a:gd name="T26" fmla="*/ 347 w 436"/>
                      <a:gd name="T27" fmla="*/ 105 h 152"/>
                      <a:gd name="T28" fmla="*/ 338 w 436"/>
                      <a:gd name="T29" fmla="*/ 100 h 152"/>
                      <a:gd name="T30" fmla="*/ 344 w 436"/>
                      <a:gd name="T31" fmla="*/ 93 h 152"/>
                      <a:gd name="T32" fmla="*/ 342 w 436"/>
                      <a:gd name="T33" fmla="*/ 89 h 152"/>
                      <a:gd name="T34" fmla="*/ 320 w 436"/>
                      <a:gd name="T35" fmla="*/ 94 h 152"/>
                      <a:gd name="T36" fmla="*/ 317 w 436"/>
                      <a:gd name="T37" fmla="*/ 85 h 152"/>
                      <a:gd name="T38" fmla="*/ 297 w 436"/>
                      <a:gd name="T39" fmla="*/ 94 h 152"/>
                      <a:gd name="T40" fmla="*/ 320 w 436"/>
                      <a:gd name="T41" fmla="*/ 103 h 152"/>
                      <a:gd name="T42" fmla="*/ 305 w 436"/>
                      <a:gd name="T43" fmla="*/ 117 h 152"/>
                      <a:gd name="T44" fmla="*/ 311 w 436"/>
                      <a:gd name="T45" fmla="*/ 126 h 152"/>
                      <a:gd name="T46" fmla="*/ 315 w 436"/>
                      <a:gd name="T47" fmla="*/ 138 h 152"/>
                      <a:gd name="T48" fmla="*/ 309 w 436"/>
                      <a:gd name="T49" fmla="*/ 139 h 152"/>
                      <a:gd name="T50" fmla="*/ 314 w 436"/>
                      <a:gd name="T51" fmla="*/ 144 h 152"/>
                      <a:gd name="T52" fmla="*/ 307 w 436"/>
                      <a:gd name="T53" fmla="*/ 152 h 152"/>
                      <a:gd name="T54" fmla="*/ 0 w 436"/>
                      <a:gd name="T55" fmla="*/ 149 h 152"/>
                      <a:gd name="T56" fmla="*/ 73 w 436"/>
                      <a:gd name="T57" fmla="*/ 1 h 1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36" h="152">
                        <a:moveTo>
                          <a:pt x="73" y="1"/>
                        </a:moveTo>
                        <a:lnTo>
                          <a:pt x="436" y="0"/>
                        </a:lnTo>
                        <a:cubicBezTo>
                          <a:pt x="430" y="15"/>
                          <a:pt x="429" y="42"/>
                          <a:pt x="416" y="54"/>
                        </a:cubicBezTo>
                        <a:cubicBezTo>
                          <a:pt x="410" y="60"/>
                          <a:pt x="405" y="63"/>
                          <a:pt x="397" y="68"/>
                        </a:cubicBezTo>
                        <a:cubicBezTo>
                          <a:pt x="396" y="69"/>
                          <a:pt x="392" y="70"/>
                          <a:pt x="392" y="70"/>
                        </a:cubicBezTo>
                        <a:cubicBezTo>
                          <a:pt x="377" y="63"/>
                          <a:pt x="385" y="68"/>
                          <a:pt x="375" y="73"/>
                        </a:cubicBezTo>
                        <a:cubicBezTo>
                          <a:pt x="371" y="82"/>
                          <a:pt x="371" y="83"/>
                          <a:pt x="361" y="88"/>
                        </a:cubicBezTo>
                        <a:cubicBezTo>
                          <a:pt x="359" y="92"/>
                          <a:pt x="364" y="93"/>
                          <a:pt x="362" y="99"/>
                        </a:cubicBezTo>
                        <a:cubicBezTo>
                          <a:pt x="363" y="102"/>
                          <a:pt x="364" y="105"/>
                          <a:pt x="364" y="107"/>
                        </a:cubicBezTo>
                        <a:cubicBezTo>
                          <a:pt x="365" y="109"/>
                          <a:pt x="366" y="111"/>
                          <a:pt x="366" y="113"/>
                        </a:cubicBezTo>
                        <a:cubicBezTo>
                          <a:pt x="365" y="115"/>
                          <a:pt x="364" y="120"/>
                          <a:pt x="362" y="122"/>
                        </a:cubicBezTo>
                        <a:cubicBezTo>
                          <a:pt x="359" y="123"/>
                          <a:pt x="354" y="119"/>
                          <a:pt x="351" y="120"/>
                        </a:cubicBezTo>
                        <a:cubicBezTo>
                          <a:pt x="347" y="129"/>
                          <a:pt x="352" y="127"/>
                          <a:pt x="342" y="129"/>
                        </a:cubicBezTo>
                        <a:cubicBezTo>
                          <a:pt x="340" y="123"/>
                          <a:pt x="345" y="111"/>
                          <a:pt x="347" y="105"/>
                        </a:cubicBezTo>
                        <a:cubicBezTo>
                          <a:pt x="347" y="100"/>
                          <a:pt x="338" y="102"/>
                          <a:pt x="338" y="100"/>
                        </a:cubicBezTo>
                        <a:cubicBezTo>
                          <a:pt x="338" y="98"/>
                          <a:pt x="344" y="95"/>
                          <a:pt x="344" y="93"/>
                        </a:cubicBezTo>
                        <a:cubicBezTo>
                          <a:pt x="344" y="92"/>
                          <a:pt x="344" y="89"/>
                          <a:pt x="342" y="89"/>
                        </a:cubicBezTo>
                        <a:cubicBezTo>
                          <a:pt x="339" y="89"/>
                          <a:pt x="324" y="94"/>
                          <a:pt x="320" y="94"/>
                        </a:cubicBezTo>
                        <a:cubicBezTo>
                          <a:pt x="317" y="86"/>
                          <a:pt x="328" y="88"/>
                          <a:pt x="317" y="85"/>
                        </a:cubicBezTo>
                        <a:cubicBezTo>
                          <a:pt x="311" y="91"/>
                          <a:pt x="306" y="93"/>
                          <a:pt x="297" y="94"/>
                        </a:cubicBezTo>
                        <a:cubicBezTo>
                          <a:pt x="300" y="104"/>
                          <a:pt x="307" y="101"/>
                          <a:pt x="320" y="103"/>
                        </a:cubicBezTo>
                        <a:cubicBezTo>
                          <a:pt x="318" y="109"/>
                          <a:pt x="311" y="111"/>
                          <a:pt x="305" y="117"/>
                        </a:cubicBezTo>
                        <a:lnTo>
                          <a:pt x="311" y="126"/>
                        </a:lnTo>
                        <a:lnTo>
                          <a:pt x="315" y="138"/>
                        </a:lnTo>
                        <a:lnTo>
                          <a:pt x="309" y="139"/>
                        </a:lnTo>
                        <a:lnTo>
                          <a:pt x="314" y="144"/>
                        </a:lnTo>
                        <a:lnTo>
                          <a:pt x="307" y="152"/>
                        </a:lnTo>
                        <a:lnTo>
                          <a:pt x="0" y="149"/>
                        </a:lnTo>
                        <a:lnTo>
                          <a:pt x="73"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4" name="Freeform 48"/>
                  <p:cNvSpPr>
                    <a:spLocks/>
                  </p:cNvSpPr>
                  <p:nvPr/>
                </p:nvSpPr>
                <p:spPr bwMode="ltGray">
                  <a:xfrm>
                    <a:off x="2043" y="241"/>
                    <a:ext cx="20" cy="55"/>
                  </a:xfrm>
                  <a:custGeom>
                    <a:avLst/>
                    <a:gdLst>
                      <a:gd name="T0" fmla="*/ 2 w 47"/>
                      <a:gd name="T1" fmla="*/ 52 h 165"/>
                      <a:gd name="T2" fmla="*/ 6 w 47"/>
                      <a:gd name="T3" fmla="*/ 36 h 165"/>
                      <a:gd name="T4" fmla="*/ 7 w 47"/>
                      <a:gd name="T5" fmla="*/ 23 h 165"/>
                      <a:gd name="T6" fmla="*/ 5 w 47"/>
                      <a:gd name="T7" fmla="*/ 13 h 165"/>
                      <a:gd name="T8" fmla="*/ 7 w 47"/>
                      <a:gd name="T9" fmla="*/ 4 h 165"/>
                      <a:gd name="T10" fmla="*/ 9 w 47"/>
                      <a:gd name="T11" fmla="*/ 0 h 165"/>
                      <a:gd name="T12" fmla="*/ 13 w 47"/>
                      <a:gd name="T13" fmla="*/ 10 h 165"/>
                      <a:gd name="T14" fmla="*/ 20 w 47"/>
                      <a:gd name="T15" fmla="*/ 33 h 165"/>
                      <a:gd name="T16" fmla="*/ 13 w 47"/>
                      <a:gd name="T17" fmla="*/ 36 h 165"/>
                      <a:gd name="T18" fmla="*/ 10 w 47"/>
                      <a:gd name="T19" fmla="*/ 42 h 165"/>
                      <a:gd name="T20" fmla="*/ 9 w 47"/>
                      <a:gd name="T21" fmla="*/ 44 h 165"/>
                      <a:gd name="T22" fmla="*/ 11 w 47"/>
                      <a:gd name="T23" fmla="*/ 45 h 165"/>
                      <a:gd name="T24" fmla="*/ 13 w 47"/>
                      <a:gd name="T25" fmla="*/ 49 h 165"/>
                      <a:gd name="T26" fmla="*/ 6 w 47"/>
                      <a:gd name="T27" fmla="*/ 49 h 165"/>
                      <a:gd name="T28" fmla="*/ 3 w 47"/>
                      <a:gd name="T29" fmla="*/ 53 h 165"/>
                      <a:gd name="T30" fmla="*/ 1 w 47"/>
                      <a:gd name="T31" fmla="*/ 51 h 165"/>
                      <a:gd name="T32" fmla="*/ 2 w 47"/>
                      <a:gd name="T33" fmla="*/ 52 h 1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7" h="165">
                        <a:moveTo>
                          <a:pt x="5" y="156"/>
                        </a:moveTo>
                        <a:cubicBezTo>
                          <a:pt x="0" y="141"/>
                          <a:pt x="1" y="118"/>
                          <a:pt x="15" y="108"/>
                        </a:cubicBezTo>
                        <a:cubicBezTo>
                          <a:pt x="16" y="95"/>
                          <a:pt x="17" y="81"/>
                          <a:pt x="17" y="68"/>
                        </a:cubicBezTo>
                        <a:cubicBezTo>
                          <a:pt x="17" y="58"/>
                          <a:pt x="11" y="40"/>
                          <a:pt x="11" y="40"/>
                        </a:cubicBezTo>
                        <a:cubicBezTo>
                          <a:pt x="14" y="20"/>
                          <a:pt x="11" y="29"/>
                          <a:pt x="17" y="12"/>
                        </a:cubicBezTo>
                        <a:cubicBezTo>
                          <a:pt x="18" y="8"/>
                          <a:pt x="21" y="0"/>
                          <a:pt x="21" y="0"/>
                        </a:cubicBezTo>
                        <a:cubicBezTo>
                          <a:pt x="38" y="6"/>
                          <a:pt x="33" y="7"/>
                          <a:pt x="31" y="30"/>
                        </a:cubicBezTo>
                        <a:cubicBezTo>
                          <a:pt x="38" y="52"/>
                          <a:pt x="40" y="76"/>
                          <a:pt x="47" y="98"/>
                        </a:cubicBezTo>
                        <a:cubicBezTo>
                          <a:pt x="44" y="116"/>
                          <a:pt x="45" y="113"/>
                          <a:pt x="31" y="108"/>
                        </a:cubicBezTo>
                        <a:cubicBezTo>
                          <a:pt x="25" y="118"/>
                          <a:pt x="28" y="112"/>
                          <a:pt x="23" y="126"/>
                        </a:cubicBezTo>
                        <a:cubicBezTo>
                          <a:pt x="22" y="128"/>
                          <a:pt x="21" y="132"/>
                          <a:pt x="21" y="132"/>
                        </a:cubicBezTo>
                        <a:cubicBezTo>
                          <a:pt x="23" y="133"/>
                          <a:pt x="26" y="132"/>
                          <a:pt x="27" y="134"/>
                        </a:cubicBezTo>
                        <a:cubicBezTo>
                          <a:pt x="29" y="137"/>
                          <a:pt x="31" y="146"/>
                          <a:pt x="31" y="146"/>
                        </a:cubicBezTo>
                        <a:cubicBezTo>
                          <a:pt x="27" y="165"/>
                          <a:pt x="23" y="155"/>
                          <a:pt x="13" y="148"/>
                        </a:cubicBezTo>
                        <a:cubicBezTo>
                          <a:pt x="11" y="152"/>
                          <a:pt x="11" y="160"/>
                          <a:pt x="7" y="160"/>
                        </a:cubicBezTo>
                        <a:cubicBezTo>
                          <a:pt x="5" y="160"/>
                          <a:pt x="4" y="156"/>
                          <a:pt x="3" y="154"/>
                        </a:cubicBezTo>
                        <a:cubicBezTo>
                          <a:pt x="3" y="153"/>
                          <a:pt x="4" y="155"/>
                          <a:pt x="5" y="15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5" name="Freeform 49"/>
                  <p:cNvSpPr>
                    <a:spLocks/>
                  </p:cNvSpPr>
                  <p:nvPr/>
                </p:nvSpPr>
                <p:spPr bwMode="ltGray">
                  <a:xfrm>
                    <a:off x="2031" y="287"/>
                    <a:ext cx="59" cy="34"/>
                  </a:xfrm>
                  <a:custGeom>
                    <a:avLst/>
                    <a:gdLst>
                      <a:gd name="T0" fmla="*/ 11 w 138"/>
                      <a:gd name="T1" fmla="*/ 20 h 103"/>
                      <a:gd name="T2" fmla="*/ 13 w 138"/>
                      <a:gd name="T3" fmla="*/ 14 h 103"/>
                      <a:gd name="T4" fmla="*/ 21 w 138"/>
                      <a:gd name="T5" fmla="*/ 11 h 103"/>
                      <a:gd name="T6" fmla="*/ 23 w 138"/>
                      <a:gd name="T7" fmla="*/ 15 h 103"/>
                      <a:gd name="T8" fmla="*/ 28 w 138"/>
                      <a:gd name="T9" fmla="*/ 16 h 103"/>
                      <a:gd name="T10" fmla="*/ 34 w 138"/>
                      <a:gd name="T11" fmla="*/ 18 h 103"/>
                      <a:gd name="T12" fmla="*/ 50 w 138"/>
                      <a:gd name="T13" fmla="*/ 11 h 103"/>
                      <a:gd name="T14" fmla="*/ 56 w 138"/>
                      <a:gd name="T15" fmla="*/ 6 h 103"/>
                      <a:gd name="T16" fmla="*/ 59 w 138"/>
                      <a:gd name="T17" fmla="*/ 4 h 103"/>
                      <a:gd name="T18" fmla="*/ 45 w 138"/>
                      <a:gd name="T19" fmla="*/ 16 h 103"/>
                      <a:gd name="T20" fmla="*/ 36 w 138"/>
                      <a:gd name="T21" fmla="*/ 22 h 103"/>
                      <a:gd name="T22" fmla="*/ 28 w 138"/>
                      <a:gd name="T23" fmla="*/ 27 h 103"/>
                      <a:gd name="T24" fmla="*/ 21 w 138"/>
                      <a:gd name="T25" fmla="*/ 34 h 103"/>
                      <a:gd name="T26" fmla="*/ 11 w 138"/>
                      <a:gd name="T27" fmla="*/ 29 h 103"/>
                      <a:gd name="T28" fmla="*/ 9 w 138"/>
                      <a:gd name="T29" fmla="*/ 29 h 103"/>
                      <a:gd name="T30" fmla="*/ 9 w 138"/>
                      <a:gd name="T31" fmla="*/ 32 h 103"/>
                      <a:gd name="T32" fmla="*/ 0 w 138"/>
                      <a:gd name="T33" fmla="*/ 32 h 103"/>
                      <a:gd name="T34" fmla="*/ 4 w 138"/>
                      <a:gd name="T35" fmla="*/ 26 h 103"/>
                      <a:gd name="T36" fmla="*/ 11 w 138"/>
                      <a:gd name="T37" fmla="*/ 20 h 10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38" h="103">
                        <a:moveTo>
                          <a:pt x="26" y="61"/>
                        </a:moveTo>
                        <a:cubicBezTo>
                          <a:pt x="29" y="53"/>
                          <a:pt x="33" y="51"/>
                          <a:pt x="30" y="43"/>
                        </a:cubicBezTo>
                        <a:cubicBezTo>
                          <a:pt x="33" y="27"/>
                          <a:pt x="37" y="24"/>
                          <a:pt x="50" y="33"/>
                        </a:cubicBezTo>
                        <a:cubicBezTo>
                          <a:pt x="51" y="37"/>
                          <a:pt x="53" y="41"/>
                          <a:pt x="54" y="45"/>
                        </a:cubicBezTo>
                        <a:cubicBezTo>
                          <a:pt x="55" y="49"/>
                          <a:pt x="66" y="49"/>
                          <a:pt x="66" y="49"/>
                        </a:cubicBezTo>
                        <a:cubicBezTo>
                          <a:pt x="75" y="43"/>
                          <a:pt x="77" y="45"/>
                          <a:pt x="80" y="55"/>
                        </a:cubicBezTo>
                        <a:cubicBezTo>
                          <a:pt x="92" y="47"/>
                          <a:pt x="101" y="37"/>
                          <a:pt x="116" y="33"/>
                        </a:cubicBezTo>
                        <a:cubicBezTo>
                          <a:pt x="125" y="19"/>
                          <a:pt x="120" y="24"/>
                          <a:pt x="130" y="17"/>
                        </a:cubicBezTo>
                        <a:cubicBezTo>
                          <a:pt x="134" y="11"/>
                          <a:pt x="134" y="0"/>
                          <a:pt x="138" y="11"/>
                        </a:cubicBezTo>
                        <a:cubicBezTo>
                          <a:pt x="135" y="31"/>
                          <a:pt x="126" y="45"/>
                          <a:pt x="106" y="49"/>
                        </a:cubicBezTo>
                        <a:cubicBezTo>
                          <a:pt x="97" y="55"/>
                          <a:pt x="93" y="61"/>
                          <a:pt x="84" y="67"/>
                        </a:cubicBezTo>
                        <a:cubicBezTo>
                          <a:pt x="80" y="79"/>
                          <a:pt x="79" y="79"/>
                          <a:pt x="66" y="81"/>
                        </a:cubicBezTo>
                        <a:cubicBezTo>
                          <a:pt x="60" y="90"/>
                          <a:pt x="57" y="97"/>
                          <a:pt x="48" y="103"/>
                        </a:cubicBezTo>
                        <a:cubicBezTo>
                          <a:pt x="42" y="94"/>
                          <a:pt x="37" y="93"/>
                          <a:pt x="26" y="89"/>
                        </a:cubicBezTo>
                        <a:cubicBezTo>
                          <a:pt x="24" y="88"/>
                          <a:pt x="20" y="87"/>
                          <a:pt x="20" y="87"/>
                        </a:cubicBezTo>
                        <a:cubicBezTo>
                          <a:pt x="10" y="90"/>
                          <a:pt x="14" y="94"/>
                          <a:pt x="22" y="97"/>
                        </a:cubicBezTo>
                        <a:cubicBezTo>
                          <a:pt x="14" y="103"/>
                          <a:pt x="9" y="100"/>
                          <a:pt x="0" y="97"/>
                        </a:cubicBezTo>
                        <a:cubicBezTo>
                          <a:pt x="2" y="87"/>
                          <a:pt x="1" y="82"/>
                          <a:pt x="10" y="79"/>
                        </a:cubicBezTo>
                        <a:cubicBezTo>
                          <a:pt x="15" y="63"/>
                          <a:pt x="14" y="69"/>
                          <a:pt x="26" y="6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6" name="Freeform 50"/>
                  <p:cNvSpPr>
                    <a:spLocks/>
                  </p:cNvSpPr>
                  <p:nvPr/>
                </p:nvSpPr>
                <p:spPr bwMode="ltGray">
                  <a:xfrm>
                    <a:off x="1968" y="319"/>
                    <a:ext cx="80" cy="72"/>
                  </a:xfrm>
                  <a:custGeom>
                    <a:avLst/>
                    <a:gdLst>
                      <a:gd name="T0" fmla="*/ 67 w 188"/>
                      <a:gd name="T1" fmla="*/ 8 h 214"/>
                      <a:gd name="T2" fmla="*/ 68 w 188"/>
                      <a:gd name="T3" fmla="*/ 2 h 214"/>
                      <a:gd name="T4" fmla="*/ 72 w 188"/>
                      <a:gd name="T5" fmla="*/ 0 h 214"/>
                      <a:gd name="T6" fmla="*/ 77 w 188"/>
                      <a:gd name="T7" fmla="*/ 8 h 214"/>
                      <a:gd name="T8" fmla="*/ 80 w 188"/>
                      <a:gd name="T9" fmla="*/ 14 h 214"/>
                      <a:gd name="T10" fmla="*/ 76 w 188"/>
                      <a:gd name="T11" fmla="*/ 20 h 214"/>
                      <a:gd name="T12" fmla="*/ 72 w 188"/>
                      <a:gd name="T13" fmla="*/ 26 h 214"/>
                      <a:gd name="T14" fmla="*/ 69 w 188"/>
                      <a:gd name="T15" fmla="*/ 42 h 214"/>
                      <a:gd name="T16" fmla="*/ 61 w 188"/>
                      <a:gd name="T17" fmla="*/ 46 h 214"/>
                      <a:gd name="T18" fmla="*/ 51 w 188"/>
                      <a:gd name="T19" fmla="*/ 46 h 214"/>
                      <a:gd name="T20" fmla="*/ 48 w 188"/>
                      <a:gd name="T21" fmla="*/ 42 h 214"/>
                      <a:gd name="T22" fmla="*/ 43 w 188"/>
                      <a:gd name="T23" fmla="*/ 49 h 214"/>
                      <a:gd name="T24" fmla="*/ 38 w 188"/>
                      <a:gd name="T25" fmla="*/ 50 h 214"/>
                      <a:gd name="T26" fmla="*/ 34 w 188"/>
                      <a:gd name="T27" fmla="*/ 44 h 214"/>
                      <a:gd name="T28" fmla="*/ 25 w 188"/>
                      <a:gd name="T29" fmla="*/ 48 h 214"/>
                      <a:gd name="T30" fmla="*/ 32 w 188"/>
                      <a:gd name="T31" fmla="*/ 48 h 214"/>
                      <a:gd name="T32" fmla="*/ 33 w 188"/>
                      <a:gd name="T33" fmla="*/ 54 h 214"/>
                      <a:gd name="T34" fmla="*/ 25 w 188"/>
                      <a:gd name="T35" fmla="*/ 56 h 214"/>
                      <a:gd name="T36" fmla="*/ 14 w 188"/>
                      <a:gd name="T37" fmla="*/ 56 h 214"/>
                      <a:gd name="T38" fmla="*/ 15 w 188"/>
                      <a:gd name="T39" fmla="*/ 52 h 214"/>
                      <a:gd name="T40" fmla="*/ 20 w 188"/>
                      <a:gd name="T41" fmla="*/ 48 h 214"/>
                      <a:gd name="T42" fmla="*/ 14 w 188"/>
                      <a:gd name="T43" fmla="*/ 50 h 214"/>
                      <a:gd name="T44" fmla="*/ 11 w 188"/>
                      <a:gd name="T45" fmla="*/ 56 h 214"/>
                      <a:gd name="T46" fmla="*/ 13 w 188"/>
                      <a:gd name="T47" fmla="*/ 64 h 214"/>
                      <a:gd name="T48" fmla="*/ 6 w 188"/>
                      <a:gd name="T49" fmla="*/ 67 h 214"/>
                      <a:gd name="T50" fmla="*/ 0 w 188"/>
                      <a:gd name="T51" fmla="*/ 72 h 214"/>
                      <a:gd name="T52" fmla="*/ 3 w 188"/>
                      <a:gd name="T53" fmla="*/ 63 h 214"/>
                      <a:gd name="T54" fmla="*/ 0 w 188"/>
                      <a:gd name="T55" fmla="*/ 55 h 214"/>
                      <a:gd name="T56" fmla="*/ 6 w 188"/>
                      <a:gd name="T57" fmla="*/ 51 h 214"/>
                      <a:gd name="T58" fmla="*/ 14 w 188"/>
                      <a:gd name="T59" fmla="*/ 45 h 214"/>
                      <a:gd name="T60" fmla="*/ 19 w 188"/>
                      <a:gd name="T61" fmla="*/ 40 h 214"/>
                      <a:gd name="T62" fmla="*/ 31 w 188"/>
                      <a:gd name="T63" fmla="*/ 39 h 214"/>
                      <a:gd name="T64" fmla="*/ 36 w 188"/>
                      <a:gd name="T65" fmla="*/ 38 h 214"/>
                      <a:gd name="T66" fmla="*/ 49 w 188"/>
                      <a:gd name="T67" fmla="*/ 26 h 214"/>
                      <a:gd name="T68" fmla="*/ 51 w 188"/>
                      <a:gd name="T69" fmla="*/ 31 h 214"/>
                      <a:gd name="T70" fmla="*/ 56 w 188"/>
                      <a:gd name="T71" fmla="*/ 26 h 214"/>
                      <a:gd name="T72" fmla="*/ 64 w 188"/>
                      <a:gd name="T73" fmla="*/ 18 h 214"/>
                      <a:gd name="T74" fmla="*/ 66 w 188"/>
                      <a:gd name="T75" fmla="*/ 14 h 214"/>
                      <a:gd name="T76" fmla="*/ 63 w 188"/>
                      <a:gd name="T77" fmla="*/ 13 h 214"/>
                      <a:gd name="T78" fmla="*/ 65 w 188"/>
                      <a:gd name="T79" fmla="*/ 11 h 214"/>
                      <a:gd name="T80" fmla="*/ 67 w 188"/>
                      <a:gd name="T81" fmla="*/ 8 h 21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88" h="214">
                        <a:moveTo>
                          <a:pt x="158" y="24"/>
                        </a:moveTo>
                        <a:cubicBezTo>
                          <a:pt x="156" y="18"/>
                          <a:pt x="160" y="6"/>
                          <a:pt x="160" y="6"/>
                        </a:cubicBezTo>
                        <a:cubicBezTo>
                          <a:pt x="167" y="16"/>
                          <a:pt x="167" y="8"/>
                          <a:pt x="170" y="0"/>
                        </a:cubicBezTo>
                        <a:cubicBezTo>
                          <a:pt x="181" y="4"/>
                          <a:pt x="179" y="14"/>
                          <a:pt x="182" y="24"/>
                        </a:cubicBezTo>
                        <a:cubicBezTo>
                          <a:pt x="184" y="30"/>
                          <a:pt x="188" y="42"/>
                          <a:pt x="188" y="42"/>
                        </a:cubicBezTo>
                        <a:cubicBezTo>
                          <a:pt x="183" y="56"/>
                          <a:pt x="188" y="52"/>
                          <a:pt x="178" y="58"/>
                        </a:cubicBezTo>
                        <a:cubicBezTo>
                          <a:pt x="174" y="63"/>
                          <a:pt x="170" y="76"/>
                          <a:pt x="170" y="76"/>
                        </a:cubicBezTo>
                        <a:cubicBezTo>
                          <a:pt x="169" y="100"/>
                          <a:pt x="173" y="110"/>
                          <a:pt x="162" y="126"/>
                        </a:cubicBezTo>
                        <a:cubicBezTo>
                          <a:pt x="150" y="118"/>
                          <a:pt x="155" y="132"/>
                          <a:pt x="144" y="136"/>
                        </a:cubicBezTo>
                        <a:cubicBezTo>
                          <a:pt x="135" y="134"/>
                          <a:pt x="129" y="135"/>
                          <a:pt x="120" y="138"/>
                        </a:cubicBezTo>
                        <a:cubicBezTo>
                          <a:pt x="114" y="129"/>
                          <a:pt x="122" y="127"/>
                          <a:pt x="112" y="124"/>
                        </a:cubicBezTo>
                        <a:cubicBezTo>
                          <a:pt x="108" y="130"/>
                          <a:pt x="108" y="142"/>
                          <a:pt x="102" y="146"/>
                        </a:cubicBezTo>
                        <a:cubicBezTo>
                          <a:pt x="98" y="148"/>
                          <a:pt x="90" y="150"/>
                          <a:pt x="90" y="150"/>
                        </a:cubicBezTo>
                        <a:cubicBezTo>
                          <a:pt x="87" y="141"/>
                          <a:pt x="89" y="135"/>
                          <a:pt x="80" y="132"/>
                        </a:cubicBezTo>
                        <a:cubicBezTo>
                          <a:pt x="68" y="134"/>
                          <a:pt x="65" y="134"/>
                          <a:pt x="58" y="144"/>
                        </a:cubicBezTo>
                        <a:cubicBezTo>
                          <a:pt x="66" y="150"/>
                          <a:pt x="68" y="147"/>
                          <a:pt x="76" y="142"/>
                        </a:cubicBezTo>
                        <a:cubicBezTo>
                          <a:pt x="81" y="146"/>
                          <a:pt x="85" y="155"/>
                          <a:pt x="78" y="160"/>
                        </a:cubicBezTo>
                        <a:cubicBezTo>
                          <a:pt x="75" y="162"/>
                          <a:pt x="62" y="165"/>
                          <a:pt x="58" y="166"/>
                        </a:cubicBezTo>
                        <a:cubicBezTo>
                          <a:pt x="48" y="173"/>
                          <a:pt x="44" y="173"/>
                          <a:pt x="34" y="166"/>
                        </a:cubicBezTo>
                        <a:cubicBezTo>
                          <a:pt x="35" y="162"/>
                          <a:pt x="34" y="158"/>
                          <a:pt x="36" y="154"/>
                        </a:cubicBezTo>
                        <a:cubicBezTo>
                          <a:pt x="38" y="150"/>
                          <a:pt x="55" y="146"/>
                          <a:pt x="46" y="144"/>
                        </a:cubicBezTo>
                        <a:cubicBezTo>
                          <a:pt x="42" y="143"/>
                          <a:pt x="34" y="148"/>
                          <a:pt x="34" y="148"/>
                        </a:cubicBezTo>
                        <a:cubicBezTo>
                          <a:pt x="32" y="155"/>
                          <a:pt x="28" y="159"/>
                          <a:pt x="26" y="166"/>
                        </a:cubicBezTo>
                        <a:cubicBezTo>
                          <a:pt x="36" y="182"/>
                          <a:pt x="36" y="173"/>
                          <a:pt x="30" y="190"/>
                        </a:cubicBezTo>
                        <a:cubicBezTo>
                          <a:pt x="28" y="196"/>
                          <a:pt x="14" y="200"/>
                          <a:pt x="14" y="200"/>
                        </a:cubicBezTo>
                        <a:cubicBezTo>
                          <a:pt x="5" y="214"/>
                          <a:pt x="11" y="210"/>
                          <a:pt x="0" y="214"/>
                        </a:cubicBezTo>
                        <a:cubicBezTo>
                          <a:pt x="2" y="202"/>
                          <a:pt x="5" y="198"/>
                          <a:pt x="8" y="188"/>
                        </a:cubicBezTo>
                        <a:cubicBezTo>
                          <a:pt x="6" y="178"/>
                          <a:pt x="3" y="173"/>
                          <a:pt x="0" y="164"/>
                        </a:cubicBezTo>
                        <a:cubicBezTo>
                          <a:pt x="3" y="156"/>
                          <a:pt x="7" y="157"/>
                          <a:pt x="14" y="152"/>
                        </a:cubicBezTo>
                        <a:cubicBezTo>
                          <a:pt x="18" y="141"/>
                          <a:pt x="23" y="140"/>
                          <a:pt x="32" y="134"/>
                        </a:cubicBezTo>
                        <a:cubicBezTo>
                          <a:pt x="37" y="127"/>
                          <a:pt x="37" y="123"/>
                          <a:pt x="44" y="118"/>
                        </a:cubicBezTo>
                        <a:cubicBezTo>
                          <a:pt x="64" y="121"/>
                          <a:pt x="55" y="122"/>
                          <a:pt x="72" y="116"/>
                        </a:cubicBezTo>
                        <a:cubicBezTo>
                          <a:pt x="76" y="115"/>
                          <a:pt x="84" y="112"/>
                          <a:pt x="84" y="112"/>
                        </a:cubicBezTo>
                        <a:cubicBezTo>
                          <a:pt x="105" y="119"/>
                          <a:pt x="97" y="84"/>
                          <a:pt x="114" y="78"/>
                        </a:cubicBezTo>
                        <a:cubicBezTo>
                          <a:pt x="117" y="87"/>
                          <a:pt x="110" y="89"/>
                          <a:pt x="120" y="92"/>
                        </a:cubicBezTo>
                        <a:cubicBezTo>
                          <a:pt x="125" y="85"/>
                          <a:pt x="125" y="81"/>
                          <a:pt x="132" y="76"/>
                        </a:cubicBezTo>
                        <a:cubicBezTo>
                          <a:pt x="138" y="68"/>
                          <a:pt x="146" y="65"/>
                          <a:pt x="150" y="54"/>
                        </a:cubicBezTo>
                        <a:cubicBezTo>
                          <a:pt x="151" y="50"/>
                          <a:pt x="154" y="42"/>
                          <a:pt x="154" y="42"/>
                        </a:cubicBezTo>
                        <a:cubicBezTo>
                          <a:pt x="152" y="41"/>
                          <a:pt x="148" y="40"/>
                          <a:pt x="148" y="38"/>
                        </a:cubicBezTo>
                        <a:cubicBezTo>
                          <a:pt x="148" y="36"/>
                          <a:pt x="161" y="33"/>
                          <a:pt x="152" y="32"/>
                        </a:cubicBezTo>
                        <a:lnTo>
                          <a:pt x="158" y="2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7" name="Freeform 51"/>
                  <p:cNvSpPr>
                    <a:spLocks/>
                  </p:cNvSpPr>
                  <p:nvPr/>
                </p:nvSpPr>
                <p:spPr bwMode="ltGray">
                  <a:xfrm>
                    <a:off x="2021" y="340"/>
                    <a:ext cx="6" cy="4"/>
                  </a:xfrm>
                  <a:custGeom>
                    <a:avLst/>
                    <a:gdLst>
                      <a:gd name="T0" fmla="*/ 0 w 13"/>
                      <a:gd name="T1" fmla="*/ 3 h 13"/>
                      <a:gd name="T2" fmla="*/ 2 w 13"/>
                      <a:gd name="T3" fmla="*/ 4 h 13"/>
                      <a:gd name="T4" fmla="*/ 0 w 13"/>
                      <a:gd name="T5" fmla="*/ 3 h 13"/>
                      <a:gd name="T6" fmla="*/ 0 60000 65536"/>
                      <a:gd name="T7" fmla="*/ 0 60000 65536"/>
                      <a:gd name="T8" fmla="*/ 0 60000 65536"/>
                    </a:gdLst>
                    <a:ahLst/>
                    <a:cxnLst>
                      <a:cxn ang="T6">
                        <a:pos x="T0" y="T1"/>
                      </a:cxn>
                      <a:cxn ang="T7">
                        <a:pos x="T2" y="T3"/>
                      </a:cxn>
                      <a:cxn ang="T8">
                        <a:pos x="T4" y="T5"/>
                      </a:cxn>
                    </a:cxnLst>
                    <a:rect l="0" t="0" r="r" b="b"/>
                    <a:pathLst>
                      <a:path w="13" h="13">
                        <a:moveTo>
                          <a:pt x="0" y="9"/>
                        </a:moveTo>
                        <a:cubicBezTo>
                          <a:pt x="6" y="0"/>
                          <a:pt x="13" y="7"/>
                          <a:pt x="4" y="13"/>
                        </a:cubicBezTo>
                        <a:cubicBezTo>
                          <a:pt x="0" y="6"/>
                          <a:pt x="0" y="5"/>
                          <a:pt x="0"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8" name="Freeform 52"/>
                  <p:cNvSpPr>
                    <a:spLocks/>
                  </p:cNvSpPr>
                  <p:nvPr/>
                </p:nvSpPr>
                <p:spPr bwMode="ltGray">
                  <a:xfrm>
                    <a:off x="1573" y="389"/>
                    <a:ext cx="347" cy="189"/>
                  </a:xfrm>
                  <a:custGeom>
                    <a:avLst/>
                    <a:gdLst>
                      <a:gd name="T0" fmla="*/ 347 w 812"/>
                      <a:gd name="T1" fmla="*/ 9 h 564"/>
                      <a:gd name="T2" fmla="*/ 332 w 812"/>
                      <a:gd name="T3" fmla="*/ 26 h 564"/>
                      <a:gd name="T4" fmla="*/ 320 w 812"/>
                      <a:gd name="T5" fmla="*/ 41 h 564"/>
                      <a:gd name="T6" fmla="*/ 309 w 812"/>
                      <a:gd name="T7" fmla="*/ 48 h 564"/>
                      <a:gd name="T8" fmla="*/ 271 w 812"/>
                      <a:gd name="T9" fmla="*/ 60 h 564"/>
                      <a:gd name="T10" fmla="*/ 270 w 812"/>
                      <a:gd name="T11" fmla="*/ 70 h 564"/>
                      <a:gd name="T12" fmla="*/ 258 w 812"/>
                      <a:gd name="T13" fmla="*/ 77 h 564"/>
                      <a:gd name="T14" fmla="*/ 265 w 812"/>
                      <a:gd name="T15" fmla="*/ 60 h 564"/>
                      <a:gd name="T16" fmla="*/ 246 w 812"/>
                      <a:gd name="T17" fmla="*/ 63 h 564"/>
                      <a:gd name="T18" fmla="*/ 238 w 812"/>
                      <a:gd name="T19" fmla="*/ 73 h 564"/>
                      <a:gd name="T20" fmla="*/ 255 w 812"/>
                      <a:gd name="T21" fmla="*/ 94 h 564"/>
                      <a:gd name="T22" fmla="*/ 254 w 812"/>
                      <a:gd name="T23" fmla="*/ 123 h 564"/>
                      <a:gd name="T24" fmla="*/ 232 w 812"/>
                      <a:gd name="T25" fmla="*/ 136 h 564"/>
                      <a:gd name="T26" fmla="*/ 223 w 812"/>
                      <a:gd name="T27" fmla="*/ 129 h 564"/>
                      <a:gd name="T28" fmla="*/ 206 w 812"/>
                      <a:gd name="T29" fmla="*/ 117 h 564"/>
                      <a:gd name="T30" fmla="*/ 197 w 812"/>
                      <a:gd name="T31" fmla="*/ 117 h 564"/>
                      <a:gd name="T32" fmla="*/ 192 w 812"/>
                      <a:gd name="T33" fmla="*/ 132 h 564"/>
                      <a:gd name="T34" fmla="*/ 214 w 812"/>
                      <a:gd name="T35" fmla="*/ 155 h 564"/>
                      <a:gd name="T36" fmla="*/ 218 w 812"/>
                      <a:gd name="T37" fmla="*/ 176 h 564"/>
                      <a:gd name="T38" fmla="*/ 225 w 812"/>
                      <a:gd name="T39" fmla="*/ 188 h 564"/>
                      <a:gd name="T40" fmla="*/ 210 w 812"/>
                      <a:gd name="T41" fmla="*/ 182 h 564"/>
                      <a:gd name="T42" fmla="*/ 201 w 812"/>
                      <a:gd name="T43" fmla="*/ 174 h 564"/>
                      <a:gd name="T44" fmla="*/ 180 w 812"/>
                      <a:gd name="T45" fmla="*/ 142 h 564"/>
                      <a:gd name="T46" fmla="*/ 182 w 812"/>
                      <a:gd name="T47" fmla="*/ 104 h 564"/>
                      <a:gd name="T48" fmla="*/ 180 w 812"/>
                      <a:gd name="T49" fmla="*/ 90 h 564"/>
                      <a:gd name="T50" fmla="*/ 176 w 812"/>
                      <a:gd name="T51" fmla="*/ 92 h 564"/>
                      <a:gd name="T52" fmla="*/ 165 w 812"/>
                      <a:gd name="T53" fmla="*/ 89 h 564"/>
                      <a:gd name="T54" fmla="*/ 154 w 812"/>
                      <a:gd name="T55" fmla="*/ 57 h 564"/>
                      <a:gd name="T56" fmla="*/ 141 w 812"/>
                      <a:gd name="T57" fmla="*/ 56 h 564"/>
                      <a:gd name="T58" fmla="*/ 123 w 812"/>
                      <a:gd name="T59" fmla="*/ 58 h 564"/>
                      <a:gd name="T60" fmla="*/ 103 w 812"/>
                      <a:gd name="T61" fmla="*/ 78 h 564"/>
                      <a:gd name="T62" fmla="*/ 84 w 812"/>
                      <a:gd name="T63" fmla="*/ 90 h 564"/>
                      <a:gd name="T64" fmla="*/ 79 w 812"/>
                      <a:gd name="T65" fmla="*/ 92 h 564"/>
                      <a:gd name="T66" fmla="*/ 68 w 812"/>
                      <a:gd name="T67" fmla="*/ 110 h 564"/>
                      <a:gd name="T68" fmla="*/ 65 w 812"/>
                      <a:gd name="T69" fmla="*/ 119 h 564"/>
                      <a:gd name="T70" fmla="*/ 55 w 812"/>
                      <a:gd name="T71" fmla="*/ 135 h 564"/>
                      <a:gd name="T72" fmla="*/ 40 w 812"/>
                      <a:gd name="T73" fmla="*/ 131 h 564"/>
                      <a:gd name="T74" fmla="*/ 28 w 812"/>
                      <a:gd name="T75" fmla="*/ 86 h 564"/>
                      <a:gd name="T76" fmla="*/ 31 w 812"/>
                      <a:gd name="T77" fmla="*/ 52 h 564"/>
                      <a:gd name="T78" fmla="*/ 19 w 812"/>
                      <a:gd name="T79" fmla="*/ 60 h 564"/>
                      <a:gd name="T80" fmla="*/ 9 w 812"/>
                      <a:gd name="T81" fmla="*/ 50 h 564"/>
                      <a:gd name="T82" fmla="*/ 10 w 812"/>
                      <a:gd name="T83" fmla="*/ 46 h 564"/>
                      <a:gd name="T84" fmla="*/ 0 w 812"/>
                      <a:gd name="T85" fmla="*/ 31 h 564"/>
                      <a:gd name="T86" fmla="*/ 341 w 812"/>
                      <a:gd name="T87" fmla="*/ 2 h 56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812" h="564">
                        <a:moveTo>
                          <a:pt x="798" y="6"/>
                        </a:moveTo>
                        <a:cubicBezTo>
                          <a:pt x="801" y="15"/>
                          <a:pt x="809" y="16"/>
                          <a:pt x="812" y="26"/>
                        </a:cubicBezTo>
                        <a:cubicBezTo>
                          <a:pt x="809" y="36"/>
                          <a:pt x="801" y="41"/>
                          <a:pt x="796" y="50"/>
                        </a:cubicBezTo>
                        <a:cubicBezTo>
                          <a:pt x="791" y="61"/>
                          <a:pt x="788" y="71"/>
                          <a:pt x="778" y="78"/>
                        </a:cubicBezTo>
                        <a:cubicBezTo>
                          <a:pt x="773" y="85"/>
                          <a:pt x="771" y="88"/>
                          <a:pt x="774" y="96"/>
                        </a:cubicBezTo>
                        <a:cubicBezTo>
                          <a:pt x="767" y="107"/>
                          <a:pt x="758" y="114"/>
                          <a:pt x="748" y="122"/>
                        </a:cubicBezTo>
                        <a:cubicBezTo>
                          <a:pt x="744" y="125"/>
                          <a:pt x="736" y="130"/>
                          <a:pt x="736" y="130"/>
                        </a:cubicBezTo>
                        <a:cubicBezTo>
                          <a:pt x="740" y="141"/>
                          <a:pt x="731" y="140"/>
                          <a:pt x="722" y="142"/>
                        </a:cubicBezTo>
                        <a:cubicBezTo>
                          <a:pt x="716" y="148"/>
                          <a:pt x="712" y="151"/>
                          <a:pt x="704" y="154"/>
                        </a:cubicBezTo>
                        <a:cubicBezTo>
                          <a:pt x="686" y="150"/>
                          <a:pt x="650" y="169"/>
                          <a:pt x="634" y="180"/>
                        </a:cubicBezTo>
                        <a:cubicBezTo>
                          <a:pt x="636" y="189"/>
                          <a:pt x="631" y="193"/>
                          <a:pt x="640" y="196"/>
                        </a:cubicBezTo>
                        <a:cubicBezTo>
                          <a:pt x="643" y="205"/>
                          <a:pt x="640" y="207"/>
                          <a:pt x="632" y="210"/>
                        </a:cubicBezTo>
                        <a:cubicBezTo>
                          <a:pt x="626" y="219"/>
                          <a:pt x="623" y="226"/>
                          <a:pt x="614" y="232"/>
                        </a:cubicBezTo>
                        <a:cubicBezTo>
                          <a:pt x="611" y="231"/>
                          <a:pt x="606" y="233"/>
                          <a:pt x="604" y="230"/>
                        </a:cubicBezTo>
                        <a:cubicBezTo>
                          <a:pt x="599" y="220"/>
                          <a:pt x="610" y="199"/>
                          <a:pt x="620" y="196"/>
                        </a:cubicBezTo>
                        <a:cubicBezTo>
                          <a:pt x="623" y="187"/>
                          <a:pt x="617" y="187"/>
                          <a:pt x="620" y="178"/>
                        </a:cubicBezTo>
                        <a:cubicBezTo>
                          <a:pt x="617" y="164"/>
                          <a:pt x="609" y="168"/>
                          <a:pt x="598" y="172"/>
                        </a:cubicBezTo>
                        <a:cubicBezTo>
                          <a:pt x="592" y="180"/>
                          <a:pt x="585" y="185"/>
                          <a:pt x="576" y="188"/>
                        </a:cubicBezTo>
                        <a:cubicBezTo>
                          <a:pt x="572" y="194"/>
                          <a:pt x="568" y="200"/>
                          <a:pt x="564" y="206"/>
                        </a:cubicBezTo>
                        <a:cubicBezTo>
                          <a:pt x="561" y="210"/>
                          <a:pt x="556" y="218"/>
                          <a:pt x="556" y="218"/>
                        </a:cubicBezTo>
                        <a:cubicBezTo>
                          <a:pt x="558" y="234"/>
                          <a:pt x="559" y="243"/>
                          <a:pt x="572" y="252"/>
                        </a:cubicBezTo>
                        <a:cubicBezTo>
                          <a:pt x="579" y="262"/>
                          <a:pt x="586" y="273"/>
                          <a:pt x="596" y="280"/>
                        </a:cubicBezTo>
                        <a:cubicBezTo>
                          <a:pt x="598" y="286"/>
                          <a:pt x="602" y="298"/>
                          <a:pt x="602" y="298"/>
                        </a:cubicBezTo>
                        <a:cubicBezTo>
                          <a:pt x="601" y="308"/>
                          <a:pt x="599" y="361"/>
                          <a:pt x="594" y="368"/>
                        </a:cubicBezTo>
                        <a:cubicBezTo>
                          <a:pt x="590" y="374"/>
                          <a:pt x="576" y="378"/>
                          <a:pt x="570" y="382"/>
                        </a:cubicBezTo>
                        <a:cubicBezTo>
                          <a:pt x="563" y="393"/>
                          <a:pt x="550" y="396"/>
                          <a:pt x="542" y="406"/>
                        </a:cubicBezTo>
                        <a:cubicBezTo>
                          <a:pt x="536" y="413"/>
                          <a:pt x="539" y="417"/>
                          <a:pt x="530" y="420"/>
                        </a:cubicBezTo>
                        <a:cubicBezTo>
                          <a:pt x="526" y="408"/>
                          <a:pt x="538" y="391"/>
                          <a:pt x="522" y="386"/>
                        </a:cubicBezTo>
                        <a:cubicBezTo>
                          <a:pt x="516" y="377"/>
                          <a:pt x="510" y="364"/>
                          <a:pt x="502" y="356"/>
                        </a:cubicBezTo>
                        <a:cubicBezTo>
                          <a:pt x="497" y="341"/>
                          <a:pt x="505" y="360"/>
                          <a:pt x="482" y="348"/>
                        </a:cubicBezTo>
                        <a:cubicBezTo>
                          <a:pt x="478" y="346"/>
                          <a:pt x="478" y="339"/>
                          <a:pt x="474" y="336"/>
                        </a:cubicBezTo>
                        <a:cubicBezTo>
                          <a:pt x="470" y="323"/>
                          <a:pt x="466" y="342"/>
                          <a:pt x="462" y="348"/>
                        </a:cubicBezTo>
                        <a:cubicBezTo>
                          <a:pt x="460" y="358"/>
                          <a:pt x="456" y="363"/>
                          <a:pt x="454" y="374"/>
                        </a:cubicBezTo>
                        <a:cubicBezTo>
                          <a:pt x="457" y="383"/>
                          <a:pt x="455" y="387"/>
                          <a:pt x="450" y="394"/>
                        </a:cubicBezTo>
                        <a:cubicBezTo>
                          <a:pt x="454" y="399"/>
                          <a:pt x="464" y="411"/>
                          <a:pt x="466" y="418"/>
                        </a:cubicBezTo>
                        <a:cubicBezTo>
                          <a:pt x="474" y="443"/>
                          <a:pt x="472" y="458"/>
                          <a:pt x="500" y="464"/>
                        </a:cubicBezTo>
                        <a:cubicBezTo>
                          <a:pt x="507" y="469"/>
                          <a:pt x="510" y="474"/>
                          <a:pt x="516" y="480"/>
                        </a:cubicBezTo>
                        <a:cubicBezTo>
                          <a:pt x="511" y="494"/>
                          <a:pt x="513" y="509"/>
                          <a:pt x="510" y="524"/>
                        </a:cubicBezTo>
                        <a:cubicBezTo>
                          <a:pt x="512" y="537"/>
                          <a:pt x="511" y="541"/>
                          <a:pt x="522" y="548"/>
                        </a:cubicBezTo>
                        <a:cubicBezTo>
                          <a:pt x="523" y="552"/>
                          <a:pt x="525" y="556"/>
                          <a:pt x="526" y="560"/>
                        </a:cubicBezTo>
                        <a:cubicBezTo>
                          <a:pt x="527" y="564"/>
                          <a:pt x="514" y="556"/>
                          <a:pt x="514" y="556"/>
                        </a:cubicBezTo>
                        <a:cubicBezTo>
                          <a:pt x="502" y="564"/>
                          <a:pt x="501" y="551"/>
                          <a:pt x="492" y="544"/>
                        </a:cubicBezTo>
                        <a:cubicBezTo>
                          <a:pt x="488" y="541"/>
                          <a:pt x="480" y="536"/>
                          <a:pt x="480" y="536"/>
                        </a:cubicBezTo>
                        <a:cubicBezTo>
                          <a:pt x="471" y="522"/>
                          <a:pt x="474" y="529"/>
                          <a:pt x="470" y="518"/>
                        </a:cubicBezTo>
                        <a:cubicBezTo>
                          <a:pt x="467" y="491"/>
                          <a:pt x="461" y="446"/>
                          <a:pt x="436" y="430"/>
                        </a:cubicBezTo>
                        <a:cubicBezTo>
                          <a:pt x="428" y="433"/>
                          <a:pt x="425" y="433"/>
                          <a:pt x="422" y="424"/>
                        </a:cubicBezTo>
                        <a:cubicBezTo>
                          <a:pt x="427" y="404"/>
                          <a:pt x="432" y="383"/>
                          <a:pt x="438" y="364"/>
                        </a:cubicBezTo>
                        <a:cubicBezTo>
                          <a:pt x="436" y="343"/>
                          <a:pt x="431" y="330"/>
                          <a:pt x="426" y="310"/>
                        </a:cubicBezTo>
                        <a:cubicBezTo>
                          <a:pt x="429" y="302"/>
                          <a:pt x="425" y="300"/>
                          <a:pt x="422" y="292"/>
                        </a:cubicBezTo>
                        <a:cubicBezTo>
                          <a:pt x="424" y="282"/>
                          <a:pt x="428" y="277"/>
                          <a:pt x="422" y="268"/>
                        </a:cubicBezTo>
                        <a:cubicBezTo>
                          <a:pt x="420" y="269"/>
                          <a:pt x="418" y="269"/>
                          <a:pt x="416" y="270"/>
                        </a:cubicBezTo>
                        <a:cubicBezTo>
                          <a:pt x="414" y="272"/>
                          <a:pt x="414" y="275"/>
                          <a:pt x="412" y="276"/>
                        </a:cubicBezTo>
                        <a:cubicBezTo>
                          <a:pt x="408" y="278"/>
                          <a:pt x="400" y="280"/>
                          <a:pt x="400" y="280"/>
                        </a:cubicBezTo>
                        <a:cubicBezTo>
                          <a:pt x="394" y="274"/>
                          <a:pt x="389" y="274"/>
                          <a:pt x="386" y="266"/>
                        </a:cubicBezTo>
                        <a:cubicBezTo>
                          <a:pt x="391" y="251"/>
                          <a:pt x="379" y="206"/>
                          <a:pt x="364" y="196"/>
                        </a:cubicBezTo>
                        <a:cubicBezTo>
                          <a:pt x="357" y="186"/>
                          <a:pt x="358" y="182"/>
                          <a:pt x="360" y="170"/>
                        </a:cubicBezTo>
                        <a:cubicBezTo>
                          <a:pt x="358" y="160"/>
                          <a:pt x="356" y="147"/>
                          <a:pt x="346" y="144"/>
                        </a:cubicBezTo>
                        <a:cubicBezTo>
                          <a:pt x="343" y="154"/>
                          <a:pt x="338" y="160"/>
                          <a:pt x="330" y="166"/>
                        </a:cubicBezTo>
                        <a:cubicBezTo>
                          <a:pt x="323" y="164"/>
                          <a:pt x="308" y="160"/>
                          <a:pt x="308" y="160"/>
                        </a:cubicBezTo>
                        <a:cubicBezTo>
                          <a:pt x="296" y="162"/>
                          <a:pt x="297" y="166"/>
                          <a:pt x="288" y="172"/>
                        </a:cubicBezTo>
                        <a:cubicBezTo>
                          <a:pt x="284" y="185"/>
                          <a:pt x="282" y="191"/>
                          <a:pt x="268" y="196"/>
                        </a:cubicBezTo>
                        <a:cubicBezTo>
                          <a:pt x="264" y="200"/>
                          <a:pt x="243" y="231"/>
                          <a:pt x="242" y="232"/>
                        </a:cubicBezTo>
                        <a:cubicBezTo>
                          <a:pt x="231" y="239"/>
                          <a:pt x="215" y="247"/>
                          <a:pt x="206" y="256"/>
                        </a:cubicBezTo>
                        <a:cubicBezTo>
                          <a:pt x="202" y="260"/>
                          <a:pt x="200" y="265"/>
                          <a:pt x="196" y="268"/>
                        </a:cubicBezTo>
                        <a:cubicBezTo>
                          <a:pt x="194" y="269"/>
                          <a:pt x="192" y="269"/>
                          <a:pt x="190" y="270"/>
                        </a:cubicBezTo>
                        <a:cubicBezTo>
                          <a:pt x="188" y="271"/>
                          <a:pt x="186" y="272"/>
                          <a:pt x="184" y="274"/>
                        </a:cubicBezTo>
                        <a:cubicBezTo>
                          <a:pt x="180" y="278"/>
                          <a:pt x="172" y="286"/>
                          <a:pt x="172" y="286"/>
                        </a:cubicBezTo>
                        <a:cubicBezTo>
                          <a:pt x="167" y="300"/>
                          <a:pt x="165" y="314"/>
                          <a:pt x="160" y="328"/>
                        </a:cubicBezTo>
                        <a:cubicBezTo>
                          <a:pt x="158" y="335"/>
                          <a:pt x="156" y="341"/>
                          <a:pt x="154" y="348"/>
                        </a:cubicBezTo>
                        <a:cubicBezTo>
                          <a:pt x="153" y="350"/>
                          <a:pt x="152" y="354"/>
                          <a:pt x="152" y="354"/>
                        </a:cubicBezTo>
                        <a:cubicBezTo>
                          <a:pt x="152" y="359"/>
                          <a:pt x="156" y="384"/>
                          <a:pt x="146" y="392"/>
                        </a:cubicBezTo>
                        <a:cubicBezTo>
                          <a:pt x="141" y="397"/>
                          <a:pt x="128" y="404"/>
                          <a:pt x="128" y="404"/>
                        </a:cubicBezTo>
                        <a:cubicBezTo>
                          <a:pt x="125" y="412"/>
                          <a:pt x="122" y="421"/>
                          <a:pt x="114" y="424"/>
                        </a:cubicBezTo>
                        <a:cubicBezTo>
                          <a:pt x="100" y="419"/>
                          <a:pt x="97" y="405"/>
                          <a:pt x="94" y="392"/>
                        </a:cubicBezTo>
                        <a:cubicBezTo>
                          <a:pt x="86" y="362"/>
                          <a:pt x="82" y="332"/>
                          <a:pt x="72" y="302"/>
                        </a:cubicBezTo>
                        <a:cubicBezTo>
                          <a:pt x="71" y="281"/>
                          <a:pt x="70" y="275"/>
                          <a:pt x="66" y="258"/>
                        </a:cubicBezTo>
                        <a:cubicBezTo>
                          <a:pt x="66" y="251"/>
                          <a:pt x="68" y="219"/>
                          <a:pt x="64" y="208"/>
                        </a:cubicBezTo>
                        <a:cubicBezTo>
                          <a:pt x="70" y="191"/>
                          <a:pt x="66" y="173"/>
                          <a:pt x="72" y="156"/>
                        </a:cubicBezTo>
                        <a:cubicBezTo>
                          <a:pt x="66" y="139"/>
                          <a:pt x="60" y="168"/>
                          <a:pt x="56" y="172"/>
                        </a:cubicBezTo>
                        <a:cubicBezTo>
                          <a:pt x="53" y="175"/>
                          <a:pt x="44" y="180"/>
                          <a:pt x="44" y="180"/>
                        </a:cubicBezTo>
                        <a:cubicBezTo>
                          <a:pt x="35" y="177"/>
                          <a:pt x="28" y="173"/>
                          <a:pt x="24" y="162"/>
                        </a:cubicBezTo>
                        <a:cubicBezTo>
                          <a:pt x="23" y="158"/>
                          <a:pt x="20" y="150"/>
                          <a:pt x="20" y="150"/>
                        </a:cubicBezTo>
                        <a:cubicBezTo>
                          <a:pt x="30" y="148"/>
                          <a:pt x="30" y="143"/>
                          <a:pt x="38" y="138"/>
                        </a:cubicBezTo>
                        <a:cubicBezTo>
                          <a:pt x="35" y="128"/>
                          <a:pt x="31" y="133"/>
                          <a:pt x="24" y="138"/>
                        </a:cubicBezTo>
                        <a:cubicBezTo>
                          <a:pt x="15" y="135"/>
                          <a:pt x="15" y="132"/>
                          <a:pt x="18" y="124"/>
                        </a:cubicBezTo>
                        <a:cubicBezTo>
                          <a:pt x="11" y="114"/>
                          <a:pt x="9" y="101"/>
                          <a:pt x="0" y="92"/>
                        </a:cubicBezTo>
                        <a:lnTo>
                          <a:pt x="76" y="0"/>
                        </a:lnTo>
                        <a:lnTo>
                          <a:pt x="798" y="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9" name="Freeform 53"/>
                  <p:cNvSpPr>
                    <a:spLocks/>
                  </p:cNvSpPr>
                  <p:nvPr/>
                </p:nvSpPr>
                <p:spPr bwMode="ltGray">
                  <a:xfrm>
                    <a:off x="1634" y="519"/>
                    <a:ext cx="19" cy="29"/>
                  </a:xfrm>
                  <a:custGeom>
                    <a:avLst/>
                    <a:gdLst>
                      <a:gd name="T0" fmla="*/ 3 w 43"/>
                      <a:gd name="T1" fmla="*/ 4 h 85"/>
                      <a:gd name="T2" fmla="*/ 8 w 43"/>
                      <a:gd name="T3" fmla="*/ 1 h 85"/>
                      <a:gd name="T4" fmla="*/ 16 w 43"/>
                      <a:gd name="T5" fmla="*/ 11 h 85"/>
                      <a:gd name="T6" fmla="*/ 8 w 43"/>
                      <a:gd name="T7" fmla="*/ 29 h 85"/>
                      <a:gd name="T8" fmla="*/ 0 w 43"/>
                      <a:gd name="T9" fmla="*/ 24 h 85"/>
                      <a:gd name="T10" fmla="*/ 3 w 43"/>
                      <a:gd name="T11" fmla="*/ 4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85">
                        <a:moveTo>
                          <a:pt x="7" y="11"/>
                        </a:moveTo>
                        <a:cubicBezTo>
                          <a:pt x="4" y="2"/>
                          <a:pt x="9" y="0"/>
                          <a:pt x="17" y="3"/>
                        </a:cubicBezTo>
                        <a:cubicBezTo>
                          <a:pt x="24" y="13"/>
                          <a:pt x="28" y="24"/>
                          <a:pt x="37" y="33"/>
                        </a:cubicBezTo>
                        <a:cubicBezTo>
                          <a:pt x="43" y="52"/>
                          <a:pt x="40" y="78"/>
                          <a:pt x="19" y="85"/>
                        </a:cubicBezTo>
                        <a:cubicBezTo>
                          <a:pt x="6" y="81"/>
                          <a:pt x="5" y="81"/>
                          <a:pt x="1" y="69"/>
                        </a:cubicBezTo>
                        <a:cubicBezTo>
                          <a:pt x="2" y="66"/>
                          <a:pt x="0" y="4"/>
                          <a:pt x="7"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0" name="Freeform 54"/>
                  <p:cNvSpPr>
                    <a:spLocks/>
                  </p:cNvSpPr>
                  <p:nvPr/>
                </p:nvSpPr>
                <p:spPr bwMode="ltGray">
                  <a:xfrm>
                    <a:off x="1900" y="421"/>
                    <a:ext cx="18" cy="24"/>
                  </a:xfrm>
                  <a:custGeom>
                    <a:avLst/>
                    <a:gdLst>
                      <a:gd name="T0" fmla="*/ 5 w 44"/>
                      <a:gd name="T1" fmla="*/ 9 h 74"/>
                      <a:gd name="T2" fmla="*/ 12 w 44"/>
                      <a:gd name="T3" fmla="*/ 1 h 74"/>
                      <a:gd name="T4" fmla="*/ 18 w 44"/>
                      <a:gd name="T5" fmla="*/ 1 h 74"/>
                      <a:gd name="T6" fmla="*/ 16 w 44"/>
                      <a:gd name="T7" fmla="*/ 8 h 74"/>
                      <a:gd name="T8" fmla="*/ 5 w 44"/>
                      <a:gd name="T9" fmla="*/ 24 h 74"/>
                      <a:gd name="T10" fmla="*/ 3 w 44"/>
                      <a:gd name="T11" fmla="*/ 19 h 74"/>
                      <a:gd name="T12" fmla="*/ 1 w 44"/>
                      <a:gd name="T13" fmla="*/ 12 h 74"/>
                      <a:gd name="T14" fmla="*/ 5 w 44"/>
                      <a:gd name="T15" fmla="*/ 9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4" h="74">
                        <a:moveTo>
                          <a:pt x="13" y="28"/>
                        </a:moveTo>
                        <a:cubicBezTo>
                          <a:pt x="15" y="13"/>
                          <a:pt x="14" y="7"/>
                          <a:pt x="29" y="2"/>
                        </a:cubicBezTo>
                        <a:cubicBezTo>
                          <a:pt x="34" y="3"/>
                          <a:pt x="40" y="0"/>
                          <a:pt x="43" y="4"/>
                        </a:cubicBezTo>
                        <a:cubicBezTo>
                          <a:pt x="44" y="6"/>
                          <a:pt x="41" y="21"/>
                          <a:pt x="39" y="26"/>
                        </a:cubicBezTo>
                        <a:cubicBezTo>
                          <a:pt x="31" y="43"/>
                          <a:pt x="30" y="63"/>
                          <a:pt x="13" y="74"/>
                        </a:cubicBezTo>
                        <a:cubicBezTo>
                          <a:pt x="4" y="71"/>
                          <a:pt x="4" y="68"/>
                          <a:pt x="7" y="60"/>
                        </a:cubicBezTo>
                        <a:cubicBezTo>
                          <a:pt x="5" y="50"/>
                          <a:pt x="0" y="46"/>
                          <a:pt x="3" y="36"/>
                        </a:cubicBezTo>
                        <a:cubicBezTo>
                          <a:pt x="4" y="32"/>
                          <a:pt x="8" y="23"/>
                          <a:pt x="1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1" name="Freeform 55"/>
                  <p:cNvSpPr>
                    <a:spLocks/>
                  </p:cNvSpPr>
                  <p:nvPr/>
                </p:nvSpPr>
                <p:spPr bwMode="ltGray">
                  <a:xfrm>
                    <a:off x="1951" y="409"/>
                    <a:ext cx="9" cy="10"/>
                  </a:xfrm>
                  <a:custGeom>
                    <a:avLst/>
                    <a:gdLst>
                      <a:gd name="T0" fmla="*/ 3 w 20"/>
                      <a:gd name="T1" fmla="*/ 5 h 30"/>
                      <a:gd name="T2" fmla="*/ 2 w 20"/>
                      <a:gd name="T3" fmla="*/ 10 h 30"/>
                      <a:gd name="T4" fmla="*/ 3 w 20"/>
                      <a:gd name="T5" fmla="*/ 5 h 30"/>
                      <a:gd name="T6" fmla="*/ 0 60000 65536"/>
                      <a:gd name="T7" fmla="*/ 0 60000 65536"/>
                      <a:gd name="T8" fmla="*/ 0 60000 65536"/>
                    </a:gdLst>
                    <a:ahLst/>
                    <a:cxnLst>
                      <a:cxn ang="T6">
                        <a:pos x="T0" y="T1"/>
                      </a:cxn>
                      <a:cxn ang="T7">
                        <a:pos x="T2" y="T3"/>
                      </a:cxn>
                      <a:cxn ang="T8">
                        <a:pos x="T4" y="T5"/>
                      </a:cxn>
                    </a:cxnLst>
                    <a:rect l="0" t="0" r="r" b="b"/>
                    <a:pathLst>
                      <a:path w="20" h="30">
                        <a:moveTo>
                          <a:pt x="7" y="16"/>
                        </a:moveTo>
                        <a:cubicBezTo>
                          <a:pt x="18" y="0"/>
                          <a:pt x="20" y="20"/>
                          <a:pt x="5" y="30"/>
                        </a:cubicBezTo>
                        <a:cubicBezTo>
                          <a:pt x="0" y="23"/>
                          <a:pt x="1" y="22"/>
                          <a:pt x="7"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2" name="Freeform 56"/>
                  <p:cNvSpPr>
                    <a:spLocks/>
                  </p:cNvSpPr>
                  <p:nvPr/>
                </p:nvSpPr>
                <p:spPr bwMode="ltGray">
                  <a:xfrm>
                    <a:off x="1021" y="314"/>
                    <a:ext cx="433" cy="354"/>
                  </a:xfrm>
                  <a:custGeom>
                    <a:avLst/>
                    <a:gdLst>
                      <a:gd name="T0" fmla="*/ 305 w 682"/>
                      <a:gd name="T1" fmla="*/ 295 h 557"/>
                      <a:gd name="T2" fmla="*/ 309 w 682"/>
                      <a:gd name="T3" fmla="*/ 287 h 557"/>
                      <a:gd name="T4" fmla="*/ 317 w 682"/>
                      <a:gd name="T5" fmla="*/ 262 h 557"/>
                      <a:gd name="T6" fmla="*/ 196 w 682"/>
                      <a:gd name="T7" fmla="*/ 182 h 557"/>
                      <a:gd name="T8" fmla="*/ 179 w 682"/>
                      <a:gd name="T9" fmla="*/ 220 h 557"/>
                      <a:gd name="T10" fmla="*/ 192 w 682"/>
                      <a:gd name="T11" fmla="*/ 353 h 557"/>
                      <a:gd name="T12" fmla="*/ 179 w 682"/>
                      <a:gd name="T13" fmla="*/ 314 h 557"/>
                      <a:gd name="T14" fmla="*/ 154 w 682"/>
                      <a:gd name="T15" fmla="*/ 279 h 557"/>
                      <a:gd name="T16" fmla="*/ 156 w 682"/>
                      <a:gd name="T17" fmla="*/ 262 h 557"/>
                      <a:gd name="T18" fmla="*/ 157 w 682"/>
                      <a:gd name="T19" fmla="*/ 250 h 557"/>
                      <a:gd name="T20" fmla="*/ 140 w 682"/>
                      <a:gd name="T21" fmla="*/ 238 h 557"/>
                      <a:gd name="T22" fmla="*/ 123 w 682"/>
                      <a:gd name="T23" fmla="*/ 220 h 557"/>
                      <a:gd name="T24" fmla="*/ 94 w 682"/>
                      <a:gd name="T25" fmla="*/ 225 h 557"/>
                      <a:gd name="T26" fmla="*/ 80 w 682"/>
                      <a:gd name="T27" fmla="*/ 232 h 557"/>
                      <a:gd name="T28" fmla="*/ 50 w 682"/>
                      <a:gd name="T29" fmla="*/ 232 h 557"/>
                      <a:gd name="T30" fmla="*/ 14 w 682"/>
                      <a:gd name="T31" fmla="*/ 198 h 557"/>
                      <a:gd name="T32" fmla="*/ 7 w 682"/>
                      <a:gd name="T33" fmla="*/ 187 h 557"/>
                      <a:gd name="T34" fmla="*/ 0 w 682"/>
                      <a:gd name="T35" fmla="*/ 168 h 557"/>
                      <a:gd name="T36" fmla="*/ 15 w 682"/>
                      <a:gd name="T37" fmla="*/ 135 h 557"/>
                      <a:gd name="T38" fmla="*/ 20 w 682"/>
                      <a:gd name="T39" fmla="*/ 115 h 557"/>
                      <a:gd name="T40" fmla="*/ 32 w 682"/>
                      <a:gd name="T41" fmla="*/ 91 h 557"/>
                      <a:gd name="T42" fmla="*/ 51 w 682"/>
                      <a:gd name="T43" fmla="*/ 74 h 557"/>
                      <a:gd name="T44" fmla="*/ 106 w 682"/>
                      <a:gd name="T45" fmla="*/ 43 h 557"/>
                      <a:gd name="T46" fmla="*/ 140 w 682"/>
                      <a:gd name="T47" fmla="*/ 19 h 557"/>
                      <a:gd name="T48" fmla="*/ 164 w 682"/>
                      <a:gd name="T49" fmla="*/ 4 h 557"/>
                      <a:gd name="T50" fmla="*/ 230 w 682"/>
                      <a:gd name="T51" fmla="*/ 1 h 557"/>
                      <a:gd name="T52" fmla="*/ 253 w 682"/>
                      <a:gd name="T53" fmla="*/ 0 h 557"/>
                      <a:gd name="T54" fmla="*/ 244 w 682"/>
                      <a:gd name="T55" fmla="*/ 22 h 557"/>
                      <a:gd name="T56" fmla="*/ 281 w 682"/>
                      <a:gd name="T57" fmla="*/ 53 h 557"/>
                      <a:gd name="T58" fmla="*/ 316 w 682"/>
                      <a:gd name="T59" fmla="*/ 47 h 557"/>
                      <a:gd name="T60" fmla="*/ 336 w 682"/>
                      <a:gd name="T61" fmla="*/ 52 h 557"/>
                      <a:gd name="T62" fmla="*/ 355 w 682"/>
                      <a:gd name="T63" fmla="*/ 62 h 557"/>
                      <a:gd name="T64" fmla="*/ 363 w 682"/>
                      <a:gd name="T65" fmla="*/ 119 h 557"/>
                      <a:gd name="T66" fmla="*/ 363 w 682"/>
                      <a:gd name="T67" fmla="*/ 153 h 557"/>
                      <a:gd name="T68" fmla="*/ 380 w 682"/>
                      <a:gd name="T69" fmla="*/ 180 h 557"/>
                      <a:gd name="T70" fmla="*/ 410 w 682"/>
                      <a:gd name="T71" fmla="*/ 191 h 557"/>
                      <a:gd name="T72" fmla="*/ 432 w 682"/>
                      <a:gd name="T73" fmla="*/ 187 h 557"/>
                      <a:gd name="T74" fmla="*/ 422 w 682"/>
                      <a:gd name="T75" fmla="*/ 216 h 557"/>
                      <a:gd name="T76" fmla="*/ 380 w 682"/>
                      <a:gd name="T77" fmla="*/ 259 h 557"/>
                      <a:gd name="T78" fmla="*/ 348 w 682"/>
                      <a:gd name="T79" fmla="*/ 308 h 557"/>
                      <a:gd name="T80" fmla="*/ 353 w 682"/>
                      <a:gd name="T81" fmla="*/ 323 h 557"/>
                      <a:gd name="T82" fmla="*/ 276 w 682"/>
                      <a:gd name="T83" fmla="*/ 353 h 55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682" h="557">
                        <a:moveTo>
                          <a:pt x="435" y="556"/>
                        </a:moveTo>
                        <a:lnTo>
                          <a:pt x="481" y="464"/>
                        </a:lnTo>
                        <a:lnTo>
                          <a:pt x="473" y="449"/>
                        </a:lnTo>
                        <a:lnTo>
                          <a:pt x="486" y="451"/>
                        </a:lnTo>
                        <a:lnTo>
                          <a:pt x="495" y="441"/>
                        </a:lnTo>
                        <a:lnTo>
                          <a:pt x="500" y="413"/>
                        </a:lnTo>
                        <a:lnTo>
                          <a:pt x="500" y="371"/>
                        </a:lnTo>
                        <a:lnTo>
                          <a:pt x="309" y="287"/>
                        </a:lnTo>
                        <a:lnTo>
                          <a:pt x="296" y="308"/>
                        </a:lnTo>
                        <a:lnTo>
                          <a:pt x="282" y="346"/>
                        </a:lnTo>
                        <a:lnTo>
                          <a:pt x="396" y="557"/>
                        </a:lnTo>
                        <a:lnTo>
                          <a:pt x="303" y="556"/>
                        </a:lnTo>
                        <a:lnTo>
                          <a:pt x="304" y="536"/>
                        </a:lnTo>
                        <a:cubicBezTo>
                          <a:pt x="284" y="520"/>
                          <a:pt x="296" y="510"/>
                          <a:pt x="282" y="494"/>
                        </a:cubicBezTo>
                        <a:cubicBezTo>
                          <a:pt x="276" y="475"/>
                          <a:pt x="267" y="468"/>
                          <a:pt x="253" y="451"/>
                        </a:cubicBezTo>
                        <a:cubicBezTo>
                          <a:pt x="249" y="447"/>
                          <a:pt x="245" y="443"/>
                          <a:pt x="242" y="439"/>
                        </a:cubicBezTo>
                        <a:lnTo>
                          <a:pt x="237" y="432"/>
                        </a:lnTo>
                        <a:cubicBezTo>
                          <a:pt x="237" y="432"/>
                          <a:pt x="245" y="413"/>
                          <a:pt x="245" y="413"/>
                        </a:cubicBezTo>
                        <a:cubicBezTo>
                          <a:pt x="247" y="409"/>
                          <a:pt x="250" y="401"/>
                          <a:pt x="250" y="401"/>
                        </a:cubicBezTo>
                        <a:cubicBezTo>
                          <a:pt x="249" y="399"/>
                          <a:pt x="247" y="397"/>
                          <a:pt x="247" y="394"/>
                        </a:cubicBezTo>
                        <a:cubicBezTo>
                          <a:pt x="248" y="390"/>
                          <a:pt x="253" y="382"/>
                          <a:pt x="253" y="382"/>
                        </a:cubicBezTo>
                        <a:cubicBezTo>
                          <a:pt x="243" y="370"/>
                          <a:pt x="237" y="371"/>
                          <a:pt x="220" y="375"/>
                        </a:cubicBezTo>
                        <a:cubicBezTo>
                          <a:pt x="217" y="371"/>
                          <a:pt x="210" y="369"/>
                          <a:pt x="207" y="365"/>
                        </a:cubicBezTo>
                        <a:cubicBezTo>
                          <a:pt x="185" y="337"/>
                          <a:pt x="216" y="363"/>
                          <a:pt x="194" y="346"/>
                        </a:cubicBezTo>
                        <a:cubicBezTo>
                          <a:pt x="167" y="349"/>
                          <a:pt x="179" y="346"/>
                          <a:pt x="156" y="352"/>
                        </a:cubicBezTo>
                        <a:cubicBezTo>
                          <a:pt x="153" y="353"/>
                          <a:pt x="148" y="354"/>
                          <a:pt x="148" y="354"/>
                        </a:cubicBezTo>
                        <a:cubicBezTo>
                          <a:pt x="146" y="356"/>
                          <a:pt x="145" y="359"/>
                          <a:pt x="142" y="361"/>
                        </a:cubicBezTo>
                        <a:cubicBezTo>
                          <a:pt x="138" y="363"/>
                          <a:pt x="126" y="365"/>
                          <a:pt x="126" y="365"/>
                        </a:cubicBezTo>
                        <a:cubicBezTo>
                          <a:pt x="105" y="354"/>
                          <a:pt x="116" y="355"/>
                          <a:pt x="94" y="361"/>
                        </a:cubicBezTo>
                        <a:cubicBezTo>
                          <a:pt x="89" y="362"/>
                          <a:pt x="78" y="365"/>
                          <a:pt x="78" y="365"/>
                        </a:cubicBezTo>
                        <a:cubicBezTo>
                          <a:pt x="62" y="383"/>
                          <a:pt x="46" y="346"/>
                          <a:pt x="35" y="337"/>
                        </a:cubicBezTo>
                        <a:cubicBezTo>
                          <a:pt x="32" y="330"/>
                          <a:pt x="24" y="320"/>
                          <a:pt x="22" y="312"/>
                        </a:cubicBezTo>
                        <a:cubicBezTo>
                          <a:pt x="20" y="308"/>
                          <a:pt x="22" y="303"/>
                          <a:pt x="19" y="300"/>
                        </a:cubicBezTo>
                        <a:cubicBezTo>
                          <a:pt x="17" y="297"/>
                          <a:pt x="13" y="297"/>
                          <a:pt x="11" y="295"/>
                        </a:cubicBezTo>
                        <a:cubicBezTo>
                          <a:pt x="3" y="277"/>
                          <a:pt x="15" y="306"/>
                          <a:pt x="5" y="276"/>
                        </a:cubicBezTo>
                        <a:cubicBezTo>
                          <a:pt x="4" y="272"/>
                          <a:pt x="0" y="264"/>
                          <a:pt x="0" y="264"/>
                        </a:cubicBezTo>
                        <a:cubicBezTo>
                          <a:pt x="3" y="253"/>
                          <a:pt x="2" y="248"/>
                          <a:pt x="13" y="243"/>
                        </a:cubicBezTo>
                        <a:cubicBezTo>
                          <a:pt x="20" y="221"/>
                          <a:pt x="17" y="231"/>
                          <a:pt x="24" y="213"/>
                        </a:cubicBezTo>
                        <a:cubicBezTo>
                          <a:pt x="26" y="209"/>
                          <a:pt x="30" y="200"/>
                          <a:pt x="30" y="200"/>
                        </a:cubicBezTo>
                        <a:cubicBezTo>
                          <a:pt x="26" y="192"/>
                          <a:pt x="24" y="191"/>
                          <a:pt x="32" y="181"/>
                        </a:cubicBezTo>
                        <a:cubicBezTo>
                          <a:pt x="36" y="177"/>
                          <a:pt x="43" y="169"/>
                          <a:pt x="43" y="169"/>
                        </a:cubicBezTo>
                        <a:cubicBezTo>
                          <a:pt x="37" y="155"/>
                          <a:pt x="36" y="153"/>
                          <a:pt x="51" y="143"/>
                        </a:cubicBezTo>
                        <a:cubicBezTo>
                          <a:pt x="56" y="140"/>
                          <a:pt x="67" y="135"/>
                          <a:pt x="67" y="135"/>
                        </a:cubicBezTo>
                        <a:cubicBezTo>
                          <a:pt x="73" y="129"/>
                          <a:pt x="75" y="122"/>
                          <a:pt x="81" y="116"/>
                        </a:cubicBezTo>
                        <a:cubicBezTo>
                          <a:pt x="89" y="107"/>
                          <a:pt x="102" y="105"/>
                          <a:pt x="113" y="99"/>
                        </a:cubicBezTo>
                        <a:cubicBezTo>
                          <a:pt x="125" y="85"/>
                          <a:pt x="149" y="76"/>
                          <a:pt x="167" y="67"/>
                        </a:cubicBezTo>
                        <a:cubicBezTo>
                          <a:pt x="174" y="59"/>
                          <a:pt x="175" y="50"/>
                          <a:pt x="188" y="46"/>
                        </a:cubicBezTo>
                        <a:cubicBezTo>
                          <a:pt x="198" y="39"/>
                          <a:pt x="208" y="36"/>
                          <a:pt x="220" y="30"/>
                        </a:cubicBezTo>
                        <a:cubicBezTo>
                          <a:pt x="223" y="28"/>
                          <a:pt x="228" y="25"/>
                          <a:pt x="228" y="25"/>
                        </a:cubicBezTo>
                        <a:cubicBezTo>
                          <a:pt x="237" y="16"/>
                          <a:pt x="245" y="10"/>
                          <a:pt x="258" y="6"/>
                        </a:cubicBezTo>
                        <a:cubicBezTo>
                          <a:pt x="269" y="31"/>
                          <a:pt x="301" y="6"/>
                          <a:pt x="320" y="4"/>
                        </a:cubicBezTo>
                        <a:cubicBezTo>
                          <a:pt x="334" y="3"/>
                          <a:pt x="349" y="3"/>
                          <a:pt x="363" y="2"/>
                        </a:cubicBezTo>
                        <a:cubicBezTo>
                          <a:pt x="369" y="3"/>
                          <a:pt x="376" y="5"/>
                          <a:pt x="382" y="4"/>
                        </a:cubicBezTo>
                        <a:cubicBezTo>
                          <a:pt x="387" y="4"/>
                          <a:pt x="398" y="0"/>
                          <a:pt x="398" y="0"/>
                        </a:cubicBezTo>
                        <a:cubicBezTo>
                          <a:pt x="415" y="8"/>
                          <a:pt x="406" y="16"/>
                          <a:pt x="400" y="30"/>
                        </a:cubicBezTo>
                        <a:cubicBezTo>
                          <a:pt x="398" y="34"/>
                          <a:pt x="384" y="34"/>
                          <a:pt x="384" y="34"/>
                        </a:cubicBezTo>
                        <a:cubicBezTo>
                          <a:pt x="379" y="47"/>
                          <a:pt x="398" y="51"/>
                          <a:pt x="411" y="55"/>
                        </a:cubicBezTo>
                        <a:cubicBezTo>
                          <a:pt x="419" y="72"/>
                          <a:pt x="421" y="79"/>
                          <a:pt x="443" y="84"/>
                        </a:cubicBezTo>
                        <a:cubicBezTo>
                          <a:pt x="461" y="71"/>
                          <a:pt x="435" y="65"/>
                          <a:pt x="468" y="57"/>
                        </a:cubicBezTo>
                        <a:cubicBezTo>
                          <a:pt x="482" y="61"/>
                          <a:pt x="485" y="70"/>
                          <a:pt x="497" y="74"/>
                        </a:cubicBezTo>
                        <a:cubicBezTo>
                          <a:pt x="505" y="76"/>
                          <a:pt x="513" y="78"/>
                          <a:pt x="521" y="80"/>
                        </a:cubicBezTo>
                        <a:cubicBezTo>
                          <a:pt x="524" y="81"/>
                          <a:pt x="529" y="82"/>
                          <a:pt x="529" y="82"/>
                        </a:cubicBezTo>
                        <a:cubicBezTo>
                          <a:pt x="547" y="78"/>
                          <a:pt x="547" y="76"/>
                          <a:pt x="562" y="84"/>
                        </a:cubicBezTo>
                        <a:cubicBezTo>
                          <a:pt x="566" y="95"/>
                          <a:pt x="565" y="86"/>
                          <a:pt x="559" y="97"/>
                        </a:cubicBezTo>
                        <a:cubicBezTo>
                          <a:pt x="557" y="101"/>
                          <a:pt x="554" y="110"/>
                          <a:pt x="554" y="110"/>
                        </a:cubicBezTo>
                        <a:cubicBezTo>
                          <a:pt x="556" y="132"/>
                          <a:pt x="556" y="168"/>
                          <a:pt x="572" y="188"/>
                        </a:cubicBezTo>
                        <a:cubicBezTo>
                          <a:pt x="568" y="198"/>
                          <a:pt x="564" y="208"/>
                          <a:pt x="562" y="219"/>
                        </a:cubicBezTo>
                        <a:cubicBezTo>
                          <a:pt x="564" y="227"/>
                          <a:pt x="569" y="233"/>
                          <a:pt x="572" y="240"/>
                        </a:cubicBezTo>
                        <a:cubicBezTo>
                          <a:pt x="573" y="247"/>
                          <a:pt x="572" y="254"/>
                          <a:pt x="575" y="259"/>
                        </a:cubicBezTo>
                        <a:cubicBezTo>
                          <a:pt x="577" y="263"/>
                          <a:pt x="595" y="272"/>
                          <a:pt x="599" y="283"/>
                        </a:cubicBezTo>
                        <a:cubicBezTo>
                          <a:pt x="594" y="295"/>
                          <a:pt x="603" y="306"/>
                          <a:pt x="618" y="310"/>
                        </a:cubicBezTo>
                        <a:cubicBezTo>
                          <a:pt x="630" y="307"/>
                          <a:pt x="638" y="308"/>
                          <a:pt x="645" y="300"/>
                        </a:cubicBezTo>
                        <a:cubicBezTo>
                          <a:pt x="660" y="302"/>
                          <a:pt x="663" y="303"/>
                          <a:pt x="672" y="293"/>
                        </a:cubicBezTo>
                        <a:cubicBezTo>
                          <a:pt x="675" y="294"/>
                          <a:pt x="679" y="293"/>
                          <a:pt x="680" y="295"/>
                        </a:cubicBezTo>
                        <a:cubicBezTo>
                          <a:pt x="682" y="301"/>
                          <a:pt x="674" y="321"/>
                          <a:pt x="672" y="327"/>
                        </a:cubicBezTo>
                        <a:cubicBezTo>
                          <a:pt x="668" y="340"/>
                          <a:pt x="671" y="326"/>
                          <a:pt x="664" y="340"/>
                        </a:cubicBezTo>
                        <a:cubicBezTo>
                          <a:pt x="652" y="360"/>
                          <a:pt x="646" y="381"/>
                          <a:pt x="621" y="394"/>
                        </a:cubicBezTo>
                        <a:cubicBezTo>
                          <a:pt x="614" y="402"/>
                          <a:pt x="609" y="402"/>
                          <a:pt x="599" y="407"/>
                        </a:cubicBezTo>
                        <a:cubicBezTo>
                          <a:pt x="590" y="418"/>
                          <a:pt x="579" y="429"/>
                          <a:pt x="567" y="439"/>
                        </a:cubicBezTo>
                        <a:cubicBezTo>
                          <a:pt x="560" y="454"/>
                          <a:pt x="555" y="470"/>
                          <a:pt x="548" y="485"/>
                        </a:cubicBezTo>
                        <a:cubicBezTo>
                          <a:pt x="549" y="489"/>
                          <a:pt x="550" y="492"/>
                          <a:pt x="551" y="496"/>
                        </a:cubicBezTo>
                        <a:cubicBezTo>
                          <a:pt x="552" y="500"/>
                          <a:pt x="556" y="508"/>
                          <a:pt x="556" y="508"/>
                        </a:cubicBezTo>
                        <a:cubicBezTo>
                          <a:pt x="559" y="524"/>
                          <a:pt x="562" y="546"/>
                          <a:pt x="576" y="557"/>
                        </a:cubicBezTo>
                        <a:lnTo>
                          <a:pt x="435" y="55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3" name="Freeform 57"/>
                  <p:cNvSpPr>
                    <a:spLocks/>
                  </p:cNvSpPr>
                  <p:nvPr/>
                </p:nvSpPr>
                <p:spPr bwMode="ltGray">
                  <a:xfrm>
                    <a:off x="1189" y="447"/>
                    <a:ext cx="163" cy="221"/>
                  </a:xfrm>
                  <a:custGeom>
                    <a:avLst/>
                    <a:gdLst>
                      <a:gd name="T0" fmla="*/ 154 w 257"/>
                      <a:gd name="T1" fmla="*/ 221 h 347"/>
                      <a:gd name="T2" fmla="*/ 148 w 257"/>
                      <a:gd name="T3" fmla="*/ 192 h 347"/>
                      <a:gd name="T4" fmla="*/ 138 w 257"/>
                      <a:gd name="T5" fmla="*/ 183 h 347"/>
                      <a:gd name="T6" fmla="*/ 136 w 257"/>
                      <a:gd name="T7" fmla="*/ 171 h 347"/>
                      <a:gd name="T8" fmla="*/ 133 w 257"/>
                      <a:gd name="T9" fmla="*/ 162 h 347"/>
                      <a:gd name="T10" fmla="*/ 133 w 257"/>
                      <a:gd name="T11" fmla="*/ 146 h 347"/>
                      <a:gd name="T12" fmla="*/ 131 w 257"/>
                      <a:gd name="T13" fmla="*/ 136 h 347"/>
                      <a:gd name="T14" fmla="*/ 145 w 257"/>
                      <a:gd name="T15" fmla="*/ 129 h 347"/>
                      <a:gd name="T16" fmla="*/ 163 w 257"/>
                      <a:gd name="T17" fmla="*/ 125 h 347"/>
                      <a:gd name="T18" fmla="*/ 163 w 257"/>
                      <a:gd name="T19" fmla="*/ 87 h 347"/>
                      <a:gd name="T20" fmla="*/ 34 w 257"/>
                      <a:gd name="T21" fmla="*/ 61 h 347"/>
                      <a:gd name="T22" fmla="*/ 20 w 257"/>
                      <a:gd name="T23" fmla="*/ 62 h 347"/>
                      <a:gd name="T24" fmla="*/ 10 w 257"/>
                      <a:gd name="T25" fmla="*/ 65 h 347"/>
                      <a:gd name="T26" fmla="*/ 0 w 257"/>
                      <a:gd name="T27" fmla="*/ 95 h 347"/>
                      <a:gd name="T28" fmla="*/ 59 w 257"/>
                      <a:gd name="T29" fmla="*/ 220 h 347"/>
                      <a:gd name="T30" fmla="*/ 154 w 257"/>
                      <a:gd name="T31" fmla="*/ 221 h 34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57" h="347">
                        <a:moveTo>
                          <a:pt x="243" y="347"/>
                        </a:moveTo>
                        <a:lnTo>
                          <a:pt x="233" y="301"/>
                        </a:lnTo>
                        <a:lnTo>
                          <a:pt x="217" y="288"/>
                        </a:lnTo>
                        <a:lnTo>
                          <a:pt x="215" y="269"/>
                        </a:lnTo>
                        <a:lnTo>
                          <a:pt x="209" y="254"/>
                        </a:lnTo>
                        <a:lnTo>
                          <a:pt x="209" y="229"/>
                        </a:lnTo>
                        <a:lnTo>
                          <a:pt x="207" y="214"/>
                        </a:lnTo>
                        <a:lnTo>
                          <a:pt x="228" y="202"/>
                        </a:lnTo>
                        <a:lnTo>
                          <a:pt x="257" y="197"/>
                        </a:lnTo>
                        <a:lnTo>
                          <a:pt x="257" y="136"/>
                        </a:lnTo>
                        <a:cubicBezTo>
                          <a:pt x="209" y="119"/>
                          <a:pt x="13" y="0"/>
                          <a:pt x="54" y="96"/>
                        </a:cubicBezTo>
                        <a:cubicBezTo>
                          <a:pt x="36" y="106"/>
                          <a:pt x="57" y="97"/>
                          <a:pt x="32" y="98"/>
                        </a:cubicBezTo>
                        <a:cubicBezTo>
                          <a:pt x="27" y="99"/>
                          <a:pt x="16" y="102"/>
                          <a:pt x="16" y="102"/>
                        </a:cubicBezTo>
                        <a:lnTo>
                          <a:pt x="0" y="149"/>
                        </a:lnTo>
                        <a:lnTo>
                          <a:pt x="93" y="346"/>
                        </a:lnTo>
                        <a:lnTo>
                          <a:pt x="243" y="347"/>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4" name="Freeform 58"/>
                  <p:cNvSpPr>
                    <a:spLocks/>
                  </p:cNvSpPr>
                  <p:nvPr/>
                </p:nvSpPr>
                <p:spPr bwMode="ltGray">
                  <a:xfrm>
                    <a:off x="1476" y="611"/>
                    <a:ext cx="7" cy="12"/>
                  </a:xfrm>
                  <a:custGeom>
                    <a:avLst/>
                    <a:gdLst>
                      <a:gd name="T0" fmla="*/ 3 w 19"/>
                      <a:gd name="T1" fmla="*/ 8 h 37"/>
                      <a:gd name="T2" fmla="*/ 7 w 19"/>
                      <a:gd name="T3" fmla="*/ 7 h 37"/>
                      <a:gd name="T4" fmla="*/ 3 w 19"/>
                      <a:gd name="T5" fmla="*/ 8 h 37"/>
                      <a:gd name="T6" fmla="*/ 0 60000 65536"/>
                      <a:gd name="T7" fmla="*/ 0 60000 65536"/>
                      <a:gd name="T8" fmla="*/ 0 60000 65536"/>
                    </a:gdLst>
                    <a:ahLst/>
                    <a:cxnLst>
                      <a:cxn ang="T6">
                        <a:pos x="T0" y="T1"/>
                      </a:cxn>
                      <a:cxn ang="T7">
                        <a:pos x="T2" y="T3"/>
                      </a:cxn>
                      <a:cxn ang="T8">
                        <a:pos x="T4" y="T5"/>
                      </a:cxn>
                    </a:cxnLst>
                    <a:rect l="0" t="0" r="r" b="b"/>
                    <a:pathLst>
                      <a:path w="19" h="37">
                        <a:moveTo>
                          <a:pt x="7" y="25"/>
                        </a:moveTo>
                        <a:cubicBezTo>
                          <a:pt x="0" y="4"/>
                          <a:pt x="12" y="0"/>
                          <a:pt x="19" y="21"/>
                        </a:cubicBezTo>
                        <a:cubicBezTo>
                          <a:pt x="14" y="37"/>
                          <a:pt x="18" y="36"/>
                          <a:pt x="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5" name="Freeform 59"/>
                  <p:cNvSpPr>
                    <a:spLocks/>
                  </p:cNvSpPr>
                  <p:nvPr/>
                </p:nvSpPr>
                <p:spPr bwMode="ltGray">
                  <a:xfrm>
                    <a:off x="1467" y="497"/>
                    <a:ext cx="9" cy="7"/>
                  </a:xfrm>
                  <a:custGeom>
                    <a:avLst/>
                    <a:gdLst>
                      <a:gd name="T0" fmla="*/ 5 w 22"/>
                      <a:gd name="T1" fmla="*/ 4 h 20"/>
                      <a:gd name="T2" fmla="*/ 7 w 22"/>
                      <a:gd name="T3" fmla="*/ 0 h 20"/>
                      <a:gd name="T4" fmla="*/ 8 w 22"/>
                      <a:gd name="T5" fmla="*/ 4 h 20"/>
                      <a:gd name="T6" fmla="*/ 3 w 22"/>
                      <a:gd name="T7" fmla="*/ 7 h 20"/>
                      <a:gd name="T8" fmla="*/ 5 w 22"/>
                      <a:gd name="T9" fmla="*/ 4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20">
                        <a:moveTo>
                          <a:pt x="12" y="12"/>
                        </a:moveTo>
                        <a:cubicBezTo>
                          <a:pt x="13" y="8"/>
                          <a:pt x="12" y="0"/>
                          <a:pt x="16" y="0"/>
                        </a:cubicBezTo>
                        <a:cubicBezTo>
                          <a:pt x="20" y="0"/>
                          <a:pt x="22" y="8"/>
                          <a:pt x="20" y="12"/>
                        </a:cubicBezTo>
                        <a:cubicBezTo>
                          <a:pt x="18" y="16"/>
                          <a:pt x="12" y="17"/>
                          <a:pt x="8" y="20"/>
                        </a:cubicBezTo>
                        <a:cubicBezTo>
                          <a:pt x="3" y="5"/>
                          <a:pt x="0" y="6"/>
                          <a:pt x="12"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6" name="Freeform 60"/>
                  <p:cNvSpPr>
                    <a:spLocks/>
                  </p:cNvSpPr>
                  <p:nvPr/>
                </p:nvSpPr>
                <p:spPr bwMode="ltGray">
                  <a:xfrm>
                    <a:off x="1072" y="357"/>
                    <a:ext cx="25" cy="10"/>
                  </a:xfrm>
                  <a:custGeom>
                    <a:avLst/>
                    <a:gdLst>
                      <a:gd name="T0" fmla="*/ 11 w 57"/>
                      <a:gd name="T1" fmla="*/ 6 h 30"/>
                      <a:gd name="T2" fmla="*/ 14 w 57"/>
                      <a:gd name="T3" fmla="*/ 2 h 30"/>
                      <a:gd name="T4" fmla="*/ 16 w 57"/>
                      <a:gd name="T5" fmla="*/ 10 h 30"/>
                      <a:gd name="T6" fmla="*/ 11 w 57"/>
                      <a:gd name="T7" fmla="*/ 6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7" h="30">
                        <a:moveTo>
                          <a:pt x="24" y="18"/>
                        </a:moveTo>
                        <a:cubicBezTo>
                          <a:pt x="0" y="10"/>
                          <a:pt x="9" y="0"/>
                          <a:pt x="32" y="6"/>
                        </a:cubicBezTo>
                        <a:cubicBezTo>
                          <a:pt x="46" y="15"/>
                          <a:pt x="57" y="23"/>
                          <a:pt x="36" y="30"/>
                        </a:cubicBezTo>
                        <a:cubicBezTo>
                          <a:pt x="21" y="25"/>
                          <a:pt x="24" y="30"/>
                          <a:pt x="24"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7" name="Freeform 61"/>
                  <p:cNvSpPr>
                    <a:spLocks/>
                  </p:cNvSpPr>
                  <p:nvPr/>
                </p:nvSpPr>
                <p:spPr bwMode="ltGray">
                  <a:xfrm>
                    <a:off x="1374" y="265"/>
                    <a:ext cx="295" cy="233"/>
                  </a:xfrm>
                  <a:custGeom>
                    <a:avLst/>
                    <a:gdLst>
                      <a:gd name="T0" fmla="*/ 201 w 693"/>
                      <a:gd name="T1" fmla="*/ 155 h 696"/>
                      <a:gd name="T2" fmla="*/ 167 w 693"/>
                      <a:gd name="T3" fmla="*/ 151 h 696"/>
                      <a:gd name="T4" fmla="*/ 138 w 693"/>
                      <a:gd name="T5" fmla="*/ 138 h 696"/>
                      <a:gd name="T6" fmla="*/ 113 w 693"/>
                      <a:gd name="T7" fmla="*/ 134 h 696"/>
                      <a:gd name="T8" fmla="*/ 101 w 693"/>
                      <a:gd name="T9" fmla="*/ 139 h 696"/>
                      <a:gd name="T10" fmla="*/ 111 w 693"/>
                      <a:gd name="T11" fmla="*/ 143 h 696"/>
                      <a:gd name="T12" fmla="*/ 125 w 693"/>
                      <a:gd name="T13" fmla="*/ 157 h 696"/>
                      <a:gd name="T14" fmla="*/ 137 w 693"/>
                      <a:gd name="T15" fmla="*/ 159 h 696"/>
                      <a:gd name="T16" fmla="*/ 142 w 693"/>
                      <a:gd name="T17" fmla="*/ 179 h 696"/>
                      <a:gd name="T18" fmla="*/ 133 w 693"/>
                      <a:gd name="T19" fmla="*/ 185 h 696"/>
                      <a:gd name="T20" fmla="*/ 111 w 693"/>
                      <a:gd name="T21" fmla="*/ 206 h 696"/>
                      <a:gd name="T22" fmla="*/ 96 w 693"/>
                      <a:gd name="T23" fmla="*/ 210 h 696"/>
                      <a:gd name="T24" fmla="*/ 41 w 693"/>
                      <a:gd name="T25" fmla="*/ 233 h 696"/>
                      <a:gd name="T26" fmla="*/ 33 w 693"/>
                      <a:gd name="T27" fmla="*/ 206 h 696"/>
                      <a:gd name="T28" fmla="*/ 19 w 693"/>
                      <a:gd name="T29" fmla="*/ 175 h 696"/>
                      <a:gd name="T30" fmla="*/ 14 w 693"/>
                      <a:gd name="T31" fmla="*/ 150 h 696"/>
                      <a:gd name="T32" fmla="*/ 23 w 693"/>
                      <a:gd name="T33" fmla="*/ 115 h 696"/>
                      <a:gd name="T34" fmla="*/ 7 w 693"/>
                      <a:gd name="T35" fmla="*/ 131 h 696"/>
                      <a:gd name="T36" fmla="*/ 34 w 693"/>
                      <a:gd name="T37" fmla="*/ 94 h 696"/>
                      <a:gd name="T38" fmla="*/ 48 w 693"/>
                      <a:gd name="T39" fmla="*/ 68 h 696"/>
                      <a:gd name="T40" fmla="*/ 16 w 693"/>
                      <a:gd name="T41" fmla="*/ 68 h 696"/>
                      <a:gd name="T42" fmla="*/ 0 w 693"/>
                      <a:gd name="T43" fmla="*/ 66 h 696"/>
                      <a:gd name="T44" fmla="*/ 11 w 693"/>
                      <a:gd name="T45" fmla="*/ 47 h 696"/>
                      <a:gd name="T46" fmla="*/ 41 w 693"/>
                      <a:gd name="T47" fmla="*/ 37 h 696"/>
                      <a:gd name="T48" fmla="*/ 94 w 693"/>
                      <a:gd name="T49" fmla="*/ 42 h 696"/>
                      <a:gd name="T50" fmla="*/ 97 w 693"/>
                      <a:gd name="T51" fmla="*/ 21 h 696"/>
                      <a:gd name="T52" fmla="*/ 111 w 693"/>
                      <a:gd name="T53" fmla="*/ 0 h 696"/>
                      <a:gd name="T54" fmla="*/ 152 w 693"/>
                      <a:gd name="T55" fmla="*/ 15 h 696"/>
                      <a:gd name="T56" fmla="*/ 140 w 693"/>
                      <a:gd name="T57" fmla="*/ 29 h 696"/>
                      <a:gd name="T58" fmla="*/ 128 w 693"/>
                      <a:gd name="T59" fmla="*/ 59 h 696"/>
                      <a:gd name="T60" fmla="*/ 154 w 693"/>
                      <a:gd name="T61" fmla="*/ 64 h 696"/>
                      <a:gd name="T62" fmla="*/ 159 w 693"/>
                      <a:gd name="T63" fmla="*/ 46 h 696"/>
                      <a:gd name="T64" fmla="*/ 178 w 693"/>
                      <a:gd name="T65" fmla="*/ 31 h 696"/>
                      <a:gd name="T66" fmla="*/ 212 w 693"/>
                      <a:gd name="T67" fmla="*/ 29 h 696"/>
                      <a:gd name="T68" fmla="*/ 225 w 693"/>
                      <a:gd name="T69" fmla="*/ 17 h 696"/>
                      <a:gd name="T70" fmla="*/ 230 w 693"/>
                      <a:gd name="T71" fmla="*/ 154 h 69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93" h="696">
                        <a:moveTo>
                          <a:pt x="541" y="460"/>
                        </a:moveTo>
                        <a:lnTo>
                          <a:pt x="473" y="464"/>
                        </a:lnTo>
                        <a:lnTo>
                          <a:pt x="441" y="452"/>
                        </a:lnTo>
                        <a:lnTo>
                          <a:pt x="393" y="452"/>
                        </a:lnTo>
                        <a:cubicBezTo>
                          <a:pt x="365" y="448"/>
                          <a:pt x="360" y="444"/>
                          <a:pt x="337" y="436"/>
                        </a:cubicBezTo>
                        <a:cubicBezTo>
                          <a:pt x="336" y="432"/>
                          <a:pt x="330" y="413"/>
                          <a:pt x="325" y="412"/>
                        </a:cubicBezTo>
                        <a:cubicBezTo>
                          <a:pt x="317" y="411"/>
                          <a:pt x="301" y="420"/>
                          <a:pt x="301" y="420"/>
                        </a:cubicBezTo>
                        <a:cubicBezTo>
                          <a:pt x="289" y="412"/>
                          <a:pt x="277" y="408"/>
                          <a:pt x="265" y="400"/>
                        </a:cubicBezTo>
                        <a:cubicBezTo>
                          <a:pt x="252" y="380"/>
                          <a:pt x="256" y="356"/>
                          <a:pt x="233" y="348"/>
                        </a:cubicBezTo>
                        <a:cubicBezTo>
                          <a:pt x="217" y="372"/>
                          <a:pt x="221" y="392"/>
                          <a:pt x="237" y="416"/>
                        </a:cubicBezTo>
                        <a:cubicBezTo>
                          <a:pt x="234" y="428"/>
                          <a:pt x="228" y="445"/>
                          <a:pt x="237" y="444"/>
                        </a:cubicBezTo>
                        <a:cubicBezTo>
                          <a:pt x="247" y="443"/>
                          <a:pt x="261" y="428"/>
                          <a:pt x="261" y="428"/>
                        </a:cubicBezTo>
                        <a:cubicBezTo>
                          <a:pt x="258" y="450"/>
                          <a:pt x="243" y="475"/>
                          <a:pt x="269" y="484"/>
                        </a:cubicBezTo>
                        <a:cubicBezTo>
                          <a:pt x="277" y="479"/>
                          <a:pt x="288" y="476"/>
                          <a:pt x="293" y="468"/>
                        </a:cubicBezTo>
                        <a:cubicBezTo>
                          <a:pt x="302" y="454"/>
                          <a:pt x="303" y="446"/>
                          <a:pt x="317" y="436"/>
                        </a:cubicBezTo>
                        <a:cubicBezTo>
                          <a:pt x="315" y="448"/>
                          <a:pt x="306" y="467"/>
                          <a:pt x="321" y="476"/>
                        </a:cubicBezTo>
                        <a:cubicBezTo>
                          <a:pt x="328" y="480"/>
                          <a:pt x="345" y="484"/>
                          <a:pt x="345" y="484"/>
                        </a:cubicBezTo>
                        <a:cubicBezTo>
                          <a:pt x="382" y="472"/>
                          <a:pt x="347" y="527"/>
                          <a:pt x="333" y="536"/>
                        </a:cubicBezTo>
                        <a:cubicBezTo>
                          <a:pt x="330" y="540"/>
                          <a:pt x="329" y="545"/>
                          <a:pt x="325" y="548"/>
                        </a:cubicBezTo>
                        <a:cubicBezTo>
                          <a:pt x="322" y="551"/>
                          <a:pt x="316" y="549"/>
                          <a:pt x="313" y="552"/>
                        </a:cubicBezTo>
                        <a:cubicBezTo>
                          <a:pt x="300" y="565"/>
                          <a:pt x="320" y="575"/>
                          <a:pt x="293" y="584"/>
                        </a:cubicBezTo>
                        <a:cubicBezTo>
                          <a:pt x="286" y="595"/>
                          <a:pt x="272" y="610"/>
                          <a:pt x="261" y="616"/>
                        </a:cubicBezTo>
                        <a:cubicBezTo>
                          <a:pt x="254" y="620"/>
                          <a:pt x="245" y="621"/>
                          <a:pt x="237" y="624"/>
                        </a:cubicBezTo>
                        <a:cubicBezTo>
                          <a:pt x="233" y="625"/>
                          <a:pt x="225" y="628"/>
                          <a:pt x="225" y="628"/>
                        </a:cubicBezTo>
                        <a:cubicBezTo>
                          <a:pt x="215" y="659"/>
                          <a:pt x="212" y="652"/>
                          <a:pt x="173" y="656"/>
                        </a:cubicBezTo>
                        <a:cubicBezTo>
                          <a:pt x="140" y="667"/>
                          <a:pt x="132" y="687"/>
                          <a:pt x="97" y="696"/>
                        </a:cubicBezTo>
                        <a:cubicBezTo>
                          <a:pt x="77" y="691"/>
                          <a:pt x="75" y="687"/>
                          <a:pt x="81" y="668"/>
                        </a:cubicBezTo>
                        <a:cubicBezTo>
                          <a:pt x="77" y="646"/>
                          <a:pt x="72" y="639"/>
                          <a:pt x="77" y="616"/>
                        </a:cubicBezTo>
                        <a:cubicBezTo>
                          <a:pt x="73" y="598"/>
                          <a:pt x="71" y="587"/>
                          <a:pt x="61" y="572"/>
                        </a:cubicBezTo>
                        <a:cubicBezTo>
                          <a:pt x="58" y="551"/>
                          <a:pt x="51" y="543"/>
                          <a:pt x="45" y="524"/>
                        </a:cubicBezTo>
                        <a:cubicBezTo>
                          <a:pt x="52" y="502"/>
                          <a:pt x="58" y="496"/>
                          <a:pt x="49" y="472"/>
                        </a:cubicBezTo>
                        <a:cubicBezTo>
                          <a:pt x="46" y="463"/>
                          <a:pt x="33" y="448"/>
                          <a:pt x="33" y="448"/>
                        </a:cubicBezTo>
                        <a:cubicBezTo>
                          <a:pt x="42" y="422"/>
                          <a:pt x="42" y="408"/>
                          <a:pt x="33" y="380"/>
                        </a:cubicBezTo>
                        <a:cubicBezTo>
                          <a:pt x="49" y="369"/>
                          <a:pt x="48" y="362"/>
                          <a:pt x="53" y="344"/>
                        </a:cubicBezTo>
                        <a:cubicBezTo>
                          <a:pt x="47" y="327"/>
                          <a:pt x="49" y="308"/>
                          <a:pt x="33" y="332"/>
                        </a:cubicBezTo>
                        <a:cubicBezTo>
                          <a:pt x="40" y="353"/>
                          <a:pt x="29" y="374"/>
                          <a:pt x="17" y="392"/>
                        </a:cubicBezTo>
                        <a:cubicBezTo>
                          <a:pt x="6" y="360"/>
                          <a:pt x="10" y="340"/>
                          <a:pt x="13" y="304"/>
                        </a:cubicBezTo>
                        <a:cubicBezTo>
                          <a:pt x="44" y="314"/>
                          <a:pt x="54" y="289"/>
                          <a:pt x="81" y="280"/>
                        </a:cubicBezTo>
                        <a:cubicBezTo>
                          <a:pt x="94" y="261"/>
                          <a:pt x="85" y="242"/>
                          <a:pt x="105" y="228"/>
                        </a:cubicBezTo>
                        <a:cubicBezTo>
                          <a:pt x="108" y="220"/>
                          <a:pt x="110" y="212"/>
                          <a:pt x="113" y="204"/>
                        </a:cubicBezTo>
                        <a:cubicBezTo>
                          <a:pt x="116" y="196"/>
                          <a:pt x="89" y="196"/>
                          <a:pt x="89" y="196"/>
                        </a:cubicBezTo>
                        <a:cubicBezTo>
                          <a:pt x="81" y="221"/>
                          <a:pt x="58" y="211"/>
                          <a:pt x="37" y="204"/>
                        </a:cubicBezTo>
                        <a:cubicBezTo>
                          <a:pt x="33" y="207"/>
                          <a:pt x="30" y="213"/>
                          <a:pt x="25" y="212"/>
                        </a:cubicBezTo>
                        <a:cubicBezTo>
                          <a:pt x="16" y="210"/>
                          <a:pt x="1" y="196"/>
                          <a:pt x="1" y="196"/>
                        </a:cubicBezTo>
                        <a:cubicBezTo>
                          <a:pt x="4" y="186"/>
                          <a:pt x="4" y="174"/>
                          <a:pt x="9" y="164"/>
                        </a:cubicBezTo>
                        <a:cubicBezTo>
                          <a:pt x="13" y="155"/>
                          <a:pt x="25" y="140"/>
                          <a:pt x="25" y="140"/>
                        </a:cubicBezTo>
                        <a:cubicBezTo>
                          <a:pt x="0" y="132"/>
                          <a:pt x="25" y="128"/>
                          <a:pt x="37" y="124"/>
                        </a:cubicBezTo>
                        <a:cubicBezTo>
                          <a:pt x="58" y="131"/>
                          <a:pt x="75" y="116"/>
                          <a:pt x="97" y="112"/>
                        </a:cubicBezTo>
                        <a:cubicBezTo>
                          <a:pt x="135" y="87"/>
                          <a:pt x="159" y="122"/>
                          <a:pt x="197" y="132"/>
                        </a:cubicBezTo>
                        <a:cubicBezTo>
                          <a:pt x="205" y="129"/>
                          <a:pt x="213" y="127"/>
                          <a:pt x="221" y="124"/>
                        </a:cubicBezTo>
                        <a:cubicBezTo>
                          <a:pt x="225" y="123"/>
                          <a:pt x="226" y="147"/>
                          <a:pt x="233" y="120"/>
                        </a:cubicBezTo>
                        <a:lnTo>
                          <a:pt x="229" y="64"/>
                        </a:lnTo>
                        <a:lnTo>
                          <a:pt x="209" y="40"/>
                        </a:lnTo>
                        <a:cubicBezTo>
                          <a:pt x="243" y="21"/>
                          <a:pt x="240" y="21"/>
                          <a:pt x="261" y="0"/>
                        </a:cubicBezTo>
                        <a:cubicBezTo>
                          <a:pt x="297" y="16"/>
                          <a:pt x="333" y="32"/>
                          <a:pt x="369" y="48"/>
                        </a:cubicBezTo>
                        <a:cubicBezTo>
                          <a:pt x="373" y="50"/>
                          <a:pt x="361" y="44"/>
                          <a:pt x="357" y="44"/>
                        </a:cubicBezTo>
                        <a:cubicBezTo>
                          <a:pt x="349" y="45"/>
                          <a:pt x="333" y="52"/>
                          <a:pt x="333" y="52"/>
                        </a:cubicBezTo>
                        <a:cubicBezTo>
                          <a:pt x="322" y="68"/>
                          <a:pt x="318" y="71"/>
                          <a:pt x="329" y="88"/>
                        </a:cubicBezTo>
                        <a:cubicBezTo>
                          <a:pt x="308" y="119"/>
                          <a:pt x="323" y="118"/>
                          <a:pt x="333" y="148"/>
                        </a:cubicBezTo>
                        <a:cubicBezTo>
                          <a:pt x="320" y="157"/>
                          <a:pt x="314" y="167"/>
                          <a:pt x="301" y="176"/>
                        </a:cubicBezTo>
                        <a:cubicBezTo>
                          <a:pt x="306" y="213"/>
                          <a:pt x="303" y="213"/>
                          <a:pt x="337" y="220"/>
                        </a:cubicBezTo>
                        <a:cubicBezTo>
                          <a:pt x="358" y="216"/>
                          <a:pt x="368" y="214"/>
                          <a:pt x="361" y="192"/>
                        </a:cubicBezTo>
                        <a:cubicBezTo>
                          <a:pt x="362" y="177"/>
                          <a:pt x="362" y="162"/>
                          <a:pt x="365" y="148"/>
                        </a:cubicBezTo>
                        <a:cubicBezTo>
                          <a:pt x="366" y="143"/>
                          <a:pt x="369" y="133"/>
                          <a:pt x="373" y="136"/>
                        </a:cubicBezTo>
                        <a:cubicBezTo>
                          <a:pt x="379" y="140"/>
                          <a:pt x="376" y="149"/>
                          <a:pt x="377" y="156"/>
                        </a:cubicBezTo>
                        <a:cubicBezTo>
                          <a:pt x="404" y="147"/>
                          <a:pt x="409" y="116"/>
                          <a:pt x="417" y="92"/>
                        </a:cubicBezTo>
                        <a:cubicBezTo>
                          <a:pt x="422" y="76"/>
                          <a:pt x="453" y="74"/>
                          <a:pt x="465" y="72"/>
                        </a:cubicBezTo>
                        <a:cubicBezTo>
                          <a:pt x="472" y="92"/>
                          <a:pt x="477" y="93"/>
                          <a:pt x="497" y="88"/>
                        </a:cubicBezTo>
                        <a:cubicBezTo>
                          <a:pt x="512" y="78"/>
                          <a:pt x="515" y="74"/>
                          <a:pt x="509" y="56"/>
                        </a:cubicBezTo>
                        <a:cubicBezTo>
                          <a:pt x="523" y="46"/>
                          <a:pt x="517" y="46"/>
                          <a:pt x="529" y="52"/>
                        </a:cubicBezTo>
                        <a:lnTo>
                          <a:pt x="693" y="72"/>
                        </a:lnTo>
                        <a:lnTo>
                          <a:pt x="541" y="46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8" name="Freeform 62"/>
                  <p:cNvSpPr>
                    <a:spLocks/>
                  </p:cNvSpPr>
                  <p:nvPr/>
                </p:nvSpPr>
                <p:spPr bwMode="ltGray">
                  <a:xfrm>
                    <a:off x="1173" y="247"/>
                    <a:ext cx="591" cy="95"/>
                  </a:xfrm>
                  <a:custGeom>
                    <a:avLst/>
                    <a:gdLst>
                      <a:gd name="T0" fmla="*/ 524 w 931"/>
                      <a:gd name="T1" fmla="*/ 0 h 149"/>
                      <a:gd name="T2" fmla="*/ 91 w 931"/>
                      <a:gd name="T3" fmla="*/ 18 h 149"/>
                      <a:gd name="T4" fmla="*/ 58 w 931"/>
                      <a:gd name="T5" fmla="*/ 27 h 149"/>
                      <a:gd name="T6" fmla="*/ 39 w 931"/>
                      <a:gd name="T7" fmla="*/ 27 h 149"/>
                      <a:gd name="T8" fmla="*/ 14 w 931"/>
                      <a:gd name="T9" fmla="*/ 49 h 149"/>
                      <a:gd name="T10" fmla="*/ 0 w 931"/>
                      <a:gd name="T11" fmla="*/ 67 h 149"/>
                      <a:gd name="T12" fmla="*/ 37 w 931"/>
                      <a:gd name="T13" fmla="*/ 73 h 149"/>
                      <a:gd name="T14" fmla="*/ 62 w 931"/>
                      <a:gd name="T15" fmla="*/ 61 h 149"/>
                      <a:gd name="T16" fmla="*/ 69 w 931"/>
                      <a:gd name="T17" fmla="*/ 54 h 149"/>
                      <a:gd name="T18" fmla="*/ 106 w 931"/>
                      <a:gd name="T19" fmla="*/ 33 h 149"/>
                      <a:gd name="T20" fmla="*/ 136 w 931"/>
                      <a:gd name="T21" fmla="*/ 29 h 149"/>
                      <a:gd name="T22" fmla="*/ 150 w 931"/>
                      <a:gd name="T23" fmla="*/ 60 h 149"/>
                      <a:gd name="T24" fmla="*/ 119 w 931"/>
                      <a:gd name="T25" fmla="*/ 69 h 149"/>
                      <a:gd name="T26" fmla="*/ 147 w 931"/>
                      <a:gd name="T27" fmla="*/ 72 h 149"/>
                      <a:gd name="T28" fmla="*/ 159 w 931"/>
                      <a:gd name="T29" fmla="*/ 57 h 149"/>
                      <a:gd name="T30" fmla="*/ 169 w 931"/>
                      <a:gd name="T31" fmla="*/ 59 h 149"/>
                      <a:gd name="T32" fmla="*/ 161 w 931"/>
                      <a:gd name="T33" fmla="*/ 34 h 149"/>
                      <a:gd name="T34" fmla="*/ 169 w 931"/>
                      <a:gd name="T35" fmla="*/ 28 h 149"/>
                      <a:gd name="T36" fmla="*/ 176 w 931"/>
                      <a:gd name="T37" fmla="*/ 56 h 149"/>
                      <a:gd name="T38" fmla="*/ 169 w 931"/>
                      <a:gd name="T39" fmla="*/ 72 h 149"/>
                      <a:gd name="T40" fmla="*/ 188 w 931"/>
                      <a:gd name="T41" fmla="*/ 83 h 149"/>
                      <a:gd name="T42" fmla="*/ 190 w 931"/>
                      <a:gd name="T43" fmla="*/ 59 h 149"/>
                      <a:gd name="T44" fmla="*/ 210 w 931"/>
                      <a:gd name="T45" fmla="*/ 66 h 149"/>
                      <a:gd name="T46" fmla="*/ 242 w 931"/>
                      <a:gd name="T47" fmla="*/ 47 h 149"/>
                      <a:gd name="T48" fmla="*/ 260 w 931"/>
                      <a:gd name="T49" fmla="*/ 32 h 149"/>
                      <a:gd name="T50" fmla="*/ 279 w 931"/>
                      <a:gd name="T51" fmla="*/ 36 h 149"/>
                      <a:gd name="T52" fmla="*/ 289 w 931"/>
                      <a:gd name="T53" fmla="*/ 32 h 149"/>
                      <a:gd name="T54" fmla="*/ 274 w 931"/>
                      <a:gd name="T55" fmla="*/ 28 h 149"/>
                      <a:gd name="T56" fmla="*/ 301 w 931"/>
                      <a:gd name="T57" fmla="*/ 22 h 149"/>
                      <a:gd name="T58" fmla="*/ 345 w 931"/>
                      <a:gd name="T59" fmla="*/ 34 h 149"/>
                      <a:gd name="T60" fmla="*/ 369 w 931"/>
                      <a:gd name="T61" fmla="*/ 27 h 149"/>
                      <a:gd name="T62" fmla="*/ 371 w 931"/>
                      <a:gd name="T63" fmla="*/ 40 h 149"/>
                      <a:gd name="T64" fmla="*/ 361 w 931"/>
                      <a:gd name="T65" fmla="*/ 64 h 149"/>
                      <a:gd name="T66" fmla="*/ 388 w 931"/>
                      <a:gd name="T67" fmla="*/ 56 h 149"/>
                      <a:gd name="T68" fmla="*/ 396 w 931"/>
                      <a:gd name="T69" fmla="*/ 51 h 149"/>
                      <a:gd name="T70" fmla="*/ 411 w 931"/>
                      <a:gd name="T71" fmla="*/ 39 h 149"/>
                      <a:gd name="T72" fmla="*/ 504 w 931"/>
                      <a:gd name="T73" fmla="*/ 54 h 14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31" h="149">
                        <a:moveTo>
                          <a:pt x="794" y="84"/>
                        </a:moveTo>
                        <a:cubicBezTo>
                          <a:pt x="813" y="72"/>
                          <a:pt x="931" y="14"/>
                          <a:pt x="825" y="0"/>
                        </a:cubicBezTo>
                        <a:lnTo>
                          <a:pt x="159" y="0"/>
                        </a:lnTo>
                        <a:cubicBezTo>
                          <a:pt x="149" y="12"/>
                          <a:pt x="162" y="18"/>
                          <a:pt x="143" y="29"/>
                        </a:cubicBezTo>
                        <a:cubicBezTo>
                          <a:pt x="130" y="44"/>
                          <a:pt x="133" y="39"/>
                          <a:pt x="116" y="48"/>
                        </a:cubicBezTo>
                        <a:cubicBezTo>
                          <a:pt x="108" y="46"/>
                          <a:pt x="100" y="44"/>
                          <a:pt x="91" y="42"/>
                        </a:cubicBezTo>
                        <a:cubicBezTo>
                          <a:pt x="89" y="41"/>
                          <a:pt x="83" y="40"/>
                          <a:pt x="83" y="40"/>
                        </a:cubicBezTo>
                        <a:cubicBezTo>
                          <a:pt x="76" y="40"/>
                          <a:pt x="68" y="39"/>
                          <a:pt x="62" y="42"/>
                        </a:cubicBezTo>
                        <a:cubicBezTo>
                          <a:pt x="54" y="45"/>
                          <a:pt x="46" y="61"/>
                          <a:pt x="38" y="67"/>
                        </a:cubicBezTo>
                        <a:cubicBezTo>
                          <a:pt x="32" y="71"/>
                          <a:pt x="27" y="74"/>
                          <a:pt x="22" y="77"/>
                        </a:cubicBezTo>
                        <a:cubicBezTo>
                          <a:pt x="16" y="81"/>
                          <a:pt x="5" y="86"/>
                          <a:pt x="5" y="86"/>
                        </a:cubicBezTo>
                        <a:cubicBezTo>
                          <a:pt x="9" y="95"/>
                          <a:pt x="7" y="97"/>
                          <a:pt x="0" y="105"/>
                        </a:cubicBezTo>
                        <a:cubicBezTo>
                          <a:pt x="17" y="107"/>
                          <a:pt x="22" y="107"/>
                          <a:pt x="16" y="120"/>
                        </a:cubicBezTo>
                        <a:cubicBezTo>
                          <a:pt x="27" y="122"/>
                          <a:pt x="48" y="116"/>
                          <a:pt x="59" y="115"/>
                        </a:cubicBezTo>
                        <a:cubicBezTo>
                          <a:pt x="71" y="112"/>
                          <a:pt x="73" y="117"/>
                          <a:pt x="83" y="111"/>
                        </a:cubicBezTo>
                        <a:cubicBezTo>
                          <a:pt x="89" y="96"/>
                          <a:pt x="83" y="100"/>
                          <a:pt x="97" y="96"/>
                        </a:cubicBezTo>
                        <a:cubicBezTo>
                          <a:pt x="100" y="94"/>
                          <a:pt x="103" y="93"/>
                          <a:pt x="105" y="90"/>
                        </a:cubicBezTo>
                        <a:cubicBezTo>
                          <a:pt x="106" y="88"/>
                          <a:pt x="106" y="85"/>
                          <a:pt x="108" y="84"/>
                        </a:cubicBezTo>
                        <a:cubicBezTo>
                          <a:pt x="112" y="80"/>
                          <a:pt x="140" y="69"/>
                          <a:pt x="148" y="67"/>
                        </a:cubicBezTo>
                        <a:cubicBezTo>
                          <a:pt x="160" y="52"/>
                          <a:pt x="153" y="56"/>
                          <a:pt x="167" y="52"/>
                        </a:cubicBezTo>
                        <a:cubicBezTo>
                          <a:pt x="178" y="55"/>
                          <a:pt x="179" y="62"/>
                          <a:pt x="191" y="58"/>
                        </a:cubicBezTo>
                        <a:cubicBezTo>
                          <a:pt x="199" y="52"/>
                          <a:pt x="206" y="51"/>
                          <a:pt x="215" y="46"/>
                        </a:cubicBezTo>
                        <a:cubicBezTo>
                          <a:pt x="226" y="58"/>
                          <a:pt x="217" y="46"/>
                          <a:pt x="223" y="69"/>
                        </a:cubicBezTo>
                        <a:cubicBezTo>
                          <a:pt x="226" y="79"/>
                          <a:pt x="233" y="85"/>
                          <a:pt x="237" y="94"/>
                        </a:cubicBezTo>
                        <a:cubicBezTo>
                          <a:pt x="227" y="100"/>
                          <a:pt x="229" y="104"/>
                          <a:pt x="218" y="107"/>
                        </a:cubicBezTo>
                        <a:cubicBezTo>
                          <a:pt x="207" y="120"/>
                          <a:pt x="203" y="113"/>
                          <a:pt x="188" y="109"/>
                        </a:cubicBezTo>
                        <a:cubicBezTo>
                          <a:pt x="191" y="117"/>
                          <a:pt x="200" y="127"/>
                          <a:pt x="210" y="132"/>
                        </a:cubicBezTo>
                        <a:cubicBezTo>
                          <a:pt x="218" y="114"/>
                          <a:pt x="211" y="122"/>
                          <a:pt x="231" y="113"/>
                        </a:cubicBezTo>
                        <a:cubicBezTo>
                          <a:pt x="237" y="111"/>
                          <a:pt x="248" y="105"/>
                          <a:pt x="248" y="105"/>
                        </a:cubicBezTo>
                        <a:cubicBezTo>
                          <a:pt x="248" y="100"/>
                          <a:pt x="246" y="94"/>
                          <a:pt x="250" y="90"/>
                        </a:cubicBezTo>
                        <a:cubicBezTo>
                          <a:pt x="253" y="88"/>
                          <a:pt x="254" y="96"/>
                          <a:pt x="258" y="96"/>
                        </a:cubicBezTo>
                        <a:cubicBezTo>
                          <a:pt x="262" y="97"/>
                          <a:pt x="264" y="94"/>
                          <a:pt x="266" y="92"/>
                        </a:cubicBezTo>
                        <a:cubicBezTo>
                          <a:pt x="262" y="82"/>
                          <a:pt x="252" y="77"/>
                          <a:pt x="248" y="67"/>
                        </a:cubicBezTo>
                        <a:cubicBezTo>
                          <a:pt x="250" y="63"/>
                          <a:pt x="255" y="58"/>
                          <a:pt x="253" y="54"/>
                        </a:cubicBezTo>
                        <a:cubicBezTo>
                          <a:pt x="251" y="50"/>
                          <a:pt x="248" y="42"/>
                          <a:pt x="248" y="42"/>
                        </a:cubicBezTo>
                        <a:cubicBezTo>
                          <a:pt x="256" y="32"/>
                          <a:pt x="259" y="35"/>
                          <a:pt x="266" y="44"/>
                        </a:cubicBezTo>
                        <a:cubicBezTo>
                          <a:pt x="270" y="56"/>
                          <a:pt x="276" y="61"/>
                          <a:pt x="285" y="71"/>
                        </a:cubicBezTo>
                        <a:cubicBezTo>
                          <a:pt x="281" y="81"/>
                          <a:pt x="289" y="82"/>
                          <a:pt x="277" y="88"/>
                        </a:cubicBezTo>
                        <a:cubicBezTo>
                          <a:pt x="262" y="106"/>
                          <a:pt x="278" y="83"/>
                          <a:pt x="274" y="101"/>
                        </a:cubicBezTo>
                        <a:cubicBezTo>
                          <a:pt x="274" y="105"/>
                          <a:pt x="268" y="109"/>
                          <a:pt x="266" y="113"/>
                        </a:cubicBezTo>
                        <a:cubicBezTo>
                          <a:pt x="270" y="122"/>
                          <a:pt x="268" y="125"/>
                          <a:pt x="261" y="132"/>
                        </a:cubicBezTo>
                        <a:cubicBezTo>
                          <a:pt x="268" y="149"/>
                          <a:pt x="282" y="134"/>
                          <a:pt x="296" y="130"/>
                        </a:cubicBezTo>
                        <a:cubicBezTo>
                          <a:pt x="299" y="122"/>
                          <a:pt x="295" y="119"/>
                          <a:pt x="299" y="111"/>
                        </a:cubicBezTo>
                        <a:cubicBezTo>
                          <a:pt x="296" y="105"/>
                          <a:pt x="288" y="97"/>
                          <a:pt x="299" y="92"/>
                        </a:cubicBezTo>
                        <a:cubicBezTo>
                          <a:pt x="303" y="90"/>
                          <a:pt x="315" y="88"/>
                          <a:pt x="315" y="88"/>
                        </a:cubicBezTo>
                        <a:cubicBezTo>
                          <a:pt x="326" y="91"/>
                          <a:pt x="325" y="95"/>
                          <a:pt x="331" y="103"/>
                        </a:cubicBezTo>
                        <a:cubicBezTo>
                          <a:pt x="339" y="84"/>
                          <a:pt x="331" y="90"/>
                          <a:pt x="361" y="92"/>
                        </a:cubicBezTo>
                        <a:cubicBezTo>
                          <a:pt x="355" y="76"/>
                          <a:pt x="365" y="76"/>
                          <a:pt x="382" y="73"/>
                        </a:cubicBezTo>
                        <a:cubicBezTo>
                          <a:pt x="383" y="71"/>
                          <a:pt x="387" y="57"/>
                          <a:pt x="393" y="54"/>
                        </a:cubicBezTo>
                        <a:cubicBezTo>
                          <a:pt x="398" y="52"/>
                          <a:pt x="409" y="50"/>
                          <a:pt x="409" y="50"/>
                        </a:cubicBezTo>
                        <a:cubicBezTo>
                          <a:pt x="430" y="54"/>
                          <a:pt x="413" y="58"/>
                          <a:pt x="431" y="63"/>
                        </a:cubicBezTo>
                        <a:cubicBezTo>
                          <a:pt x="433" y="61"/>
                          <a:pt x="435" y="57"/>
                          <a:pt x="439" y="56"/>
                        </a:cubicBezTo>
                        <a:cubicBezTo>
                          <a:pt x="445" y="55"/>
                          <a:pt x="452" y="61"/>
                          <a:pt x="457" y="58"/>
                        </a:cubicBezTo>
                        <a:cubicBezTo>
                          <a:pt x="461" y="57"/>
                          <a:pt x="457" y="52"/>
                          <a:pt x="455" y="50"/>
                        </a:cubicBezTo>
                        <a:cubicBezTo>
                          <a:pt x="451" y="47"/>
                          <a:pt x="444" y="47"/>
                          <a:pt x="439" y="46"/>
                        </a:cubicBezTo>
                        <a:cubicBezTo>
                          <a:pt x="436" y="45"/>
                          <a:pt x="431" y="44"/>
                          <a:pt x="431" y="44"/>
                        </a:cubicBezTo>
                        <a:cubicBezTo>
                          <a:pt x="440" y="38"/>
                          <a:pt x="443" y="36"/>
                          <a:pt x="455" y="40"/>
                        </a:cubicBezTo>
                        <a:cubicBezTo>
                          <a:pt x="461" y="38"/>
                          <a:pt x="467" y="35"/>
                          <a:pt x="474" y="35"/>
                        </a:cubicBezTo>
                        <a:cubicBezTo>
                          <a:pt x="483" y="36"/>
                          <a:pt x="511" y="43"/>
                          <a:pt x="519" y="46"/>
                        </a:cubicBezTo>
                        <a:cubicBezTo>
                          <a:pt x="527" y="49"/>
                          <a:pt x="544" y="54"/>
                          <a:pt x="544" y="54"/>
                        </a:cubicBezTo>
                        <a:cubicBezTo>
                          <a:pt x="548" y="54"/>
                          <a:pt x="560" y="52"/>
                          <a:pt x="565" y="50"/>
                        </a:cubicBezTo>
                        <a:cubicBezTo>
                          <a:pt x="570" y="47"/>
                          <a:pt x="581" y="42"/>
                          <a:pt x="581" y="42"/>
                        </a:cubicBezTo>
                        <a:cubicBezTo>
                          <a:pt x="585" y="42"/>
                          <a:pt x="598" y="44"/>
                          <a:pt x="600" y="48"/>
                        </a:cubicBezTo>
                        <a:cubicBezTo>
                          <a:pt x="603" y="55"/>
                          <a:pt x="589" y="61"/>
                          <a:pt x="584" y="63"/>
                        </a:cubicBezTo>
                        <a:cubicBezTo>
                          <a:pt x="576" y="69"/>
                          <a:pt x="568" y="69"/>
                          <a:pt x="565" y="77"/>
                        </a:cubicBezTo>
                        <a:cubicBezTo>
                          <a:pt x="568" y="86"/>
                          <a:pt x="564" y="92"/>
                          <a:pt x="568" y="101"/>
                        </a:cubicBezTo>
                        <a:cubicBezTo>
                          <a:pt x="574" y="93"/>
                          <a:pt x="577" y="91"/>
                          <a:pt x="589" y="94"/>
                        </a:cubicBezTo>
                        <a:cubicBezTo>
                          <a:pt x="595" y="108"/>
                          <a:pt x="602" y="93"/>
                          <a:pt x="611" y="88"/>
                        </a:cubicBezTo>
                        <a:cubicBezTo>
                          <a:pt x="613" y="86"/>
                          <a:pt x="613" y="83"/>
                          <a:pt x="616" y="82"/>
                        </a:cubicBezTo>
                        <a:cubicBezTo>
                          <a:pt x="618" y="80"/>
                          <a:pt x="622" y="81"/>
                          <a:pt x="624" y="80"/>
                        </a:cubicBezTo>
                        <a:cubicBezTo>
                          <a:pt x="626" y="78"/>
                          <a:pt x="626" y="75"/>
                          <a:pt x="627" y="73"/>
                        </a:cubicBezTo>
                        <a:cubicBezTo>
                          <a:pt x="632" y="65"/>
                          <a:pt x="638" y="63"/>
                          <a:pt x="648" y="61"/>
                        </a:cubicBezTo>
                        <a:cubicBezTo>
                          <a:pt x="664" y="62"/>
                          <a:pt x="684" y="69"/>
                          <a:pt x="700" y="69"/>
                        </a:cubicBezTo>
                        <a:lnTo>
                          <a:pt x="794" y="8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9" name="Freeform 63"/>
                  <p:cNvSpPr>
                    <a:spLocks/>
                  </p:cNvSpPr>
                  <p:nvPr/>
                </p:nvSpPr>
                <p:spPr bwMode="ltGray">
                  <a:xfrm>
                    <a:off x="1293" y="282"/>
                    <a:ext cx="13" cy="10"/>
                  </a:xfrm>
                  <a:custGeom>
                    <a:avLst/>
                    <a:gdLst>
                      <a:gd name="T0" fmla="*/ 1 w 31"/>
                      <a:gd name="T1" fmla="*/ 9 h 30"/>
                      <a:gd name="T2" fmla="*/ 13 w 31"/>
                      <a:gd name="T3" fmla="*/ 0 h 30"/>
                      <a:gd name="T4" fmla="*/ 8 w 31"/>
                      <a:gd name="T5" fmla="*/ 8 h 30"/>
                      <a:gd name="T6" fmla="*/ 1 w 31"/>
                      <a:gd name="T7" fmla="*/ 9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 h="30">
                        <a:moveTo>
                          <a:pt x="3" y="28"/>
                        </a:moveTo>
                        <a:cubicBezTo>
                          <a:pt x="8" y="8"/>
                          <a:pt x="12" y="6"/>
                          <a:pt x="31" y="0"/>
                        </a:cubicBezTo>
                        <a:cubicBezTo>
                          <a:pt x="29" y="5"/>
                          <a:pt x="25" y="22"/>
                          <a:pt x="19" y="24"/>
                        </a:cubicBezTo>
                        <a:cubicBezTo>
                          <a:pt x="0" y="30"/>
                          <a:pt x="3" y="9"/>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80" name="Freeform 64"/>
                  <p:cNvSpPr>
                    <a:spLocks/>
                  </p:cNvSpPr>
                  <p:nvPr/>
                </p:nvSpPr>
                <p:spPr bwMode="ltGray">
                  <a:xfrm>
                    <a:off x="1278" y="296"/>
                    <a:ext cx="19" cy="11"/>
                  </a:xfrm>
                  <a:custGeom>
                    <a:avLst/>
                    <a:gdLst>
                      <a:gd name="T0" fmla="*/ 3 w 44"/>
                      <a:gd name="T1" fmla="*/ 11 h 32"/>
                      <a:gd name="T2" fmla="*/ 10 w 44"/>
                      <a:gd name="T3" fmla="*/ 0 h 32"/>
                      <a:gd name="T4" fmla="*/ 16 w 44"/>
                      <a:gd name="T5" fmla="*/ 1 h 32"/>
                      <a:gd name="T6" fmla="*/ 3 w 44"/>
                      <a:gd name="T7" fmla="*/ 11 h 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 h="32">
                        <a:moveTo>
                          <a:pt x="6" y="32"/>
                        </a:moveTo>
                        <a:cubicBezTo>
                          <a:pt x="0" y="14"/>
                          <a:pt x="7" y="10"/>
                          <a:pt x="22" y="0"/>
                        </a:cubicBezTo>
                        <a:cubicBezTo>
                          <a:pt x="27" y="1"/>
                          <a:pt x="35" y="0"/>
                          <a:pt x="38" y="4"/>
                        </a:cubicBezTo>
                        <a:cubicBezTo>
                          <a:pt x="44" y="13"/>
                          <a:pt x="16" y="32"/>
                          <a:pt x="6"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81" name="Freeform 65"/>
                  <p:cNvSpPr>
                    <a:spLocks/>
                  </p:cNvSpPr>
                  <p:nvPr/>
                </p:nvSpPr>
                <p:spPr bwMode="ltGray">
                  <a:xfrm>
                    <a:off x="1340" y="337"/>
                    <a:ext cx="32" cy="6"/>
                  </a:xfrm>
                  <a:custGeom>
                    <a:avLst/>
                    <a:gdLst>
                      <a:gd name="T0" fmla="*/ 16 w 76"/>
                      <a:gd name="T1" fmla="*/ 6 h 18"/>
                      <a:gd name="T2" fmla="*/ 11 w 76"/>
                      <a:gd name="T3" fmla="*/ 1 h 18"/>
                      <a:gd name="T4" fmla="*/ 16 w 76"/>
                      <a:gd name="T5" fmla="*/ 6 h 18"/>
                      <a:gd name="T6" fmla="*/ 0 60000 65536"/>
                      <a:gd name="T7" fmla="*/ 0 60000 65536"/>
                      <a:gd name="T8" fmla="*/ 0 60000 65536"/>
                    </a:gdLst>
                    <a:ahLst/>
                    <a:cxnLst>
                      <a:cxn ang="T6">
                        <a:pos x="T0" y="T1"/>
                      </a:cxn>
                      <a:cxn ang="T7">
                        <a:pos x="T2" y="T3"/>
                      </a:cxn>
                      <a:cxn ang="T8">
                        <a:pos x="T4" y="T5"/>
                      </a:cxn>
                    </a:cxnLst>
                    <a:rect l="0" t="0" r="r" b="b"/>
                    <a:pathLst>
                      <a:path w="76" h="18">
                        <a:moveTo>
                          <a:pt x="37" y="18"/>
                        </a:moveTo>
                        <a:cubicBezTo>
                          <a:pt x="25" y="14"/>
                          <a:pt x="0" y="10"/>
                          <a:pt x="25" y="2"/>
                        </a:cubicBezTo>
                        <a:cubicBezTo>
                          <a:pt x="76" y="9"/>
                          <a:pt x="46" y="0"/>
                          <a:pt x="37"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82" name="Freeform 66"/>
                  <p:cNvSpPr>
                    <a:spLocks/>
                  </p:cNvSpPr>
                  <p:nvPr/>
                </p:nvSpPr>
                <p:spPr bwMode="ltGray">
                  <a:xfrm>
                    <a:off x="1395" y="336"/>
                    <a:ext cx="18" cy="15"/>
                  </a:xfrm>
                  <a:custGeom>
                    <a:avLst/>
                    <a:gdLst>
                      <a:gd name="T0" fmla="*/ 0 w 42"/>
                      <a:gd name="T1" fmla="*/ 7 h 44"/>
                      <a:gd name="T2" fmla="*/ 5 w 42"/>
                      <a:gd name="T3" fmla="*/ 3 h 44"/>
                      <a:gd name="T4" fmla="*/ 0 w 42"/>
                      <a:gd name="T5" fmla="*/ 7 h 44"/>
                      <a:gd name="T6" fmla="*/ 0 60000 65536"/>
                      <a:gd name="T7" fmla="*/ 0 60000 65536"/>
                      <a:gd name="T8" fmla="*/ 0 60000 65536"/>
                    </a:gdLst>
                    <a:ahLst/>
                    <a:cxnLst>
                      <a:cxn ang="T6">
                        <a:pos x="T0" y="T1"/>
                      </a:cxn>
                      <a:cxn ang="T7">
                        <a:pos x="T2" y="T3"/>
                      </a:cxn>
                      <a:cxn ang="T8">
                        <a:pos x="T4" y="T5"/>
                      </a:cxn>
                    </a:cxnLst>
                    <a:rect l="0" t="0" r="r" b="b"/>
                    <a:pathLst>
                      <a:path w="42" h="44">
                        <a:moveTo>
                          <a:pt x="0" y="21"/>
                        </a:moveTo>
                        <a:cubicBezTo>
                          <a:pt x="4" y="17"/>
                          <a:pt x="7" y="11"/>
                          <a:pt x="12" y="9"/>
                        </a:cubicBezTo>
                        <a:cubicBezTo>
                          <a:pt x="42" y="0"/>
                          <a:pt x="23" y="44"/>
                          <a:pt x="0" y="2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83" name="Freeform 67"/>
                  <p:cNvSpPr>
                    <a:spLocks/>
                  </p:cNvSpPr>
                  <p:nvPr/>
                </p:nvSpPr>
                <p:spPr bwMode="ltGray">
                  <a:xfrm>
                    <a:off x="1248" y="295"/>
                    <a:ext cx="14" cy="10"/>
                  </a:xfrm>
                  <a:custGeom>
                    <a:avLst/>
                    <a:gdLst>
                      <a:gd name="T0" fmla="*/ 3 w 31"/>
                      <a:gd name="T1" fmla="*/ 7 h 30"/>
                      <a:gd name="T2" fmla="*/ 14 w 31"/>
                      <a:gd name="T3" fmla="*/ 3 h 30"/>
                      <a:gd name="T4" fmla="*/ 3 w 31"/>
                      <a:gd name="T5" fmla="*/ 7 h 30"/>
                      <a:gd name="T6" fmla="*/ 0 60000 65536"/>
                      <a:gd name="T7" fmla="*/ 0 60000 65536"/>
                      <a:gd name="T8" fmla="*/ 0 60000 65536"/>
                    </a:gdLst>
                    <a:ahLst/>
                    <a:cxnLst>
                      <a:cxn ang="T6">
                        <a:pos x="T0" y="T1"/>
                      </a:cxn>
                      <a:cxn ang="T7">
                        <a:pos x="T2" y="T3"/>
                      </a:cxn>
                      <a:cxn ang="T8">
                        <a:pos x="T4" y="T5"/>
                      </a:cxn>
                    </a:cxnLst>
                    <a:rect l="0" t="0" r="r" b="b"/>
                    <a:pathLst>
                      <a:path w="31" h="30">
                        <a:moveTo>
                          <a:pt x="7" y="22"/>
                        </a:moveTo>
                        <a:cubicBezTo>
                          <a:pt x="0" y="0"/>
                          <a:pt x="15" y="6"/>
                          <a:pt x="31" y="10"/>
                        </a:cubicBezTo>
                        <a:cubicBezTo>
                          <a:pt x="14" y="16"/>
                          <a:pt x="15" y="30"/>
                          <a:pt x="7" y="2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grpSp>
              <p:nvGrpSpPr>
                <p:cNvPr id="1085" name="Group 68"/>
                <p:cNvGrpSpPr>
                  <a:grpSpLocks/>
                </p:cNvGrpSpPr>
                <p:nvPr/>
              </p:nvGrpSpPr>
              <p:grpSpPr bwMode="auto">
                <a:xfrm>
                  <a:off x="3709" y="240"/>
                  <a:ext cx="1139" cy="429"/>
                  <a:chOff x="3709" y="240"/>
                  <a:chExt cx="1139" cy="429"/>
                </a:xfrm>
              </p:grpSpPr>
              <p:sp>
                <p:nvSpPr>
                  <p:cNvPr id="1086" name="Freeform 69"/>
                  <p:cNvSpPr>
                    <a:spLocks/>
                  </p:cNvSpPr>
                  <p:nvPr/>
                </p:nvSpPr>
                <p:spPr bwMode="ltGray">
                  <a:xfrm>
                    <a:off x="4808" y="616"/>
                    <a:ext cx="13" cy="14"/>
                  </a:xfrm>
                  <a:custGeom>
                    <a:avLst/>
                    <a:gdLst>
                      <a:gd name="T0" fmla="*/ 7 w 30"/>
                      <a:gd name="T1" fmla="*/ 11 h 42"/>
                      <a:gd name="T2" fmla="*/ 3 w 30"/>
                      <a:gd name="T3" fmla="*/ 7 h 42"/>
                      <a:gd name="T4" fmla="*/ 0 w 30"/>
                      <a:gd name="T5" fmla="*/ 3 h 42"/>
                      <a:gd name="T6" fmla="*/ 7 w 30"/>
                      <a:gd name="T7" fmla="*/ 1 h 42"/>
                      <a:gd name="T8" fmla="*/ 13 w 30"/>
                      <a:gd name="T9" fmla="*/ 8 h 42"/>
                      <a:gd name="T10" fmla="*/ 12 w 30"/>
                      <a:gd name="T11" fmla="*/ 10 h 42"/>
                      <a:gd name="T12" fmla="*/ 7 w 30"/>
                      <a:gd name="T13" fmla="*/ 11 h 4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 h="42">
                        <a:moveTo>
                          <a:pt x="16" y="33"/>
                        </a:moveTo>
                        <a:cubicBezTo>
                          <a:pt x="3" y="20"/>
                          <a:pt x="15" y="34"/>
                          <a:pt x="8" y="21"/>
                        </a:cubicBezTo>
                        <a:cubicBezTo>
                          <a:pt x="6" y="17"/>
                          <a:pt x="0" y="9"/>
                          <a:pt x="0" y="9"/>
                        </a:cubicBezTo>
                        <a:cubicBezTo>
                          <a:pt x="5" y="1"/>
                          <a:pt x="7" y="0"/>
                          <a:pt x="16" y="3"/>
                        </a:cubicBezTo>
                        <a:cubicBezTo>
                          <a:pt x="25" y="16"/>
                          <a:pt x="10" y="16"/>
                          <a:pt x="30" y="23"/>
                        </a:cubicBezTo>
                        <a:cubicBezTo>
                          <a:pt x="29" y="26"/>
                          <a:pt x="30" y="29"/>
                          <a:pt x="28" y="31"/>
                        </a:cubicBezTo>
                        <a:cubicBezTo>
                          <a:pt x="15" y="42"/>
                          <a:pt x="16" y="38"/>
                          <a:pt x="16" y="3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87" name="Freeform 70"/>
                  <p:cNvSpPr>
                    <a:spLocks/>
                  </p:cNvSpPr>
                  <p:nvPr/>
                </p:nvSpPr>
                <p:spPr bwMode="ltGray">
                  <a:xfrm>
                    <a:off x="4655" y="629"/>
                    <a:ext cx="11" cy="5"/>
                  </a:xfrm>
                  <a:custGeom>
                    <a:avLst/>
                    <a:gdLst>
                      <a:gd name="T0" fmla="*/ 7 w 25"/>
                      <a:gd name="T1" fmla="*/ 5 h 16"/>
                      <a:gd name="T2" fmla="*/ 1 w 25"/>
                      <a:gd name="T3" fmla="*/ 3 h 16"/>
                      <a:gd name="T4" fmla="*/ 7 w 25"/>
                      <a:gd name="T5" fmla="*/ 0 h 16"/>
                      <a:gd name="T6" fmla="*/ 7 w 25"/>
                      <a:gd name="T7" fmla="*/ 5 h 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 h="16">
                        <a:moveTo>
                          <a:pt x="15" y="16"/>
                        </a:moveTo>
                        <a:cubicBezTo>
                          <a:pt x="10" y="15"/>
                          <a:pt x="0" y="12"/>
                          <a:pt x="3" y="8"/>
                        </a:cubicBezTo>
                        <a:cubicBezTo>
                          <a:pt x="6" y="4"/>
                          <a:pt x="15" y="0"/>
                          <a:pt x="15" y="0"/>
                        </a:cubicBezTo>
                        <a:cubicBezTo>
                          <a:pt x="17" y="3"/>
                          <a:pt x="25" y="16"/>
                          <a:pt x="15"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88" name="Freeform 71"/>
                  <p:cNvSpPr>
                    <a:spLocks/>
                  </p:cNvSpPr>
                  <p:nvPr/>
                </p:nvSpPr>
                <p:spPr bwMode="ltGray">
                  <a:xfrm>
                    <a:off x="4609" y="635"/>
                    <a:ext cx="28" cy="16"/>
                  </a:xfrm>
                  <a:custGeom>
                    <a:avLst/>
                    <a:gdLst>
                      <a:gd name="T0" fmla="*/ 6 w 65"/>
                      <a:gd name="T1" fmla="*/ 8 h 46"/>
                      <a:gd name="T2" fmla="*/ 13 w 65"/>
                      <a:gd name="T3" fmla="*/ 1 h 46"/>
                      <a:gd name="T4" fmla="*/ 18 w 65"/>
                      <a:gd name="T5" fmla="*/ 0 h 46"/>
                      <a:gd name="T6" fmla="*/ 25 w 65"/>
                      <a:gd name="T7" fmla="*/ 4 h 46"/>
                      <a:gd name="T8" fmla="*/ 14 w 65"/>
                      <a:gd name="T9" fmla="*/ 9 h 46"/>
                      <a:gd name="T10" fmla="*/ 5 w 65"/>
                      <a:gd name="T11" fmla="*/ 16 h 46"/>
                      <a:gd name="T12" fmla="*/ 3 w 65"/>
                      <a:gd name="T13" fmla="*/ 7 h 46"/>
                      <a:gd name="T14" fmla="*/ 5 w 65"/>
                      <a:gd name="T15" fmla="*/ 5 h 46"/>
                      <a:gd name="T16" fmla="*/ 6 w 65"/>
                      <a:gd name="T17" fmla="*/ 8 h 4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5" h="46">
                        <a:moveTo>
                          <a:pt x="14" y="24"/>
                        </a:moveTo>
                        <a:cubicBezTo>
                          <a:pt x="18" y="13"/>
                          <a:pt x="16" y="9"/>
                          <a:pt x="30" y="4"/>
                        </a:cubicBezTo>
                        <a:cubicBezTo>
                          <a:pt x="34" y="3"/>
                          <a:pt x="42" y="0"/>
                          <a:pt x="42" y="0"/>
                        </a:cubicBezTo>
                        <a:cubicBezTo>
                          <a:pt x="50" y="1"/>
                          <a:pt x="65" y="0"/>
                          <a:pt x="58" y="12"/>
                        </a:cubicBezTo>
                        <a:cubicBezTo>
                          <a:pt x="53" y="21"/>
                          <a:pt x="40" y="21"/>
                          <a:pt x="32" y="26"/>
                        </a:cubicBezTo>
                        <a:cubicBezTo>
                          <a:pt x="26" y="35"/>
                          <a:pt x="23" y="42"/>
                          <a:pt x="12" y="46"/>
                        </a:cubicBezTo>
                        <a:cubicBezTo>
                          <a:pt x="0" y="42"/>
                          <a:pt x="5" y="30"/>
                          <a:pt x="8" y="20"/>
                        </a:cubicBezTo>
                        <a:cubicBezTo>
                          <a:pt x="9" y="18"/>
                          <a:pt x="10" y="13"/>
                          <a:pt x="12" y="14"/>
                        </a:cubicBezTo>
                        <a:cubicBezTo>
                          <a:pt x="15" y="16"/>
                          <a:pt x="13" y="21"/>
                          <a:pt x="14"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89" name="Freeform 72"/>
                  <p:cNvSpPr>
                    <a:spLocks/>
                  </p:cNvSpPr>
                  <p:nvPr/>
                </p:nvSpPr>
                <p:spPr bwMode="ltGray">
                  <a:xfrm>
                    <a:off x="4580" y="634"/>
                    <a:ext cx="29" cy="16"/>
                  </a:xfrm>
                  <a:custGeom>
                    <a:avLst/>
                    <a:gdLst>
                      <a:gd name="T0" fmla="*/ 0 w 69"/>
                      <a:gd name="T1" fmla="*/ 11 h 47"/>
                      <a:gd name="T2" fmla="*/ 8 w 69"/>
                      <a:gd name="T3" fmla="*/ 9 h 47"/>
                      <a:gd name="T4" fmla="*/ 22 w 69"/>
                      <a:gd name="T5" fmla="*/ 0 h 47"/>
                      <a:gd name="T6" fmla="*/ 27 w 69"/>
                      <a:gd name="T7" fmla="*/ 1 h 47"/>
                      <a:gd name="T8" fmla="*/ 21 w 69"/>
                      <a:gd name="T9" fmla="*/ 6 h 47"/>
                      <a:gd name="T10" fmla="*/ 12 w 69"/>
                      <a:gd name="T11" fmla="*/ 11 h 47"/>
                      <a:gd name="T12" fmla="*/ 9 w 69"/>
                      <a:gd name="T13" fmla="*/ 16 h 47"/>
                      <a:gd name="T14" fmla="*/ 7 w 69"/>
                      <a:gd name="T15" fmla="*/ 15 h 47"/>
                      <a:gd name="T16" fmla="*/ 5 w 69"/>
                      <a:gd name="T17" fmla="*/ 13 h 47"/>
                      <a:gd name="T18" fmla="*/ 0 w 69"/>
                      <a:gd name="T19" fmla="*/ 12 h 47"/>
                      <a:gd name="T20" fmla="*/ 0 w 69"/>
                      <a:gd name="T21" fmla="*/ 11 h 4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 h="47">
                        <a:moveTo>
                          <a:pt x="0" y="31"/>
                        </a:moveTo>
                        <a:cubicBezTo>
                          <a:pt x="7" y="24"/>
                          <a:pt x="9" y="22"/>
                          <a:pt x="18" y="25"/>
                        </a:cubicBezTo>
                        <a:cubicBezTo>
                          <a:pt x="25" y="4"/>
                          <a:pt x="36" y="12"/>
                          <a:pt x="52" y="1"/>
                        </a:cubicBezTo>
                        <a:cubicBezTo>
                          <a:pt x="56" y="2"/>
                          <a:pt x="61" y="0"/>
                          <a:pt x="64" y="3"/>
                        </a:cubicBezTo>
                        <a:cubicBezTo>
                          <a:pt x="69" y="8"/>
                          <a:pt x="50" y="19"/>
                          <a:pt x="50" y="19"/>
                        </a:cubicBezTo>
                        <a:cubicBezTo>
                          <a:pt x="46" y="31"/>
                          <a:pt x="35" y="22"/>
                          <a:pt x="28" y="33"/>
                        </a:cubicBezTo>
                        <a:cubicBezTo>
                          <a:pt x="31" y="41"/>
                          <a:pt x="31" y="44"/>
                          <a:pt x="22" y="47"/>
                        </a:cubicBezTo>
                        <a:cubicBezTo>
                          <a:pt x="20" y="46"/>
                          <a:pt x="18" y="46"/>
                          <a:pt x="16" y="45"/>
                        </a:cubicBezTo>
                        <a:cubicBezTo>
                          <a:pt x="14" y="43"/>
                          <a:pt x="14" y="40"/>
                          <a:pt x="12" y="39"/>
                        </a:cubicBezTo>
                        <a:cubicBezTo>
                          <a:pt x="8" y="37"/>
                          <a:pt x="0" y="35"/>
                          <a:pt x="0" y="35"/>
                        </a:cubicBezTo>
                        <a:cubicBezTo>
                          <a:pt x="2" y="26"/>
                          <a:pt x="3" y="25"/>
                          <a:pt x="0" y="3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0" name="Freeform 73"/>
                  <p:cNvSpPr>
                    <a:spLocks/>
                  </p:cNvSpPr>
                  <p:nvPr/>
                </p:nvSpPr>
                <p:spPr bwMode="ltGray">
                  <a:xfrm>
                    <a:off x="4423" y="547"/>
                    <a:ext cx="151" cy="93"/>
                  </a:xfrm>
                  <a:custGeom>
                    <a:avLst/>
                    <a:gdLst>
                      <a:gd name="T0" fmla="*/ 4 w 355"/>
                      <a:gd name="T1" fmla="*/ 1 h 277"/>
                      <a:gd name="T2" fmla="*/ 15 w 355"/>
                      <a:gd name="T3" fmla="*/ 6 h 277"/>
                      <a:gd name="T4" fmla="*/ 20 w 355"/>
                      <a:gd name="T5" fmla="*/ 10 h 277"/>
                      <a:gd name="T6" fmla="*/ 32 w 355"/>
                      <a:gd name="T7" fmla="*/ 17 h 277"/>
                      <a:gd name="T8" fmla="*/ 39 w 355"/>
                      <a:gd name="T9" fmla="*/ 22 h 277"/>
                      <a:gd name="T10" fmla="*/ 52 w 355"/>
                      <a:gd name="T11" fmla="*/ 33 h 277"/>
                      <a:gd name="T12" fmla="*/ 58 w 355"/>
                      <a:gd name="T13" fmla="*/ 43 h 277"/>
                      <a:gd name="T14" fmla="*/ 63 w 355"/>
                      <a:gd name="T15" fmla="*/ 44 h 277"/>
                      <a:gd name="T16" fmla="*/ 66 w 355"/>
                      <a:gd name="T17" fmla="*/ 50 h 277"/>
                      <a:gd name="T18" fmla="*/ 75 w 355"/>
                      <a:gd name="T19" fmla="*/ 51 h 277"/>
                      <a:gd name="T20" fmla="*/ 72 w 355"/>
                      <a:gd name="T21" fmla="*/ 66 h 277"/>
                      <a:gd name="T22" fmla="*/ 77 w 355"/>
                      <a:gd name="T23" fmla="*/ 75 h 277"/>
                      <a:gd name="T24" fmla="*/ 84 w 355"/>
                      <a:gd name="T25" fmla="*/ 78 h 277"/>
                      <a:gd name="T26" fmla="*/ 92 w 355"/>
                      <a:gd name="T27" fmla="*/ 79 h 277"/>
                      <a:gd name="T28" fmla="*/ 100 w 355"/>
                      <a:gd name="T29" fmla="*/ 81 h 277"/>
                      <a:gd name="T30" fmla="*/ 108 w 355"/>
                      <a:gd name="T31" fmla="*/ 79 h 277"/>
                      <a:gd name="T32" fmla="*/ 116 w 355"/>
                      <a:gd name="T33" fmla="*/ 83 h 277"/>
                      <a:gd name="T34" fmla="*/ 126 w 355"/>
                      <a:gd name="T35" fmla="*/ 86 h 277"/>
                      <a:gd name="T36" fmla="*/ 134 w 355"/>
                      <a:gd name="T37" fmla="*/ 89 h 277"/>
                      <a:gd name="T38" fmla="*/ 150 w 355"/>
                      <a:gd name="T39" fmla="*/ 89 h 277"/>
                      <a:gd name="T40" fmla="*/ 145 w 355"/>
                      <a:gd name="T41" fmla="*/ 92 h 277"/>
                      <a:gd name="T42" fmla="*/ 137 w 355"/>
                      <a:gd name="T43" fmla="*/ 91 h 277"/>
                      <a:gd name="T44" fmla="*/ 128 w 355"/>
                      <a:gd name="T45" fmla="*/ 91 h 277"/>
                      <a:gd name="T46" fmla="*/ 123 w 355"/>
                      <a:gd name="T47" fmla="*/ 89 h 277"/>
                      <a:gd name="T48" fmla="*/ 107 w 355"/>
                      <a:gd name="T49" fmla="*/ 89 h 277"/>
                      <a:gd name="T50" fmla="*/ 100 w 355"/>
                      <a:gd name="T51" fmla="*/ 87 h 277"/>
                      <a:gd name="T52" fmla="*/ 73 w 355"/>
                      <a:gd name="T53" fmla="*/ 81 h 277"/>
                      <a:gd name="T54" fmla="*/ 68 w 355"/>
                      <a:gd name="T55" fmla="*/ 73 h 277"/>
                      <a:gd name="T56" fmla="*/ 54 w 355"/>
                      <a:gd name="T57" fmla="*/ 67 h 277"/>
                      <a:gd name="T58" fmla="*/ 46 w 355"/>
                      <a:gd name="T59" fmla="*/ 62 h 277"/>
                      <a:gd name="T60" fmla="*/ 40 w 355"/>
                      <a:gd name="T61" fmla="*/ 53 h 277"/>
                      <a:gd name="T62" fmla="*/ 29 w 355"/>
                      <a:gd name="T63" fmla="*/ 36 h 277"/>
                      <a:gd name="T64" fmla="*/ 27 w 355"/>
                      <a:gd name="T65" fmla="*/ 34 h 277"/>
                      <a:gd name="T66" fmla="*/ 25 w 355"/>
                      <a:gd name="T67" fmla="*/ 34 h 277"/>
                      <a:gd name="T68" fmla="*/ 23 w 355"/>
                      <a:gd name="T69" fmla="*/ 30 h 277"/>
                      <a:gd name="T70" fmla="*/ 16 w 355"/>
                      <a:gd name="T71" fmla="*/ 19 h 277"/>
                      <a:gd name="T72" fmla="*/ 9 w 355"/>
                      <a:gd name="T73" fmla="*/ 13 h 277"/>
                      <a:gd name="T74" fmla="*/ 2 w 355"/>
                      <a:gd name="T75" fmla="*/ 7 h 277"/>
                      <a:gd name="T76" fmla="*/ 4 w 355"/>
                      <a:gd name="T77" fmla="*/ 1 h 277"/>
                      <a:gd name="T78" fmla="*/ 4 w 355"/>
                      <a:gd name="T79" fmla="*/ 1 h 27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55" h="277">
                        <a:moveTo>
                          <a:pt x="10" y="4"/>
                        </a:moveTo>
                        <a:cubicBezTo>
                          <a:pt x="22" y="0"/>
                          <a:pt x="24" y="14"/>
                          <a:pt x="36" y="18"/>
                        </a:cubicBezTo>
                        <a:cubicBezTo>
                          <a:pt x="37" y="19"/>
                          <a:pt x="45" y="29"/>
                          <a:pt x="46" y="30"/>
                        </a:cubicBezTo>
                        <a:cubicBezTo>
                          <a:pt x="56" y="40"/>
                          <a:pt x="67" y="38"/>
                          <a:pt x="76" y="52"/>
                        </a:cubicBezTo>
                        <a:cubicBezTo>
                          <a:pt x="80" y="58"/>
                          <a:pt x="92" y="66"/>
                          <a:pt x="92" y="66"/>
                        </a:cubicBezTo>
                        <a:cubicBezTo>
                          <a:pt x="96" y="79"/>
                          <a:pt x="112" y="88"/>
                          <a:pt x="122" y="98"/>
                        </a:cubicBezTo>
                        <a:cubicBezTo>
                          <a:pt x="124" y="105"/>
                          <a:pt x="130" y="124"/>
                          <a:pt x="136" y="128"/>
                        </a:cubicBezTo>
                        <a:cubicBezTo>
                          <a:pt x="140" y="130"/>
                          <a:pt x="148" y="132"/>
                          <a:pt x="148" y="132"/>
                        </a:cubicBezTo>
                        <a:cubicBezTo>
                          <a:pt x="150" y="138"/>
                          <a:pt x="154" y="150"/>
                          <a:pt x="154" y="150"/>
                        </a:cubicBezTo>
                        <a:cubicBezTo>
                          <a:pt x="161" y="139"/>
                          <a:pt x="168" y="144"/>
                          <a:pt x="176" y="152"/>
                        </a:cubicBezTo>
                        <a:cubicBezTo>
                          <a:pt x="174" y="167"/>
                          <a:pt x="173" y="181"/>
                          <a:pt x="170" y="196"/>
                        </a:cubicBezTo>
                        <a:cubicBezTo>
                          <a:pt x="171" y="202"/>
                          <a:pt x="174" y="220"/>
                          <a:pt x="180" y="224"/>
                        </a:cubicBezTo>
                        <a:cubicBezTo>
                          <a:pt x="185" y="228"/>
                          <a:pt x="193" y="228"/>
                          <a:pt x="198" y="232"/>
                        </a:cubicBezTo>
                        <a:cubicBezTo>
                          <a:pt x="204" y="230"/>
                          <a:pt x="216" y="234"/>
                          <a:pt x="216" y="234"/>
                        </a:cubicBezTo>
                        <a:cubicBezTo>
                          <a:pt x="223" y="241"/>
                          <a:pt x="225" y="245"/>
                          <a:pt x="236" y="242"/>
                        </a:cubicBezTo>
                        <a:cubicBezTo>
                          <a:pt x="242" y="240"/>
                          <a:pt x="254" y="236"/>
                          <a:pt x="254" y="236"/>
                        </a:cubicBezTo>
                        <a:cubicBezTo>
                          <a:pt x="260" y="240"/>
                          <a:pt x="265" y="246"/>
                          <a:pt x="272" y="248"/>
                        </a:cubicBezTo>
                        <a:cubicBezTo>
                          <a:pt x="277" y="250"/>
                          <a:pt x="291" y="252"/>
                          <a:pt x="296" y="256"/>
                        </a:cubicBezTo>
                        <a:cubicBezTo>
                          <a:pt x="301" y="260"/>
                          <a:pt x="314" y="264"/>
                          <a:pt x="314" y="264"/>
                        </a:cubicBezTo>
                        <a:cubicBezTo>
                          <a:pt x="330" y="263"/>
                          <a:pt x="338" y="261"/>
                          <a:pt x="352" y="266"/>
                        </a:cubicBezTo>
                        <a:cubicBezTo>
                          <a:pt x="355" y="275"/>
                          <a:pt x="350" y="277"/>
                          <a:pt x="342" y="274"/>
                        </a:cubicBezTo>
                        <a:cubicBezTo>
                          <a:pt x="336" y="276"/>
                          <a:pt x="322" y="272"/>
                          <a:pt x="322" y="272"/>
                        </a:cubicBezTo>
                        <a:cubicBezTo>
                          <a:pt x="314" y="275"/>
                          <a:pt x="308" y="272"/>
                          <a:pt x="300" y="270"/>
                        </a:cubicBezTo>
                        <a:cubicBezTo>
                          <a:pt x="296" y="269"/>
                          <a:pt x="288" y="266"/>
                          <a:pt x="288" y="266"/>
                        </a:cubicBezTo>
                        <a:cubicBezTo>
                          <a:pt x="276" y="270"/>
                          <a:pt x="264" y="266"/>
                          <a:pt x="252" y="264"/>
                        </a:cubicBezTo>
                        <a:cubicBezTo>
                          <a:pt x="245" y="259"/>
                          <a:pt x="242" y="257"/>
                          <a:pt x="234" y="260"/>
                        </a:cubicBezTo>
                        <a:cubicBezTo>
                          <a:pt x="211" y="252"/>
                          <a:pt x="192" y="256"/>
                          <a:pt x="172" y="242"/>
                        </a:cubicBezTo>
                        <a:cubicBezTo>
                          <a:pt x="165" y="231"/>
                          <a:pt x="176" y="221"/>
                          <a:pt x="160" y="216"/>
                        </a:cubicBezTo>
                        <a:cubicBezTo>
                          <a:pt x="154" y="233"/>
                          <a:pt x="136" y="203"/>
                          <a:pt x="126" y="200"/>
                        </a:cubicBezTo>
                        <a:cubicBezTo>
                          <a:pt x="120" y="196"/>
                          <a:pt x="114" y="190"/>
                          <a:pt x="108" y="186"/>
                        </a:cubicBezTo>
                        <a:cubicBezTo>
                          <a:pt x="104" y="175"/>
                          <a:pt x="104" y="165"/>
                          <a:pt x="94" y="158"/>
                        </a:cubicBezTo>
                        <a:cubicBezTo>
                          <a:pt x="83" y="142"/>
                          <a:pt x="85" y="119"/>
                          <a:pt x="68" y="108"/>
                        </a:cubicBezTo>
                        <a:cubicBezTo>
                          <a:pt x="67" y="106"/>
                          <a:pt x="66" y="104"/>
                          <a:pt x="64" y="102"/>
                        </a:cubicBezTo>
                        <a:cubicBezTo>
                          <a:pt x="62" y="101"/>
                          <a:pt x="59" y="102"/>
                          <a:pt x="58" y="100"/>
                        </a:cubicBezTo>
                        <a:cubicBezTo>
                          <a:pt x="56" y="97"/>
                          <a:pt x="54" y="88"/>
                          <a:pt x="54" y="88"/>
                        </a:cubicBezTo>
                        <a:cubicBezTo>
                          <a:pt x="59" y="73"/>
                          <a:pt x="52" y="61"/>
                          <a:pt x="38" y="58"/>
                        </a:cubicBezTo>
                        <a:cubicBezTo>
                          <a:pt x="32" y="49"/>
                          <a:pt x="31" y="44"/>
                          <a:pt x="20" y="40"/>
                        </a:cubicBezTo>
                        <a:cubicBezTo>
                          <a:pt x="16" y="27"/>
                          <a:pt x="16" y="26"/>
                          <a:pt x="4" y="22"/>
                        </a:cubicBezTo>
                        <a:cubicBezTo>
                          <a:pt x="1" y="13"/>
                          <a:pt x="0" y="5"/>
                          <a:pt x="10" y="2"/>
                        </a:cubicBezTo>
                        <a:cubicBezTo>
                          <a:pt x="18" y="5"/>
                          <a:pt x="18" y="4"/>
                          <a:pt x="10"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1" name="Freeform 74"/>
                  <p:cNvSpPr>
                    <a:spLocks/>
                  </p:cNvSpPr>
                  <p:nvPr/>
                </p:nvSpPr>
                <p:spPr bwMode="ltGray">
                  <a:xfrm>
                    <a:off x="4515" y="541"/>
                    <a:ext cx="67" cy="68"/>
                  </a:xfrm>
                  <a:custGeom>
                    <a:avLst/>
                    <a:gdLst>
                      <a:gd name="T0" fmla="*/ 23 w 156"/>
                      <a:gd name="T1" fmla="*/ 22 h 206"/>
                      <a:gd name="T2" fmla="*/ 28 w 156"/>
                      <a:gd name="T3" fmla="*/ 19 h 206"/>
                      <a:gd name="T4" fmla="*/ 29 w 156"/>
                      <a:gd name="T5" fmla="*/ 17 h 206"/>
                      <a:gd name="T6" fmla="*/ 34 w 156"/>
                      <a:gd name="T7" fmla="*/ 15 h 206"/>
                      <a:gd name="T8" fmla="*/ 46 w 156"/>
                      <a:gd name="T9" fmla="*/ 7 h 206"/>
                      <a:gd name="T10" fmla="*/ 48 w 156"/>
                      <a:gd name="T11" fmla="*/ 1 h 206"/>
                      <a:gd name="T12" fmla="*/ 53 w 156"/>
                      <a:gd name="T13" fmla="*/ 0 h 206"/>
                      <a:gd name="T14" fmla="*/ 64 w 156"/>
                      <a:gd name="T15" fmla="*/ 9 h 206"/>
                      <a:gd name="T16" fmla="*/ 63 w 156"/>
                      <a:gd name="T17" fmla="*/ 15 h 206"/>
                      <a:gd name="T18" fmla="*/ 54 w 156"/>
                      <a:gd name="T19" fmla="*/ 21 h 206"/>
                      <a:gd name="T20" fmla="*/ 57 w 156"/>
                      <a:gd name="T21" fmla="*/ 31 h 206"/>
                      <a:gd name="T22" fmla="*/ 61 w 156"/>
                      <a:gd name="T23" fmla="*/ 36 h 206"/>
                      <a:gd name="T24" fmla="*/ 63 w 156"/>
                      <a:gd name="T25" fmla="*/ 42 h 206"/>
                      <a:gd name="T26" fmla="*/ 55 w 156"/>
                      <a:gd name="T27" fmla="*/ 42 h 206"/>
                      <a:gd name="T28" fmla="*/ 50 w 156"/>
                      <a:gd name="T29" fmla="*/ 48 h 206"/>
                      <a:gd name="T30" fmla="*/ 45 w 156"/>
                      <a:gd name="T31" fmla="*/ 51 h 206"/>
                      <a:gd name="T32" fmla="*/ 43 w 156"/>
                      <a:gd name="T33" fmla="*/ 65 h 206"/>
                      <a:gd name="T34" fmla="*/ 38 w 156"/>
                      <a:gd name="T35" fmla="*/ 67 h 206"/>
                      <a:gd name="T36" fmla="*/ 35 w 156"/>
                      <a:gd name="T37" fmla="*/ 68 h 206"/>
                      <a:gd name="T38" fmla="*/ 33 w 156"/>
                      <a:gd name="T39" fmla="*/ 67 h 206"/>
                      <a:gd name="T40" fmla="*/ 31 w 156"/>
                      <a:gd name="T41" fmla="*/ 63 h 206"/>
                      <a:gd name="T42" fmla="*/ 26 w 156"/>
                      <a:gd name="T43" fmla="*/ 61 h 206"/>
                      <a:gd name="T44" fmla="*/ 18 w 156"/>
                      <a:gd name="T45" fmla="*/ 64 h 206"/>
                      <a:gd name="T46" fmla="*/ 12 w 156"/>
                      <a:gd name="T47" fmla="*/ 61 h 206"/>
                      <a:gd name="T48" fmla="*/ 4 w 156"/>
                      <a:gd name="T49" fmla="*/ 49 h 206"/>
                      <a:gd name="T50" fmla="*/ 2 w 156"/>
                      <a:gd name="T51" fmla="*/ 43 h 206"/>
                      <a:gd name="T52" fmla="*/ 0 w 156"/>
                      <a:gd name="T53" fmla="*/ 39 h 206"/>
                      <a:gd name="T54" fmla="*/ 9 w 156"/>
                      <a:gd name="T55" fmla="*/ 32 h 206"/>
                      <a:gd name="T56" fmla="*/ 14 w 156"/>
                      <a:gd name="T57" fmla="*/ 34 h 206"/>
                      <a:gd name="T58" fmla="*/ 15 w 156"/>
                      <a:gd name="T59" fmla="*/ 26 h 206"/>
                      <a:gd name="T60" fmla="*/ 22 w 156"/>
                      <a:gd name="T61" fmla="*/ 23 h 206"/>
                      <a:gd name="T62" fmla="*/ 23 w 156"/>
                      <a:gd name="T63" fmla="*/ 22 h 20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56" h="206">
                        <a:moveTo>
                          <a:pt x="54" y="66"/>
                        </a:moveTo>
                        <a:cubicBezTo>
                          <a:pt x="58" y="63"/>
                          <a:pt x="64" y="63"/>
                          <a:pt x="66" y="58"/>
                        </a:cubicBezTo>
                        <a:cubicBezTo>
                          <a:pt x="67" y="56"/>
                          <a:pt x="67" y="53"/>
                          <a:pt x="68" y="52"/>
                        </a:cubicBezTo>
                        <a:cubicBezTo>
                          <a:pt x="71" y="49"/>
                          <a:pt x="80" y="44"/>
                          <a:pt x="80" y="44"/>
                        </a:cubicBezTo>
                        <a:cubicBezTo>
                          <a:pt x="113" y="55"/>
                          <a:pt x="85" y="29"/>
                          <a:pt x="106" y="22"/>
                        </a:cubicBezTo>
                        <a:cubicBezTo>
                          <a:pt x="110" y="17"/>
                          <a:pt x="108" y="9"/>
                          <a:pt x="112" y="4"/>
                        </a:cubicBezTo>
                        <a:cubicBezTo>
                          <a:pt x="115" y="1"/>
                          <a:pt x="124" y="0"/>
                          <a:pt x="124" y="0"/>
                        </a:cubicBezTo>
                        <a:cubicBezTo>
                          <a:pt x="138" y="14"/>
                          <a:pt x="126" y="23"/>
                          <a:pt x="150" y="28"/>
                        </a:cubicBezTo>
                        <a:cubicBezTo>
                          <a:pt x="156" y="36"/>
                          <a:pt x="154" y="39"/>
                          <a:pt x="146" y="44"/>
                        </a:cubicBezTo>
                        <a:cubicBezTo>
                          <a:pt x="141" y="52"/>
                          <a:pt x="135" y="61"/>
                          <a:pt x="126" y="64"/>
                        </a:cubicBezTo>
                        <a:cubicBezTo>
                          <a:pt x="118" y="75"/>
                          <a:pt x="128" y="83"/>
                          <a:pt x="132" y="94"/>
                        </a:cubicBezTo>
                        <a:cubicBezTo>
                          <a:pt x="129" y="103"/>
                          <a:pt x="135" y="105"/>
                          <a:pt x="142" y="110"/>
                        </a:cubicBezTo>
                        <a:cubicBezTo>
                          <a:pt x="145" y="119"/>
                          <a:pt x="141" y="120"/>
                          <a:pt x="146" y="128"/>
                        </a:cubicBezTo>
                        <a:cubicBezTo>
                          <a:pt x="142" y="139"/>
                          <a:pt x="135" y="133"/>
                          <a:pt x="128" y="128"/>
                        </a:cubicBezTo>
                        <a:cubicBezTo>
                          <a:pt x="116" y="132"/>
                          <a:pt x="122" y="136"/>
                          <a:pt x="116" y="146"/>
                        </a:cubicBezTo>
                        <a:cubicBezTo>
                          <a:pt x="113" y="151"/>
                          <a:pt x="108" y="152"/>
                          <a:pt x="104" y="156"/>
                        </a:cubicBezTo>
                        <a:cubicBezTo>
                          <a:pt x="107" y="167"/>
                          <a:pt x="112" y="191"/>
                          <a:pt x="100" y="198"/>
                        </a:cubicBezTo>
                        <a:cubicBezTo>
                          <a:pt x="96" y="200"/>
                          <a:pt x="92" y="200"/>
                          <a:pt x="88" y="202"/>
                        </a:cubicBezTo>
                        <a:cubicBezTo>
                          <a:pt x="86" y="203"/>
                          <a:pt x="84" y="205"/>
                          <a:pt x="82" y="206"/>
                        </a:cubicBezTo>
                        <a:cubicBezTo>
                          <a:pt x="80" y="205"/>
                          <a:pt x="77" y="204"/>
                          <a:pt x="76" y="202"/>
                        </a:cubicBezTo>
                        <a:cubicBezTo>
                          <a:pt x="74" y="198"/>
                          <a:pt x="76" y="191"/>
                          <a:pt x="72" y="190"/>
                        </a:cubicBezTo>
                        <a:cubicBezTo>
                          <a:pt x="68" y="189"/>
                          <a:pt x="60" y="186"/>
                          <a:pt x="60" y="186"/>
                        </a:cubicBezTo>
                        <a:cubicBezTo>
                          <a:pt x="53" y="188"/>
                          <a:pt x="49" y="192"/>
                          <a:pt x="42" y="194"/>
                        </a:cubicBezTo>
                        <a:cubicBezTo>
                          <a:pt x="34" y="189"/>
                          <a:pt x="37" y="183"/>
                          <a:pt x="28" y="186"/>
                        </a:cubicBezTo>
                        <a:cubicBezTo>
                          <a:pt x="12" y="181"/>
                          <a:pt x="19" y="161"/>
                          <a:pt x="10" y="148"/>
                        </a:cubicBezTo>
                        <a:cubicBezTo>
                          <a:pt x="5" y="121"/>
                          <a:pt x="11" y="147"/>
                          <a:pt x="4" y="130"/>
                        </a:cubicBezTo>
                        <a:cubicBezTo>
                          <a:pt x="2" y="126"/>
                          <a:pt x="0" y="118"/>
                          <a:pt x="0" y="118"/>
                        </a:cubicBezTo>
                        <a:cubicBezTo>
                          <a:pt x="2" y="95"/>
                          <a:pt x="0" y="83"/>
                          <a:pt x="20" y="96"/>
                        </a:cubicBezTo>
                        <a:cubicBezTo>
                          <a:pt x="23" y="105"/>
                          <a:pt x="23" y="110"/>
                          <a:pt x="32" y="104"/>
                        </a:cubicBezTo>
                        <a:cubicBezTo>
                          <a:pt x="35" y="95"/>
                          <a:pt x="29" y="88"/>
                          <a:pt x="34" y="80"/>
                        </a:cubicBezTo>
                        <a:cubicBezTo>
                          <a:pt x="36" y="76"/>
                          <a:pt x="48" y="73"/>
                          <a:pt x="52" y="70"/>
                        </a:cubicBezTo>
                        <a:cubicBezTo>
                          <a:pt x="57" y="63"/>
                          <a:pt x="58" y="62"/>
                          <a:pt x="54" y="6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2" name="Freeform 75"/>
                  <p:cNvSpPr>
                    <a:spLocks/>
                  </p:cNvSpPr>
                  <p:nvPr/>
                </p:nvSpPr>
                <p:spPr bwMode="ltGray">
                  <a:xfrm>
                    <a:off x="4580" y="572"/>
                    <a:ext cx="47" cy="13"/>
                  </a:xfrm>
                  <a:custGeom>
                    <a:avLst/>
                    <a:gdLst>
                      <a:gd name="T0" fmla="*/ 2 w 109"/>
                      <a:gd name="T1" fmla="*/ 11 h 38"/>
                      <a:gd name="T2" fmla="*/ 8 w 109"/>
                      <a:gd name="T3" fmla="*/ 3 h 38"/>
                      <a:gd name="T4" fmla="*/ 20 w 109"/>
                      <a:gd name="T5" fmla="*/ 7 h 38"/>
                      <a:gd name="T6" fmla="*/ 31 w 109"/>
                      <a:gd name="T7" fmla="*/ 5 h 38"/>
                      <a:gd name="T8" fmla="*/ 39 w 109"/>
                      <a:gd name="T9" fmla="*/ 0 h 38"/>
                      <a:gd name="T10" fmla="*/ 33 w 109"/>
                      <a:gd name="T11" fmla="*/ 9 h 38"/>
                      <a:gd name="T12" fmla="*/ 26 w 109"/>
                      <a:gd name="T13" fmla="*/ 13 h 38"/>
                      <a:gd name="T14" fmla="*/ 18 w 109"/>
                      <a:gd name="T15" fmla="*/ 11 h 38"/>
                      <a:gd name="T16" fmla="*/ 6 w 109"/>
                      <a:gd name="T17" fmla="*/ 10 h 38"/>
                      <a:gd name="T18" fmla="*/ 2 w 109"/>
                      <a:gd name="T19" fmla="*/ 11 h 3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9" h="38">
                        <a:moveTo>
                          <a:pt x="4" y="32"/>
                        </a:moveTo>
                        <a:cubicBezTo>
                          <a:pt x="7" y="22"/>
                          <a:pt x="7" y="14"/>
                          <a:pt x="18" y="10"/>
                        </a:cubicBezTo>
                        <a:cubicBezTo>
                          <a:pt x="28" y="12"/>
                          <a:pt x="37" y="14"/>
                          <a:pt x="46" y="20"/>
                        </a:cubicBezTo>
                        <a:cubicBezTo>
                          <a:pt x="62" y="15"/>
                          <a:pt x="54" y="17"/>
                          <a:pt x="72" y="14"/>
                        </a:cubicBezTo>
                        <a:cubicBezTo>
                          <a:pt x="77" y="9"/>
                          <a:pt x="90" y="0"/>
                          <a:pt x="90" y="0"/>
                        </a:cubicBezTo>
                        <a:cubicBezTo>
                          <a:pt x="109" y="6"/>
                          <a:pt x="85" y="23"/>
                          <a:pt x="76" y="26"/>
                        </a:cubicBezTo>
                        <a:cubicBezTo>
                          <a:pt x="71" y="33"/>
                          <a:pt x="68" y="35"/>
                          <a:pt x="60" y="38"/>
                        </a:cubicBezTo>
                        <a:cubicBezTo>
                          <a:pt x="54" y="36"/>
                          <a:pt x="42" y="32"/>
                          <a:pt x="42" y="32"/>
                        </a:cubicBezTo>
                        <a:cubicBezTo>
                          <a:pt x="33" y="23"/>
                          <a:pt x="26" y="26"/>
                          <a:pt x="14" y="30"/>
                        </a:cubicBezTo>
                        <a:cubicBezTo>
                          <a:pt x="1" y="28"/>
                          <a:pt x="0" y="24"/>
                          <a:pt x="4"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3" name="Freeform 76"/>
                  <p:cNvSpPr>
                    <a:spLocks/>
                  </p:cNvSpPr>
                  <p:nvPr/>
                </p:nvSpPr>
                <p:spPr bwMode="ltGray">
                  <a:xfrm>
                    <a:off x="4578" y="588"/>
                    <a:ext cx="32" cy="34"/>
                  </a:xfrm>
                  <a:custGeom>
                    <a:avLst/>
                    <a:gdLst>
                      <a:gd name="T0" fmla="*/ 3 w 76"/>
                      <a:gd name="T1" fmla="*/ 6 h 104"/>
                      <a:gd name="T2" fmla="*/ 8 w 76"/>
                      <a:gd name="T3" fmla="*/ 0 h 104"/>
                      <a:gd name="T4" fmla="*/ 14 w 76"/>
                      <a:gd name="T5" fmla="*/ 6 h 104"/>
                      <a:gd name="T6" fmla="*/ 26 w 76"/>
                      <a:gd name="T7" fmla="*/ 1 h 104"/>
                      <a:gd name="T8" fmla="*/ 19 w 76"/>
                      <a:gd name="T9" fmla="*/ 11 h 104"/>
                      <a:gd name="T10" fmla="*/ 23 w 76"/>
                      <a:gd name="T11" fmla="*/ 16 h 104"/>
                      <a:gd name="T12" fmla="*/ 24 w 76"/>
                      <a:gd name="T13" fmla="*/ 20 h 104"/>
                      <a:gd name="T14" fmla="*/ 19 w 76"/>
                      <a:gd name="T15" fmla="*/ 24 h 104"/>
                      <a:gd name="T16" fmla="*/ 14 w 76"/>
                      <a:gd name="T17" fmla="*/ 20 h 104"/>
                      <a:gd name="T18" fmla="*/ 9 w 76"/>
                      <a:gd name="T19" fmla="*/ 16 h 104"/>
                      <a:gd name="T20" fmla="*/ 12 w 76"/>
                      <a:gd name="T21" fmla="*/ 22 h 104"/>
                      <a:gd name="T22" fmla="*/ 13 w 76"/>
                      <a:gd name="T23" fmla="*/ 24 h 104"/>
                      <a:gd name="T24" fmla="*/ 8 w 76"/>
                      <a:gd name="T25" fmla="*/ 34 h 104"/>
                      <a:gd name="T26" fmla="*/ 5 w 76"/>
                      <a:gd name="T27" fmla="*/ 33 h 104"/>
                      <a:gd name="T28" fmla="*/ 3 w 76"/>
                      <a:gd name="T29" fmla="*/ 29 h 104"/>
                      <a:gd name="T30" fmla="*/ 0 w 76"/>
                      <a:gd name="T31" fmla="*/ 18 h 104"/>
                      <a:gd name="T32" fmla="*/ 1 w 76"/>
                      <a:gd name="T33" fmla="*/ 10 h 104"/>
                      <a:gd name="T34" fmla="*/ 3 w 76"/>
                      <a:gd name="T35" fmla="*/ 6 h 10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6" h="104">
                        <a:moveTo>
                          <a:pt x="8" y="18"/>
                        </a:moveTo>
                        <a:cubicBezTo>
                          <a:pt x="10" y="8"/>
                          <a:pt x="9" y="3"/>
                          <a:pt x="18" y="0"/>
                        </a:cubicBezTo>
                        <a:cubicBezTo>
                          <a:pt x="28" y="3"/>
                          <a:pt x="25" y="12"/>
                          <a:pt x="34" y="18"/>
                        </a:cubicBezTo>
                        <a:cubicBezTo>
                          <a:pt x="46" y="16"/>
                          <a:pt x="51" y="8"/>
                          <a:pt x="62" y="4"/>
                        </a:cubicBezTo>
                        <a:cubicBezTo>
                          <a:pt x="76" y="9"/>
                          <a:pt x="56" y="31"/>
                          <a:pt x="46" y="34"/>
                        </a:cubicBezTo>
                        <a:cubicBezTo>
                          <a:pt x="51" y="56"/>
                          <a:pt x="43" y="29"/>
                          <a:pt x="54" y="48"/>
                        </a:cubicBezTo>
                        <a:cubicBezTo>
                          <a:pt x="56" y="52"/>
                          <a:pt x="58" y="60"/>
                          <a:pt x="58" y="60"/>
                        </a:cubicBezTo>
                        <a:cubicBezTo>
                          <a:pt x="55" y="68"/>
                          <a:pt x="54" y="71"/>
                          <a:pt x="46" y="74"/>
                        </a:cubicBezTo>
                        <a:cubicBezTo>
                          <a:pt x="38" y="71"/>
                          <a:pt x="37" y="68"/>
                          <a:pt x="34" y="60"/>
                        </a:cubicBezTo>
                        <a:cubicBezTo>
                          <a:pt x="33" y="50"/>
                          <a:pt x="32" y="33"/>
                          <a:pt x="22" y="48"/>
                        </a:cubicBezTo>
                        <a:cubicBezTo>
                          <a:pt x="25" y="60"/>
                          <a:pt x="23" y="53"/>
                          <a:pt x="28" y="68"/>
                        </a:cubicBezTo>
                        <a:cubicBezTo>
                          <a:pt x="29" y="70"/>
                          <a:pt x="30" y="74"/>
                          <a:pt x="30" y="74"/>
                        </a:cubicBezTo>
                        <a:cubicBezTo>
                          <a:pt x="24" y="84"/>
                          <a:pt x="22" y="93"/>
                          <a:pt x="20" y="104"/>
                        </a:cubicBezTo>
                        <a:cubicBezTo>
                          <a:pt x="17" y="103"/>
                          <a:pt x="14" y="104"/>
                          <a:pt x="12" y="102"/>
                        </a:cubicBezTo>
                        <a:cubicBezTo>
                          <a:pt x="9" y="99"/>
                          <a:pt x="8" y="90"/>
                          <a:pt x="8" y="90"/>
                        </a:cubicBezTo>
                        <a:cubicBezTo>
                          <a:pt x="13" y="75"/>
                          <a:pt x="14" y="64"/>
                          <a:pt x="0" y="54"/>
                        </a:cubicBezTo>
                        <a:cubicBezTo>
                          <a:pt x="1" y="46"/>
                          <a:pt x="1" y="38"/>
                          <a:pt x="2" y="30"/>
                        </a:cubicBezTo>
                        <a:cubicBezTo>
                          <a:pt x="2" y="27"/>
                          <a:pt x="13" y="2"/>
                          <a:pt x="8"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4" name="Freeform 77"/>
                  <p:cNvSpPr>
                    <a:spLocks/>
                  </p:cNvSpPr>
                  <p:nvPr/>
                </p:nvSpPr>
                <p:spPr bwMode="ltGray">
                  <a:xfrm>
                    <a:off x="4632" y="569"/>
                    <a:ext cx="16" cy="20"/>
                  </a:xfrm>
                  <a:custGeom>
                    <a:avLst/>
                    <a:gdLst>
                      <a:gd name="T0" fmla="*/ 1 w 37"/>
                      <a:gd name="T1" fmla="*/ 9 h 61"/>
                      <a:gd name="T2" fmla="*/ 6 w 37"/>
                      <a:gd name="T3" fmla="*/ 0 h 61"/>
                      <a:gd name="T4" fmla="*/ 6 w 37"/>
                      <a:gd name="T5" fmla="*/ 9 h 61"/>
                      <a:gd name="T6" fmla="*/ 16 w 37"/>
                      <a:gd name="T7" fmla="*/ 12 h 61"/>
                      <a:gd name="T8" fmla="*/ 8 w 37"/>
                      <a:gd name="T9" fmla="*/ 14 h 61"/>
                      <a:gd name="T10" fmla="*/ 2 w 37"/>
                      <a:gd name="T11" fmla="*/ 19 h 61"/>
                      <a:gd name="T12" fmla="*/ 0 w 37"/>
                      <a:gd name="T13" fmla="*/ 11 h 61"/>
                      <a:gd name="T14" fmla="*/ 1 w 37"/>
                      <a:gd name="T15" fmla="*/ 9 h 6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7" h="61">
                        <a:moveTo>
                          <a:pt x="3" y="28"/>
                        </a:moveTo>
                        <a:cubicBezTo>
                          <a:pt x="5" y="14"/>
                          <a:pt x="2" y="7"/>
                          <a:pt x="13" y="0"/>
                        </a:cubicBezTo>
                        <a:cubicBezTo>
                          <a:pt x="26" y="9"/>
                          <a:pt x="23" y="17"/>
                          <a:pt x="15" y="28"/>
                        </a:cubicBezTo>
                        <a:cubicBezTo>
                          <a:pt x="25" y="31"/>
                          <a:pt x="33" y="27"/>
                          <a:pt x="37" y="38"/>
                        </a:cubicBezTo>
                        <a:cubicBezTo>
                          <a:pt x="30" y="45"/>
                          <a:pt x="28" y="47"/>
                          <a:pt x="19" y="44"/>
                        </a:cubicBezTo>
                        <a:cubicBezTo>
                          <a:pt x="13" y="54"/>
                          <a:pt x="18" y="61"/>
                          <a:pt x="5" y="58"/>
                        </a:cubicBezTo>
                        <a:cubicBezTo>
                          <a:pt x="0" y="50"/>
                          <a:pt x="3" y="44"/>
                          <a:pt x="1" y="34"/>
                        </a:cubicBezTo>
                        <a:cubicBezTo>
                          <a:pt x="2" y="32"/>
                          <a:pt x="3" y="28"/>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5" name="Freeform 78"/>
                  <p:cNvSpPr>
                    <a:spLocks/>
                  </p:cNvSpPr>
                  <p:nvPr/>
                </p:nvSpPr>
                <p:spPr bwMode="ltGray">
                  <a:xfrm>
                    <a:off x="4636" y="600"/>
                    <a:ext cx="20" cy="10"/>
                  </a:xfrm>
                  <a:custGeom>
                    <a:avLst/>
                    <a:gdLst>
                      <a:gd name="T0" fmla="*/ 3 w 49"/>
                      <a:gd name="T1" fmla="*/ 0 h 29"/>
                      <a:gd name="T2" fmla="*/ 12 w 49"/>
                      <a:gd name="T3" fmla="*/ 0 h 29"/>
                      <a:gd name="T4" fmla="*/ 20 w 49"/>
                      <a:gd name="T5" fmla="*/ 6 h 29"/>
                      <a:gd name="T6" fmla="*/ 14 w 49"/>
                      <a:gd name="T7" fmla="*/ 5 h 29"/>
                      <a:gd name="T8" fmla="*/ 1 w 49"/>
                      <a:gd name="T9" fmla="*/ 6 h 29"/>
                      <a:gd name="T10" fmla="*/ 3 w 49"/>
                      <a:gd name="T11" fmla="*/ 0 h 2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29">
                        <a:moveTo>
                          <a:pt x="7" y="0"/>
                        </a:moveTo>
                        <a:cubicBezTo>
                          <a:pt x="15" y="6"/>
                          <a:pt x="19" y="2"/>
                          <a:pt x="29" y="0"/>
                        </a:cubicBezTo>
                        <a:cubicBezTo>
                          <a:pt x="45" y="5"/>
                          <a:pt x="40" y="3"/>
                          <a:pt x="49" y="16"/>
                        </a:cubicBezTo>
                        <a:cubicBezTo>
                          <a:pt x="46" y="29"/>
                          <a:pt x="42" y="21"/>
                          <a:pt x="35" y="14"/>
                        </a:cubicBezTo>
                        <a:cubicBezTo>
                          <a:pt x="26" y="15"/>
                          <a:pt x="12" y="19"/>
                          <a:pt x="3" y="16"/>
                        </a:cubicBezTo>
                        <a:cubicBezTo>
                          <a:pt x="0" y="6"/>
                          <a:pt x="7" y="10"/>
                          <a:pt x="7"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6" name="Freeform 79"/>
                  <p:cNvSpPr>
                    <a:spLocks/>
                  </p:cNvSpPr>
                  <p:nvPr/>
                </p:nvSpPr>
                <p:spPr bwMode="ltGray">
                  <a:xfrm>
                    <a:off x="4657" y="585"/>
                    <a:ext cx="26" cy="17"/>
                  </a:xfrm>
                  <a:custGeom>
                    <a:avLst/>
                    <a:gdLst>
                      <a:gd name="T0" fmla="*/ 9 w 61"/>
                      <a:gd name="T1" fmla="*/ 13 h 48"/>
                      <a:gd name="T2" fmla="*/ 6 w 61"/>
                      <a:gd name="T3" fmla="*/ 9 h 48"/>
                      <a:gd name="T4" fmla="*/ 1 w 61"/>
                      <a:gd name="T5" fmla="*/ 8 h 48"/>
                      <a:gd name="T6" fmla="*/ 6 w 61"/>
                      <a:gd name="T7" fmla="*/ 3 h 48"/>
                      <a:gd name="T8" fmla="*/ 11 w 61"/>
                      <a:gd name="T9" fmla="*/ 0 h 48"/>
                      <a:gd name="T10" fmla="*/ 21 w 61"/>
                      <a:gd name="T11" fmla="*/ 4 h 48"/>
                      <a:gd name="T12" fmla="*/ 23 w 61"/>
                      <a:gd name="T13" fmla="*/ 7 h 48"/>
                      <a:gd name="T14" fmla="*/ 26 w 61"/>
                      <a:gd name="T15" fmla="*/ 11 h 48"/>
                      <a:gd name="T16" fmla="*/ 17 w 61"/>
                      <a:gd name="T17" fmla="*/ 13 h 48"/>
                      <a:gd name="T18" fmla="*/ 10 w 61"/>
                      <a:gd name="T19" fmla="*/ 16 h 48"/>
                      <a:gd name="T20" fmla="*/ 9 w 61"/>
                      <a:gd name="T21" fmla="*/ 13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1" h="48">
                        <a:moveTo>
                          <a:pt x="21" y="38"/>
                        </a:moveTo>
                        <a:cubicBezTo>
                          <a:pt x="19" y="34"/>
                          <a:pt x="19" y="29"/>
                          <a:pt x="15" y="26"/>
                        </a:cubicBezTo>
                        <a:cubicBezTo>
                          <a:pt x="12" y="24"/>
                          <a:pt x="3" y="22"/>
                          <a:pt x="3" y="22"/>
                        </a:cubicBezTo>
                        <a:cubicBezTo>
                          <a:pt x="0" y="12"/>
                          <a:pt x="5" y="12"/>
                          <a:pt x="13" y="8"/>
                        </a:cubicBezTo>
                        <a:cubicBezTo>
                          <a:pt x="17" y="6"/>
                          <a:pt x="25" y="0"/>
                          <a:pt x="25" y="0"/>
                        </a:cubicBezTo>
                        <a:cubicBezTo>
                          <a:pt x="37" y="2"/>
                          <a:pt x="41" y="2"/>
                          <a:pt x="49" y="10"/>
                        </a:cubicBezTo>
                        <a:cubicBezTo>
                          <a:pt x="45" y="21"/>
                          <a:pt x="46" y="12"/>
                          <a:pt x="53" y="20"/>
                        </a:cubicBezTo>
                        <a:cubicBezTo>
                          <a:pt x="56" y="24"/>
                          <a:pt x="61" y="32"/>
                          <a:pt x="61" y="32"/>
                        </a:cubicBezTo>
                        <a:cubicBezTo>
                          <a:pt x="56" y="47"/>
                          <a:pt x="53" y="42"/>
                          <a:pt x="41" y="38"/>
                        </a:cubicBezTo>
                        <a:cubicBezTo>
                          <a:pt x="27" y="47"/>
                          <a:pt x="34" y="48"/>
                          <a:pt x="23" y="44"/>
                        </a:cubicBezTo>
                        <a:cubicBezTo>
                          <a:pt x="22" y="42"/>
                          <a:pt x="21" y="38"/>
                          <a:pt x="21"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7" name="Freeform 80"/>
                  <p:cNvSpPr>
                    <a:spLocks/>
                  </p:cNvSpPr>
                  <p:nvPr/>
                </p:nvSpPr>
                <p:spPr bwMode="ltGray">
                  <a:xfrm>
                    <a:off x="4664" y="593"/>
                    <a:ext cx="122" cy="61"/>
                  </a:xfrm>
                  <a:custGeom>
                    <a:avLst/>
                    <a:gdLst>
                      <a:gd name="T0" fmla="*/ 20 w 286"/>
                      <a:gd name="T1" fmla="*/ 9 h 182"/>
                      <a:gd name="T2" fmla="*/ 15 w 286"/>
                      <a:gd name="T3" fmla="*/ 5 h 182"/>
                      <a:gd name="T4" fmla="*/ 11 w 286"/>
                      <a:gd name="T5" fmla="*/ 10 h 182"/>
                      <a:gd name="T6" fmla="*/ 0 w 286"/>
                      <a:gd name="T7" fmla="*/ 8 h 182"/>
                      <a:gd name="T8" fmla="*/ 4 w 286"/>
                      <a:gd name="T9" fmla="*/ 14 h 182"/>
                      <a:gd name="T10" fmla="*/ 7 w 286"/>
                      <a:gd name="T11" fmla="*/ 21 h 182"/>
                      <a:gd name="T12" fmla="*/ 10 w 286"/>
                      <a:gd name="T13" fmla="*/ 16 h 182"/>
                      <a:gd name="T14" fmla="*/ 13 w 286"/>
                      <a:gd name="T15" fmla="*/ 15 h 182"/>
                      <a:gd name="T16" fmla="*/ 20 w 286"/>
                      <a:gd name="T17" fmla="*/ 19 h 182"/>
                      <a:gd name="T18" fmla="*/ 30 w 286"/>
                      <a:gd name="T19" fmla="*/ 21 h 182"/>
                      <a:gd name="T20" fmla="*/ 38 w 286"/>
                      <a:gd name="T21" fmla="*/ 24 h 182"/>
                      <a:gd name="T22" fmla="*/ 45 w 286"/>
                      <a:gd name="T23" fmla="*/ 34 h 182"/>
                      <a:gd name="T24" fmla="*/ 44 w 286"/>
                      <a:gd name="T25" fmla="*/ 41 h 182"/>
                      <a:gd name="T26" fmla="*/ 42 w 286"/>
                      <a:gd name="T27" fmla="*/ 45 h 182"/>
                      <a:gd name="T28" fmla="*/ 52 w 286"/>
                      <a:gd name="T29" fmla="*/ 43 h 182"/>
                      <a:gd name="T30" fmla="*/ 60 w 286"/>
                      <a:gd name="T31" fmla="*/ 47 h 182"/>
                      <a:gd name="T32" fmla="*/ 72 w 286"/>
                      <a:gd name="T33" fmla="*/ 50 h 182"/>
                      <a:gd name="T34" fmla="*/ 74 w 286"/>
                      <a:gd name="T35" fmla="*/ 49 h 182"/>
                      <a:gd name="T36" fmla="*/ 72 w 286"/>
                      <a:gd name="T37" fmla="*/ 45 h 182"/>
                      <a:gd name="T38" fmla="*/ 76 w 286"/>
                      <a:gd name="T39" fmla="*/ 46 h 182"/>
                      <a:gd name="T40" fmla="*/ 79 w 286"/>
                      <a:gd name="T41" fmla="*/ 40 h 182"/>
                      <a:gd name="T42" fmla="*/ 86 w 286"/>
                      <a:gd name="T43" fmla="*/ 41 h 182"/>
                      <a:gd name="T44" fmla="*/ 91 w 286"/>
                      <a:gd name="T45" fmla="*/ 44 h 182"/>
                      <a:gd name="T46" fmla="*/ 104 w 286"/>
                      <a:gd name="T47" fmla="*/ 56 h 182"/>
                      <a:gd name="T48" fmla="*/ 112 w 286"/>
                      <a:gd name="T49" fmla="*/ 60 h 182"/>
                      <a:gd name="T50" fmla="*/ 121 w 286"/>
                      <a:gd name="T51" fmla="*/ 57 h 182"/>
                      <a:gd name="T52" fmla="*/ 114 w 286"/>
                      <a:gd name="T53" fmla="*/ 54 h 182"/>
                      <a:gd name="T54" fmla="*/ 109 w 286"/>
                      <a:gd name="T55" fmla="*/ 46 h 182"/>
                      <a:gd name="T56" fmla="*/ 107 w 286"/>
                      <a:gd name="T57" fmla="*/ 44 h 182"/>
                      <a:gd name="T58" fmla="*/ 106 w 286"/>
                      <a:gd name="T59" fmla="*/ 41 h 182"/>
                      <a:gd name="T60" fmla="*/ 101 w 286"/>
                      <a:gd name="T61" fmla="*/ 39 h 182"/>
                      <a:gd name="T62" fmla="*/ 102 w 286"/>
                      <a:gd name="T63" fmla="*/ 32 h 182"/>
                      <a:gd name="T64" fmla="*/ 94 w 286"/>
                      <a:gd name="T65" fmla="*/ 29 h 182"/>
                      <a:gd name="T66" fmla="*/ 90 w 286"/>
                      <a:gd name="T67" fmla="*/ 23 h 182"/>
                      <a:gd name="T68" fmla="*/ 81 w 286"/>
                      <a:gd name="T69" fmla="*/ 18 h 182"/>
                      <a:gd name="T70" fmla="*/ 72 w 286"/>
                      <a:gd name="T71" fmla="*/ 13 h 182"/>
                      <a:gd name="T72" fmla="*/ 67 w 286"/>
                      <a:gd name="T73" fmla="*/ 11 h 182"/>
                      <a:gd name="T74" fmla="*/ 51 w 286"/>
                      <a:gd name="T75" fmla="*/ 5 h 182"/>
                      <a:gd name="T76" fmla="*/ 44 w 286"/>
                      <a:gd name="T77" fmla="*/ 1 h 182"/>
                      <a:gd name="T78" fmla="*/ 41 w 286"/>
                      <a:gd name="T79" fmla="*/ 0 h 182"/>
                      <a:gd name="T80" fmla="*/ 30 w 286"/>
                      <a:gd name="T81" fmla="*/ 3 h 182"/>
                      <a:gd name="T82" fmla="*/ 24 w 286"/>
                      <a:gd name="T83" fmla="*/ 11 h 182"/>
                      <a:gd name="T84" fmla="*/ 20 w 286"/>
                      <a:gd name="T85" fmla="*/ 9 h 18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86" h="182">
                        <a:moveTo>
                          <a:pt x="46" y="28"/>
                        </a:moveTo>
                        <a:cubicBezTo>
                          <a:pt x="41" y="14"/>
                          <a:pt x="46" y="17"/>
                          <a:pt x="36" y="14"/>
                        </a:cubicBezTo>
                        <a:cubicBezTo>
                          <a:pt x="31" y="17"/>
                          <a:pt x="26" y="30"/>
                          <a:pt x="26" y="30"/>
                        </a:cubicBezTo>
                        <a:cubicBezTo>
                          <a:pt x="12" y="25"/>
                          <a:pt x="19" y="21"/>
                          <a:pt x="0" y="24"/>
                        </a:cubicBezTo>
                        <a:cubicBezTo>
                          <a:pt x="2" y="33"/>
                          <a:pt x="2" y="37"/>
                          <a:pt x="10" y="42"/>
                        </a:cubicBezTo>
                        <a:cubicBezTo>
                          <a:pt x="12" y="49"/>
                          <a:pt x="14" y="55"/>
                          <a:pt x="16" y="62"/>
                        </a:cubicBezTo>
                        <a:cubicBezTo>
                          <a:pt x="24" y="59"/>
                          <a:pt x="27" y="57"/>
                          <a:pt x="24" y="48"/>
                        </a:cubicBezTo>
                        <a:cubicBezTo>
                          <a:pt x="26" y="47"/>
                          <a:pt x="28" y="43"/>
                          <a:pt x="30" y="44"/>
                        </a:cubicBezTo>
                        <a:cubicBezTo>
                          <a:pt x="48" y="48"/>
                          <a:pt x="36" y="52"/>
                          <a:pt x="48" y="56"/>
                        </a:cubicBezTo>
                        <a:cubicBezTo>
                          <a:pt x="74" y="65"/>
                          <a:pt x="47" y="56"/>
                          <a:pt x="70" y="62"/>
                        </a:cubicBezTo>
                        <a:cubicBezTo>
                          <a:pt x="77" y="64"/>
                          <a:pt x="88" y="72"/>
                          <a:pt x="88" y="72"/>
                        </a:cubicBezTo>
                        <a:cubicBezTo>
                          <a:pt x="96" y="84"/>
                          <a:pt x="102" y="87"/>
                          <a:pt x="106" y="102"/>
                        </a:cubicBezTo>
                        <a:cubicBezTo>
                          <a:pt x="105" y="109"/>
                          <a:pt x="106" y="115"/>
                          <a:pt x="104" y="122"/>
                        </a:cubicBezTo>
                        <a:cubicBezTo>
                          <a:pt x="103" y="126"/>
                          <a:pt x="94" y="132"/>
                          <a:pt x="98" y="134"/>
                        </a:cubicBezTo>
                        <a:cubicBezTo>
                          <a:pt x="106" y="137"/>
                          <a:pt x="122" y="128"/>
                          <a:pt x="122" y="128"/>
                        </a:cubicBezTo>
                        <a:cubicBezTo>
                          <a:pt x="130" y="131"/>
                          <a:pt x="133" y="135"/>
                          <a:pt x="140" y="140"/>
                        </a:cubicBezTo>
                        <a:cubicBezTo>
                          <a:pt x="148" y="145"/>
                          <a:pt x="159" y="145"/>
                          <a:pt x="168" y="148"/>
                        </a:cubicBezTo>
                        <a:cubicBezTo>
                          <a:pt x="170" y="147"/>
                          <a:pt x="173" y="148"/>
                          <a:pt x="174" y="146"/>
                        </a:cubicBezTo>
                        <a:cubicBezTo>
                          <a:pt x="176" y="142"/>
                          <a:pt x="164" y="136"/>
                          <a:pt x="168" y="134"/>
                        </a:cubicBezTo>
                        <a:cubicBezTo>
                          <a:pt x="171" y="132"/>
                          <a:pt x="175" y="135"/>
                          <a:pt x="178" y="136"/>
                        </a:cubicBezTo>
                        <a:cubicBezTo>
                          <a:pt x="182" y="131"/>
                          <a:pt x="186" y="118"/>
                          <a:pt x="186" y="118"/>
                        </a:cubicBezTo>
                        <a:cubicBezTo>
                          <a:pt x="189" y="119"/>
                          <a:pt x="199" y="120"/>
                          <a:pt x="202" y="122"/>
                        </a:cubicBezTo>
                        <a:cubicBezTo>
                          <a:pt x="206" y="124"/>
                          <a:pt x="214" y="130"/>
                          <a:pt x="214" y="130"/>
                        </a:cubicBezTo>
                        <a:cubicBezTo>
                          <a:pt x="224" y="145"/>
                          <a:pt x="228" y="158"/>
                          <a:pt x="244" y="168"/>
                        </a:cubicBezTo>
                        <a:cubicBezTo>
                          <a:pt x="250" y="172"/>
                          <a:pt x="262" y="178"/>
                          <a:pt x="262" y="178"/>
                        </a:cubicBezTo>
                        <a:cubicBezTo>
                          <a:pt x="265" y="178"/>
                          <a:pt x="286" y="182"/>
                          <a:pt x="284" y="170"/>
                        </a:cubicBezTo>
                        <a:cubicBezTo>
                          <a:pt x="283" y="164"/>
                          <a:pt x="268" y="160"/>
                          <a:pt x="268" y="160"/>
                        </a:cubicBezTo>
                        <a:cubicBezTo>
                          <a:pt x="261" y="150"/>
                          <a:pt x="270" y="143"/>
                          <a:pt x="256" y="138"/>
                        </a:cubicBezTo>
                        <a:cubicBezTo>
                          <a:pt x="254" y="136"/>
                          <a:pt x="251" y="135"/>
                          <a:pt x="250" y="132"/>
                        </a:cubicBezTo>
                        <a:cubicBezTo>
                          <a:pt x="248" y="129"/>
                          <a:pt x="250" y="125"/>
                          <a:pt x="248" y="122"/>
                        </a:cubicBezTo>
                        <a:cubicBezTo>
                          <a:pt x="246" y="118"/>
                          <a:pt x="240" y="118"/>
                          <a:pt x="236" y="116"/>
                        </a:cubicBezTo>
                        <a:cubicBezTo>
                          <a:pt x="230" y="107"/>
                          <a:pt x="227" y="100"/>
                          <a:pt x="240" y="96"/>
                        </a:cubicBezTo>
                        <a:cubicBezTo>
                          <a:pt x="236" y="83"/>
                          <a:pt x="236" y="84"/>
                          <a:pt x="220" y="86"/>
                        </a:cubicBezTo>
                        <a:cubicBezTo>
                          <a:pt x="209" y="82"/>
                          <a:pt x="208" y="82"/>
                          <a:pt x="210" y="70"/>
                        </a:cubicBezTo>
                        <a:cubicBezTo>
                          <a:pt x="207" y="60"/>
                          <a:pt x="199" y="57"/>
                          <a:pt x="190" y="54"/>
                        </a:cubicBezTo>
                        <a:cubicBezTo>
                          <a:pt x="181" y="45"/>
                          <a:pt x="181" y="42"/>
                          <a:pt x="168" y="38"/>
                        </a:cubicBezTo>
                        <a:cubicBezTo>
                          <a:pt x="164" y="37"/>
                          <a:pt x="156" y="34"/>
                          <a:pt x="156" y="34"/>
                        </a:cubicBezTo>
                        <a:cubicBezTo>
                          <a:pt x="146" y="24"/>
                          <a:pt x="134" y="21"/>
                          <a:pt x="120" y="16"/>
                        </a:cubicBezTo>
                        <a:cubicBezTo>
                          <a:pt x="113" y="14"/>
                          <a:pt x="108" y="8"/>
                          <a:pt x="102" y="4"/>
                        </a:cubicBezTo>
                        <a:cubicBezTo>
                          <a:pt x="100" y="3"/>
                          <a:pt x="96" y="0"/>
                          <a:pt x="96" y="0"/>
                        </a:cubicBezTo>
                        <a:cubicBezTo>
                          <a:pt x="83" y="2"/>
                          <a:pt x="79" y="1"/>
                          <a:pt x="70" y="10"/>
                        </a:cubicBezTo>
                        <a:cubicBezTo>
                          <a:pt x="67" y="19"/>
                          <a:pt x="63" y="27"/>
                          <a:pt x="56" y="32"/>
                        </a:cubicBezTo>
                        <a:cubicBezTo>
                          <a:pt x="49" y="30"/>
                          <a:pt x="52" y="31"/>
                          <a:pt x="4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8" name="Freeform 81"/>
                  <p:cNvSpPr>
                    <a:spLocks/>
                  </p:cNvSpPr>
                  <p:nvPr/>
                </p:nvSpPr>
                <p:spPr bwMode="ltGray">
                  <a:xfrm>
                    <a:off x="4770" y="599"/>
                    <a:ext cx="33" cy="26"/>
                  </a:xfrm>
                  <a:custGeom>
                    <a:avLst/>
                    <a:gdLst>
                      <a:gd name="T0" fmla="*/ 0 w 78"/>
                      <a:gd name="T1" fmla="*/ 19 h 78"/>
                      <a:gd name="T2" fmla="*/ 11 w 78"/>
                      <a:gd name="T3" fmla="*/ 20 h 78"/>
                      <a:gd name="T4" fmla="*/ 19 w 78"/>
                      <a:gd name="T5" fmla="*/ 16 h 78"/>
                      <a:gd name="T6" fmla="*/ 24 w 78"/>
                      <a:gd name="T7" fmla="*/ 10 h 78"/>
                      <a:gd name="T8" fmla="*/ 18 w 78"/>
                      <a:gd name="T9" fmla="*/ 5 h 78"/>
                      <a:gd name="T10" fmla="*/ 18 w 78"/>
                      <a:gd name="T11" fmla="*/ 1 h 78"/>
                      <a:gd name="T12" fmla="*/ 30 w 78"/>
                      <a:gd name="T13" fmla="*/ 9 h 78"/>
                      <a:gd name="T14" fmla="*/ 28 w 78"/>
                      <a:gd name="T15" fmla="*/ 18 h 78"/>
                      <a:gd name="T16" fmla="*/ 14 w 78"/>
                      <a:gd name="T17" fmla="*/ 26 h 78"/>
                      <a:gd name="T18" fmla="*/ 4 w 78"/>
                      <a:gd name="T19" fmla="*/ 22 h 78"/>
                      <a:gd name="T20" fmla="*/ 1 w 78"/>
                      <a:gd name="T21" fmla="*/ 21 h 78"/>
                      <a:gd name="T22" fmla="*/ 0 w 78"/>
                      <a:gd name="T23" fmla="*/ 19 h 7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8" h="78">
                        <a:moveTo>
                          <a:pt x="1" y="58"/>
                        </a:moveTo>
                        <a:cubicBezTo>
                          <a:pt x="6" y="44"/>
                          <a:pt x="18" y="57"/>
                          <a:pt x="27" y="60"/>
                        </a:cubicBezTo>
                        <a:cubicBezTo>
                          <a:pt x="35" y="57"/>
                          <a:pt x="38" y="52"/>
                          <a:pt x="45" y="48"/>
                        </a:cubicBezTo>
                        <a:cubicBezTo>
                          <a:pt x="48" y="40"/>
                          <a:pt x="51" y="36"/>
                          <a:pt x="57" y="30"/>
                        </a:cubicBezTo>
                        <a:cubicBezTo>
                          <a:pt x="55" y="23"/>
                          <a:pt x="43" y="14"/>
                          <a:pt x="43" y="14"/>
                        </a:cubicBezTo>
                        <a:cubicBezTo>
                          <a:pt x="33" y="0"/>
                          <a:pt x="30" y="1"/>
                          <a:pt x="43" y="4"/>
                        </a:cubicBezTo>
                        <a:cubicBezTo>
                          <a:pt x="54" y="11"/>
                          <a:pt x="58" y="22"/>
                          <a:pt x="71" y="26"/>
                        </a:cubicBezTo>
                        <a:cubicBezTo>
                          <a:pt x="78" y="37"/>
                          <a:pt x="78" y="46"/>
                          <a:pt x="67" y="54"/>
                        </a:cubicBezTo>
                        <a:cubicBezTo>
                          <a:pt x="51" y="49"/>
                          <a:pt x="53" y="71"/>
                          <a:pt x="33" y="78"/>
                        </a:cubicBezTo>
                        <a:cubicBezTo>
                          <a:pt x="16" y="72"/>
                          <a:pt x="25" y="76"/>
                          <a:pt x="9" y="66"/>
                        </a:cubicBezTo>
                        <a:cubicBezTo>
                          <a:pt x="7" y="65"/>
                          <a:pt x="3" y="62"/>
                          <a:pt x="3" y="62"/>
                        </a:cubicBezTo>
                        <a:cubicBezTo>
                          <a:pt x="0" y="54"/>
                          <a:pt x="13" y="42"/>
                          <a:pt x="1" y="5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9" name="Freeform 82"/>
                  <p:cNvSpPr>
                    <a:spLocks/>
                  </p:cNvSpPr>
                  <p:nvPr/>
                </p:nvSpPr>
                <p:spPr bwMode="ltGray">
                  <a:xfrm>
                    <a:off x="4840" y="544"/>
                    <a:ext cx="8" cy="6"/>
                  </a:xfrm>
                  <a:custGeom>
                    <a:avLst/>
                    <a:gdLst>
                      <a:gd name="T0" fmla="*/ 1 w 17"/>
                      <a:gd name="T1" fmla="*/ 1 h 18"/>
                      <a:gd name="T2" fmla="*/ 1 w 17"/>
                      <a:gd name="T3" fmla="*/ 5 h 18"/>
                      <a:gd name="T4" fmla="*/ 1 w 17"/>
                      <a:gd name="T5" fmla="*/ 1 h 18"/>
                      <a:gd name="T6" fmla="*/ 0 60000 65536"/>
                      <a:gd name="T7" fmla="*/ 0 60000 65536"/>
                      <a:gd name="T8" fmla="*/ 0 60000 65536"/>
                    </a:gdLst>
                    <a:ahLst/>
                    <a:cxnLst>
                      <a:cxn ang="T6">
                        <a:pos x="T0" y="T1"/>
                      </a:cxn>
                      <a:cxn ang="T7">
                        <a:pos x="T2" y="T3"/>
                      </a:cxn>
                      <a:cxn ang="T8">
                        <a:pos x="T4" y="T5"/>
                      </a:cxn>
                    </a:cxnLst>
                    <a:rect l="0" t="0" r="r" b="b"/>
                    <a:pathLst>
                      <a:path w="17" h="18">
                        <a:moveTo>
                          <a:pt x="3" y="4"/>
                        </a:moveTo>
                        <a:cubicBezTo>
                          <a:pt x="17" y="7"/>
                          <a:pt x="16" y="18"/>
                          <a:pt x="3" y="14"/>
                        </a:cubicBezTo>
                        <a:cubicBezTo>
                          <a:pt x="0" y="6"/>
                          <a:pt x="7" y="0"/>
                          <a:pt x="3"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0" name="Freeform 83"/>
                  <p:cNvSpPr>
                    <a:spLocks/>
                  </p:cNvSpPr>
                  <p:nvPr/>
                </p:nvSpPr>
                <p:spPr bwMode="ltGray">
                  <a:xfrm>
                    <a:off x="4747" y="494"/>
                    <a:ext cx="8" cy="5"/>
                  </a:xfrm>
                  <a:custGeom>
                    <a:avLst/>
                    <a:gdLst>
                      <a:gd name="T0" fmla="*/ 3 w 20"/>
                      <a:gd name="T1" fmla="*/ 4 h 15"/>
                      <a:gd name="T2" fmla="*/ 7 w 20"/>
                      <a:gd name="T3" fmla="*/ 1 h 15"/>
                      <a:gd name="T4" fmla="*/ 4 w 20"/>
                      <a:gd name="T5" fmla="*/ 4 h 15"/>
                      <a:gd name="T6" fmla="*/ 3 w 20"/>
                      <a:gd name="T7" fmla="*/ 4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1"/>
                          <a:pt x="6" y="0"/>
                          <a:pt x="17" y="2"/>
                        </a:cubicBezTo>
                        <a:cubicBezTo>
                          <a:pt x="20" y="10"/>
                          <a:pt x="18" y="15"/>
                          <a:pt x="9" y="12"/>
                        </a:cubicBezTo>
                        <a:cubicBezTo>
                          <a:pt x="4" y="4"/>
                          <a:pt x="4" y="4"/>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1" name="Freeform 84"/>
                  <p:cNvSpPr>
                    <a:spLocks/>
                  </p:cNvSpPr>
                  <p:nvPr/>
                </p:nvSpPr>
                <p:spPr bwMode="ltGray">
                  <a:xfrm>
                    <a:off x="4676" y="536"/>
                    <a:ext cx="8" cy="5"/>
                  </a:xfrm>
                  <a:custGeom>
                    <a:avLst/>
                    <a:gdLst>
                      <a:gd name="T0" fmla="*/ 3 w 20"/>
                      <a:gd name="T1" fmla="*/ 4 h 15"/>
                      <a:gd name="T2" fmla="*/ 6 w 20"/>
                      <a:gd name="T3" fmla="*/ 1 h 15"/>
                      <a:gd name="T4" fmla="*/ 6 w 20"/>
                      <a:gd name="T5" fmla="*/ 5 h 15"/>
                      <a:gd name="T6" fmla="*/ 3 w 20"/>
                      <a:gd name="T7" fmla="*/ 4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2"/>
                          <a:pt x="3" y="0"/>
                          <a:pt x="15" y="2"/>
                        </a:cubicBezTo>
                        <a:cubicBezTo>
                          <a:pt x="16" y="4"/>
                          <a:pt x="20" y="12"/>
                          <a:pt x="15" y="14"/>
                        </a:cubicBezTo>
                        <a:cubicBezTo>
                          <a:pt x="12" y="15"/>
                          <a:pt x="7" y="12"/>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2" name="Freeform 85"/>
                  <p:cNvSpPr>
                    <a:spLocks/>
                  </p:cNvSpPr>
                  <p:nvPr/>
                </p:nvSpPr>
                <p:spPr bwMode="ltGray">
                  <a:xfrm>
                    <a:off x="4598" y="523"/>
                    <a:ext cx="34" cy="27"/>
                  </a:xfrm>
                  <a:custGeom>
                    <a:avLst/>
                    <a:gdLst>
                      <a:gd name="T0" fmla="*/ 0 w 80"/>
                      <a:gd name="T1" fmla="*/ 17 h 80"/>
                      <a:gd name="T2" fmla="*/ 6 w 80"/>
                      <a:gd name="T3" fmla="*/ 8 h 80"/>
                      <a:gd name="T4" fmla="*/ 11 w 80"/>
                      <a:gd name="T5" fmla="*/ 7 h 80"/>
                      <a:gd name="T6" fmla="*/ 20 w 80"/>
                      <a:gd name="T7" fmla="*/ 6 h 80"/>
                      <a:gd name="T8" fmla="*/ 25 w 80"/>
                      <a:gd name="T9" fmla="*/ 0 h 80"/>
                      <a:gd name="T10" fmla="*/ 34 w 80"/>
                      <a:gd name="T11" fmla="*/ 14 h 80"/>
                      <a:gd name="T12" fmla="*/ 30 w 80"/>
                      <a:gd name="T13" fmla="*/ 19 h 80"/>
                      <a:gd name="T14" fmla="*/ 23 w 80"/>
                      <a:gd name="T15" fmla="*/ 21 h 80"/>
                      <a:gd name="T16" fmla="*/ 20 w 80"/>
                      <a:gd name="T17" fmla="*/ 27 h 80"/>
                      <a:gd name="T18" fmla="*/ 14 w 80"/>
                      <a:gd name="T19" fmla="*/ 23 h 80"/>
                      <a:gd name="T20" fmla="*/ 16 w 80"/>
                      <a:gd name="T21" fmla="*/ 18 h 80"/>
                      <a:gd name="T22" fmla="*/ 13 w 80"/>
                      <a:gd name="T23" fmla="*/ 9 h 80"/>
                      <a:gd name="T24" fmla="*/ 9 w 80"/>
                      <a:gd name="T25" fmla="*/ 16 h 80"/>
                      <a:gd name="T26" fmla="*/ 3 w 80"/>
                      <a:gd name="T27" fmla="*/ 19 h 80"/>
                      <a:gd name="T28" fmla="*/ 0 w 80"/>
                      <a:gd name="T29" fmla="*/ 17 h 8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0" h="80">
                        <a:moveTo>
                          <a:pt x="0" y="50"/>
                        </a:moveTo>
                        <a:cubicBezTo>
                          <a:pt x="1" y="47"/>
                          <a:pt x="12" y="25"/>
                          <a:pt x="14" y="24"/>
                        </a:cubicBezTo>
                        <a:cubicBezTo>
                          <a:pt x="17" y="22"/>
                          <a:pt x="26" y="20"/>
                          <a:pt x="26" y="20"/>
                        </a:cubicBezTo>
                        <a:cubicBezTo>
                          <a:pt x="34" y="23"/>
                          <a:pt x="40" y="21"/>
                          <a:pt x="48" y="18"/>
                        </a:cubicBezTo>
                        <a:cubicBezTo>
                          <a:pt x="52" y="12"/>
                          <a:pt x="54" y="6"/>
                          <a:pt x="58" y="0"/>
                        </a:cubicBezTo>
                        <a:cubicBezTo>
                          <a:pt x="70" y="4"/>
                          <a:pt x="76" y="28"/>
                          <a:pt x="80" y="40"/>
                        </a:cubicBezTo>
                        <a:cubicBezTo>
                          <a:pt x="75" y="54"/>
                          <a:pt x="80" y="50"/>
                          <a:pt x="70" y="56"/>
                        </a:cubicBezTo>
                        <a:cubicBezTo>
                          <a:pt x="61" y="53"/>
                          <a:pt x="59" y="54"/>
                          <a:pt x="54" y="62"/>
                        </a:cubicBezTo>
                        <a:cubicBezTo>
                          <a:pt x="57" y="71"/>
                          <a:pt x="56" y="75"/>
                          <a:pt x="48" y="80"/>
                        </a:cubicBezTo>
                        <a:cubicBezTo>
                          <a:pt x="40" y="77"/>
                          <a:pt x="39" y="72"/>
                          <a:pt x="32" y="68"/>
                        </a:cubicBezTo>
                        <a:cubicBezTo>
                          <a:pt x="26" y="59"/>
                          <a:pt x="30" y="57"/>
                          <a:pt x="38" y="52"/>
                        </a:cubicBezTo>
                        <a:cubicBezTo>
                          <a:pt x="41" y="42"/>
                          <a:pt x="39" y="34"/>
                          <a:pt x="30" y="28"/>
                        </a:cubicBezTo>
                        <a:cubicBezTo>
                          <a:pt x="20" y="31"/>
                          <a:pt x="30" y="40"/>
                          <a:pt x="20" y="48"/>
                        </a:cubicBezTo>
                        <a:cubicBezTo>
                          <a:pt x="16" y="51"/>
                          <a:pt x="8" y="56"/>
                          <a:pt x="8" y="56"/>
                        </a:cubicBezTo>
                        <a:cubicBezTo>
                          <a:pt x="2" y="50"/>
                          <a:pt x="5" y="50"/>
                          <a:pt x="0" y="5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3" name="Freeform 86"/>
                  <p:cNvSpPr>
                    <a:spLocks/>
                  </p:cNvSpPr>
                  <p:nvPr/>
                </p:nvSpPr>
                <p:spPr bwMode="ltGray">
                  <a:xfrm>
                    <a:off x="4587" y="466"/>
                    <a:ext cx="40" cy="58"/>
                  </a:xfrm>
                  <a:custGeom>
                    <a:avLst/>
                    <a:gdLst>
                      <a:gd name="T0" fmla="*/ 6 w 94"/>
                      <a:gd name="T1" fmla="*/ 32 h 174"/>
                      <a:gd name="T2" fmla="*/ 11 w 94"/>
                      <a:gd name="T3" fmla="*/ 43 h 174"/>
                      <a:gd name="T4" fmla="*/ 14 w 94"/>
                      <a:gd name="T5" fmla="*/ 36 h 174"/>
                      <a:gd name="T6" fmla="*/ 22 w 94"/>
                      <a:gd name="T7" fmla="*/ 33 h 174"/>
                      <a:gd name="T8" fmla="*/ 20 w 94"/>
                      <a:gd name="T9" fmla="*/ 41 h 174"/>
                      <a:gd name="T10" fmla="*/ 28 w 94"/>
                      <a:gd name="T11" fmla="*/ 42 h 174"/>
                      <a:gd name="T12" fmla="*/ 32 w 94"/>
                      <a:gd name="T13" fmla="*/ 47 h 174"/>
                      <a:gd name="T14" fmla="*/ 25 w 94"/>
                      <a:gd name="T15" fmla="*/ 49 h 174"/>
                      <a:gd name="T16" fmla="*/ 31 w 94"/>
                      <a:gd name="T17" fmla="*/ 58 h 174"/>
                      <a:gd name="T18" fmla="*/ 36 w 94"/>
                      <a:gd name="T19" fmla="*/ 51 h 174"/>
                      <a:gd name="T20" fmla="*/ 35 w 94"/>
                      <a:gd name="T21" fmla="*/ 37 h 174"/>
                      <a:gd name="T22" fmla="*/ 26 w 94"/>
                      <a:gd name="T23" fmla="*/ 35 h 174"/>
                      <a:gd name="T24" fmla="*/ 21 w 94"/>
                      <a:gd name="T25" fmla="*/ 27 h 174"/>
                      <a:gd name="T26" fmla="*/ 14 w 94"/>
                      <a:gd name="T27" fmla="*/ 27 h 174"/>
                      <a:gd name="T28" fmla="*/ 13 w 94"/>
                      <a:gd name="T29" fmla="*/ 23 h 174"/>
                      <a:gd name="T30" fmla="*/ 18 w 94"/>
                      <a:gd name="T31" fmla="*/ 14 h 174"/>
                      <a:gd name="T32" fmla="*/ 13 w 94"/>
                      <a:gd name="T33" fmla="*/ 0 h 174"/>
                      <a:gd name="T34" fmla="*/ 8 w 94"/>
                      <a:gd name="T35" fmla="*/ 7 h 174"/>
                      <a:gd name="T36" fmla="*/ 2 w 94"/>
                      <a:gd name="T37" fmla="*/ 15 h 174"/>
                      <a:gd name="T38" fmla="*/ 6 w 94"/>
                      <a:gd name="T39" fmla="*/ 25 h 174"/>
                      <a:gd name="T40" fmla="*/ 6 w 94"/>
                      <a:gd name="T41" fmla="*/ 32 h 17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4" h="174">
                        <a:moveTo>
                          <a:pt x="14" y="96"/>
                        </a:moveTo>
                        <a:cubicBezTo>
                          <a:pt x="11" y="109"/>
                          <a:pt x="15" y="120"/>
                          <a:pt x="26" y="128"/>
                        </a:cubicBezTo>
                        <a:cubicBezTo>
                          <a:pt x="34" y="120"/>
                          <a:pt x="35" y="119"/>
                          <a:pt x="32" y="108"/>
                        </a:cubicBezTo>
                        <a:cubicBezTo>
                          <a:pt x="35" y="92"/>
                          <a:pt x="39" y="92"/>
                          <a:pt x="52" y="100"/>
                        </a:cubicBezTo>
                        <a:cubicBezTo>
                          <a:pt x="59" y="110"/>
                          <a:pt x="49" y="114"/>
                          <a:pt x="46" y="124"/>
                        </a:cubicBezTo>
                        <a:cubicBezTo>
                          <a:pt x="50" y="137"/>
                          <a:pt x="57" y="129"/>
                          <a:pt x="66" y="126"/>
                        </a:cubicBezTo>
                        <a:cubicBezTo>
                          <a:pt x="77" y="129"/>
                          <a:pt x="79" y="131"/>
                          <a:pt x="76" y="142"/>
                        </a:cubicBezTo>
                        <a:cubicBezTo>
                          <a:pt x="67" y="139"/>
                          <a:pt x="65" y="141"/>
                          <a:pt x="58" y="148"/>
                        </a:cubicBezTo>
                        <a:cubicBezTo>
                          <a:pt x="60" y="160"/>
                          <a:pt x="62" y="170"/>
                          <a:pt x="74" y="174"/>
                        </a:cubicBezTo>
                        <a:cubicBezTo>
                          <a:pt x="77" y="165"/>
                          <a:pt x="74" y="157"/>
                          <a:pt x="84" y="154"/>
                        </a:cubicBezTo>
                        <a:cubicBezTo>
                          <a:pt x="91" y="143"/>
                          <a:pt x="94" y="122"/>
                          <a:pt x="82" y="112"/>
                        </a:cubicBezTo>
                        <a:cubicBezTo>
                          <a:pt x="77" y="108"/>
                          <a:pt x="66" y="108"/>
                          <a:pt x="60" y="106"/>
                        </a:cubicBezTo>
                        <a:cubicBezTo>
                          <a:pt x="65" y="92"/>
                          <a:pt x="66" y="87"/>
                          <a:pt x="50" y="82"/>
                        </a:cubicBezTo>
                        <a:cubicBezTo>
                          <a:pt x="48" y="82"/>
                          <a:pt x="37" y="86"/>
                          <a:pt x="34" y="82"/>
                        </a:cubicBezTo>
                        <a:cubicBezTo>
                          <a:pt x="32" y="79"/>
                          <a:pt x="30" y="70"/>
                          <a:pt x="30" y="70"/>
                        </a:cubicBezTo>
                        <a:cubicBezTo>
                          <a:pt x="32" y="54"/>
                          <a:pt x="32" y="52"/>
                          <a:pt x="42" y="42"/>
                        </a:cubicBezTo>
                        <a:cubicBezTo>
                          <a:pt x="41" y="30"/>
                          <a:pt x="45" y="5"/>
                          <a:pt x="30" y="0"/>
                        </a:cubicBezTo>
                        <a:cubicBezTo>
                          <a:pt x="14" y="4"/>
                          <a:pt x="16" y="4"/>
                          <a:pt x="18" y="22"/>
                        </a:cubicBezTo>
                        <a:cubicBezTo>
                          <a:pt x="16" y="39"/>
                          <a:pt x="15" y="35"/>
                          <a:pt x="4" y="46"/>
                        </a:cubicBezTo>
                        <a:cubicBezTo>
                          <a:pt x="0" y="59"/>
                          <a:pt x="5" y="67"/>
                          <a:pt x="14" y="76"/>
                        </a:cubicBezTo>
                        <a:cubicBezTo>
                          <a:pt x="15" y="80"/>
                          <a:pt x="17" y="93"/>
                          <a:pt x="14" y="9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4" name="Freeform 87"/>
                  <p:cNvSpPr>
                    <a:spLocks/>
                  </p:cNvSpPr>
                  <p:nvPr/>
                </p:nvSpPr>
                <p:spPr bwMode="ltGray">
                  <a:xfrm>
                    <a:off x="4597" y="508"/>
                    <a:ext cx="14" cy="17"/>
                  </a:xfrm>
                  <a:custGeom>
                    <a:avLst/>
                    <a:gdLst>
                      <a:gd name="T0" fmla="*/ 3 w 32"/>
                      <a:gd name="T1" fmla="*/ 8 h 50"/>
                      <a:gd name="T2" fmla="*/ 5 w 32"/>
                      <a:gd name="T3" fmla="*/ 0 h 50"/>
                      <a:gd name="T4" fmla="*/ 9 w 32"/>
                      <a:gd name="T5" fmla="*/ 5 h 50"/>
                      <a:gd name="T6" fmla="*/ 10 w 32"/>
                      <a:gd name="T7" fmla="*/ 8 h 50"/>
                      <a:gd name="T8" fmla="*/ 12 w 32"/>
                      <a:gd name="T9" fmla="*/ 9 h 50"/>
                      <a:gd name="T10" fmla="*/ 14 w 32"/>
                      <a:gd name="T11" fmla="*/ 13 h 50"/>
                      <a:gd name="T12" fmla="*/ 8 w 32"/>
                      <a:gd name="T13" fmla="*/ 17 h 50"/>
                      <a:gd name="T14" fmla="*/ 3 w 32"/>
                      <a:gd name="T15" fmla="*/ 8 h 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50">
                        <a:moveTo>
                          <a:pt x="6" y="24"/>
                        </a:moveTo>
                        <a:cubicBezTo>
                          <a:pt x="0" y="15"/>
                          <a:pt x="3" y="6"/>
                          <a:pt x="12" y="0"/>
                        </a:cubicBezTo>
                        <a:cubicBezTo>
                          <a:pt x="23" y="3"/>
                          <a:pt x="23" y="5"/>
                          <a:pt x="20" y="16"/>
                        </a:cubicBezTo>
                        <a:cubicBezTo>
                          <a:pt x="21" y="19"/>
                          <a:pt x="20" y="22"/>
                          <a:pt x="22" y="24"/>
                        </a:cubicBezTo>
                        <a:cubicBezTo>
                          <a:pt x="23" y="26"/>
                          <a:pt x="27" y="24"/>
                          <a:pt x="28" y="26"/>
                        </a:cubicBezTo>
                        <a:cubicBezTo>
                          <a:pt x="30" y="29"/>
                          <a:pt x="32" y="38"/>
                          <a:pt x="32" y="38"/>
                        </a:cubicBezTo>
                        <a:cubicBezTo>
                          <a:pt x="29" y="46"/>
                          <a:pt x="26" y="47"/>
                          <a:pt x="18" y="50"/>
                        </a:cubicBezTo>
                        <a:cubicBezTo>
                          <a:pt x="12" y="41"/>
                          <a:pt x="18" y="24"/>
                          <a:pt x="6"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5" name="Freeform 88"/>
                  <p:cNvSpPr>
                    <a:spLocks/>
                  </p:cNvSpPr>
                  <p:nvPr/>
                </p:nvSpPr>
                <p:spPr bwMode="ltGray">
                  <a:xfrm>
                    <a:off x="4569" y="512"/>
                    <a:ext cx="19" cy="17"/>
                  </a:xfrm>
                  <a:custGeom>
                    <a:avLst/>
                    <a:gdLst>
                      <a:gd name="T0" fmla="*/ 0 w 43"/>
                      <a:gd name="T1" fmla="*/ 15 h 50"/>
                      <a:gd name="T2" fmla="*/ 10 w 43"/>
                      <a:gd name="T3" fmla="*/ 7 h 50"/>
                      <a:gd name="T4" fmla="*/ 16 w 43"/>
                      <a:gd name="T5" fmla="*/ 0 h 50"/>
                      <a:gd name="T6" fmla="*/ 11 w 43"/>
                      <a:gd name="T7" fmla="*/ 10 h 50"/>
                      <a:gd name="T8" fmla="*/ 1 w 43"/>
                      <a:gd name="T9" fmla="*/ 17 h 50"/>
                      <a:gd name="T10" fmla="*/ 0 w 43"/>
                      <a:gd name="T11" fmla="*/ 15 h 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50">
                        <a:moveTo>
                          <a:pt x="0" y="44"/>
                        </a:moveTo>
                        <a:cubicBezTo>
                          <a:pt x="6" y="38"/>
                          <a:pt x="18" y="29"/>
                          <a:pt x="22" y="20"/>
                        </a:cubicBezTo>
                        <a:cubicBezTo>
                          <a:pt x="27" y="10"/>
                          <a:pt x="25" y="4"/>
                          <a:pt x="36" y="0"/>
                        </a:cubicBezTo>
                        <a:cubicBezTo>
                          <a:pt x="43" y="11"/>
                          <a:pt x="36" y="24"/>
                          <a:pt x="24" y="28"/>
                        </a:cubicBezTo>
                        <a:cubicBezTo>
                          <a:pt x="21" y="38"/>
                          <a:pt x="12" y="47"/>
                          <a:pt x="2" y="50"/>
                        </a:cubicBezTo>
                        <a:cubicBezTo>
                          <a:pt x="1" y="48"/>
                          <a:pt x="0" y="44"/>
                          <a:pt x="0" y="4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6" name="Freeform 89"/>
                  <p:cNvSpPr>
                    <a:spLocks/>
                  </p:cNvSpPr>
                  <p:nvPr/>
                </p:nvSpPr>
                <p:spPr bwMode="ltGray">
                  <a:xfrm>
                    <a:off x="4784" y="275"/>
                    <a:ext cx="18" cy="10"/>
                  </a:xfrm>
                  <a:custGeom>
                    <a:avLst/>
                    <a:gdLst>
                      <a:gd name="T0" fmla="*/ 0 w 41"/>
                      <a:gd name="T1" fmla="*/ 9 h 29"/>
                      <a:gd name="T2" fmla="*/ 5 w 41"/>
                      <a:gd name="T3" fmla="*/ 10 h 29"/>
                      <a:gd name="T4" fmla="*/ 0 w 41"/>
                      <a:gd name="T5" fmla="*/ 9 h 29"/>
                      <a:gd name="T6" fmla="*/ 0 60000 65536"/>
                      <a:gd name="T7" fmla="*/ 0 60000 65536"/>
                      <a:gd name="T8" fmla="*/ 0 60000 65536"/>
                    </a:gdLst>
                    <a:ahLst/>
                    <a:cxnLst>
                      <a:cxn ang="T6">
                        <a:pos x="T0" y="T1"/>
                      </a:cxn>
                      <a:cxn ang="T7">
                        <a:pos x="T2" y="T3"/>
                      </a:cxn>
                      <a:cxn ang="T8">
                        <a:pos x="T4" y="T5"/>
                      </a:cxn>
                    </a:cxnLst>
                    <a:rect l="0" t="0" r="r" b="b"/>
                    <a:pathLst>
                      <a:path w="41" h="29">
                        <a:moveTo>
                          <a:pt x="0" y="25"/>
                        </a:moveTo>
                        <a:cubicBezTo>
                          <a:pt x="10" y="11"/>
                          <a:pt x="41" y="0"/>
                          <a:pt x="12" y="29"/>
                        </a:cubicBezTo>
                        <a:cubicBezTo>
                          <a:pt x="8" y="28"/>
                          <a:pt x="0" y="25"/>
                          <a:pt x="0"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7" name="Freeform 90"/>
                  <p:cNvSpPr>
                    <a:spLocks/>
                  </p:cNvSpPr>
                  <p:nvPr/>
                </p:nvSpPr>
                <p:spPr bwMode="ltGray">
                  <a:xfrm>
                    <a:off x="4293" y="246"/>
                    <a:ext cx="438" cy="152"/>
                  </a:xfrm>
                  <a:custGeom>
                    <a:avLst/>
                    <a:gdLst>
                      <a:gd name="T0" fmla="*/ 73 w 438"/>
                      <a:gd name="T1" fmla="*/ 1 h 152"/>
                      <a:gd name="T2" fmla="*/ 438 w 438"/>
                      <a:gd name="T3" fmla="*/ 0 h 152"/>
                      <a:gd name="T4" fmla="*/ 416 w 438"/>
                      <a:gd name="T5" fmla="*/ 54 h 152"/>
                      <a:gd name="T6" fmla="*/ 397 w 438"/>
                      <a:gd name="T7" fmla="*/ 68 h 152"/>
                      <a:gd name="T8" fmla="*/ 392 w 438"/>
                      <a:gd name="T9" fmla="*/ 70 h 152"/>
                      <a:gd name="T10" fmla="*/ 375 w 438"/>
                      <a:gd name="T11" fmla="*/ 73 h 152"/>
                      <a:gd name="T12" fmla="*/ 361 w 438"/>
                      <a:gd name="T13" fmla="*/ 88 h 152"/>
                      <a:gd name="T14" fmla="*/ 362 w 438"/>
                      <a:gd name="T15" fmla="*/ 99 h 152"/>
                      <a:gd name="T16" fmla="*/ 364 w 438"/>
                      <a:gd name="T17" fmla="*/ 107 h 152"/>
                      <a:gd name="T18" fmla="*/ 366 w 438"/>
                      <a:gd name="T19" fmla="*/ 113 h 152"/>
                      <a:gd name="T20" fmla="*/ 362 w 438"/>
                      <a:gd name="T21" fmla="*/ 122 h 152"/>
                      <a:gd name="T22" fmla="*/ 351 w 438"/>
                      <a:gd name="T23" fmla="*/ 120 h 152"/>
                      <a:gd name="T24" fmla="*/ 342 w 438"/>
                      <a:gd name="T25" fmla="*/ 129 h 152"/>
                      <a:gd name="T26" fmla="*/ 347 w 438"/>
                      <a:gd name="T27" fmla="*/ 105 h 152"/>
                      <a:gd name="T28" fmla="*/ 338 w 438"/>
                      <a:gd name="T29" fmla="*/ 100 h 152"/>
                      <a:gd name="T30" fmla="*/ 344 w 438"/>
                      <a:gd name="T31" fmla="*/ 93 h 152"/>
                      <a:gd name="T32" fmla="*/ 342 w 438"/>
                      <a:gd name="T33" fmla="*/ 89 h 152"/>
                      <a:gd name="T34" fmla="*/ 320 w 438"/>
                      <a:gd name="T35" fmla="*/ 94 h 152"/>
                      <a:gd name="T36" fmla="*/ 317 w 438"/>
                      <a:gd name="T37" fmla="*/ 85 h 152"/>
                      <a:gd name="T38" fmla="*/ 297 w 438"/>
                      <a:gd name="T39" fmla="*/ 94 h 152"/>
                      <a:gd name="T40" fmla="*/ 320 w 438"/>
                      <a:gd name="T41" fmla="*/ 103 h 152"/>
                      <a:gd name="T42" fmla="*/ 305 w 438"/>
                      <a:gd name="T43" fmla="*/ 117 h 152"/>
                      <a:gd name="T44" fmla="*/ 311 w 438"/>
                      <a:gd name="T45" fmla="*/ 126 h 152"/>
                      <a:gd name="T46" fmla="*/ 315 w 438"/>
                      <a:gd name="T47" fmla="*/ 138 h 152"/>
                      <a:gd name="T48" fmla="*/ 309 w 438"/>
                      <a:gd name="T49" fmla="*/ 139 h 152"/>
                      <a:gd name="T50" fmla="*/ 314 w 438"/>
                      <a:gd name="T51" fmla="*/ 144 h 152"/>
                      <a:gd name="T52" fmla="*/ 307 w 438"/>
                      <a:gd name="T53" fmla="*/ 152 h 152"/>
                      <a:gd name="T54" fmla="*/ 0 w 438"/>
                      <a:gd name="T55" fmla="*/ 149 h 152"/>
                      <a:gd name="T56" fmla="*/ 73 w 438"/>
                      <a:gd name="T57" fmla="*/ 1 h 1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38" h="152">
                        <a:moveTo>
                          <a:pt x="73" y="1"/>
                        </a:moveTo>
                        <a:lnTo>
                          <a:pt x="438" y="0"/>
                        </a:lnTo>
                        <a:cubicBezTo>
                          <a:pt x="432" y="15"/>
                          <a:pt x="429" y="42"/>
                          <a:pt x="416" y="54"/>
                        </a:cubicBezTo>
                        <a:cubicBezTo>
                          <a:pt x="410" y="60"/>
                          <a:pt x="405" y="63"/>
                          <a:pt x="397" y="68"/>
                        </a:cubicBezTo>
                        <a:cubicBezTo>
                          <a:pt x="396" y="69"/>
                          <a:pt x="392" y="70"/>
                          <a:pt x="392" y="70"/>
                        </a:cubicBezTo>
                        <a:cubicBezTo>
                          <a:pt x="377" y="63"/>
                          <a:pt x="385" y="68"/>
                          <a:pt x="375" y="73"/>
                        </a:cubicBezTo>
                        <a:cubicBezTo>
                          <a:pt x="371" y="82"/>
                          <a:pt x="371" y="83"/>
                          <a:pt x="361" y="88"/>
                        </a:cubicBezTo>
                        <a:cubicBezTo>
                          <a:pt x="359" y="92"/>
                          <a:pt x="364" y="93"/>
                          <a:pt x="362" y="99"/>
                        </a:cubicBezTo>
                        <a:cubicBezTo>
                          <a:pt x="363" y="102"/>
                          <a:pt x="364" y="105"/>
                          <a:pt x="364" y="107"/>
                        </a:cubicBezTo>
                        <a:cubicBezTo>
                          <a:pt x="365" y="109"/>
                          <a:pt x="366" y="111"/>
                          <a:pt x="366" y="113"/>
                        </a:cubicBezTo>
                        <a:cubicBezTo>
                          <a:pt x="365" y="115"/>
                          <a:pt x="364" y="120"/>
                          <a:pt x="362" y="122"/>
                        </a:cubicBezTo>
                        <a:cubicBezTo>
                          <a:pt x="359" y="123"/>
                          <a:pt x="354" y="119"/>
                          <a:pt x="351" y="120"/>
                        </a:cubicBezTo>
                        <a:cubicBezTo>
                          <a:pt x="347" y="129"/>
                          <a:pt x="352" y="127"/>
                          <a:pt x="342" y="129"/>
                        </a:cubicBezTo>
                        <a:cubicBezTo>
                          <a:pt x="340" y="123"/>
                          <a:pt x="345" y="111"/>
                          <a:pt x="347" y="105"/>
                        </a:cubicBezTo>
                        <a:cubicBezTo>
                          <a:pt x="347" y="100"/>
                          <a:pt x="338" y="102"/>
                          <a:pt x="338" y="100"/>
                        </a:cubicBezTo>
                        <a:cubicBezTo>
                          <a:pt x="338" y="98"/>
                          <a:pt x="344" y="95"/>
                          <a:pt x="344" y="93"/>
                        </a:cubicBezTo>
                        <a:cubicBezTo>
                          <a:pt x="344" y="92"/>
                          <a:pt x="344" y="89"/>
                          <a:pt x="342" y="89"/>
                        </a:cubicBezTo>
                        <a:cubicBezTo>
                          <a:pt x="339" y="89"/>
                          <a:pt x="324" y="94"/>
                          <a:pt x="320" y="94"/>
                        </a:cubicBezTo>
                        <a:cubicBezTo>
                          <a:pt x="317" y="86"/>
                          <a:pt x="328" y="88"/>
                          <a:pt x="317" y="85"/>
                        </a:cubicBezTo>
                        <a:cubicBezTo>
                          <a:pt x="311" y="91"/>
                          <a:pt x="306" y="93"/>
                          <a:pt x="297" y="94"/>
                        </a:cubicBezTo>
                        <a:cubicBezTo>
                          <a:pt x="300" y="104"/>
                          <a:pt x="307" y="101"/>
                          <a:pt x="320" y="103"/>
                        </a:cubicBezTo>
                        <a:cubicBezTo>
                          <a:pt x="318" y="109"/>
                          <a:pt x="311" y="111"/>
                          <a:pt x="305" y="117"/>
                        </a:cubicBezTo>
                        <a:lnTo>
                          <a:pt x="311" y="126"/>
                        </a:lnTo>
                        <a:lnTo>
                          <a:pt x="315" y="138"/>
                        </a:lnTo>
                        <a:lnTo>
                          <a:pt x="309" y="139"/>
                        </a:lnTo>
                        <a:lnTo>
                          <a:pt x="314" y="144"/>
                        </a:lnTo>
                        <a:lnTo>
                          <a:pt x="307" y="152"/>
                        </a:lnTo>
                        <a:lnTo>
                          <a:pt x="0" y="149"/>
                        </a:lnTo>
                        <a:lnTo>
                          <a:pt x="73"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8" name="Freeform 91"/>
                  <p:cNvSpPr>
                    <a:spLocks/>
                  </p:cNvSpPr>
                  <p:nvPr/>
                </p:nvSpPr>
                <p:spPr bwMode="ltGray">
                  <a:xfrm>
                    <a:off x="4731" y="240"/>
                    <a:ext cx="20" cy="55"/>
                  </a:xfrm>
                  <a:custGeom>
                    <a:avLst/>
                    <a:gdLst>
                      <a:gd name="T0" fmla="*/ 2 w 47"/>
                      <a:gd name="T1" fmla="*/ 52 h 165"/>
                      <a:gd name="T2" fmla="*/ 6 w 47"/>
                      <a:gd name="T3" fmla="*/ 36 h 165"/>
                      <a:gd name="T4" fmla="*/ 7 w 47"/>
                      <a:gd name="T5" fmla="*/ 23 h 165"/>
                      <a:gd name="T6" fmla="*/ 5 w 47"/>
                      <a:gd name="T7" fmla="*/ 13 h 165"/>
                      <a:gd name="T8" fmla="*/ 7 w 47"/>
                      <a:gd name="T9" fmla="*/ 4 h 165"/>
                      <a:gd name="T10" fmla="*/ 9 w 47"/>
                      <a:gd name="T11" fmla="*/ 0 h 165"/>
                      <a:gd name="T12" fmla="*/ 13 w 47"/>
                      <a:gd name="T13" fmla="*/ 10 h 165"/>
                      <a:gd name="T14" fmla="*/ 20 w 47"/>
                      <a:gd name="T15" fmla="*/ 33 h 165"/>
                      <a:gd name="T16" fmla="*/ 13 w 47"/>
                      <a:gd name="T17" fmla="*/ 36 h 165"/>
                      <a:gd name="T18" fmla="*/ 10 w 47"/>
                      <a:gd name="T19" fmla="*/ 42 h 165"/>
                      <a:gd name="T20" fmla="*/ 9 w 47"/>
                      <a:gd name="T21" fmla="*/ 44 h 165"/>
                      <a:gd name="T22" fmla="*/ 11 w 47"/>
                      <a:gd name="T23" fmla="*/ 45 h 165"/>
                      <a:gd name="T24" fmla="*/ 13 w 47"/>
                      <a:gd name="T25" fmla="*/ 49 h 165"/>
                      <a:gd name="T26" fmla="*/ 6 w 47"/>
                      <a:gd name="T27" fmla="*/ 49 h 165"/>
                      <a:gd name="T28" fmla="*/ 3 w 47"/>
                      <a:gd name="T29" fmla="*/ 53 h 165"/>
                      <a:gd name="T30" fmla="*/ 1 w 47"/>
                      <a:gd name="T31" fmla="*/ 51 h 165"/>
                      <a:gd name="T32" fmla="*/ 2 w 47"/>
                      <a:gd name="T33" fmla="*/ 52 h 1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7" h="165">
                        <a:moveTo>
                          <a:pt x="5" y="156"/>
                        </a:moveTo>
                        <a:cubicBezTo>
                          <a:pt x="0" y="141"/>
                          <a:pt x="1" y="118"/>
                          <a:pt x="15" y="108"/>
                        </a:cubicBezTo>
                        <a:cubicBezTo>
                          <a:pt x="16" y="95"/>
                          <a:pt x="17" y="81"/>
                          <a:pt x="17" y="68"/>
                        </a:cubicBezTo>
                        <a:cubicBezTo>
                          <a:pt x="17" y="58"/>
                          <a:pt x="11" y="40"/>
                          <a:pt x="11" y="40"/>
                        </a:cubicBezTo>
                        <a:cubicBezTo>
                          <a:pt x="14" y="20"/>
                          <a:pt x="11" y="29"/>
                          <a:pt x="17" y="12"/>
                        </a:cubicBezTo>
                        <a:cubicBezTo>
                          <a:pt x="18" y="8"/>
                          <a:pt x="21" y="0"/>
                          <a:pt x="21" y="0"/>
                        </a:cubicBezTo>
                        <a:cubicBezTo>
                          <a:pt x="38" y="6"/>
                          <a:pt x="33" y="7"/>
                          <a:pt x="31" y="30"/>
                        </a:cubicBezTo>
                        <a:cubicBezTo>
                          <a:pt x="38" y="52"/>
                          <a:pt x="40" y="76"/>
                          <a:pt x="47" y="98"/>
                        </a:cubicBezTo>
                        <a:cubicBezTo>
                          <a:pt x="44" y="116"/>
                          <a:pt x="45" y="113"/>
                          <a:pt x="31" y="108"/>
                        </a:cubicBezTo>
                        <a:cubicBezTo>
                          <a:pt x="25" y="118"/>
                          <a:pt x="28" y="112"/>
                          <a:pt x="23" y="126"/>
                        </a:cubicBezTo>
                        <a:cubicBezTo>
                          <a:pt x="22" y="128"/>
                          <a:pt x="21" y="132"/>
                          <a:pt x="21" y="132"/>
                        </a:cubicBezTo>
                        <a:cubicBezTo>
                          <a:pt x="23" y="133"/>
                          <a:pt x="26" y="132"/>
                          <a:pt x="27" y="134"/>
                        </a:cubicBezTo>
                        <a:cubicBezTo>
                          <a:pt x="29" y="137"/>
                          <a:pt x="31" y="146"/>
                          <a:pt x="31" y="146"/>
                        </a:cubicBezTo>
                        <a:cubicBezTo>
                          <a:pt x="27" y="165"/>
                          <a:pt x="23" y="155"/>
                          <a:pt x="13" y="148"/>
                        </a:cubicBezTo>
                        <a:cubicBezTo>
                          <a:pt x="11" y="152"/>
                          <a:pt x="11" y="160"/>
                          <a:pt x="7" y="160"/>
                        </a:cubicBezTo>
                        <a:cubicBezTo>
                          <a:pt x="5" y="160"/>
                          <a:pt x="4" y="156"/>
                          <a:pt x="3" y="154"/>
                        </a:cubicBezTo>
                        <a:cubicBezTo>
                          <a:pt x="3" y="153"/>
                          <a:pt x="4" y="155"/>
                          <a:pt x="5" y="15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9" name="Freeform 92"/>
                  <p:cNvSpPr>
                    <a:spLocks/>
                  </p:cNvSpPr>
                  <p:nvPr/>
                </p:nvSpPr>
                <p:spPr bwMode="ltGray">
                  <a:xfrm>
                    <a:off x="4719" y="287"/>
                    <a:ext cx="59" cy="34"/>
                  </a:xfrm>
                  <a:custGeom>
                    <a:avLst/>
                    <a:gdLst>
                      <a:gd name="T0" fmla="*/ 11 w 138"/>
                      <a:gd name="T1" fmla="*/ 20 h 103"/>
                      <a:gd name="T2" fmla="*/ 13 w 138"/>
                      <a:gd name="T3" fmla="*/ 14 h 103"/>
                      <a:gd name="T4" fmla="*/ 21 w 138"/>
                      <a:gd name="T5" fmla="*/ 11 h 103"/>
                      <a:gd name="T6" fmla="*/ 23 w 138"/>
                      <a:gd name="T7" fmla="*/ 15 h 103"/>
                      <a:gd name="T8" fmla="*/ 28 w 138"/>
                      <a:gd name="T9" fmla="*/ 16 h 103"/>
                      <a:gd name="T10" fmla="*/ 34 w 138"/>
                      <a:gd name="T11" fmla="*/ 18 h 103"/>
                      <a:gd name="T12" fmla="*/ 50 w 138"/>
                      <a:gd name="T13" fmla="*/ 11 h 103"/>
                      <a:gd name="T14" fmla="*/ 56 w 138"/>
                      <a:gd name="T15" fmla="*/ 6 h 103"/>
                      <a:gd name="T16" fmla="*/ 59 w 138"/>
                      <a:gd name="T17" fmla="*/ 4 h 103"/>
                      <a:gd name="T18" fmla="*/ 45 w 138"/>
                      <a:gd name="T19" fmla="*/ 16 h 103"/>
                      <a:gd name="T20" fmla="*/ 36 w 138"/>
                      <a:gd name="T21" fmla="*/ 22 h 103"/>
                      <a:gd name="T22" fmla="*/ 28 w 138"/>
                      <a:gd name="T23" fmla="*/ 27 h 103"/>
                      <a:gd name="T24" fmla="*/ 21 w 138"/>
                      <a:gd name="T25" fmla="*/ 34 h 103"/>
                      <a:gd name="T26" fmla="*/ 11 w 138"/>
                      <a:gd name="T27" fmla="*/ 29 h 103"/>
                      <a:gd name="T28" fmla="*/ 9 w 138"/>
                      <a:gd name="T29" fmla="*/ 29 h 103"/>
                      <a:gd name="T30" fmla="*/ 9 w 138"/>
                      <a:gd name="T31" fmla="*/ 32 h 103"/>
                      <a:gd name="T32" fmla="*/ 0 w 138"/>
                      <a:gd name="T33" fmla="*/ 32 h 103"/>
                      <a:gd name="T34" fmla="*/ 4 w 138"/>
                      <a:gd name="T35" fmla="*/ 26 h 103"/>
                      <a:gd name="T36" fmla="*/ 11 w 138"/>
                      <a:gd name="T37" fmla="*/ 20 h 10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38" h="103">
                        <a:moveTo>
                          <a:pt x="26" y="61"/>
                        </a:moveTo>
                        <a:cubicBezTo>
                          <a:pt x="29" y="53"/>
                          <a:pt x="33" y="51"/>
                          <a:pt x="30" y="43"/>
                        </a:cubicBezTo>
                        <a:cubicBezTo>
                          <a:pt x="33" y="27"/>
                          <a:pt x="37" y="24"/>
                          <a:pt x="50" y="33"/>
                        </a:cubicBezTo>
                        <a:cubicBezTo>
                          <a:pt x="51" y="37"/>
                          <a:pt x="53" y="41"/>
                          <a:pt x="54" y="45"/>
                        </a:cubicBezTo>
                        <a:cubicBezTo>
                          <a:pt x="55" y="49"/>
                          <a:pt x="66" y="49"/>
                          <a:pt x="66" y="49"/>
                        </a:cubicBezTo>
                        <a:cubicBezTo>
                          <a:pt x="75" y="43"/>
                          <a:pt x="77" y="45"/>
                          <a:pt x="80" y="55"/>
                        </a:cubicBezTo>
                        <a:cubicBezTo>
                          <a:pt x="92" y="47"/>
                          <a:pt x="101" y="37"/>
                          <a:pt x="116" y="33"/>
                        </a:cubicBezTo>
                        <a:cubicBezTo>
                          <a:pt x="125" y="19"/>
                          <a:pt x="120" y="24"/>
                          <a:pt x="130" y="17"/>
                        </a:cubicBezTo>
                        <a:cubicBezTo>
                          <a:pt x="134" y="11"/>
                          <a:pt x="134" y="0"/>
                          <a:pt x="138" y="11"/>
                        </a:cubicBezTo>
                        <a:cubicBezTo>
                          <a:pt x="135" y="31"/>
                          <a:pt x="126" y="45"/>
                          <a:pt x="106" y="49"/>
                        </a:cubicBezTo>
                        <a:cubicBezTo>
                          <a:pt x="97" y="55"/>
                          <a:pt x="93" y="61"/>
                          <a:pt x="84" y="67"/>
                        </a:cubicBezTo>
                        <a:cubicBezTo>
                          <a:pt x="80" y="79"/>
                          <a:pt x="79" y="79"/>
                          <a:pt x="66" y="81"/>
                        </a:cubicBezTo>
                        <a:cubicBezTo>
                          <a:pt x="60" y="90"/>
                          <a:pt x="57" y="97"/>
                          <a:pt x="48" y="103"/>
                        </a:cubicBezTo>
                        <a:cubicBezTo>
                          <a:pt x="42" y="94"/>
                          <a:pt x="37" y="93"/>
                          <a:pt x="26" y="89"/>
                        </a:cubicBezTo>
                        <a:cubicBezTo>
                          <a:pt x="24" y="88"/>
                          <a:pt x="20" y="87"/>
                          <a:pt x="20" y="87"/>
                        </a:cubicBezTo>
                        <a:cubicBezTo>
                          <a:pt x="10" y="90"/>
                          <a:pt x="14" y="94"/>
                          <a:pt x="22" y="97"/>
                        </a:cubicBezTo>
                        <a:cubicBezTo>
                          <a:pt x="14" y="103"/>
                          <a:pt x="9" y="100"/>
                          <a:pt x="0" y="97"/>
                        </a:cubicBezTo>
                        <a:cubicBezTo>
                          <a:pt x="2" y="87"/>
                          <a:pt x="1" y="82"/>
                          <a:pt x="10" y="79"/>
                        </a:cubicBezTo>
                        <a:cubicBezTo>
                          <a:pt x="15" y="63"/>
                          <a:pt x="14" y="69"/>
                          <a:pt x="26" y="6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0" name="Freeform 93"/>
                  <p:cNvSpPr>
                    <a:spLocks/>
                  </p:cNvSpPr>
                  <p:nvPr/>
                </p:nvSpPr>
                <p:spPr bwMode="ltGray">
                  <a:xfrm>
                    <a:off x="4656" y="319"/>
                    <a:ext cx="80" cy="72"/>
                  </a:xfrm>
                  <a:custGeom>
                    <a:avLst/>
                    <a:gdLst>
                      <a:gd name="T0" fmla="*/ 67 w 188"/>
                      <a:gd name="T1" fmla="*/ 8 h 214"/>
                      <a:gd name="T2" fmla="*/ 68 w 188"/>
                      <a:gd name="T3" fmla="*/ 2 h 214"/>
                      <a:gd name="T4" fmla="*/ 72 w 188"/>
                      <a:gd name="T5" fmla="*/ 0 h 214"/>
                      <a:gd name="T6" fmla="*/ 77 w 188"/>
                      <a:gd name="T7" fmla="*/ 8 h 214"/>
                      <a:gd name="T8" fmla="*/ 80 w 188"/>
                      <a:gd name="T9" fmla="*/ 14 h 214"/>
                      <a:gd name="T10" fmla="*/ 76 w 188"/>
                      <a:gd name="T11" fmla="*/ 20 h 214"/>
                      <a:gd name="T12" fmla="*/ 72 w 188"/>
                      <a:gd name="T13" fmla="*/ 26 h 214"/>
                      <a:gd name="T14" fmla="*/ 69 w 188"/>
                      <a:gd name="T15" fmla="*/ 42 h 214"/>
                      <a:gd name="T16" fmla="*/ 61 w 188"/>
                      <a:gd name="T17" fmla="*/ 46 h 214"/>
                      <a:gd name="T18" fmla="*/ 51 w 188"/>
                      <a:gd name="T19" fmla="*/ 46 h 214"/>
                      <a:gd name="T20" fmla="*/ 48 w 188"/>
                      <a:gd name="T21" fmla="*/ 42 h 214"/>
                      <a:gd name="T22" fmla="*/ 43 w 188"/>
                      <a:gd name="T23" fmla="*/ 49 h 214"/>
                      <a:gd name="T24" fmla="*/ 38 w 188"/>
                      <a:gd name="T25" fmla="*/ 50 h 214"/>
                      <a:gd name="T26" fmla="*/ 34 w 188"/>
                      <a:gd name="T27" fmla="*/ 44 h 214"/>
                      <a:gd name="T28" fmla="*/ 25 w 188"/>
                      <a:gd name="T29" fmla="*/ 48 h 214"/>
                      <a:gd name="T30" fmla="*/ 32 w 188"/>
                      <a:gd name="T31" fmla="*/ 48 h 214"/>
                      <a:gd name="T32" fmla="*/ 33 w 188"/>
                      <a:gd name="T33" fmla="*/ 54 h 214"/>
                      <a:gd name="T34" fmla="*/ 25 w 188"/>
                      <a:gd name="T35" fmla="*/ 56 h 214"/>
                      <a:gd name="T36" fmla="*/ 14 w 188"/>
                      <a:gd name="T37" fmla="*/ 56 h 214"/>
                      <a:gd name="T38" fmla="*/ 15 w 188"/>
                      <a:gd name="T39" fmla="*/ 52 h 214"/>
                      <a:gd name="T40" fmla="*/ 20 w 188"/>
                      <a:gd name="T41" fmla="*/ 48 h 214"/>
                      <a:gd name="T42" fmla="*/ 14 w 188"/>
                      <a:gd name="T43" fmla="*/ 50 h 214"/>
                      <a:gd name="T44" fmla="*/ 11 w 188"/>
                      <a:gd name="T45" fmla="*/ 56 h 214"/>
                      <a:gd name="T46" fmla="*/ 13 w 188"/>
                      <a:gd name="T47" fmla="*/ 64 h 214"/>
                      <a:gd name="T48" fmla="*/ 6 w 188"/>
                      <a:gd name="T49" fmla="*/ 67 h 214"/>
                      <a:gd name="T50" fmla="*/ 0 w 188"/>
                      <a:gd name="T51" fmla="*/ 72 h 214"/>
                      <a:gd name="T52" fmla="*/ 3 w 188"/>
                      <a:gd name="T53" fmla="*/ 63 h 214"/>
                      <a:gd name="T54" fmla="*/ 0 w 188"/>
                      <a:gd name="T55" fmla="*/ 55 h 214"/>
                      <a:gd name="T56" fmla="*/ 6 w 188"/>
                      <a:gd name="T57" fmla="*/ 51 h 214"/>
                      <a:gd name="T58" fmla="*/ 14 w 188"/>
                      <a:gd name="T59" fmla="*/ 45 h 214"/>
                      <a:gd name="T60" fmla="*/ 19 w 188"/>
                      <a:gd name="T61" fmla="*/ 40 h 214"/>
                      <a:gd name="T62" fmla="*/ 31 w 188"/>
                      <a:gd name="T63" fmla="*/ 39 h 214"/>
                      <a:gd name="T64" fmla="*/ 36 w 188"/>
                      <a:gd name="T65" fmla="*/ 38 h 214"/>
                      <a:gd name="T66" fmla="*/ 49 w 188"/>
                      <a:gd name="T67" fmla="*/ 26 h 214"/>
                      <a:gd name="T68" fmla="*/ 51 w 188"/>
                      <a:gd name="T69" fmla="*/ 31 h 214"/>
                      <a:gd name="T70" fmla="*/ 56 w 188"/>
                      <a:gd name="T71" fmla="*/ 26 h 214"/>
                      <a:gd name="T72" fmla="*/ 64 w 188"/>
                      <a:gd name="T73" fmla="*/ 18 h 214"/>
                      <a:gd name="T74" fmla="*/ 66 w 188"/>
                      <a:gd name="T75" fmla="*/ 14 h 214"/>
                      <a:gd name="T76" fmla="*/ 63 w 188"/>
                      <a:gd name="T77" fmla="*/ 13 h 214"/>
                      <a:gd name="T78" fmla="*/ 65 w 188"/>
                      <a:gd name="T79" fmla="*/ 11 h 214"/>
                      <a:gd name="T80" fmla="*/ 67 w 188"/>
                      <a:gd name="T81" fmla="*/ 8 h 21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88" h="214">
                        <a:moveTo>
                          <a:pt x="158" y="24"/>
                        </a:moveTo>
                        <a:cubicBezTo>
                          <a:pt x="156" y="18"/>
                          <a:pt x="160" y="6"/>
                          <a:pt x="160" y="6"/>
                        </a:cubicBezTo>
                        <a:cubicBezTo>
                          <a:pt x="167" y="16"/>
                          <a:pt x="167" y="8"/>
                          <a:pt x="170" y="0"/>
                        </a:cubicBezTo>
                        <a:cubicBezTo>
                          <a:pt x="181" y="4"/>
                          <a:pt x="179" y="14"/>
                          <a:pt x="182" y="24"/>
                        </a:cubicBezTo>
                        <a:cubicBezTo>
                          <a:pt x="184" y="30"/>
                          <a:pt x="188" y="42"/>
                          <a:pt x="188" y="42"/>
                        </a:cubicBezTo>
                        <a:cubicBezTo>
                          <a:pt x="183" y="56"/>
                          <a:pt x="188" y="52"/>
                          <a:pt x="178" y="58"/>
                        </a:cubicBezTo>
                        <a:cubicBezTo>
                          <a:pt x="174" y="63"/>
                          <a:pt x="170" y="76"/>
                          <a:pt x="170" y="76"/>
                        </a:cubicBezTo>
                        <a:cubicBezTo>
                          <a:pt x="169" y="100"/>
                          <a:pt x="173" y="110"/>
                          <a:pt x="162" y="126"/>
                        </a:cubicBezTo>
                        <a:cubicBezTo>
                          <a:pt x="150" y="118"/>
                          <a:pt x="155" y="132"/>
                          <a:pt x="144" y="136"/>
                        </a:cubicBezTo>
                        <a:cubicBezTo>
                          <a:pt x="135" y="134"/>
                          <a:pt x="129" y="135"/>
                          <a:pt x="120" y="138"/>
                        </a:cubicBezTo>
                        <a:cubicBezTo>
                          <a:pt x="114" y="129"/>
                          <a:pt x="122" y="127"/>
                          <a:pt x="112" y="124"/>
                        </a:cubicBezTo>
                        <a:cubicBezTo>
                          <a:pt x="108" y="130"/>
                          <a:pt x="108" y="142"/>
                          <a:pt x="102" y="146"/>
                        </a:cubicBezTo>
                        <a:cubicBezTo>
                          <a:pt x="98" y="148"/>
                          <a:pt x="90" y="150"/>
                          <a:pt x="90" y="150"/>
                        </a:cubicBezTo>
                        <a:cubicBezTo>
                          <a:pt x="87" y="141"/>
                          <a:pt x="89" y="135"/>
                          <a:pt x="80" y="132"/>
                        </a:cubicBezTo>
                        <a:cubicBezTo>
                          <a:pt x="68" y="134"/>
                          <a:pt x="65" y="134"/>
                          <a:pt x="58" y="144"/>
                        </a:cubicBezTo>
                        <a:cubicBezTo>
                          <a:pt x="66" y="150"/>
                          <a:pt x="68" y="147"/>
                          <a:pt x="76" y="142"/>
                        </a:cubicBezTo>
                        <a:cubicBezTo>
                          <a:pt x="81" y="146"/>
                          <a:pt x="85" y="155"/>
                          <a:pt x="78" y="160"/>
                        </a:cubicBezTo>
                        <a:cubicBezTo>
                          <a:pt x="75" y="162"/>
                          <a:pt x="62" y="165"/>
                          <a:pt x="58" y="166"/>
                        </a:cubicBezTo>
                        <a:cubicBezTo>
                          <a:pt x="48" y="173"/>
                          <a:pt x="44" y="173"/>
                          <a:pt x="34" y="166"/>
                        </a:cubicBezTo>
                        <a:cubicBezTo>
                          <a:pt x="35" y="162"/>
                          <a:pt x="34" y="158"/>
                          <a:pt x="36" y="154"/>
                        </a:cubicBezTo>
                        <a:cubicBezTo>
                          <a:pt x="38" y="150"/>
                          <a:pt x="55" y="146"/>
                          <a:pt x="46" y="144"/>
                        </a:cubicBezTo>
                        <a:cubicBezTo>
                          <a:pt x="42" y="143"/>
                          <a:pt x="34" y="148"/>
                          <a:pt x="34" y="148"/>
                        </a:cubicBezTo>
                        <a:cubicBezTo>
                          <a:pt x="32" y="155"/>
                          <a:pt x="28" y="159"/>
                          <a:pt x="26" y="166"/>
                        </a:cubicBezTo>
                        <a:cubicBezTo>
                          <a:pt x="36" y="182"/>
                          <a:pt x="36" y="173"/>
                          <a:pt x="30" y="190"/>
                        </a:cubicBezTo>
                        <a:cubicBezTo>
                          <a:pt x="28" y="196"/>
                          <a:pt x="14" y="200"/>
                          <a:pt x="14" y="200"/>
                        </a:cubicBezTo>
                        <a:cubicBezTo>
                          <a:pt x="5" y="214"/>
                          <a:pt x="11" y="210"/>
                          <a:pt x="0" y="214"/>
                        </a:cubicBezTo>
                        <a:cubicBezTo>
                          <a:pt x="2" y="202"/>
                          <a:pt x="5" y="198"/>
                          <a:pt x="8" y="188"/>
                        </a:cubicBezTo>
                        <a:cubicBezTo>
                          <a:pt x="6" y="178"/>
                          <a:pt x="3" y="173"/>
                          <a:pt x="0" y="164"/>
                        </a:cubicBezTo>
                        <a:cubicBezTo>
                          <a:pt x="3" y="156"/>
                          <a:pt x="7" y="157"/>
                          <a:pt x="14" y="152"/>
                        </a:cubicBezTo>
                        <a:cubicBezTo>
                          <a:pt x="18" y="141"/>
                          <a:pt x="23" y="140"/>
                          <a:pt x="32" y="134"/>
                        </a:cubicBezTo>
                        <a:cubicBezTo>
                          <a:pt x="37" y="127"/>
                          <a:pt x="37" y="123"/>
                          <a:pt x="44" y="118"/>
                        </a:cubicBezTo>
                        <a:cubicBezTo>
                          <a:pt x="64" y="121"/>
                          <a:pt x="55" y="122"/>
                          <a:pt x="72" y="116"/>
                        </a:cubicBezTo>
                        <a:cubicBezTo>
                          <a:pt x="76" y="115"/>
                          <a:pt x="84" y="112"/>
                          <a:pt x="84" y="112"/>
                        </a:cubicBezTo>
                        <a:cubicBezTo>
                          <a:pt x="105" y="119"/>
                          <a:pt x="97" y="84"/>
                          <a:pt x="114" y="78"/>
                        </a:cubicBezTo>
                        <a:cubicBezTo>
                          <a:pt x="117" y="87"/>
                          <a:pt x="110" y="89"/>
                          <a:pt x="120" y="92"/>
                        </a:cubicBezTo>
                        <a:cubicBezTo>
                          <a:pt x="125" y="85"/>
                          <a:pt x="125" y="81"/>
                          <a:pt x="132" y="76"/>
                        </a:cubicBezTo>
                        <a:cubicBezTo>
                          <a:pt x="138" y="68"/>
                          <a:pt x="146" y="65"/>
                          <a:pt x="150" y="54"/>
                        </a:cubicBezTo>
                        <a:cubicBezTo>
                          <a:pt x="151" y="50"/>
                          <a:pt x="154" y="42"/>
                          <a:pt x="154" y="42"/>
                        </a:cubicBezTo>
                        <a:cubicBezTo>
                          <a:pt x="152" y="41"/>
                          <a:pt x="148" y="40"/>
                          <a:pt x="148" y="38"/>
                        </a:cubicBezTo>
                        <a:cubicBezTo>
                          <a:pt x="148" y="36"/>
                          <a:pt x="161" y="33"/>
                          <a:pt x="152" y="32"/>
                        </a:cubicBezTo>
                        <a:lnTo>
                          <a:pt x="158" y="2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1" name="Freeform 94"/>
                  <p:cNvSpPr>
                    <a:spLocks/>
                  </p:cNvSpPr>
                  <p:nvPr/>
                </p:nvSpPr>
                <p:spPr bwMode="ltGray">
                  <a:xfrm>
                    <a:off x="4709" y="340"/>
                    <a:ext cx="6" cy="4"/>
                  </a:xfrm>
                  <a:custGeom>
                    <a:avLst/>
                    <a:gdLst>
                      <a:gd name="T0" fmla="*/ 0 w 13"/>
                      <a:gd name="T1" fmla="*/ 3 h 13"/>
                      <a:gd name="T2" fmla="*/ 2 w 13"/>
                      <a:gd name="T3" fmla="*/ 4 h 13"/>
                      <a:gd name="T4" fmla="*/ 0 w 13"/>
                      <a:gd name="T5" fmla="*/ 3 h 13"/>
                      <a:gd name="T6" fmla="*/ 0 60000 65536"/>
                      <a:gd name="T7" fmla="*/ 0 60000 65536"/>
                      <a:gd name="T8" fmla="*/ 0 60000 65536"/>
                    </a:gdLst>
                    <a:ahLst/>
                    <a:cxnLst>
                      <a:cxn ang="T6">
                        <a:pos x="T0" y="T1"/>
                      </a:cxn>
                      <a:cxn ang="T7">
                        <a:pos x="T2" y="T3"/>
                      </a:cxn>
                      <a:cxn ang="T8">
                        <a:pos x="T4" y="T5"/>
                      </a:cxn>
                    </a:cxnLst>
                    <a:rect l="0" t="0" r="r" b="b"/>
                    <a:pathLst>
                      <a:path w="13" h="13">
                        <a:moveTo>
                          <a:pt x="0" y="9"/>
                        </a:moveTo>
                        <a:cubicBezTo>
                          <a:pt x="6" y="0"/>
                          <a:pt x="13" y="7"/>
                          <a:pt x="4" y="13"/>
                        </a:cubicBezTo>
                        <a:cubicBezTo>
                          <a:pt x="0" y="6"/>
                          <a:pt x="0" y="5"/>
                          <a:pt x="0"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2" name="Freeform 95"/>
                  <p:cNvSpPr>
                    <a:spLocks/>
                  </p:cNvSpPr>
                  <p:nvPr/>
                </p:nvSpPr>
                <p:spPr bwMode="ltGray">
                  <a:xfrm>
                    <a:off x="4261" y="389"/>
                    <a:ext cx="347" cy="189"/>
                  </a:xfrm>
                  <a:custGeom>
                    <a:avLst/>
                    <a:gdLst>
                      <a:gd name="T0" fmla="*/ 347 w 812"/>
                      <a:gd name="T1" fmla="*/ 9 h 564"/>
                      <a:gd name="T2" fmla="*/ 332 w 812"/>
                      <a:gd name="T3" fmla="*/ 26 h 564"/>
                      <a:gd name="T4" fmla="*/ 320 w 812"/>
                      <a:gd name="T5" fmla="*/ 41 h 564"/>
                      <a:gd name="T6" fmla="*/ 309 w 812"/>
                      <a:gd name="T7" fmla="*/ 48 h 564"/>
                      <a:gd name="T8" fmla="*/ 271 w 812"/>
                      <a:gd name="T9" fmla="*/ 60 h 564"/>
                      <a:gd name="T10" fmla="*/ 270 w 812"/>
                      <a:gd name="T11" fmla="*/ 70 h 564"/>
                      <a:gd name="T12" fmla="*/ 258 w 812"/>
                      <a:gd name="T13" fmla="*/ 77 h 564"/>
                      <a:gd name="T14" fmla="*/ 265 w 812"/>
                      <a:gd name="T15" fmla="*/ 60 h 564"/>
                      <a:gd name="T16" fmla="*/ 246 w 812"/>
                      <a:gd name="T17" fmla="*/ 63 h 564"/>
                      <a:gd name="T18" fmla="*/ 238 w 812"/>
                      <a:gd name="T19" fmla="*/ 73 h 564"/>
                      <a:gd name="T20" fmla="*/ 255 w 812"/>
                      <a:gd name="T21" fmla="*/ 94 h 564"/>
                      <a:gd name="T22" fmla="*/ 254 w 812"/>
                      <a:gd name="T23" fmla="*/ 123 h 564"/>
                      <a:gd name="T24" fmla="*/ 232 w 812"/>
                      <a:gd name="T25" fmla="*/ 136 h 564"/>
                      <a:gd name="T26" fmla="*/ 223 w 812"/>
                      <a:gd name="T27" fmla="*/ 129 h 564"/>
                      <a:gd name="T28" fmla="*/ 206 w 812"/>
                      <a:gd name="T29" fmla="*/ 117 h 564"/>
                      <a:gd name="T30" fmla="*/ 197 w 812"/>
                      <a:gd name="T31" fmla="*/ 117 h 564"/>
                      <a:gd name="T32" fmla="*/ 192 w 812"/>
                      <a:gd name="T33" fmla="*/ 132 h 564"/>
                      <a:gd name="T34" fmla="*/ 214 w 812"/>
                      <a:gd name="T35" fmla="*/ 155 h 564"/>
                      <a:gd name="T36" fmla="*/ 218 w 812"/>
                      <a:gd name="T37" fmla="*/ 176 h 564"/>
                      <a:gd name="T38" fmla="*/ 225 w 812"/>
                      <a:gd name="T39" fmla="*/ 188 h 564"/>
                      <a:gd name="T40" fmla="*/ 210 w 812"/>
                      <a:gd name="T41" fmla="*/ 182 h 564"/>
                      <a:gd name="T42" fmla="*/ 201 w 812"/>
                      <a:gd name="T43" fmla="*/ 174 h 564"/>
                      <a:gd name="T44" fmla="*/ 180 w 812"/>
                      <a:gd name="T45" fmla="*/ 142 h 564"/>
                      <a:gd name="T46" fmla="*/ 182 w 812"/>
                      <a:gd name="T47" fmla="*/ 104 h 564"/>
                      <a:gd name="T48" fmla="*/ 180 w 812"/>
                      <a:gd name="T49" fmla="*/ 90 h 564"/>
                      <a:gd name="T50" fmla="*/ 176 w 812"/>
                      <a:gd name="T51" fmla="*/ 92 h 564"/>
                      <a:gd name="T52" fmla="*/ 165 w 812"/>
                      <a:gd name="T53" fmla="*/ 89 h 564"/>
                      <a:gd name="T54" fmla="*/ 154 w 812"/>
                      <a:gd name="T55" fmla="*/ 57 h 564"/>
                      <a:gd name="T56" fmla="*/ 141 w 812"/>
                      <a:gd name="T57" fmla="*/ 56 h 564"/>
                      <a:gd name="T58" fmla="*/ 123 w 812"/>
                      <a:gd name="T59" fmla="*/ 58 h 564"/>
                      <a:gd name="T60" fmla="*/ 103 w 812"/>
                      <a:gd name="T61" fmla="*/ 78 h 564"/>
                      <a:gd name="T62" fmla="*/ 84 w 812"/>
                      <a:gd name="T63" fmla="*/ 90 h 564"/>
                      <a:gd name="T64" fmla="*/ 79 w 812"/>
                      <a:gd name="T65" fmla="*/ 92 h 564"/>
                      <a:gd name="T66" fmla="*/ 68 w 812"/>
                      <a:gd name="T67" fmla="*/ 110 h 564"/>
                      <a:gd name="T68" fmla="*/ 65 w 812"/>
                      <a:gd name="T69" fmla="*/ 119 h 564"/>
                      <a:gd name="T70" fmla="*/ 55 w 812"/>
                      <a:gd name="T71" fmla="*/ 135 h 564"/>
                      <a:gd name="T72" fmla="*/ 40 w 812"/>
                      <a:gd name="T73" fmla="*/ 131 h 564"/>
                      <a:gd name="T74" fmla="*/ 28 w 812"/>
                      <a:gd name="T75" fmla="*/ 86 h 564"/>
                      <a:gd name="T76" fmla="*/ 31 w 812"/>
                      <a:gd name="T77" fmla="*/ 52 h 564"/>
                      <a:gd name="T78" fmla="*/ 19 w 812"/>
                      <a:gd name="T79" fmla="*/ 60 h 564"/>
                      <a:gd name="T80" fmla="*/ 9 w 812"/>
                      <a:gd name="T81" fmla="*/ 50 h 564"/>
                      <a:gd name="T82" fmla="*/ 10 w 812"/>
                      <a:gd name="T83" fmla="*/ 46 h 564"/>
                      <a:gd name="T84" fmla="*/ 0 w 812"/>
                      <a:gd name="T85" fmla="*/ 31 h 564"/>
                      <a:gd name="T86" fmla="*/ 341 w 812"/>
                      <a:gd name="T87" fmla="*/ 2 h 56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812" h="564">
                        <a:moveTo>
                          <a:pt x="798" y="6"/>
                        </a:moveTo>
                        <a:cubicBezTo>
                          <a:pt x="801" y="15"/>
                          <a:pt x="809" y="16"/>
                          <a:pt x="812" y="26"/>
                        </a:cubicBezTo>
                        <a:cubicBezTo>
                          <a:pt x="809" y="36"/>
                          <a:pt x="801" y="41"/>
                          <a:pt x="796" y="50"/>
                        </a:cubicBezTo>
                        <a:cubicBezTo>
                          <a:pt x="791" y="61"/>
                          <a:pt x="788" y="71"/>
                          <a:pt x="778" y="78"/>
                        </a:cubicBezTo>
                        <a:cubicBezTo>
                          <a:pt x="773" y="85"/>
                          <a:pt x="771" y="88"/>
                          <a:pt x="774" y="96"/>
                        </a:cubicBezTo>
                        <a:cubicBezTo>
                          <a:pt x="767" y="107"/>
                          <a:pt x="758" y="114"/>
                          <a:pt x="748" y="122"/>
                        </a:cubicBezTo>
                        <a:cubicBezTo>
                          <a:pt x="744" y="125"/>
                          <a:pt x="736" y="130"/>
                          <a:pt x="736" y="130"/>
                        </a:cubicBezTo>
                        <a:cubicBezTo>
                          <a:pt x="740" y="141"/>
                          <a:pt x="731" y="140"/>
                          <a:pt x="722" y="142"/>
                        </a:cubicBezTo>
                        <a:cubicBezTo>
                          <a:pt x="716" y="148"/>
                          <a:pt x="712" y="151"/>
                          <a:pt x="704" y="154"/>
                        </a:cubicBezTo>
                        <a:cubicBezTo>
                          <a:pt x="686" y="150"/>
                          <a:pt x="650" y="169"/>
                          <a:pt x="634" y="180"/>
                        </a:cubicBezTo>
                        <a:cubicBezTo>
                          <a:pt x="636" y="189"/>
                          <a:pt x="631" y="193"/>
                          <a:pt x="640" y="196"/>
                        </a:cubicBezTo>
                        <a:cubicBezTo>
                          <a:pt x="643" y="205"/>
                          <a:pt x="640" y="207"/>
                          <a:pt x="632" y="210"/>
                        </a:cubicBezTo>
                        <a:cubicBezTo>
                          <a:pt x="626" y="219"/>
                          <a:pt x="623" y="226"/>
                          <a:pt x="614" y="232"/>
                        </a:cubicBezTo>
                        <a:cubicBezTo>
                          <a:pt x="611" y="231"/>
                          <a:pt x="606" y="233"/>
                          <a:pt x="604" y="230"/>
                        </a:cubicBezTo>
                        <a:cubicBezTo>
                          <a:pt x="599" y="220"/>
                          <a:pt x="610" y="199"/>
                          <a:pt x="620" y="196"/>
                        </a:cubicBezTo>
                        <a:cubicBezTo>
                          <a:pt x="623" y="187"/>
                          <a:pt x="617" y="187"/>
                          <a:pt x="620" y="178"/>
                        </a:cubicBezTo>
                        <a:cubicBezTo>
                          <a:pt x="617" y="164"/>
                          <a:pt x="609" y="168"/>
                          <a:pt x="598" y="172"/>
                        </a:cubicBezTo>
                        <a:cubicBezTo>
                          <a:pt x="592" y="180"/>
                          <a:pt x="585" y="185"/>
                          <a:pt x="576" y="188"/>
                        </a:cubicBezTo>
                        <a:cubicBezTo>
                          <a:pt x="572" y="194"/>
                          <a:pt x="568" y="200"/>
                          <a:pt x="564" y="206"/>
                        </a:cubicBezTo>
                        <a:cubicBezTo>
                          <a:pt x="561" y="210"/>
                          <a:pt x="556" y="218"/>
                          <a:pt x="556" y="218"/>
                        </a:cubicBezTo>
                        <a:cubicBezTo>
                          <a:pt x="558" y="234"/>
                          <a:pt x="559" y="243"/>
                          <a:pt x="572" y="252"/>
                        </a:cubicBezTo>
                        <a:cubicBezTo>
                          <a:pt x="579" y="262"/>
                          <a:pt x="586" y="273"/>
                          <a:pt x="596" y="280"/>
                        </a:cubicBezTo>
                        <a:cubicBezTo>
                          <a:pt x="598" y="286"/>
                          <a:pt x="602" y="298"/>
                          <a:pt x="602" y="298"/>
                        </a:cubicBezTo>
                        <a:cubicBezTo>
                          <a:pt x="601" y="308"/>
                          <a:pt x="599" y="361"/>
                          <a:pt x="594" y="368"/>
                        </a:cubicBezTo>
                        <a:cubicBezTo>
                          <a:pt x="590" y="374"/>
                          <a:pt x="576" y="378"/>
                          <a:pt x="570" y="382"/>
                        </a:cubicBezTo>
                        <a:cubicBezTo>
                          <a:pt x="563" y="393"/>
                          <a:pt x="550" y="396"/>
                          <a:pt x="542" y="406"/>
                        </a:cubicBezTo>
                        <a:cubicBezTo>
                          <a:pt x="536" y="413"/>
                          <a:pt x="539" y="417"/>
                          <a:pt x="530" y="420"/>
                        </a:cubicBezTo>
                        <a:cubicBezTo>
                          <a:pt x="526" y="408"/>
                          <a:pt x="538" y="391"/>
                          <a:pt x="522" y="386"/>
                        </a:cubicBezTo>
                        <a:cubicBezTo>
                          <a:pt x="516" y="377"/>
                          <a:pt x="510" y="364"/>
                          <a:pt x="502" y="356"/>
                        </a:cubicBezTo>
                        <a:cubicBezTo>
                          <a:pt x="497" y="341"/>
                          <a:pt x="505" y="360"/>
                          <a:pt x="482" y="348"/>
                        </a:cubicBezTo>
                        <a:cubicBezTo>
                          <a:pt x="478" y="346"/>
                          <a:pt x="478" y="339"/>
                          <a:pt x="474" y="336"/>
                        </a:cubicBezTo>
                        <a:cubicBezTo>
                          <a:pt x="470" y="323"/>
                          <a:pt x="466" y="342"/>
                          <a:pt x="462" y="348"/>
                        </a:cubicBezTo>
                        <a:cubicBezTo>
                          <a:pt x="460" y="358"/>
                          <a:pt x="456" y="363"/>
                          <a:pt x="454" y="374"/>
                        </a:cubicBezTo>
                        <a:cubicBezTo>
                          <a:pt x="457" y="383"/>
                          <a:pt x="455" y="387"/>
                          <a:pt x="450" y="394"/>
                        </a:cubicBezTo>
                        <a:cubicBezTo>
                          <a:pt x="454" y="399"/>
                          <a:pt x="464" y="411"/>
                          <a:pt x="466" y="418"/>
                        </a:cubicBezTo>
                        <a:cubicBezTo>
                          <a:pt x="474" y="443"/>
                          <a:pt x="472" y="458"/>
                          <a:pt x="500" y="464"/>
                        </a:cubicBezTo>
                        <a:cubicBezTo>
                          <a:pt x="507" y="469"/>
                          <a:pt x="510" y="474"/>
                          <a:pt x="516" y="480"/>
                        </a:cubicBezTo>
                        <a:cubicBezTo>
                          <a:pt x="511" y="494"/>
                          <a:pt x="513" y="509"/>
                          <a:pt x="510" y="524"/>
                        </a:cubicBezTo>
                        <a:cubicBezTo>
                          <a:pt x="512" y="537"/>
                          <a:pt x="511" y="541"/>
                          <a:pt x="522" y="548"/>
                        </a:cubicBezTo>
                        <a:cubicBezTo>
                          <a:pt x="523" y="552"/>
                          <a:pt x="525" y="556"/>
                          <a:pt x="526" y="560"/>
                        </a:cubicBezTo>
                        <a:cubicBezTo>
                          <a:pt x="527" y="564"/>
                          <a:pt x="514" y="556"/>
                          <a:pt x="514" y="556"/>
                        </a:cubicBezTo>
                        <a:cubicBezTo>
                          <a:pt x="502" y="564"/>
                          <a:pt x="501" y="551"/>
                          <a:pt x="492" y="544"/>
                        </a:cubicBezTo>
                        <a:cubicBezTo>
                          <a:pt x="488" y="541"/>
                          <a:pt x="480" y="536"/>
                          <a:pt x="480" y="536"/>
                        </a:cubicBezTo>
                        <a:cubicBezTo>
                          <a:pt x="471" y="522"/>
                          <a:pt x="474" y="529"/>
                          <a:pt x="470" y="518"/>
                        </a:cubicBezTo>
                        <a:cubicBezTo>
                          <a:pt x="467" y="491"/>
                          <a:pt x="461" y="446"/>
                          <a:pt x="436" y="430"/>
                        </a:cubicBezTo>
                        <a:cubicBezTo>
                          <a:pt x="428" y="433"/>
                          <a:pt x="425" y="433"/>
                          <a:pt x="422" y="424"/>
                        </a:cubicBezTo>
                        <a:cubicBezTo>
                          <a:pt x="427" y="404"/>
                          <a:pt x="432" y="383"/>
                          <a:pt x="438" y="364"/>
                        </a:cubicBezTo>
                        <a:cubicBezTo>
                          <a:pt x="436" y="343"/>
                          <a:pt x="431" y="330"/>
                          <a:pt x="426" y="310"/>
                        </a:cubicBezTo>
                        <a:cubicBezTo>
                          <a:pt x="429" y="302"/>
                          <a:pt x="425" y="300"/>
                          <a:pt x="422" y="292"/>
                        </a:cubicBezTo>
                        <a:cubicBezTo>
                          <a:pt x="424" y="282"/>
                          <a:pt x="428" y="277"/>
                          <a:pt x="422" y="268"/>
                        </a:cubicBezTo>
                        <a:cubicBezTo>
                          <a:pt x="420" y="269"/>
                          <a:pt x="418" y="269"/>
                          <a:pt x="416" y="270"/>
                        </a:cubicBezTo>
                        <a:cubicBezTo>
                          <a:pt x="414" y="272"/>
                          <a:pt x="414" y="275"/>
                          <a:pt x="412" y="276"/>
                        </a:cubicBezTo>
                        <a:cubicBezTo>
                          <a:pt x="408" y="278"/>
                          <a:pt x="400" y="280"/>
                          <a:pt x="400" y="280"/>
                        </a:cubicBezTo>
                        <a:cubicBezTo>
                          <a:pt x="394" y="274"/>
                          <a:pt x="389" y="274"/>
                          <a:pt x="386" y="266"/>
                        </a:cubicBezTo>
                        <a:cubicBezTo>
                          <a:pt x="391" y="251"/>
                          <a:pt x="379" y="206"/>
                          <a:pt x="364" y="196"/>
                        </a:cubicBezTo>
                        <a:cubicBezTo>
                          <a:pt x="357" y="186"/>
                          <a:pt x="358" y="182"/>
                          <a:pt x="360" y="170"/>
                        </a:cubicBezTo>
                        <a:cubicBezTo>
                          <a:pt x="358" y="160"/>
                          <a:pt x="356" y="147"/>
                          <a:pt x="346" y="144"/>
                        </a:cubicBezTo>
                        <a:cubicBezTo>
                          <a:pt x="343" y="154"/>
                          <a:pt x="338" y="160"/>
                          <a:pt x="330" y="166"/>
                        </a:cubicBezTo>
                        <a:cubicBezTo>
                          <a:pt x="323" y="164"/>
                          <a:pt x="308" y="160"/>
                          <a:pt x="308" y="160"/>
                        </a:cubicBezTo>
                        <a:cubicBezTo>
                          <a:pt x="296" y="162"/>
                          <a:pt x="297" y="166"/>
                          <a:pt x="288" y="172"/>
                        </a:cubicBezTo>
                        <a:cubicBezTo>
                          <a:pt x="284" y="185"/>
                          <a:pt x="282" y="191"/>
                          <a:pt x="268" y="196"/>
                        </a:cubicBezTo>
                        <a:cubicBezTo>
                          <a:pt x="264" y="200"/>
                          <a:pt x="243" y="231"/>
                          <a:pt x="242" y="232"/>
                        </a:cubicBezTo>
                        <a:cubicBezTo>
                          <a:pt x="231" y="239"/>
                          <a:pt x="215" y="247"/>
                          <a:pt x="206" y="256"/>
                        </a:cubicBezTo>
                        <a:cubicBezTo>
                          <a:pt x="202" y="260"/>
                          <a:pt x="200" y="265"/>
                          <a:pt x="196" y="268"/>
                        </a:cubicBezTo>
                        <a:cubicBezTo>
                          <a:pt x="194" y="269"/>
                          <a:pt x="192" y="269"/>
                          <a:pt x="190" y="270"/>
                        </a:cubicBezTo>
                        <a:cubicBezTo>
                          <a:pt x="188" y="271"/>
                          <a:pt x="186" y="272"/>
                          <a:pt x="184" y="274"/>
                        </a:cubicBezTo>
                        <a:cubicBezTo>
                          <a:pt x="180" y="278"/>
                          <a:pt x="172" y="286"/>
                          <a:pt x="172" y="286"/>
                        </a:cubicBezTo>
                        <a:cubicBezTo>
                          <a:pt x="167" y="300"/>
                          <a:pt x="165" y="314"/>
                          <a:pt x="160" y="328"/>
                        </a:cubicBezTo>
                        <a:cubicBezTo>
                          <a:pt x="158" y="335"/>
                          <a:pt x="156" y="341"/>
                          <a:pt x="154" y="348"/>
                        </a:cubicBezTo>
                        <a:cubicBezTo>
                          <a:pt x="153" y="350"/>
                          <a:pt x="152" y="354"/>
                          <a:pt x="152" y="354"/>
                        </a:cubicBezTo>
                        <a:cubicBezTo>
                          <a:pt x="152" y="359"/>
                          <a:pt x="156" y="384"/>
                          <a:pt x="146" y="392"/>
                        </a:cubicBezTo>
                        <a:cubicBezTo>
                          <a:pt x="141" y="397"/>
                          <a:pt x="128" y="404"/>
                          <a:pt x="128" y="404"/>
                        </a:cubicBezTo>
                        <a:cubicBezTo>
                          <a:pt x="125" y="412"/>
                          <a:pt x="122" y="421"/>
                          <a:pt x="114" y="424"/>
                        </a:cubicBezTo>
                        <a:cubicBezTo>
                          <a:pt x="100" y="419"/>
                          <a:pt x="97" y="405"/>
                          <a:pt x="94" y="392"/>
                        </a:cubicBezTo>
                        <a:cubicBezTo>
                          <a:pt x="86" y="362"/>
                          <a:pt x="82" y="332"/>
                          <a:pt x="72" y="302"/>
                        </a:cubicBezTo>
                        <a:cubicBezTo>
                          <a:pt x="71" y="281"/>
                          <a:pt x="70" y="275"/>
                          <a:pt x="66" y="258"/>
                        </a:cubicBezTo>
                        <a:cubicBezTo>
                          <a:pt x="66" y="251"/>
                          <a:pt x="68" y="219"/>
                          <a:pt x="64" y="208"/>
                        </a:cubicBezTo>
                        <a:cubicBezTo>
                          <a:pt x="70" y="191"/>
                          <a:pt x="66" y="173"/>
                          <a:pt x="72" y="156"/>
                        </a:cubicBezTo>
                        <a:cubicBezTo>
                          <a:pt x="66" y="139"/>
                          <a:pt x="60" y="168"/>
                          <a:pt x="56" y="172"/>
                        </a:cubicBezTo>
                        <a:cubicBezTo>
                          <a:pt x="53" y="175"/>
                          <a:pt x="44" y="180"/>
                          <a:pt x="44" y="180"/>
                        </a:cubicBezTo>
                        <a:cubicBezTo>
                          <a:pt x="35" y="177"/>
                          <a:pt x="28" y="173"/>
                          <a:pt x="24" y="162"/>
                        </a:cubicBezTo>
                        <a:cubicBezTo>
                          <a:pt x="23" y="158"/>
                          <a:pt x="20" y="150"/>
                          <a:pt x="20" y="150"/>
                        </a:cubicBezTo>
                        <a:cubicBezTo>
                          <a:pt x="30" y="148"/>
                          <a:pt x="30" y="143"/>
                          <a:pt x="38" y="138"/>
                        </a:cubicBezTo>
                        <a:cubicBezTo>
                          <a:pt x="35" y="128"/>
                          <a:pt x="31" y="133"/>
                          <a:pt x="24" y="138"/>
                        </a:cubicBezTo>
                        <a:cubicBezTo>
                          <a:pt x="15" y="135"/>
                          <a:pt x="15" y="132"/>
                          <a:pt x="18" y="124"/>
                        </a:cubicBezTo>
                        <a:cubicBezTo>
                          <a:pt x="11" y="114"/>
                          <a:pt x="9" y="101"/>
                          <a:pt x="0" y="92"/>
                        </a:cubicBezTo>
                        <a:lnTo>
                          <a:pt x="76" y="0"/>
                        </a:lnTo>
                        <a:lnTo>
                          <a:pt x="798" y="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3" name="Freeform 96"/>
                  <p:cNvSpPr>
                    <a:spLocks/>
                  </p:cNvSpPr>
                  <p:nvPr/>
                </p:nvSpPr>
                <p:spPr bwMode="ltGray">
                  <a:xfrm>
                    <a:off x="4322" y="519"/>
                    <a:ext cx="19" cy="29"/>
                  </a:xfrm>
                  <a:custGeom>
                    <a:avLst/>
                    <a:gdLst>
                      <a:gd name="T0" fmla="*/ 3 w 43"/>
                      <a:gd name="T1" fmla="*/ 4 h 85"/>
                      <a:gd name="T2" fmla="*/ 8 w 43"/>
                      <a:gd name="T3" fmla="*/ 1 h 85"/>
                      <a:gd name="T4" fmla="*/ 16 w 43"/>
                      <a:gd name="T5" fmla="*/ 11 h 85"/>
                      <a:gd name="T6" fmla="*/ 8 w 43"/>
                      <a:gd name="T7" fmla="*/ 29 h 85"/>
                      <a:gd name="T8" fmla="*/ 0 w 43"/>
                      <a:gd name="T9" fmla="*/ 24 h 85"/>
                      <a:gd name="T10" fmla="*/ 3 w 43"/>
                      <a:gd name="T11" fmla="*/ 4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85">
                        <a:moveTo>
                          <a:pt x="7" y="11"/>
                        </a:moveTo>
                        <a:cubicBezTo>
                          <a:pt x="4" y="2"/>
                          <a:pt x="9" y="0"/>
                          <a:pt x="17" y="3"/>
                        </a:cubicBezTo>
                        <a:cubicBezTo>
                          <a:pt x="24" y="13"/>
                          <a:pt x="28" y="24"/>
                          <a:pt x="37" y="33"/>
                        </a:cubicBezTo>
                        <a:cubicBezTo>
                          <a:pt x="43" y="52"/>
                          <a:pt x="40" y="78"/>
                          <a:pt x="19" y="85"/>
                        </a:cubicBezTo>
                        <a:cubicBezTo>
                          <a:pt x="6" y="81"/>
                          <a:pt x="5" y="81"/>
                          <a:pt x="1" y="69"/>
                        </a:cubicBezTo>
                        <a:cubicBezTo>
                          <a:pt x="2" y="66"/>
                          <a:pt x="0" y="4"/>
                          <a:pt x="7"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4" name="Freeform 97"/>
                  <p:cNvSpPr>
                    <a:spLocks/>
                  </p:cNvSpPr>
                  <p:nvPr/>
                </p:nvSpPr>
                <p:spPr bwMode="ltGray">
                  <a:xfrm>
                    <a:off x="4588" y="421"/>
                    <a:ext cx="18" cy="24"/>
                  </a:xfrm>
                  <a:custGeom>
                    <a:avLst/>
                    <a:gdLst>
                      <a:gd name="T0" fmla="*/ 5 w 44"/>
                      <a:gd name="T1" fmla="*/ 9 h 74"/>
                      <a:gd name="T2" fmla="*/ 12 w 44"/>
                      <a:gd name="T3" fmla="*/ 1 h 74"/>
                      <a:gd name="T4" fmla="*/ 18 w 44"/>
                      <a:gd name="T5" fmla="*/ 1 h 74"/>
                      <a:gd name="T6" fmla="*/ 16 w 44"/>
                      <a:gd name="T7" fmla="*/ 8 h 74"/>
                      <a:gd name="T8" fmla="*/ 5 w 44"/>
                      <a:gd name="T9" fmla="*/ 24 h 74"/>
                      <a:gd name="T10" fmla="*/ 3 w 44"/>
                      <a:gd name="T11" fmla="*/ 19 h 74"/>
                      <a:gd name="T12" fmla="*/ 1 w 44"/>
                      <a:gd name="T13" fmla="*/ 12 h 74"/>
                      <a:gd name="T14" fmla="*/ 5 w 44"/>
                      <a:gd name="T15" fmla="*/ 9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4" h="74">
                        <a:moveTo>
                          <a:pt x="13" y="28"/>
                        </a:moveTo>
                        <a:cubicBezTo>
                          <a:pt x="15" y="13"/>
                          <a:pt x="14" y="7"/>
                          <a:pt x="29" y="2"/>
                        </a:cubicBezTo>
                        <a:cubicBezTo>
                          <a:pt x="34" y="3"/>
                          <a:pt x="40" y="0"/>
                          <a:pt x="43" y="4"/>
                        </a:cubicBezTo>
                        <a:cubicBezTo>
                          <a:pt x="44" y="6"/>
                          <a:pt x="41" y="21"/>
                          <a:pt x="39" y="26"/>
                        </a:cubicBezTo>
                        <a:cubicBezTo>
                          <a:pt x="31" y="43"/>
                          <a:pt x="30" y="63"/>
                          <a:pt x="13" y="74"/>
                        </a:cubicBezTo>
                        <a:cubicBezTo>
                          <a:pt x="4" y="71"/>
                          <a:pt x="4" y="68"/>
                          <a:pt x="7" y="60"/>
                        </a:cubicBezTo>
                        <a:cubicBezTo>
                          <a:pt x="5" y="50"/>
                          <a:pt x="0" y="46"/>
                          <a:pt x="3" y="36"/>
                        </a:cubicBezTo>
                        <a:cubicBezTo>
                          <a:pt x="4" y="32"/>
                          <a:pt x="8" y="23"/>
                          <a:pt x="1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5" name="Freeform 98"/>
                  <p:cNvSpPr>
                    <a:spLocks/>
                  </p:cNvSpPr>
                  <p:nvPr/>
                </p:nvSpPr>
                <p:spPr bwMode="ltGray">
                  <a:xfrm>
                    <a:off x="4639" y="409"/>
                    <a:ext cx="9" cy="10"/>
                  </a:xfrm>
                  <a:custGeom>
                    <a:avLst/>
                    <a:gdLst>
                      <a:gd name="T0" fmla="*/ 3 w 20"/>
                      <a:gd name="T1" fmla="*/ 5 h 30"/>
                      <a:gd name="T2" fmla="*/ 2 w 20"/>
                      <a:gd name="T3" fmla="*/ 10 h 30"/>
                      <a:gd name="T4" fmla="*/ 3 w 20"/>
                      <a:gd name="T5" fmla="*/ 5 h 30"/>
                      <a:gd name="T6" fmla="*/ 0 60000 65536"/>
                      <a:gd name="T7" fmla="*/ 0 60000 65536"/>
                      <a:gd name="T8" fmla="*/ 0 60000 65536"/>
                    </a:gdLst>
                    <a:ahLst/>
                    <a:cxnLst>
                      <a:cxn ang="T6">
                        <a:pos x="T0" y="T1"/>
                      </a:cxn>
                      <a:cxn ang="T7">
                        <a:pos x="T2" y="T3"/>
                      </a:cxn>
                      <a:cxn ang="T8">
                        <a:pos x="T4" y="T5"/>
                      </a:cxn>
                    </a:cxnLst>
                    <a:rect l="0" t="0" r="r" b="b"/>
                    <a:pathLst>
                      <a:path w="20" h="30">
                        <a:moveTo>
                          <a:pt x="7" y="16"/>
                        </a:moveTo>
                        <a:cubicBezTo>
                          <a:pt x="18" y="0"/>
                          <a:pt x="20" y="20"/>
                          <a:pt x="5" y="30"/>
                        </a:cubicBezTo>
                        <a:cubicBezTo>
                          <a:pt x="0" y="23"/>
                          <a:pt x="1" y="22"/>
                          <a:pt x="7"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6" name="Freeform 99"/>
                  <p:cNvSpPr>
                    <a:spLocks/>
                  </p:cNvSpPr>
                  <p:nvPr/>
                </p:nvSpPr>
                <p:spPr bwMode="ltGray">
                  <a:xfrm>
                    <a:off x="3709" y="315"/>
                    <a:ext cx="433" cy="354"/>
                  </a:xfrm>
                  <a:custGeom>
                    <a:avLst/>
                    <a:gdLst>
                      <a:gd name="T0" fmla="*/ 305 w 682"/>
                      <a:gd name="T1" fmla="*/ 295 h 557"/>
                      <a:gd name="T2" fmla="*/ 309 w 682"/>
                      <a:gd name="T3" fmla="*/ 287 h 557"/>
                      <a:gd name="T4" fmla="*/ 317 w 682"/>
                      <a:gd name="T5" fmla="*/ 262 h 557"/>
                      <a:gd name="T6" fmla="*/ 196 w 682"/>
                      <a:gd name="T7" fmla="*/ 182 h 557"/>
                      <a:gd name="T8" fmla="*/ 179 w 682"/>
                      <a:gd name="T9" fmla="*/ 220 h 557"/>
                      <a:gd name="T10" fmla="*/ 192 w 682"/>
                      <a:gd name="T11" fmla="*/ 353 h 557"/>
                      <a:gd name="T12" fmla="*/ 179 w 682"/>
                      <a:gd name="T13" fmla="*/ 314 h 557"/>
                      <a:gd name="T14" fmla="*/ 154 w 682"/>
                      <a:gd name="T15" fmla="*/ 279 h 557"/>
                      <a:gd name="T16" fmla="*/ 156 w 682"/>
                      <a:gd name="T17" fmla="*/ 262 h 557"/>
                      <a:gd name="T18" fmla="*/ 157 w 682"/>
                      <a:gd name="T19" fmla="*/ 250 h 557"/>
                      <a:gd name="T20" fmla="*/ 140 w 682"/>
                      <a:gd name="T21" fmla="*/ 238 h 557"/>
                      <a:gd name="T22" fmla="*/ 123 w 682"/>
                      <a:gd name="T23" fmla="*/ 220 h 557"/>
                      <a:gd name="T24" fmla="*/ 94 w 682"/>
                      <a:gd name="T25" fmla="*/ 225 h 557"/>
                      <a:gd name="T26" fmla="*/ 80 w 682"/>
                      <a:gd name="T27" fmla="*/ 232 h 557"/>
                      <a:gd name="T28" fmla="*/ 50 w 682"/>
                      <a:gd name="T29" fmla="*/ 232 h 557"/>
                      <a:gd name="T30" fmla="*/ 14 w 682"/>
                      <a:gd name="T31" fmla="*/ 198 h 557"/>
                      <a:gd name="T32" fmla="*/ 7 w 682"/>
                      <a:gd name="T33" fmla="*/ 187 h 557"/>
                      <a:gd name="T34" fmla="*/ 0 w 682"/>
                      <a:gd name="T35" fmla="*/ 168 h 557"/>
                      <a:gd name="T36" fmla="*/ 15 w 682"/>
                      <a:gd name="T37" fmla="*/ 135 h 557"/>
                      <a:gd name="T38" fmla="*/ 20 w 682"/>
                      <a:gd name="T39" fmla="*/ 115 h 557"/>
                      <a:gd name="T40" fmla="*/ 32 w 682"/>
                      <a:gd name="T41" fmla="*/ 91 h 557"/>
                      <a:gd name="T42" fmla="*/ 51 w 682"/>
                      <a:gd name="T43" fmla="*/ 74 h 557"/>
                      <a:gd name="T44" fmla="*/ 106 w 682"/>
                      <a:gd name="T45" fmla="*/ 43 h 557"/>
                      <a:gd name="T46" fmla="*/ 140 w 682"/>
                      <a:gd name="T47" fmla="*/ 19 h 557"/>
                      <a:gd name="T48" fmla="*/ 164 w 682"/>
                      <a:gd name="T49" fmla="*/ 4 h 557"/>
                      <a:gd name="T50" fmla="*/ 230 w 682"/>
                      <a:gd name="T51" fmla="*/ 1 h 557"/>
                      <a:gd name="T52" fmla="*/ 253 w 682"/>
                      <a:gd name="T53" fmla="*/ 0 h 557"/>
                      <a:gd name="T54" fmla="*/ 244 w 682"/>
                      <a:gd name="T55" fmla="*/ 22 h 557"/>
                      <a:gd name="T56" fmla="*/ 281 w 682"/>
                      <a:gd name="T57" fmla="*/ 53 h 557"/>
                      <a:gd name="T58" fmla="*/ 316 w 682"/>
                      <a:gd name="T59" fmla="*/ 47 h 557"/>
                      <a:gd name="T60" fmla="*/ 336 w 682"/>
                      <a:gd name="T61" fmla="*/ 52 h 557"/>
                      <a:gd name="T62" fmla="*/ 355 w 682"/>
                      <a:gd name="T63" fmla="*/ 62 h 557"/>
                      <a:gd name="T64" fmla="*/ 363 w 682"/>
                      <a:gd name="T65" fmla="*/ 119 h 557"/>
                      <a:gd name="T66" fmla="*/ 363 w 682"/>
                      <a:gd name="T67" fmla="*/ 153 h 557"/>
                      <a:gd name="T68" fmla="*/ 380 w 682"/>
                      <a:gd name="T69" fmla="*/ 180 h 557"/>
                      <a:gd name="T70" fmla="*/ 410 w 682"/>
                      <a:gd name="T71" fmla="*/ 191 h 557"/>
                      <a:gd name="T72" fmla="*/ 432 w 682"/>
                      <a:gd name="T73" fmla="*/ 187 h 557"/>
                      <a:gd name="T74" fmla="*/ 422 w 682"/>
                      <a:gd name="T75" fmla="*/ 216 h 557"/>
                      <a:gd name="T76" fmla="*/ 380 w 682"/>
                      <a:gd name="T77" fmla="*/ 259 h 557"/>
                      <a:gd name="T78" fmla="*/ 348 w 682"/>
                      <a:gd name="T79" fmla="*/ 308 h 557"/>
                      <a:gd name="T80" fmla="*/ 353 w 682"/>
                      <a:gd name="T81" fmla="*/ 323 h 557"/>
                      <a:gd name="T82" fmla="*/ 276 w 682"/>
                      <a:gd name="T83" fmla="*/ 353 h 55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682" h="557">
                        <a:moveTo>
                          <a:pt x="435" y="556"/>
                        </a:moveTo>
                        <a:lnTo>
                          <a:pt x="481" y="464"/>
                        </a:lnTo>
                        <a:lnTo>
                          <a:pt x="473" y="449"/>
                        </a:lnTo>
                        <a:lnTo>
                          <a:pt x="486" y="451"/>
                        </a:lnTo>
                        <a:lnTo>
                          <a:pt x="495" y="441"/>
                        </a:lnTo>
                        <a:lnTo>
                          <a:pt x="500" y="413"/>
                        </a:lnTo>
                        <a:lnTo>
                          <a:pt x="500" y="371"/>
                        </a:lnTo>
                        <a:lnTo>
                          <a:pt x="309" y="287"/>
                        </a:lnTo>
                        <a:lnTo>
                          <a:pt x="296" y="308"/>
                        </a:lnTo>
                        <a:lnTo>
                          <a:pt x="282" y="346"/>
                        </a:lnTo>
                        <a:lnTo>
                          <a:pt x="396" y="557"/>
                        </a:lnTo>
                        <a:lnTo>
                          <a:pt x="303" y="556"/>
                        </a:lnTo>
                        <a:lnTo>
                          <a:pt x="304" y="536"/>
                        </a:lnTo>
                        <a:cubicBezTo>
                          <a:pt x="284" y="520"/>
                          <a:pt x="296" y="510"/>
                          <a:pt x="282" y="494"/>
                        </a:cubicBezTo>
                        <a:cubicBezTo>
                          <a:pt x="276" y="475"/>
                          <a:pt x="267" y="468"/>
                          <a:pt x="253" y="451"/>
                        </a:cubicBezTo>
                        <a:cubicBezTo>
                          <a:pt x="249" y="447"/>
                          <a:pt x="245" y="443"/>
                          <a:pt x="242" y="439"/>
                        </a:cubicBezTo>
                        <a:lnTo>
                          <a:pt x="237" y="432"/>
                        </a:lnTo>
                        <a:cubicBezTo>
                          <a:pt x="237" y="432"/>
                          <a:pt x="245" y="413"/>
                          <a:pt x="245" y="413"/>
                        </a:cubicBezTo>
                        <a:cubicBezTo>
                          <a:pt x="247" y="409"/>
                          <a:pt x="250" y="401"/>
                          <a:pt x="250" y="401"/>
                        </a:cubicBezTo>
                        <a:cubicBezTo>
                          <a:pt x="249" y="399"/>
                          <a:pt x="247" y="397"/>
                          <a:pt x="247" y="394"/>
                        </a:cubicBezTo>
                        <a:cubicBezTo>
                          <a:pt x="248" y="390"/>
                          <a:pt x="253" y="382"/>
                          <a:pt x="253" y="382"/>
                        </a:cubicBezTo>
                        <a:cubicBezTo>
                          <a:pt x="243" y="370"/>
                          <a:pt x="237" y="371"/>
                          <a:pt x="220" y="375"/>
                        </a:cubicBezTo>
                        <a:cubicBezTo>
                          <a:pt x="217" y="371"/>
                          <a:pt x="210" y="369"/>
                          <a:pt x="207" y="365"/>
                        </a:cubicBezTo>
                        <a:cubicBezTo>
                          <a:pt x="185" y="337"/>
                          <a:pt x="216" y="363"/>
                          <a:pt x="194" y="346"/>
                        </a:cubicBezTo>
                        <a:cubicBezTo>
                          <a:pt x="167" y="349"/>
                          <a:pt x="179" y="346"/>
                          <a:pt x="156" y="352"/>
                        </a:cubicBezTo>
                        <a:cubicBezTo>
                          <a:pt x="153" y="353"/>
                          <a:pt x="148" y="354"/>
                          <a:pt x="148" y="354"/>
                        </a:cubicBezTo>
                        <a:cubicBezTo>
                          <a:pt x="146" y="356"/>
                          <a:pt x="145" y="359"/>
                          <a:pt x="142" y="361"/>
                        </a:cubicBezTo>
                        <a:cubicBezTo>
                          <a:pt x="138" y="363"/>
                          <a:pt x="126" y="365"/>
                          <a:pt x="126" y="365"/>
                        </a:cubicBezTo>
                        <a:cubicBezTo>
                          <a:pt x="105" y="354"/>
                          <a:pt x="116" y="355"/>
                          <a:pt x="94" y="361"/>
                        </a:cubicBezTo>
                        <a:cubicBezTo>
                          <a:pt x="89" y="362"/>
                          <a:pt x="78" y="365"/>
                          <a:pt x="78" y="365"/>
                        </a:cubicBezTo>
                        <a:cubicBezTo>
                          <a:pt x="62" y="383"/>
                          <a:pt x="46" y="346"/>
                          <a:pt x="35" y="337"/>
                        </a:cubicBezTo>
                        <a:cubicBezTo>
                          <a:pt x="32" y="330"/>
                          <a:pt x="24" y="320"/>
                          <a:pt x="22" y="312"/>
                        </a:cubicBezTo>
                        <a:cubicBezTo>
                          <a:pt x="20" y="308"/>
                          <a:pt x="22" y="303"/>
                          <a:pt x="19" y="300"/>
                        </a:cubicBezTo>
                        <a:cubicBezTo>
                          <a:pt x="17" y="297"/>
                          <a:pt x="13" y="297"/>
                          <a:pt x="11" y="295"/>
                        </a:cubicBezTo>
                        <a:cubicBezTo>
                          <a:pt x="3" y="277"/>
                          <a:pt x="15" y="306"/>
                          <a:pt x="5" y="276"/>
                        </a:cubicBezTo>
                        <a:cubicBezTo>
                          <a:pt x="4" y="272"/>
                          <a:pt x="0" y="264"/>
                          <a:pt x="0" y="264"/>
                        </a:cubicBezTo>
                        <a:cubicBezTo>
                          <a:pt x="3" y="253"/>
                          <a:pt x="2" y="248"/>
                          <a:pt x="13" y="243"/>
                        </a:cubicBezTo>
                        <a:cubicBezTo>
                          <a:pt x="20" y="221"/>
                          <a:pt x="17" y="231"/>
                          <a:pt x="24" y="213"/>
                        </a:cubicBezTo>
                        <a:cubicBezTo>
                          <a:pt x="26" y="209"/>
                          <a:pt x="30" y="200"/>
                          <a:pt x="30" y="200"/>
                        </a:cubicBezTo>
                        <a:cubicBezTo>
                          <a:pt x="26" y="192"/>
                          <a:pt x="24" y="191"/>
                          <a:pt x="32" y="181"/>
                        </a:cubicBezTo>
                        <a:cubicBezTo>
                          <a:pt x="36" y="177"/>
                          <a:pt x="43" y="169"/>
                          <a:pt x="43" y="169"/>
                        </a:cubicBezTo>
                        <a:cubicBezTo>
                          <a:pt x="37" y="155"/>
                          <a:pt x="36" y="153"/>
                          <a:pt x="51" y="143"/>
                        </a:cubicBezTo>
                        <a:cubicBezTo>
                          <a:pt x="56" y="140"/>
                          <a:pt x="67" y="135"/>
                          <a:pt x="67" y="135"/>
                        </a:cubicBezTo>
                        <a:cubicBezTo>
                          <a:pt x="73" y="129"/>
                          <a:pt x="75" y="122"/>
                          <a:pt x="81" y="116"/>
                        </a:cubicBezTo>
                        <a:cubicBezTo>
                          <a:pt x="89" y="107"/>
                          <a:pt x="102" y="105"/>
                          <a:pt x="113" y="99"/>
                        </a:cubicBezTo>
                        <a:cubicBezTo>
                          <a:pt x="125" y="85"/>
                          <a:pt x="149" y="76"/>
                          <a:pt x="167" y="67"/>
                        </a:cubicBezTo>
                        <a:cubicBezTo>
                          <a:pt x="174" y="59"/>
                          <a:pt x="175" y="50"/>
                          <a:pt x="188" y="46"/>
                        </a:cubicBezTo>
                        <a:cubicBezTo>
                          <a:pt x="198" y="39"/>
                          <a:pt x="208" y="36"/>
                          <a:pt x="220" y="30"/>
                        </a:cubicBezTo>
                        <a:cubicBezTo>
                          <a:pt x="223" y="28"/>
                          <a:pt x="228" y="25"/>
                          <a:pt x="228" y="25"/>
                        </a:cubicBezTo>
                        <a:cubicBezTo>
                          <a:pt x="237" y="16"/>
                          <a:pt x="245" y="10"/>
                          <a:pt x="258" y="6"/>
                        </a:cubicBezTo>
                        <a:cubicBezTo>
                          <a:pt x="269" y="31"/>
                          <a:pt x="301" y="6"/>
                          <a:pt x="320" y="4"/>
                        </a:cubicBezTo>
                        <a:cubicBezTo>
                          <a:pt x="334" y="3"/>
                          <a:pt x="349" y="3"/>
                          <a:pt x="363" y="2"/>
                        </a:cubicBezTo>
                        <a:cubicBezTo>
                          <a:pt x="369" y="3"/>
                          <a:pt x="376" y="5"/>
                          <a:pt x="382" y="4"/>
                        </a:cubicBezTo>
                        <a:cubicBezTo>
                          <a:pt x="387" y="4"/>
                          <a:pt x="398" y="0"/>
                          <a:pt x="398" y="0"/>
                        </a:cubicBezTo>
                        <a:cubicBezTo>
                          <a:pt x="415" y="8"/>
                          <a:pt x="406" y="16"/>
                          <a:pt x="400" y="30"/>
                        </a:cubicBezTo>
                        <a:cubicBezTo>
                          <a:pt x="398" y="34"/>
                          <a:pt x="384" y="34"/>
                          <a:pt x="384" y="34"/>
                        </a:cubicBezTo>
                        <a:cubicBezTo>
                          <a:pt x="379" y="47"/>
                          <a:pt x="398" y="51"/>
                          <a:pt x="411" y="55"/>
                        </a:cubicBezTo>
                        <a:cubicBezTo>
                          <a:pt x="419" y="72"/>
                          <a:pt x="421" y="79"/>
                          <a:pt x="443" y="84"/>
                        </a:cubicBezTo>
                        <a:cubicBezTo>
                          <a:pt x="461" y="71"/>
                          <a:pt x="435" y="65"/>
                          <a:pt x="468" y="57"/>
                        </a:cubicBezTo>
                        <a:cubicBezTo>
                          <a:pt x="482" y="61"/>
                          <a:pt x="485" y="70"/>
                          <a:pt x="497" y="74"/>
                        </a:cubicBezTo>
                        <a:cubicBezTo>
                          <a:pt x="505" y="76"/>
                          <a:pt x="513" y="78"/>
                          <a:pt x="521" y="80"/>
                        </a:cubicBezTo>
                        <a:cubicBezTo>
                          <a:pt x="524" y="81"/>
                          <a:pt x="529" y="82"/>
                          <a:pt x="529" y="82"/>
                        </a:cubicBezTo>
                        <a:cubicBezTo>
                          <a:pt x="547" y="78"/>
                          <a:pt x="547" y="76"/>
                          <a:pt x="562" y="84"/>
                        </a:cubicBezTo>
                        <a:cubicBezTo>
                          <a:pt x="566" y="95"/>
                          <a:pt x="565" y="86"/>
                          <a:pt x="559" y="97"/>
                        </a:cubicBezTo>
                        <a:cubicBezTo>
                          <a:pt x="557" y="101"/>
                          <a:pt x="554" y="110"/>
                          <a:pt x="554" y="110"/>
                        </a:cubicBezTo>
                        <a:cubicBezTo>
                          <a:pt x="556" y="132"/>
                          <a:pt x="556" y="168"/>
                          <a:pt x="572" y="188"/>
                        </a:cubicBezTo>
                        <a:cubicBezTo>
                          <a:pt x="568" y="198"/>
                          <a:pt x="564" y="208"/>
                          <a:pt x="562" y="219"/>
                        </a:cubicBezTo>
                        <a:cubicBezTo>
                          <a:pt x="564" y="227"/>
                          <a:pt x="569" y="233"/>
                          <a:pt x="572" y="240"/>
                        </a:cubicBezTo>
                        <a:cubicBezTo>
                          <a:pt x="573" y="247"/>
                          <a:pt x="572" y="254"/>
                          <a:pt x="575" y="259"/>
                        </a:cubicBezTo>
                        <a:cubicBezTo>
                          <a:pt x="577" y="263"/>
                          <a:pt x="595" y="272"/>
                          <a:pt x="599" y="283"/>
                        </a:cubicBezTo>
                        <a:cubicBezTo>
                          <a:pt x="594" y="295"/>
                          <a:pt x="603" y="306"/>
                          <a:pt x="618" y="310"/>
                        </a:cubicBezTo>
                        <a:cubicBezTo>
                          <a:pt x="630" y="307"/>
                          <a:pt x="638" y="308"/>
                          <a:pt x="645" y="300"/>
                        </a:cubicBezTo>
                        <a:cubicBezTo>
                          <a:pt x="660" y="302"/>
                          <a:pt x="663" y="303"/>
                          <a:pt x="672" y="293"/>
                        </a:cubicBezTo>
                        <a:cubicBezTo>
                          <a:pt x="675" y="294"/>
                          <a:pt x="679" y="293"/>
                          <a:pt x="680" y="295"/>
                        </a:cubicBezTo>
                        <a:cubicBezTo>
                          <a:pt x="682" y="301"/>
                          <a:pt x="674" y="321"/>
                          <a:pt x="672" y="327"/>
                        </a:cubicBezTo>
                        <a:cubicBezTo>
                          <a:pt x="668" y="340"/>
                          <a:pt x="671" y="326"/>
                          <a:pt x="664" y="340"/>
                        </a:cubicBezTo>
                        <a:cubicBezTo>
                          <a:pt x="652" y="360"/>
                          <a:pt x="646" y="381"/>
                          <a:pt x="621" y="394"/>
                        </a:cubicBezTo>
                        <a:cubicBezTo>
                          <a:pt x="614" y="402"/>
                          <a:pt x="609" y="402"/>
                          <a:pt x="599" y="407"/>
                        </a:cubicBezTo>
                        <a:cubicBezTo>
                          <a:pt x="590" y="418"/>
                          <a:pt x="579" y="429"/>
                          <a:pt x="567" y="439"/>
                        </a:cubicBezTo>
                        <a:cubicBezTo>
                          <a:pt x="560" y="454"/>
                          <a:pt x="555" y="470"/>
                          <a:pt x="548" y="485"/>
                        </a:cubicBezTo>
                        <a:cubicBezTo>
                          <a:pt x="549" y="489"/>
                          <a:pt x="550" y="492"/>
                          <a:pt x="551" y="496"/>
                        </a:cubicBezTo>
                        <a:cubicBezTo>
                          <a:pt x="552" y="500"/>
                          <a:pt x="556" y="508"/>
                          <a:pt x="556" y="508"/>
                        </a:cubicBezTo>
                        <a:cubicBezTo>
                          <a:pt x="559" y="524"/>
                          <a:pt x="562" y="546"/>
                          <a:pt x="576" y="557"/>
                        </a:cubicBezTo>
                        <a:lnTo>
                          <a:pt x="435" y="55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7" name="Freeform 100"/>
                  <p:cNvSpPr>
                    <a:spLocks/>
                  </p:cNvSpPr>
                  <p:nvPr/>
                </p:nvSpPr>
                <p:spPr bwMode="ltGray">
                  <a:xfrm>
                    <a:off x="3877" y="448"/>
                    <a:ext cx="163" cy="221"/>
                  </a:xfrm>
                  <a:custGeom>
                    <a:avLst/>
                    <a:gdLst>
                      <a:gd name="T0" fmla="*/ 154 w 257"/>
                      <a:gd name="T1" fmla="*/ 221 h 347"/>
                      <a:gd name="T2" fmla="*/ 148 w 257"/>
                      <a:gd name="T3" fmla="*/ 192 h 347"/>
                      <a:gd name="T4" fmla="*/ 138 w 257"/>
                      <a:gd name="T5" fmla="*/ 183 h 347"/>
                      <a:gd name="T6" fmla="*/ 136 w 257"/>
                      <a:gd name="T7" fmla="*/ 171 h 347"/>
                      <a:gd name="T8" fmla="*/ 133 w 257"/>
                      <a:gd name="T9" fmla="*/ 162 h 347"/>
                      <a:gd name="T10" fmla="*/ 133 w 257"/>
                      <a:gd name="T11" fmla="*/ 146 h 347"/>
                      <a:gd name="T12" fmla="*/ 131 w 257"/>
                      <a:gd name="T13" fmla="*/ 136 h 347"/>
                      <a:gd name="T14" fmla="*/ 145 w 257"/>
                      <a:gd name="T15" fmla="*/ 129 h 347"/>
                      <a:gd name="T16" fmla="*/ 163 w 257"/>
                      <a:gd name="T17" fmla="*/ 125 h 347"/>
                      <a:gd name="T18" fmla="*/ 163 w 257"/>
                      <a:gd name="T19" fmla="*/ 87 h 347"/>
                      <a:gd name="T20" fmla="*/ 34 w 257"/>
                      <a:gd name="T21" fmla="*/ 61 h 347"/>
                      <a:gd name="T22" fmla="*/ 20 w 257"/>
                      <a:gd name="T23" fmla="*/ 62 h 347"/>
                      <a:gd name="T24" fmla="*/ 10 w 257"/>
                      <a:gd name="T25" fmla="*/ 65 h 347"/>
                      <a:gd name="T26" fmla="*/ 0 w 257"/>
                      <a:gd name="T27" fmla="*/ 95 h 347"/>
                      <a:gd name="T28" fmla="*/ 59 w 257"/>
                      <a:gd name="T29" fmla="*/ 220 h 347"/>
                      <a:gd name="T30" fmla="*/ 154 w 257"/>
                      <a:gd name="T31" fmla="*/ 221 h 34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57" h="347">
                        <a:moveTo>
                          <a:pt x="243" y="347"/>
                        </a:moveTo>
                        <a:lnTo>
                          <a:pt x="233" y="301"/>
                        </a:lnTo>
                        <a:lnTo>
                          <a:pt x="217" y="288"/>
                        </a:lnTo>
                        <a:lnTo>
                          <a:pt x="215" y="269"/>
                        </a:lnTo>
                        <a:lnTo>
                          <a:pt x="209" y="254"/>
                        </a:lnTo>
                        <a:lnTo>
                          <a:pt x="209" y="229"/>
                        </a:lnTo>
                        <a:lnTo>
                          <a:pt x="207" y="214"/>
                        </a:lnTo>
                        <a:lnTo>
                          <a:pt x="228" y="202"/>
                        </a:lnTo>
                        <a:lnTo>
                          <a:pt x="257" y="197"/>
                        </a:lnTo>
                        <a:lnTo>
                          <a:pt x="257" y="136"/>
                        </a:lnTo>
                        <a:cubicBezTo>
                          <a:pt x="209" y="119"/>
                          <a:pt x="13" y="0"/>
                          <a:pt x="54" y="96"/>
                        </a:cubicBezTo>
                        <a:cubicBezTo>
                          <a:pt x="36" y="106"/>
                          <a:pt x="57" y="97"/>
                          <a:pt x="32" y="98"/>
                        </a:cubicBezTo>
                        <a:cubicBezTo>
                          <a:pt x="27" y="99"/>
                          <a:pt x="16" y="102"/>
                          <a:pt x="16" y="102"/>
                        </a:cubicBezTo>
                        <a:lnTo>
                          <a:pt x="0" y="149"/>
                        </a:lnTo>
                        <a:lnTo>
                          <a:pt x="93" y="346"/>
                        </a:lnTo>
                        <a:lnTo>
                          <a:pt x="243" y="347"/>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8" name="Freeform 101"/>
                  <p:cNvSpPr>
                    <a:spLocks/>
                  </p:cNvSpPr>
                  <p:nvPr/>
                </p:nvSpPr>
                <p:spPr bwMode="ltGray">
                  <a:xfrm>
                    <a:off x="4164" y="611"/>
                    <a:ext cx="7" cy="12"/>
                  </a:xfrm>
                  <a:custGeom>
                    <a:avLst/>
                    <a:gdLst>
                      <a:gd name="T0" fmla="*/ 3 w 19"/>
                      <a:gd name="T1" fmla="*/ 8 h 37"/>
                      <a:gd name="T2" fmla="*/ 7 w 19"/>
                      <a:gd name="T3" fmla="*/ 7 h 37"/>
                      <a:gd name="T4" fmla="*/ 3 w 19"/>
                      <a:gd name="T5" fmla="*/ 8 h 37"/>
                      <a:gd name="T6" fmla="*/ 0 60000 65536"/>
                      <a:gd name="T7" fmla="*/ 0 60000 65536"/>
                      <a:gd name="T8" fmla="*/ 0 60000 65536"/>
                    </a:gdLst>
                    <a:ahLst/>
                    <a:cxnLst>
                      <a:cxn ang="T6">
                        <a:pos x="T0" y="T1"/>
                      </a:cxn>
                      <a:cxn ang="T7">
                        <a:pos x="T2" y="T3"/>
                      </a:cxn>
                      <a:cxn ang="T8">
                        <a:pos x="T4" y="T5"/>
                      </a:cxn>
                    </a:cxnLst>
                    <a:rect l="0" t="0" r="r" b="b"/>
                    <a:pathLst>
                      <a:path w="19" h="37">
                        <a:moveTo>
                          <a:pt x="7" y="25"/>
                        </a:moveTo>
                        <a:cubicBezTo>
                          <a:pt x="0" y="4"/>
                          <a:pt x="12" y="0"/>
                          <a:pt x="19" y="21"/>
                        </a:cubicBezTo>
                        <a:cubicBezTo>
                          <a:pt x="14" y="37"/>
                          <a:pt x="18" y="36"/>
                          <a:pt x="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9" name="Freeform 102"/>
                  <p:cNvSpPr>
                    <a:spLocks/>
                  </p:cNvSpPr>
                  <p:nvPr/>
                </p:nvSpPr>
                <p:spPr bwMode="ltGray">
                  <a:xfrm>
                    <a:off x="4155" y="497"/>
                    <a:ext cx="9" cy="7"/>
                  </a:xfrm>
                  <a:custGeom>
                    <a:avLst/>
                    <a:gdLst>
                      <a:gd name="T0" fmla="*/ 5 w 22"/>
                      <a:gd name="T1" fmla="*/ 4 h 20"/>
                      <a:gd name="T2" fmla="*/ 7 w 22"/>
                      <a:gd name="T3" fmla="*/ 0 h 20"/>
                      <a:gd name="T4" fmla="*/ 8 w 22"/>
                      <a:gd name="T5" fmla="*/ 4 h 20"/>
                      <a:gd name="T6" fmla="*/ 3 w 22"/>
                      <a:gd name="T7" fmla="*/ 7 h 20"/>
                      <a:gd name="T8" fmla="*/ 5 w 22"/>
                      <a:gd name="T9" fmla="*/ 4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20">
                        <a:moveTo>
                          <a:pt x="12" y="12"/>
                        </a:moveTo>
                        <a:cubicBezTo>
                          <a:pt x="13" y="8"/>
                          <a:pt x="12" y="0"/>
                          <a:pt x="16" y="0"/>
                        </a:cubicBezTo>
                        <a:cubicBezTo>
                          <a:pt x="20" y="0"/>
                          <a:pt x="22" y="8"/>
                          <a:pt x="20" y="12"/>
                        </a:cubicBezTo>
                        <a:cubicBezTo>
                          <a:pt x="18" y="16"/>
                          <a:pt x="12" y="17"/>
                          <a:pt x="8" y="20"/>
                        </a:cubicBezTo>
                        <a:cubicBezTo>
                          <a:pt x="3" y="5"/>
                          <a:pt x="0" y="6"/>
                          <a:pt x="12"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0" name="Freeform 103"/>
                  <p:cNvSpPr>
                    <a:spLocks/>
                  </p:cNvSpPr>
                  <p:nvPr/>
                </p:nvSpPr>
                <p:spPr bwMode="ltGray">
                  <a:xfrm>
                    <a:off x="3760" y="357"/>
                    <a:ext cx="25" cy="10"/>
                  </a:xfrm>
                  <a:custGeom>
                    <a:avLst/>
                    <a:gdLst>
                      <a:gd name="T0" fmla="*/ 11 w 57"/>
                      <a:gd name="T1" fmla="*/ 6 h 30"/>
                      <a:gd name="T2" fmla="*/ 14 w 57"/>
                      <a:gd name="T3" fmla="*/ 2 h 30"/>
                      <a:gd name="T4" fmla="*/ 16 w 57"/>
                      <a:gd name="T5" fmla="*/ 10 h 30"/>
                      <a:gd name="T6" fmla="*/ 11 w 57"/>
                      <a:gd name="T7" fmla="*/ 6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7" h="30">
                        <a:moveTo>
                          <a:pt x="24" y="18"/>
                        </a:moveTo>
                        <a:cubicBezTo>
                          <a:pt x="0" y="10"/>
                          <a:pt x="9" y="0"/>
                          <a:pt x="32" y="6"/>
                        </a:cubicBezTo>
                        <a:cubicBezTo>
                          <a:pt x="46" y="15"/>
                          <a:pt x="57" y="23"/>
                          <a:pt x="36" y="30"/>
                        </a:cubicBezTo>
                        <a:cubicBezTo>
                          <a:pt x="21" y="25"/>
                          <a:pt x="24" y="30"/>
                          <a:pt x="24"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1" name="Freeform 104"/>
                  <p:cNvSpPr>
                    <a:spLocks/>
                  </p:cNvSpPr>
                  <p:nvPr/>
                </p:nvSpPr>
                <p:spPr bwMode="ltGray">
                  <a:xfrm>
                    <a:off x="4062" y="265"/>
                    <a:ext cx="295" cy="233"/>
                  </a:xfrm>
                  <a:custGeom>
                    <a:avLst/>
                    <a:gdLst>
                      <a:gd name="T0" fmla="*/ 201 w 693"/>
                      <a:gd name="T1" fmla="*/ 155 h 696"/>
                      <a:gd name="T2" fmla="*/ 167 w 693"/>
                      <a:gd name="T3" fmla="*/ 151 h 696"/>
                      <a:gd name="T4" fmla="*/ 138 w 693"/>
                      <a:gd name="T5" fmla="*/ 138 h 696"/>
                      <a:gd name="T6" fmla="*/ 113 w 693"/>
                      <a:gd name="T7" fmla="*/ 134 h 696"/>
                      <a:gd name="T8" fmla="*/ 101 w 693"/>
                      <a:gd name="T9" fmla="*/ 139 h 696"/>
                      <a:gd name="T10" fmla="*/ 111 w 693"/>
                      <a:gd name="T11" fmla="*/ 143 h 696"/>
                      <a:gd name="T12" fmla="*/ 125 w 693"/>
                      <a:gd name="T13" fmla="*/ 157 h 696"/>
                      <a:gd name="T14" fmla="*/ 137 w 693"/>
                      <a:gd name="T15" fmla="*/ 159 h 696"/>
                      <a:gd name="T16" fmla="*/ 142 w 693"/>
                      <a:gd name="T17" fmla="*/ 179 h 696"/>
                      <a:gd name="T18" fmla="*/ 133 w 693"/>
                      <a:gd name="T19" fmla="*/ 185 h 696"/>
                      <a:gd name="T20" fmla="*/ 111 w 693"/>
                      <a:gd name="T21" fmla="*/ 206 h 696"/>
                      <a:gd name="T22" fmla="*/ 96 w 693"/>
                      <a:gd name="T23" fmla="*/ 210 h 696"/>
                      <a:gd name="T24" fmla="*/ 41 w 693"/>
                      <a:gd name="T25" fmla="*/ 233 h 696"/>
                      <a:gd name="T26" fmla="*/ 33 w 693"/>
                      <a:gd name="T27" fmla="*/ 206 h 696"/>
                      <a:gd name="T28" fmla="*/ 19 w 693"/>
                      <a:gd name="T29" fmla="*/ 175 h 696"/>
                      <a:gd name="T30" fmla="*/ 14 w 693"/>
                      <a:gd name="T31" fmla="*/ 150 h 696"/>
                      <a:gd name="T32" fmla="*/ 23 w 693"/>
                      <a:gd name="T33" fmla="*/ 115 h 696"/>
                      <a:gd name="T34" fmla="*/ 7 w 693"/>
                      <a:gd name="T35" fmla="*/ 131 h 696"/>
                      <a:gd name="T36" fmla="*/ 34 w 693"/>
                      <a:gd name="T37" fmla="*/ 94 h 696"/>
                      <a:gd name="T38" fmla="*/ 48 w 693"/>
                      <a:gd name="T39" fmla="*/ 68 h 696"/>
                      <a:gd name="T40" fmla="*/ 16 w 693"/>
                      <a:gd name="T41" fmla="*/ 68 h 696"/>
                      <a:gd name="T42" fmla="*/ 0 w 693"/>
                      <a:gd name="T43" fmla="*/ 66 h 696"/>
                      <a:gd name="T44" fmla="*/ 11 w 693"/>
                      <a:gd name="T45" fmla="*/ 47 h 696"/>
                      <a:gd name="T46" fmla="*/ 41 w 693"/>
                      <a:gd name="T47" fmla="*/ 37 h 696"/>
                      <a:gd name="T48" fmla="*/ 94 w 693"/>
                      <a:gd name="T49" fmla="*/ 42 h 696"/>
                      <a:gd name="T50" fmla="*/ 97 w 693"/>
                      <a:gd name="T51" fmla="*/ 21 h 696"/>
                      <a:gd name="T52" fmla="*/ 111 w 693"/>
                      <a:gd name="T53" fmla="*/ 0 h 696"/>
                      <a:gd name="T54" fmla="*/ 152 w 693"/>
                      <a:gd name="T55" fmla="*/ 15 h 696"/>
                      <a:gd name="T56" fmla="*/ 140 w 693"/>
                      <a:gd name="T57" fmla="*/ 29 h 696"/>
                      <a:gd name="T58" fmla="*/ 128 w 693"/>
                      <a:gd name="T59" fmla="*/ 59 h 696"/>
                      <a:gd name="T60" fmla="*/ 154 w 693"/>
                      <a:gd name="T61" fmla="*/ 64 h 696"/>
                      <a:gd name="T62" fmla="*/ 159 w 693"/>
                      <a:gd name="T63" fmla="*/ 46 h 696"/>
                      <a:gd name="T64" fmla="*/ 178 w 693"/>
                      <a:gd name="T65" fmla="*/ 31 h 696"/>
                      <a:gd name="T66" fmla="*/ 212 w 693"/>
                      <a:gd name="T67" fmla="*/ 29 h 696"/>
                      <a:gd name="T68" fmla="*/ 225 w 693"/>
                      <a:gd name="T69" fmla="*/ 17 h 696"/>
                      <a:gd name="T70" fmla="*/ 230 w 693"/>
                      <a:gd name="T71" fmla="*/ 154 h 69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93" h="696">
                        <a:moveTo>
                          <a:pt x="541" y="460"/>
                        </a:moveTo>
                        <a:lnTo>
                          <a:pt x="473" y="464"/>
                        </a:lnTo>
                        <a:lnTo>
                          <a:pt x="441" y="452"/>
                        </a:lnTo>
                        <a:lnTo>
                          <a:pt x="393" y="452"/>
                        </a:lnTo>
                        <a:cubicBezTo>
                          <a:pt x="365" y="448"/>
                          <a:pt x="360" y="444"/>
                          <a:pt x="337" y="436"/>
                        </a:cubicBezTo>
                        <a:cubicBezTo>
                          <a:pt x="336" y="432"/>
                          <a:pt x="330" y="413"/>
                          <a:pt x="325" y="412"/>
                        </a:cubicBezTo>
                        <a:cubicBezTo>
                          <a:pt x="317" y="411"/>
                          <a:pt x="301" y="420"/>
                          <a:pt x="301" y="420"/>
                        </a:cubicBezTo>
                        <a:cubicBezTo>
                          <a:pt x="289" y="412"/>
                          <a:pt x="277" y="408"/>
                          <a:pt x="265" y="400"/>
                        </a:cubicBezTo>
                        <a:cubicBezTo>
                          <a:pt x="252" y="380"/>
                          <a:pt x="256" y="356"/>
                          <a:pt x="233" y="348"/>
                        </a:cubicBezTo>
                        <a:cubicBezTo>
                          <a:pt x="217" y="372"/>
                          <a:pt x="221" y="392"/>
                          <a:pt x="237" y="416"/>
                        </a:cubicBezTo>
                        <a:cubicBezTo>
                          <a:pt x="234" y="428"/>
                          <a:pt x="228" y="445"/>
                          <a:pt x="237" y="444"/>
                        </a:cubicBezTo>
                        <a:cubicBezTo>
                          <a:pt x="247" y="443"/>
                          <a:pt x="261" y="428"/>
                          <a:pt x="261" y="428"/>
                        </a:cubicBezTo>
                        <a:cubicBezTo>
                          <a:pt x="258" y="450"/>
                          <a:pt x="243" y="475"/>
                          <a:pt x="269" y="484"/>
                        </a:cubicBezTo>
                        <a:cubicBezTo>
                          <a:pt x="277" y="479"/>
                          <a:pt x="288" y="476"/>
                          <a:pt x="293" y="468"/>
                        </a:cubicBezTo>
                        <a:cubicBezTo>
                          <a:pt x="302" y="454"/>
                          <a:pt x="303" y="446"/>
                          <a:pt x="317" y="436"/>
                        </a:cubicBezTo>
                        <a:cubicBezTo>
                          <a:pt x="315" y="448"/>
                          <a:pt x="306" y="467"/>
                          <a:pt x="321" y="476"/>
                        </a:cubicBezTo>
                        <a:cubicBezTo>
                          <a:pt x="328" y="480"/>
                          <a:pt x="345" y="484"/>
                          <a:pt x="345" y="484"/>
                        </a:cubicBezTo>
                        <a:cubicBezTo>
                          <a:pt x="382" y="472"/>
                          <a:pt x="347" y="527"/>
                          <a:pt x="333" y="536"/>
                        </a:cubicBezTo>
                        <a:cubicBezTo>
                          <a:pt x="330" y="540"/>
                          <a:pt x="329" y="545"/>
                          <a:pt x="325" y="548"/>
                        </a:cubicBezTo>
                        <a:cubicBezTo>
                          <a:pt x="322" y="551"/>
                          <a:pt x="316" y="549"/>
                          <a:pt x="313" y="552"/>
                        </a:cubicBezTo>
                        <a:cubicBezTo>
                          <a:pt x="300" y="565"/>
                          <a:pt x="320" y="575"/>
                          <a:pt x="293" y="584"/>
                        </a:cubicBezTo>
                        <a:cubicBezTo>
                          <a:pt x="286" y="595"/>
                          <a:pt x="272" y="610"/>
                          <a:pt x="261" y="616"/>
                        </a:cubicBezTo>
                        <a:cubicBezTo>
                          <a:pt x="254" y="620"/>
                          <a:pt x="245" y="621"/>
                          <a:pt x="237" y="624"/>
                        </a:cubicBezTo>
                        <a:cubicBezTo>
                          <a:pt x="233" y="625"/>
                          <a:pt x="225" y="628"/>
                          <a:pt x="225" y="628"/>
                        </a:cubicBezTo>
                        <a:cubicBezTo>
                          <a:pt x="215" y="659"/>
                          <a:pt x="212" y="652"/>
                          <a:pt x="173" y="656"/>
                        </a:cubicBezTo>
                        <a:cubicBezTo>
                          <a:pt x="140" y="667"/>
                          <a:pt x="132" y="687"/>
                          <a:pt x="97" y="696"/>
                        </a:cubicBezTo>
                        <a:cubicBezTo>
                          <a:pt x="77" y="691"/>
                          <a:pt x="75" y="687"/>
                          <a:pt x="81" y="668"/>
                        </a:cubicBezTo>
                        <a:cubicBezTo>
                          <a:pt x="77" y="646"/>
                          <a:pt x="72" y="639"/>
                          <a:pt x="77" y="616"/>
                        </a:cubicBezTo>
                        <a:cubicBezTo>
                          <a:pt x="73" y="598"/>
                          <a:pt x="71" y="587"/>
                          <a:pt x="61" y="572"/>
                        </a:cubicBezTo>
                        <a:cubicBezTo>
                          <a:pt x="58" y="551"/>
                          <a:pt x="51" y="543"/>
                          <a:pt x="45" y="524"/>
                        </a:cubicBezTo>
                        <a:cubicBezTo>
                          <a:pt x="52" y="502"/>
                          <a:pt x="58" y="496"/>
                          <a:pt x="49" y="472"/>
                        </a:cubicBezTo>
                        <a:cubicBezTo>
                          <a:pt x="46" y="463"/>
                          <a:pt x="33" y="448"/>
                          <a:pt x="33" y="448"/>
                        </a:cubicBezTo>
                        <a:cubicBezTo>
                          <a:pt x="42" y="422"/>
                          <a:pt x="42" y="408"/>
                          <a:pt x="33" y="380"/>
                        </a:cubicBezTo>
                        <a:cubicBezTo>
                          <a:pt x="49" y="369"/>
                          <a:pt x="48" y="362"/>
                          <a:pt x="53" y="344"/>
                        </a:cubicBezTo>
                        <a:cubicBezTo>
                          <a:pt x="47" y="327"/>
                          <a:pt x="49" y="308"/>
                          <a:pt x="33" y="332"/>
                        </a:cubicBezTo>
                        <a:cubicBezTo>
                          <a:pt x="40" y="353"/>
                          <a:pt x="29" y="374"/>
                          <a:pt x="17" y="392"/>
                        </a:cubicBezTo>
                        <a:cubicBezTo>
                          <a:pt x="6" y="360"/>
                          <a:pt x="10" y="340"/>
                          <a:pt x="13" y="304"/>
                        </a:cubicBezTo>
                        <a:cubicBezTo>
                          <a:pt x="44" y="314"/>
                          <a:pt x="54" y="289"/>
                          <a:pt x="81" y="280"/>
                        </a:cubicBezTo>
                        <a:cubicBezTo>
                          <a:pt x="94" y="261"/>
                          <a:pt x="85" y="242"/>
                          <a:pt x="105" y="228"/>
                        </a:cubicBezTo>
                        <a:cubicBezTo>
                          <a:pt x="108" y="220"/>
                          <a:pt x="110" y="212"/>
                          <a:pt x="113" y="204"/>
                        </a:cubicBezTo>
                        <a:cubicBezTo>
                          <a:pt x="116" y="196"/>
                          <a:pt x="89" y="196"/>
                          <a:pt x="89" y="196"/>
                        </a:cubicBezTo>
                        <a:cubicBezTo>
                          <a:pt x="81" y="221"/>
                          <a:pt x="58" y="211"/>
                          <a:pt x="37" y="204"/>
                        </a:cubicBezTo>
                        <a:cubicBezTo>
                          <a:pt x="33" y="207"/>
                          <a:pt x="30" y="213"/>
                          <a:pt x="25" y="212"/>
                        </a:cubicBezTo>
                        <a:cubicBezTo>
                          <a:pt x="16" y="210"/>
                          <a:pt x="1" y="196"/>
                          <a:pt x="1" y="196"/>
                        </a:cubicBezTo>
                        <a:cubicBezTo>
                          <a:pt x="4" y="186"/>
                          <a:pt x="4" y="174"/>
                          <a:pt x="9" y="164"/>
                        </a:cubicBezTo>
                        <a:cubicBezTo>
                          <a:pt x="13" y="155"/>
                          <a:pt x="25" y="140"/>
                          <a:pt x="25" y="140"/>
                        </a:cubicBezTo>
                        <a:cubicBezTo>
                          <a:pt x="0" y="132"/>
                          <a:pt x="25" y="128"/>
                          <a:pt x="37" y="124"/>
                        </a:cubicBezTo>
                        <a:cubicBezTo>
                          <a:pt x="58" y="131"/>
                          <a:pt x="75" y="116"/>
                          <a:pt x="97" y="112"/>
                        </a:cubicBezTo>
                        <a:cubicBezTo>
                          <a:pt x="135" y="87"/>
                          <a:pt x="159" y="122"/>
                          <a:pt x="197" y="132"/>
                        </a:cubicBezTo>
                        <a:cubicBezTo>
                          <a:pt x="205" y="129"/>
                          <a:pt x="213" y="127"/>
                          <a:pt x="221" y="124"/>
                        </a:cubicBezTo>
                        <a:cubicBezTo>
                          <a:pt x="225" y="123"/>
                          <a:pt x="226" y="147"/>
                          <a:pt x="233" y="120"/>
                        </a:cubicBezTo>
                        <a:lnTo>
                          <a:pt x="229" y="64"/>
                        </a:lnTo>
                        <a:lnTo>
                          <a:pt x="209" y="40"/>
                        </a:lnTo>
                        <a:cubicBezTo>
                          <a:pt x="243" y="21"/>
                          <a:pt x="240" y="21"/>
                          <a:pt x="261" y="0"/>
                        </a:cubicBezTo>
                        <a:cubicBezTo>
                          <a:pt x="297" y="16"/>
                          <a:pt x="333" y="32"/>
                          <a:pt x="369" y="48"/>
                        </a:cubicBezTo>
                        <a:cubicBezTo>
                          <a:pt x="373" y="50"/>
                          <a:pt x="361" y="44"/>
                          <a:pt x="357" y="44"/>
                        </a:cubicBezTo>
                        <a:cubicBezTo>
                          <a:pt x="349" y="45"/>
                          <a:pt x="333" y="52"/>
                          <a:pt x="333" y="52"/>
                        </a:cubicBezTo>
                        <a:cubicBezTo>
                          <a:pt x="322" y="68"/>
                          <a:pt x="318" y="71"/>
                          <a:pt x="329" y="88"/>
                        </a:cubicBezTo>
                        <a:cubicBezTo>
                          <a:pt x="308" y="119"/>
                          <a:pt x="323" y="118"/>
                          <a:pt x="333" y="148"/>
                        </a:cubicBezTo>
                        <a:cubicBezTo>
                          <a:pt x="320" y="157"/>
                          <a:pt x="314" y="167"/>
                          <a:pt x="301" y="176"/>
                        </a:cubicBezTo>
                        <a:cubicBezTo>
                          <a:pt x="306" y="213"/>
                          <a:pt x="303" y="213"/>
                          <a:pt x="337" y="220"/>
                        </a:cubicBezTo>
                        <a:cubicBezTo>
                          <a:pt x="358" y="216"/>
                          <a:pt x="368" y="214"/>
                          <a:pt x="361" y="192"/>
                        </a:cubicBezTo>
                        <a:cubicBezTo>
                          <a:pt x="362" y="177"/>
                          <a:pt x="362" y="162"/>
                          <a:pt x="365" y="148"/>
                        </a:cubicBezTo>
                        <a:cubicBezTo>
                          <a:pt x="366" y="143"/>
                          <a:pt x="369" y="133"/>
                          <a:pt x="373" y="136"/>
                        </a:cubicBezTo>
                        <a:cubicBezTo>
                          <a:pt x="379" y="140"/>
                          <a:pt x="376" y="149"/>
                          <a:pt x="377" y="156"/>
                        </a:cubicBezTo>
                        <a:cubicBezTo>
                          <a:pt x="404" y="147"/>
                          <a:pt x="409" y="116"/>
                          <a:pt x="417" y="92"/>
                        </a:cubicBezTo>
                        <a:cubicBezTo>
                          <a:pt x="422" y="76"/>
                          <a:pt x="453" y="74"/>
                          <a:pt x="465" y="72"/>
                        </a:cubicBezTo>
                        <a:cubicBezTo>
                          <a:pt x="472" y="92"/>
                          <a:pt x="477" y="93"/>
                          <a:pt x="497" y="88"/>
                        </a:cubicBezTo>
                        <a:cubicBezTo>
                          <a:pt x="512" y="78"/>
                          <a:pt x="515" y="74"/>
                          <a:pt x="509" y="56"/>
                        </a:cubicBezTo>
                        <a:cubicBezTo>
                          <a:pt x="523" y="46"/>
                          <a:pt x="517" y="46"/>
                          <a:pt x="529" y="52"/>
                        </a:cubicBezTo>
                        <a:lnTo>
                          <a:pt x="693" y="72"/>
                        </a:lnTo>
                        <a:lnTo>
                          <a:pt x="541" y="46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2" name="Freeform 105"/>
                  <p:cNvSpPr>
                    <a:spLocks/>
                  </p:cNvSpPr>
                  <p:nvPr/>
                </p:nvSpPr>
                <p:spPr bwMode="ltGray">
                  <a:xfrm>
                    <a:off x="3861" y="247"/>
                    <a:ext cx="591" cy="95"/>
                  </a:xfrm>
                  <a:custGeom>
                    <a:avLst/>
                    <a:gdLst>
                      <a:gd name="T0" fmla="*/ 524 w 931"/>
                      <a:gd name="T1" fmla="*/ 0 h 149"/>
                      <a:gd name="T2" fmla="*/ 91 w 931"/>
                      <a:gd name="T3" fmla="*/ 18 h 149"/>
                      <a:gd name="T4" fmla="*/ 58 w 931"/>
                      <a:gd name="T5" fmla="*/ 27 h 149"/>
                      <a:gd name="T6" fmla="*/ 39 w 931"/>
                      <a:gd name="T7" fmla="*/ 27 h 149"/>
                      <a:gd name="T8" fmla="*/ 14 w 931"/>
                      <a:gd name="T9" fmla="*/ 49 h 149"/>
                      <a:gd name="T10" fmla="*/ 0 w 931"/>
                      <a:gd name="T11" fmla="*/ 67 h 149"/>
                      <a:gd name="T12" fmla="*/ 37 w 931"/>
                      <a:gd name="T13" fmla="*/ 73 h 149"/>
                      <a:gd name="T14" fmla="*/ 62 w 931"/>
                      <a:gd name="T15" fmla="*/ 61 h 149"/>
                      <a:gd name="T16" fmla="*/ 69 w 931"/>
                      <a:gd name="T17" fmla="*/ 54 h 149"/>
                      <a:gd name="T18" fmla="*/ 106 w 931"/>
                      <a:gd name="T19" fmla="*/ 33 h 149"/>
                      <a:gd name="T20" fmla="*/ 136 w 931"/>
                      <a:gd name="T21" fmla="*/ 29 h 149"/>
                      <a:gd name="T22" fmla="*/ 150 w 931"/>
                      <a:gd name="T23" fmla="*/ 60 h 149"/>
                      <a:gd name="T24" fmla="*/ 119 w 931"/>
                      <a:gd name="T25" fmla="*/ 69 h 149"/>
                      <a:gd name="T26" fmla="*/ 147 w 931"/>
                      <a:gd name="T27" fmla="*/ 72 h 149"/>
                      <a:gd name="T28" fmla="*/ 159 w 931"/>
                      <a:gd name="T29" fmla="*/ 57 h 149"/>
                      <a:gd name="T30" fmla="*/ 169 w 931"/>
                      <a:gd name="T31" fmla="*/ 59 h 149"/>
                      <a:gd name="T32" fmla="*/ 161 w 931"/>
                      <a:gd name="T33" fmla="*/ 34 h 149"/>
                      <a:gd name="T34" fmla="*/ 169 w 931"/>
                      <a:gd name="T35" fmla="*/ 28 h 149"/>
                      <a:gd name="T36" fmla="*/ 176 w 931"/>
                      <a:gd name="T37" fmla="*/ 56 h 149"/>
                      <a:gd name="T38" fmla="*/ 169 w 931"/>
                      <a:gd name="T39" fmla="*/ 72 h 149"/>
                      <a:gd name="T40" fmla="*/ 188 w 931"/>
                      <a:gd name="T41" fmla="*/ 83 h 149"/>
                      <a:gd name="T42" fmla="*/ 190 w 931"/>
                      <a:gd name="T43" fmla="*/ 59 h 149"/>
                      <a:gd name="T44" fmla="*/ 210 w 931"/>
                      <a:gd name="T45" fmla="*/ 66 h 149"/>
                      <a:gd name="T46" fmla="*/ 242 w 931"/>
                      <a:gd name="T47" fmla="*/ 47 h 149"/>
                      <a:gd name="T48" fmla="*/ 260 w 931"/>
                      <a:gd name="T49" fmla="*/ 32 h 149"/>
                      <a:gd name="T50" fmla="*/ 279 w 931"/>
                      <a:gd name="T51" fmla="*/ 36 h 149"/>
                      <a:gd name="T52" fmla="*/ 289 w 931"/>
                      <a:gd name="T53" fmla="*/ 32 h 149"/>
                      <a:gd name="T54" fmla="*/ 274 w 931"/>
                      <a:gd name="T55" fmla="*/ 28 h 149"/>
                      <a:gd name="T56" fmla="*/ 301 w 931"/>
                      <a:gd name="T57" fmla="*/ 22 h 149"/>
                      <a:gd name="T58" fmla="*/ 345 w 931"/>
                      <a:gd name="T59" fmla="*/ 34 h 149"/>
                      <a:gd name="T60" fmla="*/ 369 w 931"/>
                      <a:gd name="T61" fmla="*/ 27 h 149"/>
                      <a:gd name="T62" fmla="*/ 371 w 931"/>
                      <a:gd name="T63" fmla="*/ 40 h 149"/>
                      <a:gd name="T64" fmla="*/ 361 w 931"/>
                      <a:gd name="T65" fmla="*/ 64 h 149"/>
                      <a:gd name="T66" fmla="*/ 388 w 931"/>
                      <a:gd name="T67" fmla="*/ 56 h 149"/>
                      <a:gd name="T68" fmla="*/ 396 w 931"/>
                      <a:gd name="T69" fmla="*/ 51 h 149"/>
                      <a:gd name="T70" fmla="*/ 411 w 931"/>
                      <a:gd name="T71" fmla="*/ 39 h 149"/>
                      <a:gd name="T72" fmla="*/ 504 w 931"/>
                      <a:gd name="T73" fmla="*/ 54 h 14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31" h="149">
                        <a:moveTo>
                          <a:pt x="794" y="84"/>
                        </a:moveTo>
                        <a:cubicBezTo>
                          <a:pt x="813" y="72"/>
                          <a:pt x="931" y="14"/>
                          <a:pt x="825" y="0"/>
                        </a:cubicBezTo>
                        <a:lnTo>
                          <a:pt x="159" y="0"/>
                        </a:lnTo>
                        <a:cubicBezTo>
                          <a:pt x="149" y="12"/>
                          <a:pt x="162" y="18"/>
                          <a:pt x="143" y="29"/>
                        </a:cubicBezTo>
                        <a:cubicBezTo>
                          <a:pt x="130" y="44"/>
                          <a:pt x="133" y="39"/>
                          <a:pt x="116" y="48"/>
                        </a:cubicBezTo>
                        <a:cubicBezTo>
                          <a:pt x="108" y="46"/>
                          <a:pt x="100" y="44"/>
                          <a:pt x="91" y="42"/>
                        </a:cubicBezTo>
                        <a:cubicBezTo>
                          <a:pt x="89" y="41"/>
                          <a:pt x="83" y="40"/>
                          <a:pt x="83" y="40"/>
                        </a:cubicBezTo>
                        <a:cubicBezTo>
                          <a:pt x="76" y="40"/>
                          <a:pt x="68" y="39"/>
                          <a:pt x="62" y="42"/>
                        </a:cubicBezTo>
                        <a:cubicBezTo>
                          <a:pt x="54" y="45"/>
                          <a:pt x="46" y="61"/>
                          <a:pt x="38" y="67"/>
                        </a:cubicBezTo>
                        <a:cubicBezTo>
                          <a:pt x="32" y="71"/>
                          <a:pt x="27" y="74"/>
                          <a:pt x="22" y="77"/>
                        </a:cubicBezTo>
                        <a:cubicBezTo>
                          <a:pt x="16" y="81"/>
                          <a:pt x="5" y="86"/>
                          <a:pt x="5" y="86"/>
                        </a:cubicBezTo>
                        <a:cubicBezTo>
                          <a:pt x="9" y="95"/>
                          <a:pt x="7" y="97"/>
                          <a:pt x="0" y="105"/>
                        </a:cubicBezTo>
                        <a:cubicBezTo>
                          <a:pt x="17" y="107"/>
                          <a:pt x="22" y="107"/>
                          <a:pt x="16" y="120"/>
                        </a:cubicBezTo>
                        <a:cubicBezTo>
                          <a:pt x="27" y="122"/>
                          <a:pt x="48" y="116"/>
                          <a:pt x="59" y="115"/>
                        </a:cubicBezTo>
                        <a:cubicBezTo>
                          <a:pt x="71" y="112"/>
                          <a:pt x="73" y="117"/>
                          <a:pt x="83" y="111"/>
                        </a:cubicBezTo>
                        <a:cubicBezTo>
                          <a:pt x="89" y="96"/>
                          <a:pt x="83" y="100"/>
                          <a:pt x="97" y="96"/>
                        </a:cubicBezTo>
                        <a:cubicBezTo>
                          <a:pt x="100" y="94"/>
                          <a:pt x="103" y="93"/>
                          <a:pt x="105" y="90"/>
                        </a:cubicBezTo>
                        <a:cubicBezTo>
                          <a:pt x="106" y="88"/>
                          <a:pt x="106" y="85"/>
                          <a:pt x="108" y="84"/>
                        </a:cubicBezTo>
                        <a:cubicBezTo>
                          <a:pt x="112" y="80"/>
                          <a:pt x="140" y="69"/>
                          <a:pt x="148" y="67"/>
                        </a:cubicBezTo>
                        <a:cubicBezTo>
                          <a:pt x="160" y="52"/>
                          <a:pt x="153" y="56"/>
                          <a:pt x="167" y="52"/>
                        </a:cubicBezTo>
                        <a:cubicBezTo>
                          <a:pt x="178" y="55"/>
                          <a:pt x="179" y="62"/>
                          <a:pt x="191" y="58"/>
                        </a:cubicBezTo>
                        <a:cubicBezTo>
                          <a:pt x="199" y="52"/>
                          <a:pt x="206" y="51"/>
                          <a:pt x="215" y="46"/>
                        </a:cubicBezTo>
                        <a:cubicBezTo>
                          <a:pt x="226" y="58"/>
                          <a:pt x="217" y="46"/>
                          <a:pt x="223" y="69"/>
                        </a:cubicBezTo>
                        <a:cubicBezTo>
                          <a:pt x="226" y="79"/>
                          <a:pt x="233" y="85"/>
                          <a:pt x="237" y="94"/>
                        </a:cubicBezTo>
                        <a:cubicBezTo>
                          <a:pt x="227" y="100"/>
                          <a:pt x="229" y="104"/>
                          <a:pt x="218" y="107"/>
                        </a:cubicBezTo>
                        <a:cubicBezTo>
                          <a:pt x="207" y="120"/>
                          <a:pt x="203" y="113"/>
                          <a:pt x="188" y="109"/>
                        </a:cubicBezTo>
                        <a:cubicBezTo>
                          <a:pt x="191" y="117"/>
                          <a:pt x="200" y="127"/>
                          <a:pt x="210" y="132"/>
                        </a:cubicBezTo>
                        <a:cubicBezTo>
                          <a:pt x="218" y="114"/>
                          <a:pt x="211" y="122"/>
                          <a:pt x="231" y="113"/>
                        </a:cubicBezTo>
                        <a:cubicBezTo>
                          <a:pt x="237" y="111"/>
                          <a:pt x="248" y="105"/>
                          <a:pt x="248" y="105"/>
                        </a:cubicBezTo>
                        <a:cubicBezTo>
                          <a:pt x="248" y="100"/>
                          <a:pt x="246" y="94"/>
                          <a:pt x="250" y="90"/>
                        </a:cubicBezTo>
                        <a:cubicBezTo>
                          <a:pt x="253" y="88"/>
                          <a:pt x="254" y="96"/>
                          <a:pt x="258" y="96"/>
                        </a:cubicBezTo>
                        <a:cubicBezTo>
                          <a:pt x="262" y="97"/>
                          <a:pt x="264" y="94"/>
                          <a:pt x="266" y="92"/>
                        </a:cubicBezTo>
                        <a:cubicBezTo>
                          <a:pt x="262" y="82"/>
                          <a:pt x="252" y="77"/>
                          <a:pt x="248" y="67"/>
                        </a:cubicBezTo>
                        <a:cubicBezTo>
                          <a:pt x="250" y="63"/>
                          <a:pt x="255" y="58"/>
                          <a:pt x="253" y="54"/>
                        </a:cubicBezTo>
                        <a:cubicBezTo>
                          <a:pt x="251" y="50"/>
                          <a:pt x="248" y="42"/>
                          <a:pt x="248" y="42"/>
                        </a:cubicBezTo>
                        <a:cubicBezTo>
                          <a:pt x="256" y="32"/>
                          <a:pt x="259" y="35"/>
                          <a:pt x="266" y="44"/>
                        </a:cubicBezTo>
                        <a:cubicBezTo>
                          <a:pt x="270" y="56"/>
                          <a:pt x="276" y="61"/>
                          <a:pt x="285" y="71"/>
                        </a:cubicBezTo>
                        <a:cubicBezTo>
                          <a:pt x="281" y="81"/>
                          <a:pt x="289" y="82"/>
                          <a:pt x="277" y="88"/>
                        </a:cubicBezTo>
                        <a:cubicBezTo>
                          <a:pt x="262" y="106"/>
                          <a:pt x="278" y="83"/>
                          <a:pt x="274" y="101"/>
                        </a:cubicBezTo>
                        <a:cubicBezTo>
                          <a:pt x="274" y="105"/>
                          <a:pt x="268" y="109"/>
                          <a:pt x="266" y="113"/>
                        </a:cubicBezTo>
                        <a:cubicBezTo>
                          <a:pt x="270" y="122"/>
                          <a:pt x="268" y="125"/>
                          <a:pt x="261" y="132"/>
                        </a:cubicBezTo>
                        <a:cubicBezTo>
                          <a:pt x="268" y="149"/>
                          <a:pt x="282" y="134"/>
                          <a:pt x="296" y="130"/>
                        </a:cubicBezTo>
                        <a:cubicBezTo>
                          <a:pt x="299" y="122"/>
                          <a:pt x="295" y="119"/>
                          <a:pt x="299" y="111"/>
                        </a:cubicBezTo>
                        <a:cubicBezTo>
                          <a:pt x="296" y="105"/>
                          <a:pt x="288" y="97"/>
                          <a:pt x="299" y="92"/>
                        </a:cubicBezTo>
                        <a:cubicBezTo>
                          <a:pt x="303" y="90"/>
                          <a:pt x="315" y="88"/>
                          <a:pt x="315" y="88"/>
                        </a:cubicBezTo>
                        <a:cubicBezTo>
                          <a:pt x="326" y="91"/>
                          <a:pt x="325" y="95"/>
                          <a:pt x="331" y="103"/>
                        </a:cubicBezTo>
                        <a:cubicBezTo>
                          <a:pt x="339" y="84"/>
                          <a:pt x="331" y="90"/>
                          <a:pt x="361" y="92"/>
                        </a:cubicBezTo>
                        <a:cubicBezTo>
                          <a:pt x="355" y="76"/>
                          <a:pt x="365" y="76"/>
                          <a:pt x="382" y="73"/>
                        </a:cubicBezTo>
                        <a:cubicBezTo>
                          <a:pt x="383" y="71"/>
                          <a:pt x="387" y="57"/>
                          <a:pt x="393" y="54"/>
                        </a:cubicBezTo>
                        <a:cubicBezTo>
                          <a:pt x="398" y="52"/>
                          <a:pt x="409" y="50"/>
                          <a:pt x="409" y="50"/>
                        </a:cubicBezTo>
                        <a:cubicBezTo>
                          <a:pt x="430" y="54"/>
                          <a:pt x="413" y="58"/>
                          <a:pt x="431" y="63"/>
                        </a:cubicBezTo>
                        <a:cubicBezTo>
                          <a:pt x="433" y="61"/>
                          <a:pt x="435" y="57"/>
                          <a:pt x="439" y="56"/>
                        </a:cubicBezTo>
                        <a:cubicBezTo>
                          <a:pt x="445" y="55"/>
                          <a:pt x="452" y="61"/>
                          <a:pt x="457" y="58"/>
                        </a:cubicBezTo>
                        <a:cubicBezTo>
                          <a:pt x="461" y="57"/>
                          <a:pt x="457" y="52"/>
                          <a:pt x="455" y="50"/>
                        </a:cubicBezTo>
                        <a:cubicBezTo>
                          <a:pt x="451" y="47"/>
                          <a:pt x="444" y="47"/>
                          <a:pt x="439" y="46"/>
                        </a:cubicBezTo>
                        <a:cubicBezTo>
                          <a:pt x="436" y="45"/>
                          <a:pt x="431" y="44"/>
                          <a:pt x="431" y="44"/>
                        </a:cubicBezTo>
                        <a:cubicBezTo>
                          <a:pt x="440" y="38"/>
                          <a:pt x="443" y="36"/>
                          <a:pt x="455" y="40"/>
                        </a:cubicBezTo>
                        <a:cubicBezTo>
                          <a:pt x="461" y="38"/>
                          <a:pt x="467" y="35"/>
                          <a:pt x="474" y="35"/>
                        </a:cubicBezTo>
                        <a:cubicBezTo>
                          <a:pt x="483" y="36"/>
                          <a:pt x="511" y="43"/>
                          <a:pt x="519" y="46"/>
                        </a:cubicBezTo>
                        <a:cubicBezTo>
                          <a:pt x="527" y="49"/>
                          <a:pt x="544" y="54"/>
                          <a:pt x="544" y="54"/>
                        </a:cubicBezTo>
                        <a:cubicBezTo>
                          <a:pt x="548" y="54"/>
                          <a:pt x="560" y="52"/>
                          <a:pt x="565" y="50"/>
                        </a:cubicBezTo>
                        <a:cubicBezTo>
                          <a:pt x="570" y="47"/>
                          <a:pt x="581" y="42"/>
                          <a:pt x="581" y="42"/>
                        </a:cubicBezTo>
                        <a:cubicBezTo>
                          <a:pt x="585" y="42"/>
                          <a:pt x="598" y="44"/>
                          <a:pt x="600" y="48"/>
                        </a:cubicBezTo>
                        <a:cubicBezTo>
                          <a:pt x="603" y="55"/>
                          <a:pt x="589" y="61"/>
                          <a:pt x="584" y="63"/>
                        </a:cubicBezTo>
                        <a:cubicBezTo>
                          <a:pt x="576" y="69"/>
                          <a:pt x="568" y="69"/>
                          <a:pt x="565" y="77"/>
                        </a:cubicBezTo>
                        <a:cubicBezTo>
                          <a:pt x="568" y="86"/>
                          <a:pt x="564" y="92"/>
                          <a:pt x="568" y="101"/>
                        </a:cubicBezTo>
                        <a:cubicBezTo>
                          <a:pt x="574" y="93"/>
                          <a:pt x="577" y="91"/>
                          <a:pt x="589" y="94"/>
                        </a:cubicBezTo>
                        <a:cubicBezTo>
                          <a:pt x="595" y="108"/>
                          <a:pt x="602" y="93"/>
                          <a:pt x="611" y="88"/>
                        </a:cubicBezTo>
                        <a:cubicBezTo>
                          <a:pt x="613" y="86"/>
                          <a:pt x="613" y="83"/>
                          <a:pt x="616" y="82"/>
                        </a:cubicBezTo>
                        <a:cubicBezTo>
                          <a:pt x="618" y="80"/>
                          <a:pt x="622" y="81"/>
                          <a:pt x="624" y="80"/>
                        </a:cubicBezTo>
                        <a:cubicBezTo>
                          <a:pt x="626" y="78"/>
                          <a:pt x="626" y="75"/>
                          <a:pt x="627" y="73"/>
                        </a:cubicBezTo>
                        <a:cubicBezTo>
                          <a:pt x="632" y="65"/>
                          <a:pt x="638" y="63"/>
                          <a:pt x="648" y="61"/>
                        </a:cubicBezTo>
                        <a:cubicBezTo>
                          <a:pt x="664" y="62"/>
                          <a:pt x="684" y="69"/>
                          <a:pt x="700" y="69"/>
                        </a:cubicBezTo>
                        <a:lnTo>
                          <a:pt x="794" y="8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3" name="Freeform 106"/>
                  <p:cNvSpPr>
                    <a:spLocks/>
                  </p:cNvSpPr>
                  <p:nvPr/>
                </p:nvSpPr>
                <p:spPr bwMode="ltGray">
                  <a:xfrm>
                    <a:off x="3981" y="282"/>
                    <a:ext cx="13" cy="10"/>
                  </a:xfrm>
                  <a:custGeom>
                    <a:avLst/>
                    <a:gdLst>
                      <a:gd name="T0" fmla="*/ 1 w 31"/>
                      <a:gd name="T1" fmla="*/ 9 h 30"/>
                      <a:gd name="T2" fmla="*/ 13 w 31"/>
                      <a:gd name="T3" fmla="*/ 0 h 30"/>
                      <a:gd name="T4" fmla="*/ 8 w 31"/>
                      <a:gd name="T5" fmla="*/ 8 h 30"/>
                      <a:gd name="T6" fmla="*/ 1 w 31"/>
                      <a:gd name="T7" fmla="*/ 9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 h="30">
                        <a:moveTo>
                          <a:pt x="3" y="28"/>
                        </a:moveTo>
                        <a:cubicBezTo>
                          <a:pt x="8" y="8"/>
                          <a:pt x="12" y="6"/>
                          <a:pt x="31" y="0"/>
                        </a:cubicBezTo>
                        <a:cubicBezTo>
                          <a:pt x="29" y="5"/>
                          <a:pt x="25" y="22"/>
                          <a:pt x="19" y="24"/>
                        </a:cubicBezTo>
                        <a:cubicBezTo>
                          <a:pt x="0" y="30"/>
                          <a:pt x="3" y="9"/>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4" name="Freeform 107"/>
                  <p:cNvSpPr>
                    <a:spLocks/>
                  </p:cNvSpPr>
                  <p:nvPr/>
                </p:nvSpPr>
                <p:spPr bwMode="ltGray">
                  <a:xfrm>
                    <a:off x="3966" y="296"/>
                    <a:ext cx="19" cy="11"/>
                  </a:xfrm>
                  <a:custGeom>
                    <a:avLst/>
                    <a:gdLst>
                      <a:gd name="T0" fmla="*/ 3 w 44"/>
                      <a:gd name="T1" fmla="*/ 11 h 32"/>
                      <a:gd name="T2" fmla="*/ 10 w 44"/>
                      <a:gd name="T3" fmla="*/ 0 h 32"/>
                      <a:gd name="T4" fmla="*/ 16 w 44"/>
                      <a:gd name="T5" fmla="*/ 1 h 32"/>
                      <a:gd name="T6" fmla="*/ 3 w 44"/>
                      <a:gd name="T7" fmla="*/ 11 h 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 h="32">
                        <a:moveTo>
                          <a:pt x="6" y="32"/>
                        </a:moveTo>
                        <a:cubicBezTo>
                          <a:pt x="0" y="14"/>
                          <a:pt x="7" y="10"/>
                          <a:pt x="22" y="0"/>
                        </a:cubicBezTo>
                        <a:cubicBezTo>
                          <a:pt x="27" y="1"/>
                          <a:pt x="35" y="0"/>
                          <a:pt x="38" y="4"/>
                        </a:cubicBezTo>
                        <a:cubicBezTo>
                          <a:pt x="44" y="13"/>
                          <a:pt x="16" y="32"/>
                          <a:pt x="6"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5" name="Freeform 108"/>
                  <p:cNvSpPr>
                    <a:spLocks/>
                  </p:cNvSpPr>
                  <p:nvPr/>
                </p:nvSpPr>
                <p:spPr bwMode="ltGray">
                  <a:xfrm>
                    <a:off x="4028" y="337"/>
                    <a:ext cx="32" cy="6"/>
                  </a:xfrm>
                  <a:custGeom>
                    <a:avLst/>
                    <a:gdLst>
                      <a:gd name="T0" fmla="*/ 16 w 76"/>
                      <a:gd name="T1" fmla="*/ 6 h 18"/>
                      <a:gd name="T2" fmla="*/ 11 w 76"/>
                      <a:gd name="T3" fmla="*/ 1 h 18"/>
                      <a:gd name="T4" fmla="*/ 16 w 76"/>
                      <a:gd name="T5" fmla="*/ 6 h 18"/>
                      <a:gd name="T6" fmla="*/ 0 60000 65536"/>
                      <a:gd name="T7" fmla="*/ 0 60000 65536"/>
                      <a:gd name="T8" fmla="*/ 0 60000 65536"/>
                    </a:gdLst>
                    <a:ahLst/>
                    <a:cxnLst>
                      <a:cxn ang="T6">
                        <a:pos x="T0" y="T1"/>
                      </a:cxn>
                      <a:cxn ang="T7">
                        <a:pos x="T2" y="T3"/>
                      </a:cxn>
                      <a:cxn ang="T8">
                        <a:pos x="T4" y="T5"/>
                      </a:cxn>
                    </a:cxnLst>
                    <a:rect l="0" t="0" r="r" b="b"/>
                    <a:pathLst>
                      <a:path w="76" h="18">
                        <a:moveTo>
                          <a:pt x="37" y="18"/>
                        </a:moveTo>
                        <a:cubicBezTo>
                          <a:pt x="25" y="14"/>
                          <a:pt x="0" y="10"/>
                          <a:pt x="25" y="2"/>
                        </a:cubicBezTo>
                        <a:cubicBezTo>
                          <a:pt x="76" y="9"/>
                          <a:pt x="46" y="0"/>
                          <a:pt x="37"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6" name="Freeform 109"/>
                  <p:cNvSpPr>
                    <a:spLocks/>
                  </p:cNvSpPr>
                  <p:nvPr/>
                </p:nvSpPr>
                <p:spPr bwMode="ltGray">
                  <a:xfrm>
                    <a:off x="4083" y="336"/>
                    <a:ext cx="18" cy="15"/>
                  </a:xfrm>
                  <a:custGeom>
                    <a:avLst/>
                    <a:gdLst>
                      <a:gd name="T0" fmla="*/ 0 w 42"/>
                      <a:gd name="T1" fmla="*/ 7 h 44"/>
                      <a:gd name="T2" fmla="*/ 5 w 42"/>
                      <a:gd name="T3" fmla="*/ 3 h 44"/>
                      <a:gd name="T4" fmla="*/ 0 w 42"/>
                      <a:gd name="T5" fmla="*/ 7 h 44"/>
                      <a:gd name="T6" fmla="*/ 0 60000 65536"/>
                      <a:gd name="T7" fmla="*/ 0 60000 65536"/>
                      <a:gd name="T8" fmla="*/ 0 60000 65536"/>
                    </a:gdLst>
                    <a:ahLst/>
                    <a:cxnLst>
                      <a:cxn ang="T6">
                        <a:pos x="T0" y="T1"/>
                      </a:cxn>
                      <a:cxn ang="T7">
                        <a:pos x="T2" y="T3"/>
                      </a:cxn>
                      <a:cxn ang="T8">
                        <a:pos x="T4" y="T5"/>
                      </a:cxn>
                    </a:cxnLst>
                    <a:rect l="0" t="0" r="r" b="b"/>
                    <a:pathLst>
                      <a:path w="42" h="44">
                        <a:moveTo>
                          <a:pt x="0" y="21"/>
                        </a:moveTo>
                        <a:cubicBezTo>
                          <a:pt x="4" y="17"/>
                          <a:pt x="7" y="11"/>
                          <a:pt x="12" y="9"/>
                        </a:cubicBezTo>
                        <a:cubicBezTo>
                          <a:pt x="42" y="0"/>
                          <a:pt x="23" y="44"/>
                          <a:pt x="0" y="2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7" name="Freeform 110"/>
                  <p:cNvSpPr>
                    <a:spLocks/>
                  </p:cNvSpPr>
                  <p:nvPr/>
                </p:nvSpPr>
                <p:spPr bwMode="ltGray">
                  <a:xfrm>
                    <a:off x="3936" y="295"/>
                    <a:ext cx="14" cy="10"/>
                  </a:xfrm>
                  <a:custGeom>
                    <a:avLst/>
                    <a:gdLst>
                      <a:gd name="T0" fmla="*/ 3 w 31"/>
                      <a:gd name="T1" fmla="*/ 7 h 30"/>
                      <a:gd name="T2" fmla="*/ 14 w 31"/>
                      <a:gd name="T3" fmla="*/ 3 h 30"/>
                      <a:gd name="T4" fmla="*/ 3 w 31"/>
                      <a:gd name="T5" fmla="*/ 7 h 30"/>
                      <a:gd name="T6" fmla="*/ 0 60000 65536"/>
                      <a:gd name="T7" fmla="*/ 0 60000 65536"/>
                      <a:gd name="T8" fmla="*/ 0 60000 65536"/>
                    </a:gdLst>
                    <a:ahLst/>
                    <a:cxnLst>
                      <a:cxn ang="T6">
                        <a:pos x="T0" y="T1"/>
                      </a:cxn>
                      <a:cxn ang="T7">
                        <a:pos x="T2" y="T3"/>
                      </a:cxn>
                      <a:cxn ang="T8">
                        <a:pos x="T4" y="T5"/>
                      </a:cxn>
                    </a:cxnLst>
                    <a:rect l="0" t="0" r="r" b="b"/>
                    <a:pathLst>
                      <a:path w="31" h="30">
                        <a:moveTo>
                          <a:pt x="7" y="22"/>
                        </a:moveTo>
                        <a:cubicBezTo>
                          <a:pt x="0" y="0"/>
                          <a:pt x="15" y="6"/>
                          <a:pt x="31" y="10"/>
                        </a:cubicBezTo>
                        <a:cubicBezTo>
                          <a:pt x="14" y="16"/>
                          <a:pt x="15" y="30"/>
                          <a:pt x="7" y="2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grpSp>
          <p:grpSp>
            <p:nvGrpSpPr>
              <p:cNvPr id="1036" name="Group 111"/>
              <p:cNvGrpSpPr>
                <a:grpSpLocks/>
              </p:cNvGrpSpPr>
              <p:nvPr/>
            </p:nvGrpSpPr>
            <p:grpSpPr bwMode="auto">
              <a:xfrm>
                <a:off x="798" y="111"/>
                <a:ext cx="4702" cy="418"/>
                <a:chOff x="798" y="255"/>
                <a:chExt cx="4702" cy="418"/>
              </a:xfrm>
            </p:grpSpPr>
            <p:sp>
              <p:nvSpPr>
                <p:cNvPr id="1063" name="Line 112"/>
                <p:cNvSpPr>
                  <a:spLocks noChangeShapeType="1"/>
                </p:cNvSpPr>
                <p:nvPr/>
              </p:nvSpPr>
              <p:spPr bwMode="white">
                <a:xfrm>
                  <a:off x="798" y="476"/>
                  <a:ext cx="4702"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4" name="Line 113"/>
                <p:cNvSpPr>
                  <a:spLocks noChangeShapeType="1"/>
                </p:cNvSpPr>
                <p:nvPr/>
              </p:nvSpPr>
              <p:spPr bwMode="white">
                <a:xfrm>
                  <a:off x="102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5" name="Line 114"/>
                <p:cNvSpPr>
                  <a:spLocks noChangeShapeType="1"/>
                </p:cNvSpPr>
                <p:nvPr/>
              </p:nvSpPr>
              <p:spPr bwMode="white">
                <a:xfrm>
                  <a:off x="125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6" name="Line 115"/>
                <p:cNvSpPr>
                  <a:spLocks noChangeShapeType="1"/>
                </p:cNvSpPr>
                <p:nvPr/>
              </p:nvSpPr>
              <p:spPr bwMode="white">
                <a:xfrm>
                  <a:off x="148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7" name="Line 116"/>
                <p:cNvSpPr>
                  <a:spLocks noChangeShapeType="1"/>
                </p:cNvSpPr>
                <p:nvPr/>
              </p:nvSpPr>
              <p:spPr bwMode="white">
                <a:xfrm>
                  <a:off x="171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8" name="Line 117"/>
                <p:cNvSpPr>
                  <a:spLocks noChangeShapeType="1"/>
                </p:cNvSpPr>
                <p:nvPr/>
              </p:nvSpPr>
              <p:spPr bwMode="white">
                <a:xfrm>
                  <a:off x="193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9" name="Line 118"/>
                <p:cNvSpPr>
                  <a:spLocks noChangeShapeType="1"/>
                </p:cNvSpPr>
                <p:nvPr/>
              </p:nvSpPr>
              <p:spPr bwMode="white">
                <a:xfrm>
                  <a:off x="216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0" name="Line 119"/>
                <p:cNvSpPr>
                  <a:spLocks noChangeShapeType="1"/>
                </p:cNvSpPr>
                <p:nvPr/>
              </p:nvSpPr>
              <p:spPr bwMode="white">
                <a:xfrm>
                  <a:off x="239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1" name="Line 120"/>
                <p:cNvSpPr>
                  <a:spLocks noChangeShapeType="1"/>
                </p:cNvSpPr>
                <p:nvPr/>
              </p:nvSpPr>
              <p:spPr bwMode="white">
                <a:xfrm>
                  <a:off x="262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2" name="Line 121"/>
                <p:cNvSpPr>
                  <a:spLocks noChangeShapeType="1"/>
                </p:cNvSpPr>
                <p:nvPr/>
              </p:nvSpPr>
              <p:spPr bwMode="white">
                <a:xfrm>
                  <a:off x="285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3" name="Line 122"/>
                <p:cNvSpPr>
                  <a:spLocks noChangeShapeType="1"/>
                </p:cNvSpPr>
                <p:nvPr/>
              </p:nvSpPr>
              <p:spPr bwMode="white">
                <a:xfrm>
                  <a:off x="307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4" name="Line 123"/>
                <p:cNvSpPr>
                  <a:spLocks noChangeShapeType="1"/>
                </p:cNvSpPr>
                <p:nvPr/>
              </p:nvSpPr>
              <p:spPr bwMode="white">
                <a:xfrm>
                  <a:off x="330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5" name="Line 124"/>
                <p:cNvSpPr>
                  <a:spLocks noChangeShapeType="1"/>
                </p:cNvSpPr>
                <p:nvPr/>
              </p:nvSpPr>
              <p:spPr bwMode="white">
                <a:xfrm>
                  <a:off x="353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6" name="Line 125"/>
                <p:cNvSpPr>
                  <a:spLocks noChangeShapeType="1"/>
                </p:cNvSpPr>
                <p:nvPr/>
              </p:nvSpPr>
              <p:spPr bwMode="white">
                <a:xfrm>
                  <a:off x="376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7" name="Line 126"/>
                <p:cNvSpPr>
                  <a:spLocks noChangeShapeType="1"/>
                </p:cNvSpPr>
                <p:nvPr/>
              </p:nvSpPr>
              <p:spPr bwMode="white">
                <a:xfrm>
                  <a:off x="399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8" name="Line 127"/>
                <p:cNvSpPr>
                  <a:spLocks noChangeShapeType="1"/>
                </p:cNvSpPr>
                <p:nvPr/>
              </p:nvSpPr>
              <p:spPr bwMode="white">
                <a:xfrm>
                  <a:off x="421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9" name="Line 128"/>
                <p:cNvSpPr>
                  <a:spLocks noChangeShapeType="1"/>
                </p:cNvSpPr>
                <p:nvPr/>
              </p:nvSpPr>
              <p:spPr bwMode="white">
                <a:xfrm>
                  <a:off x="444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80" name="Line 129"/>
                <p:cNvSpPr>
                  <a:spLocks noChangeShapeType="1"/>
                </p:cNvSpPr>
                <p:nvPr/>
              </p:nvSpPr>
              <p:spPr bwMode="white">
                <a:xfrm>
                  <a:off x="467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81" name="Line 130"/>
                <p:cNvSpPr>
                  <a:spLocks noChangeShapeType="1"/>
                </p:cNvSpPr>
                <p:nvPr/>
              </p:nvSpPr>
              <p:spPr bwMode="white">
                <a:xfrm>
                  <a:off x="490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82" name="Line 131"/>
                <p:cNvSpPr>
                  <a:spLocks noChangeShapeType="1"/>
                </p:cNvSpPr>
                <p:nvPr/>
              </p:nvSpPr>
              <p:spPr bwMode="white">
                <a:xfrm>
                  <a:off x="513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83" name="Line 132"/>
                <p:cNvSpPr>
                  <a:spLocks noChangeShapeType="1"/>
                </p:cNvSpPr>
                <p:nvPr/>
              </p:nvSpPr>
              <p:spPr bwMode="white">
                <a:xfrm>
                  <a:off x="535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037" name="Group 133"/>
              <p:cNvGrpSpPr>
                <a:grpSpLocks/>
              </p:cNvGrpSpPr>
              <p:nvPr/>
            </p:nvGrpSpPr>
            <p:grpSpPr bwMode="auto">
              <a:xfrm>
                <a:off x="1208" y="109"/>
                <a:ext cx="3694" cy="423"/>
                <a:chOff x="1034" y="245"/>
                <a:chExt cx="3694" cy="423"/>
              </a:xfrm>
            </p:grpSpPr>
            <p:sp>
              <p:nvSpPr>
                <p:cNvPr id="1038" name="Line 134"/>
                <p:cNvSpPr>
                  <a:spLocks noChangeShapeType="1"/>
                </p:cNvSpPr>
                <p:nvPr/>
              </p:nvSpPr>
              <p:spPr bwMode="ltGray">
                <a:xfrm>
                  <a:off x="2676" y="246"/>
                  <a:ext cx="0" cy="14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39" name="Line 135"/>
                <p:cNvSpPr>
                  <a:spLocks noChangeShapeType="1"/>
                </p:cNvSpPr>
                <p:nvPr/>
              </p:nvSpPr>
              <p:spPr bwMode="ltGray">
                <a:xfrm>
                  <a:off x="2798" y="468"/>
                  <a:ext cx="7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0" name="Line 136"/>
                <p:cNvSpPr>
                  <a:spLocks noChangeShapeType="1"/>
                </p:cNvSpPr>
                <p:nvPr/>
              </p:nvSpPr>
              <p:spPr bwMode="ltGray">
                <a:xfrm>
                  <a:off x="2904" y="486"/>
                  <a:ext cx="0" cy="2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1" name="Line 137"/>
                <p:cNvSpPr>
                  <a:spLocks noChangeShapeType="1"/>
                </p:cNvSpPr>
                <p:nvPr/>
              </p:nvSpPr>
              <p:spPr bwMode="ltGray">
                <a:xfrm>
                  <a:off x="3132" y="586"/>
                  <a:ext cx="0" cy="79"/>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2" name="Line 138"/>
                <p:cNvSpPr>
                  <a:spLocks noChangeShapeType="1"/>
                </p:cNvSpPr>
                <p:nvPr/>
              </p:nvSpPr>
              <p:spPr bwMode="ltGray">
                <a:xfrm>
                  <a:off x="3816" y="358"/>
                  <a:ext cx="0" cy="18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3" name="Line 139"/>
                <p:cNvSpPr>
                  <a:spLocks noChangeShapeType="1"/>
                </p:cNvSpPr>
                <p:nvPr/>
              </p:nvSpPr>
              <p:spPr bwMode="ltGray">
                <a:xfrm>
                  <a:off x="3722" y="468"/>
                  <a:ext cx="34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4" name="Line 140"/>
                <p:cNvSpPr>
                  <a:spLocks noChangeShapeType="1"/>
                </p:cNvSpPr>
                <p:nvPr/>
              </p:nvSpPr>
              <p:spPr bwMode="ltGray">
                <a:xfrm>
                  <a:off x="4044" y="372"/>
                  <a:ext cx="0" cy="294"/>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5" name="Line 141"/>
                <p:cNvSpPr>
                  <a:spLocks noChangeShapeType="1"/>
                </p:cNvSpPr>
                <p:nvPr/>
              </p:nvSpPr>
              <p:spPr bwMode="ltGray">
                <a:xfrm flipV="1">
                  <a:off x="4046" y="248"/>
                  <a:ext cx="0" cy="5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6" name="Line 142"/>
                <p:cNvSpPr>
                  <a:spLocks noChangeShapeType="1"/>
                </p:cNvSpPr>
                <p:nvPr/>
              </p:nvSpPr>
              <p:spPr bwMode="ltGray">
                <a:xfrm flipV="1">
                  <a:off x="4272" y="246"/>
                  <a:ext cx="0" cy="18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7" name="Line 143"/>
                <p:cNvSpPr>
                  <a:spLocks noChangeShapeType="1"/>
                </p:cNvSpPr>
                <p:nvPr/>
              </p:nvSpPr>
              <p:spPr bwMode="ltGray">
                <a:xfrm flipH="1">
                  <a:off x="4422" y="468"/>
                  <a:ext cx="7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8" name="Line 144"/>
                <p:cNvSpPr>
                  <a:spLocks noChangeShapeType="1"/>
                </p:cNvSpPr>
                <p:nvPr/>
              </p:nvSpPr>
              <p:spPr bwMode="ltGray">
                <a:xfrm flipH="1">
                  <a:off x="4290" y="468"/>
                  <a:ext cx="62"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9" name="Line 145"/>
                <p:cNvSpPr>
                  <a:spLocks noChangeShapeType="1"/>
                </p:cNvSpPr>
                <p:nvPr/>
              </p:nvSpPr>
              <p:spPr bwMode="ltGray">
                <a:xfrm flipV="1">
                  <a:off x="4500" y="246"/>
                  <a:ext cx="0" cy="27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0" name="Line 146"/>
                <p:cNvSpPr>
                  <a:spLocks noChangeShapeType="1"/>
                </p:cNvSpPr>
                <p:nvPr/>
              </p:nvSpPr>
              <p:spPr bwMode="ltGray">
                <a:xfrm>
                  <a:off x="4728" y="606"/>
                  <a:ext cx="0" cy="34"/>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1" name="Line 147"/>
                <p:cNvSpPr>
                  <a:spLocks noChangeShapeType="1"/>
                </p:cNvSpPr>
                <p:nvPr/>
              </p:nvSpPr>
              <p:spPr bwMode="ltGray">
                <a:xfrm>
                  <a:off x="1992" y="250"/>
                  <a:ext cx="0" cy="6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2" name="Line 148"/>
                <p:cNvSpPr>
                  <a:spLocks noChangeShapeType="1"/>
                </p:cNvSpPr>
                <p:nvPr/>
              </p:nvSpPr>
              <p:spPr bwMode="ltGray">
                <a:xfrm>
                  <a:off x="1764" y="247"/>
                  <a:ext cx="0" cy="337"/>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3" name="Line 149"/>
                <p:cNvSpPr>
                  <a:spLocks noChangeShapeType="1"/>
                </p:cNvSpPr>
                <p:nvPr/>
              </p:nvSpPr>
              <p:spPr bwMode="ltGray">
                <a:xfrm flipH="1">
                  <a:off x="1738" y="468"/>
                  <a:ext cx="6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4" name="Line 150"/>
                <p:cNvSpPr>
                  <a:spLocks noChangeShapeType="1"/>
                </p:cNvSpPr>
                <p:nvPr/>
              </p:nvSpPr>
              <p:spPr bwMode="ltGray">
                <a:xfrm>
                  <a:off x="1604" y="468"/>
                  <a:ext cx="6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5" name="Line 151"/>
                <p:cNvSpPr>
                  <a:spLocks noChangeShapeType="1"/>
                </p:cNvSpPr>
                <p:nvPr/>
              </p:nvSpPr>
              <p:spPr bwMode="ltGray">
                <a:xfrm flipH="1">
                  <a:off x="1404" y="468"/>
                  <a:ext cx="82"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6" name="Line 152"/>
                <p:cNvSpPr>
                  <a:spLocks noChangeShapeType="1"/>
                </p:cNvSpPr>
                <p:nvPr/>
              </p:nvSpPr>
              <p:spPr bwMode="ltGray">
                <a:xfrm>
                  <a:off x="1034" y="468"/>
                  <a:ext cx="34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7" name="Line 153"/>
                <p:cNvSpPr>
                  <a:spLocks noChangeShapeType="1"/>
                </p:cNvSpPr>
                <p:nvPr/>
              </p:nvSpPr>
              <p:spPr bwMode="ltGray">
                <a:xfrm>
                  <a:off x="1306" y="370"/>
                  <a:ext cx="0" cy="29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8" name="Line 154"/>
                <p:cNvSpPr>
                  <a:spLocks noChangeShapeType="1"/>
                </p:cNvSpPr>
                <p:nvPr/>
              </p:nvSpPr>
              <p:spPr bwMode="ltGray">
                <a:xfrm>
                  <a:off x="1080" y="388"/>
                  <a:ext cx="0" cy="15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9" name="Line 155"/>
                <p:cNvSpPr>
                  <a:spLocks noChangeShapeType="1"/>
                </p:cNvSpPr>
                <p:nvPr/>
              </p:nvSpPr>
              <p:spPr bwMode="ltGray">
                <a:xfrm flipH="1" flipV="1">
                  <a:off x="1308" y="245"/>
                  <a:ext cx="0" cy="27"/>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0" name="Line 156"/>
                <p:cNvSpPr>
                  <a:spLocks noChangeShapeType="1"/>
                </p:cNvSpPr>
                <p:nvPr/>
              </p:nvSpPr>
              <p:spPr bwMode="ltGray">
                <a:xfrm>
                  <a:off x="1536" y="316"/>
                  <a:ext cx="0" cy="9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1" name="Line 157"/>
                <p:cNvSpPr>
                  <a:spLocks noChangeShapeType="1"/>
                </p:cNvSpPr>
                <p:nvPr/>
              </p:nvSpPr>
              <p:spPr bwMode="ltGray">
                <a:xfrm flipV="1">
                  <a:off x="1536" y="247"/>
                  <a:ext cx="0" cy="2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2" name="Line 158"/>
                <p:cNvSpPr>
                  <a:spLocks noChangeShapeType="1"/>
                </p:cNvSpPr>
                <p:nvPr/>
              </p:nvSpPr>
              <p:spPr bwMode="ltGray">
                <a:xfrm>
                  <a:off x="4095" y="467"/>
                  <a:ext cx="8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pic>
          <p:nvPicPr>
            <p:cNvPr id="1033" name="Picture 159" descr="earth"/>
            <p:cNvPicPr>
              <a:picLocks noChangeAspect="1" noChangeArrowheads="1"/>
            </p:cNvPicPr>
            <p:nvPr userDrawn="1"/>
          </p:nvPicPr>
          <p:blipFill>
            <a:blip r:embed="rId14">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165" y="55"/>
              <a:ext cx="562" cy="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3207485114"/>
      </p:ext>
    </p:extLst>
  </p:cSld>
  <p:clrMap bg1="lt1" tx1="dk1" bg2="lt2" tx2="dk2" accent1="accent1" accent2="accent2" accent3="accent3" accent4="accent4" accent5="accent5" accent6="accent6" hlink="hlink" folHlink="folHlink"/>
  <p:sldLayoutIdLst>
    <p:sldLayoutId id="2147483928" r:id="rId1"/>
    <p:sldLayoutId id="2147483929" r:id="rId2"/>
    <p:sldLayoutId id="2147483930" r:id="rId3"/>
    <p:sldLayoutId id="2147483931" r:id="rId4"/>
    <p:sldLayoutId id="2147483932" r:id="rId5"/>
    <p:sldLayoutId id="2147483933" r:id="rId6"/>
    <p:sldLayoutId id="2147483934" r:id="rId7"/>
    <p:sldLayoutId id="2147483935" r:id="rId8"/>
    <p:sldLayoutId id="2147483936" r:id="rId9"/>
    <p:sldLayoutId id="2147483937" r:id="rId10"/>
    <p:sldLayoutId id="2147483938" r:id="rId11"/>
    <p:sldLayoutId id="2147483939" r:id="rId12"/>
  </p:sldLayoutIdLst>
  <p:hf hdr="0" dt="0"/>
  <p:txStyles>
    <p:titleStyle>
      <a:lvl1pPr algn="l" rtl="0" eaLnBrk="1" fontAlgn="base" hangingPunct="1">
        <a:spcBef>
          <a:spcPct val="0"/>
        </a:spcBef>
        <a:spcAft>
          <a:spcPct val="0"/>
        </a:spcAft>
        <a:defRPr sz="4400" b="1" i="1">
          <a:solidFill>
            <a:schemeClr val="tx2"/>
          </a:solidFill>
          <a:latin typeface="+mj-lt"/>
          <a:ea typeface="+mj-ea"/>
          <a:cs typeface="+mj-cs"/>
        </a:defRPr>
      </a:lvl1pPr>
      <a:lvl2pPr algn="l" rtl="0" eaLnBrk="1" fontAlgn="base" hangingPunct="1">
        <a:spcBef>
          <a:spcPct val="0"/>
        </a:spcBef>
        <a:spcAft>
          <a:spcPct val="0"/>
        </a:spcAft>
        <a:defRPr sz="4400" b="1" i="1">
          <a:solidFill>
            <a:schemeClr val="tx2"/>
          </a:solidFill>
          <a:latin typeface="Times New Roman" pitchFamily="18" charset="0"/>
        </a:defRPr>
      </a:lvl2pPr>
      <a:lvl3pPr algn="l" rtl="0" eaLnBrk="1" fontAlgn="base" hangingPunct="1">
        <a:spcBef>
          <a:spcPct val="0"/>
        </a:spcBef>
        <a:spcAft>
          <a:spcPct val="0"/>
        </a:spcAft>
        <a:defRPr sz="4400" b="1" i="1">
          <a:solidFill>
            <a:schemeClr val="tx2"/>
          </a:solidFill>
          <a:latin typeface="Times New Roman" pitchFamily="18" charset="0"/>
        </a:defRPr>
      </a:lvl3pPr>
      <a:lvl4pPr algn="l" rtl="0" eaLnBrk="1" fontAlgn="base" hangingPunct="1">
        <a:spcBef>
          <a:spcPct val="0"/>
        </a:spcBef>
        <a:spcAft>
          <a:spcPct val="0"/>
        </a:spcAft>
        <a:defRPr sz="4400" b="1" i="1">
          <a:solidFill>
            <a:schemeClr val="tx2"/>
          </a:solidFill>
          <a:latin typeface="Times New Roman" pitchFamily="18" charset="0"/>
        </a:defRPr>
      </a:lvl4pPr>
      <a:lvl5pPr algn="l" rtl="0" eaLnBrk="1" fontAlgn="base" hangingPunct="1">
        <a:spcBef>
          <a:spcPct val="0"/>
        </a:spcBef>
        <a:spcAft>
          <a:spcPct val="0"/>
        </a:spcAft>
        <a:defRPr sz="4400" b="1" i="1">
          <a:solidFill>
            <a:schemeClr val="tx2"/>
          </a:solidFill>
          <a:latin typeface="Times New Roman" pitchFamily="18" charset="0"/>
        </a:defRPr>
      </a:lvl5pPr>
      <a:lvl6pPr marL="457200" algn="l" rtl="0" eaLnBrk="1" fontAlgn="base" hangingPunct="1">
        <a:spcBef>
          <a:spcPct val="0"/>
        </a:spcBef>
        <a:spcAft>
          <a:spcPct val="0"/>
        </a:spcAft>
        <a:defRPr sz="4400" i="1">
          <a:solidFill>
            <a:schemeClr val="tx2"/>
          </a:solidFill>
          <a:latin typeface="Times New Roman" pitchFamily="18" charset="0"/>
        </a:defRPr>
      </a:lvl6pPr>
      <a:lvl7pPr marL="914400" algn="l" rtl="0" eaLnBrk="1" fontAlgn="base" hangingPunct="1">
        <a:spcBef>
          <a:spcPct val="0"/>
        </a:spcBef>
        <a:spcAft>
          <a:spcPct val="0"/>
        </a:spcAft>
        <a:defRPr sz="4400" i="1">
          <a:solidFill>
            <a:schemeClr val="tx2"/>
          </a:solidFill>
          <a:latin typeface="Times New Roman" pitchFamily="18" charset="0"/>
        </a:defRPr>
      </a:lvl7pPr>
      <a:lvl8pPr marL="1371600" algn="l" rtl="0" eaLnBrk="1" fontAlgn="base" hangingPunct="1">
        <a:spcBef>
          <a:spcPct val="0"/>
        </a:spcBef>
        <a:spcAft>
          <a:spcPct val="0"/>
        </a:spcAft>
        <a:defRPr sz="4400" i="1">
          <a:solidFill>
            <a:schemeClr val="tx2"/>
          </a:solidFill>
          <a:latin typeface="Times New Roman" pitchFamily="18" charset="0"/>
        </a:defRPr>
      </a:lvl8pPr>
      <a:lvl9pPr marL="1828800" algn="l" rtl="0" eaLnBrk="1" fontAlgn="base" hangingPunct="1">
        <a:spcBef>
          <a:spcPct val="0"/>
        </a:spcBef>
        <a:spcAft>
          <a:spcPct val="0"/>
        </a:spcAft>
        <a:defRPr sz="4400" i="1">
          <a:solidFill>
            <a:schemeClr val="tx2"/>
          </a:solidFill>
          <a:latin typeface="Times New Roman" pitchFamily="18" charset="0"/>
        </a:defRPr>
      </a:lvl9pPr>
    </p:titleStyle>
    <p:bodyStyle>
      <a:lvl1pPr marL="342900" indent="-342900" algn="l" rtl="0" eaLnBrk="1" fontAlgn="base" hangingPunct="1">
        <a:spcBef>
          <a:spcPct val="20000"/>
        </a:spcBef>
        <a:spcAft>
          <a:spcPct val="0"/>
        </a:spcAft>
        <a:buBlip>
          <a:blip r:embed="rId15"/>
        </a:buBlip>
        <a:defRPr sz="3200">
          <a:solidFill>
            <a:schemeClr val="tx1"/>
          </a:solidFill>
          <a:latin typeface="+mn-lt"/>
          <a:ea typeface="+mn-ea"/>
          <a:cs typeface="+mn-cs"/>
        </a:defRPr>
      </a:lvl1pPr>
      <a:lvl2pPr marL="742950" indent="-285750" algn="l" rtl="0" eaLnBrk="1" fontAlgn="base" hangingPunct="1">
        <a:spcBef>
          <a:spcPct val="20000"/>
        </a:spcBef>
        <a:spcAft>
          <a:spcPct val="0"/>
        </a:spcAft>
        <a:buSzPct val="75000"/>
        <a:buBlip>
          <a:blip r:embed="rId16"/>
        </a:buBlip>
        <a:defRPr sz="2800">
          <a:solidFill>
            <a:schemeClr val="tx1"/>
          </a:solidFill>
          <a:latin typeface="+mn-lt"/>
        </a:defRPr>
      </a:lvl2pPr>
      <a:lvl3pPr marL="1143000" indent="-228600" algn="l" rtl="0" eaLnBrk="1" fontAlgn="base" hangingPunct="1">
        <a:spcBef>
          <a:spcPct val="20000"/>
        </a:spcBef>
        <a:spcAft>
          <a:spcPct val="0"/>
        </a:spcAft>
        <a:buChar char="•"/>
        <a:defRPr sz="24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lr>
          <a:schemeClr val="tx2"/>
        </a:buClr>
        <a:buChar char="–"/>
        <a:defRPr sz="2000">
          <a:solidFill>
            <a:schemeClr val="tx1"/>
          </a:solidFill>
          <a:latin typeface="+mn-lt"/>
        </a:defRPr>
      </a:lvl5pPr>
      <a:lvl6pPr marL="2514600" indent="-228600" algn="l" rtl="0" eaLnBrk="1" fontAlgn="base" hangingPunct="1">
        <a:spcBef>
          <a:spcPct val="20000"/>
        </a:spcBef>
        <a:spcAft>
          <a:spcPct val="0"/>
        </a:spcAft>
        <a:buClr>
          <a:schemeClr val="tx2"/>
        </a:buClr>
        <a:buChar char="–"/>
        <a:defRPr sz="2000">
          <a:solidFill>
            <a:schemeClr val="tx1"/>
          </a:solidFill>
          <a:latin typeface="+mn-lt"/>
        </a:defRPr>
      </a:lvl6pPr>
      <a:lvl7pPr marL="2971800" indent="-228600" algn="l" rtl="0" eaLnBrk="1" fontAlgn="base" hangingPunct="1">
        <a:spcBef>
          <a:spcPct val="20000"/>
        </a:spcBef>
        <a:spcAft>
          <a:spcPct val="0"/>
        </a:spcAft>
        <a:buClr>
          <a:schemeClr val="tx2"/>
        </a:buClr>
        <a:buChar char="–"/>
        <a:defRPr sz="2000">
          <a:solidFill>
            <a:schemeClr val="tx1"/>
          </a:solidFill>
          <a:latin typeface="+mn-lt"/>
        </a:defRPr>
      </a:lvl7pPr>
      <a:lvl8pPr marL="3429000" indent="-228600" algn="l" rtl="0" eaLnBrk="1" fontAlgn="base" hangingPunct="1">
        <a:spcBef>
          <a:spcPct val="20000"/>
        </a:spcBef>
        <a:spcAft>
          <a:spcPct val="0"/>
        </a:spcAft>
        <a:buClr>
          <a:schemeClr val="tx2"/>
        </a:buClr>
        <a:buChar char="–"/>
        <a:defRPr sz="2000">
          <a:solidFill>
            <a:schemeClr val="tx1"/>
          </a:solidFill>
          <a:latin typeface="+mn-lt"/>
        </a:defRPr>
      </a:lvl8pPr>
      <a:lvl9pPr marL="3886200" indent="-228600" algn="l" rtl="0" eaLnBrk="1" fontAlgn="base" hangingPunct="1">
        <a:spcBef>
          <a:spcPct val="20000"/>
        </a:spcBef>
        <a:spcAft>
          <a:spcPct val="0"/>
        </a:spcAft>
        <a:buClr>
          <a:schemeClr val="tx2"/>
        </a:buClr>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5"/>
          <p:cNvSpPr>
            <a:spLocks noGrp="1" noChangeArrowheads="1"/>
          </p:cNvSpPr>
          <p:nvPr>
            <p:ph type="subTitle" idx="1"/>
          </p:nvPr>
        </p:nvSpPr>
        <p:spPr>
          <a:xfrm>
            <a:off x="2267744" y="2996952"/>
            <a:ext cx="6248400" cy="2362200"/>
          </a:xfrm>
        </p:spPr>
        <p:txBody>
          <a:bodyPr/>
          <a:lstStyle/>
          <a:p>
            <a:pPr eaLnBrk="1" hangingPunct="1"/>
            <a:r>
              <a:rPr lang="en-US" altLang="en-US" sz="4400" b="1" i="1" dirty="0" smtClean="0">
                <a:latin typeface="+mj-lt"/>
              </a:rPr>
              <a:t>Chapter 7</a:t>
            </a:r>
          </a:p>
          <a:p>
            <a:r>
              <a:rPr lang="en-US" altLang="en-US" sz="4400" b="1" i="1" dirty="0">
                <a:latin typeface="+mj-lt"/>
              </a:rPr>
              <a:t>Swaps</a:t>
            </a:r>
            <a:endParaRPr lang="en-US" altLang="en-US" sz="4400" b="1" i="1" dirty="0" smtClean="0">
              <a:latin typeface="+mj-lt"/>
            </a:endParaRPr>
          </a:p>
        </p:txBody>
      </p:sp>
      <p:sp>
        <p:nvSpPr>
          <p:cNvPr id="15362" name="Rectangle 6"/>
          <p:cNvSpPr>
            <a:spLocks noGrp="1" noChangeArrowheads="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dirty="0" smtClean="0"/>
              <a:t>Options, Futures, and Other Derivatives, 11th Edition, </a:t>
            </a:r>
          </a:p>
          <a:p>
            <a:pPr>
              <a:spcBef>
                <a:spcPct val="0"/>
              </a:spcBef>
              <a:buClrTx/>
              <a:buSzTx/>
              <a:buFontTx/>
              <a:buNone/>
            </a:pPr>
            <a:r>
              <a:rPr lang="en-US" altLang="en-US" sz="1400" dirty="0" smtClean="0"/>
              <a:t>Copyright © John C. Hull 2021</a:t>
            </a:r>
            <a:endParaRPr lang="en-US" altLang="en-US" sz="1400" i="0" dirty="0"/>
          </a:p>
        </p:txBody>
      </p:sp>
      <p:sp>
        <p:nvSpPr>
          <p:cNvPr id="15365"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D830D02F-E1F5-4C08-B4FD-073FB27000B9}" type="slidenum">
              <a:rPr lang="en-US" altLang="en-US" sz="1800"/>
              <a:pPr>
                <a:spcBef>
                  <a:spcPct val="0"/>
                </a:spcBef>
                <a:buClrTx/>
                <a:buSzTx/>
                <a:buFontTx/>
                <a:buNone/>
              </a:pPr>
              <a:t>1</a:t>
            </a:fld>
            <a:endParaRPr lang="en-US" altLang="en-US" sz="180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a:noFill/>
        </p:spPr>
        <p:txBody>
          <a:bodyPr lIns="92075" tIns="46038" rIns="92075" bIns="46038" anchor="ctr"/>
          <a:lstStyle/>
          <a:p>
            <a:pPr eaLnBrk="1" hangingPunct="1"/>
            <a:r>
              <a:rPr lang="en-US" altLang="en-US" smtClean="0"/>
              <a:t>Nature of Swaps</a:t>
            </a:r>
          </a:p>
        </p:txBody>
      </p:sp>
      <p:sp>
        <p:nvSpPr>
          <p:cNvPr id="17412" name="Rectangle 3"/>
          <p:cNvSpPr>
            <a:spLocks noGrp="1" noChangeArrowheads="1"/>
          </p:cNvSpPr>
          <p:nvPr>
            <p:ph idx="1"/>
          </p:nvPr>
        </p:nvSpPr>
        <p:spPr>
          <a:xfrm>
            <a:off x="1143000" y="1925638"/>
            <a:ext cx="7196138" cy="4106862"/>
          </a:xfrm>
          <a:noFill/>
        </p:spPr>
        <p:txBody>
          <a:bodyPr lIns="92075" tIns="46038" rIns="92075" bIns="46038"/>
          <a:lstStyle/>
          <a:p>
            <a:pPr eaLnBrk="1" hangingPunct="1">
              <a:buFont typeface="Wingdings" panose="05000000000000000000" pitchFamily="2" charset="2"/>
              <a:buNone/>
            </a:pPr>
            <a:endParaRPr lang="en-US" altLang="en-US" smtClean="0"/>
          </a:p>
          <a:p>
            <a:pPr eaLnBrk="1" hangingPunct="1">
              <a:buFont typeface="Wingdings" panose="05000000000000000000" pitchFamily="2" charset="2"/>
              <a:buNone/>
            </a:pPr>
            <a:r>
              <a:rPr lang="en-US" altLang="en-US" smtClean="0"/>
              <a:t>	A swap is an agreement to exchange cash flows at specified future times according to certain specified rules</a:t>
            </a:r>
          </a:p>
        </p:txBody>
      </p:sp>
      <p:sp>
        <p:nvSpPr>
          <p:cNvPr id="1741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smtClean="0"/>
              <a:t>Options, Futures, and Other Derivatives, 11th Edition, Copyright © John C. Hull 2021</a:t>
            </a:r>
            <a:endParaRPr lang="en-US" altLang="en-US" sz="1400" i="0"/>
          </a:p>
        </p:txBody>
      </p:sp>
      <p:sp>
        <p:nvSpPr>
          <p:cNvPr id="17413"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A4A40C9C-00AD-4E31-BFBB-D6F454C3699D}" type="slidenum">
              <a:rPr lang="en-US" altLang="en-US" sz="1800"/>
              <a:pPr>
                <a:spcBef>
                  <a:spcPct val="0"/>
                </a:spcBef>
                <a:buClrTx/>
                <a:buSzTx/>
                <a:buFontTx/>
                <a:buNone/>
              </a:pPr>
              <a:t>2</a:t>
            </a:fld>
            <a:endParaRPr lang="en-US" altLang="en-US" sz="1800"/>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323850" y="0"/>
            <a:ext cx="7848550" cy="2924944"/>
          </a:xfrm>
        </p:spPr>
        <p:txBody>
          <a:bodyPr lIns="92075" tIns="46038" rIns="92075" bIns="46038"/>
          <a:lstStyle/>
          <a:p>
            <a:pPr eaLnBrk="1" hangingPunct="1"/>
            <a:r>
              <a:rPr lang="en-US" altLang="en-US" sz="3500" dirty="0" smtClean="0"/>
              <a:t>An Example of a “Plain Vanilla” Overnight Indexed </a:t>
            </a:r>
            <a:r>
              <a:rPr lang="en-US" altLang="en-US" sz="3500" dirty="0" smtClean="0"/>
              <a:t>Swap</a:t>
            </a:r>
            <a:endParaRPr lang="en-US" altLang="en-US" sz="3500" dirty="0" smtClean="0"/>
          </a:p>
        </p:txBody>
      </p:sp>
      <p:sp>
        <p:nvSpPr>
          <p:cNvPr id="19459" name="Rectangle 3"/>
          <p:cNvSpPr>
            <a:spLocks noGrp="1" noChangeArrowheads="1"/>
          </p:cNvSpPr>
          <p:nvPr>
            <p:ph idx="1"/>
          </p:nvPr>
        </p:nvSpPr>
        <p:spPr>
          <a:xfrm>
            <a:off x="874713" y="2399508"/>
            <a:ext cx="7583487" cy="3829050"/>
          </a:xfrm>
        </p:spPr>
        <p:txBody>
          <a:bodyPr lIns="92075" tIns="46038" rIns="92075" bIns="46038"/>
          <a:lstStyle/>
          <a:p>
            <a:pPr eaLnBrk="1" hangingPunct="1"/>
            <a:r>
              <a:rPr lang="en-US" altLang="en-US" dirty="0" smtClean="0">
                <a:cs typeface="Arial" panose="020B0604020202020204" pitchFamily="34" charset="0"/>
              </a:rPr>
              <a:t>Deal </a:t>
            </a:r>
            <a:r>
              <a:rPr lang="en-US" altLang="en-US" dirty="0" smtClean="0"/>
              <a:t>e</a:t>
            </a:r>
            <a:r>
              <a:rPr lang="en-US" altLang="en-US" dirty="0" smtClean="0">
                <a:cs typeface="Arial" panose="020B0604020202020204" pitchFamily="34" charset="0"/>
              </a:rPr>
              <a:t>ntered into on March 8, 2022 where Apple agrees to receive 3-month SOFR &amp; pay a fixed rate of 3% per annum every 3 months for 2 years on a notional principal of $100 million</a:t>
            </a:r>
          </a:p>
          <a:p>
            <a:pPr eaLnBrk="1" hangingPunct="1"/>
            <a:r>
              <a:rPr lang="en-US" altLang="en-US" dirty="0" smtClean="0">
                <a:cs typeface="Arial" panose="020B0604020202020204" pitchFamily="34" charset="0"/>
              </a:rPr>
              <a:t>Next slide illustrates cash flows that could occur (Day count conventions are not considered)</a:t>
            </a:r>
          </a:p>
        </p:txBody>
      </p:sp>
      <p:sp>
        <p:nvSpPr>
          <p:cNvPr id="1946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smtClean="0"/>
              <a:t>Options, Futures, and Other Derivatives, 11th Edition, Copyright © John C. Hull 2021</a:t>
            </a:r>
            <a:endParaRPr lang="en-US" altLang="en-US" sz="1400">
              <a:cs typeface="Arial" panose="020B0604020202020204" pitchFamily="34" charset="0"/>
            </a:endParaRPr>
          </a:p>
        </p:txBody>
      </p:sp>
      <p:sp>
        <p:nvSpPr>
          <p:cNvPr id="19461"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8B70A4D7-BC67-4D3E-8D15-DBFB35746289}" type="slidenum">
              <a:rPr lang="en-US" altLang="en-US" sz="1800"/>
              <a:pPr>
                <a:spcBef>
                  <a:spcPct val="0"/>
                </a:spcBef>
                <a:buClrTx/>
                <a:buSzTx/>
                <a:buFontTx/>
                <a:buNone/>
              </a:pPr>
              <a:t>3</a:t>
            </a:fld>
            <a:endParaRPr lang="en-US" altLang="en-US" sz="1800"/>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8" name="Rectangle 58"/>
          <p:cNvSpPr>
            <a:spLocks noGrp="1" noChangeArrowheads="1"/>
          </p:cNvSpPr>
          <p:nvPr>
            <p:ph type="title"/>
          </p:nvPr>
        </p:nvSpPr>
        <p:spPr>
          <a:xfrm>
            <a:off x="484981" y="738189"/>
            <a:ext cx="8204200" cy="1011237"/>
          </a:xfrm>
          <a:noFill/>
        </p:spPr>
        <p:txBody>
          <a:bodyPr lIns="92075" tIns="46038" rIns="92075" bIns="46038" anchor="ctr"/>
          <a:lstStyle/>
          <a:p>
            <a:pPr eaLnBrk="1" hangingPunct="1"/>
            <a:r>
              <a:rPr lang="en-US" altLang="en-US" sz="3500" dirty="0" smtClean="0"/>
              <a:t>Cash Flows to Apple for One Outcome</a:t>
            </a:r>
            <a:br>
              <a:rPr lang="en-US" altLang="en-US" sz="3500" dirty="0" smtClean="0"/>
            </a:br>
            <a:r>
              <a:rPr lang="en-US" altLang="en-US" sz="2200" dirty="0" smtClean="0"/>
              <a:t>(See Table 7.1</a:t>
            </a:r>
            <a:r>
              <a:rPr lang="en-US" altLang="en-US" sz="2200" dirty="0"/>
              <a:t>)</a:t>
            </a:r>
            <a:endParaRPr lang="en-US" altLang="en-US" sz="3500" dirty="0" smtClean="0"/>
          </a:p>
        </p:txBody>
      </p:sp>
      <p:sp>
        <p:nvSpPr>
          <p:cNvPr id="21506"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smtClean="0"/>
              <a:t>Options, Futures, and Other Derivatives, 11th Edition, Copyright © John C. Hull 2021</a:t>
            </a:r>
            <a:endParaRPr lang="en-US" altLang="en-US" sz="1400" i="0"/>
          </a:p>
        </p:txBody>
      </p:sp>
      <p:sp>
        <p:nvSpPr>
          <p:cNvPr id="21509" name="Slide Number Placeholder 60"/>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DD6EA468-405D-42D0-9132-4A4753760BA6}" type="slidenum">
              <a:rPr lang="en-US" altLang="en-US" sz="1800"/>
              <a:pPr>
                <a:spcBef>
                  <a:spcPct val="0"/>
                </a:spcBef>
                <a:buClrTx/>
                <a:buSzTx/>
                <a:buFontTx/>
                <a:buNone/>
              </a:pPr>
              <a:t>4</a:t>
            </a:fld>
            <a:endParaRPr lang="en-US" altLang="en-US" sz="1800"/>
          </a:p>
        </p:txBody>
      </p:sp>
      <p:graphicFrame>
        <p:nvGraphicFramePr>
          <p:cNvPr id="2" name="Table 1"/>
          <p:cNvGraphicFramePr>
            <a:graphicFrameLocks noGrp="1"/>
          </p:cNvGraphicFramePr>
          <p:nvPr>
            <p:extLst>
              <p:ext uri="{D42A27DB-BD31-4B8C-83A1-F6EECF244321}">
                <p14:modId xmlns:p14="http://schemas.microsoft.com/office/powerpoint/2010/main" val="3779671787"/>
              </p:ext>
            </p:extLst>
          </p:nvPr>
        </p:nvGraphicFramePr>
        <p:xfrm>
          <a:off x="826528" y="2012929"/>
          <a:ext cx="6913824" cy="4035555"/>
        </p:xfrm>
        <a:graphic>
          <a:graphicData uri="http://schemas.openxmlformats.org/drawingml/2006/table">
            <a:tbl>
              <a:tblPr firstRow="1" bandRow="1">
                <a:tableStyleId>{5940675A-B579-460E-94D1-54222C63F5DA}</a:tableStyleId>
              </a:tblPr>
              <a:tblGrid>
                <a:gridCol w="1680000">
                  <a:extLst>
                    <a:ext uri="{9D8B030D-6E8A-4147-A177-3AD203B41FA5}">
                      <a16:colId xmlns:a16="http://schemas.microsoft.com/office/drawing/2014/main" val="87919747"/>
                    </a:ext>
                  </a:extLst>
                </a:gridCol>
                <a:gridCol w="1224136">
                  <a:extLst>
                    <a:ext uri="{9D8B030D-6E8A-4147-A177-3AD203B41FA5}">
                      <a16:colId xmlns:a16="http://schemas.microsoft.com/office/drawing/2014/main" val="497714357"/>
                    </a:ext>
                  </a:extLst>
                </a:gridCol>
                <a:gridCol w="1368152">
                  <a:extLst>
                    <a:ext uri="{9D8B030D-6E8A-4147-A177-3AD203B41FA5}">
                      <a16:colId xmlns:a16="http://schemas.microsoft.com/office/drawing/2014/main" val="4013689170"/>
                    </a:ext>
                  </a:extLst>
                </a:gridCol>
                <a:gridCol w="1368152">
                  <a:extLst>
                    <a:ext uri="{9D8B030D-6E8A-4147-A177-3AD203B41FA5}">
                      <a16:colId xmlns:a16="http://schemas.microsoft.com/office/drawing/2014/main" val="3174650698"/>
                    </a:ext>
                  </a:extLst>
                </a:gridCol>
                <a:gridCol w="1273384">
                  <a:extLst>
                    <a:ext uri="{9D8B030D-6E8A-4147-A177-3AD203B41FA5}">
                      <a16:colId xmlns:a16="http://schemas.microsoft.com/office/drawing/2014/main" val="3489685442"/>
                    </a:ext>
                  </a:extLst>
                </a:gridCol>
              </a:tblGrid>
              <a:tr h="1056031">
                <a:tc>
                  <a:txBody>
                    <a:bodyPr/>
                    <a:lstStyle/>
                    <a:p>
                      <a:r>
                        <a:rPr lang="en-US" dirty="0" smtClean="0"/>
                        <a:t>Date</a:t>
                      </a:r>
                      <a:endParaRPr lang="en-CA" dirty="0"/>
                    </a:p>
                  </a:txBody>
                  <a:tcPr/>
                </a:tc>
                <a:tc>
                  <a:txBody>
                    <a:bodyPr/>
                    <a:lstStyle/>
                    <a:p>
                      <a:pPr algn="ctr"/>
                      <a:r>
                        <a:rPr lang="en-US" dirty="0" smtClean="0"/>
                        <a:t>SOFR Rate (%)</a:t>
                      </a:r>
                      <a:endParaRPr lang="en-CA" dirty="0"/>
                    </a:p>
                  </a:txBody>
                  <a:tcPr/>
                </a:tc>
                <a:tc>
                  <a:txBody>
                    <a:bodyPr/>
                    <a:lstStyle/>
                    <a:p>
                      <a:pPr algn="ctr"/>
                      <a:r>
                        <a:rPr lang="en-US" dirty="0" smtClean="0"/>
                        <a:t>Floating</a:t>
                      </a:r>
                      <a:r>
                        <a:rPr lang="en-US" baseline="0" dirty="0" smtClean="0"/>
                        <a:t> Received (‘000s)</a:t>
                      </a:r>
                      <a:endParaRPr lang="en-CA" dirty="0"/>
                    </a:p>
                  </a:txBody>
                  <a:tcPr/>
                </a:tc>
                <a:tc>
                  <a:txBody>
                    <a:bodyPr/>
                    <a:lstStyle/>
                    <a:p>
                      <a:pPr algn="ctr"/>
                      <a:r>
                        <a:rPr lang="en-US" dirty="0" smtClean="0"/>
                        <a:t>Fixed Paid</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baseline="0" dirty="0" smtClean="0"/>
                        <a:t>(‘000s)</a:t>
                      </a:r>
                      <a:endParaRPr lang="en-CA" dirty="0" smtClean="0"/>
                    </a:p>
                    <a:p>
                      <a:pPr algn="ctr"/>
                      <a:endParaRPr lang="en-CA" dirty="0"/>
                    </a:p>
                  </a:txBody>
                  <a:tcPr/>
                </a:tc>
                <a:tc>
                  <a:txBody>
                    <a:bodyPr/>
                    <a:lstStyle/>
                    <a:p>
                      <a:pPr algn="ctr"/>
                      <a:r>
                        <a:rPr lang="en-US" dirty="0" smtClean="0"/>
                        <a:t>Net cash flow</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baseline="0" dirty="0" smtClean="0"/>
                        <a:t>(‘000s)</a:t>
                      </a:r>
                      <a:endParaRPr lang="en-CA" dirty="0" smtClean="0"/>
                    </a:p>
                  </a:txBody>
                  <a:tcPr/>
                </a:tc>
                <a:extLst>
                  <a:ext uri="{0D108BD9-81ED-4DB2-BD59-A6C34878D82A}">
                    <a16:rowId xmlns:a16="http://schemas.microsoft.com/office/drawing/2014/main" val="1217478846"/>
                  </a:ext>
                </a:extLst>
              </a:tr>
              <a:tr h="370840">
                <a:tc>
                  <a:txBody>
                    <a:bodyPr/>
                    <a:lstStyle/>
                    <a:p>
                      <a:r>
                        <a:rPr lang="en-US" dirty="0" smtClean="0"/>
                        <a:t>June 8, 2022</a:t>
                      </a:r>
                      <a:endParaRPr lang="en-CA" dirty="0"/>
                    </a:p>
                  </a:txBody>
                  <a:tcPr/>
                </a:tc>
                <a:tc>
                  <a:txBody>
                    <a:bodyPr/>
                    <a:lstStyle/>
                    <a:p>
                      <a:pPr algn="ctr"/>
                      <a:r>
                        <a:rPr lang="en-US" dirty="0" smtClean="0"/>
                        <a:t>2.20</a:t>
                      </a:r>
                      <a:endParaRPr lang="en-CA" dirty="0"/>
                    </a:p>
                  </a:txBody>
                  <a:tcPr/>
                </a:tc>
                <a:tc>
                  <a:txBody>
                    <a:bodyPr/>
                    <a:lstStyle/>
                    <a:p>
                      <a:pPr algn="ctr"/>
                      <a:r>
                        <a:rPr lang="en-US" dirty="0" smtClean="0"/>
                        <a:t>550</a:t>
                      </a:r>
                      <a:endParaRPr lang="en-CA" dirty="0"/>
                    </a:p>
                  </a:txBody>
                  <a:tcPr/>
                </a:tc>
                <a:tc>
                  <a:txBody>
                    <a:bodyPr/>
                    <a:lstStyle/>
                    <a:p>
                      <a:pPr algn="ctr"/>
                      <a:r>
                        <a:rPr lang="en-US" dirty="0" smtClean="0"/>
                        <a:t>750</a:t>
                      </a:r>
                      <a:endParaRPr lang="en-CA" dirty="0"/>
                    </a:p>
                  </a:txBody>
                  <a:tcPr/>
                </a:tc>
                <a:tc>
                  <a:txBody>
                    <a:bodyPr/>
                    <a:lstStyle/>
                    <a:p>
                      <a:pPr algn="ctr"/>
                      <a:r>
                        <a:rPr lang="en-US" dirty="0" smtClean="0"/>
                        <a:t>-200</a:t>
                      </a:r>
                      <a:endParaRPr lang="en-CA" dirty="0"/>
                    </a:p>
                  </a:txBody>
                  <a:tcPr/>
                </a:tc>
                <a:extLst>
                  <a:ext uri="{0D108BD9-81ED-4DB2-BD59-A6C34878D82A}">
                    <a16:rowId xmlns:a16="http://schemas.microsoft.com/office/drawing/2014/main" val="1873422864"/>
                  </a:ext>
                </a:extLst>
              </a:tr>
              <a:tr h="370840">
                <a:tc>
                  <a:txBody>
                    <a:bodyPr/>
                    <a:lstStyle/>
                    <a:p>
                      <a:r>
                        <a:rPr lang="en-US" dirty="0" smtClean="0"/>
                        <a:t>Sept 8, 2022</a:t>
                      </a:r>
                      <a:endParaRPr lang="en-CA" dirty="0"/>
                    </a:p>
                  </a:txBody>
                  <a:tcPr/>
                </a:tc>
                <a:tc>
                  <a:txBody>
                    <a:bodyPr/>
                    <a:lstStyle/>
                    <a:p>
                      <a:pPr algn="ctr"/>
                      <a:r>
                        <a:rPr lang="en-US" dirty="0" smtClean="0"/>
                        <a:t>2.60</a:t>
                      </a:r>
                      <a:endParaRPr lang="en-CA" dirty="0"/>
                    </a:p>
                  </a:txBody>
                  <a:tcPr/>
                </a:tc>
                <a:tc>
                  <a:txBody>
                    <a:bodyPr/>
                    <a:lstStyle/>
                    <a:p>
                      <a:pPr algn="ctr"/>
                      <a:r>
                        <a:rPr lang="en-US" dirty="0" smtClean="0"/>
                        <a:t>650</a:t>
                      </a:r>
                      <a:endParaRPr lang="en-CA" dirty="0"/>
                    </a:p>
                  </a:txBody>
                  <a:tcPr/>
                </a:tc>
                <a:tc>
                  <a:txBody>
                    <a:bodyPr/>
                    <a:lstStyle/>
                    <a:p>
                      <a:pPr algn="ctr"/>
                      <a:r>
                        <a:rPr lang="en-US" dirty="0" smtClean="0"/>
                        <a:t>750</a:t>
                      </a:r>
                      <a:endParaRPr lang="en-CA" dirty="0"/>
                    </a:p>
                  </a:txBody>
                  <a:tcPr/>
                </a:tc>
                <a:tc>
                  <a:txBody>
                    <a:bodyPr/>
                    <a:lstStyle/>
                    <a:p>
                      <a:pPr algn="ctr"/>
                      <a:r>
                        <a:rPr lang="en-US" dirty="0" smtClean="0"/>
                        <a:t>-100</a:t>
                      </a:r>
                      <a:endParaRPr lang="en-CA" dirty="0"/>
                    </a:p>
                  </a:txBody>
                  <a:tcPr/>
                </a:tc>
                <a:extLst>
                  <a:ext uri="{0D108BD9-81ED-4DB2-BD59-A6C34878D82A}">
                    <a16:rowId xmlns:a16="http://schemas.microsoft.com/office/drawing/2014/main" val="2474218144"/>
                  </a:ext>
                </a:extLst>
              </a:tr>
              <a:tr h="370840">
                <a:tc>
                  <a:txBody>
                    <a:bodyPr/>
                    <a:lstStyle/>
                    <a:p>
                      <a:r>
                        <a:rPr lang="en-US" dirty="0" smtClean="0"/>
                        <a:t>Dec. 8, 2022</a:t>
                      </a:r>
                      <a:endParaRPr lang="en-CA" dirty="0"/>
                    </a:p>
                  </a:txBody>
                  <a:tcPr/>
                </a:tc>
                <a:tc>
                  <a:txBody>
                    <a:bodyPr/>
                    <a:lstStyle/>
                    <a:p>
                      <a:pPr algn="ctr"/>
                      <a:r>
                        <a:rPr lang="en-US" dirty="0" smtClean="0"/>
                        <a:t>2.80</a:t>
                      </a:r>
                      <a:endParaRPr lang="en-CA" dirty="0"/>
                    </a:p>
                  </a:txBody>
                  <a:tcPr/>
                </a:tc>
                <a:tc>
                  <a:txBody>
                    <a:bodyPr/>
                    <a:lstStyle/>
                    <a:p>
                      <a:pPr algn="ctr"/>
                      <a:r>
                        <a:rPr lang="en-US" dirty="0" smtClean="0"/>
                        <a:t>700</a:t>
                      </a:r>
                      <a:endParaRPr lang="en-CA" dirty="0"/>
                    </a:p>
                  </a:txBody>
                  <a:tcPr/>
                </a:tc>
                <a:tc>
                  <a:txBody>
                    <a:bodyPr/>
                    <a:lstStyle/>
                    <a:p>
                      <a:pPr algn="ctr"/>
                      <a:r>
                        <a:rPr lang="en-US" dirty="0" smtClean="0"/>
                        <a:t>750</a:t>
                      </a:r>
                      <a:endParaRPr lang="en-CA" dirty="0"/>
                    </a:p>
                  </a:txBody>
                  <a:tcPr/>
                </a:tc>
                <a:tc>
                  <a:txBody>
                    <a:bodyPr/>
                    <a:lstStyle/>
                    <a:p>
                      <a:pPr algn="ctr"/>
                      <a:r>
                        <a:rPr lang="en-US" dirty="0" smtClean="0"/>
                        <a:t>-50</a:t>
                      </a:r>
                      <a:endParaRPr lang="en-CA" dirty="0"/>
                    </a:p>
                  </a:txBody>
                  <a:tcPr/>
                </a:tc>
                <a:extLst>
                  <a:ext uri="{0D108BD9-81ED-4DB2-BD59-A6C34878D82A}">
                    <a16:rowId xmlns:a16="http://schemas.microsoft.com/office/drawing/2014/main" val="302221726"/>
                  </a:ext>
                </a:extLst>
              </a:tr>
              <a:tr h="370840">
                <a:tc>
                  <a:txBody>
                    <a:bodyPr/>
                    <a:lstStyle/>
                    <a:p>
                      <a:r>
                        <a:rPr lang="en-US" dirty="0" smtClean="0"/>
                        <a:t>Mar. 8, 2023</a:t>
                      </a:r>
                      <a:endParaRPr lang="en-CA" dirty="0"/>
                    </a:p>
                  </a:txBody>
                  <a:tcPr/>
                </a:tc>
                <a:tc>
                  <a:txBody>
                    <a:bodyPr/>
                    <a:lstStyle/>
                    <a:p>
                      <a:pPr algn="ctr"/>
                      <a:r>
                        <a:rPr lang="en-US" dirty="0" smtClean="0"/>
                        <a:t>3.10</a:t>
                      </a:r>
                      <a:endParaRPr lang="en-CA" dirty="0"/>
                    </a:p>
                  </a:txBody>
                  <a:tcPr/>
                </a:tc>
                <a:tc>
                  <a:txBody>
                    <a:bodyPr/>
                    <a:lstStyle/>
                    <a:p>
                      <a:pPr algn="ctr"/>
                      <a:r>
                        <a:rPr lang="en-US" dirty="0" smtClean="0"/>
                        <a:t>775</a:t>
                      </a:r>
                      <a:endParaRPr lang="en-CA" dirty="0"/>
                    </a:p>
                  </a:txBody>
                  <a:tcPr/>
                </a:tc>
                <a:tc>
                  <a:txBody>
                    <a:bodyPr/>
                    <a:lstStyle/>
                    <a:p>
                      <a:pPr algn="ctr"/>
                      <a:r>
                        <a:rPr lang="en-US" dirty="0" smtClean="0"/>
                        <a:t>750</a:t>
                      </a:r>
                      <a:endParaRPr lang="en-CA" dirty="0"/>
                    </a:p>
                  </a:txBody>
                  <a:tcPr/>
                </a:tc>
                <a:tc>
                  <a:txBody>
                    <a:bodyPr/>
                    <a:lstStyle/>
                    <a:p>
                      <a:pPr algn="ctr"/>
                      <a:r>
                        <a:rPr lang="en-US" dirty="0" smtClean="0"/>
                        <a:t>+25</a:t>
                      </a:r>
                      <a:endParaRPr lang="en-CA" dirty="0"/>
                    </a:p>
                  </a:txBody>
                  <a:tcPr/>
                </a:tc>
                <a:extLst>
                  <a:ext uri="{0D108BD9-81ED-4DB2-BD59-A6C34878D82A}">
                    <a16:rowId xmlns:a16="http://schemas.microsoft.com/office/drawing/2014/main" val="1499228009"/>
                  </a:ext>
                </a:extLst>
              </a:tr>
              <a:tr h="370840">
                <a:tc>
                  <a:txBody>
                    <a:bodyPr/>
                    <a:lstStyle/>
                    <a:p>
                      <a:r>
                        <a:rPr lang="en-US" dirty="0" smtClean="0"/>
                        <a:t>June 8, 2023</a:t>
                      </a:r>
                      <a:endParaRPr lang="en-CA" dirty="0"/>
                    </a:p>
                  </a:txBody>
                  <a:tcPr/>
                </a:tc>
                <a:tc>
                  <a:txBody>
                    <a:bodyPr/>
                    <a:lstStyle/>
                    <a:p>
                      <a:pPr algn="ctr"/>
                      <a:r>
                        <a:rPr lang="en-US" dirty="0" smtClean="0"/>
                        <a:t>3.30</a:t>
                      </a:r>
                      <a:endParaRPr lang="en-CA" dirty="0"/>
                    </a:p>
                  </a:txBody>
                  <a:tcPr/>
                </a:tc>
                <a:tc>
                  <a:txBody>
                    <a:bodyPr/>
                    <a:lstStyle/>
                    <a:p>
                      <a:pPr algn="ctr"/>
                      <a:r>
                        <a:rPr lang="en-US" dirty="0" smtClean="0"/>
                        <a:t>825</a:t>
                      </a:r>
                      <a:endParaRPr lang="en-CA" dirty="0"/>
                    </a:p>
                  </a:txBody>
                  <a:tcPr/>
                </a:tc>
                <a:tc>
                  <a:txBody>
                    <a:bodyPr/>
                    <a:lstStyle/>
                    <a:p>
                      <a:pPr algn="ctr"/>
                      <a:r>
                        <a:rPr lang="en-US" dirty="0" smtClean="0"/>
                        <a:t>750</a:t>
                      </a:r>
                      <a:endParaRPr lang="en-CA" dirty="0"/>
                    </a:p>
                  </a:txBody>
                  <a:tcPr/>
                </a:tc>
                <a:tc>
                  <a:txBody>
                    <a:bodyPr/>
                    <a:lstStyle/>
                    <a:p>
                      <a:pPr algn="ctr"/>
                      <a:r>
                        <a:rPr lang="en-US" dirty="0" smtClean="0"/>
                        <a:t>+75</a:t>
                      </a:r>
                      <a:endParaRPr lang="en-CA" dirty="0"/>
                    </a:p>
                  </a:txBody>
                  <a:tcPr/>
                </a:tc>
                <a:extLst>
                  <a:ext uri="{0D108BD9-81ED-4DB2-BD59-A6C34878D82A}">
                    <a16:rowId xmlns:a16="http://schemas.microsoft.com/office/drawing/2014/main" val="3856821215"/>
                  </a:ext>
                </a:extLst>
              </a:tr>
              <a:tr h="370840">
                <a:tc>
                  <a:txBody>
                    <a:bodyPr/>
                    <a:lstStyle/>
                    <a:p>
                      <a:r>
                        <a:rPr lang="en-US" dirty="0" smtClean="0"/>
                        <a:t>Sept 8, 2023</a:t>
                      </a:r>
                      <a:endParaRPr lang="en-CA" dirty="0"/>
                    </a:p>
                  </a:txBody>
                  <a:tcPr/>
                </a:tc>
                <a:tc>
                  <a:txBody>
                    <a:bodyPr/>
                    <a:lstStyle/>
                    <a:p>
                      <a:pPr algn="ctr"/>
                      <a:r>
                        <a:rPr lang="en-US" dirty="0" smtClean="0"/>
                        <a:t>3.40</a:t>
                      </a:r>
                      <a:endParaRPr lang="en-CA" dirty="0"/>
                    </a:p>
                  </a:txBody>
                  <a:tcPr/>
                </a:tc>
                <a:tc>
                  <a:txBody>
                    <a:bodyPr/>
                    <a:lstStyle/>
                    <a:p>
                      <a:pPr algn="ctr"/>
                      <a:r>
                        <a:rPr lang="en-US" dirty="0" smtClean="0"/>
                        <a:t>850</a:t>
                      </a:r>
                      <a:endParaRPr lang="en-CA" dirty="0"/>
                    </a:p>
                  </a:txBody>
                  <a:tcPr/>
                </a:tc>
                <a:tc>
                  <a:txBody>
                    <a:bodyPr/>
                    <a:lstStyle/>
                    <a:p>
                      <a:pPr algn="ctr"/>
                      <a:r>
                        <a:rPr lang="en-US" dirty="0" smtClean="0"/>
                        <a:t>750</a:t>
                      </a:r>
                      <a:endParaRPr lang="en-CA" dirty="0"/>
                    </a:p>
                  </a:txBody>
                  <a:tcPr/>
                </a:tc>
                <a:tc>
                  <a:txBody>
                    <a:bodyPr/>
                    <a:lstStyle/>
                    <a:p>
                      <a:pPr algn="ctr"/>
                      <a:r>
                        <a:rPr lang="en-US" dirty="0" smtClean="0"/>
                        <a:t>+100</a:t>
                      </a:r>
                      <a:endParaRPr lang="en-CA" dirty="0"/>
                    </a:p>
                  </a:txBody>
                  <a:tcPr/>
                </a:tc>
                <a:extLst>
                  <a:ext uri="{0D108BD9-81ED-4DB2-BD59-A6C34878D82A}">
                    <a16:rowId xmlns:a16="http://schemas.microsoft.com/office/drawing/2014/main" val="3905560794"/>
                  </a:ext>
                </a:extLst>
              </a:tr>
              <a:tr h="383644">
                <a:tc>
                  <a:txBody>
                    <a:bodyPr/>
                    <a:lstStyle/>
                    <a:p>
                      <a:r>
                        <a:rPr lang="en-US" dirty="0" smtClean="0"/>
                        <a:t>Dec 8, 2023</a:t>
                      </a:r>
                      <a:endParaRPr lang="en-CA" dirty="0"/>
                    </a:p>
                  </a:txBody>
                  <a:tcPr/>
                </a:tc>
                <a:tc>
                  <a:txBody>
                    <a:bodyPr/>
                    <a:lstStyle/>
                    <a:p>
                      <a:pPr algn="ctr"/>
                      <a:r>
                        <a:rPr lang="en-US" dirty="0" smtClean="0"/>
                        <a:t>3.60</a:t>
                      </a:r>
                      <a:endParaRPr lang="en-CA" dirty="0"/>
                    </a:p>
                  </a:txBody>
                  <a:tcPr/>
                </a:tc>
                <a:tc>
                  <a:txBody>
                    <a:bodyPr/>
                    <a:lstStyle/>
                    <a:p>
                      <a:pPr algn="ctr"/>
                      <a:r>
                        <a:rPr lang="en-US" dirty="0" smtClean="0"/>
                        <a:t>900</a:t>
                      </a:r>
                      <a:endParaRPr lang="en-CA" dirty="0"/>
                    </a:p>
                  </a:txBody>
                  <a:tcPr/>
                </a:tc>
                <a:tc>
                  <a:txBody>
                    <a:bodyPr/>
                    <a:lstStyle/>
                    <a:p>
                      <a:pPr algn="ctr"/>
                      <a:r>
                        <a:rPr lang="en-US" dirty="0" smtClean="0"/>
                        <a:t>750</a:t>
                      </a:r>
                      <a:endParaRPr lang="en-CA" dirty="0"/>
                    </a:p>
                  </a:txBody>
                  <a:tcPr/>
                </a:tc>
                <a:tc>
                  <a:txBody>
                    <a:bodyPr/>
                    <a:lstStyle/>
                    <a:p>
                      <a:pPr algn="ctr"/>
                      <a:r>
                        <a:rPr lang="en-US" dirty="0" smtClean="0"/>
                        <a:t>+150</a:t>
                      </a:r>
                      <a:endParaRPr lang="en-CA" dirty="0"/>
                    </a:p>
                  </a:txBody>
                  <a:tcPr/>
                </a:tc>
                <a:extLst>
                  <a:ext uri="{0D108BD9-81ED-4DB2-BD59-A6C34878D82A}">
                    <a16:rowId xmlns:a16="http://schemas.microsoft.com/office/drawing/2014/main" val="3437151254"/>
                  </a:ext>
                </a:extLst>
              </a:tr>
              <a:tr h="370840">
                <a:tc>
                  <a:txBody>
                    <a:bodyPr/>
                    <a:lstStyle/>
                    <a:p>
                      <a:r>
                        <a:rPr lang="en-US" dirty="0" smtClean="0"/>
                        <a:t>Mar 8, 2024</a:t>
                      </a:r>
                      <a:endParaRPr lang="en-CA" dirty="0"/>
                    </a:p>
                  </a:txBody>
                  <a:tcPr/>
                </a:tc>
                <a:tc>
                  <a:txBody>
                    <a:bodyPr/>
                    <a:lstStyle/>
                    <a:p>
                      <a:pPr algn="ctr"/>
                      <a:r>
                        <a:rPr lang="en-US" dirty="0" smtClean="0"/>
                        <a:t>3.80</a:t>
                      </a:r>
                      <a:endParaRPr lang="en-CA" dirty="0"/>
                    </a:p>
                  </a:txBody>
                  <a:tcPr/>
                </a:tc>
                <a:tc>
                  <a:txBody>
                    <a:bodyPr/>
                    <a:lstStyle/>
                    <a:p>
                      <a:pPr algn="ctr"/>
                      <a:r>
                        <a:rPr lang="en-US" dirty="0" smtClean="0"/>
                        <a:t>950</a:t>
                      </a:r>
                      <a:endParaRPr lang="en-CA" dirty="0"/>
                    </a:p>
                  </a:txBody>
                  <a:tcPr/>
                </a:tc>
                <a:tc>
                  <a:txBody>
                    <a:bodyPr/>
                    <a:lstStyle/>
                    <a:p>
                      <a:pPr algn="ctr"/>
                      <a:r>
                        <a:rPr lang="en-US" dirty="0" smtClean="0"/>
                        <a:t>750</a:t>
                      </a:r>
                      <a:endParaRPr lang="en-CA" dirty="0"/>
                    </a:p>
                  </a:txBody>
                  <a:tcPr/>
                </a:tc>
                <a:tc>
                  <a:txBody>
                    <a:bodyPr/>
                    <a:lstStyle/>
                    <a:p>
                      <a:pPr algn="ctr"/>
                      <a:r>
                        <a:rPr lang="en-US" dirty="0" smtClean="0"/>
                        <a:t>+200</a:t>
                      </a:r>
                      <a:endParaRPr lang="en-CA" dirty="0"/>
                    </a:p>
                  </a:txBody>
                  <a:tcPr/>
                </a:tc>
                <a:extLst>
                  <a:ext uri="{0D108BD9-81ED-4DB2-BD59-A6C34878D82A}">
                    <a16:rowId xmlns:a16="http://schemas.microsoft.com/office/drawing/2014/main" val="1913349628"/>
                  </a:ext>
                </a:extLst>
              </a:tr>
            </a:tbl>
          </a:graphicData>
        </a:graphic>
      </p:graphicFrame>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Determination of Risk-Free Interest Rates</a:t>
            </a:r>
            <a:endParaRPr lang="en-CA" dirty="0"/>
          </a:p>
        </p:txBody>
      </p:sp>
      <p:sp>
        <p:nvSpPr>
          <p:cNvPr id="3" name="Content Placeholder 2"/>
          <p:cNvSpPr>
            <a:spLocks noGrp="1"/>
          </p:cNvSpPr>
          <p:nvPr>
            <p:ph idx="1"/>
          </p:nvPr>
        </p:nvSpPr>
        <p:spPr/>
        <p:txBody>
          <a:bodyPr/>
          <a:lstStyle/>
          <a:p>
            <a:r>
              <a:rPr lang="en-US" dirty="0" smtClean="0"/>
              <a:t>OIS rates out to one year define zero rates because they typically involve a single exchange</a:t>
            </a:r>
          </a:p>
          <a:p>
            <a:r>
              <a:rPr lang="en-US" dirty="0" smtClean="0"/>
              <a:t>OIS rate for contracts lasting longer than one year define par yield</a:t>
            </a:r>
          </a:p>
          <a:p>
            <a:r>
              <a:rPr lang="en-US" dirty="0" smtClean="0"/>
              <a:t>The bootstrap method can be used to determine the zero curve</a:t>
            </a:r>
            <a:endParaRPr lang="en-CA" dirty="0"/>
          </a:p>
        </p:txBody>
      </p:sp>
      <p:sp>
        <p:nvSpPr>
          <p:cNvPr id="4" name="Footer Placeholder 3"/>
          <p:cNvSpPr>
            <a:spLocks noGrp="1"/>
          </p:cNvSpPr>
          <p:nvPr>
            <p:ph type="ftr" sz="quarter" idx="11"/>
          </p:nvPr>
        </p:nvSpPr>
        <p:spPr/>
        <p:txBody>
          <a:bodyPr/>
          <a:lstStyle/>
          <a:p>
            <a:pPr>
              <a:defRPr/>
            </a:pPr>
            <a:r>
              <a:rPr lang="en-US" altLang="en-US" smtClean="0"/>
              <a:t>Options, Futures, and Other Derivatives, 11th Edition, Copyright © John C. Hull 2021</a:t>
            </a:r>
            <a:endParaRPr lang="en-US" altLang="en-US" i="0"/>
          </a:p>
        </p:txBody>
      </p:sp>
      <p:sp>
        <p:nvSpPr>
          <p:cNvPr id="5" name="Slide Number Placeholder 4"/>
          <p:cNvSpPr>
            <a:spLocks noGrp="1"/>
          </p:cNvSpPr>
          <p:nvPr>
            <p:ph type="sldNum" sz="quarter" idx="12"/>
          </p:nvPr>
        </p:nvSpPr>
        <p:spPr/>
        <p:txBody>
          <a:bodyPr/>
          <a:lstStyle/>
          <a:p>
            <a:pPr>
              <a:defRPr/>
            </a:pPr>
            <a:fld id="{B279D880-1821-47EF-A47D-DFD410122695}" type="slidenum">
              <a:rPr lang="en-US" altLang="en-US" smtClean="0"/>
              <a:pPr>
                <a:defRPr/>
              </a:pPr>
              <a:t>5</a:t>
            </a:fld>
            <a:endParaRPr lang="en-US" altLang="en-US"/>
          </a:p>
        </p:txBody>
      </p:sp>
    </p:spTree>
    <p:extLst>
      <p:ext uri="{BB962C8B-B14F-4D97-AF65-F5344CB8AC3E}">
        <p14:creationId xmlns:p14="http://schemas.microsoft.com/office/powerpoint/2010/main" val="40965356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Bootstrap Example </a:t>
            </a:r>
            <a:r>
              <a:rPr lang="en-US" sz="2400" dirty="0" smtClean="0"/>
              <a:t>(Table 7.3)</a:t>
            </a:r>
            <a:endParaRPr lang="en-CA" sz="2400" dirty="0"/>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3582784916"/>
              </p:ext>
            </p:extLst>
          </p:nvPr>
        </p:nvGraphicFramePr>
        <p:xfrm>
          <a:off x="685800" y="2147888"/>
          <a:ext cx="7772400" cy="2865120"/>
        </p:xfrm>
        <a:graphic>
          <a:graphicData uri="http://schemas.openxmlformats.org/drawingml/2006/table">
            <a:tbl>
              <a:tblPr firstRow="1" bandRow="1">
                <a:tableStyleId>{5940675A-B579-460E-94D1-54222C63F5DA}</a:tableStyleId>
              </a:tblPr>
              <a:tblGrid>
                <a:gridCol w="1943100">
                  <a:extLst>
                    <a:ext uri="{9D8B030D-6E8A-4147-A177-3AD203B41FA5}">
                      <a16:colId xmlns:a16="http://schemas.microsoft.com/office/drawing/2014/main" val="967379738"/>
                    </a:ext>
                  </a:extLst>
                </a:gridCol>
                <a:gridCol w="1655068">
                  <a:extLst>
                    <a:ext uri="{9D8B030D-6E8A-4147-A177-3AD203B41FA5}">
                      <a16:colId xmlns:a16="http://schemas.microsoft.com/office/drawing/2014/main" val="2266662036"/>
                    </a:ext>
                  </a:extLst>
                </a:gridCol>
                <a:gridCol w="2016224">
                  <a:extLst>
                    <a:ext uri="{9D8B030D-6E8A-4147-A177-3AD203B41FA5}">
                      <a16:colId xmlns:a16="http://schemas.microsoft.com/office/drawing/2014/main" val="1753337548"/>
                    </a:ext>
                  </a:extLst>
                </a:gridCol>
                <a:gridCol w="2158008">
                  <a:extLst>
                    <a:ext uri="{9D8B030D-6E8A-4147-A177-3AD203B41FA5}">
                      <a16:colId xmlns:a16="http://schemas.microsoft.com/office/drawing/2014/main" val="4099314820"/>
                    </a:ext>
                  </a:extLst>
                </a:gridCol>
              </a:tblGrid>
              <a:tr h="370840">
                <a:tc>
                  <a:txBody>
                    <a:bodyPr/>
                    <a:lstStyle/>
                    <a:p>
                      <a:r>
                        <a:rPr lang="en-US" dirty="0" smtClean="0"/>
                        <a:t>OIS Maturity</a:t>
                      </a:r>
                      <a:endParaRPr lang="en-CA" dirty="0"/>
                    </a:p>
                  </a:txBody>
                  <a:tcPr/>
                </a:tc>
                <a:tc>
                  <a:txBody>
                    <a:bodyPr/>
                    <a:lstStyle/>
                    <a:p>
                      <a:pPr algn="ctr"/>
                      <a:r>
                        <a:rPr lang="en-US" dirty="0" smtClean="0"/>
                        <a:t>OIS Rate</a:t>
                      </a:r>
                      <a:endParaRPr lang="en-CA" dirty="0"/>
                    </a:p>
                  </a:txBody>
                  <a:tcPr/>
                </a:tc>
                <a:tc>
                  <a:txBody>
                    <a:bodyPr/>
                    <a:lstStyle/>
                    <a:p>
                      <a:pPr algn="ctr"/>
                      <a:r>
                        <a:rPr lang="en-US" dirty="0" smtClean="0"/>
                        <a:t>Compound.</a:t>
                      </a:r>
                      <a:r>
                        <a:rPr lang="en-US" baseline="0" dirty="0" smtClean="0"/>
                        <a:t> Freq.</a:t>
                      </a:r>
                      <a:endParaRPr lang="en-CA" baseline="0" dirty="0" smtClean="0"/>
                    </a:p>
                    <a:p>
                      <a:pPr algn="ctr"/>
                      <a:r>
                        <a:rPr lang="en-US" baseline="0" dirty="0" smtClean="0"/>
                        <a:t>for OIS rate</a:t>
                      </a:r>
                      <a:endParaRPr lang="en-CA" dirty="0"/>
                    </a:p>
                  </a:txBody>
                  <a:tcPr/>
                </a:tc>
                <a:tc>
                  <a:txBody>
                    <a:bodyPr/>
                    <a:lstStyle/>
                    <a:p>
                      <a:pPr algn="ctr"/>
                      <a:r>
                        <a:rPr lang="en-US" dirty="0" smtClean="0"/>
                        <a:t>Zero rate</a:t>
                      </a:r>
                    </a:p>
                    <a:p>
                      <a:pPr algn="ctr"/>
                      <a:r>
                        <a:rPr lang="en-US" dirty="0" smtClean="0"/>
                        <a:t> (</a:t>
                      </a:r>
                      <a:r>
                        <a:rPr lang="en-US" dirty="0" err="1" smtClean="0"/>
                        <a:t>cont</a:t>
                      </a:r>
                      <a:r>
                        <a:rPr lang="en-US" dirty="0" smtClean="0"/>
                        <a:t> comp.)</a:t>
                      </a:r>
                      <a:endParaRPr lang="en-CA" dirty="0"/>
                    </a:p>
                  </a:txBody>
                  <a:tcPr/>
                </a:tc>
                <a:extLst>
                  <a:ext uri="{0D108BD9-81ED-4DB2-BD59-A6C34878D82A}">
                    <a16:rowId xmlns:a16="http://schemas.microsoft.com/office/drawing/2014/main" val="2157828871"/>
                  </a:ext>
                </a:extLst>
              </a:tr>
              <a:tr h="370840">
                <a:tc>
                  <a:txBody>
                    <a:bodyPr/>
                    <a:lstStyle/>
                    <a:p>
                      <a:r>
                        <a:rPr lang="en-US" dirty="0" smtClean="0"/>
                        <a:t>1 month</a:t>
                      </a:r>
                      <a:endParaRPr lang="en-CA" dirty="0"/>
                    </a:p>
                  </a:txBody>
                  <a:tcPr/>
                </a:tc>
                <a:tc>
                  <a:txBody>
                    <a:bodyPr/>
                    <a:lstStyle/>
                    <a:p>
                      <a:pPr algn="ctr"/>
                      <a:r>
                        <a:rPr lang="en-US" dirty="0" smtClean="0"/>
                        <a:t>1.8%</a:t>
                      </a:r>
                      <a:endParaRPr lang="en-CA" dirty="0"/>
                    </a:p>
                  </a:txBody>
                  <a:tcPr/>
                </a:tc>
                <a:tc>
                  <a:txBody>
                    <a:bodyPr/>
                    <a:lstStyle/>
                    <a:p>
                      <a:pPr algn="ctr"/>
                      <a:r>
                        <a:rPr lang="en-US" dirty="0" smtClean="0"/>
                        <a:t>Monthly</a:t>
                      </a:r>
                      <a:endParaRPr lang="en-CA" dirty="0"/>
                    </a:p>
                  </a:txBody>
                  <a:tcPr/>
                </a:tc>
                <a:tc>
                  <a:txBody>
                    <a:bodyPr/>
                    <a:lstStyle/>
                    <a:p>
                      <a:pPr algn="ctr"/>
                      <a:r>
                        <a:rPr lang="en-US" dirty="0" smtClean="0"/>
                        <a:t>1.7987%</a:t>
                      </a:r>
                      <a:endParaRPr lang="en-CA" dirty="0"/>
                    </a:p>
                  </a:txBody>
                  <a:tcPr/>
                </a:tc>
                <a:extLst>
                  <a:ext uri="{0D108BD9-81ED-4DB2-BD59-A6C34878D82A}">
                    <a16:rowId xmlns:a16="http://schemas.microsoft.com/office/drawing/2014/main" val="2686590965"/>
                  </a:ext>
                </a:extLst>
              </a:tr>
              <a:tr h="370840">
                <a:tc>
                  <a:txBody>
                    <a:bodyPr/>
                    <a:lstStyle/>
                    <a:p>
                      <a:r>
                        <a:rPr lang="en-US" dirty="0" smtClean="0"/>
                        <a:t>3 months</a:t>
                      </a:r>
                      <a:endParaRPr lang="en-CA" dirty="0"/>
                    </a:p>
                  </a:txBody>
                  <a:tcPr/>
                </a:tc>
                <a:tc>
                  <a:txBody>
                    <a:bodyPr/>
                    <a:lstStyle/>
                    <a:p>
                      <a:pPr algn="ctr"/>
                      <a:r>
                        <a:rPr lang="en-US" dirty="0" smtClean="0"/>
                        <a:t>2.0%</a:t>
                      </a:r>
                      <a:endParaRPr lang="en-CA" dirty="0"/>
                    </a:p>
                  </a:txBody>
                  <a:tcPr/>
                </a:tc>
                <a:tc>
                  <a:txBody>
                    <a:bodyPr/>
                    <a:lstStyle/>
                    <a:p>
                      <a:pPr algn="ctr"/>
                      <a:r>
                        <a:rPr lang="en-US" dirty="0" smtClean="0"/>
                        <a:t>Quarterly</a:t>
                      </a:r>
                      <a:endParaRPr lang="en-CA" dirty="0"/>
                    </a:p>
                  </a:txBody>
                  <a:tcPr/>
                </a:tc>
                <a:tc>
                  <a:txBody>
                    <a:bodyPr/>
                    <a:lstStyle/>
                    <a:p>
                      <a:pPr algn="ctr"/>
                      <a:r>
                        <a:rPr lang="en-US" dirty="0" smtClean="0"/>
                        <a:t>1.9950%</a:t>
                      </a:r>
                      <a:endParaRPr lang="en-CA" dirty="0"/>
                    </a:p>
                  </a:txBody>
                  <a:tcPr/>
                </a:tc>
                <a:extLst>
                  <a:ext uri="{0D108BD9-81ED-4DB2-BD59-A6C34878D82A}">
                    <a16:rowId xmlns:a16="http://schemas.microsoft.com/office/drawing/2014/main" val="4186151373"/>
                  </a:ext>
                </a:extLst>
              </a:tr>
              <a:tr h="370840">
                <a:tc>
                  <a:txBody>
                    <a:bodyPr/>
                    <a:lstStyle/>
                    <a:p>
                      <a:r>
                        <a:rPr lang="en-US" dirty="0" smtClean="0"/>
                        <a:t>6 months</a:t>
                      </a:r>
                      <a:endParaRPr lang="en-CA" dirty="0"/>
                    </a:p>
                  </a:txBody>
                  <a:tcPr/>
                </a:tc>
                <a:tc>
                  <a:txBody>
                    <a:bodyPr/>
                    <a:lstStyle/>
                    <a:p>
                      <a:pPr algn="ctr"/>
                      <a:r>
                        <a:rPr lang="en-US" dirty="0" smtClean="0"/>
                        <a:t>2.2%</a:t>
                      </a:r>
                      <a:endParaRPr lang="en-CA" dirty="0"/>
                    </a:p>
                  </a:txBody>
                  <a:tcPr/>
                </a:tc>
                <a:tc>
                  <a:txBody>
                    <a:bodyPr/>
                    <a:lstStyle/>
                    <a:p>
                      <a:pPr algn="ctr"/>
                      <a:r>
                        <a:rPr lang="en-US" dirty="0" smtClean="0"/>
                        <a:t>Semiannually</a:t>
                      </a:r>
                      <a:endParaRPr lang="en-CA" dirty="0"/>
                    </a:p>
                  </a:txBody>
                  <a:tcPr/>
                </a:tc>
                <a:tc>
                  <a:txBody>
                    <a:bodyPr/>
                    <a:lstStyle/>
                    <a:p>
                      <a:pPr algn="ctr"/>
                      <a:r>
                        <a:rPr lang="en-US" dirty="0" smtClean="0"/>
                        <a:t>2.1880%</a:t>
                      </a:r>
                      <a:endParaRPr lang="en-CA" dirty="0"/>
                    </a:p>
                  </a:txBody>
                  <a:tcPr/>
                </a:tc>
                <a:extLst>
                  <a:ext uri="{0D108BD9-81ED-4DB2-BD59-A6C34878D82A}">
                    <a16:rowId xmlns:a16="http://schemas.microsoft.com/office/drawing/2014/main" val="2257577728"/>
                  </a:ext>
                </a:extLst>
              </a:tr>
              <a:tr h="370840">
                <a:tc>
                  <a:txBody>
                    <a:bodyPr/>
                    <a:lstStyle/>
                    <a:p>
                      <a:r>
                        <a:rPr lang="en-US" dirty="0" smtClean="0"/>
                        <a:t>12 month</a:t>
                      </a:r>
                      <a:endParaRPr lang="en-CA" dirty="0"/>
                    </a:p>
                  </a:txBody>
                  <a:tcPr/>
                </a:tc>
                <a:tc>
                  <a:txBody>
                    <a:bodyPr/>
                    <a:lstStyle/>
                    <a:p>
                      <a:pPr algn="ctr"/>
                      <a:r>
                        <a:rPr lang="en-US" dirty="0" smtClean="0"/>
                        <a:t>2.5%</a:t>
                      </a:r>
                      <a:endParaRPr lang="en-CA" dirty="0"/>
                    </a:p>
                  </a:txBody>
                  <a:tcPr/>
                </a:tc>
                <a:tc>
                  <a:txBody>
                    <a:bodyPr/>
                    <a:lstStyle/>
                    <a:p>
                      <a:pPr algn="ctr"/>
                      <a:r>
                        <a:rPr lang="en-US" dirty="0" smtClean="0"/>
                        <a:t>Annually</a:t>
                      </a:r>
                      <a:endParaRPr lang="en-CA" dirty="0"/>
                    </a:p>
                  </a:txBody>
                  <a:tcPr/>
                </a:tc>
                <a:tc>
                  <a:txBody>
                    <a:bodyPr/>
                    <a:lstStyle/>
                    <a:p>
                      <a:pPr algn="ctr"/>
                      <a:r>
                        <a:rPr lang="en-US" dirty="0" smtClean="0"/>
                        <a:t>2.4693%</a:t>
                      </a:r>
                      <a:endParaRPr lang="en-CA" dirty="0"/>
                    </a:p>
                  </a:txBody>
                  <a:tcPr/>
                </a:tc>
                <a:extLst>
                  <a:ext uri="{0D108BD9-81ED-4DB2-BD59-A6C34878D82A}">
                    <a16:rowId xmlns:a16="http://schemas.microsoft.com/office/drawing/2014/main" val="2915232126"/>
                  </a:ext>
                </a:extLst>
              </a:tr>
              <a:tr h="370840">
                <a:tc>
                  <a:txBody>
                    <a:bodyPr/>
                    <a:lstStyle/>
                    <a:p>
                      <a:r>
                        <a:rPr lang="en-US" dirty="0" smtClean="0"/>
                        <a:t>2 years</a:t>
                      </a:r>
                      <a:endParaRPr lang="en-CA" dirty="0"/>
                    </a:p>
                  </a:txBody>
                  <a:tcPr/>
                </a:tc>
                <a:tc>
                  <a:txBody>
                    <a:bodyPr/>
                    <a:lstStyle/>
                    <a:p>
                      <a:pPr algn="ctr"/>
                      <a:r>
                        <a:rPr lang="en-US" dirty="0" smtClean="0"/>
                        <a:t>3.0%</a:t>
                      </a:r>
                      <a:endParaRPr lang="en-CA" dirty="0"/>
                    </a:p>
                  </a:txBody>
                  <a:tcPr/>
                </a:tc>
                <a:tc>
                  <a:txBody>
                    <a:bodyPr/>
                    <a:lstStyle/>
                    <a:p>
                      <a:pPr algn="ctr"/>
                      <a:r>
                        <a:rPr lang="en-US" dirty="0" smtClean="0"/>
                        <a:t>Quarterly</a:t>
                      </a:r>
                      <a:endParaRPr lang="en-CA" dirty="0"/>
                    </a:p>
                  </a:txBody>
                  <a:tcPr/>
                </a:tc>
                <a:tc>
                  <a:txBody>
                    <a:bodyPr/>
                    <a:lstStyle/>
                    <a:p>
                      <a:pPr algn="ctr"/>
                      <a:r>
                        <a:rPr lang="en-US" dirty="0" smtClean="0"/>
                        <a:t>2.9994%</a:t>
                      </a:r>
                      <a:endParaRPr lang="en-CA" dirty="0"/>
                    </a:p>
                  </a:txBody>
                  <a:tcPr/>
                </a:tc>
                <a:extLst>
                  <a:ext uri="{0D108BD9-81ED-4DB2-BD59-A6C34878D82A}">
                    <a16:rowId xmlns:a16="http://schemas.microsoft.com/office/drawing/2014/main" val="2073281679"/>
                  </a:ext>
                </a:extLst>
              </a:tr>
              <a:tr h="370840">
                <a:tc>
                  <a:txBody>
                    <a:bodyPr/>
                    <a:lstStyle/>
                    <a:p>
                      <a:r>
                        <a:rPr lang="en-US" dirty="0" smtClean="0"/>
                        <a:t>5 years</a:t>
                      </a:r>
                      <a:endParaRPr lang="en-CA" dirty="0"/>
                    </a:p>
                  </a:txBody>
                  <a:tcPr/>
                </a:tc>
                <a:tc>
                  <a:txBody>
                    <a:bodyPr/>
                    <a:lstStyle/>
                    <a:p>
                      <a:pPr algn="ctr"/>
                      <a:r>
                        <a:rPr lang="en-US" dirty="0" smtClean="0"/>
                        <a:t>4.0%</a:t>
                      </a:r>
                      <a:endParaRPr lang="en-CA" dirty="0"/>
                    </a:p>
                  </a:txBody>
                  <a:tcPr/>
                </a:tc>
                <a:tc>
                  <a:txBody>
                    <a:bodyPr/>
                    <a:lstStyle/>
                    <a:p>
                      <a:pPr algn="ctr"/>
                      <a:r>
                        <a:rPr lang="en-US" dirty="0" smtClean="0"/>
                        <a:t>Quarterly</a:t>
                      </a:r>
                      <a:endParaRPr lang="en-CA" dirty="0"/>
                    </a:p>
                  </a:txBody>
                  <a:tcPr/>
                </a:tc>
                <a:tc>
                  <a:txBody>
                    <a:bodyPr/>
                    <a:lstStyle/>
                    <a:p>
                      <a:pPr algn="ctr"/>
                      <a:r>
                        <a:rPr lang="en-US" dirty="0" smtClean="0"/>
                        <a:t>4.0401%</a:t>
                      </a:r>
                      <a:endParaRPr lang="en-CA" dirty="0"/>
                    </a:p>
                  </a:txBody>
                  <a:tcPr/>
                </a:tc>
                <a:extLst>
                  <a:ext uri="{0D108BD9-81ED-4DB2-BD59-A6C34878D82A}">
                    <a16:rowId xmlns:a16="http://schemas.microsoft.com/office/drawing/2014/main" val="4247256824"/>
                  </a:ext>
                </a:extLst>
              </a:tr>
            </a:tbl>
          </a:graphicData>
        </a:graphic>
      </p:graphicFrame>
      <p:sp>
        <p:nvSpPr>
          <p:cNvPr id="4" name="Footer Placeholder 3"/>
          <p:cNvSpPr>
            <a:spLocks noGrp="1"/>
          </p:cNvSpPr>
          <p:nvPr>
            <p:ph type="ftr" sz="quarter" idx="11"/>
          </p:nvPr>
        </p:nvSpPr>
        <p:spPr/>
        <p:txBody>
          <a:bodyPr/>
          <a:lstStyle/>
          <a:p>
            <a:pPr>
              <a:defRPr/>
            </a:pPr>
            <a:r>
              <a:rPr lang="en-US" altLang="en-US" smtClean="0"/>
              <a:t>Options, Futures, and Other Derivatives, 11th Edition, Copyright © John C. Hull 2021</a:t>
            </a:r>
            <a:endParaRPr lang="en-US" altLang="en-US" i="0"/>
          </a:p>
        </p:txBody>
      </p:sp>
      <p:sp>
        <p:nvSpPr>
          <p:cNvPr id="5" name="Slide Number Placeholder 4"/>
          <p:cNvSpPr>
            <a:spLocks noGrp="1"/>
          </p:cNvSpPr>
          <p:nvPr>
            <p:ph type="sldNum" sz="quarter" idx="12"/>
          </p:nvPr>
        </p:nvSpPr>
        <p:spPr/>
        <p:txBody>
          <a:bodyPr/>
          <a:lstStyle/>
          <a:p>
            <a:pPr>
              <a:defRPr/>
            </a:pPr>
            <a:fld id="{B279D880-1821-47EF-A47D-DFD410122695}" type="slidenum">
              <a:rPr lang="en-US" altLang="en-US" smtClean="0"/>
              <a:pPr>
                <a:defRPr/>
              </a:pPr>
              <a:t>6</a:t>
            </a:fld>
            <a:endParaRPr lang="en-US" altLang="en-US"/>
          </a:p>
        </p:txBody>
      </p:sp>
    </p:spTree>
    <p:extLst>
      <p:ext uri="{BB962C8B-B14F-4D97-AF65-F5344CB8AC3E}">
        <p14:creationId xmlns:p14="http://schemas.microsoft.com/office/powerpoint/2010/main" val="12950964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Zero Rate Given by Bootstrap Method (</a:t>
            </a:r>
            <a:r>
              <a:rPr lang="en-US" sz="2400" dirty="0" smtClean="0"/>
              <a:t>Figure 7.2)</a:t>
            </a:r>
            <a:endParaRPr lang="en-CA" sz="2400" dirty="0"/>
          </a:p>
        </p:txBody>
      </p:sp>
      <p:sp>
        <p:nvSpPr>
          <p:cNvPr id="4" name="Footer Placeholder 3"/>
          <p:cNvSpPr>
            <a:spLocks noGrp="1"/>
          </p:cNvSpPr>
          <p:nvPr>
            <p:ph type="ftr" sz="quarter" idx="11"/>
          </p:nvPr>
        </p:nvSpPr>
        <p:spPr/>
        <p:txBody>
          <a:bodyPr/>
          <a:lstStyle/>
          <a:p>
            <a:pPr>
              <a:defRPr/>
            </a:pPr>
            <a:r>
              <a:rPr lang="en-US" altLang="en-US" smtClean="0"/>
              <a:t>Options, Futures, and Other Derivatives, 11th Edition, Copyright © John C. Hull 2021</a:t>
            </a:r>
            <a:endParaRPr lang="en-US" altLang="en-US" i="0"/>
          </a:p>
        </p:txBody>
      </p:sp>
      <p:sp>
        <p:nvSpPr>
          <p:cNvPr id="5" name="Slide Number Placeholder 4"/>
          <p:cNvSpPr>
            <a:spLocks noGrp="1"/>
          </p:cNvSpPr>
          <p:nvPr>
            <p:ph type="sldNum" sz="quarter" idx="12"/>
          </p:nvPr>
        </p:nvSpPr>
        <p:spPr/>
        <p:txBody>
          <a:bodyPr/>
          <a:lstStyle/>
          <a:p>
            <a:pPr>
              <a:defRPr/>
            </a:pPr>
            <a:fld id="{B279D880-1821-47EF-A47D-DFD410122695}" type="slidenum">
              <a:rPr lang="en-US" altLang="en-US" smtClean="0"/>
              <a:pPr>
                <a:defRPr/>
              </a:pPr>
              <a:t>7</a:t>
            </a:fld>
            <a:endParaRPr lang="en-US" altLang="en-US"/>
          </a:p>
        </p:txBody>
      </p:sp>
      <p:pic>
        <p:nvPicPr>
          <p:cNvPr id="9" name="Picture 8"/>
          <p:cNvPicPr>
            <a:picLocks noChangeAspect="1"/>
          </p:cNvPicPr>
          <p:nvPr/>
        </p:nvPicPr>
        <p:blipFill>
          <a:blip r:embed="rId2"/>
          <a:stretch>
            <a:fillRect/>
          </a:stretch>
        </p:blipFill>
        <p:spPr>
          <a:xfrm>
            <a:off x="1259632" y="2194290"/>
            <a:ext cx="6624736" cy="3977910"/>
          </a:xfrm>
          <a:prstGeom prst="rect">
            <a:avLst/>
          </a:prstGeom>
        </p:spPr>
      </p:pic>
    </p:spTree>
    <p:extLst>
      <p:ext uri="{BB962C8B-B14F-4D97-AF65-F5344CB8AC3E}">
        <p14:creationId xmlns:p14="http://schemas.microsoft.com/office/powerpoint/2010/main" val="37770268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2"/>
          <p:cNvSpPr>
            <a:spLocks noGrp="1" noChangeArrowheads="1"/>
          </p:cNvSpPr>
          <p:nvPr>
            <p:ph type="title"/>
          </p:nvPr>
        </p:nvSpPr>
        <p:spPr>
          <a:xfrm>
            <a:off x="683568" y="1033393"/>
            <a:ext cx="7054850" cy="1295400"/>
          </a:xfrm>
          <a:noFill/>
        </p:spPr>
        <p:txBody>
          <a:bodyPr lIns="92075" tIns="46038" rIns="92075" bIns="46038" anchor="ctr"/>
          <a:lstStyle/>
          <a:p>
            <a:pPr eaLnBrk="1" hangingPunct="1"/>
            <a:r>
              <a:rPr lang="en-US" altLang="en-US" dirty="0" smtClean="0"/>
              <a:t>Typical Uses of an</a:t>
            </a:r>
            <a:br>
              <a:rPr lang="en-US" altLang="en-US" dirty="0" smtClean="0"/>
            </a:br>
            <a:r>
              <a:rPr lang="en-US" altLang="en-US" dirty="0" smtClean="0"/>
              <a:t>Interest Rate Swap</a:t>
            </a:r>
          </a:p>
        </p:txBody>
      </p:sp>
      <p:sp>
        <p:nvSpPr>
          <p:cNvPr id="23556" name="Rectangle 3"/>
          <p:cNvSpPr>
            <a:spLocks noGrp="1" noChangeArrowheads="1"/>
          </p:cNvSpPr>
          <p:nvPr>
            <p:ph sz="half" idx="1"/>
          </p:nvPr>
        </p:nvSpPr>
        <p:spPr>
          <a:xfrm>
            <a:off x="935037" y="2564904"/>
            <a:ext cx="7273925" cy="1460500"/>
          </a:xfrm>
          <a:noFill/>
        </p:spPr>
        <p:txBody>
          <a:bodyPr lIns="92075" tIns="46038" rIns="92075" bIns="46038"/>
          <a:lstStyle/>
          <a:p>
            <a:pPr eaLnBrk="1" hangingPunct="1">
              <a:lnSpc>
                <a:spcPct val="80000"/>
              </a:lnSpc>
            </a:pPr>
            <a:r>
              <a:rPr lang="en-US" altLang="en-US" sz="3200" dirty="0" smtClean="0"/>
              <a:t>Converting a liability from</a:t>
            </a:r>
          </a:p>
          <a:p>
            <a:pPr lvl="1" eaLnBrk="1" hangingPunct="1">
              <a:lnSpc>
                <a:spcPct val="80000"/>
              </a:lnSpc>
            </a:pPr>
            <a:r>
              <a:rPr lang="en-US" altLang="en-US" sz="3200" dirty="0" smtClean="0"/>
              <a:t>fixed rate to floating rate </a:t>
            </a:r>
          </a:p>
          <a:p>
            <a:pPr lvl="1" eaLnBrk="1" hangingPunct="1">
              <a:lnSpc>
                <a:spcPct val="80000"/>
              </a:lnSpc>
            </a:pPr>
            <a:r>
              <a:rPr lang="en-US" altLang="en-US" sz="3200" dirty="0" smtClean="0"/>
              <a:t>floating rate to fixed rate </a:t>
            </a:r>
          </a:p>
          <a:p>
            <a:pPr lvl="1" eaLnBrk="1" hangingPunct="1">
              <a:lnSpc>
                <a:spcPct val="80000"/>
              </a:lnSpc>
            </a:pPr>
            <a:endParaRPr lang="en-US" altLang="en-US" sz="3200" dirty="0" smtClean="0"/>
          </a:p>
          <a:p>
            <a:pPr eaLnBrk="1" hangingPunct="1">
              <a:lnSpc>
                <a:spcPct val="80000"/>
              </a:lnSpc>
            </a:pPr>
            <a:r>
              <a:rPr lang="en-US" altLang="en-US" sz="3200" dirty="0" smtClean="0"/>
              <a:t>Converting an investment from </a:t>
            </a:r>
          </a:p>
          <a:p>
            <a:pPr lvl="1" eaLnBrk="1" hangingPunct="1">
              <a:lnSpc>
                <a:spcPct val="80000"/>
              </a:lnSpc>
            </a:pPr>
            <a:r>
              <a:rPr lang="en-US" altLang="en-US" sz="3200" dirty="0" smtClean="0"/>
              <a:t>fixed rate to floating rate</a:t>
            </a:r>
          </a:p>
          <a:p>
            <a:pPr lvl="1" eaLnBrk="1" hangingPunct="1">
              <a:lnSpc>
                <a:spcPct val="80000"/>
              </a:lnSpc>
            </a:pPr>
            <a:r>
              <a:rPr lang="en-US" altLang="en-US" sz="3200" dirty="0" smtClean="0"/>
              <a:t>floating rate to fixed rate </a:t>
            </a:r>
          </a:p>
          <a:p>
            <a:pPr lvl="1" eaLnBrk="1" hangingPunct="1">
              <a:lnSpc>
                <a:spcPct val="80000"/>
              </a:lnSpc>
            </a:pPr>
            <a:endParaRPr lang="en-US" altLang="en-US" sz="3200" dirty="0" smtClean="0"/>
          </a:p>
        </p:txBody>
      </p:sp>
      <p:sp>
        <p:nvSpPr>
          <p:cNvPr id="23554" name="Footer Placeholder 5"/>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smtClean="0"/>
              <a:t>Options, Futures, and Other Derivatives, 11th Edition, Copyright © John C. Hull 2021</a:t>
            </a:r>
            <a:endParaRPr lang="en-US" altLang="en-US" sz="1400" i="0"/>
          </a:p>
        </p:txBody>
      </p:sp>
      <p:sp>
        <p:nvSpPr>
          <p:cNvPr id="23557"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487CF2E5-54C6-4A80-BE19-06047C2479F4}" type="slidenum">
              <a:rPr lang="en-US" altLang="en-US" sz="1800"/>
              <a:pPr>
                <a:spcBef>
                  <a:spcPct val="0"/>
                </a:spcBef>
                <a:buClrTx/>
                <a:buSzTx/>
                <a:buFontTx/>
                <a:buNone/>
              </a:pPr>
              <a:t>8</a:t>
            </a:fld>
            <a:endParaRPr lang="en-US" altLang="en-US" sz="1800"/>
          </a:p>
        </p:txBody>
      </p:sp>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323528" y="1350963"/>
            <a:ext cx="7772400" cy="1143000"/>
          </a:xfrm>
        </p:spPr>
        <p:txBody>
          <a:bodyPr/>
          <a:lstStyle/>
          <a:p>
            <a:r>
              <a:rPr lang="en-CA" altLang="en-US" dirty="0" smtClean="0"/>
              <a:t>OIS Between Apple and Citigroup </a:t>
            </a:r>
            <a:r>
              <a:rPr lang="en-CA" altLang="en-US" sz="2400" dirty="0" smtClean="0"/>
              <a:t>(Figure 7.1)</a:t>
            </a:r>
            <a:endParaRPr lang="en-US" altLang="en-US" sz="2400" dirty="0" smtClean="0"/>
          </a:p>
        </p:txBody>
      </p:sp>
      <p:sp>
        <p:nvSpPr>
          <p:cNvPr id="25603" name="Footer Placeholder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mtClean="0"/>
              <a:t>Options, Futures, and Other Derivatives, 11th Edition, Copyright © John C. Hull 2021</a:t>
            </a:r>
            <a:endParaRPr lang="en-US" altLang="en-US" i="0"/>
          </a:p>
        </p:txBody>
      </p:sp>
      <p:sp>
        <p:nvSpPr>
          <p:cNvPr id="25604"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06B40CDF-EF5A-4EAA-A8AE-902ED947A6C8}" type="slidenum">
              <a:rPr lang="en-US" altLang="en-US"/>
              <a:pPr/>
              <a:t>9</a:t>
            </a:fld>
            <a:endParaRPr lang="en-US" altLang="en-US"/>
          </a:p>
        </p:txBody>
      </p:sp>
      <p:grpSp>
        <p:nvGrpSpPr>
          <p:cNvPr id="25605" name="Group 4"/>
          <p:cNvGrpSpPr>
            <a:grpSpLocks/>
          </p:cNvGrpSpPr>
          <p:nvPr/>
        </p:nvGrpSpPr>
        <p:grpSpPr bwMode="auto">
          <a:xfrm>
            <a:off x="2170113" y="3116263"/>
            <a:ext cx="4562475" cy="1310967"/>
            <a:chOff x="2267744" y="3238339"/>
            <a:chExt cx="4464496" cy="1183502"/>
          </a:xfrm>
        </p:grpSpPr>
        <p:sp>
          <p:nvSpPr>
            <p:cNvPr id="6" name="Rectangle 5"/>
            <p:cNvSpPr/>
            <p:nvPr/>
          </p:nvSpPr>
          <p:spPr>
            <a:xfrm>
              <a:off x="2267744" y="3357290"/>
              <a:ext cx="1295543" cy="914348"/>
            </a:xfrm>
            <a:prstGeom prst="rect">
              <a:avLst/>
            </a:prstGeom>
            <a:ln/>
          </p:spPr>
          <p:style>
            <a:lnRef idx="2">
              <a:schemeClr val="dk1"/>
            </a:lnRef>
            <a:fillRef idx="1">
              <a:schemeClr val="lt1"/>
            </a:fillRef>
            <a:effectRef idx="0">
              <a:schemeClr val="dk1"/>
            </a:effectRef>
            <a:fontRef idx="minor">
              <a:schemeClr val="dk1"/>
            </a:fontRef>
          </p:style>
          <p:txBody>
            <a:bodyPr anchor="ctr"/>
            <a:lstStyle/>
            <a:p>
              <a:pPr algn="ctr" eaLnBrk="1" hangingPunct="1">
                <a:defRPr/>
              </a:pPr>
              <a:r>
                <a:rPr lang="en-US" sz="2800" dirty="0">
                  <a:latin typeface="Times New Roman" panose="02020603050405020304" pitchFamily="18" charset="0"/>
                  <a:cs typeface="Times New Roman" panose="02020603050405020304" pitchFamily="18" charset="0"/>
                </a:rPr>
                <a:t>Citi</a:t>
              </a:r>
              <a:endParaRPr lang="en-CA" sz="2800" dirty="0">
                <a:latin typeface="Times New Roman" panose="02020603050405020304" pitchFamily="18" charset="0"/>
                <a:cs typeface="Times New Roman" panose="02020603050405020304" pitchFamily="18" charset="0"/>
              </a:endParaRPr>
            </a:p>
          </p:txBody>
        </p:sp>
        <p:sp>
          <p:nvSpPr>
            <p:cNvPr id="7" name="Rectangle 6"/>
            <p:cNvSpPr/>
            <p:nvPr/>
          </p:nvSpPr>
          <p:spPr>
            <a:xfrm>
              <a:off x="5169511" y="3357290"/>
              <a:ext cx="1562729" cy="914348"/>
            </a:xfrm>
            <a:prstGeom prst="rect">
              <a:avLst/>
            </a:prstGeom>
            <a:ln/>
          </p:spPr>
          <p:style>
            <a:lnRef idx="2">
              <a:schemeClr val="dk1"/>
            </a:lnRef>
            <a:fillRef idx="1">
              <a:schemeClr val="lt1"/>
            </a:fillRef>
            <a:effectRef idx="0">
              <a:schemeClr val="dk1"/>
            </a:effectRef>
            <a:fontRef idx="minor">
              <a:schemeClr val="dk1"/>
            </a:fontRef>
          </p:style>
          <p:txBody>
            <a:bodyPr anchor="ctr"/>
            <a:lstStyle/>
            <a:p>
              <a:pPr algn="ctr" eaLnBrk="1" hangingPunct="1">
                <a:defRPr/>
              </a:pPr>
              <a:r>
                <a:rPr lang="en-US" sz="2800" dirty="0">
                  <a:latin typeface="Times New Roman" panose="02020603050405020304" pitchFamily="18" charset="0"/>
                  <a:cs typeface="Times New Roman" panose="02020603050405020304" pitchFamily="18" charset="0"/>
                </a:rPr>
                <a:t>Apple</a:t>
              </a:r>
              <a:endParaRPr lang="en-CA" sz="2800" dirty="0">
                <a:latin typeface="Times New Roman" panose="02020603050405020304" pitchFamily="18" charset="0"/>
                <a:cs typeface="Times New Roman" panose="02020603050405020304" pitchFamily="18" charset="0"/>
              </a:endParaRPr>
            </a:p>
          </p:txBody>
        </p:sp>
        <p:cxnSp>
          <p:nvCxnSpPr>
            <p:cNvPr id="8" name="Straight Arrow Connector 7"/>
            <p:cNvCxnSpPr/>
            <p:nvPr/>
          </p:nvCxnSpPr>
          <p:spPr>
            <a:xfrm flipH="1">
              <a:off x="3563287" y="3645353"/>
              <a:ext cx="1606224"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9" name="Straight Arrow Connector 8"/>
            <p:cNvCxnSpPr/>
            <p:nvPr/>
          </p:nvCxnSpPr>
          <p:spPr>
            <a:xfrm>
              <a:off x="3563287" y="4005073"/>
              <a:ext cx="1606224"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25610" name="TextBox 9"/>
            <p:cNvSpPr txBox="1">
              <a:spLocks noChangeArrowheads="1"/>
            </p:cNvSpPr>
            <p:nvPr/>
          </p:nvSpPr>
          <p:spPr bwMode="auto">
            <a:xfrm>
              <a:off x="3995936" y="3238339"/>
              <a:ext cx="864096" cy="417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400">
                  <a:latin typeface="Times New Roman" panose="02020603050405020304" pitchFamily="18" charset="0"/>
                  <a:cs typeface="Times New Roman" panose="02020603050405020304" pitchFamily="18" charset="0"/>
                </a:rPr>
                <a:t>3.0%</a:t>
              </a:r>
              <a:endParaRPr lang="en-CA" altLang="en-US" sz="2400">
                <a:latin typeface="Times New Roman" panose="02020603050405020304" pitchFamily="18" charset="0"/>
                <a:cs typeface="Times New Roman" panose="02020603050405020304" pitchFamily="18" charset="0"/>
              </a:endParaRPr>
            </a:p>
          </p:txBody>
        </p:sp>
        <p:sp>
          <p:nvSpPr>
            <p:cNvPr id="25611" name="TextBox 10"/>
            <p:cNvSpPr txBox="1">
              <a:spLocks noChangeArrowheads="1"/>
            </p:cNvSpPr>
            <p:nvPr/>
          </p:nvSpPr>
          <p:spPr bwMode="auto">
            <a:xfrm>
              <a:off x="3702049" y="4005064"/>
              <a:ext cx="1339026" cy="416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400" dirty="0" smtClean="0">
                  <a:latin typeface="Times New Roman" panose="02020603050405020304" pitchFamily="18" charset="0"/>
                  <a:cs typeface="Times New Roman" panose="02020603050405020304" pitchFamily="18" charset="0"/>
                </a:rPr>
                <a:t>Floating</a:t>
              </a:r>
              <a:endParaRPr lang="en-CA" altLang="en-US" sz="2400" dirty="0">
                <a:latin typeface="Times New Roman" panose="02020603050405020304" pitchFamily="18" charset="0"/>
                <a:cs typeface="Times New Roman" panose="02020603050405020304" pitchFamily="18" charset="0"/>
              </a:endParaRPr>
            </a:p>
          </p:txBody>
        </p:sp>
      </p:gr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2"/>
          <p:cNvSpPr>
            <a:spLocks noGrp="1" noChangeArrowheads="1"/>
          </p:cNvSpPr>
          <p:nvPr>
            <p:ph type="title"/>
          </p:nvPr>
        </p:nvSpPr>
        <p:spPr>
          <a:xfrm>
            <a:off x="683568" y="1385888"/>
            <a:ext cx="7532687" cy="1295400"/>
          </a:xfrm>
          <a:noFill/>
        </p:spPr>
        <p:txBody>
          <a:bodyPr lIns="92075" tIns="46038" rIns="92075" bIns="46038" anchor="ctr"/>
          <a:lstStyle/>
          <a:p>
            <a:pPr eaLnBrk="1" hangingPunct="1"/>
            <a:r>
              <a:rPr lang="en-US" altLang="en-US" dirty="0" smtClean="0"/>
              <a:t>Apple Transforms a Liability from Floating to Fixed</a:t>
            </a:r>
            <a:br>
              <a:rPr lang="en-US" altLang="en-US" dirty="0" smtClean="0"/>
            </a:br>
            <a:r>
              <a:rPr lang="en-US" altLang="en-US" sz="2200" dirty="0" smtClean="0"/>
              <a:t>(Figure 7.3)</a:t>
            </a:r>
            <a:r>
              <a:rPr lang="en-US" altLang="en-US" dirty="0" smtClean="0"/>
              <a:t/>
            </a:r>
            <a:br>
              <a:rPr lang="en-US" altLang="en-US" dirty="0" smtClean="0"/>
            </a:br>
            <a:endParaRPr lang="en-US" altLang="en-US" dirty="0" smtClean="0"/>
          </a:p>
        </p:txBody>
      </p:sp>
      <p:sp>
        <p:nvSpPr>
          <p:cNvPr id="26626"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smtClean="0"/>
              <a:t>Options, Futures, and Other Derivatives, 11th Edition, Copyright © John C. Hull 2021</a:t>
            </a:r>
            <a:endParaRPr lang="en-US" altLang="en-US" sz="1400" i="0"/>
          </a:p>
        </p:txBody>
      </p:sp>
      <p:sp>
        <p:nvSpPr>
          <p:cNvPr id="26628" name="Slide Number Placeholder 1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5C9B651A-AF2B-4FA9-81BA-4D8361E27A9B}" type="slidenum">
              <a:rPr lang="en-US" altLang="en-US" sz="1800"/>
              <a:pPr>
                <a:spcBef>
                  <a:spcPct val="0"/>
                </a:spcBef>
                <a:buClrTx/>
                <a:buSzTx/>
                <a:buFontTx/>
                <a:buNone/>
              </a:pPr>
              <a:t>10</a:t>
            </a:fld>
            <a:endParaRPr lang="en-US" altLang="en-US" sz="1800"/>
          </a:p>
        </p:txBody>
      </p:sp>
      <p:grpSp>
        <p:nvGrpSpPr>
          <p:cNvPr id="26629" name="Group 14"/>
          <p:cNvGrpSpPr>
            <a:grpSpLocks/>
          </p:cNvGrpSpPr>
          <p:nvPr/>
        </p:nvGrpSpPr>
        <p:grpSpPr bwMode="auto">
          <a:xfrm>
            <a:off x="1339205" y="3284985"/>
            <a:ext cx="6877050" cy="1357015"/>
            <a:chOff x="2267744" y="3263328"/>
            <a:chExt cx="6610128" cy="1158581"/>
          </a:xfrm>
        </p:grpSpPr>
        <p:sp>
          <p:nvSpPr>
            <p:cNvPr id="16" name="Rectangle 15"/>
            <p:cNvSpPr/>
            <p:nvPr/>
          </p:nvSpPr>
          <p:spPr>
            <a:xfrm>
              <a:off x="2267744" y="3356848"/>
              <a:ext cx="1295476" cy="914870"/>
            </a:xfrm>
            <a:prstGeom prst="rect">
              <a:avLst/>
            </a:prstGeom>
            <a:ln/>
          </p:spPr>
          <p:style>
            <a:lnRef idx="2">
              <a:schemeClr val="dk1"/>
            </a:lnRef>
            <a:fillRef idx="1">
              <a:schemeClr val="lt1"/>
            </a:fillRef>
            <a:effectRef idx="0">
              <a:schemeClr val="dk1"/>
            </a:effectRef>
            <a:fontRef idx="minor">
              <a:schemeClr val="dk1"/>
            </a:fontRef>
          </p:style>
          <p:txBody>
            <a:bodyPr anchor="ctr"/>
            <a:lstStyle/>
            <a:p>
              <a:pPr algn="ctr" eaLnBrk="1" hangingPunct="1">
                <a:defRPr/>
              </a:pPr>
              <a:r>
                <a:rPr lang="en-US" sz="2800" dirty="0">
                  <a:latin typeface="Times New Roman" panose="02020603050405020304" pitchFamily="18" charset="0"/>
                  <a:cs typeface="Times New Roman" panose="02020603050405020304" pitchFamily="18" charset="0"/>
                </a:rPr>
                <a:t>Citi</a:t>
              </a:r>
              <a:endParaRPr lang="en-CA" sz="2800" dirty="0">
                <a:latin typeface="Times New Roman" panose="02020603050405020304" pitchFamily="18" charset="0"/>
                <a:cs typeface="Times New Roman" panose="02020603050405020304" pitchFamily="18" charset="0"/>
              </a:endParaRPr>
            </a:p>
          </p:txBody>
        </p:sp>
        <p:sp>
          <p:nvSpPr>
            <p:cNvPr id="17" name="Rectangle 16"/>
            <p:cNvSpPr/>
            <p:nvPr/>
          </p:nvSpPr>
          <p:spPr>
            <a:xfrm>
              <a:off x="5169975" y="3356848"/>
              <a:ext cx="1562505" cy="914870"/>
            </a:xfrm>
            <a:prstGeom prst="rect">
              <a:avLst/>
            </a:prstGeom>
            <a:ln/>
          </p:spPr>
          <p:style>
            <a:lnRef idx="2">
              <a:schemeClr val="dk1"/>
            </a:lnRef>
            <a:fillRef idx="1">
              <a:schemeClr val="lt1"/>
            </a:fillRef>
            <a:effectRef idx="0">
              <a:schemeClr val="dk1"/>
            </a:effectRef>
            <a:fontRef idx="minor">
              <a:schemeClr val="dk1"/>
            </a:fontRef>
          </p:style>
          <p:txBody>
            <a:bodyPr anchor="ctr"/>
            <a:lstStyle/>
            <a:p>
              <a:pPr algn="ctr" eaLnBrk="1" hangingPunct="1">
                <a:defRPr/>
              </a:pPr>
              <a:r>
                <a:rPr lang="en-US" sz="2800" dirty="0">
                  <a:latin typeface="Times New Roman" panose="02020603050405020304" pitchFamily="18" charset="0"/>
                  <a:cs typeface="Times New Roman" panose="02020603050405020304" pitchFamily="18" charset="0"/>
                </a:rPr>
                <a:t>Apple</a:t>
              </a:r>
              <a:endParaRPr lang="en-CA" sz="2800" dirty="0">
                <a:latin typeface="Times New Roman" panose="02020603050405020304" pitchFamily="18" charset="0"/>
                <a:cs typeface="Times New Roman" panose="02020603050405020304" pitchFamily="18" charset="0"/>
              </a:endParaRPr>
            </a:p>
          </p:txBody>
        </p:sp>
        <p:cxnSp>
          <p:nvCxnSpPr>
            <p:cNvPr id="18" name="Straight Arrow Connector 17"/>
            <p:cNvCxnSpPr/>
            <p:nvPr/>
          </p:nvCxnSpPr>
          <p:spPr>
            <a:xfrm flipH="1">
              <a:off x="3563220" y="3645540"/>
              <a:ext cx="1606755"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9" name="Straight Arrow Connector 18"/>
            <p:cNvCxnSpPr/>
            <p:nvPr/>
          </p:nvCxnSpPr>
          <p:spPr>
            <a:xfrm>
              <a:off x="3563220" y="4004711"/>
              <a:ext cx="1606755"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26634" name="TextBox 19"/>
            <p:cNvSpPr txBox="1">
              <a:spLocks noChangeArrowheads="1"/>
            </p:cNvSpPr>
            <p:nvPr/>
          </p:nvSpPr>
          <p:spPr bwMode="auto">
            <a:xfrm>
              <a:off x="4081309" y="3263328"/>
              <a:ext cx="880776" cy="3940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400">
                  <a:latin typeface="Times New Roman" panose="02020603050405020304" pitchFamily="18" charset="0"/>
                  <a:cs typeface="Times New Roman" panose="02020603050405020304" pitchFamily="18" charset="0"/>
                </a:rPr>
                <a:t>3.0%</a:t>
              </a:r>
              <a:endParaRPr lang="en-CA" altLang="en-US" sz="2400">
                <a:latin typeface="Times New Roman" panose="02020603050405020304" pitchFamily="18" charset="0"/>
                <a:cs typeface="Times New Roman" panose="02020603050405020304" pitchFamily="18" charset="0"/>
              </a:endParaRPr>
            </a:p>
          </p:txBody>
        </p:sp>
        <p:sp>
          <p:nvSpPr>
            <p:cNvPr id="26635" name="TextBox 20"/>
            <p:cNvSpPr txBox="1">
              <a:spLocks noChangeArrowheads="1"/>
            </p:cNvSpPr>
            <p:nvPr/>
          </p:nvSpPr>
          <p:spPr bwMode="auto">
            <a:xfrm>
              <a:off x="3771110" y="4027753"/>
              <a:ext cx="1228321" cy="394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400" dirty="0" smtClean="0">
                  <a:latin typeface="Times New Roman" panose="02020603050405020304" pitchFamily="18" charset="0"/>
                  <a:cs typeface="Times New Roman" panose="02020603050405020304" pitchFamily="18" charset="0"/>
                </a:rPr>
                <a:t>Floating</a:t>
              </a:r>
              <a:endParaRPr lang="en-CA" altLang="en-US" sz="2400" dirty="0">
                <a:latin typeface="Times New Roman" panose="02020603050405020304" pitchFamily="18" charset="0"/>
                <a:cs typeface="Times New Roman" panose="02020603050405020304" pitchFamily="18" charset="0"/>
              </a:endParaRPr>
            </a:p>
          </p:txBody>
        </p:sp>
        <p:cxnSp>
          <p:nvCxnSpPr>
            <p:cNvPr id="22" name="Straight Arrow Connector 21"/>
            <p:cNvCxnSpPr>
              <a:stCxn id="17" idx="3"/>
            </p:cNvCxnSpPr>
            <p:nvPr/>
          </p:nvCxnSpPr>
          <p:spPr>
            <a:xfrm flipV="1">
              <a:off x="6732480" y="3808184"/>
              <a:ext cx="1756293" cy="5421"/>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26637" name="TextBox 22"/>
            <p:cNvSpPr txBox="1">
              <a:spLocks noChangeArrowheads="1"/>
            </p:cNvSpPr>
            <p:nvPr/>
          </p:nvSpPr>
          <p:spPr bwMode="auto">
            <a:xfrm>
              <a:off x="6903023" y="3460358"/>
              <a:ext cx="1974849" cy="394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400" dirty="0" smtClean="0">
                  <a:latin typeface="Times New Roman" panose="02020603050405020304" pitchFamily="18" charset="0"/>
                  <a:cs typeface="Times New Roman" panose="02020603050405020304" pitchFamily="18" charset="0"/>
                </a:rPr>
                <a:t>Floating+0.1</a:t>
              </a:r>
              <a:r>
                <a:rPr lang="en-US" altLang="en-US" sz="2400" dirty="0">
                  <a:latin typeface="Times New Roman" panose="02020603050405020304" pitchFamily="18" charset="0"/>
                  <a:cs typeface="Times New Roman" panose="02020603050405020304" pitchFamily="18" charset="0"/>
                </a:rPr>
                <a:t>%</a:t>
              </a:r>
              <a:endParaRPr lang="en-CA" altLang="en-US" sz="2400" dirty="0">
                <a:latin typeface="Times New Roman" panose="02020603050405020304" pitchFamily="18" charset="0"/>
                <a:cs typeface="Times New Roman" panose="02020603050405020304" pitchFamily="18" charset="0"/>
              </a:endParaRPr>
            </a:p>
          </p:txBody>
        </p:sp>
      </p:grpSp>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a:lstStyle/>
          <a:p>
            <a:r>
              <a:rPr lang="en-CA" altLang="en-US" dirty="0" smtClean="0"/>
              <a:t>Interest Rate Swap Between Citigroup and Intel</a:t>
            </a:r>
            <a:endParaRPr lang="en-US" altLang="en-US" sz="2400" dirty="0" smtClean="0"/>
          </a:p>
        </p:txBody>
      </p:sp>
      <p:sp>
        <p:nvSpPr>
          <p:cNvPr id="28675" name="Footer Placeholder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mtClean="0"/>
              <a:t>Options, Futures, and Other Derivatives, 11th Edition, Copyright © John C. Hull 2021</a:t>
            </a:r>
            <a:endParaRPr lang="en-US" altLang="en-US" i="0"/>
          </a:p>
        </p:txBody>
      </p:sp>
      <p:sp>
        <p:nvSpPr>
          <p:cNvPr id="28676"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A8B30CA-CD53-4842-A5D0-C198EC8C82CC}" type="slidenum">
              <a:rPr lang="en-US" altLang="en-US"/>
              <a:pPr/>
              <a:t>11</a:t>
            </a:fld>
            <a:endParaRPr lang="en-US" altLang="en-US"/>
          </a:p>
        </p:txBody>
      </p:sp>
      <p:grpSp>
        <p:nvGrpSpPr>
          <p:cNvPr id="28677" name="Group 4"/>
          <p:cNvGrpSpPr>
            <a:grpSpLocks/>
          </p:cNvGrpSpPr>
          <p:nvPr/>
        </p:nvGrpSpPr>
        <p:grpSpPr bwMode="auto">
          <a:xfrm>
            <a:off x="1403350" y="3212974"/>
            <a:ext cx="5149850" cy="1404513"/>
            <a:chOff x="2267744" y="3172326"/>
            <a:chExt cx="4464496" cy="1391673"/>
          </a:xfrm>
        </p:grpSpPr>
        <p:sp>
          <p:nvSpPr>
            <p:cNvPr id="6" name="Rectangle 5"/>
            <p:cNvSpPr/>
            <p:nvPr/>
          </p:nvSpPr>
          <p:spPr>
            <a:xfrm>
              <a:off x="2267744" y="3356365"/>
              <a:ext cx="1296410" cy="915478"/>
            </a:xfrm>
            <a:prstGeom prst="rect">
              <a:avLst/>
            </a:prstGeom>
            <a:ln/>
          </p:spPr>
          <p:style>
            <a:lnRef idx="2">
              <a:schemeClr val="dk1"/>
            </a:lnRef>
            <a:fillRef idx="1">
              <a:schemeClr val="lt1"/>
            </a:fillRef>
            <a:effectRef idx="0">
              <a:schemeClr val="dk1"/>
            </a:effectRef>
            <a:fontRef idx="minor">
              <a:schemeClr val="dk1"/>
            </a:fontRef>
          </p:style>
          <p:txBody>
            <a:bodyPr anchor="ctr"/>
            <a:lstStyle/>
            <a:p>
              <a:pPr algn="ctr" eaLnBrk="1" hangingPunct="1">
                <a:defRPr/>
              </a:pPr>
              <a:r>
                <a:rPr lang="en-US" sz="2800" dirty="0">
                  <a:latin typeface="Times New Roman" panose="02020603050405020304" pitchFamily="18" charset="0"/>
                  <a:cs typeface="Times New Roman" panose="02020603050405020304" pitchFamily="18" charset="0"/>
                </a:rPr>
                <a:t>Citi</a:t>
              </a:r>
              <a:endParaRPr lang="en-CA" sz="2800" dirty="0">
                <a:latin typeface="Times New Roman" panose="02020603050405020304" pitchFamily="18" charset="0"/>
                <a:cs typeface="Times New Roman" panose="02020603050405020304" pitchFamily="18" charset="0"/>
              </a:endParaRPr>
            </a:p>
          </p:txBody>
        </p:sp>
        <p:sp>
          <p:nvSpPr>
            <p:cNvPr id="7" name="Rectangle 6"/>
            <p:cNvSpPr/>
            <p:nvPr/>
          </p:nvSpPr>
          <p:spPr>
            <a:xfrm>
              <a:off x="5170217" y="3356365"/>
              <a:ext cx="1562023" cy="915478"/>
            </a:xfrm>
            <a:prstGeom prst="rect">
              <a:avLst/>
            </a:prstGeom>
            <a:ln/>
          </p:spPr>
          <p:style>
            <a:lnRef idx="2">
              <a:schemeClr val="dk1"/>
            </a:lnRef>
            <a:fillRef idx="1">
              <a:schemeClr val="lt1"/>
            </a:fillRef>
            <a:effectRef idx="0">
              <a:schemeClr val="dk1"/>
            </a:effectRef>
            <a:fontRef idx="minor">
              <a:schemeClr val="dk1"/>
            </a:fontRef>
          </p:style>
          <p:txBody>
            <a:bodyPr anchor="ctr"/>
            <a:lstStyle/>
            <a:p>
              <a:pPr algn="ctr" eaLnBrk="1" hangingPunct="1">
                <a:defRPr/>
              </a:pPr>
              <a:r>
                <a:rPr lang="en-US" sz="2800" dirty="0">
                  <a:latin typeface="Times New Roman" panose="02020603050405020304" pitchFamily="18" charset="0"/>
                  <a:cs typeface="Times New Roman" panose="02020603050405020304" pitchFamily="18" charset="0"/>
                </a:rPr>
                <a:t>Intel</a:t>
              </a:r>
              <a:endParaRPr lang="en-CA" sz="2800" dirty="0">
                <a:latin typeface="Times New Roman" panose="02020603050405020304" pitchFamily="18" charset="0"/>
                <a:cs typeface="Times New Roman" panose="02020603050405020304" pitchFamily="18" charset="0"/>
              </a:endParaRPr>
            </a:p>
          </p:txBody>
        </p:sp>
        <p:sp>
          <p:nvSpPr>
            <p:cNvPr id="28680" name="TextBox 7"/>
            <p:cNvSpPr txBox="1">
              <a:spLocks noChangeArrowheads="1"/>
            </p:cNvSpPr>
            <p:nvPr/>
          </p:nvSpPr>
          <p:spPr bwMode="auto">
            <a:xfrm>
              <a:off x="3995936" y="3172326"/>
              <a:ext cx="1008112" cy="457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400">
                  <a:latin typeface="Times New Roman" panose="02020603050405020304" pitchFamily="18" charset="0"/>
                  <a:cs typeface="Times New Roman" panose="02020603050405020304" pitchFamily="18" charset="0"/>
                </a:rPr>
                <a:t>2.97%</a:t>
              </a:r>
              <a:endParaRPr lang="en-CA" altLang="en-US" sz="2400">
                <a:latin typeface="Times New Roman" panose="02020603050405020304" pitchFamily="18" charset="0"/>
                <a:cs typeface="Times New Roman" panose="02020603050405020304" pitchFamily="18" charset="0"/>
              </a:endParaRPr>
            </a:p>
          </p:txBody>
        </p:sp>
        <p:sp>
          <p:nvSpPr>
            <p:cNvPr id="28681" name="TextBox 8"/>
            <p:cNvSpPr txBox="1">
              <a:spLocks noChangeArrowheads="1"/>
            </p:cNvSpPr>
            <p:nvPr/>
          </p:nvSpPr>
          <p:spPr bwMode="auto">
            <a:xfrm>
              <a:off x="3863129" y="4106555"/>
              <a:ext cx="1273723" cy="457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400" dirty="0" smtClean="0">
                  <a:latin typeface="Times New Roman" panose="02020603050405020304" pitchFamily="18" charset="0"/>
                  <a:cs typeface="Times New Roman" panose="02020603050405020304" pitchFamily="18" charset="0"/>
                </a:rPr>
                <a:t>Floating</a:t>
              </a:r>
              <a:endParaRPr lang="en-CA" altLang="en-US" sz="2400" dirty="0">
                <a:latin typeface="Times New Roman" panose="02020603050405020304" pitchFamily="18" charset="0"/>
                <a:cs typeface="Times New Roman" panose="02020603050405020304" pitchFamily="18" charset="0"/>
              </a:endParaRPr>
            </a:p>
          </p:txBody>
        </p:sp>
        <p:cxnSp>
          <p:nvCxnSpPr>
            <p:cNvPr id="10" name="Straight Arrow Connector 9"/>
            <p:cNvCxnSpPr/>
            <p:nvPr/>
          </p:nvCxnSpPr>
          <p:spPr>
            <a:xfrm flipH="1">
              <a:off x="3564154" y="4086231"/>
              <a:ext cx="1606063"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1" name="Straight Arrow Connector 10"/>
            <p:cNvCxnSpPr/>
            <p:nvPr/>
          </p:nvCxnSpPr>
          <p:spPr>
            <a:xfrm>
              <a:off x="3564154" y="3541977"/>
              <a:ext cx="1606063"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gr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a:xfrm>
            <a:off x="254143" y="1418214"/>
            <a:ext cx="7772400" cy="1143000"/>
          </a:xfrm>
        </p:spPr>
        <p:txBody>
          <a:bodyPr/>
          <a:lstStyle/>
          <a:p>
            <a:r>
              <a:rPr lang="en-CA" altLang="en-US" dirty="0" smtClean="0"/>
              <a:t>Intel Transforms a Liability from Fixed to Floating </a:t>
            </a:r>
            <a:r>
              <a:rPr lang="en-CA" altLang="en-US" sz="2400" dirty="0" smtClean="0"/>
              <a:t>(Figure 7.4)</a:t>
            </a:r>
            <a:endParaRPr lang="en-US" altLang="en-US" sz="2400" dirty="0" smtClean="0"/>
          </a:p>
        </p:txBody>
      </p:sp>
      <p:sp>
        <p:nvSpPr>
          <p:cNvPr id="29699" name="Footer Placeholder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mtClean="0"/>
              <a:t>Options, Futures, and Other Derivatives, 11th Edition, Copyright © John C. Hull 2021</a:t>
            </a:r>
            <a:endParaRPr lang="en-US" altLang="en-US" i="0"/>
          </a:p>
        </p:txBody>
      </p:sp>
      <p:sp>
        <p:nvSpPr>
          <p:cNvPr id="29700"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20E0FA52-75B0-49D0-B013-A2547A894FC4}" type="slidenum">
              <a:rPr lang="en-US" altLang="en-US"/>
              <a:pPr/>
              <a:t>12</a:t>
            </a:fld>
            <a:endParaRPr lang="en-US" altLang="en-US"/>
          </a:p>
        </p:txBody>
      </p:sp>
      <p:grpSp>
        <p:nvGrpSpPr>
          <p:cNvPr id="29701" name="Group 4"/>
          <p:cNvGrpSpPr>
            <a:grpSpLocks/>
          </p:cNvGrpSpPr>
          <p:nvPr/>
        </p:nvGrpSpPr>
        <p:grpSpPr bwMode="auto">
          <a:xfrm>
            <a:off x="1403648" y="3212976"/>
            <a:ext cx="5905500" cy="1427012"/>
            <a:chOff x="2267744" y="3107992"/>
            <a:chExt cx="5904656" cy="1426545"/>
          </a:xfrm>
        </p:grpSpPr>
        <p:sp>
          <p:nvSpPr>
            <p:cNvPr id="6" name="Rectangle 5"/>
            <p:cNvSpPr/>
            <p:nvPr/>
          </p:nvSpPr>
          <p:spPr>
            <a:xfrm>
              <a:off x="2267744" y="3357148"/>
              <a:ext cx="1296803" cy="914101"/>
            </a:xfrm>
            <a:prstGeom prst="rect">
              <a:avLst/>
            </a:prstGeom>
            <a:ln/>
          </p:spPr>
          <p:style>
            <a:lnRef idx="2">
              <a:schemeClr val="dk1"/>
            </a:lnRef>
            <a:fillRef idx="1">
              <a:schemeClr val="lt1"/>
            </a:fillRef>
            <a:effectRef idx="0">
              <a:schemeClr val="dk1"/>
            </a:effectRef>
            <a:fontRef idx="minor">
              <a:schemeClr val="dk1"/>
            </a:fontRef>
          </p:style>
          <p:txBody>
            <a:bodyPr anchor="ctr"/>
            <a:lstStyle/>
            <a:p>
              <a:pPr algn="ctr" eaLnBrk="1" hangingPunct="1">
                <a:defRPr/>
              </a:pPr>
              <a:r>
                <a:rPr lang="en-US" sz="2800" dirty="0">
                  <a:latin typeface="Times New Roman" panose="02020603050405020304" pitchFamily="18" charset="0"/>
                  <a:cs typeface="Times New Roman" panose="02020603050405020304" pitchFamily="18" charset="0"/>
                </a:rPr>
                <a:t>Citi</a:t>
              </a:r>
              <a:endParaRPr lang="en-CA" sz="2800" dirty="0">
                <a:latin typeface="Times New Roman" panose="02020603050405020304" pitchFamily="18" charset="0"/>
                <a:cs typeface="Times New Roman" panose="02020603050405020304" pitchFamily="18" charset="0"/>
              </a:endParaRPr>
            </a:p>
          </p:txBody>
        </p:sp>
        <p:sp>
          <p:nvSpPr>
            <p:cNvPr id="7" name="Rectangle 6"/>
            <p:cNvSpPr/>
            <p:nvPr/>
          </p:nvSpPr>
          <p:spPr>
            <a:xfrm>
              <a:off x="5169279" y="3357148"/>
              <a:ext cx="1563465" cy="914101"/>
            </a:xfrm>
            <a:prstGeom prst="rect">
              <a:avLst/>
            </a:prstGeom>
            <a:ln/>
          </p:spPr>
          <p:style>
            <a:lnRef idx="2">
              <a:schemeClr val="dk1"/>
            </a:lnRef>
            <a:fillRef idx="1">
              <a:schemeClr val="lt1"/>
            </a:fillRef>
            <a:effectRef idx="0">
              <a:schemeClr val="dk1"/>
            </a:effectRef>
            <a:fontRef idx="minor">
              <a:schemeClr val="dk1"/>
            </a:fontRef>
          </p:style>
          <p:txBody>
            <a:bodyPr anchor="ctr"/>
            <a:lstStyle/>
            <a:p>
              <a:pPr algn="ctr" eaLnBrk="1" hangingPunct="1">
                <a:defRPr/>
              </a:pPr>
              <a:r>
                <a:rPr lang="en-US" sz="2800" dirty="0">
                  <a:latin typeface="Times New Roman" panose="02020603050405020304" pitchFamily="18" charset="0"/>
                  <a:cs typeface="Times New Roman" panose="02020603050405020304" pitchFamily="18" charset="0"/>
                </a:rPr>
                <a:t>Intel</a:t>
              </a:r>
              <a:endParaRPr lang="en-CA" sz="2800" dirty="0">
                <a:latin typeface="Times New Roman" panose="02020603050405020304" pitchFamily="18" charset="0"/>
                <a:cs typeface="Times New Roman" panose="02020603050405020304" pitchFamily="18" charset="0"/>
              </a:endParaRPr>
            </a:p>
          </p:txBody>
        </p:sp>
        <p:sp>
          <p:nvSpPr>
            <p:cNvPr id="29704" name="TextBox 7"/>
            <p:cNvSpPr txBox="1">
              <a:spLocks noChangeArrowheads="1"/>
            </p:cNvSpPr>
            <p:nvPr/>
          </p:nvSpPr>
          <p:spPr bwMode="auto">
            <a:xfrm>
              <a:off x="3995936" y="3107992"/>
              <a:ext cx="100811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400">
                  <a:latin typeface="Times New Roman" panose="02020603050405020304" pitchFamily="18" charset="0"/>
                  <a:cs typeface="Times New Roman" panose="02020603050405020304" pitchFamily="18" charset="0"/>
                </a:rPr>
                <a:t>2.97%</a:t>
              </a:r>
              <a:endParaRPr lang="en-CA" altLang="en-US" sz="2400">
                <a:latin typeface="Times New Roman" panose="02020603050405020304" pitchFamily="18" charset="0"/>
                <a:cs typeface="Times New Roman" panose="02020603050405020304" pitchFamily="18" charset="0"/>
              </a:endParaRPr>
            </a:p>
          </p:txBody>
        </p:sp>
        <p:sp>
          <p:nvSpPr>
            <p:cNvPr id="29705" name="TextBox 8"/>
            <p:cNvSpPr txBox="1">
              <a:spLocks noChangeArrowheads="1"/>
            </p:cNvSpPr>
            <p:nvPr/>
          </p:nvSpPr>
          <p:spPr bwMode="auto">
            <a:xfrm>
              <a:off x="3862772" y="4073023"/>
              <a:ext cx="1306507" cy="4615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400" dirty="0" smtClean="0">
                  <a:latin typeface="Times New Roman" panose="02020603050405020304" pitchFamily="18" charset="0"/>
                  <a:cs typeface="Times New Roman" panose="02020603050405020304" pitchFamily="18" charset="0"/>
                </a:rPr>
                <a:t>Floating</a:t>
              </a:r>
              <a:endParaRPr lang="en-CA" altLang="en-US" sz="2400" dirty="0">
                <a:latin typeface="Times New Roman" panose="02020603050405020304" pitchFamily="18" charset="0"/>
                <a:cs typeface="Times New Roman" panose="02020603050405020304" pitchFamily="18" charset="0"/>
              </a:endParaRPr>
            </a:p>
          </p:txBody>
        </p:sp>
        <p:cxnSp>
          <p:nvCxnSpPr>
            <p:cNvPr id="10" name="Straight Arrow Connector 9"/>
            <p:cNvCxnSpPr/>
            <p:nvPr/>
          </p:nvCxnSpPr>
          <p:spPr>
            <a:xfrm flipH="1">
              <a:off x="3564547" y="4087159"/>
              <a:ext cx="1604733"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1" name="Straight Arrow Connector 10"/>
            <p:cNvCxnSpPr/>
            <p:nvPr/>
          </p:nvCxnSpPr>
          <p:spPr>
            <a:xfrm>
              <a:off x="3564547" y="3541238"/>
              <a:ext cx="1604733"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2" name="Straight Arrow Connector 11"/>
            <p:cNvCxnSpPr>
              <a:stCxn id="7" idx="3"/>
            </p:cNvCxnSpPr>
            <p:nvPr/>
          </p:nvCxnSpPr>
          <p:spPr>
            <a:xfrm>
              <a:off x="6732744" y="3814199"/>
              <a:ext cx="1439656"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29709" name="TextBox 12"/>
            <p:cNvSpPr txBox="1">
              <a:spLocks noChangeArrowheads="1"/>
            </p:cNvSpPr>
            <p:nvPr/>
          </p:nvSpPr>
          <p:spPr bwMode="auto">
            <a:xfrm>
              <a:off x="7049582" y="3356992"/>
              <a:ext cx="93610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400">
                  <a:latin typeface="Times New Roman" panose="02020603050405020304" pitchFamily="18" charset="0"/>
                  <a:cs typeface="Times New Roman" panose="02020603050405020304" pitchFamily="18" charset="0"/>
                </a:rPr>
                <a:t>3.2%</a:t>
              </a:r>
              <a:endParaRPr lang="en-CA" altLang="en-US" sz="2400">
                <a:latin typeface="Times New Roman" panose="02020603050405020304" pitchFamily="18" charset="0"/>
                <a:cs typeface="Times New Roman" panose="02020603050405020304" pitchFamily="18" charset="0"/>
              </a:endParaRPr>
            </a:p>
          </p:txBody>
        </p:sp>
      </p:gr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a:lstStyle/>
          <a:p>
            <a:r>
              <a:rPr lang="en-CA" altLang="en-US" dirty="0" smtClean="0"/>
              <a:t>Apple Transforms an Asset from Fixed to Floating </a:t>
            </a:r>
            <a:r>
              <a:rPr lang="en-CA" altLang="en-US" sz="2400" dirty="0" smtClean="0"/>
              <a:t>(Figure 7.5)</a:t>
            </a:r>
            <a:endParaRPr lang="en-US" altLang="en-US" sz="2400" dirty="0" smtClean="0"/>
          </a:p>
        </p:txBody>
      </p:sp>
      <p:sp>
        <p:nvSpPr>
          <p:cNvPr id="30723" name="Footer Placeholder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mtClean="0"/>
              <a:t>Options, Futures, and Other Derivatives, 11th Edition, Copyright © John C. Hull 2021</a:t>
            </a:r>
            <a:endParaRPr lang="en-US" altLang="en-US" i="0"/>
          </a:p>
        </p:txBody>
      </p:sp>
      <p:sp>
        <p:nvSpPr>
          <p:cNvPr id="30724"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47770BF-D4F5-49A2-AF26-BC84EC9A1552}" type="slidenum">
              <a:rPr lang="en-US" altLang="en-US"/>
              <a:pPr/>
              <a:t>13</a:t>
            </a:fld>
            <a:endParaRPr lang="en-US" altLang="en-US"/>
          </a:p>
        </p:txBody>
      </p:sp>
      <p:grpSp>
        <p:nvGrpSpPr>
          <p:cNvPr id="30725" name="Group 4"/>
          <p:cNvGrpSpPr>
            <a:grpSpLocks/>
          </p:cNvGrpSpPr>
          <p:nvPr/>
        </p:nvGrpSpPr>
        <p:grpSpPr bwMode="auto">
          <a:xfrm>
            <a:off x="1393825" y="2808288"/>
            <a:ext cx="6192838" cy="1298575"/>
            <a:chOff x="2267744" y="3167861"/>
            <a:chExt cx="6192688" cy="1298868"/>
          </a:xfrm>
        </p:grpSpPr>
        <p:sp>
          <p:nvSpPr>
            <p:cNvPr id="6" name="Rectangle 5"/>
            <p:cNvSpPr/>
            <p:nvPr/>
          </p:nvSpPr>
          <p:spPr>
            <a:xfrm>
              <a:off x="2267744" y="3356816"/>
              <a:ext cx="1295369" cy="914606"/>
            </a:xfrm>
            <a:prstGeom prst="rect">
              <a:avLst/>
            </a:prstGeom>
            <a:ln/>
          </p:spPr>
          <p:style>
            <a:lnRef idx="2">
              <a:schemeClr val="dk1"/>
            </a:lnRef>
            <a:fillRef idx="1">
              <a:schemeClr val="lt1"/>
            </a:fillRef>
            <a:effectRef idx="0">
              <a:schemeClr val="dk1"/>
            </a:effectRef>
            <a:fontRef idx="minor">
              <a:schemeClr val="dk1"/>
            </a:fontRef>
          </p:style>
          <p:txBody>
            <a:bodyPr anchor="ctr"/>
            <a:lstStyle/>
            <a:p>
              <a:pPr algn="ctr" eaLnBrk="1" hangingPunct="1">
                <a:defRPr/>
              </a:pPr>
              <a:r>
                <a:rPr lang="en-US" sz="2800" dirty="0">
                  <a:latin typeface="Times New Roman" panose="02020603050405020304" pitchFamily="18" charset="0"/>
                  <a:cs typeface="Times New Roman" panose="02020603050405020304" pitchFamily="18" charset="0"/>
                </a:rPr>
                <a:t>Citi</a:t>
              </a:r>
              <a:endParaRPr lang="en-CA" sz="2800" dirty="0">
                <a:latin typeface="Times New Roman" panose="02020603050405020304" pitchFamily="18" charset="0"/>
                <a:cs typeface="Times New Roman" panose="02020603050405020304" pitchFamily="18" charset="0"/>
              </a:endParaRPr>
            </a:p>
          </p:txBody>
        </p:sp>
        <p:sp>
          <p:nvSpPr>
            <p:cNvPr id="7" name="Rectangle 6"/>
            <p:cNvSpPr/>
            <p:nvPr/>
          </p:nvSpPr>
          <p:spPr>
            <a:xfrm>
              <a:off x="5169624" y="3356816"/>
              <a:ext cx="1562062" cy="914606"/>
            </a:xfrm>
            <a:prstGeom prst="rect">
              <a:avLst/>
            </a:prstGeom>
            <a:ln/>
          </p:spPr>
          <p:style>
            <a:lnRef idx="2">
              <a:schemeClr val="dk1"/>
            </a:lnRef>
            <a:fillRef idx="1">
              <a:schemeClr val="lt1"/>
            </a:fillRef>
            <a:effectRef idx="0">
              <a:schemeClr val="dk1"/>
            </a:effectRef>
            <a:fontRef idx="minor">
              <a:schemeClr val="dk1"/>
            </a:fontRef>
          </p:style>
          <p:txBody>
            <a:bodyPr anchor="ctr"/>
            <a:lstStyle/>
            <a:p>
              <a:pPr algn="ctr" eaLnBrk="1" hangingPunct="1">
                <a:defRPr/>
              </a:pPr>
              <a:r>
                <a:rPr lang="en-US" sz="2800" dirty="0">
                  <a:latin typeface="Times New Roman" panose="02020603050405020304" pitchFamily="18" charset="0"/>
                  <a:cs typeface="Times New Roman" panose="02020603050405020304" pitchFamily="18" charset="0"/>
                </a:rPr>
                <a:t>Apple</a:t>
              </a:r>
              <a:endParaRPr lang="en-CA" sz="2800" dirty="0">
                <a:latin typeface="Times New Roman" panose="02020603050405020304" pitchFamily="18" charset="0"/>
                <a:cs typeface="Times New Roman" panose="02020603050405020304" pitchFamily="18" charset="0"/>
              </a:endParaRPr>
            </a:p>
          </p:txBody>
        </p:sp>
        <p:cxnSp>
          <p:nvCxnSpPr>
            <p:cNvPr id="8" name="Straight Arrow Connector 7"/>
            <p:cNvCxnSpPr/>
            <p:nvPr/>
          </p:nvCxnSpPr>
          <p:spPr>
            <a:xfrm flipH="1">
              <a:off x="3563113" y="3645806"/>
              <a:ext cx="1606511"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9" name="Straight Arrow Connector 8"/>
            <p:cNvCxnSpPr/>
            <p:nvPr/>
          </p:nvCxnSpPr>
          <p:spPr>
            <a:xfrm>
              <a:off x="3563113" y="4004662"/>
              <a:ext cx="1606511"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30730" name="TextBox 9"/>
            <p:cNvSpPr txBox="1">
              <a:spLocks noChangeArrowheads="1"/>
            </p:cNvSpPr>
            <p:nvPr/>
          </p:nvSpPr>
          <p:spPr bwMode="auto">
            <a:xfrm>
              <a:off x="3981636" y="3167861"/>
              <a:ext cx="86409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400">
                  <a:latin typeface="Times New Roman" panose="02020603050405020304" pitchFamily="18" charset="0"/>
                  <a:cs typeface="Times New Roman" panose="02020603050405020304" pitchFamily="18" charset="0"/>
                </a:rPr>
                <a:t>3.0%</a:t>
              </a:r>
              <a:endParaRPr lang="en-CA" altLang="en-US" sz="2400">
                <a:latin typeface="Times New Roman" panose="02020603050405020304" pitchFamily="18" charset="0"/>
                <a:cs typeface="Times New Roman" panose="02020603050405020304" pitchFamily="18" charset="0"/>
              </a:endParaRPr>
            </a:p>
          </p:txBody>
        </p:sp>
        <p:sp>
          <p:nvSpPr>
            <p:cNvPr id="30731" name="TextBox 10"/>
            <p:cNvSpPr txBox="1">
              <a:spLocks noChangeArrowheads="1"/>
            </p:cNvSpPr>
            <p:nvPr/>
          </p:nvSpPr>
          <p:spPr bwMode="auto">
            <a:xfrm>
              <a:off x="3903714" y="4005064"/>
              <a:ext cx="126605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400" dirty="0" smtClean="0">
                  <a:latin typeface="Times New Roman" panose="02020603050405020304" pitchFamily="18" charset="0"/>
                  <a:cs typeface="Times New Roman" panose="02020603050405020304" pitchFamily="18" charset="0"/>
                </a:rPr>
                <a:t>Floating</a:t>
              </a:r>
              <a:endParaRPr lang="en-CA" altLang="en-US" sz="2400" dirty="0">
                <a:latin typeface="Times New Roman" panose="02020603050405020304" pitchFamily="18" charset="0"/>
                <a:cs typeface="Times New Roman" panose="02020603050405020304" pitchFamily="18" charset="0"/>
              </a:endParaRPr>
            </a:p>
          </p:txBody>
        </p:sp>
        <p:cxnSp>
          <p:nvCxnSpPr>
            <p:cNvPr id="12" name="Straight Arrow Connector 11"/>
            <p:cNvCxnSpPr>
              <a:endCxn id="7" idx="3"/>
            </p:cNvCxnSpPr>
            <p:nvPr/>
          </p:nvCxnSpPr>
          <p:spPr>
            <a:xfrm flipH="1">
              <a:off x="6731686" y="3814119"/>
              <a:ext cx="1728746"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30733" name="TextBox 12"/>
            <p:cNvSpPr txBox="1">
              <a:spLocks noChangeArrowheads="1"/>
            </p:cNvSpPr>
            <p:nvPr/>
          </p:nvSpPr>
          <p:spPr bwMode="auto">
            <a:xfrm>
              <a:off x="6948264" y="3398693"/>
              <a:ext cx="151216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a:latin typeface="Times New Roman" panose="02020603050405020304" pitchFamily="18" charset="0"/>
                  <a:cs typeface="Times New Roman" panose="02020603050405020304" pitchFamily="18" charset="0"/>
                </a:rPr>
                <a:t>2.7%</a:t>
              </a:r>
              <a:endParaRPr lang="en-CA" altLang="en-US" sz="2400">
                <a:latin typeface="Times New Roman" panose="02020603050405020304" pitchFamily="18" charset="0"/>
                <a:cs typeface="Times New Roman" panose="02020603050405020304" pitchFamily="18" charset="0"/>
              </a:endParaRPr>
            </a:p>
          </p:txBody>
        </p:sp>
      </p:gr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p:txBody>
          <a:bodyPr/>
          <a:lstStyle/>
          <a:p>
            <a:r>
              <a:rPr lang="en-CA" altLang="en-US" dirty="0" smtClean="0"/>
              <a:t>Intel Transforms an Asset from Floating to Fixed </a:t>
            </a:r>
            <a:r>
              <a:rPr lang="en-CA" altLang="en-US" sz="2400" dirty="0" smtClean="0"/>
              <a:t>(Figure 7.6)</a:t>
            </a:r>
            <a:endParaRPr lang="en-US" altLang="en-US" sz="2400" dirty="0" smtClean="0"/>
          </a:p>
        </p:txBody>
      </p:sp>
      <p:sp>
        <p:nvSpPr>
          <p:cNvPr id="31747" name="Footer Placeholder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mtClean="0"/>
              <a:t>Options, Futures, and Other Derivatives, 11th Edition, Copyright © John C. Hull 2021</a:t>
            </a:r>
            <a:endParaRPr lang="en-US" altLang="en-US" i="0"/>
          </a:p>
        </p:txBody>
      </p:sp>
      <p:sp>
        <p:nvSpPr>
          <p:cNvPr id="31748"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7D51E5BF-CF2E-4727-A569-1D49D87E73EC}" type="slidenum">
              <a:rPr lang="en-US" altLang="en-US"/>
              <a:pPr/>
              <a:t>14</a:t>
            </a:fld>
            <a:endParaRPr lang="en-US" altLang="en-US"/>
          </a:p>
        </p:txBody>
      </p:sp>
      <p:grpSp>
        <p:nvGrpSpPr>
          <p:cNvPr id="31749" name="Group 13"/>
          <p:cNvGrpSpPr>
            <a:grpSpLocks/>
          </p:cNvGrpSpPr>
          <p:nvPr/>
        </p:nvGrpSpPr>
        <p:grpSpPr bwMode="auto">
          <a:xfrm>
            <a:off x="1476375" y="3141662"/>
            <a:ext cx="6983413" cy="1484756"/>
            <a:chOff x="2267744" y="3172326"/>
            <a:chExt cx="6529246" cy="1327018"/>
          </a:xfrm>
        </p:grpSpPr>
        <p:sp>
          <p:nvSpPr>
            <p:cNvPr id="15" name="Rectangle 14"/>
            <p:cNvSpPr/>
            <p:nvPr/>
          </p:nvSpPr>
          <p:spPr>
            <a:xfrm>
              <a:off x="2267744" y="3356776"/>
              <a:ext cx="1295757" cy="915156"/>
            </a:xfrm>
            <a:prstGeom prst="rect">
              <a:avLst/>
            </a:prstGeom>
            <a:ln/>
          </p:spPr>
          <p:style>
            <a:lnRef idx="2">
              <a:schemeClr val="dk1"/>
            </a:lnRef>
            <a:fillRef idx="1">
              <a:schemeClr val="lt1"/>
            </a:fillRef>
            <a:effectRef idx="0">
              <a:schemeClr val="dk1"/>
            </a:effectRef>
            <a:fontRef idx="minor">
              <a:schemeClr val="dk1"/>
            </a:fontRef>
          </p:style>
          <p:txBody>
            <a:bodyPr anchor="ctr"/>
            <a:lstStyle/>
            <a:p>
              <a:pPr algn="ctr" eaLnBrk="1" hangingPunct="1">
                <a:defRPr/>
              </a:pPr>
              <a:r>
                <a:rPr lang="en-US" sz="2800" dirty="0">
                  <a:latin typeface="Times New Roman" panose="02020603050405020304" pitchFamily="18" charset="0"/>
                  <a:cs typeface="Times New Roman" panose="02020603050405020304" pitchFamily="18" charset="0"/>
                </a:rPr>
                <a:t>Citi</a:t>
              </a:r>
              <a:endParaRPr lang="en-CA" sz="2800" dirty="0">
                <a:latin typeface="Times New Roman" panose="02020603050405020304" pitchFamily="18" charset="0"/>
                <a:cs typeface="Times New Roman" panose="02020603050405020304" pitchFamily="18" charset="0"/>
              </a:endParaRPr>
            </a:p>
          </p:txBody>
        </p:sp>
        <p:sp>
          <p:nvSpPr>
            <p:cNvPr id="16" name="Rectangle 15"/>
            <p:cNvSpPr/>
            <p:nvPr/>
          </p:nvSpPr>
          <p:spPr>
            <a:xfrm>
              <a:off x="5169466" y="3356776"/>
              <a:ext cx="1562922" cy="915156"/>
            </a:xfrm>
            <a:prstGeom prst="rect">
              <a:avLst/>
            </a:prstGeom>
            <a:ln/>
          </p:spPr>
          <p:style>
            <a:lnRef idx="2">
              <a:schemeClr val="dk1"/>
            </a:lnRef>
            <a:fillRef idx="1">
              <a:schemeClr val="lt1"/>
            </a:fillRef>
            <a:effectRef idx="0">
              <a:schemeClr val="dk1"/>
            </a:effectRef>
            <a:fontRef idx="minor">
              <a:schemeClr val="dk1"/>
            </a:fontRef>
          </p:style>
          <p:txBody>
            <a:bodyPr anchor="ctr"/>
            <a:lstStyle/>
            <a:p>
              <a:pPr algn="ctr" eaLnBrk="1" hangingPunct="1">
                <a:defRPr/>
              </a:pPr>
              <a:r>
                <a:rPr lang="en-US" sz="2800" dirty="0">
                  <a:latin typeface="Times New Roman" panose="02020603050405020304" pitchFamily="18" charset="0"/>
                  <a:cs typeface="Times New Roman" panose="02020603050405020304" pitchFamily="18" charset="0"/>
                </a:rPr>
                <a:t>Intel</a:t>
              </a:r>
              <a:endParaRPr lang="en-CA" sz="2800" dirty="0">
                <a:latin typeface="Times New Roman" panose="02020603050405020304" pitchFamily="18" charset="0"/>
                <a:cs typeface="Times New Roman" panose="02020603050405020304" pitchFamily="18" charset="0"/>
              </a:endParaRPr>
            </a:p>
          </p:txBody>
        </p:sp>
        <p:sp>
          <p:nvSpPr>
            <p:cNvPr id="31752" name="TextBox 16"/>
            <p:cNvSpPr txBox="1">
              <a:spLocks noChangeArrowheads="1"/>
            </p:cNvSpPr>
            <p:nvPr/>
          </p:nvSpPr>
          <p:spPr bwMode="auto">
            <a:xfrm>
              <a:off x="3995936" y="3172326"/>
              <a:ext cx="1008112" cy="412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400">
                  <a:latin typeface="Times New Roman" panose="02020603050405020304" pitchFamily="18" charset="0"/>
                  <a:cs typeface="Times New Roman" panose="02020603050405020304" pitchFamily="18" charset="0"/>
                </a:rPr>
                <a:t>2.97%</a:t>
              </a:r>
              <a:endParaRPr lang="en-CA" altLang="en-US" sz="2400">
                <a:latin typeface="Times New Roman" panose="02020603050405020304" pitchFamily="18" charset="0"/>
                <a:cs typeface="Times New Roman" panose="02020603050405020304" pitchFamily="18" charset="0"/>
              </a:endParaRPr>
            </a:p>
          </p:txBody>
        </p:sp>
        <p:sp>
          <p:nvSpPr>
            <p:cNvPr id="31753" name="TextBox 17"/>
            <p:cNvSpPr txBox="1">
              <a:spLocks noChangeArrowheads="1"/>
            </p:cNvSpPr>
            <p:nvPr/>
          </p:nvSpPr>
          <p:spPr bwMode="auto">
            <a:xfrm>
              <a:off x="3728919" y="4086725"/>
              <a:ext cx="1275128" cy="412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400" dirty="0" smtClean="0">
                  <a:latin typeface="Times New Roman" panose="02020603050405020304" pitchFamily="18" charset="0"/>
                  <a:cs typeface="Times New Roman" panose="02020603050405020304" pitchFamily="18" charset="0"/>
                </a:rPr>
                <a:t>Floating</a:t>
              </a:r>
              <a:endParaRPr lang="en-CA" altLang="en-US" sz="2400" dirty="0">
                <a:latin typeface="Times New Roman" panose="02020603050405020304" pitchFamily="18" charset="0"/>
                <a:cs typeface="Times New Roman" panose="02020603050405020304" pitchFamily="18" charset="0"/>
              </a:endParaRPr>
            </a:p>
          </p:txBody>
        </p:sp>
        <p:cxnSp>
          <p:nvCxnSpPr>
            <p:cNvPr id="19" name="Straight Arrow Connector 18"/>
            <p:cNvCxnSpPr/>
            <p:nvPr/>
          </p:nvCxnSpPr>
          <p:spPr>
            <a:xfrm flipH="1">
              <a:off x="3563501" y="4086063"/>
              <a:ext cx="1605966"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0" name="Straight Arrow Connector 19"/>
            <p:cNvCxnSpPr/>
            <p:nvPr/>
          </p:nvCxnSpPr>
          <p:spPr>
            <a:xfrm>
              <a:off x="3563501" y="3541226"/>
              <a:ext cx="1605966"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1" name="Straight Arrow Connector 20"/>
            <p:cNvCxnSpPr>
              <a:endCxn id="16" idx="3"/>
            </p:cNvCxnSpPr>
            <p:nvPr/>
          </p:nvCxnSpPr>
          <p:spPr>
            <a:xfrm flipH="1">
              <a:off x="6732388" y="3813645"/>
              <a:ext cx="1583702"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1757" name="TextBox 21"/>
            <p:cNvSpPr txBox="1">
              <a:spLocks noChangeArrowheads="1"/>
            </p:cNvSpPr>
            <p:nvPr/>
          </p:nvSpPr>
          <p:spPr bwMode="auto">
            <a:xfrm>
              <a:off x="6897959" y="3444860"/>
              <a:ext cx="1899031" cy="412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400" dirty="0" smtClean="0">
                  <a:latin typeface="Times New Roman" panose="02020603050405020304" pitchFamily="18" charset="0"/>
                  <a:cs typeface="Times New Roman" panose="02020603050405020304" pitchFamily="18" charset="0"/>
                </a:rPr>
                <a:t>Floating−</a:t>
              </a:r>
              <a:r>
                <a:rPr lang="en-US" altLang="en-US" sz="2400" dirty="0">
                  <a:latin typeface="Times New Roman" panose="02020603050405020304" pitchFamily="18" charset="0"/>
                  <a:cs typeface="Times New Roman" panose="02020603050405020304" pitchFamily="18" charset="0"/>
                </a:rPr>
                <a:t>0.2%</a:t>
              </a:r>
              <a:endParaRPr lang="en-CA" altLang="en-US" sz="2400" dirty="0">
                <a:latin typeface="Times New Roman" panose="02020603050405020304" pitchFamily="18" charset="0"/>
                <a:cs typeface="Times New Roman" panose="02020603050405020304" pitchFamily="18" charset="0"/>
              </a:endParaRPr>
            </a:p>
          </p:txBody>
        </p:sp>
      </p:gr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2"/>
          <p:cNvSpPr>
            <a:spLocks noGrp="1" noChangeArrowheads="1"/>
          </p:cNvSpPr>
          <p:nvPr>
            <p:ph type="title"/>
          </p:nvPr>
        </p:nvSpPr>
        <p:spPr>
          <a:xfrm>
            <a:off x="1115616" y="943632"/>
            <a:ext cx="7543800" cy="1295400"/>
          </a:xfrm>
        </p:spPr>
        <p:txBody>
          <a:bodyPr/>
          <a:lstStyle/>
          <a:p>
            <a:pPr eaLnBrk="1" hangingPunct="1"/>
            <a:r>
              <a:rPr lang="en-US" altLang="en-US" dirty="0" smtClean="0"/>
              <a:t>Quotes By a Swap Market Maker </a:t>
            </a:r>
            <a:r>
              <a:rPr lang="en-US" altLang="en-US" sz="2400" dirty="0" smtClean="0"/>
              <a:t>(Table 7.4)</a:t>
            </a:r>
          </a:p>
        </p:txBody>
      </p:sp>
      <p:graphicFrame>
        <p:nvGraphicFramePr>
          <p:cNvPr id="69688" name="Group 56"/>
          <p:cNvGraphicFramePr>
            <a:graphicFrameLocks noGrp="1"/>
          </p:cNvGraphicFramePr>
          <p:nvPr>
            <p:ph type="tbl" idx="1"/>
            <p:extLst>
              <p:ext uri="{D42A27DB-BD31-4B8C-83A1-F6EECF244321}">
                <p14:modId xmlns:p14="http://schemas.microsoft.com/office/powerpoint/2010/main" val="456013781"/>
              </p:ext>
            </p:extLst>
          </p:nvPr>
        </p:nvGraphicFramePr>
        <p:xfrm>
          <a:off x="468312" y="2348880"/>
          <a:ext cx="7989888" cy="3756024"/>
        </p:xfrm>
        <a:graphic>
          <a:graphicData uri="http://schemas.openxmlformats.org/drawingml/2006/table">
            <a:tbl>
              <a:tblPr/>
              <a:tblGrid>
                <a:gridCol w="1997075">
                  <a:extLst>
                    <a:ext uri="{9D8B030D-6E8A-4147-A177-3AD203B41FA5}">
                      <a16:colId xmlns:a16="http://schemas.microsoft.com/office/drawing/2014/main" val="20000"/>
                    </a:ext>
                  </a:extLst>
                </a:gridCol>
                <a:gridCol w="1601788">
                  <a:extLst>
                    <a:ext uri="{9D8B030D-6E8A-4147-A177-3AD203B41FA5}">
                      <a16:colId xmlns:a16="http://schemas.microsoft.com/office/drawing/2014/main" val="20001"/>
                    </a:ext>
                  </a:extLst>
                </a:gridCol>
                <a:gridCol w="1800225">
                  <a:extLst>
                    <a:ext uri="{9D8B030D-6E8A-4147-A177-3AD203B41FA5}">
                      <a16:colId xmlns:a16="http://schemas.microsoft.com/office/drawing/2014/main" val="20002"/>
                    </a:ext>
                  </a:extLst>
                </a:gridCol>
                <a:gridCol w="2590800">
                  <a:extLst>
                    <a:ext uri="{9D8B030D-6E8A-4147-A177-3AD203B41FA5}">
                      <a16:colId xmlns:a16="http://schemas.microsoft.com/office/drawing/2014/main" val="20003"/>
                    </a:ext>
                  </a:extLst>
                </a:gridCol>
              </a:tblGrid>
              <a:tr h="457818">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dirty="0" smtClean="0">
                          <a:ln>
                            <a:noFill/>
                          </a:ln>
                          <a:solidFill>
                            <a:schemeClr val="tx1"/>
                          </a:solidFill>
                          <a:effectLst/>
                          <a:latin typeface="Arial" charset="0"/>
                        </a:rPr>
                        <a:t>Maturity</a:t>
                      </a:r>
                    </a:p>
                  </a:txBody>
                  <a:tcPr marL="92075" marR="92075" marT="46029" marB="46029"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dirty="0" smtClean="0">
                          <a:ln>
                            <a:noFill/>
                          </a:ln>
                          <a:solidFill>
                            <a:schemeClr val="tx1"/>
                          </a:solidFill>
                          <a:effectLst/>
                          <a:latin typeface="Arial" charset="0"/>
                        </a:rPr>
                        <a:t>Bid (%)</a:t>
                      </a:r>
                    </a:p>
                  </a:txBody>
                  <a:tcPr marL="92075" marR="92075" marT="46029" marB="46029"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dirty="0" smtClean="0">
                          <a:ln>
                            <a:noFill/>
                          </a:ln>
                          <a:solidFill>
                            <a:schemeClr val="tx1"/>
                          </a:solidFill>
                          <a:effectLst/>
                          <a:latin typeface="Arial" charset="0"/>
                        </a:rPr>
                        <a:t>Ask (%)</a:t>
                      </a:r>
                    </a:p>
                  </a:txBody>
                  <a:tcPr marL="92075" marR="92075" marT="46029" marB="46029"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smtClean="0">
                          <a:ln>
                            <a:noFill/>
                          </a:ln>
                          <a:solidFill>
                            <a:schemeClr val="tx1"/>
                          </a:solidFill>
                          <a:effectLst/>
                          <a:latin typeface="Arial" charset="0"/>
                        </a:rPr>
                        <a:t>Swap Rate (%)</a:t>
                      </a:r>
                    </a:p>
                  </a:txBody>
                  <a:tcPr marL="92075" marR="92075" marT="46029" marB="46029"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549172">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smtClean="0">
                          <a:ln>
                            <a:noFill/>
                          </a:ln>
                          <a:solidFill>
                            <a:schemeClr val="tx1"/>
                          </a:solidFill>
                          <a:effectLst/>
                          <a:latin typeface="Arial" charset="0"/>
                        </a:rPr>
                        <a:t>2 years</a:t>
                      </a:r>
                    </a:p>
                  </a:txBody>
                  <a:tcPr marL="92075" marR="92075" marT="46029" marB="46029"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dirty="0" smtClean="0">
                          <a:ln>
                            <a:noFill/>
                          </a:ln>
                          <a:solidFill>
                            <a:schemeClr val="tx1"/>
                          </a:solidFill>
                          <a:effectLst/>
                          <a:latin typeface="Arial" charset="0"/>
                        </a:rPr>
                        <a:t>2.97</a:t>
                      </a:r>
                    </a:p>
                  </a:txBody>
                  <a:tcPr marL="92075" marR="92075" marT="46029" marB="46029"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2400" b="0" i="0" u="none" strike="noStrike" cap="none" normalizeH="0" baseline="0" dirty="0" smtClean="0">
                          <a:ln>
                            <a:noFill/>
                          </a:ln>
                          <a:solidFill>
                            <a:schemeClr val="tx1"/>
                          </a:solidFill>
                          <a:effectLst/>
                          <a:latin typeface="Arial" charset="0"/>
                        </a:rPr>
                        <a:t>3.00</a:t>
                      </a:r>
                      <a:endParaRPr kumimoji="0" lang="en-US" sz="2400" b="0" i="0" u="none" strike="noStrike" cap="none" normalizeH="0" baseline="0" dirty="0" smtClean="0">
                        <a:ln>
                          <a:noFill/>
                        </a:ln>
                        <a:solidFill>
                          <a:schemeClr val="tx1"/>
                        </a:solidFill>
                        <a:effectLst/>
                        <a:latin typeface="Arial" charset="0"/>
                      </a:endParaRPr>
                    </a:p>
                  </a:txBody>
                  <a:tcPr marL="92075" marR="92075" marT="46029" marB="46029"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dirty="0" smtClean="0">
                          <a:ln>
                            <a:noFill/>
                          </a:ln>
                          <a:solidFill>
                            <a:schemeClr val="tx1"/>
                          </a:solidFill>
                          <a:effectLst/>
                          <a:latin typeface="Arial" charset="0"/>
                        </a:rPr>
                        <a:t>2.985</a:t>
                      </a:r>
                    </a:p>
                  </a:txBody>
                  <a:tcPr marL="92075" marR="92075" marT="46029" marB="46029"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550759">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smtClean="0">
                          <a:ln>
                            <a:noFill/>
                          </a:ln>
                          <a:solidFill>
                            <a:schemeClr val="tx1"/>
                          </a:solidFill>
                          <a:effectLst/>
                          <a:latin typeface="Arial" charset="0"/>
                        </a:rPr>
                        <a:t>3 years</a:t>
                      </a:r>
                    </a:p>
                  </a:txBody>
                  <a:tcPr marL="92075" marR="92075" marT="46029" marB="46029"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dirty="0" smtClean="0">
                          <a:ln>
                            <a:noFill/>
                          </a:ln>
                          <a:solidFill>
                            <a:schemeClr val="tx1"/>
                          </a:solidFill>
                          <a:effectLst/>
                          <a:latin typeface="Arial" charset="0"/>
                        </a:rPr>
                        <a:t>3.05</a:t>
                      </a:r>
                    </a:p>
                  </a:txBody>
                  <a:tcPr marL="92075" marR="92075" marT="46029" marB="46029"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2400" b="0" i="0" u="none" strike="noStrike" cap="none" normalizeH="0" baseline="0" dirty="0" smtClean="0">
                          <a:ln>
                            <a:noFill/>
                          </a:ln>
                          <a:solidFill>
                            <a:schemeClr val="tx1"/>
                          </a:solidFill>
                          <a:effectLst/>
                          <a:latin typeface="Arial" charset="0"/>
                        </a:rPr>
                        <a:t>3.08</a:t>
                      </a:r>
                      <a:endParaRPr kumimoji="0" lang="en-US" sz="2400" b="0" i="0" u="none" strike="noStrike" cap="none" normalizeH="0" baseline="0" dirty="0" smtClean="0">
                        <a:ln>
                          <a:noFill/>
                        </a:ln>
                        <a:solidFill>
                          <a:schemeClr val="tx1"/>
                        </a:solidFill>
                        <a:effectLst/>
                        <a:latin typeface="Arial" charset="0"/>
                      </a:endParaRPr>
                    </a:p>
                  </a:txBody>
                  <a:tcPr marL="92075" marR="92075" marT="46029" marB="46029"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dirty="0" smtClean="0">
                          <a:ln>
                            <a:noFill/>
                          </a:ln>
                          <a:solidFill>
                            <a:schemeClr val="tx1"/>
                          </a:solidFill>
                          <a:effectLst/>
                          <a:latin typeface="Arial" charset="0"/>
                        </a:rPr>
                        <a:t>3.065</a:t>
                      </a:r>
                    </a:p>
                  </a:txBody>
                  <a:tcPr marL="92075" marR="92075" marT="46029" marB="46029"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549172">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smtClean="0">
                          <a:ln>
                            <a:noFill/>
                          </a:ln>
                          <a:solidFill>
                            <a:schemeClr val="tx1"/>
                          </a:solidFill>
                          <a:effectLst/>
                          <a:latin typeface="Arial" charset="0"/>
                        </a:rPr>
                        <a:t>4 years</a:t>
                      </a:r>
                    </a:p>
                  </a:txBody>
                  <a:tcPr marL="92075" marR="92075" marT="46029" marB="46029"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dirty="0" smtClean="0">
                          <a:ln>
                            <a:noFill/>
                          </a:ln>
                          <a:solidFill>
                            <a:schemeClr val="tx1"/>
                          </a:solidFill>
                          <a:effectLst/>
                          <a:latin typeface="Arial" charset="0"/>
                        </a:rPr>
                        <a:t>3.15</a:t>
                      </a:r>
                    </a:p>
                  </a:txBody>
                  <a:tcPr marL="92075" marR="92075" marT="46029" marB="46029"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2400" b="0" i="0" u="none" strike="noStrike" cap="none" normalizeH="0" baseline="0" dirty="0" smtClean="0">
                          <a:ln>
                            <a:noFill/>
                          </a:ln>
                          <a:solidFill>
                            <a:schemeClr val="tx1"/>
                          </a:solidFill>
                          <a:effectLst/>
                          <a:latin typeface="Arial" charset="0"/>
                        </a:rPr>
                        <a:t>3.19</a:t>
                      </a:r>
                      <a:endParaRPr kumimoji="0" lang="en-US" sz="2400" b="0" i="0" u="none" strike="noStrike" cap="none" normalizeH="0" baseline="0" dirty="0" smtClean="0">
                        <a:ln>
                          <a:noFill/>
                        </a:ln>
                        <a:solidFill>
                          <a:schemeClr val="tx1"/>
                        </a:solidFill>
                        <a:effectLst/>
                        <a:latin typeface="Arial" charset="0"/>
                      </a:endParaRPr>
                    </a:p>
                  </a:txBody>
                  <a:tcPr marL="92075" marR="92075" marT="46029" marB="46029"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dirty="0" smtClean="0">
                          <a:ln>
                            <a:noFill/>
                          </a:ln>
                          <a:solidFill>
                            <a:schemeClr val="tx1"/>
                          </a:solidFill>
                          <a:effectLst/>
                          <a:latin typeface="Arial" charset="0"/>
                        </a:rPr>
                        <a:t>3.170</a:t>
                      </a:r>
                    </a:p>
                  </a:txBody>
                  <a:tcPr marL="92075" marR="92075" marT="46029" marB="46029"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550759">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smtClean="0">
                          <a:ln>
                            <a:noFill/>
                          </a:ln>
                          <a:solidFill>
                            <a:schemeClr val="tx1"/>
                          </a:solidFill>
                          <a:effectLst/>
                          <a:latin typeface="Arial" charset="0"/>
                        </a:rPr>
                        <a:t>5 years </a:t>
                      </a:r>
                    </a:p>
                  </a:txBody>
                  <a:tcPr marL="92075" marR="92075" marT="46029" marB="46029"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2400" b="0" i="0" u="none" strike="noStrike" cap="none" normalizeH="0" baseline="0" dirty="0" smtClean="0">
                          <a:ln>
                            <a:noFill/>
                          </a:ln>
                          <a:solidFill>
                            <a:schemeClr val="tx1"/>
                          </a:solidFill>
                          <a:effectLst/>
                          <a:latin typeface="Arial" charset="0"/>
                        </a:rPr>
                        <a:t>3.26</a:t>
                      </a:r>
                      <a:endParaRPr kumimoji="0" lang="en-US" sz="2400" b="0" i="0" u="none" strike="noStrike" cap="none" normalizeH="0" baseline="0" dirty="0" smtClean="0">
                        <a:ln>
                          <a:noFill/>
                        </a:ln>
                        <a:solidFill>
                          <a:schemeClr val="tx1"/>
                        </a:solidFill>
                        <a:effectLst/>
                        <a:latin typeface="Arial" charset="0"/>
                      </a:endParaRPr>
                    </a:p>
                  </a:txBody>
                  <a:tcPr marL="92075" marR="92075" marT="46029" marB="46029"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2400" b="0" i="0" u="none" strike="noStrike" cap="none" normalizeH="0" baseline="0" dirty="0" smtClean="0">
                          <a:ln>
                            <a:noFill/>
                          </a:ln>
                          <a:solidFill>
                            <a:schemeClr val="tx1"/>
                          </a:solidFill>
                          <a:effectLst/>
                          <a:latin typeface="Arial" charset="0"/>
                        </a:rPr>
                        <a:t>3.30</a:t>
                      </a:r>
                      <a:endParaRPr kumimoji="0" lang="en-US" sz="2400" b="0" i="0" u="none" strike="noStrike" cap="none" normalizeH="0" baseline="0" dirty="0" smtClean="0">
                        <a:ln>
                          <a:noFill/>
                        </a:ln>
                        <a:solidFill>
                          <a:schemeClr val="tx1"/>
                        </a:solidFill>
                        <a:effectLst/>
                        <a:latin typeface="Arial" charset="0"/>
                      </a:endParaRPr>
                    </a:p>
                  </a:txBody>
                  <a:tcPr marL="92075" marR="92075" marT="46029" marB="46029"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dirty="0" smtClean="0">
                          <a:ln>
                            <a:noFill/>
                          </a:ln>
                          <a:solidFill>
                            <a:schemeClr val="tx1"/>
                          </a:solidFill>
                          <a:effectLst/>
                          <a:latin typeface="Arial" charset="0"/>
                        </a:rPr>
                        <a:t>3.280</a:t>
                      </a:r>
                    </a:p>
                  </a:txBody>
                  <a:tcPr marL="92075" marR="92075" marT="46029" marB="46029"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r h="547585">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smtClean="0">
                          <a:ln>
                            <a:noFill/>
                          </a:ln>
                          <a:solidFill>
                            <a:schemeClr val="tx1"/>
                          </a:solidFill>
                          <a:effectLst/>
                          <a:latin typeface="Arial" charset="0"/>
                        </a:rPr>
                        <a:t>7 years</a:t>
                      </a:r>
                    </a:p>
                  </a:txBody>
                  <a:tcPr marL="92075" marR="92075" marT="46029" marB="46029"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2400" b="0" i="0" u="none" strike="noStrike" cap="none" normalizeH="0" baseline="0" dirty="0" smtClean="0">
                          <a:ln>
                            <a:noFill/>
                          </a:ln>
                          <a:solidFill>
                            <a:schemeClr val="tx1"/>
                          </a:solidFill>
                          <a:effectLst/>
                          <a:latin typeface="Arial" charset="0"/>
                        </a:rPr>
                        <a:t>3.40</a:t>
                      </a:r>
                      <a:endParaRPr kumimoji="0" lang="en-US" sz="2400" b="0" i="0" u="none" strike="noStrike" cap="none" normalizeH="0" baseline="0" dirty="0" smtClean="0">
                        <a:ln>
                          <a:noFill/>
                        </a:ln>
                        <a:solidFill>
                          <a:schemeClr val="tx1"/>
                        </a:solidFill>
                        <a:effectLst/>
                        <a:latin typeface="Arial" charset="0"/>
                      </a:endParaRPr>
                    </a:p>
                  </a:txBody>
                  <a:tcPr marL="92075" marR="92075" marT="46029" marB="46029"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2400" b="0" i="0" u="none" strike="noStrike" cap="none" normalizeH="0" baseline="0" dirty="0" smtClean="0">
                          <a:ln>
                            <a:noFill/>
                          </a:ln>
                          <a:solidFill>
                            <a:schemeClr val="tx1"/>
                          </a:solidFill>
                          <a:effectLst/>
                          <a:latin typeface="Arial" charset="0"/>
                        </a:rPr>
                        <a:t>3.44</a:t>
                      </a:r>
                      <a:endParaRPr kumimoji="0" lang="en-US" sz="2400" b="0" i="0" u="none" strike="noStrike" cap="none" normalizeH="0" baseline="0" dirty="0" smtClean="0">
                        <a:ln>
                          <a:noFill/>
                        </a:ln>
                        <a:solidFill>
                          <a:schemeClr val="tx1"/>
                        </a:solidFill>
                        <a:effectLst/>
                        <a:latin typeface="Arial" charset="0"/>
                      </a:endParaRPr>
                    </a:p>
                  </a:txBody>
                  <a:tcPr marL="92075" marR="92075" marT="46029" marB="46029"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dirty="0" smtClean="0">
                          <a:ln>
                            <a:noFill/>
                          </a:ln>
                          <a:solidFill>
                            <a:schemeClr val="tx1"/>
                          </a:solidFill>
                          <a:effectLst/>
                          <a:latin typeface="Arial" charset="0"/>
                        </a:rPr>
                        <a:t>3.420</a:t>
                      </a:r>
                    </a:p>
                  </a:txBody>
                  <a:tcPr marL="92075" marR="92075" marT="46029" marB="46029"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5"/>
                  </a:ext>
                </a:extLst>
              </a:tr>
              <a:tr h="550759">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smtClean="0">
                          <a:ln>
                            <a:noFill/>
                          </a:ln>
                          <a:solidFill>
                            <a:schemeClr val="tx1"/>
                          </a:solidFill>
                          <a:effectLst/>
                          <a:latin typeface="Arial" charset="0"/>
                        </a:rPr>
                        <a:t>10 years</a:t>
                      </a:r>
                    </a:p>
                  </a:txBody>
                  <a:tcPr marL="92075" marR="92075" marT="46029" marB="46029"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2400" b="0" i="0" u="none" strike="noStrike" cap="none" normalizeH="0" baseline="0" dirty="0" smtClean="0">
                          <a:ln>
                            <a:noFill/>
                          </a:ln>
                          <a:solidFill>
                            <a:schemeClr val="tx1"/>
                          </a:solidFill>
                          <a:effectLst/>
                          <a:latin typeface="Arial" charset="0"/>
                        </a:rPr>
                        <a:t>3.48</a:t>
                      </a:r>
                      <a:endParaRPr kumimoji="0" lang="en-US" sz="2400" b="0" i="0" u="none" strike="noStrike" cap="none" normalizeH="0" baseline="0" dirty="0" smtClean="0">
                        <a:ln>
                          <a:noFill/>
                        </a:ln>
                        <a:solidFill>
                          <a:schemeClr val="tx1"/>
                        </a:solidFill>
                        <a:effectLst/>
                        <a:latin typeface="Arial" charset="0"/>
                      </a:endParaRPr>
                    </a:p>
                  </a:txBody>
                  <a:tcPr marL="92075" marR="92075" marT="46029" marB="46029"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2400" b="0" i="0" u="none" strike="noStrike" cap="none" normalizeH="0" baseline="0" dirty="0" smtClean="0">
                          <a:ln>
                            <a:noFill/>
                          </a:ln>
                          <a:solidFill>
                            <a:schemeClr val="tx1"/>
                          </a:solidFill>
                          <a:effectLst/>
                          <a:latin typeface="Arial" charset="0"/>
                        </a:rPr>
                        <a:t>3.52</a:t>
                      </a:r>
                      <a:endParaRPr kumimoji="0" lang="en-US" sz="2400" b="0" i="0" u="none" strike="noStrike" cap="none" normalizeH="0" baseline="0" dirty="0" smtClean="0">
                        <a:ln>
                          <a:noFill/>
                        </a:ln>
                        <a:solidFill>
                          <a:schemeClr val="tx1"/>
                        </a:solidFill>
                        <a:effectLst/>
                        <a:latin typeface="Arial" charset="0"/>
                      </a:endParaRPr>
                    </a:p>
                  </a:txBody>
                  <a:tcPr marL="92075" marR="92075" marT="46029" marB="46029"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dirty="0" smtClean="0">
                          <a:ln>
                            <a:noFill/>
                          </a:ln>
                          <a:solidFill>
                            <a:schemeClr val="tx1"/>
                          </a:solidFill>
                          <a:effectLst/>
                          <a:latin typeface="Arial" charset="0"/>
                        </a:rPr>
                        <a:t>3.500</a:t>
                      </a:r>
                    </a:p>
                  </a:txBody>
                  <a:tcPr marL="92075" marR="92075" marT="46029" marB="46029"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6"/>
                  </a:ext>
                </a:extLst>
              </a:tr>
            </a:tbl>
          </a:graphicData>
        </a:graphic>
      </p:graphicFrame>
      <p:sp>
        <p:nvSpPr>
          <p:cNvPr id="3277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smtClean="0"/>
              <a:t>Options, Futures, and Other Derivatives, 11th Edition, Copyright © John C. Hull 2021</a:t>
            </a:r>
            <a:endParaRPr lang="en-US" altLang="en-US" sz="1400" i="0"/>
          </a:p>
        </p:txBody>
      </p:sp>
      <p:sp>
        <p:nvSpPr>
          <p:cNvPr id="3281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F8605E63-EBB4-4A5A-A2C3-B7BAD4F1763B}" type="slidenum">
              <a:rPr lang="en-US" altLang="en-US" sz="1800"/>
              <a:pPr>
                <a:spcBef>
                  <a:spcPct val="0"/>
                </a:spcBef>
                <a:buClrTx/>
                <a:buSzTx/>
                <a:buFontTx/>
                <a:buNone/>
              </a:pPr>
              <a:t>15</a:t>
            </a:fld>
            <a:endParaRPr lang="en-US" altLang="en-US" sz="180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lstStyle/>
          <a:p>
            <a:pPr eaLnBrk="1" hangingPunct="1"/>
            <a:r>
              <a:rPr lang="en-CA" altLang="en-US" smtClean="0"/>
              <a:t>Day Count</a:t>
            </a:r>
            <a:endParaRPr lang="en-US" altLang="en-US" smtClean="0"/>
          </a:p>
        </p:txBody>
      </p:sp>
      <p:sp>
        <p:nvSpPr>
          <p:cNvPr id="34819" name="Content Placeholder 2"/>
          <p:cNvSpPr>
            <a:spLocks noGrp="1"/>
          </p:cNvSpPr>
          <p:nvPr>
            <p:ph idx="1"/>
          </p:nvPr>
        </p:nvSpPr>
        <p:spPr/>
        <p:txBody>
          <a:bodyPr/>
          <a:lstStyle/>
          <a:p>
            <a:pPr eaLnBrk="1" hangingPunct="1"/>
            <a:r>
              <a:rPr lang="en-CA" altLang="en-US" dirty="0" smtClean="0">
                <a:cs typeface="Arial" panose="020B0604020202020204" pitchFamily="34" charset="0"/>
              </a:rPr>
              <a:t>A day count convention is specified for fixed and floating payments</a:t>
            </a:r>
          </a:p>
          <a:p>
            <a:pPr eaLnBrk="1" hangingPunct="1"/>
            <a:r>
              <a:rPr lang="en-CA" altLang="en-US" dirty="0" smtClean="0">
                <a:cs typeface="Arial" panose="020B0604020202020204" pitchFamily="34" charset="0"/>
              </a:rPr>
              <a:t>For example, SOFR is likely to be actual/360 in the U.S. </a:t>
            </a:r>
          </a:p>
          <a:p>
            <a:pPr eaLnBrk="1" hangingPunct="1"/>
            <a:r>
              <a:rPr lang="en-US" altLang="en-US" dirty="0" smtClean="0"/>
              <a:t>The fixed rate might be quoted with actual/365 or 30/360</a:t>
            </a:r>
            <a:endParaRPr lang="en-US" altLang="en-US" dirty="0" smtClean="0">
              <a:cs typeface="Arial" panose="020B0604020202020204" pitchFamily="34" charset="0"/>
            </a:endParaRPr>
          </a:p>
        </p:txBody>
      </p:sp>
      <p:sp>
        <p:nvSpPr>
          <p:cNvPr id="34820"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smtClean="0"/>
              <a:t>Options, Futures, and Other Derivatives, 11th Edition, Copyright © John C. Hull 2021</a:t>
            </a:r>
            <a:endParaRPr lang="en-US" altLang="en-US" sz="1400"/>
          </a:p>
        </p:txBody>
      </p:sp>
      <p:sp>
        <p:nvSpPr>
          <p:cNvPr id="34821"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F232BD9A-EA1F-4961-A51D-61526CF6502A}" type="slidenum">
              <a:rPr lang="en-US" altLang="en-US" sz="1800"/>
              <a:pPr>
                <a:spcBef>
                  <a:spcPct val="0"/>
                </a:spcBef>
                <a:buClrTx/>
                <a:buSzTx/>
                <a:buFontTx/>
                <a:buNone/>
              </a:pPr>
              <a:t>16</a:t>
            </a:fld>
            <a:endParaRPr lang="en-US" altLang="en-US" sz="180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a:xfrm>
            <a:off x="342900" y="1028517"/>
            <a:ext cx="7543800" cy="1295400"/>
          </a:xfrm>
        </p:spPr>
        <p:txBody>
          <a:bodyPr/>
          <a:lstStyle/>
          <a:p>
            <a:pPr eaLnBrk="1" hangingPunct="1"/>
            <a:r>
              <a:rPr lang="en-CA" altLang="en-US" dirty="0" smtClean="0"/>
              <a:t>Confirmations</a:t>
            </a:r>
            <a:endParaRPr lang="en-US" altLang="en-US" dirty="0" smtClean="0"/>
          </a:p>
        </p:txBody>
      </p:sp>
      <p:sp>
        <p:nvSpPr>
          <p:cNvPr id="36867" name="Content Placeholder 2"/>
          <p:cNvSpPr>
            <a:spLocks noGrp="1"/>
          </p:cNvSpPr>
          <p:nvPr>
            <p:ph idx="1"/>
          </p:nvPr>
        </p:nvSpPr>
        <p:spPr>
          <a:xfrm>
            <a:off x="395536" y="2450038"/>
            <a:ext cx="8229600" cy="4411663"/>
          </a:xfrm>
        </p:spPr>
        <p:txBody>
          <a:bodyPr/>
          <a:lstStyle/>
          <a:p>
            <a:pPr eaLnBrk="1" hangingPunct="1"/>
            <a:r>
              <a:rPr lang="en-CA" altLang="en-US" dirty="0" smtClean="0">
                <a:cs typeface="Arial" panose="020B0604020202020204" pitchFamily="34" charset="0"/>
              </a:rPr>
              <a:t>Confirmations specify the terms of a transaction</a:t>
            </a:r>
          </a:p>
          <a:p>
            <a:pPr eaLnBrk="1" hangingPunct="1"/>
            <a:r>
              <a:rPr lang="en-CA" altLang="en-US" dirty="0" smtClean="0">
                <a:cs typeface="Arial" panose="020B0604020202020204" pitchFamily="34" charset="0"/>
              </a:rPr>
              <a:t>The International Swaps and Derivatives has developed Master Agreements that can be used to cover all agreements between two counterparties</a:t>
            </a:r>
          </a:p>
          <a:p>
            <a:pPr eaLnBrk="1" hangingPunct="1"/>
            <a:r>
              <a:rPr lang="en-CA" altLang="en-US" dirty="0" smtClean="0">
                <a:cs typeface="Arial" panose="020B0604020202020204" pitchFamily="34" charset="0"/>
              </a:rPr>
              <a:t>CCPs are used for standard swaps between two financial institutions</a:t>
            </a:r>
            <a:endParaRPr lang="en-US" altLang="en-US" dirty="0" smtClean="0">
              <a:cs typeface="Arial" panose="020B0604020202020204" pitchFamily="34" charset="0"/>
            </a:endParaRPr>
          </a:p>
        </p:txBody>
      </p:sp>
      <p:sp>
        <p:nvSpPr>
          <p:cNvPr id="36868"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smtClean="0"/>
              <a:t>Options, Futures, and Other Derivatives, 11th Edition, Copyright © John C. Hull 2021</a:t>
            </a:r>
            <a:endParaRPr lang="en-US" altLang="en-US" sz="1400"/>
          </a:p>
        </p:txBody>
      </p:sp>
      <p:sp>
        <p:nvSpPr>
          <p:cNvPr id="36869"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0AE5D90A-16E7-45B6-AA92-06B435EFCC25}" type="slidenum">
              <a:rPr lang="en-US" altLang="en-US" sz="1800"/>
              <a:pPr>
                <a:spcBef>
                  <a:spcPct val="0"/>
                </a:spcBef>
                <a:buClrTx/>
                <a:buSzTx/>
                <a:buFontTx/>
                <a:buNone/>
              </a:pPr>
              <a:t>17</a:t>
            </a:fld>
            <a:endParaRPr lang="en-US" altLang="en-US" sz="180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2"/>
          <p:cNvSpPr>
            <a:spLocks noGrp="1" noChangeArrowheads="1"/>
          </p:cNvSpPr>
          <p:nvPr>
            <p:ph type="title"/>
          </p:nvPr>
        </p:nvSpPr>
        <p:spPr>
          <a:noFill/>
        </p:spPr>
        <p:txBody>
          <a:bodyPr lIns="92075" tIns="46038" rIns="92075" bIns="46038" anchor="ctr"/>
          <a:lstStyle/>
          <a:p>
            <a:pPr eaLnBrk="1" hangingPunct="1"/>
            <a:r>
              <a:rPr lang="en-US" altLang="en-US" sz="3500" dirty="0" smtClean="0"/>
              <a:t>The Comparative Advantage Argument </a:t>
            </a:r>
            <a:r>
              <a:rPr lang="en-US" altLang="en-US" sz="2200" dirty="0" smtClean="0"/>
              <a:t>(Table 7.5)</a:t>
            </a:r>
            <a:endParaRPr lang="en-US" altLang="en-US" sz="3500" dirty="0" smtClean="0"/>
          </a:p>
        </p:txBody>
      </p:sp>
      <p:sp>
        <p:nvSpPr>
          <p:cNvPr id="38916" name="Rectangle 3"/>
          <p:cNvSpPr>
            <a:spLocks noGrp="1" noChangeArrowheads="1"/>
          </p:cNvSpPr>
          <p:nvPr>
            <p:ph idx="1"/>
          </p:nvPr>
        </p:nvSpPr>
        <p:spPr>
          <a:xfrm>
            <a:off x="971550" y="1719263"/>
            <a:ext cx="6438900" cy="1484312"/>
          </a:xfrm>
          <a:noFill/>
        </p:spPr>
        <p:txBody>
          <a:bodyPr lIns="92075" tIns="46038" rIns="92075" bIns="46038"/>
          <a:lstStyle/>
          <a:p>
            <a:pPr eaLnBrk="1" hangingPunct="1">
              <a:lnSpc>
                <a:spcPct val="90000"/>
              </a:lnSpc>
              <a:buFont typeface="Wingdings" panose="05000000000000000000" pitchFamily="2" charset="2"/>
              <a:buNone/>
            </a:pPr>
            <a:endParaRPr lang="en-US" altLang="en-US" sz="2800" dirty="0" smtClean="0"/>
          </a:p>
          <a:p>
            <a:pPr eaLnBrk="1" hangingPunct="1">
              <a:lnSpc>
                <a:spcPct val="90000"/>
              </a:lnSpc>
            </a:pPr>
            <a:r>
              <a:rPr lang="en-US" altLang="en-US" sz="2800" dirty="0" err="1" smtClean="0"/>
              <a:t>AAACorp</a:t>
            </a:r>
            <a:r>
              <a:rPr lang="en-US" altLang="en-US" sz="2800" dirty="0" smtClean="0"/>
              <a:t> wants to borrow floating</a:t>
            </a:r>
          </a:p>
          <a:p>
            <a:pPr eaLnBrk="1" hangingPunct="1">
              <a:lnSpc>
                <a:spcPct val="90000"/>
              </a:lnSpc>
            </a:pPr>
            <a:r>
              <a:rPr lang="en-US" altLang="en-US" sz="2800" dirty="0" err="1" smtClean="0"/>
              <a:t>BBBCorp</a:t>
            </a:r>
            <a:r>
              <a:rPr lang="en-US" altLang="en-US" sz="2800" dirty="0" smtClean="0"/>
              <a:t> wants to borrow fixed</a:t>
            </a:r>
          </a:p>
        </p:txBody>
      </p:sp>
      <p:sp>
        <p:nvSpPr>
          <p:cNvPr id="38914"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smtClean="0"/>
              <a:t>Options, Futures, and Other Derivatives, 11th Edition, Copyright © John C. Hull 2021</a:t>
            </a:r>
            <a:endParaRPr lang="en-US" altLang="en-US" sz="1400" i="0"/>
          </a:p>
        </p:txBody>
      </p:sp>
      <p:sp>
        <p:nvSpPr>
          <p:cNvPr id="38918" name="Slide Number Placeholder 21"/>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9443C489-6994-4F40-9EFA-4090F1C286BA}" type="slidenum">
              <a:rPr lang="en-US" altLang="en-US" sz="1800"/>
              <a:pPr>
                <a:spcBef>
                  <a:spcPct val="0"/>
                </a:spcBef>
                <a:buClrTx/>
                <a:buSzTx/>
                <a:buFontTx/>
                <a:buNone/>
              </a:pPr>
              <a:t>18</a:t>
            </a:fld>
            <a:endParaRPr lang="en-US" altLang="en-US" sz="1800"/>
          </a:p>
        </p:txBody>
      </p:sp>
      <p:grpSp>
        <p:nvGrpSpPr>
          <p:cNvPr id="38917" name="Group 19"/>
          <p:cNvGrpSpPr>
            <a:grpSpLocks/>
          </p:cNvGrpSpPr>
          <p:nvPr/>
        </p:nvGrpSpPr>
        <p:grpSpPr bwMode="auto">
          <a:xfrm>
            <a:off x="1042988" y="3459163"/>
            <a:ext cx="5915025" cy="2076450"/>
            <a:chOff x="1059" y="2524"/>
            <a:chExt cx="3726" cy="1298"/>
          </a:xfrm>
        </p:grpSpPr>
        <p:sp>
          <p:nvSpPr>
            <p:cNvPr id="38919" name="Line 4"/>
            <p:cNvSpPr>
              <a:spLocks noChangeShapeType="1"/>
            </p:cNvSpPr>
            <p:nvPr/>
          </p:nvSpPr>
          <p:spPr bwMode="auto">
            <a:xfrm>
              <a:off x="1153" y="2777"/>
              <a:ext cx="3632"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38920" name="Rectangle 5"/>
            <p:cNvSpPr>
              <a:spLocks noChangeArrowheads="1"/>
            </p:cNvSpPr>
            <p:nvPr/>
          </p:nvSpPr>
          <p:spPr bwMode="auto">
            <a:xfrm>
              <a:off x="1153" y="2777"/>
              <a:ext cx="3626" cy="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38921" name="Line 6"/>
            <p:cNvSpPr>
              <a:spLocks noChangeShapeType="1"/>
            </p:cNvSpPr>
            <p:nvPr/>
          </p:nvSpPr>
          <p:spPr bwMode="auto">
            <a:xfrm>
              <a:off x="1153" y="3192"/>
              <a:ext cx="3632"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38922" name="Rectangle 7"/>
            <p:cNvSpPr>
              <a:spLocks noChangeArrowheads="1"/>
            </p:cNvSpPr>
            <p:nvPr/>
          </p:nvSpPr>
          <p:spPr bwMode="auto">
            <a:xfrm>
              <a:off x="1153" y="3192"/>
              <a:ext cx="3626" cy="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38923" name="Line 8"/>
            <p:cNvSpPr>
              <a:spLocks noChangeShapeType="1"/>
            </p:cNvSpPr>
            <p:nvPr/>
          </p:nvSpPr>
          <p:spPr bwMode="auto">
            <a:xfrm>
              <a:off x="1153" y="3794"/>
              <a:ext cx="3632"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38924" name="Rectangle 9"/>
            <p:cNvSpPr>
              <a:spLocks noChangeArrowheads="1"/>
            </p:cNvSpPr>
            <p:nvPr/>
          </p:nvSpPr>
          <p:spPr bwMode="auto">
            <a:xfrm>
              <a:off x="1153" y="3794"/>
              <a:ext cx="3626" cy="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38925" name="Rectangle 10"/>
            <p:cNvSpPr>
              <a:spLocks noChangeArrowheads="1"/>
            </p:cNvSpPr>
            <p:nvPr/>
          </p:nvSpPr>
          <p:spPr bwMode="auto">
            <a:xfrm>
              <a:off x="1059" y="2524"/>
              <a:ext cx="27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38926" name="Rectangle 11"/>
            <p:cNvSpPr>
              <a:spLocks noChangeArrowheads="1"/>
            </p:cNvSpPr>
            <p:nvPr/>
          </p:nvSpPr>
          <p:spPr bwMode="auto">
            <a:xfrm>
              <a:off x="2123" y="2893"/>
              <a:ext cx="552"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000" i="1">
                  <a:solidFill>
                    <a:srgbClr val="000000"/>
                  </a:solidFill>
                </a:rPr>
                <a:t>Fixed </a:t>
              </a:r>
            </a:p>
          </p:txBody>
        </p:sp>
        <p:sp>
          <p:nvSpPr>
            <p:cNvPr id="38927" name="Rectangle 12"/>
            <p:cNvSpPr>
              <a:spLocks noChangeArrowheads="1"/>
            </p:cNvSpPr>
            <p:nvPr/>
          </p:nvSpPr>
          <p:spPr bwMode="auto">
            <a:xfrm>
              <a:off x="3392" y="2893"/>
              <a:ext cx="730"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000" i="1">
                  <a:solidFill>
                    <a:srgbClr val="000000"/>
                  </a:solidFill>
                </a:rPr>
                <a:t>Floating </a:t>
              </a:r>
            </a:p>
          </p:txBody>
        </p:sp>
        <p:sp>
          <p:nvSpPr>
            <p:cNvPr id="38928" name="Rectangle 13"/>
            <p:cNvSpPr>
              <a:spLocks noChangeArrowheads="1"/>
            </p:cNvSpPr>
            <p:nvPr/>
          </p:nvSpPr>
          <p:spPr bwMode="auto">
            <a:xfrm>
              <a:off x="1147" y="3269"/>
              <a:ext cx="784"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000">
                  <a:solidFill>
                    <a:srgbClr val="000000"/>
                  </a:solidFill>
                </a:rPr>
                <a:t>AAACorp</a:t>
              </a:r>
            </a:p>
          </p:txBody>
        </p:sp>
        <p:sp>
          <p:nvSpPr>
            <p:cNvPr id="38929" name="Rectangle 14"/>
            <p:cNvSpPr>
              <a:spLocks noChangeArrowheads="1"/>
            </p:cNvSpPr>
            <p:nvPr/>
          </p:nvSpPr>
          <p:spPr bwMode="auto">
            <a:xfrm>
              <a:off x="2114" y="3269"/>
              <a:ext cx="569"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000">
                  <a:solidFill>
                    <a:srgbClr val="000000"/>
                  </a:solidFill>
                </a:rPr>
                <a:t>4.00%</a:t>
              </a:r>
            </a:p>
          </p:txBody>
        </p:sp>
        <p:sp>
          <p:nvSpPr>
            <p:cNvPr id="38930" name="Rectangle 15"/>
            <p:cNvSpPr>
              <a:spLocks noChangeArrowheads="1"/>
            </p:cNvSpPr>
            <p:nvPr/>
          </p:nvSpPr>
          <p:spPr bwMode="auto">
            <a:xfrm>
              <a:off x="2840" y="3269"/>
              <a:ext cx="1475"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000" dirty="0" smtClean="0">
                  <a:solidFill>
                    <a:srgbClr val="000000"/>
                  </a:solidFill>
                </a:rPr>
                <a:t>Floating ref − </a:t>
              </a:r>
              <a:r>
                <a:rPr lang="en-US" altLang="en-US" sz="2000" dirty="0">
                  <a:solidFill>
                    <a:srgbClr val="000000"/>
                  </a:solidFill>
                </a:rPr>
                <a:t>0.1%</a:t>
              </a:r>
            </a:p>
          </p:txBody>
        </p:sp>
        <p:sp>
          <p:nvSpPr>
            <p:cNvPr id="38931" name="Rectangle 16"/>
            <p:cNvSpPr>
              <a:spLocks noChangeArrowheads="1"/>
            </p:cNvSpPr>
            <p:nvPr/>
          </p:nvSpPr>
          <p:spPr bwMode="auto">
            <a:xfrm>
              <a:off x="1149" y="3571"/>
              <a:ext cx="784"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000">
                  <a:solidFill>
                    <a:srgbClr val="000000"/>
                  </a:solidFill>
                </a:rPr>
                <a:t>BBBCorp</a:t>
              </a:r>
            </a:p>
          </p:txBody>
        </p:sp>
        <p:sp>
          <p:nvSpPr>
            <p:cNvPr id="38932" name="Rectangle 17"/>
            <p:cNvSpPr>
              <a:spLocks noChangeArrowheads="1"/>
            </p:cNvSpPr>
            <p:nvPr/>
          </p:nvSpPr>
          <p:spPr bwMode="auto">
            <a:xfrm>
              <a:off x="2114" y="3571"/>
              <a:ext cx="569"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000">
                  <a:solidFill>
                    <a:srgbClr val="000000"/>
                  </a:solidFill>
                </a:rPr>
                <a:t>5.20%</a:t>
              </a:r>
            </a:p>
          </p:txBody>
        </p:sp>
        <p:sp>
          <p:nvSpPr>
            <p:cNvPr id="38933" name="Rectangle 18"/>
            <p:cNvSpPr>
              <a:spLocks noChangeArrowheads="1"/>
            </p:cNvSpPr>
            <p:nvPr/>
          </p:nvSpPr>
          <p:spPr bwMode="auto">
            <a:xfrm>
              <a:off x="2840" y="3571"/>
              <a:ext cx="1475"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000" dirty="0" smtClean="0">
                  <a:solidFill>
                    <a:srgbClr val="000000"/>
                  </a:solidFill>
                </a:rPr>
                <a:t>Floating ref + </a:t>
              </a:r>
              <a:r>
                <a:rPr lang="en-US" altLang="en-US" sz="2000" dirty="0">
                  <a:solidFill>
                    <a:srgbClr val="000000"/>
                  </a:solidFill>
                </a:rPr>
                <a:t>0.6%</a:t>
              </a:r>
            </a:p>
          </p:txBody>
        </p:sp>
      </p:grpSp>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2"/>
          <p:cNvSpPr>
            <a:spLocks noGrp="1" noChangeArrowheads="1"/>
          </p:cNvSpPr>
          <p:nvPr>
            <p:ph type="title"/>
          </p:nvPr>
        </p:nvSpPr>
        <p:spPr>
          <a:xfrm>
            <a:off x="568428" y="1676747"/>
            <a:ext cx="7772400" cy="1143000"/>
          </a:xfrm>
          <a:noFill/>
        </p:spPr>
        <p:txBody>
          <a:bodyPr lIns="92075" tIns="46038" rIns="92075" bIns="46038" anchor="ctr"/>
          <a:lstStyle/>
          <a:p>
            <a:pPr eaLnBrk="1" hangingPunct="1"/>
            <a:r>
              <a:rPr lang="en-US" altLang="en-US" dirty="0" smtClean="0"/>
              <a:t>A Swap where Companies Trade Directly with Each Other </a:t>
            </a:r>
            <a:r>
              <a:rPr lang="en-US" altLang="en-US" sz="2200" dirty="0" smtClean="0"/>
              <a:t>(Figure 7.7)</a:t>
            </a:r>
            <a:endParaRPr lang="en-US" altLang="en-US" dirty="0" smtClean="0"/>
          </a:p>
        </p:txBody>
      </p:sp>
      <p:sp>
        <p:nvSpPr>
          <p:cNvPr id="40964" name="Rectangle 3"/>
          <p:cNvSpPr>
            <a:spLocks noGrp="1" noChangeArrowheads="1"/>
          </p:cNvSpPr>
          <p:nvPr>
            <p:ph idx="1"/>
          </p:nvPr>
        </p:nvSpPr>
        <p:spPr>
          <a:xfrm>
            <a:off x="52388" y="1812925"/>
            <a:ext cx="7969250" cy="4411663"/>
          </a:xfrm>
          <a:noFill/>
        </p:spPr>
        <p:txBody>
          <a:bodyPr lIns="92075" tIns="46038" rIns="92075" bIns="46038"/>
          <a:lstStyle/>
          <a:p>
            <a:pPr eaLnBrk="1" hangingPunct="1">
              <a:buFont typeface="Wingdings" panose="05000000000000000000" pitchFamily="2" charset="2"/>
              <a:buNone/>
            </a:pPr>
            <a:r>
              <a:rPr lang="en-US" altLang="en-US" dirty="0" smtClean="0"/>
              <a:t> </a:t>
            </a:r>
          </a:p>
        </p:txBody>
      </p:sp>
      <p:sp>
        <p:nvSpPr>
          <p:cNvPr id="40962"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smtClean="0"/>
              <a:t>Options, Futures, and Other Derivatives, 11th Edition, Copyright © John C. Hull 2021</a:t>
            </a:r>
            <a:endParaRPr lang="en-US" altLang="en-US" sz="1400" i="0"/>
          </a:p>
        </p:txBody>
      </p:sp>
      <p:sp>
        <p:nvSpPr>
          <p:cNvPr id="40965" name="Slide Number Placeholder 1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D9E33BCD-4197-4C32-B42F-5DFD1F7910BB}" type="slidenum">
              <a:rPr lang="en-US" altLang="en-US" sz="1800"/>
              <a:pPr>
                <a:spcBef>
                  <a:spcPct val="0"/>
                </a:spcBef>
                <a:buClrTx/>
                <a:buSzTx/>
                <a:buFontTx/>
                <a:buNone/>
              </a:pPr>
              <a:t>19</a:t>
            </a:fld>
            <a:endParaRPr lang="en-US" altLang="en-US" sz="1800"/>
          </a:p>
        </p:txBody>
      </p:sp>
      <p:grpSp>
        <p:nvGrpSpPr>
          <p:cNvPr id="40966" name="Group 7"/>
          <p:cNvGrpSpPr>
            <a:grpSpLocks/>
          </p:cNvGrpSpPr>
          <p:nvPr/>
        </p:nvGrpSpPr>
        <p:grpSpPr bwMode="auto">
          <a:xfrm>
            <a:off x="539552" y="3717032"/>
            <a:ext cx="8407400" cy="1330441"/>
            <a:chOff x="457200" y="2852936"/>
            <a:chExt cx="8407896" cy="1330772"/>
          </a:xfrm>
        </p:grpSpPr>
        <p:sp>
          <p:nvSpPr>
            <p:cNvPr id="26" name="Rectangle 25"/>
            <p:cNvSpPr/>
            <p:nvPr/>
          </p:nvSpPr>
          <p:spPr>
            <a:xfrm>
              <a:off x="1547877" y="3010137"/>
              <a:ext cx="1814619" cy="1070241"/>
            </a:xfrm>
            <a:prstGeom prst="rect">
              <a:avLst/>
            </a:prstGeom>
            <a:ln/>
          </p:spPr>
          <p:style>
            <a:lnRef idx="2">
              <a:schemeClr val="dk1"/>
            </a:lnRef>
            <a:fillRef idx="1">
              <a:schemeClr val="lt1"/>
            </a:fillRef>
            <a:effectRef idx="0">
              <a:schemeClr val="dk1"/>
            </a:effectRef>
            <a:fontRef idx="minor">
              <a:schemeClr val="dk1"/>
            </a:fontRef>
          </p:style>
          <p:txBody>
            <a:bodyPr anchor="ctr"/>
            <a:lstStyle/>
            <a:p>
              <a:pPr algn="ctr" eaLnBrk="1" hangingPunct="1">
                <a:defRPr/>
              </a:pPr>
              <a:r>
                <a:rPr lang="en-US" sz="2800" dirty="0" err="1">
                  <a:latin typeface="Times New Roman" panose="02020603050405020304" pitchFamily="18" charset="0"/>
                  <a:cs typeface="Times New Roman" panose="02020603050405020304" pitchFamily="18" charset="0"/>
                </a:rPr>
                <a:t>AAACorp</a:t>
              </a:r>
              <a:endParaRPr lang="en-CA" sz="2800" dirty="0">
                <a:latin typeface="Times New Roman" panose="02020603050405020304" pitchFamily="18" charset="0"/>
                <a:cs typeface="Times New Roman" panose="02020603050405020304" pitchFamily="18" charset="0"/>
              </a:endParaRPr>
            </a:p>
          </p:txBody>
        </p:sp>
        <p:sp>
          <p:nvSpPr>
            <p:cNvPr id="27" name="Rectangle 26"/>
            <p:cNvSpPr/>
            <p:nvPr/>
          </p:nvSpPr>
          <p:spPr>
            <a:xfrm>
              <a:off x="5007243" y="2962500"/>
              <a:ext cx="1625696" cy="1071830"/>
            </a:xfrm>
            <a:prstGeom prst="rect">
              <a:avLst/>
            </a:prstGeom>
            <a:ln/>
          </p:spPr>
          <p:style>
            <a:lnRef idx="2">
              <a:schemeClr val="dk1"/>
            </a:lnRef>
            <a:fillRef idx="1">
              <a:schemeClr val="lt1"/>
            </a:fillRef>
            <a:effectRef idx="0">
              <a:schemeClr val="dk1"/>
            </a:effectRef>
            <a:fontRef idx="minor">
              <a:schemeClr val="dk1"/>
            </a:fontRef>
          </p:style>
          <p:txBody>
            <a:bodyPr anchor="ctr"/>
            <a:lstStyle/>
            <a:p>
              <a:pPr algn="ctr" eaLnBrk="1" hangingPunct="1">
                <a:defRPr/>
              </a:pPr>
              <a:r>
                <a:rPr lang="en-US" sz="2800" dirty="0" err="1">
                  <a:latin typeface="Times New Roman" panose="02020603050405020304" pitchFamily="18" charset="0"/>
                  <a:cs typeface="Times New Roman" panose="02020603050405020304" pitchFamily="18" charset="0"/>
                </a:rPr>
                <a:t>BBBCorp</a:t>
              </a:r>
              <a:endParaRPr lang="en-CA" sz="2800" dirty="0">
                <a:latin typeface="Times New Roman" panose="02020603050405020304" pitchFamily="18" charset="0"/>
                <a:cs typeface="Times New Roman" panose="02020603050405020304" pitchFamily="18" charset="0"/>
              </a:endParaRPr>
            </a:p>
          </p:txBody>
        </p:sp>
        <p:cxnSp>
          <p:nvCxnSpPr>
            <p:cNvPr id="28" name="Straight Arrow Connector 27"/>
            <p:cNvCxnSpPr/>
            <p:nvPr/>
          </p:nvCxnSpPr>
          <p:spPr>
            <a:xfrm flipH="1">
              <a:off x="3337095" y="3300722"/>
              <a:ext cx="1670149"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9" name="Straight Arrow Connector 28"/>
            <p:cNvCxnSpPr/>
            <p:nvPr/>
          </p:nvCxnSpPr>
          <p:spPr>
            <a:xfrm>
              <a:off x="3337095" y="3721514"/>
              <a:ext cx="1670149"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40971" name="TextBox 29"/>
            <p:cNvSpPr txBox="1">
              <a:spLocks noChangeArrowheads="1"/>
            </p:cNvSpPr>
            <p:nvPr/>
          </p:nvSpPr>
          <p:spPr bwMode="auto">
            <a:xfrm>
              <a:off x="3690172" y="2852936"/>
              <a:ext cx="1101088" cy="461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400">
                  <a:latin typeface="Times New Roman" panose="02020603050405020304" pitchFamily="18" charset="0"/>
                  <a:cs typeface="Times New Roman" panose="02020603050405020304" pitchFamily="18" charset="0"/>
                </a:rPr>
                <a:t>4.35%</a:t>
              </a:r>
              <a:endParaRPr lang="en-CA" altLang="en-US" sz="2400">
                <a:latin typeface="Times New Roman" panose="02020603050405020304" pitchFamily="18" charset="0"/>
                <a:cs typeface="Times New Roman" panose="02020603050405020304" pitchFamily="18" charset="0"/>
              </a:endParaRPr>
            </a:p>
          </p:txBody>
        </p:sp>
        <p:sp>
          <p:nvSpPr>
            <p:cNvPr id="40972" name="TextBox 30"/>
            <p:cNvSpPr txBox="1">
              <a:spLocks noChangeArrowheads="1"/>
            </p:cNvSpPr>
            <p:nvPr/>
          </p:nvSpPr>
          <p:spPr bwMode="auto">
            <a:xfrm>
              <a:off x="3578481" y="3721928"/>
              <a:ext cx="1251170" cy="461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400" dirty="0" smtClean="0">
                  <a:latin typeface="Times New Roman" panose="02020603050405020304" pitchFamily="18" charset="0"/>
                  <a:cs typeface="Times New Roman" panose="02020603050405020304" pitchFamily="18" charset="0"/>
                </a:rPr>
                <a:t>Floating</a:t>
              </a:r>
              <a:endParaRPr lang="en-CA" altLang="en-US" sz="2400" dirty="0">
                <a:latin typeface="Times New Roman" panose="02020603050405020304" pitchFamily="18" charset="0"/>
                <a:cs typeface="Times New Roman" panose="02020603050405020304" pitchFamily="18" charset="0"/>
              </a:endParaRPr>
            </a:p>
          </p:txBody>
        </p:sp>
        <p:cxnSp>
          <p:nvCxnSpPr>
            <p:cNvPr id="32" name="Straight Arrow Connector 31"/>
            <p:cNvCxnSpPr>
              <a:stCxn id="27" idx="3"/>
            </p:cNvCxnSpPr>
            <p:nvPr/>
          </p:nvCxnSpPr>
          <p:spPr>
            <a:xfrm flipV="1">
              <a:off x="6632939" y="3491270"/>
              <a:ext cx="1827321" cy="635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40974" name="TextBox 32"/>
            <p:cNvSpPr txBox="1">
              <a:spLocks noChangeArrowheads="1"/>
            </p:cNvSpPr>
            <p:nvPr/>
          </p:nvSpPr>
          <p:spPr bwMode="auto">
            <a:xfrm>
              <a:off x="6810538" y="3083769"/>
              <a:ext cx="2054558" cy="461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400" dirty="0" smtClean="0">
                  <a:latin typeface="Times New Roman" panose="02020603050405020304" pitchFamily="18" charset="0"/>
                  <a:cs typeface="Times New Roman" panose="02020603050405020304" pitchFamily="18" charset="0"/>
                </a:rPr>
                <a:t>Floating+0.6</a:t>
              </a:r>
              <a:r>
                <a:rPr lang="en-US" altLang="en-US" sz="2400" dirty="0">
                  <a:latin typeface="Times New Roman" panose="02020603050405020304" pitchFamily="18" charset="0"/>
                  <a:cs typeface="Times New Roman" panose="02020603050405020304" pitchFamily="18" charset="0"/>
                </a:rPr>
                <a:t>%</a:t>
              </a:r>
              <a:endParaRPr lang="en-CA" altLang="en-US" sz="2400" dirty="0">
                <a:latin typeface="Times New Roman" panose="02020603050405020304" pitchFamily="18" charset="0"/>
                <a:cs typeface="Times New Roman" panose="02020603050405020304" pitchFamily="18" charset="0"/>
              </a:endParaRPr>
            </a:p>
          </p:txBody>
        </p:sp>
        <p:cxnSp>
          <p:nvCxnSpPr>
            <p:cNvPr id="46" name="Straight Arrow Connector 45"/>
            <p:cNvCxnSpPr/>
            <p:nvPr/>
          </p:nvCxnSpPr>
          <p:spPr>
            <a:xfrm flipH="1">
              <a:off x="457200" y="3481742"/>
              <a:ext cx="1090677" cy="15879"/>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40976" name="TextBox 6"/>
            <p:cNvSpPr txBox="1">
              <a:spLocks noChangeArrowheads="1"/>
            </p:cNvSpPr>
            <p:nvPr/>
          </p:nvSpPr>
          <p:spPr bwMode="auto">
            <a:xfrm>
              <a:off x="457200" y="3083769"/>
              <a:ext cx="9127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2400"/>
                <a:t>4%</a:t>
              </a:r>
              <a:endParaRPr lang="en-US" altLang="en-US" sz="2400"/>
            </a:p>
          </p:txBody>
        </p:sp>
      </p:grpSp>
    </p:spTree>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p:cNvSpPr>
            <a:spLocks noGrp="1"/>
          </p:cNvSpPr>
          <p:nvPr>
            <p:ph type="title"/>
          </p:nvPr>
        </p:nvSpPr>
        <p:spPr>
          <a:xfrm>
            <a:off x="472924" y="1077428"/>
            <a:ext cx="7543800" cy="1295400"/>
          </a:xfrm>
        </p:spPr>
        <p:txBody>
          <a:bodyPr/>
          <a:lstStyle/>
          <a:p>
            <a:r>
              <a:rPr lang="en-US" altLang="en-US" dirty="0" smtClean="0"/>
              <a:t>The Swap when a Financial Institution (F.I.) is Involved </a:t>
            </a:r>
            <a:br>
              <a:rPr lang="en-US" altLang="en-US" dirty="0" smtClean="0"/>
            </a:br>
            <a:r>
              <a:rPr lang="en-US" altLang="en-US" sz="2200" dirty="0" smtClean="0"/>
              <a:t>(Figure 7.8)</a:t>
            </a:r>
            <a:endParaRPr lang="en-US" altLang="en-US" dirty="0" smtClean="0"/>
          </a:p>
        </p:txBody>
      </p:sp>
      <p:sp>
        <p:nvSpPr>
          <p:cNvPr id="43011" name="Footer Placeholder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mtClean="0"/>
              <a:t>Options, Futures, and Other Derivatives, 11th Edition, Copyright © John C. Hull 2021</a:t>
            </a:r>
            <a:endParaRPr lang="en-US" altLang="en-US" i="0"/>
          </a:p>
        </p:txBody>
      </p:sp>
      <p:sp>
        <p:nvSpPr>
          <p:cNvPr id="43012"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28453975-56AE-47BB-803D-6094A90E3BF4}" type="slidenum">
              <a:rPr lang="en-US" altLang="en-US"/>
              <a:pPr/>
              <a:t>20</a:t>
            </a:fld>
            <a:endParaRPr lang="en-US" altLang="en-US"/>
          </a:p>
        </p:txBody>
      </p:sp>
      <p:grpSp>
        <p:nvGrpSpPr>
          <p:cNvPr id="2" name="Group 1"/>
          <p:cNvGrpSpPr/>
          <p:nvPr/>
        </p:nvGrpSpPr>
        <p:grpSpPr>
          <a:xfrm>
            <a:off x="461429" y="3573016"/>
            <a:ext cx="8555038" cy="1304012"/>
            <a:chOff x="457200" y="2841625"/>
            <a:chExt cx="8555038" cy="1304012"/>
          </a:xfrm>
        </p:grpSpPr>
        <p:sp>
          <p:nvSpPr>
            <p:cNvPr id="6" name="Rectangle 5"/>
            <p:cNvSpPr/>
            <p:nvPr/>
          </p:nvSpPr>
          <p:spPr>
            <a:xfrm>
              <a:off x="1116013" y="2954338"/>
              <a:ext cx="1511300" cy="1071562"/>
            </a:xfrm>
            <a:prstGeom prst="rect">
              <a:avLst/>
            </a:prstGeom>
            <a:ln/>
          </p:spPr>
          <p:style>
            <a:lnRef idx="2">
              <a:schemeClr val="dk1"/>
            </a:lnRef>
            <a:fillRef idx="1">
              <a:schemeClr val="lt1"/>
            </a:fillRef>
            <a:effectRef idx="0">
              <a:schemeClr val="dk1"/>
            </a:effectRef>
            <a:fontRef idx="minor">
              <a:schemeClr val="dk1"/>
            </a:fontRef>
          </p:style>
          <p:txBody>
            <a:bodyPr anchor="ctr"/>
            <a:lstStyle/>
            <a:p>
              <a:pPr algn="ctr" eaLnBrk="1" hangingPunct="1">
                <a:defRPr/>
              </a:pPr>
              <a:r>
                <a:rPr lang="en-US" sz="2200" dirty="0" err="1">
                  <a:latin typeface="Times New Roman" panose="02020603050405020304" pitchFamily="18" charset="0"/>
                  <a:cs typeface="Times New Roman" panose="02020603050405020304" pitchFamily="18" charset="0"/>
                </a:rPr>
                <a:t>AAACorp</a:t>
              </a:r>
              <a:endParaRPr lang="en-CA" sz="2200" dirty="0">
                <a:latin typeface="Times New Roman" panose="02020603050405020304" pitchFamily="18" charset="0"/>
                <a:cs typeface="Times New Roman" panose="02020603050405020304" pitchFamily="18" charset="0"/>
              </a:endParaRPr>
            </a:p>
          </p:txBody>
        </p:sp>
        <p:sp>
          <p:nvSpPr>
            <p:cNvPr id="7" name="Rectangle 6"/>
            <p:cNvSpPr/>
            <p:nvPr/>
          </p:nvSpPr>
          <p:spPr>
            <a:xfrm>
              <a:off x="5580063" y="2962275"/>
              <a:ext cx="1512887" cy="1071563"/>
            </a:xfrm>
            <a:prstGeom prst="rect">
              <a:avLst/>
            </a:prstGeom>
            <a:ln/>
          </p:spPr>
          <p:style>
            <a:lnRef idx="2">
              <a:schemeClr val="dk1"/>
            </a:lnRef>
            <a:fillRef idx="1">
              <a:schemeClr val="lt1"/>
            </a:fillRef>
            <a:effectRef idx="0">
              <a:schemeClr val="dk1"/>
            </a:effectRef>
            <a:fontRef idx="minor">
              <a:schemeClr val="dk1"/>
            </a:fontRef>
          </p:style>
          <p:txBody>
            <a:bodyPr anchor="ctr"/>
            <a:lstStyle/>
            <a:p>
              <a:pPr algn="ctr" eaLnBrk="1" hangingPunct="1">
                <a:defRPr/>
              </a:pPr>
              <a:r>
                <a:rPr lang="en-US" sz="2200" dirty="0" err="1">
                  <a:latin typeface="Times New Roman" panose="02020603050405020304" pitchFamily="18" charset="0"/>
                  <a:cs typeface="Times New Roman" panose="02020603050405020304" pitchFamily="18" charset="0"/>
                </a:rPr>
                <a:t>BBBCorp</a:t>
              </a:r>
              <a:endParaRPr lang="en-CA" sz="2200" dirty="0">
                <a:latin typeface="Times New Roman" panose="02020603050405020304" pitchFamily="18" charset="0"/>
                <a:cs typeface="Times New Roman" panose="02020603050405020304" pitchFamily="18" charset="0"/>
              </a:endParaRPr>
            </a:p>
          </p:txBody>
        </p:sp>
        <p:cxnSp>
          <p:nvCxnSpPr>
            <p:cNvPr id="8" name="Straight Arrow Connector 7"/>
            <p:cNvCxnSpPr/>
            <p:nvPr/>
          </p:nvCxnSpPr>
          <p:spPr>
            <a:xfrm flipH="1" flipV="1">
              <a:off x="2627313" y="3308350"/>
              <a:ext cx="1033462"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9" name="Straight Arrow Connector 8"/>
            <p:cNvCxnSpPr/>
            <p:nvPr/>
          </p:nvCxnSpPr>
          <p:spPr>
            <a:xfrm>
              <a:off x="2627313" y="3652838"/>
              <a:ext cx="1036637" cy="1111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43017" name="TextBox 9"/>
            <p:cNvSpPr txBox="1">
              <a:spLocks noChangeArrowheads="1"/>
            </p:cNvSpPr>
            <p:nvPr/>
          </p:nvSpPr>
          <p:spPr bwMode="auto">
            <a:xfrm>
              <a:off x="2717800" y="2841625"/>
              <a:ext cx="1095375"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200">
                  <a:latin typeface="Times New Roman" panose="02020603050405020304" pitchFamily="18" charset="0"/>
                  <a:cs typeface="Times New Roman" panose="02020603050405020304" pitchFamily="18" charset="0"/>
                </a:rPr>
                <a:t>4.33%</a:t>
              </a:r>
              <a:endParaRPr lang="en-CA" altLang="en-US" sz="2200">
                <a:latin typeface="Times New Roman" panose="02020603050405020304" pitchFamily="18" charset="0"/>
                <a:cs typeface="Times New Roman" panose="02020603050405020304" pitchFamily="18" charset="0"/>
              </a:endParaRPr>
            </a:p>
          </p:txBody>
        </p:sp>
        <p:sp>
          <p:nvSpPr>
            <p:cNvPr id="43018" name="TextBox 10"/>
            <p:cNvSpPr txBox="1">
              <a:spLocks noChangeArrowheads="1"/>
            </p:cNvSpPr>
            <p:nvPr/>
          </p:nvSpPr>
          <p:spPr bwMode="auto">
            <a:xfrm>
              <a:off x="2624138" y="3714750"/>
              <a:ext cx="1233487"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200" dirty="0" smtClean="0">
                  <a:latin typeface="Times New Roman" panose="02020603050405020304" pitchFamily="18" charset="0"/>
                  <a:cs typeface="Times New Roman" panose="02020603050405020304" pitchFamily="18" charset="0"/>
                </a:rPr>
                <a:t>Floating</a:t>
              </a:r>
              <a:endParaRPr lang="en-CA" altLang="en-US" sz="2200" dirty="0">
                <a:latin typeface="Times New Roman" panose="02020603050405020304" pitchFamily="18" charset="0"/>
                <a:cs typeface="Times New Roman" panose="02020603050405020304" pitchFamily="18" charset="0"/>
              </a:endParaRPr>
            </a:p>
          </p:txBody>
        </p:sp>
        <p:cxnSp>
          <p:nvCxnSpPr>
            <p:cNvPr id="12" name="Straight Arrow Connector 11"/>
            <p:cNvCxnSpPr/>
            <p:nvPr/>
          </p:nvCxnSpPr>
          <p:spPr>
            <a:xfrm flipV="1">
              <a:off x="7092950" y="3490913"/>
              <a:ext cx="1366838" cy="7937"/>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43020" name="TextBox 12"/>
            <p:cNvSpPr txBox="1">
              <a:spLocks noChangeArrowheads="1"/>
            </p:cNvSpPr>
            <p:nvPr/>
          </p:nvSpPr>
          <p:spPr bwMode="auto">
            <a:xfrm>
              <a:off x="7092950" y="3084513"/>
              <a:ext cx="1919288"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200" dirty="0" smtClean="0">
                  <a:latin typeface="Times New Roman" panose="02020603050405020304" pitchFamily="18" charset="0"/>
                  <a:cs typeface="Times New Roman" panose="02020603050405020304" pitchFamily="18" charset="0"/>
                </a:rPr>
                <a:t>Floating+0.6</a:t>
              </a:r>
              <a:r>
                <a:rPr lang="en-US" altLang="en-US" sz="2200" dirty="0">
                  <a:latin typeface="Times New Roman" panose="02020603050405020304" pitchFamily="18" charset="0"/>
                  <a:cs typeface="Times New Roman" panose="02020603050405020304" pitchFamily="18" charset="0"/>
                </a:rPr>
                <a:t>%</a:t>
              </a:r>
              <a:endParaRPr lang="en-CA" altLang="en-US" sz="2200" dirty="0">
                <a:latin typeface="Times New Roman" panose="02020603050405020304" pitchFamily="18" charset="0"/>
                <a:cs typeface="Times New Roman" panose="02020603050405020304" pitchFamily="18" charset="0"/>
              </a:endParaRPr>
            </a:p>
          </p:txBody>
        </p:sp>
        <p:cxnSp>
          <p:nvCxnSpPr>
            <p:cNvPr id="14" name="Straight Arrow Connector 13"/>
            <p:cNvCxnSpPr>
              <a:stCxn id="6" idx="1"/>
            </p:cNvCxnSpPr>
            <p:nvPr/>
          </p:nvCxnSpPr>
          <p:spPr>
            <a:xfrm flipH="1">
              <a:off x="457200" y="3489325"/>
              <a:ext cx="658813" cy="9525"/>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43022" name="TextBox 14"/>
            <p:cNvSpPr txBox="1">
              <a:spLocks noChangeArrowheads="1"/>
            </p:cNvSpPr>
            <p:nvPr/>
          </p:nvSpPr>
          <p:spPr bwMode="auto">
            <a:xfrm>
              <a:off x="457200" y="3084513"/>
              <a:ext cx="74771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2200" dirty="0"/>
                <a:t>4%</a:t>
              </a:r>
              <a:endParaRPr lang="en-US" altLang="en-US" sz="2200" dirty="0"/>
            </a:p>
          </p:txBody>
        </p:sp>
        <p:cxnSp>
          <p:nvCxnSpPr>
            <p:cNvPr id="40" name="Straight Arrow Connector 39"/>
            <p:cNvCxnSpPr/>
            <p:nvPr/>
          </p:nvCxnSpPr>
          <p:spPr>
            <a:xfrm>
              <a:off x="4545013" y="3714750"/>
              <a:ext cx="1035050" cy="11113"/>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41" name="Straight Arrow Connector 40"/>
            <p:cNvCxnSpPr/>
            <p:nvPr/>
          </p:nvCxnSpPr>
          <p:spPr>
            <a:xfrm flipH="1" flipV="1">
              <a:off x="4545013" y="3344863"/>
              <a:ext cx="1031875" cy="1587"/>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43025" name="TextBox 42"/>
            <p:cNvSpPr txBox="1">
              <a:spLocks noChangeArrowheads="1"/>
            </p:cNvSpPr>
            <p:nvPr/>
          </p:nvSpPr>
          <p:spPr bwMode="auto">
            <a:xfrm>
              <a:off x="4543425" y="3694113"/>
              <a:ext cx="123190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200" dirty="0" smtClean="0">
                  <a:latin typeface="Times New Roman" panose="02020603050405020304" pitchFamily="18" charset="0"/>
                  <a:cs typeface="Times New Roman" panose="02020603050405020304" pitchFamily="18" charset="0"/>
                </a:rPr>
                <a:t>Floating</a:t>
              </a:r>
              <a:endParaRPr lang="en-CA" altLang="en-US" sz="2200" dirty="0">
                <a:latin typeface="Times New Roman" panose="02020603050405020304" pitchFamily="18" charset="0"/>
                <a:cs typeface="Times New Roman" panose="02020603050405020304" pitchFamily="18" charset="0"/>
              </a:endParaRPr>
            </a:p>
          </p:txBody>
        </p:sp>
        <p:sp>
          <p:nvSpPr>
            <p:cNvPr id="43026" name="TextBox 43"/>
            <p:cNvSpPr txBox="1">
              <a:spLocks noChangeArrowheads="1"/>
            </p:cNvSpPr>
            <p:nvPr/>
          </p:nvSpPr>
          <p:spPr bwMode="auto">
            <a:xfrm>
              <a:off x="4664075" y="2887663"/>
              <a:ext cx="1095375"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200">
                  <a:latin typeface="Times New Roman" panose="02020603050405020304" pitchFamily="18" charset="0"/>
                  <a:cs typeface="Times New Roman" panose="02020603050405020304" pitchFamily="18" charset="0"/>
                </a:rPr>
                <a:t>4.37%</a:t>
              </a:r>
              <a:endParaRPr lang="en-CA" altLang="en-US" sz="2200">
                <a:latin typeface="Times New Roman" panose="02020603050405020304" pitchFamily="18" charset="0"/>
                <a:cs typeface="Times New Roman" panose="02020603050405020304" pitchFamily="18" charset="0"/>
              </a:endParaRPr>
            </a:p>
          </p:txBody>
        </p:sp>
        <p:sp>
          <p:nvSpPr>
            <p:cNvPr id="45" name="Rectangle 44"/>
            <p:cNvSpPr/>
            <p:nvPr/>
          </p:nvSpPr>
          <p:spPr>
            <a:xfrm>
              <a:off x="3676650" y="2954338"/>
              <a:ext cx="900113" cy="1108075"/>
            </a:xfrm>
            <a:prstGeom prst="rect">
              <a:avLst/>
            </a:prstGeom>
            <a:ln/>
          </p:spPr>
          <p:style>
            <a:lnRef idx="2">
              <a:schemeClr val="dk1"/>
            </a:lnRef>
            <a:fillRef idx="1">
              <a:schemeClr val="lt1"/>
            </a:fillRef>
            <a:effectRef idx="0">
              <a:schemeClr val="dk1"/>
            </a:effectRef>
            <a:fontRef idx="minor">
              <a:schemeClr val="dk1"/>
            </a:fontRef>
          </p:style>
          <p:txBody>
            <a:bodyPr anchor="ctr"/>
            <a:lstStyle/>
            <a:p>
              <a:pPr algn="ctr" eaLnBrk="1" hangingPunct="1">
                <a:defRPr/>
              </a:pPr>
              <a:r>
                <a:rPr lang="en-CA" sz="2200" dirty="0">
                  <a:latin typeface="Times New Roman" panose="02020603050405020304" pitchFamily="18" charset="0"/>
                  <a:cs typeface="Times New Roman" panose="02020603050405020304" pitchFamily="18" charset="0"/>
                </a:rPr>
                <a:t>F.I.</a:t>
              </a:r>
            </a:p>
          </p:txBody>
        </p:sp>
      </p:gr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2"/>
          <p:cNvSpPr>
            <a:spLocks noGrp="1" noChangeArrowheads="1"/>
          </p:cNvSpPr>
          <p:nvPr>
            <p:ph type="title"/>
          </p:nvPr>
        </p:nvSpPr>
        <p:spPr>
          <a:noFill/>
        </p:spPr>
        <p:txBody>
          <a:bodyPr lIns="92075" tIns="46038" rIns="92075" bIns="46038" anchor="ctr"/>
          <a:lstStyle/>
          <a:p>
            <a:pPr eaLnBrk="1" hangingPunct="1"/>
            <a:r>
              <a:rPr lang="en-US" altLang="en-US" smtClean="0"/>
              <a:t>Criticism of the Comparative Advantage Argument</a:t>
            </a:r>
          </a:p>
        </p:txBody>
      </p:sp>
      <p:sp>
        <p:nvSpPr>
          <p:cNvPr id="44036" name="Rectangle 3"/>
          <p:cNvSpPr>
            <a:spLocks noGrp="1" noChangeArrowheads="1"/>
          </p:cNvSpPr>
          <p:nvPr>
            <p:ph idx="1"/>
          </p:nvPr>
        </p:nvSpPr>
        <p:spPr>
          <a:noFill/>
        </p:spPr>
        <p:txBody>
          <a:bodyPr lIns="92075" tIns="46038" rIns="92075" bIns="46038"/>
          <a:lstStyle/>
          <a:p>
            <a:pPr eaLnBrk="1" hangingPunct="1"/>
            <a:r>
              <a:rPr lang="en-US" altLang="en-US" sz="2800" dirty="0" smtClean="0"/>
              <a:t>The 4.0% and 5.2% rates available to </a:t>
            </a:r>
            <a:r>
              <a:rPr lang="en-US" altLang="en-US" sz="2800" dirty="0" err="1" smtClean="0"/>
              <a:t>AAACorp</a:t>
            </a:r>
            <a:r>
              <a:rPr lang="en-US" altLang="en-US" sz="2800" dirty="0" smtClean="0"/>
              <a:t> and </a:t>
            </a:r>
            <a:r>
              <a:rPr lang="en-US" altLang="en-US" sz="2800" dirty="0" err="1" smtClean="0"/>
              <a:t>BBBCorp</a:t>
            </a:r>
            <a:r>
              <a:rPr lang="en-US" altLang="en-US" sz="2800" dirty="0" smtClean="0"/>
              <a:t> in fixed rate markets are 5-year rates</a:t>
            </a:r>
          </a:p>
          <a:p>
            <a:pPr eaLnBrk="1" hangingPunct="1"/>
            <a:r>
              <a:rPr lang="en-US" altLang="en-US" sz="2800" dirty="0" smtClean="0"/>
              <a:t>The rates available in the floating rate market are </a:t>
            </a:r>
            <a:r>
              <a:rPr lang="en-US" altLang="en-US" dirty="0"/>
              <a:t>3</a:t>
            </a:r>
            <a:r>
              <a:rPr lang="en-US" altLang="en-US" sz="2800" dirty="0" smtClean="0"/>
              <a:t>-month rates</a:t>
            </a:r>
          </a:p>
          <a:p>
            <a:pPr eaLnBrk="1" hangingPunct="1"/>
            <a:r>
              <a:rPr lang="en-US" altLang="en-US" sz="2800" dirty="0" err="1" smtClean="0"/>
              <a:t>BBBCorp’s</a:t>
            </a:r>
            <a:r>
              <a:rPr lang="en-US" altLang="en-US" sz="2800" dirty="0" smtClean="0"/>
              <a:t> fixed rate depends on the spread above floating it borrows at in the future</a:t>
            </a:r>
          </a:p>
        </p:txBody>
      </p:sp>
      <p:sp>
        <p:nvSpPr>
          <p:cNvPr id="44034"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smtClean="0"/>
              <a:t>Options, Futures, and Other Derivatives, 11th Edition, Copyright © John C. Hull 2021</a:t>
            </a:r>
            <a:endParaRPr lang="en-US" altLang="en-US" sz="1400" i="0"/>
          </a:p>
        </p:txBody>
      </p:sp>
      <p:sp>
        <p:nvSpPr>
          <p:cNvPr id="44037"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CB8BAEDA-6587-4753-96D9-C99B357050DE}" type="slidenum">
              <a:rPr lang="en-US" altLang="en-US" sz="1800"/>
              <a:pPr>
                <a:spcBef>
                  <a:spcPct val="0"/>
                </a:spcBef>
                <a:buClrTx/>
                <a:buSzTx/>
                <a:buFontTx/>
                <a:buNone/>
              </a:pPr>
              <a:t>21</a:t>
            </a:fld>
            <a:endParaRPr lang="en-US" altLang="en-US" sz="1800"/>
          </a:p>
        </p:txBody>
      </p:sp>
    </p:spTree>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lIns="92075" tIns="46038" rIns="92075" bIns="46038"/>
          <a:lstStyle/>
          <a:p>
            <a:pPr eaLnBrk="1" hangingPunct="1"/>
            <a:r>
              <a:rPr lang="en-US" altLang="en-US" smtClean="0"/>
              <a:t>Valuation of an Interest Rate Swap</a:t>
            </a:r>
          </a:p>
        </p:txBody>
      </p:sp>
      <p:sp>
        <p:nvSpPr>
          <p:cNvPr id="46083" name="Rectangle 3"/>
          <p:cNvSpPr>
            <a:spLocks noGrp="1" noChangeArrowheads="1"/>
          </p:cNvSpPr>
          <p:nvPr>
            <p:ph idx="1"/>
          </p:nvPr>
        </p:nvSpPr>
        <p:spPr>
          <a:xfrm>
            <a:off x="450016" y="2112314"/>
            <a:ext cx="7543800" cy="4114800"/>
          </a:xfrm>
        </p:spPr>
        <p:txBody>
          <a:bodyPr lIns="92075" tIns="46038" rIns="92075" bIns="46038"/>
          <a:lstStyle/>
          <a:p>
            <a:pPr eaLnBrk="1" hangingPunct="1"/>
            <a:r>
              <a:rPr lang="en-CA" altLang="en-US" sz="2600" dirty="0" smtClean="0">
                <a:cs typeface="Arial" panose="020B0604020202020204" pitchFamily="34" charset="0"/>
              </a:rPr>
              <a:t>Initially interest rate swaps are worth close to zero</a:t>
            </a:r>
            <a:endParaRPr lang="en-US" altLang="en-US" sz="2600" dirty="0" smtClean="0">
              <a:cs typeface="Arial" panose="020B0604020202020204" pitchFamily="34" charset="0"/>
            </a:endParaRPr>
          </a:p>
          <a:p>
            <a:pPr eaLnBrk="1" hangingPunct="1"/>
            <a:r>
              <a:rPr lang="en-US" altLang="en-US" sz="2600" dirty="0" smtClean="0">
                <a:cs typeface="Arial" panose="020B0604020202020204" pitchFamily="34" charset="0"/>
              </a:rPr>
              <a:t>At later times they can be valued as a portfolio of forward rate agreements (FRAs)</a:t>
            </a:r>
          </a:p>
          <a:p>
            <a:pPr eaLnBrk="1" hangingPunct="1"/>
            <a:r>
              <a:rPr lang="en-US" altLang="en-US" sz="2600" dirty="0" smtClean="0">
                <a:cs typeface="Arial" panose="020B0604020202020204" pitchFamily="34" charset="0"/>
              </a:rPr>
              <a:t>The procedure is to</a:t>
            </a:r>
          </a:p>
          <a:p>
            <a:pPr lvl="1" eaLnBrk="1" hangingPunct="1"/>
            <a:r>
              <a:rPr lang="en-US" altLang="en-US" sz="2400" dirty="0" smtClean="0">
                <a:cs typeface="Arial" panose="020B0604020202020204" pitchFamily="34" charset="0"/>
              </a:rPr>
              <a:t>Calculate floating forward rates</a:t>
            </a:r>
          </a:p>
          <a:p>
            <a:pPr lvl="1" eaLnBrk="1" hangingPunct="1"/>
            <a:r>
              <a:rPr lang="en-US" altLang="en-US" sz="2400" dirty="0" smtClean="0">
                <a:cs typeface="Arial" panose="020B0604020202020204" pitchFamily="34" charset="0"/>
              </a:rPr>
              <a:t>Calculate the swap cash flows that will occur if floating forward rates are realized</a:t>
            </a:r>
          </a:p>
          <a:p>
            <a:pPr lvl="1" eaLnBrk="1" hangingPunct="1"/>
            <a:r>
              <a:rPr lang="en-US" altLang="en-US" sz="2400" dirty="0" smtClean="0">
                <a:cs typeface="Arial" panose="020B0604020202020204" pitchFamily="34" charset="0"/>
              </a:rPr>
              <a:t>Discount these swap cash flows at OIS rates</a:t>
            </a:r>
          </a:p>
          <a:p>
            <a:pPr eaLnBrk="1" hangingPunct="1"/>
            <a:endParaRPr lang="en-US" altLang="en-US" dirty="0" smtClean="0">
              <a:cs typeface="Arial" panose="020B0604020202020204" pitchFamily="34" charset="0"/>
            </a:endParaRPr>
          </a:p>
        </p:txBody>
      </p:sp>
      <p:sp>
        <p:nvSpPr>
          <p:cNvPr id="46084"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smtClean="0"/>
              <a:t>Options, Futures, and Other Derivatives, 11th Edition, Copyright © John C. Hull 2021</a:t>
            </a:r>
            <a:endParaRPr lang="en-US" altLang="en-US" sz="1400">
              <a:cs typeface="Arial" panose="020B0604020202020204" pitchFamily="34" charset="0"/>
            </a:endParaRPr>
          </a:p>
        </p:txBody>
      </p:sp>
      <p:sp>
        <p:nvSpPr>
          <p:cNvPr id="46085"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59E4401B-DFB1-4D7A-ADB0-C7B4486B075B}" type="slidenum">
              <a:rPr lang="en-US" altLang="en-US" sz="1800"/>
              <a:pPr>
                <a:spcBef>
                  <a:spcPct val="0"/>
                </a:spcBef>
                <a:buClrTx/>
                <a:buSzTx/>
                <a:buFontTx/>
                <a:buNone/>
              </a:pPr>
              <a:t>22</a:t>
            </a:fld>
            <a:endParaRPr lang="en-US" altLang="en-US" sz="1800"/>
          </a:p>
        </p:txBody>
      </p:sp>
    </p:spTree>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p:cNvSpPr>
            <a:spLocks noGrp="1"/>
          </p:cNvSpPr>
          <p:nvPr>
            <p:ph type="title"/>
          </p:nvPr>
        </p:nvSpPr>
        <p:spPr/>
        <p:txBody>
          <a:bodyPr/>
          <a:lstStyle/>
          <a:p>
            <a:r>
              <a:rPr lang="en-CA" altLang="en-US" dirty="0" smtClean="0"/>
              <a:t>Example </a:t>
            </a:r>
            <a:r>
              <a:rPr lang="en-CA" altLang="en-US" sz="2400" dirty="0" smtClean="0"/>
              <a:t>(Example 7.1)</a:t>
            </a:r>
          </a:p>
        </p:txBody>
      </p:sp>
      <p:sp>
        <p:nvSpPr>
          <p:cNvPr id="48131" name="Content Placeholder 2"/>
          <p:cNvSpPr>
            <a:spLocks noGrp="1"/>
          </p:cNvSpPr>
          <p:nvPr>
            <p:ph idx="1"/>
          </p:nvPr>
        </p:nvSpPr>
        <p:spPr>
          <a:xfrm>
            <a:off x="561825" y="1990922"/>
            <a:ext cx="8567737" cy="4411662"/>
          </a:xfrm>
        </p:spPr>
        <p:txBody>
          <a:bodyPr/>
          <a:lstStyle/>
          <a:p>
            <a:r>
              <a:rPr lang="en-CA" altLang="en-US" sz="2400" dirty="0" smtClean="0"/>
              <a:t>Swap involves paying 3% per annum and receiving SOFR every six months on $100 million</a:t>
            </a:r>
          </a:p>
          <a:p>
            <a:r>
              <a:rPr lang="en-CA" altLang="en-US" sz="2400" dirty="0" smtClean="0"/>
              <a:t>Swap has 1.2 years remaining (exchanges in 0.2, 0.7, and 1.2 years)</a:t>
            </a:r>
          </a:p>
          <a:p>
            <a:r>
              <a:rPr lang="en-US" altLang="en-US" sz="2400" dirty="0" smtClean="0"/>
              <a:t>Risk-free rate for 0.2, 0.7, and 1.2 years are 2.8%, 3.2% and 3.4%, respectively (continuously compounded)</a:t>
            </a:r>
            <a:endParaRPr lang="en-CA" altLang="en-US" sz="2400" dirty="0" smtClean="0"/>
          </a:p>
          <a:p>
            <a:r>
              <a:rPr lang="en-CA" altLang="en-US" sz="2400" dirty="0" smtClean="0"/>
              <a:t>Rate observed for last 0.3 years is 2.3% continuously compounded</a:t>
            </a:r>
          </a:p>
          <a:p>
            <a:endParaRPr lang="en-CA" altLang="en-US" dirty="0" smtClean="0"/>
          </a:p>
        </p:txBody>
      </p:sp>
      <p:sp>
        <p:nvSpPr>
          <p:cNvPr id="48132"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mtClean="0"/>
              <a:t>Options, Futures, and Other Derivatives, 11th Edition, Copyright © John C. Hull 2021</a:t>
            </a:r>
            <a:endParaRPr lang="en-US" altLang="en-US" i="0"/>
          </a:p>
        </p:txBody>
      </p:sp>
      <p:sp>
        <p:nvSpPr>
          <p:cNvPr id="48133"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22F05DD0-B73F-4E63-8C06-5F138792EAB7}" type="slidenum">
              <a:rPr lang="en-US" altLang="en-US"/>
              <a:pPr/>
              <a:t>23</a:t>
            </a:fld>
            <a:endParaRPr lang="en-US" altLang="en-US"/>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continued</a:t>
            </a:r>
            <a:endParaRPr lang="en-CA" dirty="0"/>
          </a:p>
        </p:txBody>
      </p:sp>
      <p:sp>
        <p:nvSpPr>
          <p:cNvPr id="3" name="Content Placeholder 2"/>
          <p:cNvSpPr>
            <a:spLocks noGrp="1"/>
          </p:cNvSpPr>
          <p:nvPr>
            <p:ph idx="1"/>
          </p:nvPr>
        </p:nvSpPr>
        <p:spPr/>
        <p:txBody>
          <a:bodyPr/>
          <a:lstStyle/>
          <a:p>
            <a:r>
              <a:rPr lang="en-US" dirty="0" smtClean="0"/>
              <a:t>Floating rate for the exchange at 0.2 years is assumed to be 0.6×2.3%+0.4×2.8% or 2.50% (</a:t>
            </a:r>
            <a:r>
              <a:rPr lang="en-US" dirty="0" err="1" smtClean="0"/>
              <a:t>cont</a:t>
            </a:r>
            <a:r>
              <a:rPr lang="en-US" dirty="0" smtClean="0"/>
              <a:t> comp) or 2.516% (</a:t>
            </a:r>
            <a:r>
              <a:rPr lang="en-US" dirty="0" err="1" smtClean="0"/>
              <a:t>sa</a:t>
            </a:r>
            <a:r>
              <a:rPr lang="en-US" dirty="0" smtClean="0"/>
              <a:t>)</a:t>
            </a:r>
          </a:p>
          <a:p>
            <a:r>
              <a:rPr lang="en-US" dirty="0" smtClean="0"/>
              <a:t>Forward rate for 0.2 to 0.7 years is 3.36% (</a:t>
            </a:r>
            <a:r>
              <a:rPr lang="en-US" dirty="0" err="1" smtClean="0"/>
              <a:t>cont</a:t>
            </a:r>
            <a:r>
              <a:rPr lang="en-US" dirty="0" smtClean="0"/>
              <a:t> comp) or 3.388% (</a:t>
            </a:r>
            <a:r>
              <a:rPr lang="en-US" dirty="0" err="1" smtClean="0"/>
              <a:t>sa</a:t>
            </a:r>
            <a:r>
              <a:rPr lang="en-US" dirty="0" smtClean="0"/>
              <a:t>)</a:t>
            </a:r>
          </a:p>
          <a:p>
            <a:r>
              <a:rPr lang="en-US" dirty="0" smtClean="0"/>
              <a:t>Forward rate for 0.7 to 1.2 years is 3.68% (</a:t>
            </a:r>
            <a:r>
              <a:rPr lang="en-US" dirty="0" err="1" smtClean="0"/>
              <a:t>cont</a:t>
            </a:r>
            <a:r>
              <a:rPr lang="en-US" dirty="0" smtClean="0"/>
              <a:t> comp) or 3.714% (</a:t>
            </a:r>
            <a:r>
              <a:rPr lang="en-US" dirty="0" err="1" smtClean="0"/>
              <a:t>sa</a:t>
            </a:r>
            <a:r>
              <a:rPr lang="en-US" dirty="0" smtClean="0"/>
              <a:t>) </a:t>
            </a:r>
            <a:endParaRPr lang="en-CA" dirty="0"/>
          </a:p>
        </p:txBody>
      </p:sp>
      <p:sp>
        <p:nvSpPr>
          <p:cNvPr id="4" name="Footer Placeholder 3"/>
          <p:cNvSpPr>
            <a:spLocks noGrp="1"/>
          </p:cNvSpPr>
          <p:nvPr>
            <p:ph type="ftr" sz="quarter" idx="11"/>
          </p:nvPr>
        </p:nvSpPr>
        <p:spPr/>
        <p:txBody>
          <a:bodyPr/>
          <a:lstStyle/>
          <a:p>
            <a:pPr>
              <a:defRPr/>
            </a:pPr>
            <a:r>
              <a:rPr lang="en-US" altLang="en-US" smtClean="0"/>
              <a:t>Options, Futures, and Other Derivatives, 11th Edition, Copyright © John C. Hull 2021</a:t>
            </a:r>
            <a:endParaRPr lang="en-US" altLang="en-US" i="0"/>
          </a:p>
        </p:txBody>
      </p:sp>
      <p:sp>
        <p:nvSpPr>
          <p:cNvPr id="5" name="Slide Number Placeholder 4"/>
          <p:cNvSpPr>
            <a:spLocks noGrp="1"/>
          </p:cNvSpPr>
          <p:nvPr>
            <p:ph type="sldNum" sz="quarter" idx="12"/>
          </p:nvPr>
        </p:nvSpPr>
        <p:spPr/>
        <p:txBody>
          <a:bodyPr/>
          <a:lstStyle/>
          <a:p>
            <a:pPr>
              <a:defRPr/>
            </a:pPr>
            <a:fld id="{B279D880-1821-47EF-A47D-DFD410122695}" type="slidenum">
              <a:rPr lang="en-US" altLang="en-US" smtClean="0"/>
              <a:pPr>
                <a:defRPr/>
              </a:pPr>
              <a:t>24</a:t>
            </a:fld>
            <a:endParaRPr lang="en-US" altLang="en-US"/>
          </a:p>
        </p:txBody>
      </p:sp>
    </p:spTree>
    <p:extLst>
      <p:ext uri="{BB962C8B-B14F-4D97-AF65-F5344CB8AC3E}">
        <p14:creationId xmlns:p14="http://schemas.microsoft.com/office/powerpoint/2010/main" val="31228491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p:cNvSpPr>
            <a:spLocks noGrp="1"/>
          </p:cNvSpPr>
          <p:nvPr>
            <p:ph type="title"/>
          </p:nvPr>
        </p:nvSpPr>
        <p:spPr/>
        <p:txBody>
          <a:bodyPr/>
          <a:lstStyle/>
          <a:p>
            <a:r>
              <a:rPr lang="en-CA" altLang="en-US" smtClean="0"/>
              <a:t>Calculations ($ million)</a:t>
            </a:r>
          </a:p>
        </p:txBody>
      </p:sp>
      <p:sp>
        <p:nvSpPr>
          <p:cNvPr id="49155"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mtClean="0"/>
              <a:t>Options, Futures, and Other Derivatives, 11th Edition, Copyright © John C. Hull 2021</a:t>
            </a:r>
            <a:endParaRPr lang="en-US" altLang="en-US" i="0"/>
          </a:p>
        </p:txBody>
      </p:sp>
      <p:sp>
        <p:nvSpPr>
          <p:cNvPr id="49156"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11B9478-A5D0-4D9A-A6EA-E4306F178CD7}" type="slidenum">
              <a:rPr lang="en-US" altLang="en-US"/>
              <a:pPr/>
              <a:t>25</a:t>
            </a:fld>
            <a:endParaRPr lang="en-US" altLang="en-US"/>
          </a:p>
        </p:txBody>
      </p:sp>
      <p:graphicFrame>
        <p:nvGraphicFramePr>
          <p:cNvPr id="6" name="Table 5"/>
          <p:cNvGraphicFramePr>
            <a:graphicFrameLocks noGrp="1"/>
          </p:cNvGraphicFramePr>
          <p:nvPr>
            <p:extLst>
              <p:ext uri="{D42A27DB-BD31-4B8C-83A1-F6EECF244321}">
                <p14:modId xmlns:p14="http://schemas.microsoft.com/office/powerpoint/2010/main" val="3869042698"/>
              </p:ext>
            </p:extLst>
          </p:nvPr>
        </p:nvGraphicFramePr>
        <p:xfrm>
          <a:off x="900113" y="2276475"/>
          <a:ext cx="6911976" cy="2124075"/>
        </p:xfrm>
        <a:graphic>
          <a:graphicData uri="http://schemas.openxmlformats.org/drawingml/2006/table">
            <a:tbl>
              <a:tblPr firstRow="1" bandRow="1">
                <a:tableStyleId>{5940675A-B579-460E-94D1-54222C63F5DA}</a:tableStyleId>
              </a:tblPr>
              <a:tblGrid>
                <a:gridCol w="863997">
                  <a:extLst>
                    <a:ext uri="{9D8B030D-6E8A-4147-A177-3AD203B41FA5}">
                      <a16:colId xmlns:a16="http://schemas.microsoft.com/office/drawing/2014/main" val="20000"/>
                    </a:ext>
                  </a:extLst>
                </a:gridCol>
                <a:gridCol w="1223996">
                  <a:extLst>
                    <a:ext uri="{9D8B030D-6E8A-4147-A177-3AD203B41FA5}">
                      <a16:colId xmlns:a16="http://schemas.microsoft.com/office/drawing/2014/main" val="20001"/>
                    </a:ext>
                  </a:extLst>
                </a:gridCol>
                <a:gridCol w="1151996">
                  <a:extLst>
                    <a:ext uri="{9D8B030D-6E8A-4147-A177-3AD203B41FA5}">
                      <a16:colId xmlns:a16="http://schemas.microsoft.com/office/drawing/2014/main" val="20002"/>
                    </a:ext>
                  </a:extLst>
                </a:gridCol>
                <a:gridCol w="1121760">
                  <a:extLst>
                    <a:ext uri="{9D8B030D-6E8A-4147-A177-3AD203B41FA5}">
                      <a16:colId xmlns:a16="http://schemas.microsoft.com/office/drawing/2014/main" val="20003"/>
                    </a:ext>
                  </a:extLst>
                </a:gridCol>
                <a:gridCol w="1110232">
                  <a:extLst>
                    <a:ext uri="{9D8B030D-6E8A-4147-A177-3AD203B41FA5}">
                      <a16:colId xmlns:a16="http://schemas.microsoft.com/office/drawing/2014/main" val="20004"/>
                    </a:ext>
                  </a:extLst>
                </a:gridCol>
                <a:gridCol w="1439995">
                  <a:extLst>
                    <a:ext uri="{9D8B030D-6E8A-4147-A177-3AD203B41FA5}">
                      <a16:colId xmlns:a16="http://schemas.microsoft.com/office/drawing/2014/main" val="20005"/>
                    </a:ext>
                  </a:extLst>
                </a:gridCol>
              </a:tblGrid>
              <a:tr h="640271">
                <a:tc>
                  <a:txBody>
                    <a:bodyPr/>
                    <a:lstStyle/>
                    <a:p>
                      <a:r>
                        <a:rPr lang="en-CA" sz="1800" dirty="0" smtClean="0"/>
                        <a:t>Time</a:t>
                      </a:r>
                    </a:p>
                    <a:p>
                      <a:r>
                        <a:rPr lang="en-CA" sz="1800" dirty="0" smtClean="0"/>
                        <a:t> (</a:t>
                      </a:r>
                      <a:r>
                        <a:rPr lang="en-CA" sz="1800" dirty="0" err="1" smtClean="0"/>
                        <a:t>yrs</a:t>
                      </a:r>
                      <a:r>
                        <a:rPr lang="en-CA" sz="1800" dirty="0" smtClean="0"/>
                        <a:t>)</a:t>
                      </a:r>
                      <a:endParaRPr lang="en-CA" sz="1800" dirty="0"/>
                    </a:p>
                  </a:txBody>
                  <a:tcPr marL="91430" marR="91430" marT="45734" marB="45734"/>
                </a:tc>
                <a:tc>
                  <a:txBody>
                    <a:bodyPr/>
                    <a:lstStyle/>
                    <a:p>
                      <a:r>
                        <a:rPr lang="en-CA" sz="1800" dirty="0" smtClean="0"/>
                        <a:t>Fixed cash flow</a:t>
                      </a:r>
                      <a:endParaRPr lang="en-CA" sz="1800" dirty="0"/>
                    </a:p>
                  </a:txBody>
                  <a:tcPr marL="91430" marR="91430" marT="45734" marB="45734"/>
                </a:tc>
                <a:tc>
                  <a:txBody>
                    <a:bodyPr/>
                    <a:lstStyle/>
                    <a:p>
                      <a:r>
                        <a:rPr lang="en-CA" sz="1800" dirty="0" smtClean="0"/>
                        <a:t>Floating cash flow</a:t>
                      </a:r>
                      <a:endParaRPr lang="en-CA" sz="1800" dirty="0"/>
                    </a:p>
                  </a:txBody>
                  <a:tcPr marL="91430" marR="91430" marT="45734" marB="45734"/>
                </a:tc>
                <a:tc>
                  <a:txBody>
                    <a:bodyPr/>
                    <a:lstStyle/>
                    <a:p>
                      <a:r>
                        <a:rPr lang="en-CA" sz="1800" dirty="0" smtClean="0"/>
                        <a:t>Net cash flow</a:t>
                      </a:r>
                      <a:endParaRPr lang="en-CA" sz="1800" dirty="0"/>
                    </a:p>
                  </a:txBody>
                  <a:tcPr marL="91430" marR="91430" marT="45734" marB="45734"/>
                </a:tc>
                <a:tc>
                  <a:txBody>
                    <a:bodyPr/>
                    <a:lstStyle/>
                    <a:p>
                      <a:r>
                        <a:rPr lang="en-CA" sz="1800" dirty="0" smtClean="0"/>
                        <a:t>Discount factor</a:t>
                      </a:r>
                      <a:endParaRPr lang="en-CA" sz="1800" dirty="0"/>
                    </a:p>
                  </a:txBody>
                  <a:tcPr marL="91430" marR="91430" marT="45734" marB="45734"/>
                </a:tc>
                <a:tc>
                  <a:txBody>
                    <a:bodyPr/>
                    <a:lstStyle/>
                    <a:p>
                      <a:r>
                        <a:rPr lang="en-CA" sz="1800" dirty="0" smtClean="0"/>
                        <a:t>PV of net cash</a:t>
                      </a:r>
                      <a:r>
                        <a:rPr lang="en-CA" sz="1800" baseline="0" dirty="0" smtClean="0"/>
                        <a:t> flow</a:t>
                      </a:r>
                      <a:endParaRPr lang="en-CA" sz="1800" dirty="0"/>
                    </a:p>
                  </a:txBody>
                  <a:tcPr marL="91430" marR="91430" marT="45734" marB="45734"/>
                </a:tc>
                <a:extLst>
                  <a:ext uri="{0D108BD9-81ED-4DB2-BD59-A6C34878D82A}">
                    <a16:rowId xmlns:a16="http://schemas.microsoft.com/office/drawing/2014/main" val="10000"/>
                  </a:ext>
                </a:extLst>
              </a:tr>
              <a:tr h="370951">
                <a:tc>
                  <a:txBody>
                    <a:bodyPr/>
                    <a:lstStyle/>
                    <a:p>
                      <a:r>
                        <a:rPr lang="en-CA" sz="1800" dirty="0" smtClean="0"/>
                        <a:t>0.2</a:t>
                      </a:r>
                      <a:endParaRPr lang="en-CA" sz="1800" dirty="0"/>
                    </a:p>
                  </a:txBody>
                  <a:tcPr marL="91430" marR="91430" marT="45734" marB="45734"/>
                </a:tc>
                <a:tc>
                  <a:txBody>
                    <a:bodyPr/>
                    <a:lstStyle/>
                    <a:p>
                      <a:r>
                        <a:rPr lang="en-CA" sz="1800" dirty="0" smtClean="0"/>
                        <a:t>−1.5000</a:t>
                      </a:r>
                      <a:endParaRPr lang="en-CA" sz="1800" dirty="0"/>
                    </a:p>
                  </a:txBody>
                  <a:tcPr marL="91430" marR="91430" marT="45734" marB="45734"/>
                </a:tc>
                <a:tc>
                  <a:txBody>
                    <a:bodyPr/>
                    <a:lstStyle/>
                    <a:p>
                      <a:r>
                        <a:rPr lang="en-CA" sz="1800" dirty="0" smtClean="0"/>
                        <a:t>+1.258</a:t>
                      </a:r>
                      <a:endParaRPr lang="en-CA" sz="1800" dirty="0"/>
                    </a:p>
                  </a:txBody>
                  <a:tcPr marL="91430" marR="91430" marT="45734" marB="45734"/>
                </a:tc>
                <a:tc>
                  <a:txBody>
                    <a:bodyPr/>
                    <a:lstStyle/>
                    <a:p>
                      <a:r>
                        <a:rPr lang="en-CA" sz="1800" dirty="0" smtClean="0"/>
                        <a:t>−0.242</a:t>
                      </a:r>
                      <a:endParaRPr lang="en-CA" sz="1800" dirty="0"/>
                    </a:p>
                  </a:txBody>
                  <a:tcPr marL="91430" marR="91430" marT="45734" marB="45734"/>
                </a:tc>
                <a:tc>
                  <a:txBody>
                    <a:bodyPr/>
                    <a:lstStyle/>
                    <a:p>
                      <a:r>
                        <a:rPr lang="en-CA" sz="1800" dirty="0" smtClean="0"/>
                        <a:t>0.9944</a:t>
                      </a:r>
                      <a:endParaRPr lang="en-CA" sz="1800" dirty="0"/>
                    </a:p>
                  </a:txBody>
                  <a:tcPr marL="91430" marR="91430" marT="45734" marB="45734"/>
                </a:tc>
                <a:tc>
                  <a:txBody>
                    <a:bodyPr/>
                    <a:lstStyle/>
                    <a:p>
                      <a:r>
                        <a:rPr lang="en-CA" sz="1800" dirty="0" smtClean="0"/>
                        <a:t>−0.241</a:t>
                      </a:r>
                      <a:endParaRPr lang="en-CA" sz="1800" dirty="0"/>
                    </a:p>
                  </a:txBody>
                  <a:tcPr marL="91430" marR="91430" marT="45734" marB="45734"/>
                </a:tc>
                <a:extLst>
                  <a:ext uri="{0D108BD9-81ED-4DB2-BD59-A6C34878D82A}">
                    <a16:rowId xmlns:a16="http://schemas.microsoft.com/office/drawing/2014/main" val="10001"/>
                  </a:ext>
                </a:extLst>
              </a:tr>
              <a:tr h="370951">
                <a:tc>
                  <a:txBody>
                    <a:bodyPr/>
                    <a:lstStyle/>
                    <a:p>
                      <a:r>
                        <a:rPr lang="en-CA" sz="1800" dirty="0" smtClean="0"/>
                        <a:t>0.7</a:t>
                      </a:r>
                      <a:endParaRPr lang="en-CA" sz="1800" dirty="0"/>
                    </a:p>
                  </a:txBody>
                  <a:tcPr marL="91430" marR="91430" marT="45734" marB="45734"/>
                </a:tc>
                <a:tc>
                  <a:txBody>
                    <a:bodyPr/>
                    <a:lstStyle/>
                    <a:p>
                      <a:r>
                        <a:rPr lang="en-CA" sz="1800" dirty="0" smtClean="0"/>
                        <a:t>−1.5000</a:t>
                      </a:r>
                      <a:endParaRPr lang="en-CA" sz="1800" dirty="0"/>
                    </a:p>
                  </a:txBody>
                  <a:tcPr marL="91430" marR="91430" marT="45734" marB="45734"/>
                </a:tc>
                <a:tc>
                  <a:txBody>
                    <a:bodyPr/>
                    <a:lstStyle/>
                    <a:p>
                      <a:r>
                        <a:rPr lang="en-CA" sz="1800" dirty="0" smtClean="0"/>
                        <a:t>+1.694</a:t>
                      </a:r>
                      <a:endParaRPr lang="en-CA" sz="1800" dirty="0"/>
                    </a:p>
                  </a:txBody>
                  <a:tcPr marL="91430" marR="91430" marT="45734" marB="45734"/>
                </a:tc>
                <a:tc>
                  <a:txBody>
                    <a:bodyPr/>
                    <a:lstStyle/>
                    <a:p>
                      <a:r>
                        <a:rPr lang="en-CA" sz="1800" dirty="0" smtClean="0"/>
                        <a:t>+0.194</a:t>
                      </a:r>
                      <a:endParaRPr lang="en-CA" sz="1800" dirty="0"/>
                    </a:p>
                  </a:txBody>
                  <a:tcPr marL="91430" marR="91430" marT="45734" marB="45734"/>
                </a:tc>
                <a:tc>
                  <a:txBody>
                    <a:bodyPr/>
                    <a:lstStyle/>
                    <a:p>
                      <a:r>
                        <a:rPr lang="en-CA" sz="1800" dirty="0" smtClean="0"/>
                        <a:t>0.9778</a:t>
                      </a:r>
                      <a:endParaRPr lang="en-CA" sz="1800" dirty="0"/>
                    </a:p>
                  </a:txBody>
                  <a:tcPr marL="91430" marR="91430" marT="45734" marB="45734"/>
                </a:tc>
                <a:tc>
                  <a:txBody>
                    <a:bodyPr/>
                    <a:lstStyle/>
                    <a:p>
                      <a:r>
                        <a:rPr lang="en-CA" sz="1800" dirty="0" smtClean="0"/>
                        <a:t>+0.190</a:t>
                      </a:r>
                      <a:endParaRPr lang="en-CA" sz="1800" dirty="0"/>
                    </a:p>
                  </a:txBody>
                  <a:tcPr marL="91430" marR="91430" marT="45734" marB="45734"/>
                </a:tc>
                <a:extLst>
                  <a:ext uri="{0D108BD9-81ED-4DB2-BD59-A6C34878D82A}">
                    <a16:rowId xmlns:a16="http://schemas.microsoft.com/office/drawing/2014/main" val="10002"/>
                  </a:ext>
                </a:extLst>
              </a:tr>
              <a:tr h="370951">
                <a:tc>
                  <a:txBody>
                    <a:bodyPr/>
                    <a:lstStyle/>
                    <a:p>
                      <a:r>
                        <a:rPr lang="en-CA" sz="1800" dirty="0" smtClean="0"/>
                        <a:t>1.2</a:t>
                      </a:r>
                      <a:endParaRPr lang="en-CA" sz="1800" dirty="0"/>
                    </a:p>
                  </a:txBody>
                  <a:tcPr marL="91430" marR="91430" marT="45734" marB="45734"/>
                </a:tc>
                <a:tc>
                  <a:txBody>
                    <a:bodyPr/>
                    <a:lstStyle/>
                    <a:p>
                      <a:r>
                        <a:rPr lang="en-CA" sz="1800" dirty="0" smtClean="0"/>
                        <a:t>−1.5000</a:t>
                      </a:r>
                      <a:endParaRPr lang="en-CA" sz="1800" dirty="0"/>
                    </a:p>
                  </a:txBody>
                  <a:tcPr marL="91430" marR="91430" marT="45734" marB="45734"/>
                </a:tc>
                <a:tc>
                  <a:txBody>
                    <a:bodyPr/>
                    <a:lstStyle/>
                    <a:p>
                      <a:r>
                        <a:rPr lang="en-CA" sz="1800" dirty="0" smtClean="0"/>
                        <a:t>+1.857</a:t>
                      </a:r>
                      <a:endParaRPr lang="en-CA" sz="1800" dirty="0"/>
                    </a:p>
                  </a:txBody>
                  <a:tcPr marL="91430" marR="91430" marT="45734" marB="45734"/>
                </a:tc>
                <a:tc>
                  <a:txBody>
                    <a:bodyPr/>
                    <a:lstStyle/>
                    <a:p>
                      <a:r>
                        <a:rPr lang="en-CA" sz="1800" dirty="0" smtClean="0"/>
                        <a:t>+0.357</a:t>
                      </a:r>
                      <a:endParaRPr lang="en-CA" sz="1800" dirty="0"/>
                    </a:p>
                  </a:txBody>
                  <a:tcPr marL="91430" marR="91430" marT="45734" marB="45734"/>
                </a:tc>
                <a:tc>
                  <a:txBody>
                    <a:bodyPr/>
                    <a:lstStyle/>
                    <a:p>
                      <a:r>
                        <a:rPr lang="en-CA" sz="1800" dirty="0" smtClean="0"/>
                        <a:t>0.9600</a:t>
                      </a:r>
                      <a:endParaRPr lang="en-CA" sz="1800" dirty="0"/>
                    </a:p>
                  </a:txBody>
                  <a:tcPr marL="91430" marR="91430" marT="45734" marB="45734"/>
                </a:tc>
                <a:tc>
                  <a:txBody>
                    <a:bodyPr/>
                    <a:lstStyle/>
                    <a:p>
                      <a:r>
                        <a:rPr lang="en-CA" sz="1800" dirty="0" smtClean="0"/>
                        <a:t>+0.343</a:t>
                      </a:r>
                      <a:endParaRPr lang="en-CA" sz="1800" dirty="0"/>
                    </a:p>
                  </a:txBody>
                  <a:tcPr marL="91430" marR="91430" marT="45734" marB="45734"/>
                </a:tc>
                <a:extLst>
                  <a:ext uri="{0D108BD9-81ED-4DB2-BD59-A6C34878D82A}">
                    <a16:rowId xmlns:a16="http://schemas.microsoft.com/office/drawing/2014/main" val="10003"/>
                  </a:ext>
                </a:extLst>
              </a:tr>
              <a:tr h="370951">
                <a:tc>
                  <a:txBody>
                    <a:bodyPr/>
                    <a:lstStyle/>
                    <a:p>
                      <a:endParaRPr lang="en-CA" sz="1800"/>
                    </a:p>
                  </a:txBody>
                  <a:tcPr marL="91430" marR="91430" marT="45734" marB="45734"/>
                </a:tc>
                <a:tc>
                  <a:txBody>
                    <a:bodyPr/>
                    <a:lstStyle/>
                    <a:p>
                      <a:endParaRPr lang="en-CA" sz="1800"/>
                    </a:p>
                  </a:txBody>
                  <a:tcPr marL="91430" marR="91430" marT="45734" marB="45734"/>
                </a:tc>
                <a:tc>
                  <a:txBody>
                    <a:bodyPr/>
                    <a:lstStyle/>
                    <a:p>
                      <a:endParaRPr lang="en-CA" sz="1800"/>
                    </a:p>
                  </a:txBody>
                  <a:tcPr marL="91430" marR="91430" marT="45734" marB="45734"/>
                </a:tc>
                <a:tc>
                  <a:txBody>
                    <a:bodyPr/>
                    <a:lstStyle/>
                    <a:p>
                      <a:endParaRPr lang="en-CA" sz="1800"/>
                    </a:p>
                  </a:txBody>
                  <a:tcPr marL="91430" marR="91430" marT="45734" marB="45734"/>
                </a:tc>
                <a:tc>
                  <a:txBody>
                    <a:bodyPr/>
                    <a:lstStyle/>
                    <a:p>
                      <a:endParaRPr lang="en-CA" sz="1800" dirty="0"/>
                    </a:p>
                  </a:txBody>
                  <a:tcPr marL="91430" marR="91430" marT="45734" marB="45734"/>
                </a:tc>
                <a:tc>
                  <a:txBody>
                    <a:bodyPr/>
                    <a:lstStyle/>
                    <a:p>
                      <a:r>
                        <a:rPr lang="en-CA" sz="1800" dirty="0" smtClean="0"/>
                        <a:t>+0.292</a:t>
                      </a:r>
                      <a:endParaRPr lang="en-CA" sz="1800" dirty="0"/>
                    </a:p>
                  </a:txBody>
                  <a:tcPr marL="91430" marR="91430" marT="45734" marB="45734"/>
                </a:tc>
                <a:extLst>
                  <a:ext uri="{0D108BD9-81ED-4DB2-BD59-A6C34878D82A}">
                    <a16:rowId xmlns:a16="http://schemas.microsoft.com/office/drawing/2014/main" val="10004"/>
                  </a:ext>
                </a:extLst>
              </a:tr>
            </a:tbl>
          </a:graphicData>
        </a:graphic>
      </p:graphicFrame>
      <p:sp>
        <p:nvSpPr>
          <p:cNvPr id="49201" name="TextBox 6"/>
          <p:cNvSpPr txBox="1">
            <a:spLocks noChangeArrowheads="1"/>
          </p:cNvSpPr>
          <p:nvPr/>
        </p:nvSpPr>
        <p:spPr bwMode="auto">
          <a:xfrm>
            <a:off x="971550" y="5084763"/>
            <a:ext cx="56165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CA" altLang="en-US" sz="2800" dirty="0"/>
              <a:t>Value of swap is $</a:t>
            </a:r>
            <a:r>
              <a:rPr lang="en-CA" altLang="en-US" sz="2800" dirty="0" smtClean="0"/>
              <a:t>0.292 </a:t>
            </a:r>
            <a:r>
              <a:rPr lang="en-CA" altLang="en-US" sz="2800" dirty="0"/>
              <a:t>million</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Value Changes Through Time</a:t>
            </a:r>
            <a:endParaRPr lang="en-CA" dirty="0"/>
          </a:p>
        </p:txBody>
      </p:sp>
      <p:sp>
        <p:nvSpPr>
          <p:cNvPr id="3" name="Content Placeholder 2"/>
          <p:cNvSpPr>
            <a:spLocks noGrp="1"/>
          </p:cNvSpPr>
          <p:nvPr>
            <p:ph idx="1"/>
          </p:nvPr>
        </p:nvSpPr>
        <p:spPr/>
        <p:txBody>
          <a:bodyPr/>
          <a:lstStyle/>
          <a:p>
            <a:r>
              <a:rPr lang="en-US" dirty="0" smtClean="0"/>
              <a:t>To party paying fixed</a:t>
            </a:r>
          </a:p>
          <a:p>
            <a:pPr lvl="1"/>
            <a:r>
              <a:rPr lang="en-US" dirty="0" smtClean="0"/>
              <a:t>How is swap value expected to change through time when term structure is upward sloping?</a:t>
            </a:r>
          </a:p>
          <a:p>
            <a:pPr lvl="1"/>
            <a:r>
              <a:rPr lang="en-US" dirty="0"/>
              <a:t>How is swap value expected to change through time when term structure is </a:t>
            </a:r>
            <a:r>
              <a:rPr lang="en-US" dirty="0" smtClean="0"/>
              <a:t>downward </a:t>
            </a:r>
            <a:r>
              <a:rPr lang="en-US" dirty="0"/>
              <a:t>sloping?</a:t>
            </a:r>
          </a:p>
          <a:p>
            <a:pPr marL="457200" lvl="1" indent="0">
              <a:buNone/>
            </a:pPr>
            <a:endParaRPr lang="en-US" dirty="0" smtClean="0"/>
          </a:p>
          <a:p>
            <a:pPr lvl="1"/>
            <a:endParaRPr lang="en-CA" dirty="0"/>
          </a:p>
        </p:txBody>
      </p:sp>
      <p:sp>
        <p:nvSpPr>
          <p:cNvPr id="4" name="Footer Placeholder 3"/>
          <p:cNvSpPr>
            <a:spLocks noGrp="1"/>
          </p:cNvSpPr>
          <p:nvPr>
            <p:ph type="ftr" sz="quarter" idx="11"/>
          </p:nvPr>
        </p:nvSpPr>
        <p:spPr/>
        <p:txBody>
          <a:bodyPr/>
          <a:lstStyle/>
          <a:p>
            <a:pPr>
              <a:defRPr/>
            </a:pPr>
            <a:r>
              <a:rPr lang="en-US" altLang="en-US" smtClean="0"/>
              <a:t>Options, Futures, and Other Derivatives, 11th Edition, Copyright © John C. Hull 2021</a:t>
            </a:r>
            <a:endParaRPr lang="en-US" altLang="en-US" i="0"/>
          </a:p>
        </p:txBody>
      </p:sp>
      <p:sp>
        <p:nvSpPr>
          <p:cNvPr id="5" name="Slide Number Placeholder 4"/>
          <p:cNvSpPr>
            <a:spLocks noGrp="1"/>
          </p:cNvSpPr>
          <p:nvPr>
            <p:ph type="sldNum" sz="quarter" idx="12"/>
          </p:nvPr>
        </p:nvSpPr>
        <p:spPr/>
        <p:txBody>
          <a:bodyPr/>
          <a:lstStyle/>
          <a:p>
            <a:pPr>
              <a:defRPr/>
            </a:pPr>
            <a:fld id="{B279D880-1821-47EF-A47D-DFD410122695}" type="slidenum">
              <a:rPr lang="en-US" altLang="en-US" smtClean="0"/>
              <a:pPr>
                <a:defRPr/>
              </a:pPr>
              <a:t>26</a:t>
            </a:fld>
            <a:endParaRPr lang="en-US" altLang="en-US"/>
          </a:p>
        </p:txBody>
      </p:sp>
    </p:spTree>
    <p:extLst>
      <p:ext uri="{BB962C8B-B14F-4D97-AF65-F5344CB8AC3E}">
        <p14:creationId xmlns:p14="http://schemas.microsoft.com/office/powerpoint/2010/main" val="37949238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Rectangle 2"/>
          <p:cNvSpPr>
            <a:spLocks noGrp="1" noChangeArrowheads="1"/>
          </p:cNvSpPr>
          <p:nvPr>
            <p:ph type="title"/>
          </p:nvPr>
        </p:nvSpPr>
        <p:spPr>
          <a:xfrm>
            <a:off x="228600" y="1283872"/>
            <a:ext cx="7772400" cy="1143000"/>
          </a:xfrm>
          <a:noFill/>
        </p:spPr>
        <p:txBody>
          <a:bodyPr lIns="92075" tIns="46038" rIns="92075" bIns="46038" anchor="ctr"/>
          <a:lstStyle/>
          <a:p>
            <a:pPr eaLnBrk="1" hangingPunct="1"/>
            <a:r>
              <a:rPr lang="en-US" altLang="en-US" dirty="0" smtClean="0"/>
              <a:t>An Example of a Fixed-for-Fixed Currency Swap </a:t>
            </a:r>
            <a:r>
              <a:rPr lang="en-US" altLang="en-US" sz="2400" dirty="0" smtClean="0"/>
              <a:t>(Figure 7.10</a:t>
            </a:r>
            <a:r>
              <a:rPr lang="en-US" altLang="en-US" sz="2400" dirty="0"/>
              <a:t>)</a:t>
            </a:r>
            <a:endParaRPr lang="en-US" altLang="en-US" sz="2400" dirty="0" smtClean="0"/>
          </a:p>
        </p:txBody>
      </p:sp>
      <p:sp>
        <p:nvSpPr>
          <p:cNvPr id="52228" name="Rectangle 3"/>
          <p:cNvSpPr>
            <a:spLocks noGrp="1" noChangeArrowheads="1"/>
          </p:cNvSpPr>
          <p:nvPr>
            <p:ph idx="1"/>
          </p:nvPr>
        </p:nvSpPr>
        <p:spPr>
          <a:xfrm>
            <a:off x="827584" y="2426872"/>
            <a:ext cx="7396163" cy="3479800"/>
          </a:xfrm>
          <a:noFill/>
        </p:spPr>
        <p:txBody>
          <a:bodyPr lIns="92075" tIns="46038" rIns="92075" bIns="46038"/>
          <a:lstStyle/>
          <a:p>
            <a:pPr eaLnBrk="1" hangingPunct="1">
              <a:buFont typeface="Wingdings" panose="05000000000000000000" pitchFamily="2" charset="2"/>
              <a:buNone/>
            </a:pPr>
            <a:endParaRPr lang="en-US" altLang="en-US" dirty="0" smtClean="0"/>
          </a:p>
          <a:p>
            <a:pPr eaLnBrk="1" hangingPunct="1">
              <a:buFont typeface="Wingdings" panose="05000000000000000000" pitchFamily="2" charset="2"/>
              <a:buNone/>
            </a:pPr>
            <a:r>
              <a:rPr lang="en-US" altLang="en-US" dirty="0" smtClean="0"/>
              <a:t>   Five year agreement by BP to </a:t>
            </a:r>
          </a:p>
          <a:p>
            <a:pPr eaLnBrk="1" hangingPunct="1"/>
            <a:r>
              <a:rPr lang="en-US" altLang="en-US" dirty="0" smtClean="0"/>
              <a:t>Pay 3% on a US dollar principal of $15,000,000 </a:t>
            </a:r>
          </a:p>
          <a:p>
            <a:pPr eaLnBrk="1" hangingPunct="1"/>
            <a:r>
              <a:rPr lang="en-US" altLang="en-US" dirty="0" smtClean="0"/>
              <a:t>Receive 4% on a sterling principal of £10,000,000</a:t>
            </a:r>
          </a:p>
        </p:txBody>
      </p:sp>
      <p:sp>
        <p:nvSpPr>
          <p:cNvPr id="52226"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smtClean="0"/>
              <a:t>Options, Futures, and Other Derivatives, 11th Edition, Copyright © John C. Hull 2021</a:t>
            </a:r>
            <a:endParaRPr lang="en-US" altLang="en-US" sz="1400" i="0"/>
          </a:p>
        </p:txBody>
      </p:sp>
      <p:sp>
        <p:nvSpPr>
          <p:cNvPr id="52229"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D824B300-06DF-4A32-91FF-40610B0CC3A3}" type="slidenum">
              <a:rPr lang="en-US" altLang="en-US" sz="1800"/>
              <a:pPr>
                <a:spcBef>
                  <a:spcPct val="0"/>
                </a:spcBef>
                <a:buClrTx/>
                <a:buSzTx/>
                <a:buFontTx/>
                <a:buNone/>
              </a:pPr>
              <a:t>27</a:t>
            </a:fld>
            <a:endParaRPr lang="en-US" altLang="en-US" sz="1800"/>
          </a:p>
        </p:txBody>
      </p:sp>
    </p:spTree>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2"/>
          <p:cNvSpPr>
            <a:spLocks noGrp="1" noChangeArrowheads="1"/>
          </p:cNvSpPr>
          <p:nvPr>
            <p:ph type="title"/>
          </p:nvPr>
        </p:nvSpPr>
        <p:spPr>
          <a:noFill/>
        </p:spPr>
        <p:txBody>
          <a:bodyPr lIns="92075" tIns="46038" rIns="92075" bIns="46038" anchor="ctr"/>
          <a:lstStyle/>
          <a:p>
            <a:pPr eaLnBrk="1" hangingPunct="1"/>
            <a:r>
              <a:rPr lang="en-US" altLang="en-US" smtClean="0"/>
              <a:t>Exchange of Principal</a:t>
            </a:r>
          </a:p>
        </p:txBody>
      </p:sp>
      <p:sp>
        <p:nvSpPr>
          <p:cNvPr id="54276" name="Rectangle 3"/>
          <p:cNvSpPr>
            <a:spLocks noGrp="1" noChangeArrowheads="1"/>
          </p:cNvSpPr>
          <p:nvPr>
            <p:ph idx="1"/>
          </p:nvPr>
        </p:nvSpPr>
        <p:spPr>
          <a:xfrm>
            <a:off x="1017588" y="2640720"/>
            <a:ext cx="6118225" cy="4114800"/>
          </a:xfrm>
          <a:noFill/>
        </p:spPr>
        <p:txBody>
          <a:bodyPr lIns="92075" tIns="46038" rIns="92075" bIns="46038"/>
          <a:lstStyle/>
          <a:p>
            <a:pPr eaLnBrk="1" hangingPunct="1"/>
            <a:r>
              <a:rPr lang="en-US" altLang="en-US" dirty="0" smtClean="0"/>
              <a:t>In an interest rate swap the principal is not exchanged</a:t>
            </a:r>
          </a:p>
          <a:p>
            <a:pPr eaLnBrk="1" hangingPunct="1"/>
            <a:r>
              <a:rPr lang="en-US" altLang="en-US" dirty="0" smtClean="0"/>
              <a:t>In a currency swap the principal is exchanged at the beginning and the end of the swap</a:t>
            </a:r>
          </a:p>
        </p:txBody>
      </p:sp>
      <p:sp>
        <p:nvSpPr>
          <p:cNvPr id="54274"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smtClean="0"/>
              <a:t>Options, Futures, and Other Derivatives, 11th Edition, Copyright © John C. Hull 2021</a:t>
            </a:r>
            <a:endParaRPr lang="en-US" altLang="en-US" sz="1400" i="0"/>
          </a:p>
        </p:txBody>
      </p:sp>
      <p:sp>
        <p:nvSpPr>
          <p:cNvPr id="54277"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B72837F9-12CA-4EE2-90C5-1F5C45EA4D8A}" type="slidenum">
              <a:rPr lang="en-US" altLang="en-US" sz="1800"/>
              <a:pPr>
                <a:spcBef>
                  <a:spcPct val="0"/>
                </a:spcBef>
                <a:buClrTx/>
                <a:buSzTx/>
                <a:buFontTx/>
                <a:buNone/>
              </a:pPr>
              <a:t>28</a:t>
            </a:fld>
            <a:endParaRPr lang="en-US" altLang="en-US" sz="1800"/>
          </a:p>
        </p:txBody>
      </p:sp>
    </p:spTree>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769937" y="482600"/>
            <a:ext cx="6499225" cy="1506538"/>
          </a:xfrm>
        </p:spPr>
        <p:txBody>
          <a:bodyPr lIns="92075" tIns="46038" rIns="92075" bIns="46038"/>
          <a:lstStyle/>
          <a:p>
            <a:pPr eaLnBrk="1" hangingPunct="1"/>
            <a:r>
              <a:rPr lang="en-US" altLang="en-US" sz="3500" dirty="0" smtClean="0"/>
              <a:t>The Cash Flows </a:t>
            </a:r>
            <a:r>
              <a:rPr lang="en-US" altLang="en-US" sz="2200" dirty="0" smtClean="0"/>
              <a:t>(Table 7.6)</a:t>
            </a:r>
            <a:endParaRPr lang="en-US" altLang="en-US" sz="3500" dirty="0" smtClean="0"/>
          </a:p>
        </p:txBody>
      </p:sp>
      <p:sp>
        <p:nvSpPr>
          <p:cNvPr id="56323"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smtClean="0"/>
              <a:t>Options, Futures, and Other Derivatives, 11th Edition, Copyright © John C. Hull 2021</a:t>
            </a:r>
            <a:endParaRPr lang="en-US" altLang="en-US" sz="1400">
              <a:cs typeface="Arial" panose="020B0604020202020204" pitchFamily="34" charset="0"/>
            </a:endParaRPr>
          </a:p>
        </p:txBody>
      </p:sp>
      <p:sp>
        <p:nvSpPr>
          <p:cNvPr id="5632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76070564-A42F-4663-9227-30BBB4AA0843}" type="slidenum">
              <a:rPr lang="en-US" altLang="en-US" sz="1800"/>
              <a:pPr>
                <a:spcBef>
                  <a:spcPct val="0"/>
                </a:spcBef>
                <a:buClrTx/>
                <a:buSzTx/>
                <a:buFontTx/>
                <a:buNone/>
              </a:pPr>
              <a:t>29</a:t>
            </a:fld>
            <a:endParaRPr lang="en-US" altLang="en-US" sz="1800"/>
          </a:p>
        </p:txBody>
      </p:sp>
      <p:sp>
        <p:nvSpPr>
          <p:cNvPr id="56325" name="Rectangle 4"/>
          <p:cNvSpPr>
            <a:spLocks noChangeArrowheads="1"/>
          </p:cNvSpPr>
          <p:nvPr/>
        </p:nvSpPr>
        <p:spPr bwMode="auto">
          <a:xfrm>
            <a:off x="2990850" y="1501775"/>
            <a:ext cx="3155950" cy="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graphicFrame>
        <p:nvGraphicFramePr>
          <p:cNvPr id="34" name="Table 33"/>
          <p:cNvGraphicFramePr>
            <a:graphicFrameLocks noGrp="1"/>
          </p:cNvGraphicFramePr>
          <p:nvPr>
            <p:extLst>
              <p:ext uri="{D42A27DB-BD31-4B8C-83A1-F6EECF244321}">
                <p14:modId xmlns:p14="http://schemas.microsoft.com/office/powerpoint/2010/main" val="23213503"/>
              </p:ext>
            </p:extLst>
          </p:nvPr>
        </p:nvGraphicFramePr>
        <p:xfrm>
          <a:off x="971550" y="1989138"/>
          <a:ext cx="6096000" cy="3383008"/>
        </p:xfrm>
        <a:graphic>
          <a:graphicData uri="http://schemas.openxmlformats.org/drawingml/2006/table">
            <a:tbl>
              <a:tblPr firstRow="1" bandRow="1">
                <a:tableStyleId>{5940675A-B579-460E-94D1-54222C63F5DA}</a:tableStyleId>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914344">
                <a:tc>
                  <a:txBody>
                    <a:bodyPr/>
                    <a:lstStyle/>
                    <a:p>
                      <a:r>
                        <a:rPr lang="en-CA" sz="1800" dirty="0" smtClean="0"/>
                        <a:t>Date</a:t>
                      </a:r>
                      <a:endParaRPr lang="en-US" sz="1800" dirty="0"/>
                    </a:p>
                  </a:txBody>
                  <a:tcPr marT="45702" marB="45702"/>
                </a:tc>
                <a:tc>
                  <a:txBody>
                    <a:bodyPr/>
                    <a:lstStyle/>
                    <a:p>
                      <a:pPr algn="ctr"/>
                      <a:r>
                        <a:rPr lang="en-CA" sz="1800" dirty="0" smtClean="0"/>
                        <a:t>Dollar Cash Flows</a:t>
                      </a:r>
                    </a:p>
                    <a:p>
                      <a:pPr algn="ctr"/>
                      <a:r>
                        <a:rPr lang="en-CA" sz="1800" dirty="0" smtClean="0"/>
                        <a:t>(millions)</a:t>
                      </a:r>
                      <a:endParaRPr lang="en-US" sz="1800" dirty="0"/>
                    </a:p>
                  </a:txBody>
                  <a:tcPr marT="45702" marB="45702"/>
                </a:tc>
                <a:tc>
                  <a:txBody>
                    <a:bodyPr/>
                    <a:lstStyle/>
                    <a:p>
                      <a:pPr algn="ctr"/>
                      <a:r>
                        <a:rPr lang="en-CA" sz="1800" dirty="0" smtClean="0"/>
                        <a:t>Sterling cash flow</a:t>
                      </a:r>
                    </a:p>
                    <a:p>
                      <a:pPr algn="ctr"/>
                      <a:r>
                        <a:rPr lang="en-CA" sz="1800" dirty="0" smtClean="0"/>
                        <a:t>(millions)</a:t>
                      </a:r>
                      <a:endParaRPr lang="en-US" sz="1800" dirty="0"/>
                    </a:p>
                  </a:txBody>
                  <a:tcPr marT="45702" marB="45702"/>
                </a:tc>
                <a:extLst>
                  <a:ext uri="{0D108BD9-81ED-4DB2-BD59-A6C34878D82A}">
                    <a16:rowId xmlns:a16="http://schemas.microsoft.com/office/drawing/2014/main" val="10000"/>
                  </a:ext>
                </a:extLst>
              </a:tr>
              <a:tr h="365717">
                <a:tc>
                  <a:txBody>
                    <a:bodyPr/>
                    <a:lstStyle/>
                    <a:p>
                      <a:r>
                        <a:rPr lang="en-CA" sz="1800" dirty="0" smtClean="0"/>
                        <a:t>Feb 1, </a:t>
                      </a:r>
                      <a:r>
                        <a:rPr lang="en-CA" sz="1800" dirty="0" smtClean="0"/>
                        <a:t>2022</a:t>
                      </a:r>
                      <a:endParaRPr lang="en-US" sz="1800" dirty="0"/>
                    </a:p>
                  </a:txBody>
                  <a:tcPr marT="45702" marB="45702"/>
                </a:tc>
                <a:tc>
                  <a:txBody>
                    <a:bodyPr/>
                    <a:lstStyle/>
                    <a:p>
                      <a:pPr algn="ctr"/>
                      <a:r>
                        <a:rPr lang="en-CA" sz="1800" dirty="0" smtClean="0"/>
                        <a:t> +15.00</a:t>
                      </a:r>
                      <a:endParaRPr lang="en-US" sz="1800" dirty="0"/>
                    </a:p>
                  </a:txBody>
                  <a:tcPr marT="45702" marB="45702"/>
                </a:tc>
                <a:tc>
                  <a:txBody>
                    <a:bodyPr/>
                    <a:lstStyle/>
                    <a:p>
                      <a:pPr algn="ctr"/>
                      <a:r>
                        <a:rPr lang="en-US" sz="1800" dirty="0" smtClean="0"/>
                        <a:t>−</a:t>
                      </a:r>
                      <a:r>
                        <a:rPr lang="en-CA" sz="1800" dirty="0" smtClean="0"/>
                        <a:t>10.00</a:t>
                      </a:r>
                      <a:endParaRPr lang="en-US" sz="1800" dirty="0"/>
                    </a:p>
                  </a:txBody>
                  <a:tcPr marT="45702" marB="45702"/>
                </a:tc>
                <a:extLst>
                  <a:ext uri="{0D108BD9-81ED-4DB2-BD59-A6C34878D82A}">
                    <a16:rowId xmlns:a16="http://schemas.microsoft.com/office/drawing/2014/main" val="10001"/>
                  </a:ext>
                </a:extLst>
              </a:tr>
              <a:tr h="365717">
                <a:tc>
                  <a:txBody>
                    <a:bodyPr/>
                    <a:lstStyle/>
                    <a:p>
                      <a:r>
                        <a:rPr lang="en-CA" sz="1800" dirty="0" smtClean="0"/>
                        <a:t>Feb 1, </a:t>
                      </a:r>
                      <a:r>
                        <a:rPr lang="en-CA" sz="1800" dirty="0" smtClean="0"/>
                        <a:t>2023</a:t>
                      </a:r>
                      <a:endParaRPr lang="en-US" sz="1800" dirty="0"/>
                    </a:p>
                  </a:txBody>
                  <a:tcPr marT="45702" marB="45702"/>
                </a:tc>
                <a:tc>
                  <a:txBody>
                    <a:bodyPr/>
                    <a:lstStyle/>
                    <a:p>
                      <a:pPr algn="ctr"/>
                      <a:r>
                        <a:rPr lang="en-CA" sz="1800" dirty="0" smtClean="0"/>
                        <a:t>  </a:t>
                      </a:r>
                      <a:r>
                        <a:rPr lang="en-US" sz="1800" dirty="0" smtClean="0"/>
                        <a:t>−</a:t>
                      </a:r>
                      <a:r>
                        <a:rPr lang="en-CA" sz="1800" dirty="0" smtClean="0"/>
                        <a:t>0.45</a:t>
                      </a:r>
                      <a:endParaRPr lang="en-US" sz="1800" dirty="0"/>
                    </a:p>
                  </a:txBody>
                  <a:tcPr marT="45702" marB="45702"/>
                </a:tc>
                <a:tc>
                  <a:txBody>
                    <a:bodyPr/>
                    <a:lstStyle/>
                    <a:p>
                      <a:pPr algn="ctr"/>
                      <a:r>
                        <a:rPr lang="en-US" sz="1800" dirty="0" smtClean="0"/>
                        <a:t>  +0.40</a:t>
                      </a:r>
                      <a:endParaRPr lang="en-US" sz="1800" dirty="0"/>
                    </a:p>
                  </a:txBody>
                  <a:tcPr marT="45702" marB="45702"/>
                </a:tc>
                <a:extLst>
                  <a:ext uri="{0D108BD9-81ED-4DB2-BD59-A6C34878D82A}">
                    <a16:rowId xmlns:a16="http://schemas.microsoft.com/office/drawing/2014/main" val="10002"/>
                  </a:ext>
                </a:extLst>
              </a:tr>
              <a:tr h="365717">
                <a:tc>
                  <a:txBody>
                    <a:bodyPr/>
                    <a:lstStyle/>
                    <a:p>
                      <a:r>
                        <a:rPr lang="en-CA" sz="1800" dirty="0" smtClean="0"/>
                        <a:t>Feb 1, </a:t>
                      </a:r>
                      <a:r>
                        <a:rPr lang="en-CA" sz="1800" dirty="0" smtClean="0"/>
                        <a:t>2024</a:t>
                      </a:r>
                      <a:endParaRPr lang="en-US" sz="1800" dirty="0"/>
                    </a:p>
                  </a:txBody>
                  <a:tcPr marT="45702" marB="45702"/>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CA" sz="1800" dirty="0" smtClean="0"/>
                        <a:t>  </a:t>
                      </a:r>
                      <a:r>
                        <a:rPr lang="en-US" sz="1800" dirty="0" smtClean="0"/>
                        <a:t>−</a:t>
                      </a:r>
                      <a:r>
                        <a:rPr lang="en-CA" sz="1800" dirty="0" smtClean="0"/>
                        <a:t>0.45</a:t>
                      </a:r>
                      <a:endParaRPr lang="en-US" sz="1800" dirty="0" smtClean="0"/>
                    </a:p>
                  </a:txBody>
                  <a:tcPr marT="45702" marB="45702"/>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smtClean="0"/>
                        <a:t>  +0.40</a:t>
                      </a:r>
                    </a:p>
                  </a:txBody>
                  <a:tcPr marT="45702" marB="45702"/>
                </a:tc>
                <a:extLst>
                  <a:ext uri="{0D108BD9-81ED-4DB2-BD59-A6C34878D82A}">
                    <a16:rowId xmlns:a16="http://schemas.microsoft.com/office/drawing/2014/main" val="10003"/>
                  </a:ext>
                </a:extLst>
              </a:tr>
              <a:tr h="365717">
                <a:tc>
                  <a:txBody>
                    <a:bodyPr/>
                    <a:lstStyle/>
                    <a:p>
                      <a:r>
                        <a:rPr lang="en-CA" sz="1800" dirty="0" smtClean="0"/>
                        <a:t>Feb 1, </a:t>
                      </a:r>
                      <a:r>
                        <a:rPr lang="en-CA" sz="1800" dirty="0" smtClean="0"/>
                        <a:t>2025</a:t>
                      </a:r>
                      <a:endParaRPr lang="en-US" sz="1800" dirty="0"/>
                    </a:p>
                  </a:txBody>
                  <a:tcPr marT="45702" marB="45702"/>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CA" sz="1800" dirty="0" smtClean="0"/>
                        <a:t>  </a:t>
                      </a:r>
                      <a:r>
                        <a:rPr lang="en-US" sz="1800" dirty="0" smtClean="0"/>
                        <a:t>−</a:t>
                      </a:r>
                      <a:r>
                        <a:rPr lang="en-CA" sz="1800" dirty="0" smtClean="0"/>
                        <a:t>0.45</a:t>
                      </a:r>
                      <a:endParaRPr lang="en-US" sz="1800" dirty="0" smtClean="0"/>
                    </a:p>
                  </a:txBody>
                  <a:tcPr marT="45702" marB="45702"/>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smtClean="0"/>
                        <a:t>  +0.40</a:t>
                      </a:r>
                    </a:p>
                  </a:txBody>
                  <a:tcPr marT="45702" marB="45702"/>
                </a:tc>
                <a:extLst>
                  <a:ext uri="{0D108BD9-81ED-4DB2-BD59-A6C34878D82A}">
                    <a16:rowId xmlns:a16="http://schemas.microsoft.com/office/drawing/2014/main" val="10004"/>
                  </a:ext>
                </a:extLst>
              </a:tr>
              <a:tr h="365717">
                <a:tc>
                  <a:txBody>
                    <a:bodyPr/>
                    <a:lstStyle/>
                    <a:p>
                      <a:r>
                        <a:rPr lang="en-CA" sz="1800" dirty="0" smtClean="0"/>
                        <a:t>Feb 1, </a:t>
                      </a:r>
                      <a:r>
                        <a:rPr lang="en-CA" sz="1800" dirty="0" smtClean="0"/>
                        <a:t>2026</a:t>
                      </a:r>
                      <a:endParaRPr lang="en-US" sz="1800" dirty="0"/>
                    </a:p>
                  </a:txBody>
                  <a:tcPr marT="45702" marB="45702"/>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CA" sz="1800" dirty="0" smtClean="0"/>
                        <a:t>  </a:t>
                      </a:r>
                      <a:r>
                        <a:rPr lang="en-US" sz="1800" dirty="0" smtClean="0"/>
                        <a:t>−</a:t>
                      </a:r>
                      <a:r>
                        <a:rPr lang="en-CA" sz="1800" dirty="0" smtClean="0"/>
                        <a:t>0.45</a:t>
                      </a:r>
                      <a:endParaRPr lang="en-US" sz="1800" dirty="0" smtClean="0"/>
                    </a:p>
                  </a:txBody>
                  <a:tcPr marT="45702" marB="45702"/>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smtClean="0"/>
                        <a:t>  +0.40</a:t>
                      </a:r>
                    </a:p>
                  </a:txBody>
                  <a:tcPr marT="45702" marB="45702"/>
                </a:tc>
                <a:extLst>
                  <a:ext uri="{0D108BD9-81ED-4DB2-BD59-A6C34878D82A}">
                    <a16:rowId xmlns:a16="http://schemas.microsoft.com/office/drawing/2014/main" val="10005"/>
                  </a:ext>
                </a:extLst>
              </a:tr>
              <a:tr h="640031">
                <a:tc>
                  <a:txBody>
                    <a:bodyPr/>
                    <a:lstStyle/>
                    <a:p>
                      <a:r>
                        <a:rPr lang="en-CA" sz="1800" dirty="0" smtClean="0"/>
                        <a:t>Feb 1</a:t>
                      </a:r>
                      <a:r>
                        <a:rPr lang="en-CA" sz="1800" smtClean="0"/>
                        <a:t>, </a:t>
                      </a:r>
                      <a:r>
                        <a:rPr lang="en-CA" sz="1800" smtClean="0"/>
                        <a:t>2027</a:t>
                      </a:r>
                      <a:endParaRPr lang="en-US" sz="1800" dirty="0"/>
                    </a:p>
                  </a:txBody>
                  <a:tcPr marT="45702" marB="45702"/>
                </a:tc>
                <a:tc>
                  <a:txBody>
                    <a:bodyPr/>
                    <a:lstStyle/>
                    <a:p>
                      <a:pPr algn="ctr"/>
                      <a:r>
                        <a:rPr lang="en-US" sz="1800" dirty="0" smtClean="0"/>
                        <a:t>−</a:t>
                      </a:r>
                      <a:r>
                        <a:rPr lang="en-CA" sz="1800" dirty="0" smtClean="0"/>
                        <a:t>15.45</a:t>
                      </a:r>
                      <a:endParaRPr lang="en-US" sz="1800" dirty="0"/>
                    </a:p>
                  </a:txBody>
                  <a:tcPr marT="45702" marB="45702"/>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smtClean="0"/>
                        <a:t>+10.40</a:t>
                      </a:r>
                    </a:p>
                    <a:p>
                      <a:pPr algn="ctr"/>
                      <a:endParaRPr lang="en-US" sz="1800" dirty="0"/>
                    </a:p>
                  </a:txBody>
                  <a:tcPr marT="45702" marB="45702"/>
                </a:tc>
                <a:extLst>
                  <a:ext uri="{0D108BD9-81ED-4DB2-BD59-A6C34878D82A}">
                    <a16:rowId xmlns:a16="http://schemas.microsoft.com/office/drawing/2014/main" val="10006"/>
                  </a:ext>
                </a:extLst>
              </a:tr>
            </a:tbl>
          </a:graphicData>
        </a:graphic>
      </p:graphicFrame>
    </p:spTree>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Rectangle 2"/>
          <p:cNvSpPr>
            <a:spLocks noGrp="1" noChangeArrowheads="1"/>
          </p:cNvSpPr>
          <p:nvPr>
            <p:ph type="title"/>
          </p:nvPr>
        </p:nvSpPr>
        <p:spPr>
          <a:noFill/>
        </p:spPr>
        <p:txBody>
          <a:bodyPr lIns="92075" tIns="46038" rIns="92075" bIns="46038" anchor="ctr"/>
          <a:lstStyle/>
          <a:p>
            <a:pPr eaLnBrk="1" hangingPunct="1"/>
            <a:r>
              <a:rPr lang="en-US" altLang="en-US" smtClean="0"/>
              <a:t>Typical Uses of a </a:t>
            </a:r>
            <a:br>
              <a:rPr lang="en-US" altLang="en-US" smtClean="0"/>
            </a:br>
            <a:r>
              <a:rPr lang="en-US" altLang="en-US" smtClean="0"/>
              <a:t>Currency Swap</a:t>
            </a:r>
          </a:p>
        </p:txBody>
      </p:sp>
      <p:sp>
        <p:nvSpPr>
          <p:cNvPr id="58372" name="Rectangle 3"/>
          <p:cNvSpPr>
            <a:spLocks noGrp="1" noChangeArrowheads="1"/>
          </p:cNvSpPr>
          <p:nvPr>
            <p:ph sz="half" idx="1"/>
          </p:nvPr>
        </p:nvSpPr>
        <p:spPr>
          <a:xfrm>
            <a:off x="975519" y="2636912"/>
            <a:ext cx="7192962" cy="2495550"/>
          </a:xfrm>
          <a:noFill/>
        </p:spPr>
        <p:txBody>
          <a:bodyPr lIns="92075" tIns="46038" rIns="92075" bIns="46038"/>
          <a:lstStyle/>
          <a:p>
            <a:pPr eaLnBrk="1" hangingPunct="1"/>
            <a:r>
              <a:rPr lang="en-US" altLang="en-US" dirty="0" smtClean="0"/>
              <a:t>Conversion from a liability in one currency to a liability in another currency</a:t>
            </a:r>
          </a:p>
          <a:p>
            <a:pPr eaLnBrk="1" hangingPunct="1">
              <a:buFont typeface="Wingdings" panose="05000000000000000000" pitchFamily="2" charset="2"/>
              <a:buNone/>
            </a:pPr>
            <a:endParaRPr lang="en-US" altLang="en-US" dirty="0" smtClean="0"/>
          </a:p>
          <a:p>
            <a:pPr eaLnBrk="1" hangingPunct="1"/>
            <a:r>
              <a:rPr lang="en-US" altLang="en-US" dirty="0" smtClean="0"/>
              <a:t>Conversion from an investment in one currency to an investment in another currency</a:t>
            </a:r>
          </a:p>
          <a:p>
            <a:pPr eaLnBrk="1" hangingPunct="1"/>
            <a:endParaRPr lang="en-US" altLang="en-US" dirty="0" smtClean="0"/>
          </a:p>
        </p:txBody>
      </p:sp>
      <p:sp>
        <p:nvSpPr>
          <p:cNvPr id="58370" name="Footer Placeholder 5"/>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smtClean="0"/>
              <a:t>Options, Futures, and Other Derivatives, 11th Edition, Copyright © John C. Hull 2021</a:t>
            </a:r>
            <a:endParaRPr lang="en-US" altLang="en-US" sz="1400" i="0"/>
          </a:p>
        </p:txBody>
      </p:sp>
      <p:sp>
        <p:nvSpPr>
          <p:cNvPr id="58373"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209D17D6-CFA5-4C6E-92B0-D74368F9CB28}" type="slidenum">
              <a:rPr lang="en-US" altLang="en-US" sz="1800"/>
              <a:pPr>
                <a:spcBef>
                  <a:spcPct val="0"/>
                </a:spcBef>
                <a:buClrTx/>
                <a:buSzTx/>
                <a:buFontTx/>
                <a:buNone/>
              </a:pPr>
              <a:t>30</a:t>
            </a:fld>
            <a:endParaRPr lang="en-US" altLang="en-US" sz="1800"/>
          </a:p>
        </p:txBody>
      </p:sp>
    </p:spTree>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1"/>
          <p:cNvSpPr>
            <a:spLocks noGrp="1"/>
          </p:cNvSpPr>
          <p:nvPr>
            <p:ph type="title"/>
          </p:nvPr>
        </p:nvSpPr>
        <p:spPr>
          <a:xfrm>
            <a:off x="228600" y="1027907"/>
            <a:ext cx="7772400" cy="914400"/>
          </a:xfrm>
        </p:spPr>
        <p:txBody>
          <a:bodyPr/>
          <a:lstStyle/>
          <a:p>
            <a:pPr eaLnBrk="1" hangingPunct="1"/>
            <a:r>
              <a:rPr lang="en-CA" altLang="en-US" sz="4000" dirty="0" smtClean="0"/>
              <a:t>Comparative Advantage May Be Real Because of Taxes</a:t>
            </a:r>
            <a:endParaRPr lang="en-US" altLang="en-US" sz="4000" dirty="0" smtClean="0"/>
          </a:p>
        </p:txBody>
      </p:sp>
      <p:sp>
        <p:nvSpPr>
          <p:cNvPr id="41987" name="Content Placeholder 2"/>
          <p:cNvSpPr>
            <a:spLocks noGrp="1"/>
          </p:cNvSpPr>
          <p:nvPr>
            <p:ph idx="1"/>
          </p:nvPr>
        </p:nvSpPr>
        <p:spPr/>
        <p:txBody>
          <a:bodyPr/>
          <a:lstStyle/>
          <a:p>
            <a:pPr eaLnBrk="1" hangingPunct="1">
              <a:defRPr/>
            </a:pPr>
            <a:r>
              <a:rPr lang="en-CA" altLang="en-US" dirty="0" smtClean="0">
                <a:cs typeface="Arial" panose="020B0604020202020204" pitchFamily="34" charset="0"/>
              </a:rPr>
              <a:t> General Electric wants to borrow AUD</a:t>
            </a:r>
          </a:p>
          <a:p>
            <a:pPr eaLnBrk="1" hangingPunct="1">
              <a:defRPr/>
            </a:pPr>
            <a:r>
              <a:rPr lang="en-CA" altLang="en-US" dirty="0" smtClean="0">
                <a:cs typeface="Arial" panose="020B0604020202020204" pitchFamily="34" charset="0"/>
              </a:rPr>
              <a:t> </a:t>
            </a:r>
            <a:r>
              <a:rPr lang="en-CA" altLang="en-US" dirty="0" err="1" smtClean="0">
                <a:cs typeface="Arial" panose="020B0604020202020204" pitchFamily="34" charset="0"/>
              </a:rPr>
              <a:t>Quantas</a:t>
            </a:r>
            <a:r>
              <a:rPr lang="en-CA" altLang="en-US" dirty="0" smtClean="0">
                <a:cs typeface="Arial" panose="020B0604020202020204" pitchFamily="34" charset="0"/>
              </a:rPr>
              <a:t> wants to borrow USD</a:t>
            </a:r>
          </a:p>
          <a:p>
            <a:pPr marL="0" indent="0" eaLnBrk="1" hangingPunct="1">
              <a:buFont typeface="Wingdings" panose="05000000000000000000" pitchFamily="2" charset="2"/>
              <a:buNone/>
              <a:defRPr/>
            </a:pPr>
            <a:r>
              <a:rPr lang="en-CA" altLang="en-US" dirty="0" smtClean="0">
                <a:cs typeface="Arial" panose="020B0604020202020204" pitchFamily="34" charset="0"/>
              </a:rPr>
              <a:t>Borrowing costs after adjusting for the differential impact of taxes could be:</a:t>
            </a:r>
            <a:endParaRPr lang="en-US" altLang="en-US" dirty="0" smtClean="0">
              <a:cs typeface="Arial" panose="020B0604020202020204" pitchFamily="34" charset="0"/>
            </a:endParaRPr>
          </a:p>
        </p:txBody>
      </p:sp>
      <p:sp>
        <p:nvSpPr>
          <p:cNvPr id="60420"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smtClean="0"/>
              <a:t>Options, Futures, and Other Derivatives, 11th Edition, Copyright © John C. Hull 2021</a:t>
            </a:r>
            <a:endParaRPr lang="en-US" altLang="en-US" sz="1400"/>
          </a:p>
        </p:txBody>
      </p:sp>
      <p:sp>
        <p:nvSpPr>
          <p:cNvPr id="60421"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4D98B258-C8B0-4767-832E-A8214173BBF4}" type="slidenum">
              <a:rPr lang="en-US" altLang="en-US" sz="1800"/>
              <a:pPr>
                <a:spcBef>
                  <a:spcPct val="0"/>
                </a:spcBef>
                <a:buClrTx/>
                <a:buSzTx/>
                <a:buFontTx/>
                <a:buNone/>
              </a:pPr>
              <a:t>31</a:t>
            </a:fld>
            <a:endParaRPr lang="en-US" altLang="en-US" sz="1800"/>
          </a:p>
        </p:txBody>
      </p:sp>
      <p:graphicFrame>
        <p:nvGraphicFramePr>
          <p:cNvPr id="6" name="Table 5"/>
          <p:cNvGraphicFramePr>
            <a:graphicFrameLocks noGrp="1"/>
          </p:cNvGraphicFramePr>
          <p:nvPr/>
        </p:nvGraphicFramePr>
        <p:xfrm>
          <a:off x="990600" y="4419600"/>
          <a:ext cx="6400800" cy="1417638"/>
        </p:xfrm>
        <a:graphic>
          <a:graphicData uri="http://schemas.openxmlformats.org/drawingml/2006/table">
            <a:tbl>
              <a:tblPr firstRow="1" bandRow="1">
                <a:tableStyleId>{5940675A-B579-460E-94D1-54222C63F5DA}</a:tableStyleId>
              </a:tblPr>
              <a:tblGrid>
                <a:gridCol w="2133600">
                  <a:extLst>
                    <a:ext uri="{9D8B030D-6E8A-4147-A177-3AD203B41FA5}">
                      <a16:colId xmlns:a16="http://schemas.microsoft.com/office/drawing/2014/main" val="20000"/>
                    </a:ext>
                  </a:extLst>
                </a:gridCol>
                <a:gridCol w="2133600">
                  <a:extLst>
                    <a:ext uri="{9D8B030D-6E8A-4147-A177-3AD203B41FA5}">
                      <a16:colId xmlns:a16="http://schemas.microsoft.com/office/drawing/2014/main" val="20001"/>
                    </a:ext>
                  </a:extLst>
                </a:gridCol>
                <a:gridCol w="2133600">
                  <a:extLst>
                    <a:ext uri="{9D8B030D-6E8A-4147-A177-3AD203B41FA5}">
                      <a16:colId xmlns:a16="http://schemas.microsoft.com/office/drawing/2014/main" val="20002"/>
                    </a:ext>
                  </a:extLst>
                </a:gridCol>
              </a:tblGrid>
              <a:tr h="472546">
                <a:tc>
                  <a:txBody>
                    <a:bodyPr/>
                    <a:lstStyle/>
                    <a:p>
                      <a:endParaRPr lang="en-US" sz="1800" dirty="0"/>
                    </a:p>
                  </a:txBody>
                  <a:tcPr marT="45730" marB="45730"/>
                </a:tc>
                <a:tc>
                  <a:txBody>
                    <a:bodyPr/>
                    <a:lstStyle/>
                    <a:p>
                      <a:pPr algn="ctr"/>
                      <a:r>
                        <a:rPr lang="en-CA" sz="1800" dirty="0" smtClean="0"/>
                        <a:t>USD</a:t>
                      </a:r>
                      <a:endParaRPr lang="en-US" sz="1800" dirty="0"/>
                    </a:p>
                  </a:txBody>
                  <a:tcPr marT="45730" marB="45730"/>
                </a:tc>
                <a:tc>
                  <a:txBody>
                    <a:bodyPr/>
                    <a:lstStyle/>
                    <a:p>
                      <a:pPr algn="ctr"/>
                      <a:r>
                        <a:rPr lang="en-CA" sz="1800" dirty="0" smtClean="0"/>
                        <a:t>AUD</a:t>
                      </a:r>
                      <a:endParaRPr lang="en-US" sz="1800" dirty="0"/>
                    </a:p>
                  </a:txBody>
                  <a:tcPr marT="45730" marB="45730"/>
                </a:tc>
                <a:extLst>
                  <a:ext uri="{0D108BD9-81ED-4DB2-BD59-A6C34878D82A}">
                    <a16:rowId xmlns:a16="http://schemas.microsoft.com/office/drawing/2014/main" val="10000"/>
                  </a:ext>
                </a:extLst>
              </a:tr>
              <a:tr h="472546">
                <a:tc>
                  <a:txBody>
                    <a:bodyPr/>
                    <a:lstStyle/>
                    <a:p>
                      <a:r>
                        <a:rPr lang="en-CA" sz="1800" dirty="0" smtClean="0"/>
                        <a:t>General Electric</a:t>
                      </a:r>
                      <a:endParaRPr lang="en-US" sz="1800" dirty="0"/>
                    </a:p>
                  </a:txBody>
                  <a:tcPr marT="45730" marB="45730"/>
                </a:tc>
                <a:tc>
                  <a:txBody>
                    <a:bodyPr/>
                    <a:lstStyle/>
                    <a:p>
                      <a:pPr algn="ctr"/>
                      <a:r>
                        <a:rPr lang="en-CA" sz="1800" dirty="0" smtClean="0"/>
                        <a:t>5.0%</a:t>
                      </a:r>
                      <a:endParaRPr lang="en-US" sz="1800" dirty="0"/>
                    </a:p>
                  </a:txBody>
                  <a:tcPr marT="45730" marB="45730"/>
                </a:tc>
                <a:tc>
                  <a:txBody>
                    <a:bodyPr/>
                    <a:lstStyle/>
                    <a:p>
                      <a:pPr algn="ctr"/>
                      <a:r>
                        <a:rPr lang="en-CA" sz="1800" dirty="0" smtClean="0"/>
                        <a:t>7.6%</a:t>
                      </a:r>
                      <a:endParaRPr lang="en-US" sz="1800" dirty="0"/>
                    </a:p>
                  </a:txBody>
                  <a:tcPr marT="45730" marB="45730"/>
                </a:tc>
                <a:extLst>
                  <a:ext uri="{0D108BD9-81ED-4DB2-BD59-A6C34878D82A}">
                    <a16:rowId xmlns:a16="http://schemas.microsoft.com/office/drawing/2014/main" val="10001"/>
                  </a:ext>
                </a:extLst>
              </a:tr>
              <a:tr h="472546">
                <a:tc>
                  <a:txBody>
                    <a:bodyPr/>
                    <a:lstStyle/>
                    <a:p>
                      <a:r>
                        <a:rPr lang="en-CA" sz="1800" dirty="0" err="1" smtClean="0"/>
                        <a:t>Quantas</a:t>
                      </a:r>
                      <a:endParaRPr lang="en-US" sz="1800" dirty="0"/>
                    </a:p>
                  </a:txBody>
                  <a:tcPr marT="45730" marB="45730"/>
                </a:tc>
                <a:tc>
                  <a:txBody>
                    <a:bodyPr/>
                    <a:lstStyle/>
                    <a:p>
                      <a:pPr algn="ctr"/>
                      <a:r>
                        <a:rPr lang="en-CA" sz="1800" dirty="0" smtClean="0"/>
                        <a:t>7.0%</a:t>
                      </a:r>
                      <a:endParaRPr lang="en-US" sz="1800" dirty="0"/>
                    </a:p>
                  </a:txBody>
                  <a:tcPr marT="45730" marB="45730"/>
                </a:tc>
                <a:tc>
                  <a:txBody>
                    <a:bodyPr/>
                    <a:lstStyle/>
                    <a:p>
                      <a:pPr algn="ctr"/>
                      <a:r>
                        <a:rPr lang="en-CA" sz="1800" dirty="0" smtClean="0"/>
                        <a:t>8.0%</a:t>
                      </a:r>
                      <a:endParaRPr lang="en-US" sz="1800" dirty="0"/>
                    </a:p>
                  </a:txBody>
                  <a:tcPr marT="45730" marB="45730"/>
                </a:tc>
                <a:extLst>
                  <a:ext uri="{0D108BD9-81ED-4DB2-BD59-A6C34878D82A}">
                    <a16:rowId xmlns:a16="http://schemas.microsoft.com/office/drawing/2014/main" val="10002"/>
                  </a:ext>
                </a:extLst>
              </a:tr>
            </a:tbl>
          </a:graphicData>
        </a:graphic>
      </p:graphicFrame>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2"/>
          <p:cNvSpPr>
            <a:spLocks noGrp="1" noChangeArrowheads="1"/>
          </p:cNvSpPr>
          <p:nvPr>
            <p:ph type="title"/>
          </p:nvPr>
        </p:nvSpPr>
        <p:spPr>
          <a:noFill/>
        </p:spPr>
        <p:txBody>
          <a:bodyPr lIns="92075" tIns="46038" rIns="92075" bIns="46038" anchor="ctr"/>
          <a:lstStyle/>
          <a:p>
            <a:pPr eaLnBrk="1" hangingPunct="1"/>
            <a:r>
              <a:rPr lang="en-US" altLang="en-US" smtClean="0"/>
              <a:t>Valuation</a:t>
            </a:r>
            <a:r>
              <a:rPr lang="en-US" altLang="en-US" i="1" smtClean="0"/>
              <a:t> </a:t>
            </a:r>
            <a:r>
              <a:rPr lang="en-US" altLang="en-US" smtClean="0"/>
              <a:t>of Fixed-for-Fixed Currency Swaps</a:t>
            </a:r>
          </a:p>
        </p:txBody>
      </p:sp>
      <p:sp>
        <p:nvSpPr>
          <p:cNvPr id="62468" name="Rectangle 3"/>
          <p:cNvSpPr>
            <a:spLocks noGrp="1" noChangeArrowheads="1"/>
          </p:cNvSpPr>
          <p:nvPr>
            <p:ph idx="1"/>
          </p:nvPr>
        </p:nvSpPr>
        <p:spPr>
          <a:xfrm>
            <a:off x="683568" y="2780928"/>
            <a:ext cx="7092950" cy="4411662"/>
          </a:xfrm>
          <a:noFill/>
        </p:spPr>
        <p:txBody>
          <a:bodyPr lIns="92075" tIns="46038" rIns="92075" bIns="46038"/>
          <a:lstStyle/>
          <a:p>
            <a:pPr eaLnBrk="1" hangingPunct="1">
              <a:buFont typeface="Wingdings" panose="05000000000000000000" pitchFamily="2" charset="2"/>
              <a:buNone/>
            </a:pPr>
            <a:r>
              <a:rPr lang="en-US" altLang="en-US" dirty="0" smtClean="0"/>
              <a:t>	Fixed for fixed currency swaps can be valued either using forward rates or as the difference between 2 bonds</a:t>
            </a:r>
          </a:p>
        </p:txBody>
      </p:sp>
      <p:sp>
        <p:nvSpPr>
          <p:cNvPr id="62466"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smtClean="0"/>
              <a:t>Options, Futures, and Other Derivatives, 11th Edition, Copyright © John C. Hull 2021</a:t>
            </a:r>
            <a:endParaRPr lang="en-US" altLang="en-US" sz="1400" i="0"/>
          </a:p>
        </p:txBody>
      </p:sp>
      <p:sp>
        <p:nvSpPr>
          <p:cNvPr id="62469"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0F96C73F-3707-4E5F-95D0-4FED9E1377A6}" type="slidenum">
              <a:rPr lang="en-US" altLang="en-US" sz="1800"/>
              <a:pPr>
                <a:spcBef>
                  <a:spcPct val="0"/>
                </a:spcBef>
                <a:buClrTx/>
                <a:buSzTx/>
                <a:buFontTx/>
                <a:buNone/>
              </a:pPr>
              <a:t>32</a:t>
            </a:fld>
            <a:endParaRPr lang="en-US" altLang="en-US" sz="1800"/>
          </a:p>
        </p:txBody>
      </p:sp>
    </p:spTree>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itle 1"/>
          <p:cNvSpPr>
            <a:spLocks noGrp="1"/>
          </p:cNvSpPr>
          <p:nvPr>
            <p:ph type="title"/>
          </p:nvPr>
        </p:nvSpPr>
        <p:spPr/>
        <p:txBody>
          <a:bodyPr/>
          <a:lstStyle/>
          <a:p>
            <a:r>
              <a:rPr lang="en-CA" altLang="en-US" dirty="0" smtClean="0"/>
              <a:t>Currency Swap Example</a:t>
            </a:r>
            <a:endParaRPr lang="en-US" altLang="en-US" sz="2400" dirty="0" smtClean="0"/>
          </a:p>
        </p:txBody>
      </p:sp>
      <p:sp>
        <p:nvSpPr>
          <p:cNvPr id="64515" name="Content Placeholder 2"/>
          <p:cNvSpPr>
            <a:spLocks noGrp="1"/>
          </p:cNvSpPr>
          <p:nvPr>
            <p:ph idx="1"/>
          </p:nvPr>
        </p:nvSpPr>
        <p:spPr/>
        <p:txBody>
          <a:bodyPr/>
          <a:lstStyle/>
          <a:p>
            <a:r>
              <a:rPr lang="en-CA" altLang="en-US" sz="2400" dirty="0" smtClean="0"/>
              <a:t>All Japanese interest rates are 1.5% per annum (cont. comp.)</a:t>
            </a:r>
          </a:p>
          <a:p>
            <a:r>
              <a:rPr lang="en-CA" altLang="en-US" sz="2400" dirty="0" smtClean="0"/>
              <a:t>All USD interest rates are 2.5% per annum (cont. comp.)</a:t>
            </a:r>
          </a:p>
          <a:p>
            <a:r>
              <a:rPr lang="en-CA" altLang="en-US" sz="2400" dirty="0" smtClean="0"/>
              <a:t>3% is received in yen; 4% is paid in dollars. Payments are made annually</a:t>
            </a:r>
          </a:p>
          <a:p>
            <a:r>
              <a:rPr lang="en-CA" altLang="en-US" sz="2400" dirty="0" smtClean="0"/>
              <a:t>Principals are $10 million and 1,200 million yen</a:t>
            </a:r>
          </a:p>
          <a:p>
            <a:r>
              <a:rPr lang="en-CA" altLang="en-US" sz="2400" dirty="0" smtClean="0"/>
              <a:t>Swap will last for 3 more years</a:t>
            </a:r>
          </a:p>
          <a:p>
            <a:r>
              <a:rPr lang="en-CA" altLang="en-US" sz="2400" dirty="0" smtClean="0"/>
              <a:t>Current exchange rate is 110 yen per dollar</a:t>
            </a:r>
          </a:p>
          <a:p>
            <a:endParaRPr lang="en-US" altLang="en-US" dirty="0" smtClean="0"/>
          </a:p>
        </p:txBody>
      </p:sp>
      <p:sp>
        <p:nvSpPr>
          <p:cNvPr id="64516"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smtClean="0"/>
              <a:t>Options, Futures, and Other Derivatives, 11th Edition, Copyright © John C. Hull 2021</a:t>
            </a:r>
            <a:endParaRPr lang="en-US" altLang="en-US" sz="1400"/>
          </a:p>
        </p:txBody>
      </p:sp>
      <p:sp>
        <p:nvSpPr>
          <p:cNvPr id="64517"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121D8928-F546-4D58-BFA4-1F4C2B682DDA}" type="slidenum">
              <a:rPr lang="en-US" altLang="en-US" sz="1800"/>
              <a:pPr>
                <a:spcBef>
                  <a:spcPct val="0"/>
                </a:spcBef>
                <a:buClrTx/>
                <a:buSzTx/>
                <a:buFontTx/>
                <a:buNone/>
              </a:pPr>
              <a:t>33</a:t>
            </a:fld>
            <a:endParaRPr lang="en-US" altLang="en-US" sz="180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itle 1"/>
          <p:cNvSpPr>
            <a:spLocks noGrp="1"/>
          </p:cNvSpPr>
          <p:nvPr>
            <p:ph type="title"/>
          </p:nvPr>
        </p:nvSpPr>
        <p:spPr/>
        <p:txBody>
          <a:bodyPr/>
          <a:lstStyle/>
          <a:p>
            <a:r>
              <a:rPr lang="en-CA" altLang="en-US" dirty="0" smtClean="0"/>
              <a:t>Valuation in Terms of Forward Rates </a:t>
            </a:r>
            <a:r>
              <a:rPr lang="en-CA" altLang="en-US" sz="2400" dirty="0" smtClean="0"/>
              <a:t>(Example 7.2)</a:t>
            </a:r>
            <a:endParaRPr lang="en-US" altLang="en-US" sz="2400" dirty="0" smtClean="0"/>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2681985786"/>
              </p:ext>
            </p:extLst>
          </p:nvPr>
        </p:nvGraphicFramePr>
        <p:xfrm>
          <a:off x="755576" y="2924168"/>
          <a:ext cx="7499350" cy="2397140"/>
        </p:xfrm>
        <a:graphic>
          <a:graphicData uri="http://schemas.openxmlformats.org/drawingml/2006/table">
            <a:tbl>
              <a:tblPr firstRow="1" bandRow="1">
                <a:tableStyleId>{5940675A-B579-460E-94D1-54222C63F5DA}</a:tableStyleId>
              </a:tblPr>
              <a:tblGrid>
                <a:gridCol w="687328">
                  <a:extLst>
                    <a:ext uri="{9D8B030D-6E8A-4147-A177-3AD203B41FA5}">
                      <a16:colId xmlns:a16="http://schemas.microsoft.com/office/drawing/2014/main" val="20000"/>
                    </a:ext>
                  </a:extLst>
                </a:gridCol>
                <a:gridCol w="866611">
                  <a:extLst>
                    <a:ext uri="{9D8B030D-6E8A-4147-A177-3AD203B41FA5}">
                      <a16:colId xmlns:a16="http://schemas.microsoft.com/office/drawing/2014/main" val="20001"/>
                    </a:ext>
                  </a:extLst>
                </a:gridCol>
                <a:gridCol w="916881">
                  <a:extLst>
                    <a:ext uri="{9D8B030D-6E8A-4147-A177-3AD203B41FA5}">
                      <a16:colId xmlns:a16="http://schemas.microsoft.com/office/drawing/2014/main" val="20002"/>
                    </a:ext>
                  </a:extLst>
                </a:gridCol>
                <a:gridCol w="1171351">
                  <a:extLst>
                    <a:ext uri="{9D8B030D-6E8A-4147-A177-3AD203B41FA5}">
                      <a16:colId xmlns:a16="http://schemas.microsoft.com/office/drawing/2014/main" val="20003"/>
                    </a:ext>
                  </a:extLst>
                </a:gridCol>
                <a:gridCol w="1512168">
                  <a:extLst>
                    <a:ext uri="{9D8B030D-6E8A-4147-A177-3AD203B41FA5}">
                      <a16:colId xmlns:a16="http://schemas.microsoft.com/office/drawing/2014/main" val="20004"/>
                    </a:ext>
                  </a:extLst>
                </a:gridCol>
                <a:gridCol w="1152128">
                  <a:extLst>
                    <a:ext uri="{9D8B030D-6E8A-4147-A177-3AD203B41FA5}">
                      <a16:colId xmlns:a16="http://schemas.microsoft.com/office/drawing/2014/main" val="20005"/>
                    </a:ext>
                  </a:extLst>
                </a:gridCol>
                <a:gridCol w="1192883">
                  <a:extLst>
                    <a:ext uri="{9D8B030D-6E8A-4147-A177-3AD203B41FA5}">
                      <a16:colId xmlns:a16="http://schemas.microsoft.com/office/drawing/2014/main" val="20006"/>
                    </a:ext>
                  </a:extLst>
                </a:gridCol>
              </a:tblGrid>
              <a:tr h="697943">
                <a:tc>
                  <a:txBody>
                    <a:bodyPr/>
                    <a:lstStyle/>
                    <a:p>
                      <a:pPr algn="ctr"/>
                      <a:r>
                        <a:rPr lang="en-CA" sz="1800" dirty="0" smtClean="0"/>
                        <a:t>Time</a:t>
                      </a:r>
                      <a:endParaRPr lang="en-US" sz="1800" dirty="0"/>
                    </a:p>
                  </a:txBody>
                  <a:tcPr marT="45702" marB="45702"/>
                </a:tc>
                <a:tc>
                  <a:txBody>
                    <a:bodyPr/>
                    <a:lstStyle/>
                    <a:p>
                      <a:pPr algn="ctr"/>
                      <a:r>
                        <a:rPr lang="en-CA" sz="1800" dirty="0" err="1" smtClean="0"/>
                        <a:t>DollarCash</a:t>
                      </a:r>
                      <a:r>
                        <a:rPr lang="en-CA" sz="1800" dirty="0" smtClean="0"/>
                        <a:t> Flow</a:t>
                      </a:r>
                      <a:endParaRPr lang="en-US" sz="1800" dirty="0"/>
                    </a:p>
                  </a:txBody>
                  <a:tcPr marT="45702" marB="45702"/>
                </a:tc>
                <a:tc>
                  <a:txBody>
                    <a:bodyPr/>
                    <a:lstStyle/>
                    <a:p>
                      <a:pPr algn="ctr"/>
                      <a:r>
                        <a:rPr lang="en-US" sz="1800" dirty="0" smtClean="0"/>
                        <a:t>Yen cash flow</a:t>
                      </a:r>
                      <a:endParaRPr lang="en-US" sz="1800" dirty="0"/>
                    </a:p>
                  </a:txBody>
                  <a:tcPr marT="45702" marB="45702"/>
                </a:tc>
                <a:tc>
                  <a:txBody>
                    <a:bodyPr/>
                    <a:lstStyle/>
                    <a:p>
                      <a:pPr algn="ctr"/>
                      <a:r>
                        <a:rPr lang="en-CA" sz="1800" dirty="0" smtClean="0"/>
                        <a:t>Forward rate</a:t>
                      </a:r>
                      <a:endParaRPr lang="en-US" sz="1800" dirty="0"/>
                    </a:p>
                  </a:txBody>
                  <a:tcPr marT="45702" marB="45702"/>
                </a:tc>
                <a:tc>
                  <a:txBody>
                    <a:bodyPr/>
                    <a:lstStyle/>
                    <a:p>
                      <a:pPr algn="ctr"/>
                      <a:r>
                        <a:rPr lang="en-CA" sz="1800" dirty="0" smtClean="0"/>
                        <a:t>Dollar</a:t>
                      </a:r>
                      <a:r>
                        <a:rPr lang="en-CA" sz="1800" baseline="0" dirty="0" smtClean="0"/>
                        <a:t> </a:t>
                      </a:r>
                      <a:r>
                        <a:rPr lang="en-CA" sz="1800" dirty="0" smtClean="0"/>
                        <a:t>value of yen cash</a:t>
                      </a:r>
                      <a:r>
                        <a:rPr lang="en-CA" sz="1800" baseline="0" dirty="0" smtClean="0"/>
                        <a:t> flow</a:t>
                      </a:r>
                      <a:endParaRPr lang="en-US" sz="1800" dirty="0"/>
                    </a:p>
                  </a:txBody>
                  <a:tcPr marT="45702" marB="45702"/>
                </a:tc>
                <a:tc>
                  <a:txBody>
                    <a:bodyPr/>
                    <a:lstStyle/>
                    <a:p>
                      <a:pPr algn="ctr"/>
                      <a:r>
                        <a:rPr lang="en-US" sz="1800" dirty="0" smtClean="0"/>
                        <a:t>Net cash flow</a:t>
                      </a:r>
                      <a:endParaRPr lang="en-US" sz="1800" dirty="0"/>
                    </a:p>
                  </a:txBody>
                  <a:tcPr marT="45702" marB="45702"/>
                </a:tc>
                <a:tc>
                  <a:txBody>
                    <a:bodyPr/>
                    <a:lstStyle/>
                    <a:p>
                      <a:pPr algn="ctr"/>
                      <a:r>
                        <a:rPr lang="en-CA" sz="1800" dirty="0" smtClean="0"/>
                        <a:t>Present value</a:t>
                      </a:r>
                      <a:endParaRPr lang="en-US" sz="1800" dirty="0"/>
                    </a:p>
                  </a:txBody>
                  <a:tcPr marT="45702" marB="45702"/>
                </a:tc>
                <a:extLst>
                  <a:ext uri="{0D108BD9-81ED-4DB2-BD59-A6C34878D82A}">
                    <a16:rowId xmlns:a16="http://schemas.microsoft.com/office/drawing/2014/main" val="10000"/>
                  </a:ext>
                </a:extLst>
              </a:tr>
              <a:tr h="370694">
                <a:tc>
                  <a:txBody>
                    <a:bodyPr/>
                    <a:lstStyle/>
                    <a:p>
                      <a:pPr algn="ctr"/>
                      <a:r>
                        <a:rPr lang="en-CA" sz="1800" dirty="0" smtClean="0"/>
                        <a:t>1</a:t>
                      </a:r>
                      <a:endParaRPr lang="en-US" sz="1800" dirty="0"/>
                    </a:p>
                  </a:txBody>
                  <a:tcPr marT="45702" marB="45702"/>
                </a:tc>
                <a:tc>
                  <a:txBody>
                    <a:bodyPr/>
                    <a:lstStyle/>
                    <a:p>
                      <a:pPr algn="ctr"/>
                      <a:r>
                        <a:rPr lang="en-US" altLang="en-US" sz="1800" dirty="0" smtClean="0"/>
                        <a:t>  −0.4</a:t>
                      </a:r>
                      <a:endParaRPr lang="en-US" sz="1800" dirty="0"/>
                    </a:p>
                  </a:txBody>
                  <a:tcPr marT="45702" marB="45702"/>
                </a:tc>
                <a:tc>
                  <a:txBody>
                    <a:bodyPr/>
                    <a:lstStyle/>
                    <a:p>
                      <a:pPr algn="ctr"/>
                      <a:r>
                        <a:rPr lang="en-US" sz="1800" dirty="0" smtClean="0"/>
                        <a:t>    +36</a:t>
                      </a:r>
                      <a:endParaRPr lang="en-US" sz="1800" dirty="0"/>
                    </a:p>
                  </a:txBody>
                  <a:tcPr marT="45702" marB="45702"/>
                </a:tc>
                <a:tc>
                  <a:txBody>
                    <a:bodyPr/>
                    <a:lstStyle/>
                    <a:p>
                      <a:pPr algn="ctr"/>
                      <a:r>
                        <a:rPr lang="en-CA" sz="1800" dirty="0" smtClean="0"/>
                        <a:t>0.009182</a:t>
                      </a:r>
                      <a:endParaRPr lang="en-US" sz="1800" dirty="0"/>
                    </a:p>
                  </a:txBody>
                  <a:tcPr marT="45702" marB="45702"/>
                </a:tc>
                <a:tc>
                  <a:txBody>
                    <a:bodyPr/>
                    <a:lstStyle/>
                    <a:p>
                      <a:pPr algn="ctr"/>
                      <a:r>
                        <a:rPr lang="en-CA" sz="1800" dirty="0" smtClean="0"/>
                        <a:t>  0.3306</a:t>
                      </a:r>
                      <a:endParaRPr lang="en-US" sz="1800" dirty="0"/>
                    </a:p>
                  </a:txBody>
                  <a:tcPr marT="45702" marB="45702"/>
                </a:tc>
                <a:tc>
                  <a:txBody>
                    <a:bodyPr/>
                    <a:lstStyle/>
                    <a:p>
                      <a:pPr algn="ctr"/>
                      <a:r>
                        <a:rPr lang="en-US" sz="1800" dirty="0" smtClean="0"/>
                        <a:t>−0.0694</a:t>
                      </a:r>
                      <a:endParaRPr lang="en-US" sz="1800" dirty="0"/>
                    </a:p>
                  </a:txBody>
                  <a:tcPr marT="45702" marB="45702"/>
                </a:tc>
                <a:tc>
                  <a:txBody>
                    <a:bodyPr/>
                    <a:lstStyle/>
                    <a:p>
                      <a:pPr algn="ctr"/>
                      <a:r>
                        <a:rPr lang="en-US" sz="1800" dirty="0" smtClean="0"/>
                        <a:t>−0.0677</a:t>
                      </a:r>
                      <a:endParaRPr lang="en-US" sz="1800" dirty="0"/>
                    </a:p>
                  </a:txBody>
                  <a:tcPr marT="45702" marB="45702"/>
                </a:tc>
                <a:extLst>
                  <a:ext uri="{0D108BD9-81ED-4DB2-BD59-A6C34878D82A}">
                    <a16:rowId xmlns:a16="http://schemas.microsoft.com/office/drawing/2014/main" val="10001"/>
                  </a:ext>
                </a:extLst>
              </a:tr>
              <a:tr h="370694">
                <a:tc>
                  <a:txBody>
                    <a:bodyPr/>
                    <a:lstStyle/>
                    <a:p>
                      <a:pPr algn="ctr"/>
                      <a:r>
                        <a:rPr lang="en-CA" sz="1800" dirty="0" smtClean="0"/>
                        <a:t>2</a:t>
                      </a:r>
                      <a:endParaRPr lang="en-US" sz="1800" dirty="0"/>
                    </a:p>
                  </a:txBody>
                  <a:tcPr marT="45702" marB="45702"/>
                </a:tc>
                <a:tc>
                  <a:txBody>
                    <a:bodyPr/>
                    <a:lstStyle/>
                    <a:p>
                      <a:pPr algn="ctr"/>
                      <a:r>
                        <a:rPr lang="en-US" altLang="en-US" sz="1800" dirty="0" smtClean="0"/>
                        <a:t>  −0.4</a:t>
                      </a:r>
                      <a:endParaRPr lang="en-US" sz="1800" dirty="0"/>
                    </a:p>
                  </a:txBody>
                  <a:tcPr marT="45702" marB="45702"/>
                </a:tc>
                <a:tc>
                  <a:txBody>
                    <a:bodyPr/>
                    <a:lstStyle/>
                    <a:p>
                      <a:pPr algn="ctr"/>
                      <a:r>
                        <a:rPr lang="en-US" sz="1800" dirty="0" smtClean="0"/>
                        <a:t>    +36</a:t>
                      </a:r>
                      <a:endParaRPr lang="en-US" sz="1800" dirty="0"/>
                    </a:p>
                  </a:txBody>
                  <a:tcPr marT="45702" marB="45702"/>
                </a:tc>
                <a:tc>
                  <a:txBody>
                    <a:bodyPr/>
                    <a:lstStyle/>
                    <a:p>
                      <a:pPr algn="ctr"/>
                      <a:r>
                        <a:rPr lang="en-CA" sz="1800" dirty="0" smtClean="0"/>
                        <a:t>0.009275</a:t>
                      </a:r>
                      <a:endParaRPr lang="en-US" sz="1800" dirty="0"/>
                    </a:p>
                  </a:txBody>
                  <a:tcPr marT="45702" marB="45702"/>
                </a:tc>
                <a:tc>
                  <a:txBody>
                    <a:bodyPr/>
                    <a:lstStyle/>
                    <a:p>
                      <a:pPr algn="ctr"/>
                      <a:r>
                        <a:rPr lang="en-CA" sz="1800" dirty="0" smtClean="0"/>
                        <a:t>  0.3339</a:t>
                      </a:r>
                      <a:endParaRPr lang="en-US" sz="1800" dirty="0"/>
                    </a:p>
                  </a:txBody>
                  <a:tcPr marT="45702" marB="45702"/>
                </a:tc>
                <a:tc>
                  <a:txBody>
                    <a:bodyPr/>
                    <a:lstStyle/>
                    <a:p>
                      <a:pPr algn="ctr"/>
                      <a:r>
                        <a:rPr lang="en-US" sz="1800" dirty="0" smtClean="0"/>
                        <a:t>−0.0661</a:t>
                      </a:r>
                      <a:endParaRPr lang="en-US" sz="1800" dirty="0"/>
                    </a:p>
                  </a:txBody>
                  <a:tcPr marT="45702" marB="45702"/>
                </a:tc>
                <a:tc>
                  <a:txBody>
                    <a:bodyPr/>
                    <a:lstStyle/>
                    <a:p>
                      <a:pPr algn="ctr"/>
                      <a:r>
                        <a:rPr lang="en-US" sz="1800" dirty="0" smtClean="0"/>
                        <a:t>−</a:t>
                      </a:r>
                      <a:r>
                        <a:rPr lang="en-CA" sz="1800" dirty="0" smtClean="0"/>
                        <a:t>0.0629</a:t>
                      </a:r>
                      <a:endParaRPr lang="en-US" sz="1800" dirty="0"/>
                    </a:p>
                  </a:txBody>
                  <a:tcPr marT="45702" marB="45702"/>
                </a:tc>
                <a:extLst>
                  <a:ext uri="{0D108BD9-81ED-4DB2-BD59-A6C34878D82A}">
                    <a16:rowId xmlns:a16="http://schemas.microsoft.com/office/drawing/2014/main" val="10002"/>
                  </a:ext>
                </a:extLst>
              </a:tr>
              <a:tr h="370694">
                <a:tc>
                  <a:txBody>
                    <a:bodyPr/>
                    <a:lstStyle/>
                    <a:p>
                      <a:pPr algn="ctr"/>
                      <a:r>
                        <a:rPr lang="en-CA" sz="1800" dirty="0" smtClean="0"/>
                        <a:t>3</a:t>
                      </a:r>
                      <a:endParaRPr lang="en-US" sz="1800" dirty="0"/>
                    </a:p>
                  </a:txBody>
                  <a:tcPr marT="45702" marB="45702"/>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1800" dirty="0" smtClean="0"/>
                        <a:t>−10.4</a:t>
                      </a:r>
                      <a:endParaRPr lang="en-US" sz="1800" dirty="0" smtClean="0"/>
                    </a:p>
                  </a:txBody>
                  <a:tcPr marT="45702" marB="45702"/>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smtClean="0"/>
                        <a:t>+1236</a:t>
                      </a:r>
                    </a:p>
                  </a:txBody>
                  <a:tcPr marT="45702" marB="45702"/>
                </a:tc>
                <a:tc>
                  <a:txBody>
                    <a:bodyPr/>
                    <a:lstStyle/>
                    <a:p>
                      <a:pPr algn="ctr"/>
                      <a:r>
                        <a:rPr lang="en-CA" sz="1800" dirty="0" smtClean="0"/>
                        <a:t>0.009368</a:t>
                      </a:r>
                      <a:endParaRPr lang="en-US" sz="1800" dirty="0"/>
                    </a:p>
                  </a:txBody>
                  <a:tcPr marT="45702" marB="45702"/>
                </a:tc>
                <a:tc>
                  <a:txBody>
                    <a:bodyPr/>
                    <a:lstStyle/>
                    <a:p>
                      <a:pPr algn="ctr"/>
                      <a:r>
                        <a:rPr lang="en-CA" sz="1800" dirty="0" smtClean="0"/>
                        <a:t>11.5786</a:t>
                      </a:r>
                      <a:endParaRPr lang="en-US" sz="1800" dirty="0"/>
                    </a:p>
                  </a:txBody>
                  <a:tcPr marT="45702" marB="45702"/>
                </a:tc>
                <a:tc>
                  <a:txBody>
                    <a:bodyPr/>
                    <a:lstStyle/>
                    <a:p>
                      <a:pPr algn="ctr"/>
                      <a:r>
                        <a:rPr lang="en-US" sz="1800" dirty="0" smtClean="0"/>
                        <a:t>+1.1786</a:t>
                      </a:r>
                      <a:endParaRPr lang="en-US" sz="1800" dirty="0"/>
                    </a:p>
                  </a:txBody>
                  <a:tcPr marT="45702" marB="45702"/>
                </a:tc>
                <a:tc>
                  <a:txBody>
                    <a:bodyPr/>
                    <a:lstStyle/>
                    <a:p>
                      <a:pPr algn="ctr"/>
                      <a:r>
                        <a:rPr lang="en-CA" sz="1800" dirty="0" smtClean="0"/>
                        <a:t>+1.0934</a:t>
                      </a:r>
                      <a:endParaRPr lang="en-US" sz="1800" dirty="0"/>
                    </a:p>
                  </a:txBody>
                  <a:tcPr marT="45702" marB="45702"/>
                </a:tc>
                <a:extLst>
                  <a:ext uri="{0D108BD9-81ED-4DB2-BD59-A6C34878D82A}">
                    <a16:rowId xmlns:a16="http://schemas.microsoft.com/office/drawing/2014/main" val="10003"/>
                  </a:ext>
                </a:extLst>
              </a:tr>
              <a:tr h="370694">
                <a:tc>
                  <a:txBody>
                    <a:bodyPr/>
                    <a:lstStyle/>
                    <a:p>
                      <a:pPr algn="ctr"/>
                      <a:r>
                        <a:rPr lang="en-CA" sz="1800" dirty="0" smtClean="0"/>
                        <a:t>Total</a:t>
                      </a:r>
                      <a:endParaRPr lang="en-US" sz="1800" dirty="0"/>
                    </a:p>
                  </a:txBody>
                  <a:tcPr marT="45702" marB="45702"/>
                </a:tc>
                <a:tc>
                  <a:txBody>
                    <a:bodyPr/>
                    <a:lstStyle/>
                    <a:p>
                      <a:pPr algn="ctr"/>
                      <a:endParaRPr lang="en-US" sz="1800" dirty="0"/>
                    </a:p>
                  </a:txBody>
                  <a:tcPr marT="45702" marB="45702"/>
                </a:tc>
                <a:tc>
                  <a:txBody>
                    <a:bodyPr/>
                    <a:lstStyle/>
                    <a:p>
                      <a:pPr algn="ctr"/>
                      <a:endParaRPr lang="en-US" sz="1800" dirty="0"/>
                    </a:p>
                  </a:txBody>
                  <a:tcPr marT="45702" marB="45702"/>
                </a:tc>
                <a:tc>
                  <a:txBody>
                    <a:bodyPr/>
                    <a:lstStyle/>
                    <a:p>
                      <a:pPr algn="ctr"/>
                      <a:endParaRPr lang="en-US" sz="1800" dirty="0"/>
                    </a:p>
                  </a:txBody>
                  <a:tcPr marT="45702" marB="45702"/>
                </a:tc>
                <a:tc>
                  <a:txBody>
                    <a:bodyPr/>
                    <a:lstStyle/>
                    <a:p>
                      <a:pPr algn="ctr"/>
                      <a:endParaRPr lang="en-US" sz="1800" dirty="0"/>
                    </a:p>
                  </a:txBody>
                  <a:tcPr marT="45702" marB="45702"/>
                </a:tc>
                <a:tc>
                  <a:txBody>
                    <a:bodyPr/>
                    <a:lstStyle/>
                    <a:p>
                      <a:pPr algn="ctr"/>
                      <a:endParaRPr lang="en-US" sz="1800" dirty="0"/>
                    </a:p>
                  </a:txBody>
                  <a:tcPr marT="45702" marB="45702"/>
                </a:tc>
                <a:tc>
                  <a:txBody>
                    <a:bodyPr/>
                    <a:lstStyle/>
                    <a:p>
                      <a:pPr algn="ctr"/>
                      <a:r>
                        <a:rPr lang="en-CA" sz="1800" dirty="0" smtClean="0"/>
                        <a:t>+0.9629</a:t>
                      </a:r>
                      <a:endParaRPr lang="en-US" sz="1800" dirty="0"/>
                    </a:p>
                  </a:txBody>
                  <a:tcPr marT="45702" marB="45702"/>
                </a:tc>
                <a:extLst>
                  <a:ext uri="{0D108BD9-81ED-4DB2-BD59-A6C34878D82A}">
                    <a16:rowId xmlns:a16="http://schemas.microsoft.com/office/drawing/2014/main" val="10004"/>
                  </a:ext>
                </a:extLst>
              </a:tr>
            </a:tbl>
          </a:graphicData>
        </a:graphic>
      </p:graphicFrame>
      <p:sp>
        <p:nvSpPr>
          <p:cNvPr id="66613"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smtClean="0"/>
              <a:t>Options, Futures, and Other Derivatives, 11th Edition, Copyright © John C. Hull 2021</a:t>
            </a:r>
            <a:endParaRPr lang="en-US" altLang="en-US" sz="1400"/>
          </a:p>
        </p:txBody>
      </p:sp>
      <p:sp>
        <p:nvSpPr>
          <p:cNvPr id="66614" name="Slide Number Placeholder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49439044-515C-4EC6-9B0B-577C13AE06E8}" type="slidenum">
              <a:rPr lang="en-US" altLang="en-US" sz="1800"/>
              <a:pPr>
                <a:spcBef>
                  <a:spcPct val="0"/>
                </a:spcBef>
                <a:buClrTx/>
                <a:buSzTx/>
                <a:buFontTx/>
                <a:buNone/>
              </a:pPr>
              <a:t>34</a:t>
            </a:fld>
            <a:endParaRPr lang="en-US" altLang="en-US" sz="180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itle 1"/>
          <p:cNvSpPr>
            <a:spLocks noGrp="1"/>
          </p:cNvSpPr>
          <p:nvPr>
            <p:ph type="title"/>
          </p:nvPr>
        </p:nvSpPr>
        <p:spPr>
          <a:xfrm>
            <a:off x="785813" y="1052736"/>
            <a:ext cx="7143750" cy="1143000"/>
          </a:xfrm>
        </p:spPr>
        <p:txBody>
          <a:bodyPr/>
          <a:lstStyle/>
          <a:p>
            <a:r>
              <a:rPr lang="en-CA" altLang="en-US" dirty="0" smtClean="0"/>
              <a:t>Valuation in Terms of Bonds  </a:t>
            </a:r>
            <a:r>
              <a:rPr lang="en-CA" altLang="en-US" sz="2400" dirty="0" smtClean="0"/>
              <a:t>(Example 7.3)</a:t>
            </a:r>
            <a:endParaRPr lang="en-US" altLang="en-US" sz="2400" dirty="0" smtClean="0"/>
          </a:p>
        </p:txBody>
      </p:sp>
      <p:sp>
        <p:nvSpPr>
          <p:cNvPr id="68611" name="Footer Placeholder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smtClean="0"/>
              <a:t>Options, Futures, and Other Derivatives, 11th Edition, Copyright © John C. Hull 2021</a:t>
            </a:r>
            <a:endParaRPr lang="en-US" altLang="en-US" sz="1400"/>
          </a:p>
        </p:txBody>
      </p:sp>
      <p:sp>
        <p:nvSpPr>
          <p:cNvPr id="6861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2EB6B380-BA21-41D8-8F83-A9B559C1389E}" type="slidenum">
              <a:rPr lang="en-US" altLang="en-US" sz="1800"/>
              <a:pPr>
                <a:spcBef>
                  <a:spcPct val="0"/>
                </a:spcBef>
                <a:buClrTx/>
                <a:buSzTx/>
                <a:buFontTx/>
                <a:buNone/>
              </a:pPr>
              <a:t>35</a:t>
            </a:fld>
            <a:endParaRPr lang="en-US" altLang="en-US" sz="1800"/>
          </a:p>
        </p:txBody>
      </p:sp>
      <p:graphicFrame>
        <p:nvGraphicFramePr>
          <p:cNvPr id="6" name="Content Placeholder 5"/>
          <p:cNvGraphicFramePr>
            <a:graphicFrameLocks/>
          </p:cNvGraphicFramePr>
          <p:nvPr>
            <p:extLst>
              <p:ext uri="{D42A27DB-BD31-4B8C-83A1-F6EECF244321}">
                <p14:modId xmlns:p14="http://schemas.microsoft.com/office/powerpoint/2010/main" val="284889188"/>
              </p:ext>
            </p:extLst>
          </p:nvPr>
        </p:nvGraphicFramePr>
        <p:xfrm>
          <a:off x="785813" y="2684551"/>
          <a:ext cx="7777163" cy="2273304"/>
        </p:xfrm>
        <a:graphic>
          <a:graphicData uri="http://schemas.openxmlformats.org/drawingml/2006/table">
            <a:tbl>
              <a:tblPr firstRow="1" bandRow="1">
                <a:tableStyleId>{5940675A-B579-460E-94D1-54222C63F5DA}</a:tableStyleId>
              </a:tblPr>
              <a:tblGrid>
                <a:gridCol w="1155744">
                  <a:extLst>
                    <a:ext uri="{9D8B030D-6E8A-4147-A177-3AD203B41FA5}">
                      <a16:colId xmlns:a16="http://schemas.microsoft.com/office/drawing/2014/main" val="20000"/>
                    </a:ext>
                  </a:extLst>
                </a:gridCol>
                <a:gridCol w="1724686">
                  <a:extLst>
                    <a:ext uri="{9D8B030D-6E8A-4147-A177-3AD203B41FA5}">
                      <a16:colId xmlns:a16="http://schemas.microsoft.com/office/drawing/2014/main" val="20001"/>
                    </a:ext>
                  </a:extLst>
                </a:gridCol>
                <a:gridCol w="1368205">
                  <a:extLst>
                    <a:ext uri="{9D8B030D-6E8A-4147-A177-3AD203B41FA5}">
                      <a16:colId xmlns:a16="http://schemas.microsoft.com/office/drawing/2014/main" val="20002"/>
                    </a:ext>
                  </a:extLst>
                </a:gridCol>
                <a:gridCol w="1872280">
                  <a:extLst>
                    <a:ext uri="{9D8B030D-6E8A-4147-A177-3AD203B41FA5}">
                      <a16:colId xmlns:a16="http://schemas.microsoft.com/office/drawing/2014/main" val="20003"/>
                    </a:ext>
                  </a:extLst>
                </a:gridCol>
                <a:gridCol w="1656248">
                  <a:extLst>
                    <a:ext uri="{9D8B030D-6E8A-4147-A177-3AD203B41FA5}">
                      <a16:colId xmlns:a16="http://schemas.microsoft.com/office/drawing/2014/main" val="20004"/>
                    </a:ext>
                  </a:extLst>
                </a:gridCol>
              </a:tblGrid>
              <a:tr h="640043">
                <a:tc>
                  <a:txBody>
                    <a:bodyPr/>
                    <a:lstStyle/>
                    <a:p>
                      <a:pPr algn="ctr"/>
                      <a:r>
                        <a:rPr lang="en-CA" sz="1800" dirty="0" smtClean="0"/>
                        <a:t>Time</a:t>
                      </a:r>
                      <a:endParaRPr lang="en-US" sz="1800" dirty="0"/>
                    </a:p>
                  </a:txBody>
                  <a:tcPr marL="91444" marR="91444" marT="45704" marB="45704"/>
                </a:tc>
                <a:tc>
                  <a:txBody>
                    <a:bodyPr/>
                    <a:lstStyle/>
                    <a:p>
                      <a:pPr algn="ctr"/>
                      <a:r>
                        <a:rPr lang="en-CA" sz="1800" dirty="0" smtClean="0"/>
                        <a:t>Cash Flows ($ millions)</a:t>
                      </a:r>
                      <a:endParaRPr lang="en-US" sz="1800" dirty="0"/>
                    </a:p>
                  </a:txBody>
                  <a:tcPr marL="91444" marR="91444" marT="45704" marB="45704"/>
                </a:tc>
                <a:tc>
                  <a:txBody>
                    <a:bodyPr/>
                    <a:lstStyle/>
                    <a:p>
                      <a:pPr algn="ctr"/>
                      <a:r>
                        <a:rPr lang="en-CA" sz="1800" dirty="0" smtClean="0"/>
                        <a:t>PV</a:t>
                      </a:r>
                      <a:r>
                        <a:rPr lang="en-CA" sz="1800" baseline="0" dirty="0" smtClean="0"/>
                        <a:t> </a:t>
                      </a:r>
                    </a:p>
                    <a:p>
                      <a:pPr algn="ctr"/>
                      <a:r>
                        <a:rPr lang="en-CA" sz="1800" baseline="0" dirty="0" smtClean="0"/>
                        <a:t>($ millions)</a:t>
                      </a:r>
                      <a:endParaRPr lang="en-US" sz="1800" dirty="0"/>
                    </a:p>
                  </a:txBody>
                  <a:tcPr marL="91444" marR="91444" marT="45704" marB="45704"/>
                </a:tc>
                <a:tc>
                  <a:txBody>
                    <a:bodyPr/>
                    <a:lstStyle/>
                    <a:p>
                      <a:pPr algn="ctr"/>
                      <a:r>
                        <a:rPr lang="en-CA" sz="1800" dirty="0" smtClean="0"/>
                        <a:t>Cash flows (millions</a:t>
                      </a:r>
                      <a:r>
                        <a:rPr lang="en-CA" sz="1800" baseline="0" dirty="0" smtClean="0"/>
                        <a:t> </a:t>
                      </a:r>
                      <a:r>
                        <a:rPr lang="en-CA" sz="1800" dirty="0" smtClean="0"/>
                        <a:t>of yen)</a:t>
                      </a:r>
                      <a:endParaRPr lang="en-US" sz="1800" dirty="0"/>
                    </a:p>
                  </a:txBody>
                  <a:tcPr marL="91444" marR="91444" marT="45704" marB="45704"/>
                </a:tc>
                <a:tc>
                  <a:txBody>
                    <a:bodyPr/>
                    <a:lstStyle/>
                    <a:p>
                      <a:pPr algn="ctr"/>
                      <a:r>
                        <a:rPr lang="en-CA" sz="1800" dirty="0" smtClean="0"/>
                        <a:t>PV ( millions of</a:t>
                      </a:r>
                      <a:r>
                        <a:rPr lang="en-CA" sz="1800" baseline="0" dirty="0" smtClean="0"/>
                        <a:t> </a:t>
                      </a:r>
                      <a:r>
                        <a:rPr lang="en-CA" sz="1800" dirty="0" smtClean="0"/>
                        <a:t>yen)</a:t>
                      </a:r>
                      <a:endParaRPr lang="en-US" sz="1800" dirty="0"/>
                    </a:p>
                  </a:txBody>
                  <a:tcPr marL="91444" marR="91444" marT="45704" marB="45704"/>
                </a:tc>
                <a:extLst>
                  <a:ext uri="{0D108BD9-81ED-4DB2-BD59-A6C34878D82A}">
                    <a16:rowId xmlns:a16="http://schemas.microsoft.com/office/drawing/2014/main" val="10000"/>
                  </a:ext>
                </a:extLst>
              </a:tr>
              <a:tr h="408314">
                <a:tc>
                  <a:txBody>
                    <a:bodyPr/>
                    <a:lstStyle/>
                    <a:p>
                      <a:pPr algn="ctr"/>
                      <a:r>
                        <a:rPr lang="en-CA" sz="1800" dirty="0" smtClean="0"/>
                        <a:t>1</a:t>
                      </a:r>
                      <a:endParaRPr lang="en-US" sz="1800" dirty="0"/>
                    </a:p>
                  </a:txBody>
                  <a:tcPr marL="91444" marR="91444" marT="45704" marB="45704"/>
                </a:tc>
                <a:tc>
                  <a:txBody>
                    <a:bodyPr/>
                    <a:lstStyle/>
                    <a:p>
                      <a:pPr algn="ctr"/>
                      <a:r>
                        <a:rPr lang="en-CA" sz="1800" dirty="0" smtClean="0"/>
                        <a:t>0.4</a:t>
                      </a:r>
                      <a:endParaRPr lang="en-US" sz="1800" dirty="0"/>
                    </a:p>
                  </a:txBody>
                  <a:tcPr marL="91444" marR="91444" marT="45704" marB="45704"/>
                </a:tc>
                <a:tc>
                  <a:txBody>
                    <a:bodyPr/>
                    <a:lstStyle/>
                    <a:p>
                      <a:pPr algn="ctr"/>
                      <a:r>
                        <a:rPr lang="en-CA" sz="1800" dirty="0" smtClean="0"/>
                        <a:t>0.3901</a:t>
                      </a:r>
                      <a:endParaRPr lang="en-US" sz="1800" dirty="0"/>
                    </a:p>
                  </a:txBody>
                  <a:tcPr marL="91444" marR="91444" marT="45704" marB="45704"/>
                </a:tc>
                <a:tc>
                  <a:txBody>
                    <a:bodyPr/>
                    <a:lstStyle/>
                    <a:p>
                      <a:pPr algn="ctr"/>
                      <a:r>
                        <a:rPr lang="en-CA" sz="1800" dirty="0" smtClean="0"/>
                        <a:t>    36</a:t>
                      </a:r>
                      <a:endParaRPr lang="en-US" sz="1800" dirty="0"/>
                    </a:p>
                  </a:txBody>
                  <a:tcPr marL="91444" marR="91444" marT="45704" marB="45704"/>
                </a:tc>
                <a:tc>
                  <a:txBody>
                    <a:bodyPr/>
                    <a:lstStyle/>
                    <a:p>
                      <a:pPr algn="ctr"/>
                      <a:r>
                        <a:rPr lang="en-CA" sz="1800" dirty="0" smtClean="0"/>
                        <a:t>   35.46</a:t>
                      </a:r>
                      <a:endParaRPr lang="en-US" sz="1800" dirty="0"/>
                    </a:p>
                  </a:txBody>
                  <a:tcPr marL="91444" marR="91444" marT="45704" marB="45704"/>
                </a:tc>
                <a:extLst>
                  <a:ext uri="{0D108BD9-81ED-4DB2-BD59-A6C34878D82A}">
                    <a16:rowId xmlns:a16="http://schemas.microsoft.com/office/drawing/2014/main" val="10001"/>
                  </a:ext>
                </a:extLst>
              </a:tr>
              <a:tr h="408314">
                <a:tc>
                  <a:txBody>
                    <a:bodyPr/>
                    <a:lstStyle/>
                    <a:p>
                      <a:pPr algn="ctr"/>
                      <a:r>
                        <a:rPr lang="en-CA" sz="1800" dirty="0" smtClean="0"/>
                        <a:t>2</a:t>
                      </a:r>
                      <a:endParaRPr lang="en-US" sz="1800" dirty="0"/>
                    </a:p>
                  </a:txBody>
                  <a:tcPr marL="91444" marR="91444" marT="45704" marB="45704"/>
                </a:tc>
                <a:tc>
                  <a:txBody>
                    <a:bodyPr/>
                    <a:lstStyle/>
                    <a:p>
                      <a:pPr algn="ctr"/>
                      <a:r>
                        <a:rPr lang="en-CA" sz="1800" dirty="0" smtClean="0"/>
                        <a:t>0.4</a:t>
                      </a:r>
                      <a:endParaRPr lang="en-US" sz="1800" dirty="0"/>
                    </a:p>
                  </a:txBody>
                  <a:tcPr marL="91444" marR="91444" marT="45704" marB="45704"/>
                </a:tc>
                <a:tc>
                  <a:txBody>
                    <a:bodyPr/>
                    <a:lstStyle/>
                    <a:p>
                      <a:pPr algn="ctr"/>
                      <a:r>
                        <a:rPr lang="en-CA" sz="1800" dirty="0" smtClean="0"/>
                        <a:t>0.3805</a:t>
                      </a:r>
                      <a:endParaRPr lang="en-US" sz="1800" dirty="0"/>
                    </a:p>
                  </a:txBody>
                  <a:tcPr marL="91444" marR="91444" marT="45704" marB="45704"/>
                </a:tc>
                <a:tc>
                  <a:txBody>
                    <a:bodyPr/>
                    <a:lstStyle/>
                    <a:p>
                      <a:pPr algn="ctr"/>
                      <a:r>
                        <a:rPr lang="en-CA" sz="1800" dirty="0" smtClean="0"/>
                        <a:t>    36</a:t>
                      </a:r>
                      <a:endParaRPr lang="en-US" sz="1800" dirty="0"/>
                    </a:p>
                  </a:txBody>
                  <a:tcPr marL="91444" marR="91444" marT="45704" marB="45704"/>
                </a:tc>
                <a:tc>
                  <a:txBody>
                    <a:bodyPr/>
                    <a:lstStyle/>
                    <a:p>
                      <a:pPr algn="ctr"/>
                      <a:r>
                        <a:rPr lang="en-CA" sz="1800" dirty="0" smtClean="0"/>
                        <a:t>    34.94</a:t>
                      </a:r>
                      <a:endParaRPr lang="en-US" sz="1800" dirty="0"/>
                    </a:p>
                  </a:txBody>
                  <a:tcPr marL="91444" marR="91444" marT="45704" marB="45704"/>
                </a:tc>
                <a:extLst>
                  <a:ext uri="{0D108BD9-81ED-4DB2-BD59-A6C34878D82A}">
                    <a16:rowId xmlns:a16="http://schemas.microsoft.com/office/drawing/2014/main" val="10002"/>
                  </a:ext>
                </a:extLst>
              </a:tr>
              <a:tr h="408314">
                <a:tc>
                  <a:txBody>
                    <a:bodyPr/>
                    <a:lstStyle/>
                    <a:p>
                      <a:pPr algn="ctr"/>
                      <a:r>
                        <a:rPr lang="en-CA" sz="1800" dirty="0" smtClean="0"/>
                        <a:t>3</a:t>
                      </a:r>
                      <a:endParaRPr lang="en-US" sz="1800" dirty="0"/>
                    </a:p>
                  </a:txBody>
                  <a:tcPr marL="91444" marR="91444" marT="45704" marB="45704"/>
                </a:tc>
                <a:tc>
                  <a:txBody>
                    <a:bodyPr/>
                    <a:lstStyle/>
                    <a:p>
                      <a:pPr algn="ctr"/>
                      <a:r>
                        <a:rPr lang="en-CA" sz="1800" dirty="0" smtClean="0"/>
                        <a:t>10.4</a:t>
                      </a:r>
                      <a:endParaRPr lang="en-US" sz="1800" dirty="0"/>
                    </a:p>
                  </a:txBody>
                  <a:tcPr marL="91444" marR="91444" marT="45704" marB="45704"/>
                </a:tc>
                <a:tc>
                  <a:txBody>
                    <a:bodyPr/>
                    <a:lstStyle/>
                    <a:p>
                      <a:pPr algn="ctr"/>
                      <a:r>
                        <a:rPr lang="en-CA" sz="1800" dirty="0" smtClean="0"/>
                        <a:t>9.6485</a:t>
                      </a:r>
                      <a:endParaRPr lang="en-US" sz="1800" dirty="0"/>
                    </a:p>
                  </a:txBody>
                  <a:tcPr marL="91444" marR="91444" marT="45704" marB="45704"/>
                </a:tc>
                <a:tc>
                  <a:txBody>
                    <a:bodyPr/>
                    <a:lstStyle/>
                    <a:p>
                      <a:pPr algn="ctr"/>
                      <a:r>
                        <a:rPr lang="en-CA" sz="1800" dirty="0" smtClean="0"/>
                        <a:t>1,236</a:t>
                      </a:r>
                      <a:endParaRPr lang="en-US" sz="1800" dirty="0"/>
                    </a:p>
                  </a:txBody>
                  <a:tcPr marL="91444" marR="91444" marT="45704" marB="45704"/>
                </a:tc>
                <a:tc>
                  <a:txBody>
                    <a:bodyPr/>
                    <a:lstStyle/>
                    <a:p>
                      <a:pPr algn="ctr"/>
                      <a:r>
                        <a:rPr lang="en-CA" sz="1800" dirty="0" smtClean="0"/>
                        <a:t>1,181.61</a:t>
                      </a:r>
                      <a:endParaRPr lang="en-US" sz="1800" dirty="0"/>
                    </a:p>
                  </a:txBody>
                  <a:tcPr marL="91444" marR="91444" marT="45704" marB="45704"/>
                </a:tc>
                <a:extLst>
                  <a:ext uri="{0D108BD9-81ED-4DB2-BD59-A6C34878D82A}">
                    <a16:rowId xmlns:a16="http://schemas.microsoft.com/office/drawing/2014/main" val="10003"/>
                  </a:ext>
                </a:extLst>
              </a:tr>
              <a:tr h="408314">
                <a:tc>
                  <a:txBody>
                    <a:bodyPr/>
                    <a:lstStyle/>
                    <a:p>
                      <a:pPr algn="ctr"/>
                      <a:r>
                        <a:rPr lang="en-CA" sz="1800" dirty="0" smtClean="0"/>
                        <a:t>Total</a:t>
                      </a:r>
                      <a:endParaRPr lang="en-US" sz="1800" dirty="0"/>
                    </a:p>
                  </a:txBody>
                  <a:tcPr marL="91444" marR="91444" marT="45704" marB="45704"/>
                </a:tc>
                <a:tc>
                  <a:txBody>
                    <a:bodyPr/>
                    <a:lstStyle/>
                    <a:p>
                      <a:pPr algn="ctr"/>
                      <a:endParaRPr lang="en-US" sz="1800" dirty="0"/>
                    </a:p>
                  </a:txBody>
                  <a:tcPr marL="91444" marR="91444" marT="45704" marB="45704"/>
                </a:tc>
                <a:tc>
                  <a:txBody>
                    <a:bodyPr/>
                    <a:lstStyle/>
                    <a:p>
                      <a:pPr algn="ctr"/>
                      <a:r>
                        <a:rPr lang="en-CA" sz="1800" dirty="0" smtClean="0"/>
                        <a:t>10.4191</a:t>
                      </a:r>
                      <a:endParaRPr lang="en-US" sz="1800" dirty="0"/>
                    </a:p>
                  </a:txBody>
                  <a:tcPr marL="91444" marR="91444" marT="45704" marB="45704"/>
                </a:tc>
                <a:tc>
                  <a:txBody>
                    <a:bodyPr/>
                    <a:lstStyle/>
                    <a:p>
                      <a:pPr algn="ctr"/>
                      <a:endParaRPr lang="en-US" sz="1800" dirty="0"/>
                    </a:p>
                  </a:txBody>
                  <a:tcPr marL="91444" marR="91444" marT="45704" marB="45704"/>
                </a:tc>
                <a:tc>
                  <a:txBody>
                    <a:bodyPr/>
                    <a:lstStyle/>
                    <a:p>
                      <a:pPr algn="ctr"/>
                      <a:r>
                        <a:rPr lang="en-CA" sz="1800" dirty="0" smtClean="0"/>
                        <a:t>1,252.01</a:t>
                      </a:r>
                      <a:endParaRPr lang="en-US" sz="1800" dirty="0"/>
                    </a:p>
                  </a:txBody>
                  <a:tcPr marL="91444" marR="91444" marT="45704" marB="45704"/>
                </a:tc>
                <a:extLst>
                  <a:ext uri="{0D108BD9-81ED-4DB2-BD59-A6C34878D82A}">
                    <a16:rowId xmlns:a16="http://schemas.microsoft.com/office/drawing/2014/main" val="10004"/>
                  </a:ext>
                </a:extLst>
              </a:tr>
            </a:tbl>
          </a:graphicData>
        </a:graphic>
      </p:graphicFrame>
      <p:sp>
        <p:nvSpPr>
          <p:cNvPr id="68651" name="TextBox 1"/>
          <p:cNvSpPr txBox="1">
            <a:spLocks noChangeArrowheads="1"/>
          </p:cNvSpPr>
          <p:nvPr/>
        </p:nvSpPr>
        <p:spPr bwMode="auto">
          <a:xfrm>
            <a:off x="1112837" y="5229200"/>
            <a:ext cx="6842125"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CA" altLang="en-US" sz="2400" dirty="0"/>
              <a:t>Value = 1,252.01/110−10.4191 = +0.9629 millions of dollars </a:t>
            </a: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itle 1"/>
          <p:cNvSpPr>
            <a:spLocks noGrp="1"/>
          </p:cNvSpPr>
          <p:nvPr>
            <p:ph type="title"/>
          </p:nvPr>
        </p:nvSpPr>
        <p:spPr/>
        <p:txBody>
          <a:bodyPr/>
          <a:lstStyle/>
          <a:p>
            <a:r>
              <a:rPr lang="en-CA" altLang="en-US" smtClean="0"/>
              <a:t>Other Currency Swaps</a:t>
            </a:r>
          </a:p>
        </p:txBody>
      </p:sp>
      <p:sp>
        <p:nvSpPr>
          <p:cNvPr id="70659" name="Content Placeholder 2"/>
          <p:cNvSpPr>
            <a:spLocks noGrp="1"/>
          </p:cNvSpPr>
          <p:nvPr>
            <p:ph idx="1"/>
          </p:nvPr>
        </p:nvSpPr>
        <p:spPr/>
        <p:txBody>
          <a:bodyPr/>
          <a:lstStyle/>
          <a:p>
            <a:r>
              <a:rPr lang="en-CA" altLang="en-US" smtClean="0"/>
              <a:t>Fixed-for-floating: equivalent to a fixed-for-fixed currency swap plus a fixed for floating interest rate swap</a:t>
            </a:r>
          </a:p>
          <a:p>
            <a:r>
              <a:rPr lang="en-CA" altLang="en-US" smtClean="0"/>
              <a:t>Floating-for-floating: equivalent to a fixed-for-fixed currency swap plus two floating interest rate swaps </a:t>
            </a:r>
          </a:p>
        </p:txBody>
      </p:sp>
      <p:sp>
        <p:nvSpPr>
          <p:cNvPr id="70660"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smtClean="0"/>
              <a:t>Options, Futures, and Other Derivatives, 11th Edition, Copyright © John C. Hull 2021</a:t>
            </a:r>
            <a:endParaRPr lang="en-US" altLang="en-US" sz="1400" i="0"/>
          </a:p>
        </p:txBody>
      </p:sp>
      <p:sp>
        <p:nvSpPr>
          <p:cNvPr id="70661"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89203DB3-DA2D-4CBF-951F-95C7D1658CAD}" type="slidenum">
              <a:rPr lang="en-US" altLang="en-US" sz="1800"/>
              <a:pPr>
                <a:spcBef>
                  <a:spcPct val="0"/>
                </a:spcBef>
                <a:buClrTx/>
                <a:buSzTx/>
                <a:buFontTx/>
                <a:buNone/>
              </a:pPr>
              <a:t>36</a:t>
            </a:fld>
            <a:endParaRPr lang="en-US" altLang="en-US" sz="180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Rectangle 2"/>
          <p:cNvSpPr>
            <a:spLocks noGrp="1" noChangeArrowheads="1"/>
          </p:cNvSpPr>
          <p:nvPr>
            <p:ph type="title"/>
          </p:nvPr>
        </p:nvSpPr>
        <p:spPr>
          <a:xfrm>
            <a:off x="514350" y="798851"/>
            <a:ext cx="8077200" cy="1524000"/>
          </a:xfrm>
          <a:noFill/>
        </p:spPr>
        <p:txBody>
          <a:bodyPr lIns="92075" tIns="46038" rIns="92075" bIns="46038" anchor="ctr"/>
          <a:lstStyle/>
          <a:p>
            <a:pPr eaLnBrk="1" hangingPunct="1"/>
            <a:r>
              <a:rPr lang="en-US" altLang="en-US" dirty="0" smtClean="0"/>
              <a:t>Swaps &amp; Forwards</a:t>
            </a:r>
          </a:p>
        </p:txBody>
      </p:sp>
      <p:sp>
        <p:nvSpPr>
          <p:cNvPr id="71684" name="Rectangle 3"/>
          <p:cNvSpPr>
            <a:spLocks noGrp="1" noChangeArrowheads="1"/>
          </p:cNvSpPr>
          <p:nvPr>
            <p:ph idx="1"/>
          </p:nvPr>
        </p:nvSpPr>
        <p:spPr>
          <a:xfrm>
            <a:off x="647700" y="2360951"/>
            <a:ext cx="7810500" cy="4038600"/>
          </a:xfrm>
          <a:noFill/>
        </p:spPr>
        <p:txBody>
          <a:bodyPr lIns="92075" tIns="46038" rIns="92075" bIns="46038"/>
          <a:lstStyle/>
          <a:p>
            <a:pPr eaLnBrk="1" hangingPunct="1"/>
            <a:r>
              <a:rPr lang="en-US" altLang="en-US" dirty="0" smtClean="0"/>
              <a:t>A swap can be regarded as a convenient way of packaging forward contracts</a:t>
            </a:r>
          </a:p>
          <a:p>
            <a:pPr eaLnBrk="1" hangingPunct="1"/>
            <a:r>
              <a:rPr lang="en-US" altLang="en-US" dirty="0" smtClean="0"/>
              <a:t>When a swap is initiated the swap has zero value, but typically some forwards have a positive value and some have a negative value</a:t>
            </a:r>
          </a:p>
        </p:txBody>
      </p:sp>
      <p:sp>
        <p:nvSpPr>
          <p:cNvPr id="71682"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smtClean="0"/>
              <a:t>Options, Futures, and Other Derivatives, 11th Edition, Copyright © John C. Hull 2021</a:t>
            </a:r>
            <a:endParaRPr lang="en-US" altLang="en-US" sz="1400" i="0"/>
          </a:p>
        </p:txBody>
      </p:sp>
      <p:sp>
        <p:nvSpPr>
          <p:cNvPr id="71685"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C78EA907-78F5-46B6-90E0-17C13AFF6393}" type="slidenum">
              <a:rPr lang="en-US" altLang="en-US" sz="1800"/>
              <a:pPr>
                <a:spcBef>
                  <a:spcPct val="0"/>
                </a:spcBef>
                <a:buClrTx/>
                <a:buSzTx/>
                <a:buFontTx/>
                <a:buNone/>
              </a:pPr>
              <a:t>37</a:t>
            </a:fld>
            <a:endParaRPr lang="en-US" altLang="en-US" sz="1800"/>
          </a:p>
        </p:txBody>
      </p:sp>
    </p:spTree>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a:xfrm>
            <a:off x="534987" y="844414"/>
            <a:ext cx="7772400" cy="1295400"/>
          </a:xfrm>
        </p:spPr>
        <p:txBody>
          <a:bodyPr lIns="92075" tIns="46038" rIns="92075" bIns="46038"/>
          <a:lstStyle/>
          <a:p>
            <a:pPr eaLnBrk="1" hangingPunct="1"/>
            <a:r>
              <a:rPr lang="en-US" altLang="en-US" dirty="0" smtClean="0"/>
              <a:t>Credit Risk</a:t>
            </a:r>
          </a:p>
        </p:txBody>
      </p:sp>
      <p:sp>
        <p:nvSpPr>
          <p:cNvPr id="73731" name="Rectangle 3"/>
          <p:cNvSpPr>
            <a:spLocks noGrp="1" noChangeArrowheads="1"/>
          </p:cNvSpPr>
          <p:nvPr>
            <p:ph idx="1"/>
          </p:nvPr>
        </p:nvSpPr>
        <p:spPr>
          <a:xfrm>
            <a:off x="384175" y="2348880"/>
            <a:ext cx="8074025" cy="3481388"/>
          </a:xfrm>
        </p:spPr>
        <p:txBody>
          <a:bodyPr lIns="92075" tIns="46038" rIns="92075" bIns="46038"/>
          <a:lstStyle/>
          <a:p>
            <a:pPr eaLnBrk="1" hangingPunct="1"/>
            <a:r>
              <a:rPr lang="en-CA" altLang="en-US" sz="2800" dirty="0" smtClean="0">
                <a:cs typeface="Arial" panose="020B0604020202020204" pitchFamily="34" charset="0"/>
              </a:rPr>
              <a:t>When derivatives transactions with a counterparty are cleared bilaterally, they are netted</a:t>
            </a:r>
          </a:p>
          <a:p>
            <a:pPr eaLnBrk="1" hangingPunct="1"/>
            <a:r>
              <a:rPr lang="en-CA" altLang="en-US" sz="2800" dirty="0" smtClean="0">
                <a:cs typeface="Arial" panose="020B0604020202020204" pitchFamily="34" charset="0"/>
              </a:rPr>
              <a:t>There is exposure if the net value of outstanding transactions is greater than the collateral posted</a:t>
            </a:r>
            <a:endParaRPr lang="en-US" altLang="en-US" sz="2800" dirty="0" smtClean="0">
              <a:cs typeface="Arial" panose="020B0604020202020204" pitchFamily="34" charset="0"/>
            </a:endParaRPr>
          </a:p>
        </p:txBody>
      </p:sp>
      <p:sp>
        <p:nvSpPr>
          <p:cNvPr id="73732"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smtClean="0"/>
              <a:t>Options, Futures, and Other Derivatives, 11th Edition, Copyright © John C. Hull 2021</a:t>
            </a:r>
            <a:endParaRPr lang="en-US" altLang="en-US" sz="1400">
              <a:cs typeface="Arial" panose="020B0604020202020204" pitchFamily="34" charset="0"/>
            </a:endParaRPr>
          </a:p>
        </p:txBody>
      </p:sp>
      <p:sp>
        <p:nvSpPr>
          <p:cNvPr id="73733"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E3C7CB4B-DCE8-4C66-8CBE-3233EF43E532}" type="slidenum">
              <a:rPr lang="en-US" altLang="en-US" sz="1800"/>
              <a:pPr>
                <a:spcBef>
                  <a:spcPct val="0"/>
                </a:spcBef>
                <a:buClrTx/>
                <a:buSzTx/>
                <a:buFontTx/>
                <a:buNone/>
              </a:pPr>
              <a:t>38</a:t>
            </a:fld>
            <a:endParaRPr lang="en-US" altLang="en-US" sz="1800"/>
          </a:p>
        </p:txBody>
      </p:sp>
    </p:spTree>
  </p:cSld>
  <p:clrMapOvr>
    <a:masterClrMapping/>
  </p:clrMapOv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Title 1"/>
          <p:cNvSpPr>
            <a:spLocks noGrp="1"/>
          </p:cNvSpPr>
          <p:nvPr>
            <p:ph type="title"/>
          </p:nvPr>
        </p:nvSpPr>
        <p:spPr>
          <a:xfrm>
            <a:off x="228600" y="874063"/>
            <a:ext cx="7772400" cy="1143000"/>
          </a:xfrm>
        </p:spPr>
        <p:txBody>
          <a:bodyPr/>
          <a:lstStyle/>
          <a:p>
            <a:r>
              <a:rPr lang="en-CA" altLang="en-US" dirty="0" smtClean="0"/>
              <a:t>Credit Default Swaps: A Quick First Look</a:t>
            </a:r>
          </a:p>
        </p:txBody>
      </p:sp>
      <p:sp>
        <p:nvSpPr>
          <p:cNvPr id="75779" name="Content Placeholder 2"/>
          <p:cNvSpPr>
            <a:spLocks noGrp="1"/>
          </p:cNvSpPr>
          <p:nvPr>
            <p:ph idx="1"/>
          </p:nvPr>
        </p:nvSpPr>
        <p:spPr>
          <a:xfrm>
            <a:off x="611560" y="2258598"/>
            <a:ext cx="8229600" cy="4411662"/>
          </a:xfrm>
        </p:spPr>
        <p:txBody>
          <a:bodyPr/>
          <a:lstStyle/>
          <a:p>
            <a:r>
              <a:rPr lang="en-CA" altLang="en-US" sz="2600" dirty="0" smtClean="0"/>
              <a:t>Notional principal (e.g. $100 million) and maturity (e.g. 5 </a:t>
            </a:r>
            <a:r>
              <a:rPr lang="en-CA" altLang="en-US" sz="2600" dirty="0" err="1" smtClean="0"/>
              <a:t>yrs</a:t>
            </a:r>
            <a:r>
              <a:rPr lang="en-CA" altLang="en-US" sz="2600" dirty="0" smtClean="0"/>
              <a:t>) specified</a:t>
            </a:r>
          </a:p>
          <a:p>
            <a:r>
              <a:rPr lang="en-CA" altLang="en-US" sz="2600" dirty="0" smtClean="0"/>
              <a:t>Protection buyer pays a fixed rate (e.g. 150 </a:t>
            </a:r>
            <a:r>
              <a:rPr lang="en-CA" altLang="en-US" sz="2600" dirty="0" err="1" smtClean="0"/>
              <a:t>bp</a:t>
            </a:r>
            <a:r>
              <a:rPr lang="en-CA" altLang="en-US" sz="2600" dirty="0" smtClean="0"/>
              <a:t>) on the notional principal (the CDS spread) </a:t>
            </a:r>
          </a:p>
          <a:p>
            <a:r>
              <a:rPr lang="en-CA" altLang="en-US" sz="2600" dirty="0" smtClean="0"/>
              <a:t>If the reference entity (a country or company) defaults protection seller buys bonds issued by the reference entity for their face value and the spread payments stop. Total face value of bonds bought equals notional principal</a:t>
            </a:r>
          </a:p>
        </p:txBody>
      </p:sp>
      <p:sp>
        <p:nvSpPr>
          <p:cNvPr id="75780"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smtClean="0"/>
              <a:t>Options, Futures, and Other Derivatives, 11th Edition, Copyright © John C. Hull 2021</a:t>
            </a:r>
            <a:endParaRPr lang="en-US" altLang="en-US" sz="1400" i="0"/>
          </a:p>
        </p:txBody>
      </p:sp>
      <p:sp>
        <p:nvSpPr>
          <p:cNvPr id="75781"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6EA0F4DA-CDA5-483E-A7E7-3E530210AB7A}" type="slidenum">
              <a:rPr lang="en-US" altLang="en-US" sz="1800"/>
              <a:pPr>
                <a:spcBef>
                  <a:spcPct val="0"/>
                </a:spcBef>
                <a:buClrTx/>
                <a:buSzTx/>
                <a:buFontTx/>
                <a:buNone/>
              </a:pPr>
              <a:t>39</a:t>
            </a:fld>
            <a:endParaRPr lang="en-US" altLang="en-US" sz="180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3" name="Rectangle 2"/>
          <p:cNvSpPr>
            <a:spLocks noGrp="1" noChangeArrowheads="1"/>
          </p:cNvSpPr>
          <p:nvPr>
            <p:ph type="title"/>
          </p:nvPr>
        </p:nvSpPr>
        <p:spPr/>
        <p:txBody>
          <a:bodyPr/>
          <a:lstStyle/>
          <a:p>
            <a:pPr eaLnBrk="1" hangingPunct="1"/>
            <a:r>
              <a:rPr lang="en-US" altLang="en-US" smtClean="0"/>
              <a:t>Other Types of Swaps</a:t>
            </a:r>
          </a:p>
        </p:txBody>
      </p:sp>
      <p:sp>
        <p:nvSpPr>
          <p:cNvPr id="76804" name="Rectangle 3"/>
          <p:cNvSpPr>
            <a:spLocks noGrp="1" noChangeArrowheads="1"/>
          </p:cNvSpPr>
          <p:nvPr>
            <p:ph idx="1"/>
          </p:nvPr>
        </p:nvSpPr>
        <p:spPr/>
        <p:txBody>
          <a:bodyPr/>
          <a:lstStyle/>
          <a:p>
            <a:pPr eaLnBrk="1" hangingPunct="1"/>
            <a:r>
              <a:rPr lang="en-US" altLang="en-US" dirty="0" smtClean="0"/>
              <a:t>Amortizing/ step up</a:t>
            </a:r>
          </a:p>
          <a:p>
            <a:pPr eaLnBrk="1" hangingPunct="1"/>
            <a:r>
              <a:rPr lang="en-US" altLang="en-US" dirty="0" smtClean="0"/>
              <a:t>Compounding swap</a:t>
            </a:r>
          </a:p>
          <a:p>
            <a:pPr eaLnBrk="1" hangingPunct="1"/>
            <a:r>
              <a:rPr lang="en-US" altLang="en-US" dirty="0" err="1" smtClean="0"/>
              <a:t>Quanto</a:t>
            </a:r>
            <a:r>
              <a:rPr lang="en-US" altLang="en-US" dirty="0" smtClean="0"/>
              <a:t> (diff swap)</a:t>
            </a:r>
          </a:p>
          <a:p>
            <a:pPr eaLnBrk="1" hangingPunct="1"/>
            <a:r>
              <a:rPr lang="en-US" altLang="en-US" dirty="0" smtClean="0"/>
              <a:t>Equity swap</a:t>
            </a:r>
          </a:p>
          <a:p>
            <a:pPr eaLnBrk="1" hangingPunct="1"/>
            <a:r>
              <a:rPr lang="en-US" altLang="en-US" dirty="0" smtClean="0"/>
              <a:t>Extendible or puttable swap</a:t>
            </a:r>
          </a:p>
          <a:p>
            <a:pPr eaLnBrk="1" hangingPunct="1"/>
            <a:r>
              <a:rPr lang="en-US" altLang="en-US" dirty="0" smtClean="0"/>
              <a:t>Commodity swap</a:t>
            </a:r>
          </a:p>
          <a:p>
            <a:pPr eaLnBrk="1" hangingPunct="1"/>
            <a:r>
              <a:rPr lang="en-US" altLang="en-US" dirty="0" smtClean="0"/>
              <a:t>Volatility swap</a:t>
            </a:r>
          </a:p>
        </p:txBody>
      </p:sp>
      <p:sp>
        <p:nvSpPr>
          <p:cNvPr id="76802"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smtClean="0"/>
              <a:t>Options, Futures, and Other Derivatives, 11th Edition, Copyright © John C. Hull 2021</a:t>
            </a:r>
            <a:endParaRPr lang="en-US" altLang="en-US" sz="1400" i="0"/>
          </a:p>
        </p:txBody>
      </p:sp>
      <p:sp>
        <p:nvSpPr>
          <p:cNvPr id="76805"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67C90792-3697-4278-9B27-D2C0DA0D5F74}" type="slidenum">
              <a:rPr lang="en-US" altLang="en-US" sz="1800"/>
              <a:pPr>
                <a:spcBef>
                  <a:spcPct val="0"/>
                </a:spcBef>
                <a:buClrTx/>
                <a:buSzTx/>
                <a:buFontTx/>
                <a:buNone/>
              </a:pPr>
              <a:t>40</a:t>
            </a:fld>
            <a:endParaRPr lang="en-US" altLang="en-US" sz="180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Global">
  <a:themeElements>
    <a:clrScheme name="Custom 5">
      <a:dk1>
        <a:srgbClr val="000000"/>
      </a:dk1>
      <a:lt1>
        <a:srgbClr val="FFFFFF"/>
      </a:lt1>
      <a:dk2>
        <a:srgbClr val="3A3015"/>
      </a:dk2>
      <a:lt2>
        <a:srgbClr val="FFFFFF"/>
      </a:lt2>
      <a:accent1>
        <a:srgbClr val="FFFFCC"/>
      </a:accent1>
      <a:accent2>
        <a:srgbClr val="B5E0E3"/>
      </a:accent2>
      <a:accent3>
        <a:srgbClr val="FFFFFF"/>
      </a:accent3>
      <a:accent4>
        <a:srgbClr val="000000"/>
      </a:accent4>
      <a:accent5>
        <a:srgbClr val="FFFFE2"/>
      </a:accent5>
      <a:accent6>
        <a:srgbClr val="A4CBCE"/>
      </a:accent6>
      <a:hlink>
        <a:srgbClr val="E5D093"/>
      </a:hlink>
      <a:folHlink>
        <a:srgbClr val="CCB374"/>
      </a:folHlink>
    </a:clrScheme>
    <a:fontScheme name="Global">
      <a:majorFont>
        <a:latin typeface="Times New Roman"/>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Global 1">
        <a:dk1>
          <a:srgbClr val="000000"/>
        </a:dk1>
        <a:lt1>
          <a:srgbClr val="FFFFCC"/>
        </a:lt1>
        <a:dk2>
          <a:srgbClr val="4D4D4D"/>
        </a:dk2>
        <a:lt2>
          <a:srgbClr val="FFCC00"/>
        </a:lt2>
        <a:accent1>
          <a:srgbClr val="FF9900"/>
        </a:accent1>
        <a:accent2>
          <a:srgbClr val="CC9900"/>
        </a:accent2>
        <a:accent3>
          <a:srgbClr val="B2B2B2"/>
        </a:accent3>
        <a:accent4>
          <a:srgbClr val="DADAAE"/>
        </a:accent4>
        <a:accent5>
          <a:srgbClr val="FFCAAA"/>
        </a:accent5>
        <a:accent6>
          <a:srgbClr val="B98A00"/>
        </a:accent6>
        <a:hlink>
          <a:srgbClr val="898743"/>
        </a:hlink>
        <a:folHlink>
          <a:srgbClr val="666633"/>
        </a:folHlink>
      </a:clrScheme>
      <a:clrMap bg1="dk2" tx1="lt1" bg2="dk1" tx2="lt2" accent1="accent1" accent2="accent2" accent3="accent3" accent4="accent4" accent5="accent5" accent6="accent6" hlink="hlink" folHlink="folHlink"/>
    </a:extraClrScheme>
    <a:extraClrScheme>
      <a:clrScheme name="Global 2">
        <a:dk1>
          <a:srgbClr val="000000"/>
        </a:dk1>
        <a:lt1>
          <a:srgbClr val="FFFFFF"/>
        </a:lt1>
        <a:dk2>
          <a:srgbClr val="CC6600"/>
        </a:dk2>
        <a:lt2>
          <a:srgbClr val="FFFFFF"/>
        </a:lt2>
        <a:accent1>
          <a:srgbClr val="FFFFCC"/>
        </a:accent1>
        <a:accent2>
          <a:srgbClr val="B5E0E3"/>
        </a:accent2>
        <a:accent3>
          <a:srgbClr val="FFFFFF"/>
        </a:accent3>
        <a:accent4>
          <a:srgbClr val="000000"/>
        </a:accent4>
        <a:accent5>
          <a:srgbClr val="FFFFE2"/>
        </a:accent5>
        <a:accent6>
          <a:srgbClr val="A4CBCE"/>
        </a:accent6>
        <a:hlink>
          <a:srgbClr val="E5D093"/>
        </a:hlink>
        <a:folHlink>
          <a:srgbClr val="CCB374"/>
        </a:folHlink>
      </a:clrScheme>
      <a:clrMap bg1="lt1" tx1="dk1" bg2="lt2" tx2="dk2" accent1="accent1" accent2="accent2" accent3="accent3" accent4="accent4" accent5="accent5" accent6="accent6" hlink="hlink" folHlink="folHlink"/>
    </a:extraClrScheme>
    <a:extraClrScheme>
      <a:clrScheme name="Global 3">
        <a:dk1>
          <a:srgbClr val="000000"/>
        </a:dk1>
        <a:lt1>
          <a:srgbClr val="FFFFFF"/>
        </a:lt1>
        <a:dk2>
          <a:srgbClr val="000000"/>
        </a:dk2>
        <a:lt2>
          <a:srgbClr val="FFFFFF"/>
        </a:lt2>
        <a:accent1>
          <a:srgbClr val="F8F8F8"/>
        </a:accent1>
        <a:accent2>
          <a:srgbClr val="969696"/>
        </a:accent2>
        <a:accent3>
          <a:srgbClr val="FFFFFF"/>
        </a:accent3>
        <a:accent4>
          <a:srgbClr val="000000"/>
        </a:accent4>
        <a:accent5>
          <a:srgbClr val="FBFBFB"/>
        </a:accent5>
        <a:accent6>
          <a:srgbClr val="878787"/>
        </a:accent6>
        <a:hlink>
          <a:srgbClr val="DDDDDD"/>
        </a:hlink>
        <a:folHlink>
          <a:srgbClr val="B2B2B2"/>
        </a:folHlink>
      </a:clrScheme>
      <a:clrMap bg1="lt1" tx1="dk1" bg2="lt2" tx2="dk2" accent1="accent1" accent2="accent2" accent3="accent3" accent4="accent4" accent5="accent5" accent6="accent6" hlink="hlink" folHlink="folHlink"/>
    </a:extraClrScheme>
    <a:extraClrScheme>
      <a:clrScheme name="Global 4">
        <a:dk1>
          <a:srgbClr val="000000"/>
        </a:dk1>
        <a:lt1>
          <a:srgbClr val="FFFFFF"/>
        </a:lt1>
        <a:dk2>
          <a:srgbClr val="000066"/>
        </a:dk2>
        <a:lt2>
          <a:srgbClr val="FFFFFF"/>
        </a:lt2>
        <a:accent1>
          <a:srgbClr val="FFFFCC"/>
        </a:accent1>
        <a:accent2>
          <a:srgbClr val="B5E0E3"/>
        </a:accent2>
        <a:accent3>
          <a:srgbClr val="FFFFFF"/>
        </a:accent3>
        <a:accent4>
          <a:srgbClr val="000000"/>
        </a:accent4>
        <a:accent5>
          <a:srgbClr val="FFFFE2"/>
        </a:accent5>
        <a:accent6>
          <a:srgbClr val="A4CBCE"/>
        </a:accent6>
        <a:hlink>
          <a:srgbClr val="BFDFFF"/>
        </a:hlink>
        <a:folHlink>
          <a:srgbClr val="99CCFF"/>
        </a:folHlink>
      </a:clrScheme>
      <a:clrMap bg1="lt1" tx1="dk1" bg2="lt2" tx2="dk2" accent1="accent1" accent2="accent2" accent3="accent3" accent4="accent4" accent5="accent5" accent6="accent6" hlink="hlink" folHlink="folHlink"/>
    </a:extraClrScheme>
    <a:extraClrScheme>
      <a:clrScheme name="Global 5">
        <a:dk1>
          <a:srgbClr val="000000"/>
        </a:dk1>
        <a:lt1>
          <a:srgbClr val="E9E6D9"/>
        </a:lt1>
        <a:dk2>
          <a:srgbClr val="666633"/>
        </a:dk2>
        <a:lt2>
          <a:srgbClr val="CEC7AA"/>
        </a:lt2>
        <a:accent1>
          <a:srgbClr val="FFFFCC"/>
        </a:accent1>
        <a:accent2>
          <a:srgbClr val="B5E0E3"/>
        </a:accent2>
        <a:accent3>
          <a:srgbClr val="F2F0E9"/>
        </a:accent3>
        <a:accent4>
          <a:srgbClr val="000000"/>
        </a:accent4>
        <a:accent5>
          <a:srgbClr val="FFFFE2"/>
        </a:accent5>
        <a:accent6>
          <a:srgbClr val="A4CBCE"/>
        </a:accent6>
        <a:hlink>
          <a:srgbClr val="B6AB82"/>
        </a:hlink>
        <a:folHlink>
          <a:srgbClr val="A0925E"/>
        </a:folHlink>
      </a:clrScheme>
      <a:clrMap bg1="lt1" tx1="dk1" bg2="lt2" tx2="dk2" accent1="accent1" accent2="accent2" accent3="accent3" accent4="accent4" accent5="accent5" accent6="accent6" hlink="hlink" folHlink="folHlink"/>
    </a:extraClrScheme>
    <a:extraClrScheme>
      <a:clrScheme name="Global 6">
        <a:dk1>
          <a:srgbClr val="1B3753"/>
        </a:dk1>
        <a:lt1>
          <a:srgbClr val="EAEAEA"/>
        </a:lt1>
        <a:dk2>
          <a:srgbClr val="336699"/>
        </a:dk2>
        <a:lt2>
          <a:srgbClr val="FFFFCC"/>
        </a:lt2>
        <a:accent1>
          <a:srgbClr val="BA8E46"/>
        </a:accent1>
        <a:accent2>
          <a:srgbClr val="46C0AF"/>
        </a:accent2>
        <a:accent3>
          <a:srgbClr val="ADB8CA"/>
        </a:accent3>
        <a:accent4>
          <a:srgbClr val="C8C8C8"/>
        </a:accent4>
        <a:accent5>
          <a:srgbClr val="D9C6B0"/>
        </a:accent5>
        <a:accent6>
          <a:srgbClr val="3FAE9E"/>
        </a:accent6>
        <a:hlink>
          <a:srgbClr val="93ACC3"/>
        </a:hlink>
        <a:folHlink>
          <a:srgbClr val="7897B4"/>
        </a:folHlink>
      </a:clrScheme>
      <a:clrMap bg1="dk2" tx1="lt1" bg2="dk1" tx2="lt2" accent1="accent1" accent2="accent2" accent3="accent3" accent4="accent4" accent5="accent5" accent6="accent6" hlink="hlink" folHlink="folHlink"/>
    </a:extraClrScheme>
    <a:extraClrScheme>
      <a:clrScheme name="Global 7">
        <a:dk1>
          <a:srgbClr val="000000"/>
        </a:dk1>
        <a:lt1>
          <a:srgbClr val="FFFFFF"/>
        </a:lt1>
        <a:dk2>
          <a:srgbClr val="000000"/>
        </a:dk2>
        <a:lt2>
          <a:srgbClr val="FFFFFF"/>
        </a:lt2>
        <a:accent1>
          <a:srgbClr val="FFFFCC"/>
        </a:accent1>
        <a:accent2>
          <a:srgbClr val="FFCC99"/>
        </a:accent2>
        <a:accent3>
          <a:srgbClr val="FFFFFF"/>
        </a:accent3>
        <a:accent4>
          <a:srgbClr val="000000"/>
        </a:accent4>
        <a:accent5>
          <a:srgbClr val="FFFFE2"/>
        </a:accent5>
        <a:accent6>
          <a:srgbClr val="E7B98A"/>
        </a:accent6>
        <a:hlink>
          <a:srgbClr val="FF9999"/>
        </a:hlink>
        <a:folHlink>
          <a:srgbClr val="E06360"/>
        </a:folHlink>
      </a:clrScheme>
      <a:clrMap bg1="lt1" tx1="dk1" bg2="lt2" tx2="dk2" accent1="accent1" accent2="accent2" accent3="accent3" accent4="accent4" accent5="accent5" accent6="accent6" hlink="hlink" folHlink="folHlink"/>
    </a:extraClrScheme>
    <a:extraClrScheme>
      <a:clrScheme name="Global 8">
        <a:dk1>
          <a:srgbClr val="000000"/>
        </a:dk1>
        <a:lt1>
          <a:srgbClr val="EAEAEA"/>
        </a:lt1>
        <a:dk2>
          <a:srgbClr val="17118B"/>
        </a:dk2>
        <a:lt2>
          <a:srgbClr val="FFFFCC"/>
        </a:lt2>
        <a:accent1>
          <a:srgbClr val="B2B2B2"/>
        </a:accent1>
        <a:accent2>
          <a:srgbClr val="54ABB2"/>
        </a:accent2>
        <a:accent3>
          <a:srgbClr val="ABAAC4"/>
        </a:accent3>
        <a:accent4>
          <a:srgbClr val="C8C8C8"/>
        </a:accent4>
        <a:accent5>
          <a:srgbClr val="D5D5D5"/>
        </a:accent5>
        <a:accent6>
          <a:srgbClr val="4B9BA1"/>
        </a:accent6>
        <a:hlink>
          <a:srgbClr val="4F49A3"/>
        </a:hlink>
        <a:folHlink>
          <a:srgbClr val="2E2573"/>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4DB470C54600C46B1B0C1FE5EDD1D1B" ma:contentTypeVersion="0" ma:contentTypeDescription="Create a new document." ma:contentTypeScope="" ma:versionID="9ec98e71a396c75c5e8fb3166c3ab2c4">
  <xsd:schema xmlns:xsd="http://www.w3.org/2001/XMLSchema" xmlns:xs="http://www.w3.org/2001/XMLSchema" xmlns:p="http://schemas.microsoft.com/office/2006/metadata/properties" targetNamespace="http://schemas.microsoft.com/office/2006/metadata/properties" ma:root="true" ma:fieldsID="500c6692915ba10984c0aabd49f31b2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FD80030-E461-4DE1-80D3-B469272BAA85}"/>
</file>

<file path=customXml/itemProps2.xml><?xml version="1.0" encoding="utf-8"?>
<ds:datastoreItem xmlns:ds="http://schemas.openxmlformats.org/officeDocument/2006/customXml" ds:itemID="{473EF03F-341E-48E4-987A-20BFB49096DB}"/>
</file>

<file path=customXml/itemProps3.xml><?xml version="1.0" encoding="utf-8"?>
<ds:datastoreItem xmlns:ds="http://schemas.openxmlformats.org/officeDocument/2006/customXml" ds:itemID="{4676BBFF-388F-4A49-95AE-B9E222F22F2A}"/>
</file>

<file path=docProps/app.xml><?xml version="1.0" encoding="utf-8"?>
<Properties xmlns="http://schemas.openxmlformats.org/officeDocument/2006/extended-properties" xmlns:vt="http://schemas.openxmlformats.org/officeDocument/2006/docPropsVTypes">
  <Template>Ch01HullOFOD10thEdition</Template>
  <TotalTime>801</TotalTime>
  <Pages>26</Pages>
  <Words>2473</Words>
  <Application>Microsoft Office PowerPoint</Application>
  <PresentationFormat>Letter Paper (8.5x11 in)</PresentationFormat>
  <Paragraphs>475</Paragraphs>
  <Slides>40</Slides>
  <Notes>25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40</vt:i4>
      </vt:variant>
    </vt:vector>
  </HeadingPairs>
  <TitlesOfParts>
    <vt:vector size="45" baseType="lpstr">
      <vt:lpstr>Arial</vt:lpstr>
      <vt:lpstr>Tahoma</vt:lpstr>
      <vt:lpstr>Times New Roman</vt:lpstr>
      <vt:lpstr>Wingdings</vt:lpstr>
      <vt:lpstr>Global</vt:lpstr>
      <vt:lpstr>PowerPoint Presentation</vt:lpstr>
      <vt:lpstr>Nature of Swaps</vt:lpstr>
      <vt:lpstr>An Example of a “Plain Vanilla” Overnight Indexed Swap</vt:lpstr>
      <vt:lpstr>Cash Flows to Apple for One Outcome (See Table 7.1)</vt:lpstr>
      <vt:lpstr>Determination of Risk-Free Interest Rates</vt:lpstr>
      <vt:lpstr>Bootstrap Example (Table 7.3)</vt:lpstr>
      <vt:lpstr>Zero Rate Given by Bootstrap Method (Figure 7.2)</vt:lpstr>
      <vt:lpstr>Typical Uses of an Interest Rate Swap</vt:lpstr>
      <vt:lpstr>OIS Between Apple and Citigroup (Figure 7.1)</vt:lpstr>
      <vt:lpstr>Apple Transforms a Liability from Floating to Fixed (Figure 7.3) </vt:lpstr>
      <vt:lpstr>Interest Rate Swap Between Citigroup and Intel</vt:lpstr>
      <vt:lpstr>Intel Transforms a Liability from Fixed to Floating (Figure 7.4)</vt:lpstr>
      <vt:lpstr>Apple Transforms an Asset from Fixed to Floating (Figure 7.5)</vt:lpstr>
      <vt:lpstr>Intel Transforms an Asset from Floating to Fixed (Figure 7.6)</vt:lpstr>
      <vt:lpstr>Quotes By a Swap Market Maker (Table 7.4)</vt:lpstr>
      <vt:lpstr>Day Count</vt:lpstr>
      <vt:lpstr>Confirmations</vt:lpstr>
      <vt:lpstr>The Comparative Advantage Argument (Table 7.5)</vt:lpstr>
      <vt:lpstr>A Swap where Companies Trade Directly with Each Other (Figure 7.7)</vt:lpstr>
      <vt:lpstr>The Swap when a Financial Institution (F.I.) is Involved  (Figure 7.8)</vt:lpstr>
      <vt:lpstr>Criticism of the Comparative Advantage Argument</vt:lpstr>
      <vt:lpstr>Valuation of an Interest Rate Swap</vt:lpstr>
      <vt:lpstr>Example (Example 7.1)</vt:lpstr>
      <vt:lpstr>Example continued</vt:lpstr>
      <vt:lpstr>Calculations ($ million)</vt:lpstr>
      <vt:lpstr>Value Changes Through Time</vt:lpstr>
      <vt:lpstr>An Example of a Fixed-for-Fixed Currency Swap (Figure 7.10)</vt:lpstr>
      <vt:lpstr>Exchange of Principal</vt:lpstr>
      <vt:lpstr>The Cash Flows (Table 7.6)</vt:lpstr>
      <vt:lpstr>Typical Uses of a  Currency Swap</vt:lpstr>
      <vt:lpstr>Comparative Advantage May Be Real Because of Taxes</vt:lpstr>
      <vt:lpstr>Valuation of Fixed-for-Fixed Currency Swaps</vt:lpstr>
      <vt:lpstr>Currency Swap Example</vt:lpstr>
      <vt:lpstr>Valuation in Terms of Forward Rates (Example 7.2)</vt:lpstr>
      <vt:lpstr>Valuation in Terms of Bonds  (Example 7.3)</vt:lpstr>
      <vt:lpstr>Other Currency Swaps</vt:lpstr>
      <vt:lpstr>Swaps &amp; Forwards</vt:lpstr>
      <vt:lpstr>Credit Risk</vt:lpstr>
      <vt:lpstr>Credit Default Swaps: A Quick First Look</vt:lpstr>
      <vt:lpstr>Other Types of Swaps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Swaps</dc:title>
  <dc:subject>Options, Futures, and Other Derivatives, 11e</dc:subject>
  <dc:creator>John C. Hull</dc:creator>
  <cp:keywords>Chapter 7</cp:keywords>
  <dc:description>Copyright 2021 by John C. Hull.
All rights reserved. Published 2021.</dc:description>
  <cp:lastModifiedBy>John Hull</cp:lastModifiedBy>
  <cp:revision>103</cp:revision>
  <cp:lastPrinted>2001-05-03T11:40:36Z</cp:lastPrinted>
  <dcterms:created xsi:type="dcterms:W3CDTF">1996-10-24T09:26:34Z</dcterms:created>
  <dcterms:modified xsi:type="dcterms:W3CDTF">2021-11-09T20:27:29Z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0x01010034DB470C54600C46B1B0C1FE5EDD1D1B</vt:lpwstr>
  </property>
</Properties>
</file>