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vml" ContentType="application/vnd.openxmlformats-officedocument.vmlDrawing"/>
  <Default Extension="wmf" ContentType="image/x-wmf"/>
  <Default Extension="xml" ContentType="application/xml"/>
  <Override PartName="/ppt/presentation.xml" ContentType="application/vnd.openxmlformats-officedocument.presentationml.presentation.main+xml"/>
  <Override PartName="/ppt/slides/slide2.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13.xml" ContentType="application/vnd.openxmlformats-officedocument.presentationml.slide+xml"/>
  <Override PartName="/ppt/slides/slide1.xml" ContentType="application/vnd.openxmlformats-officedocument.presentationml.slide+xml"/>
  <Override PartName="/ppt/slides/slide1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12.xml" ContentType="application/vnd.openxmlformats-officedocument.presentationml.slide+xml"/>
  <Override PartName="/ppt/slides/slide8.xml" ContentType="application/vnd.openxmlformats-officedocument.presentationml.slide+xml"/>
  <Override PartName="/ppt/slides/slide10.xml" ContentType="application/vnd.openxmlformats-officedocument.presentationml.slide+xml"/>
  <Override PartName="/ppt/slides/slide7.xml" ContentType="application/vnd.openxmlformats-officedocument.presentationml.slide+xml"/>
  <Override PartName="/ppt/slides/slide9.xml" ContentType="application/vnd.openxmlformats-officedocument.presentationml.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7.xml" ContentType="application/vnd.openxmlformats-officedocument.presentationml.notesSlide+xml"/>
  <Override PartName="/ppt/notesSlides/notesSlide16.xml" ContentType="application/vnd.openxmlformats-officedocument.presentationml.notesSlide+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slideLayouts/slideLayout8.xml" ContentType="application/vnd.openxmlformats-officedocument.presentationml.slideLayout+xml"/>
  <Override PartName="/ppt/slideLayouts/slideLayout7.xml" ContentType="application/vnd.openxmlformats-officedocument.presentationml.slideLayout+xml"/>
  <Override PartName="/ppt/slideLayouts/slideLayout6.xml" ContentType="application/vnd.openxmlformats-officedocument.presentationml.slideLayout+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9.xml" ContentType="application/vnd.openxmlformats-officedocument.presentationml.notesSlide+xml"/>
  <Override PartName="/ppt/notesSlides/notesSlide6.xml" ContentType="application/vnd.openxmlformats-officedocument.presentationml.notesSlide+xml"/>
  <Override PartName="/ppt/notesSlides/notesSlide8.xml" ContentType="application/vnd.openxmlformats-officedocument.presentationml.notesSlide+xml"/>
  <Override PartName="/ppt/notesSlides/notesSlide5.xml" ContentType="application/vnd.openxmlformats-officedocument.presentationml.notesSlide+xml"/>
  <Override PartName="/ppt/notesSlides/notesSlide7.xml" ContentType="application/vnd.openxmlformats-officedocument.presentationml.notesSlide+xml"/>
  <Override PartName="/ppt/theme/theme2.xml" ContentType="application/vnd.openxmlformats-officedocument.theme+xml"/>
  <Override PartName="/ppt/theme/theme1.xml" ContentType="application/vnd.openxmlformats-officedocument.theme+xml"/>
  <Override PartName="/ppt/notesMasters/notesMaster1.xml" ContentType="application/vnd.openxmlformats-officedocument.presentationml.notesMaster+xml"/>
  <Override PartName="/ppt/viewProps.xml" ContentType="application/vnd.openxmlformats-officedocument.presentationml.viewProps+xml"/>
  <Override PartName="/ppt/tableStyles.xml" ContentType="application/vnd.openxmlformats-officedocument.presentationml.tableStyles+xml"/>
  <Override PartName="/ppt/presProps.xml" ContentType="application/vnd.openxmlformats-officedocument.presentationml.presProps+xml"/>
  <Override PartName="/docProps/core.xml" ContentType="application/vnd.openxmlformats-package.core-properties+xml"/>
  <Override PartName="/docProps/app.xml" ContentType="application/vnd.openxmlformats-officedocument.extended-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25" r:id="rId1"/>
  </p:sldMasterIdLst>
  <p:notesMasterIdLst>
    <p:notesMasterId r:id="rId23"/>
  </p:notesMasterIdLst>
  <p:sldIdLst>
    <p:sldId id="256" r:id="rId2"/>
    <p:sldId id="258" r:id="rId3"/>
    <p:sldId id="259" r:id="rId4"/>
    <p:sldId id="260" r:id="rId5"/>
    <p:sldId id="262" r:id="rId6"/>
    <p:sldId id="263" r:id="rId7"/>
    <p:sldId id="275" r:id="rId8"/>
    <p:sldId id="265" r:id="rId9"/>
    <p:sldId id="266" r:id="rId10"/>
    <p:sldId id="281" r:id="rId11"/>
    <p:sldId id="277" r:id="rId12"/>
    <p:sldId id="278" r:id="rId13"/>
    <p:sldId id="280" r:id="rId14"/>
    <p:sldId id="282" r:id="rId15"/>
    <p:sldId id="283" r:id="rId16"/>
    <p:sldId id="267" r:id="rId17"/>
    <p:sldId id="269" r:id="rId18"/>
    <p:sldId id="270" r:id="rId19"/>
    <p:sldId id="272" r:id="rId20"/>
    <p:sldId id="273" r:id="rId21"/>
    <p:sldId id="279" r:id="rId22"/>
  </p:sldIdLst>
  <p:sldSz cx="9144000" cy="6858000" type="screen4x3"/>
  <p:notesSz cx="6858000" cy="9144000"/>
  <p:defaultTextStyle>
    <a:defPPr>
      <a:defRPr lang="en-US"/>
    </a:defPPr>
    <a:lvl1pPr algn="l" rtl="0" fontAlgn="base">
      <a:spcBef>
        <a:spcPct val="0"/>
      </a:spcBef>
      <a:spcAft>
        <a:spcPct val="0"/>
      </a:spcAft>
      <a:defRPr kern="1200">
        <a:solidFill>
          <a:schemeClr val="tx1"/>
        </a:solidFill>
        <a:latin typeface="Arial" panose="020B0604020202020204" pitchFamily="34" charset="0"/>
        <a:ea typeface="+mn-ea"/>
        <a:cs typeface="+mn-cs"/>
      </a:defRPr>
    </a:lvl1pPr>
    <a:lvl2pPr marL="457200" algn="l" rtl="0" fontAlgn="base">
      <a:spcBef>
        <a:spcPct val="0"/>
      </a:spcBef>
      <a:spcAft>
        <a:spcPct val="0"/>
      </a:spcAft>
      <a:defRPr kern="1200">
        <a:solidFill>
          <a:schemeClr val="tx1"/>
        </a:solidFill>
        <a:latin typeface="Arial" panose="020B0604020202020204" pitchFamily="34" charset="0"/>
        <a:ea typeface="+mn-ea"/>
        <a:cs typeface="+mn-cs"/>
      </a:defRPr>
    </a:lvl2pPr>
    <a:lvl3pPr marL="914400" algn="l" rtl="0" fontAlgn="base">
      <a:spcBef>
        <a:spcPct val="0"/>
      </a:spcBef>
      <a:spcAft>
        <a:spcPct val="0"/>
      </a:spcAft>
      <a:defRPr kern="1200">
        <a:solidFill>
          <a:schemeClr val="tx1"/>
        </a:solidFill>
        <a:latin typeface="Arial" panose="020B0604020202020204" pitchFamily="34" charset="0"/>
        <a:ea typeface="+mn-ea"/>
        <a:cs typeface="+mn-cs"/>
      </a:defRPr>
    </a:lvl3pPr>
    <a:lvl4pPr marL="1371600" algn="l" rtl="0" fontAlgn="base">
      <a:spcBef>
        <a:spcPct val="0"/>
      </a:spcBef>
      <a:spcAft>
        <a:spcPct val="0"/>
      </a:spcAft>
      <a:defRPr kern="1200">
        <a:solidFill>
          <a:schemeClr val="tx1"/>
        </a:solidFill>
        <a:latin typeface="Arial" panose="020B0604020202020204" pitchFamily="34" charset="0"/>
        <a:ea typeface="+mn-ea"/>
        <a:cs typeface="+mn-cs"/>
      </a:defRPr>
    </a:lvl4pPr>
    <a:lvl5pPr marL="1828800" algn="l" rtl="0" fontAlgn="base">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69" d="100"/>
          <a:sy n="69" d="100"/>
        </p:scale>
        <p:origin x="1422" y="84"/>
      </p:cViewPr>
      <p:guideLst>
        <p:guide orient="horz" pos="2160"/>
        <p:guide pos="2880"/>
      </p:guideLst>
    </p:cSldViewPr>
  </p:slideViewPr>
  <p:notesTextViewPr>
    <p:cViewPr>
      <p:scale>
        <a:sx n="100" d="100"/>
        <a:sy n="100" d="100"/>
      </p:scale>
      <p:origin x="0" y="0"/>
    </p:cViewPr>
  </p:notesTextViewPr>
  <p:sorterViewPr>
    <p:cViewPr>
      <p:scale>
        <a:sx n="100" d="100"/>
        <a:sy n="100" d="100"/>
      </p:scale>
      <p:origin x="0" y="2184"/>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customXml" Target="../customXml/item2.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28" Type="http://schemas.openxmlformats.org/officeDocument/2006/relationships/customXml" Target="../customXml/item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 Id="rId30" Type="http://schemas.openxmlformats.org/officeDocument/2006/relationships/customXml" Target="../customXml/item3.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4.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5.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6.wmf"/></Relationships>
</file>

<file path=ppt/drawings/_rels/vmlDrawing4.vml.rels><?xml version="1.0" encoding="UTF-8" standalone="yes"?>
<Relationships xmlns="http://schemas.openxmlformats.org/package/2006/relationships"><Relationship Id="rId3" Type="http://schemas.openxmlformats.org/officeDocument/2006/relationships/image" Target="../media/image9.wmf"/><Relationship Id="rId2" Type="http://schemas.openxmlformats.org/officeDocument/2006/relationships/image" Target="../media/image8.wmf"/><Relationship Id="rId1" Type="http://schemas.openxmlformats.org/officeDocument/2006/relationships/image" Target="../media/image7.w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10.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fontAlgn="auto">
              <a:spcBef>
                <a:spcPts val="0"/>
              </a:spcBef>
              <a:spcAft>
                <a:spcPts val="0"/>
              </a:spcAft>
              <a:defRPr sz="1200">
                <a:latin typeface="+mn-lt"/>
              </a:defRPr>
            </a:lvl1pPr>
          </a:lstStyle>
          <a:p>
            <a:pPr>
              <a:defRPr/>
            </a:pPr>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fontAlgn="auto">
              <a:spcBef>
                <a:spcPts val="0"/>
              </a:spcBef>
              <a:spcAft>
                <a:spcPts val="0"/>
              </a:spcAft>
              <a:defRPr sz="1200">
                <a:latin typeface="+mn-lt"/>
              </a:defRPr>
            </a:lvl1pPr>
          </a:lstStyle>
          <a:p>
            <a:pPr>
              <a:defRPr/>
            </a:pPr>
            <a:fld id="{FBEB0959-3CCA-4648-9BE3-7AC7FF2DD019}" type="datetimeFigureOut">
              <a:rPr lang="en-US"/>
              <a:pPr>
                <a:defRPr/>
              </a:pPr>
              <a:t>9/30/2020</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en-US" noProof="0" smtClean="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fontAlgn="auto">
              <a:spcBef>
                <a:spcPts val="0"/>
              </a:spcBef>
              <a:spcAft>
                <a:spcPts val="0"/>
              </a:spcAft>
              <a:defRPr sz="1200">
                <a:latin typeface="+mn-lt"/>
              </a:defRPr>
            </a:lvl1pPr>
          </a:lstStyle>
          <a:p>
            <a:pPr>
              <a:defRPr/>
            </a:pPr>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a:defRPr sz="1200">
                <a:latin typeface="Calibri" panose="020F0502020204030204" pitchFamily="34" charset="0"/>
              </a:defRPr>
            </a:lvl1pPr>
          </a:lstStyle>
          <a:p>
            <a:fld id="{932C6074-E253-46E6-BCBF-3641756A856D}" type="slidenum">
              <a:rPr lang="en-US" altLang="en-US"/>
              <a:pPr/>
              <a:t>‹#›</a:t>
            </a:fld>
            <a:endParaRPr lang="en-US" altLang="en-US"/>
          </a:p>
        </p:txBody>
      </p:sp>
    </p:spTree>
    <p:extLst>
      <p:ext uri="{BB962C8B-B14F-4D97-AF65-F5344CB8AC3E}">
        <p14:creationId xmlns:p14="http://schemas.microsoft.com/office/powerpoint/2010/main" val="2020821629"/>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5603"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smtClean="0"/>
          </a:p>
        </p:txBody>
      </p:sp>
      <p:sp>
        <p:nvSpPr>
          <p:cNvPr id="10244" name="Slide Number Placeholder 3"/>
          <p:cNvSpPr>
            <a:spLocks noGrp="1"/>
          </p:cNvSpPr>
          <p:nvPr>
            <p:ph type="sldNum" sz="quarter" idx="5"/>
          </p:nvPr>
        </p:nvSpPr>
        <p:spPr bwMode="auto">
          <a:ln>
            <a:miter lim="800000"/>
            <a:headEnd/>
            <a:tailEnd/>
          </a:ln>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712200D9-C664-49E9-B33F-CBB1BAF8F0DB}" type="slidenum">
              <a:rPr lang="en-US" altLang="en-US">
                <a:latin typeface="Calibri" panose="020F0502020204030204" pitchFamily="34" charset="0"/>
              </a:rPr>
              <a:pPr eaLnBrk="1" hangingPunct="1"/>
              <a:t>1</a:t>
            </a:fld>
            <a:endParaRPr lang="en-US" altLang="en-US">
              <a:latin typeface="Calibri" panose="020F0502020204030204" pitchFamily="34" charset="0"/>
            </a:endParaRPr>
          </a:p>
        </p:txBody>
      </p:sp>
    </p:spTree>
    <p:extLst>
      <p:ext uri="{BB962C8B-B14F-4D97-AF65-F5344CB8AC3E}">
        <p14:creationId xmlns:p14="http://schemas.microsoft.com/office/powerpoint/2010/main" val="427026340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1026"/>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6627" name="Rectangle 1027"/>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en-CA" altLang="en-US" smtClean="0"/>
          </a:p>
        </p:txBody>
      </p:sp>
    </p:spTree>
    <p:extLst>
      <p:ext uri="{BB962C8B-B14F-4D97-AF65-F5344CB8AC3E}">
        <p14:creationId xmlns:p14="http://schemas.microsoft.com/office/powerpoint/2010/main" val="83333336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7651"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en-CA" altLang="en-US" smtClean="0"/>
          </a:p>
        </p:txBody>
      </p:sp>
    </p:spTree>
    <p:extLst>
      <p:ext uri="{BB962C8B-B14F-4D97-AF65-F5344CB8AC3E}">
        <p14:creationId xmlns:p14="http://schemas.microsoft.com/office/powerpoint/2010/main" val="242018748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8675"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en-CA" altLang="en-US" smtClean="0"/>
          </a:p>
        </p:txBody>
      </p:sp>
    </p:spTree>
    <p:extLst>
      <p:ext uri="{BB962C8B-B14F-4D97-AF65-F5344CB8AC3E}">
        <p14:creationId xmlns:p14="http://schemas.microsoft.com/office/powerpoint/2010/main" val="100775820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9699"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en-CA" altLang="en-US" smtClean="0"/>
          </a:p>
        </p:txBody>
      </p:sp>
    </p:spTree>
    <p:extLst>
      <p:ext uri="{BB962C8B-B14F-4D97-AF65-F5344CB8AC3E}">
        <p14:creationId xmlns:p14="http://schemas.microsoft.com/office/powerpoint/2010/main" val="105645530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0723"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en-CA" altLang="en-US" smtClean="0"/>
          </a:p>
        </p:txBody>
      </p:sp>
    </p:spTree>
    <p:extLst>
      <p:ext uri="{BB962C8B-B14F-4D97-AF65-F5344CB8AC3E}">
        <p14:creationId xmlns:p14="http://schemas.microsoft.com/office/powerpoint/2010/main" val="252285651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1747"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smtClean="0"/>
          </a:p>
        </p:txBody>
      </p:sp>
      <p:sp>
        <p:nvSpPr>
          <p:cNvPr id="4" name="Slide Number Placeholder 3"/>
          <p:cNvSpPr>
            <a:spLocks noGrp="1"/>
          </p:cNvSpPr>
          <p:nvPr>
            <p:ph type="sldNum" sz="quarter" idx="5"/>
          </p:nvPr>
        </p:nvSpPr>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4522239B-F5DC-415E-BD66-9881D7F5A986}" type="slidenum">
              <a:rPr lang="en-US" altLang="en-US">
                <a:latin typeface="Calibri" panose="020F0502020204030204" pitchFamily="34" charset="0"/>
              </a:rPr>
              <a:pPr eaLnBrk="1" hangingPunct="1"/>
              <a:t>7</a:t>
            </a:fld>
            <a:endParaRPr lang="en-US" altLang="en-US">
              <a:latin typeface="Calibri" panose="020F0502020204030204" pitchFamily="34" charset="0"/>
            </a:endParaRPr>
          </a:p>
        </p:txBody>
      </p:sp>
    </p:spTree>
    <p:extLst>
      <p:ext uri="{BB962C8B-B14F-4D97-AF65-F5344CB8AC3E}">
        <p14:creationId xmlns:p14="http://schemas.microsoft.com/office/powerpoint/2010/main" val="374278695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771"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en-CA" altLang="en-US" smtClean="0"/>
          </a:p>
        </p:txBody>
      </p:sp>
    </p:spTree>
    <p:extLst>
      <p:ext uri="{BB962C8B-B14F-4D97-AF65-F5344CB8AC3E}">
        <p14:creationId xmlns:p14="http://schemas.microsoft.com/office/powerpoint/2010/main" val="26147550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p:cNvSpPr>
            <a:spLocks noGrp="1" noRot="1" noChangeAspect="1" noChangeArrowheads="1" noTextEdit="1"/>
          </p:cNvSpPr>
          <p:nvPr>
            <p:ph type="sldImg"/>
          </p:nvPr>
        </p:nvSpPr>
        <p:spPr bwMode="auto">
          <a:xfrm>
            <a:off x="1150938" y="692150"/>
            <a:ext cx="4556125" cy="34163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3795"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en-CA" altLang="en-US" smtClean="0"/>
          </a:p>
        </p:txBody>
      </p:sp>
    </p:spTree>
    <p:extLst>
      <p:ext uri="{BB962C8B-B14F-4D97-AF65-F5344CB8AC3E}">
        <p14:creationId xmlns:p14="http://schemas.microsoft.com/office/powerpoint/2010/main" val="403179169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4819"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smtClean="0"/>
          </a:p>
        </p:txBody>
      </p:sp>
      <p:sp>
        <p:nvSpPr>
          <p:cNvPr id="4" name="Slide Number Placeholder 3"/>
          <p:cNvSpPr>
            <a:spLocks noGrp="1"/>
          </p:cNvSpPr>
          <p:nvPr>
            <p:ph type="sldNum" sz="quarter" idx="5"/>
          </p:nvPr>
        </p:nvSpPr>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F1220FBE-FB8B-436C-8E8E-EEE9BCE16306}" type="slidenum">
              <a:rPr lang="en-US" altLang="en-US">
                <a:latin typeface="Calibri" panose="020F0502020204030204" pitchFamily="34" charset="0"/>
              </a:rPr>
              <a:pPr eaLnBrk="1" hangingPunct="1"/>
              <a:t>11</a:t>
            </a:fld>
            <a:endParaRPr lang="en-US" altLang="en-US">
              <a:latin typeface="Calibri" panose="020F0502020204030204" pitchFamily="34" charset="0"/>
            </a:endParaRPr>
          </a:p>
        </p:txBody>
      </p:sp>
    </p:spTree>
    <p:extLst>
      <p:ext uri="{BB962C8B-B14F-4D97-AF65-F5344CB8AC3E}">
        <p14:creationId xmlns:p14="http://schemas.microsoft.com/office/powerpoint/2010/main" val="411183853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5843"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smtClean="0"/>
          </a:p>
        </p:txBody>
      </p:sp>
      <p:sp>
        <p:nvSpPr>
          <p:cNvPr id="4" name="Slide Number Placeholder 3"/>
          <p:cNvSpPr>
            <a:spLocks noGrp="1"/>
          </p:cNvSpPr>
          <p:nvPr>
            <p:ph type="sldNum" sz="quarter" idx="5"/>
          </p:nvPr>
        </p:nvSpPr>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4F2030F0-304E-4886-9426-780AF52022FD}" type="slidenum">
              <a:rPr lang="en-US" altLang="en-US">
                <a:latin typeface="Calibri" panose="020F0502020204030204" pitchFamily="34" charset="0"/>
              </a:rPr>
              <a:pPr eaLnBrk="1" hangingPunct="1"/>
              <a:t>12</a:t>
            </a:fld>
            <a:endParaRPr lang="en-US" altLang="en-US">
              <a:latin typeface="Calibri" panose="020F0502020204030204" pitchFamily="34" charset="0"/>
            </a:endParaRPr>
          </a:p>
        </p:txBody>
      </p:sp>
    </p:spTree>
    <p:extLst>
      <p:ext uri="{BB962C8B-B14F-4D97-AF65-F5344CB8AC3E}">
        <p14:creationId xmlns:p14="http://schemas.microsoft.com/office/powerpoint/2010/main" val="1138181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1026"/>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7891" name="Rectangle 1027"/>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en-CA" altLang="en-US" smtClean="0"/>
          </a:p>
        </p:txBody>
      </p:sp>
    </p:spTree>
    <p:extLst>
      <p:ext uri="{BB962C8B-B14F-4D97-AF65-F5344CB8AC3E}">
        <p14:creationId xmlns:p14="http://schemas.microsoft.com/office/powerpoint/2010/main" val="319241524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8915"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en-CA" altLang="en-US" smtClean="0"/>
          </a:p>
        </p:txBody>
      </p:sp>
    </p:spTree>
    <p:extLst>
      <p:ext uri="{BB962C8B-B14F-4D97-AF65-F5344CB8AC3E}">
        <p14:creationId xmlns:p14="http://schemas.microsoft.com/office/powerpoint/2010/main" val="158606539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9939"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en-CA" altLang="en-US" smtClean="0"/>
          </a:p>
        </p:txBody>
      </p:sp>
    </p:spTree>
    <p:extLst>
      <p:ext uri="{BB962C8B-B14F-4D97-AF65-F5344CB8AC3E}">
        <p14:creationId xmlns:p14="http://schemas.microsoft.com/office/powerpoint/2010/main" val="417773601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0963"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en-US" altLang="en-US" smtClean="0"/>
          </a:p>
        </p:txBody>
      </p:sp>
    </p:spTree>
    <p:extLst>
      <p:ext uri="{BB962C8B-B14F-4D97-AF65-F5344CB8AC3E}">
        <p14:creationId xmlns:p14="http://schemas.microsoft.com/office/powerpoint/2010/main" val="177506438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1987"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en-CA" altLang="en-US" smtClean="0"/>
          </a:p>
        </p:txBody>
      </p:sp>
    </p:spTree>
    <p:extLst>
      <p:ext uri="{BB962C8B-B14F-4D97-AF65-F5344CB8AC3E}">
        <p14:creationId xmlns:p14="http://schemas.microsoft.com/office/powerpoint/2010/main" val="337059447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301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smtClean="0"/>
          </a:p>
        </p:txBody>
      </p:sp>
      <p:sp>
        <p:nvSpPr>
          <p:cNvPr id="4" name="Slide Number Placeholder 3"/>
          <p:cNvSpPr>
            <a:spLocks noGrp="1"/>
          </p:cNvSpPr>
          <p:nvPr>
            <p:ph type="sldNum" sz="quarter" idx="5"/>
          </p:nvPr>
        </p:nvSpPr>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AF747C34-B094-49E4-A355-AC906528277C}" type="slidenum">
              <a:rPr lang="en-US" altLang="en-US">
                <a:latin typeface="Calibri" panose="020F0502020204030204" pitchFamily="34" charset="0"/>
              </a:rPr>
              <a:pPr eaLnBrk="1" hangingPunct="1"/>
              <a:t>21</a:t>
            </a:fld>
            <a:endParaRPr lang="en-US" altLang="en-US">
              <a:latin typeface="Calibri" panose="020F0502020204030204" pitchFamily="34" charset="0"/>
            </a:endParaRPr>
          </a:p>
        </p:txBody>
      </p:sp>
    </p:spTree>
    <p:extLst>
      <p:ext uri="{BB962C8B-B14F-4D97-AF65-F5344CB8AC3E}">
        <p14:creationId xmlns:p14="http://schemas.microsoft.com/office/powerpoint/2010/main" val="4174641805"/>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chemeClr val="bg1"/>
        </a:solidFill>
        <a:effectLst/>
      </p:bgPr>
    </p:bg>
    <p:spTree>
      <p:nvGrpSpPr>
        <p:cNvPr id="1" name=""/>
        <p:cNvGrpSpPr/>
        <p:nvPr/>
      </p:nvGrpSpPr>
      <p:grpSpPr>
        <a:xfrm>
          <a:off x="0" y="0"/>
          <a:ext cx="0" cy="0"/>
          <a:chOff x="0" y="0"/>
          <a:chExt cx="0" cy="0"/>
        </a:xfrm>
      </p:grpSpPr>
      <p:grpSp>
        <p:nvGrpSpPr>
          <p:cNvPr id="4" name="Group 2"/>
          <p:cNvGrpSpPr>
            <a:grpSpLocks/>
          </p:cNvGrpSpPr>
          <p:nvPr/>
        </p:nvGrpSpPr>
        <p:grpSpPr bwMode="auto">
          <a:xfrm>
            <a:off x="0" y="-19050"/>
            <a:ext cx="9144000" cy="6877050"/>
            <a:chOff x="0" y="-12"/>
            <a:chExt cx="5760" cy="4332"/>
          </a:xfrm>
        </p:grpSpPr>
        <p:sp>
          <p:nvSpPr>
            <p:cNvPr id="5" name="Rectangle 3"/>
            <p:cNvSpPr>
              <a:spLocks noChangeArrowheads="1"/>
            </p:cNvSpPr>
            <p:nvPr userDrawn="1"/>
          </p:nvSpPr>
          <p:spPr bwMode="hidden">
            <a:xfrm>
              <a:off x="1104" y="1008"/>
              <a:ext cx="4656" cy="3312"/>
            </a:xfrm>
            <a:prstGeom prst="rect">
              <a:avLst/>
            </a:prstGeom>
            <a:gradFill rotWithShape="0">
              <a:gsLst>
                <a:gs pos="0">
                  <a:schemeClr val="bg2"/>
                </a:gs>
                <a:gs pos="50000">
                  <a:schemeClr val="bg1"/>
                </a:gs>
                <a:gs pos="100000">
                  <a:schemeClr val="bg2"/>
                </a:gs>
              </a:gsLst>
              <a:lin ang="2700000" scaled="1"/>
            </a:gradFill>
            <a:ln w="9525">
              <a:noFill/>
              <a:miter lim="800000"/>
              <a:headEnd/>
              <a:tailEnd/>
            </a:ln>
            <a:effectLst/>
          </p:spPr>
          <p:txBody>
            <a:bodyPr wrap="none" anchor="ctr"/>
            <a:lstStyle/>
            <a:p>
              <a:pPr>
                <a:defRPr/>
              </a:pPr>
              <a:endParaRPr lang="en-US">
                <a:latin typeface="Arial" charset="0"/>
              </a:endParaRPr>
            </a:p>
          </p:txBody>
        </p:sp>
        <p:grpSp>
          <p:nvGrpSpPr>
            <p:cNvPr id="6" name="Group 4"/>
            <p:cNvGrpSpPr>
              <a:grpSpLocks/>
            </p:cNvGrpSpPr>
            <p:nvPr userDrawn="1"/>
          </p:nvGrpSpPr>
          <p:grpSpPr bwMode="auto">
            <a:xfrm>
              <a:off x="-1261" y="-157"/>
              <a:ext cx="7021" cy="1190"/>
              <a:chOff x="-1261" y="-154"/>
              <a:chExt cx="7021" cy="1190"/>
            </a:xfrm>
          </p:grpSpPr>
          <p:sp>
            <p:nvSpPr>
              <p:cNvPr id="8" name="Freeform 5"/>
              <p:cNvSpPr>
                <a:spLocks/>
              </p:cNvSpPr>
              <p:nvPr userDrawn="1"/>
            </p:nvSpPr>
            <p:spPr bwMode="ltGray">
              <a:xfrm>
                <a:off x="0" y="4"/>
                <a:ext cx="5760" cy="1032"/>
              </a:xfrm>
              <a:custGeom>
                <a:avLst/>
                <a:gdLst>
                  <a:gd name="T0" fmla="*/ 6844 w 4848"/>
                  <a:gd name="T1" fmla="*/ 2465 h 432"/>
                  <a:gd name="T2" fmla="*/ 0 w 4848"/>
                  <a:gd name="T3" fmla="*/ 2465 h 432"/>
                  <a:gd name="T4" fmla="*/ 0 w 4848"/>
                  <a:gd name="T5" fmla="*/ 0 h 432"/>
                  <a:gd name="T6" fmla="*/ 6844 w 4848"/>
                  <a:gd name="T7" fmla="*/ 0 h 432"/>
                  <a:gd name="T8" fmla="*/ 6844 w 4848"/>
                  <a:gd name="T9" fmla="*/ 2465 h 4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848" h="432">
                    <a:moveTo>
                      <a:pt x="4848" y="432"/>
                    </a:moveTo>
                    <a:lnTo>
                      <a:pt x="0" y="432"/>
                    </a:lnTo>
                    <a:lnTo>
                      <a:pt x="0" y="0"/>
                    </a:lnTo>
                    <a:lnTo>
                      <a:pt x="4848" y="0"/>
                    </a:lnTo>
                    <a:lnTo>
                      <a:pt x="4848" y="432"/>
                    </a:lnTo>
                    <a:close/>
                  </a:path>
                </a:pathLst>
              </a:custGeom>
              <a:solidFill>
                <a:schemeClr va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grpSp>
            <p:nvGrpSpPr>
              <p:cNvPr id="9" name="Group 6"/>
              <p:cNvGrpSpPr>
                <a:grpSpLocks/>
              </p:cNvGrpSpPr>
              <p:nvPr userDrawn="1"/>
            </p:nvGrpSpPr>
            <p:grpSpPr bwMode="auto">
              <a:xfrm>
                <a:off x="333" y="-9"/>
                <a:ext cx="5176" cy="1044"/>
                <a:chOff x="333" y="-9"/>
                <a:chExt cx="5176" cy="1044"/>
              </a:xfrm>
            </p:grpSpPr>
            <p:sp>
              <p:nvSpPr>
                <p:cNvPr id="38" name="Freeform 7"/>
                <p:cNvSpPr>
                  <a:spLocks/>
                </p:cNvSpPr>
                <p:nvPr userDrawn="1"/>
              </p:nvSpPr>
              <p:spPr bwMode="ltGray">
                <a:xfrm>
                  <a:off x="3230" y="949"/>
                  <a:ext cx="17" cy="20"/>
                </a:xfrm>
                <a:custGeom>
                  <a:avLst/>
                  <a:gdLst>
                    <a:gd name="T0" fmla="*/ 7 w 15"/>
                    <a:gd name="T1" fmla="*/ 9 h 23"/>
                    <a:gd name="T2" fmla="*/ 19 w 15"/>
                    <a:gd name="T3" fmla="*/ 3 h 23"/>
                    <a:gd name="T4" fmla="*/ 17 w 15"/>
                    <a:gd name="T5" fmla="*/ 13 h 23"/>
                    <a:gd name="T6" fmla="*/ 7 w 15"/>
                    <a:gd name="T7" fmla="*/ 9 h 2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5" h="23">
                      <a:moveTo>
                        <a:pt x="5" y="11"/>
                      </a:moveTo>
                      <a:cubicBezTo>
                        <a:pt x="2" y="1"/>
                        <a:pt x="7" y="0"/>
                        <a:pt x="15" y="5"/>
                      </a:cubicBezTo>
                      <a:cubicBezTo>
                        <a:pt x="14" y="9"/>
                        <a:pt x="15" y="13"/>
                        <a:pt x="13" y="17"/>
                      </a:cubicBezTo>
                      <a:cubicBezTo>
                        <a:pt x="9" y="23"/>
                        <a:pt x="0" y="16"/>
                        <a:pt x="5" y="11"/>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39" name="Freeform 8"/>
                <p:cNvSpPr>
                  <a:spLocks/>
                </p:cNvSpPr>
                <p:nvPr userDrawn="1"/>
              </p:nvSpPr>
              <p:spPr bwMode="ltGray">
                <a:xfrm>
                  <a:off x="3406" y="1015"/>
                  <a:ext cx="21" cy="20"/>
                </a:xfrm>
                <a:custGeom>
                  <a:avLst/>
                  <a:gdLst>
                    <a:gd name="T0" fmla="*/ 3 w 20"/>
                    <a:gd name="T1" fmla="*/ 10 h 23"/>
                    <a:gd name="T2" fmla="*/ 13 w 20"/>
                    <a:gd name="T3" fmla="*/ 3 h 23"/>
                    <a:gd name="T4" fmla="*/ 7 w 20"/>
                    <a:gd name="T5" fmla="*/ 15 h 23"/>
                    <a:gd name="T6" fmla="*/ 3 w 20"/>
                    <a:gd name="T7" fmla="*/ 10 h 2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0" h="23">
                      <a:moveTo>
                        <a:pt x="3" y="13"/>
                      </a:moveTo>
                      <a:cubicBezTo>
                        <a:pt x="0" y="5"/>
                        <a:pt x="2" y="0"/>
                        <a:pt x="11" y="3"/>
                      </a:cubicBezTo>
                      <a:cubicBezTo>
                        <a:pt x="16" y="10"/>
                        <a:pt x="20" y="23"/>
                        <a:pt x="7" y="19"/>
                      </a:cubicBezTo>
                      <a:cubicBezTo>
                        <a:pt x="6" y="17"/>
                        <a:pt x="3" y="13"/>
                        <a:pt x="3" y="13"/>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40" name="Freeform 9"/>
                <p:cNvSpPr>
                  <a:spLocks/>
                </p:cNvSpPr>
                <p:nvPr userDrawn="1"/>
              </p:nvSpPr>
              <p:spPr bwMode="ltGray">
                <a:xfrm>
                  <a:off x="2909" y="908"/>
                  <a:ext cx="31" cy="34"/>
                </a:xfrm>
                <a:custGeom>
                  <a:avLst/>
                  <a:gdLst>
                    <a:gd name="T0" fmla="*/ 18 w 30"/>
                    <a:gd name="T1" fmla="*/ 22 h 42"/>
                    <a:gd name="T2" fmla="*/ 8 w 30"/>
                    <a:gd name="T3" fmla="*/ 14 h 42"/>
                    <a:gd name="T4" fmla="*/ 0 w 30"/>
                    <a:gd name="T5" fmla="*/ 6 h 42"/>
                    <a:gd name="T6" fmla="*/ 18 w 30"/>
                    <a:gd name="T7" fmla="*/ 2 h 42"/>
                    <a:gd name="T8" fmla="*/ 32 w 30"/>
                    <a:gd name="T9" fmla="*/ 15 h 42"/>
                    <a:gd name="T10" fmla="*/ 30 w 30"/>
                    <a:gd name="T11" fmla="*/ 20 h 42"/>
                    <a:gd name="T12" fmla="*/ 18 w 30"/>
                    <a:gd name="T13" fmla="*/ 22 h 42"/>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30" h="42">
                      <a:moveTo>
                        <a:pt x="16" y="33"/>
                      </a:moveTo>
                      <a:cubicBezTo>
                        <a:pt x="3" y="20"/>
                        <a:pt x="15" y="34"/>
                        <a:pt x="8" y="21"/>
                      </a:cubicBezTo>
                      <a:cubicBezTo>
                        <a:pt x="6" y="17"/>
                        <a:pt x="0" y="9"/>
                        <a:pt x="0" y="9"/>
                      </a:cubicBezTo>
                      <a:cubicBezTo>
                        <a:pt x="5" y="1"/>
                        <a:pt x="7" y="0"/>
                        <a:pt x="16" y="3"/>
                      </a:cubicBezTo>
                      <a:cubicBezTo>
                        <a:pt x="25" y="16"/>
                        <a:pt x="10" y="16"/>
                        <a:pt x="30" y="23"/>
                      </a:cubicBezTo>
                      <a:cubicBezTo>
                        <a:pt x="29" y="26"/>
                        <a:pt x="30" y="29"/>
                        <a:pt x="28" y="31"/>
                      </a:cubicBezTo>
                      <a:cubicBezTo>
                        <a:pt x="15" y="42"/>
                        <a:pt x="16" y="38"/>
                        <a:pt x="16" y="33"/>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41" name="Freeform 10"/>
                <p:cNvSpPr>
                  <a:spLocks/>
                </p:cNvSpPr>
                <p:nvPr userDrawn="1"/>
              </p:nvSpPr>
              <p:spPr bwMode="ltGray">
                <a:xfrm>
                  <a:off x="2551" y="940"/>
                  <a:ext cx="25" cy="12"/>
                </a:xfrm>
                <a:custGeom>
                  <a:avLst/>
                  <a:gdLst>
                    <a:gd name="T0" fmla="*/ 15 w 25"/>
                    <a:gd name="T1" fmla="*/ 9 h 16"/>
                    <a:gd name="T2" fmla="*/ 3 w 25"/>
                    <a:gd name="T3" fmla="*/ 5 h 16"/>
                    <a:gd name="T4" fmla="*/ 15 w 25"/>
                    <a:gd name="T5" fmla="*/ 0 h 16"/>
                    <a:gd name="T6" fmla="*/ 15 w 25"/>
                    <a:gd name="T7" fmla="*/ 9 h 16"/>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5" h="16">
                      <a:moveTo>
                        <a:pt x="15" y="16"/>
                      </a:moveTo>
                      <a:cubicBezTo>
                        <a:pt x="10" y="15"/>
                        <a:pt x="0" y="12"/>
                        <a:pt x="3" y="8"/>
                      </a:cubicBezTo>
                      <a:cubicBezTo>
                        <a:pt x="6" y="4"/>
                        <a:pt x="15" y="0"/>
                        <a:pt x="15" y="0"/>
                      </a:cubicBezTo>
                      <a:cubicBezTo>
                        <a:pt x="17" y="3"/>
                        <a:pt x="25" y="16"/>
                        <a:pt x="15" y="16"/>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42" name="Freeform 11"/>
                <p:cNvSpPr>
                  <a:spLocks/>
                </p:cNvSpPr>
                <p:nvPr userDrawn="1"/>
              </p:nvSpPr>
              <p:spPr bwMode="ltGray">
                <a:xfrm>
                  <a:off x="2443" y="954"/>
                  <a:ext cx="65" cy="39"/>
                </a:xfrm>
                <a:custGeom>
                  <a:avLst/>
                  <a:gdLst>
                    <a:gd name="T0" fmla="*/ 14 w 65"/>
                    <a:gd name="T1" fmla="*/ 17 h 46"/>
                    <a:gd name="T2" fmla="*/ 30 w 65"/>
                    <a:gd name="T3" fmla="*/ 3 h 46"/>
                    <a:gd name="T4" fmla="*/ 42 w 65"/>
                    <a:gd name="T5" fmla="*/ 0 h 46"/>
                    <a:gd name="T6" fmla="*/ 58 w 65"/>
                    <a:gd name="T7" fmla="*/ 8 h 46"/>
                    <a:gd name="T8" fmla="*/ 32 w 65"/>
                    <a:gd name="T9" fmla="*/ 19 h 46"/>
                    <a:gd name="T10" fmla="*/ 12 w 65"/>
                    <a:gd name="T11" fmla="*/ 33 h 46"/>
                    <a:gd name="T12" fmla="*/ 8 w 65"/>
                    <a:gd name="T13" fmla="*/ 14 h 46"/>
                    <a:gd name="T14" fmla="*/ 12 w 65"/>
                    <a:gd name="T15" fmla="*/ 10 h 46"/>
                    <a:gd name="T16" fmla="*/ 14 w 65"/>
                    <a:gd name="T17" fmla="*/ 17 h 4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65" h="46">
                      <a:moveTo>
                        <a:pt x="14" y="24"/>
                      </a:moveTo>
                      <a:cubicBezTo>
                        <a:pt x="18" y="13"/>
                        <a:pt x="16" y="9"/>
                        <a:pt x="30" y="4"/>
                      </a:cubicBezTo>
                      <a:cubicBezTo>
                        <a:pt x="34" y="3"/>
                        <a:pt x="42" y="0"/>
                        <a:pt x="42" y="0"/>
                      </a:cubicBezTo>
                      <a:cubicBezTo>
                        <a:pt x="50" y="1"/>
                        <a:pt x="65" y="0"/>
                        <a:pt x="58" y="12"/>
                      </a:cubicBezTo>
                      <a:cubicBezTo>
                        <a:pt x="53" y="21"/>
                        <a:pt x="40" y="21"/>
                        <a:pt x="32" y="26"/>
                      </a:cubicBezTo>
                      <a:cubicBezTo>
                        <a:pt x="26" y="35"/>
                        <a:pt x="23" y="42"/>
                        <a:pt x="12" y="46"/>
                      </a:cubicBezTo>
                      <a:cubicBezTo>
                        <a:pt x="0" y="42"/>
                        <a:pt x="5" y="30"/>
                        <a:pt x="8" y="20"/>
                      </a:cubicBezTo>
                      <a:cubicBezTo>
                        <a:pt x="9" y="18"/>
                        <a:pt x="10" y="13"/>
                        <a:pt x="12" y="14"/>
                      </a:cubicBezTo>
                      <a:cubicBezTo>
                        <a:pt x="15" y="16"/>
                        <a:pt x="13" y="21"/>
                        <a:pt x="14" y="24"/>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43" name="Freeform 12"/>
                <p:cNvSpPr>
                  <a:spLocks/>
                </p:cNvSpPr>
                <p:nvPr userDrawn="1"/>
              </p:nvSpPr>
              <p:spPr bwMode="ltGray">
                <a:xfrm>
                  <a:off x="2375" y="952"/>
                  <a:ext cx="68" cy="39"/>
                </a:xfrm>
                <a:custGeom>
                  <a:avLst/>
                  <a:gdLst>
                    <a:gd name="T0" fmla="*/ 0 w 69"/>
                    <a:gd name="T1" fmla="*/ 22 h 47"/>
                    <a:gd name="T2" fmla="*/ 18 w 69"/>
                    <a:gd name="T3" fmla="*/ 17 h 47"/>
                    <a:gd name="T4" fmla="*/ 50 w 69"/>
                    <a:gd name="T5" fmla="*/ 1 h 47"/>
                    <a:gd name="T6" fmla="*/ 62 w 69"/>
                    <a:gd name="T7" fmla="*/ 2 h 47"/>
                    <a:gd name="T8" fmla="*/ 48 w 69"/>
                    <a:gd name="T9" fmla="*/ 13 h 47"/>
                    <a:gd name="T10" fmla="*/ 28 w 69"/>
                    <a:gd name="T11" fmla="*/ 22 h 47"/>
                    <a:gd name="T12" fmla="*/ 22 w 69"/>
                    <a:gd name="T13" fmla="*/ 32 h 47"/>
                    <a:gd name="T14" fmla="*/ 16 w 69"/>
                    <a:gd name="T15" fmla="*/ 31 h 47"/>
                    <a:gd name="T16" fmla="*/ 12 w 69"/>
                    <a:gd name="T17" fmla="*/ 27 h 47"/>
                    <a:gd name="T18" fmla="*/ 0 w 69"/>
                    <a:gd name="T19" fmla="*/ 24 h 47"/>
                    <a:gd name="T20" fmla="*/ 0 w 69"/>
                    <a:gd name="T21" fmla="*/ 22 h 47"/>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69" h="47">
                      <a:moveTo>
                        <a:pt x="0" y="31"/>
                      </a:moveTo>
                      <a:cubicBezTo>
                        <a:pt x="7" y="24"/>
                        <a:pt x="9" y="22"/>
                        <a:pt x="18" y="25"/>
                      </a:cubicBezTo>
                      <a:cubicBezTo>
                        <a:pt x="25" y="4"/>
                        <a:pt x="36" y="12"/>
                        <a:pt x="52" y="1"/>
                      </a:cubicBezTo>
                      <a:cubicBezTo>
                        <a:pt x="56" y="2"/>
                        <a:pt x="61" y="0"/>
                        <a:pt x="64" y="3"/>
                      </a:cubicBezTo>
                      <a:cubicBezTo>
                        <a:pt x="69" y="8"/>
                        <a:pt x="50" y="19"/>
                        <a:pt x="50" y="19"/>
                      </a:cubicBezTo>
                      <a:cubicBezTo>
                        <a:pt x="46" y="31"/>
                        <a:pt x="35" y="22"/>
                        <a:pt x="28" y="33"/>
                      </a:cubicBezTo>
                      <a:cubicBezTo>
                        <a:pt x="31" y="41"/>
                        <a:pt x="31" y="44"/>
                        <a:pt x="22" y="47"/>
                      </a:cubicBezTo>
                      <a:cubicBezTo>
                        <a:pt x="20" y="46"/>
                        <a:pt x="18" y="46"/>
                        <a:pt x="16" y="45"/>
                      </a:cubicBezTo>
                      <a:cubicBezTo>
                        <a:pt x="14" y="43"/>
                        <a:pt x="14" y="40"/>
                        <a:pt x="12" y="39"/>
                      </a:cubicBezTo>
                      <a:cubicBezTo>
                        <a:pt x="8" y="37"/>
                        <a:pt x="0" y="35"/>
                        <a:pt x="0" y="35"/>
                      </a:cubicBezTo>
                      <a:cubicBezTo>
                        <a:pt x="2" y="26"/>
                        <a:pt x="3" y="25"/>
                        <a:pt x="0" y="31"/>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44" name="Freeform 13"/>
                <p:cNvSpPr>
                  <a:spLocks/>
                </p:cNvSpPr>
                <p:nvPr userDrawn="1"/>
              </p:nvSpPr>
              <p:spPr bwMode="ltGray">
                <a:xfrm>
                  <a:off x="2007" y="739"/>
                  <a:ext cx="354" cy="228"/>
                </a:xfrm>
                <a:custGeom>
                  <a:avLst/>
                  <a:gdLst>
                    <a:gd name="T0" fmla="*/ 10 w 355"/>
                    <a:gd name="T1" fmla="*/ 2 h 277"/>
                    <a:gd name="T2" fmla="*/ 36 w 355"/>
                    <a:gd name="T3" fmla="*/ 12 h 277"/>
                    <a:gd name="T4" fmla="*/ 46 w 355"/>
                    <a:gd name="T5" fmla="*/ 21 h 277"/>
                    <a:gd name="T6" fmla="*/ 76 w 355"/>
                    <a:gd name="T7" fmla="*/ 35 h 277"/>
                    <a:gd name="T8" fmla="*/ 92 w 355"/>
                    <a:gd name="T9" fmla="*/ 44 h 277"/>
                    <a:gd name="T10" fmla="*/ 122 w 355"/>
                    <a:gd name="T11" fmla="*/ 67 h 277"/>
                    <a:gd name="T12" fmla="*/ 136 w 355"/>
                    <a:gd name="T13" fmla="*/ 86 h 277"/>
                    <a:gd name="T14" fmla="*/ 148 w 355"/>
                    <a:gd name="T15" fmla="*/ 90 h 277"/>
                    <a:gd name="T16" fmla="*/ 154 w 355"/>
                    <a:gd name="T17" fmla="*/ 101 h 277"/>
                    <a:gd name="T18" fmla="*/ 176 w 355"/>
                    <a:gd name="T19" fmla="*/ 103 h 277"/>
                    <a:gd name="T20" fmla="*/ 170 w 355"/>
                    <a:gd name="T21" fmla="*/ 133 h 277"/>
                    <a:gd name="T22" fmla="*/ 178 w 355"/>
                    <a:gd name="T23" fmla="*/ 151 h 277"/>
                    <a:gd name="T24" fmla="*/ 196 w 355"/>
                    <a:gd name="T25" fmla="*/ 157 h 277"/>
                    <a:gd name="T26" fmla="*/ 214 w 355"/>
                    <a:gd name="T27" fmla="*/ 159 h 277"/>
                    <a:gd name="T28" fmla="*/ 234 w 355"/>
                    <a:gd name="T29" fmla="*/ 164 h 277"/>
                    <a:gd name="T30" fmla="*/ 252 w 355"/>
                    <a:gd name="T31" fmla="*/ 160 h 277"/>
                    <a:gd name="T32" fmla="*/ 270 w 355"/>
                    <a:gd name="T33" fmla="*/ 168 h 277"/>
                    <a:gd name="T34" fmla="*/ 294 w 355"/>
                    <a:gd name="T35" fmla="*/ 174 h 277"/>
                    <a:gd name="T36" fmla="*/ 312 w 355"/>
                    <a:gd name="T37" fmla="*/ 179 h 277"/>
                    <a:gd name="T38" fmla="*/ 350 w 355"/>
                    <a:gd name="T39" fmla="*/ 180 h 277"/>
                    <a:gd name="T40" fmla="*/ 340 w 355"/>
                    <a:gd name="T41" fmla="*/ 186 h 277"/>
                    <a:gd name="T42" fmla="*/ 320 w 355"/>
                    <a:gd name="T43" fmla="*/ 184 h 277"/>
                    <a:gd name="T44" fmla="*/ 298 w 355"/>
                    <a:gd name="T45" fmla="*/ 183 h 277"/>
                    <a:gd name="T46" fmla="*/ 286 w 355"/>
                    <a:gd name="T47" fmla="*/ 180 h 277"/>
                    <a:gd name="T48" fmla="*/ 250 w 355"/>
                    <a:gd name="T49" fmla="*/ 179 h 277"/>
                    <a:gd name="T50" fmla="*/ 232 w 355"/>
                    <a:gd name="T51" fmla="*/ 176 h 277"/>
                    <a:gd name="T52" fmla="*/ 172 w 355"/>
                    <a:gd name="T53" fmla="*/ 164 h 277"/>
                    <a:gd name="T54" fmla="*/ 160 w 355"/>
                    <a:gd name="T55" fmla="*/ 147 h 277"/>
                    <a:gd name="T56" fmla="*/ 126 w 355"/>
                    <a:gd name="T57" fmla="*/ 136 h 277"/>
                    <a:gd name="T58" fmla="*/ 108 w 355"/>
                    <a:gd name="T59" fmla="*/ 126 h 277"/>
                    <a:gd name="T60" fmla="*/ 94 w 355"/>
                    <a:gd name="T61" fmla="*/ 107 h 277"/>
                    <a:gd name="T62" fmla="*/ 68 w 355"/>
                    <a:gd name="T63" fmla="*/ 73 h 277"/>
                    <a:gd name="T64" fmla="*/ 64 w 355"/>
                    <a:gd name="T65" fmla="*/ 69 h 277"/>
                    <a:gd name="T66" fmla="*/ 58 w 355"/>
                    <a:gd name="T67" fmla="*/ 67 h 277"/>
                    <a:gd name="T68" fmla="*/ 54 w 355"/>
                    <a:gd name="T69" fmla="*/ 59 h 277"/>
                    <a:gd name="T70" fmla="*/ 38 w 355"/>
                    <a:gd name="T71" fmla="*/ 40 h 277"/>
                    <a:gd name="T72" fmla="*/ 20 w 355"/>
                    <a:gd name="T73" fmla="*/ 27 h 277"/>
                    <a:gd name="T74" fmla="*/ 4 w 355"/>
                    <a:gd name="T75" fmla="*/ 15 h 277"/>
                    <a:gd name="T76" fmla="*/ 10 w 355"/>
                    <a:gd name="T77" fmla="*/ 2 h 277"/>
                    <a:gd name="T78" fmla="*/ 10 w 355"/>
                    <a:gd name="T79" fmla="*/ 2 h 277"/>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0" t="0" r="r" b="b"/>
                  <a:pathLst>
                    <a:path w="355" h="277">
                      <a:moveTo>
                        <a:pt x="10" y="4"/>
                      </a:moveTo>
                      <a:cubicBezTo>
                        <a:pt x="22" y="0"/>
                        <a:pt x="24" y="14"/>
                        <a:pt x="36" y="18"/>
                      </a:cubicBezTo>
                      <a:cubicBezTo>
                        <a:pt x="37" y="19"/>
                        <a:pt x="45" y="29"/>
                        <a:pt x="46" y="30"/>
                      </a:cubicBezTo>
                      <a:cubicBezTo>
                        <a:pt x="56" y="40"/>
                        <a:pt x="67" y="38"/>
                        <a:pt x="76" y="52"/>
                      </a:cubicBezTo>
                      <a:cubicBezTo>
                        <a:pt x="80" y="58"/>
                        <a:pt x="92" y="66"/>
                        <a:pt x="92" y="66"/>
                      </a:cubicBezTo>
                      <a:cubicBezTo>
                        <a:pt x="96" y="79"/>
                        <a:pt x="112" y="88"/>
                        <a:pt x="122" y="98"/>
                      </a:cubicBezTo>
                      <a:cubicBezTo>
                        <a:pt x="124" y="105"/>
                        <a:pt x="130" y="124"/>
                        <a:pt x="136" y="128"/>
                      </a:cubicBezTo>
                      <a:cubicBezTo>
                        <a:pt x="140" y="130"/>
                        <a:pt x="148" y="132"/>
                        <a:pt x="148" y="132"/>
                      </a:cubicBezTo>
                      <a:cubicBezTo>
                        <a:pt x="150" y="138"/>
                        <a:pt x="154" y="150"/>
                        <a:pt x="154" y="150"/>
                      </a:cubicBezTo>
                      <a:cubicBezTo>
                        <a:pt x="161" y="139"/>
                        <a:pt x="168" y="144"/>
                        <a:pt x="176" y="152"/>
                      </a:cubicBezTo>
                      <a:cubicBezTo>
                        <a:pt x="174" y="167"/>
                        <a:pt x="173" y="181"/>
                        <a:pt x="170" y="196"/>
                      </a:cubicBezTo>
                      <a:cubicBezTo>
                        <a:pt x="171" y="202"/>
                        <a:pt x="174" y="220"/>
                        <a:pt x="180" y="224"/>
                      </a:cubicBezTo>
                      <a:cubicBezTo>
                        <a:pt x="185" y="228"/>
                        <a:pt x="193" y="228"/>
                        <a:pt x="198" y="232"/>
                      </a:cubicBezTo>
                      <a:cubicBezTo>
                        <a:pt x="204" y="230"/>
                        <a:pt x="216" y="234"/>
                        <a:pt x="216" y="234"/>
                      </a:cubicBezTo>
                      <a:cubicBezTo>
                        <a:pt x="223" y="241"/>
                        <a:pt x="225" y="245"/>
                        <a:pt x="236" y="242"/>
                      </a:cubicBezTo>
                      <a:cubicBezTo>
                        <a:pt x="242" y="240"/>
                        <a:pt x="254" y="236"/>
                        <a:pt x="254" y="236"/>
                      </a:cubicBezTo>
                      <a:cubicBezTo>
                        <a:pt x="260" y="240"/>
                        <a:pt x="265" y="246"/>
                        <a:pt x="272" y="248"/>
                      </a:cubicBezTo>
                      <a:cubicBezTo>
                        <a:pt x="277" y="250"/>
                        <a:pt x="291" y="252"/>
                        <a:pt x="296" y="256"/>
                      </a:cubicBezTo>
                      <a:cubicBezTo>
                        <a:pt x="301" y="260"/>
                        <a:pt x="314" y="264"/>
                        <a:pt x="314" y="264"/>
                      </a:cubicBezTo>
                      <a:cubicBezTo>
                        <a:pt x="330" y="263"/>
                        <a:pt x="338" y="261"/>
                        <a:pt x="352" y="266"/>
                      </a:cubicBezTo>
                      <a:cubicBezTo>
                        <a:pt x="355" y="275"/>
                        <a:pt x="350" y="277"/>
                        <a:pt x="342" y="274"/>
                      </a:cubicBezTo>
                      <a:cubicBezTo>
                        <a:pt x="336" y="276"/>
                        <a:pt x="322" y="272"/>
                        <a:pt x="322" y="272"/>
                      </a:cubicBezTo>
                      <a:cubicBezTo>
                        <a:pt x="314" y="275"/>
                        <a:pt x="308" y="272"/>
                        <a:pt x="300" y="270"/>
                      </a:cubicBezTo>
                      <a:cubicBezTo>
                        <a:pt x="296" y="269"/>
                        <a:pt x="288" y="266"/>
                        <a:pt x="288" y="266"/>
                      </a:cubicBezTo>
                      <a:cubicBezTo>
                        <a:pt x="276" y="270"/>
                        <a:pt x="264" y="266"/>
                        <a:pt x="252" y="264"/>
                      </a:cubicBezTo>
                      <a:cubicBezTo>
                        <a:pt x="245" y="259"/>
                        <a:pt x="242" y="257"/>
                        <a:pt x="234" y="260"/>
                      </a:cubicBezTo>
                      <a:cubicBezTo>
                        <a:pt x="211" y="252"/>
                        <a:pt x="192" y="256"/>
                        <a:pt x="172" y="242"/>
                      </a:cubicBezTo>
                      <a:cubicBezTo>
                        <a:pt x="165" y="231"/>
                        <a:pt x="176" y="221"/>
                        <a:pt x="160" y="216"/>
                      </a:cubicBezTo>
                      <a:cubicBezTo>
                        <a:pt x="154" y="233"/>
                        <a:pt x="136" y="203"/>
                        <a:pt x="126" y="200"/>
                      </a:cubicBezTo>
                      <a:cubicBezTo>
                        <a:pt x="120" y="196"/>
                        <a:pt x="114" y="190"/>
                        <a:pt x="108" y="186"/>
                      </a:cubicBezTo>
                      <a:cubicBezTo>
                        <a:pt x="104" y="175"/>
                        <a:pt x="104" y="165"/>
                        <a:pt x="94" y="158"/>
                      </a:cubicBezTo>
                      <a:cubicBezTo>
                        <a:pt x="83" y="142"/>
                        <a:pt x="85" y="119"/>
                        <a:pt x="68" y="108"/>
                      </a:cubicBezTo>
                      <a:cubicBezTo>
                        <a:pt x="67" y="106"/>
                        <a:pt x="66" y="104"/>
                        <a:pt x="64" y="102"/>
                      </a:cubicBezTo>
                      <a:cubicBezTo>
                        <a:pt x="62" y="101"/>
                        <a:pt x="59" y="102"/>
                        <a:pt x="58" y="100"/>
                      </a:cubicBezTo>
                      <a:cubicBezTo>
                        <a:pt x="56" y="97"/>
                        <a:pt x="54" y="88"/>
                        <a:pt x="54" y="88"/>
                      </a:cubicBezTo>
                      <a:cubicBezTo>
                        <a:pt x="59" y="73"/>
                        <a:pt x="52" y="61"/>
                        <a:pt x="38" y="58"/>
                      </a:cubicBezTo>
                      <a:cubicBezTo>
                        <a:pt x="32" y="49"/>
                        <a:pt x="31" y="44"/>
                        <a:pt x="20" y="40"/>
                      </a:cubicBezTo>
                      <a:cubicBezTo>
                        <a:pt x="16" y="27"/>
                        <a:pt x="16" y="26"/>
                        <a:pt x="4" y="22"/>
                      </a:cubicBezTo>
                      <a:cubicBezTo>
                        <a:pt x="1" y="13"/>
                        <a:pt x="0" y="5"/>
                        <a:pt x="10" y="2"/>
                      </a:cubicBezTo>
                      <a:cubicBezTo>
                        <a:pt x="18" y="5"/>
                        <a:pt x="18" y="4"/>
                        <a:pt x="10" y="4"/>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45" name="Freeform 14"/>
                <p:cNvSpPr>
                  <a:spLocks/>
                </p:cNvSpPr>
                <p:nvPr userDrawn="1"/>
              </p:nvSpPr>
              <p:spPr bwMode="ltGray">
                <a:xfrm>
                  <a:off x="2222" y="724"/>
                  <a:ext cx="157" cy="167"/>
                </a:xfrm>
                <a:custGeom>
                  <a:avLst/>
                  <a:gdLst>
                    <a:gd name="T0" fmla="*/ 54 w 156"/>
                    <a:gd name="T1" fmla="*/ 44 h 206"/>
                    <a:gd name="T2" fmla="*/ 66 w 156"/>
                    <a:gd name="T3" fmla="*/ 38 h 206"/>
                    <a:gd name="T4" fmla="*/ 68 w 156"/>
                    <a:gd name="T5" fmla="*/ 34 h 206"/>
                    <a:gd name="T6" fmla="*/ 82 w 156"/>
                    <a:gd name="T7" fmla="*/ 29 h 206"/>
                    <a:gd name="T8" fmla="*/ 108 w 156"/>
                    <a:gd name="T9" fmla="*/ 15 h 206"/>
                    <a:gd name="T10" fmla="*/ 114 w 156"/>
                    <a:gd name="T11" fmla="*/ 2 h 206"/>
                    <a:gd name="T12" fmla="*/ 126 w 156"/>
                    <a:gd name="T13" fmla="*/ 0 h 206"/>
                    <a:gd name="T14" fmla="*/ 152 w 156"/>
                    <a:gd name="T15" fmla="*/ 19 h 206"/>
                    <a:gd name="T16" fmla="*/ 148 w 156"/>
                    <a:gd name="T17" fmla="*/ 29 h 206"/>
                    <a:gd name="T18" fmla="*/ 128 w 156"/>
                    <a:gd name="T19" fmla="*/ 42 h 206"/>
                    <a:gd name="T20" fmla="*/ 134 w 156"/>
                    <a:gd name="T21" fmla="*/ 62 h 206"/>
                    <a:gd name="T22" fmla="*/ 144 w 156"/>
                    <a:gd name="T23" fmla="*/ 72 h 206"/>
                    <a:gd name="T24" fmla="*/ 148 w 156"/>
                    <a:gd name="T25" fmla="*/ 84 h 206"/>
                    <a:gd name="T26" fmla="*/ 130 w 156"/>
                    <a:gd name="T27" fmla="*/ 84 h 206"/>
                    <a:gd name="T28" fmla="*/ 118 w 156"/>
                    <a:gd name="T29" fmla="*/ 96 h 206"/>
                    <a:gd name="T30" fmla="*/ 106 w 156"/>
                    <a:gd name="T31" fmla="*/ 102 h 206"/>
                    <a:gd name="T32" fmla="*/ 102 w 156"/>
                    <a:gd name="T33" fmla="*/ 131 h 206"/>
                    <a:gd name="T34" fmla="*/ 90 w 156"/>
                    <a:gd name="T35" fmla="*/ 133 h 206"/>
                    <a:gd name="T36" fmla="*/ 84 w 156"/>
                    <a:gd name="T37" fmla="*/ 135 h 206"/>
                    <a:gd name="T38" fmla="*/ 76 w 156"/>
                    <a:gd name="T39" fmla="*/ 133 h 206"/>
                    <a:gd name="T40" fmla="*/ 72 w 156"/>
                    <a:gd name="T41" fmla="*/ 125 h 206"/>
                    <a:gd name="T42" fmla="*/ 60 w 156"/>
                    <a:gd name="T43" fmla="*/ 122 h 206"/>
                    <a:gd name="T44" fmla="*/ 42 w 156"/>
                    <a:gd name="T45" fmla="*/ 127 h 206"/>
                    <a:gd name="T46" fmla="*/ 28 w 156"/>
                    <a:gd name="T47" fmla="*/ 122 h 206"/>
                    <a:gd name="T48" fmla="*/ 10 w 156"/>
                    <a:gd name="T49" fmla="*/ 97 h 206"/>
                    <a:gd name="T50" fmla="*/ 4 w 156"/>
                    <a:gd name="T51" fmla="*/ 85 h 206"/>
                    <a:gd name="T52" fmla="*/ 0 w 156"/>
                    <a:gd name="T53" fmla="*/ 78 h 206"/>
                    <a:gd name="T54" fmla="*/ 20 w 156"/>
                    <a:gd name="T55" fmla="*/ 63 h 206"/>
                    <a:gd name="T56" fmla="*/ 32 w 156"/>
                    <a:gd name="T57" fmla="*/ 68 h 206"/>
                    <a:gd name="T58" fmla="*/ 34 w 156"/>
                    <a:gd name="T59" fmla="*/ 53 h 206"/>
                    <a:gd name="T60" fmla="*/ 52 w 156"/>
                    <a:gd name="T61" fmla="*/ 46 h 206"/>
                    <a:gd name="T62" fmla="*/ 54 w 156"/>
                    <a:gd name="T63" fmla="*/ 44 h 20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0" t="0" r="r" b="b"/>
                  <a:pathLst>
                    <a:path w="156" h="206">
                      <a:moveTo>
                        <a:pt x="54" y="66"/>
                      </a:moveTo>
                      <a:cubicBezTo>
                        <a:pt x="58" y="63"/>
                        <a:pt x="64" y="63"/>
                        <a:pt x="66" y="58"/>
                      </a:cubicBezTo>
                      <a:cubicBezTo>
                        <a:pt x="67" y="56"/>
                        <a:pt x="67" y="53"/>
                        <a:pt x="68" y="52"/>
                      </a:cubicBezTo>
                      <a:cubicBezTo>
                        <a:pt x="71" y="49"/>
                        <a:pt x="80" y="44"/>
                        <a:pt x="80" y="44"/>
                      </a:cubicBezTo>
                      <a:cubicBezTo>
                        <a:pt x="113" y="55"/>
                        <a:pt x="85" y="29"/>
                        <a:pt x="106" y="22"/>
                      </a:cubicBezTo>
                      <a:cubicBezTo>
                        <a:pt x="110" y="17"/>
                        <a:pt x="108" y="9"/>
                        <a:pt x="112" y="4"/>
                      </a:cubicBezTo>
                      <a:cubicBezTo>
                        <a:pt x="115" y="1"/>
                        <a:pt x="124" y="0"/>
                        <a:pt x="124" y="0"/>
                      </a:cubicBezTo>
                      <a:cubicBezTo>
                        <a:pt x="138" y="14"/>
                        <a:pt x="126" y="23"/>
                        <a:pt x="150" y="28"/>
                      </a:cubicBezTo>
                      <a:cubicBezTo>
                        <a:pt x="156" y="36"/>
                        <a:pt x="154" y="39"/>
                        <a:pt x="146" y="44"/>
                      </a:cubicBezTo>
                      <a:cubicBezTo>
                        <a:pt x="141" y="52"/>
                        <a:pt x="135" y="61"/>
                        <a:pt x="126" y="64"/>
                      </a:cubicBezTo>
                      <a:cubicBezTo>
                        <a:pt x="118" y="75"/>
                        <a:pt x="128" y="83"/>
                        <a:pt x="132" y="94"/>
                      </a:cubicBezTo>
                      <a:cubicBezTo>
                        <a:pt x="129" y="103"/>
                        <a:pt x="135" y="105"/>
                        <a:pt x="142" y="110"/>
                      </a:cubicBezTo>
                      <a:cubicBezTo>
                        <a:pt x="145" y="119"/>
                        <a:pt x="141" y="120"/>
                        <a:pt x="146" y="128"/>
                      </a:cubicBezTo>
                      <a:cubicBezTo>
                        <a:pt x="142" y="139"/>
                        <a:pt x="135" y="133"/>
                        <a:pt x="128" y="128"/>
                      </a:cubicBezTo>
                      <a:cubicBezTo>
                        <a:pt x="116" y="132"/>
                        <a:pt x="122" y="136"/>
                        <a:pt x="116" y="146"/>
                      </a:cubicBezTo>
                      <a:cubicBezTo>
                        <a:pt x="113" y="151"/>
                        <a:pt x="108" y="152"/>
                        <a:pt x="104" y="156"/>
                      </a:cubicBezTo>
                      <a:cubicBezTo>
                        <a:pt x="107" y="167"/>
                        <a:pt x="112" y="191"/>
                        <a:pt x="100" y="198"/>
                      </a:cubicBezTo>
                      <a:cubicBezTo>
                        <a:pt x="96" y="200"/>
                        <a:pt x="92" y="200"/>
                        <a:pt x="88" y="202"/>
                      </a:cubicBezTo>
                      <a:cubicBezTo>
                        <a:pt x="86" y="203"/>
                        <a:pt x="84" y="205"/>
                        <a:pt x="82" y="206"/>
                      </a:cubicBezTo>
                      <a:cubicBezTo>
                        <a:pt x="80" y="205"/>
                        <a:pt x="77" y="204"/>
                        <a:pt x="76" y="202"/>
                      </a:cubicBezTo>
                      <a:cubicBezTo>
                        <a:pt x="74" y="198"/>
                        <a:pt x="76" y="191"/>
                        <a:pt x="72" y="190"/>
                      </a:cubicBezTo>
                      <a:cubicBezTo>
                        <a:pt x="68" y="189"/>
                        <a:pt x="60" y="186"/>
                        <a:pt x="60" y="186"/>
                      </a:cubicBezTo>
                      <a:cubicBezTo>
                        <a:pt x="53" y="188"/>
                        <a:pt x="49" y="192"/>
                        <a:pt x="42" y="194"/>
                      </a:cubicBezTo>
                      <a:cubicBezTo>
                        <a:pt x="34" y="189"/>
                        <a:pt x="37" y="183"/>
                        <a:pt x="28" y="186"/>
                      </a:cubicBezTo>
                      <a:cubicBezTo>
                        <a:pt x="12" y="181"/>
                        <a:pt x="19" y="161"/>
                        <a:pt x="10" y="148"/>
                      </a:cubicBezTo>
                      <a:cubicBezTo>
                        <a:pt x="5" y="121"/>
                        <a:pt x="11" y="147"/>
                        <a:pt x="4" y="130"/>
                      </a:cubicBezTo>
                      <a:cubicBezTo>
                        <a:pt x="2" y="126"/>
                        <a:pt x="0" y="118"/>
                        <a:pt x="0" y="118"/>
                      </a:cubicBezTo>
                      <a:cubicBezTo>
                        <a:pt x="2" y="95"/>
                        <a:pt x="0" y="83"/>
                        <a:pt x="20" y="96"/>
                      </a:cubicBezTo>
                      <a:cubicBezTo>
                        <a:pt x="23" y="105"/>
                        <a:pt x="23" y="110"/>
                        <a:pt x="32" y="104"/>
                      </a:cubicBezTo>
                      <a:cubicBezTo>
                        <a:pt x="35" y="95"/>
                        <a:pt x="29" y="88"/>
                        <a:pt x="34" y="80"/>
                      </a:cubicBezTo>
                      <a:cubicBezTo>
                        <a:pt x="36" y="76"/>
                        <a:pt x="48" y="73"/>
                        <a:pt x="52" y="70"/>
                      </a:cubicBezTo>
                      <a:cubicBezTo>
                        <a:pt x="57" y="63"/>
                        <a:pt x="58" y="62"/>
                        <a:pt x="54" y="66"/>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46" name="Freeform 15"/>
                <p:cNvSpPr>
                  <a:spLocks/>
                </p:cNvSpPr>
                <p:nvPr userDrawn="1"/>
              </p:nvSpPr>
              <p:spPr bwMode="ltGray">
                <a:xfrm>
                  <a:off x="2375" y="800"/>
                  <a:ext cx="110" cy="32"/>
                </a:xfrm>
                <a:custGeom>
                  <a:avLst/>
                  <a:gdLst>
                    <a:gd name="T0" fmla="*/ 4 w 109"/>
                    <a:gd name="T1" fmla="*/ 23 h 38"/>
                    <a:gd name="T2" fmla="*/ 18 w 109"/>
                    <a:gd name="T3" fmla="*/ 7 h 38"/>
                    <a:gd name="T4" fmla="*/ 46 w 109"/>
                    <a:gd name="T5" fmla="*/ 14 h 38"/>
                    <a:gd name="T6" fmla="*/ 74 w 109"/>
                    <a:gd name="T7" fmla="*/ 10 h 38"/>
                    <a:gd name="T8" fmla="*/ 92 w 109"/>
                    <a:gd name="T9" fmla="*/ 0 h 38"/>
                    <a:gd name="T10" fmla="*/ 78 w 109"/>
                    <a:gd name="T11" fmla="*/ 19 h 38"/>
                    <a:gd name="T12" fmla="*/ 62 w 109"/>
                    <a:gd name="T13" fmla="*/ 27 h 38"/>
                    <a:gd name="T14" fmla="*/ 42 w 109"/>
                    <a:gd name="T15" fmla="*/ 23 h 38"/>
                    <a:gd name="T16" fmla="*/ 14 w 109"/>
                    <a:gd name="T17" fmla="*/ 21 h 38"/>
                    <a:gd name="T18" fmla="*/ 4 w 109"/>
                    <a:gd name="T19" fmla="*/ 23 h 38"/>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09" h="38">
                      <a:moveTo>
                        <a:pt x="4" y="32"/>
                      </a:moveTo>
                      <a:cubicBezTo>
                        <a:pt x="7" y="22"/>
                        <a:pt x="7" y="14"/>
                        <a:pt x="18" y="10"/>
                      </a:cubicBezTo>
                      <a:cubicBezTo>
                        <a:pt x="28" y="12"/>
                        <a:pt x="37" y="14"/>
                        <a:pt x="46" y="20"/>
                      </a:cubicBezTo>
                      <a:cubicBezTo>
                        <a:pt x="62" y="15"/>
                        <a:pt x="54" y="17"/>
                        <a:pt x="72" y="14"/>
                      </a:cubicBezTo>
                      <a:cubicBezTo>
                        <a:pt x="77" y="9"/>
                        <a:pt x="90" y="0"/>
                        <a:pt x="90" y="0"/>
                      </a:cubicBezTo>
                      <a:cubicBezTo>
                        <a:pt x="109" y="6"/>
                        <a:pt x="85" y="23"/>
                        <a:pt x="76" y="26"/>
                      </a:cubicBezTo>
                      <a:cubicBezTo>
                        <a:pt x="71" y="33"/>
                        <a:pt x="68" y="35"/>
                        <a:pt x="60" y="38"/>
                      </a:cubicBezTo>
                      <a:cubicBezTo>
                        <a:pt x="54" y="36"/>
                        <a:pt x="42" y="32"/>
                        <a:pt x="42" y="32"/>
                      </a:cubicBezTo>
                      <a:cubicBezTo>
                        <a:pt x="33" y="23"/>
                        <a:pt x="26" y="26"/>
                        <a:pt x="14" y="30"/>
                      </a:cubicBezTo>
                      <a:cubicBezTo>
                        <a:pt x="1" y="28"/>
                        <a:pt x="0" y="24"/>
                        <a:pt x="4" y="32"/>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47" name="Freeform 16"/>
                <p:cNvSpPr>
                  <a:spLocks/>
                </p:cNvSpPr>
                <p:nvPr userDrawn="1"/>
              </p:nvSpPr>
              <p:spPr bwMode="ltGray">
                <a:xfrm>
                  <a:off x="2370" y="839"/>
                  <a:ext cx="75" cy="84"/>
                </a:xfrm>
                <a:custGeom>
                  <a:avLst/>
                  <a:gdLst>
                    <a:gd name="T0" fmla="*/ 8 w 76"/>
                    <a:gd name="T1" fmla="*/ 12 h 104"/>
                    <a:gd name="T2" fmla="*/ 18 w 76"/>
                    <a:gd name="T3" fmla="*/ 0 h 104"/>
                    <a:gd name="T4" fmla="*/ 34 w 76"/>
                    <a:gd name="T5" fmla="*/ 12 h 104"/>
                    <a:gd name="T6" fmla="*/ 60 w 76"/>
                    <a:gd name="T7" fmla="*/ 2 h 104"/>
                    <a:gd name="T8" fmla="*/ 44 w 76"/>
                    <a:gd name="T9" fmla="*/ 22 h 104"/>
                    <a:gd name="T10" fmla="*/ 52 w 76"/>
                    <a:gd name="T11" fmla="*/ 32 h 104"/>
                    <a:gd name="T12" fmla="*/ 56 w 76"/>
                    <a:gd name="T13" fmla="*/ 39 h 104"/>
                    <a:gd name="T14" fmla="*/ 44 w 76"/>
                    <a:gd name="T15" fmla="*/ 48 h 104"/>
                    <a:gd name="T16" fmla="*/ 34 w 76"/>
                    <a:gd name="T17" fmla="*/ 39 h 104"/>
                    <a:gd name="T18" fmla="*/ 22 w 76"/>
                    <a:gd name="T19" fmla="*/ 32 h 104"/>
                    <a:gd name="T20" fmla="*/ 28 w 76"/>
                    <a:gd name="T21" fmla="*/ 44 h 104"/>
                    <a:gd name="T22" fmla="*/ 30 w 76"/>
                    <a:gd name="T23" fmla="*/ 48 h 104"/>
                    <a:gd name="T24" fmla="*/ 20 w 76"/>
                    <a:gd name="T25" fmla="*/ 68 h 104"/>
                    <a:gd name="T26" fmla="*/ 12 w 76"/>
                    <a:gd name="T27" fmla="*/ 66 h 104"/>
                    <a:gd name="T28" fmla="*/ 8 w 76"/>
                    <a:gd name="T29" fmla="*/ 59 h 104"/>
                    <a:gd name="T30" fmla="*/ 0 w 76"/>
                    <a:gd name="T31" fmla="*/ 36 h 104"/>
                    <a:gd name="T32" fmla="*/ 2 w 76"/>
                    <a:gd name="T33" fmla="*/ 19 h 104"/>
                    <a:gd name="T34" fmla="*/ 8 w 76"/>
                    <a:gd name="T35" fmla="*/ 12 h 104"/>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76" h="104">
                      <a:moveTo>
                        <a:pt x="8" y="18"/>
                      </a:moveTo>
                      <a:cubicBezTo>
                        <a:pt x="10" y="8"/>
                        <a:pt x="9" y="3"/>
                        <a:pt x="18" y="0"/>
                      </a:cubicBezTo>
                      <a:cubicBezTo>
                        <a:pt x="28" y="3"/>
                        <a:pt x="25" y="12"/>
                        <a:pt x="34" y="18"/>
                      </a:cubicBezTo>
                      <a:cubicBezTo>
                        <a:pt x="46" y="16"/>
                        <a:pt x="51" y="8"/>
                        <a:pt x="62" y="4"/>
                      </a:cubicBezTo>
                      <a:cubicBezTo>
                        <a:pt x="76" y="9"/>
                        <a:pt x="56" y="31"/>
                        <a:pt x="46" y="34"/>
                      </a:cubicBezTo>
                      <a:cubicBezTo>
                        <a:pt x="51" y="56"/>
                        <a:pt x="43" y="29"/>
                        <a:pt x="54" y="48"/>
                      </a:cubicBezTo>
                      <a:cubicBezTo>
                        <a:pt x="56" y="52"/>
                        <a:pt x="58" y="60"/>
                        <a:pt x="58" y="60"/>
                      </a:cubicBezTo>
                      <a:cubicBezTo>
                        <a:pt x="55" y="68"/>
                        <a:pt x="54" y="71"/>
                        <a:pt x="46" y="74"/>
                      </a:cubicBezTo>
                      <a:cubicBezTo>
                        <a:pt x="38" y="71"/>
                        <a:pt x="37" y="68"/>
                        <a:pt x="34" y="60"/>
                      </a:cubicBezTo>
                      <a:cubicBezTo>
                        <a:pt x="33" y="50"/>
                        <a:pt x="32" y="33"/>
                        <a:pt x="22" y="48"/>
                      </a:cubicBezTo>
                      <a:cubicBezTo>
                        <a:pt x="25" y="60"/>
                        <a:pt x="23" y="53"/>
                        <a:pt x="28" y="68"/>
                      </a:cubicBezTo>
                      <a:cubicBezTo>
                        <a:pt x="29" y="70"/>
                        <a:pt x="30" y="74"/>
                        <a:pt x="30" y="74"/>
                      </a:cubicBezTo>
                      <a:cubicBezTo>
                        <a:pt x="24" y="84"/>
                        <a:pt x="22" y="93"/>
                        <a:pt x="20" y="104"/>
                      </a:cubicBezTo>
                      <a:cubicBezTo>
                        <a:pt x="17" y="103"/>
                        <a:pt x="14" y="104"/>
                        <a:pt x="12" y="102"/>
                      </a:cubicBezTo>
                      <a:cubicBezTo>
                        <a:pt x="9" y="99"/>
                        <a:pt x="8" y="90"/>
                        <a:pt x="8" y="90"/>
                      </a:cubicBezTo>
                      <a:cubicBezTo>
                        <a:pt x="13" y="75"/>
                        <a:pt x="14" y="64"/>
                        <a:pt x="0" y="54"/>
                      </a:cubicBezTo>
                      <a:cubicBezTo>
                        <a:pt x="1" y="46"/>
                        <a:pt x="1" y="38"/>
                        <a:pt x="2" y="30"/>
                      </a:cubicBezTo>
                      <a:cubicBezTo>
                        <a:pt x="2" y="27"/>
                        <a:pt x="13" y="2"/>
                        <a:pt x="8" y="1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48" name="Freeform 17"/>
                <p:cNvSpPr>
                  <a:spLocks/>
                </p:cNvSpPr>
                <p:nvPr userDrawn="1"/>
              </p:nvSpPr>
              <p:spPr bwMode="ltGray">
                <a:xfrm>
                  <a:off x="2497" y="793"/>
                  <a:ext cx="37" cy="49"/>
                </a:xfrm>
                <a:custGeom>
                  <a:avLst/>
                  <a:gdLst>
                    <a:gd name="T0" fmla="*/ 3 w 37"/>
                    <a:gd name="T1" fmla="*/ 18 h 61"/>
                    <a:gd name="T2" fmla="*/ 13 w 37"/>
                    <a:gd name="T3" fmla="*/ 0 h 61"/>
                    <a:gd name="T4" fmla="*/ 15 w 37"/>
                    <a:gd name="T5" fmla="*/ 18 h 61"/>
                    <a:gd name="T6" fmla="*/ 37 w 37"/>
                    <a:gd name="T7" fmla="*/ 25 h 61"/>
                    <a:gd name="T8" fmla="*/ 19 w 37"/>
                    <a:gd name="T9" fmla="*/ 28 h 61"/>
                    <a:gd name="T10" fmla="*/ 5 w 37"/>
                    <a:gd name="T11" fmla="*/ 38 h 61"/>
                    <a:gd name="T12" fmla="*/ 1 w 37"/>
                    <a:gd name="T13" fmla="*/ 22 h 61"/>
                    <a:gd name="T14" fmla="*/ 3 w 37"/>
                    <a:gd name="T15" fmla="*/ 18 h 61"/>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7" h="61">
                      <a:moveTo>
                        <a:pt x="3" y="28"/>
                      </a:moveTo>
                      <a:cubicBezTo>
                        <a:pt x="5" y="14"/>
                        <a:pt x="2" y="7"/>
                        <a:pt x="13" y="0"/>
                      </a:cubicBezTo>
                      <a:cubicBezTo>
                        <a:pt x="26" y="9"/>
                        <a:pt x="23" y="17"/>
                        <a:pt x="15" y="28"/>
                      </a:cubicBezTo>
                      <a:cubicBezTo>
                        <a:pt x="25" y="31"/>
                        <a:pt x="33" y="27"/>
                        <a:pt x="37" y="38"/>
                      </a:cubicBezTo>
                      <a:cubicBezTo>
                        <a:pt x="30" y="45"/>
                        <a:pt x="28" y="47"/>
                        <a:pt x="19" y="44"/>
                      </a:cubicBezTo>
                      <a:cubicBezTo>
                        <a:pt x="13" y="54"/>
                        <a:pt x="18" y="61"/>
                        <a:pt x="5" y="58"/>
                      </a:cubicBezTo>
                      <a:cubicBezTo>
                        <a:pt x="0" y="50"/>
                        <a:pt x="3" y="44"/>
                        <a:pt x="1" y="34"/>
                      </a:cubicBezTo>
                      <a:cubicBezTo>
                        <a:pt x="2" y="32"/>
                        <a:pt x="3" y="28"/>
                        <a:pt x="3" y="2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49" name="Freeform 18"/>
                <p:cNvSpPr>
                  <a:spLocks/>
                </p:cNvSpPr>
                <p:nvPr userDrawn="1"/>
              </p:nvSpPr>
              <p:spPr bwMode="ltGray">
                <a:xfrm>
                  <a:off x="2506" y="869"/>
                  <a:ext cx="47" cy="24"/>
                </a:xfrm>
                <a:custGeom>
                  <a:avLst/>
                  <a:gdLst>
                    <a:gd name="T0" fmla="*/ 7 w 49"/>
                    <a:gd name="T1" fmla="*/ 0 h 29"/>
                    <a:gd name="T2" fmla="*/ 27 w 49"/>
                    <a:gd name="T3" fmla="*/ 0 h 29"/>
                    <a:gd name="T4" fmla="*/ 45 w 49"/>
                    <a:gd name="T5" fmla="*/ 11 h 29"/>
                    <a:gd name="T6" fmla="*/ 33 w 49"/>
                    <a:gd name="T7" fmla="*/ 10 h 29"/>
                    <a:gd name="T8" fmla="*/ 3 w 49"/>
                    <a:gd name="T9" fmla="*/ 11 h 29"/>
                    <a:gd name="T10" fmla="*/ 7 w 49"/>
                    <a:gd name="T11" fmla="*/ 0 h 29"/>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9" h="29">
                      <a:moveTo>
                        <a:pt x="7" y="0"/>
                      </a:moveTo>
                      <a:cubicBezTo>
                        <a:pt x="15" y="6"/>
                        <a:pt x="19" y="2"/>
                        <a:pt x="29" y="0"/>
                      </a:cubicBezTo>
                      <a:cubicBezTo>
                        <a:pt x="45" y="5"/>
                        <a:pt x="40" y="3"/>
                        <a:pt x="49" y="16"/>
                      </a:cubicBezTo>
                      <a:cubicBezTo>
                        <a:pt x="46" y="29"/>
                        <a:pt x="42" y="21"/>
                        <a:pt x="35" y="14"/>
                      </a:cubicBezTo>
                      <a:cubicBezTo>
                        <a:pt x="26" y="15"/>
                        <a:pt x="12" y="19"/>
                        <a:pt x="3" y="16"/>
                      </a:cubicBezTo>
                      <a:cubicBezTo>
                        <a:pt x="0" y="6"/>
                        <a:pt x="7" y="10"/>
                        <a:pt x="7" y="0"/>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50" name="Freeform 19"/>
                <p:cNvSpPr>
                  <a:spLocks/>
                </p:cNvSpPr>
                <p:nvPr userDrawn="1"/>
              </p:nvSpPr>
              <p:spPr bwMode="ltGray">
                <a:xfrm>
                  <a:off x="2555" y="832"/>
                  <a:ext cx="61" cy="42"/>
                </a:xfrm>
                <a:custGeom>
                  <a:avLst/>
                  <a:gdLst>
                    <a:gd name="T0" fmla="*/ 21 w 61"/>
                    <a:gd name="T1" fmla="*/ 29 h 48"/>
                    <a:gd name="T2" fmla="*/ 15 w 61"/>
                    <a:gd name="T3" fmla="*/ 20 h 48"/>
                    <a:gd name="T4" fmla="*/ 3 w 61"/>
                    <a:gd name="T5" fmla="*/ 17 h 48"/>
                    <a:gd name="T6" fmla="*/ 13 w 61"/>
                    <a:gd name="T7" fmla="*/ 6 h 48"/>
                    <a:gd name="T8" fmla="*/ 25 w 61"/>
                    <a:gd name="T9" fmla="*/ 0 h 48"/>
                    <a:gd name="T10" fmla="*/ 49 w 61"/>
                    <a:gd name="T11" fmla="*/ 8 h 48"/>
                    <a:gd name="T12" fmla="*/ 53 w 61"/>
                    <a:gd name="T13" fmla="*/ 16 h 48"/>
                    <a:gd name="T14" fmla="*/ 61 w 61"/>
                    <a:gd name="T15" fmla="*/ 25 h 48"/>
                    <a:gd name="T16" fmla="*/ 41 w 61"/>
                    <a:gd name="T17" fmla="*/ 29 h 48"/>
                    <a:gd name="T18" fmla="*/ 23 w 61"/>
                    <a:gd name="T19" fmla="*/ 34 h 48"/>
                    <a:gd name="T20" fmla="*/ 21 w 61"/>
                    <a:gd name="T21" fmla="*/ 29 h 48"/>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61" h="48">
                      <a:moveTo>
                        <a:pt x="21" y="38"/>
                      </a:moveTo>
                      <a:cubicBezTo>
                        <a:pt x="19" y="34"/>
                        <a:pt x="19" y="29"/>
                        <a:pt x="15" y="26"/>
                      </a:cubicBezTo>
                      <a:cubicBezTo>
                        <a:pt x="12" y="24"/>
                        <a:pt x="3" y="22"/>
                        <a:pt x="3" y="22"/>
                      </a:cubicBezTo>
                      <a:cubicBezTo>
                        <a:pt x="0" y="12"/>
                        <a:pt x="5" y="12"/>
                        <a:pt x="13" y="8"/>
                      </a:cubicBezTo>
                      <a:cubicBezTo>
                        <a:pt x="17" y="6"/>
                        <a:pt x="25" y="0"/>
                        <a:pt x="25" y="0"/>
                      </a:cubicBezTo>
                      <a:cubicBezTo>
                        <a:pt x="37" y="2"/>
                        <a:pt x="41" y="2"/>
                        <a:pt x="49" y="10"/>
                      </a:cubicBezTo>
                      <a:cubicBezTo>
                        <a:pt x="45" y="21"/>
                        <a:pt x="46" y="12"/>
                        <a:pt x="53" y="20"/>
                      </a:cubicBezTo>
                      <a:cubicBezTo>
                        <a:pt x="56" y="24"/>
                        <a:pt x="61" y="32"/>
                        <a:pt x="61" y="32"/>
                      </a:cubicBezTo>
                      <a:cubicBezTo>
                        <a:pt x="56" y="47"/>
                        <a:pt x="53" y="42"/>
                        <a:pt x="41" y="38"/>
                      </a:cubicBezTo>
                      <a:cubicBezTo>
                        <a:pt x="27" y="47"/>
                        <a:pt x="34" y="48"/>
                        <a:pt x="23" y="44"/>
                      </a:cubicBezTo>
                      <a:cubicBezTo>
                        <a:pt x="22" y="42"/>
                        <a:pt x="21" y="38"/>
                        <a:pt x="21" y="3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51" name="Freeform 20"/>
                <p:cNvSpPr>
                  <a:spLocks/>
                </p:cNvSpPr>
                <p:nvPr userDrawn="1"/>
              </p:nvSpPr>
              <p:spPr bwMode="ltGray">
                <a:xfrm>
                  <a:off x="2572" y="852"/>
                  <a:ext cx="286" cy="149"/>
                </a:xfrm>
                <a:custGeom>
                  <a:avLst/>
                  <a:gdLst>
                    <a:gd name="T0" fmla="*/ 46 w 286"/>
                    <a:gd name="T1" fmla="*/ 19 h 182"/>
                    <a:gd name="T2" fmla="*/ 36 w 286"/>
                    <a:gd name="T3" fmla="*/ 9 h 182"/>
                    <a:gd name="T4" fmla="*/ 26 w 286"/>
                    <a:gd name="T5" fmla="*/ 20 h 182"/>
                    <a:gd name="T6" fmla="*/ 0 w 286"/>
                    <a:gd name="T7" fmla="*/ 16 h 182"/>
                    <a:gd name="T8" fmla="*/ 10 w 286"/>
                    <a:gd name="T9" fmla="*/ 28 h 182"/>
                    <a:gd name="T10" fmla="*/ 16 w 286"/>
                    <a:gd name="T11" fmla="*/ 42 h 182"/>
                    <a:gd name="T12" fmla="*/ 24 w 286"/>
                    <a:gd name="T13" fmla="*/ 32 h 182"/>
                    <a:gd name="T14" fmla="*/ 30 w 286"/>
                    <a:gd name="T15" fmla="*/ 29 h 182"/>
                    <a:gd name="T16" fmla="*/ 48 w 286"/>
                    <a:gd name="T17" fmla="*/ 38 h 182"/>
                    <a:gd name="T18" fmla="*/ 70 w 286"/>
                    <a:gd name="T19" fmla="*/ 42 h 182"/>
                    <a:gd name="T20" fmla="*/ 88 w 286"/>
                    <a:gd name="T21" fmla="*/ 48 h 182"/>
                    <a:gd name="T22" fmla="*/ 106 w 286"/>
                    <a:gd name="T23" fmla="*/ 69 h 182"/>
                    <a:gd name="T24" fmla="*/ 104 w 286"/>
                    <a:gd name="T25" fmla="*/ 82 h 182"/>
                    <a:gd name="T26" fmla="*/ 98 w 286"/>
                    <a:gd name="T27" fmla="*/ 90 h 182"/>
                    <a:gd name="T28" fmla="*/ 122 w 286"/>
                    <a:gd name="T29" fmla="*/ 86 h 182"/>
                    <a:gd name="T30" fmla="*/ 140 w 286"/>
                    <a:gd name="T31" fmla="*/ 94 h 182"/>
                    <a:gd name="T32" fmla="*/ 168 w 286"/>
                    <a:gd name="T33" fmla="*/ 99 h 182"/>
                    <a:gd name="T34" fmla="*/ 174 w 286"/>
                    <a:gd name="T35" fmla="*/ 98 h 182"/>
                    <a:gd name="T36" fmla="*/ 168 w 286"/>
                    <a:gd name="T37" fmla="*/ 90 h 182"/>
                    <a:gd name="T38" fmla="*/ 178 w 286"/>
                    <a:gd name="T39" fmla="*/ 91 h 182"/>
                    <a:gd name="T40" fmla="*/ 186 w 286"/>
                    <a:gd name="T41" fmla="*/ 79 h 182"/>
                    <a:gd name="T42" fmla="*/ 202 w 286"/>
                    <a:gd name="T43" fmla="*/ 82 h 182"/>
                    <a:gd name="T44" fmla="*/ 214 w 286"/>
                    <a:gd name="T45" fmla="*/ 87 h 182"/>
                    <a:gd name="T46" fmla="*/ 244 w 286"/>
                    <a:gd name="T47" fmla="*/ 113 h 182"/>
                    <a:gd name="T48" fmla="*/ 262 w 286"/>
                    <a:gd name="T49" fmla="*/ 120 h 182"/>
                    <a:gd name="T50" fmla="*/ 284 w 286"/>
                    <a:gd name="T51" fmla="*/ 114 h 182"/>
                    <a:gd name="T52" fmla="*/ 268 w 286"/>
                    <a:gd name="T53" fmla="*/ 107 h 182"/>
                    <a:gd name="T54" fmla="*/ 256 w 286"/>
                    <a:gd name="T55" fmla="*/ 93 h 182"/>
                    <a:gd name="T56" fmla="*/ 250 w 286"/>
                    <a:gd name="T57" fmla="*/ 88 h 182"/>
                    <a:gd name="T58" fmla="*/ 248 w 286"/>
                    <a:gd name="T59" fmla="*/ 82 h 182"/>
                    <a:gd name="T60" fmla="*/ 236 w 286"/>
                    <a:gd name="T61" fmla="*/ 78 h 182"/>
                    <a:gd name="T62" fmla="*/ 240 w 286"/>
                    <a:gd name="T63" fmla="*/ 65 h 182"/>
                    <a:gd name="T64" fmla="*/ 220 w 286"/>
                    <a:gd name="T65" fmla="*/ 57 h 182"/>
                    <a:gd name="T66" fmla="*/ 210 w 286"/>
                    <a:gd name="T67" fmla="*/ 47 h 182"/>
                    <a:gd name="T68" fmla="*/ 190 w 286"/>
                    <a:gd name="T69" fmla="*/ 36 h 182"/>
                    <a:gd name="T70" fmla="*/ 168 w 286"/>
                    <a:gd name="T71" fmla="*/ 25 h 182"/>
                    <a:gd name="T72" fmla="*/ 156 w 286"/>
                    <a:gd name="T73" fmla="*/ 23 h 182"/>
                    <a:gd name="T74" fmla="*/ 120 w 286"/>
                    <a:gd name="T75" fmla="*/ 11 h 182"/>
                    <a:gd name="T76" fmla="*/ 102 w 286"/>
                    <a:gd name="T77" fmla="*/ 2 h 182"/>
                    <a:gd name="T78" fmla="*/ 96 w 286"/>
                    <a:gd name="T79" fmla="*/ 0 h 182"/>
                    <a:gd name="T80" fmla="*/ 70 w 286"/>
                    <a:gd name="T81" fmla="*/ 7 h 182"/>
                    <a:gd name="T82" fmla="*/ 56 w 286"/>
                    <a:gd name="T83" fmla="*/ 21 h 182"/>
                    <a:gd name="T84" fmla="*/ 46 w 286"/>
                    <a:gd name="T85" fmla="*/ 19 h 182"/>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0" t="0" r="r" b="b"/>
                  <a:pathLst>
                    <a:path w="286" h="182">
                      <a:moveTo>
                        <a:pt x="46" y="28"/>
                      </a:moveTo>
                      <a:cubicBezTo>
                        <a:pt x="41" y="14"/>
                        <a:pt x="46" y="17"/>
                        <a:pt x="36" y="14"/>
                      </a:cubicBezTo>
                      <a:cubicBezTo>
                        <a:pt x="31" y="17"/>
                        <a:pt x="26" y="30"/>
                        <a:pt x="26" y="30"/>
                      </a:cubicBezTo>
                      <a:cubicBezTo>
                        <a:pt x="12" y="25"/>
                        <a:pt x="19" y="21"/>
                        <a:pt x="0" y="24"/>
                      </a:cubicBezTo>
                      <a:cubicBezTo>
                        <a:pt x="2" y="33"/>
                        <a:pt x="2" y="37"/>
                        <a:pt x="10" y="42"/>
                      </a:cubicBezTo>
                      <a:cubicBezTo>
                        <a:pt x="12" y="49"/>
                        <a:pt x="14" y="55"/>
                        <a:pt x="16" y="62"/>
                      </a:cubicBezTo>
                      <a:cubicBezTo>
                        <a:pt x="24" y="59"/>
                        <a:pt x="27" y="57"/>
                        <a:pt x="24" y="48"/>
                      </a:cubicBezTo>
                      <a:cubicBezTo>
                        <a:pt x="26" y="47"/>
                        <a:pt x="28" y="43"/>
                        <a:pt x="30" y="44"/>
                      </a:cubicBezTo>
                      <a:cubicBezTo>
                        <a:pt x="48" y="48"/>
                        <a:pt x="36" y="52"/>
                        <a:pt x="48" y="56"/>
                      </a:cubicBezTo>
                      <a:cubicBezTo>
                        <a:pt x="74" y="65"/>
                        <a:pt x="47" y="56"/>
                        <a:pt x="70" y="62"/>
                      </a:cubicBezTo>
                      <a:cubicBezTo>
                        <a:pt x="77" y="64"/>
                        <a:pt x="88" y="72"/>
                        <a:pt x="88" y="72"/>
                      </a:cubicBezTo>
                      <a:cubicBezTo>
                        <a:pt x="96" y="84"/>
                        <a:pt x="102" y="87"/>
                        <a:pt x="106" y="102"/>
                      </a:cubicBezTo>
                      <a:cubicBezTo>
                        <a:pt x="105" y="109"/>
                        <a:pt x="106" y="115"/>
                        <a:pt x="104" y="122"/>
                      </a:cubicBezTo>
                      <a:cubicBezTo>
                        <a:pt x="103" y="126"/>
                        <a:pt x="94" y="132"/>
                        <a:pt x="98" y="134"/>
                      </a:cubicBezTo>
                      <a:cubicBezTo>
                        <a:pt x="106" y="137"/>
                        <a:pt x="122" y="128"/>
                        <a:pt x="122" y="128"/>
                      </a:cubicBezTo>
                      <a:cubicBezTo>
                        <a:pt x="130" y="131"/>
                        <a:pt x="133" y="135"/>
                        <a:pt x="140" y="140"/>
                      </a:cubicBezTo>
                      <a:cubicBezTo>
                        <a:pt x="148" y="145"/>
                        <a:pt x="159" y="145"/>
                        <a:pt x="168" y="148"/>
                      </a:cubicBezTo>
                      <a:cubicBezTo>
                        <a:pt x="170" y="147"/>
                        <a:pt x="173" y="148"/>
                        <a:pt x="174" y="146"/>
                      </a:cubicBezTo>
                      <a:cubicBezTo>
                        <a:pt x="176" y="142"/>
                        <a:pt x="164" y="136"/>
                        <a:pt x="168" y="134"/>
                      </a:cubicBezTo>
                      <a:cubicBezTo>
                        <a:pt x="171" y="132"/>
                        <a:pt x="175" y="135"/>
                        <a:pt x="178" y="136"/>
                      </a:cubicBezTo>
                      <a:cubicBezTo>
                        <a:pt x="182" y="131"/>
                        <a:pt x="186" y="118"/>
                        <a:pt x="186" y="118"/>
                      </a:cubicBezTo>
                      <a:cubicBezTo>
                        <a:pt x="189" y="119"/>
                        <a:pt x="199" y="120"/>
                        <a:pt x="202" y="122"/>
                      </a:cubicBezTo>
                      <a:cubicBezTo>
                        <a:pt x="206" y="124"/>
                        <a:pt x="214" y="130"/>
                        <a:pt x="214" y="130"/>
                      </a:cubicBezTo>
                      <a:cubicBezTo>
                        <a:pt x="224" y="145"/>
                        <a:pt x="228" y="158"/>
                        <a:pt x="244" y="168"/>
                      </a:cubicBezTo>
                      <a:cubicBezTo>
                        <a:pt x="250" y="172"/>
                        <a:pt x="262" y="178"/>
                        <a:pt x="262" y="178"/>
                      </a:cubicBezTo>
                      <a:cubicBezTo>
                        <a:pt x="265" y="178"/>
                        <a:pt x="286" y="182"/>
                        <a:pt x="284" y="170"/>
                      </a:cubicBezTo>
                      <a:cubicBezTo>
                        <a:pt x="283" y="164"/>
                        <a:pt x="268" y="160"/>
                        <a:pt x="268" y="160"/>
                      </a:cubicBezTo>
                      <a:cubicBezTo>
                        <a:pt x="261" y="150"/>
                        <a:pt x="270" y="143"/>
                        <a:pt x="256" y="138"/>
                      </a:cubicBezTo>
                      <a:cubicBezTo>
                        <a:pt x="254" y="136"/>
                        <a:pt x="251" y="135"/>
                        <a:pt x="250" y="132"/>
                      </a:cubicBezTo>
                      <a:cubicBezTo>
                        <a:pt x="248" y="129"/>
                        <a:pt x="250" y="125"/>
                        <a:pt x="248" y="122"/>
                      </a:cubicBezTo>
                      <a:cubicBezTo>
                        <a:pt x="246" y="118"/>
                        <a:pt x="240" y="118"/>
                        <a:pt x="236" y="116"/>
                      </a:cubicBezTo>
                      <a:cubicBezTo>
                        <a:pt x="230" y="107"/>
                        <a:pt x="227" y="100"/>
                        <a:pt x="240" y="96"/>
                      </a:cubicBezTo>
                      <a:cubicBezTo>
                        <a:pt x="236" y="83"/>
                        <a:pt x="236" y="84"/>
                        <a:pt x="220" y="86"/>
                      </a:cubicBezTo>
                      <a:cubicBezTo>
                        <a:pt x="209" y="82"/>
                        <a:pt x="208" y="82"/>
                        <a:pt x="210" y="70"/>
                      </a:cubicBezTo>
                      <a:cubicBezTo>
                        <a:pt x="207" y="60"/>
                        <a:pt x="199" y="57"/>
                        <a:pt x="190" y="54"/>
                      </a:cubicBezTo>
                      <a:cubicBezTo>
                        <a:pt x="181" y="45"/>
                        <a:pt x="181" y="42"/>
                        <a:pt x="168" y="38"/>
                      </a:cubicBezTo>
                      <a:cubicBezTo>
                        <a:pt x="164" y="37"/>
                        <a:pt x="156" y="34"/>
                        <a:pt x="156" y="34"/>
                      </a:cubicBezTo>
                      <a:cubicBezTo>
                        <a:pt x="146" y="24"/>
                        <a:pt x="134" y="21"/>
                        <a:pt x="120" y="16"/>
                      </a:cubicBezTo>
                      <a:cubicBezTo>
                        <a:pt x="113" y="14"/>
                        <a:pt x="108" y="8"/>
                        <a:pt x="102" y="4"/>
                      </a:cubicBezTo>
                      <a:cubicBezTo>
                        <a:pt x="100" y="3"/>
                        <a:pt x="96" y="0"/>
                        <a:pt x="96" y="0"/>
                      </a:cubicBezTo>
                      <a:cubicBezTo>
                        <a:pt x="83" y="2"/>
                        <a:pt x="79" y="1"/>
                        <a:pt x="70" y="10"/>
                      </a:cubicBezTo>
                      <a:cubicBezTo>
                        <a:pt x="67" y="19"/>
                        <a:pt x="63" y="27"/>
                        <a:pt x="56" y="32"/>
                      </a:cubicBezTo>
                      <a:cubicBezTo>
                        <a:pt x="49" y="30"/>
                        <a:pt x="52" y="31"/>
                        <a:pt x="46" y="2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52" name="Freeform 21"/>
                <p:cNvSpPr>
                  <a:spLocks/>
                </p:cNvSpPr>
                <p:nvPr userDrawn="1"/>
              </p:nvSpPr>
              <p:spPr bwMode="ltGray">
                <a:xfrm>
                  <a:off x="2820" y="866"/>
                  <a:ext cx="78" cy="64"/>
                </a:xfrm>
                <a:custGeom>
                  <a:avLst/>
                  <a:gdLst>
                    <a:gd name="T0" fmla="*/ 1 w 78"/>
                    <a:gd name="T1" fmla="*/ 39 h 78"/>
                    <a:gd name="T2" fmla="*/ 27 w 78"/>
                    <a:gd name="T3" fmla="*/ 40 h 78"/>
                    <a:gd name="T4" fmla="*/ 45 w 78"/>
                    <a:gd name="T5" fmla="*/ 32 h 78"/>
                    <a:gd name="T6" fmla="*/ 57 w 78"/>
                    <a:gd name="T7" fmla="*/ 21 h 78"/>
                    <a:gd name="T8" fmla="*/ 43 w 78"/>
                    <a:gd name="T9" fmla="*/ 9 h 78"/>
                    <a:gd name="T10" fmla="*/ 43 w 78"/>
                    <a:gd name="T11" fmla="*/ 2 h 78"/>
                    <a:gd name="T12" fmla="*/ 71 w 78"/>
                    <a:gd name="T13" fmla="*/ 17 h 78"/>
                    <a:gd name="T14" fmla="*/ 67 w 78"/>
                    <a:gd name="T15" fmla="*/ 36 h 78"/>
                    <a:gd name="T16" fmla="*/ 33 w 78"/>
                    <a:gd name="T17" fmla="*/ 53 h 78"/>
                    <a:gd name="T18" fmla="*/ 9 w 78"/>
                    <a:gd name="T19" fmla="*/ 44 h 78"/>
                    <a:gd name="T20" fmla="*/ 3 w 78"/>
                    <a:gd name="T21" fmla="*/ 42 h 78"/>
                    <a:gd name="T22" fmla="*/ 1 w 78"/>
                    <a:gd name="T23" fmla="*/ 39 h 78"/>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78" h="78">
                      <a:moveTo>
                        <a:pt x="1" y="58"/>
                      </a:moveTo>
                      <a:cubicBezTo>
                        <a:pt x="6" y="44"/>
                        <a:pt x="18" y="57"/>
                        <a:pt x="27" y="60"/>
                      </a:cubicBezTo>
                      <a:cubicBezTo>
                        <a:pt x="35" y="57"/>
                        <a:pt x="38" y="52"/>
                        <a:pt x="45" y="48"/>
                      </a:cubicBezTo>
                      <a:cubicBezTo>
                        <a:pt x="48" y="40"/>
                        <a:pt x="51" y="36"/>
                        <a:pt x="57" y="30"/>
                      </a:cubicBezTo>
                      <a:cubicBezTo>
                        <a:pt x="55" y="23"/>
                        <a:pt x="43" y="14"/>
                        <a:pt x="43" y="14"/>
                      </a:cubicBezTo>
                      <a:cubicBezTo>
                        <a:pt x="33" y="0"/>
                        <a:pt x="30" y="1"/>
                        <a:pt x="43" y="4"/>
                      </a:cubicBezTo>
                      <a:cubicBezTo>
                        <a:pt x="54" y="11"/>
                        <a:pt x="58" y="22"/>
                        <a:pt x="71" y="26"/>
                      </a:cubicBezTo>
                      <a:cubicBezTo>
                        <a:pt x="78" y="37"/>
                        <a:pt x="78" y="46"/>
                        <a:pt x="67" y="54"/>
                      </a:cubicBezTo>
                      <a:cubicBezTo>
                        <a:pt x="51" y="49"/>
                        <a:pt x="53" y="71"/>
                        <a:pt x="33" y="78"/>
                      </a:cubicBezTo>
                      <a:cubicBezTo>
                        <a:pt x="16" y="72"/>
                        <a:pt x="25" y="76"/>
                        <a:pt x="9" y="66"/>
                      </a:cubicBezTo>
                      <a:cubicBezTo>
                        <a:pt x="7" y="65"/>
                        <a:pt x="3" y="62"/>
                        <a:pt x="3" y="62"/>
                      </a:cubicBezTo>
                      <a:cubicBezTo>
                        <a:pt x="0" y="54"/>
                        <a:pt x="13" y="42"/>
                        <a:pt x="1" y="5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53" name="Freeform 22"/>
                <p:cNvSpPr>
                  <a:spLocks/>
                </p:cNvSpPr>
                <p:nvPr userDrawn="1"/>
              </p:nvSpPr>
              <p:spPr bwMode="ltGray">
                <a:xfrm>
                  <a:off x="2984" y="732"/>
                  <a:ext cx="19" cy="14"/>
                </a:xfrm>
                <a:custGeom>
                  <a:avLst/>
                  <a:gdLst>
                    <a:gd name="T0" fmla="*/ 3 w 17"/>
                    <a:gd name="T1" fmla="*/ 2 h 18"/>
                    <a:gd name="T2" fmla="*/ 3 w 17"/>
                    <a:gd name="T3" fmla="*/ 9 h 18"/>
                    <a:gd name="T4" fmla="*/ 3 w 17"/>
                    <a:gd name="T5" fmla="*/ 2 h 18"/>
                    <a:gd name="T6" fmla="*/ 0 60000 65536"/>
                    <a:gd name="T7" fmla="*/ 0 60000 65536"/>
                    <a:gd name="T8" fmla="*/ 0 60000 65536"/>
                  </a:gdLst>
                  <a:ahLst/>
                  <a:cxnLst>
                    <a:cxn ang="T6">
                      <a:pos x="T0" y="T1"/>
                    </a:cxn>
                    <a:cxn ang="T7">
                      <a:pos x="T2" y="T3"/>
                    </a:cxn>
                    <a:cxn ang="T8">
                      <a:pos x="T4" y="T5"/>
                    </a:cxn>
                  </a:cxnLst>
                  <a:rect l="0" t="0" r="r" b="b"/>
                  <a:pathLst>
                    <a:path w="17" h="18">
                      <a:moveTo>
                        <a:pt x="3" y="4"/>
                      </a:moveTo>
                      <a:cubicBezTo>
                        <a:pt x="17" y="7"/>
                        <a:pt x="16" y="18"/>
                        <a:pt x="3" y="14"/>
                      </a:cubicBezTo>
                      <a:cubicBezTo>
                        <a:pt x="0" y="6"/>
                        <a:pt x="7" y="0"/>
                        <a:pt x="3" y="4"/>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54" name="Freeform 23"/>
                <p:cNvSpPr>
                  <a:spLocks/>
                </p:cNvSpPr>
                <p:nvPr userDrawn="1"/>
              </p:nvSpPr>
              <p:spPr bwMode="ltGray">
                <a:xfrm>
                  <a:off x="3083" y="830"/>
                  <a:ext cx="26" cy="19"/>
                </a:xfrm>
                <a:custGeom>
                  <a:avLst/>
                  <a:gdLst>
                    <a:gd name="T0" fmla="*/ 8 w 26"/>
                    <a:gd name="T1" fmla="*/ 10 h 22"/>
                    <a:gd name="T2" fmla="*/ 14 w 26"/>
                    <a:gd name="T3" fmla="*/ 0 h 22"/>
                    <a:gd name="T4" fmla="*/ 14 w 26"/>
                    <a:gd name="T5" fmla="*/ 16 h 22"/>
                    <a:gd name="T6" fmla="*/ 8 w 26"/>
                    <a:gd name="T7" fmla="*/ 10 h 2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6" h="22">
                      <a:moveTo>
                        <a:pt x="8" y="14"/>
                      </a:moveTo>
                      <a:cubicBezTo>
                        <a:pt x="5" y="6"/>
                        <a:pt x="5" y="3"/>
                        <a:pt x="14" y="0"/>
                      </a:cubicBezTo>
                      <a:cubicBezTo>
                        <a:pt x="26" y="4"/>
                        <a:pt x="23" y="16"/>
                        <a:pt x="14" y="22"/>
                      </a:cubicBezTo>
                      <a:cubicBezTo>
                        <a:pt x="0" y="17"/>
                        <a:pt x="13" y="3"/>
                        <a:pt x="8" y="14"/>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55" name="Freeform 24"/>
                <p:cNvSpPr>
                  <a:spLocks/>
                </p:cNvSpPr>
                <p:nvPr userDrawn="1"/>
              </p:nvSpPr>
              <p:spPr bwMode="ltGray">
                <a:xfrm>
                  <a:off x="2766" y="610"/>
                  <a:ext cx="19" cy="12"/>
                </a:xfrm>
                <a:custGeom>
                  <a:avLst/>
                  <a:gdLst>
                    <a:gd name="T0" fmla="*/ 7 w 20"/>
                    <a:gd name="T1" fmla="*/ 8 h 15"/>
                    <a:gd name="T2" fmla="*/ 15 w 20"/>
                    <a:gd name="T3" fmla="*/ 2 h 15"/>
                    <a:gd name="T4" fmla="*/ 9 w 20"/>
                    <a:gd name="T5" fmla="*/ 8 h 15"/>
                    <a:gd name="T6" fmla="*/ 7 w 20"/>
                    <a:gd name="T7" fmla="*/ 8 h 1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0" h="15">
                      <a:moveTo>
                        <a:pt x="7" y="12"/>
                      </a:moveTo>
                      <a:cubicBezTo>
                        <a:pt x="0" y="1"/>
                        <a:pt x="6" y="0"/>
                        <a:pt x="17" y="2"/>
                      </a:cubicBezTo>
                      <a:cubicBezTo>
                        <a:pt x="20" y="10"/>
                        <a:pt x="18" y="15"/>
                        <a:pt x="9" y="12"/>
                      </a:cubicBezTo>
                      <a:cubicBezTo>
                        <a:pt x="4" y="4"/>
                        <a:pt x="4" y="4"/>
                        <a:pt x="7" y="12"/>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56" name="Freeform 25"/>
                <p:cNvSpPr>
                  <a:spLocks/>
                </p:cNvSpPr>
                <p:nvPr userDrawn="1"/>
              </p:nvSpPr>
              <p:spPr bwMode="ltGray">
                <a:xfrm>
                  <a:off x="2600" y="712"/>
                  <a:ext cx="19" cy="12"/>
                </a:xfrm>
                <a:custGeom>
                  <a:avLst/>
                  <a:gdLst>
                    <a:gd name="T0" fmla="*/ 7 w 20"/>
                    <a:gd name="T1" fmla="*/ 8 h 15"/>
                    <a:gd name="T2" fmla="*/ 13 w 20"/>
                    <a:gd name="T3" fmla="*/ 2 h 15"/>
                    <a:gd name="T4" fmla="*/ 13 w 20"/>
                    <a:gd name="T5" fmla="*/ 9 h 15"/>
                    <a:gd name="T6" fmla="*/ 7 w 20"/>
                    <a:gd name="T7" fmla="*/ 8 h 1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0" h="15">
                      <a:moveTo>
                        <a:pt x="7" y="12"/>
                      </a:moveTo>
                      <a:cubicBezTo>
                        <a:pt x="0" y="2"/>
                        <a:pt x="3" y="0"/>
                        <a:pt x="15" y="2"/>
                      </a:cubicBezTo>
                      <a:cubicBezTo>
                        <a:pt x="16" y="4"/>
                        <a:pt x="20" y="12"/>
                        <a:pt x="15" y="14"/>
                      </a:cubicBezTo>
                      <a:cubicBezTo>
                        <a:pt x="12" y="15"/>
                        <a:pt x="7" y="12"/>
                        <a:pt x="7" y="12"/>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57" name="Freeform 26"/>
                <p:cNvSpPr>
                  <a:spLocks/>
                </p:cNvSpPr>
                <p:nvPr userDrawn="1"/>
              </p:nvSpPr>
              <p:spPr bwMode="ltGray">
                <a:xfrm>
                  <a:off x="2417" y="680"/>
                  <a:ext cx="80" cy="66"/>
                </a:xfrm>
                <a:custGeom>
                  <a:avLst/>
                  <a:gdLst>
                    <a:gd name="T0" fmla="*/ 0 w 80"/>
                    <a:gd name="T1" fmla="*/ 34 h 80"/>
                    <a:gd name="T2" fmla="*/ 14 w 80"/>
                    <a:gd name="T3" fmla="*/ 17 h 80"/>
                    <a:gd name="T4" fmla="*/ 26 w 80"/>
                    <a:gd name="T5" fmla="*/ 14 h 80"/>
                    <a:gd name="T6" fmla="*/ 48 w 80"/>
                    <a:gd name="T7" fmla="*/ 12 h 80"/>
                    <a:gd name="T8" fmla="*/ 58 w 80"/>
                    <a:gd name="T9" fmla="*/ 0 h 80"/>
                    <a:gd name="T10" fmla="*/ 80 w 80"/>
                    <a:gd name="T11" fmla="*/ 27 h 80"/>
                    <a:gd name="T12" fmla="*/ 70 w 80"/>
                    <a:gd name="T13" fmla="*/ 38 h 80"/>
                    <a:gd name="T14" fmla="*/ 54 w 80"/>
                    <a:gd name="T15" fmla="*/ 42 h 80"/>
                    <a:gd name="T16" fmla="*/ 48 w 80"/>
                    <a:gd name="T17" fmla="*/ 54 h 80"/>
                    <a:gd name="T18" fmla="*/ 32 w 80"/>
                    <a:gd name="T19" fmla="*/ 46 h 80"/>
                    <a:gd name="T20" fmla="*/ 38 w 80"/>
                    <a:gd name="T21" fmla="*/ 35 h 80"/>
                    <a:gd name="T22" fmla="*/ 30 w 80"/>
                    <a:gd name="T23" fmla="*/ 19 h 80"/>
                    <a:gd name="T24" fmla="*/ 20 w 80"/>
                    <a:gd name="T25" fmla="*/ 33 h 80"/>
                    <a:gd name="T26" fmla="*/ 8 w 80"/>
                    <a:gd name="T27" fmla="*/ 38 h 80"/>
                    <a:gd name="T28" fmla="*/ 0 w 80"/>
                    <a:gd name="T29" fmla="*/ 34 h 8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80" h="80">
                      <a:moveTo>
                        <a:pt x="0" y="50"/>
                      </a:moveTo>
                      <a:cubicBezTo>
                        <a:pt x="1" y="47"/>
                        <a:pt x="12" y="25"/>
                        <a:pt x="14" y="24"/>
                      </a:cubicBezTo>
                      <a:cubicBezTo>
                        <a:pt x="17" y="22"/>
                        <a:pt x="26" y="20"/>
                        <a:pt x="26" y="20"/>
                      </a:cubicBezTo>
                      <a:cubicBezTo>
                        <a:pt x="34" y="23"/>
                        <a:pt x="40" y="21"/>
                        <a:pt x="48" y="18"/>
                      </a:cubicBezTo>
                      <a:cubicBezTo>
                        <a:pt x="52" y="12"/>
                        <a:pt x="54" y="6"/>
                        <a:pt x="58" y="0"/>
                      </a:cubicBezTo>
                      <a:cubicBezTo>
                        <a:pt x="70" y="4"/>
                        <a:pt x="76" y="28"/>
                        <a:pt x="80" y="40"/>
                      </a:cubicBezTo>
                      <a:cubicBezTo>
                        <a:pt x="75" y="54"/>
                        <a:pt x="80" y="50"/>
                        <a:pt x="70" y="56"/>
                      </a:cubicBezTo>
                      <a:cubicBezTo>
                        <a:pt x="61" y="53"/>
                        <a:pt x="59" y="54"/>
                        <a:pt x="54" y="62"/>
                      </a:cubicBezTo>
                      <a:cubicBezTo>
                        <a:pt x="57" y="71"/>
                        <a:pt x="56" y="75"/>
                        <a:pt x="48" y="80"/>
                      </a:cubicBezTo>
                      <a:cubicBezTo>
                        <a:pt x="40" y="77"/>
                        <a:pt x="39" y="72"/>
                        <a:pt x="32" y="68"/>
                      </a:cubicBezTo>
                      <a:cubicBezTo>
                        <a:pt x="26" y="59"/>
                        <a:pt x="30" y="57"/>
                        <a:pt x="38" y="52"/>
                      </a:cubicBezTo>
                      <a:cubicBezTo>
                        <a:pt x="41" y="42"/>
                        <a:pt x="39" y="34"/>
                        <a:pt x="30" y="28"/>
                      </a:cubicBezTo>
                      <a:cubicBezTo>
                        <a:pt x="20" y="31"/>
                        <a:pt x="30" y="40"/>
                        <a:pt x="20" y="48"/>
                      </a:cubicBezTo>
                      <a:cubicBezTo>
                        <a:pt x="16" y="51"/>
                        <a:pt x="8" y="56"/>
                        <a:pt x="8" y="56"/>
                      </a:cubicBezTo>
                      <a:cubicBezTo>
                        <a:pt x="2" y="50"/>
                        <a:pt x="5" y="50"/>
                        <a:pt x="0" y="50"/>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58" name="Freeform 27"/>
                <p:cNvSpPr>
                  <a:spLocks/>
                </p:cNvSpPr>
                <p:nvPr userDrawn="1"/>
              </p:nvSpPr>
              <p:spPr bwMode="ltGray">
                <a:xfrm>
                  <a:off x="2391" y="541"/>
                  <a:ext cx="94" cy="142"/>
                </a:xfrm>
                <a:custGeom>
                  <a:avLst/>
                  <a:gdLst>
                    <a:gd name="T0" fmla="*/ 14 w 94"/>
                    <a:gd name="T1" fmla="*/ 64 h 174"/>
                    <a:gd name="T2" fmla="*/ 26 w 94"/>
                    <a:gd name="T3" fmla="*/ 85 h 174"/>
                    <a:gd name="T4" fmla="*/ 32 w 94"/>
                    <a:gd name="T5" fmla="*/ 72 h 174"/>
                    <a:gd name="T6" fmla="*/ 52 w 94"/>
                    <a:gd name="T7" fmla="*/ 67 h 174"/>
                    <a:gd name="T8" fmla="*/ 46 w 94"/>
                    <a:gd name="T9" fmla="*/ 82 h 174"/>
                    <a:gd name="T10" fmla="*/ 66 w 94"/>
                    <a:gd name="T11" fmla="*/ 84 h 174"/>
                    <a:gd name="T12" fmla="*/ 76 w 94"/>
                    <a:gd name="T13" fmla="*/ 95 h 174"/>
                    <a:gd name="T14" fmla="*/ 58 w 94"/>
                    <a:gd name="T15" fmla="*/ 99 h 174"/>
                    <a:gd name="T16" fmla="*/ 74 w 94"/>
                    <a:gd name="T17" fmla="*/ 116 h 174"/>
                    <a:gd name="T18" fmla="*/ 84 w 94"/>
                    <a:gd name="T19" fmla="*/ 103 h 174"/>
                    <a:gd name="T20" fmla="*/ 82 w 94"/>
                    <a:gd name="T21" fmla="*/ 74 h 174"/>
                    <a:gd name="T22" fmla="*/ 60 w 94"/>
                    <a:gd name="T23" fmla="*/ 71 h 174"/>
                    <a:gd name="T24" fmla="*/ 50 w 94"/>
                    <a:gd name="T25" fmla="*/ 55 h 174"/>
                    <a:gd name="T26" fmla="*/ 34 w 94"/>
                    <a:gd name="T27" fmla="*/ 55 h 174"/>
                    <a:gd name="T28" fmla="*/ 30 w 94"/>
                    <a:gd name="T29" fmla="*/ 47 h 174"/>
                    <a:gd name="T30" fmla="*/ 42 w 94"/>
                    <a:gd name="T31" fmla="*/ 28 h 174"/>
                    <a:gd name="T32" fmla="*/ 30 w 94"/>
                    <a:gd name="T33" fmla="*/ 0 h 174"/>
                    <a:gd name="T34" fmla="*/ 18 w 94"/>
                    <a:gd name="T35" fmla="*/ 15 h 174"/>
                    <a:gd name="T36" fmla="*/ 4 w 94"/>
                    <a:gd name="T37" fmla="*/ 31 h 174"/>
                    <a:gd name="T38" fmla="*/ 14 w 94"/>
                    <a:gd name="T39" fmla="*/ 51 h 174"/>
                    <a:gd name="T40" fmla="*/ 14 w 94"/>
                    <a:gd name="T41" fmla="*/ 64 h 174"/>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94" h="174">
                      <a:moveTo>
                        <a:pt x="14" y="96"/>
                      </a:moveTo>
                      <a:cubicBezTo>
                        <a:pt x="11" y="109"/>
                        <a:pt x="15" y="120"/>
                        <a:pt x="26" y="128"/>
                      </a:cubicBezTo>
                      <a:cubicBezTo>
                        <a:pt x="34" y="120"/>
                        <a:pt x="35" y="119"/>
                        <a:pt x="32" y="108"/>
                      </a:cubicBezTo>
                      <a:cubicBezTo>
                        <a:pt x="35" y="92"/>
                        <a:pt x="39" y="92"/>
                        <a:pt x="52" y="100"/>
                      </a:cubicBezTo>
                      <a:cubicBezTo>
                        <a:pt x="59" y="110"/>
                        <a:pt x="49" y="114"/>
                        <a:pt x="46" y="124"/>
                      </a:cubicBezTo>
                      <a:cubicBezTo>
                        <a:pt x="50" y="137"/>
                        <a:pt x="57" y="129"/>
                        <a:pt x="66" y="126"/>
                      </a:cubicBezTo>
                      <a:cubicBezTo>
                        <a:pt x="77" y="129"/>
                        <a:pt x="79" y="131"/>
                        <a:pt x="76" y="142"/>
                      </a:cubicBezTo>
                      <a:cubicBezTo>
                        <a:pt x="67" y="139"/>
                        <a:pt x="65" y="141"/>
                        <a:pt x="58" y="148"/>
                      </a:cubicBezTo>
                      <a:cubicBezTo>
                        <a:pt x="60" y="160"/>
                        <a:pt x="62" y="170"/>
                        <a:pt x="74" y="174"/>
                      </a:cubicBezTo>
                      <a:cubicBezTo>
                        <a:pt x="77" y="165"/>
                        <a:pt x="74" y="157"/>
                        <a:pt x="84" y="154"/>
                      </a:cubicBezTo>
                      <a:cubicBezTo>
                        <a:pt x="91" y="143"/>
                        <a:pt x="94" y="122"/>
                        <a:pt x="82" y="112"/>
                      </a:cubicBezTo>
                      <a:cubicBezTo>
                        <a:pt x="77" y="108"/>
                        <a:pt x="66" y="108"/>
                        <a:pt x="60" y="106"/>
                      </a:cubicBezTo>
                      <a:cubicBezTo>
                        <a:pt x="65" y="92"/>
                        <a:pt x="66" y="87"/>
                        <a:pt x="50" y="82"/>
                      </a:cubicBezTo>
                      <a:cubicBezTo>
                        <a:pt x="48" y="82"/>
                        <a:pt x="37" y="86"/>
                        <a:pt x="34" y="82"/>
                      </a:cubicBezTo>
                      <a:cubicBezTo>
                        <a:pt x="32" y="79"/>
                        <a:pt x="30" y="70"/>
                        <a:pt x="30" y="70"/>
                      </a:cubicBezTo>
                      <a:cubicBezTo>
                        <a:pt x="32" y="54"/>
                        <a:pt x="32" y="52"/>
                        <a:pt x="42" y="42"/>
                      </a:cubicBezTo>
                      <a:cubicBezTo>
                        <a:pt x="41" y="30"/>
                        <a:pt x="45" y="5"/>
                        <a:pt x="30" y="0"/>
                      </a:cubicBezTo>
                      <a:cubicBezTo>
                        <a:pt x="14" y="4"/>
                        <a:pt x="16" y="4"/>
                        <a:pt x="18" y="22"/>
                      </a:cubicBezTo>
                      <a:cubicBezTo>
                        <a:pt x="16" y="39"/>
                        <a:pt x="15" y="35"/>
                        <a:pt x="4" y="46"/>
                      </a:cubicBezTo>
                      <a:cubicBezTo>
                        <a:pt x="0" y="59"/>
                        <a:pt x="5" y="67"/>
                        <a:pt x="14" y="76"/>
                      </a:cubicBezTo>
                      <a:cubicBezTo>
                        <a:pt x="15" y="80"/>
                        <a:pt x="17" y="93"/>
                        <a:pt x="14" y="96"/>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59" name="Freeform 28"/>
                <p:cNvSpPr>
                  <a:spLocks/>
                </p:cNvSpPr>
                <p:nvPr userDrawn="1"/>
              </p:nvSpPr>
              <p:spPr bwMode="ltGray">
                <a:xfrm>
                  <a:off x="2415" y="644"/>
                  <a:ext cx="32" cy="41"/>
                </a:xfrm>
                <a:custGeom>
                  <a:avLst/>
                  <a:gdLst>
                    <a:gd name="T0" fmla="*/ 6 w 32"/>
                    <a:gd name="T1" fmla="*/ 16 h 50"/>
                    <a:gd name="T2" fmla="*/ 12 w 32"/>
                    <a:gd name="T3" fmla="*/ 0 h 50"/>
                    <a:gd name="T4" fmla="*/ 20 w 32"/>
                    <a:gd name="T5" fmla="*/ 11 h 50"/>
                    <a:gd name="T6" fmla="*/ 22 w 32"/>
                    <a:gd name="T7" fmla="*/ 16 h 50"/>
                    <a:gd name="T8" fmla="*/ 28 w 32"/>
                    <a:gd name="T9" fmla="*/ 17 h 50"/>
                    <a:gd name="T10" fmla="*/ 32 w 32"/>
                    <a:gd name="T11" fmla="*/ 25 h 50"/>
                    <a:gd name="T12" fmla="*/ 18 w 32"/>
                    <a:gd name="T13" fmla="*/ 34 h 50"/>
                    <a:gd name="T14" fmla="*/ 6 w 32"/>
                    <a:gd name="T15" fmla="*/ 16 h 5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2" h="50">
                      <a:moveTo>
                        <a:pt x="6" y="24"/>
                      </a:moveTo>
                      <a:cubicBezTo>
                        <a:pt x="0" y="15"/>
                        <a:pt x="3" y="6"/>
                        <a:pt x="12" y="0"/>
                      </a:cubicBezTo>
                      <a:cubicBezTo>
                        <a:pt x="23" y="3"/>
                        <a:pt x="23" y="5"/>
                        <a:pt x="20" y="16"/>
                      </a:cubicBezTo>
                      <a:cubicBezTo>
                        <a:pt x="21" y="19"/>
                        <a:pt x="20" y="22"/>
                        <a:pt x="22" y="24"/>
                      </a:cubicBezTo>
                      <a:cubicBezTo>
                        <a:pt x="23" y="26"/>
                        <a:pt x="27" y="24"/>
                        <a:pt x="28" y="26"/>
                      </a:cubicBezTo>
                      <a:cubicBezTo>
                        <a:pt x="30" y="29"/>
                        <a:pt x="32" y="38"/>
                        <a:pt x="32" y="38"/>
                      </a:cubicBezTo>
                      <a:cubicBezTo>
                        <a:pt x="29" y="46"/>
                        <a:pt x="26" y="47"/>
                        <a:pt x="18" y="50"/>
                      </a:cubicBezTo>
                      <a:cubicBezTo>
                        <a:pt x="12" y="41"/>
                        <a:pt x="18" y="24"/>
                        <a:pt x="6" y="24"/>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60" name="Freeform 29"/>
                <p:cNvSpPr>
                  <a:spLocks/>
                </p:cNvSpPr>
                <p:nvPr userDrawn="1"/>
              </p:nvSpPr>
              <p:spPr bwMode="ltGray">
                <a:xfrm>
                  <a:off x="2349" y="654"/>
                  <a:ext cx="45" cy="41"/>
                </a:xfrm>
                <a:custGeom>
                  <a:avLst/>
                  <a:gdLst>
                    <a:gd name="T0" fmla="*/ 0 w 43"/>
                    <a:gd name="T1" fmla="*/ 30 h 50"/>
                    <a:gd name="T2" fmla="*/ 24 w 43"/>
                    <a:gd name="T3" fmla="*/ 13 h 50"/>
                    <a:gd name="T4" fmla="*/ 40 w 43"/>
                    <a:gd name="T5" fmla="*/ 0 h 50"/>
                    <a:gd name="T6" fmla="*/ 26 w 43"/>
                    <a:gd name="T7" fmla="*/ 19 h 50"/>
                    <a:gd name="T8" fmla="*/ 2 w 43"/>
                    <a:gd name="T9" fmla="*/ 34 h 50"/>
                    <a:gd name="T10" fmla="*/ 0 w 43"/>
                    <a:gd name="T11" fmla="*/ 30 h 5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3" h="50">
                      <a:moveTo>
                        <a:pt x="0" y="44"/>
                      </a:moveTo>
                      <a:cubicBezTo>
                        <a:pt x="6" y="38"/>
                        <a:pt x="18" y="29"/>
                        <a:pt x="22" y="20"/>
                      </a:cubicBezTo>
                      <a:cubicBezTo>
                        <a:pt x="27" y="10"/>
                        <a:pt x="25" y="4"/>
                        <a:pt x="36" y="0"/>
                      </a:cubicBezTo>
                      <a:cubicBezTo>
                        <a:pt x="43" y="11"/>
                        <a:pt x="36" y="24"/>
                        <a:pt x="24" y="28"/>
                      </a:cubicBezTo>
                      <a:cubicBezTo>
                        <a:pt x="21" y="38"/>
                        <a:pt x="12" y="47"/>
                        <a:pt x="2" y="50"/>
                      </a:cubicBezTo>
                      <a:cubicBezTo>
                        <a:pt x="1" y="48"/>
                        <a:pt x="0" y="44"/>
                        <a:pt x="0" y="44"/>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61" name="Freeform 30"/>
                <p:cNvSpPr>
                  <a:spLocks/>
                </p:cNvSpPr>
                <p:nvPr userDrawn="1"/>
              </p:nvSpPr>
              <p:spPr bwMode="ltGray">
                <a:xfrm>
                  <a:off x="4808" y="597"/>
                  <a:ext cx="701" cy="438"/>
                </a:xfrm>
                <a:custGeom>
                  <a:avLst/>
                  <a:gdLst>
                    <a:gd name="T0" fmla="*/ 46 w 471"/>
                    <a:gd name="T1" fmla="*/ 680 h 281"/>
                    <a:gd name="T2" fmla="*/ 54 w 471"/>
                    <a:gd name="T3" fmla="*/ 608 h 281"/>
                    <a:gd name="T4" fmla="*/ 49 w 471"/>
                    <a:gd name="T5" fmla="*/ 595 h 281"/>
                    <a:gd name="T6" fmla="*/ 36 w 471"/>
                    <a:gd name="T7" fmla="*/ 530 h 281"/>
                    <a:gd name="T8" fmla="*/ 9 w 471"/>
                    <a:gd name="T9" fmla="*/ 522 h 281"/>
                    <a:gd name="T10" fmla="*/ 0 w 471"/>
                    <a:gd name="T11" fmla="*/ 464 h 281"/>
                    <a:gd name="T12" fmla="*/ 27 w 471"/>
                    <a:gd name="T13" fmla="*/ 438 h 281"/>
                    <a:gd name="T14" fmla="*/ 13 w 471"/>
                    <a:gd name="T15" fmla="*/ 401 h 281"/>
                    <a:gd name="T16" fmla="*/ 4 w 471"/>
                    <a:gd name="T17" fmla="*/ 388 h 281"/>
                    <a:gd name="T18" fmla="*/ 63 w 471"/>
                    <a:gd name="T19" fmla="*/ 291 h 281"/>
                    <a:gd name="T20" fmla="*/ 97 w 471"/>
                    <a:gd name="T21" fmla="*/ 234 h 281"/>
                    <a:gd name="T22" fmla="*/ 94 w 471"/>
                    <a:gd name="T23" fmla="*/ 170 h 281"/>
                    <a:gd name="T24" fmla="*/ 54 w 471"/>
                    <a:gd name="T25" fmla="*/ 104 h 281"/>
                    <a:gd name="T26" fmla="*/ 45 w 471"/>
                    <a:gd name="T27" fmla="*/ 78 h 281"/>
                    <a:gd name="T28" fmla="*/ 58 w 471"/>
                    <a:gd name="T29" fmla="*/ 87 h 281"/>
                    <a:gd name="T30" fmla="*/ 106 w 471"/>
                    <a:gd name="T31" fmla="*/ 86 h 281"/>
                    <a:gd name="T32" fmla="*/ 141 w 471"/>
                    <a:gd name="T33" fmla="*/ 26 h 281"/>
                    <a:gd name="T34" fmla="*/ 182 w 471"/>
                    <a:gd name="T35" fmla="*/ 0 h 281"/>
                    <a:gd name="T36" fmla="*/ 195 w 471"/>
                    <a:gd name="T37" fmla="*/ 5 h 281"/>
                    <a:gd name="T38" fmla="*/ 204 w 471"/>
                    <a:gd name="T39" fmla="*/ 22 h 281"/>
                    <a:gd name="T40" fmla="*/ 217 w 471"/>
                    <a:gd name="T41" fmla="*/ 12 h 281"/>
                    <a:gd name="T42" fmla="*/ 244 w 471"/>
                    <a:gd name="T43" fmla="*/ 19 h 281"/>
                    <a:gd name="T44" fmla="*/ 257 w 471"/>
                    <a:gd name="T45" fmla="*/ 22 h 281"/>
                    <a:gd name="T46" fmla="*/ 313 w 471"/>
                    <a:gd name="T47" fmla="*/ 34 h 281"/>
                    <a:gd name="T48" fmla="*/ 344 w 471"/>
                    <a:gd name="T49" fmla="*/ 58 h 281"/>
                    <a:gd name="T50" fmla="*/ 371 w 471"/>
                    <a:gd name="T51" fmla="*/ 41 h 281"/>
                    <a:gd name="T52" fmla="*/ 382 w 471"/>
                    <a:gd name="T53" fmla="*/ 34 h 281"/>
                    <a:gd name="T54" fmla="*/ 432 w 471"/>
                    <a:gd name="T55" fmla="*/ 34 h 281"/>
                    <a:gd name="T56" fmla="*/ 467 w 471"/>
                    <a:gd name="T57" fmla="*/ 78 h 281"/>
                    <a:gd name="T58" fmla="*/ 512 w 471"/>
                    <a:gd name="T59" fmla="*/ 143 h 281"/>
                    <a:gd name="T60" fmla="*/ 543 w 471"/>
                    <a:gd name="T61" fmla="*/ 170 h 281"/>
                    <a:gd name="T62" fmla="*/ 569 w 471"/>
                    <a:gd name="T63" fmla="*/ 165 h 281"/>
                    <a:gd name="T64" fmla="*/ 598 w 471"/>
                    <a:gd name="T65" fmla="*/ 157 h 281"/>
                    <a:gd name="T66" fmla="*/ 643 w 471"/>
                    <a:gd name="T67" fmla="*/ 173 h 281"/>
                    <a:gd name="T68" fmla="*/ 664 w 471"/>
                    <a:gd name="T69" fmla="*/ 196 h 281"/>
                    <a:gd name="T70" fmla="*/ 682 w 471"/>
                    <a:gd name="T71" fmla="*/ 218 h 281"/>
                    <a:gd name="T72" fmla="*/ 704 w 471"/>
                    <a:gd name="T73" fmla="*/ 270 h 281"/>
                    <a:gd name="T74" fmla="*/ 713 w 471"/>
                    <a:gd name="T75" fmla="*/ 291 h 281"/>
                    <a:gd name="T76" fmla="*/ 717 w 471"/>
                    <a:gd name="T77" fmla="*/ 304 h 281"/>
                    <a:gd name="T78" fmla="*/ 686 w 471"/>
                    <a:gd name="T79" fmla="*/ 344 h 281"/>
                    <a:gd name="T80" fmla="*/ 713 w 471"/>
                    <a:gd name="T81" fmla="*/ 343 h 281"/>
                    <a:gd name="T82" fmla="*/ 758 w 471"/>
                    <a:gd name="T83" fmla="*/ 377 h 281"/>
                    <a:gd name="T84" fmla="*/ 807 w 471"/>
                    <a:gd name="T85" fmla="*/ 382 h 281"/>
                    <a:gd name="T86" fmla="*/ 842 w 471"/>
                    <a:gd name="T87" fmla="*/ 408 h 281"/>
                    <a:gd name="T88" fmla="*/ 847 w 471"/>
                    <a:gd name="T89" fmla="*/ 418 h 281"/>
                    <a:gd name="T90" fmla="*/ 847 w 471"/>
                    <a:gd name="T91" fmla="*/ 427 h 281"/>
                    <a:gd name="T92" fmla="*/ 872 w 471"/>
                    <a:gd name="T93" fmla="*/ 418 h 281"/>
                    <a:gd name="T94" fmla="*/ 886 w 471"/>
                    <a:gd name="T95" fmla="*/ 416 h 281"/>
                    <a:gd name="T96" fmla="*/ 972 w 471"/>
                    <a:gd name="T97" fmla="*/ 449 h 281"/>
                    <a:gd name="T98" fmla="*/ 990 w 471"/>
                    <a:gd name="T99" fmla="*/ 483 h 281"/>
                    <a:gd name="T100" fmla="*/ 1030 w 471"/>
                    <a:gd name="T101" fmla="*/ 488 h 281"/>
                    <a:gd name="T102" fmla="*/ 1043 w 471"/>
                    <a:gd name="T103" fmla="*/ 522 h 281"/>
                    <a:gd name="T104" fmla="*/ 999 w 471"/>
                    <a:gd name="T105" fmla="*/ 627 h 281"/>
                    <a:gd name="T106" fmla="*/ 963 w 471"/>
                    <a:gd name="T107" fmla="*/ 683 h 281"/>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0" t="0" r="r" b="b"/>
                  <a:pathLst>
                    <a:path w="471" h="281">
                      <a:moveTo>
                        <a:pt x="21" y="280"/>
                      </a:moveTo>
                      <a:cubicBezTo>
                        <a:pt x="32" y="281"/>
                        <a:pt x="25" y="253"/>
                        <a:pt x="24" y="250"/>
                      </a:cubicBezTo>
                      <a:cubicBezTo>
                        <a:pt x="23" y="248"/>
                        <a:pt x="22" y="245"/>
                        <a:pt x="22" y="245"/>
                      </a:cubicBezTo>
                      <a:cubicBezTo>
                        <a:pt x="21" y="243"/>
                        <a:pt x="20" y="221"/>
                        <a:pt x="16" y="218"/>
                      </a:cubicBezTo>
                      <a:cubicBezTo>
                        <a:pt x="13" y="216"/>
                        <a:pt x="4" y="215"/>
                        <a:pt x="4" y="215"/>
                      </a:cubicBezTo>
                      <a:cubicBezTo>
                        <a:pt x="0" y="207"/>
                        <a:pt x="3" y="200"/>
                        <a:pt x="0" y="191"/>
                      </a:cubicBezTo>
                      <a:cubicBezTo>
                        <a:pt x="2" y="185"/>
                        <a:pt x="7" y="186"/>
                        <a:pt x="12" y="180"/>
                      </a:cubicBezTo>
                      <a:cubicBezTo>
                        <a:pt x="14" y="172"/>
                        <a:pt x="14" y="169"/>
                        <a:pt x="6" y="165"/>
                      </a:cubicBezTo>
                      <a:cubicBezTo>
                        <a:pt x="4" y="163"/>
                        <a:pt x="2" y="162"/>
                        <a:pt x="2" y="160"/>
                      </a:cubicBezTo>
                      <a:cubicBezTo>
                        <a:pt x="2" y="150"/>
                        <a:pt x="16" y="123"/>
                        <a:pt x="28" y="120"/>
                      </a:cubicBezTo>
                      <a:cubicBezTo>
                        <a:pt x="32" y="111"/>
                        <a:pt x="40" y="105"/>
                        <a:pt x="44" y="96"/>
                      </a:cubicBezTo>
                      <a:cubicBezTo>
                        <a:pt x="39" y="83"/>
                        <a:pt x="38" y="85"/>
                        <a:pt x="42" y="70"/>
                      </a:cubicBezTo>
                      <a:cubicBezTo>
                        <a:pt x="38" y="60"/>
                        <a:pt x="34" y="48"/>
                        <a:pt x="24" y="43"/>
                      </a:cubicBezTo>
                      <a:cubicBezTo>
                        <a:pt x="18" y="36"/>
                        <a:pt x="10" y="37"/>
                        <a:pt x="20" y="32"/>
                      </a:cubicBezTo>
                      <a:cubicBezTo>
                        <a:pt x="27" y="34"/>
                        <a:pt x="26" y="32"/>
                        <a:pt x="26" y="36"/>
                      </a:cubicBezTo>
                      <a:cubicBezTo>
                        <a:pt x="34" y="41"/>
                        <a:pt x="39" y="39"/>
                        <a:pt x="48" y="35"/>
                      </a:cubicBezTo>
                      <a:cubicBezTo>
                        <a:pt x="45" y="22"/>
                        <a:pt x="48" y="14"/>
                        <a:pt x="64" y="11"/>
                      </a:cubicBezTo>
                      <a:cubicBezTo>
                        <a:pt x="71" y="8"/>
                        <a:pt x="75" y="3"/>
                        <a:pt x="82" y="0"/>
                      </a:cubicBezTo>
                      <a:cubicBezTo>
                        <a:pt x="84" y="1"/>
                        <a:pt x="88" y="0"/>
                        <a:pt x="88" y="2"/>
                      </a:cubicBezTo>
                      <a:cubicBezTo>
                        <a:pt x="90" y="12"/>
                        <a:pt x="75" y="13"/>
                        <a:pt x="92" y="9"/>
                      </a:cubicBezTo>
                      <a:cubicBezTo>
                        <a:pt x="94" y="8"/>
                        <a:pt x="96" y="5"/>
                        <a:pt x="98" y="5"/>
                      </a:cubicBezTo>
                      <a:cubicBezTo>
                        <a:pt x="102" y="4"/>
                        <a:pt x="106" y="7"/>
                        <a:pt x="110" y="8"/>
                      </a:cubicBezTo>
                      <a:cubicBezTo>
                        <a:pt x="112" y="8"/>
                        <a:pt x="116" y="9"/>
                        <a:pt x="116" y="9"/>
                      </a:cubicBezTo>
                      <a:cubicBezTo>
                        <a:pt x="122" y="16"/>
                        <a:pt x="129" y="13"/>
                        <a:pt x="141" y="14"/>
                      </a:cubicBezTo>
                      <a:cubicBezTo>
                        <a:pt x="143" y="21"/>
                        <a:pt x="147" y="22"/>
                        <a:pt x="155" y="24"/>
                      </a:cubicBezTo>
                      <a:cubicBezTo>
                        <a:pt x="159" y="22"/>
                        <a:pt x="163" y="20"/>
                        <a:pt x="167" y="17"/>
                      </a:cubicBezTo>
                      <a:cubicBezTo>
                        <a:pt x="169" y="16"/>
                        <a:pt x="173" y="14"/>
                        <a:pt x="173" y="14"/>
                      </a:cubicBezTo>
                      <a:cubicBezTo>
                        <a:pt x="195" y="26"/>
                        <a:pt x="175" y="20"/>
                        <a:pt x="195" y="14"/>
                      </a:cubicBezTo>
                      <a:cubicBezTo>
                        <a:pt x="207" y="17"/>
                        <a:pt x="201" y="26"/>
                        <a:pt x="211" y="32"/>
                      </a:cubicBezTo>
                      <a:cubicBezTo>
                        <a:pt x="214" y="38"/>
                        <a:pt x="224" y="55"/>
                        <a:pt x="231" y="59"/>
                      </a:cubicBezTo>
                      <a:cubicBezTo>
                        <a:pt x="241" y="70"/>
                        <a:pt x="235" y="67"/>
                        <a:pt x="245" y="70"/>
                      </a:cubicBezTo>
                      <a:cubicBezTo>
                        <a:pt x="249" y="69"/>
                        <a:pt x="253" y="69"/>
                        <a:pt x="257" y="68"/>
                      </a:cubicBezTo>
                      <a:cubicBezTo>
                        <a:pt x="261" y="67"/>
                        <a:pt x="270" y="65"/>
                        <a:pt x="270" y="65"/>
                      </a:cubicBezTo>
                      <a:cubicBezTo>
                        <a:pt x="278" y="66"/>
                        <a:pt x="283" y="67"/>
                        <a:pt x="290" y="71"/>
                      </a:cubicBezTo>
                      <a:cubicBezTo>
                        <a:pt x="304" y="88"/>
                        <a:pt x="282" y="62"/>
                        <a:pt x="300" y="81"/>
                      </a:cubicBezTo>
                      <a:cubicBezTo>
                        <a:pt x="302" y="84"/>
                        <a:pt x="308" y="90"/>
                        <a:pt x="308" y="90"/>
                      </a:cubicBezTo>
                      <a:cubicBezTo>
                        <a:pt x="311" y="98"/>
                        <a:pt x="315" y="103"/>
                        <a:pt x="318" y="111"/>
                      </a:cubicBezTo>
                      <a:cubicBezTo>
                        <a:pt x="319" y="114"/>
                        <a:pt x="321" y="117"/>
                        <a:pt x="322" y="120"/>
                      </a:cubicBezTo>
                      <a:cubicBezTo>
                        <a:pt x="323" y="122"/>
                        <a:pt x="324" y="125"/>
                        <a:pt x="324" y="125"/>
                      </a:cubicBezTo>
                      <a:cubicBezTo>
                        <a:pt x="321" y="132"/>
                        <a:pt x="313" y="134"/>
                        <a:pt x="310" y="142"/>
                      </a:cubicBezTo>
                      <a:cubicBezTo>
                        <a:pt x="313" y="151"/>
                        <a:pt x="317" y="146"/>
                        <a:pt x="322" y="141"/>
                      </a:cubicBezTo>
                      <a:cubicBezTo>
                        <a:pt x="341" y="143"/>
                        <a:pt x="339" y="142"/>
                        <a:pt x="342" y="155"/>
                      </a:cubicBezTo>
                      <a:cubicBezTo>
                        <a:pt x="351" y="150"/>
                        <a:pt x="355" y="152"/>
                        <a:pt x="364" y="157"/>
                      </a:cubicBezTo>
                      <a:cubicBezTo>
                        <a:pt x="369" y="162"/>
                        <a:pt x="372" y="166"/>
                        <a:pt x="380" y="168"/>
                      </a:cubicBezTo>
                      <a:cubicBezTo>
                        <a:pt x="381" y="169"/>
                        <a:pt x="383" y="171"/>
                        <a:pt x="382" y="172"/>
                      </a:cubicBezTo>
                      <a:cubicBezTo>
                        <a:pt x="380" y="176"/>
                        <a:pt x="368" y="172"/>
                        <a:pt x="382" y="176"/>
                      </a:cubicBezTo>
                      <a:cubicBezTo>
                        <a:pt x="386" y="175"/>
                        <a:pt x="390" y="173"/>
                        <a:pt x="394" y="172"/>
                      </a:cubicBezTo>
                      <a:cubicBezTo>
                        <a:pt x="396" y="172"/>
                        <a:pt x="400" y="171"/>
                        <a:pt x="400" y="171"/>
                      </a:cubicBezTo>
                      <a:cubicBezTo>
                        <a:pt x="413" y="177"/>
                        <a:pt x="427" y="179"/>
                        <a:pt x="439" y="185"/>
                      </a:cubicBezTo>
                      <a:cubicBezTo>
                        <a:pt x="441" y="190"/>
                        <a:pt x="445" y="194"/>
                        <a:pt x="447" y="199"/>
                      </a:cubicBezTo>
                      <a:cubicBezTo>
                        <a:pt x="453" y="198"/>
                        <a:pt x="460" y="195"/>
                        <a:pt x="465" y="201"/>
                      </a:cubicBezTo>
                      <a:cubicBezTo>
                        <a:pt x="468" y="205"/>
                        <a:pt x="471" y="215"/>
                        <a:pt x="471" y="215"/>
                      </a:cubicBezTo>
                      <a:cubicBezTo>
                        <a:pt x="468" y="231"/>
                        <a:pt x="469" y="248"/>
                        <a:pt x="451" y="258"/>
                      </a:cubicBezTo>
                      <a:cubicBezTo>
                        <a:pt x="447" y="262"/>
                        <a:pt x="437" y="275"/>
                        <a:pt x="435" y="281"/>
                      </a:cubicBezTo>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62" name="Freeform 31"/>
                <p:cNvSpPr>
                  <a:spLocks/>
                </p:cNvSpPr>
                <p:nvPr userDrawn="1"/>
              </p:nvSpPr>
              <p:spPr bwMode="ltGray">
                <a:xfrm>
                  <a:off x="3880" y="-7"/>
                  <a:ext cx="984" cy="692"/>
                </a:xfrm>
                <a:custGeom>
                  <a:avLst/>
                  <a:gdLst>
                    <a:gd name="T0" fmla="*/ 406 w 984"/>
                    <a:gd name="T1" fmla="*/ 4 h 844"/>
                    <a:gd name="T2" fmla="*/ 502 w 984"/>
                    <a:gd name="T3" fmla="*/ 23 h 844"/>
                    <a:gd name="T4" fmla="*/ 550 w 984"/>
                    <a:gd name="T5" fmla="*/ 25 h 844"/>
                    <a:gd name="T6" fmla="*/ 578 w 984"/>
                    <a:gd name="T7" fmla="*/ 88 h 844"/>
                    <a:gd name="T8" fmla="*/ 586 w 984"/>
                    <a:gd name="T9" fmla="*/ 61 h 844"/>
                    <a:gd name="T10" fmla="*/ 606 w 984"/>
                    <a:gd name="T11" fmla="*/ 47 h 844"/>
                    <a:gd name="T12" fmla="*/ 642 w 984"/>
                    <a:gd name="T13" fmla="*/ 84 h 844"/>
                    <a:gd name="T14" fmla="*/ 682 w 984"/>
                    <a:gd name="T15" fmla="*/ 66 h 844"/>
                    <a:gd name="T16" fmla="*/ 706 w 984"/>
                    <a:gd name="T17" fmla="*/ 58 h 844"/>
                    <a:gd name="T18" fmla="*/ 762 w 984"/>
                    <a:gd name="T19" fmla="*/ 2 h 844"/>
                    <a:gd name="T20" fmla="*/ 798 w 984"/>
                    <a:gd name="T21" fmla="*/ 47 h 844"/>
                    <a:gd name="T22" fmla="*/ 798 w 984"/>
                    <a:gd name="T23" fmla="*/ 88 h 844"/>
                    <a:gd name="T24" fmla="*/ 790 w 984"/>
                    <a:gd name="T25" fmla="*/ 107 h 844"/>
                    <a:gd name="T26" fmla="*/ 766 w 984"/>
                    <a:gd name="T27" fmla="*/ 109 h 844"/>
                    <a:gd name="T28" fmla="*/ 762 w 984"/>
                    <a:gd name="T29" fmla="*/ 125 h 844"/>
                    <a:gd name="T30" fmla="*/ 802 w 984"/>
                    <a:gd name="T31" fmla="*/ 152 h 844"/>
                    <a:gd name="T32" fmla="*/ 786 w 984"/>
                    <a:gd name="T33" fmla="*/ 216 h 844"/>
                    <a:gd name="T34" fmla="*/ 830 w 984"/>
                    <a:gd name="T35" fmla="*/ 278 h 844"/>
                    <a:gd name="T36" fmla="*/ 854 w 984"/>
                    <a:gd name="T37" fmla="*/ 303 h 844"/>
                    <a:gd name="T38" fmla="*/ 830 w 984"/>
                    <a:gd name="T39" fmla="*/ 303 h 844"/>
                    <a:gd name="T40" fmla="*/ 746 w 984"/>
                    <a:gd name="T41" fmla="*/ 254 h 844"/>
                    <a:gd name="T42" fmla="*/ 678 w 984"/>
                    <a:gd name="T43" fmla="*/ 271 h 844"/>
                    <a:gd name="T44" fmla="*/ 590 w 984"/>
                    <a:gd name="T45" fmla="*/ 297 h 844"/>
                    <a:gd name="T46" fmla="*/ 642 w 984"/>
                    <a:gd name="T47" fmla="*/ 389 h 844"/>
                    <a:gd name="T48" fmla="*/ 710 w 984"/>
                    <a:gd name="T49" fmla="*/ 410 h 844"/>
                    <a:gd name="T50" fmla="*/ 738 w 984"/>
                    <a:gd name="T51" fmla="*/ 370 h 844"/>
                    <a:gd name="T52" fmla="*/ 774 w 984"/>
                    <a:gd name="T53" fmla="*/ 383 h 844"/>
                    <a:gd name="T54" fmla="*/ 766 w 984"/>
                    <a:gd name="T55" fmla="*/ 424 h 844"/>
                    <a:gd name="T56" fmla="*/ 802 w 984"/>
                    <a:gd name="T57" fmla="*/ 450 h 844"/>
                    <a:gd name="T58" fmla="*/ 838 w 984"/>
                    <a:gd name="T59" fmla="*/ 442 h 844"/>
                    <a:gd name="T60" fmla="*/ 922 w 984"/>
                    <a:gd name="T61" fmla="*/ 542 h 844"/>
                    <a:gd name="T62" fmla="*/ 942 w 984"/>
                    <a:gd name="T63" fmla="*/ 555 h 844"/>
                    <a:gd name="T64" fmla="*/ 874 w 984"/>
                    <a:gd name="T65" fmla="*/ 544 h 844"/>
                    <a:gd name="T66" fmla="*/ 830 w 984"/>
                    <a:gd name="T67" fmla="*/ 509 h 844"/>
                    <a:gd name="T68" fmla="*/ 778 w 984"/>
                    <a:gd name="T69" fmla="*/ 477 h 844"/>
                    <a:gd name="T70" fmla="*/ 702 w 984"/>
                    <a:gd name="T71" fmla="*/ 445 h 844"/>
                    <a:gd name="T72" fmla="*/ 614 w 984"/>
                    <a:gd name="T73" fmla="*/ 435 h 844"/>
                    <a:gd name="T74" fmla="*/ 506 w 984"/>
                    <a:gd name="T75" fmla="*/ 399 h 844"/>
                    <a:gd name="T76" fmla="*/ 462 w 984"/>
                    <a:gd name="T77" fmla="*/ 340 h 844"/>
                    <a:gd name="T78" fmla="*/ 430 w 984"/>
                    <a:gd name="T79" fmla="*/ 311 h 844"/>
                    <a:gd name="T80" fmla="*/ 382 w 984"/>
                    <a:gd name="T81" fmla="*/ 289 h 844"/>
                    <a:gd name="T82" fmla="*/ 342 w 984"/>
                    <a:gd name="T83" fmla="*/ 248 h 844"/>
                    <a:gd name="T84" fmla="*/ 354 w 984"/>
                    <a:gd name="T85" fmla="*/ 278 h 844"/>
                    <a:gd name="T86" fmla="*/ 418 w 984"/>
                    <a:gd name="T87" fmla="*/ 332 h 844"/>
                    <a:gd name="T88" fmla="*/ 422 w 984"/>
                    <a:gd name="T89" fmla="*/ 353 h 844"/>
                    <a:gd name="T90" fmla="*/ 394 w 984"/>
                    <a:gd name="T91" fmla="*/ 335 h 844"/>
                    <a:gd name="T92" fmla="*/ 354 w 984"/>
                    <a:gd name="T93" fmla="*/ 313 h 844"/>
                    <a:gd name="T94" fmla="*/ 314 w 984"/>
                    <a:gd name="T95" fmla="*/ 271 h 844"/>
                    <a:gd name="T96" fmla="*/ 266 w 984"/>
                    <a:gd name="T97" fmla="*/ 233 h 844"/>
                    <a:gd name="T98" fmla="*/ 210 w 984"/>
                    <a:gd name="T99" fmla="*/ 211 h 844"/>
                    <a:gd name="T100" fmla="*/ 154 w 984"/>
                    <a:gd name="T101" fmla="*/ 160 h 844"/>
                    <a:gd name="T102" fmla="*/ 66 w 984"/>
                    <a:gd name="T103" fmla="*/ 44 h 844"/>
                    <a:gd name="T104" fmla="*/ 34 w 984"/>
                    <a:gd name="T105" fmla="*/ 25 h 844"/>
                    <a:gd name="T106" fmla="*/ 46 w 984"/>
                    <a:gd name="T107" fmla="*/ 15 h 844"/>
                    <a:gd name="T108" fmla="*/ 102 w 984"/>
                    <a:gd name="T109" fmla="*/ 47 h 844"/>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0" t="0" r="r" b="b"/>
                  <a:pathLst>
                    <a:path w="984" h="844">
                      <a:moveTo>
                        <a:pt x="82" y="38"/>
                      </a:moveTo>
                      <a:lnTo>
                        <a:pt x="406" y="6"/>
                      </a:lnTo>
                      <a:cubicBezTo>
                        <a:pt x="497" y="22"/>
                        <a:pt x="465" y="0"/>
                        <a:pt x="474" y="54"/>
                      </a:cubicBezTo>
                      <a:cubicBezTo>
                        <a:pt x="492" y="48"/>
                        <a:pt x="484" y="40"/>
                        <a:pt x="502" y="34"/>
                      </a:cubicBezTo>
                      <a:cubicBezTo>
                        <a:pt x="510" y="37"/>
                        <a:pt x="517" y="46"/>
                        <a:pt x="526" y="46"/>
                      </a:cubicBezTo>
                      <a:cubicBezTo>
                        <a:pt x="534" y="46"/>
                        <a:pt x="550" y="38"/>
                        <a:pt x="550" y="38"/>
                      </a:cubicBezTo>
                      <a:cubicBezTo>
                        <a:pt x="556" y="55"/>
                        <a:pt x="552" y="60"/>
                        <a:pt x="542" y="74"/>
                      </a:cubicBezTo>
                      <a:cubicBezTo>
                        <a:pt x="555" y="114"/>
                        <a:pt x="550" y="102"/>
                        <a:pt x="578" y="130"/>
                      </a:cubicBezTo>
                      <a:cubicBezTo>
                        <a:pt x="584" y="148"/>
                        <a:pt x="590" y="148"/>
                        <a:pt x="606" y="138"/>
                      </a:cubicBezTo>
                      <a:cubicBezTo>
                        <a:pt x="600" y="119"/>
                        <a:pt x="594" y="107"/>
                        <a:pt x="586" y="90"/>
                      </a:cubicBezTo>
                      <a:cubicBezTo>
                        <a:pt x="583" y="82"/>
                        <a:pt x="578" y="66"/>
                        <a:pt x="578" y="66"/>
                      </a:cubicBezTo>
                      <a:cubicBezTo>
                        <a:pt x="585" y="44"/>
                        <a:pt x="597" y="56"/>
                        <a:pt x="606" y="70"/>
                      </a:cubicBezTo>
                      <a:cubicBezTo>
                        <a:pt x="609" y="86"/>
                        <a:pt x="608" y="117"/>
                        <a:pt x="626" y="90"/>
                      </a:cubicBezTo>
                      <a:cubicBezTo>
                        <a:pt x="648" y="97"/>
                        <a:pt x="646" y="104"/>
                        <a:pt x="642" y="126"/>
                      </a:cubicBezTo>
                      <a:cubicBezTo>
                        <a:pt x="650" y="150"/>
                        <a:pt x="665" y="141"/>
                        <a:pt x="682" y="130"/>
                      </a:cubicBezTo>
                      <a:cubicBezTo>
                        <a:pt x="689" y="108"/>
                        <a:pt x="673" y="124"/>
                        <a:pt x="682" y="98"/>
                      </a:cubicBezTo>
                      <a:cubicBezTo>
                        <a:pt x="683" y="94"/>
                        <a:pt x="690" y="96"/>
                        <a:pt x="694" y="94"/>
                      </a:cubicBezTo>
                      <a:cubicBezTo>
                        <a:pt x="698" y="92"/>
                        <a:pt x="702" y="89"/>
                        <a:pt x="706" y="86"/>
                      </a:cubicBezTo>
                      <a:cubicBezTo>
                        <a:pt x="717" y="54"/>
                        <a:pt x="688" y="54"/>
                        <a:pt x="742" y="46"/>
                      </a:cubicBezTo>
                      <a:cubicBezTo>
                        <a:pt x="748" y="27"/>
                        <a:pt x="741" y="9"/>
                        <a:pt x="762" y="2"/>
                      </a:cubicBezTo>
                      <a:cubicBezTo>
                        <a:pt x="788" y="11"/>
                        <a:pt x="777" y="38"/>
                        <a:pt x="802" y="46"/>
                      </a:cubicBezTo>
                      <a:cubicBezTo>
                        <a:pt x="831" y="36"/>
                        <a:pt x="805" y="63"/>
                        <a:pt x="798" y="70"/>
                      </a:cubicBezTo>
                      <a:cubicBezTo>
                        <a:pt x="789" y="96"/>
                        <a:pt x="787" y="96"/>
                        <a:pt x="802" y="118"/>
                      </a:cubicBezTo>
                      <a:cubicBezTo>
                        <a:pt x="801" y="122"/>
                        <a:pt x="801" y="127"/>
                        <a:pt x="798" y="130"/>
                      </a:cubicBezTo>
                      <a:cubicBezTo>
                        <a:pt x="794" y="133"/>
                        <a:pt x="784" y="129"/>
                        <a:pt x="782" y="134"/>
                      </a:cubicBezTo>
                      <a:cubicBezTo>
                        <a:pt x="780" y="142"/>
                        <a:pt x="790" y="158"/>
                        <a:pt x="790" y="158"/>
                      </a:cubicBezTo>
                      <a:cubicBezTo>
                        <a:pt x="786" y="161"/>
                        <a:pt x="783" y="165"/>
                        <a:pt x="778" y="166"/>
                      </a:cubicBezTo>
                      <a:cubicBezTo>
                        <a:pt x="774" y="167"/>
                        <a:pt x="769" y="159"/>
                        <a:pt x="766" y="162"/>
                      </a:cubicBezTo>
                      <a:cubicBezTo>
                        <a:pt x="758" y="170"/>
                        <a:pt x="794" y="182"/>
                        <a:pt x="794" y="182"/>
                      </a:cubicBezTo>
                      <a:cubicBezTo>
                        <a:pt x="804" y="211"/>
                        <a:pt x="775" y="190"/>
                        <a:pt x="762" y="186"/>
                      </a:cubicBezTo>
                      <a:cubicBezTo>
                        <a:pt x="767" y="194"/>
                        <a:pt x="773" y="202"/>
                        <a:pt x="778" y="210"/>
                      </a:cubicBezTo>
                      <a:cubicBezTo>
                        <a:pt x="783" y="218"/>
                        <a:pt x="802" y="226"/>
                        <a:pt x="802" y="226"/>
                      </a:cubicBezTo>
                      <a:cubicBezTo>
                        <a:pt x="813" y="242"/>
                        <a:pt x="804" y="245"/>
                        <a:pt x="810" y="262"/>
                      </a:cubicBezTo>
                      <a:cubicBezTo>
                        <a:pt x="803" y="282"/>
                        <a:pt x="793" y="301"/>
                        <a:pt x="786" y="322"/>
                      </a:cubicBezTo>
                      <a:cubicBezTo>
                        <a:pt x="783" y="330"/>
                        <a:pt x="778" y="346"/>
                        <a:pt x="778" y="346"/>
                      </a:cubicBezTo>
                      <a:cubicBezTo>
                        <a:pt x="785" y="366"/>
                        <a:pt x="817" y="394"/>
                        <a:pt x="830" y="414"/>
                      </a:cubicBezTo>
                      <a:cubicBezTo>
                        <a:pt x="835" y="422"/>
                        <a:pt x="841" y="430"/>
                        <a:pt x="846" y="438"/>
                      </a:cubicBezTo>
                      <a:cubicBezTo>
                        <a:pt x="849" y="442"/>
                        <a:pt x="854" y="450"/>
                        <a:pt x="854" y="450"/>
                      </a:cubicBezTo>
                      <a:cubicBezTo>
                        <a:pt x="853" y="457"/>
                        <a:pt x="855" y="466"/>
                        <a:pt x="850" y="470"/>
                      </a:cubicBezTo>
                      <a:cubicBezTo>
                        <a:pt x="844" y="475"/>
                        <a:pt x="831" y="451"/>
                        <a:pt x="830" y="450"/>
                      </a:cubicBezTo>
                      <a:cubicBezTo>
                        <a:pt x="811" y="431"/>
                        <a:pt x="789" y="421"/>
                        <a:pt x="774" y="398"/>
                      </a:cubicBezTo>
                      <a:cubicBezTo>
                        <a:pt x="769" y="379"/>
                        <a:pt x="766" y="371"/>
                        <a:pt x="746" y="378"/>
                      </a:cubicBezTo>
                      <a:cubicBezTo>
                        <a:pt x="717" y="368"/>
                        <a:pt x="730" y="368"/>
                        <a:pt x="706" y="374"/>
                      </a:cubicBezTo>
                      <a:cubicBezTo>
                        <a:pt x="688" y="402"/>
                        <a:pt x="699" y="395"/>
                        <a:pt x="678" y="402"/>
                      </a:cubicBezTo>
                      <a:cubicBezTo>
                        <a:pt x="654" y="386"/>
                        <a:pt x="650" y="390"/>
                        <a:pt x="618" y="394"/>
                      </a:cubicBezTo>
                      <a:cubicBezTo>
                        <a:pt x="607" y="411"/>
                        <a:pt x="601" y="426"/>
                        <a:pt x="590" y="442"/>
                      </a:cubicBezTo>
                      <a:cubicBezTo>
                        <a:pt x="600" y="471"/>
                        <a:pt x="593" y="459"/>
                        <a:pt x="606" y="478"/>
                      </a:cubicBezTo>
                      <a:cubicBezTo>
                        <a:pt x="593" y="518"/>
                        <a:pt x="622" y="548"/>
                        <a:pt x="642" y="578"/>
                      </a:cubicBezTo>
                      <a:cubicBezTo>
                        <a:pt x="651" y="591"/>
                        <a:pt x="651" y="601"/>
                        <a:pt x="666" y="606"/>
                      </a:cubicBezTo>
                      <a:cubicBezTo>
                        <a:pt x="680" y="627"/>
                        <a:pt x="691" y="623"/>
                        <a:pt x="710" y="610"/>
                      </a:cubicBezTo>
                      <a:cubicBezTo>
                        <a:pt x="729" y="616"/>
                        <a:pt x="729" y="606"/>
                        <a:pt x="734" y="590"/>
                      </a:cubicBezTo>
                      <a:cubicBezTo>
                        <a:pt x="735" y="577"/>
                        <a:pt x="731" y="562"/>
                        <a:pt x="738" y="550"/>
                      </a:cubicBezTo>
                      <a:cubicBezTo>
                        <a:pt x="742" y="543"/>
                        <a:pt x="762" y="542"/>
                        <a:pt x="762" y="542"/>
                      </a:cubicBezTo>
                      <a:cubicBezTo>
                        <a:pt x="783" y="547"/>
                        <a:pt x="786" y="552"/>
                        <a:pt x="774" y="570"/>
                      </a:cubicBezTo>
                      <a:cubicBezTo>
                        <a:pt x="779" y="590"/>
                        <a:pt x="790" y="605"/>
                        <a:pt x="770" y="618"/>
                      </a:cubicBezTo>
                      <a:cubicBezTo>
                        <a:pt x="769" y="622"/>
                        <a:pt x="764" y="626"/>
                        <a:pt x="766" y="630"/>
                      </a:cubicBezTo>
                      <a:cubicBezTo>
                        <a:pt x="768" y="634"/>
                        <a:pt x="775" y="634"/>
                        <a:pt x="778" y="638"/>
                      </a:cubicBezTo>
                      <a:cubicBezTo>
                        <a:pt x="788" y="651"/>
                        <a:pt x="786" y="660"/>
                        <a:pt x="802" y="670"/>
                      </a:cubicBezTo>
                      <a:cubicBezTo>
                        <a:pt x="810" y="667"/>
                        <a:pt x="818" y="665"/>
                        <a:pt x="826" y="662"/>
                      </a:cubicBezTo>
                      <a:cubicBezTo>
                        <a:pt x="830" y="661"/>
                        <a:pt x="838" y="658"/>
                        <a:pt x="838" y="658"/>
                      </a:cubicBezTo>
                      <a:cubicBezTo>
                        <a:pt x="857" y="664"/>
                        <a:pt x="864" y="680"/>
                        <a:pt x="870" y="698"/>
                      </a:cubicBezTo>
                      <a:cubicBezTo>
                        <a:pt x="859" y="731"/>
                        <a:pt x="887" y="794"/>
                        <a:pt x="922" y="806"/>
                      </a:cubicBezTo>
                      <a:cubicBezTo>
                        <a:pt x="938" y="801"/>
                        <a:pt x="941" y="792"/>
                        <a:pt x="958" y="798"/>
                      </a:cubicBezTo>
                      <a:cubicBezTo>
                        <a:pt x="984" y="837"/>
                        <a:pt x="928" y="784"/>
                        <a:pt x="942" y="826"/>
                      </a:cubicBezTo>
                      <a:cubicBezTo>
                        <a:pt x="936" y="844"/>
                        <a:pt x="930" y="844"/>
                        <a:pt x="914" y="834"/>
                      </a:cubicBezTo>
                      <a:cubicBezTo>
                        <a:pt x="903" y="817"/>
                        <a:pt x="890" y="821"/>
                        <a:pt x="874" y="810"/>
                      </a:cubicBezTo>
                      <a:cubicBezTo>
                        <a:pt x="851" y="776"/>
                        <a:pt x="882" y="816"/>
                        <a:pt x="854" y="794"/>
                      </a:cubicBezTo>
                      <a:cubicBezTo>
                        <a:pt x="843" y="785"/>
                        <a:pt x="840" y="768"/>
                        <a:pt x="830" y="758"/>
                      </a:cubicBezTo>
                      <a:cubicBezTo>
                        <a:pt x="824" y="739"/>
                        <a:pt x="817" y="724"/>
                        <a:pt x="798" y="718"/>
                      </a:cubicBezTo>
                      <a:cubicBezTo>
                        <a:pt x="791" y="696"/>
                        <a:pt x="800" y="712"/>
                        <a:pt x="778" y="710"/>
                      </a:cubicBezTo>
                      <a:cubicBezTo>
                        <a:pt x="767" y="709"/>
                        <a:pt x="746" y="702"/>
                        <a:pt x="746" y="702"/>
                      </a:cubicBezTo>
                      <a:cubicBezTo>
                        <a:pt x="729" y="691"/>
                        <a:pt x="720" y="674"/>
                        <a:pt x="702" y="662"/>
                      </a:cubicBezTo>
                      <a:cubicBezTo>
                        <a:pt x="694" y="665"/>
                        <a:pt x="687" y="673"/>
                        <a:pt x="678" y="674"/>
                      </a:cubicBezTo>
                      <a:cubicBezTo>
                        <a:pt x="657" y="677"/>
                        <a:pt x="630" y="657"/>
                        <a:pt x="614" y="646"/>
                      </a:cubicBezTo>
                      <a:cubicBezTo>
                        <a:pt x="600" y="637"/>
                        <a:pt x="580" y="639"/>
                        <a:pt x="566" y="630"/>
                      </a:cubicBezTo>
                      <a:cubicBezTo>
                        <a:pt x="546" y="617"/>
                        <a:pt x="525" y="607"/>
                        <a:pt x="506" y="594"/>
                      </a:cubicBezTo>
                      <a:cubicBezTo>
                        <a:pt x="513" y="572"/>
                        <a:pt x="509" y="551"/>
                        <a:pt x="490" y="538"/>
                      </a:cubicBezTo>
                      <a:cubicBezTo>
                        <a:pt x="485" y="522"/>
                        <a:pt x="476" y="515"/>
                        <a:pt x="462" y="506"/>
                      </a:cubicBezTo>
                      <a:cubicBezTo>
                        <a:pt x="441" y="474"/>
                        <a:pt x="469" y="513"/>
                        <a:pt x="442" y="486"/>
                      </a:cubicBezTo>
                      <a:cubicBezTo>
                        <a:pt x="436" y="480"/>
                        <a:pt x="436" y="468"/>
                        <a:pt x="430" y="462"/>
                      </a:cubicBezTo>
                      <a:cubicBezTo>
                        <a:pt x="427" y="459"/>
                        <a:pt x="422" y="459"/>
                        <a:pt x="418" y="458"/>
                      </a:cubicBezTo>
                      <a:cubicBezTo>
                        <a:pt x="407" y="447"/>
                        <a:pt x="382" y="430"/>
                        <a:pt x="382" y="430"/>
                      </a:cubicBezTo>
                      <a:cubicBezTo>
                        <a:pt x="371" y="413"/>
                        <a:pt x="358" y="399"/>
                        <a:pt x="346" y="382"/>
                      </a:cubicBezTo>
                      <a:cubicBezTo>
                        <a:pt x="344" y="378"/>
                        <a:pt x="345" y="373"/>
                        <a:pt x="342" y="370"/>
                      </a:cubicBezTo>
                      <a:cubicBezTo>
                        <a:pt x="339" y="367"/>
                        <a:pt x="334" y="367"/>
                        <a:pt x="330" y="366"/>
                      </a:cubicBezTo>
                      <a:cubicBezTo>
                        <a:pt x="322" y="390"/>
                        <a:pt x="342" y="398"/>
                        <a:pt x="354" y="414"/>
                      </a:cubicBezTo>
                      <a:cubicBezTo>
                        <a:pt x="368" y="432"/>
                        <a:pt x="372" y="446"/>
                        <a:pt x="390" y="458"/>
                      </a:cubicBezTo>
                      <a:cubicBezTo>
                        <a:pt x="409" y="487"/>
                        <a:pt x="399" y="475"/>
                        <a:pt x="418" y="494"/>
                      </a:cubicBezTo>
                      <a:cubicBezTo>
                        <a:pt x="423" y="510"/>
                        <a:pt x="428" y="517"/>
                        <a:pt x="442" y="526"/>
                      </a:cubicBezTo>
                      <a:cubicBezTo>
                        <a:pt x="450" y="550"/>
                        <a:pt x="432" y="533"/>
                        <a:pt x="422" y="526"/>
                      </a:cubicBezTo>
                      <a:cubicBezTo>
                        <a:pt x="399" y="492"/>
                        <a:pt x="430" y="532"/>
                        <a:pt x="402" y="510"/>
                      </a:cubicBezTo>
                      <a:cubicBezTo>
                        <a:pt x="398" y="507"/>
                        <a:pt x="397" y="501"/>
                        <a:pt x="394" y="498"/>
                      </a:cubicBezTo>
                      <a:cubicBezTo>
                        <a:pt x="391" y="495"/>
                        <a:pt x="386" y="493"/>
                        <a:pt x="382" y="490"/>
                      </a:cubicBezTo>
                      <a:cubicBezTo>
                        <a:pt x="377" y="474"/>
                        <a:pt x="370" y="471"/>
                        <a:pt x="354" y="466"/>
                      </a:cubicBezTo>
                      <a:cubicBezTo>
                        <a:pt x="344" y="452"/>
                        <a:pt x="340" y="447"/>
                        <a:pt x="346" y="430"/>
                      </a:cubicBezTo>
                      <a:cubicBezTo>
                        <a:pt x="338" y="418"/>
                        <a:pt x="314" y="402"/>
                        <a:pt x="314" y="402"/>
                      </a:cubicBezTo>
                      <a:cubicBezTo>
                        <a:pt x="306" y="390"/>
                        <a:pt x="298" y="378"/>
                        <a:pt x="290" y="366"/>
                      </a:cubicBezTo>
                      <a:cubicBezTo>
                        <a:pt x="284" y="357"/>
                        <a:pt x="273" y="354"/>
                        <a:pt x="266" y="346"/>
                      </a:cubicBezTo>
                      <a:cubicBezTo>
                        <a:pt x="263" y="342"/>
                        <a:pt x="262" y="337"/>
                        <a:pt x="258" y="334"/>
                      </a:cubicBezTo>
                      <a:cubicBezTo>
                        <a:pt x="243" y="324"/>
                        <a:pt x="225" y="324"/>
                        <a:pt x="210" y="314"/>
                      </a:cubicBezTo>
                      <a:cubicBezTo>
                        <a:pt x="201" y="300"/>
                        <a:pt x="194" y="291"/>
                        <a:pt x="178" y="286"/>
                      </a:cubicBezTo>
                      <a:cubicBezTo>
                        <a:pt x="160" y="260"/>
                        <a:pt x="192" y="247"/>
                        <a:pt x="154" y="238"/>
                      </a:cubicBezTo>
                      <a:cubicBezTo>
                        <a:pt x="111" y="209"/>
                        <a:pt x="106" y="149"/>
                        <a:pt x="90" y="102"/>
                      </a:cubicBezTo>
                      <a:cubicBezTo>
                        <a:pt x="86" y="90"/>
                        <a:pt x="76" y="73"/>
                        <a:pt x="66" y="66"/>
                      </a:cubicBezTo>
                      <a:cubicBezTo>
                        <a:pt x="58" y="60"/>
                        <a:pt x="42" y="50"/>
                        <a:pt x="42" y="50"/>
                      </a:cubicBezTo>
                      <a:cubicBezTo>
                        <a:pt x="39" y="46"/>
                        <a:pt x="38" y="41"/>
                        <a:pt x="34" y="38"/>
                      </a:cubicBezTo>
                      <a:cubicBezTo>
                        <a:pt x="27" y="34"/>
                        <a:pt x="10" y="30"/>
                        <a:pt x="10" y="30"/>
                      </a:cubicBezTo>
                      <a:cubicBezTo>
                        <a:pt x="0" y="1"/>
                        <a:pt x="31" y="17"/>
                        <a:pt x="46" y="22"/>
                      </a:cubicBezTo>
                      <a:cubicBezTo>
                        <a:pt x="65" y="51"/>
                        <a:pt x="61" y="41"/>
                        <a:pt x="86" y="58"/>
                      </a:cubicBezTo>
                      <a:cubicBezTo>
                        <a:pt x="94" y="70"/>
                        <a:pt x="94" y="93"/>
                        <a:pt x="102" y="70"/>
                      </a:cubicBezTo>
                      <a:cubicBezTo>
                        <a:pt x="95" y="49"/>
                        <a:pt x="82" y="62"/>
                        <a:pt x="82" y="3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63" name="Freeform 32"/>
                <p:cNvSpPr>
                  <a:spLocks/>
                </p:cNvSpPr>
                <p:nvPr userDrawn="1"/>
              </p:nvSpPr>
              <p:spPr bwMode="ltGray">
                <a:xfrm>
                  <a:off x="3577" y="490"/>
                  <a:ext cx="36" cy="39"/>
                </a:xfrm>
                <a:custGeom>
                  <a:avLst/>
                  <a:gdLst>
                    <a:gd name="T0" fmla="*/ 6 w 36"/>
                    <a:gd name="T1" fmla="*/ 19 h 48"/>
                    <a:gd name="T2" fmla="*/ 10 w 36"/>
                    <a:gd name="T3" fmla="*/ 32 h 48"/>
                    <a:gd name="T4" fmla="*/ 6 w 36"/>
                    <a:gd name="T5" fmla="*/ 19 h 48"/>
                    <a:gd name="T6" fmla="*/ 0 60000 65536"/>
                    <a:gd name="T7" fmla="*/ 0 60000 65536"/>
                    <a:gd name="T8" fmla="*/ 0 60000 65536"/>
                  </a:gdLst>
                  <a:ahLst/>
                  <a:cxnLst>
                    <a:cxn ang="T6">
                      <a:pos x="T0" y="T1"/>
                    </a:cxn>
                    <a:cxn ang="T7">
                      <a:pos x="T2" y="T3"/>
                    </a:cxn>
                    <a:cxn ang="T8">
                      <a:pos x="T4" y="T5"/>
                    </a:cxn>
                  </a:cxnLst>
                  <a:rect l="0" t="0" r="r" b="b"/>
                  <a:pathLst>
                    <a:path w="36" h="48">
                      <a:moveTo>
                        <a:pt x="6" y="28"/>
                      </a:moveTo>
                      <a:cubicBezTo>
                        <a:pt x="25" y="0"/>
                        <a:pt x="36" y="31"/>
                        <a:pt x="10" y="48"/>
                      </a:cubicBezTo>
                      <a:cubicBezTo>
                        <a:pt x="0" y="34"/>
                        <a:pt x="0" y="40"/>
                        <a:pt x="6" y="2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64" name="Freeform 33"/>
                <p:cNvSpPr>
                  <a:spLocks/>
                </p:cNvSpPr>
                <p:nvPr userDrawn="1"/>
              </p:nvSpPr>
              <p:spPr bwMode="ltGray">
                <a:xfrm>
                  <a:off x="3549" y="475"/>
                  <a:ext cx="38" cy="29"/>
                </a:xfrm>
                <a:custGeom>
                  <a:avLst/>
                  <a:gdLst>
                    <a:gd name="T0" fmla="*/ 0 w 36"/>
                    <a:gd name="T1" fmla="*/ 3 h 37"/>
                    <a:gd name="T2" fmla="*/ 14 w 36"/>
                    <a:gd name="T3" fmla="*/ 1 h 37"/>
                    <a:gd name="T4" fmla="*/ 40 w 36"/>
                    <a:gd name="T5" fmla="*/ 10 h 37"/>
                    <a:gd name="T6" fmla="*/ 8 w 36"/>
                    <a:gd name="T7" fmla="*/ 10 h 37"/>
                    <a:gd name="T8" fmla="*/ 0 w 36"/>
                    <a:gd name="T9" fmla="*/ 3 h 3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6" h="37">
                      <a:moveTo>
                        <a:pt x="0" y="5"/>
                      </a:moveTo>
                      <a:cubicBezTo>
                        <a:pt x="4" y="4"/>
                        <a:pt x="8" y="0"/>
                        <a:pt x="12" y="1"/>
                      </a:cubicBezTo>
                      <a:cubicBezTo>
                        <a:pt x="21" y="4"/>
                        <a:pt x="36" y="17"/>
                        <a:pt x="36" y="17"/>
                      </a:cubicBezTo>
                      <a:cubicBezTo>
                        <a:pt x="29" y="37"/>
                        <a:pt x="22" y="26"/>
                        <a:pt x="8" y="17"/>
                      </a:cubicBezTo>
                      <a:cubicBezTo>
                        <a:pt x="5" y="13"/>
                        <a:pt x="0" y="5"/>
                        <a:pt x="0" y="5"/>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65" name="Freeform 34"/>
                <p:cNvSpPr>
                  <a:spLocks/>
                </p:cNvSpPr>
                <p:nvPr userDrawn="1"/>
              </p:nvSpPr>
              <p:spPr bwMode="ltGray">
                <a:xfrm>
                  <a:off x="4686" y="394"/>
                  <a:ext cx="171" cy="81"/>
                </a:xfrm>
                <a:custGeom>
                  <a:avLst/>
                  <a:gdLst>
                    <a:gd name="T0" fmla="*/ 0 w 170"/>
                    <a:gd name="T1" fmla="*/ 35 h 96"/>
                    <a:gd name="T2" fmla="*/ 28 w 170"/>
                    <a:gd name="T3" fmla="*/ 18 h 96"/>
                    <a:gd name="T4" fmla="*/ 56 w 170"/>
                    <a:gd name="T5" fmla="*/ 15 h 96"/>
                    <a:gd name="T6" fmla="*/ 80 w 170"/>
                    <a:gd name="T7" fmla="*/ 7 h 96"/>
                    <a:gd name="T8" fmla="*/ 64 w 170"/>
                    <a:gd name="T9" fmla="*/ 18 h 96"/>
                    <a:gd name="T10" fmla="*/ 126 w 170"/>
                    <a:gd name="T11" fmla="*/ 35 h 96"/>
                    <a:gd name="T12" fmla="*/ 162 w 170"/>
                    <a:gd name="T13" fmla="*/ 46 h 96"/>
                    <a:gd name="T14" fmla="*/ 118 w 170"/>
                    <a:gd name="T15" fmla="*/ 55 h 96"/>
                    <a:gd name="T16" fmla="*/ 90 w 170"/>
                    <a:gd name="T17" fmla="*/ 41 h 96"/>
                    <a:gd name="T18" fmla="*/ 76 w 170"/>
                    <a:gd name="T19" fmla="*/ 38 h 96"/>
                    <a:gd name="T20" fmla="*/ 24 w 170"/>
                    <a:gd name="T21" fmla="*/ 30 h 96"/>
                    <a:gd name="T22" fmla="*/ 0 w 170"/>
                    <a:gd name="T23" fmla="*/ 35 h 9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70" h="96">
                      <a:moveTo>
                        <a:pt x="0" y="49"/>
                      </a:moveTo>
                      <a:cubicBezTo>
                        <a:pt x="5" y="33"/>
                        <a:pt x="12" y="30"/>
                        <a:pt x="28" y="25"/>
                      </a:cubicBezTo>
                      <a:cubicBezTo>
                        <a:pt x="20" y="0"/>
                        <a:pt x="42" y="16"/>
                        <a:pt x="56" y="21"/>
                      </a:cubicBezTo>
                      <a:cubicBezTo>
                        <a:pt x="56" y="21"/>
                        <a:pt x="77" y="6"/>
                        <a:pt x="80" y="9"/>
                      </a:cubicBezTo>
                      <a:cubicBezTo>
                        <a:pt x="85" y="14"/>
                        <a:pt x="71" y="23"/>
                        <a:pt x="64" y="25"/>
                      </a:cubicBezTo>
                      <a:cubicBezTo>
                        <a:pt x="82" y="37"/>
                        <a:pt x="103" y="42"/>
                        <a:pt x="124" y="49"/>
                      </a:cubicBezTo>
                      <a:cubicBezTo>
                        <a:pt x="136" y="53"/>
                        <a:pt x="160" y="65"/>
                        <a:pt x="160" y="65"/>
                      </a:cubicBezTo>
                      <a:cubicBezTo>
                        <a:pt x="170" y="96"/>
                        <a:pt x="134" y="83"/>
                        <a:pt x="116" y="77"/>
                      </a:cubicBezTo>
                      <a:cubicBezTo>
                        <a:pt x="109" y="57"/>
                        <a:pt x="116" y="66"/>
                        <a:pt x="88" y="57"/>
                      </a:cubicBezTo>
                      <a:cubicBezTo>
                        <a:pt x="84" y="56"/>
                        <a:pt x="76" y="53"/>
                        <a:pt x="76" y="53"/>
                      </a:cubicBezTo>
                      <a:cubicBezTo>
                        <a:pt x="57" y="34"/>
                        <a:pt x="53" y="37"/>
                        <a:pt x="24" y="41"/>
                      </a:cubicBezTo>
                      <a:cubicBezTo>
                        <a:pt x="9" y="51"/>
                        <a:pt x="17" y="49"/>
                        <a:pt x="0" y="49"/>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66" name="Freeform 35"/>
                <p:cNvSpPr>
                  <a:spLocks/>
                </p:cNvSpPr>
                <p:nvPr userDrawn="1"/>
              </p:nvSpPr>
              <p:spPr bwMode="ltGray">
                <a:xfrm>
                  <a:off x="4867" y="460"/>
                  <a:ext cx="138" cy="37"/>
                </a:xfrm>
                <a:custGeom>
                  <a:avLst/>
                  <a:gdLst>
                    <a:gd name="T0" fmla="*/ 0 w 138"/>
                    <a:gd name="T1" fmla="*/ 0 h 44"/>
                    <a:gd name="T2" fmla="*/ 52 w 138"/>
                    <a:gd name="T3" fmla="*/ 3 h 44"/>
                    <a:gd name="T4" fmla="*/ 88 w 138"/>
                    <a:gd name="T5" fmla="*/ 17 h 44"/>
                    <a:gd name="T6" fmla="*/ 112 w 138"/>
                    <a:gd name="T7" fmla="*/ 14 h 44"/>
                    <a:gd name="T8" fmla="*/ 108 w 138"/>
                    <a:gd name="T9" fmla="*/ 31 h 44"/>
                    <a:gd name="T10" fmla="*/ 64 w 138"/>
                    <a:gd name="T11" fmla="*/ 29 h 44"/>
                    <a:gd name="T12" fmla="*/ 0 w 138"/>
                    <a:gd name="T13" fmla="*/ 25 h 44"/>
                    <a:gd name="T14" fmla="*/ 28 w 138"/>
                    <a:gd name="T15" fmla="*/ 14 h 44"/>
                    <a:gd name="T16" fmla="*/ 0 w 138"/>
                    <a:gd name="T17" fmla="*/ 0 h 4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38" h="44">
                      <a:moveTo>
                        <a:pt x="0" y="0"/>
                      </a:moveTo>
                      <a:cubicBezTo>
                        <a:pt x="19" y="3"/>
                        <a:pt x="35" y="10"/>
                        <a:pt x="52" y="4"/>
                      </a:cubicBezTo>
                      <a:cubicBezTo>
                        <a:pt x="87" y="11"/>
                        <a:pt x="61" y="15"/>
                        <a:pt x="88" y="24"/>
                      </a:cubicBezTo>
                      <a:cubicBezTo>
                        <a:pt x="96" y="23"/>
                        <a:pt x="104" y="19"/>
                        <a:pt x="112" y="20"/>
                      </a:cubicBezTo>
                      <a:cubicBezTo>
                        <a:pt x="138" y="23"/>
                        <a:pt x="118" y="41"/>
                        <a:pt x="108" y="44"/>
                      </a:cubicBezTo>
                      <a:cubicBezTo>
                        <a:pt x="78" y="34"/>
                        <a:pt x="92" y="34"/>
                        <a:pt x="64" y="40"/>
                      </a:cubicBezTo>
                      <a:cubicBezTo>
                        <a:pt x="41" y="37"/>
                        <a:pt x="22" y="41"/>
                        <a:pt x="0" y="36"/>
                      </a:cubicBezTo>
                      <a:cubicBezTo>
                        <a:pt x="6" y="11"/>
                        <a:pt x="7" y="27"/>
                        <a:pt x="28" y="20"/>
                      </a:cubicBezTo>
                      <a:cubicBezTo>
                        <a:pt x="17" y="13"/>
                        <a:pt x="0" y="13"/>
                        <a:pt x="0" y="0"/>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67" name="Freeform 36"/>
                <p:cNvSpPr>
                  <a:spLocks/>
                </p:cNvSpPr>
                <p:nvPr userDrawn="1"/>
              </p:nvSpPr>
              <p:spPr bwMode="ltGray">
                <a:xfrm>
                  <a:off x="4794" y="480"/>
                  <a:ext cx="56" cy="34"/>
                </a:xfrm>
                <a:custGeom>
                  <a:avLst/>
                  <a:gdLst>
                    <a:gd name="T0" fmla="*/ 17 w 57"/>
                    <a:gd name="T1" fmla="*/ 16 h 42"/>
                    <a:gd name="T2" fmla="*/ 35 w 57"/>
                    <a:gd name="T3" fmla="*/ 9 h 42"/>
                    <a:gd name="T4" fmla="*/ 17 w 57"/>
                    <a:gd name="T5" fmla="*/ 16 h 42"/>
                    <a:gd name="T6" fmla="*/ 0 60000 65536"/>
                    <a:gd name="T7" fmla="*/ 0 60000 65536"/>
                    <a:gd name="T8" fmla="*/ 0 60000 65536"/>
                  </a:gdLst>
                  <a:ahLst/>
                  <a:cxnLst>
                    <a:cxn ang="T6">
                      <a:pos x="T0" y="T1"/>
                    </a:cxn>
                    <a:cxn ang="T7">
                      <a:pos x="T2" y="T3"/>
                    </a:cxn>
                    <a:cxn ang="T8">
                      <a:pos x="T4" y="T5"/>
                    </a:cxn>
                  </a:cxnLst>
                  <a:rect l="0" t="0" r="r" b="b"/>
                  <a:pathLst>
                    <a:path w="57" h="42">
                      <a:moveTo>
                        <a:pt x="17" y="25"/>
                      </a:moveTo>
                      <a:cubicBezTo>
                        <a:pt x="0" y="0"/>
                        <a:pt x="21" y="9"/>
                        <a:pt x="37" y="13"/>
                      </a:cubicBezTo>
                      <a:cubicBezTo>
                        <a:pt x="57" y="42"/>
                        <a:pt x="30" y="25"/>
                        <a:pt x="17" y="25"/>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68" name="Freeform 37"/>
                <p:cNvSpPr>
                  <a:spLocks/>
                </p:cNvSpPr>
                <p:nvPr userDrawn="1"/>
              </p:nvSpPr>
              <p:spPr bwMode="ltGray">
                <a:xfrm>
                  <a:off x="4757" y="375"/>
                  <a:ext cx="37" cy="44"/>
                </a:xfrm>
                <a:custGeom>
                  <a:avLst/>
                  <a:gdLst>
                    <a:gd name="T0" fmla="*/ 17 w 39"/>
                    <a:gd name="T1" fmla="*/ 23 h 52"/>
                    <a:gd name="T2" fmla="*/ 17 w 39"/>
                    <a:gd name="T3" fmla="*/ 0 h 52"/>
                    <a:gd name="T4" fmla="*/ 17 w 39"/>
                    <a:gd name="T5" fmla="*/ 23 h 52"/>
                    <a:gd name="T6" fmla="*/ 0 60000 65536"/>
                    <a:gd name="T7" fmla="*/ 0 60000 65536"/>
                    <a:gd name="T8" fmla="*/ 0 60000 65536"/>
                  </a:gdLst>
                  <a:ahLst/>
                  <a:cxnLst>
                    <a:cxn ang="T6">
                      <a:pos x="T0" y="T1"/>
                    </a:cxn>
                    <a:cxn ang="T7">
                      <a:pos x="T2" y="T3"/>
                    </a:cxn>
                    <a:cxn ang="T8">
                      <a:pos x="T4" y="T5"/>
                    </a:cxn>
                  </a:cxnLst>
                  <a:rect l="0" t="0" r="r" b="b"/>
                  <a:pathLst>
                    <a:path w="39" h="52">
                      <a:moveTo>
                        <a:pt x="19" y="32"/>
                      </a:moveTo>
                      <a:cubicBezTo>
                        <a:pt x="13" y="14"/>
                        <a:pt x="0" y="13"/>
                        <a:pt x="19" y="0"/>
                      </a:cubicBezTo>
                      <a:cubicBezTo>
                        <a:pt x="23" y="5"/>
                        <a:pt x="39" y="52"/>
                        <a:pt x="19" y="32"/>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69" name="Freeform 38"/>
                <p:cNvSpPr>
                  <a:spLocks/>
                </p:cNvSpPr>
                <p:nvPr userDrawn="1"/>
              </p:nvSpPr>
              <p:spPr bwMode="ltGray">
                <a:xfrm>
                  <a:off x="5054" y="507"/>
                  <a:ext cx="45" cy="66"/>
                </a:xfrm>
                <a:custGeom>
                  <a:avLst/>
                  <a:gdLst>
                    <a:gd name="T0" fmla="*/ 4 w 44"/>
                    <a:gd name="T1" fmla="*/ 6 h 80"/>
                    <a:gd name="T2" fmla="*/ 20 w 44"/>
                    <a:gd name="T3" fmla="*/ 22 h 80"/>
                    <a:gd name="T4" fmla="*/ 26 w 44"/>
                    <a:gd name="T5" fmla="*/ 33 h 80"/>
                    <a:gd name="T6" fmla="*/ 38 w 44"/>
                    <a:gd name="T7" fmla="*/ 36 h 80"/>
                    <a:gd name="T8" fmla="*/ 26 w 44"/>
                    <a:gd name="T9" fmla="*/ 50 h 80"/>
                    <a:gd name="T10" fmla="*/ 0 w 44"/>
                    <a:gd name="T11" fmla="*/ 14 h 80"/>
                    <a:gd name="T12" fmla="*/ 4 w 44"/>
                    <a:gd name="T13" fmla="*/ 6 h 80"/>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44" h="80">
                      <a:moveTo>
                        <a:pt x="4" y="9"/>
                      </a:moveTo>
                      <a:cubicBezTo>
                        <a:pt x="9" y="17"/>
                        <a:pt x="18" y="24"/>
                        <a:pt x="20" y="33"/>
                      </a:cubicBezTo>
                      <a:cubicBezTo>
                        <a:pt x="21" y="38"/>
                        <a:pt x="21" y="45"/>
                        <a:pt x="24" y="49"/>
                      </a:cubicBezTo>
                      <a:cubicBezTo>
                        <a:pt x="27" y="52"/>
                        <a:pt x="32" y="52"/>
                        <a:pt x="36" y="53"/>
                      </a:cubicBezTo>
                      <a:cubicBezTo>
                        <a:pt x="41" y="68"/>
                        <a:pt x="44" y="80"/>
                        <a:pt x="24" y="73"/>
                      </a:cubicBezTo>
                      <a:cubicBezTo>
                        <a:pt x="19" y="55"/>
                        <a:pt x="11" y="37"/>
                        <a:pt x="0" y="21"/>
                      </a:cubicBezTo>
                      <a:cubicBezTo>
                        <a:pt x="4" y="4"/>
                        <a:pt x="4" y="0"/>
                        <a:pt x="4" y="9"/>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70" name="Freeform 39"/>
                <p:cNvSpPr>
                  <a:spLocks/>
                </p:cNvSpPr>
                <p:nvPr userDrawn="1"/>
              </p:nvSpPr>
              <p:spPr bwMode="ltGray">
                <a:xfrm>
                  <a:off x="4260" y="6"/>
                  <a:ext cx="480" cy="100"/>
                </a:xfrm>
                <a:custGeom>
                  <a:avLst/>
                  <a:gdLst>
                    <a:gd name="T0" fmla="*/ 486 w 323"/>
                    <a:gd name="T1" fmla="*/ 3 h 64"/>
                    <a:gd name="T2" fmla="*/ 510 w 323"/>
                    <a:gd name="T3" fmla="*/ 20 h 64"/>
                    <a:gd name="T4" fmla="*/ 519 w 323"/>
                    <a:gd name="T5" fmla="*/ 0 h 64"/>
                    <a:gd name="T6" fmla="*/ 586 w 323"/>
                    <a:gd name="T7" fmla="*/ 0 h 64"/>
                    <a:gd name="T8" fmla="*/ 635 w 323"/>
                    <a:gd name="T9" fmla="*/ 42 h 64"/>
                    <a:gd name="T10" fmla="*/ 704 w 323"/>
                    <a:gd name="T11" fmla="*/ 25 h 64"/>
                    <a:gd name="T12" fmla="*/ 694 w 323"/>
                    <a:gd name="T13" fmla="*/ 70 h 64"/>
                    <a:gd name="T14" fmla="*/ 658 w 323"/>
                    <a:gd name="T15" fmla="*/ 113 h 64"/>
                    <a:gd name="T16" fmla="*/ 651 w 323"/>
                    <a:gd name="T17" fmla="*/ 70 h 64"/>
                    <a:gd name="T18" fmla="*/ 635 w 323"/>
                    <a:gd name="T19" fmla="*/ 75 h 64"/>
                    <a:gd name="T20" fmla="*/ 617 w 323"/>
                    <a:gd name="T21" fmla="*/ 70 h 64"/>
                    <a:gd name="T22" fmla="*/ 581 w 323"/>
                    <a:gd name="T23" fmla="*/ 52 h 64"/>
                    <a:gd name="T24" fmla="*/ 504 w 323"/>
                    <a:gd name="T25" fmla="*/ 92 h 64"/>
                    <a:gd name="T26" fmla="*/ 444 w 323"/>
                    <a:gd name="T27" fmla="*/ 108 h 64"/>
                    <a:gd name="T28" fmla="*/ 468 w 323"/>
                    <a:gd name="T29" fmla="*/ 139 h 64"/>
                    <a:gd name="T30" fmla="*/ 415 w 323"/>
                    <a:gd name="T31" fmla="*/ 153 h 64"/>
                    <a:gd name="T32" fmla="*/ 373 w 323"/>
                    <a:gd name="T33" fmla="*/ 148 h 64"/>
                    <a:gd name="T34" fmla="*/ 391 w 323"/>
                    <a:gd name="T35" fmla="*/ 139 h 64"/>
                    <a:gd name="T36" fmla="*/ 377 w 323"/>
                    <a:gd name="T37" fmla="*/ 98 h 64"/>
                    <a:gd name="T38" fmla="*/ 373 w 323"/>
                    <a:gd name="T39" fmla="*/ 75 h 64"/>
                    <a:gd name="T40" fmla="*/ 349 w 323"/>
                    <a:gd name="T41" fmla="*/ 56 h 64"/>
                    <a:gd name="T42" fmla="*/ 314 w 323"/>
                    <a:gd name="T43" fmla="*/ 66 h 64"/>
                    <a:gd name="T44" fmla="*/ 296 w 323"/>
                    <a:gd name="T45" fmla="*/ 66 h 64"/>
                    <a:gd name="T46" fmla="*/ 272 w 323"/>
                    <a:gd name="T47" fmla="*/ 61 h 64"/>
                    <a:gd name="T48" fmla="*/ 183 w 323"/>
                    <a:gd name="T49" fmla="*/ 5 h 64"/>
                    <a:gd name="T50" fmla="*/ 131 w 323"/>
                    <a:gd name="T51" fmla="*/ 34 h 64"/>
                    <a:gd name="T52" fmla="*/ 1 w 323"/>
                    <a:gd name="T53" fmla="*/ 0 h 64"/>
                    <a:gd name="T54" fmla="*/ 486 w 323"/>
                    <a:gd name="T55" fmla="*/ 3 h 64"/>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0" t="0" r="r" b="b"/>
                  <a:pathLst>
                    <a:path w="323" h="64">
                      <a:moveTo>
                        <a:pt x="220" y="1"/>
                      </a:moveTo>
                      <a:cubicBezTo>
                        <a:pt x="215" y="12"/>
                        <a:pt x="225" y="17"/>
                        <a:pt x="231" y="8"/>
                      </a:cubicBezTo>
                      <a:cubicBezTo>
                        <a:pt x="235" y="0"/>
                        <a:pt x="229" y="7"/>
                        <a:pt x="235" y="0"/>
                      </a:cubicBezTo>
                      <a:lnTo>
                        <a:pt x="265" y="0"/>
                      </a:lnTo>
                      <a:cubicBezTo>
                        <a:pt x="277" y="6"/>
                        <a:pt x="276" y="11"/>
                        <a:pt x="287" y="17"/>
                      </a:cubicBezTo>
                      <a:cubicBezTo>
                        <a:pt x="308" y="11"/>
                        <a:pt x="293" y="7"/>
                        <a:pt x="319" y="10"/>
                      </a:cubicBezTo>
                      <a:cubicBezTo>
                        <a:pt x="323" y="19"/>
                        <a:pt x="321" y="22"/>
                        <a:pt x="314" y="29"/>
                      </a:cubicBezTo>
                      <a:cubicBezTo>
                        <a:pt x="312" y="39"/>
                        <a:pt x="313" y="50"/>
                        <a:pt x="298" y="46"/>
                      </a:cubicBezTo>
                      <a:cubicBezTo>
                        <a:pt x="297" y="40"/>
                        <a:pt x="298" y="34"/>
                        <a:pt x="295" y="29"/>
                      </a:cubicBezTo>
                      <a:cubicBezTo>
                        <a:pt x="294" y="27"/>
                        <a:pt x="290" y="31"/>
                        <a:pt x="287" y="31"/>
                      </a:cubicBezTo>
                      <a:cubicBezTo>
                        <a:pt x="284" y="31"/>
                        <a:pt x="282" y="30"/>
                        <a:pt x="279" y="29"/>
                      </a:cubicBezTo>
                      <a:cubicBezTo>
                        <a:pt x="274" y="27"/>
                        <a:pt x="263" y="21"/>
                        <a:pt x="263" y="21"/>
                      </a:cubicBezTo>
                      <a:cubicBezTo>
                        <a:pt x="249" y="23"/>
                        <a:pt x="241" y="31"/>
                        <a:pt x="228" y="38"/>
                      </a:cubicBezTo>
                      <a:cubicBezTo>
                        <a:pt x="220" y="41"/>
                        <a:pt x="209" y="42"/>
                        <a:pt x="201" y="44"/>
                      </a:cubicBezTo>
                      <a:cubicBezTo>
                        <a:pt x="193" y="54"/>
                        <a:pt x="200" y="53"/>
                        <a:pt x="212" y="57"/>
                      </a:cubicBezTo>
                      <a:cubicBezTo>
                        <a:pt x="200" y="62"/>
                        <a:pt x="199" y="57"/>
                        <a:pt x="188" y="63"/>
                      </a:cubicBezTo>
                      <a:cubicBezTo>
                        <a:pt x="181" y="62"/>
                        <a:pt x="174" y="64"/>
                        <a:pt x="169" y="61"/>
                      </a:cubicBezTo>
                      <a:cubicBezTo>
                        <a:pt x="166" y="59"/>
                        <a:pt x="175" y="59"/>
                        <a:pt x="177" y="57"/>
                      </a:cubicBezTo>
                      <a:cubicBezTo>
                        <a:pt x="181" y="48"/>
                        <a:pt x="149" y="28"/>
                        <a:pt x="171" y="40"/>
                      </a:cubicBezTo>
                      <a:cubicBezTo>
                        <a:pt x="184" y="55"/>
                        <a:pt x="184" y="36"/>
                        <a:pt x="169" y="31"/>
                      </a:cubicBezTo>
                      <a:cubicBezTo>
                        <a:pt x="167" y="27"/>
                        <a:pt x="167" y="22"/>
                        <a:pt x="158" y="23"/>
                      </a:cubicBezTo>
                      <a:cubicBezTo>
                        <a:pt x="153" y="23"/>
                        <a:pt x="142" y="27"/>
                        <a:pt x="142" y="27"/>
                      </a:cubicBezTo>
                      <a:cubicBezTo>
                        <a:pt x="136" y="39"/>
                        <a:pt x="143" y="31"/>
                        <a:pt x="134" y="27"/>
                      </a:cubicBezTo>
                      <a:cubicBezTo>
                        <a:pt x="130" y="25"/>
                        <a:pt x="126" y="25"/>
                        <a:pt x="123" y="25"/>
                      </a:cubicBezTo>
                      <a:cubicBezTo>
                        <a:pt x="117" y="11"/>
                        <a:pt x="100" y="6"/>
                        <a:pt x="83" y="2"/>
                      </a:cubicBezTo>
                      <a:cubicBezTo>
                        <a:pt x="70" y="4"/>
                        <a:pt x="69" y="9"/>
                        <a:pt x="59" y="14"/>
                      </a:cubicBezTo>
                      <a:cubicBezTo>
                        <a:pt x="45" y="14"/>
                        <a:pt x="0" y="12"/>
                        <a:pt x="1" y="0"/>
                      </a:cubicBezTo>
                      <a:lnTo>
                        <a:pt x="220" y="1"/>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71" name="Freeform 40"/>
                <p:cNvSpPr>
                  <a:spLocks/>
                </p:cNvSpPr>
                <p:nvPr userDrawn="1"/>
              </p:nvSpPr>
              <p:spPr bwMode="ltGray">
                <a:xfrm>
                  <a:off x="3835" y="3"/>
                  <a:ext cx="446" cy="49"/>
                </a:xfrm>
                <a:custGeom>
                  <a:avLst/>
                  <a:gdLst>
                    <a:gd name="T0" fmla="*/ 232 w 300"/>
                    <a:gd name="T1" fmla="*/ 77 h 31"/>
                    <a:gd name="T2" fmla="*/ 67 w 300"/>
                    <a:gd name="T3" fmla="*/ 3 h 31"/>
                    <a:gd name="T4" fmla="*/ 630 w 300"/>
                    <a:gd name="T5" fmla="*/ 0 h 31"/>
                    <a:gd name="T6" fmla="*/ 654 w 300"/>
                    <a:gd name="T7" fmla="*/ 35 h 31"/>
                    <a:gd name="T8" fmla="*/ 583 w 300"/>
                    <a:gd name="T9" fmla="*/ 40 h 31"/>
                    <a:gd name="T10" fmla="*/ 232 w 300"/>
                    <a:gd name="T11" fmla="*/ 77 h 31"/>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300" h="31">
                      <a:moveTo>
                        <a:pt x="105" y="31"/>
                      </a:moveTo>
                      <a:cubicBezTo>
                        <a:pt x="83" y="19"/>
                        <a:pt x="0" y="6"/>
                        <a:pt x="30" y="1"/>
                      </a:cubicBezTo>
                      <a:lnTo>
                        <a:pt x="285" y="0"/>
                      </a:lnTo>
                      <a:cubicBezTo>
                        <a:pt x="296" y="4"/>
                        <a:pt x="300" y="5"/>
                        <a:pt x="296" y="14"/>
                      </a:cubicBezTo>
                      <a:cubicBezTo>
                        <a:pt x="285" y="11"/>
                        <a:pt x="276" y="16"/>
                        <a:pt x="264" y="16"/>
                      </a:cubicBezTo>
                      <a:lnTo>
                        <a:pt x="105" y="31"/>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72" name="Freeform 41"/>
                <p:cNvSpPr>
                  <a:spLocks/>
                </p:cNvSpPr>
                <p:nvPr userDrawn="1"/>
              </p:nvSpPr>
              <p:spPr bwMode="ltGray">
                <a:xfrm>
                  <a:off x="2853" y="74"/>
                  <a:ext cx="42" cy="25"/>
                </a:xfrm>
                <a:custGeom>
                  <a:avLst/>
                  <a:gdLst>
                    <a:gd name="T0" fmla="*/ 0 w 41"/>
                    <a:gd name="T1" fmla="*/ 19 h 29"/>
                    <a:gd name="T2" fmla="*/ 12 w 41"/>
                    <a:gd name="T3" fmla="*/ 22 h 29"/>
                    <a:gd name="T4" fmla="*/ 0 w 41"/>
                    <a:gd name="T5" fmla="*/ 19 h 29"/>
                    <a:gd name="T6" fmla="*/ 0 60000 65536"/>
                    <a:gd name="T7" fmla="*/ 0 60000 65536"/>
                    <a:gd name="T8" fmla="*/ 0 60000 65536"/>
                  </a:gdLst>
                  <a:ahLst/>
                  <a:cxnLst>
                    <a:cxn ang="T6">
                      <a:pos x="T0" y="T1"/>
                    </a:cxn>
                    <a:cxn ang="T7">
                      <a:pos x="T2" y="T3"/>
                    </a:cxn>
                    <a:cxn ang="T8">
                      <a:pos x="T4" y="T5"/>
                    </a:cxn>
                  </a:cxnLst>
                  <a:rect l="0" t="0" r="r" b="b"/>
                  <a:pathLst>
                    <a:path w="41" h="29">
                      <a:moveTo>
                        <a:pt x="0" y="25"/>
                      </a:moveTo>
                      <a:cubicBezTo>
                        <a:pt x="10" y="11"/>
                        <a:pt x="41" y="0"/>
                        <a:pt x="12" y="29"/>
                      </a:cubicBezTo>
                      <a:cubicBezTo>
                        <a:pt x="8" y="28"/>
                        <a:pt x="0" y="25"/>
                        <a:pt x="0" y="25"/>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73" name="Freeform 42"/>
                <p:cNvSpPr>
                  <a:spLocks/>
                </p:cNvSpPr>
                <p:nvPr userDrawn="1"/>
              </p:nvSpPr>
              <p:spPr bwMode="ltGray">
                <a:xfrm>
                  <a:off x="1704" y="3"/>
                  <a:ext cx="1022" cy="372"/>
                </a:xfrm>
                <a:custGeom>
                  <a:avLst/>
                  <a:gdLst>
                    <a:gd name="T0" fmla="*/ 401 w 436"/>
                    <a:gd name="T1" fmla="*/ 5 h 152"/>
                    <a:gd name="T2" fmla="*/ 2396 w 436"/>
                    <a:gd name="T3" fmla="*/ 0 h 152"/>
                    <a:gd name="T4" fmla="*/ 2285 w 436"/>
                    <a:gd name="T5" fmla="*/ 323 h 152"/>
                    <a:gd name="T6" fmla="*/ 2182 w 436"/>
                    <a:gd name="T7" fmla="*/ 406 h 152"/>
                    <a:gd name="T8" fmla="*/ 2154 w 436"/>
                    <a:gd name="T9" fmla="*/ 419 h 152"/>
                    <a:gd name="T10" fmla="*/ 2060 w 436"/>
                    <a:gd name="T11" fmla="*/ 438 h 152"/>
                    <a:gd name="T12" fmla="*/ 1983 w 436"/>
                    <a:gd name="T13" fmla="*/ 526 h 152"/>
                    <a:gd name="T14" fmla="*/ 1990 w 436"/>
                    <a:gd name="T15" fmla="*/ 592 h 152"/>
                    <a:gd name="T16" fmla="*/ 1999 w 436"/>
                    <a:gd name="T17" fmla="*/ 641 h 152"/>
                    <a:gd name="T18" fmla="*/ 2011 w 436"/>
                    <a:gd name="T19" fmla="*/ 678 h 152"/>
                    <a:gd name="T20" fmla="*/ 1990 w 436"/>
                    <a:gd name="T21" fmla="*/ 732 h 152"/>
                    <a:gd name="T22" fmla="*/ 1929 w 436"/>
                    <a:gd name="T23" fmla="*/ 720 h 152"/>
                    <a:gd name="T24" fmla="*/ 1880 w 436"/>
                    <a:gd name="T25" fmla="*/ 773 h 152"/>
                    <a:gd name="T26" fmla="*/ 1906 w 436"/>
                    <a:gd name="T27" fmla="*/ 629 h 152"/>
                    <a:gd name="T28" fmla="*/ 1856 w 436"/>
                    <a:gd name="T29" fmla="*/ 600 h 152"/>
                    <a:gd name="T30" fmla="*/ 1889 w 436"/>
                    <a:gd name="T31" fmla="*/ 558 h 152"/>
                    <a:gd name="T32" fmla="*/ 1880 w 436"/>
                    <a:gd name="T33" fmla="*/ 534 h 152"/>
                    <a:gd name="T34" fmla="*/ 1758 w 436"/>
                    <a:gd name="T35" fmla="*/ 563 h 152"/>
                    <a:gd name="T36" fmla="*/ 1742 w 436"/>
                    <a:gd name="T37" fmla="*/ 509 h 152"/>
                    <a:gd name="T38" fmla="*/ 1631 w 436"/>
                    <a:gd name="T39" fmla="*/ 563 h 152"/>
                    <a:gd name="T40" fmla="*/ 1758 w 436"/>
                    <a:gd name="T41" fmla="*/ 617 h 152"/>
                    <a:gd name="T42" fmla="*/ 1676 w 436"/>
                    <a:gd name="T43" fmla="*/ 700 h 152"/>
                    <a:gd name="T44" fmla="*/ 1709 w 436"/>
                    <a:gd name="T45" fmla="*/ 754 h 152"/>
                    <a:gd name="T46" fmla="*/ 1730 w 436"/>
                    <a:gd name="T47" fmla="*/ 827 h 152"/>
                    <a:gd name="T48" fmla="*/ 1697 w 436"/>
                    <a:gd name="T49" fmla="*/ 832 h 152"/>
                    <a:gd name="T50" fmla="*/ 1725 w 436"/>
                    <a:gd name="T51" fmla="*/ 861 h 152"/>
                    <a:gd name="T52" fmla="*/ 1688 w 436"/>
                    <a:gd name="T53" fmla="*/ 910 h 152"/>
                    <a:gd name="T54" fmla="*/ 0 w 436"/>
                    <a:gd name="T55" fmla="*/ 893 h 152"/>
                    <a:gd name="T56" fmla="*/ 401 w 436"/>
                    <a:gd name="T57" fmla="*/ 5 h 152"/>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436" h="152">
                      <a:moveTo>
                        <a:pt x="73" y="1"/>
                      </a:moveTo>
                      <a:lnTo>
                        <a:pt x="436" y="0"/>
                      </a:lnTo>
                      <a:cubicBezTo>
                        <a:pt x="430" y="15"/>
                        <a:pt x="429" y="42"/>
                        <a:pt x="416" y="54"/>
                      </a:cubicBezTo>
                      <a:cubicBezTo>
                        <a:pt x="410" y="60"/>
                        <a:pt x="405" y="63"/>
                        <a:pt x="397" y="68"/>
                      </a:cubicBezTo>
                      <a:cubicBezTo>
                        <a:pt x="396" y="69"/>
                        <a:pt x="392" y="70"/>
                        <a:pt x="392" y="70"/>
                      </a:cubicBezTo>
                      <a:cubicBezTo>
                        <a:pt x="377" y="63"/>
                        <a:pt x="385" y="68"/>
                        <a:pt x="375" y="73"/>
                      </a:cubicBezTo>
                      <a:cubicBezTo>
                        <a:pt x="371" y="82"/>
                        <a:pt x="371" y="83"/>
                        <a:pt x="361" y="88"/>
                      </a:cubicBezTo>
                      <a:cubicBezTo>
                        <a:pt x="359" y="92"/>
                        <a:pt x="364" y="93"/>
                        <a:pt x="362" y="99"/>
                      </a:cubicBezTo>
                      <a:cubicBezTo>
                        <a:pt x="363" y="102"/>
                        <a:pt x="364" y="105"/>
                        <a:pt x="364" y="107"/>
                      </a:cubicBezTo>
                      <a:cubicBezTo>
                        <a:pt x="365" y="109"/>
                        <a:pt x="366" y="111"/>
                        <a:pt x="366" y="113"/>
                      </a:cubicBezTo>
                      <a:cubicBezTo>
                        <a:pt x="365" y="115"/>
                        <a:pt x="364" y="120"/>
                        <a:pt x="362" y="122"/>
                      </a:cubicBezTo>
                      <a:cubicBezTo>
                        <a:pt x="359" y="123"/>
                        <a:pt x="354" y="119"/>
                        <a:pt x="351" y="120"/>
                      </a:cubicBezTo>
                      <a:cubicBezTo>
                        <a:pt x="347" y="129"/>
                        <a:pt x="352" y="127"/>
                        <a:pt x="342" y="129"/>
                      </a:cubicBezTo>
                      <a:cubicBezTo>
                        <a:pt x="340" y="123"/>
                        <a:pt x="345" y="111"/>
                        <a:pt x="347" y="105"/>
                      </a:cubicBezTo>
                      <a:cubicBezTo>
                        <a:pt x="347" y="100"/>
                        <a:pt x="338" y="102"/>
                        <a:pt x="338" y="100"/>
                      </a:cubicBezTo>
                      <a:cubicBezTo>
                        <a:pt x="338" y="98"/>
                        <a:pt x="344" y="95"/>
                        <a:pt x="344" y="93"/>
                      </a:cubicBezTo>
                      <a:cubicBezTo>
                        <a:pt x="344" y="92"/>
                        <a:pt x="344" y="89"/>
                        <a:pt x="342" y="89"/>
                      </a:cubicBezTo>
                      <a:cubicBezTo>
                        <a:pt x="339" y="89"/>
                        <a:pt x="324" y="94"/>
                        <a:pt x="320" y="94"/>
                      </a:cubicBezTo>
                      <a:cubicBezTo>
                        <a:pt x="317" y="86"/>
                        <a:pt x="328" y="88"/>
                        <a:pt x="317" y="85"/>
                      </a:cubicBezTo>
                      <a:cubicBezTo>
                        <a:pt x="311" y="91"/>
                        <a:pt x="306" y="93"/>
                        <a:pt x="297" y="94"/>
                      </a:cubicBezTo>
                      <a:cubicBezTo>
                        <a:pt x="300" y="104"/>
                        <a:pt x="307" y="101"/>
                        <a:pt x="320" y="103"/>
                      </a:cubicBezTo>
                      <a:cubicBezTo>
                        <a:pt x="318" y="109"/>
                        <a:pt x="311" y="111"/>
                        <a:pt x="305" y="117"/>
                      </a:cubicBezTo>
                      <a:lnTo>
                        <a:pt x="311" y="126"/>
                      </a:lnTo>
                      <a:lnTo>
                        <a:pt x="315" y="138"/>
                      </a:lnTo>
                      <a:lnTo>
                        <a:pt x="309" y="139"/>
                      </a:lnTo>
                      <a:lnTo>
                        <a:pt x="314" y="144"/>
                      </a:lnTo>
                      <a:lnTo>
                        <a:pt x="307" y="152"/>
                      </a:lnTo>
                      <a:lnTo>
                        <a:pt x="0" y="149"/>
                      </a:lnTo>
                      <a:lnTo>
                        <a:pt x="73" y="1"/>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74" name="Freeform 43"/>
                <p:cNvSpPr>
                  <a:spLocks/>
                </p:cNvSpPr>
                <p:nvPr userDrawn="1"/>
              </p:nvSpPr>
              <p:spPr bwMode="ltGray">
                <a:xfrm>
                  <a:off x="2729" y="-9"/>
                  <a:ext cx="47" cy="134"/>
                </a:xfrm>
                <a:custGeom>
                  <a:avLst/>
                  <a:gdLst>
                    <a:gd name="T0" fmla="*/ 5 w 47"/>
                    <a:gd name="T1" fmla="*/ 103 h 165"/>
                    <a:gd name="T2" fmla="*/ 15 w 47"/>
                    <a:gd name="T3" fmla="*/ 71 h 165"/>
                    <a:gd name="T4" fmla="*/ 17 w 47"/>
                    <a:gd name="T5" fmla="*/ 45 h 165"/>
                    <a:gd name="T6" fmla="*/ 11 w 47"/>
                    <a:gd name="T7" fmla="*/ 26 h 165"/>
                    <a:gd name="T8" fmla="*/ 17 w 47"/>
                    <a:gd name="T9" fmla="*/ 8 h 165"/>
                    <a:gd name="T10" fmla="*/ 21 w 47"/>
                    <a:gd name="T11" fmla="*/ 0 h 165"/>
                    <a:gd name="T12" fmla="*/ 31 w 47"/>
                    <a:gd name="T13" fmla="*/ 19 h 165"/>
                    <a:gd name="T14" fmla="*/ 47 w 47"/>
                    <a:gd name="T15" fmla="*/ 65 h 165"/>
                    <a:gd name="T16" fmla="*/ 31 w 47"/>
                    <a:gd name="T17" fmla="*/ 71 h 165"/>
                    <a:gd name="T18" fmla="*/ 23 w 47"/>
                    <a:gd name="T19" fmla="*/ 83 h 165"/>
                    <a:gd name="T20" fmla="*/ 21 w 47"/>
                    <a:gd name="T21" fmla="*/ 87 h 165"/>
                    <a:gd name="T22" fmla="*/ 27 w 47"/>
                    <a:gd name="T23" fmla="*/ 89 h 165"/>
                    <a:gd name="T24" fmla="*/ 31 w 47"/>
                    <a:gd name="T25" fmla="*/ 97 h 165"/>
                    <a:gd name="T26" fmla="*/ 13 w 47"/>
                    <a:gd name="T27" fmla="*/ 97 h 165"/>
                    <a:gd name="T28" fmla="*/ 7 w 47"/>
                    <a:gd name="T29" fmla="*/ 106 h 165"/>
                    <a:gd name="T30" fmla="*/ 3 w 47"/>
                    <a:gd name="T31" fmla="*/ 102 h 165"/>
                    <a:gd name="T32" fmla="*/ 5 w 47"/>
                    <a:gd name="T33" fmla="*/ 103 h 165"/>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47" h="165">
                      <a:moveTo>
                        <a:pt x="5" y="156"/>
                      </a:moveTo>
                      <a:cubicBezTo>
                        <a:pt x="0" y="141"/>
                        <a:pt x="1" y="118"/>
                        <a:pt x="15" y="108"/>
                      </a:cubicBezTo>
                      <a:cubicBezTo>
                        <a:pt x="16" y="95"/>
                        <a:pt x="17" y="81"/>
                        <a:pt x="17" y="68"/>
                      </a:cubicBezTo>
                      <a:cubicBezTo>
                        <a:pt x="17" y="58"/>
                        <a:pt x="11" y="40"/>
                        <a:pt x="11" y="40"/>
                      </a:cubicBezTo>
                      <a:cubicBezTo>
                        <a:pt x="14" y="20"/>
                        <a:pt x="11" y="29"/>
                        <a:pt x="17" y="12"/>
                      </a:cubicBezTo>
                      <a:cubicBezTo>
                        <a:pt x="18" y="8"/>
                        <a:pt x="21" y="0"/>
                        <a:pt x="21" y="0"/>
                      </a:cubicBezTo>
                      <a:cubicBezTo>
                        <a:pt x="38" y="6"/>
                        <a:pt x="33" y="7"/>
                        <a:pt x="31" y="30"/>
                      </a:cubicBezTo>
                      <a:cubicBezTo>
                        <a:pt x="38" y="52"/>
                        <a:pt x="40" y="76"/>
                        <a:pt x="47" y="98"/>
                      </a:cubicBezTo>
                      <a:cubicBezTo>
                        <a:pt x="44" y="116"/>
                        <a:pt x="45" y="113"/>
                        <a:pt x="31" y="108"/>
                      </a:cubicBezTo>
                      <a:cubicBezTo>
                        <a:pt x="25" y="118"/>
                        <a:pt x="28" y="112"/>
                        <a:pt x="23" y="126"/>
                      </a:cubicBezTo>
                      <a:cubicBezTo>
                        <a:pt x="22" y="128"/>
                        <a:pt x="21" y="132"/>
                        <a:pt x="21" y="132"/>
                      </a:cubicBezTo>
                      <a:cubicBezTo>
                        <a:pt x="23" y="133"/>
                        <a:pt x="26" y="132"/>
                        <a:pt x="27" y="134"/>
                      </a:cubicBezTo>
                      <a:cubicBezTo>
                        <a:pt x="29" y="137"/>
                        <a:pt x="31" y="146"/>
                        <a:pt x="31" y="146"/>
                      </a:cubicBezTo>
                      <a:cubicBezTo>
                        <a:pt x="27" y="165"/>
                        <a:pt x="23" y="155"/>
                        <a:pt x="13" y="148"/>
                      </a:cubicBezTo>
                      <a:cubicBezTo>
                        <a:pt x="11" y="152"/>
                        <a:pt x="11" y="160"/>
                        <a:pt x="7" y="160"/>
                      </a:cubicBezTo>
                      <a:cubicBezTo>
                        <a:pt x="5" y="160"/>
                        <a:pt x="4" y="156"/>
                        <a:pt x="3" y="154"/>
                      </a:cubicBezTo>
                      <a:cubicBezTo>
                        <a:pt x="3" y="153"/>
                        <a:pt x="4" y="155"/>
                        <a:pt x="5" y="156"/>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75" name="Freeform 44"/>
                <p:cNvSpPr>
                  <a:spLocks/>
                </p:cNvSpPr>
                <p:nvPr userDrawn="1"/>
              </p:nvSpPr>
              <p:spPr bwMode="ltGray">
                <a:xfrm>
                  <a:off x="2701" y="103"/>
                  <a:ext cx="138" cy="84"/>
                </a:xfrm>
                <a:custGeom>
                  <a:avLst/>
                  <a:gdLst>
                    <a:gd name="T0" fmla="*/ 26 w 138"/>
                    <a:gd name="T1" fmla="*/ 41 h 103"/>
                    <a:gd name="T2" fmla="*/ 30 w 138"/>
                    <a:gd name="T3" fmla="*/ 29 h 103"/>
                    <a:gd name="T4" fmla="*/ 50 w 138"/>
                    <a:gd name="T5" fmla="*/ 22 h 103"/>
                    <a:gd name="T6" fmla="*/ 54 w 138"/>
                    <a:gd name="T7" fmla="*/ 30 h 103"/>
                    <a:gd name="T8" fmla="*/ 66 w 138"/>
                    <a:gd name="T9" fmla="*/ 33 h 103"/>
                    <a:gd name="T10" fmla="*/ 80 w 138"/>
                    <a:gd name="T11" fmla="*/ 37 h 103"/>
                    <a:gd name="T12" fmla="*/ 116 w 138"/>
                    <a:gd name="T13" fmla="*/ 22 h 103"/>
                    <a:gd name="T14" fmla="*/ 130 w 138"/>
                    <a:gd name="T15" fmla="*/ 11 h 103"/>
                    <a:gd name="T16" fmla="*/ 138 w 138"/>
                    <a:gd name="T17" fmla="*/ 7 h 103"/>
                    <a:gd name="T18" fmla="*/ 106 w 138"/>
                    <a:gd name="T19" fmla="*/ 33 h 103"/>
                    <a:gd name="T20" fmla="*/ 84 w 138"/>
                    <a:gd name="T21" fmla="*/ 45 h 103"/>
                    <a:gd name="T22" fmla="*/ 66 w 138"/>
                    <a:gd name="T23" fmla="*/ 54 h 103"/>
                    <a:gd name="T24" fmla="*/ 48 w 138"/>
                    <a:gd name="T25" fmla="*/ 69 h 103"/>
                    <a:gd name="T26" fmla="*/ 26 w 138"/>
                    <a:gd name="T27" fmla="*/ 60 h 103"/>
                    <a:gd name="T28" fmla="*/ 20 w 138"/>
                    <a:gd name="T29" fmla="*/ 58 h 103"/>
                    <a:gd name="T30" fmla="*/ 22 w 138"/>
                    <a:gd name="T31" fmla="*/ 64 h 103"/>
                    <a:gd name="T32" fmla="*/ 0 w 138"/>
                    <a:gd name="T33" fmla="*/ 64 h 103"/>
                    <a:gd name="T34" fmla="*/ 10 w 138"/>
                    <a:gd name="T35" fmla="*/ 52 h 103"/>
                    <a:gd name="T36" fmla="*/ 26 w 138"/>
                    <a:gd name="T37" fmla="*/ 41 h 103"/>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38" h="103">
                      <a:moveTo>
                        <a:pt x="26" y="61"/>
                      </a:moveTo>
                      <a:cubicBezTo>
                        <a:pt x="29" y="53"/>
                        <a:pt x="33" y="51"/>
                        <a:pt x="30" y="43"/>
                      </a:cubicBezTo>
                      <a:cubicBezTo>
                        <a:pt x="33" y="27"/>
                        <a:pt x="37" y="24"/>
                        <a:pt x="50" y="33"/>
                      </a:cubicBezTo>
                      <a:cubicBezTo>
                        <a:pt x="51" y="37"/>
                        <a:pt x="53" y="41"/>
                        <a:pt x="54" y="45"/>
                      </a:cubicBezTo>
                      <a:cubicBezTo>
                        <a:pt x="55" y="49"/>
                        <a:pt x="66" y="49"/>
                        <a:pt x="66" y="49"/>
                      </a:cubicBezTo>
                      <a:cubicBezTo>
                        <a:pt x="75" y="43"/>
                        <a:pt x="77" y="45"/>
                        <a:pt x="80" y="55"/>
                      </a:cubicBezTo>
                      <a:cubicBezTo>
                        <a:pt x="92" y="47"/>
                        <a:pt x="101" y="37"/>
                        <a:pt x="116" y="33"/>
                      </a:cubicBezTo>
                      <a:cubicBezTo>
                        <a:pt x="125" y="19"/>
                        <a:pt x="120" y="24"/>
                        <a:pt x="130" y="17"/>
                      </a:cubicBezTo>
                      <a:cubicBezTo>
                        <a:pt x="134" y="11"/>
                        <a:pt x="134" y="0"/>
                        <a:pt x="138" y="11"/>
                      </a:cubicBezTo>
                      <a:cubicBezTo>
                        <a:pt x="135" y="31"/>
                        <a:pt x="126" y="45"/>
                        <a:pt x="106" y="49"/>
                      </a:cubicBezTo>
                      <a:cubicBezTo>
                        <a:pt x="97" y="55"/>
                        <a:pt x="93" y="61"/>
                        <a:pt x="84" y="67"/>
                      </a:cubicBezTo>
                      <a:cubicBezTo>
                        <a:pt x="80" y="79"/>
                        <a:pt x="79" y="79"/>
                        <a:pt x="66" y="81"/>
                      </a:cubicBezTo>
                      <a:cubicBezTo>
                        <a:pt x="60" y="90"/>
                        <a:pt x="57" y="97"/>
                        <a:pt x="48" y="103"/>
                      </a:cubicBezTo>
                      <a:cubicBezTo>
                        <a:pt x="42" y="94"/>
                        <a:pt x="37" y="93"/>
                        <a:pt x="26" y="89"/>
                      </a:cubicBezTo>
                      <a:cubicBezTo>
                        <a:pt x="24" y="88"/>
                        <a:pt x="20" y="87"/>
                        <a:pt x="20" y="87"/>
                      </a:cubicBezTo>
                      <a:cubicBezTo>
                        <a:pt x="10" y="90"/>
                        <a:pt x="14" y="94"/>
                        <a:pt x="22" y="97"/>
                      </a:cubicBezTo>
                      <a:cubicBezTo>
                        <a:pt x="14" y="103"/>
                        <a:pt x="9" y="100"/>
                        <a:pt x="0" y="97"/>
                      </a:cubicBezTo>
                      <a:cubicBezTo>
                        <a:pt x="2" y="87"/>
                        <a:pt x="1" y="82"/>
                        <a:pt x="10" y="79"/>
                      </a:cubicBezTo>
                      <a:cubicBezTo>
                        <a:pt x="15" y="63"/>
                        <a:pt x="14" y="69"/>
                        <a:pt x="26" y="61"/>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76" name="Freeform 45"/>
                <p:cNvSpPr>
                  <a:spLocks/>
                </p:cNvSpPr>
                <p:nvPr userDrawn="1"/>
              </p:nvSpPr>
              <p:spPr bwMode="ltGray">
                <a:xfrm>
                  <a:off x="2553" y="182"/>
                  <a:ext cx="187" cy="176"/>
                </a:xfrm>
                <a:custGeom>
                  <a:avLst/>
                  <a:gdLst>
                    <a:gd name="T0" fmla="*/ 156 w 188"/>
                    <a:gd name="T1" fmla="*/ 16 h 214"/>
                    <a:gd name="T2" fmla="*/ 158 w 188"/>
                    <a:gd name="T3" fmla="*/ 4 h 214"/>
                    <a:gd name="T4" fmla="*/ 168 w 188"/>
                    <a:gd name="T5" fmla="*/ 0 h 214"/>
                    <a:gd name="T6" fmla="*/ 180 w 188"/>
                    <a:gd name="T7" fmla="*/ 16 h 214"/>
                    <a:gd name="T8" fmla="*/ 186 w 188"/>
                    <a:gd name="T9" fmla="*/ 29 h 214"/>
                    <a:gd name="T10" fmla="*/ 176 w 188"/>
                    <a:gd name="T11" fmla="*/ 39 h 214"/>
                    <a:gd name="T12" fmla="*/ 168 w 188"/>
                    <a:gd name="T13" fmla="*/ 52 h 214"/>
                    <a:gd name="T14" fmla="*/ 160 w 188"/>
                    <a:gd name="T15" fmla="*/ 86 h 214"/>
                    <a:gd name="T16" fmla="*/ 142 w 188"/>
                    <a:gd name="T17" fmla="*/ 92 h 214"/>
                    <a:gd name="T18" fmla="*/ 118 w 188"/>
                    <a:gd name="T19" fmla="*/ 93 h 214"/>
                    <a:gd name="T20" fmla="*/ 110 w 188"/>
                    <a:gd name="T21" fmla="*/ 84 h 214"/>
                    <a:gd name="T22" fmla="*/ 100 w 188"/>
                    <a:gd name="T23" fmla="*/ 99 h 214"/>
                    <a:gd name="T24" fmla="*/ 90 w 188"/>
                    <a:gd name="T25" fmla="*/ 101 h 214"/>
                    <a:gd name="T26" fmla="*/ 80 w 188"/>
                    <a:gd name="T27" fmla="*/ 90 h 214"/>
                    <a:gd name="T28" fmla="*/ 58 w 188"/>
                    <a:gd name="T29" fmla="*/ 97 h 214"/>
                    <a:gd name="T30" fmla="*/ 76 w 188"/>
                    <a:gd name="T31" fmla="*/ 96 h 214"/>
                    <a:gd name="T32" fmla="*/ 78 w 188"/>
                    <a:gd name="T33" fmla="*/ 109 h 214"/>
                    <a:gd name="T34" fmla="*/ 58 w 188"/>
                    <a:gd name="T35" fmla="*/ 113 h 214"/>
                    <a:gd name="T36" fmla="*/ 34 w 188"/>
                    <a:gd name="T37" fmla="*/ 113 h 214"/>
                    <a:gd name="T38" fmla="*/ 36 w 188"/>
                    <a:gd name="T39" fmla="*/ 104 h 214"/>
                    <a:gd name="T40" fmla="*/ 46 w 188"/>
                    <a:gd name="T41" fmla="*/ 97 h 214"/>
                    <a:gd name="T42" fmla="*/ 34 w 188"/>
                    <a:gd name="T43" fmla="*/ 100 h 214"/>
                    <a:gd name="T44" fmla="*/ 26 w 188"/>
                    <a:gd name="T45" fmla="*/ 113 h 214"/>
                    <a:gd name="T46" fmla="*/ 30 w 188"/>
                    <a:gd name="T47" fmla="*/ 128 h 214"/>
                    <a:gd name="T48" fmla="*/ 14 w 188"/>
                    <a:gd name="T49" fmla="*/ 135 h 214"/>
                    <a:gd name="T50" fmla="*/ 0 w 188"/>
                    <a:gd name="T51" fmla="*/ 145 h 214"/>
                    <a:gd name="T52" fmla="*/ 8 w 188"/>
                    <a:gd name="T53" fmla="*/ 127 h 214"/>
                    <a:gd name="T54" fmla="*/ 0 w 188"/>
                    <a:gd name="T55" fmla="*/ 111 h 214"/>
                    <a:gd name="T56" fmla="*/ 14 w 188"/>
                    <a:gd name="T57" fmla="*/ 103 h 214"/>
                    <a:gd name="T58" fmla="*/ 32 w 188"/>
                    <a:gd name="T59" fmla="*/ 90 h 214"/>
                    <a:gd name="T60" fmla="*/ 44 w 188"/>
                    <a:gd name="T61" fmla="*/ 80 h 214"/>
                    <a:gd name="T62" fmla="*/ 72 w 188"/>
                    <a:gd name="T63" fmla="*/ 78 h 214"/>
                    <a:gd name="T64" fmla="*/ 84 w 188"/>
                    <a:gd name="T65" fmla="*/ 76 h 214"/>
                    <a:gd name="T66" fmla="*/ 112 w 188"/>
                    <a:gd name="T67" fmla="*/ 53 h 214"/>
                    <a:gd name="T68" fmla="*/ 118 w 188"/>
                    <a:gd name="T69" fmla="*/ 63 h 214"/>
                    <a:gd name="T70" fmla="*/ 130 w 188"/>
                    <a:gd name="T71" fmla="*/ 52 h 214"/>
                    <a:gd name="T72" fmla="*/ 148 w 188"/>
                    <a:gd name="T73" fmla="*/ 36 h 214"/>
                    <a:gd name="T74" fmla="*/ 152 w 188"/>
                    <a:gd name="T75" fmla="*/ 29 h 214"/>
                    <a:gd name="T76" fmla="*/ 146 w 188"/>
                    <a:gd name="T77" fmla="*/ 25 h 214"/>
                    <a:gd name="T78" fmla="*/ 150 w 188"/>
                    <a:gd name="T79" fmla="*/ 21 h 214"/>
                    <a:gd name="T80" fmla="*/ 156 w 188"/>
                    <a:gd name="T81" fmla="*/ 16 h 214"/>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0" t="0" r="r" b="b"/>
                  <a:pathLst>
                    <a:path w="188" h="214">
                      <a:moveTo>
                        <a:pt x="158" y="24"/>
                      </a:moveTo>
                      <a:cubicBezTo>
                        <a:pt x="156" y="18"/>
                        <a:pt x="160" y="6"/>
                        <a:pt x="160" y="6"/>
                      </a:cubicBezTo>
                      <a:cubicBezTo>
                        <a:pt x="167" y="16"/>
                        <a:pt x="167" y="8"/>
                        <a:pt x="170" y="0"/>
                      </a:cubicBezTo>
                      <a:cubicBezTo>
                        <a:pt x="181" y="4"/>
                        <a:pt x="179" y="14"/>
                        <a:pt x="182" y="24"/>
                      </a:cubicBezTo>
                      <a:cubicBezTo>
                        <a:pt x="184" y="30"/>
                        <a:pt x="188" y="42"/>
                        <a:pt x="188" y="42"/>
                      </a:cubicBezTo>
                      <a:cubicBezTo>
                        <a:pt x="183" y="56"/>
                        <a:pt x="188" y="52"/>
                        <a:pt x="178" y="58"/>
                      </a:cubicBezTo>
                      <a:cubicBezTo>
                        <a:pt x="174" y="63"/>
                        <a:pt x="170" y="76"/>
                        <a:pt x="170" y="76"/>
                      </a:cubicBezTo>
                      <a:cubicBezTo>
                        <a:pt x="169" y="100"/>
                        <a:pt x="173" y="110"/>
                        <a:pt x="162" y="126"/>
                      </a:cubicBezTo>
                      <a:cubicBezTo>
                        <a:pt x="150" y="118"/>
                        <a:pt x="155" y="132"/>
                        <a:pt x="144" y="136"/>
                      </a:cubicBezTo>
                      <a:cubicBezTo>
                        <a:pt x="135" y="134"/>
                        <a:pt x="129" y="135"/>
                        <a:pt x="120" y="138"/>
                      </a:cubicBezTo>
                      <a:cubicBezTo>
                        <a:pt x="114" y="129"/>
                        <a:pt x="122" y="127"/>
                        <a:pt x="112" y="124"/>
                      </a:cubicBezTo>
                      <a:cubicBezTo>
                        <a:pt x="108" y="130"/>
                        <a:pt x="108" y="142"/>
                        <a:pt x="102" y="146"/>
                      </a:cubicBezTo>
                      <a:cubicBezTo>
                        <a:pt x="98" y="148"/>
                        <a:pt x="90" y="150"/>
                        <a:pt x="90" y="150"/>
                      </a:cubicBezTo>
                      <a:cubicBezTo>
                        <a:pt x="87" y="141"/>
                        <a:pt x="89" y="135"/>
                        <a:pt x="80" y="132"/>
                      </a:cubicBezTo>
                      <a:cubicBezTo>
                        <a:pt x="68" y="134"/>
                        <a:pt x="65" y="134"/>
                        <a:pt x="58" y="144"/>
                      </a:cubicBezTo>
                      <a:cubicBezTo>
                        <a:pt x="66" y="150"/>
                        <a:pt x="68" y="147"/>
                        <a:pt x="76" y="142"/>
                      </a:cubicBezTo>
                      <a:cubicBezTo>
                        <a:pt x="81" y="146"/>
                        <a:pt x="85" y="155"/>
                        <a:pt x="78" y="160"/>
                      </a:cubicBezTo>
                      <a:cubicBezTo>
                        <a:pt x="75" y="162"/>
                        <a:pt x="62" y="165"/>
                        <a:pt x="58" y="166"/>
                      </a:cubicBezTo>
                      <a:cubicBezTo>
                        <a:pt x="48" y="173"/>
                        <a:pt x="44" y="173"/>
                        <a:pt x="34" y="166"/>
                      </a:cubicBezTo>
                      <a:cubicBezTo>
                        <a:pt x="35" y="162"/>
                        <a:pt x="34" y="158"/>
                        <a:pt x="36" y="154"/>
                      </a:cubicBezTo>
                      <a:cubicBezTo>
                        <a:pt x="38" y="150"/>
                        <a:pt x="55" y="146"/>
                        <a:pt x="46" y="144"/>
                      </a:cubicBezTo>
                      <a:cubicBezTo>
                        <a:pt x="42" y="143"/>
                        <a:pt x="34" y="148"/>
                        <a:pt x="34" y="148"/>
                      </a:cubicBezTo>
                      <a:cubicBezTo>
                        <a:pt x="32" y="155"/>
                        <a:pt x="28" y="159"/>
                        <a:pt x="26" y="166"/>
                      </a:cubicBezTo>
                      <a:cubicBezTo>
                        <a:pt x="36" y="182"/>
                        <a:pt x="36" y="173"/>
                        <a:pt x="30" y="190"/>
                      </a:cubicBezTo>
                      <a:cubicBezTo>
                        <a:pt x="28" y="196"/>
                        <a:pt x="14" y="200"/>
                        <a:pt x="14" y="200"/>
                      </a:cubicBezTo>
                      <a:cubicBezTo>
                        <a:pt x="5" y="214"/>
                        <a:pt x="11" y="210"/>
                        <a:pt x="0" y="214"/>
                      </a:cubicBezTo>
                      <a:cubicBezTo>
                        <a:pt x="2" y="202"/>
                        <a:pt x="5" y="198"/>
                        <a:pt x="8" y="188"/>
                      </a:cubicBezTo>
                      <a:cubicBezTo>
                        <a:pt x="6" y="178"/>
                        <a:pt x="3" y="173"/>
                        <a:pt x="0" y="164"/>
                      </a:cubicBezTo>
                      <a:cubicBezTo>
                        <a:pt x="3" y="156"/>
                        <a:pt x="7" y="157"/>
                        <a:pt x="14" y="152"/>
                      </a:cubicBezTo>
                      <a:cubicBezTo>
                        <a:pt x="18" y="141"/>
                        <a:pt x="23" y="140"/>
                        <a:pt x="32" y="134"/>
                      </a:cubicBezTo>
                      <a:cubicBezTo>
                        <a:pt x="37" y="127"/>
                        <a:pt x="37" y="123"/>
                        <a:pt x="44" y="118"/>
                      </a:cubicBezTo>
                      <a:cubicBezTo>
                        <a:pt x="64" y="121"/>
                        <a:pt x="55" y="122"/>
                        <a:pt x="72" y="116"/>
                      </a:cubicBezTo>
                      <a:cubicBezTo>
                        <a:pt x="76" y="115"/>
                        <a:pt x="84" y="112"/>
                        <a:pt x="84" y="112"/>
                      </a:cubicBezTo>
                      <a:cubicBezTo>
                        <a:pt x="105" y="119"/>
                        <a:pt x="97" y="84"/>
                        <a:pt x="114" y="78"/>
                      </a:cubicBezTo>
                      <a:cubicBezTo>
                        <a:pt x="117" y="87"/>
                        <a:pt x="110" y="89"/>
                        <a:pt x="120" y="92"/>
                      </a:cubicBezTo>
                      <a:cubicBezTo>
                        <a:pt x="125" y="85"/>
                        <a:pt x="125" y="81"/>
                        <a:pt x="132" y="76"/>
                      </a:cubicBezTo>
                      <a:cubicBezTo>
                        <a:pt x="138" y="68"/>
                        <a:pt x="146" y="65"/>
                        <a:pt x="150" y="54"/>
                      </a:cubicBezTo>
                      <a:cubicBezTo>
                        <a:pt x="151" y="50"/>
                        <a:pt x="154" y="42"/>
                        <a:pt x="154" y="42"/>
                      </a:cubicBezTo>
                      <a:cubicBezTo>
                        <a:pt x="152" y="41"/>
                        <a:pt x="148" y="40"/>
                        <a:pt x="148" y="38"/>
                      </a:cubicBezTo>
                      <a:cubicBezTo>
                        <a:pt x="148" y="36"/>
                        <a:pt x="161" y="33"/>
                        <a:pt x="152" y="32"/>
                      </a:cubicBezTo>
                      <a:lnTo>
                        <a:pt x="158" y="24"/>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77" name="Freeform 46"/>
                <p:cNvSpPr>
                  <a:spLocks/>
                </p:cNvSpPr>
                <p:nvPr userDrawn="1"/>
              </p:nvSpPr>
              <p:spPr bwMode="ltGray">
                <a:xfrm>
                  <a:off x="2677" y="233"/>
                  <a:ext cx="14" cy="10"/>
                </a:xfrm>
                <a:custGeom>
                  <a:avLst/>
                  <a:gdLst>
                    <a:gd name="T0" fmla="*/ 0 w 13"/>
                    <a:gd name="T1" fmla="*/ 5 h 13"/>
                    <a:gd name="T2" fmla="*/ 4 w 13"/>
                    <a:gd name="T3" fmla="*/ 8 h 13"/>
                    <a:gd name="T4" fmla="*/ 0 w 13"/>
                    <a:gd name="T5" fmla="*/ 5 h 13"/>
                    <a:gd name="T6" fmla="*/ 0 60000 65536"/>
                    <a:gd name="T7" fmla="*/ 0 60000 65536"/>
                    <a:gd name="T8" fmla="*/ 0 60000 65536"/>
                  </a:gdLst>
                  <a:ahLst/>
                  <a:cxnLst>
                    <a:cxn ang="T6">
                      <a:pos x="T0" y="T1"/>
                    </a:cxn>
                    <a:cxn ang="T7">
                      <a:pos x="T2" y="T3"/>
                    </a:cxn>
                    <a:cxn ang="T8">
                      <a:pos x="T4" y="T5"/>
                    </a:cxn>
                  </a:cxnLst>
                  <a:rect l="0" t="0" r="r" b="b"/>
                  <a:pathLst>
                    <a:path w="13" h="13">
                      <a:moveTo>
                        <a:pt x="0" y="9"/>
                      </a:moveTo>
                      <a:cubicBezTo>
                        <a:pt x="6" y="0"/>
                        <a:pt x="13" y="7"/>
                        <a:pt x="4" y="13"/>
                      </a:cubicBezTo>
                      <a:cubicBezTo>
                        <a:pt x="0" y="6"/>
                        <a:pt x="0" y="5"/>
                        <a:pt x="0" y="9"/>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78" name="Freeform 47"/>
                <p:cNvSpPr>
                  <a:spLocks/>
                </p:cNvSpPr>
                <p:nvPr userDrawn="1"/>
              </p:nvSpPr>
              <p:spPr bwMode="ltGray">
                <a:xfrm>
                  <a:off x="1627" y="353"/>
                  <a:ext cx="813" cy="462"/>
                </a:xfrm>
                <a:custGeom>
                  <a:avLst/>
                  <a:gdLst>
                    <a:gd name="T0" fmla="*/ 814 w 812"/>
                    <a:gd name="T1" fmla="*/ 17 h 564"/>
                    <a:gd name="T2" fmla="*/ 780 w 812"/>
                    <a:gd name="T3" fmla="*/ 52 h 564"/>
                    <a:gd name="T4" fmla="*/ 750 w 812"/>
                    <a:gd name="T5" fmla="*/ 82 h 564"/>
                    <a:gd name="T6" fmla="*/ 724 w 812"/>
                    <a:gd name="T7" fmla="*/ 95 h 564"/>
                    <a:gd name="T8" fmla="*/ 636 w 812"/>
                    <a:gd name="T9" fmla="*/ 120 h 564"/>
                    <a:gd name="T10" fmla="*/ 634 w 812"/>
                    <a:gd name="T11" fmla="*/ 141 h 564"/>
                    <a:gd name="T12" fmla="*/ 606 w 812"/>
                    <a:gd name="T13" fmla="*/ 154 h 564"/>
                    <a:gd name="T14" fmla="*/ 622 w 812"/>
                    <a:gd name="T15" fmla="*/ 120 h 564"/>
                    <a:gd name="T16" fmla="*/ 578 w 812"/>
                    <a:gd name="T17" fmla="*/ 126 h 564"/>
                    <a:gd name="T18" fmla="*/ 558 w 812"/>
                    <a:gd name="T19" fmla="*/ 147 h 564"/>
                    <a:gd name="T20" fmla="*/ 598 w 812"/>
                    <a:gd name="T21" fmla="*/ 188 h 564"/>
                    <a:gd name="T22" fmla="*/ 596 w 812"/>
                    <a:gd name="T23" fmla="*/ 247 h 564"/>
                    <a:gd name="T24" fmla="*/ 544 w 812"/>
                    <a:gd name="T25" fmla="*/ 273 h 564"/>
                    <a:gd name="T26" fmla="*/ 524 w 812"/>
                    <a:gd name="T27" fmla="*/ 259 h 564"/>
                    <a:gd name="T28" fmla="*/ 484 w 812"/>
                    <a:gd name="T29" fmla="*/ 233 h 564"/>
                    <a:gd name="T30" fmla="*/ 464 w 812"/>
                    <a:gd name="T31" fmla="*/ 233 h 564"/>
                    <a:gd name="T32" fmla="*/ 452 w 812"/>
                    <a:gd name="T33" fmla="*/ 265 h 564"/>
                    <a:gd name="T34" fmla="*/ 502 w 812"/>
                    <a:gd name="T35" fmla="*/ 311 h 564"/>
                    <a:gd name="T36" fmla="*/ 512 w 812"/>
                    <a:gd name="T37" fmla="*/ 351 h 564"/>
                    <a:gd name="T38" fmla="*/ 528 w 812"/>
                    <a:gd name="T39" fmla="*/ 376 h 564"/>
                    <a:gd name="T40" fmla="*/ 494 w 812"/>
                    <a:gd name="T41" fmla="*/ 365 h 564"/>
                    <a:gd name="T42" fmla="*/ 472 w 812"/>
                    <a:gd name="T43" fmla="*/ 347 h 564"/>
                    <a:gd name="T44" fmla="*/ 424 w 812"/>
                    <a:gd name="T45" fmla="*/ 284 h 564"/>
                    <a:gd name="T46" fmla="*/ 428 w 812"/>
                    <a:gd name="T47" fmla="*/ 208 h 564"/>
                    <a:gd name="T48" fmla="*/ 424 w 812"/>
                    <a:gd name="T49" fmla="*/ 180 h 564"/>
                    <a:gd name="T50" fmla="*/ 414 w 812"/>
                    <a:gd name="T51" fmla="*/ 185 h 564"/>
                    <a:gd name="T52" fmla="*/ 386 w 812"/>
                    <a:gd name="T53" fmla="*/ 179 h 564"/>
                    <a:gd name="T54" fmla="*/ 360 w 812"/>
                    <a:gd name="T55" fmla="*/ 114 h 564"/>
                    <a:gd name="T56" fmla="*/ 330 w 812"/>
                    <a:gd name="T57" fmla="*/ 111 h 564"/>
                    <a:gd name="T58" fmla="*/ 288 w 812"/>
                    <a:gd name="T59" fmla="*/ 116 h 564"/>
                    <a:gd name="T60" fmla="*/ 242 w 812"/>
                    <a:gd name="T61" fmla="*/ 156 h 564"/>
                    <a:gd name="T62" fmla="*/ 196 w 812"/>
                    <a:gd name="T63" fmla="*/ 180 h 564"/>
                    <a:gd name="T64" fmla="*/ 184 w 812"/>
                    <a:gd name="T65" fmla="*/ 183 h 564"/>
                    <a:gd name="T66" fmla="*/ 160 w 812"/>
                    <a:gd name="T67" fmla="*/ 220 h 564"/>
                    <a:gd name="T68" fmla="*/ 152 w 812"/>
                    <a:gd name="T69" fmla="*/ 238 h 564"/>
                    <a:gd name="T70" fmla="*/ 128 w 812"/>
                    <a:gd name="T71" fmla="*/ 271 h 564"/>
                    <a:gd name="T72" fmla="*/ 94 w 812"/>
                    <a:gd name="T73" fmla="*/ 263 h 564"/>
                    <a:gd name="T74" fmla="*/ 66 w 812"/>
                    <a:gd name="T75" fmla="*/ 173 h 564"/>
                    <a:gd name="T76" fmla="*/ 72 w 812"/>
                    <a:gd name="T77" fmla="*/ 105 h 564"/>
                    <a:gd name="T78" fmla="*/ 44 w 812"/>
                    <a:gd name="T79" fmla="*/ 120 h 564"/>
                    <a:gd name="T80" fmla="*/ 20 w 812"/>
                    <a:gd name="T81" fmla="*/ 101 h 564"/>
                    <a:gd name="T82" fmla="*/ 24 w 812"/>
                    <a:gd name="T83" fmla="*/ 93 h 564"/>
                    <a:gd name="T84" fmla="*/ 0 w 812"/>
                    <a:gd name="T85" fmla="*/ 61 h 564"/>
                    <a:gd name="T86" fmla="*/ 800 w 812"/>
                    <a:gd name="T87" fmla="*/ 4 h 564"/>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0" t="0" r="r" b="b"/>
                  <a:pathLst>
                    <a:path w="812" h="564">
                      <a:moveTo>
                        <a:pt x="798" y="6"/>
                      </a:moveTo>
                      <a:cubicBezTo>
                        <a:pt x="801" y="15"/>
                        <a:pt x="809" y="16"/>
                        <a:pt x="812" y="26"/>
                      </a:cubicBezTo>
                      <a:cubicBezTo>
                        <a:pt x="809" y="36"/>
                        <a:pt x="801" y="41"/>
                        <a:pt x="796" y="50"/>
                      </a:cubicBezTo>
                      <a:cubicBezTo>
                        <a:pt x="791" y="61"/>
                        <a:pt x="788" y="71"/>
                        <a:pt x="778" y="78"/>
                      </a:cubicBezTo>
                      <a:cubicBezTo>
                        <a:pt x="773" y="85"/>
                        <a:pt x="771" y="88"/>
                        <a:pt x="774" y="96"/>
                      </a:cubicBezTo>
                      <a:cubicBezTo>
                        <a:pt x="767" y="107"/>
                        <a:pt x="758" y="114"/>
                        <a:pt x="748" y="122"/>
                      </a:cubicBezTo>
                      <a:cubicBezTo>
                        <a:pt x="744" y="125"/>
                        <a:pt x="736" y="130"/>
                        <a:pt x="736" y="130"/>
                      </a:cubicBezTo>
                      <a:cubicBezTo>
                        <a:pt x="740" y="141"/>
                        <a:pt x="731" y="140"/>
                        <a:pt x="722" y="142"/>
                      </a:cubicBezTo>
                      <a:cubicBezTo>
                        <a:pt x="716" y="148"/>
                        <a:pt x="712" y="151"/>
                        <a:pt x="704" y="154"/>
                      </a:cubicBezTo>
                      <a:cubicBezTo>
                        <a:pt x="686" y="150"/>
                        <a:pt x="650" y="169"/>
                        <a:pt x="634" y="180"/>
                      </a:cubicBezTo>
                      <a:cubicBezTo>
                        <a:pt x="636" y="189"/>
                        <a:pt x="631" y="193"/>
                        <a:pt x="640" y="196"/>
                      </a:cubicBezTo>
                      <a:cubicBezTo>
                        <a:pt x="643" y="205"/>
                        <a:pt x="640" y="207"/>
                        <a:pt x="632" y="210"/>
                      </a:cubicBezTo>
                      <a:cubicBezTo>
                        <a:pt x="626" y="219"/>
                        <a:pt x="623" y="226"/>
                        <a:pt x="614" y="232"/>
                      </a:cubicBezTo>
                      <a:cubicBezTo>
                        <a:pt x="611" y="231"/>
                        <a:pt x="606" y="233"/>
                        <a:pt x="604" y="230"/>
                      </a:cubicBezTo>
                      <a:cubicBezTo>
                        <a:pt x="599" y="220"/>
                        <a:pt x="610" y="199"/>
                        <a:pt x="620" y="196"/>
                      </a:cubicBezTo>
                      <a:cubicBezTo>
                        <a:pt x="623" y="187"/>
                        <a:pt x="617" y="187"/>
                        <a:pt x="620" y="178"/>
                      </a:cubicBezTo>
                      <a:cubicBezTo>
                        <a:pt x="617" y="164"/>
                        <a:pt x="609" y="168"/>
                        <a:pt x="598" y="172"/>
                      </a:cubicBezTo>
                      <a:cubicBezTo>
                        <a:pt x="592" y="180"/>
                        <a:pt x="585" y="185"/>
                        <a:pt x="576" y="188"/>
                      </a:cubicBezTo>
                      <a:cubicBezTo>
                        <a:pt x="572" y="194"/>
                        <a:pt x="568" y="200"/>
                        <a:pt x="564" y="206"/>
                      </a:cubicBezTo>
                      <a:cubicBezTo>
                        <a:pt x="561" y="210"/>
                        <a:pt x="556" y="218"/>
                        <a:pt x="556" y="218"/>
                      </a:cubicBezTo>
                      <a:cubicBezTo>
                        <a:pt x="558" y="234"/>
                        <a:pt x="559" y="243"/>
                        <a:pt x="572" y="252"/>
                      </a:cubicBezTo>
                      <a:cubicBezTo>
                        <a:pt x="579" y="262"/>
                        <a:pt x="586" y="273"/>
                        <a:pt x="596" y="280"/>
                      </a:cubicBezTo>
                      <a:cubicBezTo>
                        <a:pt x="598" y="286"/>
                        <a:pt x="602" y="298"/>
                        <a:pt x="602" y="298"/>
                      </a:cubicBezTo>
                      <a:cubicBezTo>
                        <a:pt x="601" y="308"/>
                        <a:pt x="599" y="361"/>
                        <a:pt x="594" y="368"/>
                      </a:cubicBezTo>
                      <a:cubicBezTo>
                        <a:pt x="590" y="374"/>
                        <a:pt x="576" y="378"/>
                        <a:pt x="570" y="382"/>
                      </a:cubicBezTo>
                      <a:cubicBezTo>
                        <a:pt x="563" y="393"/>
                        <a:pt x="550" y="396"/>
                        <a:pt x="542" y="406"/>
                      </a:cubicBezTo>
                      <a:cubicBezTo>
                        <a:pt x="536" y="413"/>
                        <a:pt x="539" y="417"/>
                        <a:pt x="530" y="420"/>
                      </a:cubicBezTo>
                      <a:cubicBezTo>
                        <a:pt x="526" y="408"/>
                        <a:pt x="538" y="391"/>
                        <a:pt x="522" y="386"/>
                      </a:cubicBezTo>
                      <a:cubicBezTo>
                        <a:pt x="516" y="377"/>
                        <a:pt x="510" y="364"/>
                        <a:pt x="502" y="356"/>
                      </a:cubicBezTo>
                      <a:cubicBezTo>
                        <a:pt x="497" y="341"/>
                        <a:pt x="505" y="360"/>
                        <a:pt x="482" y="348"/>
                      </a:cubicBezTo>
                      <a:cubicBezTo>
                        <a:pt x="478" y="346"/>
                        <a:pt x="478" y="339"/>
                        <a:pt x="474" y="336"/>
                      </a:cubicBezTo>
                      <a:cubicBezTo>
                        <a:pt x="470" y="323"/>
                        <a:pt x="466" y="342"/>
                        <a:pt x="462" y="348"/>
                      </a:cubicBezTo>
                      <a:cubicBezTo>
                        <a:pt x="460" y="358"/>
                        <a:pt x="456" y="363"/>
                        <a:pt x="454" y="374"/>
                      </a:cubicBezTo>
                      <a:cubicBezTo>
                        <a:pt x="457" y="383"/>
                        <a:pt x="455" y="387"/>
                        <a:pt x="450" y="394"/>
                      </a:cubicBezTo>
                      <a:cubicBezTo>
                        <a:pt x="454" y="399"/>
                        <a:pt x="464" y="411"/>
                        <a:pt x="466" y="418"/>
                      </a:cubicBezTo>
                      <a:cubicBezTo>
                        <a:pt x="474" y="443"/>
                        <a:pt x="472" y="458"/>
                        <a:pt x="500" y="464"/>
                      </a:cubicBezTo>
                      <a:cubicBezTo>
                        <a:pt x="507" y="469"/>
                        <a:pt x="510" y="474"/>
                        <a:pt x="516" y="480"/>
                      </a:cubicBezTo>
                      <a:cubicBezTo>
                        <a:pt x="511" y="494"/>
                        <a:pt x="513" y="509"/>
                        <a:pt x="510" y="524"/>
                      </a:cubicBezTo>
                      <a:cubicBezTo>
                        <a:pt x="512" y="537"/>
                        <a:pt x="511" y="541"/>
                        <a:pt x="522" y="548"/>
                      </a:cubicBezTo>
                      <a:cubicBezTo>
                        <a:pt x="523" y="552"/>
                        <a:pt x="525" y="556"/>
                        <a:pt x="526" y="560"/>
                      </a:cubicBezTo>
                      <a:cubicBezTo>
                        <a:pt x="527" y="564"/>
                        <a:pt x="514" y="556"/>
                        <a:pt x="514" y="556"/>
                      </a:cubicBezTo>
                      <a:cubicBezTo>
                        <a:pt x="502" y="564"/>
                        <a:pt x="501" y="551"/>
                        <a:pt x="492" y="544"/>
                      </a:cubicBezTo>
                      <a:cubicBezTo>
                        <a:pt x="488" y="541"/>
                        <a:pt x="480" y="536"/>
                        <a:pt x="480" y="536"/>
                      </a:cubicBezTo>
                      <a:cubicBezTo>
                        <a:pt x="471" y="522"/>
                        <a:pt x="474" y="529"/>
                        <a:pt x="470" y="518"/>
                      </a:cubicBezTo>
                      <a:cubicBezTo>
                        <a:pt x="467" y="491"/>
                        <a:pt x="461" y="446"/>
                        <a:pt x="436" y="430"/>
                      </a:cubicBezTo>
                      <a:cubicBezTo>
                        <a:pt x="428" y="433"/>
                        <a:pt x="425" y="433"/>
                        <a:pt x="422" y="424"/>
                      </a:cubicBezTo>
                      <a:cubicBezTo>
                        <a:pt x="427" y="404"/>
                        <a:pt x="432" y="383"/>
                        <a:pt x="438" y="364"/>
                      </a:cubicBezTo>
                      <a:cubicBezTo>
                        <a:pt x="436" y="343"/>
                        <a:pt x="431" y="330"/>
                        <a:pt x="426" y="310"/>
                      </a:cubicBezTo>
                      <a:cubicBezTo>
                        <a:pt x="429" y="302"/>
                        <a:pt x="425" y="300"/>
                        <a:pt x="422" y="292"/>
                      </a:cubicBezTo>
                      <a:cubicBezTo>
                        <a:pt x="424" y="282"/>
                        <a:pt x="428" y="277"/>
                        <a:pt x="422" y="268"/>
                      </a:cubicBezTo>
                      <a:cubicBezTo>
                        <a:pt x="420" y="269"/>
                        <a:pt x="418" y="269"/>
                        <a:pt x="416" y="270"/>
                      </a:cubicBezTo>
                      <a:cubicBezTo>
                        <a:pt x="414" y="272"/>
                        <a:pt x="414" y="275"/>
                        <a:pt x="412" y="276"/>
                      </a:cubicBezTo>
                      <a:cubicBezTo>
                        <a:pt x="408" y="278"/>
                        <a:pt x="400" y="280"/>
                        <a:pt x="400" y="280"/>
                      </a:cubicBezTo>
                      <a:cubicBezTo>
                        <a:pt x="394" y="274"/>
                        <a:pt x="389" y="274"/>
                        <a:pt x="386" y="266"/>
                      </a:cubicBezTo>
                      <a:cubicBezTo>
                        <a:pt x="391" y="251"/>
                        <a:pt x="379" y="206"/>
                        <a:pt x="364" y="196"/>
                      </a:cubicBezTo>
                      <a:cubicBezTo>
                        <a:pt x="357" y="186"/>
                        <a:pt x="358" y="182"/>
                        <a:pt x="360" y="170"/>
                      </a:cubicBezTo>
                      <a:cubicBezTo>
                        <a:pt x="358" y="160"/>
                        <a:pt x="356" y="147"/>
                        <a:pt x="346" y="144"/>
                      </a:cubicBezTo>
                      <a:cubicBezTo>
                        <a:pt x="343" y="154"/>
                        <a:pt x="338" y="160"/>
                        <a:pt x="330" y="166"/>
                      </a:cubicBezTo>
                      <a:cubicBezTo>
                        <a:pt x="323" y="164"/>
                        <a:pt x="308" y="160"/>
                        <a:pt x="308" y="160"/>
                      </a:cubicBezTo>
                      <a:cubicBezTo>
                        <a:pt x="296" y="162"/>
                        <a:pt x="297" y="166"/>
                        <a:pt x="288" y="172"/>
                      </a:cubicBezTo>
                      <a:cubicBezTo>
                        <a:pt x="284" y="185"/>
                        <a:pt x="282" y="191"/>
                        <a:pt x="268" y="196"/>
                      </a:cubicBezTo>
                      <a:cubicBezTo>
                        <a:pt x="264" y="200"/>
                        <a:pt x="243" y="231"/>
                        <a:pt x="242" y="232"/>
                      </a:cubicBezTo>
                      <a:cubicBezTo>
                        <a:pt x="231" y="239"/>
                        <a:pt x="215" y="247"/>
                        <a:pt x="206" y="256"/>
                      </a:cubicBezTo>
                      <a:cubicBezTo>
                        <a:pt x="202" y="260"/>
                        <a:pt x="200" y="265"/>
                        <a:pt x="196" y="268"/>
                      </a:cubicBezTo>
                      <a:cubicBezTo>
                        <a:pt x="194" y="269"/>
                        <a:pt x="192" y="269"/>
                        <a:pt x="190" y="270"/>
                      </a:cubicBezTo>
                      <a:cubicBezTo>
                        <a:pt x="188" y="271"/>
                        <a:pt x="186" y="272"/>
                        <a:pt x="184" y="274"/>
                      </a:cubicBezTo>
                      <a:cubicBezTo>
                        <a:pt x="180" y="278"/>
                        <a:pt x="172" y="286"/>
                        <a:pt x="172" y="286"/>
                      </a:cubicBezTo>
                      <a:cubicBezTo>
                        <a:pt x="167" y="300"/>
                        <a:pt x="165" y="314"/>
                        <a:pt x="160" y="328"/>
                      </a:cubicBezTo>
                      <a:cubicBezTo>
                        <a:pt x="158" y="335"/>
                        <a:pt x="156" y="341"/>
                        <a:pt x="154" y="348"/>
                      </a:cubicBezTo>
                      <a:cubicBezTo>
                        <a:pt x="153" y="350"/>
                        <a:pt x="152" y="354"/>
                        <a:pt x="152" y="354"/>
                      </a:cubicBezTo>
                      <a:cubicBezTo>
                        <a:pt x="152" y="359"/>
                        <a:pt x="156" y="384"/>
                        <a:pt x="146" y="392"/>
                      </a:cubicBezTo>
                      <a:cubicBezTo>
                        <a:pt x="141" y="397"/>
                        <a:pt x="128" y="404"/>
                        <a:pt x="128" y="404"/>
                      </a:cubicBezTo>
                      <a:cubicBezTo>
                        <a:pt x="125" y="412"/>
                        <a:pt x="122" y="421"/>
                        <a:pt x="114" y="424"/>
                      </a:cubicBezTo>
                      <a:cubicBezTo>
                        <a:pt x="100" y="419"/>
                        <a:pt x="97" y="405"/>
                        <a:pt x="94" y="392"/>
                      </a:cubicBezTo>
                      <a:cubicBezTo>
                        <a:pt x="86" y="362"/>
                        <a:pt x="82" y="332"/>
                        <a:pt x="72" y="302"/>
                      </a:cubicBezTo>
                      <a:cubicBezTo>
                        <a:pt x="71" y="281"/>
                        <a:pt x="70" y="275"/>
                        <a:pt x="66" y="258"/>
                      </a:cubicBezTo>
                      <a:cubicBezTo>
                        <a:pt x="66" y="251"/>
                        <a:pt x="68" y="219"/>
                        <a:pt x="64" y="208"/>
                      </a:cubicBezTo>
                      <a:cubicBezTo>
                        <a:pt x="70" y="191"/>
                        <a:pt x="66" y="173"/>
                        <a:pt x="72" y="156"/>
                      </a:cubicBezTo>
                      <a:cubicBezTo>
                        <a:pt x="66" y="139"/>
                        <a:pt x="60" y="168"/>
                        <a:pt x="56" y="172"/>
                      </a:cubicBezTo>
                      <a:cubicBezTo>
                        <a:pt x="53" y="175"/>
                        <a:pt x="44" y="180"/>
                        <a:pt x="44" y="180"/>
                      </a:cubicBezTo>
                      <a:cubicBezTo>
                        <a:pt x="35" y="177"/>
                        <a:pt x="28" y="173"/>
                        <a:pt x="24" y="162"/>
                      </a:cubicBezTo>
                      <a:cubicBezTo>
                        <a:pt x="23" y="158"/>
                        <a:pt x="20" y="150"/>
                        <a:pt x="20" y="150"/>
                      </a:cubicBezTo>
                      <a:cubicBezTo>
                        <a:pt x="30" y="148"/>
                        <a:pt x="30" y="143"/>
                        <a:pt x="38" y="138"/>
                      </a:cubicBezTo>
                      <a:cubicBezTo>
                        <a:pt x="35" y="128"/>
                        <a:pt x="31" y="133"/>
                        <a:pt x="24" y="138"/>
                      </a:cubicBezTo>
                      <a:cubicBezTo>
                        <a:pt x="15" y="135"/>
                        <a:pt x="15" y="132"/>
                        <a:pt x="18" y="124"/>
                      </a:cubicBezTo>
                      <a:cubicBezTo>
                        <a:pt x="11" y="114"/>
                        <a:pt x="9" y="101"/>
                        <a:pt x="0" y="92"/>
                      </a:cubicBezTo>
                      <a:lnTo>
                        <a:pt x="76" y="0"/>
                      </a:lnTo>
                      <a:lnTo>
                        <a:pt x="798" y="6"/>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79" name="Freeform 48"/>
                <p:cNvSpPr>
                  <a:spLocks/>
                </p:cNvSpPr>
                <p:nvPr userDrawn="1"/>
              </p:nvSpPr>
              <p:spPr bwMode="ltGray">
                <a:xfrm>
                  <a:off x="1770" y="671"/>
                  <a:ext cx="45" cy="71"/>
                </a:xfrm>
                <a:custGeom>
                  <a:avLst/>
                  <a:gdLst>
                    <a:gd name="T0" fmla="*/ 7 w 43"/>
                    <a:gd name="T1" fmla="*/ 8 h 85"/>
                    <a:gd name="T2" fmla="*/ 19 w 43"/>
                    <a:gd name="T3" fmla="*/ 3 h 85"/>
                    <a:gd name="T4" fmla="*/ 41 w 43"/>
                    <a:gd name="T5" fmla="*/ 23 h 85"/>
                    <a:gd name="T6" fmla="*/ 21 w 43"/>
                    <a:gd name="T7" fmla="*/ 59 h 85"/>
                    <a:gd name="T8" fmla="*/ 1 w 43"/>
                    <a:gd name="T9" fmla="*/ 48 h 85"/>
                    <a:gd name="T10" fmla="*/ 7 w 43"/>
                    <a:gd name="T11" fmla="*/ 8 h 85"/>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3" h="85">
                      <a:moveTo>
                        <a:pt x="7" y="11"/>
                      </a:moveTo>
                      <a:cubicBezTo>
                        <a:pt x="4" y="2"/>
                        <a:pt x="9" y="0"/>
                        <a:pt x="17" y="3"/>
                      </a:cubicBezTo>
                      <a:cubicBezTo>
                        <a:pt x="24" y="13"/>
                        <a:pt x="28" y="24"/>
                        <a:pt x="37" y="33"/>
                      </a:cubicBezTo>
                      <a:cubicBezTo>
                        <a:pt x="43" y="52"/>
                        <a:pt x="40" y="78"/>
                        <a:pt x="19" y="85"/>
                      </a:cubicBezTo>
                      <a:cubicBezTo>
                        <a:pt x="6" y="81"/>
                        <a:pt x="5" y="81"/>
                        <a:pt x="1" y="69"/>
                      </a:cubicBezTo>
                      <a:cubicBezTo>
                        <a:pt x="2" y="66"/>
                        <a:pt x="0" y="4"/>
                        <a:pt x="7" y="11"/>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80" name="Freeform 49"/>
                <p:cNvSpPr>
                  <a:spLocks/>
                </p:cNvSpPr>
                <p:nvPr userDrawn="1"/>
              </p:nvSpPr>
              <p:spPr bwMode="ltGray">
                <a:xfrm>
                  <a:off x="2394" y="431"/>
                  <a:ext cx="42" cy="59"/>
                </a:xfrm>
                <a:custGeom>
                  <a:avLst/>
                  <a:gdLst>
                    <a:gd name="T0" fmla="*/ 11 w 44"/>
                    <a:gd name="T1" fmla="*/ 18 h 74"/>
                    <a:gd name="T2" fmla="*/ 27 w 44"/>
                    <a:gd name="T3" fmla="*/ 2 h 74"/>
                    <a:gd name="T4" fmla="*/ 39 w 44"/>
                    <a:gd name="T5" fmla="*/ 2 h 74"/>
                    <a:gd name="T6" fmla="*/ 35 w 44"/>
                    <a:gd name="T7" fmla="*/ 17 h 74"/>
                    <a:gd name="T8" fmla="*/ 11 w 44"/>
                    <a:gd name="T9" fmla="*/ 47 h 74"/>
                    <a:gd name="T10" fmla="*/ 7 w 44"/>
                    <a:gd name="T11" fmla="*/ 38 h 74"/>
                    <a:gd name="T12" fmla="*/ 3 w 44"/>
                    <a:gd name="T13" fmla="*/ 23 h 74"/>
                    <a:gd name="T14" fmla="*/ 11 w 44"/>
                    <a:gd name="T15" fmla="*/ 18 h 7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44" h="74">
                      <a:moveTo>
                        <a:pt x="13" y="28"/>
                      </a:moveTo>
                      <a:cubicBezTo>
                        <a:pt x="15" y="13"/>
                        <a:pt x="14" y="7"/>
                        <a:pt x="29" y="2"/>
                      </a:cubicBezTo>
                      <a:cubicBezTo>
                        <a:pt x="34" y="3"/>
                        <a:pt x="40" y="0"/>
                        <a:pt x="43" y="4"/>
                      </a:cubicBezTo>
                      <a:cubicBezTo>
                        <a:pt x="44" y="6"/>
                        <a:pt x="41" y="21"/>
                        <a:pt x="39" y="26"/>
                      </a:cubicBezTo>
                      <a:cubicBezTo>
                        <a:pt x="31" y="43"/>
                        <a:pt x="30" y="63"/>
                        <a:pt x="13" y="74"/>
                      </a:cubicBezTo>
                      <a:cubicBezTo>
                        <a:pt x="4" y="71"/>
                        <a:pt x="4" y="68"/>
                        <a:pt x="7" y="60"/>
                      </a:cubicBezTo>
                      <a:cubicBezTo>
                        <a:pt x="5" y="50"/>
                        <a:pt x="0" y="46"/>
                        <a:pt x="3" y="36"/>
                      </a:cubicBezTo>
                      <a:cubicBezTo>
                        <a:pt x="4" y="32"/>
                        <a:pt x="8" y="23"/>
                        <a:pt x="13" y="2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81" name="Freeform 50"/>
                <p:cNvSpPr>
                  <a:spLocks/>
                </p:cNvSpPr>
                <p:nvPr userDrawn="1"/>
              </p:nvSpPr>
              <p:spPr bwMode="ltGray">
                <a:xfrm>
                  <a:off x="2513" y="402"/>
                  <a:ext cx="21" cy="24"/>
                </a:xfrm>
                <a:custGeom>
                  <a:avLst/>
                  <a:gdLst>
                    <a:gd name="T0" fmla="*/ 7 w 20"/>
                    <a:gd name="T1" fmla="*/ 10 h 30"/>
                    <a:gd name="T2" fmla="*/ 5 w 20"/>
                    <a:gd name="T3" fmla="*/ 19 h 30"/>
                    <a:gd name="T4" fmla="*/ 7 w 20"/>
                    <a:gd name="T5" fmla="*/ 10 h 30"/>
                    <a:gd name="T6" fmla="*/ 0 60000 65536"/>
                    <a:gd name="T7" fmla="*/ 0 60000 65536"/>
                    <a:gd name="T8" fmla="*/ 0 60000 65536"/>
                  </a:gdLst>
                  <a:ahLst/>
                  <a:cxnLst>
                    <a:cxn ang="T6">
                      <a:pos x="T0" y="T1"/>
                    </a:cxn>
                    <a:cxn ang="T7">
                      <a:pos x="T2" y="T3"/>
                    </a:cxn>
                    <a:cxn ang="T8">
                      <a:pos x="T4" y="T5"/>
                    </a:cxn>
                  </a:cxnLst>
                  <a:rect l="0" t="0" r="r" b="b"/>
                  <a:pathLst>
                    <a:path w="20" h="30">
                      <a:moveTo>
                        <a:pt x="7" y="16"/>
                      </a:moveTo>
                      <a:cubicBezTo>
                        <a:pt x="18" y="0"/>
                        <a:pt x="20" y="20"/>
                        <a:pt x="5" y="30"/>
                      </a:cubicBezTo>
                      <a:cubicBezTo>
                        <a:pt x="0" y="23"/>
                        <a:pt x="1" y="22"/>
                        <a:pt x="7" y="16"/>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82" name="Freeform 51"/>
                <p:cNvSpPr>
                  <a:spLocks/>
                </p:cNvSpPr>
                <p:nvPr userDrawn="1"/>
              </p:nvSpPr>
              <p:spPr bwMode="ltGray">
                <a:xfrm>
                  <a:off x="333" y="169"/>
                  <a:ext cx="1015" cy="866"/>
                </a:xfrm>
                <a:custGeom>
                  <a:avLst/>
                  <a:gdLst>
                    <a:gd name="T0" fmla="*/ 1066 w 682"/>
                    <a:gd name="T1" fmla="*/ 1121 h 557"/>
                    <a:gd name="T2" fmla="*/ 1076 w 682"/>
                    <a:gd name="T3" fmla="*/ 1090 h 557"/>
                    <a:gd name="T4" fmla="*/ 1107 w 682"/>
                    <a:gd name="T5" fmla="*/ 998 h 557"/>
                    <a:gd name="T6" fmla="*/ 685 w 682"/>
                    <a:gd name="T7" fmla="*/ 693 h 557"/>
                    <a:gd name="T8" fmla="*/ 625 w 682"/>
                    <a:gd name="T9" fmla="*/ 836 h 557"/>
                    <a:gd name="T10" fmla="*/ 671 w 682"/>
                    <a:gd name="T11" fmla="*/ 1343 h 557"/>
                    <a:gd name="T12" fmla="*/ 625 w 682"/>
                    <a:gd name="T13" fmla="*/ 1194 h 557"/>
                    <a:gd name="T14" fmla="*/ 536 w 682"/>
                    <a:gd name="T15" fmla="*/ 1062 h 557"/>
                    <a:gd name="T16" fmla="*/ 543 w 682"/>
                    <a:gd name="T17" fmla="*/ 998 h 557"/>
                    <a:gd name="T18" fmla="*/ 548 w 682"/>
                    <a:gd name="T19" fmla="*/ 953 h 557"/>
                    <a:gd name="T20" fmla="*/ 487 w 682"/>
                    <a:gd name="T21" fmla="*/ 906 h 557"/>
                    <a:gd name="T22" fmla="*/ 430 w 682"/>
                    <a:gd name="T23" fmla="*/ 836 h 557"/>
                    <a:gd name="T24" fmla="*/ 327 w 682"/>
                    <a:gd name="T25" fmla="*/ 855 h 557"/>
                    <a:gd name="T26" fmla="*/ 280 w 682"/>
                    <a:gd name="T27" fmla="*/ 882 h 557"/>
                    <a:gd name="T28" fmla="*/ 173 w 682"/>
                    <a:gd name="T29" fmla="*/ 882 h 557"/>
                    <a:gd name="T30" fmla="*/ 49 w 682"/>
                    <a:gd name="T31" fmla="*/ 754 h 557"/>
                    <a:gd name="T32" fmla="*/ 24 w 682"/>
                    <a:gd name="T33" fmla="*/ 714 h 557"/>
                    <a:gd name="T34" fmla="*/ 0 w 682"/>
                    <a:gd name="T35" fmla="*/ 637 h 557"/>
                    <a:gd name="T36" fmla="*/ 54 w 682"/>
                    <a:gd name="T37" fmla="*/ 515 h 557"/>
                    <a:gd name="T38" fmla="*/ 71 w 682"/>
                    <a:gd name="T39" fmla="*/ 437 h 557"/>
                    <a:gd name="T40" fmla="*/ 113 w 682"/>
                    <a:gd name="T41" fmla="*/ 345 h 557"/>
                    <a:gd name="T42" fmla="*/ 180 w 682"/>
                    <a:gd name="T43" fmla="*/ 280 h 557"/>
                    <a:gd name="T44" fmla="*/ 371 w 682"/>
                    <a:gd name="T45" fmla="*/ 162 h 557"/>
                    <a:gd name="T46" fmla="*/ 487 w 682"/>
                    <a:gd name="T47" fmla="*/ 73 h 557"/>
                    <a:gd name="T48" fmla="*/ 571 w 682"/>
                    <a:gd name="T49" fmla="*/ 14 h 557"/>
                    <a:gd name="T50" fmla="*/ 804 w 682"/>
                    <a:gd name="T51" fmla="*/ 5 h 557"/>
                    <a:gd name="T52" fmla="*/ 881 w 682"/>
                    <a:gd name="T53" fmla="*/ 0 h 557"/>
                    <a:gd name="T54" fmla="*/ 850 w 682"/>
                    <a:gd name="T55" fmla="*/ 82 h 557"/>
                    <a:gd name="T56" fmla="*/ 981 w 682"/>
                    <a:gd name="T57" fmla="*/ 204 h 557"/>
                    <a:gd name="T58" fmla="*/ 1101 w 682"/>
                    <a:gd name="T59" fmla="*/ 179 h 557"/>
                    <a:gd name="T60" fmla="*/ 1171 w 682"/>
                    <a:gd name="T61" fmla="*/ 197 h 557"/>
                    <a:gd name="T62" fmla="*/ 1238 w 682"/>
                    <a:gd name="T63" fmla="*/ 235 h 557"/>
                    <a:gd name="T64" fmla="*/ 1267 w 682"/>
                    <a:gd name="T65" fmla="*/ 454 h 557"/>
                    <a:gd name="T66" fmla="*/ 1267 w 682"/>
                    <a:gd name="T67" fmla="*/ 580 h 557"/>
                    <a:gd name="T68" fmla="*/ 1326 w 682"/>
                    <a:gd name="T69" fmla="*/ 684 h 557"/>
                    <a:gd name="T70" fmla="*/ 1429 w 682"/>
                    <a:gd name="T71" fmla="*/ 725 h 557"/>
                    <a:gd name="T72" fmla="*/ 1506 w 682"/>
                    <a:gd name="T73" fmla="*/ 714 h 557"/>
                    <a:gd name="T74" fmla="*/ 1470 w 682"/>
                    <a:gd name="T75" fmla="*/ 822 h 557"/>
                    <a:gd name="T76" fmla="*/ 1326 w 682"/>
                    <a:gd name="T77" fmla="*/ 984 h 557"/>
                    <a:gd name="T78" fmla="*/ 1214 w 682"/>
                    <a:gd name="T79" fmla="*/ 1172 h 557"/>
                    <a:gd name="T80" fmla="*/ 1231 w 682"/>
                    <a:gd name="T81" fmla="*/ 1228 h 557"/>
                    <a:gd name="T82" fmla="*/ 963 w 682"/>
                    <a:gd name="T83" fmla="*/ 1343 h 557"/>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0" t="0" r="r" b="b"/>
                  <a:pathLst>
                    <a:path w="682" h="557">
                      <a:moveTo>
                        <a:pt x="435" y="556"/>
                      </a:moveTo>
                      <a:lnTo>
                        <a:pt x="481" y="464"/>
                      </a:lnTo>
                      <a:lnTo>
                        <a:pt x="473" y="449"/>
                      </a:lnTo>
                      <a:lnTo>
                        <a:pt x="486" y="451"/>
                      </a:lnTo>
                      <a:lnTo>
                        <a:pt x="495" y="441"/>
                      </a:lnTo>
                      <a:lnTo>
                        <a:pt x="500" y="413"/>
                      </a:lnTo>
                      <a:lnTo>
                        <a:pt x="500" y="371"/>
                      </a:lnTo>
                      <a:lnTo>
                        <a:pt x="309" y="287"/>
                      </a:lnTo>
                      <a:lnTo>
                        <a:pt x="296" y="308"/>
                      </a:lnTo>
                      <a:lnTo>
                        <a:pt x="282" y="346"/>
                      </a:lnTo>
                      <a:lnTo>
                        <a:pt x="396" y="557"/>
                      </a:lnTo>
                      <a:lnTo>
                        <a:pt x="303" y="556"/>
                      </a:lnTo>
                      <a:lnTo>
                        <a:pt x="304" y="536"/>
                      </a:lnTo>
                      <a:cubicBezTo>
                        <a:pt x="284" y="520"/>
                        <a:pt x="296" y="510"/>
                        <a:pt x="282" y="494"/>
                      </a:cubicBezTo>
                      <a:cubicBezTo>
                        <a:pt x="276" y="475"/>
                        <a:pt x="267" y="468"/>
                        <a:pt x="253" y="451"/>
                      </a:cubicBezTo>
                      <a:cubicBezTo>
                        <a:pt x="249" y="447"/>
                        <a:pt x="245" y="443"/>
                        <a:pt x="242" y="439"/>
                      </a:cubicBezTo>
                      <a:lnTo>
                        <a:pt x="237" y="432"/>
                      </a:lnTo>
                      <a:cubicBezTo>
                        <a:pt x="237" y="432"/>
                        <a:pt x="245" y="413"/>
                        <a:pt x="245" y="413"/>
                      </a:cubicBezTo>
                      <a:cubicBezTo>
                        <a:pt x="247" y="409"/>
                        <a:pt x="250" y="401"/>
                        <a:pt x="250" y="401"/>
                      </a:cubicBezTo>
                      <a:cubicBezTo>
                        <a:pt x="249" y="399"/>
                        <a:pt x="247" y="397"/>
                        <a:pt x="247" y="394"/>
                      </a:cubicBezTo>
                      <a:cubicBezTo>
                        <a:pt x="248" y="390"/>
                        <a:pt x="253" y="382"/>
                        <a:pt x="253" y="382"/>
                      </a:cubicBezTo>
                      <a:cubicBezTo>
                        <a:pt x="243" y="370"/>
                        <a:pt x="237" y="371"/>
                        <a:pt x="220" y="375"/>
                      </a:cubicBezTo>
                      <a:cubicBezTo>
                        <a:pt x="217" y="371"/>
                        <a:pt x="210" y="369"/>
                        <a:pt x="207" y="365"/>
                      </a:cubicBezTo>
                      <a:cubicBezTo>
                        <a:pt x="185" y="337"/>
                        <a:pt x="216" y="363"/>
                        <a:pt x="194" y="346"/>
                      </a:cubicBezTo>
                      <a:cubicBezTo>
                        <a:pt x="167" y="349"/>
                        <a:pt x="179" y="346"/>
                        <a:pt x="156" y="352"/>
                      </a:cubicBezTo>
                      <a:cubicBezTo>
                        <a:pt x="153" y="353"/>
                        <a:pt x="148" y="354"/>
                        <a:pt x="148" y="354"/>
                      </a:cubicBezTo>
                      <a:cubicBezTo>
                        <a:pt x="146" y="356"/>
                        <a:pt x="145" y="359"/>
                        <a:pt x="142" y="361"/>
                      </a:cubicBezTo>
                      <a:cubicBezTo>
                        <a:pt x="138" y="363"/>
                        <a:pt x="126" y="365"/>
                        <a:pt x="126" y="365"/>
                      </a:cubicBezTo>
                      <a:cubicBezTo>
                        <a:pt x="105" y="354"/>
                        <a:pt x="116" y="355"/>
                        <a:pt x="94" y="361"/>
                      </a:cubicBezTo>
                      <a:cubicBezTo>
                        <a:pt x="89" y="362"/>
                        <a:pt x="78" y="365"/>
                        <a:pt x="78" y="365"/>
                      </a:cubicBezTo>
                      <a:cubicBezTo>
                        <a:pt x="62" y="383"/>
                        <a:pt x="46" y="346"/>
                        <a:pt x="35" y="337"/>
                      </a:cubicBezTo>
                      <a:cubicBezTo>
                        <a:pt x="32" y="330"/>
                        <a:pt x="24" y="320"/>
                        <a:pt x="22" y="312"/>
                      </a:cubicBezTo>
                      <a:cubicBezTo>
                        <a:pt x="20" y="308"/>
                        <a:pt x="22" y="303"/>
                        <a:pt x="19" y="300"/>
                      </a:cubicBezTo>
                      <a:cubicBezTo>
                        <a:pt x="17" y="297"/>
                        <a:pt x="13" y="297"/>
                        <a:pt x="11" y="295"/>
                      </a:cubicBezTo>
                      <a:cubicBezTo>
                        <a:pt x="3" y="277"/>
                        <a:pt x="15" y="306"/>
                        <a:pt x="5" y="276"/>
                      </a:cubicBezTo>
                      <a:cubicBezTo>
                        <a:pt x="4" y="272"/>
                        <a:pt x="0" y="264"/>
                        <a:pt x="0" y="264"/>
                      </a:cubicBezTo>
                      <a:cubicBezTo>
                        <a:pt x="3" y="253"/>
                        <a:pt x="2" y="248"/>
                        <a:pt x="13" y="243"/>
                      </a:cubicBezTo>
                      <a:cubicBezTo>
                        <a:pt x="20" y="221"/>
                        <a:pt x="17" y="231"/>
                        <a:pt x="24" y="213"/>
                      </a:cubicBezTo>
                      <a:cubicBezTo>
                        <a:pt x="26" y="209"/>
                        <a:pt x="30" y="200"/>
                        <a:pt x="30" y="200"/>
                      </a:cubicBezTo>
                      <a:cubicBezTo>
                        <a:pt x="26" y="192"/>
                        <a:pt x="24" y="191"/>
                        <a:pt x="32" y="181"/>
                      </a:cubicBezTo>
                      <a:cubicBezTo>
                        <a:pt x="36" y="177"/>
                        <a:pt x="43" y="169"/>
                        <a:pt x="43" y="169"/>
                      </a:cubicBezTo>
                      <a:cubicBezTo>
                        <a:pt x="37" y="155"/>
                        <a:pt x="36" y="153"/>
                        <a:pt x="51" y="143"/>
                      </a:cubicBezTo>
                      <a:cubicBezTo>
                        <a:pt x="56" y="140"/>
                        <a:pt x="67" y="135"/>
                        <a:pt x="67" y="135"/>
                      </a:cubicBezTo>
                      <a:cubicBezTo>
                        <a:pt x="73" y="129"/>
                        <a:pt x="75" y="122"/>
                        <a:pt x="81" y="116"/>
                      </a:cubicBezTo>
                      <a:cubicBezTo>
                        <a:pt x="89" y="107"/>
                        <a:pt x="102" y="105"/>
                        <a:pt x="113" y="99"/>
                      </a:cubicBezTo>
                      <a:cubicBezTo>
                        <a:pt x="125" y="85"/>
                        <a:pt x="149" y="76"/>
                        <a:pt x="167" y="67"/>
                      </a:cubicBezTo>
                      <a:cubicBezTo>
                        <a:pt x="174" y="59"/>
                        <a:pt x="175" y="50"/>
                        <a:pt x="188" y="46"/>
                      </a:cubicBezTo>
                      <a:cubicBezTo>
                        <a:pt x="198" y="39"/>
                        <a:pt x="208" y="36"/>
                        <a:pt x="220" y="30"/>
                      </a:cubicBezTo>
                      <a:cubicBezTo>
                        <a:pt x="223" y="28"/>
                        <a:pt x="228" y="25"/>
                        <a:pt x="228" y="25"/>
                      </a:cubicBezTo>
                      <a:cubicBezTo>
                        <a:pt x="237" y="16"/>
                        <a:pt x="245" y="10"/>
                        <a:pt x="258" y="6"/>
                      </a:cubicBezTo>
                      <a:cubicBezTo>
                        <a:pt x="269" y="31"/>
                        <a:pt x="301" y="6"/>
                        <a:pt x="320" y="4"/>
                      </a:cubicBezTo>
                      <a:cubicBezTo>
                        <a:pt x="334" y="3"/>
                        <a:pt x="349" y="3"/>
                        <a:pt x="363" y="2"/>
                      </a:cubicBezTo>
                      <a:cubicBezTo>
                        <a:pt x="369" y="3"/>
                        <a:pt x="376" y="5"/>
                        <a:pt x="382" y="4"/>
                      </a:cubicBezTo>
                      <a:cubicBezTo>
                        <a:pt x="387" y="4"/>
                        <a:pt x="398" y="0"/>
                        <a:pt x="398" y="0"/>
                      </a:cubicBezTo>
                      <a:cubicBezTo>
                        <a:pt x="415" y="8"/>
                        <a:pt x="406" y="16"/>
                        <a:pt x="400" y="30"/>
                      </a:cubicBezTo>
                      <a:cubicBezTo>
                        <a:pt x="398" y="34"/>
                        <a:pt x="384" y="34"/>
                        <a:pt x="384" y="34"/>
                      </a:cubicBezTo>
                      <a:cubicBezTo>
                        <a:pt x="379" y="47"/>
                        <a:pt x="398" y="51"/>
                        <a:pt x="411" y="55"/>
                      </a:cubicBezTo>
                      <a:cubicBezTo>
                        <a:pt x="419" y="72"/>
                        <a:pt x="421" y="79"/>
                        <a:pt x="443" y="84"/>
                      </a:cubicBezTo>
                      <a:cubicBezTo>
                        <a:pt x="461" y="71"/>
                        <a:pt x="435" y="65"/>
                        <a:pt x="468" y="57"/>
                      </a:cubicBezTo>
                      <a:cubicBezTo>
                        <a:pt x="482" y="61"/>
                        <a:pt x="485" y="70"/>
                        <a:pt x="497" y="74"/>
                      </a:cubicBezTo>
                      <a:cubicBezTo>
                        <a:pt x="505" y="76"/>
                        <a:pt x="513" y="78"/>
                        <a:pt x="521" y="80"/>
                      </a:cubicBezTo>
                      <a:cubicBezTo>
                        <a:pt x="524" y="81"/>
                        <a:pt x="529" y="82"/>
                        <a:pt x="529" y="82"/>
                      </a:cubicBezTo>
                      <a:cubicBezTo>
                        <a:pt x="547" y="78"/>
                        <a:pt x="547" y="76"/>
                        <a:pt x="562" y="84"/>
                      </a:cubicBezTo>
                      <a:cubicBezTo>
                        <a:pt x="566" y="95"/>
                        <a:pt x="565" y="86"/>
                        <a:pt x="559" y="97"/>
                      </a:cubicBezTo>
                      <a:cubicBezTo>
                        <a:pt x="557" y="101"/>
                        <a:pt x="554" y="110"/>
                        <a:pt x="554" y="110"/>
                      </a:cubicBezTo>
                      <a:cubicBezTo>
                        <a:pt x="556" y="132"/>
                        <a:pt x="556" y="168"/>
                        <a:pt x="572" y="188"/>
                      </a:cubicBezTo>
                      <a:cubicBezTo>
                        <a:pt x="568" y="198"/>
                        <a:pt x="564" y="208"/>
                        <a:pt x="562" y="219"/>
                      </a:cubicBezTo>
                      <a:cubicBezTo>
                        <a:pt x="564" y="227"/>
                        <a:pt x="569" y="233"/>
                        <a:pt x="572" y="240"/>
                      </a:cubicBezTo>
                      <a:cubicBezTo>
                        <a:pt x="573" y="247"/>
                        <a:pt x="572" y="254"/>
                        <a:pt x="575" y="259"/>
                      </a:cubicBezTo>
                      <a:cubicBezTo>
                        <a:pt x="577" y="263"/>
                        <a:pt x="595" y="272"/>
                        <a:pt x="599" y="283"/>
                      </a:cubicBezTo>
                      <a:cubicBezTo>
                        <a:pt x="594" y="295"/>
                        <a:pt x="603" y="306"/>
                        <a:pt x="618" y="310"/>
                      </a:cubicBezTo>
                      <a:cubicBezTo>
                        <a:pt x="630" y="307"/>
                        <a:pt x="638" y="308"/>
                        <a:pt x="645" y="300"/>
                      </a:cubicBezTo>
                      <a:cubicBezTo>
                        <a:pt x="660" y="302"/>
                        <a:pt x="663" y="303"/>
                        <a:pt x="672" y="293"/>
                      </a:cubicBezTo>
                      <a:cubicBezTo>
                        <a:pt x="675" y="294"/>
                        <a:pt x="679" y="293"/>
                        <a:pt x="680" y="295"/>
                      </a:cubicBezTo>
                      <a:cubicBezTo>
                        <a:pt x="682" y="301"/>
                        <a:pt x="674" y="321"/>
                        <a:pt x="672" y="327"/>
                      </a:cubicBezTo>
                      <a:cubicBezTo>
                        <a:pt x="668" y="340"/>
                        <a:pt x="671" y="326"/>
                        <a:pt x="664" y="340"/>
                      </a:cubicBezTo>
                      <a:cubicBezTo>
                        <a:pt x="652" y="360"/>
                        <a:pt x="646" y="381"/>
                        <a:pt x="621" y="394"/>
                      </a:cubicBezTo>
                      <a:cubicBezTo>
                        <a:pt x="614" y="402"/>
                        <a:pt x="609" y="402"/>
                        <a:pt x="599" y="407"/>
                      </a:cubicBezTo>
                      <a:cubicBezTo>
                        <a:pt x="590" y="418"/>
                        <a:pt x="579" y="429"/>
                        <a:pt x="567" y="439"/>
                      </a:cubicBezTo>
                      <a:cubicBezTo>
                        <a:pt x="560" y="454"/>
                        <a:pt x="555" y="470"/>
                        <a:pt x="548" y="485"/>
                      </a:cubicBezTo>
                      <a:cubicBezTo>
                        <a:pt x="549" y="489"/>
                        <a:pt x="550" y="492"/>
                        <a:pt x="551" y="496"/>
                      </a:cubicBezTo>
                      <a:cubicBezTo>
                        <a:pt x="552" y="500"/>
                        <a:pt x="556" y="508"/>
                        <a:pt x="556" y="508"/>
                      </a:cubicBezTo>
                      <a:cubicBezTo>
                        <a:pt x="559" y="524"/>
                        <a:pt x="562" y="546"/>
                        <a:pt x="576" y="557"/>
                      </a:cubicBezTo>
                      <a:lnTo>
                        <a:pt x="435" y="556"/>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83" name="Freeform 52"/>
                <p:cNvSpPr>
                  <a:spLocks/>
                </p:cNvSpPr>
                <p:nvPr userDrawn="1"/>
              </p:nvSpPr>
              <p:spPr bwMode="ltGray">
                <a:xfrm>
                  <a:off x="727" y="495"/>
                  <a:ext cx="382" cy="540"/>
                </a:xfrm>
                <a:custGeom>
                  <a:avLst/>
                  <a:gdLst>
                    <a:gd name="T0" fmla="*/ 537 w 257"/>
                    <a:gd name="T1" fmla="*/ 840 h 347"/>
                    <a:gd name="T2" fmla="*/ 514 w 257"/>
                    <a:gd name="T3" fmla="*/ 728 h 347"/>
                    <a:gd name="T4" fmla="*/ 480 w 257"/>
                    <a:gd name="T5" fmla="*/ 697 h 347"/>
                    <a:gd name="T6" fmla="*/ 476 w 257"/>
                    <a:gd name="T7" fmla="*/ 652 h 347"/>
                    <a:gd name="T8" fmla="*/ 462 w 257"/>
                    <a:gd name="T9" fmla="*/ 615 h 347"/>
                    <a:gd name="T10" fmla="*/ 462 w 257"/>
                    <a:gd name="T11" fmla="*/ 554 h 347"/>
                    <a:gd name="T12" fmla="*/ 458 w 257"/>
                    <a:gd name="T13" fmla="*/ 518 h 347"/>
                    <a:gd name="T14" fmla="*/ 504 w 257"/>
                    <a:gd name="T15" fmla="*/ 489 h 347"/>
                    <a:gd name="T16" fmla="*/ 568 w 257"/>
                    <a:gd name="T17" fmla="*/ 478 h 347"/>
                    <a:gd name="T18" fmla="*/ 568 w 257"/>
                    <a:gd name="T19" fmla="*/ 330 h 347"/>
                    <a:gd name="T20" fmla="*/ 119 w 257"/>
                    <a:gd name="T21" fmla="*/ 232 h 347"/>
                    <a:gd name="T22" fmla="*/ 71 w 257"/>
                    <a:gd name="T23" fmla="*/ 238 h 347"/>
                    <a:gd name="T24" fmla="*/ 36 w 257"/>
                    <a:gd name="T25" fmla="*/ 247 h 347"/>
                    <a:gd name="T26" fmla="*/ 0 w 257"/>
                    <a:gd name="T27" fmla="*/ 361 h 347"/>
                    <a:gd name="T28" fmla="*/ 205 w 257"/>
                    <a:gd name="T29" fmla="*/ 837 h 347"/>
                    <a:gd name="T30" fmla="*/ 537 w 257"/>
                    <a:gd name="T31" fmla="*/ 840 h 347"/>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257" h="347">
                      <a:moveTo>
                        <a:pt x="243" y="347"/>
                      </a:moveTo>
                      <a:lnTo>
                        <a:pt x="233" y="301"/>
                      </a:lnTo>
                      <a:lnTo>
                        <a:pt x="217" y="288"/>
                      </a:lnTo>
                      <a:lnTo>
                        <a:pt x="215" y="269"/>
                      </a:lnTo>
                      <a:lnTo>
                        <a:pt x="209" y="254"/>
                      </a:lnTo>
                      <a:lnTo>
                        <a:pt x="209" y="229"/>
                      </a:lnTo>
                      <a:lnTo>
                        <a:pt x="207" y="214"/>
                      </a:lnTo>
                      <a:lnTo>
                        <a:pt x="228" y="202"/>
                      </a:lnTo>
                      <a:lnTo>
                        <a:pt x="257" y="197"/>
                      </a:lnTo>
                      <a:lnTo>
                        <a:pt x="257" y="136"/>
                      </a:lnTo>
                      <a:cubicBezTo>
                        <a:pt x="209" y="119"/>
                        <a:pt x="13" y="0"/>
                        <a:pt x="54" y="96"/>
                      </a:cubicBezTo>
                      <a:cubicBezTo>
                        <a:pt x="36" y="106"/>
                        <a:pt x="57" y="97"/>
                        <a:pt x="32" y="98"/>
                      </a:cubicBezTo>
                      <a:cubicBezTo>
                        <a:pt x="27" y="99"/>
                        <a:pt x="16" y="102"/>
                        <a:pt x="16" y="102"/>
                      </a:cubicBezTo>
                      <a:lnTo>
                        <a:pt x="0" y="149"/>
                      </a:lnTo>
                      <a:lnTo>
                        <a:pt x="93" y="346"/>
                      </a:lnTo>
                      <a:lnTo>
                        <a:pt x="243" y="347"/>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84" name="Freeform 53"/>
                <p:cNvSpPr>
                  <a:spLocks/>
                </p:cNvSpPr>
                <p:nvPr userDrawn="1"/>
              </p:nvSpPr>
              <p:spPr bwMode="ltGray">
                <a:xfrm>
                  <a:off x="1400" y="896"/>
                  <a:ext cx="16" cy="29"/>
                </a:xfrm>
                <a:custGeom>
                  <a:avLst/>
                  <a:gdLst>
                    <a:gd name="T0" fmla="*/ 5 w 19"/>
                    <a:gd name="T1" fmla="*/ 16 h 37"/>
                    <a:gd name="T2" fmla="*/ 13 w 19"/>
                    <a:gd name="T3" fmla="*/ 13 h 37"/>
                    <a:gd name="T4" fmla="*/ 5 w 19"/>
                    <a:gd name="T5" fmla="*/ 16 h 37"/>
                    <a:gd name="T6" fmla="*/ 0 60000 65536"/>
                    <a:gd name="T7" fmla="*/ 0 60000 65536"/>
                    <a:gd name="T8" fmla="*/ 0 60000 65536"/>
                  </a:gdLst>
                  <a:ahLst/>
                  <a:cxnLst>
                    <a:cxn ang="T6">
                      <a:pos x="T0" y="T1"/>
                    </a:cxn>
                    <a:cxn ang="T7">
                      <a:pos x="T2" y="T3"/>
                    </a:cxn>
                    <a:cxn ang="T8">
                      <a:pos x="T4" y="T5"/>
                    </a:cxn>
                  </a:cxnLst>
                  <a:rect l="0" t="0" r="r" b="b"/>
                  <a:pathLst>
                    <a:path w="19" h="37">
                      <a:moveTo>
                        <a:pt x="7" y="25"/>
                      </a:moveTo>
                      <a:cubicBezTo>
                        <a:pt x="0" y="4"/>
                        <a:pt x="12" y="0"/>
                        <a:pt x="19" y="21"/>
                      </a:cubicBezTo>
                      <a:cubicBezTo>
                        <a:pt x="14" y="37"/>
                        <a:pt x="18" y="36"/>
                        <a:pt x="7" y="25"/>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85" name="Freeform 54"/>
                <p:cNvSpPr>
                  <a:spLocks/>
                </p:cNvSpPr>
                <p:nvPr userDrawn="1"/>
              </p:nvSpPr>
              <p:spPr bwMode="ltGray">
                <a:xfrm>
                  <a:off x="1379" y="617"/>
                  <a:ext cx="21" cy="17"/>
                </a:xfrm>
                <a:custGeom>
                  <a:avLst/>
                  <a:gdLst>
                    <a:gd name="T0" fmla="*/ 11 w 22"/>
                    <a:gd name="T1" fmla="*/ 9 h 20"/>
                    <a:gd name="T2" fmla="*/ 14 w 22"/>
                    <a:gd name="T3" fmla="*/ 0 h 20"/>
                    <a:gd name="T4" fmla="*/ 18 w 22"/>
                    <a:gd name="T5" fmla="*/ 9 h 20"/>
                    <a:gd name="T6" fmla="*/ 8 w 22"/>
                    <a:gd name="T7" fmla="*/ 14 h 20"/>
                    <a:gd name="T8" fmla="*/ 11 w 22"/>
                    <a:gd name="T9" fmla="*/ 9 h 2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2" h="20">
                      <a:moveTo>
                        <a:pt x="12" y="12"/>
                      </a:moveTo>
                      <a:cubicBezTo>
                        <a:pt x="13" y="8"/>
                        <a:pt x="12" y="0"/>
                        <a:pt x="16" y="0"/>
                      </a:cubicBezTo>
                      <a:cubicBezTo>
                        <a:pt x="20" y="0"/>
                        <a:pt x="22" y="8"/>
                        <a:pt x="20" y="12"/>
                      </a:cubicBezTo>
                      <a:cubicBezTo>
                        <a:pt x="18" y="16"/>
                        <a:pt x="12" y="17"/>
                        <a:pt x="8" y="20"/>
                      </a:cubicBezTo>
                      <a:cubicBezTo>
                        <a:pt x="3" y="5"/>
                        <a:pt x="0" y="6"/>
                        <a:pt x="12" y="12"/>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86" name="Freeform 55"/>
                <p:cNvSpPr>
                  <a:spLocks/>
                </p:cNvSpPr>
                <p:nvPr userDrawn="1"/>
              </p:nvSpPr>
              <p:spPr bwMode="ltGray">
                <a:xfrm>
                  <a:off x="453" y="275"/>
                  <a:ext cx="58" cy="24"/>
                </a:xfrm>
                <a:custGeom>
                  <a:avLst/>
                  <a:gdLst>
                    <a:gd name="T0" fmla="*/ 24 w 57"/>
                    <a:gd name="T1" fmla="*/ 11 h 30"/>
                    <a:gd name="T2" fmla="*/ 34 w 57"/>
                    <a:gd name="T3" fmla="*/ 4 h 30"/>
                    <a:gd name="T4" fmla="*/ 38 w 57"/>
                    <a:gd name="T5" fmla="*/ 19 h 30"/>
                    <a:gd name="T6" fmla="*/ 24 w 57"/>
                    <a:gd name="T7" fmla="*/ 11 h 3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57" h="30">
                      <a:moveTo>
                        <a:pt x="24" y="18"/>
                      </a:moveTo>
                      <a:cubicBezTo>
                        <a:pt x="0" y="10"/>
                        <a:pt x="9" y="0"/>
                        <a:pt x="32" y="6"/>
                      </a:cubicBezTo>
                      <a:cubicBezTo>
                        <a:pt x="46" y="15"/>
                        <a:pt x="57" y="23"/>
                        <a:pt x="36" y="30"/>
                      </a:cubicBezTo>
                      <a:cubicBezTo>
                        <a:pt x="21" y="25"/>
                        <a:pt x="24" y="30"/>
                        <a:pt x="24" y="1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87" name="Freeform 56"/>
                <p:cNvSpPr>
                  <a:spLocks/>
                </p:cNvSpPr>
                <p:nvPr userDrawn="1"/>
              </p:nvSpPr>
              <p:spPr bwMode="ltGray">
                <a:xfrm>
                  <a:off x="1161" y="50"/>
                  <a:ext cx="691" cy="569"/>
                </a:xfrm>
                <a:custGeom>
                  <a:avLst/>
                  <a:gdLst>
                    <a:gd name="T0" fmla="*/ 471 w 693"/>
                    <a:gd name="T1" fmla="*/ 310 h 696"/>
                    <a:gd name="T2" fmla="*/ 391 w 693"/>
                    <a:gd name="T3" fmla="*/ 302 h 696"/>
                    <a:gd name="T4" fmla="*/ 323 w 693"/>
                    <a:gd name="T5" fmla="*/ 276 h 696"/>
                    <a:gd name="T6" fmla="*/ 263 w 693"/>
                    <a:gd name="T7" fmla="*/ 267 h 696"/>
                    <a:gd name="T8" fmla="*/ 235 w 693"/>
                    <a:gd name="T9" fmla="*/ 278 h 696"/>
                    <a:gd name="T10" fmla="*/ 259 w 693"/>
                    <a:gd name="T11" fmla="*/ 286 h 696"/>
                    <a:gd name="T12" fmla="*/ 291 w 693"/>
                    <a:gd name="T13" fmla="*/ 313 h 696"/>
                    <a:gd name="T14" fmla="*/ 319 w 693"/>
                    <a:gd name="T15" fmla="*/ 318 h 696"/>
                    <a:gd name="T16" fmla="*/ 331 w 693"/>
                    <a:gd name="T17" fmla="*/ 358 h 696"/>
                    <a:gd name="T18" fmla="*/ 311 w 693"/>
                    <a:gd name="T19" fmla="*/ 369 h 696"/>
                    <a:gd name="T20" fmla="*/ 259 w 693"/>
                    <a:gd name="T21" fmla="*/ 412 h 696"/>
                    <a:gd name="T22" fmla="*/ 223 w 693"/>
                    <a:gd name="T23" fmla="*/ 419 h 696"/>
                    <a:gd name="T24" fmla="*/ 97 w 693"/>
                    <a:gd name="T25" fmla="*/ 465 h 696"/>
                    <a:gd name="T26" fmla="*/ 77 w 693"/>
                    <a:gd name="T27" fmla="*/ 412 h 696"/>
                    <a:gd name="T28" fmla="*/ 45 w 693"/>
                    <a:gd name="T29" fmla="*/ 350 h 696"/>
                    <a:gd name="T30" fmla="*/ 33 w 693"/>
                    <a:gd name="T31" fmla="*/ 299 h 696"/>
                    <a:gd name="T32" fmla="*/ 53 w 693"/>
                    <a:gd name="T33" fmla="*/ 230 h 696"/>
                    <a:gd name="T34" fmla="*/ 17 w 693"/>
                    <a:gd name="T35" fmla="*/ 262 h 696"/>
                    <a:gd name="T36" fmla="*/ 81 w 693"/>
                    <a:gd name="T37" fmla="*/ 187 h 696"/>
                    <a:gd name="T38" fmla="*/ 113 w 693"/>
                    <a:gd name="T39" fmla="*/ 137 h 696"/>
                    <a:gd name="T40" fmla="*/ 37 w 693"/>
                    <a:gd name="T41" fmla="*/ 137 h 696"/>
                    <a:gd name="T42" fmla="*/ 1 w 693"/>
                    <a:gd name="T43" fmla="*/ 131 h 696"/>
                    <a:gd name="T44" fmla="*/ 25 w 693"/>
                    <a:gd name="T45" fmla="*/ 93 h 696"/>
                    <a:gd name="T46" fmla="*/ 97 w 693"/>
                    <a:gd name="T47" fmla="*/ 75 h 696"/>
                    <a:gd name="T48" fmla="*/ 219 w 693"/>
                    <a:gd name="T49" fmla="*/ 83 h 696"/>
                    <a:gd name="T50" fmla="*/ 227 w 693"/>
                    <a:gd name="T51" fmla="*/ 43 h 696"/>
                    <a:gd name="T52" fmla="*/ 259 w 693"/>
                    <a:gd name="T53" fmla="*/ 0 h 696"/>
                    <a:gd name="T54" fmla="*/ 355 w 693"/>
                    <a:gd name="T55" fmla="*/ 29 h 696"/>
                    <a:gd name="T56" fmla="*/ 327 w 693"/>
                    <a:gd name="T57" fmla="*/ 59 h 696"/>
                    <a:gd name="T58" fmla="*/ 299 w 693"/>
                    <a:gd name="T59" fmla="*/ 118 h 696"/>
                    <a:gd name="T60" fmla="*/ 359 w 693"/>
                    <a:gd name="T61" fmla="*/ 128 h 696"/>
                    <a:gd name="T62" fmla="*/ 371 w 693"/>
                    <a:gd name="T63" fmla="*/ 91 h 696"/>
                    <a:gd name="T64" fmla="*/ 415 w 693"/>
                    <a:gd name="T65" fmla="*/ 61 h 696"/>
                    <a:gd name="T66" fmla="*/ 495 w 693"/>
                    <a:gd name="T67" fmla="*/ 59 h 696"/>
                    <a:gd name="T68" fmla="*/ 525 w 693"/>
                    <a:gd name="T69" fmla="*/ 35 h 696"/>
                    <a:gd name="T70" fmla="*/ 537 w 693"/>
                    <a:gd name="T71" fmla="*/ 307 h 69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693" h="696">
                      <a:moveTo>
                        <a:pt x="541" y="460"/>
                      </a:moveTo>
                      <a:lnTo>
                        <a:pt x="473" y="464"/>
                      </a:lnTo>
                      <a:lnTo>
                        <a:pt x="441" y="452"/>
                      </a:lnTo>
                      <a:lnTo>
                        <a:pt x="393" y="452"/>
                      </a:lnTo>
                      <a:cubicBezTo>
                        <a:pt x="365" y="448"/>
                        <a:pt x="360" y="444"/>
                        <a:pt x="337" y="436"/>
                      </a:cubicBezTo>
                      <a:cubicBezTo>
                        <a:pt x="336" y="432"/>
                        <a:pt x="330" y="413"/>
                        <a:pt x="325" y="412"/>
                      </a:cubicBezTo>
                      <a:cubicBezTo>
                        <a:pt x="317" y="411"/>
                        <a:pt x="301" y="420"/>
                        <a:pt x="301" y="420"/>
                      </a:cubicBezTo>
                      <a:cubicBezTo>
                        <a:pt x="289" y="412"/>
                        <a:pt x="277" y="408"/>
                        <a:pt x="265" y="400"/>
                      </a:cubicBezTo>
                      <a:cubicBezTo>
                        <a:pt x="252" y="380"/>
                        <a:pt x="256" y="356"/>
                        <a:pt x="233" y="348"/>
                      </a:cubicBezTo>
                      <a:cubicBezTo>
                        <a:pt x="217" y="372"/>
                        <a:pt x="221" y="392"/>
                        <a:pt x="237" y="416"/>
                      </a:cubicBezTo>
                      <a:cubicBezTo>
                        <a:pt x="234" y="428"/>
                        <a:pt x="228" y="445"/>
                        <a:pt x="237" y="444"/>
                      </a:cubicBezTo>
                      <a:cubicBezTo>
                        <a:pt x="247" y="443"/>
                        <a:pt x="261" y="428"/>
                        <a:pt x="261" y="428"/>
                      </a:cubicBezTo>
                      <a:cubicBezTo>
                        <a:pt x="258" y="450"/>
                        <a:pt x="243" y="475"/>
                        <a:pt x="269" y="484"/>
                      </a:cubicBezTo>
                      <a:cubicBezTo>
                        <a:pt x="277" y="479"/>
                        <a:pt x="288" y="476"/>
                        <a:pt x="293" y="468"/>
                      </a:cubicBezTo>
                      <a:cubicBezTo>
                        <a:pt x="302" y="454"/>
                        <a:pt x="303" y="446"/>
                        <a:pt x="317" y="436"/>
                      </a:cubicBezTo>
                      <a:cubicBezTo>
                        <a:pt x="315" y="448"/>
                        <a:pt x="306" y="467"/>
                        <a:pt x="321" y="476"/>
                      </a:cubicBezTo>
                      <a:cubicBezTo>
                        <a:pt x="328" y="480"/>
                        <a:pt x="345" y="484"/>
                        <a:pt x="345" y="484"/>
                      </a:cubicBezTo>
                      <a:cubicBezTo>
                        <a:pt x="382" y="472"/>
                        <a:pt x="347" y="527"/>
                        <a:pt x="333" y="536"/>
                      </a:cubicBezTo>
                      <a:cubicBezTo>
                        <a:pt x="330" y="540"/>
                        <a:pt x="329" y="545"/>
                        <a:pt x="325" y="548"/>
                      </a:cubicBezTo>
                      <a:cubicBezTo>
                        <a:pt x="322" y="551"/>
                        <a:pt x="316" y="549"/>
                        <a:pt x="313" y="552"/>
                      </a:cubicBezTo>
                      <a:cubicBezTo>
                        <a:pt x="300" y="565"/>
                        <a:pt x="320" y="575"/>
                        <a:pt x="293" y="584"/>
                      </a:cubicBezTo>
                      <a:cubicBezTo>
                        <a:pt x="286" y="595"/>
                        <a:pt x="272" y="610"/>
                        <a:pt x="261" y="616"/>
                      </a:cubicBezTo>
                      <a:cubicBezTo>
                        <a:pt x="254" y="620"/>
                        <a:pt x="245" y="621"/>
                        <a:pt x="237" y="624"/>
                      </a:cubicBezTo>
                      <a:cubicBezTo>
                        <a:pt x="233" y="625"/>
                        <a:pt x="225" y="628"/>
                        <a:pt x="225" y="628"/>
                      </a:cubicBezTo>
                      <a:cubicBezTo>
                        <a:pt x="215" y="659"/>
                        <a:pt x="212" y="652"/>
                        <a:pt x="173" y="656"/>
                      </a:cubicBezTo>
                      <a:cubicBezTo>
                        <a:pt x="140" y="667"/>
                        <a:pt x="132" y="687"/>
                        <a:pt x="97" y="696"/>
                      </a:cubicBezTo>
                      <a:cubicBezTo>
                        <a:pt x="77" y="691"/>
                        <a:pt x="75" y="687"/>
                        <a:pt x="81" y="668"/>
                      </a:cubicBezTo>
                      <a:cubicBezTo>
                        <a:pt x="77" y="646"/>
                        <a:pt x="72" y="639"/>
                        <a:pt x="77" y="616"/>
                      </a:cubicBezTo>
                      <a:cubicBezTo>
                        <a:pt x="73" y="598"/>
                        <a:pt x="71" y="587"/>
                        <a:pt x="61" y="572"/>
                      </a:cubicBezTo>
                      <a:cubicBezTo>
                        <a:pt x="58" y="551"/>
                        <a:pt x="51" y="543"/>
                        <a:pt x="45" y="524"/>
                      </a:cubicBezTo>
                      <a:cubicBezTo>
                        <a:pt x="52" y="502"/>
                        <a:pt x="58" y="496"/>
                        <a:pt x="49" y="472"/>
                      </a:cubicBezTo>
                      <a:cubicBezTo>
                        <a:pt x="46" y="463"/>
                        <a:pt x="33" y="448"/>
                        <a:pt x="33" y="448"/>
                      </a:cubicBezTo>
                      <a:cubicBezTo>
                        <a:pt x="42" y="422"/>
                        <a:pt x="42" y="408"/>
                        <a:pt x="33" y="380"/>
                      </a:cubicBezTo>
                      <a:cubicBezTo>
                        <a:pt x="49" y="369"/>
                        <a:pt x="48" y="362"/>
                        <a:pt x="53" y="344"/>
                      </a:cubicBezTo>
                      <a:cubicBezTo>
                        <a:pt x="47" y="327"/>
                        <a:pt x="49" y="308"/>
                        <a:pt x="33" y="332"/>
                      </a:cubicBezTo>
                      <a:cubicBezTo>
                        <a:pt x="40" y="353"/>
                        <a:pt x="29" y="374"/>
                        <a:pt x="17" y="392"/>
                      </a:cubicBezTo>
                      <a:cubicBezTo>
                        <a:pt x="6" y="360"/>
                        <a:pt x="10" y="340"/>
                        <a:pt x="13" y="304"/>
                      </a:cubicBezTo>
                      <a:cubicBezTo>
                        <a:pt x="44" y="314"/>
                        <a:pt x="54" y="289"/>
                        <a:pt x="81" y="280"/>
                      </a:cubicBezTo>
                      <a:cubicBezTo>
                        <a:pt x="94" y="261"/>
                        <a:pt x="85" y="242"/>
                        <a:pt x="105" y="228"/>
                      </a:cubicBezTo>
                      <a:cubicBezTo>
                        <a:pt x="108" y="220"/>
                        <a:pt x="110" y="212"/>
                        <a:pt x="113" y="204"/>
                      </a:cubicBezTo>
                      <a:cubicBezTo>
                        <a:pt x="116" y="196"/>
                        <a:pt x="89" y="196"/>
                        <a:pt x="89" y="196"/>
                      </a:cubicBezTo>
                      <a:cubicBezTo>
                        <a:pt x="81" y="221"/>
                        <a:pt x="58" y="211"/>
                        <a:pt x="37" y="204"/>
                      </a:cubicBezTo>
                      <a:cubicBezTo>
                        <a:pt x="33" y="207"/>
                        <a:pt x="30" y="213"/>
                        <a:pt x="25" y="212"/>
                      </a:cubicBezTo>
                      <a:cubicBezTo>
                        <a:pt x="16" y="210"/>
                        <a:pt x="1" y="196"/>
                        <a:pt x="1" y="196"/>
                      </a:cubicBezTo>
                      <a:cubicBezTo>
                        <a:pt x="4" y="186"/>
                        <a:pt x="4" y="174"/>
                        <a:pt x="9" y="164"/>
                      </a:cubicBezTo>
                      <a:cubicBezTo>
                        <a:pt x="13" y="155"/>
                        <a:pt x="25" y="140"/>
                        <a:pt x="25" y="140"/>
                      </a:cubicBezTo>
                      <a:cubicBezTo>
                        <a:pt x="0" y="132"/>
                        <a:pt x="25" y="128"/>
                        <a:pt x="37" y="124"/>
                      </a:cubicBezTo>
                      <a:cubicBezTo>
                        <a:pt x="58" y="131"/>
                        <a:pt x="75" y="116"/>
                        <a:pt x="97" y="112"/>
                      </a:cubicBezTo>
                      <a:cubicBezTo>
                        <a:pt x="135" y="87"/>
                        <a:pt x="159" y="122"/>
                        <a:pt x="197" y="132"/>
                      </a:cubicBezTo>
                      <a:cubicBezTo>
                        <a:pt x="205" y="129"/>
                        <a:pt x="213" y="127"/>
                        <a:pt x="221" y="124"/>
                      </a:cubicBezTo>
                      <a:cubicBezTo>
                        <a:pt x="225" y="123"/>
                        <a:pt x="226" y="147"/>
                        <a:pt x="233" y="120"/>
                      </a:cubicBezTo>
                      <a:lnTo>
                        <a:pt x="229" y="64"/>
                      </a:lnTo>
                      <a:lnTo>
                        <a:pt x="209" y="40"/>
                      </a:lnTo>
                      <a:cubicBezTo>
                        <a:pt x="243" y="21"/>
                        <a:pt x="240" y="21"/>
                        <a:pt x="261" y="0"/>
                      </a:cubicBezTo>
                      <a:cubicBezTo>
                        <a:pt x="297" y="16"/>
                        <a:pt x="333" y="32"/>
                        <a:pt x="369" y="48"/>
                      </a:cubicBezTo>
                      <a:cubicBezTo>
                        <a:pt x="373" y="50"/>
                        <a:pt x="361" y="44"/>
                        <a:pt x="357" y="44"/>
                      </a:cubicBezTo>
                      <a:cubicBezTo>
                        <a:pt x="349" y="45"/>
                        <a:pt x="333" y="52"/>
                        <a:pt x="333" y="52"/>
                      </a:cubicBezTo>
                      <a:cubicBezTo>
                        <a:pt x="322" y="68"/>
                        <a:pt x="318" y="71"/>
                        <a:pt x="329" y="88"/>
                      </a:cubicBezTo>
                      <a:cubicBezTo>
                        <a:pt x="308" y="119"/>
                        <a:pt x="323" y="118"/>
                        <a:pt x="333" y="148"/>
                      </a:cubicBezTo>
                      <a:cubicBezTo>
                        <a:pt x="320" y="157"/>
                        <a:pt x="314" y="167"/>
                        <a:pt x="301" y="176"/>
                      </a:cubicBezTo>
                      <a:cubicBezTo>
                        <a:pt x="306" y="213"/>
                        <a:pt x="303" y="213"/>
                        <a:pt x="337" y="220"/>
                      </a:cubicBezTo>
                      <a:cubicBezTo>
                        <a:pt x="358" y="216"/>
                        <a:pt x="368" y="214"/>
                        <a:pt x="361" y="192"/>
                      </a:cubicBezTo>
                      <a:cubicBezTo>
                        <a:pt x="362" y="177"/>
                        <a:pt x="362" y="162"/>
                        <a:pt x="365" y="148"/>
                      </a:cubicBezTo>
                      <a:cubicBezTo>
                        <a:pt x="366" y="143"/>
                        <a:pt x="369" y="133"/>
                        <a:pt x="373" y="136"/>
                      </a:cubicBezTo>
                      <a:cubicBezTo>
                        <a:pt x="379" y="140"/>
                        <a:pt x="376" y="149"/>
                        <a:pt x="377" y="156"/>
                      </a:cubicBezTo>
                      <a:cubicBezTo>
                        <a:pt x="404" y="147"/>
                        <a:pt x="409" y="116"/>
                        <a:pt x="417" y="92"/>
                      </a:cubicBezTo>
                      <a:cubicBezTo>
                        <a:pt x="422" y="76"/>
                        <a:pt x="453" y="74"/>
                        <a:pt x="465" y="72"/>
                      </a:cubicBezTo>
                      <a:cubicBezTo>
                        <a:pt x="472" y="92"/>
                        <a:pt x="477" y="93"/>
                        <a:pt x="497" y="88"/>
                      </a:cubicBezTo>
                      <a:cubicBezTo>
                        <a:pt x="512" y="78"/>
                        <a:pt x="515" y="74"/>
                        <a:pt x="509" y="56"/>
                      </a:cubicBezTo>
                      <a:cubicBezTo>
                        <a:pt x="523" y="46"/>
                        <a:pt x="517" y="46"/>
                        <a:pt x="529" y="52"/>
                      </a:cubicBezTo>
                      <a:lnTo>
                        <a:pt x="693" y="72"/>
                      </a:lnTo>
                      <a:lnTo>
                        <a:pt x="541" y="460"/>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88" name="Freeform 57"/>
                <p:cNvSpPr>
                  <a:spLocks/>
                </p:cNvSpPr>
                <p:nvPr userDrawn="1"/>
              </p:nvSpPr>
              <p:spPr bwMode="ltGray">
                <a:xfrm>
                  <a:off x="689" y="6"/>
                  <a:ext cx="1386" cy="232"/>
                </a:xfrm>
                <a:custGeom>
                  <a:avLst/>
                  <a:gdLst>
                    <a:gd name="T0" fmla="*/ 1828 w 931"/>
                    <a:gd name="T1" fmla="*/ 0 h 149"/>
                    <a:gd name="T2" fmla="*/ 317 w 931"/>
                    <a:gd name="T3" fmla="*/ 70 h 149"/>
                    <a:gd name="T4" fmla="*/ 201 w 931"/>
                    <a:gd name="T5" fmla="*/ 101 h 149"/>
                    <a:gd name="T6" fmla="*/ 137 w 931"/>
                    <a:gd name="T7" fmla="*/ 101 h 149"/>
                    <a:gd name="T8" fmla="*/ 49 w 931"/>
                    <a:gd name="T9" fmla="*/ 187 h 149"/>
                    <a:gd name="T10" fmla="*/ 0 w 931"/>
                    <a:gd name="T11" fmla="*/ 254 h 149"/>
                    <a:gd name="T12" fmla="*/ 131 w 931"/>
                    <a:gd name="T13" fmla="*/ 279 h 149"/>
                    <a:gd name="T14" fmla="*/ 214 w 931"/>
                    <a:gd name="T15" fmla="*/ 232 h 149"/>
                    <a:gd name="T16" fmla="*/ 240 w 931"/>
                    <a:gd name="T17" fmla="*/ 204 h 149"/>
                    <a:gd name="T18" fmla="*/ 371 w 931"/>
                    <a:gd name="T19" fmla="*/ 126 h 149"/>
                    <a:gd name="T20" fmla="*/ 476 w 931"/>
                    <a:gd name="T21" fmla="*/ 112 h 149"/>
                    <a:gd name="T22" fmla="*/ 526 w 931"/>
                    <a:gd name="T23" fmla="*/ 227 h 149"/>
                    <a:gd name="T24" fmla="*/ 417 w 931"/>
                    <a:gd name="T25" fmla="*/ 265 h 149"/>
                    <a:gd name="T26" fmla="*/ 512 w 931"/>
                    <a:gd name="T27" fmla="*/ 274 h 149"/>
                    <a:gd name="T28" fmla="*/ 554 w 931"/>
                    <a:gd name="T29" fmla="*/ 218 h 149"/>
                    <a:gd name="T30" fmla="*/ 590 w 931"/>
                    <a:gd name="T31" fmla="*/ 223 h 149"/>
                    <a:gd name="T32" fmla="*/ 561 w 931"/>
                    <a:gd name="T33" fmla="*/ 131 h 149"/>
                    <a:gd name="T34" fmla="*/ 590 w 931"/>
                    <a:gd name="T35" fmla="*/ 107 h 149"/>
                    <a:gd name="T36" fmla="*/ 613 w 931"/>
                    <a:gd name="T37" fmla="*/ 213 h 149"/>
                    <a:gd name="T38" fmla="*/ 590 w 931"/>
                    <a:gd name="T39" fmla="*/ 274 h 149"/>
                    <a:gd name="T40" fmla="*/ 657 w 931"/>
                    <a:gd name="T41" fmla="*/ 315 h 149"/>
                    <a:gd name="T42" fmla="*/ 662 w 931"/>
                    <a:gd name="T43" fmla="*/ 223 h 149"/>
                    <a:gd name="T44" fmla="*/ 734 w 931"/>
                    <a:gd name="T45" fmla="*/ 249 h 149"/>
                    <a:gd name="T46" fmla="*/ 847 w 931"/>
                    <a:gd name="T47" fmla="*/ 178 h 149"/>
                    <a:gd name="T48" fmla="*/ 907 w 931"/>
                    <a:gd name="T49" fmla="*/ 121 h 149"/>
                    <a:gd name="T50" fmla="*/ 974 w 931"/>
                    <a:gd name="T51" fmla="*/ 135 h 149"/>
                    <a:gd name="T52" fmla="*/ 1008 w 931"/>
                    <a:gd name="T53" fmla="*/ 121 h 149"/>
                    <a:gd name="T54" fmla="*/ 956 w 931"/>
                    <a:gd name="T55" fmla="*/ 107 h 149"/>
                    <a:gd name="T56" fmla="*/ 1051 w 931"/>
                    <a:gd name="T57" fmla="*/ 84 h 149"/>
                    <a:gd name="T58" fmla="*/ 1206 w 931"/>
                    <a:gd name="T59" fmla="*/ 131 h 149"/>
                    <a:gd name="T60" fmla="*/ 1288 w 931"/>
                    <a:gd name="T61" fmla="*/ 101 h 149"/>
                    <a:gd name="T62" fmla="*/ 1294 w 931"/>
                    <a:gd name="T63" fmla="*/ 153 h 149"/>
                    <a:gd name="T64" fmla="*/ 1259 w 931"/>
                    <a:gd name="T65" fmla="*/ 244 h 149"/>
                    <a:gd name="T66" fmla="*/ 1355 w 931"/>
                    <a:gd name="T67" fmla="*/ 213 h 149"/>
                    <a:gd name="T68" fmla="*/ 1383 w 931"/>
                    <a:gd name="T69" fmla="*/ 195 h 149"/>
                    <a:gd name="T70" fmla="*/ 1437 w 931"/>
                    <a:gd name="T71" fmla="*/ 148 h 149"/>
                    <a:gd name="T72" fmla="*/ 1760 w 931"/>
                    <a:gd name="T73" fmla="*/ 204 h 149"/>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0" t="0" r="r" b="b"/>
                  <a:pathLst>
                    <a:path w="931" h="149">
                      <a:moveTo>
                        <a:pt x="794" y="84"/>
                      </a:moveTo>
                      <a:cubicBezTo>
                        <a:pt x="813" y="72"/>
                        <a:pt x="931" y="14"/>
                        <a:pt x="825" y="0"/>
                      </a:cubicBezTo>
                      <a:lnTo>
                        <a:pt x="159" y="0"/>
                      </a:lnTo>
                      <a:cubicBezTo>
                        <a:pt x="149" y="12"/>
                        <a:pt x="162" y="18"/>
                        <a:pt x="143" y="29"/>
                      </a:cubicBezTo>
                      <a:cubicBezTo>
                        <a:pt x="130" y="44"/>
                        <a:pt x="133" y="39"/>
                        <a:pt x="116" y="48"/>
                      </a:cubicBezTo>
                      <a:cubicBezTo>
                        <a:pt x="108" y="46"/>
                        <a:pt x="100" y="44"/>
                        <a:pt x="91" y="42"/>
                      </a:cubicBezTo>
                      <a:cubicBezTo>
                        <a:pt x="89" y="41"/>
                        <a:pt x="83" y="40"/>
                        <a:pt x="83" y="40"/>
                      </a:cubicBezTo>
                      <a:cubicBezTo>
                        <a:pt x="76" y="40"/>
                        <a:pt x="68" y="39"/>
                        <a:pt x="62" y="42"/>
                      </a:cubicBezTo>
                      <a:cubicBezTo>
                        <a:pt x="54" y="45"/>
                        <a:pt x="46" y="61"/>
                        <a:pt x="38" y="67"/>
                      </a:cubicBezTo>
                      <a:cubicBezTo>
                        <a:pt x="32" y="71"/>
                        <a:pt x="27" y="74"/>
                        <a:pt x="22" y="77"/>
                      </a:cubicBezTo>
                      <a:cubicBezTo>
                        <a:pt x="16" y="81"/>
                        <a:pt x="5" y="86"/>
                        <a:pt x="5" y="86"/>
                      </a:cubicBezTo>
                      <a:cubicBezTo>
                        <a:pt x="9" y="95"/>
                        <a:pt x="7" y="97"/>
                        <a:pt x="0" y="105"/>
                      </a:cubicBezTo>
                      <a:cubicBezTo>
                        <a:pt x="17" y="107"/>
                        <a:pt x="22" y="107"/>
                        <a:pt x="16" y="120"/>
                      </a:cubicBezTo>
                      <a:cubicBezTo>
                        <a:pt x="27" y="122"/>
                        <a:pt x="48" y="116"/>
                        <a:pt x="59" y="115"/>
                      </a:cubicBezTo>
                      <a:cubicBezTo>
                        <a:pt x="71" y="112"/>
                        <a:pt x="73" y="117"/>
                        <a:pt x="83" y="111"/>
                      </a:cubicBezTo>
                      <a:cubicBezTo>
                        <a:pt x="89" y="96"/>
                        <a:pt x="83" y="100"/>
                        <a:pt x="97" y="96"/>
                      </a:cubicBezTo>
                      <a:cubicBezTo>
                        <a:pt x="100" y="94"/>
                        <a:pt x="103" y="93"/>
                        <a:pt x="105" y="90"/>
                      </a:cubicBezTo>
                      <a:cubicBezTo>
                        <a:pt x="106" y="88"/>
                        <a:pt x="106" y="85"/>
                        <a:pt x="108" y="84"/>
                      </a:cubicBezTo>
                      <a:cubicBezTo>
                        <a:pt x="112" y="80"/>
                        <a:pt x="140" y="69"/>
                        <a:pt x="148" y="67"/>
                      </a:cubicBezTo>
                      <a:cubicBezTo>
                        <a:pt x="160" y="52"/>
                        <a:pt x="153" y="56"/>
                        <a:pt x="167" y="52"/>
                      </a:cubicBezTo>
                      <a:cubicBezTo>
                        <a:pt x="178" y="55"/>
                        <a:pt x="179" y="62"/>
                        <a:pt x="191" y="58"/>
                      </a:cubicBezTo>
                      <a:cubicBezTo>
                        <a:pt x="199" y="52"/>
                        <a:pt x="206" y="51"/>
                        <a:pt x="215" y="46"/>
                      </a:cubicBezTo>
                      <a:cubicBezTo>
                        <a:pt x="226" y="58"/>
                        <a:pt x="217" y="46"/>
                        <a:pt x="223" y="69"/>
                      </a:cubicBezTo>
                      <a:cubicBezTo>
                        <a:pt x="226" y="79"/>
                        <a:pt x="233" y="85"/>
                        <a:pt x="237" y="94"/>
                      </a:cubicBezTo>
                      <a:cubicBezTo>
                        <a:pt x="227" y="100"/>
                        <a:pt x="229" y="104"/>
                        <a:pt x="218" y="107"/>
                      </a:cubicBezTo>
                      <a:cubicBezTo>
                        <a:pt x="207" y="120"/>
                        <a:pt x="203" y="113"/>
                        <a:pt x="188" y="109"/>
                      </a:cubicBezTo>
                      <a:cubicBezTo>
                        <a:pt x="191" y="117"/>
                        <a:pt x="200" y="127"/>
                        <a:pt x="210" y="132"/>
                      </a:cubicBezTo>
                      <a:cubicBezTo>
                        <a:pt x="218" y="114"/>
                        <a:pt x="211" y="122"/>
                        <a:pt x="231" y="113"/>
                      </a:cubicBezTo>
                      <a:cubicBezTo>
                        <a:pt x="237" y="111"/>
                        <a:pt x="248" y="105"/>
                        <a:pt x="248" y="105"/>
                      </a:cubicBezTo>
                      <a:cubicBezTo>
                        <a:pt x="248" y="100"/>
                        <a:pt x="246" y="94"/>
                        <a:pt x="250" y="90"/>
                      </a:cubicBezTo>
                      <a:cubicBezTo>
                        <a:pt x="253" y="88"/>
                        <a:pt x="254" y="96"/>
                        <a:pt x="258" y="96"/>
                      </a:cubicBezTo>
                      <a:cubicBezTo>
                        <a:pt x="262" y="97"/>
                        <a:pt x="264" y="94"/>
                        <a:pt x="266" y="92"/>
                      </a:cubicBezTo>
                      <a:cubicBezTo>
                        <a:pt x="262" y="82"/>
                        <a:pt x="252" y="77"/>
                        <a:pt x="248" y="67"/>
                      </a:cubicBezTo>
                      <a:cubicBezTo>
                        <a:pt x="250" y="63"/>
                        <a:pt x="255" y="58"/>
                        <a:pt x="253" y="54"/>
                      </a:cubicBezTo>
                      <a:cubicBezTo>
                        <a:pt x="251" y="50"/>
                        <a:pt x="248" y="42"/>
                        <a:pt x="248" y="42"/>
                      </a:cubicBezTo>
                      <a:cubicBezTo>
                        <a:pt x="256" y="32"/>
                        <a:pt x="259" y="35"/>
                        <a:pt x="266" y="44"/>
                      </a:cubicBezTo>
                      <a:cubicBezTo>
                        <a:pt x="270" y="56"/>
                        <a:pt x="276" y="61"/>
                        <a:pt x="285" y="71"/>
                      </a:cubicBezTo>
                      <a:cubicBezTo>
                        <a:pt x="281" y="81"/>
                        <a:pt x="289" y="82"/>
                        <a:pt x="277" y="88"/>
                      </a:cubicBezTo>
                      <a:cubicBezTo>
                        <a:pt x="262" y="106"/>
                        <a:pt x="278" y="83"/>
                        <a:pt x="274" y="101"/>
                      </a:cubicBezTo>
                      <a:cubicBezTo>
                        <a:pt x="274" y="105"/>
                        <a:pt x="268" y="109"/>
                        <a:pt x="266" y="113"/>
                      </a:cubicBezTo>
                      <a:cubicBezTo>
                        <a:pt x="270" y="122"/>
                        <a:pt x="268" y="125"/>
                        <a:pt x="261" y="132"/>
                      </a:cubicBezTo>
                      <a:cubicBezTo>
                        <a:pt x="268" y="149"/>
                        <a:pt x="282" y="134"/>
                        <a:pt x="296" y="130"/>
                      </a:cubicBezTo>
                      <a:cubicBezTo>
                        <a:pt x="299" y="122"/>
                        <a:pt x="295" y="119"/>
                        <a:pt x="299" y="111"/>
                      </a:cubicBezTo>
                      <a:cubicBezTo>
                        <a:pt x="296" y="105"/>
                        <a:pt x="288" y="97"/>
                        <a:pt x="299" y="92"/>
                      </a:cubicBezTo>
                      <a:cubicBezTo>
                        <a:pt x="303" y="90"/>
                        <a:pt x="315" y="88"/>
                        <a:pt x="315" y="88"/>
                      </a:cubicBezTo>
                      <a:cubicBezTo>
                        <a:pt x="326" y="91"/>
                        <a:pt x="325" y="95"/>
                        <a:pt x="331" y="103"/>
                      </a:cubicBezTo>
                      <a:cubicBezTo>
                        <a:pt x="339" y="84"/>
                        <a:pt x="331" y="90"/>
                        <a:pt x="361" y="92"/>
                      </a:cubicBezTo>
                      <a:cubicBezTo>
                        <a:pt x="355" y="76"/>
                        <a:pt x="365" y="76"/>
                        <a:pt x="382" y="73"/>
                      </a:cubicBezTo>
                      <a:cubicBezTo>
                        <a:pt x="383" y="71"/>
                        <a:pt x="387" y="57"/>
                        <a:pt x="393" y="54"/>
                      </a:cubicBezTo>
                      <a:cubicBezTo>
                        <a:pt x="398" y="52"/>
                        <a:pt x="409" y="50"/>
                        <a:pt x="409" y="50"/>
                      </a:cubicBezTo>
                      <a:cubicBezTo>
                        <a:pt x="430" y="54"/>
                        <a:pt x="413" y="58"/>
                        <a:pt x="431" y="63"/>
                      </a:cubicBezTo>
                      <a:cubicBezTo>
                        <a:pt x="433" y="61"/>
                        <a:pt x="435" y="57"/>
                        <a:pt x="439" y="56"/>
                      </a:cubicBezTo>
                      <a:cubicBezTo>
                        <a:pt x="445" y="55"/>
                        <a:pt x="452" y="61"/>
                        <a:pt x="457" y="58"/>
                      </a:cubicBezTo>
                      <a:cubicBezTo>
                        <a:pt x="461" y="57"/>
                        <a:pt x="457" y="52"/>
                        <a:pt x="455" y="50"/>
                      </a:cubicBezTo>
                      <a:cubicBezTo>
                        <a:pt x="451" y="47"/>
                        <a:pt x="444" y="47"/>
                        <a:pt x="439" y="46"/>
                      </a:cubicBezTo>
                      <a:cubicBezTo>
                        <a:pt x="436" y="45"/>
                        <a:pt x="431" y="44"/>
                        <a:pt x="431" y="44"/>
                      </a:cubicBezTo>
                      <a:cubicBezTo>
                        <a:pt x="440" y="38"/>
                        <a:pt x="443" y="36"/>
                        <a:pt x="455" y="40"/>
                      </a:cubicBezTo>
                      <a:cubicBezTo>
                        <a:pt x="461" y="38"/>
                        <a:pt x="467" y="35"/>
                        <a:pt x="474" y="35"/>
                      </a:cubicBezTo>
                      <a:cubicBezTo>
                        <a:pt x="483" y="36"/>
                        <a:pt x="511" y="43"/>
                        <a:pt x="519" y="46"/>
                      </a:cubicBezTo>
                      <a:cubicBezTo>
                        <a:pt x="527" y="49"/>
                        <a:pt x="544" y="54"/>
                        <a:pt x="544" y="54"/>
                      </a:cubicBezTo>
                      <a:cubicBezTo>
                        <a:pt x="548" y="54"/>
                        <a:pt x="560" y="52"/>
                        <a:pt x="565" y="50"/>
                      </a:cubicBezTo>
                      <a:cubicBezTo>
                        <a:pt x="570" y="47"/>
                        <a:pt x="581" y="42"/>
                        <a:pt x="581" y="42"/>
                      </a:cubicBezTo>
                      <a:cubicBezTo>
                        <a:pt x="585" y="42"/>
                        <a:pt x="598" y="44"/>
                        <a:pt x="600" y="48"/>
                      </a:cubicBezTo>
                      <a:cubicBezTo>
                        <a:pt x="603" y="55"/>
                        <a:pt x="589" y="61"/>
                        <a:pt x="584" y="63"/>
                      </a:cubicBezTo>
                      <a:cubicBezTo>
                        <a:pt x="576" y="69"/>
                        <a:pt x="568" y="69"/>
                        <a:pt x="565" y="77"/>
                      </a:cubicBezTo>
                      <a:cubicBezTo>
                        <a:pt x="568" y="86"/>
                        <a:pt x="564" y="92"/>
                        <a:pt x="568" y="101"/>
                      </a:cubicBezTo>
                      <a:cubicBezTo>
                        <a:pt x="574" y="93"/>
                        <a:pt x="577" y="91"/>
                        <a:pt x="589" y="94"/>
                      </a:cubicBezTo>
                      <a:cubicBezTo>
                        <a:pt x="595" y="108"/>
                        <a:pt x="602" y="93"/>
                        <a:pt x="611" y="88"/>
                      </a:cubicBezTo>
                      <a:cubicBezTo>
                        <a:pt x="613" y="86"/>
                        <a:pt x="613" y="83"/>
                        <a:pt x="616" y="82"/>
                      </a:cubicBezTo>
                      <a:cubicBezTo>
                        <a:pt x="618" y="80"/>
                        <a:pt x="622" y="81"/>
                        <a:pt x="624" y="80"/>
                      </a:cubicBezTo>
                      <a:cubicBezTo>
                        <a:pt x="626" y="78"/>
                        <a:pt x="626" y="75"/>
                        <a:pt x="627" y="73"/>
                      </a:cubicBezTo>
                      <a:cubicBezTo>
                        <a:pt x="632" y="65"/>
                        <a:pt x="638" y="63"/>
                        <a:pt x="648" y="61"/>
                      </a:cubicBezTo>
                      <a:cubicBezTo>
                        <a:pt x="664" y="62"/>
                        <a:pt x="684" y="69"/>
                        <a:pt x="700" y="69"/>
                      </a:cubicBezTo>
                      <a:lnTo>
                        <a:pt x="794" y="84"/>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89" name="Freeform 58"/>
                <p:cNvSpPr>
                  <a:spLocks/>
                </p:cNvSpPr>
                <p:nvPr userDrawn="1"/>
              </p:nvSpPr>
              <p:spPr bwMode="ltGray">
                <a:xfrm>
                  <a:off x="971" y="91"/>
                  <a:ext cx="30" cy="25"/>
                </a:xfrm>
                <a:custGeom>
                  <a:avLst/>
                  <a:gdLst>
                    <a:gd name="T0" fmla="*/ 3 w 31"/>
                    <a:gd name="T1" fmla="*/ 19 h 30"/>
                    <a:gd name="T2" fmla="*/ 29 w 31"/>
                    <a:gd name="T3" fmla="*/ 0 h 30"/>
                    <a:gd name="T4" fmla="*/ 17 w 31"/>
                    <a:gd name="T5" fmla="*/ 17 h 30"/>
                    <a:gd name="T6" fmla="*/ 3 w 31"/>
                    <a:gd name="T7" fmla="*/ 19 h 3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31" h="30">
                      <a:moveTo>
                        <a:pt x="3" y="28"/>
                      </a:moveTo>
                      <a:cubicBezTo>
                        <a:pt x="8" y="8"/>
                        <a:pt x="12" y="6"/>
                        <a:pt x="31" y="0"/>
                      </a:cubicBezTo>
                      <a:cubicBezTo>
                        <a:pt x="29" y="5"/>
                        <a:pt x="25" y="22"/>
                        <a:pt x="19" y="24"/>
                      </a:cubicBezTo>
                      <a:cubicBezTo>
                        <a:pt x="0" y="30"/>
                        <a:pt x="3" y="9"/>
                        <a:pt x="3" y="2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90" name="Freeform 59"/>
                <p:cNvSpPr>
                  <a:spLocks/>
                </p:cNvSpPr>
                <p:nvPr userDrawn="1"/>
              </p:nvSpPr>
              <p:spPr bwMode="ltGray">
                <a:xfrm>
                  <a:off x="935" y="125"/>
                  <a:ext cx="45" cy="27"/>
                </a:xfrm>
                <a:custGeom>
                  <a:avLst/>
                  <a:gdLst>
                    <a:gd name="T0" fmla="*/ 6 w 44"/>
                    <a:gd name="T1" fmla="*/ 23 h 32"/>
                    <a:gd name="T2" fmla="*/ 24 w 44"/>
                    <a:gd name="T3" fmla="*/ 0 h 32"/>
                    <a:gd name="T4" fmla="*/ 40 w 44"/>
                    <a:gd name="T5" fmla="*/ 3 h 32"/>
                    <a:gd name="T6" fmla="*/ 6 w 44"/>
                    <a:gd name="T7" fmla="*/ 23 h 3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44" h="32">
                      <a:moveTo>
                        <a:pt x="6" y="32"/>
                      </a:moveTo>
                      <a:cubicBezTo>
                        <a:pt x="0" y="14"/>
                        <a:pt x="7" y="10"/>
                        <a:pt x="22" y="0"/>
                      </a:cubicBezTo>
                      <a:cubicBezTo>
                        <a:pt x="27" y="1"/>
                        <a:pt x="35" y="0"/>
                        <a:pt x="38" y="4"/>
                      </a:cubicBezTo>
                      <a:cubicBezTo>
                        <a:pt x="44" y="13"/>
                        <a:pt x="16" y="32"/>
                        <a:pt x="6" y="32"/>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91" name="Freeform 60"/>
                <p:cNvSpPr>
                  <a:spLocks/>
                </p:cNvSpPr>
                <p:nvPr userDrawn="1"/>
              </p:nvSpPr>
              <p:spPr bwMode="ltGray">
                <a:xfrm>
                  <a:off x="1081" y="226"/>
                  <a:ext cx="75" cy="14"/>
                </a:xfrm>
                <a:custGeom>
                  <a:avLst/>
                  <a:gdLst>
                    <a:gd name="T0" fmla="*/ 37 w 76"/>
                    <a:gd name="T1" fmla="*/ 11 h 18"/>
                    <a:gd name="T2" fmla="*/ 25 w 76"/>
                    <a:gd name="T3" fmla="*/ 2 h 18"/>
                    <a:gd name="T4" fmla="*/ 37 w 76"/>
                    <a:gd name="T5" fmla="*/ 11 h 18"/>
                    <a:gd name="T6" fmla="*/ 0 60000 65536"/>
                    <a:gd name="T7" fmla="*/ 0 60000 65536"/>
                    <a:gd name="T8" fmla="*/ 0 60000 65536"/>
                  </a:gdLst>
                  <a:ahLst/>
                  <a:cxnLst>
                    <a:cxn ang="T6">
                      <a:pos x="T0" y="T1"/>
                    </a:cxn>
                    <a:cxn ang="T7">
                      <a:pos x="T2" y="T3"/>
                    </a:cxn>
                    <a:cxn ang="T8">
                      <a:pos x="T4" y="T5"/>
                    </a:cxn>
                  </a:cxnLst>
                  <a:rect l="0" t="0" r="r" b="b"/>
                  <a:pathLst>
                    <a:path w="76" h="18">
                      <a:moveTo>
                        <a:pt x="37" y="18"/>
                      </a:moveTo>
                      <a:cubicBezTo>
                        <a:pt x="25" y="14"/>
                        <a:pt x="0" y="10"/>
                        <a:pt x="25" y="2"/>
                      </a:cubicBezTo>
                      <a:cubicBezTo>
                        <a:pt x="76" y="9"/>
                        <a:pt x="46" y="0"/>
                        <a:pt x="37" y="1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92" name="Freeform 61"/>
                <p:cNvSpPr>
                  <a:spLocks/>
                </p:cNvSpPr>
                <p:nvPr userDrawn="1"/>
              </p:nvSpPr>
              <p:spPr bwMode="ltGray">
                <a:xfrm>
                  <a:off x="1210" y="223"/>
                  <a:ext cx="42" cy="37"/>
                </a:xfrm>
                <a:custGeom>
                  <a:avLst/>
                  <a:gdLst>
                    <a:gd name="T0" fmla="*/ 0 w 42"/>
                    <a:gd name="T1" fmla="*/ 15 h 44"/>
                    <a:gd name="T2" fmla="*/ 12 w 42"/>
                    <a:gd name="T3" fmla="*/ 7 h 44"/>
                    <a:gd name="T4" fmla="*/ 0 w 42"/>
                    <a:gd name="T5" fmla="*/ 15 h 44"/>
                    <a:gd name="T6" fmla="*/ 0 60000 65536"/>
                    <a:gd name="T7" fmla="*/ 0 60000 65536"/>
                    <a:gd name="T8" fmla="*/ 0 60000 65536"/>
                  </a:gdLst>
                  <a:ahLst/>
                  <a:cxnLst>
                    <a:cxn ang="T6">
                      <a:pos x="T0" y="T1"/>
                    </a:cxn>
                    <a:cxn ang="T7">
                      <a:pos x="T2" y="T3"/>
                    </a:cxn>
                    <a:cxn ang="T8">
                      <a:pos x="T4" y="T5"/>
                    </a:cxn>
                  </a:cxnLst>
                  <a:rect l="0" t="0" r="r" b="b"/>
                  <a:pathLst>
                    <a:path w="42" h="44">
                      <a:moveTo>
                        <a:pt x="0" y="21"/>
                      </a:moveTo>
                      <a:cubicBezTo>
                        <a:pt x="4" y="17"/>
                        <a:pt x="7" y="11"/>
                        <a:pt x="12" y="9"/>
                      </a:cubicBezTo>
                      <a:cubicBezTo>
                        <a:pt x="42" y="0"/>
                        <a:pt x="23" y="44"/>
                        <a:pt x="0" y="21"/>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93" name="Freeform 62"/>
                <p:cNvSpPr>
                  <a:spLocks/>
                </p:cNvSpPr>
                <p:nvPr userDrawn="1"/>
              </p:nvSpPr>
              <p:spPr bwMode="ltGray">
                <a:xfrm>
                  <a:off x="865" y="123"/>
                  <a:ext cx="33" cy="24"/>
                </a:xfrm>
                <a:custGeom>
                  <a:avLst/>
                  <a:gdLst>
                    <a:gd name="T0" fmla="*/ 7 w 31"/>
                    <a:gd name="T1" fmla="*/ 14 h 30"/>
                    <a:gd name="T2" fmla="*/ 35 w 31"/>
                    <a:gd name="T3" fmla="*/ 6 h 30"/>
                    <a:gd name="T4" fmla="*/ 7 w 31"/>
                    <a:gd name="T5" fmla="*/ 14 h 30"/>
                    <a:gd name="T6" fmla="*/ 0 60000 65536"/>
                    <a:gd name="T7" fmla="*/ 0 60000 65536"/>
                    <a:gd name="T8" fmla="*/ 0 60000 65536"/>
                  </a:gdLst>
                  <a:ahLst/>
                  <a:cxnLst>
                    <a:cxn ang="T6">
                      <a:pos x="T0" y="T1"/>
                    </a:cxn>
                    <a:cxn ang="T7">
                      <a:pos x="T2" y="T3"/>
                    </a:cxn>
                    <a:cxn ang="T8">
                      <a:pos x="T4" y="T5"/>
                    </a:cxn>
                  </a:cxnLst>
                  <a:rect l="0" t="0" r="r" b="b"/>
                  <a:pathLst>
                    <a:path w="31" h="30">
                      <a:moveTo>
                        <a:pt x="7" y="22"/>
                      </a:moveTo>
                      <a:cubicBezTo>
                        <a:pt x="0" y="0"/>
                        <a:pt x="15" y="6"/>
                        <a:pt x="31" y="10"/>
                      </a:cubicBezTo>
                      <a:cubicBezTo>
                        <a:pt x="14" y="16"/>
                        <a:pt x="15" y="30"/>
                        <a:pt x="7" y="22"/>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grpSp>
          <p:grpSp>
            <p:nvGrpSpPr>
              <p:cNvPr id="10" name="Group 63"/>
              <p:cNvGrpSpPr>
                <a:grpSpLocks/>
              </p:cNvGrpSpPr>
              <p:nvPr userDrawn="1"/>
            </p:nvGrpSpPr>
            <p:grpSpPr bwMode="auto">
              <a:xfrm>
                <a:off x="7" y="-154"/>
                <a:ext cx="5739" cy="418"/>
                <a:chOff x="1056" y="111"/>
                <a:chExt cx="2448" cy="418"/>
              </a:xfrm>
            </p:grpSpPr>
            <p:sp>
              <p:nvSpPr>
                <p:cNvPr id="27" name="Line 64"/>
                <p:cNvSpPr>
                  <a:spLocks noChangeShapeType="1"/>
                </p:cNvSpPr>
                <p:nvPr/>
              </p:nvSpPr>
              <p:spPr bwMode="white">
                <a:xfrm>
                  <a:off x="1056" y="332"/>
                  <a:ext cx="2448" cy="0"/>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8" name="Line 65"/>
                <p:cNvSpPr>
                  <a:spLocks noChangeShapeType="1"/>
                </p:cNvSpPr>
                <p:nvPr/>
              </p:nvSpPr>
              <p:spPr bwMode="white">
                <a:xfrm>
                  <a:off x="1254" y="111"/>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9" name="Line 66"/>
                <p:cNvSpPr>
                  <a:spLocks noChangeShapeType="1"/>
                </p:cNvSpPr>
                <p:nvPr/>
              </p:nvSpPr>
              <p:spPr bwMode="white">
                <a:xfrm>
                  <a:off x="1482" y="111"/>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0" name="Line 67"/>
                <p:cNvSpPr>
                  <a:spLocks noChangeShapeType="1"/>
                </p:cNvSpPr>
                <p:nvPr/>
              </p:nvSpPr>
              <p:spPr bwMode="white">
                <a:xfrm>
                  <a:off x="1710" y="111"/>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1" name="Line 68"/>
                <p:cNvSpPr>
                  <a:spLocks noChangeShapeType="1"/>
                </p:cNvSpPr>
                <p:nvPr/>
              </p:nvSpPr>
              <p:spPr bwMode="white">
                <a:xfrm>
                  <a:off x="1938" y="111"/>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2" name="Line 69"/>
                <p:cNvSpPr>
                  <a:spLocks noChangeShapeType="1"/>
                </p:cNvSpPr>
                <p:nvPr/>
              </p:nvSpPr>
              <p:spPr bwMode="white">
                <a:xfrm>
                  <a:off x="2166" y="111"/>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3" name="Line 70"/>
                <p:cNvSpPr>
                  <a:spLocks noChangeShapeType="1"/>
                </p:cNvSpPr>
                <p:nvPr/>
              </p:nvSpPr>
              <p:spPr bwMode="white">
                <a:xfrm>
                  <a:off x="2394" y="111"/>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4" name="Line 71"/>
                <p:cNvSpPr>
                  <a:spLocks noChangeShapeType="1"/>
                </p:cNvSpPr>
                <p:nvPr/>
              </p:nvSpPr>
              <p:spPr bwMode="white">
                <a:xfrm>
                  <a:off x="2622" y="111"/>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5" name="Line 72"/>
                <p:cNvSpPr>
                  <a:spLocks noChangeShapeType="1"/>
                </p:cNvSpPr>
                <p:nvPr/>
              </p:nvSpPr>
              <p:spPr bwMode="white">
                <a:xfrm>
                  <a:off x="2850" y="111"/>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6" name="Line 73"/>
                <p:cNvSpPr>
                  <a:spLocks noChangeShapeType="1"/>
                </p:cNvSpPr>
                <p:nvPr/>
              </p:nvSpPr>
              <p:spPr bwMode="white">
                <a:xfrm>
                  <a:off x="3078" y="111"/>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7" name="Line 74"/>
                <p:cNvSpPr>
                  <a:spLocks noChangeShapeType="1"/>
                </p:cNvSpPr>
                <p:nvPr/>
              </p:nvSpPr>
              <p:spPr bwMode="white">
                <a:xfrm>
                  <a:off x="3306" y="111"/>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11" name="Group 75"/>
              <p:cNvGrpSpPr>
                <a:grpSpLocks/>
              </p:cNvGrpSpPr>
              <p:nvPr userDrawn="1"/>
            </p:nvGrpSpPr>
            <p:grpSpPr bwMode="auto">
              <a:xfrm>
                <a:off x="-1261" y="-1"/>
                <a:ext cx="2098" cy="1030"/>
                <a:chOff x="1208" y="109"/>
                <a:chExt cx="2098" cy="423"/>
              </a:xfrm>
            </p:grpSpPr>
            <p:sp>
              <p:nvSpPr>
                <p:cNvPr id="12" name="Line 76"/>
                <p:cNvSpPr>
                  <a:spLocks noChangeShapeType="1"/>
                </p:cNvSpPr>
                <p:nvPr/>
              </p:nvSpPr>
              <p:spPr bwMode="ltGray">
                <a:xfrm>
                  <a:off x="2850" y="110"/>
                  <a:ext cx="0" cy="142"/>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3" name="Line 77"/>
                <p:cNvSpPr>
                  <a:spLocks noChangeShapeType="1"/>
                </p:cNvSpPr>
                <p:nvPr/>
              </p:nvSpPr>
              <p:spPr bwMode="ltGray">
                <a:xfrm>
                  <a:off x="2972" y="332"/>
                  <a:ext cx="70" cy="0"/>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4" name="Line 78"/>
                <p:cNvSpPr>
                  <a:spLocks noChangeShapeType="1"/>
                </p:cNvSpPr>
                <p:nvPr/>
              </p:nvSpPr>
              <p:spPr bwMode="ltGray">
                <a:xfrm>
                  <a:off x="3078" y="350"/>
                  <a:ext cx="0" cy="28"/>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5" name="Line 79"/>
                <p:cNvSpPr>
                  <a:spLocks noChangeShapeType="1"/>
                </p:cNvSpPr>
                <p:nvPr/>
              </p:nvSpPr>
              <p:spPr bwMode="ltGray">
                <a:xfrm>
                  <a:off x="3306" y="450"/>
                  <a:ext cx="0" cy="79"/>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6" name="Line 80"/>
                <p:cNvSpPr>
                  <a:spLocks noChangeShapeType="1"/>
                </p:cNvSpPr>
                <p:nvPr/>
              </p:nvSpPr>
              <p:spPr bwMode="ltGray">
                <a:xfrm>
                  <a:off x="2166" y="114"/>
                  <a:ext cx="0" cy="62"/>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7" name="Line 81"/>
                <p:cNvSpPr>
                  <a:spLocks noChangeShapeType="1"/>
                </p:cNvSpPr>
                <p:nvPr/>
              </p:nvSpPr>
              <p:spPr bwMode="ltGray">
                <a:xfrm>
                  <a:off x="1938" y="111"/>
                  <a:ext cx="0" cy="337"/>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8" name="Line 82"/>
                <p:cNvSpPr>
                  <a:spLocks noChangeShapeType="1"/>
                </p:cNvSpPr>
                <p:nvPr/>
              </p:nvSpPr>
              <p:spPr bwMode="ltGray">
                <a:xfrm flipH="1">
                  <a:off x="1912" y="332"/>
                  <a:ext cx="68" cy="0"/>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9" name="Line 83"/>
                <p:cNvSpPr>
                  <a:spLocks noChangeShapeType="1"/>
                </p:cNvSpPr>
                <p:nvPr/>
              </p:nvSpPr>
              <p:spPr bwMode="ltGray">
                <a:xfrm>
                  <a:off x="1778" y="332"/>
                  <a:ext cx="60" cy="0"/>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0" name="Line 84"/>
                <p:cNvSpPr>
                  <a:spLocks noChangeShapeType="1"/>
                </p:cNvSpPr>
                <p:nvPr/>
              </p:nvSpPr>
              <p:spPr bwMode="ltGray">
                <a:xfrm flipH="1">
                  <a:off x="1578" y="332"/>
                  <a:ext cx="82" cy="0"/>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1" name="Line 85"/>
                <p:cNvSpPr>
                  <a:spLocks noChangeShapeType="1"/>
                </p:cNvSpPr>
                <p:nvPr/>
              </p:nvSpPr>
              <p:spPr bwMode="ltGray">
                <a:xfrm>
                  <a:off x="1208" y="332"/>
                  <a:ext cx="348" cy="0"/>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2" name="Line 86"/>
                <p:cNvSpPr>
                  <a:spLocks noChangeShapeType="1"/>
                </p:cNvSpPr>
                <p:nvPr/>
              </p:nvSpPr>
              <p:spPr bwMode="ltGray">
                <a:xfrm>
                  <a:off x="1480" y="234"/>
                  <a:ext cx="0" cy="298"/>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3" name="Line 87"/>
                <p:cNvSpPr>
                  <a:spLocks noChangeShapeType="1"/>
                </p:cNvSpPr>
                <p:nvPr/>
              </p:nvSpPr>
              <p:spPr bwMode="ltGray">
                <a:xfrm>
                  <a:off x="1254" y="252"/>
                  <a:ext cx="0" cy="156"/>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4" name="Line 88"/>
                <p:cNvSpPr>
                  <a:spLocks noChangeShapeType="1"/>
                </p:cNvSpPr>
                <p:nvPr/>
              </p:nvSpPr>
              <p:spPr bwMode="ltGray">
                <a:xfrm flipH="1" flipV="1">
                  <a:off x="1482" y="109"/>
                  <a:ext cx="0" cy="27"/>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5" name="Line 89"/>
                <p:cNvSpPr>
                  <a:spLocks noChangeShapeType="1"/>
                </p:cNvSpPr>
                <p:nvPr/>
              </p:nvSpPr>
              <p:spPr bwMode="ltGray">
                <a:xfrm>
                  <a:off x="1710" y="180"/>
                  <a:ext cx="0" cy="96"/>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6" name="Line 90"/>
                <p:cNvSpPr>
                  <a:spLocks noChangeShapeType="1"/>
                </p:cNvSpPr>
                <p:nvPr/>
              </p:nvSpPr>
              <p:spPr bwMode="ltGray">
                <a:xfrm flipV="1">
                  <a:off x="1710" y="111"/>
                  <a:ext cx="0" cy="22"/>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pic>
          <p:nvPicPr>
            <p:cNvPr id="7" name="Picture 91" descr="earth"/>
            <p:cNvPicPr>
              <a:picLocks noChangeAspect="1" noChangeArrowheads="1"/>
            </p:cNvPicPr>
            <p:nvPr userDrawn="1"/>
          </p:nvPicPr>
          <p:blipFill>
            <a:blip r:embed="rId2">
              <a:clrChange>
                <a:clrFrom>
                  <a:srgbClr val="000000"/>
                </a:clrFrom>
                <a:clrTo>
                  <a:srgbClr val="000000">
                    <a:alpha val="0"/>
                  </a:srgbClr>
                </a:clrTo>
              </a:clrChange>
              <a:extLst>
                <a:ext uri="{28A0092B-C50C-407E-A947-70E740481C1C}">
                  <a14:useLocalDpi xmlns:a14="http://schemas.microsoft.com/office/drawing/2010/main" val="0"/>
                </a:ext>
              </a:extLst>
            </a:blip>
            <a:srcRect/>
            <a:stretch>
              <a:fillRect/>
            </a:stretch>
          </p:blipFill>
          <p:spPr bwMode="gray">
            <a:xfrm>
              <a:off x="336" y="1566"/>
              <a:ext cx="690" cy="6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5212" name="Rectangle 92"/>
          <p:cNvSpPr>
            <a:spLocks noGrp="1" noChangeArrowheads="1"/>
          </p:cNvSpPr>
          <p:nvPr>
            <p:ph type="ctrTitle"/>
          </p:nvPr>
        </p:nvSpPr>
        <p:spPr>
          <a:xfrm>
            <a:off x="1828800" y="1828800"/>
            <a:ext cx="6934200" cy="2362200"/>
          </a:xfrm>
        </p:spPr>
        <p:txBody>
          <a:bodyPr/>
          <a:lstStyle>
            <a:lvl1pPr>
              <a:defRPr b="1"/>
            </a:lvl1pPr>
          </a:lstStyle>
          <a:p>
            <a:r>
              <a:rPr lang="en-US" smtClean="0"/>
              <a:t>Click to edit Master title style</a:t>
            </a:r>
            <a:endParaRPr lang="en-US" dirty="0"/>
          </a:p>
        </p:txBody>
      </p:sp>
      <p:sp>
        <p:nvSpPr>
          <p:cNvPr id="5213" name="Rectangle 93"/>
          <p:cNvSpPr>
            <a:spLocks noGrp="1" noChangeArrowheads="1"/>
          </p:cNvSpPr>
          <p:nvPr>
            <p:ph type="subTitle" idx="1"/>
          </p:nvPr>
        </p:nvSpPr>
        <p:spPr>
          <a:xfrm>
            <a:off x="1828800" y="4572000"/>
            <a:ext cx="6934200" cy="1295400"/>
          </a:xfrm>
        </p:spPr>
        <p:txBody>
          <a:bodyPr/>
          <a:lstStyle>
            <a:lvl1pPr marL="0" indent="0">
              <a:buFontTx/>
              <a:buNone/>
              <a:defRPr/>
            </a:lvl1pPr>
          </a:lstStyle>
          <a:p>
            <a:r>
              <a:rPr lang="en-US" smtClean="0"/>
              <a:t>Click to edit Master subtitle style</a:t>
            </a:r>
            <a:endParaRPr lang="en-US"/>
          </a:p>
        </p:txBody>
      </p:sp>
      <p:sp>
        <p:nvSpPr>
          <p:cNvPr id="94" name="Rectangle 94"/>
          <p:cNvSpPr>
            <a:spLocks noGrp="1" noChangeArrowheads="1"/>
          </p:cNvSpPr>
          <p:nvPr>
            <p:ph type="dt" sz="half" idx="10"/>
          </p:nvPr>
        </p:nvSpPr>
        <p:spPr>
          <a:xfrm>
            <a:off x="533400" y="6324600"/>
            <a:ext cx="1905000" cy="457200"/>
          </a:xfrm>
        </p:spPr>
        <p:txBody>
          <a:bodyPr/>
          <a:lstStyle>
            <a:lvl1pPr>
              <a:defRPr smtClean="0"/>
            </a:lvl1pPr>
          </a:lstStyle>
          <a:p>
            <a:pPr>
              <a:defRPr/>
            </a:pPr>
            <a:fld id="{61444B66-8CC6-4347-958F-B994745D7057}" type="datetime1">
              <a:rPr lang="en-US" smtClean="0"/>
              <a:t>9/30/2020</a:t>
            </a:fld>
            <a:endParaRPr lang="en-US"/>
          </a:p>
        </p:txBody>
      </p:sp>
      <p:sp>
        <p:nvSpPr>
          <p:cNvPr id="95" name="Rectangle 95"/>
          <p:cNvSpPr>
            <a:spLocks noGrp="1" noChangeArrowheads="1"/>
          </p:cNvSpPr>
          <p:nvPr>
            <p:ph type="ftr" sz="quarter" idx="11"/>
          </p:nvPr>
        </p:nvSpPr>
        <p:spPr>
          <a:xfrm>
            <a:off x="1905000" y="6324600"/>
            <a:ext cx="5791200" cy="457200"/>
          </a:xfrm>
        </p:spPr>
        <p:txBody>
          <a:bodyPr/>
          <a:lstStyle>
            <a:lvl1pPr>
              <a:defRPr/>
            </a:lvl1pPr>
          </a:lstStyle>
          <a:p>
            <a:pPr>
              <a:defRPr/>
            </a:pPr>
            <a:r>
              <a:rPr lang="en-US" smtClean="0"/>
              <a:t>Options, Futures, and Other Derivatives, 11th Edition,    Copyright © John C. Hull 2021</a:t>
            </a:r>
            <a:endParaRPr lang="en-US"/>
          </a:p>
        </p:txBody>
      </p:sp>
      <p:sp>
        <p:nvSpPr>
          <p:cNvPr id="96" name="Rectangle 96"/>
          <p:cNvSpPr>
            <a:spLocks noGrp="1" noChangeArrowheads="1"/>
          </p:cNvSpPr>
          <p:nvPr>
            <p:ph type="sldNum" sz="quarter" idx="12"/>
          </p:nvPr>
        </p:nvSpPr>
        <p:spPr>
          <a:xfrm>
            <a:off x="6858000" y="6324600"/>
            <a:ext cx="1905000" cy="457200"/>
          </a:xfrm>
        </p:spPr>
        <p:txBody>
          <a:bodyPr/>
          <a:lstStyle>
            <a:lvl1pPr>
              <a:defRPr/>
            </a:lvl1pPr>
          </a:lstStyle>
          <a:p>
            <a:fld id="{67B3B845-5D5C-4AED-9E19-9F9FEEAFBCA7}" type="slidenum">
              <a:rPr lang="en-US" altLang="en-US"/>
              <a:pPr/>
              <a:t>‹#›</a:t>
            </a:fld>
            <a:endParaRPr lang="en-US" altLang="en-US"/>
          </a:p>
        </p:txBody>
      </p:sp>
    </p:spTree>
    <p:extLst>
      <p:ext uri="{BB962C8B-B14F-4D97-AF65-F5344CB8AC3E}">
        <p14:creationId xmlns:p14="http://schemas.microsoft.com/office/powerpoint/2010/main" val="137670968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lvl1pPr>
              <a:defRPr sz="2800">
                <a:latin typeface="Arial" pitchFamily="34" charset="0"/>
                <a:cs typeface="Arial" pitchFamily="34" charset="0"/>
              </a:defRPr>
            </a:lvl1pPr>
            <a:lvl2pPr>
              <a:defRPr sz="2400">
                <a:latin typeface="Arial" pitchFamily="34" charset="0"/>
                <a:cs typeface="Arial" pitchFamily="34" charset="0"/>
              </a:defRPr>
            </a:lvl2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lvl1pPr>
              <a:defRPr smtClean="0"/>
            </a:lvl1pPr>
          </a:lstStyle>
          <a:p>
            <a:pPr>
              <a:defRPr/>
            </a:pPr>
            <a:fld id="{DA619435-3A19-44C0-879B-56C3BADB8B86}" type="datetime1">
              <a:rPr lang="en-US" smtClean="0"/>
              <a:t>9/30/2020</a:t>
            </a:fld>
            <a:endParaRPr lang="en-US"/>
          </a:p>
        </p:txBody>
      </p:sp>
      <p:sp>
        <p:nvSpPr>
          <p:cNvPr id="5" name="Footer Placeholder 4"/>
          <p:cNvSpPr>
            <a:spLocks noGrp="1"/>
          </p:cNvSpPr>
          <p:nvPr>
            <p:ph type="ftr" sz="quarter" idx="11"/>
          </p:nvPr>
        </p:nvSpPr>
        <p:spPr>
          <a:xfrm>
            <a:off x="1600200" y="6248400"/>
            <a:ext cx="5029200" cy="457200"/>
          </a:xfrm>
        </p:spPr>
        <p:txBody>
          <a:bodyPr/>
          <a:lstStyle>
            <a:lvl1pPr>
              <a:defRPr/>
            </a:lvl1pPr>
          </a:lstStyle>
          <a:p>
            <a:pPr>
              <a:defRPr/>
            </a:pPr>
            <a:r>
              <a:rPr lang="en-US" smtClean="0"/>
              <a:t>Options, Futures, and Other Derivatives, 11th Edition,    Copyright © John C. Hull 2021</a:t>
            </a:r>
            <a:endParaRPr lang="en-US"/>
          </a:p>
        </p:txBody>
      </p:sp>
      <p:sp>
        <p:nvSpPr>
          <p:cNvPr id="6" name="Slide Number Placeholder 5"/>
          <p:cNvSpPr>
            <a:spLocks noGrp="1"/>
          </p:cNvSpPr>
          <p:nvPr>
            <p:ph type="sldNum" sz="quarter" idx="12"/>
          </p:nvPr>
        </p:nvSpPr>
        <p:spPr/>
        <p:txBody>
          <a:bodyPr/>
          <a:lstStyle>
            <a:lvl1pPr>
              <a:defRPr/>
            </a:lvl1pPr>
          </a:lstStyle>
          <a:p>
            <a:fld id="{DD69E5F0-89A0-4F43-8B4F-1CAC9BF112DD}" type="slidenum">
              <a:rPr lang="en-US" altLang="en-US"/>
              <a:pPr/>
              <a:t>‹#›</a:t>
            </a:fld>
            <a:endParaRPr lang="en-US" altLang="en-US"/>
          </a:p>
        </p:txBody>
      </p:sp>
    </p:spTree>
    <p:extLst>
      <p:ext uri="{BB962C8B-B14F-4D97-AF65-F5344CB8AC3E}">
        <p14:creationId xmlns:p14="http://schemas.microsoft.com/office/powerpoint/2010/main" val="57449918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
        <p:nvSpPr>
          <p:cNvPr id="4" name="Rectangle 4"/>
          <p:cNvSpPr>
            <a:spLocks noGrp="1" noChangeArrowheads="1"/>
          </p:cNvSpPr>
          <p:nvPr>
            <p:ph type="dt" sz="half" idx="10"/>
          </p:nvPr>
        </p:nvSpPr>
        <p:spPr>
          <a:ln/>
        </p:spPr>
        <p:txBody>
          <a:bodyPr/>
          <a:lstStyle>
            <a:lvl1pPr>
              <a:defRPr/>
            </a:lvl1pPr>
          </a:lstStyle>
          <a:p>
            <a:pPr>
              <a:defRPr/>
            </a:pPr>
            <a:fld id="{8456EE57-4A8D-4821-A26A-ECD9D67FE842}" type="datetime1">
              <a:rPr lang="en-US" smtClean="0"/>
              <a:t>9/30/2020</a:t>
            </a:fld>
            <a:endParaRPr lang="en-US"/>
          </a:p>
        </p:txBody>
      </p:sp>
      <p:sp>
        <p:nvSpPr>
          <p:cNvPr id="5" name="Rectangle 5"/>
          <p:cNvSpPr>
            <a:spLocks noGrp="1" noChangeArrowheads="1"/>
          </p:cNvSpPr>
          <p:nvPr>
            <p:ph type="ftr" sz="quarter" idx="11"/>
          </p:nvPr>
        </p:nvSpPr>
        <p:spPr>
          <a:ln/>
        </p:spPr>
        <p:txBody>
          <a:bodyPr/>
          <a:lstStyle>
            <a:lvl1pPr>
              <a:defRPr/>
            </a:lvl1pPr>
          </a:lstStyle>
          <a:p>
            <a:pPr>
              <a:defRPr/>
            </a:pPr>
            <a:r>
              <a:rPr lang="en-US" smtClean="0"/>
              <a:t>Options, Futures, and Other Derivatives, 11th Edition,    Copyright © John C. Hull 2021</a:t>
            </a:r>
            <a:endParaRPr lang="en-US"/>
          </a:p>
        </p:txBody>
      </p:sp>
      <p:sp>
        <p:nvSpPr>
          <p:cNvPr id="6" name="Rectangle 6"/>
          <p:cNvSpPr>
            <a:spLocks noGrp="1" noChangeArrowheads="1"/>
          </p:cNvSpPr>
          <p:nvPr>
            <p:ph type="sldNum" sz="quarter" idx="12"/>
          </p:nvPr>
        </p:nvSpPr>
        <p:spPr>
          <a:ln/>
        </p:spPr>
        <p:txBody>
          <a:bodyPr/>
          <a:lstStyle>
            <a:lvl1pPr>
              <a:defRPr/>
            </a:lvl1pPr>
          </a:lstStyle>
          <a:p>
            <a:fld id="{519F722A-83A1-4DA8-AE8E-7A0689183D11}" type="slidenum">
              <a:rPr lang="en-US" altLang="en-US"/>
              <a:pPr/>
              <a:t>‹#›</a:t>
            </a:fld>
            <a:endParaRPr lang="en-US" altLang="en-US"/>
          </a:p>
        </p:txBody>
      </p:sp>
    </p:spTree>
    <p:extLst>
      <p:ext uri="{BB962C8B-B14F-4D97-AF65-F5344CB8AC3E}">
        <p14:creationId xmlns:p14="http://schemas.microsoft.com/office/powerpoint/2010/main" val="380187402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685800" y="2147888"/>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2147888"/>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Rectangle 4"/>
          <p:cNvSpPr>
            <a:spLocks noGrp="1" noChangeArrowheads="1"/>
          </p:cNvSpPr>
          <p:nvPr>
            <p:ph type="dt" sz="half" idx="10"/>
          </p:nvPr>
        </p:nvSpPr>
        <p:spPr>
          <a:ln/>
        </p:spPr>
        <p:txBody>
          <a:bodyPr/>
          <a:lstStyle>
            <a:lvl1pPr>
              <a:defRPr/>
            </a:lvl1pPr>
          </a:lstStyle>
          <a:p>
            <a:pPr>
              <a:defRPr/>
            </a:pPr>
            <a:fld id="{5544455E-E18F-47C2-9900-8D59E6B8F372}" type="datetime1">
              <a:rPr lang="en-US" smtClean="0"/>
              <a:t>9/30/2020</a:t>
            </a:fld>
            <a:endParaRPr lang="en-US"/>
          </a:p>
        </p:txBody>
      </p:sp>
      <p:sp>
        <p:nvSpPr>
          <p:cNvPr id="6" name="Rectangle 5"/>
          <p:cNvSpPr>
            <a:spLocks noGrp="1" noChangeArrowheads="1"/>
          </p:cNvSpPr>
          <p:nvPr>
            <p:ph type="ftr" sz="quarter" idx="11"/>
          </p:nvPr>
        </p:nvSpPr>
        <p:spPr>
          <a:ln/>
        </p:spPr>
        <p:txBody>
          <a:bodyPr/>
          <a:lstStyle>
            <a:lvl1pPr>
              <a:defRPr/>
            </a:lvl1pPr>
          </a:lstStyle>
          <a:p>
            <a:pPr>
              <a:defRPr/>
            </a:pPr>
            <a:r>
              <a:rPr lang="en-US" smtClean="0"/>
              <a:t>Options, Futures, and Other Derivatives, 11th Edition,    Copyright © John C. Hull 2021</a:t>
            </a:r>
            <a:endParaRPr lang="en-US"/>
          </a:p>
        </p:txBody>
      </p:sp>
      <p:sp>
        <p:nvSpPr>
          <p:cNvPr id="7" name="Rectangle 6"/>
          <p:cNvSpPr>
            <a:spLocks noGrp="1" noChangeArrowheads="1"/>
          </p:cNvSpPr>
          <p:nvPr>
            <p:ph type="sldNum" sz="quarter" idx="12"/>
          </p:nvPr>
        </p:nvSpPr>
        <p:spPr>
          <a:ln/>
        </p:spPr>
        <p:txBody>
          <a:bodyPr/>
          <a:lstStyle>
            <a:lvl1pPr>
              <a:defRPr/>
            </a:lvl1pPr>
          </a:lstStyle>
          <a:p>
            <a:fld id="{57A4D04D-214F-4A7A-98B5-F114A1FD9119}" type="slidenum">
              <a:rPr lang="en-US" altLang="en-US"/>
              <a:pPr/>
              <a:t>‹#›</a:t>
            </a:fld>
            <a:endParaRPr lang="en-US" altLang="en-US"/>
          </a:p>
        </p:txBody>
      </p:sp>
    </p:spTree>
    <p:extLst>
      <p:ext uri="{BB962C8B-B14F-4D97-AF65-F5344CB8AC3E}">
        <p14:creationId xmlns:p14="http://schemas.microsoft.com/office/powerpoint/2010/main" val="299856730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Rectangle 4"/>
          <p:cNvSpPr>
            <a:spLocks noGrp="1" noChangeArrowheads="1"/>
          </p:cNvSpPr>
          <p:nvPr>
            <p:ph type="dt" sz="half" idx="10"/>
          </p:nvPr>
        </p:nvSpPr>
        <p:spPr>
          <a:ln/>
        </p:spPr>
        <p:txBody>
          <a:bodyPr/>
          <a:lstStyle>
            <a:lvl1pPr>
              <a:defRPr/>
            </a:lvl1pPr>
          </a:lstStyle>
          <a:p>
            <a:pPr>
              <a:defRPr/>
            </a:pPr>
            <a:fld id="{097C81A2-6041-4A05-96B2-35A1E8EE57E9}" type="datetime1">
              <a:rPr lang="en-US" smtClean="0"/>
              <a:t>9/30/2020</a:t>
            </a:fld>
            <a:endParaRPr lang="en-US"/>
          </a:p>
        </p:txBody>
      </p:sp>
      <p:sp>
        <p:nvSpPr>
          <p:cNvPr id="8" name="Rectangle 5"/>
          <p:cNvSpPr>
            <a:spLocks noGrp="1" noChangeArrowheads="1"/>
          </p:cNvSpPr>
          <p:nvPr>
            <p:ph type="ftr" sz="quarter" idx="11"/>
          </p:nvPr>
        </p:nvSpPr>
        <p:spPr>
          <a:ln/>
        </p:spPr>
        <p:txBody>
          <a:bodyPr/>
          <a:lstStyle>
            <a:lvl1pPr>
              <a:defRPr/>
            </a:lvl1pPr>
          </a:lstStyle>
          <a:p>
            <a:pPr>
              <a:defRPr/>
            </a:pPr>
            <a:r>
              <a:rPr lang="en-US" smtClean="0"/>
              <a:t>Options, Futures, and Other Derivatives, 11th Edition,    Copyright © John C. Hull 2021</a:t>
            </a:r>
            <a:endParaRPr lang="en-US"/>
          </a:p>
        </p:txBody>
      </p:sp>
      <p:sp>
        <p:nvSpPr>
          <p:cNvPr id="9" name="Rectangle 6"/>
          <p:cNvSpPr>
            <a:spLocks noGrp="1" noChangeArrowheads="1"/>
          </p:cNvSpPr>
          <p:nvPr>
            <p:ph type="sldNum" sz="quarter" idx="12"/>
          </p:nvPr>
        </p:nvSpPr>
        <p:spPr>
          <a:ln/>
        </p:spPr>
        <p:txBody>
          <a:bodyPr/>
          <a:lstStyle>
            <a:lvl1pPr>
              <a:defRPr/>
            </a:lvl1pPr>
          </a:lstStyle>
          <a:p>
            <a:fld id="{534E7453-7C48-447E-B8E6-7455F6DA9F7C}" type="slidenum">
              <a:rPr lang="en-US" altLang="en-US"/>
              <a:pPr/>
              <a:t>‹#›</a:t>
            </a:fld>
            <a:endParaRPr lang="en-US" altLang="en-US"/>
          </a:p>
        </p:txBody>
      </p:sp>
    </p:spTree>
    <p:extLst>
      <p:ext uri="{BB962C8B-B14F-4D97-AF65-F5344CB8AC3E}">
        <p14:creationId xmlns:p14="http://schemas.microsoft.com/office/powerpoint/2010/main" val="353157128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lvl1pPr>
              <a:defRPr smtClean="0"/>
            </a:lvl1pPr>
          </a:lstStyle>
          <a:p>
            <a:pPr>
              <a:defRPr/>
            </a:pPr>
            <a:fld id="{417264AA-71BB-496C-ADBE-D49C8C48F7D9}" type="datetime1">
              <a:rPr lang="en-US" smtClean="0"/>
              <a:t>9/30/2020</a:t>
            </a:fld>
            <a:endParaRPr lang="en-US"/>
          </a:p>
        </p:txBody>
      </p:sp>
      <p:sp>
        <p:nvSpPr>
          <p:cNvPr id="4" name="Footer Placeholder 3"/>
          <p:cNvSpPr>
            <a:spLocks noGrp="1"/>
          </p:cNvSpPr>
          <p:nvPr>
            <p:ph type="ftr" sz="quarter" idx="11"/>
          </p:nvPr>
        </p:nvSpPr>
        <p:spPr>
          <a:xfrm>
            <a:off x="2133600" y="6324600"/>
            <a:ext cx="4800600" cy="457200"/>
          </a:xfrm>
        </p:spPr>
        <p:txBody>
          <a:bodyPr/>
          <a:lstStyle>
            <a:lvl1pPr>
              <a:defRPr/>
            </a:lvl1pPr>
          </a:lstStyle>
          <a:p>
            <a:pPr>
              <a:defRPr/>
            </a:pPr>
            <a:r>
              <a:rPr lang="en-US" smtClean="0"/>
              <a:t>Options, Futures, and Other Derivatives, 11th Edition,    Copyright © John C. Hull 2021</a:t>
            </a:r>
            <a:endParaRPr lang="en-US"/>
          </a:p>
        </p:txBody>
      </p:sp>
      <p:sp>
        <p:nvSpPr>
          <p:cNvPr id="5" name="Slide Number Placeholder 4"/>
          <p:cNvSpPr>
            <a:spLocks noGrp="1"/>
          </p:cNvSpPr>
          <p:nvPr>
            <p:ph type="sldNum" sz="quarter" idx="12"/>
          </p:nvPr>
        </p:nvSpPr>
        <p:spPr/>
        <p:txBody>
          <a:bodyPr/>
          <a:lstStyle>
            <a:lvl1pPr>
              <a:defRPr/>
            </a:lvl1pPr>
          </a:lstStyle>
          <a:p>
            <a:fld id="{9889FCDC-74FC-4B61-BCEE-476791B31CE2}" type="slidenum">
              <a:rPr lang="en-US" altLang="en-US"/>
              <a:pPr/>
              <a:t>‹#›</a:t>
            </a:fld>
            <a:endParaRPr lang="en-US" altLang="en-US"/>
          </a:p>
        </p:txBody>
      </p:sp>
    </p:spTree>
    <p:extLst>
      <p:ext uri="{BB962C8B-B14F-4D97-AF65-F5344CB8AC3E}">
        <p14:creationId xmlns:p14="http://schemas.microsoft.com/office/powerpoint/2010/main" val="424281242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fld id="{FBE1E7B2-EA75-4445-B050-A4BE9EE3F31E}" type="datetime1">
              <a:rPr lang="en-US" smtClean="0"/>
              <a:t>9/30/2020</a:t>
            </a:fld>
            <a:endParaRPr lang="en-US"/>
          </a:p>
        </p:txBody>
      </p:sp>
      <p:sp>
        <p:nvSpPr>
          <p:cNvPr id="3" name="Rectangle 5"/>
          <p:cNvSpPr>
            <a:spLocks noGrp="1" noChangeArrowheads="1"/>
          </p:cNvSpPr>
          <p:nvPr>
            <p:ph type="ftr" sz="quarter" idx="11"/>
          </p:nvPr>
        </p:nvSpPr>
        <p:spPr>
          <a:ln/>
        </p:spPr>
        <p:txBody>
          <a:bodyPr/>
          <a:lstStyle>
            <a:lvl1pPr>
              <a:defRPr/>
            </a:lvl1pPr>
          </a:lstStyle>
          <a:p>
            <a:pPr>
              <a:defRPr/>
            </a:pPr>
            <a:r>
              <a:rPr lang="en-US" smtClean="0"/>
              <a:t>Options, Futures, and Other Derivatives, 11th Edition,    Copyright © John C. Hull 2021</a:t>
            </a:r>
            <a:endParaRPr lang="en-US"/>
          </a:p>
        </p:txBody>
      </p:sp>
      <p:sp>
        <p:nvSpPr>
          <p:cNvPr id="4" name="Rectangle 6"/>
          <p:cNvSpPr>
            <a:spLocks noGrp="1" noChangeArrowheads="1"/>
          </p:cNvSpPr>
          <p:nvPr>
            <p:ph type="sldNum" sz="quarter" idx="12"/>
          </p:nvPr>
        </p:nvSpPr>
        <p:spPr>
          <a:ln/>
        </p:spPr>
        <p:txBody>
          <a:bodyPr/>
          <a:lstStyle>
            <a:lvl1pPr>
              <a:defRPr/>
            </a:lvl1pPr>
          </a:lstStyle>
          <a:p>
            <a:fld id="{75A0BB5B-3B0A-4535-BD37-D5306FF73A6A}" type="slidenum">
              <a:rPr lang="en-US" altLang="en-US"/>
              <a:pPr/>
              <a:t>‹#›</a:t>
            </a:fld>
            <a:endParaRPr lang="en-US" altLang="en-US"/>
          </a:p>
        </p:txBody>
      </p:sp>
    </p:spTree>
    <p:extLst>
      <p:ext uri="{BB962C8B-B14F-4D97-AF65-F5344CB8AC3E}">
        <p14:creationId xmlns:p14="http://schemas.microsoft.com/office/powerpoint/2010/main" val="354653205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fld id="{5E5D1B99-7E86-420D-A98A-20462AF3924D}" type="datetime1">
              <a:rPr lang="en-US" smtClean="0"/>
              <a:t>9/30/2020</a:t>
            </a:fld>
            <a:endParaRPr lang="en-US"/>
          </a:p>
        </p:txBody>
      </p:sp>
      <p:sp>
        <p:nvSpPr>
          <p:cNvPr id="6" name="Rectangle 5"/>
          <p:cNvSpPr>
            <a:spLocks noGrp="1" noChangeArrowheads="1"/>
          </p:cNvSpPr>
          <p:nvPr>
            <p:ph type="ftr" sz="quarter" idx="11"/>
          </p:nvPr>
        </p:nvSpPr>
        <p:spPr>
          <a:ln/>
        </p:spPr>
        <p:txBody>
          <a:bodyPr/>
          <a:lstStyle>
            <a:lvl1pPr>
              <a:defRPr/>
            </a:lvl1pPr>
          </a:lstStyle>
          <a:p>
            <a:pPr>
              <a:defRPr/>
            </a:pPr>
            <a:r>
              <a:rPr lang="en-US" smtClean="0"/>
              <a:t>Options, Futures, and Other Derivatives, 11th Edition,    Copyright © John C. Hull 2021</a:t>
            </a:r>
            <a:endParaRPr lang="en-US"/>
          </a:p>
        </p:txBody>
      </p:sp>
      <p:sp>
        <p:nvSpPr>
          <p:cNvPr id="7" name="Rectangle 6"/>
          <p:cNvSpPr>
            <a:spLocks noGrp="1" noChangeArrowheads="1"/>
          </p:cNvSpPr>
          <p:nvPr>
            <p:ph type="sldNum" sz="quarter" idx="12"/>
          </p:nvPr>
        </p:nvSpPr>
        <p:spPr>
          <a:ln/>
        </p:spPr>
        <p:txBody>
          <a:bodyPr/>
          <a:lstStyle>
            <a:lvl1pPr>
              <a:defRPr/>
            </a:lvl1pPr>
          </a:lstStyle>
          <a:p>
            <a:fld id="{36DAC94E-ABF1-44DC-AA23-CC3C1177DDBC}" type="slidenum">
              <a:rPr lang="en-US" altLang="en-US"/>
              <a:pPr/>
              <a:t>‹#›</a:t>
            </a:fld>
            <a:endParaRPr lang="en-US" altLang="en-US"/>
          </a:p>
        </p:txBody>
      </p:sp>
    </p:spTree>
    <p:extLst>
      <p:ext uri="{BB962C8B-B14F-4D97-AF65-F5344CB8AC3E}">
        <p14:creationId xmlns:p14="http://schemas.microsoft.com/office/powerpoint/2010/main" val="92755500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smtClean="0"/>
              <a:t>Click icon to add picture</a:t>
            </a:r>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fld id="{FDDB8E27-6387-4615-9640-E324C26AD096}" type="datetime1">
              <a:rPr lang="en-US" smtClean="0"/>
              <a:t>9/30/2020</a:t>
            </a:fld>
            <a:endParaRPr lang="en-US"/>
          </a:p>
        </p:txBody>
      </p:sp>
      <p:sp>
        <p:nvSpPr>
          <p:cNvPr id="6" name="Rectangle 5"/>
          <p:cNvSpPr>
            <a:spLocks noGrp="1" noChangeArrowheads="1"/>
          </p:cNvSpPr>
          <p:nvPr>
            <p:ph type="ftr" sz="quarter" idx="11"/>
          </p:nvPr>
        </p:nvSpPr>
        <p:spPr>
          <a:ln/>
        </p:spPr>
        <p:txBody>
          <a:bodyPr/>
          <a:lstStyle>
            <a:lvl1pPr>
              <a:defRPr/>
            </a:lvl1pPr>
          </a:lstStyle>
          <a:p>
            <a:pPr>
              <a:defRPr/>
            </a:pPr>
            <a:r>
              <a:rPr lang="en-US" smtClean="0"/>
              <a:t>Options, Futures, and Other Derivatives, 11th Edition,    Copyright © John C. Hull 2021</a:t>
            </a:r>
            <a:endParaRPr lang="en-US"/>
          </a:p>
        </p:txBody>
      </p:sp>
      <p:sp>
        <p:nvSpPr>
          <p:cNvPr id="7" name="Rectangle 6"/>
          <p:cNvSpPr>
            <a:spLocks noGrp="1" noChangeArrowheads="1"/>
          </p:cNvSpPr>
          <p:nvPr>
            <p:ph type="sldNum" sz="quarter" idx="12"/>
          </p:nvPr>
        </p:nvSpPr>
        <p:spPr>
          <a:ln/>
        </p:spPr>
        <p:txBody>
          <a:bodyPr/>
          <a:lstStyle>
            <a:lvl1pPr>
              <a:defRPr/>
            </a:lvl1pPr>
          </a:lstStyle>
          <a:p>
            <a:fld id="{8A5BB57B-C763-4DEF-B793-FEB7CEFC1C2C}" type="slidenum">
              <a:rPr lang="en-US" altLang="en-US"/>
              <a:pPr/>
              <a:t>‹#›</a:t>
            </a:fld>
            <a:endParaRPr lang="en-US" altLang="en-US"/>
          </a:p>
        </p:txBody>
      </p:sp>
    </p:spTree>
    <p:extLst>
      <p:ext uri="{BB962C8B-B14F-4D97-AF65-F5344CB8AC3E}">
        <p14:creationId xmlns:p14="http://schemas.microsoft.com/office/powerpoint/2010/main" val="35517348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4"/>
          <p:cNvSpPr>
            <a:spLocks noGrp="1" noChangeArrowheads="1"/>
          </p:cNvSpPr>
          <p:nvPr>
            <p:ph type="dt" sz="half" idx="10"/>
          </p:nvPr>
        </p:nvSpPr>
        <p:spPr>
          <a:ln/>
        </p:spPr>
        <p:txBody>
          <a:bodyPr/>
          <a:lstStyle>
            <a:lvl1pPr>
              <a:defRPr/>
            </a:lvl1pPr>
          </a:lstStyle>
          <a:p>
            <a:pPr>
              <a:defRPr/>
            </a:pPr>
            <a:fld id="{F2213E3B-77D3-4EFF-8FBD-665AF2DBA442}" type="datetime1">
              <a:rPr lang="en-US" smtClean="0"/>
              <a:t>9/30/2020</a:t>
            </a:fld>
            <a:endParaRPr lang="en-US"/>
          </a:p>
        </p:txBody>
      </p:sp>
      <p:sp>
        <p:nvSpPr>
          <p:cNvPr id="5" name="Rectangle 5"/>
          <p:cNvSpPr>
            <a:spLocks noGrp="1" noChangeArrowheads="1"/>
          </p:cNvSpPr>
          <p:nvPr>
            <p:ph type="ftr" sz="quarter" idx="11"/>
          </p:nvPr>
        </p:nvSpPr>
        <p:spPr>
          <a:ln/>
        </p:spPr>
        <p:txBody>
          <a:bodyPr/>
          <a:lstStyle>
            <a:lvl1pPr>
              <a:defRPr/>
            </a:lvl1pPr>
          </a:lstStyle>
          <a:p>
            <a:pPr>
              <a:defRPr/>
            </a:pPr>
            <a:r>
              <a:rPr lang="en-US" smtClean="0"/>
              <a:t>Options, Futures, and Other Derivatives, 11th Edition,    Copyright © John C. Hull 2021</a:t>
            </a:r>
            <a:endParaRPr lang="en-US"/>
          </a:p>
        </p:txBody>
      </p:sp>
      <p:sp>
        <p:nvSpPr>
          <p:cNvPr id="6" name="Rectangle 6"/>
          <p:cNvSpPr>
            <a:spLocks noGrp="1" noChangeArrowheads="1"/>
          </p:cNvSpPr>
          <p:nvPr>
            <p:ph type="sldNum" sz="quarter" idx="12"/>
          </p:nvPr>
        </p:nvSpPr>
        <p:spPr>
          <a:ln/>
        </p:spPr>
        <p:txBody>
          <a:bodyPr/>
          <a:lstStyle>
            <a:lvl1pPr>
              <a:defRPr/>
            </a:lvl1pPr>
          </a:lstStyle>
          <a:p>
            <a:fld id="{9C5F1F44-E40E-4206-8FE4-B380BB9E8E00}" type="slidenum">
              <a:rPr lang="en-US" altLang="en-US"/>
              <a:pPr/>
              <a:t>‹#›</a:t>
            </a:fld>
            <a:endParaRPr lang="en-US" altLang="en-US"/>
          </a:p>
        </p:txBody>
      </p:sp>
    </p:spTree>
    <p:extLst>
      <p:ext uri="{BB962C8B-B14F-4D97-AF65-F5344CB8AC3E}">
        <p14:creationId xmlns:p14="http://schemas.microsoft.com/office/powerpoint/2010/main" val="24396354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405563" y="930275"/>
            <a:ext cx="2052637" cy="5332413"/>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246063" y="930275"/>
            <a:ext cx="6007100" cy="5332413"/>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4"/>
          <p:cNvSpPr>
            <a:spLocks noGrp="1" noChangeArrowheads="1"/>
          </p:cNvSpPr>
          <p:nvPr>
            <p:ph type="dt" sz="half" idx="10"/>
          </p:nvPr>
        </p:nvSpPr>
        <p:spPr>
          <a:ln/>
        </p:spPr>
        <p:txBody>
          <a:bodyPr/>
          <a:lstStyle>
            <a:lvl1pPr>
              <a:defRPr/>
            </a:lvl1pPr>
          </a:lstStyle>
          <a:p>
            <a:pPr>
              <a:defRPr/>
            </a:pPr>
            <a:fld id="{5B47393A-A4D3-4B6A-ACB5-4CF716E426EE}" type="datetime1">
              <a:rPr lang="en-US" smtClean="0"/>
              <a:t>9/30/2020</a:t>
            </a:fld>
            <a:endParaRPr lang="en-US"/>
          </a:p>
        </p:txBody>
      </p:sp>
      <p:sp>
        <p:nvSpPr>
          <p:cNvPr id="5" name="Rectangle 5"/>
          <p:cNvSpPr>
            <a:spLocks noGrp="1" noChangeArrowheads="1"/>
          </p:cNvSpPr>
          <p:nvPr>
            <p:ph type="ftr" sz="quarter" idx="11"/>
          </p:nvPr>
        </p:nvSpPr>
        <p:spPr>
          <a:ln/>
        </p:spPr>
        <p:txBody>
          <a:bodyPr/>
          <a:lstStyle>
            <a:lvl1pPr>
              <a:defRPr/>
            </a:lvl1pPr>
          </a:lstStyle>
          <a:p>
            <a:pPr>
              <a:defRPr/>
            </a:pPr>
            <a:r>
              <a:rPr lang="en-US" smtClean="0"/>
              <a:t>Options, Futures, and Other Derivatives, 11th Edition,    Copyright © John C. Hull 2021</a:t>
            </a:r>
            <a:endParaRPr lang="en-US"/>
          </a:p>
        </p:txBody>
      </p:sp>
      <p:sp>
        <p:nvSpPr>
          <p:cNvPr id="6" name="Rectangle 6"/>
          <p:cNvSpPr>
            <a:spLocks noGrp="1" noChangeArrowheads="1"/>
          </p:cNvSpPr>
          <p:nvPr>
            <p:ph type="sldNum" sz="quarter" idx="12"/>
          </p:nvPr>
        </p:nvSpPr>
        <p:spPr>
          <a:ln/>
        </p:spPr>
        <p:txBody>
          <a:bodyPr/>
          <a:lstStyle>
            <a:lvl1pPr>
              <a:defRPr/>
            </a:lvl1pPr>
          </a:lstStyle>
          <a:p>
            <a:fld id="{BC8F47A3-18D6-47CE-9D82-6328C5BC1EA8}" type="slidenum">
              <a:rPr lang="en-US" altLang="en-US"/>
              <a:pPr/>
              <a:t>‹#›</a:t>
            </a:fld>
            <a:endParaRPr lang="en-US" altLang="en-US"/>
          </a:p>
        </p:txBody>
      </p:sp>
    </p:spTree>
    <p:extLst>
      <p:ext uri="{BB962C8B-B14F-4D97-AF65-F5344CB8AC3E}">
        <p14:creationId xmlns:p14="http://schemas.microsoft.com/office/powerpoint/2010/main" val="268750232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3.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rotWithShape="0">
          <a:gsLst>
            <a:gs pos="0">
              <a:schemeClr val="bg2"/>
            </a:gs>
            <a:gs pos="50000">
              <a:schemeClr val="bg1"/>
            </a:gs>
            <a:gs pos="100000">
              <a:schemeClr val="bg2"/>
            </a:gs>
          </a:gsLst>
          <a:lin ang="2700000" scaled="1"/>
        </a:gra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246063" y="930275"/>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smtClean="0"/>
              <a:t>Click to edit Master title style</a:t>
            </a:r>
          </a:p>
        </p:txBody>
      </p:sp>
      <p:sp>
        <p:nvSpPr>
          <p:cNvPr id="1027" name="Rectangle 3"/>
          <p:cNvSpPr>
            <a:spLocks noGrp="1" noChangeArrowheads="1"/>
          </p:cNvSpPr>
          <p:nvPr>
            <p:ph type="body" idx="1"/>
          </p:nvPr>
        </p:nvSpPr>
        <p:spPr bwMode="auto">
          <a:xfrm>
            <a:off x="685800" y="2147888"/>
            <a:ext cx="77724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smtClean="0"/>
              <a:t>Click to edit Master text styles</a:t>
            </a:r>
          </a:p>
          <a:p>
            <a:pPr lvl="1"/>
            <a:r>
              <a:rPr lang="en-US" altLang="en-US" smtClean="0"/>
              <a:t>Second level</a:t>
            </a:r>
          </a:p>
          <a:p>
            <a:pPr lvl="2"/>
            <a:r>
              <a:rPr lang="en-US" altLang="en-US" smtClean="0"/>
              <a:t>Third level</a:t>
            </a:r>
          </a:p>
          <a:p>
            <a:pPr lvl="3"/>
            <a:r>
              <a:rPr lang="en-US" altLang="en-US" smtClean="0"/>
              <a:t>Fourth level</a:t>
            </a:r>
          </a:p>
          <a:p>
            <a:pPr lvl="4"/>
            <a:r>
              <a:rPr lang="en-US" altLang="en-US" smtClean="0"/>
              <a:t>Fifth level</a:t>
            </a:r>
          </a:p>
        </p:txBody>
      </p:sp>
      <p:sp>
        <p:nvSpPr>
          <p:cNvPr id="4100" name="Rectangle 4"/>
          <p:cNvSpPr>
            <a:spLocks noGrp="1" noChangeArrowheads="1"/>
          </p:cNvSpPr>
          <p:nvPr>
            <p:ph type="dt" sz="half" idx="2"/>
          </p:nvPr>
        </p:nvSpPr>
        <p:spPr bwMode="auto">
          <a:xfrm>
            <a:off x="685800" y="6324600"/>
            <a:ext cx="19050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400" smtClean="0">
                <a:latin typeface="Arial" charset="0"/>
              </a:defRPr>
            </a:lvl1pPr>
          </a:lstStyle>
          <a:p>
            <a:pPr>
              <a:defRPr/>
            </a:pPr>
            <a:fld id="{1AFFCB45-EC11-4694-9D49-415B8D5931FD}" type="datetime1">
              <a:rPr lang="en-US" smtClean="0"/>
              <a:t>9/30/2020</a:t>
            </a:fld>
            <a:endParaRPr lang="en-US"/>
          </a:p>
        </p:txBody>
      </p:sp>
      <p:sp>
        <p:nvSpPr>
          <p:cNvPr id="4101" name="Rectangle 5"/>
          <p:cNvSpPr>
            <a:spLocks noGrp="1" noChangeArrowheads="1"/>
          </p:cNvSpPr>
          <p:nvPr>
            <p:ph type="ftr" sz="quarter" idx="3"/>
          </p:nvPr>
        </p:nvSpPr>
        <p:spPr bwMode="auto">
          <a:xfrm>
            <a:off x="1828800" y="6324600"/>
            <a:ext cx="54864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ctr">
              <a:defRPr sz="1400">
                <a:latin typeface="Arial" charset="0"/>
              </a:defRPr>
            </a:lvl1pPr>
          </a:lstStyle>
          <a:p>
            <a:pPr>
              <a:defRPr/>
            </a:pPr>
            <a:r>
              <a:rPr lang="en-US" smtClean="0"/>
              <a:t>Options, Futures, and Other Derivatives, 11th Edition,    Copyright © John C. Hull 2021</a:t>
            </a:r>
            <a:endParaRPr lang="en-US"/>
          </a:p>
        </p:txBody>
      </p:sp>
      <p:sp>
        <p:nvSpPr>
          <p:cNvPr id="4102" name="Rectangle 6"/>
          <p:cNvSpPr>
            <a:spLocks noGrp="1" noChangeArrowheads="1"/>
          </p:cNvSpPr>
          <p:nvPr>
            <p:ph type="sldNum" sz="quarter" idx="4"/>
          </p:nvPr>
        </p:nvSpPr>
        <p:spPr bwMode="auto">
          <a:xfrm>
            <a:off x="6553200" y="6324600"/>
            <a:ext cx="19050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400"/>
            </a:lvl1pPr>
          </a:lstStyle>
          <a:p>
            <a:fld id="{D46E911F-ADFB-4407-A5AE-2EB9C945C831}" type="slidenum">
              <a:rPr lang="en-US" altLang="en-US"/>
              <a:pPr/>
              <a:t>‹#›</a:t>
            </a:fld>
            <a:endParaRPr lang="en-US" altLang="en-US"/>
          </a:p>
        </p:txBody>
      </p:sp>
      <p:grpSp>
        <p:nvGrpSpPr>
          <p:cNvPr id="1031" name="Group 7"/>
          <p:cNvGrpSpPr>
            <a:grpSpLocks/>
          </p:cNvGrpSpPr>
          <p:nvPr/>
        </p:nvGrpSpPr>
        <p:grpSpPr bwMode="auto">
          <a:xfrm>
            <a:off x="261938" y="87313"/>
            <a:ext cx="8488362" cy="831850"/>
            <a:chOff x="165" y="55"/>
            <a:chExt cx="5347" cy="524"/>
          </a:xfrm>
        </p:grpSpPr>
        <p:grpSp>
          <p:nvGrpSpPr>
            <p:cNvPr id="1032" name="Group 8"/>
            <p:cNvGrpSpPr>
              <a:grpSpLocks/>
            </p:cNvGrpSpPr>
            <p:nvPr userDrawn="1"/>
          </p:nvGrpSpPr>
          <p:grpSpPr bwMode="auto">
            <a:xfrm>
              <a:off x="664" y="104"/>
              <a:ext cx="4848" cy="432"/>
              <a:chOff x="664" y="104"/>
              <a:chExt cx="4848" cy="432"/>
            </a:xfrm>
          </p:grpSpPr>
          <p:sp>
            <p:nvSpPr>
              <p:cNvPr id="1034" name="Freeform 9"/>
              <p:cNvSpPr>
                <a:spLocks/>
              </p:cNvSpPr>
              <p:nvPr/>
            </p:nvSpPr>
            <p:spPr bwMode="ltGray">
              <a:xfrm>
                <a:off x="664" y="104"/>
                <a:ext cx="4848" cy="432"/>
              </a:xfrm>
              <a:custGeom>
                <a:avLst/>
                <a:gdLst>
                  <a:gd name="T0" fmla="*/ 4848 w 4848"/>
                  <a:gd name="T1" fmla="*/ 48 h 432"/>
                  <a:gd name="T2" fmla="*/ 4848 w 4848"/>
                  <a:gd name="T3" fmla="*/ 432 h 432"/>
                  <a:gd name="T4" fmla="*/ 0 w 4848"/>
                  <a:gd name="T5" fmla="*/ 432 h 432"/>
                  <a:gd name="T6" fmla="*/ 0 w 4848"/>
                  <a:gd name="T7" fmla="*/ 0 h 432"/>
                  <a:gd name="T8" fmla="*/ 4848 w 4848"/>
                  <a:gd name="T9" fmla="*/ 0 h 432"/>
                  <a:gd name="T10" fmla="*/ 4848 w 4848"/>
                  <a:gd name="T11" fmla="*/ 48 h 432"/>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848" h="432">
                    <a:moveTo>
                      <a:pt x="4848" y="48"/>
                    </a:moveTo>
                    <a:lnTo>
                      <a:pt x="4848" y="432"/>
                    </a:lnTo>
                    <a:cubicBezTo>
                      <a:pt x="4848" y="432"/>
                      <a:pt x="2424" y="432"/>
                      <a:pt x="0" y="432"/>
                    </a:cubicBezTo>
                    <a:cubicBezTo>
                      <a:pt x="161" y="345"/>
                      <a:pt x="169" y="61"/>
                      <a:pt x="0" y="0"/>
                    </a:cubicBezTo>
                    <a:cubicBezTo>
                      <a:pt x="2424" y="0"/>
                      <a:pt x="4848" y="0"/>
                      <a:pt x="4848" y="0"/>
                    </a:cubicBezTo>
                    <a:lnTo>
                      <a:pt x="4848" y="48"/>
                    </a:lnTo>
                    <a:close/>
                  </a:path>
                </a:pathLst>
              </a:custGeom>
              <a:solidFill>
                <a:schemeClr val="hlink"/>
              </a:solidFill>
              <a:ln w="9525">
                <a:solidFill>
                  <a:schemeClr val="bg2"/>
                </a:solidFill>
                <a:round/>
                <a:headEnd/>
                <a:tailEnd/>
              </a:ln>
            </p:spPr>
            <p:txBody>
              <a:bodyPr wrap="none" anchor="ctr"/>
              <a:lstStyle/>
              <a:p>
                <a:endParaRPr lang="en-US"/>
              </a:p>
            </p:txBody>
          </p:sp>
          <p:grpSp>
            <p:nvGrpSpPr>
              <p:cNvPr id="1035" name="Group 10"/>
              <p:cNvGrpSpPr>
                <a:grpSpLocks/>
              </p:cNvGrpSpPr>
              <p:nvPr/>
            </p:nvGrpSpPr>
            <p:grpSpPr bwMode="auto">
              <a:xfrm>
                <a:off x="1195" y="104"/>
                <a:ext cx="3827" cy="429"/>
                <a:chOff x="1021" y="240"/>
                <a:chExt cx="3827" cy="429"/>
              </a:xfrm>
            </p:grpSpPr>
            <p:grpSp>
              <p:nvGrpSpPr>
                <p:cNvPr id="1084" name="Group 11"/>
                <p:cNvGrpSpPr>
                  <a:grpSpLocks/>
                </p:cNvGrpSpPr>
                <p:nvPr/>
              </p:nvGrpSpPr>
              <p:grpSpPr bwMode="auto">
                <a:xfrm>
                  <a:off x="1021" y="241"/>
                  <a:ext cx="2208" cy="427"/>
                  <a:chOff x="1021" y="241"/>
                  <a:chExt cx="2208" cy="427"/>
                </a:xfrm>
              </p:grpSpPr>
              <p:sp>
                <p:nvSpPr>
                  <p:cNvPr id="1128" name="Freeform 12"/>
                  <p:cNvSpPr>
                    <a:spLocks/>
                  </p:cNvSpPr>
                  <p:nvPr/>
                </p:nvSpPr>
                <p:spPr bwMode="ltGray">
                  <a:xfrm>
                    <a:off x="2257" y="633"/>
                    <a:ext cx="7" cy="8"/>
                  </a:xfrm>
                  <a:custGeom>
                    <a:avLst/>
                    <a:gdLst>
                      <a:gd name="T0" fmla="*/ 1 w 15"/>
                      <a:gd name="T1" fmla="*/ 1 h 23"/>
                      <a:gd name="T2" fmla="*/ 3 w 15"/>
                      <a:gd name="T3" fmla="*/ 1 h 23"/>
                      <a:gd name="T4" fmla="*/ 3 w 15"/>
                      <a:gd name="T5" fmla="*/ 2 h 23"/>
                      <a:gd name="T6" fmla="*/ 1 w 15"/>
                      <a:gd name="T7" fmla="*/ 1 h 2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5" h="23">
                        <a:moveTo>
                          <a:pt x="5" y="11"/>
                        </a:moveTo>
                        <a:cubicBezTo>
                          <a:pt x="2" y="1"/>
                          <a:pt x="7" y="0"/>
                          <a:pt x="15" y="5"/>
                        </a:cubicBezTo>
                        <a:cubicBezTo>
                          <a:pt x="14" y="9"/>
                          <a:pt x="15" y="13"/>
                          <a:pt x="13" y="17"/>
                        </a:cubicBezTo>
                        <a:cubicBezTo>
                          <a:pt x="9" y="23"/>
                          <a:pt x="0" y="16"/>
                          <a:pt x="5" y="11"/>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29" name="Freeform 13"/>
                  <p:cNvSpPr>
                    <a:spLocks/>
                  </p:cNvSpPr>
                  <p:nvPr/>
                </p:nvSpPr>
                <p:spPr bwMode="ltGray">
                  <a:xfrm>
                    <a:off x="2332" y="660"/>
                    <a:ext cx="9" cy="8"/>
                  </a:xfrm>
                  <a:custGeom>
                    <a:avLst/>
                    <a:gdLst>
                      <a:gd name="T0" fmla="*/ 0 w 20"/>
                      <a:gd name="T1" fmla="*/ 2 h 23"/>
                      <a:gd name="T2" fmla="*/ 2 w 20"/>
                      <a:gd name="T3" fmla="*/ 0 h 23"/>
                      <a:gd name="T4" fmla="*/ 1 w 20"/>
                      <a:gd name="T5" fmla="*/ 2 h 23"/>
                      <a:gd name="T6" fmla="*/ 0 w 20"/>
                      <a:gd name="T7" fmla="*/ 2 h 2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0" h="23">
                        <a:moveTo>
                          <a:pt x="3" y="13"/>
                        </a:moveTo>
                        <a:cubicBezTo>
                          <a:pt x="0" y="5"/>
                          <a:pt x="2" y="0"/>
                          <a:pt x="11" y="3"/>
                        </a:cubicBezTo>
                        <a:cubicBezTo>
                          <a:pt x="16" y="10"/>
                          <a:pt x="20" y="23"/>
                          <a:pt x="7" y="19"/>
                        </a:cubicBezTo>
                        <a:cubicBezTo>
                          <a:pt x="6" y="17"/>
                          <a:pt x="3" y="13"/>
                          <a:pt x="3" y="13"/>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30" name="Freeform 14"/>
                  <p:cNvSpPr>
                    <a:spLocks/>
                  </p:cNvSpPr>
                  <p:nvPr/>
                </p:nvSpPr>
                <p:spPr bwMode="ltGray">
                  <a:xfrm>
                    <a:off x="2120" y="616"/>
                    <a:ext cx="13" cy="14"/>
                  </a:xfrm>
                  <a:custGeom>
                    <a:avLst/>
                    <a:gdLst>
                      <a:gd name="T0" fmla="*/ 3 w 30"/>
                      <a:gd name="T1" fmla="*/ 4 h 42"/>
                      <a:gd name="T2" fmla="*/ 1 w 30"/>
                      <a:gd name="T3" fmla="*/ 2 h 42"/>
                      <a:gd name="T4" fmla="*/ 0 w 30"/>
                      <a:gd name="T5" fmla="*/ 1 h 42"/>
                      <a:gd name="T6" fmla="*/ 3 w 30"/>
                      <a:gd name="T7" fmla="*/ 0 h 42"/>
                      <a:gd name="T8" fmla="*/ 6 w 30"/>
                      <a:gd name="T9" fmla="*/ 3 h 42"/>
                      <a:gd name="T10" fmla="*/ 5 w 30"/>
                      <a:gd name="T11" fmla="*/ 3 h 42"/>
                      <a:gd name="T12" fmla="*/ 3 w 30"/>
                      <a:gd name="T13" fmla="*/ 4 h 42"/>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30" h="42">
                        <a:moveTo>
                          <a:pt x="16" y="33"/>
                        </a:moveTo>
                        <a:cubicBezTo>
                          <a:pt x="3" y="20"/>
                          <a:pt x="15" y="34"/>
                          <a:pt x="8" y="21"/>
                        </a:cubicBezTo>
                        <a:cubicBezTo>
                          <a:pt x="6" y="17"/>
                          <a:pt x="0" y="9"/>
                          <a:pt x="0" y="9"/>
                        </a:cubicBezTo>
                        <a:cubicBezTo>
                          <a:pt x="5" y="1"/>
                          <a:pt x="7" y="0"/>
                          <a:pt x="16" y="3"/>
                        </a:cubicBezTo>
                        <a:cubicBezTo>
                          <a:pt x="25" y="16"/>
                          <a:pt x="10" y="16"/>
                          <a:pt x="30" y="23"/>
                        </a:cubicBezTo>
                        <a:cubicBezTo>
                          <a:pt x="29" y="26"/>
                          <a:pt x="30" y="29"/>
                          <a:pt x="28" y="31"/>
                        </a:cubicBezTo>
                        <a:cubicBezTo>
                          <a:pt x="15" y="42"/>
                          <a:pt x="16" y="38"/>
                          <a:pt x="16" y="33"/>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31" name="Freeform 15"/>
                  <p:cNvSpPr>
                    <a:spLocks/>
                  </p:cNvSpPr>
                  <p:nvPr/>
                </p:nvSpPr>
                <p:spPr bwMode="ltGray">
                  <a:xfrm>
                    <a:off x="1967" y="629"/>
                    <a:ext cx="11" cy="5"/>
                  </a:xfrm>
                  <a:custGeom>
                    <a:avLst/>
                    <a:gdLst>
                      <a:gd name="T0" fmla="*/ 3 w 25"/>
                      <a:gd name="T1" fmla="*/ 2 h 16"/>
                      <a:gd name="T2" fmla="*/ 0 w 25"/>
                      <a:gd name="T3" fmla="*/ 1 h 16"/>
                      <a:gd name="T4" fmla="*/ 3 w 25"/>
                      <a:gd name="T5" fmla="*/ 0 h 16"/>
                      <a:gd name="T6" fmla="*/ 3 w 25"/>
                      <a:gd name="T7" fmla="*/ 2 h 16"/>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5" h="16">
                        <a:moveTo>
                          <a:pt x="15" y="16"/>
                        </a:moveTo>
                        <a:cubicBezTo>
                          <a:pt x="10" y="15"/>
                          <a:pt x="0" y="12"/>
                          <a:pt x="3" y="8"/>
                        </a:cubicBezTo>
                        <a:cubicBezTo>
                          <a:pt x="6" y="4"/>
                          <a:pt x="15" y="0"/>
                          <a:pt x="15" y="0"/>
                        </a:cubicBezTo>
                        <a:cubicBezTo>
                          <a:pt x="17" y="3"/>
                          <a:pt x="25" y="16"/>
                          <a:pt x="15" y="16"/>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32" name="Freeform 16"/>
                  <p:cNvSpPr>
                    <a:spLocks/>
                  </p:cNvSpPr>
                  <p:nvPr/>
                </p:nvSpPr>
                <p:spPr bwMode="ltGray">
                  <a:xfrm>
                    <a:off x="1921" y="635"/>
                    <a:ext cx="28" cy="16"/>
                  </a:xfrm>
                  <a:custGeom>
                    <a:avLst/>
                    <a:gdLst>
                      <a:gd name="T0" fmla="*/ 3 w 65"/>
                      <a:gd name="T1" fmla="*/ 3 h 46"/>
                      <a:gd name="T2" fmla="*/ 6 w 65"/>
                      <a:gd name="T3" fmla="*/ 0 h 46"/>
                      <a:gd name="T4" fmla="*/ 8 w 65"/>
                      <a:gd name="T5" fmla="*/ 0 h 46"/>
                      <a:gd name="T6" fmla="*/ 11 w 65"/>
                      <a:gd name="T7" fmla="*/ 1 h 46"/>
                      <a:gd name="T8" fmla="*/ 6 w 65"/>
                      <a:gd name="T9" fmla="*/ 3 h 46"/>
                      <a:gd name="T10" fmla="*/ 2 w 65"/>
                      <a:gd name="T11" fmla="*/ 6 h 46"/>
                      <a:gd name="T12" fmla="*/ 1 w 65"/>
                      <a:gd name="T13" fmla="*/ 2 h 46"/>
                      <a:gd name="T14" fmla="*/ 2 w 65"/>
                      <a:gd name="T15" fmla="*/ 2 h 46"/>
                      <a:gd name="T16" fmla="*/ 3 w 65"/>
                      <a:gd name="T17" fmla="*/ 3 h 4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65" h="46">
                        <a:moveTo>
                          <a:pt x="14" y="24"/>
                        </a:moveTo>
                        <a:cubicBezTo>
                          <a:pt x="18" y="13"/>
                          <a:pt x="16" y="9"/>
                          <a:pt x="30" y="4"/>
                        </a:cubicBezTo>
                        <a:cubicBezTo>
                          <a:pt x="34" y="3"/>
                          <a:pt x="42" y="0"/>
                          <a:pt x="42" y="0"/>
                        </a:cubicBezTo>
                        <a:cubicBezTo>
                          <a:pt x="50" y="1"/>
                          <a:pt x="65" y="0"/>
                          <a:pt x="58" y="12"/>
                        </a:cubicBezTo>
                        <a:cubicBezTo>
                          <a:pt x="53" y="21"/>
                          <a:pt x="40" y="21"/>
                          <a:pt x="32" y="26"/>
                        </a:cubicBezTo>
                        <a:cubicBezTo>
                          <a:pt x="26" y="35"/>
                          <a:pt x="23" y="42"/>
                          <a:pt x="12" y="46"/>
                        </a:cubicBezTo>
                        <a:cubicBezTo>
                          <a:pt x="0" y="42"/>
                          <a:pt x="5" y="30"/>
                          <a:pt x="8" y="20"/>
                        </a:cubicBezTo>
                        <a:cubicBezTo>
                          <a:pt x="9" y="18"/>
                          <a:pt x="10" y="13"/>
                          <a:pt x="12" y="14"/>
                        </a:cubicBezTo>
                        <a:cubicBezTo>
                          <a:pt x="15" y="16"/>
                          <a:pt x="13" y="21"/>
                          <a:pt x="14" y="24"/>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33" name="Freeform 17"/>
                  <p:cNvSpPr>
                    <a:spLocks/>
                  </p:cNvSpPr>
                  <p:nvPr/>
                </p:nvSpPr>
                <p:spPr bwMode="ltGray">
                  <a:xfrm>
                    <a:off x="1892" y="634"/>
                    <a:ext cx="29" cy="16"/>
                  </a:xfrm>
                  <a:custGeom>
                    <a:avLst/>
                    <a:gdLst>
                      <a:gd name="T0" fmla="*/ 0 w 69"/>
                      <a:gd name="T1" fmla="*/ 4 h 47"/>
                      <a:gd name="T2" fmla="*/ 3 w 69"/>
                      <a:gd name="T3" fmla="*/ 3 h 47"/>
                      <a:gd name="T4" fmla="*/ 9 w 69"/>
                      <a:gd name="T5" fmla="*/ 0 h 47"/>
                      <a:gd name="T6" fmla="*/ 11 w 69"/>
                      <a:gd name="T7" fmla="*/ 0 h 47"/>
                      <a:gd name="T8" fmla="*/ 9 w 69"/>
                      <a:gd name="T9" fmla="*/ 2 h 47"/>
                      <a:gd name="T10" fmla="*/ 5 w 69"/>
                      <a:gd name="T11" fmla="*/ 4 h 47"/>
                      <a:gd name="T12" fmla="*/ 4 w 69"/>
                      <a:gd name="T13" fmla="*/ 5 h 47"/>
                      <a:gd name="T14" fmla="*/ 3 w 69"/>
                      <a:gd name="T15" fmla="*/ 5 h 47"/>
                      <a:gd name="T16" fmla="*/ 2 w 69"/>
                      <a:gd name="T17" fmla="*/ 4 h 47"/>
                      <a:gd name="T18" fmla="*/ 0 w 69"/>
                      <a:gd name="T19" fmla="*/ 4 h 47"/>
                      <a:gd name="T20" fmla="*/ 0 w 69"/>
                      <a:gd name="T21" fmla="*/ 4 h 47"/>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69" h="47">
                        <a:moveTo>
                          <a:pt x="0" y="31"/>
                        </a:moveTo>
                        <a:cubicBezTo>
                          <a:pt x="7" y="24"/>
                          <a:pt x="9" y="22"/>
                          <a:pt x="18" y="25"/>
                        </a:cubicBezTo>
                        <a:cubicBezTo>
                          <a:pt x="25" y="4"/>
                          <a:pt x="36" y="12"/>
                          <a:pt x="52" y="1"/>
                        </a:cubicBezTo>
                        <a:cubicBezTo>
                          <a:pt x="56" y="2"/>
                          <a:pt x="61" y="0"/>
                          <a:pt x="64" y="3"/>
                        </a:cubicBezTo>
                        <a:cubicBezTo>
                          <a:pt x="69" y="8"/>
                          <a:pt x="50" y="19"/>
                          <a:pt x="50" y="19"/>
                        </a:cubicBezTo>
                        <a:cubicBezTo>
                          <a:pt x="46" y="31"/>
                          <a:pt x="35" y="22"/>
                          <a:pt x="28" y="33"/>
                        </a:cubicBezTo>
                        <a:cubicBezTo>
                          <a:pt x="31" y="41"/>
                          <a:pt x="31" y="44"/>
                          <a:pt x="22" y="47"/>
                        </a:cubicBezTo>
                        <a:cubicBezTo>
                          <a:pt x="20" y="46"/>
                          <a:pt x="18" y="46"/>
                          <a:pt x="16" y="45"/>
                        </a:cubicBezTo>
                        <a:cubicBezTo>
                          <a:pt x="14" y="43"/>
                          <a:pt x="14" y="40"/>
                          <a:pt x="12" y="39"/>
                        </a:cubicBezTo>
                        <a:cubicBezTo>
                          <a:pt x="8" y="37"/>
                          <a:pt x="0" y="35"/>
                          <a:pt x="0" y="35"/>
                        </a:cubicBezTo>
                        <a:cubicBezTo>
                          <a:pt x="2" y="26"/>
                          <a:pt x="3" y="25"/>
                          <a:pt x="0" y="31"/>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34" name="Freeform 18"/>
                  <p:cNvSpPr>
                    <a:spLocks/>
                  </p:cNvSpPr>
                  <p:nvPr/>
                </p:nvSpPr>
                <p:spPr bwMode="ltGray">
                  <a:xfrm>
                    <a:off x="1735" y="547"/>
                    <a:ext cx="151" cy="93"/>
                  </a:xfrm>
                  <a:custGeom>
                    <a:avLst/>
                    <a:gdLst>
                      <a:gd name="T0" fmla="*/ 2 w 355"/>
                      <a:gd name="T1" fmla="*/ 0 h 277"/>
                      <a:gd name="T2" fmla="*/ 6 w 355"/>
                      <a:gd name="T3" fmla="*/ 2 h 277"/>
                      <a:gd name="T4" fmla="*/ 9 w 355"/>
                      <a:gd name="T5" fmla="*/ 3 h 277"/>
                      <a:gd name="T6" fmla="*/ 14 w 355"/>
                      <a:gd name="T7" fmla="*/ 6 h 277"/>
                      <a:gd name="T8" fmla="*/ 17 w 355"/>
                      <a:gd name="T9" fmla="*/ 7 h 277"/>
                      <a:gd name="T10" fmla="*/ 22 w 355"/>
                      <a:gd name="T11" fmla="*/ 11 h 277"/>
                      <a:gd name="T12" fmla="*/ 25 w 355"/>
                      <a:gd name="T13" fmla="*/ 14 h 277"/>
                      <a:gd name="T14" fmla="*/ 27 w 355"/>
                      <a:gd name="T15" fmla="*/ 15 h 277"/>
                      <a:gd name="T16" fmla="*/ 28 w 355"/>
                      <a:gd name="T17" fmla="*/ 17 h 277"/>
                      <a:gd name="T18" fmla="*/ 32 w 355"/>
                      <a:gd name="T19" fmla="*/ 17 h 277"/>
                      <a:gd name="T20" fmla="*/ 31 w 355"/>
                      <a:gd name="T21" fmla="*/ 22 h 277"/>
                      <a:gd name="T22" fmla="*/ 33 w 355"/>
                      <a:gd name="T23" fmla="*/ 25 h 277"/>
                      <a:gd name="T24" fmla="*/ 36 w 355"/>
                      <a:gd name="T25" fmla="*/ 26 h 277"/>
                      <a:gd name="T26" fmla="*/ 39 w 355"/>
                      <a:gd name="T27" fmla="*/ 27 h 277"/>
                      <a:gd name="T28" fmla="*/ 43 w 355"/>
                      <a:gd name="T29" fmla="*/ 27 h 277"/>
                      <a:gd name="T30" fmla="*/ 46 w 355"/>
                      <a:gd name="T31" fmla="*/ 27 h 277"/>
                      <a:gd name="T32" fmla="*/ 49 w 355"/>
                      <a:gd name="T33" fmla="*/ 28 h 277"/>
                      <a:gd name="T34" fmla="*/ 54 w 355"/>
                      <a:gd name="T35" fmla="*/ 29 h 277"/>
                      <a:gd name="T36" fmla="*/ 57 w 355"/>
                      <a:gd name="T37" fmla="*/ 30 h 277"/>
                      <a:gd name="T38" fmla="*/ 64 w 355"/>
                      <a:gd name="T39" fmla="*/ 30 h 277"/>
                      <a:gd name="T40" fmla="*/ 62 w 355"/>
                      <a:gd name="T41" fmla="*/ 31 h 277"/>
                      <a:gd name="T42" fmla="*/ 58 w 355"/>
                      <a:gd name="T43" fmla="*/ 31 h 277"/>
                      <a:gd name="T44" fmla="*/ 54 w 355"/>
                      <a:gd name="T45" fmla="*/ 31 h 277"/>
                      <a:gd name="T46" fmla="*/ 52 w 355"/>
                      <a:gd name="T47" fmla="*/ 30 h 277"/>
                      <a:gd name="T48" fmla="*/ 46 w 355"/>
                      <a:gd name="T49" fmla="*/ 30 h 277"/>
                      <a:gd name="T50" fmla="*/ 43 w 355"/>
                      <a:gd name="T51" fmla="*/ 29 h 277"/>
                      <a:gd name="T52" fmla="*/ 31 w 355"/>
                      <a:gd name="T53" fmla="*/ 27 h 277"/>
                      <a:gd name="T54" fmla="*/ 29 w 355"/>
                      <a:gd name="T55" fmla="*/ 25 h 277"/>
                      <a:gd name="T56" fmla="*/ 23 w 355"/>
                      <a:gd name="T57" fmla="*/ 22 h 277"/>
                      <a:gd name="T58" fmla="*/ 20 w 355"/>
                      <a:gd name="T59" fmla="*/ 21 h 277"/>
                      <a:gd name="T60" fmla="*/ 17 w 355"/>
                      <a:gd name="T61" fmla="*/ 18 h 277"/>
                      <a:gd name="T62" fmla="*/ 12 w 355"/>
                      <a:gd name="T63" fmla="*/ 12 h 277"/>
                      <a:gd name="T64" fmla="*/ 11 w 355"/>
                      <a:gd name="T65" fmla="*/ 11 h 277"/>
                      <a:gd name="T66" fmla="*/ 11 w 355"/>
                      <a:gd name="T67" fmla="*/ 11 h 277"/>
                      <a:gd name="T68" fmla="*/ 10 w 355"/>
                      <a:gd name="T69" fmla="*/ 10 h 277"/>
                      <a:gd name="T70" fmla="*/ 7 w 355"/>
                      <a:gd name="T71" fmla="*/ 6 h 277"/>
                      <a:gd name="T72" fmla="*/ 4 w 355"/>
                      <a:gd name="T73" fmla="*/ 4 h 277"/>
                      <a:gd name="T74" fmla="*/ 1 w 355"/>
                      <a:gd name="T75" fmla="*/ 2 h 277"/>
                      <a:gd name="T76" fmla="*/ 2 w 355"/>
                      <a:gd name="T77" fmla="*/ 0 h 277"/>
                      <a:gd name="T78" fmla="*/ 2 w 355"/>
                      <a:gd name="T79" fmla="*/ 0 h 277"/>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0" t="0" r="r" b="b"/>
                    <a:pathLst>
                      <a:path w="355" h="277">
                        <a:moveTo>
                          <a:pt x="10" y="4"/>
                        </a:moveTo>
                        <a:cubicBezTo>
                          <a:pt x="22" y="0"/>
                          <a:pt x="24" y="14"/>
                          <a:pt x="36" y="18"/>
                        </a:cubicBezTo>
                        <a:cubicBezTo>
                          <a:pt x="37" y="19"/>
                          <a:pt x="45" y="29"/>
                          <a:pt x="46" y="30"/>
                        </a:cubicBezTo>
                        <a:cubicBezTo>
                          <a:pt x="56" y="40"/>
                          <a:pt x="67" y="38"/>
                          <a:pt x="76" y="52"/>
                        </a:cubicBezTo>
                        <a:cubicBezTo>
                          <a:pt x="80" y="58"/>
                          <a:pt x="92" y="66"/>
                          <a:pt x="92" y="66"/>
                        </a:cubicBezTo>
                        <a:cubicBezTo>
                          <a:pt x="96" y="79"/>
                          <a:pt x="112" y="88"/>
                          <a:pt x="122" y="98"/>
                        </a:cubicBezTo>
                        <a:cubicBezTo>
                          <a:pt x="124" y="105"/>
                          <a:pt x="130" y="124"/>
                          <a:pt x="136" y="128"/>
                        </a:cubicBezTo>
                        <a:cubicBezTo>
                          <a:pt x="140" y="130"/>
                          <a:pt x="148" y="132"/>
                          <a:pt x="148" y="132"/>
                        </a:cubicBezTo>
                        <a:cubicBezTo>
                          <a:pt x="150" y="138"/>
                          <a:pt x="154" y="150"/>
                          <a:pt x="154" y="150"/>
                        </a:cubicBezTo>
                        <a:cubicBezTo>
                          <a:pt x="161" y="139"/>
                          <a:pt x="168" y="144"/>
                          <a:pt x="176" y="152"/>
                        </a:cubicBezTo>
                        <a:cubicBezTo>
                          <a:pt x="174" y="167"/>
                          <a:pt x="173" y="181"/>
                          <a:pt x="170" y="196"/>
                        </a:cubicBezTo>
                        <a:cubicBezTo>
                          <a:pt x="171" y="202"/>
                          <a:pt x="174" y="220"/>
                          <a:pt x="180" y="224"/>
                        </a:cubicBezTo>
                        <a:cubicBezTo>
                          <a:pt x="185" y="228"/>
                          <a:pt x="193" y="228"/>
                          <a:pt x="198" y="232"/>
                        </a:cubicBezTo>
                        <a:cubicBezTo>
                          <a:pt x="204" y="230"/>
                          <a:pt x="216" y="234"/>
                          <a:pt x="216" y="234"/>
                        </a:cubicBezTo>
                        <a:cubicBezTo>
                          <a:pt x="223" y="241"/>
                          <a:pt x="225" y="245"/>
                          <a:pt x="236" y="242"/>
                        </a:cubicBezTo>
                        <a:cubicBezTo>
                          <a:pt x="242" y="240"/>
                          <a:pt x="254" y="236"/>
                          <a:pt x="254" y="236"/>
                        </a:cubicBezTo>
                        <a:cubicBezTo>
                          <a:pt x="260" y="240"/>
                          <a:pt x="265" y="246"/>
                          <a:pt x="272" y="248"/>
                        </a:cubicBezTo>
                        <a:cubicBezTo>
                          <a:pt x="277" y="250"/>
                          <a:pt x="291" y="252"/>
                          <a:pt x="296" y="256"/>
                        </a:cubicBezTo>
                        <a:cubicBezTo>
                          <a:pt x="301" y="260"/>
                          <a:pt x="314" y="264"/>
                          <a:pt x="314" y="264"/>
                        </a:cubicBezTo>
                        <a:cubicBezTo>
                          <a:pt x="330" y="263"/>
                          <a:pt x="338" y="261"/>
                          <a:pt x="352" y="266"/>
                        </a:cubicBezTo>
                        <a:cubicBezTo>
                          <a:pt x="355" y="275"/>
                          <a:pt x="350" y="277"/>
                          <a:pt x="342" y="274"/>
                        </a:cubicBezTo>
                        <a:cubicBezTo>
                          <a:pt x="336" y="276"/>
                          <a:pt x="322" y="272"/>
                          <a:pt x="322" y="272"/>
                        </a:cubicBezTo>
                        <a:cubicBezTo>
                          <a:pt x="314" y="275"/>
                          <a:pt x="308" y="272"/>
                          <a:pt x="300" y="270"/>
                        </a:cubicBezTo>
                        <a:cubicBezTo>
                          <a:pt x="296" y="269"/>
                          <a:pt x="288" y="266"/>
                          <a:pt x="288" y="266"/>
                        </a:cubicBezTo>
                        <a:cubicBezTo>
                          <a:pt x="276" y="270"/>
                          <a:pt x="264" y="266"/>
                          <a:pt x="252" y="264"/>
                        </a:cubicBezTo>
                        <a:cubicBezTo>
                          <a:pt x="245" y="259"/>
                          <a:pt x="242" y="257"/>
                          <a:pt x="234" y="260"/>
                        </a:cubicBezTo>
                        <a:cubicBezTo>
                          <a:pt x="211" y="252"/>
                          <a:pt x="192" y="256"/>
                          <a:pt x="172" y="242"/>
                        </a:cubicBezTo>
                        <a:cubicBezTo>
                          <a:pt x="165" y="231"/>
                          <a:pt x="176" y="221"/>
                          <a:pt x="160" y="216"/>
                        </a:cubicBezTo>
                        <a:cubicBezTo>
                          <a:pt x="154" y="233"/>
                          <a:pt x="136" y="203"/>
                          <a:pt x="126" y="200"/>
                        </a:cubicBezTo>
                        <a:cubicBezTo>
                          <a:pt x="120" y="196"/>
                          <a:pt x="114" y="190"/>
                          <a:pt x="108" y="186"/>
                        </a:cubicBezTo>
                        <a:cubicBezTo>
                          <a:pt x="104" y="175"/>
                          <a:pt x="104" y="165"/>
                          <a:pt x="94" y="158"/>
                        </a:cubicBezTo>
                        <a:cubicBezTo>
                          <a:pt x="83" y="142"/>
                          <a:pt x="85" y="119"/>
                          <a:pt x="68" y="108"/>
                        </a:cubicBezTo>
                        <a:cubicBezTo>
                          <a:pt x="67" y="106"/>
                          <a:pt x="66" y="104"/>
                          <a:pt x="64" y="102"/>
                        </a:cubicBezTo>
                        <a:cubicBezTo>
                          <a:pt x="62" y="101"/>
                          <a:pt x="59" y="102"/>
                          <a:pt x="58" y="100"/>
                        </a:cubicBezTo>
                        <a:cubicBezTo>
                          <a:pt x="56" y="97"/>
                          <a:pt x="54" y="88"/>
                          <a:pt x="54" y="88"/>
                        </a:cubicBezTo>
                        <a:cubicBezTo>
                          <a:pt x="59" y="73"/>
                          <a:pt x="52" y="61"/>
                          <a:pt x="38" y="58"/>
                        </a:cubicBezTo>
                        <a:cubicBezTo>
                          <a:pt x="32" y="49"/>
                          <a:pt x="31" y="44"/>
                          <a:pt x="20" y="40"/>
                        </a:cubicBezTo>
                        <a:cubicBezTo>
                          <a:pt x="16" y="27"/>
                          <a:pt x="16" y="26"/>
                          <a:pt x="4" y="22"/>
                        </a:cubicBezTo>
                        <a:cubicBezTo>
                          <a:pt x="1" y="13"/>
                          <a:pt x="0" y="5"/>
                          <a:pt x="10" y="2"/>
                        </a:cubicBezTo>
                        <a:cubicBezTo>
                          <a:pt x="18" y="5"/>
                          <a:pt x="18" y="4"/>
                          <a:pt x="10" y="4"/>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35" name="Freeform 19"/>
                  <p:cNvSpPr>
                    <a:spLocks/>
                  </p:cNvSpPr>
                  <p:nvPr/>
                </p:nvSpPr>
                <p:spPr bwMode="ltGray">
                  <a:xfrm>
                    <a:off x="1827" y="541"/>
                    <a:ext cx="67" cy="68"/>
                  </a:xfrm>
                  <a:custGeom>
                    <a:avLst/>
                    <a:gdLst>
                      <a:gd name="T0" fmla="*/ 10 w 156"/>
                      <a:gd name="T1" fmla="*/ 7 h 206"/>
                      <a:gd name="T2" fmla="*/ 12 w 156"/>
                      <a:gd name="T3" fmla="*/ 6 h 206"/>
                      <a:gd name="T4" fmla="*/ 12 w 156"/>
                      <a:gd name="T5" fmla="*/ 6 h 206"/>
                      <a:gd name="T6" fmla="*/ 15 w 156"/>
                      <a:gd name="T7" fmla="*/ 5 h 206"/>
                      <a:gd name="T8" fmla="*/ 20 w 156"/>
                      <a:gd name="T9" fmla="*/ 2 h 206"/>
                      <a:gd name="T10" fmla="*/ 21 w 156"/>
                      <a:gd name="T11" fmla="*/ 0 h 206"/>
                      <a:gd name="T12" fmla="*/ 23 w 156"/>
                      <a:gd name="T13" fmla="*/ 0 h 206"/>
                      <a:gd name="T14" fmla="*/ 27 w 156"/>
                      <a:gd name="T15" fmla="*/ 3 h 206"/>
                      <a:gd name="T16" fmla="*/ 27 w 156"/>
                      <a:gd name="T17" fmla="*/ 5 h 206"/>
                      <a:gd name="T18" fmla="*/ 23 w 156"/>
                      <a:gd name="T19" fmla="*/ 7 h 206"/>
                      <a:gd name="T20" fmla="*/ 24 w 156"/>
                      <a:gd name="T21" fmla="*/ 10 h 206"/>
                      <a:gd name="T22" fmla="*/ 26 w 156"/>
                      <a:gd name="T23" fmla="*/ 12 h 206"/>
                      <a:gd name="T24" fmla="*/ 27 w 156"/>
                      <a:gd name="T25" fmla="*/ 14 h 206"/>
                      <a:gd name="T26" fmla="*/ 24 w 156"/>
                      <a:gd name="T27" fmla="*/ 14 h 206"/>
                      <a:gd name="T28" fmla="*/ 21 w 156"/>
                      <a:gd name="T29" fmla="*/ 16 h 206"/>
                      <a:gd name="T30" fmla="*/ 19 w 156"/>
                      <a:gd name="T31" fmla="*/ 17 h 206"/>
                      <a:gd name="T32" fmla="*/ 18 w 156"/>
                      <a:gd name="T33" fmla="*/ 21 h 206"/>
                      <a:gd name="T34" fmla="*/ 16 w 156"/>
                      <a:gd name="T35" fmla="*/ 22 h 206"/>
                      <a:gd name="T36" fmla="*/ 15 w 156"/>
                      <a:gd name="T37" fmla="*/ 22 h 206"/>
                      <a:gd name="T38" fmla="*/ 14 w 156"/>
                      <a:gd name="T39" fmla="*/ 22 h 206"/>
                      <a:gd name="T40" fmla="*/ 13 w 156"/>
                      <a:gd name="T41" fmla="*/ 21 h 206"/>
                      <a:gd name="T42" fmla="*/ 11 w 156"/>
                      <a:gd name="T43" fmla="*/ 20 h 206"/>
                      <a:gd name="T44" fmla="*/ 8 w 156"/>
                      <a:gd name="T45" fmla="*/ 21 h 206"/>
                      <a:gd name="T46" fmla="*/ 5 w 156"/>
                      <a:gd name="T47" fmla="*/ 20 h 206"/>
                      <a:gd name="T48" fmla="*/ 2 w 156"/>
                      <a:gd name="T49" fmla="*/ 16 h 206"/>
                      <a:gd name="T50" fmla="*/ 1 w 156"/>
                      <a:gd name="T51" fmla="*/ 14 h 206"/>
                      <a:gd name="T52" fmla="*/ 0 w 156"/>
                      <a:gd name="T53" fmla="*/ 13 h 206"/>
                      <a:gd name="T54" fmla="*/ 4 w 156"/>
                      <a:gd name="T55" fmla="*/ 11 h 206"/>
                      <a:gd name="T56" fmla="*/ 6 w 156"/>
                      <a:gd name="T57" fmla="*/ 11 h 206"/>
                      <a:gd name="T58" fmla="*/ 6 w 156"/>
                      <a:gd name="T59" fmla="*/ 9 h 206"/>
                      <a:gd name="T60" fmla="*/ 9 w 156"/>
                      <a:gd name="T61" fmla="*/ 8 h 206"/>
                      <a:gd name="T62" fmla="*/ 10 w 156"/>
                      <a:gd name="T63" fmla="*/ 7 h 20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0" t="0" r="r" b="b"/>
                    <a:pathLst>
                      <a:path w="156" h="206">
                        <a:moveTo>
                          <a:pt x="54" y="66"/>
                        </a:moveTo>
                        <a:cubicBezTo>
                          <a:pt x="58" y="63"/>
                          <a:pt x="64" y="63"/>
                          <a:pt x="66" y="58"/>
                        </a:cubicBezTo>
                        <a:cubicBezTo>
                          <a:pt x="67" y="56"/>
                          <a:pt x="67" y="53"/>
                          <a:pt x="68" y="52"/>
                        </a:cubicBezTo>
                        <a:cubicBezTo>
                          <a:pt x="71" y="49"/>
                          <a:pt x="80" y="44"/>
                          <a:pt x="80" y="44"/>
                        </a:cubicBezTo>
                        <a:cubicBezTo>
                          <a:pt x="113" y="55"/>
                          <a:pt x="85" y="29"/>
                          <a:pt x="106" y="22"/>
                        </a:cubicBezTo>
                        <a:cubicBezTo>
                          <a:pt x="110" y="17"/>
                          <a:pt x="108" y="9"/>
                          <a:pt x="112" y="4"/>
                        </a:cubicBezTo>
                        <a:cubicBezTo>
                          <a:pt x="115" y="1"/>
                          <a:pt x="124" y="0"/>
                          <a:pt x="124" y="0"/>
                        </a:cubicBezTo>
                        <a:cubicBezTo>
                          <a:pt x="138" y="14"/>
                          <a:pt x="126" y="23"/>
                          <a:pt x="150" y="28"/>
                        </a:cubicBezTo>
                        <a:cubicBezTo>
                          <a:pt x="156" y="36"/>
                          <a:pt x="154" y="39"/>
                          <a:pt x="146" y="44"/>
                        </a:cubicBezTo>
                        <a:cubicBezTo>
                          <a:pt x="141" y="52"/>
                          <a:pt x="135" y="61"/>
                          <a:pt x="126" y="64"/>
                        </a:cubicBezTo>
                        <a:cubicBezTo>
                          <a:pt x="118" y="75"/>
                          <a:pt x="128" y="83"/>
                          <a:pt x="132" y="94"/>
                        </a:cubicBezTo>
                        <a:cubicBezTo>
                          <a:pt x="129" y="103"/>
                          <a:pt x="135" y="105"/>
                          <a:pt x="142" y="110"/>
                        </a:cubicBezTo>
                        <a:cubicBezTo>
                          <a:pt x="145" y="119"/>
                          <a:pt x="141" y="120"/>
                          <a:pt x="146" y="128"/>
                        </a:cubicBezTo>
                        <a:cubicBezTo>
                          <a:pt x="142" y="139"/>
                          <a:pt x="135" y="133"/>
                          <a:pt x="128" y="128"/>
                        </a:cubicBezTo>
                        <a:cubicBezTo>
                          <a:pt x="116" y="132"/>
                          <a:pt x="122" y="136"/>
                          <a:pt x="116" y="146"/>
                        </a:cubicBezTo>
                        <a:cubicBezTo>
                          <a:pt x="113" y="151"/>
                          <a:pt x="108" y="152"/>
                          <a:pt x="104" y="156"/>
                        </a:cubicBezTo>
                        <a:cubicBezTo>
                          <a:pt x="107" y="167"/>
                          <a:pt x="112" y="191"/>
                          <a:pt x="100" y="198"/>
                        </a:cubicBezTo>
                        <a:cubicBezTo>
                          <a:pt x="96" y="200"/>
                          <a:pt x="92" y="200"/>
                          <a:pt x="88" y="202"/>
                        </a:cubicBezTo>
                        <a:cubicBezTo>
                          <a:pt x="86" y="203"/>
                          <a:pt x="84" y="205"/>
                          <a:pt x="82" y="206"/>
                        </a:cubicBezTo>
                        <a:cubicBezTo>
                          <a:pt x="80" y="205"/>
                          <a:pt x="77" y="204"/>
                          <a:pt x="76" y="202"/>
                        </a:cubicBezTo>
                        <a:cubicBezTo>
                          <a:pt x="74" y="198"/>
                          <a:pt x="76" y="191"/>
                          <a:pt x="72" y="190"/>
                        </a:cubicBezTo>
                        <a:cubicBezTo>
                          <a:pt x="68" y="189"/>
                          <a:pt x="60" y="186"/>
                          <a:pt x="60" y="186"/>
                        </a:cubicBezTo>
                        <a:cubicBezTo>
                          <a:pt x="53" y="188"/>
                          <a:pt x="49" y="192"/>
                          <a:pt x="42" y="194"/>
                        </a:cubicBezTo>
                        <a:cubicBezTo>
                          <a:pt x="34" y="189"/>
                          <a:pt x="37" y="183"/>
                          <a:pt x="28" y="186"/>
                        </a:cubicBezTo>
                        <a:cubicBezTo>
                          <a:pt x="12" y="181"/>
                          <a:pt x="19" y="161"/>
                          <a:pt x="10" y="148"/>
                        </a:cubicBezTo>
                        <a:cubicBezTo>
                          <a:pt x="5" y="121"/>
                          <a:pt x="11" y="147"/>
                          <a:pt x="4" y="130"/>
                        </a:cubicBezTo>
                        <a:cubicBezTo>
                          <a:pt x="2" y="126"/>
                          <a:pt x="0" y="118"/>
                          <a:pt x="0" y="118"/>
                        </a:cubicBezTo>
                        <a:cubicBezTo>
                          <a:pt x="2" y="95"/>
                          <a:pt x="0" y="83"/>
                          <a:pt x="20" y="96"/>
                        </a:cubicBezTo>
                        <a:cubicBezTo>
                          <a:pt x="23" y="105"/>
                          <a:pt x="23" y="110"/>
                          <a:pt x="32" y="104"/>
                        </a:cubicBezTo>
                        <a:cubicBezTo>
                          <a:pt x="35" y="95"/>
                          <a:pt x="29" y="88"/>
                          <a:pt x="34" y="80"/>
                        </a:cubicBezTo>
                        <a:cubicBezTo>
                          <a:pt x="36" y="76"/>
                          <a:pt x="48" y="73"/>
                          <a:pt x="52" y="70"/>
                        </a:cubicBezTo>
                        <a:cubicBezTo>
                          <a:pt x="57" y="63"/>
                          <a:pt x="58" y="62"/>
                          <a:pt x="54" y="66"/>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36" name="Freeform 20"/>
                  <p:cNvSpPr>
                    <a:spLocks/>
                  </p:cNvSpPr>
                  <p:nvPr/>
                </p:nvSpPr>
                <p:spPr bwMode="ltGray">
                  <a:xfrm>
                    <a:off x="1892" y="572"/>
                    <a:ext cx="47" cy="13"/>
                  </a:xfrm>
                  <a:custGeom>
                    <a:avLst/>
                    <a:gdLst>
                      <a:gd name="T0" fmla="*/ 1 w 109"/>
                      <a:gd name="T1" fmla="*/ 4 h 38"/>
                      <a:gd name="T2" fmla="*/ 3 w 109"/>
                      <a:gd name="T3" fmla="*/ 1 h 38"/>
                      <a:gd name="T4" fmla="*/ 9 w 109"/>
                      <a:gd name="T5" fmla="*/ 2 h 38"/>
                      <a:gd name="T6" fmla="*/ 13 w 109"/>
                      <a:gd name="T7" fmla="*/ 2 h 38"/>
                      <a:gd name="T8" fmla="*/ 17 w 109"/>
                      <a:gd name="T9" fmla="*/ 0 h 38"/>
                      <a:gd name="T10" fmla="*/ 14 w 109"/>
                      <a:gd name="T11" fmla="*/ 3 h 38"/>
                      <a:gd name="T12" fmla="*/ 11 w 109"/>
                      <a:gd name="T13" fmla="*/ 4 h 38"/>
                      <a:gd name="T14" fmla="*/ 8 w 109"/>
                      <a:gd name="T15" fmla="*/ 4 h 38"/>
                      <a:gd name="T16" fmla="*/ 3 w 109"/>
                      <a:gd name="T17" fmla="*/ 3 h 38"/>
                      <a:gd name="T18" fmla="*/ 1 w 109"/>
                      <a:gd name="T19" fmla="*/ 4 h 38"/>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09" h="38">
                        <a:moveTo>
                          <a:pt x="4" y="32"/>
                        </a:moveTo>
                        <a:cubicBezTo>
                          <a:pt x="7" y="22"/>
                          <a:pt x="7" y="14"/>
                          <a:pt x="18" y="10"/>
                        </a:cubicBezTo>
                        <a:cubicBezTo>
                          <a:pt x="28" y="12"/>
                          <a:pt x="37" y="14"/>
                          <a:pt x="46" y="20"/>
                        </a:cubicBezTo>
                        <a:cubicBezTo>
                          <a:pt x="62" y="15"/>
                          <a:pt x="54" y="17"/>
                          <a:pt x="72" y="14"/>
                        </a:cubicBezTo>
                        <a:cubicBezTo>
                          <a:pt x="77" y="9"/>
                          <a:pt x="90" y="0"/>
                          <a:pt x="90" y="0"/>
                        </a:cubicBezTo>
                        <a:cubicBezTo>
                          <a:pt x="109" y="6"/>
                          <a:pt x="85" y="23"/>
                          <a:pt x="76" y="26"/>
                        </a:cubicBezTo>
                        <a:cubicBezTo>
                          <a:pt x="71" y="33"/>
                          <a:pt x="68" y="35"/>
                          <a:pt x="60" y="38"/>
                        </a:cubicBezTo>
                        <a:cubicBezTo>
                          <a:pt x="54" y="36"/>
                          <a:pt x="42" y="32"/>
                          <a:pt x="42" y="32"/>
                        </a:cubicBezTo>
                        <a:cubicBezTo>
                          <a:pt x="33" y="23"/>
                          <a:pt x="26" y="26"/>
                          <a:pt x="14" y="30"/>
                        </a:cubicBezTo>
                        <a:cubicBezTo>
                          <a:pt x="1" y="28"/>
                          <a:pt x="0" y="24"/>
                          <a:pt x="4" y="32"/>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37" name="Freeform 21"/>
                  <p:cNvSpPr>
                    <a:spLocks/>
                  </p:cNvSpPr>
                  <p:nvPr/>
                </p:nvSpPr>
                <p:spPr bwMode="ltGray">
                  <a:xfrm>
                    <a:off x="1890" y="588"/>
                    <a:ext cx="32" cy="34"/>
                  </a:xfrm>
                  <a:custGeom>
                    <a:avLst/>
                    <a:gdLst>
                      <a:gd name="T0" fmla="*/ 1 w 76"/>
                      <a:gd name="T1" fmla="*/ 2 h 104"/>
                      <a:gd name="T2" fmla="*/ 3 w 76"/>
                      <a:gd name="T3" fmla="*/ 0 h 104"/>
                      <a:gd name="T4" fmla="*/ 6 w 76"/>
                      <a:gd name="T5" fmla="*/ 2 h 104"/>
                      <a:gd name="T6" fmla="*/ 11 w 76"/>
                      <a:gd name="T7" fmla="*/ 0 h 104"/>
                      <a:gd name="T8" fmla="*/ 8 w 76"/>
                      <a:gd name="T9" fmla="*/ 4 h 104"/>
                      <a:gd name="T10" fmla="*/ 10 w 76"/>
                      <a:gd name="T11" fmla="*/ 5 h 104"/>
                      <a:gd name="T12" fmla="*/ 10 w 76"/>
                      <a:gd name="T13" fmla="*/ 7 h 104"/>
                      <a:gd name="T14" fmla="*/ 8 w 76"/>
                      <a:gd name="T15" fmla="*/ 8 h 104"/>
                      <a:gd name="T16" fmla="*/ 6 w 76"/>
                      <a:gd name="T17" fmla="*/ 7 h 104"/>
                      <a:gd name="T18" fmla="*/ 4 w 76"/>
                      <a:gd name="T19" fmla="*/ 5 h 104"/>
                      <a:gd name="T20" fmla="*/ 5 w 76"/>
                      <a:gd name="T21" fmla="*/ 7 h 104"/>
                      <a:gd name="T22" fmla="*/ 5 w 76"/>
                      <a:gd name="T23" fmla="*/ 8 h 104"/>
                      <a:gd name="T24" fmla="*/ 3 w 76"/>
                      <a:gd name="T25" fmla="*/ 11 h 104"/>
                      <a:gd name="T26" fmla="*/ 2 w 76"/>
                      <a:gd name="T27" fmla="*/ 11 h 104"/>
                      <a:gd name="T28" fmla="*/ 1 w 76"/>
                      <a:gd name="T29" fmla="*/ 9 h 104"/>
                      <a:gd name="T30" fmla="*/ 0 w 76"/>
                      <a:gd name="T31" fmla="*/ 6 h 104"/>
                      <a:gd name="T32" fmla="*/ 0 w 76"/>
                      <a:gd name="T33" fmla="*/ 3 h 104"/>
                      <a:gd name="T34" fmla="*/ 1 w 76"/>
                      <a:gd name="T35" fmla="*/ 2 h 104"/>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76" h="104">
                        <a:moveTo>
                          <a:pt x="8" y="18"/>
                        </a:moveTo>
                        <a:cubicBezTo>
                          <a:pt x="10" y="8"/>
                          <a:pt x="9" y="3"/>
                          <a:pt x="18" y="0"/>
                        </a:cubicBezTo>
                        <a:cubicBezTo>
                          <a:pt x="28" y="3"/>
                          <a:pt x="25" y="12"/>
                          <a:pt x="34" y="18"/>
                        </a:cubicBezTo>
                        <a:cubicBezTo>
                          <a:pt x="46" y="16"/>
                          <a:pt x="51" y="8"/>
                          <a:pt x="62" y="4"/>
                        </a:cubicBezTo>
                        <a:cubicBezTo>
                          <a:pt x="76" y="9"/>
                          <a:pt x="56" y="31"/>
                          <a:pt x="46" y="34"/>
                        </a:cubicBezTo>
                        <a:cubicBezTo>
                          <a:pt x="51" y="56"/>
                          <a:pt x="43" y="29"/>
                          <a:pt x="54" y="48"/>
                        </a:cubicBezTo>
                        <a:cubicBezTo>
                          <a:pt x="56" y="52"/>
                          <a:pt x="58" y="60"/>
                          <a:pt x="58" y="60"/>
                        </a:cubicBezTo>
                        <a:cubicBezTo>
                          <a:pt x="55" y="68"/>
                          <a:pt x="54" y="71"/>
                          <a:pt x="46" y="74"/>
                        </a:cubicBezTo>
                        <a:cubicBezTo>
                          <a:pt x="38" y="71"/>
                          <a:pt x="37" y="68"/>
                          <a:pt x="34" y="60"/>
                        </a:cubicBezTo>
                        <a:cubicBezTo>
                          <a:pt x="33" y="50"/>
                          <a:pt x="32" y="33"/>
                          <a:pt x="22" y="48"/>
                        </a:cubicBezTo>
                        <a:cubicBezTo>
                          <a:pt x="25" y="60"/>
                          <a:pt x="23" y="53"/>
                          <a:pt x="28" y="68"/>
                        </a:cubicBezTo>
                        <a:cubicBezTo>
                          <a:pt x="29" y="70"/>
                          <a:pt x="30" y="74"/>
                          <a:pt x="30" y="74"/>
                        </a:cubicBezTo>
                        <a:cubicBezTo>
                          <a:pt x="24" y="84"/>
                          <a:pt x="22" y="93"/>
                          <a:pt x="20" y="104"/>
                        </a:cubicBezTo>
                        <a:cubicBezTo>
                          <a:pt x="17" y="103"/>
                          <a:pt x="14" y="104"/>
                          <a:pt x="12" y="102"/>
                        </a:cubicBezTo>
                        <a:cubicBezTo>
                          <a:pt x="9" y="99"/>
                          <a:pt x="8" y="90"/>
                          <a:pt x="8" y="90"/>
                        </a:cubicBezTo>
                        <a:cubicBezTo>
                          <a:pt x="13" y="75"/>
                          <a:pt x="14" y="64"/>
                          <a:pt x="0" y="54"/>
                        </a:cubicBezTo>
                        <a:cubicBezTo>
                          <a:pt x="1" y="46"/>
                          <a:pt x="1" y="38"/>
                          <a:pt x="2" y="30"/>
                        </a:cubicBezTo>
                        <a:cubicBezTo>
                          <a:pt x="2" y="27"/>
                          <a:pt x="13" y="2"/>
                          <a:pt x="8" y="1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38" name="Freeform 22"/>
                  <p:cNvSpPr>
                    <a:spLocks/>
                  </p:cNvSpPr>
                  <p:nvPr/>
                </p:nvSpPr>
                <p:spPr bwMode="ltGray">
                  <a:xfrm>
                    <a:off x="1944" y="569"/>
                    <a:ext cx="16" cy="20"/>
                  </a:xfrm>
                  <a:custGeom>
                    <a:avLst/>
                    <a:gdLst>
                      <a:gd name="T0" fmla="*/ 0 w 37"/>
                      <a:gd name="T1" fmla="*/ 3 h 61"/>
                      <a:gd name="T2" fmla="*/ 3 w 37"/>
                      <a:gd name="T3" fmla="*/ 0 h 61"/>
                      <a:gd name="T4" fmla="*/ 3 w 37"/>
                      <a:gd name="T5" fmla="*/ 3 h 61"/>
                      <a:gd name="T6" fmla="*/ 7 w 37"/>
                      <a:gd name="T7" fmla="*/ 4 h 61"/>
                      <a:gd name="T8" fmla="*/ 3 w 37"/>
                      <a:gd name="T9" fmla="*/ 5 h 61"/>
                      <a:gd name="T10" fmla="*/ 1 w 37"/>
                      <a:gd name="T11" fmla="*/ 6 h 61"/>
                      <a:gd name="T12" fmla="*/ 0 w 37"/>
                      <a:gd name="T13" fmla="*/ 4 h 61"/>
                      <a:gd name="T14" fmla="*/ 0 w 37"/>
                      <a:gd name="T15" fmla="*/ 3 h 61"/>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7" h="61">
                        <a:moveTo>
                          <a:pt x="3" y="28"/>
                        </a:moveTo>
                        <a:cubicBezTo>
                          <a:pt x="5" y="14"/>
                          <a:pt x="2" y="7"/>
                          <a:pt x="13" y="0"/>
                        </a:cubicBezTo>
                        <a:cubicBezTo>
                          <a:pt x="26" y="9"/>
                          <a:pt x="23" y="17"/>
                          <a:pt x="15" y="28"/>
                        </a:cubicBezTo>
                        <a:cubicBezTo>
                          <a:pt x="25" y="31"/>
                          <a:pt x="33" y="27"/>
                          <a:pt x="37" y="38"/>
                        </a:cubicBezTo>
                        <a:cubicBezTo>
                          <a:pt x="30" y="45"/>
                          <a:pt x="28" y="47"/>
                          <a:pt x="19" y="44"/>
                        </a:cubicBezTo>
                        <a:cubicBezTo>
                          <a:pt x="13" y="54"/>
                          <a:pt x="18" y="61"/>
                          <a:pt x="5" y="58"/>
                        </a:cubicBezTo>
                        <a:cubicBezTo>
                          <a:pt x="0" y="50"/>
                          <a:pt x="3" y="44"/>
                          <a:pt x="1" y="34"/>
                        </a:cubicBezTo>
                        <a:cubicBezTo>
                          <a:pt x="2" y="32"/>
                          <a:pt x="3" y="28"/>
                          <a:pt x="3" y="2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39" name="Freeform 23"/>
                  <p:cNvSpPr>
                    <a:spLocks/>
                  </p:cNvSpPr>
                  <p:nvPr/>
                </p:nvSpPr>
                <p:spPr bwMode="ltGray">
                  <a:xfrm>
                    <a:off x="1948" y="600"/>
                    <a:ext cx="20" cy="10"/>
                  </a:xfrm>
                  <a:custGeom>
                    <a:avLst/>
                    <a:gdLst>
                      <a:gd name="T0" fmla="*/ 1 w 49"/>
                      <a:gd name="T1" fmla="*/ 0 h 29"/>
                      <a:gd name="T2" fmla="*/ 5 w 49"/>
                      <a:gd name="T3" fmla="*/ 0 h 29"/>
                      <a:gd name="T4" fmla="*/ 8 w 49"/>
                      <a:gd name="T5" fmla="*/ 2 h 29"/>
                      <a:gd name="T6" fmla="*/ 6 w 49"/>
                      <a:gd name="T7" fmla="*/ 2 h 29"/>
                      <a:gd name="T8" fmla="*/ 0 w 49"/>
                      <a:gd name="T9" fmla="*/ 2 h 29"/>
                      <a:gd name="T10" fmla="*/ 1 w 49"/>
                      <a:gd name="T11" fmla="*/ 0 h 29"/>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9" h="29">
                        <a:moveTo>
                          <a:pt x="7" y="0"/>
                        </a:moveTo>
                        <a:cubicBezTo>
                          <a:pt x="15" y="6"/>
                          <a:pt x="19" y="2"/>
                          <a:pt x="29" y="0"/>
                        </a:cubicBezTo>
                        <a:cubicBezTo>
                          <a:pt x="45" y="5"/>
                          <a:pt x="40" y="3"/>
                          <a:pt x="49" y="16"/>
                        </a:cubicBezTo>
                        <a:cubicBezTo>
                          <a:pt x="46" y="29"/>
                          <a:pt x="42" y="21"/>
                          <a:pt x="35" y="14"/>
                        </a:cubicBezTo>
                        <a:cubicBezTo>
                          <a:pt x="26" y="15"/>
                          <a:pt x="12" y="19"/>
                          <a:pt x="3" y="16"/>
                        </a:cubicBezTo>
                        <a:cubicBezTo>
                          <a:pt x="0" y="6"/>
                          <a:pt x="7" y="10"/>
                          <a:pt x="7" y="0"/>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40" name="Freeform 24"/>
                  <p:cNvSpPr>
                    <a:spLocks/>
                  </p:cNvSpPr>
                  <p:nvPr/>
                </p:nvSpPr>
                <p:spPr bwMode="ltGray">
                  <a:xfrm>
                    <a:off x="1969" y="585"/>
                    <a:ext cx="26" cy="17"/>
                  </a:xfrm>
                  <a:custGeom>
                    <a:avLst/>
                    <a:gdLst>
                      <a:gd name="T0" fmla="*/ 4 w 61"/>
                      <a:gd name="T1" fmla="*/ 5 h 48"/>
                      <a:gd name="T2" fmla="*/ 3 w 61"/>
                      <a:gd name="T3" fmla="*/ 3 h 48"/>
                      <a:gd name="T4" fmla="*/ 0 w 61"/>
                      <a:gd name="T5" fmla="*/ 3 h 48"/>
                      <a:gd name="T6" fmla="*/ 3 w 61"/>
                      <a:gd name="T7" fmla="*/ 1 h 48"/>
                      <a:gd name="T8" fmla="*/ 5 w 61"/>
                      <a:gd name="T9" fmla="*/ 0 h 48"/>
                      <a:gd name="T10" fmla="*/ 9 w 61"/>
                      <a:gd name="T11" fmla="*/ 1 h 48"/>
                      <a:gd name="T12" fmla="*/ 10 w 61"/>
                      <a:gd name="T13" fmla="*/ 2 h 48"/>
                      <a:gd name="T14" fmla="*/ 11 w 61"/>
                      <a:gd name="T15" fmla="*/ 4 h 48"/>
                      <a:gd name="T16" fmla="*/ 7 w 61"/>
                      <a:gd name="T17" fmla="*/ 5 h 48"/>
                      <a:gd name="T18" fmla="*/ 4 w 61"/>
                      <a:gd name="T19" fmla="*/ 6 h 48"/>
                      <a:gd name="T20" fmla="*/ 4 w 61"/>
                      <a:gd name="T21" fmla="*/ 5 h 48"/>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61" h="48">
                        <a:moveTo>
                          <a:pt x="21" y="38"/>
                        </a:moveTo>
                        <a:cubicBezTo>
                          <a:pt x="19" y="34"/>
                          <a:pt x="19" y="29"/>
                          <a:pt x="15" y="26"/>
                        </a:cubicBezTo>
                        <a:cubicBezTo>
                          <a:pt x="12" y="24"/>
                          <a:pt x="3" y="22"/>
                          <a:pt x="3" y="22"/>
                        </a:cubicBezTo>
                        <a:cubicBezTo>
                          <a:pt x="0" y="12"/>
                          <a:pt x="5" y="12"/>
                          <a:pt x="13" y="8"/>
                        </a:cubicBezTo>
                        <a:cubicBezTo>
                          <a:pt x="17" y="6"/>
                          <a:pt x="25" y="0"/>
                          <a:pt x="25" y="0"/>
                        </a:cubicBezTo>
                        <a:cubicBezTo>
                          <a:pt x="37" y="2"/>
                          <a:pt x="41" y="2"/>
                          <a:pt x="49" y="10"/>
                        </a:cubicBezTo>
                        <a:cubicBezTo>
                          <a:pt x="45" y="21"/>
                          <a:pt x="46" y="12"/>
                          <a:pt x="53" y="20"/>
                        </a:cubicBezTo>
                        <a:cubicBezTo>
                          <a:pt x="56" y="24"/>
                          <a:pt x="61" y="32"/>
                          <a:pt x="61" y="32"/>
                        </a:cubicBezTo>
                        <a:cubicBezTo>
                          <a:pt x="56" y="47"/>
                          <a:pt x="53" y="42"/>
                          <a:pt x="41" y="38"/>
                        </a:cubicBezTo>
                        <a:cubicBezTo>
                          <a:pt x="27" y="47"/>
                          <a:pt x="34" y="48"/>
                          <a:pt x="23" y="44"/>
                        </a:cubicBezTo>
                        <a:cubicBezTo>
                          <a:pt x="22" y="42"/>
                          <a:pt x="21" y="38"/>
                          <a:pt x="21" y="3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41" name="Freeform 25"/>
                  <p:cNvSpPr>
                    <a:spLocks/>
                  </p:cNvSpPr>
                  <p:nvPr/>
                </p:nvSpPr>
                <p:spPr bwMode="ltGray">
                  <a:xfrm>
                    <a:off x="1976" y="593"/>
                    <a:ext cx="122" cy="61"/>
                  </a:xfrm>
                  <a:custGeom>
                    <a:avLst/>
                    <a:gdLst>
                      <a:gd name="T0" fmla="*/ 9 w 286"/>
                      <a:gd name="T1" fmla="*/ 3 h 182"/>
                      <a:gd name="T2" fmla="*/ 6 w 286"/>
                      <a:gd name="T3" fmla="*/ 2 h 182"/>
                      <a:gd name="T4" fmla="*/ 5 w 286"/>
                      <a:gd name="T5" fmla="*/ 3 h 182"/>
                      <a:gd name="T6" fmla="*/ 0 w 286"/>
                      <a:gd name="T7" fmla="*/ 3 h 182"/>
                      <a:gd name="T8" fmla="*/ 2 w 286"/>
                      <a:gd name="T9" fmla="*/ 5 h 182"/>
                      <a:gd name="T10" fmla="*/ 3 w 286"/>
                      <a:gd name="T11" fmla="*/ 7 h 182"/>
                      <a:gd name="T12" fmla="*/ 4 w 286"/>
                      <a:gd name="T13" fmla="*/ 5 h 182"/>
                      <a:gd name="T14" fmla="*/ 6 w 286"/>
                      <a:gd name="T15" fmla="*/ 5 h 182"/>
                      <a:gd name="T16" fmla="*/ 9 w 286"/>
                      <a:gd name="T17" fmla="*/ 6 h 182"/>
                      <a:gd name="T18" fmla="*/ 13 w 286"/>
                      <a:gd name="T19" fmla="*/ 7 h 182"/>
                      <a:gd name="T20" fmla="*/ 16 w 286"/>
                      <a:gd name="T21" fmla="*/ 8 h 182"/>
                      <a:gd name="T22" fmla="*/ 19 w 286"/>
                      <a:gd name="T23" fmla="*/ 11 h 182"/>
                      <a:gd name="T24" fmla="*/ 19 w 286"/>
                      <a:gd name="T25" fmla="*/ 14 h 182"/>
                      <a:gd name="T26" fmla="*/ 18 w 286"/>
                      <a:gd name="T27" fmla="*/ 15 h 182"/>
                      <a:gd name="T28" fmla="*/ 22 w 286"/>
                      <a:gd name="T29" fmla="*/ 14 h 182"/>
                      <a:gd name="T30" fmla="*/ 26 w 286"/>
                      <a:gd name="T31" fmla="*/ 16 h 182"/>
                      <a:gd name="T32" fmla="*/ 31 w 286"/>
                      <a:gd name="T33" fmla="*/ 17 h 182"/>
                      <a:gd name="T34" fmla="*/ 32 w 286"/>
                      <a:gd name="T35" fmla="*/ 16 h 182"/>
                      <a:gd name="T36" fmla="*/ 31 w 286"/>
                      <a:gd name="T37" fmla="*/ 15 h 182"/>
                      <a:gd name="T38" fmla="*/ 32 w 286"/>
                      <a:gd name="T39" fmla="*/ 15 h 182"/>
                      <a:gd name="T40" fmla="*/ 34 w 286"/>
                      <a:gd name="T41" fmla="*/ 13 h 182"/>
                      <a:gd name="T42" fmla="*/ 37 w 286"/>
                      <a:gd name="T43" fmla="*/ 14 h 182"/>
                      <a:gd name="T44" fmla="*/ 39 w 286"/>
                      <a:gd name="T45" fmla="*/ 15 h 182"/>
                      <a:gd name="T46" fmla="*/ 44 w 286"/>
                      <a:gd name="T47" fmla="*/ 19 h 182"/>
                      <a:gd name="T48" fmla="*/ 48 w 286"/>
                      <a:gd name="T49" fmla="*/ 20 h 182"/>
                      <a:gd name="T50" fmla="*/ 52 w 286"/>
                      <a:gd name="T51" fmla="*/ 19 h 182"/>
                      <a:gd name="T52" fmla="*/ 49 w 286"/>
                      <a:gd name="T53" fmla="*/ 18 h 182"/>
                      <a:gd name="T54" fmla="*/ 46 w 286"/>
                      <a:gd name="T55" fmla="*/ 15 h 182"/>
                      <a:gd name="T56" fmla="*/ 46 w 286"/>
                      <a:gd name="T57" fmla="*/ 15 h 182"/>
                      <a:gd name="T58" fmla="*/ 45 w 286"/>
                      <a:gd name="T59" fmla="*/ 14 h 182"/>
                      <a:gd name="T60" fmla="*/ 43 w 286"/>
                      <a:gd name="T61" fmla="*/ 13 h 182"/>
                      <a:gd name="T62" fmla="*/ 44 w 286"/>
                      <a:gd name="T63" fmla="*/ 11 h 182"/>
                      <a:gd name="T64" fmla="*/ 40 w 286"/>
                      <a:gd name="T65" fmla="*/ 10 h 182"/>
                      <a:gd name="T66" fmla="*/ 38 w 286"/>
                      <a:gd name="T67" fmla="*/ 8 h 182"/>
                      <a:gd name="T68" fmla="*/ 35 w 286"/>
                      <a:gd name="T69" fmla="*/ 6 h 182"/>
                      <a:gd name="T70" fmla="*/ 31 w 286"/>
                      <a:gd name="T71" fmla="*/ 4 h 182"/>
                      <a:gd name="T72" fmla="*/ 29 w 286"/>
                      <a:gd name="T73" fmla="*/ 4 h 182"/>
                      <a:gd name="T74" fmla="*/ 22 w 286"/>
                      <a:gd name="T75" fmla="*/ 2 h 182"/>
                      <a:gd name="T76" fmla="*/ 19 w 286"/>
                      <a:gd name="T77" fmla="*/ 0 h 182"/>
                      <a:gd name="T78" fmla="*/ 17 w 286"/>
                      <a:gd name="T79" fmla="*/ 0 h 182"/>
                      <a:gd name="T80" fmla="*/ 13 w 286"/>
                      <a:gd name="T81" fmla="*/ 1 h 182"/>
                      <a:gd name="T82" fmla="*/ 10 w 286"/>
                      <a:gd name="T83" fmla="*/ 4 h 182"/>
                      <a:gd name="T84" fmla="*/ 9 w 286"/>
                      <a:gd name="T85" fmla="*/ 3 h 182"/>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0" t="0" r="r" b="b"/>
                    <a:pathLst>
                      <a:path w="286" h="182">
                        <a:moveTo>
                          <a:pt x="46" y="28"/>
                        </a:moveTo>
                        <a:cubicBezTo>
                          <a:pt x="41" y="14"/>
                          <a:pt x="46" y="17"/>
                          <a:pt x="36" y="14"/>
                        </a:cubicBezTo>
                        <a:cubicBezTo>
                          <a:pt x="31" y="17"/>
                          <a:pt x="26" y="30"/>
                          <a:pt x="26" y="30"/>
                        </a:cubicBezTo>
                        <a:cubicBezTo>
                          <a:pt x="12" y="25"/>
                          <a:pt x="19" y="21"/>
                          <a:pt x="0" y="24"/>
                        </a:cubicBezTo>
                        <a:cubicBezTo>
                          <a:pt x="2" y="33"/>
                          <a:pt x="2" y="37"/>
                          <a:pt x="10" y="42"/>
                        </a:cubicBezTo>
                        <a:cubicBezTo>
                          <a:pt x="12" y="49"/>
                          <a:pt x="14" y="55"/>
                          <a:pt x="16" y="62"/>
                        </a:cubicBezTo>
                        <a:cubicBezTo>
                          <a:pt x="24" y="59"/>
                          <a:pt x="27" y="57"/>
                          <a:pt x="24" y="48"/>
                        </a:cubicBezTo>
                        <a:cubicBezTo>
                          <a:pt x="26" y="47"/>
                          <a:pt x="28" y="43"/>
                          <a:pt x="30" y="44"/>
                        </a:cubicBezTo>
                        <a:cubicBezTo>
                          <a:pt x="48" y="48"/>
                          <a:pt x="36" y="52"/>
                          <a:pt x="48" y="56"/>
                        </a:cubicBezTo>
                        <a:cubicBezTo>
                          <a:pt x="74" y="65"/>
                          <a:pt x="47" y="56"/>
                          <a:pt x="70" y="62"/>
                        </a:cubicBezTo>
                        <a:cubicBezTo>
                          <a:pt x="77" y="64"/>
                          <a:pt x="88" y="72"/>
                          <a:pt x="88" y="72"/>
                        </a:cubicBezTo>
                        <a:cubicBezTo>
                          <a:pt x="96" y="84"/>
                          <a:pt x="102" y="87"/>
                          <a:pt x="106" y="102"/>
                        </a:cubicBezTo>
                        <a:cubicBezTo>
                          <a:pt x="105" y="109"/>
                          <a:pt x="106" y="115"/>
                          <a:pt x="104" y="122"/>
                        </a:cubicBezTo>
                        <a:cubicBezTo>
                          <a:pt x="103" y="126"/>
                          <a:pt x="94" y="132"/>
                          <a:pt x="98" y="134"/>
                        </a:cubicBezTo>
                        <a:cubicBezTo>
                          <a:pt x="106" y="137"/>
                          <a:pt x="122" y="128"/>
                          <a:pt x="122" y="128"/>
                        </a:cubicBezTo>
                        <a:cubicBezTo>
                          <a:pt x="130" y="131"/>
                          <a:pt x="133" y="135"/>
                          <a:pt x="140" y="140"/>
                        </a:cubicBezTo>
                        <a:cubicBezTo>
                          <a:pt x="148" y="145"/>
                          <a:pt x="159" y="145"/>
                          <a:pt x="168" y="148"/>
                        </a:cubicBezTo>
                        <a:cubicBezTo>
                          <a:pt x="170" y="147"/>
                          <a:pt x="173" y="148"/>
                          <a:pt x="174" y="146"/>
                        </a:cubicBezTo>
                        <a:cubicBezTo>
                          <a:pt x="176" y="142"/>
                          <a:pt x="164" y="136"/>
                          <a:pt x="168" y="134"/>
                        </a:cubicBezTo>
                        <a:cubicBezTo>
                          <a:pt x="171" y="132"/>
                          <a:pt x="175" y="135"/>
                          <a:pt x="178" y="136"/>
                        </a:cubicBezTo>
                        <a:cubicBezTo>
                          <a:pt x="182" y="131"/>
                          <a:pt x="186" y="118"/>
                          <a:pt x="186" y="118"/>
                        </a:cubicBezTo>
                        <a:cubicBezTo>
                          <a:pt x="189" y="119"/>
                          <a:pt x="199" y="120"/>
                          <a:pt x="202" y="122"/>
                        </a:cubicBezTo>
                        <a:cubicBezTo>
                          <a:pt x="206" y="124"/>
                          <a:pt x="214" y="130"/>
                          <a:pt x="214" y="130"/>
                        </a:cubicBezTo>
                        <a:cubicBezTo>
                          <a:pt x="224" y="145"/>
                          <a:pt x="228" y="158"/>
                          <a:pt x="244" y="168"/>
                        </a:cubicBezTo>
                        <a:cubicBezTo>
                          <a:pt x="250" y="172"/>
                          <a:pt x="262" y="178"/>
                          <a:pt x="262" y="178"/>
                        </a:cubicBezTo>
                        <a:cubicBezTo>
                          <a:pt x="265" y="178"/>
                          <a:pt x="286" y="182"/>
                          <a:pt x="284" y="170"/>
                        </a:cubicBezTo>
                        <a:cubicBezTo>
                          <a:pt x="283" y="164"/>
                          <a:pt x="268" y="160"/>
                          <a:pt x="268" y="160"/>
                        </a:cubicBezTo>
                        <a:cubicBezTo>
                          <a:pt x="261" y="150"/>
                          <a:pt x="270" y="143"/>
                          <a:pt x="256" y="138"/>
                        </a:cubicBezTo>
                        <a:cubicBezTo>
                          <a:pt x="254" y="136"/>
                          <a:pt x="251" y="135"/>
                          <a:pt x="250" y="132"/>
                        </a:cubicBezTo>
                        <a:cubicBezTo>
                          <a:pt x="248" y="129"/>
                          <a:pt x="250" y="125"/>
                          <a:pt x="248" y="122"/>
                        </a:cubicBezTo>
                        <a:cubicBezTo>
                          <a:pt x="246" y="118"/>
                          <a:pt x="240" y="118"/>
                          <a:pt x="236" y="116"/>
                        </a:cubicBezTo>
                        <a:cubicBezTo>
                          <a:pt x="230" y="107"/>
                          <a:pt x="227" y="100"/>
                          <a:pt x="240" y="96"/>
                        </a:cubicBezTo>
                        <a:cubicBezTo>
                          <a:pt x="236" y="83"/>
                          <a:pt x="236" y="84"/>
                          <a:pt x="220" y="86"/>
                        </a:cubicBezTo>
                        <a:cubicBezTo>
                          <a:pt x="209" y="82"/>
                          <a:pt x="208" y="82"/>
                          <a:pt x="210" y="70"/>
                        </a:cubicBezTo>
                        <a:cubicBezTo>
                          <a:pt x="207" y="60"/>
                          <a:pt x="199" y="57"/>
                          <a:pt x="190" y="54"/>
                        </a:cubicBezTo>
                        <a:cubicBezTo>
                          <a:pt x="181" y="45"/>
                          <a:pt x="181" y="42"/>
                          <a:pt x="168" y="38"/>
                        </a:cubicBezTo>
                        <a:cubicBezTo>
                          <a:pt x="164" y="37"/>
                          <a:pt x="156" y="34"/>
                          <a:pt x="156" y="34"/>
                        </a:cubicBezTo>
                        <a:cubicBezTo>
                          <a:pt x="146" y="24"/>
                          <a:pt x="134" y="21"/>
                          <a:pt x="120" y="16"/>
                        </a:cubicBezTo>
                        <a:cubicBezTo>
                          <a:pt x="113" y="14"/>
                          <a:pt x="108" y="8"/>
                          <a:pt x="102" y="4"/>
                        </a:cubicBezTo>
                        <a:cubicBezTo>
                          <a:pt x="100" y="3"/>
                          <a:pt x="96" y="0"/>
                          <a:pt x="96" y="0"/>
                        </a:cubicBezTo>
                        <a:cubicBezTo>
                          <a:pt x="83" y="2"/>
                          <a:pt x="79" y="1"/>
                          <a:pt x="70" y="10"/>
                        </a:cubicBezTo>
                        <a:cubicBezTo>
                          <a:pt x="67" y="19"/>
                          <a:pt x="63" y="27"/>
                          <a:pt x="56" y="32"/>
                        </a:cubicBezTo>
                        <a:cubicBezTo>
                          <a:pt x="49" y="30"/>
                          <a:pt x="52" y="31"/>
                          <a:pt x="46" y="2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42" name="Freeform 26"/>
                  <p:cNvSpPr>
                    <a:spLocks/>
                  </p:cNvSpPr>
                  <p:nvPr/>
                </p:nvSpPr>
                <p:spPr bwMode="ltGray">
                  <a:xfrm>
                    <a:off x="2082" y="599"/>
                    <a:ext cx="33" cy="26"/>
                  </a:xfrm>
                  <a:custGeom>
                    <a:avLst/>
                    <a:gdLst>
                      <a:gd name="T0" fmla="*/ 0 w 78"/>
                      <a:gd name="T1" fmla="*/ 6 h 78"/>
                      <a:gd name="T2" fmla="*/ 5 w 78"/>
                      <a:gd name="T3" fmla="*/ 7 h 78"/>
                      <a:gd name="T4" fmla="*/ 8 w 78"/>
                      <a:gd name="T5" fmla="*/ 5 h 78"/>
                      <a:gd name="T6" fmla="*/ 10 w 78"/>
                      <a:gd name="T7" fmla="*/ 3 h 78"/>
                      <a:gd name="T8" fmla="*/ 8 w 78"/>
                      <a:gd name="T9" fmla="*/ 2 h 78"/>
                      <a:gd name="T10" fmla="*/ 8 w 78"/>
                      <a:gd name="T11" fmla="*/ 0 h 78"/>
                      <a:gd name="T12" fmla="*/ 13 w 78"/>
                      <a:gd name="T13" fmla="*/ 3 h 78"/>
                      <a:gd name="T14" fmla="*/ 12 w 78"/>
                      <a:gd name="T15" fmla="*/ 6 h 78"/>
                      <a:gd name="T16" fmla="*/ 6 w 78"/>
                      <a:gd name="T17" fmla="*/ 9 h 78"/>
                      <a:gd name="T18" fmla="*/ 2 w 78"/>
                      <a:gd name="T19" fmla="*/ 7 h 78"/>
                      <a:gd name="T20" fmla="*/ 0 w 78"/>
                      <a:gd name="T21" fmla="*/ 7 h 78"/>
                      <a:gd name="T22" fmla="*/ 0 w 78"/>
                      <a:gd name="T23" fmla="*/ 6 h 78"/>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78" h="78">
                        <a:moveTo>
                          <a:pt x="1" y="58"/>
                        </a:moveTo>
                        <a:cubicBezTo>
                          <a:pt x="6" y="44"/>
                          <a:pt x="18" y="57"/>
                          <a:pt x="27" y="60"/>
                        </a:cubicBezTo>
                        <a:cubicBezTo>
                          <a:pt x="35" y="57"/>
                          <a:pt x="38" y="52"/>
                          <a:pt x="45" y="48"/>
                        </a:cubicBezTo>
                        <a:cubicBezTo>
                          <a:pt x="48" y="40"/>
                          <a:pt x="51" y="36"/>
                          <a:pt x="57" y="30"/>
                        </a:cubicBezTo>
                        <a:cubicBezTo>
                          <a:pt x="55" y="23"/>
                          <a:pt x="43" y="14"/>
                          <a:pt x="43" y="14"/>
                        </a:cubicBezTo>
                        <a:cubicBezTo>
                          <a:pt x="33" y="0"/>
                          <a:pt x="30" y="1"/>
                          <a:pt x="43" y="4"/>
                        </a:cubicBezTo>
                        <a:cubicBezTo>
                          <a:pt x="54" y="11"/>
                          <a:pt x="58" y="22"/>
                          <a:pt x="71" y="26"/>
                        </a:cubicBezTo>
                        <a:cubicBezTo>
                          <a:pt x="78" y="37"/>
                          <a:pt x="78" y="46"/>
                          <a:pt x="67" y="54"/>
                        </a:cubicBezTo>
                        <a:cubicBezTo>
                          <a:pt x="51" y="49"/>
                          <a:pt x="53" y="71"/>
                          <a:pt x="33" y="78"/>
                        </a:cubicBezTo>
                        <a:cubicBezTo>
                          <a:pt x="16" y="72"/>
                          <a:pt x="25" y="76"/>
                          <a:pt x="9" y="66"/>
                        </a:cubicBezTo>
                        <a:cubicBezTo>
                          <a:pt x="7" y="65"/>
                          <a:pt x="3" y="62"/>
                          <a:pt x="3" y="62"/>
                        </a:cubicBezTo>
                        <a:cubicBezTo>
                          <a:pt x="0" y="54"/>
                          <a:pt x="13" y="42"/>
                          <a:pt x="1" y="5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43" name="Freeform 27"/>
                  <p:cNvSpPr>
                    <a:spLocks/>
                  </p:cNvSpPr>
                  <p:nvPr/>
                </p:nvSpPr>
                <p:spPr bwMode="ltGray">
                  <a:xfrm>
                    <a:off x="2152" y="544"/>
                    <a:ext cx="8" cy="6"/>
                  </a:xfrm>
                  <a:custGeom>
                    <a:avLst/>
                    <a:gdLst>
                      <a:gd name="T0" fmla="*/ 0 w 17"/>
                      <a:gd name="T1" fmla="*/ 0 h 18"/>
                      <a:gd name="T2" fmla="*/ 0 w 17"/>
                      <a:gd name="T3" fmla="*/ 2 h 18"/>
                      <a:gd name="T4" fmla="*/ 0 w 17"/>
                      <a:gd name="T5" fmla="*/ 0 h 18"/>
                      <a:gd name="T6" fmla="*/ 0 60000 65536"/>
                      <a:gd name="T7" fmla="*/ 0 60000 65536"/>
                      <a:gd name="T8" fmla="*/ 0 60000 65536"/>
                    </a:gdLst>
                    <a:ahLst/>
                    <a:cxnLst>
                      <a:cxn ang="T6">
                        <a:pos x="T0" y="T1"/>
                      </a:cxn>
                      <a:cxn ang="T7">
                        <a:pos x="T2" y="T3"/>
                      </a:cxn>
                      <a:cxn ang="T8">
                        <a:pos x="T4" y="T5"/>
                      </a:cxn>
                    </a:cxnLst>
                    <a:rect l="0" t="0" r="r" b="b"/>
                    <a:pathLst>
                      <a:path w="17" h="18">
                        <a:moveTo>
                          <a:pt x="3" y="4"/>
                        </a:moveTo>
                        <a:cubicBezTo>
                          <a:pt x="17" y="7"/>
                          <a:pt x="16" y="18"/>
                          <a:pt x="3" y="14"/>
                        </a:cubicBezTo>
                        <a:cubicBezTo>
                          <a:pt x="0" y="6"/>
                          <a:pt x="7" y="0"/>
                          <a:pt x="3" y="4"/>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44" name="Freeform 28"/>
                  <p:cNvSpPr>
                    <a:spLocks/>
                  </p:cNvSpPr>
                  <p:nvPr/>
                </p:nvSpPr>
                <p:spPr bwMode="ltGray">
                  <a:xfrm>
                    <a:off x="2194" y="584"/>
                    <a:ext cx="11" cy="8"/>
                  </a:xfrm>
                  <a:custGeom>
                    <a:avLst/>
                    <a:gdLst>
                      <a:gd name="T0" fmla="*/ 1 w 26"/>
                      <a:gd name="T1" fmla="*/ 2 h 22"/>
                      <a:gd name="T2" fmla="*/ 3 w 26"/>
                      <a:gd name="T3" fmla="*/ 0 h 22"/>
                      <a:gd name="T4" fmla="*/ 3 w 26"/>
                      <a:gd name="T5" fmla="*/ 3 h 22"/>
                      <a:gd name="T6" fmla="*/ 1 w 26"/>
                      <a:gd name="T7" fmla="*/ 2 h 2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6" h="22">
                        <a:moveTo>
                          <a:pt x="8" y="14"/>
                        </a:moveTo>
                        <a:cubicBezTo>
                          <a:pt x="5" y="6"/>
                          <a:pt x="5" y="3"/>
                          <a:pt x="14" y="0"/>
                        </a:cubicBezTo>
                        <a:cubicBezTo>
                          <a:pt x="26" y="4"/>
                          <a:pt x="23" y="16"/>
                          <a:pt x="14" y="22"/>
                        </a:cubicBezTo>
                        <a:cubicBezTo>
                          <a:pt x="0" y="17"/>
                          <a:pt x="13" y="3"/>
                          <a:pt x="8" y="14"/>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45" name="Freeform 29"/>
                  <p:cNvSpPr>
                    <a:spLocks/>
                  </p:cNvSpPr>
                  <p:nvPr/>
                </p:nvSpPr>
                <p:spPr bwMode="ltGray">
                  <a:xfrm>
                    <a:off x="2059" y="494"/>
                    <a:ext cx="8" cy="5"/>
                  </a:xfrm>
                  <a:custGeom>
                    <a:avLst/>
                    <a:gdLst>
                      <a:gd name="T0" fmla="*/ 1 w 20"/>
                      <a:gd name="T1" fmla="*/ 1 h 15"/>
                      <a:gd name="T2" fmla="*/ 3 w 20"/>
                      <a:gd name="T3" fmla="*/ 0 h 15"/>
                      <a:gd name="T4" fmla="*/ 2 w 20"/>
                      <a:gd name="T5" fmla="*/ 1 h 15"/>
                      <a:gd name="T6" fmla="*/ 1 w 20"/>
                      <a:gd name="T7" fmla="*/ 1 h 1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0" h="15">
                        <a:moveTo>
                          <a:pt x="7" y="12"/>
                        </a:moveTo>
                        <a:cubicBezTo>
                          <a:pt x="0" y="1"/>
                          <a:pt x="6" y="0"/>
                          <a:pt x="17" y="2"/>
                        </a:cubicBezTo>
                        <a:cubicBezTo>
                          <a:pt x="20" y="10"/>
                          <a:pt x="18" y="15"/>
                          <a:pt x="9" y="12"/>
                        </a:cubicBezTo>
                        <a:cubicBezTo>
                          <a:pt x="4" y="4"/>
                          <a:pt x="4" y="4"/>
                          <a:pt x="7" y="12"/>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46" name="Freeform 30"/>
                  <p:cNvSpPr>
                    <a:spLocks/>
                  </p:cNvSpPr>
                  <p:nvPr/>
                </p:nvSpPr>
                <p:spPr bwMode="ltGray">
                  <a:xfrm>
                    <a:off x="1988" y="536"/>
                    <a:ext cx="8" cy="5"/>
                  </a:xfrm>
                  <a:custGeom>
                    <a:avLst/>
                    <a:gdLst>
                      <a:gd name="T0" fmla="*/ 1 w 20"/>
                      <a:gd name="T1" fmla="*/ 1 h 15"/>
                      <a:gd name="T2" fmla="*/ 2 w 20"/>
                      <a:gd name="T3" fmla="*/ 0 h 15"/>
                      <a:gd name="T4" fmla="*/ 2 w 20"/>
                      <a:gd name="T5" fmla="*/ 2 h 15"/>
                      <a:gd name="T6" fmla="*/ 1 w 20"/>
                      <a:gd name="T7" fmla="*/ 1 h 1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0" h="15">
                        <a:moveTo>
                          <a:pt x="7" y="12"/>
                        </a:moveTo>
                        <a:cubicBezTo>
                          <a:pt x="0" y="2"/>
                          <a:pt x="3" y="0"/>
                          <a:pt x="15" y="2"/>
                        </a:cubicBezTo>
                        <a:cubicBezTo>
                          <a:pt x="16" y="4"/>
                          <a:pt x="20" y="12"/>
                          <a:pt x="15" y="14"/>
                        </a:cubicBezTo>
                        <a:cubicBezTo>
                          <a:pt x="12" y="15"/>
                          <a:pt x="7" y="12"/>
                          <a:pt x="7" y="12"/>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47" name="Freeform 31"/>
                  <p:cNvSpPr>
                    <a:spLocks/>
                  </p:cNvSpPr>
                  <p:nvPr/>
                </p:nvSpPr>
                <p:spPr bwMode="ltGray">
                  <a:xfrm>
                    <a:off x="1910" y="523"/>
                    <a:ext cx="34" cy="27"/>
                  </a:xfrm>
                  <a:custGeom>
                    <a:avLst/>
                    <a:gdLst>
                      <a:gd name="T0" fmla="*/ 0 w 80"/>
                      <a:gd name="T1" fmla="*/ 6 h 80"/>
                      <a:gd name="T2" fmla="*/ 3 w 80"/>
                      <a:gd name="T3" fmla="*/ 3 h 80"/>
                      <a:gd name="T4" fmla="*/ 5 w 80"/>
                      <a:gd name="T5" fmla="*/ 2 h 80"/>
                      <a:gd name="T6" fmla="*/ 9 w 80"/>
                      <a:gd name="T7" fmla="*/ 2 h 80"/>
                      <a:gd name="T8" fmla="*/ 11 w 80"/>
                      <a:gd name="T9" fmla="*/ 0 h 80"/>
                      <a:gd name="T10" fmla="*/ 14 w 80"/>
                      <a:gd name="T11" fmla="*/ 5 h 80"/>
                      <a:gd name="T12" fmla="*/ 13 w 80"/>
                      <a:gd name="T13" fmla="*/ 6 h 80"/>
                      <a:gd name="T14" fmla="*/ 10 w 80"/>
                      <a:gd name="T15" fmla="*/ 7 h 80"/>
                      <a:gd name="T16" fmla="*/ 9 w 80"/>
                      <a:gd name="T17" fmla="*/ 9 h 80"/>
                      <a:gd name="T18" fmla="*/ 6 w 80"/>
                      <a:gd name="T19" fmla="*/ 8 h 80"/>
                      <a:gd name="T20" fmla="*/ 7 w 80"/>
                      <a:gd name="T21" fmla="*/ 6 h 80"/>
                      <a:gd name="T22" fmla="*/ 6 w 80"/>
                      <a:gd name="T23" fmla="*/ 3 h 80"/>
                      <a:gd name="T24" fmla="*/ 4 w 80"/>
                      <a:gd name="T25" fmla="*/ 5 h 80"/>
                      <a:gd name="T26" fmla="*/ 1 w 80"/>
                      <a:gd name="T27" fmla="*/ 6 h 80"/>
                      <a:gd name="T28" fmla="*/ 0 w 80"/>
                      <a:gd name="T29" fmla="*/ 6 h 8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80" h="80">
                        <a:moveTo>
                          <a:pt x="0" y="50"/>
                        </a:moveTo>
                        <a:cubicBezTo>
                          <a:pt x="1" y="47"/>
                          <a:pt x="12" y="25"/>
                          <a:pt x="14" y="24"/>
                        </a:cubicBezTo>
                        <a:cubicBezTo>
                          <a:pt x="17" y="22"/>
                          <a:pt x="26" y="20"/>
                          <a:pt x="26" y="20"/>
                        </a:cubicBezTo>
                        <a:cubicBezTo>
                          <a:pt x="34" y="23"/>
                          <a:pt x="40" y="21"/>
                          <a:pt x="48" y="18"/>
                        </a:cubicBezTo>
                        <a:cubicBezTo>
                          <a:pt x="52" y="12"/>
                          <a:pt x="54" y="6"/>
                          <a:pt x="58" y="0"/>
                        </a:cubicBezTo>
                        <a:cubicBezTo>
                          <a:pt x="70" y="4"/>
                          <a:pt x="76" y="28"/>
                          <a:pt x="80" y="40"/>
                        </a:cubicBezTo>
                        <a:cubicBezTo>
                          <a:pt x="75" y="54"/>
                          <a:pt x="80" y="50"/>
                          <a:pt x="70" y="56"/>
                        </a:cubicBezTo>
                        <a:cubicBezTo>
                          <a:pt x="61" y="53"/>
                          <a:pt x="59" y="54"/>
                          <a:pt x="54" y="62"/>
                        </a:cubicBezTo>
                        <a:cubicBezTo>
                          <a:pt x="57" y="71"/>
                          <a:pt x="56" y="75"/>
                          <a:pt x="48" y="80"/>
                        </a:cubicBezTo>
                        <a:cubicBezTo>
                          <a:pt x="40" y="77"/>
                          <a:pt x="39" y="72"/>
                          <a:pt x="32" y="68"/>
                        </a:cubicBezTo>
                        <a:cubicBezTo>
                          <a:pt x="26" y="59"/>
                          <a:pt x="30" y="57"/>
                          <a:pt x="38" y="52"/>
                        </a:cubicBezTo>
                        <a:cubicBezTo>
                          <a:pt x="41" y="42"/>
                          <a:pt x="39" y="34"/>
                          <a:pt x="30" y="28"/>
                        </a:cubicBezTo>
                        <a:cubicBezTo>
                          <a:pt x="20" y="31"/>
                          <a:pt x="30" y="40"/>
                          <a:pt x="20" y="48"/>
                        </a:cubicBezTo>
                        <a:cubicBezTo>
                          <a:pt x="16" y="51"/>
                          <a:pt x="8" y="56"/>
                          <a:pt x="8" y="56"/>
                        </a:cubicBezTo>
                        <a:cubicBezTo>
                          <a:pt x="2" y="50"/>
                          <a:pt x="5" y="50"/>
                          <a:pt x="0" y="50"/>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48" name="Freeform 32"/>
                  <p:cNvSpPr>
                    <a:spLocks/>
                  </p:cNvSpPr>
                  <p:nvPr/>
                </p:nvSpPr>
                <p:spPr bwMode="ltGray">
                  <a:xfrm>
                    <a:off x="1899" y="466"/>
                    <a:ext cx="40" cy="58"/>
                  </a:xfrm>
                  <a:custGeom>
                    <a:avLst/>
                    <a:gdLst>
                      <a:gd name="T0" fmla="*/ 3 w 94"/>
                      <a:gd name="T1" fmla="*/ 11 h 174"/>
                      <a:gd name="T2" fmla="*/ 5 w 94"/>
                      <a:gd name="T3" fmla="*/ 14 h 174"/>
                      <a:gd name="T4" fmla="*/ 6 w 94"/>
                      <a:gd name="T5" fmla="*/ 12 h 174"/>
                      <a:gd name="T6" fmla="*/ 9 w 94"/>
                      <a:gd name="T7" fmla="*/ 11 h 174"/>
                      <a:gd name="T8" fmla="*/ 9 w 94"/>
                      <a:gd name="T9" fmla="*/ 14 h 174"/>
                      <a:gd name="T10" fmla="*/ 12 w 94"/>
                      <a:gd name="T11" fmla="*/ 14 h 174"/>
                      <a:gd name="T12" fmla="*/ 14 w 94"/>
                      <a:gd name="T13" fmla="*/ 16 h 174"/>
                      <a:gd name="T14" fmla="*/ 11 w 94"/>
                      <a:gd name="T15" fmla="*/ 16 h 174"/>
                      <a:gd name="T16" fmla="*/ 13 w 94"/>
                      <a:gd name="T17" fmla="*/ 19 h 174"/>
                      <a:gd name="T18" fmla="*/ 15 w 94"/>
                      <a:gd name="T19" fmla="*/ 17 h 174"/>
                      <a:gd name="T20" fmla="*/ 15 w 94"/>
                      <a:gd name="T21" fmla="*/ 12 h 174"/>
                      <a:gd name="T22" fmla="*/ 11 w 94"/>
                      <a:gd name="T23" fmla="*/ 12 h 174"/>
                      <a:gd name="T24" fmla="*/ 9 w 94"/>
                      <a:gd name="T25" fmla="*/ 9 h 174"/>
                      <a:gd name="T26" fmla="*/ 6 w 94"/>
                      <a:gd name="T27" fmla="*/ 9 h 174"/>
                      <a:gd name="T28" fmla="*/ 6 w 94"/>
                      <a:gd name="T29" fmla="*/ 8 h 174"/>
                      <a:gd name="T30" fmla="*/ 8 w 94"/>
                      <a:gd name="T31" fmla="*/ 5 h 174"/>
                      <a:gd name="T32" fmla="*/ 6 w 94"/>
                      <a:gd name="T33" fmla="*/ 0 h 174"/>
                      <a:gd name="T34" fmla="*/ 3 w 94"/>
                      <a:gd name="T35" fmla="*/ 2 h 174"/>
                      <a:gd name="T36" fmla="*/ 1 w 94"/>
                      <a:gd name="T37" fmla="*/ 5 h 174"/>
                      <a:gd name="T38" fmla="*/ 3 w 94"/>
                      <a:gd name="T39" fmla="*/ 8 h 174"/>
                      <a:gd name="T40" fmla="*/ 3 w 94"/>
                      <a:gd name="T41" fmla="*/ 11 h 174"/>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94" h="174">
                        <a:moveTo>
                          <a:pt x="14" y="96"/>
                        </a:moveTo>
                        <a:cubicBezTo>
                          <a:pt x="11" y="109"/>
                          <a:pt x="15" y="120"/>
                          <a:pt x="26" y="128"/>
                        </a:cubicBezTo>
                        <a:cubicBezTo>
                          <a:pt x="34" y="120"/>
                          <a:pt x="35" y="119"/>
                          <a:pt x="32" y="108"/>
                        </a:cubicBezTo>
                        <a:cubicBezTo>
                          <a:pt x="35" y="92"/>
                          <a:pt x="39" y="92"/>
                          <a:pt x="52" y="100"/>
                        </a:cubicBezTo>
                        <a:cubicBezTo>
                          <a:pt x="59" y="110"/>
                          <a:pt x="49" y="114"/>
                          <a:pt x="46" y="124"/>
                        </a:cubicBezTo>
                        <a:cubicBezTo>
                          <a:pt x="50" y="137"/>
                          <a:pt x="57" y="129"/>
                          <a:pt x="66" y="126"/>
                        </a:cubicBezTo>
                        <a:cubicBezTo>
                          <a:pt x="77" y="129"/>
                          <a:pt x="79" y="131"/>
                          <a:pt x="76" y="142"/>
                        </a:cubicBezTo>
                        <a:cubicBezTo>
                          <a:pt x="67" y="139"/>
                          <a:pt x="65" y="141"/>
                          <a:pt x="58" y="148"/>
                        </a:cubicBezTo>
                        <a:cubicBezTo>
                          <a:pt x="60" y="160"/>
                          <a:pt x="62" y="170"/>
                          <a:pt x="74" y="174"/>
                        </a:cubicBezTo>
                        <a:cubicBezTo>
                          <a:pt x="77" y="165"/>
                          <a:pt x="74" y="157"/>
                          <a:pt x="84" y="154"/>
                        </a:cubicBezTo>
                        <a:cubicBezTo>
                          <a:pt x="91" y="143"/>
                          <a:pt x="94" y="122"/>
                          <a:pt x="82" y="112"/>
                        </a:cubicBezTo>
                        <a:cubicBezTo>
                          <a:pt x="77" y="108"/>
                          <a:pt x="66" y="108"/>
                          <a:pt x="60" y="106"/>
                        </a:cubicBezTo>
                        <a:cubicBezTo>
                          <a:pt x="65" y="92"/>
                          <a:pt x="66" y="87"/>
                          <a:pt x="50" y="82"/>
                        </a:cubicBezTo>
                        <a:cubicBezTo>
                          <a:pt x="48" y="82"/>
                          <a:pt x="37" y="86"/>
                          <a:pt x="34" y="82"/>
                        </a:cubicBezTo>
                        <a:cubicBezTo>
                          <a:pt x="32" y="79"/>
                          <a:pt x="30" y="70"/>
                          <a:pt x="30" y="70"/>
                        </a:cubicBezTo>
                        <a:cubicBezTo>
                          <a:pt x="32" y="54"/>
                          <a:pt x="32" y="52"/>
                          <a:pt x="42" y="42"/>
                        </a:cubicBezTo>
                        <a:cubicBezTo>
                          <a:pt x="41" y="30"/>
                          <a:pt x="45" y="5"/>
                          <a:pt x="30" y="0"/>
                        </a:cubicBezTo>
                        <a:cubicBezTo>
                          <a:pt x="14" y="4"/>
                          <a:pt x="16" y="4"/>
                          <a:pt x="18" y="22"/>
                        </a:cubicBezTo>
                        <a:cubicBezTo>
                          <a:pt x="16" y="39"/>
                          <a:pt x="15" y="35"/>
                          <a:pt x="4" y="46"/>
                        </a:cubicBezTo>
                        <a:cubicBezTo>
                          <a:pt x="0" y="59"/>
                          <a:pt x="5" y="67"/>
                          <a:pt x="14" y="76"/>
                        </a:cubicBezTo>
                        <a:cubicBezTo>
                          <a:pt x="15" y="80"/>
                          <a:pt x="17" y="93"/>
                          <a:pt x="14" y="96"/>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49" name="Freeform 33"/>
                  <p:cNvSpPr>
                    <a:spLocks/>
                  </p:cNvSpPr>
                  <p:nvPr/>
                </p:nvSpPr>
                <p:spPr bwMode="ltGray">
                  <a:xfrm>
                    <a:off x="1909" y="508"/>
                    <a:ext cx="14" cy="17"/>
                  </a:xfrm>
                  <a:custGeom>
                    <a:avLst/>
                    <a:gdLst>
                      <a:gd name="T0" fmla="*/ 1 w 32"/>
                      <a:gd name="T1" fmla="*/ 3 h 50"/>
                      <a:gd name="T2" fmla="*/ 2 w 32"/>
                      <a:gd name="T3" fmla="*/ 0 h 50"/>
                      <a:gd name="T4" fmla="*/ 4 w 32"/>
                      <a:gd name="T5" fmla="*/ 2 h 50"/>
                      <a:gd name="T6" fmla="*/ 4 w 32"/>
                      <a:gd name="T7" fmla="*/ 3 h 50"/>
                      <a:gd name="T8" fmla="*/ 5 w 32"/>
                      <a:gd name="T9" fmla="*/ 3 h 50"/>
                      <a:gd name="T10" fmla="*/ 6 w 32"/>
                      <a:gd name="T11" fmla="*/ 4 h 50"/>
                      <a:gd name="T12" fmla="*/ 4 w 32"/>
                      <a:gd name="T13" fmla="*/ 6 h 50"/>
                      <a:gd name="T14" fmla="*/ 1 w 32"/>
                      <a:gd name="T15" fmla="*/ 3 h 5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2" h="50">
                        <a:moveTo>
                          <a:pt x="6" y="24"/>
                        </a:moveTo>
                        <a:cubicBezTo>
                          <a:pt x="0" y="15"/>
                          <a:pt x="3" y="6"/>
                          <a:pt x="12" y="0"/>
                        </a:cubicBezTo>
                        <a:cubicBezTo>
                          <a:pt x="23" y="3"/>
                          <a:pt x="23" y="5"/>
                          <a:pt x="20" y="16"/>
                        </a:cubicBezTo>
                        <a:cubicBezTo>
                          <a:pt x="21" y="19"/>
                          <a:pt x="20" y="22"/>
                          <a:pt x="22" y="24"/>
                        </a:cubicBezTo>
                        <a:cubicBezTo>
                          <a:pt x="23" y="26"/>
                          <a:pt x="27" y="24"/>
                          <a:pt x="28" y="26"/>
                        </a:cubicBezTo>
                        <a:cubicBezTo>
                          <a:pt x="30" y="29"/>
                          <a:pt x="32" y="38"/>
                          <a:pt x="32" y="38"/>
                        </a:cubicBezTo>
                        <a:cubicBezTo>
                          <a:pt x="29" y="46"/>
                          <a:pt x="26" y="47"/>
                          <a:pt x="18" y="50"/>
                        </a:cubicBezTo>
                        <a:cubicBezTo>
                          <a:pt x="12" y="41"/>
                          <a:pt x="18" y="24"/>
                          <a:pt x="6" y="24"/>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50" name="Freeform 34"/>
                  <p:cNvSpPr>
                    <a:spLocks/>
                  </p:cNvSpPr>
                  <p:nvPr/>
                </p:nvSpPr>
                <p:spPr bwMode="ltGray">
                  <a:xfrm>
                    <a:off x="1881" y="512"/>
                    <a:ext cx="19" cy="17"/>
                  </a:xfrm>
                  <a:custGeom>
                    <a:avLst/>
                    <a:gdLst>
                      <a:gd name="T0" fmla="*/ 0 w 43"/>
                      <a:gd name="T1" fmla="*/ 5 h 50"/>
                      <a:gd name="T2" fmla="*/ 4 w 43"/>
                      <a:gd name="T3" fmla="*/ 2 h 50"/>
                      <a:gd name="T4" fmla="*/ 7 w 43"/>
                      <a:gd name="T5" fmla="*/ 0 h 50"/>
                      <a:gd name="T6" fmla="*/ 5 w 43"/>
                      <a:gd name="T7" fmla="*/ 3 h 50"/>
                      <a:gd name="T8" fmla="*/ 0 w 43"/>
                      <a:gd name="T9" fmla="*/ 6 h 50"/>
                      <a:gd name="T10" fmla="*/ 0 w 43"/>
                      <a:gd name="T11" fmla="*/ 5 h 5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3" h="50">
                        <a:moveTo>
                          <a:pt x="0" y="44"/>
                        </a:moveTo>
                        <a:cubicBezTo>
                          <a:pt x="6" y="38"/>
                          <a:pt x="18" y="29"/>
                          <a:pt x="22" y="20"/>
                        </a:cubicBezTo>
                        <a:cubicBezTo>
                          <a:pt x="27" y="10"/>
                          <a:pt x="25" y="4"/>
                          <a:pt x="36" y="0"/>
                        </a:cubicBezTo>
                        <a:cubicBezTo>
                          <a:pt x="43" y="11"/>
                          <a:pt x="36" y="24"/>
                          <a:pt x="24" y="28"/>
                        </a:cubicBezTo>
                        <a:cubicBezTo>
                          <a:pt x="21" y="38"/>
                          <a:pt x="12" y="47"/>
                          <a:pt x="2" y="50"/>
                        </a:cubicBezTo>
                        <a:cubicBezTo>
                          <a:pt x="1" y="48"/>
                          <a:pt x="0" y="44"/>
                          <a:pt x="0" y="44"/>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51" name="Freeform 35"/>
                  <p:cNvSpPr>
                    <a:spLocks/>
                  </p:cNvSpPr>
                  <p:nvPr/>
                </p:nvSpPr>
                <p:spPr bwMode="ltGray">
                  <a:xfrm>
                    <a:off x="2930" y="489"/>
                    <a:ext cx="299" cy="179"/>
                  </a:xfrm>
                  <a:custGeom>
                    <a:avLst/>
                    <a:gdLst>
                      <a:gd name="T0" fmla="*/ 8 w 471"/>
                      <a:gd name="T1" fmla="*/ 113 h 281"/>
                      <a:gd name="T2" fmla="*/ 10 w 471"/>
                      <a:gd name="T3" fmla="*/ 101 h 281"/>
                      <a:gd name="T4" fmla="*/ 9 w 471"/>
                      <a:gd name="T5" fmla="*/ 99 h 281"/>
                      <a:gd name="T6" fmla="*/ 6 w 471"/>
                      <a:gd name="T7" fmla="*/ 89 h 281"/>
                      <a:gd name="T8" fmla="*/ 2 w 471"/>
                      <a:gd name="T9" fmla="*/ 87 h 281"/>
                      <a:gd name="T10" fmla="*/ 0 w 471"/>
                      <a:gd name="T11" fmla="*/ 78 h 281"/>
                      <a:gd name="T12" fmla="*/ 5 w 471"/>
                      <a:gd name="T13" fmla="*/ 73 h 281"/>
                      <a:gd name="T14" fmla="*/ 3 w 471"/>
                      <a:gd name="T15" fmla="*/ 67 h 281"/>
                      <a:gd name="T16" fmla="*/ 1 w 471"/>
                      <a:gd name="T17" fmla="*/ 65 h 281"/>
                      <a:gd name="T18" fmla="*/ 11 w 471"/>
                      <a:gd name="T19" fmla="*/ 48 h 281"/>
                      <a:gd name="T20" fmla="*/ 18 w 471"/>
                      <a:gd name="T21" fmla="*/ 39 h 281"/>
                      <a:gd name="T22" fmla="*/ 17 w 471"/>
                      <a:gd name="T23" fmla="*/ 29 h 281"/>
                      <a:gd name="T24" fmla="*/ 10 w 471"/>
                      <a:gd name="T25" fmla="*/ 17 h 281"/>
                      <a:gd name="T26" fmla="*/ 8 w 471"/>
                      <a:gd name="T27" fmla="*/ 13 h 281"/>
                      <a:gd name="T28" fmla="*/ 11 w 471"/>
                      <a:gd name="T29" fmla="*/ 15 h 281"/>
                      <a:gd name="T30" fmla="*/ 19 w 471"/>
                      <a:gd name="T31" fmla="*/ 14 h 281"/>
                      <a:gd name="T32" fmla="*/ 26 w 471"/>
                      <a:gd name="T33" fmla="*/ 4 h 281"/>
                      <a:gd name="T34" fmla="*/ 33 w 471"/>
                      <a:gd name="T35" fmla="*/ 0 h 281"/>
                      <a:gd name="T36" fmla="*/ 36 w 471"/>
                      <a:gd name="T37" fmla="*/ 1 h 281"/>
                      <a:gd name="T38" fmla="*/ 37 w 471"/>
                      <a:gd name="T39" fmla="*/ 4 h 281"/>
                      <a:gd name="T40" fmla="*/ 39 w 471"/>
                      <a:gd name="T41" fmla="*/ 2 h 281"/>
                      <a:gd name="T42" fmla="*/ 44 w 471"/>
                      <a:gd name="T43" fmla="*/ 3 h 281"/>
                      <a:gd name="T44" fmla="*/ 47 w 471"/>
                      <a:gd name="T45" fmla="*/ 4 h 281"/>
                      <a:gd name="T46" fmla="*/ 57 w 471"/>
                      <a:gd name="T47" fmla="*/ 6 h 281"/>
                      <a:gd name="T48" fmla="*/ 62 w 471"/>
                      <a:gd name="T49" fmla="*/ 10 h 281"/>
                      <a:gd name="T50" fmla="*/ 67 w 471"/>
                      <a:gd name="T51" fmla="*/ 7 h 281"/>
                      <a:gd name="T52" fmla="*/ 70 w 471"/>
                      <a:gd name="T53" fmla="*/ 6 h 281"/>
                      <a:gd name="T54" fmla="*/ 79 w 471"/>
                      <a:gd name="T55" fmla="*/ 6 h 281"/>
                      <a:gd name="T56" fmla="*/ 85 w 471"/>
                      <a:gd name="T57" fmla="*/ 13 h 281"/>
                      <a:gd name="T58" fmla="*/ 93 w 471"/>
                      <a:gd name="T59" fmla="*/ 24 h 281"/>
                      <a:gd name="T60" fmla="*/ 99 w 471"/>
                      <a:gd name="T61" fmla="*/ 29 h 281"/>
                      <a:gd name="T62" fmla="*/ 103 w 471"/>
                      <a:gd name="T63" fmla="*/ 27 h 281"/>
                      <a:gd name="T64" fmla="*/ 109 w 471"/>
                      <a:gd name="T65" fmla="*/ 26 h 281"/>
                      <a:gd name="T66" fmla="*/ 117 w 471"/>
                      <a:gd name="T67" fmla="*/ 29 h 281"/>
                      <a:gd name="T68" fmla="*/ 121 w 471"/>
                      <a:gd name="T69" fmla="*/ 33 h 281"/>
                      <a:gd name="T70" fmla="*/ 124 w 471"/>
                      <a:gd name="T71" fmla="*/ 36 h 281"/>
                      <a:gd name="T72" fmla="*/ 128 w 471"/>
                      <a:gd name="T73" fmla="*/ 45 h 281"/>
                      <a:gd name="T74" fmla="*/ 130 w 471"/>
                      <a:gd name="T75" fmla="*/ 48 h 281"/>
                      <a:gd name="T76" fmla="*/ 131 w 471"/>
                      <a:gd name="T77" fmla="*/ 51 h 281"/>
                      <a:gd name="T78" fmla="*/ 125 w 471"/>
                      <a:gd name="T79" fmla="*/ 57 h 281"/>
                      <a:gd name="T80" fmla="*/ 130 w 471"/>
                      <a:gd name="T81" fmla="*/ 57 h 281"/>
                      <a:gd name="T82" fmla="*/ 138 w 471"/>
                      <a:gd name="T83" fmla="*/ 63 h 281"/>
                      <a:gd name="T84" fmla="*/ 147 w 471"/>
                      <a:gd name="T85" fmla="*/ 64 h 281"/>
                      <a:gd name="T86" fmla="*/ 153 w 471"/>
                      <a:gd name="T87" fmla="*/ 68 h 281"/>
                      <a:gd name="T88" fmla="*/ 154 w 471"/>
                      <a:gd name="T89" fmla="*/ 70 h 281"/>
                      <a:gd name="T90" fmla="*/ 154 w 471"/>
                      <a:gd name="T91" fmla="*/ 71 h 281"/>
                      <a:gd name="T92" fmla="*/ 159 w 471"/>
                      <a:gd name="T93" fmla="*/ 70 h 281"/>
                      <a:gd name="T94" fmla="*/ 161 w 471"/>
                      <a:gd name="T95" fmla="*/ 69 h 281"/>
                      <a:gd name="T96" fmla="*/ 177 w 471"/>
                      <a:gd name="T97" fmla="*/ 75 h 281"/>
                      <a:gd name="T98" fmla="*/ 180 w 471"/>
                      <a:gd name="T99" fmla="*/ 81 h 281"/>
                      <a:gd name="T100" fmla="*/ 187 w 471"/>
                      <a:gd name="T101" fmla="*/ 82 h 281"/>
                      <a:gd name="T102" fmla="*/ 190 w 471"/>
                      <a:gd name="T103" fmla="*/ 87 h 281"/>
                      <a:gd name="T104" fmla="*/ 182 w 471"/>
                      <a:gd name="T105" fmla="*/ 104 h 281"/>
                      <a:gd name="T106" fmla="*/ 175 w 471"/>
                      <a:gd name="T107" fmla="*/ 114 h 281"/>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0" t="0" r="r" b="b"/>
                    <a:pathLst>
                      <a:path w="471" h="281">
                        <a:moveTo>
                          <a:pt x="21" y="280"/>
                        </a:moveTo>
                        <a:cubicBezTo>
                          <a:pt x="32" y="281"/>
                          <a:pt x="25" y="253"/>
                          <a:pt x="24" y="250"/>
                        </a:cubicBezTo>
                        <a:cubicBezTo>
                          <a:pt x="23" y="248"/>
                          <a:pt x="22" y="245"/>
                          <a:pt x="22" y="245"/>
                        </a:cubicBezTo>
                        <a:cubicBezTo>
                          <a:pt x="21" y="243"/>
                          <a:pt x="20" y="221"/>
                          <a:pt x="16" y="218"/>
                        </a:cubicBezTo>
                        <a:cubicBezTo>
                          <a:pt x="13" y="216"/>
                          <a:pt x="4" y="215"/>
                          <a:pt x="4" y="215"/>
                        </a:cubicBezTo>
                        <a:cubicBezTo>
                          <a:pt x="0" y="207"/>
                          <a:pt x="3" y="200"/>
                          <a:pt x="0" y="191"/>
                        </a:cubicBezTo>
                        <a:cubicBezTo>
                          <a:pt x="2" y="185"/>
                          <a:pt x="7" y="186"/>
                          <a:pt x="12" y="180"/>
                        </a:cubicBezTo>
                        <a:cubicBezTo>
                          <a:pt x="14" y="172"/>
                          <a:pt x="14" y="169"/>
                          <a:pt x="6" y="165"/>
                        </a:cubicBezTo>
                        <a:cubicBezTo>
                          <a:pt x="4" y="163"/>
                          <a:pt x="2" y="162"/>
                          <a:pt x="2" y="160"/>
                        </a:cubicBezTo>
                        <a:cubicBezTo>
                          <a:pt x="2" y="150"/>
                          <a:pt x="16" y="123"/>
                          <a:pt x="28" y="120"/>
                        </a:cubicBezTo>
                        <a:cubicBezTo>
                          <a:pt x="32" y="111"/>
                          <a:pt x="40" y="105"/>
                          <a:pt x="44" y="96"/>
                        </a:cubicBezTo>
                        <a:cubicBezTo>
                          <a:pt x="39" y="83"/>
                          <a:pt x="38" y="85"/>
                          <a:pt x="42" y="70"/>
                        </a:cubicBezTo>
                        <a:cubicBezTo>
                          <a:pt x="38" y="60"/>
                          <a:pt x="34" y="48"/>
                          <a:pt x="24" y="43"/>
                        </a:cubicBezTo>
                        <a:cubicBezTo>
                          <a:pt x="18" y="36"/>
                          <a:pt x="10" y="37"/>
                          <a:pt x="20" y="32"/>
                        </a:cubicBezTo>
                        <a:cubicBezTo>
                          <a:pt x="27" y="34"/>
                          <a:pt x="26" y="32"/>
                          <a:pt x="26" y="36"/>
                        </a:cubicBezTo>
                        <a:cubicBezTo>
                          <a:pt x="34" y="41"/>
                          <a:pt x="39" y="39"/>
                          <a:pt x="48" y="35"/>
                        </a:cubicBezTo>
                        <a:cubicBezTo>
                          <a:pt x="45" y="22"/>
                          <a:pt x="48" y="14"/>
                          <a:pt x="64" y="11"/>
                        </a:cubicBezTo>
                        <a:cubicBezTo>
                          <a:pt x="71" y="8"/>
                          <a:pt x="75" y="3"/>
                          <a:pt x="82" y="0"/>
                        </a:cubicBezTo>
                        <a:cubicBezTo>
                          <a:pt x="84" y="1"/>
                          <a:pt x="88" y="0"/>
                          <a:pt x="88" y="2"/>
                        </a:cubicBezTo>
                        <a:cubicBezTo>
                          <a:pt x="90" y="12"/>
                          <a:pt x="75" y="13"/>
                          <a:pt x="92" y="9"/>
                        </a:cubicBezTo>
                        <a:cubicBezTo>
                          <a:pt x="94" y="8"/>
                          <a:pt x="96" y="5"/>
                          <a:pt x="98" y="5"/>
                        </a:cubicBezTo>
                        <a:cubicBezTo>
                          <a:pt x="102" y="4"/>
                          <a:pt x="106" y="7"/>
                          <a:pt x="110" y="8"/>
                        </a:cubicBezTo>
                        <a:cubicBezTo>
                          <a:pt x="112" y="8"/>
                          <a:pt x="116" y="9"/>
                          <a:pt x="116" y="9"/>
                        </a:cubicBezTo>
                        <a:cubicBezTo>
                          <a:pt x="122" y="16"/>
                          <a:pt x="129" y="13"/>
                          <a:pt x="141" y="14"/>
                        </a:cubicBezTo>
                        <a:cubicBezTo>
                          <a:pt x="143" y="21"/>
                          <a:pt x="147" y="22"/>
                          <a:pt x="155" y="24"/>
                        </a:cubicBezTo>
                        <a:cubicBezTo>
                          <a:pt x="159" y="22"/>
                          <a:pt x="163" y="20"/>
                          <a:pt x="167" y="17"/>
                        </a:cubicBezTo>
                        <a:cubicBezTo>
                          <a:pt x="169" y="16"/>
                          <a:pt x="173" y="14"/>
                          <a:pt x="173" y="14"/>
                        </a:cubicBezTo>
                        <a:cubicBezTo>
                          <a:pt x="195" y="26"/>
                          <a:pt x="175" y="20"/>
                          <a:pt x="195" y="14"/>
                        </a:cubicBezTo>
                        <a:cubicBezTo>
                          <a:pt x="207" y="17"/>
                          <a:pt x="201" y="26"/>
                          <a:pt x="211" y="32"/>
                        </a:cubicBezTo>
                        <a:cubicBezTo>
                          <a:pt x="214" y="38"/>
                          <a:pt x="224" y="55"/>
                          <a:pt x="231" y="59"/>
                        </a:cubicBezTo>
                        <a:cubicBezTo>
                          <a:pt x="241" y="70"/>
                          <a:pt x="235" y="67"/>
                          <a:pt x="245" y="70"/>
                        </a:cubicBezTo>
                        <a:cubicBezTo>
                          <a:pt x="249" y="69"/>
                          <a:pt x="253" y="69"/>
                          <a:pt x="257" y="68"/>
                        </a:cubicBezTo>
                        <a:cubicBezTo>
                          <a:pt x="261" y="67"/>
                          <a:pt x="270" y="65"/>
                          <a:pt x="270" y="65"/>
                        </a:cubicBezTo>
                        <a:cubicBezTo>
                          <a:pt x="278" y="66"/>
                          <a:pt x="283" y="67"/>
                          <a:pt x="290" y="71"/>
                        </a:cubicBezTo>
                        <a:cubicBezTo>
                          <a:pt x="304" y="88"/>
                          <a:pt x="282" y="62"/>
                          <a:pt x="300" y="81"/>
                        </a:cubicBezTo>
                        <a:cubicBezTo>
                          <a:pt x="302" y="84"/>
                          <a:pt x="308" y="90"/>
                          <a:pt x="308" y="90"/>
                        </a:cubicBezTo>
                        <a:cubicBezTo>
                          <a:pt x="311" y="98"/>
                          <a:pt x="315" y="103"/>
                          <a:pt x="318" y="111"/>
                        </a:cubicBezTo>
                        <a:cubicBezTo>
                          <a:pt x="319" y="114"/>
                          <a:pt x="321" y="117"/>
                          <a:pt x="322" y="120"/>
                        </a:cubicBezTo>
                        <a:cubicBezTo>
                          <a:pt x="323" y="122"/>
                          <a:pt x="324" y="125"/>
                          <a:pt x="324" y="125"/>
                        </a:cubicBezTo>
                        <a:cubicBezTo>
                          <a:pt x="321" y="132"/>
                          <a:pt x="313" y="134"/>
                          <a:pt x="310" y="142"/>
                        </a:cubicBezTo>
                        <a:cubicBezTo>
                          <a:pt x="313" y="151"/>
                          <a:pt x="317" y="146"/>
                          <a:pt x="322" y="141"/>
                        </a:cubicBezTo>
                        <a:cubicBezTo>
                          <a:pt x="341" y="143"/>
                          <a:pt x="339" y="142"/>
                          <a:pt x="342" y="155"/>
                        </a:cubicBezTo>
                        <a:cubicBezTo>
                          <a:pt x="351" y="150"/>
                          <a:pt x="355" y="152"/>
                          <a:pt x="364" y="157"/>
                        </a:cubicBezTo>
                        <a:cubicBezTo>
                          <a:pt x="369" y="162"/>
                          <a:pt x="372" y="166"/>
                          <a:pt x="380" y="168"/>
                        </a:cubicBezTo>
                        <a:cubicBezTo>
                          <a:pt x="381" y="169"/>
                          <a:pt x="383" y="171"/>
                          <a:pt x="382" y="172"/>
                        </a:cubicBezTo>
                        <a:cubicBezTo>
                          <a:pt x="380" y="176"/>
                          <a:pt x="368" y="172"/>
                          <a:pt x="382" y="176"/>
                        </a:cubicBezTo>
                        <a:cubicBezTo>
                          <a:pt x="386" y="175"/>
                          <a:pt x="390" y="173"/>
                          <a:pt x="394" y="172"/>
                        </a:cubicBezTo>
                        <a:cubicBezTo>
                          <a:pt x="396" y="172"/>
                          <a:pt x="400" y="171"/>
                          <a:pt x="400" y="171"/>
                        </a:cubicBezTo>
                        <a:cubicBezTo>
                          <a:pt x="413" y="177"/>
                          <a:pt x="427" y="179"/>
                          <a:pt x="439" y="185"/>
                        </a:cubicBezTo>
                        <a:cubicBezTo>
                          <a:pt x="441" y="190"/>
                          <a:pt x="445" y="194"/>
                          <a:pt x="447" y="199"/>
                        </a:cubicBezTo>
                        <a:cubicBezTo>
                          <a:pt x="453" y="198"/>
                          <a:pt x="460" y="195"/>
                          <a:pt x="465" y="201"/>
                        </a:cubicBezTo>
                        <a:cubicBezTo>
                          <a:pt x="468" y="205"/>
                          <a:pt x="471" y="215"/>
                          <a:pt x="471" y="215"/>
                        </a:cubicBezTo>
                        <a:cubicBezTo>
                          <a:pt x="468" y="231"/>
                          <a:pt x="469" y="248"/>
                          <a:pt x="451" y="258"/>
                        </a:cubicBezTo>
                        <a:cubicBezTo>
                          <a:pt x="447" y="262"/>
                          <a:pt x="437" y="275"/>
                          <a:pt x="435" y="281"/>
                        </a:cubicBezTo>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52" name="Freeform 36"/>
                  <p:cNvSpPr>
                    <a:spLocks/>
                  </p:cNvSpPr>
                  <p:nvPr/>
                </p:nvSpPr>
                <p:spPr bwMode="ltGray">
                  <a:xfrm>
                    <a:off x="2534" y="242"/>
                    <a:ext cx="420" cy="283"/>
                  </a:xfrm>
                  <a:custGeom>
                    <a:avLst/>
                    <a:gdLst>
                      <a:gd name="T0" fmla="*/ 74 w 984"/>
                      <a:gd name="T1" fmla="*/ 1 h 844"/>
                      <a:gd name="T2" fmla="*/ 91 w 984"/>
                      <a:gd name="T3" fmla="*/ 4 h 844"/>
                      <a:gd name="T4" fmla="*/ 100 w 984"/>
                      <a:gd name="T5" fmla="*/ 4 h 844"/>
                      <a:gd name="T6" fmla="*/ 105 w 984"/>
                      <a:gd name="T7" fmla="*/ 15 h 844"/>
                      <a:gd name="T8" fmla="*/ 107 w 984"/>
                      <a:gd name="T9" fmla="*/ 10 h 844"/>
                      <a:gd name="T10" fmla="*/ 111 w 984"/>
                      <a:gd name="T11" fmla="*/ 8 h 844"/>
                      <a:gd name="T12" fmla="*/ 117 w 984"/>
                      <a:gd name="T13" fmla="*/ 14 h 844"/>
                      <a:gd name="T14" fmla="*/ 124 w 984"/>
                      <a:gd name="T15" fmla="*/ 11 h 844"/>
                      <a:gd name="T16" fmla="*/ 128 w 984"/>
                      <a:gd name="T17" fmla="*/ 10 h 844"/>
                      <a:gd name="T18" fmla="*/ 139 w 984"/>
                      <a:gd name="T19" fmla="*/ 0 h 844"/>
                      <a:gd name="T20" fmla="*/ 146 w 984"/>
                      <a:gd name="T21" fmla="*/ 8 h 844"/>
                      <a:gd name="T22" fmla="*/ 146 w 984"/>
                      <a:gd name="T23" fmla="*/ 15 h 844"/>
                      <a:gd name="T24" fmla="*/ 144 w 984"/>
                      <a:gd name="T25" fmla="*/ 18 h 844"/>
                      <a:gd name="T26" fmla="*/ 140 w 984"/>
                      <a:gd name="T27" fmla="*/ 18 h 844"/>
                      <a:gd name="T28" fmla="*/ 139 w 984"/>
                      <a:gd name="T29" fmla="*/ 21 h 844"/>
                      <a:gd name="T30" fmla="*/ 146 w 984"/>
                      <a:gd name="T31" fmla="*/ 25 h 844"/>
                      <a:gd name="T32" fmla="*/ 143 w 984"/>
                      <a:gd name="T33" fmla="*/ 36 h 844"/>
                      <a:gd name="T34" fmla="*/ 151 w 984"/>
                      <a:gd name="T35" fmla="*/ 47 h 844"/>
                      <a:gd name="T36" fmla="*/ 156 w 984"/>
                      <a:gd name="T37" fmla="*/ 51 h 844"/>
                      <a:gd name="T38" fmla="*/ 151 w 984"/>
                      <a:gd name="T39" fmla="*/ 51 h 844"/>
                      <a:gd name="T40" fmla="*/ 136 w 984"/>
                      <a:gd name="T41" fmla="*/ 43 h 844"/>
                      <a:gd name="T42" fmla="*/ 123 w 984"/>
                      <a:gd name="T43" fmla="*/ 45 h 844"/>
                      <a:gd name="T44" fmla="*/ 108 w 984"/>
                      <a:gd name="T45" fmla="*/ 50 h 844"/>
                      <a:gd name="T46" fmla="*/ 117 w 984"/>
                      <a:gd name="T47" fmla="*/ 65 h 844"/>
                      <a:gd name="T48" fmla="*/ 129 w 984"/>
                      <a:gd name="T49" fmla="*/ 69 h 844"/>
                      <a:gd name="T50" fmla="*/ 134 w 984"/>
                      <a:gd name="T51" fmla="*/ 62 h 844"/>
                      <a:gd name="T52" fmla="*/ 141 w 984"/>
                      <a:gd name="T53" fmla="*/ 64 h 844"/>
                      <a:gd name="T54" fmla="*/ 140 w 984"/>
                      <a:gd name="T55" fmla="*/ 71 h 844"/>
                      <a:gd name="T56" fmla="*/ 146 w 984"/>
                      <a:gd name="T57" fmla="*/ 75 h 844"/>
                      <a:gd name="T58" fmla="*/ 153 w 984"/>
                      <a:gd name="T59" fmla="*/ 74 h 844"/>
                      <a:gd name="T60" fmla="*/ 168 w 984"/>
                      <a:gd name="T61" fmla="*/ 91 h 844"/>
                      <a:gd name="T62" fmla="*/ 172 w 984"/>
                      <a:gd name="T63" fmla="*/ 93 h 844"/>
                      <a:gd name="T64" fmla="*/ 159 w 984"/>
                      <a:gd name="T65" fmla="*/ 91 h 844"/>
                      <a:gd name="T66" fmla="*/ 151 w 984"/>
                      <a:gd name="T67" fmla="*/ 85 h 844"/>
                      <a:gd name="T68" fmla="*/ 142 w 984"/>
                      <a:gd name="T69" fmla="*/ 80 h 844"/>
                      <a:gd name="T70" fmla="*/ 128 w 984"/>
                      <a:gd name="T71" fmla="*/ 74 h 844"/>
                      <a:gd name="T72" fmla="*/ 112 w 984"/>
                      <a:gd name="T73" fmla="*/ 73 h 844"/>
                      <a:gd name="T74" fmla="*/ 92 w 984"/>
                      <a:gd name="T75" fmla="*/ 67 h 844"/>
                      <a:gd name="T76" fmla="*/ 84 w 984"/>
                      <a:gd name="T77" fmla="*/ 57 h 844"/>
                      <a:gd name="T78" fmla="*/ 79 w 984"/>
                      <a:gd name="T79" fmla="*/ 52 h 844"/>
                      <a:gd name="T80" fmla="*/ 70 w 984"/>
                      <a:gd name="T81" fmla="*/ 48 h 844"/>
                      <a:gd name="T82" fmla="*/ 62 w 984"/>
                      <a:gd name="T83" fmla="*/ 42 h 844"/>
                      <a:gd name="T84" fmla="*/ 64 w 984"/>
                      <a:gd name="T85" fmla="*/ 47 h 844"/>
                      <a:gd name="T86" fmla="*/ 76 w 984"/>
                      <a:gd name="T87" fmla="*/ 56 h 844"/>
                      <a:gd name="T88" fmla="*/ 77 w 984"/>
                      <a:gd name="T89" fmla="*/ 59 h 844"/>
                      <a:gd name="T90" fmla="*/ 72 w 984"/>
                      <a:gd name="T91" fmla="*/ 56 h 844"/>
                      <a:gd name="T92" fmla="*/ 64 w 984"/>
                      <a:gd name="T93" fmla="*/ 52 h 844"/>
                      <a:gd name="T94" fmla="*/ 57 w 984"/>
                      <a:gd name="T95" fmla="*/ 45 h 844"/>
                      <a:gd name="T96" fmla="*/ 49 w 984"/>
                      <a:gd name="T97" fmla="*/ 39 h 844"/>
                      <a:gd name="T98" fmla="*/ 38 w 984"/>
                      <a:gd name="T99" fmla="*/ 35 h 844"/>
                      <a:gd name="T100" fmla="*/ 28 w 984"/>
                      <a:gd name="T101" fmla="*/ 27 h 844"/>
                      <a:gd name="T102" fmla="*/ 12 w 984"/>
                      <a:gd name="T103" fmla="*/ 7 h 844"/>
                      <a:gd name="T104" fmla="*/ 6 w 984"/>
                      <a:gd name="T105" fmla="*/ 4 h 844"/>
                      <a:gd name="T106" fmla="*/ 9 w 984"/>
                      <a:gd name="T107" fmla="*/ 2 h 844"/>
                      <a:gd name="T108" fmla="*/ 19 w 984"/>
                      <a:gd name="T109" fmla="*/ 8 h 844"/>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0" t="0" r="r" b="b"/>
                    <a:pathLst>
                      <a:path w="984" h="844">
                        <a:moveTo>
                          <a:pt x="82" y="38"/>
                        </a:moveTo>
                        <a:lnTo>
                          <a:pt x="406" y="6"/>
                        </a:lnTo>
                        <a:cubicBezTo>
                          <a:pt x="497" y="22"/>
                          <a:pt x="465" y="0"/>
                          <a:pt x="474" y="54"/>
                        </a:cubicBezTo>
                        <a:cubicBezTo>
                          <a:pt x="492" y="48"/>
                          <a:pt x="484" y="40"/>
                          <a:pt x="502" y="34"/>
                        </a:cubicBezTo>
                        <a:cubicBezTo>
                          <a:pt x="510" y="37"/>
                          <a:pt x="517" y="46"/>
                          <a:pt x="526" y="46"/>
                        </a:cubicBezTo>
                        <a:cubicBezTo>
                          <a:pt x="534" y="46"/>
                          <a:pt x="550" y="38"/>
                          <a:pt x="550" y="38"/>
                        </a:cubicBezTo>
                        <a:cubicBezTo>
                          <a:pt x="556" y="55"/>
                          <a:pt x="552" y="60"/>
                          <a:pt x="542" y="74"/>
                        </a:cubicBezTo>
                        <a:cubicBezTo>
                          <a:pt x="555" y="114"/>
                          <a:pt x="550" y="102"/>
                          <a:pt x="578" y="130"/>
                        </a:cubicBezTo>
                        <a:cubicBezTo>
                          <a:pt x="584" y="148"/>
                          <a:pt x="590" y="148"/>
                          <a:pt x="606" y="138"/>
                        </a:cubicBezTo>
                        <a:cubicBezTo>
                          <a:pt x="600" y="119"/>
                          <a:pt x="594" y="107"/>
                          <a:pt x="586" y="90"/>
                        </a:cubicBezTo>
                        <a:cubicBezTo>
                          <a:pt x="583" y="82"/>
                          <a:pt x="578" y="66"/>
                          <a:pt x="578" y="66"/>
                        </a:cubicBezTo>
                        <a:cubicBezTo>
                          <a:pt x="585" y="44"/>
                          <a:pt x="597" y="56"/>
                          <a:pt x="606" y="70"/>
                        </a:cubicBezTo>
                        <a:cubicBezTo>
                          <a:pt x="609" y="86"/>
                          <a:pt x="608" y="117"/>
                          <a:pt x="626" y="90"/>
                        </a:cubicBezTo>
                        <a:cubicBezTo>
                          <a:pt x="648" y="97"/>
                          <a:pt x="646" y="104"/>
                          <a:pt x="642" y="126"/>
                        </a:cubicBezTo>
                        <a:cubicBezTo>
                          <a:pt x="650" y="150"/>
                          <a:pt x="665" y="141"/>
                          <a:pt x="682" y="130"/>
                        </a:cubicBezTo>
                        <a:cubicBezTo>
                          <a:pt x="689" y="108"/>
                          <a:pt x="673" y="124"/>
                          <a:pt x="682" y="98"/>
                        </a:cubicBezTo>
                        <a:cubicBezTo>
                          <a:pt x="683" y="94"/>
                          <a:pt x="690" y="96"/>
                          <a:pt x="694" y="94"/>
                        </a:cubicBezTo>
                        <a:cubicBezTo>
                          <a:pt x="698" y="92"/>
                          <a:pt x="702" y="89"/>
                          <a:pt x="706" y="86"/>
                        </a:cubicBezTo>
                        <a:cubicBezTo>
                          <a:pt x="717" y="54"/>
                          <a:pt x="688" y="54"/>
                          <a:pt x="742" y="46"/>
                        </a:cubicBezTo>
                        <a:cubicBezTo>
                          <a:pt x="748" y="27"/>
                          <a:pt x="741" y="9"/>
                          <a:pt x="762" y="2"/>
                        </a:cubicBezTo>
                        <a:cubicBezTo>
                          <a:pt x="788" y="11"/>
                          <a:pt x="777" y="38"/>
                          <a:pt x="802" y="46"/>
                        </a:cubicBezTo>
                        <a:cubicBezTo>
                          <a:pt x="831" y="36"/>
                          <a:pt x="805" y="63"/>
                          <a:pt x="798" y="70"/>
                        </a:cubicBezTo>
                        <a:cubicBezTo>
                          <a:pt x="789" y="96"/>
                          <a:pt x="787" y="96"/>
                          <a:pt x="802" y="118"/>
                        </a:cubicBezTo>
                        <a:cubicBezTo>
                          <a:pt x="801" y="122"/>
                          <a:pt x="801" y="127"/>
                          <a:pt x="798" y="130"/>
                        </a:cubicBezTo>
                        <a:cubicBezTo>
                          <a:pt x="794" y="133"/>
                          <a:pt x="784" y="129"/>
                          <a:pt x="782" y="134"/>
                        </a:cubicBezTo>
                        <a:cubicBezTo>
                          <a:pt x="780" y="142"/>
                          <a:pt x="790" y="158"/>
                          <a:pt x="790" y="158"/>
                        </a:cubicBezTo>
                        <a:cubicBezTo>
                          <a:pt x="786" y="161"/>
                          <a:pt x="783" y="165"/>
                          <a:pt x="778" y="166"/>
                        </a:cubicBezTo>
                        <a:cubicBezTo>
                          <a:pt x="774" y="167"/>
                          <a:pt x="769" y="159"/>
                          <a:pt x="766" y="162"/>
                        </a:cubicBezTo>
                        <a:cubicBezTo>
                          <a:pt x="758" y="170"/>
                          <a:pt x="794" y="182"/>
                          <a:pt x="794" y="182"/>
                        </a:cubicBezTo>
                        <a:cubicBezTo>
                          <a:pt x="804" y="211"/>
                          <a:pt x="775" y="190"/>
                          <a:pt x="762" y="186"/>
                        </a:cubicBezTo>
                        <a:cubicBezTo>
                          <a:pt x="767" y="194"/>
                          <a:pt x="773" y="202"/>
                          <a:pt x="778" y="210"/>
                        </a:cubicBezTo>
                        <a:cubicBezTo>
                          <a:pt x="783" y="218"/>
                          <a:pt x="802" y="226"/>
                          <a:pt x="802" y="226"/>
                        </a:cubicBezTo>
                        <a:cubicBezTo>
                          <a:pt x="813" y="242"/>
                          <a:pt x="804" y="245"/>
                          <a:pt x="810" y="262"/>
                        </a:cubicBezTo>
                        <a:cubicBezTo>
                          <a:pt x="803" y="282"/>
                          <a:pt x="793" y="301"/>
                          <a:pt x="786" y="322"/>
                        </a:cubicBezTo>
                        <a:cubicBezTo>
                          <a:pt x="783" y="330"/>
                          <a:pt x="778" y="346"/>
                          <a:pt x="778" y="346"/>
                        </a:cubicBezTo>
                        <a:cubicBezTo>
                          <a:pt x="785" y="366"/>
                          <a:pt x="817" y="394"/>
                          <a:pt x="830" y="414"/>
                        </a:cubicBezTo>
                        <a:cubicBezTo>
                          <a:pt x="835" y="422"/>
                          <a:pt x="841" y="430"/>
                          <a:pt x="846" y="438"/>
                        </a:cubicBezTo>
                        <a:cubicBezTo>
                          <a:pt x="849" y="442"/>
                          <a:pt x="854" y="450"/>
                          <a:pt x="854" y="450"/>
                        </a:cubicBezTo>
                        <a:cubicBezTo>
                          <a:pt x="853" y="457"/>
                          <a:pt x="855" y="466"/>
                          <a:pt x="850" y="470"/>
                        </a:cubicBezTo>
                        <a:cubicBezTo>
                          <a:pt x="844" y="475"/>
                          <a:pt x="831" y="451"/>
                          <a:pt x="830" y="450"/>
                        </a:cubicBezTo>
                        <a:cubicBezTo>
                          <a:pt x="811" y="431"/>
                          <a:pt x="789" y="421"/>
                          <a:pt x="774" y="398"/>
                        </a:cubicBezTo>
                        <a:cubicBezTo>
                          <a:pt x="769" y="379"/>
                          <a:pt x="766" y="371"/>
                          <a:pt x="746" y="378"/>
                        </a:cubicBezTo>
                        <a:cubicBezTo>
                          <a:pt x="717" y="368"/>
                          <a:pt x="730" y="368"/>
                          <a:pt x="706" y="374"/>
                        </a:cubicBezTo>
                        <a:cubicBezTo>
                          <a:pt x="688" y="402"/>
                          <a:pt x="699" y="395"/>
                          <a:pt x="678" y="402"/>
                        </a:cubicBezTo>
                        <a:cubicBezTo>
                          <a:pt x="654" y="386"/>
                          <a:pt x="650" y="390"/>
                          <a:pt x="618" y="394"/>
                        </a:cubicBezTo>
                        <a:cubicBezTo>
                          <a:pt x="607" y="411"/>
                          <a:pt x="601" y="426"/>
                          <a:pt x="590" y="442"/>
                        </a:cubicBezTo>
                        <a:cubicBezTo>
                          <a:pt x="600" y="471"/>
                          <a:pt x="593" y="459"/>
                          <a:pt x="606" y="478"/>
                        </a:cubicBezTo>
                        <a:cubicBezTo>
                          <a:pt x="593" y="518"/>
                          <a:pt x="622" y="548"/>
                          <a:pt x="642" y="578"/>
                        </a:cubicBezTo>
                        <a:cubicBezTo>
                          <a:pt x="651" y="591"/>
                          <a:pt x="651" y="601"/>
                          <a:pt x="666" y="606"/>
                        </a:cubicBezTo>
                        <a:cubicBezTo>
                          <a:pt x="680" y="627"/>
                          <a:pt x="691" y="623"/>
                          <a:pt x="710" y="610"/>
                        </a:cubicBezTo>
                        <a:cubicBezTo>
                          <a:pt x="729" y="616"/>
                          <a:pt x="729" y="606"/>
                          <a:pt x="734" y="590"/>
                        </a:cubicBezTo>
                        <a:cubicBezTo>
                          <a:pt x="735" y="577"/>
                          <a:pt x="731" y="562"/>
                          <a:pt x="738" y="550"/>
                        </a:cubicBezTo>
                        <a:cubicBezTo>
                          <a:pt x="742" y="543"/>
                          <a:pt x="762" y="542"/>
                          <a:pt x="762" y="542"/>
                        </a:cubicBezTo>
                        <a:cubicBezTo>
                          <a:pt x="783" y="547"/>
                          <a:pt x="786" y="552"/>
                          <a:pt x="774" y="570"/>
                        </a:cubicBezTo>
                        <a:cubicBezTo>
                          <a:pt x="779" y="590"/>
                          <a:pt x="790" y="605"/>
                          <a:pt x="770" y="618"/>
                        </a:cubicBezTo>
                        <a:cubicBezTo>
                          <a:pt x="769" y="622"/>
                          <a:pt x="764" y="626"/>
                          <a:pt x="766" y="630"/>
                        </a:cubicBezTo>
                        <a:cubicBezTo>
                          <a:pt x="768" y="634"/>
                          <a:pt x="775" y="634"/>
                          <a:pt x="778" y="638"/>
                        </a:cubicBezTo>
                        <a:cubicBezTo>
                          <a:pt x="788" y="651"/>
                          <a:pt x="786" y="660"/>
                          <a:pt x="802" y="670"/>
                        </a:cubicBezTo>
                        <a:cubicBezTo>
                          <a:pt x="810" y="667"/>
                          <a:pt x="818" y="665"/>
                          <a:pt x="826" y="662"/>
                        </a:cubicBezTo>
                        <a:cubicBezTo>
                          <a:pt x="830" y="661"/>
                          <a:pt x="838" y="658"/>
                          <a:pt x="838" y="658"/>
                        </a:cubicBezTo>
                        <a:cubicBezTo>
                          <a:pt x="857" y="664"/>
                          <a:pt x="864" y="680"/>
                          <a:pt x="870" y="698"/>
                        </a:cubicBezTo>
                        <a:cubicBezTo>
                          <a:pt x="859" y="731"/>
                          <a:pt x="887" y="794"/>
                          <a:pt x="922" y="806"/>
                        </a:cubicBezTo>
                        <a:cubicBezTo>
                          <a:pt x="938" y="801"/>
                          <a:pt x="941" y="792"/>
                          <a:pt x="958" y="798"/>
                        </a:cubicBezTo>
                        <a:cubicBezTo>
                          <a:pt x="984" y="837"/>
                          <a:pt x="928" y="784"/>
                          <a:pt x="942" y="826"/>
                        </a:cubicBezTo>
                        <a:cubicBezTo>
                          <a:pt x="936" y="844"/>
                          <a:pt x="930" y="844"/>
                          <a:pt x="914" y="834"/>
                        </a:cubicBezTo>
                        <a:cubicBezTo>
                          <a:pt x="903" y="817"/>
                          <a:pt x="890" y="821"/>
                          <a:pt x="874" y="810"/>
                        </a:cubicBezTo>
                        <a:cubicBezTo>
                          <a:pt x="851" y="776"/>
                          <a:pt x="882" y="816"/>
                          <a:pt x="854" y="794"/>
                        </a:cubicBezTo>
                        <a:cubicBezTo>
                          <a:pt x="843" y="785"/>
                          <a:pt x="840" y="768"/>
                          <a:pt x="830" y="758"/>
                        </a:cubicBezTo>
                        <a:cubicBezTo>
                          <a:pt x="824" y="739"/>
                          <a:pt x="817" y="724"/>
                          <a:pt x="798" y="718"/>
                        </a:cubicBezTo>
                        <a:cubicBezTo>
                          <a:pt x="791" y="696"/>
                          <a:pt x="800" y="712"/>
                          <a:pt x="778" y="710"/>
                        </a:cubicBezTo>
                        <a:cubicBezTo>
                          <a:pt x="767" y="709"/>
                          <a:pt x="746" y="702"/>
                          <a:pt x="746" y="702"/>
                        </a:cubicBezTo>
                        <a:cubicBezTo>
                          <a:pt x="729" y="691"/>
                          <a:pt x="720" y="674"/>
                          <a:pt x="702" y="662"/>
                        </a:cubicBezTo>
                        <a:cubicBezTo>
                          <a:pt x="694" y="665"/>
                          <a:pt x="687" y="673"/>
                          <a:pt x="678" y="674"/>
                        </a:cubicBezTo>
                        <a:cubicBezTo>
                          <a:pt x="657" y="677"/>
                          <a:pt x="630" y="657"/>
                          <a:pt x="614" y="646"/>
                        </a:cubicBezTo>
                        <a:cubicBezTo>
                          <a:pt x="600" y="637"/>
                          <a:pt x="580" y="639"/>
                          <a:pt x="566" y="630"/>
                        </a:cubicBezTo>
                        <a:cubicBezTo>
                          <a:pt x="546" y="617"/>
                          <a:pt x="525" y="607"/>
                          <a:pt x="506" y="594"/>
                        </a:cubicBezTo>
                        <a:cubicBezTo>
                          <a:pt x="513" y="572"/>
                          <a:pt x="509" y="551"/>
                          <a:pt x="490" y="538"/>
                        </a:cubicBezTo>
                        <a:cubicBezTo>
                          <a:pt x="485" y="522"/>
                          <a:pt x="476" y="515"/>
                          <a:pt x="462" y="506"/>
                        </a:cubicBezTo>
                        <a:cubicBezTo>
                          <a:pt x="441" y="474"/>
                          <a:pt x="469" y="513"/>
                          <a:pt x="442" y="486"/>
                        </a:cubicBezTo>
                        <a:cubicBezTo>
                          <a:pt x="436" y="480"/>
                          <a:pt x="436" y="468"/>
                          <a:pt x="430" y="462"/>
                        </a:cubicBezTo>
                        <a:cubicBezTo>
                          <a:pt x="427" y="459"/>
                          <a:pt x="422" y="459"/>
                          <a:pt x="418" y="458"/>
                        </a:cubicBezTo>
                        <a:cubicBezTo>
                          <a:pt x="407" y="447"/>
                          <a:pt x="382" y="430"/>
                          <a:pt x="382" y="430"/>
                        </a:cubicBezTo>
                        <a:cubicBezTo>
                          <a:pt x="371" y="413"/>
                          <a:pt x="358" y="399"/>
                          <a:pt x="346" y="382"/>
                        </a:cubicBezTo>
                        <a:cubicBezTo>
                          <a:pt x="344" y="378"/>
                          <a:pt x="345" y="373"/>
                          <a:pt x="342" y="370"/>
                        </a:cubicBezTo>
                        <a:cubicBezTo>
                          <a:pt x="339" y="367"/>
                          <a:pt x="334" y="367"/>
                          <a:pt x="330" y="366"/>
                        </a:cubicBezTo>
                        <a:cubicBezTo>
                          <a:pt x="322" y="390"/>
                          <a:pt x="342" y="398"/>
                          <a:pt x="354" y="414"/>
                        </a:cubicBezTo>
                        <a:cubicBezTo>
                          <a:pt x="368" y="432"/>
                          <a:pt x="372" y="446"/>
                          <a:pt x="390" y="458"/>
                        </a:cubicBezTo>
                        <a:cubicBezTo>
                          <a:pt x="409" y="487"/>
                          <a:pt x="399" y="475"/>
                          <a:pt x="418" y="494"/>
                        </a:cubicBezTo>
                        <a:cubicBezTo>
                          <a:pt x="423" y="510"/>
                          <a:pt x="428" y="517"/>
                          <a:pt x="442" y="526"/>
                        </a:cubicBezTo>
                        <a:cubicBezTo>
                          <a:pt x="450" y="550"/>
                          <a:pt x="432" y="533"/>
                          <a:pt x="422" y="526"/>
                        </a:cubicBezTo>
                        <a:cubicBezTo>
                          <a:pt x="399" y="492"/>
                          <a:pt x="430" y="532"/>
                          <a:pt x="402" y="510"/>
                        </a:cubicBezTo>
                        <a:cubicBezTo>
                          <a:pt x="398" y="507"/>
                          <a:pt x="397" y="501"/>
                          <a:pt x="394" y="498"/>
                        </a:cubicBezTo>
                        <a:cubicBezTo>
                          <a:pt x="391" y="495"/>
                          <a:pt x="386" y="493"/>
                          <a:pt x="382" y="490"/>
                        </a:cubicBezTo>
                        <a:cubicBezTo>
                          <a:pt x="377" y="474"/>
                          <a:pt x="370" y="471"/>
                          <a:pt x="354" y="466"/>
                        </a:cubicBezTo>
                        <a:cubicBezTo>
                          <a:pt x="344" y="452"/>
                          <a:pt x="340" y="447"/>
                          <a:pt x="346" y="430"/>
                        </a:cubicBezTo>
                        <a:cubicBezTo>
                          <a:pt x="338" y="418"/>
                          <a:pt x="314" y="402"/>
                          <a:pt x="314" y="402"/>
                        </a:cubicBezTo>
                        <a:cubicBezTo>
                          <a:pt x="306" y="390"/>
                          <a:pt x="298" y="378"/>
                          <a:pt x="290" y="366"/>
                        </a:cubicBezTo>
                        <a:cubicBezTo>
                          <a:pt x="284" y="357"/>
                          <a:pt x="273" y="354"/>
                          <a:pt x="266" y="346"/>
                        </a:cubicBezTo>
                        <a:cubicBezTo>
                          <a:pt x="263" y="342"/>
                          <a:pt x="262" y="337"/>
                          <a:pt x="258" y="334"/>
                        </a:cubicBezTo>
                        <a:cubicBezTo>
                          <a:pt x="243" y="324"/>
                          <a:pt x="225" y="324"/>
                          <a:pt x="210" y="314"/>
                        </a:cubicBezTo>
                        <a:cubicBezTo>
                          <a:pt x="201" y="300"/>
                          <a:pt x="194" y="291"/>
                          <a:pt x="178" y="286"/>
                        </a:cubicBezTo>
                        <a:cubicBezTo>
                          <a:pt x="160" y="260"/>
                          <a:pt x="192" y="247"/>
                          <a:pt x="154" y="238"/>
                        </a:cubicBezTo>
                        <a:cubicBezTo>
                          <a:pt x="111" y="209"/>
                          <a:pt x="106" y="149"/>
                          <a:pt x="90" y="102"/>
                        </a:cubicBezTo>
                        <a:cubicBezTo>
                          <a:pt x="86" y="90"/>
                          <a:pt x="76" y="73"/>
                          <a:pt x="66" y="66"/>
                        </a:cubicBezTo>
                        <a:cubicBezTo>
                          <a:pt x="58" y="60"/>
                          <a:pt x="42" y="50"/>
                          <a:pt x="42" y="50"/>
                        </a:cubicBezTo>
                        <a:cubicBezTo>
                          <a:pt x="39" y="46"/>
                          <a:pt x="38" y="41"/>
                          <a:pt x="34" y="38"/>
                        </a:cubicBezTo>
                        <a:cubicBezTo>
                          <a:pt x="27" y="34"/>
                          <a:pt x="10" y="30"/>
                          <a:pt x="10" y="30"/>
                        </a:cubicBezTo>
                        <a:cubicBezTo>
                          <a:pt x="0" y="1"/>
                          <a:pt x="31" y="17"/>
                          <a:pt x="46" y="22"/>
                        </a:cubicBezTo>
                        <a:cubicBezTo>
                          <a:pt x="65" y="51"/>
                          <a:pt x="61" y="41"/>
                          <a:pt x="86" y="58"/>
                        </a:cubicBezTo>
                        <a:cubicBezTo>
                          <a:pt x="94" y="70"/>
                          <a:pt x="94" y="93"/>
                          <a:pt x="102" y="70"/>
                        </a:cubicBezTo>
                        <a:cubicBezTo>
                          <a:pt x="95" y="49"/>
                          <a:pt x="82" y="62"/>
                          <a:pt x="82" y="3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53" name="Freeform 37"/>
                  <p:cNvSpPr>
                    <a:spLocks/>
                  </p:cNvSpPr>
                  <p:nvPr/>
                </p:nvSpPr>
                <p:spPr bwMode="ltGray">
                  <a:xfrm>
                    <a:off x="2405" y="445"/>
                    <a:ext cx="15" cy="16"/>
                  </a:xfrm>
                  <a:custGeom>
                    <a:avLst/>
                    <a:gdLst>
                      <a:gd name="T0" fmla="*/ 1 w 36"/>
                      <a:gd name="T1" fmla="*/ 3 h 48"/>
                      <a:gd name="T2" fmla="*/ 2 w 36"/>
                      <a:gd name="T3" fmla="*/ 5 h 48"/>
                      <a:gd name="T4" fmla="*/ 1 w 36"/>
                      <a:gd name="T5" fmla="*/ 3 h 48"/>
                      <a:gd name="T6" fmla="*/ 0 60000 65536"/>
                      <a:gd name="T7" fmla="*/ 0 60000 65536"/>
                      <a:gd name="T8" fmla="*/ 0 60000 65536"/>
                    </a:gdLst>
                    <a:ahLst/>
                    <a:cxnLst>
                      <a:cxn ang="T6">
                        <a:pos x="T0" y="T1"/>
                      </a:cxn>
                      <a:cxn ang="T7">
                        <a:pos x="T2" y="T3"/>
                      </a:cxn>
                      <a:cxn ang="T8">
                        <a:pos x="T4" y="T5"/>
                      </a:cxn>
                    </a:cxnLst>
                    <a:rect l="0" t="0" r="r" b="b"/>
                    <a:pathLst>
                      <a:path w="36" h="48">
                        <a:moveTo>
                          <a:pt x="6" y="28"/>
                        </a:moveTo>
                        <a:cubicBezTo>
                          <a:pt x="25" y="0"/>
                          <a:pt x="36" y="31"/>
                          <a:pt x="10" y="48"/>
                        </a:cubicBezTo>
                        <a:cubicBezTo>
                          <a:pt x="0" y="34"/>
                          <a:pt x="0" y="40"/>
                          <a:pt x="6" y="2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54" name="Freeform 38"/>
                  <p:cNvSpPr>
                    <a:spLocks/>
                  </p:cNvSpPr>
                  <p:nvPr/>
                </p:nvSpPr>
                <p:spPr bwMode="ltGray">
                  <a:xfrm>
                    <a:off x="2393" y="439"/>
                    <a:ext cx="16" cy="12"/>
                  </a:xfrm>
                  <a:custGeom>
                    <a:avLst/>
                    <a:gdLst>
                      <a:gd name="T0" fmla="*/ 0 w 36"/>
                      <a:gd name="T1" fmla="*/ 1 h 37"/>
                      <a:gd name="T2" fmla="*/ 2 w 36"/>
                      <a:gd name="T3" fmla="*/ 0 h 37"/>
                      <a:gd name="T4" fmla="*/ 7 w 36"/>
                      <a:gd name="T5" fmla="*/ 2 h 37"/>
                      <a:gd name="T6" fmla="*/ 2 w 36"/>
                      <a:gd name="T7" fmla="*/ 2 h 37"/>
                      <a:gd name="T8" fmla="*/ 0 w 36"/>
                      <a:gd name="T9" fmla="*/ 1 h 3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6" h="37">
                        <a:moveTo>
                          <a:pt x="0" y="5"/>
                        </a:moveTo>
                        <a:cubicBezTo>
                          <a:pt x="4" y="4"/>
                          <a:pt x="8" y="0"/>
                          <a:pt x="12" y="1"/>
                        </a:cubicBezTo>
                        <a:cubicBezTo>
                          <a:pt x="21" y="4"/>
                          <a:pt x="36" y="17"/>
                          <a:pt x="36" y="17"/>
                        </a:cubicBezTo>
                        <a:cubicBezTo>
                          <a:pt x="29" y="37"/>
                          <a:pt x="22" y="26"/>
                          <a:pt x="8" y="17"/>
                        </a:cubicBezTo>
                        <a:cubicBezTo>
                          <a:pt x="5" y="13"/>
                          <a:pt x="0" y="5"/>
                          <a:pt x="0" y="5"/>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55" name="Freeform 39"/>
                  <p:cNvSpPr>
                    <a:spLocks/>
                  </p:cNvSpPr>
                  <p:nvPr/>
                </p:nvSpPr>
                <p:spPr bwMode="ltGray">
                  <a:xfrm>
                    <a:off x="2878" y="406"/>
                    <a:ext cx="73" cy="33"/>
                  </a:xfrm>
                  <a:custGeom>
                    <a:avLst/>
                    <a:gdLst>
                      <a:gd name="T0" fmla="*/ 0 w 170"/>
                      <a:gd name="T1" fmla="*/ 6 h 96"/>
                      <a:gd name="T2" fmla="*/ 5 w 170"/>
                      <a:gd name="T3" fmla="*/ 3 h 96"/>
                      <a:gd name="T4" fmla="*/ 10 w 170"/>
                      <a:gd name="T5" fmla="*/ 2 h 96"/>
                      <a:gd name="T6" fmla="*/ 15 w 170"/>
                      <a:gd name="T7" fmla="*/ 1 h 96"/>
                      <a:gd name="T8" fmla="*/ 12 w 170"/>
                      <a:gd name="T9" fmla="*/ 3 h 96"/>
                      <a:gd name="T10" fmla="*/ 23 w 170"/>
                      <a:gd name="T11" fmla="*/ 6 h 96"/>
                      <a:gd name="T12" fmla="*/ 30 w 170"/>
                      <a:gd name="T13" fmla="*/ 8 h 96"/>
                      <a:gd name="T14" fmla="*/ 21 w 170"/>
                      <a:gd name="T15" fmla="*/ 9 h 96"/>
                      <a:gd name="T16" fmla="*/ 16 w 170"/>
                      <a:gd name="T17" fmla="*/ 7 h 96"/>
                      <a:gd name="T18" fmla="*/ 14 w 170"/>
                      <a:gd name="T19" fmla="*/ 6 h 96"/>
                      <a:gd name="T20" fmla="*/ 4 w 170"/>
                      <a:gd name="T21" fmla="*/ 5 h 96"/>
                      <a:gd name="T22" fmla="*/ 0 w 170"/>
                      <a:gd name="T23" fmla="*/ 6 h 9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70" h="96">
                        <a:moveTo>
                          <a:pt x="0" y="49"/>
                        </a:moveTo>
                        <a:cubicBezTo>
                          <a:pt x="5" y="33"/>
                          <a:pt x="12" y="30"/>
                          <a:pt x="28" y="25"/>
                        </a:cubicBezTo>
                        <a:cubicBezTo>
                          <a:pt x="20" y="0"/>
                          <a:pt x="42" y="16"/>
                          <a:pt x="56" y="21"/>
                        </a:cubicBezTo>
                        <a:cubicBezTo>
                          <a:pt x="56" y="21"/>
                          <a:pt x="77" y="6"/>
                          <a:pt x="80" y="9"/>
                        </a:cubicBezTo>
                        <a:cubicBezTo>
                          <a:pt x="85" y="14"/>
                          <a:pt x="71" y="23"/>
                          <a:pt x="64" y="25"/>
                        </a:cubicBezTo>
                        <a:cubicBezTo>
                          <a:pt x="82" y="37"/>
                          <a:pt x="103" y="42"/>
                          <a:pt x="124" y="49"/>
                        </a:cubicBezTo>
                        <a:cubicBezTo>
                          <a:pt x="136" y="53"/>
                          <a:pt x="160" y="65"/>
                          <a:pt x="160" y="65"/>
                        </a:cubicBezTo>
                        <a:cubicBezTo>
                          <a:pt x="170" y="96"/>
                          <a:pt x="134" y="83"/>
                          <a:pt x="116" y="77"/>
                        </a:cubicBezTo>
                        <a:cubicBezTo>
                          <a:pt x="109" y="57"/>
                          <a:pt x="116" y="66"/>
                          <a:pt x="88" y="57"/>
                        </a:cubicBezTo>
                        <a:cubicBezTo>
                          <a:pt x="84" y="56"/>
                          <a:pt x="76" y="53"/>
                          <a:pt x="76" y="53"/>
                        </a:cubicBezTo>
                        <a:cubicBezTo>
                          <a:pt x="57" y="34"/>
                          <a:pt x="53" y="37"/>
                          <a:pt x="24" y="41"/>
                        </a:cubicBezTo>
                        <a:cubicBezTo>
                          <a:pt x="9" y="51"/>
                          <a:pt x="17" y="49"/>
                          <a:pt x="0" y="49"/>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56" name="Freeform 40"/>
                  <p:cNvSpPr>
                    <a:spLocks/>
                  </p:cNvSpPr>
                  <p:nvPr/>
                </p:nvSpPr>
                <p:spPr bwMode="ltGray">
                  <a:xfrm>
                    <a:off x="2955" y="433"/>
                    <a:ext cx="59" cy="15"/>
                  </a:xfrm>
                  <a:custGeom>
                    <a:avLst/>
                    <a:gdLst>
                      <a:gd name="T0" fmla="*/ 0 w 138"/>
                      <a:gd name="T1" fmla="*/ 0 h 44"/>
                      <a:gd name="T2" fmla="*/ 9 w 138"/>
                      <a:gd name="T3" fmla="*/ 0 h 44"/>
                      <a:gd name="T4" fmla="*/ 16 w 138"/>
                      <a:gd name="T5" fmla="*/ 3 h 44"/>
                      <a:gd name="T6" fmla="*/ 21 w 138"/>
                      <a:gd name="T7" fmla="*/ 2 h 44"/>
                      <a:gd name="T8" fmla="*/ 20 w 138"/>
                      <a:gd name="T9" fmla="*/ 5 h 44"/>
                      <a:gd name="T10" fmla="*/ 12 w 138"/>
                      <a:gd name="T11" fmla="*/ 5 h 44"/>
                      <a:gd name="T12" fmla="*/ 0 w 138"/>
                      <a:gd name="T13" fmla="*/ 4 h 44"/>
                      <a:gd name="T14" fmla="*/ 5 w 138"/>
                      <a:gd name="T15" fmla="*/ 2 h 44"/>
                      <a:gd name="T16" fmla="*/ 0 w 138"/>
                      <a:gd name="T17" fmla="*/ 0 h 4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38" h="44">
                        <a:moveTo>
                          <a:pt x="0" y="0"/>
                        </a:moveTo>
                        <a:cubicBezTo>
                          <a:pt x="19" y="3"/>
                          <a:pt x="35" y="10"/>
                          <a:pt x="52" y="4"/>
                        </a:cubicBezTo>
                        <a:cubicBezTo>
                          <a:pt x="87" y="11"/>
                          <a:pt x="61" y="15"/>
                          <a:pt x="88" y="24"/>
                        </a:cubicBezTo>
                        <a:cubicBezTo>
                          <a:pt x="96" y="23"/>
                          <a:pt x="104" y="19"/>
                          <a:pt x="112" y="20"/>
                        </a:cubicBezTo>
                        <a:cubicBezTo>
                          <a:pt x="138" y="23"/>
                          <a:pt x="118" y="41"/>
                          <a:pt x="108" y="44"/>
                        </a:cubicBezTo>
                        <a:cubicBezTo>
                          <a:pt x="78" y="34"/>
                          <a:pt x="92" y="34"/>
                          <a:pt x="64" y="40"/>
                        </a:cubicBezTo>
                        <a:cubicBezTo>
                          <a:pt x="41" y="37"/>
                          <a:pt x="22" y="41"/>
                          <a:pt x="0" y="36"/>
                        </a:cubicBezTo>
                        <a:cubicBezTo>
                          <a:pt x="6" y="11"/>
                          <a:pt x="7" y="27"/>
                          <a:pt x="28" y="20"/>
                        </a:cubicBezTo>
                        <a:cubicBezTo>
                          <a:pt x="17" y="13"/>
                          <a:pt x="0" y="13"/>
                          <a:pt x="0" y="0"/>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57" name="Freeform 41"/>
                  <p:cNvSpPr>
                    <a:spLocks/>
                  </p:cNvSpPr>
                  <p:nvPr/>
                </p:nvSpPr>
                <p:spPr bwMode="ltGray">
                  <a:xfrm>
                    <a:off x="2924" y="441"/>
                    <a:ext cx="24" cy="14"/>
                  </a:xfrm>
                  <a:custGeom>
                    <a:avLst/>
                    <a:gdLst>
                      <a:gd name="T0" fmla="*/ 3 w 57"/>
                      <a:gd name="T1" fmla="*/ 3 h 42"/>
                      <a:gd name="T2" fmla="*/ 7 w 57"/>
                      <a:gd name="T3" fmla="*/ 1 h 42"/>
                      <a:gd name="T4" fmla="*/ 3 w 57"/>
                      <a:gd name="T5" fmla="*/ 3 h 42"/>
                      <a:gd name="T6" fmla="*/ 0 60000 65536"/>
                      <a:gd name="T7" fmla="*/ 0 60000 65536"/>
                      <a:gd name="T8" fmla="*/ 0 60000 65536"/>
                    </a:gdLst>
                    <a:ahLst/>
                    <a:cxnLst>
                      <a:cxn ang="T6">
                        <a:pos x="T0" y="T1"/>
                      </a:cxn>
                      <a:cxn ang="T7">
                        <a:pos x="T2" y="T3"/>
                      </a:cxn>
                      <a:cxn ang="T8">
                        <a:pos x="T4" y="T5"/>
                      </a:cxn>
                    </a:cxnLst>
                    <a:rect l="0" t="0" r="r" b="b"/>
                    <a:pathLst>
                      <a:path w="57" h="42">
                        <a:moveTo>
                          <a:pt x="17" y="25"/>
                        </a:moveTo>
                        <a:cubicBezTo>
                          <a:pt x="0" y="0"/>
                          <a:pt x="21" y="9"/>
                          <a:pt x="37" y="13"/>
                        </a:cubicBezTo>
                        <a:cubicBezTo>
                          <a:pt x="57" y="42"/>
                          <a:pt x="30" y="25"/>
                          <a:pt x="17" y="25"/>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58" name="Freeform 42"/>
                  <p:cNvSpPr>
                    <a:spLocks/>
                  </p:cNvSpPr>
                  <p:nvPr/>
                </p:nvSpPr>
                <p:spPr bwMode="ltGray">
                  <a:xfrm>
                    <a:off x="2908" y="398"/>
                    <a:ext cx="16" cy="18"/>
                  </a:xfrm>
                  <a:custGeom>
                    <a:avLst/>
                    <a:gdLst>
                      <a:gd name="T0" fmla="*/ 3 w 39"/>
                      <a:gd name="T1" fmla="*/ 4 h 52"/>
                      <a:gd name="T2" fmla="*/ 3 w 39"/>
                      <a:gd name="T3" fmla="*/ 0 h 52"/>
                      <a:gd name="T4" fmla="*/ 3 w 39"/>
                      <a:gd name="T5" fmla="*/ 4 h 52"/>
                      <a:gd name="T6" fmla="*/ 0 60000 65536"/>
                      <a:gd name="T7" fmla="*/ 0 60000 65536"/>
                      <a:gd name="T8" fmla="*/ 0 60000 65536"/>
                    </a:gdLst>
                    <a:ahLst/>
                    <a:cxnLst>
                      <a:cxn ang="T6">
                        <a:pos x="T0" y="T1"/>
                      </a:cxn>
                      <a:cxn ang="T7">
                        <a:pos x="T2" y="T3"/>
                      </a:cxn>
                      <a:cxn ang="T8">
                        <a:pos x="T4" y="T5"/>
                      </a:cxn>
                    </a:cxnLst>
                    <a:rect l="0" t="0" r="r" b="b"/>
                    <a:pathLst>
                      <a:path w="39" h="52">
                        <a:moveTo>
                          <a:pt x="19" y="32"/>
                        </a:moveTo>
                        <a:cubicBezTo>
                          <a:pt x="13" y="14"/>
                          <a:pt x="0" y="13"/>
                          <a:pt x="19" y="0"/>
                        </a:cubicBezTo>
                        <a:cubicBezTo>
                          <a:pt x="23" y="5"/>
                          <a:pt x="39" y="52"/>
                          <a:pt x="19" y="32"/>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59" name="Freeform 43"/>
                  <p:cNvSpPr>
                    <a:spLocks/>
                  </p:cNvSpPr>
                  <p:nvPr/>
                </p:nvSpPr>
                <p:spPr bwMode="ltGray">
                  <a:xfrm>
                    <a:off x="3035" y="452"/>
                    <a:ext cx="19" cy="27"/>
                  </a:xfrm>
                  <a:custGeom>
                    <a:avLst/>
                    <a:gdLst>
                      <a:gd name="T0" fmla="*/ 1 w 44"/>
                      <a:gd name="T1" fmla="*/ 1 h 80"/>
                      <a:gd name="T2" fmla="*/ 4 w 44"/>
                      <a:gd name="T3" fmla="*/ 4 h 80"/>
                      <a:gd name="T4" fmla="*/ 4 w 44"/>
                      <a:gd name="T5" fmla="*/ 6 h 80"/>
                      <a:gd name="T6" fmla="*/ 7 w 44"/>
                      <a:gd name="T7" fmla="*/ 6 h 80"/>
                      <a:gd name="T8" fmla="*/ 4 w 44"/>
                      <a:gd name="T9" fmla="*/ 8 h 80"/>
                      <a:gd name="T10" fmla="*/ 0 w 44"/>
                      <a:gd name="T11" fmla="*/ 2 h 80"/>
                      <a:gd name="T12" fmla="*/ 1 w 44"/>
                      <a:gd name="T13" fmla="*/ 1 h 80"/>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44" h="80">
                        <a:moveTo>
                          <a:pt x="4" y="9"/>
                        </a:moveTo>
                        <a:cubicBezTo>
                          <a:pt x="9" y="17"/>
                          <a:pt x="18" y="24"/>
                          <a:pt x="20" y="33"/>
                        </a:cubicBezTo>
                        <a:cubicBezTo>
                          <a:pt x="21" y="38"/>
                          <a:pt x="21" y="45"/>
                          <a:pt x="24" y="49"/>
                        </a:cubicBezTo>
                        <a:cubicBezTo>
                          <a:pt x="27" y="52"/>
                          <a:pt x="32" y="52"/>
                          <a:pt x="36" y="53"/>
                        </a:cubicBezTo>
                        <a:cubicBezTo>
                          <a:pt x="41" y="68"/>
                          <a:pt x="44" y="80"/>
                          <a:pt x="24" y="73"/>
                        </a:cubicBezTo>
                        <a:cubicBezTo>
                          <a:pt x="19" y="55"/>
                          <a:pt x="11" y="37"/>
                          <a:pt x="0" y="21"/>
                        </a:cubicBezTo>
                        <a:cubicBezTo>
                          <a:pt x="4" y="4"/>
                          <a:pt x="4" y="0"/>
                          <a:pt x="4" y="9"/>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60" name="Freeform 44"/>
                  <p:cNvSpPr>
                    <a:spLocks/>
                  </p:cNvSpPr>
                  <p:nvPr/>
                </p:nvSpPr>
                <p:spPr bwMode="ltGray">
                  <a:xfrm>
                    <a:off x="2696" y="247"/>
                    <a:ext cx="205" cy="41"/>
                  </a:xfrm>
                  <a:custGeom>
                    <a:avLst/>
                    <a:gdLst>
                      <a:gd name="T0" fmla="*/ 89 w 323"/>
                      <a:gd name="T1" fmla="*/ 1 h 64"/>
                      <a:gd name="T2" fmla="*/ 93 w 323"/>
                      <a:gd name="T3" fmla="*/ 3 h 64"/>
                      <a:gd name="T4" fmla="*/ 95 w 323"/>
                      <a:gd name="T5" fmla="*/ 0 h 64"/>
                      <a:gd name="T6" fmla="*/ 107 w 323"/>
                      <a:gd name="T7" fmla="*/ 0 h 64"/>
                      <a:gd name="T8" fmla="*/ 116 w 323"/>
                      <a:gd name="T9" fmla="*/ 7 h 64"/>
                      <a:gd name="T10" fmla="*/ 128 w 323"/>
                      <a:gd name="T11" fmla="*/ 4 h 64"/>
                      <a:gd name="T12" fmla="*/ 126 w 323"/>
                      <a:gd name="T13" fmla="*/ 12 h 64"/>
                      <a:gd name="T14" fmla="*/ 120 w 323"/>
                      <a:gd name="T15" fmla="*/ 19 h 64"/>
                      <a:gd name="T16" fmla="*/ 119 w 323"/>
                      <a:gd name="T17" fmla="*/ 12 h 64"/>
                      <a:gd name="T18" fmla="*/ 116 w 323"/>
                      <a:gd name="T19" fmla="*/ 13 h 64"/>
                      <a:gd name="T20" fmla="*/ 112 w 323"/>
                      <a:gd name="T21" fmla="*/ 12 h 64"/>
                      <a:gd name="T22" fmla="*/ 106 w 323"/>
                      <a:gd name="T23" fmla="*/ 8 h 64"/>
                      <a:gd name="T24" fmla="*/ 92 w 323"/>
                      <a:gd name="T25" fmla="*/ 15 h 64"/>
                      <a:gd name="T26" fmla="*/ 81 w 323"/>
                      <a:gd name="T27" fmla="*/ 18 h 64"/>
                      <a:gd name="T28" fmla="*/ 86 w 323"/>
                      <a:gd name="T29" fmla="*/ 24 h 64"/>
                      <a:gd name="T30" fmla="*/ 76 w 323"/>
                      <a:gd name="T31" fmla="*/ 26 h 64"/>
                      <a:gd name="T32" fmla="*/ 68 w 323"/>
                      <a:gd name="T33" fmla="*/ 25 h 64"/>
                      <a:gd name="T34" fmla="*/ 71 w 323"/>
                      <a:gd name="T35" fmla="*/ 24 h 64"/>
                      <a:gd name="T36" fmla="*/ 69 w 323"/>
                      <a:gd name="T37" fmla="*/ 17 h 64"/>
                      <a:gd name="T38" fmla="*/ 68 w 323"/>
                      <a:gd name="T39" fmla="*/ 13 h 64"/>
                      <a:gd name="T40" fmla="*/ 63 w 323"/>
                      <a:gd name="T41" fmla="*/ 10 h 64"/>
                      <a:gd name="T42" fmla="*/ 57 w 323"/>
                      <a:gd name="T43" fmla="*/ 11 h 64"/>
                      <a:gd name="T44" fmla="*/ 54 w 323"/>
                      <a:gd name="T45" fmla="*/ 11 h 64"/>
                      <a:gd name="T46" fmla="*/ 50 w 323"/>
                      <a:gd name="T47" fmla="*/ 10 h 64"/>
                      <a:gd name="T48" fmla="*/ 34 w 323"/>
                      <a:gd name="T49" fmla="*/ 1 h 64"/>
                      <a:gd name="T50" fmla="*/ 23 w 323"/>
                      <a:gd name="T51" fmla="*/ 6 h 64"/>
                      <a:gd name="T52" fmla="*/ 1 w 323"/>
                      <a:gd name="T53" fmla="*/ 0 h 64"/>
                      <a:gd name="T54" fmla="*/ 89 w 323"/>
                      <a:gd name="T55" fmla="*/ 1 h 64"/>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0" t="0" r="r" b="b"/>
                    <a:pathLst>
                      <a:path w="323" h="64">
                        <a:moveTo>
                          <a:pt x="220" y="1"/>
                        </a:moveTo>
                        <a:cubicBezTo>
                          <a:pt x="215" y="12"/>
                          <a:pt x="225" y="17"/>
                          <a:pt x="231" y="8"/>
                        </a:cubicBezTo>
                        <a:cubicBezTo>
                          <a:pt x="235" y="0"/>
                          <a:pt x="229" y="7"/>
                          <a:pt x="235" y="0"/>
                        </a:cubicBezTo>
                        <a:lnTo>
                          <a:pt x="265" y="0"/>
                        </a:lnTo>
                        <a:cubicBezTo>
                          <a:pt x="277" y="6"/>
                          <a:pt x="276" y="11"/>
                          <a:pt x="287" y="17"/>
                        </a:cubicBezTo>
                        <a:cubicBezTo>
                          <a:pt x="308" y="11"/>
                          <a:pt x="293" y="7"/>
                          <a:pt x="319" y="10"/>
                        </a:cubicBezTo>
                        <a:cubicBezTo>
                          <a:pt x="323" y="19"/>
                          <a:pt x="321" y="22"/>
                          <a:pt x="314" y="29"/>
                        </a:cubicBezTo>
                        <a:cubicBezTo>
                          <a:pt x="312" y="39"/>
                          <a:pt x="313" y="50"/>
                          <a:pt x="298" y="46"/>
                        </a:cubicBezTo>
                        <a:cubicBezTo>
                          <a:pt x="297" y="40"/>
                          <a:pt x="298" y="34"/>
                          <a:pt x="295" y="29"/>
                        </a:cubicBezTo>
                        <a:cubicBezTo>
                          <a:pt x="294" y="27"/>
                          <a:pt x="290" y="31"/>
                          <a:pt x="287" y="31"/>
                        </a:cubicBezTo>
                        <a:cubicBezTo>
                          <a:pt x="284" y="31"/>
                          <a:pt x="282" y="30"/>
                          <a:pt x="279" y="29"/>
                        </a:cubicBezTo>
                        <a:cubicBezTo>
                          <a:pt x="274" y="27"/>
                          <a:pt x="263" y="21"/>
                          <a:pt x="263" y="21"/>
                        </a:cubicBezTo>
                        <a:cubicBezTo>
                          <a:pt x="249" y="23"/>
                          <a:pt x="241" y="31"/>
                          <a:pt x="228" y="38"/>
                        </a:cubicBezTo>
                        <a:cubicBezTo>
                          <a:pt x="220" y="41"/>
                          <a:pt x="209" y="42"/>
                          <a:pt x="201" y="44"/>
                        </a:cubicBezTo>
                        <a:cubicBezTo>
                          <a:pt x="193" y="54"/>
                          <a:pt x="200" y="53"/>
                          <a:pt x="212" y="57"/>
                        </a:cubicBezTo>
                        <a:cubicBezTo>
                          <a:pt x="200" y="62"/>
                          <a:pt x="199" y="57"/>
                          <a:pt x="188" y="63"/>
                        </a:cubicBezTo>
                        <a:cubicBezTo>
                          <a:pt x="181" y="62"/>
                          <a:pt x="174" y="64"/>
                          <a:pt x="169" y="61"/>
                        </a:cubicBezTo>
                        <a:cubicBezTo>
                          <a:pt x="166" y="59"/>
                          <a:pt x="175" y="59"/>
                          <a:pt x="177" y="57"/>
                        </a:cubicBezTo>
                        <a:cubicBezTo>
                          <a:pt x="181" y="48"/>
                          <a:pt x="149" y="28"/>
                          <a:pt x="171" y="40"/>
                        </a:cubicBezTo>
                        <a:cubicBezTo>
                          <a:pt x="184" y="55"/>
                          <a:pt x="184" y="36"/>
                          <a:pt x="169" y="31"/>
                        </a:cubicBezTo>
                        <a:cubicBezTo>
                          <a:pt x="167" y="27"/>
                          <a:pt x="167" y="22"/>
                          <a:pt x="158" y="23"/>
                        </a:cubicBezTo>
                        <a:cubicBezTo>
                          <a:pt x="153" y="23"/>
                          <a:pt x="142" y="27"/>
                          <a:pt x="142" y="27"/>
                        </a:cubicBezTo>
                        <a:cubicBezTo>
                          <a:pt x="136" y="39"/>
                          <a:pt x="143" y="31"/>
                          <a:pt x="134" y="27"/>
                        </a:cubicBezTo>
                        <a:cubicBezTo>
                          <a:pt x="130" y="25"/>
                          <a:pt x="126" y="25"/>
                          <a:pt x="123" y="25"/>
                        </a:cubicBezTo>
                        <a:cubicBezTo>
                          <a:pt x="117" y="11"/>
                          <a:pt x="100" y="6"/>
                          <a:pt x="83" y="2"/>
                        </a:cubicBezTo>
                        <a:cubicBezTo>
                          <a:pt x="70" y="4"/>
                          <a:pt x="69" y="9"/>
                          <a:pt x="59" y="14"/>
                        </a:cubicBezTo>
                        <a:cubicBezTo>
                          <a:pt x="45" y="14"/>
                          <a:pt x="0" y="12"/>
                          <a:pt x="1" y="0"/>
                        </a:cubicBezTo>
                        <a:lnTo>
                          <a:pt x="220" y="1"/>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61" name="Freeform 45"/>
                  <p:cNvSpPr>
                    <a:spLocks/>
                  </p:cNvSpPr>
                  <p:nvPr/>
                </p:nvSpPr>
                <p:spPr bwMode="ltGray">
                  <a:xfrm>
                    <a:off x="2515" y="246"/>
                    <a:ext cx="190" cy="20"/>
                  </a:xfrm>
                  <a:custGeom>
                    <a:avLst/>
                    <a:gdLst>
                      <a:gd name="T0" fmla="*/ 42 w 300"/>
                      <a:gd name="T1" fmla="*/ 13 h 31"/>
                      <a:gd name="T2" fmla="*/ 12 w 300"/>
                      <a:gd name="T3" fmla="*/ 1 h 31"/>
                      <a:gd name="T4" fmla="*/ 115 w 300"/>
                      <a:gd name="T5" fmla="*/ 0 h 31"/>
                      <a:gd name="T6" fmla="*/ 118 w 300"/>
                      <a:gd name="T7" fmla="*/ 6 h 31"/>
                      <a:gd name="T8" fmla="*/ 106 w 300"/>
                      <a:gd name="T9" fmla="*/ 6 h 31"/>
                      <a:gd name="T10" fmla="*/ 42 w 300"/>
                      <a:gd name="T11" fmla="*/ 13 h 31"/>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300" h="31">
                        <a:moveTo>
                          <a:pt x="105" y="31"/>
                        </a:moveTo>
                        <a:cubicBezTo>
                          <a:pt x="83" y="19"/>
                          <a:pt x="0" y="6"/>
                          <a:pt x="30" y="1"/>
                        </a:cubicBezTo>
                        <a:lnTo>
                          <a:pt x="285" y="0"/>
                        </a:lnTo>
                        <a:cubicBezTo>
                          <a:pt x="296" y="4"/>
                          <a:pt x="300" y="5"/>
                          <a:pt x="296" y="14"/>
                        </a:cubicBezTo>
                        <a:cubicBezTo>
                          <a:pt x="285" y="11"/>
                          <a:pt x="276" y="16"/>
                          <a:pt x="264" y="16"/>
                        </a:cubicBezTo>
                        <a:lnTo>
                          <a:pt x="105" y="31"/>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62" name="Freeform 46"/>
                  <p:cNvSpPr>
                    <a:spLocks/>
                  </p:cNvSpPr>
                  <p:nvPr/>
                </p:nvSpPr>
                <p:spPr bwMode="ltGray">
                  <a:xfrm>
                    <a:off x="2096" y="275"/>
                    <a:ext cx="18" cy="10"/>
                  </a:xfrm>
                  <a:custGeom>
                    <a:avLst/>
                    <a:gdLst>
                      <a:gd name="T0" fmla="*/ 0 w 41"/>
                      <a:gd name="T1" fmla="*/ 3 h 29"/>
                      <a:gd name="T2" fmla="*/ 2 w 41"/>
                      <a:gd name="T3" fmla="*/ 3 h 29"/>
                      <a:gd name="T4" fmla="*/ 0 w 41"/>
                      <a:gd name="T5" fmla="*/ 3 h 29"/>
                      <a:gd name="T6" fmla="*/ 0 60000 65536"/>
                      <a:gd name="T7" fmla="*/ 0 60000 65536"/>
                      <a:gd name="T8" fmla="*/ 0 60000 65536"/>
                    </a:gdLst>
                    <a:ahLst/>
                    <a:cxnLst>
                      <a:cxn ang="T6">
                        <a:pos x="T0" y="T1"/>
                      </a:cxn>
                      <a:cxn ang="T7">
                        <a:pos x="T2" y="T3"/>
                      </a:cxn>
                      <a:cxn ang="T8">
                        <a:pos x="T4" y="T5"/>
                      </a:cxn>
                    </a:cxnLst>
                    <a:rect l="0" t="0" r="r" b="b"/>
                    <a:pathLst>
                      <a:path w="41" h="29">
                        <a:moveTo>
                          <a:pt x="0" y="25"/>
                        </a:moveTo>
                        <a:cubicBezTo>
                          <a:pt x="10" y="11"/>
                          <a:pt x="41" y="0"/>
                          <a:pt x="12" y="29"/>
                        </a:cubicBezTo>
                        <a:cubicBezTo>
                          <a:pt x="8" y="28"/>
                          <a:pt x="0" y="25"/>
                          <a:pt x="0" y="25"/>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63" name="Freeform 47"/>
                  <p:cNvSpPr>
                    <a:spLocks/>
                  </p:cNvSpPr>
                  <p:nvPr/>
                </p:nvSpPr>
                <p:spPr bwMode="ltGray">
                  <a:xfrm>
                    <a:off x="1606" y="246"/>
                    <a:ext cx="436" cy="152"/>
                  </a:xfrm>
                  <a:custGeom>
                    <a:avLst/>
                    <a:gdLst>
                      <a:gd name="T0" fmla="*/ 73 w 436"/>
                      <a:gd name="T1" fmla="*/ 1 h 152"/>
                      <a:gd name="T2" fmla="*/ 436 w 436"/>
                      <a:gd name="T3" fmla="*/ 0 h 152"/>
                      <a:gd name="T4" fmla="*/ 416 w 436"/>
                      <a:gd name="T5" fmla="*/ 54 h 152"/>
                      <a:gd name="T6" fmla="*/ 397 w 436"/>
                      <a:gd name="T7" fmla="*/ 68 h 152"/>
                      <a:gd name="T8" fmla="*/ 392 w 436"/>
                      <a:gd name="T9" fmla="*/ 70 h 152"/>
                      <a:gd name="T10" fmla="*/ 375 w 436"/>
                      <a:gd name="T11" fmla="*/ 73 h 152"/>
                      <a:gd name="T12" fmla="*/ 361 w 436"/>
                      <a:gd name="T13" fmla="*/ 88 h 152"/>
                      <a:gd name="T14" fmla="*/ 362 w 436"/>
                      <a:gd name="T15" fmla="*/ 99 h 152"/>
                      <a:gd name="T16" fmla="*/ 364 w 436"/>
                      <a:gd name="T17" fmla="*/ 107 h 152"/>
                      <a:gd name="T18" fmla="*/ 366 w 436"/>
                      <a:gd name="T19" fmla="*/ 113 h 152"/>
                      <a:gd name="T20" fmla="*/ 362 w 436"/>
                      <a:gd name="T21" fmla="*/ 122 h 152"/>
                      <a:gd name="T22" fmla="*/ 351 w 436"/>
                      <a:gd name="T23" fmla="*/ 120 h 152"/>
                      <a:gd name="T24" fmla="*/ 342 w 436"/>
                      <a:gd name="T25" fmla="*/ 129 h 152"/>
                      <a:gd name="T26" fmla="*/ 347 w 436"/>
                      <a:gd name="T27" fmla="*/ 105 h 152"/>
                      <a:gd name="T28" fmla="*/ 338 w 436"/>
                      <a:gd name="T29" fmla="*/ 100 h 152"/>
                      <a:gd name="T30" fmla="*/ 344 w 436"/>
                      <a:gd name="T31" fmla="*/ 93 h 152"/>
                      <a:gd name="T32" fmla="*/ 342 w 436"/>
                      <a:gd name="T33" fmla="*/ 89 h 152"/>
                      <a:gd name="T34" fmla="*/ 320 w 436"/>
                      <a:gd name="T35" fmla="*/ 94 h 152"/>
                      <a:gd name="T36" fmla="*/ 317 w 436"/>
                      <a:gd name="T37" fmla="*/ 85 h 152"/>
                      <a:gd name="T38" fmla="*/ 297 w 436"/>
                      <a:gd name="T39" fmla="*/ 94 h 152"/>
                      <a:gd name="T40" fmla="*/ 320 w 436"/>
                      <a:gd name="T41" fmla="*/ 103 h 152"/>
                      <a:gd name="T42" fmla="*/ 305 w 436"/>
                      <a:gd name="T43" fmla="*/ 117 h 152"/>
                      <a:gd name="T44" fmla="*/ 311 w 436"/>
                      <a:gd name="T45" fmla="*/ 126 h 152"/>
                      <a:gd name="T46" fmla="*/ 315 w 436"/>
                      <a:gd name="T47" fmla="*/ 138 h 152"/>
                      <a:gd name="T48" fmla="*/ 309 w 436"/>
                      <a:gd name="T49" fmla="*/ 139 h 152"/>
                      <a:gd name="T50" fmla="*/ 314 w 436"/>
                      <a:gd name="T51" fmla="*/ 144 h 152"/>
                      <a:gd name="T52" fmla="*/ 307 w 436"/>
                      <a:gd name="T53" fmla="*/ 152 h 152"/>
                      <a:gd name="T54" fmla="*/ 0 w 436"/>
                      <a:gd name="T55" fmla="*/ 149 h 152"/>
                      <a:gd name="T56" fmla="*/ 73 w 436"/>
                      <a:gd name="T57" fmla="*/ 1 h 152"/>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436" h="152">
                        <a:moveTo>
                          <a:pt x="73" y="1"/>
                        </a:moveTo>
                        <a:lnTo>
                          <a:pt x="436" y="0"/>
                        </a:lnTo>
                        <a:cubicBezTo>
                          <a:pt x="430" y="15"/>
                          <a:pt x="429" y="42"/>
                          <a:pt x="416" y="54"/>
                        </a:cubicBezTo>
                        <a:cubicBezTo>
                          <a:pt x="410" y="60"/>
                          <a:pt x="405" y="63"/>
                          <a:pt x="397" y="68"/>
                        </a:cubicBezTo>
                        <a:cubicBezTo>
                          <a:pt x="396" y="69"/>
                          <a:pt x="392" y="70"/>
                          <a:pt x="392" y="70"/>
                        </a:cubicBezTo>
                        <a:cubicBezTo>
                          <a:pt x="377" y="63"/>
                          <a:pt x="385" y="68"/>
                          <a:pt x="375" y="73"/>
                        </a:cubicBezTo>
                        <a:cubicBezTo>
                          <a:pt x="371" y="82"/>
                          <a:pt x="371" y="83"/>
                          <a:pt x="361" y="88"/>
                        </a:cubicBezTo>
                        <a:cubicBezTo>
                          <a:pt x="359" y="92"/>
                          <a:pt x="364" y="93"/>
                          <a:pt x="362" y="99"/>
                        </a:cubicBezTo>
                        <a:cubicBezTo>
                          <a:pt x="363" y="102"/>
                          <a:pt x="364" y="105"/>
                          <a:pt x="364" y="107"/>
                        </a:cubicBezTo>
                        <a:cubicBezTo>
                          <a:pt x="365" y="109"/>
                          <a:pt x="366" y="111"/>
                          <a:pt x="366" y="113"/>
                        </a:cubicBezTo>
                        <a:cubicBezTo>
                          <a:pt x="365" y="115"/>
                          <a:pt x="364" y="120"/>
                          <a:pt x="362" y="122"/>
                        </a:cubicBezTo>
                        <a:cubicBezTo>
                          <a:pt x="359" y="123"/>
                          <a:pt x="354" y="119"/>
                          <a:pt x="351" y="120"/>
                        </a:cubicBezTo>
                        <a:cubicBezTo>
                          <a:pt x="347" y="129"/>
                          <a:pt x="352" y="127"/>
                          <a:pt x="342" y="129"/>
                        </a:cubicBezTo>
                        <a:cubicBezTo>
                          <a:pt x="340" y="123"/>
                          <a:pt x="345" y="111"/>
                          <a:pt x="347" y="105"/>
                        </a:cubicBezTo>
                        <a:cubicBezTo>
                          <a:pt x="347" y="100"/>
                          <a:pt x="338" y="102"/>
                          <a:pt x="338" y="100"/>
                        </a:cubicBezTo>
                        <a:cubicBezTo>
                          <a:pt x="338" y="98"/>
                          <a:pt x="344" y="95"/>
                          <a:pt x="344" y="93"/>
                        </a:cubicBezTo>
                        <a:cubicBezTo>
                          <a:pt x="344" y="92"/>
                          <a:pt x="344" y="89"/>
                          <a:pt x="342" y="89"/>
                        </a:cubicBezTo>
                        <a:cubicBezTo>
                          <a:pt x="339" y="89"/>
                          <a:pt x="324" y="94"/>
                          <a:pt x="320" y="94"/>
                        </a:cubicBezTo>
                        <a:cubicBezTo>
                          <a:pt x="317" y="86"/>
                          <a:pt x="328" y="88"/>
                          <a:pt x="317" y="85"/>
                        </a:cubicBezTo>
                        <a:cubicBezTo>
                          <a:pt x="311" y="91"/>
                          <a:pt x="306" y="93"/>
                          <a:pt x="297" y="94"/>
                        </a:cubicBezTo>
                        <a:cubicBezTo>
                          <a:pt x="300" y="104"/>
                          <a:pt x="307" y="101"/>
                          <a:pt x="320" y="103"/>
                        </a:cubicBezTo>
                        <a:cubicBezTo>
                          <a:pt x="318" y="109"/>
                          <a:pt x="311" y="111"/>
                          <a:pt x="305" y="117"/>
                        </a:cubicBezTo>
                        <a:lnTo>
                          <a:pt x="311" y="126"/>
                        </a:lnTo>
                        <a:lnTo>
                          <a:pt x="315" y="138"/>
                        </a:lnTo>
                        <a:lnTo>
                          <a:pt x="309" y="139"/>
                        </a:lnTo>
                        <a:lnTo>
                          <a:pt x="314" y="144"/>
                        </a:lnTo>
                        <a:lnTo>
                          <a:pt x="307" y="152"/>
                        </a:lnTo>
                        <a:lnTo>
                          <a:pt x="0" y="149"/>
                        </a:lnTo>
                        <a:lnTo>
                          <a:pt x="73" y="1"/>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64" name="Freeform 48"/>
                  <p:cNvSpPr>
                    <a:spLocks/>
                  </p:cNvSpPr>
                  <p:nvPr/>
                </p:nvSpPr>
                <p:spPr bwMode="ltGray">
                  <a:xfrm>
                    <a:off x="2043" y="241"/>
                    <a:ext cx="20" cy="55"/>
                  </a:xfrm>
                  <a:custGeom>
                    <a:avLst/>
                    <a:gdLst>
                      <a:gd name="T0" fmla="*/ 1 w 47"/>
                      <a:gd name="T1" fmla="*/ 17 h 165"/>
                      <a:gd name="T2" fmla="*/ 3 w 47"/>
                      <a:gd name="T3" fmla="*/ 12 h 165"/>
                      <a:gd name="T4" fmla="*/ 3 w 47"/>
                      <a:gd name="T5" fmla="*/ 8 h 165"/>
                      <a:gd name="T6" fmla="*/ 2 w 47"/>
                      <a:gd name="T7" fmla="*/ 4 h 165"/>
                      <a:gd name="T8" fmla="*/ 3 w 47"/>
                      <a:gd name="T9" fmla="*/ 1 h 165"/>
                      <a:gd name="T10" fmla="*/ 4 w 47"/>
                      <a:gd name="T11" fmla="*/ 0 h 165"/>
                      <a:gd name="T12" fmla="*/ 6 w 47"/>
                      <a:gd name="T13" fmla="*/ 3 h 165"/>
                      <a:gd name="T14" fmla="*/ 9 w 47"/>
                      <a:gd name="T15" fmla="*/ 11 h 165"/>
                      <a:gd name="T16" fmla="*/ 6 w 47"/>
                      <a:gd name="T17" fmla="*/ 12 h 165"/>
                      <a:gd name="T18" fmla="*/ 4 w 47"/>
                      <a:gd name="T19" fmla="*/ 14 h 165"/>
                      <a:gd name="T20" fmla="*/ 4 w 47"/>
                      <a:gd name="T21" fmla="*/ 15 h 165"/>
                      <a:gd name="T22" fmla="*/ 5 w 47"/>
                      <a:gd name="T23" fmla="*/ 15 h 165"/>
                      <a:gd name="T24" fmla="*/ 6 w 47"/>
                      <a:gd name="T25" fmla="*/ 16 h 165"/>
                      <a:gd name="T26" fmla="*/ 3 w 47"/>
                      <a:gd name="T27" fmla="*/ 16 h 165"/>
                      <a:gd name="T28" fmla="*/ 1 w 47"/>
                      <a:gd name="T29" fmla="*/ 18 h 165"/>
                      <a:gd name="T30" fmla="*/ 0 w 47"/>
                      <a:gd name="T31" fmla="*/ 17 h 165"/>
                      <a:gd name="T32" fmla="*/ 1 w 47"/>
                      <a:gd name="T33" fmla="*/ 17 h 165"/>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47" h="165">
                        <a:moveTo>
                          <a:pt x="5" y="156"/>
                        </a:moveTo>
                        <a:cubicBezTo>
                          <a:pt x="0" y="141"/>
                          <a:pt x="1" y="118"/>
                          <a:pt x="15" y="108"/>
                        </a:cubicBezTo>
                        <a:cubicBezTo>
                          <a:pt x="16" y="95"/>
                          <a:pt x="17" y="81"/>
                          <a:pt x="17" y="68"/>
                        </a:cubicBezTo>
                        <a:cubicBezTo>
                          <a:pt x="17" y="58"/>
                          <a:pt x="11" y="40"/>
                          <a:pt x="11" y="40"/>
                        </a:cubicBezTo>
                        <a:cubicBezTo>
                          <a:pt x="14" y="20"/>
                          <a:pt x="11" y="29"/>
                          <a:pt x="17" y="12"/>
                        </a:cubicBezTo>
                        <a:cubicBezTo>
                          <a:pt x="18" y="8"/>
                          <a:pt x="21" y="0"/>
                          <a:pt x="21" y="0"/>
                        </a:cubicBezTo>
                        <a:cubicBezTo>
                          <a:pt x="38" y="6"/>
                          <a:pt x="33" y="7"/>
                          <a:pt x="31" y="30"/>
                        </a:cubicBezTo>
                        <a:cubicBezTo>
                          <a:pt x="38" y="52"/>
                          <a:pt x="40" y="76"/>
                          <a:pt x="47" y="98"/>
                        </a:cubicBezTo>
                        <a:cubicBezTo>
                          <a:pt x="44" y="116"/>
                          <a:pt x="45" y="113"/>
                          <a:pt x="31" y="108"/>
                        </a:cubicBezTo>
                        <a:cubicBezTo>
                          <a:pt x="25" y="118"/>
                          <a:pt x="28" y="112"/>
                          <a:pt x="23" y="126"/>
                        </a:cubicBezTo>
                        <a:cubicBezTo>
                          <a:pt x="22" y="128"/>
                          <a:pt x="21" y="132"/>
                          <a:pt x="21" y="132"/>
                        </a:cubicBezTo>
                        <a:cubicBezTo>
                          <a:pt x="23" y="133"/>
                          <a:pt x="26" y="132"/>
                          <a:pt x="27" y="134"/>
                        </a:cubicBezTo>
                        <a:cubicBezTo>
                          <a:pt x="29" y="137"/>
                          <a:pt x="31" y="146"/>
                          <a:pt x="31" y="146"/>
                        </a:cubicBezTo>
                        <a:cubicBezTo>
                          <a:pt x="27" y="165"/>
                          <a:pt x="23" y="155"/>
                          <a:pt x="13" y="148"/>
                        </a:cubicBezTo>
                        <a:cubicBezTo>
                          <a:pt x="11" y="152"/>
                          <a:pt x="11" y="160"/>
                          <a:pt x="7" y="160"/>
                        </a:cubicBezTo>
                        <a:cubicBezTo>
                          <a:pt x="5" y="160"/>
                          <a:pt x="4" y="156"/>
                          <a:pt x="3" y="154"/>
                        </a:cubicBezTo>
                        <a:cubicBezTo>
                          <a:pt x="3" y="153"/>
                          <a:pt x="4" y="155"/>
                          <a:pt x="5" y="156"/>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65" name="Freeform 49"/>
                  <p:cNvSpPr>
                    <a:spLocks/>
                  </p:cNvSpPr>
                  <p:nvPr/>
                </p:nvSpPr>
                <p:spPr bwMode="ltGray">
                  <a:xfrm>
                    <a:off x="2031" y="287"/>
                    <a:ext cx="59" cy="34"/>
                  </a:xfrm>
                  <a:custGeom>
                    <a:avLst/>
                    <a:gdLst>
                      <a:gd name="T0" fmla="*/ 5 w 138"/>
                      <a:gd name="T1" fmla="*/ 7 h 103"/>
                      <a:gd name="T2" fmla="*/ 6 w 138"/>
                      <a:gd name="T3" fmla="*/ 5 h 103"/>
                      <a:gd name="T4" fmla="*/ 9 w 138"/>
                      <a:gd name="T5" fmla="*/ 4 h 103"/>
                      <a:gd name="T6" fmla="*/ 10 w 138"/>
                      <a:gd name="T7" fmla="*/ 5 h 103"/>
                      <a:gd name="T8" fmla="*/ 12 w 138"/>
                      <a:gd name="T9" fmla="*/ 5 h 103"/>
                      <a:gd name="T10" fmla="*/ 15 w 138"/>
                      <a:gd name="T11" fmla="*/ 6 h 103"/>
                      <a:gd name="T12" fmla="*/ 21 w 138"/>
                      <a:gd name="T13" fmla="*/ 4 h 103"/>
                      <a:gd name="T14" fmla="*/ 24 w 138"/>
                      <a:gd name="T15" fmla="*/ 2 h 103"/>
                      <a:gd name="T16" fmla="*/ 25 w 138"/>
                      <a:gd name="T17" fmla="*/ 1 h 103"/>
                      <a:gd name="T18" fmla="*/ 19 w 138"/>
                      <a:gd name="T19" fmla="*/ 5 h 103"/>
                      <a:gd name="T20" fmla="*/ 15 w 138"/>
                      <a:gd name="T21" fmla="*/ 7 h 103"/>
                      <a:gd name="T22" fmla="*/ 12 w 138"/>
                      <a:gd name="T23" fmla="*/ 9 h 103"/>
                      <a:gd name="T24" fmla="*/ 9 w 138"/>
                      <a:gd name="T25" fmla="*/ 11 h 103"/>
                      <a:gd name="T26" fmla="*/ 5 w 138"/>
                      <a:gd name="T27" fmla="*/ 10 h 103"/>
                      <a:gd name="T28" fmla="*/ 4 w 138"/>
                      <a:gd name="T29" fmla="*/ 10 h 103"/>
                      <a:gd name="T30" fmla="*/ 4 w 138"/>
                      <a:gd name="T31" fmla="*/ 11 h 103"/>
                      <a:gd name="T32" fmla="*/ 0 w 138"/>
                      <a:gd name="T33" fmla="*/ 11 h 103"/>
                      <a:gd name="T34" fmla="*/ 2 w 138"/>
                      <a:gd name="T35" fmla="*/ 9 h 103"/>
                      <a:gd name="T36" fmla="*/ 5 w 138"/>
                      <a:gd name="T37" fmla="*/ 7 h 103"/>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38" h="103">
                        <a:moveTo>
                          <a:pt x="26" y="61"/>
                        </a:moveTo>
                        <a:cubicBezTo>
                          <a:pt x="29" y="53"/>
                          <a:pt x="33" y="51"/>
                          <a:pt x="30" y="43"/>
                        </a:cubicBezTo>
                        <a:cubicBezTo>
                          <a:pt x="33" y="27"/>
                          <a:pt x="37" y="24"/>
                          <a:pt x="50" y="33"/>
                        </a:cubicBezTo>
                        <a:cubicBezTo>
                          <a:pt x="51" y="37"/>
                          <a:pt x="53" y="41"/>
                          <a:pt x="54" y="45"/>
                        </a:cubicBezTo>
                        <a:cubicBezTo>
                          <a:pt x="55" y="49"/>
                          <a:pt x="66" y="49"/>
                          <a:pt x="66" y="49"/>
                        </a:cubicBezTo>
                        <a:cubicBezTo>
                          <a:pt x="75" y="43"/>
                          <a:pt x="77" y="45"/>
                          <a:pt x="80" y="55"/>
                        </a:cubicBezTo>
                        <a:cubicBezTo>
                          <a:pt x="92" y="47"/>
                          <a:pt x="101" y="37"/>
                          <a:pt x="116" y="33"/>
                        </a:cubicBezTo>
                        <a:cubicBezTo>
                          <a:pt x="125" y="19"/>
                          <a:pt x="120" y="24"/>
                          <a:pt x="130" y="17"/>
                        </a:cubicBezTo>
                        <a:cubicBezTo>
                          <a:pt x="134" y="11"/>
                          <a:pt x="134" y="0"/>
                          <a:pt x="138" y="11"/>
                        </a:cubicBezTo>
                        <a:cubicBezTo>
                          <a:pt x="135" y="31"/>
                          <a:pt x="126" y="45"/>
                          <a:pt x="106" y="49"/>
                        </a:cubicBezTo>
                        <a:cubicBezTo>
                          <a:pt x="97" y="55"/>
                          <a:pt x="93" y="61"/>
                          <a:pt x="84" y="67"/>
                        </a:cubicBezTo>
                        <a:cubicBezTo>
                          <a:pt x="80" y="79"/>
                          <a:pt x="79" y="79"/>
                          <a:pt x="66" y="81"/>
                        </a:cubicBezTo>
                        <a:cubicBezTo>
                          <a:pt x="60" y="90"/>
                          <a:pt x="57" y="97"/>
                          <a:pt x="48" y="103"/>
                        </a:cubicBezTo>
                        <a:cubicBezTo>
                          <a:pt x="42" y="94"/>
                          <a:pt x="37" y="93"/>
                          <a:pt x="26" y="89"/>
                        </a:cubicBezTo>
                        <a:cubicBezTo>
                          <a:pt x="24" y="88"/>
                          <a:pt x="20" y="87"/>
                          <a:pt x="20" y="87"/>
                        </a:cubicBezTo>
                        <a:cubicBezTo>
                          <a:pt x="10" y="90"/>
                          <a:pt x="14" y="94"/>
                          <a:pt x="22" y="97"/>
                        </a:cubicBezTo>
                        <a:cubicBezTo>
                          <a:pt x="14" y="103"/>
                          <a:pt x="9" y="100"/>
                          <a:pt x="0" y="97"/>
                        </a:cubicBezTo>
                        <a:cubicBezTo>
                          <a:pt x="2" y="87"/>
                          <a:pt x="1" y="82"/>
                          <a:pt x="10" y="79"/>
                        </a:cubicBezTo>
                        <a:cubicBezTo>
                          <a:pt x="15" y="63"/>
                          <a:pt x="14" y="69"/>
                          <a:pt x="26" y="61"/>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66" name="Freeform 50"/>
                  <p:cNvSpPr>
                    <a:spLocks/>
                  </p:cNvSpPr>
                  <p:nvPr/>
                </p:nvSpPr>
                <p:spPr bwMode="ltGray">
                  <a:xfrm>
                    <a:off x="1968" y="319"/>
                    <a:ext cx="80" cy="72"/>
                  </a:xfrm>
                  <a:custGeom>
                    <a:avLst/>
                    <a:gdLst>
                      <a:gd name="T0" fmla="*/ 29 w 188"/>
                      <a:gd name="T1" fmla="*/ 3 h 214"/>
                      <a:gd name="T2" fmla="*/ 29 w 188"/>
                      <a:gd name="T3" fmla="*/ 1 h 214"/>
                      <a:gd name="T4" fmla="*/ 31 w 188"/>
                      <a:gd name="T5" fmla="*/ 0 h 214"/>
                      <a:gd name="T6" fmla="*/ 33 w 188"/>
                      <a:gd name="T7" fmla="*/ 3 h 214"/>
                      <a:gd name="T8" fmla="*/ 34 w 188"/>
                      <a:gd name="T9" fmla="*/ 5 h 214"/>
                      <a:gd name="T10" fmla="*/ 32 w 188"/>
                      <a:gd name="T11" fmla="*/ 7 h 214"/>
                      <a:gd name="T12" fmla="*/ 31 w 188"/>
                      <a:gd name="T13" fmla="*/ 9 h 214"/>
                      <a:gd name="T14" fmla="*/ 29 w 188"/>
                      <a:gd name="T15" fmla="*/ 14 h 214"/>
                      <a:gd name="T16" fmla="*/ 26 w 188"/>
                      <a:gd name="T17" fmla="*/ 15 h 214"/>
                      <a:gd name="T18" fmla="*/ 22 w 188"/>
                      <a:gd name="T19" fmla="*/ 15 h 214"/>
                      <a:gd name="T20" fmla="*/ 20 w 188"/>
                      <a:gd name="T21" fmla="*/ 14 h 214"/>
                      <a:gd name="T22" fmla="*/ 18 w 188"/>
                      <a:gd name="T23" fmla="*/ 16 h 214"/>
                      <a:gd name="T24" fmla="*/ 16 w 188"/>
                      <a:gd name="T25" fmla="*/ 17 h 214"/>
                      <a:gd name="T26" fmla="*/ 14 w 188"/>
                      <a:gd name="T27" fmla="*/ 15 h 214"/>
                      <a:gd name="T28" fmla="*/ 11 w 188"/>
                      <a:gd name="T29" fmla="*/ 16 h 214"/>
                      <a:gd name="T30" fmla="*/ 14 w 188"/>
                      <a:gd name="T31" fmla="*/ 16 h 214"/>
                      <a:gd name="T32" fmla="*/ 14 w 188"/>
                      <a:gd name="T33" fmla="*/ 18 h 214"/>
                      <a:gd name="T34" fmla="*/ 11 w 188"/>
                      <a:gd name="T35" fmla="*/ 19 h 214"/>
                      <a:gd name="T36" fmla="*/ 6 w 188"/>
                      <a:gd name="T37" fmla="*/ 19 h 214"/>
                      <a:gd name="T38" fmla="*/ 6 w 188"/>
                      <a:gd name="T39" fmla="*/ 17 h 214"/>
                      <a:gd name="T40" fmla="*/ 9 w 188"/>
                      <a:gd name="T41" fmla="*/ 16 h 214"/>
                      <a:gd name="T42" fmla="*/ 6 w 188"/>
                      <a:gd name="T43" fmla="*/ 17 h 214"/>
                      <a:gd name="T44" fmla="*/ 5 w 188"/>
                      <a:gd name="T45" fmla="*/ 19 h 214"/>
                      <a:gd name="T46" fmla="*/ 6 w 188"/>
                      <a:gd name="T47" fmla="*/ 22 h 214"/>
                      <a:gd name="T48" fmla="*/ 3 w 188"/>
                      <a:gd name="T49" fmla="*/ 23 h 214"/>
                      <a:gd name="T50" fmla="*/ 0 w 188"/>
                      <a:gd name="T51" fmla="*/ 24 h 214"/>
                      <a:gd name="T52" fmla="*/ 1 w 188"/>
                      <a:gd name="T53" fmla="*/ 21 h 214"/>
                      <a:gd name="T54" fmla="*/ 0 w 188"/>
                      <a:gd name="T55" fmla="*/ 19 h 214"/>
                      <a:gd name="T56" fmla="*/ 3 w 188"/>
                      <a:gd name="T57" fmla="*/ 17 h 214"/>
                      <a:gd name="T58" fmla="*/ 6 w 188"/>
                      <a:gd name="T59" fmla="*/ 15 h 214"/>
                      <a:gd name="T60" fmla="*/ 8 w 188"/>
                      <a:gd name="T61" fmla="*/ 13 h 214"/>
                      <a:gd name="T62" fmla="*/ 13 w 188"/>
                      <a:gd name="T63" fmla="*/ 13 h 214"/>
                      <a:gd name="T64" fmla="*/ 15 w 188"/>
                      <a:gd name="T65" fmla="*/ 13 h 214"/>
                      <a:gd name="T66" fmla="*/ 21 w 188"/>
                      <a:gd name="T67" fmla="*/ 9 h 214"/>
                      <a:gd name="T68" fmla="*/ 22 w 188"/>
                      <a:gd name="T69" fmla="*/ 10 h 214"/>
                      <a:gd name="T70" fmla="*/ 24 w 188"/>
                      <a:gd name="T71" fmla="*/ 9 h 214"/>
                      <a:gd name="T72" fmla="*/ 27 w 188"/>
                      <a:gd name="T73" fmla="*/ 6 h 214"/>
                      <a:gd name="T74" fmla="*/ 28 w 188"/>
                      <a:gd name="T75" fmla="*/ 5 h 214"/>
                      <a:gd name="T76" fmla="*/ 27 w 188"/>
                      <a:gd name="T77" fmla="*/ 4 h 214"/>
                      <a:gd name="T78" fmla="*/ 28 w 188"/>
                      <a:gd name="T79" fmla="*/ 4 h 214"/>
                      <a:gd name="T80" fmla="*/ 29 w 188"/>
                      <a:gd name="T81" fmla="*/ 3 h 214"/>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0" t="0" r="r" b="b"/>
                    <a:pathLst>
                      <a:path w="188" h="214">
                        <a:moveTo>
                          <a:pt x="158" y="24"/>
                        </a:moveTo>
                        <a:cubicBezTo>
                          <a:pt x="156" y="18"/>
                          <a:pt x="160" y="6"/>
                          <a:pt x="160" y="6"/>
                        </a:cubicBezTo>
                        <a:cubicBezTo>
                          <a:pt x="167" y="16"/>
                          <a:pt x="167" y="8"/>
                          <a:pt x="170" y="0"/>
                        </a:cubicBezTo>
                        <a:cubicBezTo>
                          <a:pt x="181" y="4"/>
                          <a:pt x="179" y="14"/>
                          <a:pt x="182" y="24"/>
                        </a:cubicBezTo>
                        <a:cubicBezTo>
                          <a:pt x="184" y="30"/>
                          <a:pt x="188" y="42"/>
                          <a:pt x="188" y="42"/>
                        </a:cubicBezTo>
                        <a:cubicBezTo>
                          <a:pt x="183" y="56"/>
                          <a:pt x="188" y="52"/>
                          <a:pt x="178" y="58"/>
                        </a:cubicBezTo>
                        <a:cubicBezTo>
                          <a:pt x="174" y="63"/>
                          <a:pt x="170" y="76"/>
                          <a:pt x="170" y="76"/>
                        </a:cubicBezTo>
                        <a:cubicBezTo>
                          <a:pt x="169" y="100"/>
                          <a:pt x="173" y="110"/>
                          <a:pt x="162" y="126"/>
                        </a:cubicBezTo>
                        <a:cubicBezTo>
                          <a:pt x="150" y="118"/>
                          <a:pt x="155" y="132"/>
                          <a:pt x="144" y="136"/>
                        </a:cubicBezTo>
                        <a:cubicBezTo>
                          <a:pt x="135" y="134"/>
                          <a:pt x="129" y="135"/>
                          <a:pt x="120" y="138"/>
                        </a:cubicBezTo>
                        <a:cubicBezTo>
                          <a:pt x="114" y="129"/>
                          <a:pt x="122" y="127"/>
                          <a:pt x="112" y="124"/>
                        </a:cubicBezTo>
                        <a:cubicBezTo>
                          <a:pt x="108" y="130"/>
                          <a:pt x="108" y="142"/>
                          <a:pt x="102" y="146"/>
                        </a:cubicBezTo>
                        <a:cubicBezTo>
                          <a:pt x="98" y="148"/>
                          <a:pt x="90" y="150"/>
                          <a:pt x="90" y="150"/>
                        </a:cubicBezTo>
                        <a:cubicBezTo>
                          <a:pt x="87" y="141"/>
                          <a:pt x="89" y="135"/>
                          <a:pt x="80" y="132"/>
                        </a:cubicBezTo>
                        <a:cubicBezTo>
                          <a:pt x="68" y="134"/>
                          <a:pt x="65" y="134"/>
                          <a:pt x="58" y="144"/>
                        </a:cubicBezTo>
                        <a:cubicBezTo>
                          <a:pt x="66" y="150"/>
                          <a:pt x="68" y="147"/>
                          <a:pt x="76" y="142"/>
                        </a:cubicBezTo>
                        <a:cubicBezTo>
                          <a:pt x="81" y="146"/>
                          <a:pt x="85" y="155"/>
                          <a:pt x="78" y="160"/>
                        </a:cubicBezTo>
                        <a:cubicBezTo>
                          <a:pt x="75" y="162"/>
                          <a:pt x="62" y="165"/>
                          <a:pt x="58" y="166"/>
                        </a:cubicBezTo>
                        <a:cubicBezTo>
                          <a:pt x="48" y="173"/>
                          <a:pt x="44" y="173"/>
                          <a:pt x="34" y="166"/>
                        </a:cubicBezTo>
                        <a:cubicBezTo>
                          <a:pt x="35" y="162"/>
                          <a:pt x="34" y="158"/>
                          <a:pt x="36" y="154"/>
                        </a:cubicBezTo>
                        <a:cubicBezTo>
                          <a:pt x="38" y="150"/>
                          <a:pt x="55" y="146"/>
                          <a:pt x="46" y="144"/>
                        </a:cubicBezTo>
                        <a:cubicBezTo>
                          <a:pt x="42" y="143"/>
                          <a:pt x="34" y="148"/>
                          <a:pt x="34" y="148"/>
                        </a:cubicBezTo>
                        <a:cubicBezTo>
                          <a:pt x="32" y="155"/>
                          <a:pt x="28" y="159"/>
                          <a:pt x="26" y="166"/>
                        </a:cubicBezTo>
                        <a:cubicBezTo>
                          <a:pt x="36" y="182"/>
                          <a:pt x="36" y="173"/>
                          <a:pt x="30" y="190"/>
                        </a:cubicBezTo>
                        <a:cubicBezTo>
                          <a:pt x="28" y="196"/>
                          <a:pt x="14" y="200"/>
                          <a:pt x="14" y="200"/>
                        </a:cubicBezTo>
                        <a:cubicBezTo>
                          <a:pt x="5" y="214"/>
                          <a:pt x="11" y="210"/>
                          <a:pt x="0" y="214"/>
                        </a:cubicBezTo>
                        <a:cubicBezTo>
                          <a:pt x="2" y="202"/>
                          <a:pt x="5" y="198"/>
                          <a:pt x="8" y="188"/>
                        </a:cubicBezTo>
                        <a:cubicBezTo>
                          <a:pt x="6" y="178"/>
                          <a:pt x="3" y="173"/>
                          <a:pt x="0" y="164"/>
                        </a:cubicBezTo>
                        <a:cubicBezTo>
                          <a:pt x="3" y="156"/>
                          <a:pt x="7" y="157"/>
                          <a:pt x="14" y="152"/>
                        </a:cubicBezTo>
                        <a:cubicBezTo>
                          <a:pt x="18" y="141"/>
                          <a:pt x="23" y="140"/>
                          <a:pt x="32" y="134"/>
                        </a:cubicBezTo>
                        <a:cubicBezTo>
                          <a:pt x="37" y="127"/>
                          <a:pt x="37" y="123"/>
                          <a:pt x="44" y="118"/>
                        </a:cubicBezTo>
                        <a:cubicBezTo>
                          <a:pt x="64" y="121"/>
                          <a:pt x="55" y="122"/>
                          <a:pt x="72" y="116"/>
                        </a:cubicBezTo>
                        <a:cubicBezTo>
                          <a:pt x="76" y="115"/>
                          <a:pt x="84" y="112"/>
                          <a:pt x="84" y="112"/>
                        </a:cubicBezTo>
                        <a:cubicBezTo>
                          <a:pt x="105" y="119"/>
                          <a:pt x="97" y="84"/>
                          <a:pt x="114" y="78"/>
                        </a:cubicBezTo>
                        <a:cubicBezTo>
                          <a:pt x="117" y="87"/>
                          <a:pt x="110" y="89"/>
                          <a:pt x="120" y="92"/>
                        </a:cubicBezTo>
                        <a:cubicBezTo>
                          <a:pt x="125" y="85"/>
                          <a:pt x="125" y="81"/>
                          <a:pt x="132" y="76"/>
                        </a:cubicBezTo>
                        <a:cubicBezTo>
                          <a:pt x="138" y="68"/>
                          <a:pt x="146" y="65"/>
                          <a:pt x="150" y="54"/>
                        </a:cubicBezTo>
                        <a:cubicBezTo>
                          <a:pt x="151" y="50"/>
                          <a:pt x="154" y="42"/>
                          <a:pt x="154" y="42"/>
                        </a:cubicBezTo>
                        <a:cubicBezTo>
                          <a:pt x="152" y="41"/>
                          <a:pt x="148" y="40"/>
                          <a:pt x="148" y="38"/>
                        </a:cubicBezTo>
                        <a:cubicBezTo>
                          <a:pt x="148" y="36"/>
                          <a:pt x="161" y="33"/>
                          <a:pt x="152" y="32"/>
                        </a:cubicBezTo>
                        <a:lnTo>
                          <a:pt x="158" y="24"/>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67" name="Freeform 51"/>
                  <p:cNvSpPr>
                    <a:spLocks/>
                  </p:cNvSpPr>
                  <p:nvPr/>
                </p:nvSpPr>
                <p:spPr bwMode="ltGray">
                  <a:xfrm>
                    <a:off x="2021" y="340"/>
                    <a:ext cx="6" cy="4"/>
                  </a:xfrm>
                  <a:custGeom>
                    <a:avLst/>
                    <a:gdLst>
                      <a:gd name="T0" fmla="*/ 0 w 13"/>
                      <a:gd name="T1" fmla="*/ 1 h 13"/>
                      <a:gd name="T2" fmla="*/ 1 w 13"/>
                      <a:gd name="T3" fmla="*/ 1 h 13"/>
                      <a:gd name="T4" fmla="*/ 0 w 13"/>
                      <a:gd name="T5" fmla="*/ 1 h 13"/>
                      <a:gd name="T6" fmla="*/ 0 60000 65536"/>
                      <a:gd name="T7" fmla="*/ 0 60000 65536"/>
                      <a:gd name="T8" fmla="*/ 0 60000 65536"/>
                    </a:gdLst>
                    <a:ahLst/>
                    <a:cxnLst>
                      <a:cxn ang="T6">
                        <a:pos x="T0" y="T1"/>
                      </a:cxn>
                      <a:cxn ang="T7">
                        <a:pos x="T2" y="T3"/>
                      </a:cxn>
                      <a:cxn ang="T8">
                        <a:pos x="T4" y="T5"/>
                      </a:cxn>
                    </a:cxnLst>
                    <a:rect l="0" t="0" r="r" b="b"/>
                    <a:pathLst>
                      <a:path w="13" h="13">
                        <a:moveTo>
                          <a:pt x="0" y="9"/>
                        </a:moveTo>
                        <a:cubicBezTo>
                          <a:pt x="6" y="0"/>
                          <a:pt x="13" y="7"/>
                          <a:pt x="4" y="13"/>
                        </a:cubicBezTo>
                        <a:cubicBezTo>
                          <a:pt x="0" y="6"/>
                          <a:pt x="0" y="5"/>
                          <a:pt x="0" y="9"/>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68" name="Freeform 52"/>
                  <p:cNvSpPr>
                    <a:spLocks/>
                  </p:cNvSpPr>
                  <p:nvPr/>
                </p:nvSpPr>
                <p:spPr bwMode="ltGray">
                  <a:xfrm>
                    <a:off x="1573" y="389"/>
                    <a:ext cx="347" cy="189"/>
                  </a:xfrm>
                  <a:custGeom>
                    <a:avLst/>
                    <a:gdLst>
                      <a:gd name="T0" fmla="*/ 148 w 812"/>
                      <a:gd name="T1" fmla="*/ 3 h 564"/>
                      <a:gd name="T2" fmla="*/ 142 w 812"/>
                      <a:gd name="T3" fmla="*/ 9 h 564"/>
                      <a:gd name="T4" fmla="*/ 137 w 812"/>
                      <a:gd name="T5" fmla="*/ 14 h 564"/>
                      <a:gd name="T6" fmla="*/ 132 w 812"/>
                      <a:gd name="T7" fmla="*/ 16 h 564"/>
                      <a:gd name="T8" fmla="*/ 116 w 812"/>
                      <a:gd name="T9" fmla="*/ 20 h 564"/>
                      <a:gd name="T10" fmla="*/ 115 w 812"/>
                      <a:gd name="T11" fmla="*/ 23 h 564"/>
                      <a:gd name="T12" fmla="*/ 110 w 812"/>
                      <a:gd name="T13" fmla="*/ 26 h 564"/>
                      <a:gd name="T14" fmla="*/ 113 w 812"/>
                      <a:gd name="T15" fmla="*/ 20 h 564"/>
                      <a:gd name="T16" fmla="*/ 105 w 812"/>
                      <a:gd name="T17" fmla="*/ 21 h 564"/>
                      <a:gd name="T18" fmla="*/ 102 w 812"/>
                      <a:gd name="T19" fmla="*/ 24 h 564"/>
                      <a:gd name="T20" fmla="*/ 109 w 812"/>
                      <a:gd name="T21" fmla="*/ 32 h 564"/>
                      <a:gd name="T22" fmla="*/ 109 w 812"/>
                      <a:gd name="T23" fmla="*/ 41 h 564"/>
                      <a:gd name="T24" fmla="*/ 99 w 812"/>
                      <a:gd name="T25" fmla="*/ 46 h 564"/>
                      <a:gd name="T26" fmla="*/ 95 w 812"/>
                      <a:gd name="T27" fmla="*/ 43 h 564"/>
                      <a:gd name="T28" fmla="*/ 88 w 812"/>
                      <a:gd name="T29" fmla="*/ 39 h 564"/>
                      <a:gd name="T30" fmla="*/ 84 w 812"/>
                      <a:gd name="T31" fmla="*/ 39 h 564"/>
                      <a:gd name="T32" fmla="*/ 82 w 812"/>
                      <a:gd name="T33" fmla="*/ 44 h 564"/>
                      <a:gd name="T34" fmla="*/ 91 w 812"/>
                      <a:gd name="T35" fmla="*/ 52 h 564"/>
                      <a:gd name="T36" fmla="*/ 93 w 812"/>
                      <a:gd name="T37" fmla="*/ 59 h 564"/>
                      <a:gd name="T38" fmla="*/ 96 w 812"/>
                      <a:gd name="T39" fmla="*/ 63 h 564"/>
                      <a:gd name="T40" fmla="*/ 90 w 812"/>
                      <a:gd name="T41" fmla="*/ 61 h 564"/>
                      <a:gd name="T42" fmla="*/ 86 w 812"/>
                      <a:gd name="T43" fmla="*/ 58 h 564"/>
                      <a:gd name="T44" fmla="*/ 77 w 812"/>
                      <a:gd name="T45" fmla="*/ 48 h 564"/>
                      <a:gd name="T46" fmla="*/ 78 w 812"/>
                      <a:gd name="T47" fmla="*/ 35 h 564"/>
                      <a:gd name="T48" fmla="*/ 77 w 812"/>
                      <a:gd name="T49" fmla="*/ 30 h 564"/>
                      <a:gd name="T50" fmla="*/ 75 w 812"/>
                      <a:gd name="T51" fmla="*/ 31 h 564"/>
                      <a:gd name="T52" fmla="*/ 71 w 812"/>
                      <a:gd name="T53" fmla="*/ 30 h 564"/>
                      <a:gd name="T54" fmla="*/ 66 w 812"/>
                      <a:gd name="T55" fmla="*/ 19 h 564"/>
                      <a:gd name="T56" fmla="*/ 60 w 812"/>
                      <a:gd name="T57" fmla="*/ 19 h 564"/>
                      <a:gd name="T58" fmla="*/ 53 w 812"/>
                      <a:gd name="T59" fmla="*/ 19 h 564"/>
                      <a:gd name="T60" fmla="*/ 44 w 812"/>
                      <a:gd name="T61" fmla="*/ 26 h 564"/>
                      <a:gd name="T62" fmla="*/ 36 w 812"/>
                      <a:gd name="T63" fmla="*/ 30 h 564"/>
                      <a:gd name="T64" fmla="*/ 34 w 812"/>
                      <a:gd name="T65" fmla="*/ 31 h 564"/>
                      <a:gd name="T66" fmla="*/ 29 w 812"/>
                      <a:gd name="T67" fmla="*/ 37 h 564"/>
                      <a:gd name="T68" fmla="*/ 28 w 812"/>
                      <a:gd name="T69" fmla="*/ 40 h 564"/>
                      <a:gd name="T70" fmla="*/ 24 w 812"/>
                      <a:gd name="T71" fmla="*/ 45 h 564"/>
                      <a:gd name="T72" fmla="*/ 17 w 812"/>
                      <a:gd name="T73" fmla="*/ 44 h 564"/>
                      <a:gd name="T74" fmla="*/ 12 w 812"/>
                      <a:gd name="T75" fmla="*/ 29 h 564"/>
                      <a:gd name="T76" fmla="*/ 13 w 812"/>
                      <a:gd name="T77" fmla="*/ 17 h 564"/>
                      <a:gd name="T78" fmla="*/ 8 w 812"/>
                      <a:gd name="T79" fmla="*/ 20 h 564"/>
                      <a:gd name="T80" fmla="*/ 4 w 812"/>
                      <a:gd name="T81" fmla="*/ 17 h 564"/>
                      <a:gd name="T82" fmla="*/ 4 w 812"/>
                      <a:gd name="T83" fmla="*/ 15 h 564"/>
                      <a:gd name="T84" fmla="*/ 0 w 812"/>
                      <a:gd name="T85" fmla="*/ 10 h 564"/>
                      <a:gd name="T86" fmla="*/ 146 w 812"/>
                      <a:gd name="T87" fmla="*/ 1 h 564"/>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0" t="0" r="r" b="b"/>
                    <a:pathLst>
                      <a:path w="812" h="564">
                        <a:moveTo>
                          <a:pt x="798" y="6"/>
                        </a:moveTo>
                        <a:cubicBezTo>
                          <a:pt x="801" y="15"/>
                          <a:pt x="809" y="16"/>
                          <a:pt x="812" y="26"/>
                        </a:cubicBezTo>
                        <a:cubicBezTo>
                          <a:pt x="809" y="36"/>
                          <a:pt x="801" y="41"/>
                          <a:pt x="796" y="50"/>
                        </a:cubicBezTo>
                        <a:cubicBezTo>
                          <a:pt x="791" y="61"/>
                          <a:pt x="788" y="71"/>
                          <a:pt x="778" y="78"/>
                        </a:cubicBezTo>
                        <a:cubicBezTo>
                          <a:pt x="773" y="85"/>
                          <a:pt x="771" y="88"/>
                          <a:pt x="774" y="96"/>
                        </a:cubicBezTo>
                        <a:cubicBezTo>
                          <a:pt x="767" y="107"/>
                          <a:pt x="758" y="114"/>
                          <a:pt x="748" y="122"/>
                        </a:cubicBezTo>
                        <a:cubicBezTo>
                          <a:pt x="744" y="125"/>
                          <a:pt x="736" y="130"/>
                          <a:pt x="736" y="130"/>
                        </a:cubicBezTo>
                        <a:cubicBezTo>
                          <a:pt x="740" y="141"/>
                          <a:pt x="731" y="140"/>
                          <a:pt x="722" y="142"/>
                        </a:cubicBezTo>
                        <a:cubicBezTo>
                          <a:pt x="716" y="148"/>
                          <a:pt x="712" y="151"/>
                          <a:pt x="704" y="154"/>
                        </a:cubicBezTo>
                        <a:cubicBezTo>
                          <a:pt x="686" y="150"/>
                          <a:pt x="650" y="169"/>
                          <a:pt x="634" y="180"/>
                        </a:cubicBezTo>
                        <a:cubicBezTo>
                          <a:pt x="636" y="189"/>
                          <a:pt x="631" y="193"/>
                          <a:pt x="640" y="196"/>
                        </a:cubicBezTo>
                        <a:cubicBezTo>
                          <a:pt x="643" y="205"/>
                          <a:pt x="640" y="207"/>
                          <a:pt x="632" y="210"/>
                        </a:cubicBezTo>
                        <a:cubicBezTo>
                          <a:pt x="626" y="219"/>
                          <a:pt x="623" y="226"/>
                          <a:pt x="614" y="232"/>
                        </a:cubicBezTo>
                        <a:cubicBezTo>
                          <a:pt x="611" y="231"/>
                          <a:pt x="606" y="233"/>
                          <a:pt x="604" y="230"/>
                        </a:cubicBezTo>
                        <a:cubicBezTo>
                          <a:pt x="599" y="220"/>
                          <a:pt x="610" y="199"/>
                          <a:pt x="620" y="196"/>
                        </a:cubicBezTo>
                        <a:cubicBezTo>
                          <a:pt x="623" y="187"/>
                          <a:pt x="617" y="187"/>
                          <a:pt x="620" y="178"/>
                        </a:cubicBezTo>
                        <a:cubicBezTo>
                          <a:pt x="617" y="164"/>
                          <a:pt x="609" y="168"/>
                          <a:pt x="598" y="172"/>
                        </a:cubicBezTo>
                        <a:cubicBezTo>
                          <a:pt x="592" y="180"/>
                          <a:pt x="585" y="185"/>
                          <a:pt x="576" y="188"/>
                        </a:cubicBezTo>
                        <a:cubicBezTo>
                          <a:pt x="572" y="194"/>
                          <a:pt x="568" y="200"/>
                          <a:pt x="564" y="206"/>
                        </a:cubicBezTo>
                        <a:cubicBezTo>
                          <a:pt x="561" y="210"/>
                          <a:pt x="556" y="218"/>
                          <a:pt x="556" y="218"/>
                        </a:cubicBezTo>
                        <a:cubicBezTo>
                          <a:pt x="558" y="234"/>
                          <a:pt x="559" y="243"/>
                          <a:pt x="572" y="252"/>
                        </a:cubicBezTo>
                        <a:cubicBezTo>
                          <a:pt x="579" y="262"/>
                          <a:pt x="586" y="273"/>
                          <a:pt x="596" y="280"/>
                        </a:cubicBezTo>
                        <a:cubicBezTo>
                          <a:pt x="598" y="286"/>
                          <a:pt x="602" y="298"/>
                          <a:pt x="602" y="298"/>
                        </a:cubicBezTo>
                        <a:cubicBezTo>
                          <a:pt x="601" y="308"/>
                          <a:pt x="599" y="361"/>
                          <a:pt x="594" y="368"/>
                        </a:cubicBezTo>
                        <a:cubicBezTo>
                          <a:pt x="590" y="374"/>
                          <a:pt x="576" y="378"/>
                          <a:pt x="570" y="382"/>
                        </a:cubicBezTo>
                        <a:cubicBezTo>
                          <a:pt x="563" y="393"/>
                          <a:pt x="550" y="396"/>
                          <a:pt x="542" y="406"/>
                        </a:cubicBezTo>
                        <a:cubicBezTo>
                          <a:pt x="536" y="413"/>
                          <a:pt x="539" y="417"/>
                          <a:pt x="530" y="420"/>
                        </a:cubicBezTo>
                        <a:cubicBezTo>
                          <a:pt x="526" y="408"/>
                          <a:pt x="538" y="391"/>
                          <a:pt x="522" y="386"/>
                        </a:cubicBezTo>
                        <a:cubicBezTo>
                          <a:pt x="516" y="377"/>
                          <a:pt x="510" y="364"/>
                          <a:pt x="502" y="356"/>
                        </a:cubicBezTo>
                        <a:cubicBezTo>
                          <a:pt x="497" y="341"/>
                          <a:pt x="505" y="360"/>
                          <a:pt x="482" y="348"/>
                        </a:cubicBezTo>
                        <a:cubicBezTo>
                          <a:pt x="478" y="346"/>
                          <a:pt x="478" y="339"/>
                          <a:pt x="474" y="336"/>
                        </a:cubicBezTo>
                        <a:cubicBezTo>
                          <a:pt x="470" y="323"/>
                          <a:pt x="466" y="342"/>
                          <a:pt x="462" y="348"/>
                        </a:cubicBezTo>
                        <a:cubicBezTo>
                          <a:pt x="460" y="358"/>
                          <a:pt x="456" y="363"/>
                          <a:pt x="454" y="374"/>
                        </a:cubicBezTo>
                        <a:cubicBezTo>
                          <a:pt x="457" y="383"/>
                          <a:pt x="455" y="387"/>
                          <a:pt x="450" y="394"/>
                        </a:cubicBezTo>
                        <a:cubicBezTo>
                          <a:pt x="454" y="399"/>
                          <a:pt x="464" y="411"/>
                          <a:pt x="466" y="418"/>
                        </a:cubicBezTo>
                        <a:cubicBezTo>
                          <a:pt x="474" y="443"/>
                          <a:pt x="472" y="458"/>
                          <a:pt x="500" y="464"/>
                        </a:cubicBezTo>
                        <a:cubicBezTo>
                          <a:pt x="507" y="469"/>
                          <a:pt x="510" y="474"/>
                          <a:pt x="516" y="480"/>
                        </a:cubicBezTo>
                        <a:cubicBezTo>
                          <a:pt x="511" y="494"/>
                          <a:pt x="513" y="509"/>
                          <a:pt x="510" y="524"/>
                        </a:cubicBezTo>
                        <a:cubicBezTo>
                          <a:pt x="512" y="537"/>
                          <a:pt x="511" y="541"/>
                          <a:pt x="522" y="548"/>
                        </a:cubicBezTo>
                        <a:cubicBezTo>
                          <a:pt x="523" y="552"/>
                          <a:pt x="525" y="556"/>
                          <a:pt x="526" y="560"/>
                        </a:cubicBezTo>
                        <a:cubicBezTo>
                          <a:pt x="527" y="564"/>
                          <a:pt x="514" y="556"/>
                          <a:pt x="514" y="556"/>
                        </a:cubicBezTo>
                        <a:cubicBezTo>
                          <a:pt x="502" y="564"/>
                          <a:pt x="501" y="551"/>
                          <a:pt x="492" y="544"/>
                        </a:cubicBezTo>
                        <a:cubicBezTo>
                          <a:pt x="488" y="541"/>
                          <a:pt x="480" y="536"/>
                          <a:pt x="480" y="536"/>
                        </a:cubicBezTo>
                        <a:cubicBezTo>
                          <a:pt x="471" y="522"/>
                          <a:pt x="474" y="529"/>
                          <a:pt x="470" y="518"/>
                        </a:cubicBezTo>
                        <a:cubicBezTo>
                          <a:pt x="467" y="491"/>
                          <a:pt x="461" y="446"/>
                          <a:pt x="436" y="430"/>
                        </a:cubicBezTo>
                        <a:cubicBezTo>
                          <a:pt x="428" y="433"/>
                          <a:pt x="425" y="433"/>
                          <a:pt x="422" y="424"/>
                        </a:cubicBezTo>
                        <a:cubicBezTo>
                          <a:pt x="427" y="404"/>
                          <a:pt x="432" y="383"/>
                          <a:pt x="438" y="364"/>
                        </a:cubicBezTo>
                        <a:cubicBezTo>
                          <a:pt x="436" y="343"/>
                          <a:pt x="431" y="330"/>
                          <a:pt x="426" y="310"/>
                        </a:cubicBezTo>
                        <a:cubicBezTo>
                          <a:pt x="429" y="302"/>
                          <a:pt x="425" y="300"/>
                          <a:pt x="422" y="292"/>
                        </a:cubicBezTo>
                        <a:cubicBezTo>
                          <a:pt x="424" y="282"/>
                          <a:pt x="428" y="277"/>
                          <a:pt x="422" y="268"/>
                        </a:cubicBezTo>
                        <a:cubicBezTo>
                          <a:pt x="420" y="269"/>
                          <a:pt x="418" y="269"/>
                          <a:pt x="416" y="270"/>
                        </a:cubicBezTo>
                        <a:cubicBezTo>
                          <a:pt x="414" y="272"/>
                          <a:pt x="414" y="275"/>
                          <a:pt x="412" y="276"/>
                        </a:cubicBezTo>
                        <a:cubicBezTo>
                          <a:pt x="408" y="278"/>
                          <a:pt x="400" y="280"/>
                          <a:pt x="400" y="280"/>
                        </a:cubicBezTo>
                        <a:cubicBezTo>
                          <a:pt x="394" y="274"/>
                          <a:pt x="389" y="274"/>
                          <a:pt x="386" y="266"/>
                        </a:cubicBezTo>
                        <a:cubicBezTo>
                          <a:pt x="391" y="251"/>
                          <a:pt x="379" y="206"/>
                          <a:pt x="364" y="196"/>
                        </a:cubicBezTo>
                        <a:cubicBezTo>
                          <a:pt x="357" y="186"/>
                          <a:pt x="358" y="182"/>
                          <a:pt x="360" y="170"/>
                        </a:cubicBezTo>
                        <a:cubicBezTo>
                          <a:pt x="358" y="160"/>
                          <a:pt x="356" y="147"/>
                          <a:pt x="346" y="144"/>
                        </a:cubicBezTo>
                        <a:cubicBezTo>
                          <a:pt x="343" y="154"/>
                          <a:pt x="338" y="160"/>
                          <a:pt x="330" y="166"/>
                        </a:cubicBezTo>
                        <a:cubicBezTo>
                          <a:pt x="323" y="164"/>
                          <a:pt x="308" y="160"/>
                          <a:pt x="308" y="160"/>
                        </a:cubicBezTo>
                        <a:cubicBezTo>
                          <a:pt x="296" y="162"/>
                          <a:pt x="297" y="166"/>
                          <a:pt x="288" y="172"/>
                        </a:cubicBezTo>
                        <a:cubicBezTo>
                          <a:pt x="284" y="185"/>
                          <a:pt x="282" y="191"/>
                          <a:pt x="268" y="196"/>
                        </a:cubicBezTo>
                        <a:cubicBezTo>
                          <a:pt x="264" y="200"/>
                          <a:pt x="243" y="231"/>
                          <a:pt x="242" y="232"/>
                        </a:cubicBezTo>
                        <a:cubicBezTo>
                          <a:pt x="231" y="239"/>
                          <a:pt x="215" y="247"/>
                          <a:pt x="206" y="256"/>
                        </a:cubicBezTo>
                        <a:cubicBezTo>
                          <a:pt x="202" y="260"/>
                          <a:pt x="200" y="265"/>
                          <a:pt x="196" y="268"/>
                        </a:cubicBezTo>
                        <a:cubicBezTo>
                          <a:pt x="194" y="269"/>
                          <a:pt x="192" y="269"/>
                          <a:pt x="190" y="270"/>
                        </a:cubicBezTo>
                        <a:cubicBezTo>
                          <a:pt x="188" y="271"/>
                          <a:pt x="186" y="272"/>
                          <a:pt x="184" y="274"/>
                        </a:cubicBezTo>
                        <a:cubicBezTo>
                          <a:pt x="180" y="278"/>
                          <a:pt x="172" y="286"/>
                          <a:pt x="172" y="286"/>
                        </a:cubicBezTo>
                        <a:cubicBezTo>
                          <a:pt x="167" y="300"/>
                          <a:pt x="165" y="314"/>
                          <a:pt x="160" y="328"/>
                        </a:cubicBezTo>
                        <a:cubicBezTo>
                          <a:pt x="158" y="335"/>
                          <a:pt x="156" y="341"/>
                          <a:pt x="154" y="348"/>
                        </a:cubicBezTo>
                        <a:cubicBezTo>
                          <a:pt x="153" y="350"/>
                          <a:pt x="152" y="354"/>
                          <a:pt x="152" y="354"/>
                        </a:cubicBezTo>
                        <a:cubicBezTo>
                          <a:pt x="152" y="359"/>
                          <a:pt x="156" y="384"/>
                          <a:pt x="146" y="392"/>
                        </a:cubicBezTo>
                        <a:cubicBezTo>
                          <a:pt x="141" y="397"/>
                          <a:pt x="128" y="404"/>
                          <a:pt x="128" y="404"/>
                        </a:cubicBezTo>
                        <a:cubicBezTo>
                          <a:pt x="125" y="412"/>
                          <a:pt x="122" y="421"/>
                          <a:pt x="114" y="424"/>
                        </a:cubicBezTo>
                        <a:cubicBezTo>
                          <a:pt x="100" y="419"/>
                          <a:pt x="97" y="405"/>
                          <a:pt x="94" y="392"/>
                        </a:cubicBezTo>
                        <a:cubicBezTo>
                          <a:pt x="86" y="362"/>
                          <a:pt x="82" y="332"/>
                          <a:pt x="72" y="302"/>
                        </a:cubicBezTo>
                        <a:cubicBezTo>
                          <a:pt x="71" y="281"/>
                          <a:pt x="70" y="275"/>
                          <a:pt x="66" y="258"/>
                        </a:cubicBezTo>
                        <a:cubicBezTo>
                          <a:pt x="66" y="251"/>
                          <a:pt x="68" y="219"/>
                          <a:pt x="64" y="208"/>
                        </a:cubicBezTo>
                        <a:cubicBezTo>
                          <a:pt x="70" y="191"/>
                          <a:pt x="66" y="173"/>
                          <a:pt x="72" y="156"/>
                        </a:cubicBezTo>
                        <a:cubicBezTo>
                          <a:pt x="66" y="139"/>
                          <a:pt x="60" y="168"/>
                          <a:pt x="56" y="172"/>
                        </a:cubicBezTo>
                        <a:cubicBezTo>
                          <a:pt x="53" y="175"/>
                          <a:pt x="44" y="180"/>
                          <a:pt x="44" y="180"/>
                        </a:cubicBezTo>
                        <a:cubicBezTo>
                          <a:pt x="35" y="177"/>
                          <a:pt x="28" y="173"/>
                          <a:pt x="24" y="162"/>
                        </a:cubicBezTo>
                        <a:cubicBezTo>
                          <a:pt x="23" y="158"/>
                          <a:pt x="20" y="150"/>
                          <a:pt x="20" y="150"/>
                        </a:cubicBezTo>
                        <a:cubicBezTo>
                          <a:pt x="30" y="148"/>
                          <a:pt x="30" y="143"/>
                          <a:pt x="38" y="138"/>
                        </a:cubicBezTo>
                        <a:cubicBezTo>
                          <a:pt x="35" y="128"/>
                          <a:pt x="31" y="133"/>
                          <a:pt x="24" y="138"/>
                        </a:cubicBezTo>
                        <a:cubicBezTo>
                          <a:pt x="15" y="135"/>
                          <a:pt x="15" y="132"/>
                          <a:pt x="18" y="124"/>
                        </a:cubicBezTo>
                        <a:cubicBezTo>
                          <a:pt x="11" y="114"/>
                          <a:pt x="9" y="101"/>
                          <a:pt x="0" y="92"/>
                        </a:cubicBezTo>
                        <a:lnTo>
                          <a:pt x="76" y="0"/>
                        </a:lnTo>
                        <a:lnTo>
                          <a:pt x="798" y="6"/>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69" name="Freeform 53"/>
                  <p:cNvSpPr>
                    <a:spLocks/>
                  </p:cNvSpPr>
                  <p:nvPr/>
                </p:nvSpPr>
                <p:spPr bwMode="ltGray">
                  <a:xfrm>
                    <a:off x="1634" y="519"/>
                    <a:ext cx="19" cy="29"/>
                  </a:xfrm>
                  <a:custGeom>
                    <a:avLst/>
                    <a:gdLst>
                      <a:gd name="T0" fmla="*/ 1 w 43"/>
                      <a:gd name="T1" fmla="*/ 1 h 85"/>
                      <a:gd name="T2" fmla="*/ 4 w 43"/>
                      <a:gd name="T3" fmla="*/ 0 h 85"/>
                      <a:gd name="T4" fmla="*/ 7 w 43"/>
                      <a:gd name="T5" fmla="*/ 4 h 85"/>
                      <a:gd name="T6" fmla="*/ 4 w 43"/>
                      <a:gd name="T7" fmla="*/ 10 h 85"/>
                      <a:gd name="T8" fmla="*/ 0 w 43"/>
                      <a:gd name="T9" fmla="*/ 8 h 85"/>
                      <a:gd name="T10" fmla="*/ 1 w 43"/>
                      <a:gd name="T11" fmla="*/ 1 h 85"/>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3" h="85">
                        <a:moveTo>
                          <a:pt x="7" y="11"/>
                        </a:moveTo>
                        <a:cubicBezTo>
                          <a:pt x="4" y="2"/>
                          <a:pt x="9" y="0"/>
                          <a:pt x="17" y="3"/>
                        </a:cubicBezTo>
                        <a:cubicBezTo>
                          <a:pt x="24" y="13"/>
                          <a:pt x="28" y="24"/>
                          <a:pt x="37" y="33"/>
                        </a:cubicBezTo>
                        <a:cubicBezTo>
                          <a:pt x="43" y="52"/>
                          <a:pt x="40" y="78"/>
                          <a:pt x="19" y="85"/>
                        </a:cubicBezTo>
                        <a:cubicBezTo>
                          <a:pt x="6" y="81"/>
                          <a:pt x="5" y="81"/>
                          <a:pt x="1" y="69"/>
                        </a:cubicBezTo>
                        <a:cubicBezTo>
                          <a:pt x="2" y="66"/>
                          <a:pt x="0" y="4"/>
                          <a:pt x="7" y="11"/>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70" name="Freeform 54"/>
                  <p:cNvSpPr>
                    <a:spLocks/>
                  </p:cNvSpPr>
                  <p:nvPr/>
                </p:nvSpPr>
                <p:spPr bwMode="ltGray">
                  <a:xfrm>
                    <a:off x="1900" y="421"/>
                    <a:ext cx="18" cy="24"/>
                  </a:xfrm>
                  <a:custGeom>
                    <a:avLst/>
                    <a:gdLst>
                      <a:gd name="T0" fmla="*/ 2 w 44"/>
                      <a:gd name="T1" fmla="*/ 3 h 74"/>
                      <a:gd name="T2" fmla="*/ 5 w 44"/>
                      <a:gd name="T3" fmla="*/ 0 h 74"/>
                      <a:gd name="T4" fmla="*/ 7 w 44"/>
                      <a:gd name="T5" fmla="*/ 0 h 74"/>
                      <a:gd name="T6" fmla="*/ 7 w 44"/>
                      <a:gd name="T7" fmla="*/ 3 h 74"/>
                      <a:gd name="T8" fmla="*/ 2 w 44"/>
                      <a:gd name="T9" fmla="*/ 8 h 74"/>
                      <a:gd name="T10" fmla="*/ 1 w 44"/>
                      <a:gd name="T11" fmla="*/ 6 h 74"/>
                      <a:gd name="T12" fmla="*/ 0 w 44"/>
                      <a:gd name="T13" fmla="*/ 4 h 74"/>
                      <a:gd name="T14" fmla="*/ 2 w 44"/>
                      <a:gd name="T15" fmla="*/ 3 h 7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44" h="74">
                        <a:moveTo>
                          <a:pt x="13" y="28"/>
                        </a:moveTo>
                        <a:cubicBezTo>
                          <a:pt x="15" y="13"/>
                          <a:pt x="14" y="7"/>
                          <a:pt x="29" y="2"/>
                        </a:cubicBezTo>
                        <a:cubicBezTo>
                          <a:pt x="34" y="3"/>
                          <a:pt x="40" y="0"/>
                          <a:pt x="43" y="4"/>
                        </a:cubicBezTo>
                        <a:cubicBezTo>
                          <a:pt x="44" y="6"/>
                          <a:pt x="41" y="21"/>
                          <a:pt x="39" y="26"/>
                        </a:cubicBezTo>
                        <a:cubicBezTo>
                          <a:pt x="31" y="43"/>
                          <a:pt x="30" y="63"/>
                          <a:pt x="13" y="74"/>
                        </a:cubicBezTo>
                        <a:cubicBezTo>
                          <a:pt x="4" y="71"/>
                          <a:pt x="4" y="68"/>
                          <a:pt x="7" y="60"/>
                        </a:cubicBezTo>
                        <a:cubicBezTo>
                          <a:pt x="5" y="50"/>
                          <a:pt x="0" y="46"/>
                          <a:pt x="3" y="36"/>
                        </a:cubicBezTo>
                        <a:cubicBezTo>
                          <a:pt x="4" y="32"/>
                          <a:pt x="8" y="23"/>
                          <a:pt x="13" y="2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71" name="Freeform 55"/>
                  <p:cNvSpPr>
                    <a:spLocks/>
                  </p:cNvSpPr>
                  <p:nvPr/>
                </p:nvSpPr>
                <p:spPr bwMode="ltGray">
                  <a:xfrm>
                    <a:off x="1951" y="409"/>
                    <a:ext cx="9" cy="10"/>
                  </a:xfrm>
                  <a:custGeom>
                    <a:avLst/>
                    <a:gdLst>
                      <a:gd name="T0" fmla="*/ 1 w 20"/>
                      <a:gd name="T1" fmla="*/ 2 h 30"/>
                      <a:gd name="T2" fmla="*/ 1 w 20"/>
                      <a:gd name="T3" fmla="*/ 3 h 30"/>
                      <a:gd name="T4" fmla="*/ 1 w 20"/>
                      <a:gd name="T5" fmla="*/ 2 h 30"/>
                      <a:gd name="T6" fmla="*/ 0 60000 65536"/>
                      <a:gd name="T7" fmla="*/ 0 60000 65536"/>
                      <a:gd name="T8" fmla="*/ 0 60000 65536"/>
                    </a:gdLst>
                    <a:ahLst/>
                    <a:cxnLst>
                      <a:cxn ang="T6">
                        <a:pos x="T0" y="T1"/>
                      </a:cxn>
                      <a:cxn ang="T7">
                        <a:pos x="T2" y="T3"/>
                      </a:cxn>
                      <a:cxn ang="T8">
                        <a:pos x="T4" y="T5"/>
                      </a:cxn>
                    </a:cxnLst>
                    <a:rect l="0" t="0" r="r" b="b"/>
                    <a:pathLst>
                      <a:path w="20" h="30">
                        <a:moveTo>
                          <a:pt x="7" y="16"/>
                        </a:moveTo>
                        <a:cubicBezTo>
                          <a:pt x="18" y="0"/>
                          <a:pt x="20" y="20"/>
                          <a:pt x="5" y="30"/>
                        </a:cubicBezTo>
                        <a:cubicBezTo>
                          <a:pt x="0" y="23"/>
                          <a:pt x="1" y="22"/>
                          <a:pt x="7" y="16"/>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72" name="Freeform 56"/>
                  <p:cNvSpPr>
                    <a:spLocks/>
                  </p:cNvSpPr>
                  <p:nvPr/>
                </p:nvSpPr>
                <p:spPr bwMode="ltGray">
                  <a:xfrm>
                    <a:off x="1021" y="314"/>
                    <a:ext cx="433" cy="354"/>
                  </a:xfrm>
                  <a:custGeom>
                    <a:avLst/>
                    <a:gdLst>
                      <a:gd name="T0" fmla="*/ 194 w 682"/>
                      <a:gd name="T1" fmla="*/ 187 h 557"/>
                      <a:gd name="T2" fmla="*/ 196 w 682"/>
                      <a:gd name="T3" fmla="*/ 182 h 557"/>
                      <a:gd name="T4" fmla="*/ 201 w 682"/>
                      <a:gd name="T5" fmla="*/ 167 h 557"/>
                      <a:gd name="T6" fmla="*/ 124 w 682"/>
                      <a:gd name="T7" fmla="*/ 116 h 557"/>
                      <a:gd name="T8" fmla="*/ 114 w 682"/>
                      <a:gd name="T9" fmla="*/ 140 h 557"/>
                      <a:gd name="T10" fmla="*/ 122 w 682"/>
                      <a:gd name="T11" fmla="*/ 224 h 557"/>
                      <a:gd name="T12" fmla="*/ 114 w 682"/>
                      <a:gd name="T13" fmla="*/ 200 h 557"/>
                      <a:gd name="T14" fmla="*/ 98 w 682"/>
                      <a:gd name="T15" fmla="*/ 177 h 557"/>
                      <a:gd name="T16" fmla="*/ 99 w 682"/>
                      <a:gd name="T17" fmla="*/ 167 h 557"/>
                      <a:gd name="T18" fmla="*/ 100 w 682"/>
                      <a:gd name="T19" fmla="*/ 159 h 557"/>
                      <a:gd name="T20" fmla="*/ 89 w 682"/>
                      <a:gd name="T21" fmla="*/ 151 h 557"/>
                      <a:gd name="T22" fmla="*/ 78 w 682"/>
                      <a:gd name="T23" fmla="*/ 140 h 557"/>
                      <a:gd name="T24" fmla="*/ 60 w 682"/>
                      <a:gd name="T25" fmla="*/ 143 h 557"/>
                      <a:gd name="T26" fmla="*/ 51 w 682"/>
                      <a:gd name="T27" fmla="*/ 147 h 557"/>
                      <a:gd name="T28" fmla="*/ 32 w 682"/>
                      <a:gd name="T29" fmla="*/ 147 h 557"/>
                      <a:gd name="T30" fmla="*/ 9 w 682"/>
                      <a:gd name="T31" fmla="*/ 126 h 557"/>
                      <a:gd name="T32" fmla="*/ 4 w 682"/>
                      <a:gd name="T33" fmla="*/ 119 h 557"/>
                      <a:gd name="T34" fmla="*/ 0 w 682"/>
                      <a:gd name="T35" fmla="*/ 107 h 557"/>
                      <a:gd name="T36" fmla="*/ 10 w 682"/>
                      <a:gd name="T37" fmla="*/ 86 h 557"/>
                      <a:gd name="T38" fmla="*/ 13 w 682"/>
                      <a:gd name="T39" fmla="*/ 73 h 557"/>
                      <a:gd name="T40" fmla="*/ 20 w 682"/>
                      <a:gd name="T41" fmla="*/ 58 h 557"/>
                      <a:gd name="T42" fmla="*/ 32 w 682"/>
                      <a:gd name="T43" fmla="*/ 47 h 557"/>
                      <a:gd name="T44" fmla="*/ 67 w 682"/>
                      <a:gd name="T45" fmla="*/ 27 h 557"/>
                      <a:gd name="T46" fmla="*/ 89 w 682"/>
                      <a:gd name="T47" fmla="*/ 12 h 557"/>
                      <a:gd name="T48" fmla="*/ 104 w 682"/>
                      <a:gd name="T49" fmla="*/ 3 h 557"/>
                      <a:gd name="T50" fmla="*/ 146 w 682"/>
                      <a:gd name="T51" fmla="*/ 1 h 557"/>
                      <a:gd name="T52" fmla="*/ 161 w 682"/>
                      <a:gd name="T53" fmla="*/ 0 h 557"/>
                      <a:gd name="T54" fmla="*/ 155 w 682"/>
                      <a:gd name="T55" fmla="*/ 14 h 557"/>
                      <a:gd name="T56" fmla="*/ 178 w 682"/>
                      <a:gd name="T57" fmla="*/ 34 h 557"/>
                      <a:gd name="T58" fmla="*/ 201 w 682"/>
                      <a:gd name="T59" fmla="*/ 30 h 557"/>
                      <a:gd name="T60" fmla="*/ 213 w 682"/>
                      <a:gd name="T61" fmla="*/ 33 h 557"/>
                      <a:gd name="T62" fmla="*/ 225 w 682"/>
                      <a:gd name="T63" fmla="*/ 39 h 557"/>
                      <a:gd name="T64" fmla="*/ 230 w 682"/>
                      <a:gd name="T65" fmla="*/ 76 h 557"/>
                      <a:gd name="T66" fmla="*/ 230 w 682"/>
                      <a:gd name="T67" fmla="*/ 97 h 557"/>
                      <a:gd name="T68" fmla="*/ 241 w 682"/>
                      <a:gd name="T69" fmla="*/ 114 h 557"/>
                      <a:gd name="T70" fmla="*/ 260 w 682"/>
                      <a:gd name="T71" fmla="*/ 121 h 557"/>
                      <a:gd name="T72" fmla="*/ 274 w 682"/>
                      <a:gd name="T73" fmla="*/ 119 h 557"/>
                      <a:gd name="T74" fmla="*/ 268 w 682"/>
                      <a:gd name="T75" fmla="*/ 137 h 557"/>
                      <a:gd name="T76" fmla="*/ 241 w 682"/>
                      <a:gd name="T77" fmla="*/ 165 h 557"/>
                      <a:gd name="T78" fmla="*/ 221 w 682"/>
                      <a:gd name="T79" fmla="*/ 196 h 557"/>
                      <a:gd name="T80" fmla="*/ 224 w 682"/>
                      <a:gd name="T81" fmla="*/ 205 h 557"/>
                      <a:gd name="T82" fmla="*/ 175 w 682"/>
                      <a:gd name="T83" fmla="*/ 224 h 557"/>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0" t="0" r="r" b="b"/>
                    <a:pathLst>
                      <a:path w="682" h="557">
                        <a:moveTo>
                          <a:pt x="435" y="556"/>
                        </a:moveTo>
                        <a:lnTo>
                          <a:pt x="481" y="464"/>
                        </a:lnTo>
                        <a:lnTo>
                          <a:pt x="473" y="449"/>
                        </a:lnTo>
                        <a:lnTo>
                          <a:pt x="486" y="451"/>
                        </a:lnTo>
                        <a:lnTo>
                          <a:pt x="495" y="441"/>
                        </a:lnTo>
                        <a:lnTo>
                          <a:pt x="500" y="413"/>
                        </a:lnTo>
                        <a:lnTo>
                          <a:pt x="500" y="371"/>
                        </a:lnTo>
                        <a:lnTo>
                          <a:pt x="309" y="287"/>
                        </a:lnTo>
                        <a:lnTo>
                          <a:pt x="296" y="308"/>
                        </a:lnTo>
                        <a:lnTo>
                          <a:pt x="282" y="346"/>
                        </a:lnTo>
                        <a:lnTo>
                          <a:pt x="396" y="557"/>
                        </a:lnTo>
                        <a:lnTo>
                          <a:pt x="303" y="556"/>
                        </a:lnTo>
                        <a:lnTo>
                          <a:pt x="304" y="536"/>
                        </a:lnTo>
                        <a:cubicBezTo>
                          <a:pt x="284" y="520"/>
                          <a:pt x="296" y="510"/>
                          <a:pt x="282" y="494"/>
                        </a:cubicBezTo>
                        <a:cubicBezTo>
                          <a:pt x="276" y="475"/>
                          <a:pt x="267" y="468"/>
                          <a:pt x="253" y="451"/>
                        </a:cubicBezTo>
                        <a:cubicBezTo>
                          <a:pt x="249" y="447"/>
                          <a:pt x="245" y="443"/>
                          <a:pt x="242" y="439"/>
                        </a:cubicBezTo>
                        <a:lnTo>
                          <a:pt x="237" y="432"/>
                        </a:lnTo>
                        <a:cubicBezTo>
                          <a:pt x="237" y="432"/>
                          <a:pt x="245" y="413"/>
                          <a:pt x="245" y="413"/>
                        </a:cubicBezTo>
                        <a:cubicBezTo>
                          <a:pt x="247" y="409"/>
                          <a:pt x="250" y="401"/>
                          <a:pt x="250" y="401"/>
                        </a:cubicBezTo>
                        <a:cubicBezTo>
                          <a:pt x="249" y="399"/>
                          <a:pt x="247" y="397"/>
                          <a:pt x="247" y="394"/>
                        </a:cubicBezTo>
                        <a:cubicBezTo>
                          <a:pt x="248" y="390"/>
                          <a:pt x="253" y="382"/>
                          <a:pt x="253" y="382"/>
                        </a:cubicBezTo>
                        <a:cubicBezTo>
                          <a:pt x="243" y="370"/>
                          <a:pt x="237" y="371"/>
                          <a:pt x="220" y="375"/>
                        </a:cubicBezTo>
                        <a:cubicBezTo>
                          <a:pt x="217" y="371"/>
                          <a:pt x="210" y="369"/>
                          <a:pt x="207" y="365"/>
                        </a:cubicBezTo>
                        <a:cubicBezTo>
                          <a:pt x="185" y="337"/>
                          <a:pt x="216" y="363"/>
                          <a:pt x="194" y="346"/>
                        </a:cubicBezTo>
                        <a:cubicBezTo>
                          <a:pt x="167" y="349"/>
                          <a:pt x="179" y="346"/>
                          <a:pt x="156" y="352"/>
                        </a:cubicBezTo>
                        <a:cubicBezTo>
                          <a:pt x="153" y="353"/>
                          <a:pt x="148" y="354"/>
                          <a:pt x="148" y="354"/>
                        </a:cubicBezTo>
                        <a:cubicBezTo>
                          <a:pt x="146" y="356"/>
                          <a:pt x="145" y="359"/>
                          <a:pt x="142" y="361"/>
                        </a:cubicBezTo>
                        <a:cubicBezTo>
                          <a:pt x="138" y="363"/>
                          <a:pt x="126" y="365"/>
                          <a:pt x="126" y="365"/>
                        </a:cubicBezTo>
                        <a:cubicBezTo>
                          <a:pt x="105" y="354"/>
                          <a:pt x="116" y="355"/>
                          <a:pt x="94" y="361"/>
                        </a:cubicBezTo>
                        <a:cubicBezTo>
                          <a:pt x="89" y="362"/>
                          <a:pt x="78" y="365"/>
                          <a:pt x="78" y="365"/>
                        </a:cubicBezTo>
                        <a:cubicBezTo>
                          <a:pt x="62" y="383"/>
                          <a:pt x="46" y="346"/>
                          <a:pt x="35" y="337"/>
                        </a:cubicBezTo>
                        <a:cubicBezTo>
                          <a:pt x="32" y="330"/>
                          <a:pt x="24" y="320"/>
                          <a:pt x="22" y="312"/>
                        </a:cubicBezTo>
                        <a:cubicBezTo>
                          <a:pt x="20" y="308"/>
                          <a:pt x="22" y="303"/>
                          <a:pt x="19" y="300"/>
                        </a:cubicBezTo>
                        <a:cubicBezTo>
                          <a:pt x="17" y="297"/>
                          <a:pt x="13" y="297"/>
                          <a:pt x="11" y="295"/>
                        </a:cubicBezTo>
                        <a:cubicBezTo>
                          <a:pt x="3" y="277"/>
                          <a:pt x="15" y="306"/>
                          <a:pt x="5" y="276"/>
                        </a:cubicBezTo>
                        <a:cubicBezTo>
                          <a:pt x="4" y="272"/>
                          <a:pt x="0" y="264"/>
                          <a:pt x="0" y="264"/>
                        </a:cubicBezTo>
                        <a:cubicBezTo>
                          <a:pt x="3" y="253"/>
                          <a:pt x="2" y="248"/>
                          <a:pt x="13" y="243"/>
                        </a:cubicBezTo>
                        <a:cubicBezTo>
                          <a:pt x="20" y="221"/>
                          <a:pt x="17" y="231"/>
                          <a:pt x="24" y="213"/>
                        </a:cubicBezTo>
                        <a:cubicBezTo>
                          <a:pt x="26" y="209"/>
                          <a:pt x="30" y="200"/>
                          <a:pt x="30" y="200"/>
                        </a:cubicBezTo>
                        <a:cubicBezTo>
                          <a:pt x="26" y="192"/>
                          <a:pt x="24" y="191"/>
                          <a:pt x="32" y="181"/>
                        </a:cubicBezTo>
                        <a:cubicBezTo>
                          <a:pt x="36" y="177"/>
                          <a:pt x="43" y="169"/>
                          <a:pt x="43" y="169"/>
                        </a:cubicBezTo>
                        <a:cubicBezTo>
                          <a:pt x="37" y="155"/>
                          <a:pt x="36" y="153"/>
                          <a:pt x="51" y="143"/>
                        </a:cubicBezTo>
                        <a:cubicBezTo>
                          <a:pt x="56" y="140"/>
                          <a:pt x="67" y="135"/>
                          <a:pt x="67" y="135"/>
                        </a:cubicBezTo>
                        <a:cubicBezTo>
                          <a:pt x="73" y="129"/>
                          <a:pt x="75" y="122"/>
                          <a:pt x="81" y="116"/>
                        </a:cubicBezTo>
                        <a:cubicBezTo>
                          <a:pt x="89" y="107"/>
                          <a:pt x="102" y="105"/>
                          <a:pt x="113" y="99"/>
                        </a:cubicBezTo>
                        <a:cubicBezTo>
                          <a:pt x="125" y="85"/>
                          <a:pt x="149" y="76"/>
                          <a:pt x="167" y="67"/>
                        </a:cubicBezTo>
                        <a:cubicBezTo>
                          <a:pt x="174" y="59"/>
                          <a:pt x="175" y="50"/>
                          <a:pt x="188" y="46"/>
                        </a:cubicBezTo>
                        <a:cubicBezTo>
                          <a:pt x="198" y="39"/>
                          <a:pt x="208" y="36"/>
                          <a:pt x="220" y="30"/>
                        </a:cubicBezTo>
                        <a:cubicBezTo>
                          <a:pt x="223" y="28"/>
                          <a:pt x="228" y="25"/>
                          <a:pt x="228" y="25"/>
                        </a:cubicBezTo>
                        <a:cubicBezTo>
                          <a:pt x="237" y="16"/>
                          <a:pt x="245" y="10"/>
                          <a:pt x="258" y="6"/>
                        </a:cubicBezTo>
                        <a:cubicBezTo>
                          <a:pt x="269" y="31"/>
                          <a:pt x="301" y="6"/>
                          <a:pt x="320" y="4"/>
                        </a:cubicBezTo>
                        <a:cubicBezTo>
                          <a:pt x="334" y="3"/>
                          <a:pt x="349" y="3"/>
                          <a:pt x="363" y="2"/>
                        </a:cubicBezTo>
                        <a:cubicBezTo>
                          <a:pt x="369" y="3"/>
                          <a:pt x="376" y="5"/>
                          <a:pt x="382" y="4"/>
                        </a:cubicBezTo>
                        <a:cubicBezTo>
                          <a:pt x="387" y="4"/>
                          <a:pt x="398" y="0"/>
                          <a:pt x="398" y="0"/>
                        </a:cubicBezTo>
                        <a:cubicBezTo>
                          <a:pt x="415" y="8"/>
                          <a:pt x="406" y="16"/>
                          <a:pt x="400" y="30"/>
                        </a:cubicBezTo>
                        <a:cubicBezTo>
                          <a:pt x="398" y="34"/>
                          <a:pt x="384" y="34"/>
                          <a:pt x="384" y="34"/>
                        </a:cubicBezTo>
                        <a:cubicBezTo>
                          <a:pt x="379" y="47"/>
                          <a:pt x="398" y="51"/>
                          <a:pt x="411" y="55"/>
                        </a:cubicBezTo>
                        <a:cubicBezTo>
                          <a:pt x="419" y="72"/>
                          <a:pt x="421" y="79"/>
                          <a:pt x="443" y="84"/>
                        </a:cubicBezTo>
                        <a:cubicBezTo>
                          <a:pt x="461" y="71"/>
                          <a:pt x="435" y="65"/>
                          <a:pt x="468" y="57"/>
                        </a:cubicBezTo>
                        <a:cubicBezTo>
                          <a:pt x="482" y="61"/>
                          <a:pt x="485" y="70"/>
                          <a:pt x="497" y="74"/>
                        </a:cubicBezTo>
                        <a:cubicBezTo>
                          <a:pt x="505" y="76"/>
                          <a:pt x="513" y="78"/>
                          <a:pt x="521" y="80"/>
                        </a:cubicBezTo>
                        <a:cubicBezTo>
                          <a:pt x="524" y="81"/>
                          <a:pt x="529" y="82"/>
                          <a:pt x="529" y="82"/>
                        </a:cubicBezTo>
                        <a:cubicBezTo>
                          <a:pt x="547" y="78"/>
                          <a:pt x="547" y="76"/>
                          <a:pt x="562" y="84"/>
                        </a:cubicBezTo>
                        <a:cubicBezTo>
                          <a:pt x="566" y="95"/>
                          <a:pt x="565" y="86"/>
                          <a:pt x="559" y="97"/>
                        </a:cubicBezTo>
                        <a:cubicBezTo>
                          <a:pt x="557" y="101"/>
                          <a:pt x="554" y="110"/>
                          <a:pt x="554" y="110"/>
                        </a:cubicBezTo>
                        <a:cubicBezTo>
                          <a:pt x="556" y="132"/>
                          <a:pt x="556" y="168"/>
                          <a:pt x="572" y="188"/>
                        </a:cubicBezTo>
                        <a:cubicBezTo>
                          <a:pt x="568" y="198"/>
                          <a:pt x="564" y="208"/>
                          <a:pt x="562" y="219"/>
                        </a:cubicBezTo>
                        <a:cubicBezTo>
                          <a:pt x="564" y="227"/>
                          <a:pt x="569" y="233"/>
                          <a:pt x="572" y="240"/>
                        </a:cubicBezTo>
                        <a:cubicBezTo>
                          <a:pt x="573" y="247"/>
                          <a:pt x="572" y="254"/>
                          <a:pt x="575" y="259"/>
                        </a:cubicBezTo>
                        <a:cubicBezTo>
                          <a:pt x="577" y="263"/>
                          <a:pt x="595" y="272"/>
                          <a:pt x="599" y="283"/>
                        </a:cubicBezTo>
                        <a:cubicBezTo>
                          <a:pt x="594" y="295"/>
                          <a:pt x="603" y="306"/>
                          <a:pt x="618" y="310"/>
                        </a:cubicBezTo>
                        <a:cubicBezTo>
                          <a:pt x="630" y="307"/>
                          <a:pt x="638" y="308"/>
                          <a:pt x="645" y="300"/>
                        </a:cubicBezTo>
                        <a:cubicBezTo>
                          <a:pt x="660" y="302"/>
                          <a:pt x="663" y="303"/>
                          <a:pt x="672" y="293"/>
                        </a:cubicBezTo>
                        <a:cubicBezTo>
                          <a:pt x="675" y="294"/>
                          <a:pt x="679" y="293"/>
                          <a:pt x="680" y="295"/>
                        </a:cubicBezTo>
                        <a:cubicBezTo>
                          <a:pt x="682" y="301"/>
                          <a:pt x="674" y="321"/>
                          <a:pt x="672" y="327"/>
                        </a:cubicBezTo>
                        <a:cubicBezTo>
                          <a:pt x="668" y="340"/>
                          <a:pt x="671" y="326"/>
                          <a:pt x="664" y="340"/>
                        </a:cubicBezTo>
                        <a:cubicBezTo>
                          <a:pt x="652" y="360"/>
                          <a:pt x="646" y="381"/>
                          <a:pt x="621" y="394"/>
                        </a:cubicBezTo>
                        <a:cubicBezTo>
                          <a:pt x="614" y="402"/>
                          <a:pt x="609" y="402"/>
                          <a:pt x="599" y="407"/>
                        </a:cubicBezTo>
                        <a:cubicBezTo>
                          <a:pt x="590" y="418"/>
                          <a:pt x="579" y="429"/>
                          <a:pt x="567" y="439"/>
                        </a:cubicBezTo>
                        <a:cubicBezTo>
                          <a:pt x="560" y="454"/>
                          <a:pt x="555" y="470"/>
                          <a:pt x="548" y="485"/>
                        </a:cubicBezTo>
                        <a:cubicBezTo>
                          <a:pt x="549" y="489"/>
                          <a:pt x="550" y="492"/>
                          <a:pt x="551" y="496"/>
                        </a:cubicBezTo>
                        <a:cubicBezTo>
                          <a:pt x="552" y="500"/>
                          <a:pt x="556" y="508"/>
                          <a:pt x="556" y="508"/>
                        </a:cubicBezTo>
                        <a:cubicBezTo>
                          <a:pt x="559" y="524"/>
                          <a:pt x="562" y="546"/>
                          <a:pt x="576" y="557"/>
                        </a:cubicBezTo>
                        <a:lnTo>
                          <a:pt x="435" y="556"/>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73" name="Freeform 57"/>
                  <p:cNvSpPr>
                    <a:spLocks/>
                  </p:cNvSpPr>
                  <p:nvPr/>
                </p:nvSpPr>
                <p:spPr bwMode="ltGray">
                  <a:xfrm>
                    <a:off x="1189" y="447"/>
                    <a:ext cx="163" cy="221"/>
                  </a:xfrm>
                  <a:custGeom>
                    <a:avLst/>
                    <a:gdLst>
                      <a:gd name="T0" fmla="*/ 98 w 257"/>
                      <a:gd name="T1" fmla="*/ 141 h 347"/>
                      <a:gd name="T2" fmla="*/ 94 w 257"/>
                      <a:gd name="T3" fmla="*/ 122 h 347"/>
                      <a:gd name="T4" fmla="*/ 88 w 257"/>
                      <a:gd name="T5" fmla="*/ 117 h 347"/>
                      <a:gd name="T6" fmla="*/ 86 w 257"/>
                      <a:gd name="T7" fmla="*/ 109 h 347"/>
                      <a:gd name="T8" fmla="*/ 84 w 257"/>
                      <a:gd name="T9" fmla="*/ 103 h 347"/>
                      <a:gd name="T10" fmla="*/ 84 w 257"/>
                      <a:gd name="T11" fmla="*/ 93 h 347"/>
                      <a:gd name="T12" fmla="*/ 83 w 257"/>
                      <a:gd name="T13" fmla="*/ 87 h 347"/>
                      <a:gd name="T14" fmla="*/ 92 w 257"/>
                      <a:gd name="T15" fmla="*/ 82 h 347"/>
                      <a:gd name="T16" fmla="*/ 103 w 257"/>
                      <a:gd name="T17" fmla="*/ 80 h 347"/>
                      <a:gd name="T18" fmla="*/ 103 w 257"/>
                      <a:gd name="T19" fmla="*/ 55 h 347"/>
                      <a:gd name="T20" fmla="*/ 22 w 257"/>
                      <a:gd name="T21" fmla="*/ 39 h 347"/>
                      <a:gd name="T22" fmla="*/ 13 w 257"/>
                      <a:gd name="T23" fmla="*/ 39 h 347"/>
                      <a:gd name="T24" fmla="*/ 6 w 257"/>
                      <a:gd name="T25" fmla="*/ 41 h 347"/>
                      <a:gd name="T26" fmla="*/ 0 w 257"/>
                      <a:gd name="T27" fmla="*/ 61 h 347"/>
                      <a:gd name="T28" fmla="*/ 37 w 257"/>
                      <a:gd name="T29" fmla="*/ 140 h 347"/>
                      <a:gd name="T30" fmla="*/ 98 w 257"/>
                      <a:gd name="T31" fmla="*/ 141 h 347"/>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257" h="347">
                        <a:moveTo>
                          <a:pt x="243" y="347"/>
                        </a:moveTo>
                        <a:lnTo>
                          <a:pt x="233" y="301"/>
                        </a:lnTo>
                        <a:lnTo>
                          <a:pt x="217" y="288"/>
                        </a:lnTo>
                        <a:lnTo>
                          <a:pt x="215" y="269"/>
                        </a:lnTo>
                        <a:lnTo>
                          <a:pt x="209" y="254"/>
                        </a:lnTo>
                        <a:lnTo>
                          <a:pt x="209" y="229"/>
                        </a:lnTo>
                        <a:lnTo>
                          <a:pt x="207" y="214"/>
                        </a:lnTo>
                        <a:lnTo>
                          <a:pt x="228" y="202"/>
                        </a:lnTo>
                        <a:lnTo>
                          <a:pt x="257" y="197"/>
                        </a:lnTo>
                        <a:lnTo>
                          <a:pt x="257" y="136"/>
                        </a:lnTo>
                        <a:cubicBezTo>
                          <a:pt x="209" y="119"/>
                          <a:pt x="13" y="0"/>
                          <a:pt x="54" y="96"/>
                        </a:cubicBezTo>
                        <a:cubicBezTo>
                          <a:pt x="36" y="106"/>
                          <a:pt x="57" y="97"/>
                          <a:pt x="32" y="98"/>
                        </a:cubicBezTo>
                        <a:cubicBezTo>
                          <a:pt x="27" y="99"/>
                          <a:pt x="16" y="102"/>
                          <a:pt x="16" y="102"/>
                        </a:cubicBezTo>
                        <a:lnTo>
                          <a:pt x="0" y="149"/>
                        </a:lnTo>
                        <a:lnTo>
                          <a:pt x="93" y="346"/>
                        </a:lnTo>
                        <a:lnTo>
                          <a:pt x="243" y="347"/>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74" name="Freeform 58"/>
                  <p:cNvSpPr>
                    <a:spLocks/>
                  </p:cNvSpPr>
                  <p:nvPr/>
                </p:nvSpPr>
                <p:spPr bwMode="ltGray">
                  <a:xfrm>
                    <a:off x="1476" y="611"/>
                    <a:ext cx="7" cy="12"/>
                  </a:xfrm>
                  <a:custGeom>
                    <a:avLst/>
                    <a:gdLst>
                      <a:gd name="T0" fmla="*/ 1 w 19"/>
                      <a:gd name="T1" fmla="*/ 3 h 37"/>
                      <a:gd name="T2" fmla="*/ 3 w 19"/>
                      <a:gd name="T3" fmla="*/ 2 h 37"/>
                      <a:gd name="T4" fmla="*/ 1 w 19"/>
                      <a:gd name="T5" fmla="*/ 3 h 37"/>
                      <a:gd name="T6" fmla="*/ 0 60000 65536"/>
                      <a:gd name="T7" fmla="*/ 0 60000 65536"/>
                      <a:gd name="T8" fmla="*/ 0 60000 65536"/>
                    </a:gdLst>
                    <a:ahLst/>
                    <a:cxnLst>
                      <a:cxn ang="T6">
                        <a:pos x="T0" y="T1"/>
                      </a:cxn>
                      <a:cxn ang="T7">
                        <a:pos x="T2" y="T3"/>
                      </a:cxn>
                      <a:cxn ang="T8">
                        <a:pos x="T4" y="T5"/>
                      </a:cxn>
                    </a:cxnLst>
                    <a:rect l="0" t="0" r="r" b="b"/>
                    <a:pathLst>
                      <a:path w="19" h="37">
                        <a:moveTo>
                          <a:pt x="7" y="25"/>
                        </a:moveTo>
                        <a:cubicBezTo>
                          <a:pt x="0" y="4"/>
                          <a:pt x="12" y="0"/>
                          <a:pt x="19" y="21"/>
                        </a:cubicBezTo>
                        <a:cubicBezTo>
                          <a:pt x="14" y="37"/>
                          <a:pt x="18" y="36"/>
                          <a:pt x="7" y="25"/>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75" name="Freeform 59"/>
                  <p:cNvSpPr>
                    <a:spLocks/>
                  </p:cNvSpPr>
                  <p:nvPr/>
                </p:nvSpPr>
                <p:spPr bwMode="ltGray">
                  <a:xfrm>
                    <a:off x="1467" y="497"/>
                    <a:ext cx="9" cy="7"/>
                  </a:xfrm>
                  <a:custGeom>
                    <a:avLst/>
                    <a:gdLst>
                      <a:gd name="T0" fmla="*/ 2 w 22"/>
                      <a:gd name="T1" fmla="*/ 1 h 20"/>
                      <a:gd name="T2" fmla="*/ 3 w 22"/>
                      <a:gd name="T3" fmla="*/ 0 h 20"/>
                      <a:gd name="T4" fmla="*/ 3 w 22"/>
                      <a:gd name="T5" fmla="*/ 1 h 20"/>
                      <a:gd name="T6" fmla="*/ 1 w 22"/>
                      <a:gd name="T7" fmla="*/ 2 h 20"/>
                      <a:gd name="T8" fmla="*/ 2 w 22"/>
                      <a:gd name="T9" fmla="*/ 1 h 2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2" h="20">
                        <a:moveTo>
                          <a:pt x="12" y="12"/>
                        </a:moveTo>
                        <a:cubicBezTo>
                          <a:pt x="13" y="8"/>
                          <a:pt x="12" y="0"/>
                          <a:pt x="16" y="0"/>
                        </a:cubicBezTo>
                        <a:cubicBezTo>
                          <a:pt x="20" y="0"/>
                          <a:pt x="22" y="8"/>
                          <a:pt x="20" y="12"/>
                        </a:cubicBezTo>
                        <a:cubicBezTo>
                          <a:pt x="18" y="16"/>
                          <a:pt x="12" y="17"/>
                          <a:pt x="8" y="20"/>
                        </a:cubicBezTo>
                        <a:cubicBezTo>
                          <a:pt x="3" y="5"/>
                          <a:pt x="0" y="6"/>
                          <a:pt x="12" y="12"/>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76" name="Freeform 60"/>
                  <p:cNvSpPr>
                    <a:spLocks/>
                  </p:cNvSpPr>
                  <p:nvPr/>
                </p:nvSpPr>
                <p:spPr bwMode="ltGray">
                  <a:xfrm>
                    <a:off x="1072" y="357"/>
                    <a:ext cx="25" cy="10"/>
                  </a:xfrm>
                  <a:custGeom>
                    <a:avLst/>
                    <a:gdLst>
                      <a:gd name="T0" fmla="*/ 5 w 57"/>
                      <a:gd name="T1" fmla="*/ 2 h 30"/>
                      <a:gd name="T2" fmla="*/ 6 w 57"/>
                      <a:gd name="T3" fmla="*/ 1 h 30"/>
                      <a:gd name="T4" fmla="*/ 7 w 57"/>
                      <a:gd name="T5" fmla="*/ 3 h 30"/>
                      <a:gd name="T6" fmla="*/ 5 w 57"/>
                      <a:gd name="T7" fmla="*/ 2 h 3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57" h="30">
                        <a:moveTo>
                          <a:pt x="24" y="18"/>
                        </a:moveTo>
                        <a:cubicBezTo>
                          <a:pt x="0" y="10"/>
                          <a:pt x="9" y="0"/>
                          <a:pt x="32" y="6"/>
                        </a:cubicBezTo>
                        <a:cubicBezTo>
                          <a:pt x="46" y="15"/>
                          <a:pt x="57" y="23"/>
                          <a:pt x="36" y="30"/>
                        </a:cubicBezTo>
                        <a:cubicBezTo>
                          <a:pt x="21" y="25"/>
                          <a:pt x="24" y="30"/>
                          <a:pt x="24" y="1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77" name="Freeform 61"/>
                  <p:cNvSpPr>
                    <a:spLocks/>
                  </p:cNvSpPr>
                  <p:nvPr/>
                </p:nvSpPr>
                <p:spPr bwMode="ltGray">
                  <a:xfrm>
                    <a:off x="1374" y="265"/>
                    <a:ext cx="295" cy="233"/>
                  </a:xfrm>
                  <a:custGeom>
                    <a:avLst/>
                    <a:gdLst>
                      <a:gd name="T0" fmla="*/ 86 w 693"/>
                      <a:gd name="T1" fmla="*/ 52 h 696"/>
                      <a:gd name="T2" fmla="*/ 71 w 693"/>
                      <a:gd name="T3" fmla="*/ 51 h 696"/>
                      <a:gd name="T4" fmla="*/ 59 w 693"/>
                      <a:gd name="T5" fmla="*/ 46 h 696"/>
                      <a:gd name="T6" fmla="*/ 48 w 693"/>
                      <a:gd name="T7" fmla="*/ 45 h 696"/>
                      <a:gd name="T8" fmla="*/ 43 w 693"/>
                      <a:gd name="T9" fmla="*/ 47 h 696"/>
                      <a:gd name="T10" fmla="*/ 47 w 693"/>
                      <a:gd name="T11" fmla="*/ 48 h 696"/>
                      <a:gd name="T12" fmla="*/ 53 w 693"/>
                      <a:gd name="T13" fmla="*/ 53 h 696"/>
                      <a:gd name="T14" fmla="*/ 58 w 693"/>
                      <a:gd name="T15" fmla="*/ 53 h 696"/>
                      <a:gd name="T16" fmla="*/ 60 w 693"/>
                      <a:gd name="T17" fmla="*/ 60 h 696"/>
                      <a:gd name="T18" fmla="*/ 57 w 693"/>
                      <a:gd name="T19" fmla="*/ 62 h 696"/>
                      <a:gd name="T20" fmla="*/ 47 w 693"/>
                      <a:gd name="T21" fmla="*/ 69 h 696"/>
                      <a:gd name="T22" fmla="*/ 41 w 693"/>
                      <a:gd name="T23" fmla="*/ 70 h 696"/>
                      <a:gd name="T24" fmla="*/ 17 w 693"/>
                      <a:gd name="T25" fmla="*/ 78 h 696"/>
                      <a:gd name="T26" fmla="*/ 14 w 693"/>
                      <a:gd name="T27" fmla="*/ 69 h 696"/>
                      <a:gd name="T28" fmla="*/ 8 w 693"/>
                      <a:gd name="T29" fmla="*/ 59 h 696"/>
                      <a:gd name="T30" fmla="*/ 6 w 693"/>
                      <a:gd name="T31" fmla="*/ 50 h 696"/>
                      <a:gd name="T32" fmla="*/ 10 w 693"/>
                      <a:gd name="T33" fmla="*/ 38 h 696"/>
                      <a:gd name="T34" fmla="*/ 3 w 693"/>
                      <a:gd name="T35" fmla="*/ 44 h 696"/>
                      <a:gd name="T36" fmla="*/ 14 w 693"/>
                      <a:gd name="T37" fmla="*/ 31 h 696"/>
                      <a:gd name="T38" fmla="*/ 20 w 693"/>
                      <a:gd name="T39" fmla="*/ 23 h 696"/>
                      <a:gd name="T40" fmla="*/ 7 w 693"/>
                      <a:gd name="T41" fmla="*/ 23 h 696"/>
                      <a:gd name="T42" fmla="*/ 0 w 693"/>
                      <a:gd name="T43" fmla="*/ 22 h 696"/>
                      <a:gd name="T44" fmla="*/ 5 w 693"/>
                      <a:gd name="T45" fmla="*/ 16 h 696"/>
                      <a:gd name="T46" fmla="*/ 17 w 693"/>
                      <a:gd name="T47" fmla="*/ 12 h 696"/>
                      <a:gd name="T48" fmla="*/ 40 w 693"/>
                      <a:gd name="T49" fmla="*/ 14 h 696"/>
                      <a:gd name="T50" fmla="*/ 41 w 693"/>
                      <a:gd name="T51" fmla="*/ 7 h 696"/>
                      <a:gd name="T52" fmla="*/ 47 w 693"/>
                      <a:gd name="T53" fmla="*/ 0 h 696"/>
                      <a:gd name="T54" fmla="*/ 65 w 693"/>
                      <a:gd name="T55" fmla="*/ 5 h 696"/>
                      <a:gd name="T56" fmla="*/ 60 w 693"/>
                      <a:gd name="T57" fmla="*/ 10 h 696"/>
                      <a:gd name="T58" fmla="*/ 54 w 693"/>
                      <a:gd name="T59" fmla="*/ 20 h 696"/>
                      <a:gd name="T60" fmla="*/ 66 w 693"/>
                      <a:gd name="T61" fmla="*/ 21 h 696"/>
                      <a:gd name="T62" fmla="*/ 68 w 693"/>
                      <a:gd name="T63" fmla="*/ 15 h 696"/>
                      <a:gd name="T64" fmla="*/ 76 w 693"/>
                      <a:gd name="T65" fmla="*/ 10 h 696"/>
                      <a:gd name="T66" fmla="*/ 90 w 693"/>
                      <a:gd name="T67" fmla="*/ 10 h 696"/>
                      <a:gd name="T68" fmla="*/ 96 w 693"/>
                      <a:gd name="T69" fmla="*/ 6 h 696"/>
                      <a:gd name="T70" fmla="*/ 98 w 693"/>
                      <a:gd name="T71" fmla="*/ 52 h 69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693" h="696">
                        <a:moveTo>
                          <a:pt x="541" y="460"/>
                        </a:moveTo>
                        <a:lnTo>
                          <a:pt x="473" y="464"/>
                        </a:lnTo>
                        <a:lnTo>
                          <a:pt x="441" y="452"/>
                        </a:lnTo>
                        <a:lnTo>
                          <a:pt x="393" y="452"/>
                        </a:lnTo>
                        <a:cubicBezTo>
                          <a:pt x="365" y="448"/>
                          <a:pt x="360" y="444"/>
                          <a:pt x="337" y="436"/>
                        </a:cubicBezTo>
                        <a:cubicBezTo>
                          <a:pt x="336" y="432"/>
                          <a:pt x="330" y="413"/>
                          <a:pt x="325" y="412"/>
                        </a:cubicBezTo>
                        <a:cubicBezTo>
                          <a:pt x="317" y="411"/>
                          <a:pt x="301" y="420"/>
                          <a:pt x="301" y="420"/>
                        </a:cubicBezTo>
                        <a:cubicBezTo>
                          <a:pt x="289" y="412"/>
                          <a:pt x="277" y="408"/>
                          <a:pt x="265" y="400"/>
                        </a:cubicBezTo>
                        <a:cubicBezTo>
                          <a:pt x="252" y="380"/>
                          <a:pt x="256" y="356"/>
                          <a:pt x="233" y="348"/>
                        </a:cubicBezTo>
                        <a:cubicBezTo>
                          <a:pt x="217" y="372"/>
                          <a:pt x="221" y="392"/>
                          <a:pt x="237" y="416"/>
                        </a:cubicBezTo>
                        <a:cubicBezTo>
                          <a:pt x="234" y="428"/>
                          <a:pt x="228" y="445"/>
                          <a:pt x="237" y="444"/>
                        </a:cubicBezTo>
                        <a:cubicBezTo>
                          <a:pt x="247" y="443"/>
                          <a:pt x="261" y="428"/>
                          <a:pt x="261" y="428"/>
                        </a:cubicBezTo>
                        <a:cubicBezTo>
                          <a:pt x="258" y="450"/>
                          <a:pt x="243" y="475"/>
                          <a:pt x="269" y="484"/>
                        </a:cubicBezTo>
                        <a:cubicBezTo>
                          <a:pt x="277" y="479"/>
                          <a:pt x="288" y="476"/>
                          <a:pt x="293" y="468"/>
                        </a:cubicBezTo>
                        <a:cubicBezTo>
                          <a:pt x="302" y="454"/>
                          <a:pt x="303" y="446"/>
                          <a:pt x="317" y="436"/>
                        </a:cubicBezTo>
                        <a:cubicBezTo>
                          <a:pt x="315" y="448"/>
                          <a:pt x="306" y="467"/>
                          <a:pt x="321" y="476"/>
                        </a:cubicBezTo>
                        <a:cubicBezTo>
                          <a:pt x="328" y="480"/>
                          <a:pt x="345" y="484"/>
                          <a:pt x="345" y="484"/>
                        </a:cubicBezTo>
                        <a:cubicBezTo>
                          <a:pt x="382" y="472"/>
                          <a:pt x="347" y="527"/>
                          <a:pt x="333" y="536"/>
                        </a:cubicBezTo>
                        <a:cubicBezTo>
                          <a:pt x="330" y="540"/>
                          <a:pt x="329" y="545"/>
                          <a:pt x="325" y="548"/>
                        </a:cubicBezTo>
                        <a:cubicBezTo>
                          <a:pt x="322" y="551"/>
                          <a:pt x="316" y="549"/>
                          <a:pt x="313" y="552"/>
                        </a:cubicBezTo>
                        <a:cubicBezTo>
                          <a:pt x="300" y="565"/>
                          <a:pt x="320" y="575"/>
                          <a:pt x="293" y="584"/>
                        </a:cubicBezTo>
                        <a:cubicBezTo>
                          <a:pt x="286" y="595"/>
                          <a:pt x="272" y="610"/>
                          <a:pt x="261" y="616"/>
                        </a:cubicBezTo>
                        <a:cubicBezTo>
                          <a:pt x="254" y="620"/>
                          <a:pt x="245" y="621"/>
                          <a:pt x="237" y="624"/>
                        </a:cubicBezTo>
                        <a:cubicBezTo>
                          <a:pt x="233" y="625"/>
                          <a:pt x="225" y="628"/>
                          <a:pt x="225" y="628"/>
                        </a:cubicBezTo>
                        <a:cubicBezTo>
                          <a:pt x="215" y="659"/>
                          <a:pt x="212" y="652"/>
                          <a:pt x="173" y="656"/>
                        </a:cubicBezTo>
                        <a:cubicBezTo>
                          <a:pt x="140" y="667"/>
                          <a:pt x="132" y="687"/>
                          <a:pt x="97" y="696"/>
                        </a:cubicBezTo>
                        <a:cubicBezTo>
                          <a:pt x="77" y="691"/>
                          <a:pt x="75" y="687"/>
                          <a:pt x="81" y="668"/>
                        </a:cubicBezTo>
                        <a:cubicBezTo>
                          <a:pt x="77" y="646"/>
                          <a:pt x="72" y="639"/>
                          <a:pt x="77" y="616"/>
                        </a:cubicBezTo>
                        <a:cubicBezTo>
                          <a:pt x="73" y="598"/>
                          <a:pt x="71" y="587"/>
                          <a:pt x="61" y="572"/>
                        </a:cubicBezTo>
                        <a:cubicBezTo>
                          <a:pt x="58" y="551"/>
                          <a:pt x="51" y="543"/>
                          <a:pt x="45" y="524"/>
                        </a:cubicBezTo>
                        <a:cubicBezTo>
                          <a:pt x="52" y="502"/>
                          <a:pt x="58" y="496"/>
                          <a:pt x="49" y="472"/>
                        </a:cubicBezTo>
                        <a:cubicBezTo>
                          <a:pt x="46" y="463"/>
                          <a:pt x="33" y="448"/>
                          <a:pt x="33" y="448"/>
                        </a:cubicBezTo>
                        <a:cubicBezTo>
                          <a:pt x="42" y="422"/>
                          <a:pt x="42" y="408"/>
                          <a:pt x="33" y="380"/>
                        </a:cubicBezTo>
                        <a:cubicBezTo>
                          <a:pt x="49" y="369"/>
                          <a:pt x="48" y="362"/>
                          <a:pt x="53" y="344"/>
                        </a:cubicBezTo>
                        <a:cubicBezTo>
                          <a:pt x="47" y="327"/>
                          <a:pt x="49" y="308"/>
                          <a:pt x="33" y="332"/>
                        </a:cubicBezTo>
                        <a:cubicBezTo>
                          <a:pt x="40" y="353"/>
                          <a:pt x="29" y="374"/>
                          <a:pt x="17" y="392"/>
                        </a:cubicBezTo>
                        <a:cubicBezTo>
                          <a:pt x="6" y="360"/>
                          <a:pt x="10" y="340"/>
                          <a:pt x="13" y="304"/>
                        </a:cubicBezTo>
                        <a:cubicBezTo>
                          <a:pt x="44" y="314"/>
                          <a:pt x="54" y="289"/>
                          <a:pt x="81" y="280"/>
                        </a:cubicBezTo>
                        <a:cubicBezTo>
                          <a:pt x="94" y="261"/>
                          <a:pt x="85" y="242"/>
                          <a:pt x="105" y="228"/>
                        </a:cubicBezTo>
                        <a:cubicBezTo>
                          <a:pt x="108" y="220"/>
                          <a:pt x="110" y="212"/>
                          <a:pt x="113" y="204"/>
                        </a:cubicBezTo>
                        <a:cubicBezTo>
                          <a:pt x="116" y="196"/>
                          <a:pt x="89" y="196"/>
                          <a:pt x="89" y="196"/>
                        </a:cubicBezTo>
                        <a:cubicBezTo>
                          <a:pt x="81" y="221"/>
                          <a:pt x="58" y="211"/>
                          <a:pt x="37" y="204"/>
                        </a:cubicBezTo>
                        <a:cubicBezTo>
                          <a:pt x="33" y="207"/>
                          <a:pt x="30" y="213"/>
                          <a:pt x="25" y="212"/>
                        </a:cubicBezTo>
                        <a:cubicBezTo>
                          <a:pt x="16" y="210"/>
                          <a:pt x="1" y="196"/>
                          <a:pt x="1" y="196"/>
                        </a:cubicBezTo>
                        <a:cubicBezTo>
                          <a:pt x="4" y="186"/>
                          <a:pt x="4" y="174"/>
                          <a:pt x="9" y="164"/>
                        </a:cubicBezTo>
                        <a:cubicBezTo>
                          <a:pt x="13" y="155"/>
                          <a:pt x="25" y="140"/>
                          <a:pt x="25" y="140"/>
                        </a:cubicBezTo>
                        <a:cubicBezTo>
                          <a:pt x="0" y="132"/>
                          <a:pt x="25" y="128"/>
                          <a:pt x="37" y="124"/>
                        </a:cubicBezTo>
                        <a:cubicBezTo>
                          <a:pt x="58" y="131"/>
                          <a:pt x="75" y="116"/>
                          <a:pt x="97" y="112"/>
                        </a:cubicBezTo>
                        <a:cubicBezTo>
                          <a:pt x="135" y="87"/>
                          <a:pt x="159" y="122"/>
                          <a:pt x="197" y="132"/>
                        </a:cubicBezTo>
                        <a:cubicBezTo>
                          <a:pt x="205" y="129"/>
                          <a:pt x="213" y="127"/>
                          <a:pt x="221" y="124"/>
                        </a:cubicBezTo>
                        <a:cubicBezTo>
                          <a:pt x="225" y="123"/>
                          <a:pt x="226" y="147"/>
                          <a:pt x="233" y="120"/>
                        </a:cubicBezTo>
                        <a:lnTo>
                          <a:pt x="229" y="64"/>
                        </a:lnTo>
                        <a:lnTo>
                          <a:pt x="209" y="40"/>
                        </a:lnTo>
                        <a:cubicBezTo>
                          <a:pt x="243" y="21"/>
                          <a:pt x="240" y="21"/>
                          <a:pt x="261" y="0"/>
                        </a:cubicBezTo>
                        <a:cubicBezTo>
                          <a:pt x="297" y="16"/>
                          <a:pt x="333" y="32"/>
                          <a:pt x="369" y="48"/>
                        </a:cubicBezTo>
                        <a:cubicBezTo>
                          <a:pt x="373" y="50"/>
                          <a:pt x="361" y="44"/>
                          <a:pt x="357" y="44"/>
                        </a:cubicBezTo>
                        <a:cubicBezTo>
                          <a:pt x="349" y="45"/>
                          <a:pt x="333" y="52"/>
                          <a:pt x="333" y="52"/>
                        </a:cubicBezTo>
                        <a:cubicBezTo>
                          <a:pt x="322" y="68"/>
                          <a:pt x="318" y="71"/>
                          <a:pt x="329" y="88"/>
                        </a:cubicBezTo>
                        <a:cubicBezTo>
                          <a:pt x="308" y="119"/>
                          <a:pt x="323" y="118"/>
                          <a:pt x="333" y="148"/>
                        </a:cubicBezTo>
                        <a:cubicBezTo>
                          <a:pt x="320" y="157"/>
                          <a:pt x="314" y="167"/>
                          <a:pt x="301" y="176"/>
                        </a:cubicBezTo>
                        <a:cubicBezTo>
                          <a:pt x="306" y="213"/>
                          <a:pt x="303" y="213"/>
                          <a:pt x="337" y="220"/>
                        </a:cubicBezTo>
                        <a:cubicBezTo>
                          <a:pt x="358" y="216"/>
                          <a:pt x="368" y="214"/>
                          <a:pt x="361" y="192"/>
                        </a:cubicBezTo>
                        <a:cubicBezTo>
                          <a:pt x="362" y="177"/>
                          <a:pt x="362" y="162"/>
                          <a:pt x="365" y="148"/>
                        </a:cubicBezTo>
                        <a:cubicBezTo>
                          <a:pt x="366" y="143"/>
                          <a:pt x="369" y="133"/>
                          <a:pt x="373" y="136"/>
                        </a:cubicBezTo>
                        <a:cubicBezTo>
                          <a:pt x="379" y="140"/>
                          <a:pt x="376" y="149"/>
                          <a:pt x="377" y="156"/>
                        </a:cubicBezTo>
                        <a:cubicBezTo>
                          <a:pt x="404" y="147"/>
                          <a:pt x="409" y="116"/>
                          <a:pt x="417" y="92"/>
                        </a:cubicBezTo>
                        <a:cubicBezTo>
                          <a:pt x="422" y="76"/>
                          <a:pt x="453" y="74"/>
                          <a:pt x="465" y="72"/>
                        </a:cubicBezTo>
                        <a:cubicBezTo>
                          <a:pt x="472" y="92"/>
                          <a:pt x="477" y="93"/>
                          <a:pt x="497" y="88"/>
                        </a:cubicBezTo>
                        <a:cubicBezTo>
                          <a:pt x="512" y="78"/>
                          <a:pt x="515" y="74"/>
                          <a:pt x="509" y="56"/>
                        </a:cubicBezTo>
                        <a:cubicBezTo>
                          <a:pt x="523" y="46"/>
                          <a:pt x="517" y="46"/>
                          <a:pt x="529" y="52"/>
                        </a:cubicBezTo>
                        <a:lnTo>
                          <a:pt x="693" y="72"/>
                        </a:lnTo>
                        <a:lnTo>
                          <a:pt x="541" y="460"/>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78" name="Freeform 62"/>
                  <p:cNvSpPr>
                    <a:spLocks/>
                  </p:cNvSpPr>
                  <p:nvPr/>
                </p:nvSpPr>
                <p:spPr bwMode="ltGray">
                  <a:xfrm>
                    <a:off x="1173" y="247"/>
                    <a:ext cx="591" cy="95"/>
                  </a:xfrm>
                  <a:custGeom>
                    <a:avLst/>
                    <a:gdLst>
                      <a:gd name="T0" fmla="*/ 333 w 931"/>
                      <a:gd name="T1" fmla="*/ 0 h 149"/>
                      <a:gd name="T2" fmla="*/ 58 w 931"/>
                      <a:gd name="T3" fmla="*/ 11 h 149"/>
                      <a:gd name="T4" fmla="*/ 37 w 931"/>
                      <a:gd name="T5" fmla="*/ 17 h 149"/>
                      <a:gd name="T6" fmla="*/ 25 w 931"/>
                      <a:gd name="T7" fmla="*/ 17 h 149"/>
                      <a:gd name="T8" fmla="*/ 9 w 931"/>
                      <a:gd name="T9" fmla="*/ 31 h 149"/>
                      <a:gd name="T10" fmla="*/ 0 w 931"/>
                      <a:gd name="T11" fmla="*/ 43 h 149"/>
                      <a:gd name="T12" fmla="*/ 23 w 931"/>
                      <a:gd name="T13" fmla="*/ 47 h 149"/>
                      <a:gd name="T14" fmla="*/ 39 w 931"/>
                      <a:gd name="T15" fmla="*/ 39 h 149"/>
                      <a:gd name="T16" fmla="*/ 44 w 931"/>
                      <a:gd name="T17" fmla="*/ 34 h 149"/>
                      <a:gd name="T18" fmla="*/ 67 w 931"/>
                      <a:gd name="T19" fmla="*/ 21 h 149"/>
                      <a:gd name="T20" fmla="*/ 86 w 931"/>
                      <a:gd name="T21" fmla="*/ 18 h 149"/>
                      <a:gd name="T22" fmla="*/ 95 w 931"/>
                      <a:gd name="T23" fmla="*/ 38 h 149"/>
                      <a:gd name="T24" fmla="*/ 76 w 931"/>
                      <a:gd name="T25" fmla="*/ 44 h 149"/>
                      <a:gd name="T26" fmla="*/ 93 w 931"/>
                      <a:gd name="T27" fmla="*/ 46 h 149"/>
                      <a:gd name="T28" fmla="*/ 101 w 931"/>
                      <a:gd name="T29" fmla="*/ 36 h 149"/>
                      <a:gd name="T30" fmla="*/ 107 w 931"/>
                      <a:gd name="T31" fmla="*/ 38 h 149"/>
                      <a:gd name="T32" fmla="*/ 102 w 931"/>
                      <a:gd name="T33" fmla="*/ 22 h 149"/>
                      <a:gd name="T34" fmla="*/ 107 w 931"/>
                      <a:gd name="T35" fmla="*/ 18 h 149"/>
                      <a:gd name="T36" fmla="*/ 112 w 931"/>
                      <a:gd name="T37" fmla="*/ 36 h 149"/>
                      <a:gd name="T38" fmla="*/ 107 w 931"/>
                      <a:gd name="T39" fmla="*/ 46 h 149"/>
                      <a:gd name="T40" fmla="*/ 119 w 931"/>
                      <a:gd name="T41" fmla="*/ 53 h 149"/>
                      <a:gd name="T42" fmla="*/ 121 w 931"/>
                      <a:gd name="T43" fmla="*/ 38 h 149"/>
                      <a:gd name="T44" fmla="*/ 133 w 931"/>
                      <a:gd name="T45" fmla="*/ 42 h 149"/>
                      <a:gd name="T46" fmla="*/ 154 w 931"/>
                      <a:gd name="T47" fmla="*/ 30 h 149"/>
                      <a:gd name="T48" fmla="*/ 165 w 931"/>
                      <a:gd name="T49" fmla="*/ 20 h 149"/>
                      <a:gd name="T50" fmla="*/ 177 w 931"/>
                      <a:gd name="T51" fmla="*/ 23 h 149"/>
                      <a:gd name="T52" fmla="*/ 183 w 931"/>
                      <a:gd name="T53" fmla="*/ 20 h 149"/>
                      <a:gd name="T54" fmla="*/ 174 w 931"/>
                      <a:gd name="T55" fmla="*/ 18 h 149"/>
                      <a:gd name="T56" fmla="*/ 191 w 931"/>
                      <a:gd name="T57" fmla="*/ 14 h 149"/>
                      <a:gd name="T58" fmla="*/ 219 w 931"/>
                      <a:gd name="T59" fmla="*/ 22 h 149"/>
                      <a:gd name="T60" fmla="*/ 234 w 931"/>
                      <a:gd name="T61" fmla="*/ 17 h 149"/>
                      <a:gd name="T62" fmla="*/ 236 w 931"/>
                      <a:gd name="T63" fmla="*/ 26 h 149"/>
                      <a:gd name="T64" fmla="*/ 229 w 931"/>
                      <a:gd name="T65" fmla="*/ 41 h 149"/>
                      <a:gd name="T66" fmla="*/ 246 w 931"/>
                      <a:gd name="T67" fmla="*/ 36 h 149"/>
                      <a:gd name="T68" fmla="*/ 251 w 931"/>
                      <a:gd name="T69" fmla="*/ 33 h 149"/>
                      <a:gd name="T70" fmla="*/ 261 w 931"/>
                      <a:gd name="T71" fmla="*/ 25 h 149"/>
                      <a:gd name="T72" fmla="*/ 320 w 931"/>
                      <a:gd name="T73" fmla="*/ 34 h 149"/>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0" t="0" r="r" b="b"/>
                    <a:pathLst>
                      <a:path w="931" h="149">
                        <a:moveTo>
                          <a:pt x="794" y="84"/>
                        </a:moveTo>
                        <a:cubicBezTo>
                          <a:pt x="813" y="72"/>
                          <a:pt x="931" y="14"/>
                          <a:pt x="825" y="0"/>
                        </a:cubicBezTo>
                        <a:lnTo>
                          <a:pt x="159" y="0"/>
                        </a:lnTo>
                        <a:cubicBezTo>
                          <a:pt x="149" y="12"/>
                          <a:pt x="162" y="18"/>
                          <a:pt x="143" y="29"/>
                        </a:cubicBezTo>
                        <a:cubicBezTo>
                          <a:pt x="130" y="44"/>
                          <a:pt x="133" y="39"/>
                          <a:pt x="116" y="48"/>
                        </a:cubicBezTo>
                        <a:cubicBezTo>
                          <a:pt x="108" y="46"/>
                          <a:pt x="100" y="44"/>
                          <a:pt x="91" y="42"/>
                        </a:cubicBezTo>
                        <a:cubicBezTo>
                          <a:pt x="89" y="41"/>
                          <a:pt x="83" y="40"/>
                          <a:pt x="83" y="40"/>
                        </a:cubicBezTo>
                        <a:cubicBezTo>
                          <a:pt x="76" y="40"/>
                          <a:pt x="68" y="39"/>
                          <a:pt x="62" y="42"/>
                        </a:cubicBezTo>
                        <a:cubicBezTo>
                          <a:pt x="54" y="45"/>
                          <a:pt x="46" y="61"/>
                          <a:pt x="38" y="67"/>
                        </a:cubicBezTo>
                        <a:cubicBezTo>
                          <a:pt x="32" y="71"/>
                          <a:pt x="27" y="74"/>
                          <a:pt x="22" y="77"/>
                        </a:cubicBezTo>
                        <a:cubicBezTo>
                          <a:pt x="16" y="81"/>
                          <a:pt x="5" y="86"/>
                          <a:pt x="5" y="86"/>
                        </a:cubicBezTo>
                        <a:cubicBezTo>
                          <a:pt x="9" y="95"/>
                          <a:pt x="7" y="97"/>
                          <a:pt x="0" y="105"/>
                        </a:cubicBezTo>
                        <a:cubicBezTo>
                          <a:pt x="17" y="107"/>
                          <a:pt x="22" y="107"/>
                          <a:pt x="16" y="120"/>
                        </a:cubicBezTo>
                        <a:cubicBezTo>
                          <a:pt x="27" y="122"/>
                          <a:pt x="48" y="116"/>
                          <a:pt x="59" y="115"/>
                        </a:cubicBezTo>
                        <a:cubicBezTo>
                          <a:pt x="71" y="112"/>
                          <a:pt x="73" y="117"/>
                          <a:pt x="83" y="111"/>
                        </a:cubicBezTo>
                        <a:cubicBezTo>
                          <a:pt x="89" y="96"/>
                          <a:pt x="83" y="100"/>
                          <a:pt x="97" y="96"/>
                        </a:cubicBezTo>
                        <a:cubicBezTo>
                          <a:pt x="100" y="94"/>
                          <a:pt x="103" y="93"/>
                          <a:pt x="105" y="90"/>
                        </a:cubicBezTo>
                        <a:cubicBezTo>
                          <a:pt x="106" y="88"/>
                          <a:pt x="106" y="85"/>
                          <a:pt x="108" y="84"/>
                        </a:cubicBezTo>
                        <a:cubicBezTo>
                          <a:pt x="112" y="80"/>
                          <a:pt x="140" y="69"/>
                          <a:pt x="148" y="67"/>
                        </a:cubicBezTo>
                        <a:cubicBezTo>
                          <a:pt x="160" y="52"/>
                          <a:pt x="153" y="56"/>
                          <a:pt x="167" y="52"/>
                        </a:cubicBezTo>
                        <a:cubicBezTo>
                          <a:pt x="178" y="55"/>
                          <a:pt x="179" y="62"/>
                          <a:pt x="191" y="58"/>
                        </a:cubicBezTo>
                        <a:cubicBezTo>
                          <a:pt x="199" y="52"/>
                          <a:pt x="206" y="51"/>
                          <a:pt x="215" y="46"/>
                        </a:cubicBezTo>
                        <a:cubicBezTo>
                          <a:pt x="226" y="58"/>
                          <a:pt x="217" y="46"/>
                          <a:pt x="223" y="69"/>
                        </a:cubicBezTo>
                        <a:cubicBezTo>
                          <a:pt x="226" y="79"/>
                          <a:pt x="233" y="85"/>
                          <a:pt x="237" y="94"/>
                        </a:cubicBezTo>
                        <a:cubicBezTo>
                          <a:pt x="227" y="100"/>
                          <a:pt x="229" y="104"/>
                          <a:pt x="218" y="107"/>
                        </a:cubicBezTo>
                        <a:cubicBezTo>
                          <a:pt x="207" y="120"/>
                          <a:pt x="203" y="113"/>
                          <a:pt x="188" y="109"/>
                        </a:cubicBezTo>
                        <a:cubicBezTo>
                          <a:pt x="191" y="117"/>
                          <a:pt x="200" y="127"/>
                          <a:pt x="210" y="132"/>
                        </a:cubicBezTo>
                        <a:cubicBezTo>
                          <a:pt x="218" y="114"/>
                          <a:pt x="211" y="122"/>
                          <a:pt x="231" y="113"/>
                        </a:cubicBezTo>
                        <a:cubicBezTo>
                          <a:pt x="237" y="111"/>
                          <a:pt x="248" y="105"/>
                          <a:pt x="248" y="105"/>
                        </a:cubicBezTo>
                        <a:cubicBezTo>
                          <a:pt x="248" y="100"/>
                          <a:pt x="246" y="94"/>
                          <a:pt x="250" y="90"/>
                        </a:cubicBezTo>
                        <a:cubicBezTo>
                          <a:pt x="253" y="88"/>
                          <a:pt x="254" y="96"/>
                          <a:pt x="258" y="96"/>
                        </a:cubicBezTo>
                        <a:cubicBezTo>
                          <a:pt x="262" y="97"/>
                          <a:pt x="264" y="94"/>
                          <a:pt x="266" y="92"/>
                        </a:cubicBezTo>
                        <a:cubicBezTo>
                          <a:pt x="262" y="82"/>
                          <a:pt x="252" y="77"/>
                          <a:pt x="248" y="67"/>
                        </a:cubicBezTo>
                        <a:cubicBezTo>
                          <a:pt x="250" y="63"/>
                          <a:pt x="255" y="58"/>
                          <a:pt x="253" y="54"/>
                        </a:cubicBezTo>
                        <a:cubicBezTo>
                          <a:pt x="251" y="50"/>
                          <a:pt x="248" y="42"/>
                          <a:pt x="248" y="42"/>
                        </a:cubicBezTo>
                        <a:cubicBezTo>
                          <a:pt x="256" y="32"/>
                          <a:pt x="259" y="35"/>
                          <a:pt x="266" y="44"/>
                        </a:cubicBezTo>
                        <a:cubicBezTo>
                          <a:pt x="270" y="56"/>
                          <a:pt x="276" y="61"/>
                          <a:pt x="285" y="71"/>
                        </a:cubicBezTo>
                        <a:cubicBezTo>
                          <a:pt x="281" y="81"/>
                          <a:pt x="289" y="82"/>
                          <a:pt x="277" y="88"/>
                        </a:cubicBezTo>
                        <a:cubicBezTo>
                          <a:pt x="262" y="106"/>
                          <a:pt x="278" y="83"/>
                          <a:pt x="274" y="101"/>
                        </a:cubicBezTo>
                        <a:cubicBezTo>
                          <a:pt x="274" y="105"/>
                          <a:pt x="268" y="109"/>
                          <a:pt x="266" y="113"/>
                        </a:cubicBezTo>
                        <a:cubicBezTo>
                          <a:pt x="270" y="122"/>
                          <a:pt x="268" y="125"/>
                          <a:pt x="261" y="132"/>
                        </a:cubicBezTo>
                        <a:cubicBezTo>
                          <a:pt x="268" y="149"/>
                          <a:pt x="282" y="134"/>
                          <a:pt x="296" y="130"/>
                        </a:cubicBezTo>
                        <a:cubicBezTo>
                          <a:pt x="299" y="122"/>
                          <a:pt x="295" y="119"/>
                          <a:pt x="299" y="111"/>
                        </a:cubicBezTo>
                        <a:cubicBezTo>
                          <a:pt x="296" y="105"/>
                          <a:pt x="288" y="97"/>
                          <a:pt x="299" y="92"/>
                        </a:cubicBezTo>
                        <a:cubicBezTo>
                          <a:pt x="303" y="90"/>
                          <a:pt x="315" y="88"/>
                          <a:pt x="315" y="88"/>
                        </a:cubicBezTo>
                        <a:cubicBezTo>
                          <a:pt x="326" y="91"/>
                          <a:pt x="325" y="95"/>
                          <a:pt x="331" y="103"/>
                        </a:cubicBezTo>
                        <a:cubicBezTo>
                          <a:pt x="339" y="84"/>
                          <a:pt x="331" y="90"/>
                          <a:pt x="361" y="92"/>
                        </a:cubicBezTo>
                        <a:cubicBezTo>
                          <a:pt x="355" y="76"/>
                          <a:pt x="365" y="76"/>
                          <a:pt x="382" y="73"/>
                        </a:cubicBezTo>
                        <a:cubicBezTo>
                          <a:pt x="383" y="71"/>
                          <a:pt x="387" y="57"/>
                          <a:pt x="393" y="54"/>
                        </a:cubicBezTo>
                        <a:cubicBezTo>
                          <a:pt x="398" y="52"/>
                          <a:pt x="409" y="50"/>
                          <a:pt x="409" y="50"/>
                        </a:cubicBezTo>
                        <a:cubicBezTo>
                          <a:pt x="430" y="54"/>
                          <a:pt x="413" y="58"/>
                          <a:pt x="431" y="63"/>
                        </a:cubicBezTo>
                        <a:cubicBezTo>
                          <a:pt x="433" y="61"/>
                          <a:pt x="435" y="57"/>
                          <a:pt x="439" y="56"/>
                        </a:cubicBezTo>
                        <a:cubicBezTo>
                          <a:pt x="445" y="55"/>
                          <a:pt x="452" y="61"/>
                          <a:pt x="457" y="58"/>
                        </a:cubicBezTo>
                        <a:cubicBezTo>
                          <a:pt x="461" y="57"/>
                          <a:pt x="457" y="52"/>
                          <a:pt x="455" y="50"/>
                        </a:cubicBezTo>
                        <a:cubicBezTo>
                          <a:pt x="451" y="47"/>
                          <a:pt x="444" y="47"/>
                          <a:pt x="439" y="46"/>
                        </a:cubicBezTo>
                        <a:cubicBezTo>
                          <a:pt x="436" y="45"/>
                          <a:pt x="431" y="44"/>
                          <a:pt x="431" y="44"/>
                        </a:cubicBezTo>
                        <a:cubicBezTo>
                          <a:pt x="440" y="38"/>
                          <a:pt x="443" y="36"/>
                          <a:pt x="455" y="40"/>
                        </a:cubicBezTo>
                        <a:cubicBezTo>
                          <a:pt x="461" y="38"/>
                          <a:pt x="467" y="35"/>
                          <a:pt x="474" y="35"/>
                        </a:cubicBezTo>
                        <a:cubicBezTo>
                          <a:pt x="483" y="36"/>
                          <a:pt x="511" y="43"/>
                          <a:pt x="519" y="46"/>
                        </a:cubicBezTo>
                        <a:cubicBezTo>
                          <a:pt x="527" y="49"/>
                          <a:pt x="544" y="54"/>
                          <a:pt x="544" y="54"/>
                        </a:cubicBezTo>
                        <a:cubicBezTo>
                          <a:pt x="548" y="54"/>
                          <a:pt x="560" y="52"/>
                          <a:pt x="565" y="50"/>
                        </a:cubicBezTo>
                        <a:cubicBezTo>
                          <a:pt x="570" y="47"/>
                          <a:pt x="581" y="42"/>
                          <a:pt x="581" y="42"/>
                        </a:cubicBezTo>
                        <a:cubicBezTo>
                          <a:pt x="585" y="42"/>
                          <a:pt x="598" y="44"/>
                          <a:pt x="600" y="48"/>
                        </a:cubicBezTo>
                        <a:cubicBezTo>
                          <a:pt x="603" y="55"/>
                          <a:pt x="589" y="61"/>
                          <a:pt x="584" y="63"/>
                        </a:cubicBezTo>
                        <a:cubicBezTo>
                          <a:pt x="576" y="69"/>
                          <a:pt x="568" y="69"/>
                          <a:pt x="565" y="77"/>
                        </a:cubicBezTo>
                        <a:cubicBezTo>
                          <a:pt x="568" y="86"/>
                          <a:pt x="564" y="92"/>
                          <a:pt x="568" y="101"/>
                        </a:cubicBezTo>
                        <a:cubicBezTo>
                          <a:pt x="574" y="93"/>
                          <a:pt x="577" y="91"/>
                          <a:pt x="589" y="94"/>
                        </a:cubicBezTo>
                        <a:cubicBezTo>
                          <a:pt x="595" y="108"/>
                          <a:pt x="602" y="93"/>
                          <a:pt x="611" y="88"/>
                        </a:cubicBezTo>
                        <a:cubicBezTo>
                          <a:pt x="613" y="86"/>
                          <a:pt x="613" y="83"/>
                          <a:pt x="616" y="82"/>
                        </a:cubicBezTo>
                        <a:cubicBezTo>
                          <a:pt x="618" y="80"/>
                          <a:pt x="622" y="81"/>
                          <a:pt x="624" y="80"/>
                        </a:cubicBezTo>
                        <a:cubicBezTo>
                          <a:pt x="626" y="78"/>
                          <a:pt x="626" y="75"/>
                          <a:pt x="627" y="73"/>
                        </a:cubicBezTo>
                        <a:cubicBezTo>
                          <a:pt x="632" y="65"/>
                          <a:pt x="638" y="63"/>
                          <a:pt x="648" y="61"/>
                        </a:cubicBezTo>
                        <a:cubicBezTo>
                          <a:pt x="664" y="62"/>
                          <a:pt x="684" y="69"/>
                          <a:pt x="700" y="69"/>
                        </a:cubicBezTo>
                        <a:lnTo>
                          <a:pt x="794" y="84"/>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79" name="Freeform 63"/>
                  <p:cNvSpPr>
                    <a:spLocks/>
                  </p:cNvSpPr>
                  <p:nvPr/>
                </p:nvSpPr>
                <p:spPr bwMode="ltGray">
                  <a:xfrm>
                    <a:off x="1293" y="282"/>
                    <a:ext cx="13" cy="10"/>
                  </a:xfrm>
                  <a:custGeom>
                    <a:avLst/>
                    <a:gdLst>
                      <a:gd name="T0" fmla="*/ 0 w 31"/>
                      <a:gd name="T1" fmla="*/ 3 h 30"/>
                      <a:gd name="T2" fmla="*/ 5 w 31"/>
                      <a:gd name="T3" fmla="*/ 0 h 30"/>
                      <a:gd name="T4" fmla="*/ 3 w 31"/>
                      <a:gd name="T5" fmla="*/ 3 h 30"/>
                      <a:gd name="T6" fmla="*/ 0 w 31"/>
                      <a:gd name="T7" fmla="*/ 3 h 3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31" h="30">
                        <a:moveTo>
                          <a:pt x="3" y="28"/>
                        </a:moveTo>
                        <a:cubicBezTo>
                          <a:pt x="8" y="8"/>
                          <a:pt x="12" y="6"/>
                          <a:pt x="31" y="0"/>
                        </a:cubicBezTo>
                        <a:cubicBezTo>
                          <a:pt x="29" y="5"/>
                          <a:pt x="25" y="22"/>
                          <a:pt x="19" y="24"/>
                        </a:cubicBezTo>
                        <a:cubicBezTo>
                          <a:pt x="0" y="30"/>
                          <a:pt x="3" y="9"/>
                          <a:pt x="3" y="2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80" name="Freeform 64"/>
                  <p:cNvSpPr>
                    <a:spLocks/>
                  </p:cNvSpPr>
                  <p:nvPr/>
                </p:nvSpPr>
                <p:spPr bwMode="ltGray">
                  <a:xfrm>
                    <a:off x="1278" y="296"/>
                    <a:ext cx="19" cy="11"/>
                  </a:xfrm>
                  <a:custGeom>
                    <a:avLst/>
                    <a:gdLst>
                      <a:gd name="T0" fmla="*/ 1 w 44"/>
                      <a:gd name="T1" fmla="*/ 4 h 32"/>
                      <a:gd name="T2" fmla="*/ 4 w 44"/>
                      <a:gd name="T3" fmla="*/ 0 h 32"/>
                      <a:gd name="T4" fmla="*/ 7 w 44"/>
                      <a:gd name="T5" fmla="*/ 0 h 32"/>
                      <a:gd name="T6" fmla="*/ 1 w 44"/>
                      <a:gd name="T7" fmla="*/ 4 h 3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44" h="32">
                        <a:moveTo>
                          <a:pt x="6" y="32"/>
                        </a:moveTo>
                        <a:cubicBezTo>
                          <a:pt x="0" y="14"/>
                          <a:pt x="7" y="10"/>
                          <a:pt x="22" y="0"/>
                        </a:cubicBezTo>
                        <a:cubicBezTo>
                          <a:pt x="27" y="1"/>
                          <a:pt x="35" y="0"/>
                          <a:pt x="38" y="4"/>
                        </a:cubicBezTo>
                        <a:cubicBezTo>
                          <a:pt x="44" y="13"/>
                          <a:pt x="16" y="32"/>
                          <a:pt x="6" y="32"/>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81" name="Freeform 65"/>
                  <p:cNvSpPr>
                    <a:spLocks/>
                  </p:cNvSpPr>
                  <p:nvPr/>
                </p:nvSpPr>
                <p:spPr bwMode="ltGray">
                  <a:xfrm>
                    <a:off x="1340" y="337"/>
                    <a:ext cx="32" cy="6"/>
                  </a:xfrm>
                  <a:custGeom>
                    <a:avLst/>
                    <a:gdLst>
                      <a:gd name="T0" fmla="*/ 7 w 76"/>
                      <a:gd name="T1" fmla="*/ 2 h 18"/>
                      <a:gd name="T2" fmla="*/ 5 w 76"/>
                      <a:gd name="T3" fmla="*/ 0 h 18"/>
                      <a:gd name="T4" fmla="*/ 7 w 76"/>
                      <a:gd name="T5" fmla="*/ 2 h 18"/>
                      <a:gd name="T6" fmla="*/ 0 60000 65536"/>
                      <a:gd name="T7" fmla="*/ 0 60000 65536"/>
                      <a:gd name="T8" fmla="*/ 0 60000 65536"/>
                    </a:gdLst>
                    <a:ahLst/>
                    <a:cxnLst>
                      <a:cxn ang="T6">
                        <a:pos x="T0" y="T1"/>
                      </a:cxn>
                      <a:cxn ang="T7">
                        <a:pos x="T2" y="T3"/>
                      </a:cxn>
                      <a:cxn ang="T8">
                        <a:pos x="T4" y="T5"/>
                      </a:cxn>
                    </a:cxnLst>
                    <a:rect l="0" t="0" r="r" b="b"/>
                    <a:pathLst>
                      <a:path w="76" h="18">
                        <a:moveTo>
                          <a:pt x="37" y="18"/>
                        </a:moveTo>
                        <a:cubicBezTo>
                          <a:pt x="25" y="14"/>
                          <a:pt x="0" y="10"/>
                          <a:pt x="25" y="2"/>
                        </a:cubicBezTo>
                        <a:cubicBezTo>
                          <a:pt x="76" y="9"/>
                          <a:pt x="46" y="0"/>
                          <a:pt x="37" y="1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82" name="Freeform 66"/>
                  <p:cNvSpPr>
                    <a:spLocks/>
                  </p:cNvSpPr>
                  <p:nvPr/>
                </p:nvSpPr>
                <p:spPr bwMode="ltGray">
                  <a:xfrm>
                    <a:off x="1395" y="336"/>
                    <a:ext cx="18" cy="15"/>
                  </a:xfrm>
                  <a:custGeom>
                    <a:avLst/>
                    <a:gdLst>
                      <a:gd name="T0" fmla="*/ 0 w 42"/>
                      <a:gd name="T1" fmla="*/ 2 h 44"/>
                      <a:gd name="T2" fmla="*/ 2 w 42"/>
                      <a:gd name="T3" fmla="*/ 1 h 44"/>
                      <a:gd name="T4" fmla="*/ 0 w 42"/>
                      <a:gd name="T5" fmla="*/ 2 h 44"/>
                      <a:gd name="T6" fmla="*/ 0 60000 65536"/>
                      <a:gd name="T7" fmla="*/ 0 60000 65536"/>
                      <a:gd name="T8" fmla="*/ 0 60000 65536"/>
                    </a:gdLst>
                    <a:ahLst/>
                    <a:cxnLst>
                      <a:cxn ang="T6">
                        <a:pos x="T0" y="T1"/>
                      </a:cxn>
                      <a:cxn ang="T7">
                        <a:pos x="T2" y="T3"/>
                      </a:cxn>
                      <a:cxn ang="T8">
                        <a:pos x="T4" y="T5"/>
                      </a:cxn>
                    </a:cxnLst>
                    <a:rect l="0" t="0" r="r" b="b"/>
                    <a:pathLst>
                      <a:path w="42" h="44">
                        <a:moveTo>
                          <a:pt x="0" y="21"/>
                        </a:moveTo>
                        <a:cubicBezTo>
                          <a:pt x="4" y="17"/>
                          <a:pt x="7" y="11"/>
                          <a:pt x="12" y="9"/>
                        </a:cubicBezTo>
                        <a:cubicBezTo>
                          <a:pt x="42" y="0"/>
                          <a:pt x="23" y="44"/>
                          <a:pt x="0" y="21"/>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83" name="Freeform 67"/>
                  <p:cNvSpPr>
                    <a:spLocks/>
                  </p:cNvSpPr>
                  <p:nvPr/>
                </p:nvSpPr>
                <p:spPr bwMode="ltGray">
                  <a:xfrm>
                    <a:off x="1248" y="295"/>
                    <a:ext cx="14" cy="10"/>
                  </a:xfrm>
                  <a:custGeom>
                    <a:avLst/>
                    <a:gdLst>
                      <a:gd name="T0" fmla="*/ 1 w 31"/>
                      <a:gd name="T1" fmla="*/ 2 h 30"/>
                      <a:gd name="T2" fmla="*/ 6 w 31"/>
                      <a:gd name="T3" fmla="*/ 1 h 30"/>
                      <a:gd name="T4" fmla="*/ 1 w 31"/>
                      <a:gd name="T5" fmla="*/ 2 h 30"/>
                      <a:gd name="T6" fmla="*/ 0 60000 65536"/>
                      <a:gd name="T7" fmla="*/ 0 60000 65536"/>
                      <a:gd name="T8" fmla="*/ 0 60000 65536"/>
                    </a:gdLst>
                    <a:ahLst/>
                    <a:cxnLst>
                      <a:cxn ang="T6">
                        <a:pos x="T0" y="T1"/>
                      </a:cxn>
                      <a:cxn ang="T7">
                        <a:pos x="T2" y="T3"/>
                      </a:cxn>
                      <a:cxn ang="T8">
                        <a:pos x="T4" y="T5"/>
                      </a:cxn>
                    </a:cxnLst>
                    <a:rect l="0" t="0" r="r" b="b"/>
                    <a:pathLst>
                      <a:path w="31" h="30">
                        <a:moveTo>
                          <a:pt x="7" y="22"/>
                        </a:moveTo>
                        <a:cubicBezTo>
                          <a:pt x="0" y="0"/>
                          <a:pt x="15" y="6"/>
                          <a:pt x="31" y="10"/>
                        </a:cubicBezTo>
                        <a:cubicBezTo>
                          <a:pt x="14" y="16"/>
                          <a:pt x="15" y="30"/>
                          <a:pt x="7" y="22"/>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grpSp>
            <p:grpSp>
              <p:nvGrpSpPr>
                <p:cNvPr id="1085" name="Group 68"/>
                <p:cNvGrpSpPr>
                  <a:grpSpLocks/>
                </p:cNvGrpSpPr>
                <p:nvPr/>
              </p:nvGrpSpPr>
              <p:grpSpPr bwMode="auto">
                <a:xfrm>
                  <a:off x="3709" y="240"/>
                  <a:ext cx="1139" cy="429"/>
                  <a:chOff x="3709" y="240"/>
                  <a:chExt cx="1139" cy="429"/>
                </a:xfrm>
              </p:grpSpPr>
              <p:sp>
                <p:nvSpPr>
                  <p:cNvPr id="1086" name="Freeform 69"/>
                  <p:cNvSpPr>
                    <a:spLocks/>
                  </p:cNvSpPr>
                  <p:nvPr/>
                </p:nvSpPr>
                <p:spPr bwMode="ltGray">
                  <a:xfrm>
                    <a:off x="4808" y="616"/>
                    <a:ext cx="13" cy="14"/>
                  </a:xfrm>
                  <a:custGeom>
                    <a:avLst/>
                    <a:gdLst>
                      <a:gd name="T0" fmla="*/ 3 w 30"/>
                      <a:gd name="T1" fmla="*/ 4 h 42"/>
                      <a:gd name="T2" fmla="*/ 1 w 30"/>
                      <a:gd name="T3" fmla="*/ 2 h 42"/>
                      <a:gd name="T4" fmla="*/ 0 w 30"/>
                      <a:gd name="T5" fmla="*/ 1 h 42"/>
                      <a:gd name="T6" fmla="*/ 3 w 30"/>
                      <a:gd name="T7" fmla="*/ 0 h 42"/>
                      <a:gd name="T8" fmla="*/ 6 w 30"/>
                      <a:gd name="T9" fmla="*/ 3 h 42"/>
                      <a:gd name="T10" fmla="*/ 5 w 30"/>
                      <a:gd name="T11" fmla="*/ 3 h 42"/>
                      <a:gd name="T12" fmla="*/ 3 w 30"/>
                      <a:gd name="T13" fmla="*/ 4 h 42"/>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30" h="42">
                        <a:moveTo>
                          <a:pt x="16" y="33"/>
                        </a:moveTo>
                        <a:cubicBezTo>
                          <a:pt x="3" y="20"/>
                          <a:pt x="15" y="34"/>
                          <a:pt x="8" y="21"/>
                        </a:cubicBezTo>
                        <a:cubicBezTo>
                          <a:pt x="6" y="17"/>
                          <a:pt x="0" y="9"/>
                          <a:pt x="0" y="9"/>
                        </a:cubicBezTo>
                        <a:cubicBezTo>
                          <a:pt x="5" y="1"/>
                          <a:pt x="7" y="0"/>
                          <a:pt x="16" y="3"/>
                        </a:cubicBezTo>
                        <a:cubicBezTo>
                          <a:pt x="25" y="16"/>
                          <a:pt x="10" y="16"/>
                          <a:pt x="30" y="23"/>
                        </a:cubicBezTo>
                        <a:cubicBezTo>
                          <a:pt x="29" y="26"/>
                          <a:pt x="30" y="29"/>
                          <a:pt x="28" y="31"/>
                        </a:cubicBezTo>
                        <a:cubicBezTo>
                          <a:pt x="15" y="42"/>
                          <a:pt x="16" y="38"/>
                          <a:pt x="16" y="33"/>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087" name="Freeform 70"/>
                  <p:cNvSpPr>
                    <a:spLocks/>
                  </p:cNvSpPr>
                  <p:nvPr/>
                </p:nvSpPr>
                <p:spPr bwMode="ltGray">
                  <a:xfrm>
                    <a:off x="4655" y="629"/>
                    <a:ext cx="11" cy="5"/>
                  </a:xfrm>
                  <a:custGeom>
                    <a:avLst/>
                    <a:gdLst>
                      <a:gd name="T0" fmla="*/ 3 w 25"/>
                      <a:gd name="T1" fmla="*/ 2 h 16"/>
                      <a:gd name="T2" fmla="*/ 0 w 25"/>
                      <a:gd name="T3" fmla="*/ 1 h 16"/>
                      <a:gd name="T4" fmla="*/ 3 w 25"/>
                      <a:gd name="T5" fmla="*/ 0 h 16"/>
                      <a:gd name="T6" fmla="*/ 3 w 25"/>
                      <a:gd name="T7" fmla="*/ 2 h 16"/>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5" h="16">
                        <a:moveTo>
                          <a:pt x="15" y="16"/>
                        </a:moveTo>
                        <a:cubicBezTo>
                          <a:pt x="10" y="15"/>
                          <a:pt x="0" y="12"/>
                          <a:pt x="3" y="8"/>
                        </a:cubicBezTo>
                        <a:cubicBezTo>
                          <a:pt x="6" y="4"/>
                          <a:pt x="15" y="0"/>
                          <a:pt x="15" y="0"/>
                        </a:cubicBezTo>
                        <a:cubicBezTo>
                          <a:pt x="17" y="3"/>
                          <a:pt x="25" y="16"/>
                          <a:pt x="15" y="16"/>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088" name="Freeform 71"/>
                  <p:cNvSpPr>
                    <a:spLocks/>
                  </p:cNvSpPr>
                  <p:nvPr/>
                </p:nvSpPr>
                <p:spPr bwMode="ltGray">
                  <a:xfrm>
                    <a:off x="4609" y="635"/>
                    <a:ext cx="28" cy="16"/>
                  </a:xfrm>
                  <a:custGeom>
                    <a:avLst/>
                    <a:gdLst>
                      <a:gd name="T0" fmla="*/ 3 w 65"/>
                      <a:gd name="T1" fmla="*/ 3 h 46"/>
                      <a:gd name="T2" fmla="*/ 6 w 65"/>
                      <a:gd name="T3" fmla="*/ 0 h 46"/>
                      <a:gd name="T4" fmla="*/ 8 w 65"/>
                      <a:gd name="T5" fmla="*/ 0 h 46"/>
                      <a:gd name="T6" fmla="*/ 11 w 65"/>
                      <a:gd name="T7" fmla="*/ 1 h 46"/>
                      <a:gd name="T8" fmla="*/ 6 w 65"/>
                      <a:gd name="T9" fmla="*/ 3 h 46"/>
                      <a:gd name="T10" fmla="*/ 2 w 65"/>
                      <a:gd name="T11" fmla="*/ 6 h 46"/>
                      <a:gd name="T12" fmla="*/ 1 w 65"/>
                      <a:gd name="T13" fmla="*/ 2 h 46"/>
                      <a:gd name="T14" fmla="*/ 2 w 65"/>
                      <a:gd name="T15" fmla="*/ 2 h 46"/>
                      <a:gd name="T16" fmla="*/ 3 w 65"/>
                      <a:gd name="T17" fmla="*/ 3 h 4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65" h="46">
                        <a:moveTo>
                          <a:pt x="14" y="24"/>
                        </a:moveTo>
                        <a:cubicBezTo>
                          <a:pt x="18" y="13"/>
                          <a:pt x="16" y="9"/>
                          <a:pt x="30" y="4"/>
                        </a:cubicBezTo>
                        <a:cubicBezTo>
                          <a:pt x="34" y="3"/>
                          <a:pt x="42" y="0"/>
                          <a:pt x="42" y="0"/>
                        </a:cubicBezTo>
                        <a:cubicBezTo>
                          <a:pt x="50" y="1"/>
                          <a:pt x="65" y="0"/>
                          <a:pt x="58" y="12"/>
                        </a:cubicBezTo>
                        <a:cubicBezTo>
                          <a:pt x="53" y="21"/>
                          <a:pt x="40" y="21"/>
                          <a:pt x="32" y="26"/>
                        </a:cubicBezTo>
                        <a:cubicBezTo>
                          <a:pt x="26" y="35"/>
                          <a:pt x="23" y="42"/>
                          <a:pt x="12" y="46"/>
                        </a:cubicBezTo>
                        <a:cubicBezTo>
                          <a:pt x="0" y="42"/>
                          <a:pt x="5" y="30"/>
                          <a:pt x="8" y="20"/>
                        </a:cubicBezTo>
                        <a:cubicBezTo>
                          <a:pt x="9" y="18"/>
                          <a:pt x="10" y="13"/>
                          <a:pt x="12" y="14"/>
                        </a:cubicBezTo>
                        <a:cubicBezTo>
                          <a:pt x="15" y="16"/>
                          <a:pt x="13" y="21"/>
                          <a:pt x="14" y="24"/>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089" name="Freeform 72"/>
                  <p:cNvSpPr>
                    <a:spLocks/>
                  </p:cNvSpPr>
                  <p:nvPr/>
                </p:nvSpPr>
                <p:spPr bwMode="ltGray">
                  <a:xfrm>
                    <a:off x="4580" y="634"/>
                    <a:ext cx="29" cy="16"/>
                  </a:xfrm>
                  <a:custGeom>
                    <a:avLst/>
                    <a:gdLst>
                      <a:gd name="T0" fmla="*/ 0 w 69"/>
                      <a:gd name="T1" fmla="*/ 4 h 47"/>
                      <a:gd name="T2" fmla="*/ 3 w 69"/>
                      <a:gd name="T3" fmla="*/ 3 h 47"/>
                      <a:gd name="T4" fmla="*/ 9 w 69"/>
                      <a:gd name="T5" fmla="*/ 0 h 47"/>
                      <a:gd name="T6" fmla="*/ 11 w 69"/>
                      <a:gd name="T7" fmla="*/ 0 h 47"/>
                      <a:gd name="T8" fmla="*/ 9 w 69"/>
                      <a:gd name="T9" fmla="*/ 2 h 47"/>
                      <a:gd name="T10" fmla="*/ 5 w 69"/>
                      <a:gd name="T11" fmla="*/ 4 h 47"/>
                      <a:gd name="T12" fmla="*/ 4 w 69"/>
                      <a:gd name="T13" fmla="*/ 5 h 47"/>
                      <a:gd name="T14" fmla="*/ 3 w 69"/>
                      <a:gd name="T15" fmla="*/ 5 h 47"/>
                      <a:gd name="T16" fmla="*/ 2 w 69"/>
                      <a:gd name="T17" fmla="*/ 4 h 47"/>
                      <a:gd name="T18" fmla="*/ 0 w 69"/>
                      <a:gd name="T19" fmla="*/ 4 h 47"/>
                      <a:gd name="T20" fmla="*/ 0 w 69"/>
                      <a:gd name="T21" fmla="*/ 4 h 47"/>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69" h="47">
                        <a:moveTo>
                          <a:pt x="0" y="31"/>
                        </a:moveTo>
                        <a:cubicBezTo>
                          <a:pt x="7" y="24"/>
                          <a:pt x="9" y="22"/>
                          <a:pt x="18" y="25"/>
                        </a:cubicBezTo>
                        <a:cubicBezTo>
                          <a:pt x="25" y="4"/>
                          <a:pt x="36" y="12"/>
                          <a:pt x="52" y="1"/>
                        </a:cubicBezTo>
                        <a:cubicBezTo>
                          <a:pt x="56" y="2"/>
                          <a:pt x="61" y="0"/>
                          <a:pt x="64" y="3"/>
                        </a:cubicBezTo>
                        <a:cubicBezTo>
                          <a:pt x="69" y="8"/>
                          <a:pt x="50" y="19"/>
                          <a:pt x="50" y="19"/>
                        </a:cubicBezTo>
                        <a:cubicBezTo>
                          <a:pt x="46" y="31"/>
                          <a:pt x="35" y="22"/>
                          <a:pt x="28" y="33"/>
                        </a:cubicBezTo>
                        <a:cubicBezTo>
                          <a:pt x="31" y="41"/>
                          <a:pt x="31" y="44"/>
                          <a:pt x="22" y="47"/>
                        </a:cubicBezTo>
                        <a:cubicBezTo>
                          <a:pt x="20" y="46"/>
                          <a:pt x="18" y="46"/>
                          <a:pt x="16" y="45"/>
                        </a:cubicBezTo>
                        <a:cubicBezTo>
                          <a:pt x="14" y="43"/>
                          <a:pt x="14" y="40"/>
                          <a:pt x="12" y="39"/>
                        </a:cubicBezTo>
                        <a:cubicBezTo>
                          <a:pt x="8" y="37"/>
                          <a:pt x="0" y="35"/>
                          <a:pt x="0" y="35"/>
                        </a:cubicBezTo>
                        <a:cubicBezTo>
                          <a:pt x="2" y="26"/>
                          <a:pt x="3" y="25"/>
                          <a:pt x="0" y="31"/>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090" name="Freeform 73"/>
                  <p:cNvSpPr>
                    <a:spLocks/>
                  </p:cNvSpPr>
                  <p:nvPr/>
                </p:nvSpPr>
                <p:spPr bwMode="ltGray">
                  <a:xfrm>
                    <a:off x="4423" y="547"/>
                    <a:ext cx="151" cy="93"/>
                  </a:xfrm>
                  <a:custGeom>
                    <a:avLst/>
                    <a:gdLst>
                      <a:gd name="T0" fmla="*/ 2 w 355"/>
                      <a:gd name="T1" fmla="*/ 0 h 277"/>
                      <a:gd name="T2" fmla="*/ 6 w 355"/>
                      <a:gd name="T3" fmla="*/ 2 h 277"/>
                      <a:gd name="T4" fmla="*/ 9 w 355"/>
                      <a:gd name="T5" fmla="*/ 3 h 277"/>
                      <a:gd name="T6" fmla="*/ 14 w 355"/>
                      <a:gd name="T7" fmla="*/ 6 h 277"/>
                      <a:gd name="T8" fmla="*/ 17 w 355"/>
                      <a:gd name="T9" fmla="*/ 7 h 277"/>
                      <a:gd name="T10" fmla="*/ 22 w 355"/>
                      <a:gd name="T11" fmla="*/ 11 h 277"/>
                      <a:gd name="T12" fmla="*/ 25 w 355"/>
                      <a:gd name="T13" fmla="*/ 14 h 277"/>
                      <a:gd name="T14" fmla="*/ 27 w 355"/>
                      <a:gd name="T15" fmla="*/ 15 h 277"/>
                      <a:gd name="T16" fmla="*/ 28 w 355"/>
                      <a:gd name="T17" fmla="*/ 17 h 277"/>
                      <a:gd name="T18" fmla="*/ 32 w 355"/>
                      <a:gd name="T19" fmla="*/ 17 h 277"/>
                      <a:gd name="T20" fmla="*/ 31 w 355"/>
                      <a:gd name="T21" fmla="*/ 22 h 277"/>
                      <a:gd name="T22" fmla="*/ 33 w 355"/>
                      <a:gd name="T23" fmla="*/ 25 h 277"/>
                      <a:gd name="T24" fmla="*/ 36 w 355"/>
                      <a:gd name="T25" fmla="*/ 26 h 277"/>
                      <a:gd name="T26" fmla="*/ 39 w 355"/>
                      <a:gd name="T27" fmla="*/ 27 h 277"/>
                      <a:gd name="T28" fmla="*/ 43 w 355"/>
                      <a:gd name="T29" fmla="*/ 27 h 277"/>
                      <a:gd name="T30" fmla="*/ 46 w 355"/>
                      <a:gd name="T31" fmla="*/ 27 h 277"/>
                      <a:gd name="T32" fmla="*/ 49 w 355"/>
                      <a:gd name="T33" fmla="*/ 28 h 277"/>
                      <a:gd name="T34" fmla="*/ 54 w 355"/>
                      <a:gd name="T35" fmla="*/ 29 h 277"/>
                      <a:gd name="T36" fmla="*/ 57 w 355"/>
                      <a:gd name="T37" fmla="*/ 30 h 277"/>
                      <a:gd name="T38" fmla="*/ 64 w 355"/>
                      <a:gd name="T39" fmla="*/ 30 h 277"/>
                      <a:gd name="T40" fmla="*/ 62 w 355"/>
                      <a:gd name="T41" fmla="*/ 31 h 277"/>
                      <a:gd name="T42" fmla="*/ 58 w 355"/>
                      <a:gd name="T43" fmla="*/ 31 h 277"/>
                      <a:gd name="T44" fmla="*/ 54 w 355"/>
                      <a:gd name="T45" fmla="*/ 31 h 277"/>
                      <a:gd name="T46" fmla="*/ 52 w 355"/>
                      <a:gd name="T47" fmla="*/ 30 h 277"/>
                      <a:gd name="T48" fmla="*/ 46 w 355"/>
                      <a:gd name="T49" fmla="*/ 30 h 277"/>
                      <a:gd name="T50" fmla="*/ 43 w 355"/>
                      <a:gd name="T51" fmla="*/ 29 h 277"/>
                      <a:gd name="T52" fmla="*/ 31 w 355"/>
                      <a:gd name="T53" fmla="*/ 27 h 277"/>
                      <a:gd name="T54" fmla="*/ 29 w 355"/>
                      <a:gd name="T55" fmla="*/ 25 h 277"/>
                      <a:gd name="T56" fmla="*/ 23 w 355"/>
                      <a:gd name="T57" fmla="*/ 22 h 277"/>
                      <a:gd name="T58" fmla="*/ 20 w 355"/>
                      <a:gd name="T59" fmla="*/ 21 h 277"/>
                      <a:gd name="T60" fmla="*/ 17 w 355"/>
                      <a:gd name="T61" fmla="*/ 18 h 277"/>
                      <a:gd name="T62" fmla="*/ 12 w 355"/>
                      <a:gd name="T63" fmla="*/ 12 h 277"/>
                      <a:gd name="T64" fmla="*/ 11 w 355"/>
                      <a:gd name="T65" fmla="*/ 11 h 277"/>
                      <a:gd name="T66" fmla="*/ 11 w 355"/>
                      <a:gd name="T67" fmla="*/ 11 h 277"/>
                      <a:gd name="T68" fmla="*/ 10 w 355"/>
                      <a:gd name="T69" fmla="*/ 10 h 277"/>
                      <a:gd name="T70" fmla="*/ 7 w 355"/>
                      <a:gd name="T71" fmla="*/ 6 h 277"/>
                      <a:gd name="T72" fmla="*/ 4 w 355"/>
                      <a:gd name="T73" fmla="*/ 4 h 277"/>
                      <a:gd name="T74" fmla="*/ 1 w 355"/>
                      <a:gd name="T75" fmla="*/ 2 h 277"/>
                      <a:gd name="T76" fmla="*/ 2 w 355"/>
                      <a:gd name="T77" fmla="*/ 0 h 277"/>
                      <a:gd name="T78" fmla="*/ 2 w 355"/>
                      <a:gd name="T79" fmla="*/ 0 h 277"/>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0" t="0" r="r" b="b"/>
                    <a:pathLst>
                      <a:path w="355" h="277">
                        <a:moveTo>
                          <a:pt x="10" y="4"/>
                        </a:moveTo>
                        <a:cubicBezTo>
                          <a:pt x="22" y="0"/>
                          <a:pt x="24" y="14"/>
                          <a:pt x="36" y="18"/>
                        </a:cubicBezTo>
                        <a:cubicBezTo>
                          <a:pt x="37" y="19"/>
                          <a:pt x="45" y="29"/>
                          <a:pt x="46" y="30"/>
                        </a:cubicBezTo>
                        <a:cubicBezTo>
                          <a:pt x="56" y="40"/>
                          <a:pt x="67" y="38"/>
                          <a:pt x="76" y="52"/>
                        </a:cubicBezTo>
                        <a:cubicBezTo>
                          <a:pt x="80" y="58"/>
                          <a:pt x="92" y="66"/>
                          <a:pt x="92" y="66"/>
                        </a:cubicBezTo>
                        <a:cubicBezTo>
                          <a:pt x="96" y="79"/>
                          <a:pt x="112" y="88"/>
                          <a:pt x="122" y="98"/>
                        </a:cubicBezTo>
                        <a:cubicBezTo>
                          <a:pt x="124" y="105"/>
                          <a:pt x="130" y="124"/>
                          <a:pt x="136" y="128"/>
                        </a:cubicBezTo>
                        <a:cubicBezTo>
                          <a:pt x="140" y="130"/>
                          <a:pt x="148" y="132"/>
                          <a:pt x="148" y="132"/>
                        </a:cubicBezTo>
                        <a:cubicBezTo>
                          <a:pt x="150" y="138"/>
                          <a:pt x="154" y="150"/>
                          <a:pt x="154" y="150"/>
                        </a:cubicBezTo>
                        <a:cubicBezTo>
                          <a:pt x="161" y="139"/>
                          <a:pt x="168" y="144"/>
                          <a:pt x="176" y="152"/>
                        </a:cubicBezTo>
                        <a:cubicBezTo>
                          <a:pt x="174" y="167"/>
                          <a:pt x="173" y="181"/>
                          <a:pt x="170" y="196"/>
                        </a:cubicBezTo>
                        <a:cubicBezTo>
                          <a:pt x="171" y="202"/>
                          <a:pt x="174" y="220"/>
                          <a:pt x="180" y="224"/>
                        </a:cubicBezTo>
                        <a:cubicBezTo>
                          <a:pt x="185" y="228"/>
                          <a:pt x="193" y="228"/>
                          <a:pt x="198" y="232"/>
                        </a:cubicBezTo>
                        <a:cubicBezTo>
                          <a:pt x="204" y="230"/>
                          <a:pt x="216" y="234"/>
                          <a:pt x="216" y="234"/>
                        </a:cubicBezTo>
                        <a:cubicBezTo>
                          <a:pt x="223" y="241"/>
                          <a:pt x="225" y="245"/>
                          <a:pt x="236" y="242"/>
                        </a:cubicBezTo>
                        <a:cubicBezTo>
                          <a:pt x="242" y="240"/>
                          <a:pt x="254" y="236"/>
                          <a:pt x="254" y="236"/>
                        </a:cubicBezTo>
                        <a:cubicBezTo>
                          <a:pt x="260" y="240"/>
                          <a:pt x="265" y="246"/>
                          <a:pt x="272" y="248"/>
                        </a:cubicBezTo>
                        <a:cubicBezTo>
                          <a:pt x="277" y="250"/>
                          <a:pt x="291" y="252"/>
                          <a:pt x="296" y="256"/>
                        </a:cubicBezTo>
                        <a:cubicBezTo>
                          <a:pt x="301" y="260"/>
                          <a:pt x="314" y="264"/>
                          <a:pt x="314" y="264"/>
                        </a:cubicBezTo>
                        <a:cubicBezTo>
                          <a:pt x="330" y="263"/>
                          <a:pt x="338" y="261"/>
                          <a:pt x="352" y="266"/>
                        </a:cubicBezTo>
                        <a:cubicBezTo>
                          <a:pt x="355" y="275"/>
                          <a:pt x="350" y="277"/>
                          <a:pt x="342" y="274"/>
                        </a:cubicBezTo>
                        <a:cubicBezTo>
                          <a:pt x="336" y="276"/>
                          <a:pt x="322" y="272"/>
                          <a:pt x="322" y="272"/>
                        </a:cubicBezTo>
                        <a:cubicBezTo>
                          <a:pt x="314" y="275"/>
                          <a:pt x="308" y="272"/>
                          <a:pt x="300" y="270"/>
                        </a:cubicBezTo>
                        <a:cubicBezTo>
                          <a:pt x="296" y="269"/>
                          <a:pt x="288" y="266"/>
                          <a:pt x="288" y="266"/>
                        </a:cubicBezTo>
                        <a:cubicBezTo>
                          <a:pt x="276" y="270"/>
                          <a:pt x="264" y="266"/>
                          <a:pt x="252" y="264"/>
                        </a:cubicBezTo>
                        <a:cubicBezTo>
                          <a:pt x="245" y="259"/>
                          <a:pt x="242" y="257"/>
                          <a:pt x="234" y="260"/>
                        </a:cubicBezTo>
                        <a:cubicBezTo>
                          <a:pt x="211" y="252"/>
                          <a:pt x="192" y="256"/>
                          <a:pt x="172" y="242"/>
                        </a:cubicBezTo>
                        <a:cubicBezTo>
                          <a:pt x="165" y="231"/>
                          <a:pt x="176" y="221"/>
                          <a:pt x="160" y="216"/>
                        </a:cubicBezTo>
                        <a:cubicBezTo>
                          <a:pt x="154" y="233"/>
                          <a:pt x="136" y="203"/>
                          <a:pt x="126" y="200"/>
                        </a:cubicBezTo>
                        <a:cubicBezTo>
                          <a:pt x="120" y="196"/>
                          <a:pt x="114" y="190"/>
                          <a:pt x="108" y="186"/>
                        </a:cubicBezTo>
                        <a:cubicBezTo>
                          <a:pt x="104" y="175"/>
                          <a:pt x="104" y="165"/>
                          <a:pt x="94" y="158"/>
                        </a:cubicBezTo>
                        <a:cubicBezTo>
                          <a:pt x="83" y="142"/>
                          <a:pt x="85" y="119"/>
                          <a:pt x="68" y="108"/>
                        </a:cubicBezTo>
                        <a:cubicBezTo>
                          <a:pt x="67" y="106"/>
                          <a:pt x="66" y="104"/>
                          <a:pt x="64" y="102"/>
                        </a:cubicBezTo>
                        <a:cubicBezTo>
                          <a:pt x="62" y="101"/>
                          <a:pt x="59" y="102"/>
                          <a:pt x="58" y="100"/>
                        </a:cubicBezTo>
                        <a:cubicBezTo>
                          <a:pt x="56" y="97"/>
                          <a:pt x="54" y="88"/>
                          <a:pt x="54" y="88"/>
                        </a:cubicBezTo>
                        <a:cubicBezTo>
                          <a:pt x="59" y="73"/>
                          <a:pt x="52" y="61"/>
                          <a:pt x="38" y="58"/>
                        </a:cubicBezTo>
                        <a:cubicBezTo>
                          <a:pt x="32" y="49"/>
                          <a:pt x="31" y="44"/>
                          <a:pt x="20" y="40"/>
                        </a:cubicBezTo>
                        <a:cubicBezTo>
                          <a:pt x="16" y="27"/>
                          <a:pt x="16" y="26"/>
                          <a:pt x="4" y="22"/>
                        </a:cubicBezTo>
                        <a:cubicBezTo>
                          <a:pt x="1" y="13"/>
                          <a:pt x="0" y="5"/>
                          <a:pt x="10" y="2"/>
                        </a:cubicBezTo>
                        <a:cubicBezTo>
                          <a:pt x="18" y="5"/>
                          <a:pt x="18" y="4"/>
                          <a:pt x="10" y="4"/>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091" name="Freeform 74"/>
                  <p:cNvSpPr>
                    <a:spLocks/>
                  </p:cNvSpPr>
                  <p:nvPr/>
                </p:nvSpPr>
                <p:spPr bwMode="ltGray">
                  <a:xfrm>
                    <a:off x="4515" y="541"/>
                    <a:ext cx="67" cy="68"/>
                  </a:xfrm>
                  <a:custGeom>
                    <a:avLst/>
                    <a:gdLst>
                      <a:gd name="T0" fmla="*/ 10 w 156"/>
                      <a:gd name="T1" fmla="*/ 7 h 206"/>
                      <a:gd name="T2" fmla="*/ 12 w 156"/>
                      <a:gd name="T3" fmla="*/ 6 h 206"/>
                      <a:gd name="T4" fmla="*/ 12 w 156"/>
                      <a:gd name="T5" fmla="*/ 6 h 206"/>
                      <a:gd name="T6" fmla="*/ 15 w 156"/>
                      <a:gd name="T7" fmla="*/ 5 h 206"/>
                      <a:gd name="T8" fmla="*/ 20 w 156"/>
                      <a:gd name="T9" fmla="*/ 2 h 206"/>
                      <a:gd name="T10" fmla="*/ 21 w 156"/>
                      <a:gd name="T11" fmla="*/ 0 h 206"/>
                      <a:gd name="T12" fmla="*/ 23 w 156"/>
                      <a:gd name="T13" fmla="*/ 0 h 206"/>
                      <a:gd name="T14" fmla="*/ 27 w 156"/>
                      <a:gd name="T15" fmla="*/ 3 h 206"/>
                      <a:gd name="T16" fmla="*/ 27 w 156"/>
                      <a:gd name="T17" fmla="*/ 5 h 206"/>
                      <a:gd name="T18" fmla="*/ 23 w 156"/>
                      <a:gd name="T19" fmla="*/ 7 h 206"/>
                      <a:gd name="T20" fmla="*/ 24 w 156"/>
                      <a:gd name="T21" fmla="*/ 10 h 206"/>
                      <a:gd name="T22" fmla="*/ 26 w 156"/>
                      <a:gd name="T23" fmla="*/ 12 h 206"/>
                      <a:gd name="T24" fmla="*/ 27 w 156"/>
                      <a:gd name="T25" fmla="*/ 14 h 206"/>
                      <a:gd name="T26" fmla="*/ 24 w 156"/>
                      <a:gd name="T27" fmla="*/ 14 h 206"/>
                      <a:gd name="T28" fmla="*/ 21 w 156"/>
                      <a:gd name="T29" fmla="*/ 16 h 206"/>
                      <a:gd name="T30" fmla="*/ 19 w 156"/>
                      <a:gd name="T31" fmla="*/ 17 h 206"/>
                      <a:gd name="T32" fmla="*/ 18 w 156"/>
                      <a:gd name="T33" fmla="*/ 21 h 206"/>
                      <a:gd name="T34" fmla="*/ 16 w 156"/>
                      <a:gd name="T35" fmla="*/ 22 h 206"/>
                      <a:gd name="T36" fmla="*/ 15 w 156"/>
                      <a:gd name="T37" fmla="*/ 22 h 206"/>
                      <a:gd name="T38" fmla="*/ 14 w 156"/>
                      <a:gd name="T39" fmla="*/ 22 h 206"/>
                      <a:gd name="T40" fmla="*/ 13 w 156"/>
                      <a:gd name="T41" fmla="*/ 21 h 206"/>
                      <a:gd name="T42" fmla="*/ 11 w 156"/>
                      <a:gd name="T43" fmla="*/ 20 h 206"/>
                      <a:gd name="T44" fmla="*/ 8 w 156"/>
                      <a:gd name="T45" fmla="*/ 21 h 206"/>
                      <a:gd name="T46" fmla="*/ 5 w 156"/>
                      <a:gd name="T47" fmla="*/ 20 h 206"/>
                      <a:gd name="T48" fmla="*/ 2 w 156"/>
                      <a:gd name="T49" fmla="*/ 16 h 206"/>
                      <a:gd name="T50" fmla="*/ 1 w 156"/>
                      <a:gd name="T51" fmla="*/ 14 h 206"/>
                      <a:gd name="T52" fmla="*/ 0 w 156"/>
                      <a:gd name="T53" fmla="*/ 13 h 206"/>
                      <a:gd name="T54" fmla="*/ 4 w 156"/>
                      <a:gd name="T55" fmla="*/ 11 h 206"/>
                      <a:gd name="T56" fmla="*/ 6 w 156"/>
                      <a:gd name="T57" fmla="*/ 11 h 206"/>
                      <a:gd name="T58" fmla="*/ 6 w 156"/>
                      <a:gd name="T59" fmla="*/ 9 h 206"/>
                      <a:gd name="T60" fmla="*/ 9 w 156"/>
                      <a:gd name="T61" fmla="*/ 8 h 206"/>
                      <a:gd name="T62" fmla="*/ 10 w 156"/>
                      <a:gd name="T63" fmla="*/ 7 h 20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0" t="0" r="r" b="b"/>
                    <a:pathLst>
                      <a:path w="156" h="206">
                        <a:moveTo>
                          <a:pt x="54" y="66"/>
                        </a:moveTo>
                        <a:cubicBezTo>
                          <a:pt x="58" y="63"/>
                          <a:pt x="64" y="63"/>
                          <a:pt x="66" y="58"/>
                        </a:cubicBezTo>
                        <a:cubicBezTo>
                          <a:pt x="67" y="56"/>
                          <a:pt x="67" y="53"/>
                          <a:pt x="68" y="52"/>
                        </a:cubicBezTo>
                        <a:cubicBezTo>
                          <a:pt x="71" y="49"/>
                          <a:pt x="80" y="44"/>
                          <a:pt x="80" y="44"/>
                        </a:cubicBezTo>
                        <a:cubicBezTo>
                          <a:pt x="113" y="55"/>
                          <a:pt x="85" y="29"/>
                          <a:pt x="106" y="22"/>
                        </a:cubicBezTo>
                        <a:cubicBezTo>
                          <a:pt x="110" y="17"/>
                          <a:pt x="108" y="9"/>
                          <a:pt x="112" y="4"/>
                        </a:cubicBezTo>
                        <a:cubicBezTo>
                          <a:pt x="115" y="1"/>
                          <a:pt x="124" y="0"/>
                          <a:pt x="124" y="0"/>
                        </a:cubicBezTo>
                        <a:cubicBezTo>
                          <a:pt x="138" y="14"/>
                          <a:pt x="126" y="23"/>
                          <a:pt x="150" y="28"/>
                        </a:cubicBezTo>
                        <a:cubicBezTo>
                          <a:pt x="156" y="36"/>
                          <a:pt x="154" y="39"/>
                          <a:pt x="146" y="44"/>
                        </a:cubicBezTo>
                        <a:cubicBezTo>
                          <a:pt x="141" y="52"/>
                          <a:pt x="135" y="61"/>
                          <a:pt x="126" y="64"/>
                        </a:cubicBezTo>
                        <a:cubicBezTo>
                          <a:pt x="118" y="75"/>
                          <a:pt x="128" y="83"/>
                          <a:pt x="132" y="94"/>
                        </a:cubicBezTo>
                        <a:cubicBezTo>
                          <a:pt x="129" y="103"/>
                          <a:pt x="135" y="105"/>
                          <a:pt x="142" y="110"/>
                        </a:cubicBezTo>
                        <a:cubicBezTo>
                          <a:pt x="145" y="119"/>
                          <a:pt x="141" y="120"/>
                          <a:pt x="146" y="128"/>
                        </a:cubicBezTo>
                        <a:cubicBezTo>
                          <a:pt x="142" y="139"/>
                          <a:pt x="135" y="133"/>
                          <a:pt x="128" y="128"/>
                        </a:cubicBezTo>
                        <a:cubicBezTo>
                          <a:pt x="116" y="132"/>
                          <a:pt x="122" y="136"/>
                          <a:pt x="116" y="146"/>
                        </a:cubicBezTo>
                        <a:cubicBezTo>
                          <a:pt x="113" y="151"/>
                          <a:pt x="108" y="152"/>
                          <a:pt x="104" y="156"/>
                        </a:cubicBezTo>
                        <a:cubicBezTo>
                          <a:pt x="107" y="167"/>
                          <a:pt x="112" y="191"/>
                          <a:pt x="100" y="198"/>
                        </a:cubicBezTo>
                        <a:cubicBezTo>
                          <a:pt x="96" y="200"/>
                          <a:pt x="92" y="200"/>
                          <a:pt x="88" y="202"/>
                        </a:cubicBezTo>
                        <a:cubicBezTo>
                          <a:pt x="86" y="203"/>
                          <a:pt x="84" y="205"/>
                          <a:pt x="82" y="206"/>
                        </a:cubicBezTo>
                        <a:cubicBezTo>
                          <a:pt x="80" y="205"/>
                          <a:pt x="77" y="204"/>
                          <a:pt x="76" y="202"/>
                        </a:cubicBezTo>
                        <a:cubicBezTo>
                          <a:pt x="74" y="198"/>
                          <a:pt x="76" y="191"/>
                          <a:pt x="72" y="190"/>
                        </a:cubicBezTo>
                        <a:cubicBezTo>
                          <a:pt x="68" y="189"/>
                          <a:pt x="60" y="186"/>
                          <a:pt x="60" y="186"/>
                        </a:cubicBezTo>
                        <a:cubicBezTo>
                          <a:pt x="53" y="188"/>
                          <a:pt x="49" y="192"/>
                          <a:pt x="42" y="194"/>
                        </a:cubicBezTo>
                        <a:cubicBezTo>
                          <a:pt x="34" y="189"/>
                          <a:pt x="37" y="183"/>
                          <a:pt x="28" y="186"/>
                        </a:cubicBezTo>
                        <a:cubicBezTo>
                          <a:pt x="12" y="181"/>
                          <a:pt x="19" y="161"/>
                          <a:pt x="10" y="148"/>
                        </a:cubicBezTo>
                        <a:cubicBezTo>
                          <a:pt x="5" y="121"/>
                          <a:pt x="11" y="147"/>
                          <a:pt x="4" y="130"/>
                        </a:cubicBezTo>
                        <a:cubicBezTo>
                          <a:pt x="2" y="126"/>
                          <a:pt x="0" y="118"/>
                          <a:pt x="0" y="118"/>
                        </a:cubicBezTo>
                        <a:cubicBezTo>
                          <a:pt x="2" y="95"/>
                          <a:pt x="0" y="83"/>
                          <a:pt x="20" y="96"/>
                        </a:cubicBezTo>
                        <a:cubicBezTo>
                          <a:pt x="23" y="105"/>
                          <a:pt x="23" y="110"/>
                          <a:pt x="32" y="104"/>
                        </a:cubicBezTo>
                        <a:cubicBezTo>
                          <a:pt x="35" y="95"/>
                          <a:pt x="29" y="88"/>
                          <a:pt x="34" y="80"/>
                        </a:cubicBezTo>
                        <a:cubicBezTo>
                          <a:pt x="36" y="76"/>
                          <a:pt x="48" y="73"/>
                          <a:pt x="52" y="70"/>
                        </a:cubicBezTo>
                        <a:cubicBezTo>
                          <a:pt x="57" y="63"/>
                          <a:pt x="58" y="62"/>
                          <a:pt x="54" y="66"/>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092" name="Freeform 75"/>
                  <p:cNvSpPr>
                    <a:spLocks/>
                  </p:cNvSpPr>
                  <p:nvPr/>
                </p:nvSpPr>
                <p:spPr bwMode="ltGray">
                  <a:xfrm>
                    <a:off x="4580" y="572"/>
                    <a:ext cx="47" cy="13"/>
                  </a:xfrm>
                  <a:custGeom>
                    <a:avLst/>
                    <a:gdLst>
                      <a:gd name="T0" fmla="*/ 1 w 109"/>
                      <a:gd name="T1" fmla="*/ 4 h 38"/>
                      <a:gd name="T2" fmla="*/ 3 w 109"/>
                      <a:gd name="T3" fmla="*/ 1 h 38"/>
                      <a:gd name="T4" fmla="*/ 9 w 109"/>
                      <a:gd name="T5" fmla="*/ 2 h 38"/>
                      <a:gd name="T6" fmla="*/ 13 w 109"/>
                      <a:gd name="T7" fmla="*/ 2 h 38"/>
                      <a:gd name="T8" fmla="*/ 17 w 109"/>
                      <a:gd name="T9" fmla="*/ 0 h 38"/>
                      <a:gd name="T10" fmla="*/ 14 w 109"/>
                      <a:gd name="T11" fmla="*/ 3 h 38"/>
                      <a:gd name="T12" fmla="*/ 11 w 109"/>
                      <a:gd name="T13" fmla="*/ 4 h 38"/>
                      <a:gd name="T14" fmla="*/ 8 w 109"/>
                      <a:gd name="T15" fmla="*/ 4 h 38"/>
                      <a:gd name="T16" fmla="*/ 3 w 109"/>
                      <a:gd name="T17" fmla="*/ 3 h 38"/>
                      <a:gd name="T18" fmla="*/ 1 w 109"/>
                      <a:gd name="T19" fmla="*/ 4 h 38"/>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09" h="38">
                        <a:moveTo>
                          <a:pt x="4" y="32"/>
                        </a:moveTo>
                        <a:cubicBezTo>
                          <a:pt x="7" y="22"/>
                          <a:pt x="7" y="14"/>
                          <a:pt x="18" y="10"/>
                        </a:cubicBezTo>
                        <a:cubicBezTo>
                          <a:pt x="28" y="12"/>
                          <a:pt x="37" y="14"/>
                          <a:pt x="46" y="20"/>
                        </a:cubicBezTo>
                        <a:cubicBezTo>
                          <a:pt x="62" y="15"/>
                          <a:pt x="54" y="17"/>
                          <a:pt x="72" y="14"/>
                        </a:cubicBezTo>
                        <a:cubicBezTo>
                          <a:pt x="77" y="9"/>
                          <a:pt x="90" y="0"/>
                          <a:pt x="90" y="0"/>
                        </a:cubicBezTo>
                        <a:cubicBezTo>
                          <a:pt x="109" y="6"/>
                          <a:pt x="85" y="23"/>
                          <a:pt x="76" y="26"/>
                        </a:cubicBezTo>
                        <a:cubicBezTo>
                          <a:pt x="71" y="33"/>
                          <a:pt x="68" y="35"/>
                          <a:pt x="60" y="38"/>
                        </a:cubicBezTo>
                        <a:cubicBezTo>
                          <a:pt x="54" y="36"/>
                          <a:pt x="42" y="32"/>
                          <a:pt x="42" y="32"/>
                        </a:cubicBezTo>
                        <a:cubicBezTo>
                          <a:pt x="33" y="23"/>
                          <a:pt x="26" y="26"/>
                          <a:pt x="14" y="30"/>
                        </a:cubicBezTo>
                        <a:cubicBezTo>
                          <a:pt x="1" y="28"/>
                          <a:pt x="0" y="24"/>
                          <a:pt x="4" y="32"/>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093" name="Freeform 76"/>
                  <p:cNvSpPr>
                    <a:spLocks/>
                  </p:cNvSpPr>
                  <p:nvPr/>
                </p:nvSpPr>
                <p:spPr bwMode="ltGray">
                  <a:xfrm>
                    <a:off x="4578" y="588"/>
                    <a:ext cx="32" cy="34"/>
                  </a:xfrm>
                  <a:custGeom>
                    <a:avLst/>
                    <a:gdLst>
                      <a:gd name="T0" fmla="*/ 1 w 76"/>
                      <a:gd name="T1" fmla="*/ 2 h 104"/>
                      <a:gd name="T2" fmla="*/ 3 w 76"/>
                      <a:gd name="T3" fmla="*/ 0 h 104"/>
                      <a:gd name="T4" fmla="*/ 6 w 76"/>
                      <a:gd name="T5" fmla="*/ 2 h 104"/>
                      <a:gd name="T6" fmla="*/ 11 w 76"/>
                      <a:gd name="T7" fmla="*/ 0 h 104"/>
                      <a:gd name="T8" fmla="*/ 8 w 76"/>
                      <a:gd name="T9" fmla="*/ 4 h 104"/>
                      <a:gd name="T10" fmla="*/ 10 w 76"/>
                      <a:gd name="T11" fmla="*/ 5 h 104"/>
                      <a:gd name="T12" fmla="*/ 10 w 76"/>
                      <a:gd name="T13" fmla="*/ 7 h 104"/>
                      <a:gd name="T14" fmla="*/ 8 w 76"/>
                      <a:gd name="T15" fmla="*/ 8 h 104"/>
                      <a:gd name="T16" fmla="*/ 6 w 76"/>
                      <a:gd name="T17" fmla="*/ 7 h 104"/>
                      <a:gd name="T18" fmla="*/ 4 w 76"/>
                      <a:gd name="T19" fmla="*/ 5 h 104"/>
                      <a:gd name="T20" fmla="*/ 5 w 76"/>
                      <a:gd name="T21" fmla="*/ 7 h 104"/>
                      <a:gd name="T22" fmla="*/ 5 w 76"/>
                      <a:gd name="T23" fmla="*/ 8 h 104"/>
                      <a:gd name="T24" fmla="*/ 3 w 76"/>
                      <a:gd name="T25" fmla="*/ 11 h 104"/>
                      <a:gd name="T26" fmla="*/ 2 w 76"/>
                      <a:gd name="T27" fmla="*/ 11 h 104"/>
                      <a:gd name="T28" fmla="*/ 1 w 76"/>
                      <a:gd name="T29" fmla="*/ 9 h 104"/>
                      <a:gd name="T30" fmla="*/ 0 w 76"/>
                      <a:gd name="T31" fmla="*/ 6 h 104"/>
                      <a:gd name="T32" fmla="*/ 0 w 76"/>
                      <a:gd name="T33" fmla="*/ 3 h 104"/>
                      <a:gd name="T34" fmla="*/ 1 w 76"/>
                      <a:gd name="T35" fmla="*/ 2 h 104"/>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76" h="104">
                        <a:moveTo>
                          <a:pt x="8" y="18"/>
                        </a:moveTo>
                        <a:cubicBezTo>
                          <a:pt x="10" y="8"/>
                          <a:pt x="9" y="3"/>
                          <a:pt x="18" y="0"/>
                        </a:cubicBezTo>
                        <a:cubicBezTo>
                          <a:pt x="28" y="3"/>
                          <a:pt x="25" y="12"/>
                          <a:pt x="34" y="18"/>
                        </a:cubicBezTo>
                        <a:cubicBezTo>
                          <a:pt x="46" y="16"/>
                          <a:pt x="51" y="8"/>
                          <a:pt x="62" y="4"/>
                        </a:cubicBezTo>
                        <a:cubicBezTo>
                          <a:pt x="76" y="9"/>
                          <a:pt x="56" y="31"/>
                          <a:pt x="46" y="34"/>
                        </a:cubicBezTo>
                        <a:cubicBezTo>
                          <a:pt x="51" y="56"/>
                          <a:pt x="43" y="29"/>
                          <a:pt x="54" y="48"/>
                        </a:cubicBezTo>
                        <a:cubicBezTo>
                          <a:pt x="56" y="52"/>
                          <a:pt x="58" y="60"/>
                          <a:pt x="58" y="60"/>
                        </a:cubicBezTo>
                        <a:cubicBezTo>
                          <a:pt x="55" y="68"/>
                          <a:pt x="54" y="71"/>
                          <a:pt x="46" y="74"/>
                        </a:cubicBezTo>
                        <a:cubicBezTo>
                          <a:pt x="38" y="71"/>
                          <a:pt x="37" y="68"/>
                          <a:pt x="34" y="60"/>
                        </a:cubicBezTo>
                        <a:cubicBezTo>
                          <a:pt x="33" y="50"/>
                          <a:pt x="32" y="33"/>
                          <a:pt x="22" y="48"/>
                        </a:cubicBezTo>
                        <a:cubicBezTo>
                          <a:pt x="25" y="60"/>
                          <a:pt x="23" y="53"/>
                          <a:pt x="28" y="68"/>
                        </a:cubicBezTo>
                        <a:cubicBezTo>
                          <a:pt x="29" y="70"/>
                          <a:pt x="30" y="74"/>
                          <a:pt x="30" y="74"/>
                        </a:cubicBezTo>
                        <a:cubicBezTo>
                          <a:pt x="24" y="84"/>
                          <a:pt x="22" y="93"/>
                          <a:pt x="20" y="104"/>
                        </a:cubicBezTo>
                        <a:cubicBezTo>
                          <a:pt x="17" y="103"/>
                          <a:pt x="14" y="104"/>
                          <a:pt x="12" y="102"/>
                        </a:cubicBezTo>
                        <a:cubicBezTo>
                          <a:pt x="9" y="99"/>
                          <a:pt x="8" y="90"/>
                          <a:pt x="8" y="90"/>
                        </a:cubicBezTo>
                        <a:cubicBezTo>
                          <a:pt x="13" y="75"/>
                          <a:pt x="14" y="64"/>
                          <a:pt x="0" y="54"/>
                        </a:cubicBezTo>
                        <a:cubicBezTo>
                          <a:pt x="1" y="46"/>
                          <a:pt x="1" y="38"/>
                          <a:pt x="2" y="30"/>
                        </a:cubicBezTo>
                        <a:cubicBezTo>
                          <a:pt x="2" y="27"/>
                          <a:pt x="13" y="2"/>
                          <a:pt x="8" y="1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094" name="Freeform 77"/>
                  <p:cNvSpPr>
                    <a:spLocks/>
                  </p:cNvSpPr>
                  <p:nvPr/>
                </p:nvSpPr>
                <p:spPr bwMode="ltGray">
                  <a:xfrm>
                    <a:off x="4632" y="569"/>
                    <a:ext cx="16" cy="20"/>
                  </a:xfrm>
                  <a:custGeom>
                    <a:avLst/>
                    <a:gdLst>
                      <a:gd name="T0" fmla="*/ 0 w 37"/>
                      <a:gd name="T1" fmla="*/ 3 h 61"/>
                      <a:gd name="T2" fmla="*/ 3 w 37"/>
                      <a:gd name="T3" fmla="*/ 0 h 61"/>
                      <a:gd name="T4" fmla="*/ 3 w 37"/>
                      <a:gd name="T5" fmla="*/ 3 h 61"/>
                      <a:gd name="T6" fmla="*/ 7 w 37"/>
                      <a:gd name="T7" fmla="*/ 4 h 61"/>
                      <a:gd name="T8" fmla="*/ 3 w 37"/>
                      <a:gd name="T9" fmla="*/ 5 h 61"/>
                      <a:gd name="T10" fmla="*/ 1 w 37"/>
                      <a:gd name="T11" fmla="*/ 6 h 61"/>
                      <a:gd name="T12" fmla="*/ 0 w 37"/>
                      <a:gd name="T13" fmla="*/ 4 h 61"/>
                      <a:gd name="T14" fmla="*/ 0 w 37"/>
                      <a:gd name="T15" fmla="*/ 3 h 61"/>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7" h="61">
                        <a:moveTo>
                          <a:pt x="3" y="28"/>
                        </a:moveTo>
                        <a:cubicBezTo>
                          <a:pt x="5" y="14"/>
                          <a:pt x="2" y="7"/>
                          <a:pt x="13" y="0"/>
                        </a:cubicBezTo>
                        <a:cubicBezTo>
                          <a:pt x="26" y="9"/>
                          <a:pt x="23" y="17"/>
                          <a:pt x="15" y="28"/>
                        </a:cubicBezTo>
                        <a:cubicBezTo>
                          <a:pt x="25" y="31"/>
                          <a:pt x="33" y="27"/>
                          <a:pt x="37" y="38"/>
                        </a:cubicBezTo>
                        <a:cubicBezTo>
                          <a:pt x="30" y="45"/>
                          <a:pt x="28" y="47"/>
                          <a:pt x="19" y="44"/>
                        </a:cubicBezTo>
                        <a:cubicBezTo>
                          <a:pt x="13" y="54"/>
                          <a:pt x="18" y="61"/>
                          <a:pt x="5" y="58"/>
                        </a:cubicBezTo>
                        <a:cubicBezTo>
                          <a:pt x="0" y="50"/>
                          <a:pt x="3" y="44"/>
                          <a:pt x="1" y="34"/>
                        </a:cubicBezTo>
                        <a:cubicBezTo>
                          <a:pt x="2" y="32"/>
                          <a:pt x="3" y="28"/>
                          <a:pt x="3" y="2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095" name="Freeform 78"/>
                  <p:cNvSpPr>
                    <a:spLocks/>
                  </p:cNvSpPr>
                  <p:nvPr/>
                </p:nvSpPr>
                <p:spPr bwMode="ltGray">
                  <a:xfrm>
                    <a:off x="4636" y="600"/>
                    <a:ext cx="20" cy="10"/>
                  </a:xfrm>
                  <a:custGeom>
                    <a:avLst/>
                    <a:gdLst>
                      <a:gd name="T0" fmla="*/ 1 w 49"/>
                      <a:gd name="T1" fmla="*/ 0 h 29"/>
                      <a:gd name="T2" fmla="*/ 5 w 49"/>
                      <a:gd name="T3" fmla="*/ 0 h 29"/>
                      <a:gd name="T4" fmla="*/ 8 w 49"/>
                      <a:gd name="T5" fmla="*/ 2 h 29"/>
                      <a:gd name="T6" fmla="*/ 6 w 49"/>
                      <a:gd name="T7" fmla="*/ 2 h 29"/>
                      <a:gd name="T8" fmla="*/ 0 w 49"/>
                      <a:gd name="T9" fmla="*/ 2 h 29"/>
                      <a:gd name="T10" fmla="*/ 1 w 49"/>
                      <a:gd name="T11" fmla="*/ 0 h 29"/>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9" h="29">
                        <a:moveTo>
                          <a:pt x="7" y="0"/>
                        </a:moveTo>
                        <a:cubicBezTo>
                          <a:pt x="15" y="6"/>
                          <a:pt x="19" y="2"/>
                          <a:pt x="29" y="0"/>
                        </a:cubicBezTo>
                        <a:cubicBezTo>
                          <a:pt x="45" y="5"/>
                          <a:pt x="40" y="3"/>
                          <a:pt x="49" y="16"/>
                        </a:cubicBezTo>
                        <a:cubicBezTo>
                          <a:pt x="46" y="29"/>
                          <a:pt x="42" y="21"/>
                          <a:pt x="35" y="14"/>
                        </a:cubicBezTo>
                        <a:cubicBezTo>
                          <a:pt x="26" y="15"/>
                          <a:pt x="12" y="19"/>
                          <a:pt x="3" y="16"/>
                        </a:cubicBezTo>
                        <a:cubicBezTo>
                          <a:pt x="0" y="6"/>
                          <a:pt x="7" y="10"/>
                          <a:pt x="7" y="0"/>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096" name="Freeform 79"/>
                  <p:cNvSpPr>
                    <a:spLocks/>
                  </p:cNvSpPr>
                  <p:nvPr/>
                </p:nvSpPr>
                <p:spPr bwMode="ltGray">
                  <a:xfrm>
                    <a:off x="4657" y="585"/>
                    <a:ext cx="26" cy="17"/>
                  </a:xfrm>
                  <a:custGeom>
                    <a:avLst/>
                    <a:gdLst>
                      <a:gd name="T0" fmla="*/ 4 w 61"/>
                      <a:gd name="T1" fmla="*/ 5 h 48"/>
                      <a:gd name="T2" fmla="*/ 3 w 61"/>
                      <a:gd name="T3" fmla="*/ 3 h 48"/>
                      <a:gd name="T4" fmla="*/ 0 w 61"/>
                      <a:gd name="T5" fmla="*/ 3 h 48"/>
                      <a:gd name="T6" fmla="*/ 3 w 61"/>
                      <a:gd name="T7" fmla="*/ 1 h 48"/>
                      <a:gd name="T8" fmla="*/ 5 w 61"/>
                      <a:gd name="T9" fmla="*/ 0 h 48"/>
                      <a:gd name="T10" fmla="*/ 9 w 61"/>
                      <a:gd name="T11" fmla="*/ 1 h 48"/>
                      <a:gd name="T12" fmla="*/ 10 w 61"/>
                      <a:gd name="T13" fmla="*/ 2 h 48"/>
                      <a:gd name="T14" fmla="*/ 11 w 61"/>
                      <a:gd name="T15" fmla="*/ 4 h 48"/>
                      <a:gd name="T16" fmla="*/ 7 w 61"/>
                      <a:gd name="T17" fmla="*/ 5 h 48"/>
                      <a:gd name="T18" fmla="*/ 4 w 61"/>
                      <a:gd name="T19" fmla="*/ 6 h 48"/>
                      <a:gd name="T20" fmla="*/ 4 w 61"/>
                      <a:gd name="T21" fmla="*/ 5 h 48"/>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61" h="48">
                        <a:moveTo>
                          <a:pt x="21" y="38"/>
                        </a:moveTo>
                        <a:cubicBezTo>
                          <a:pt x="19" y="34"/>
                          <a:pt x="19" y="29"/>
                          <a:pt x="15" y="26"/>
                        </a:cubicBezTo>
                        <a:cubicBezTo>
                          <a:pt x="12" y="24"/>
                          <a:pt x="3" y="22"/>
                          <a:pt x="3" y="22"/>
                        </a:cubicBezTo>
                        <a:cubicBezTo>
                          <a:pt x="0" y="12"/>
                          <a:pt x="5" y="12"/>
                          <a:pt x="13" y="8"/>
                        </a:cubicBezTo>
                        <a:cubicBezTo>
                          <a:pt x="17" y="6"/>
                          <a:pt x="25" y="0"/>
                          <a:pt x="25" y="0"/>
                        </a:cubicBezTo>
                        <a:cubicBezTo>
                          <a:pt x="37" y="2"/>
                          <a:pt x="41" y="2"/>
                          <a:pt x="49" y="10"/>
                        </a:cubicBezTo>
                        <a:cubicBezTo>
                          <a:pt x="45" y="21"/>
                          <a:pt x="46" y="12"/>
                          <a:pt x="53" y="20"/>
                        </a:cubicBezTo>
                        <a:cubicBezTo>
                          <a:pt x="56" y="24"/>
                          <a:pt x="61" y="32"/>
                          <a:pt x="61" y="32"/>
                        </a:cubicBezTo>
                        <a:cubicBezTo>
                          <a:pt x="56" y="47"/>
                          <a:pt x="53" y="42"/>
                          <a:pt x="41" y="38"/>
                        </a:cubicBezTo>
                        <a:cubicBezTo>
                          <a:pt x="27" y="47"/>
                          <a:pt x="34" y="48"/>
                          <a:pt x="23" y="44"/>
                        </a:cubicBezTo>
                        <a:cubicBezTo>
                          <a:pt x="22" y="42"/>
                          <a:pt x="21" y="38"/>
                          <a:pt x="21" y="3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097" name="Freeform 80"/>
                  <p:cNvSpPr>
                    <a:spLocks/>
                  </p:cNvSpPr>
                  <p:nvPr/>
                </p:nvSpPr>
                <p:spPr bwMode="ltGray">
                  <a:xfrm>
                    <a:off x="4664" y="593"/>
                    <a:ext cx="122" cy="61"/>
                  </a:xfrm>
                  <a:custGeom>
                    <a:avLst/>
                    <a:gdLst>
                      <a:gd name="T0" fmla="*/ 9 w 286"/>
                      <a:gd name="T1" fmla="*/ 3 h 182"/>
                      <a:gd name="T2" fmla="*/ 6 w 286"/>
                      <a:gd name="T3" fmla="*/ 2 h 182"/>
                      <a:gd name="T4" fmla="*/ 5 w 286"/>
                      <a:gd name="T5" fmla="*/ 3 h 182"/>
                      <a:gd name="T6" fmla="*/ 0 w 286"/>
                      <a:gd name="T7" fmla="*/ 3 h 182"/>
                      <a:gd name="T8" fmla="*/ 2 w 286"/>
                      <a:gd name="T9" fmla="*/ 5 h 182"/>
                      <a:gd name="T10" fmla="*/ 3 w 286"/>
                      <a:gd name="T11" fmla="*/ 7 h 182"/>
                      <a:gd name="T12" fmla="*/ 4 w 286"/>
                      <a:gd name="T13" fmla="*/ 5 h 182"/>
                      <a:gd name="T14" fmla="*/ 6 w 286"/>
                      <a:gd name="T15" fmla="*/ 5 h 182"/>
                      <a:gd name="T16" fmla="*/ 9 w 286"/>
                      <a:gd name="T17" fmla="*/ 6 h 182"/>
                      <a:gd name="T18" fmla="*/ 13 w 286"/>
                      <a:gd name="T19" fmla="*/ 7 h 182"/>
                      <a:gd name="T20" fmla="*/ 16 w 286"/>
                      <a:gd name="T21" fmla="*/ 8 h 182"/>
                      <a:gd name="T22" fmla="*/ 19 w 286"/>
                      <a:gd name="T23" fmla="*/ 11 h 182"/>
                      <a:gd name="T24" fmla="*/ 19 w 286"/>
                      <a:gd name="T25" fmla="*/ 14 h 182"/>
                      <a:gd name="T26" fmla="*/ 18 w 286"/>
                      <a:gd name="T27" fmla="*/ 15 h 182"/>
                      <a:gd name="T28" fmla="*/ 22 w 286"/>
                      <a:gd name="T29" fmla="*/ 14 h 182"/>
                      <a:gd name="T30" fmla="*/ 26 w 286"/>
                      <a:gd name="T31" fmla="*/ 16 h 182"/>
                      <a:gd name="T32" fmla="*/ 31 w 286"/>
                      <a:gd name="T33" fmla="*/ 17 h 182"/>
                      <a:gd name="T34" fmla="*/ 32 w 286"/>
                      <a:gd name="T35" fmla="*/ 16 h 182"/>
                      <a:gd name="T36" fmla="*/ 31 w 286"/>
                      <a:gd name="T37" fmla="*/ 15 h 182"/>
                      <a:gd name="T38" fmla="*/ 32 w 286"/>
                      <a:gd name="T39" fmla="*/ 15 h 182"/>
                      <a:gd name="T40" fmla="*/ 34 w 286"/>
                      <a:gd name="T41" fmla="*/ 13 h 182"/>
                      <a:gd name="T42" fmla="*/ 37 w 286"/>
                      <a:gd name="T43" fmla="*/ 14 h 182"/>
                      <a:gd name="T44" fmla="*/ 39 w 286"/>
                      <a:gd name="T45" fmla="*/ 15 h 182"/>
                      <a:gd name="T46" fmla="*/ 44 w 286"/>
                      <a:gd name="T47" fmla="*/ 19 h 182"/>
                      <a:gd name="T48" fmla="*/ 48 w 286"/>
                      <a:gd name="T49" fmla="*/ 20 h 182"/>
                      <a:gd name="T50" fmla="*/ 52 w 286"/>
                      <a:gd name="T51" fmla="*/ 19 h 182"/>
                      <a:gd name="T52" fmla="*/ 49 w 286"/>
                      <a:gd name="T53" fmla="*/ 18 h 182"/>
                      <a:gd name="T54" fmla="*/ 46 w 286"/>
                      <a:gd name="T55" fmla="*/ 15 h 182"/>
                      <a:gd name="T56" fmla="*/ 46 w 286"/>
                      <a:gd name="T57" fmla="*/ 15 h 182"/>
                      <a:gd name="T58" fmla="*/ 45 w 286"/>
                      <a:gd name="T59" fmla="*/ 14 h 182"/>
                      <a:gd name="T60" fmla="*/ 43 w 286"/>
                      <a:gd name="T61" fmla="*/ 13 h 182"/>
                      <a:gd name="T62" fmla="*/ 44 w 286"/>
                      <a:gd name="T63" fmla="*/ 11 h 182"/>
                      <a:gd name="T64" fmla="*/ 40 w 286"/>
                      <a:gd name="T65" fmla="*/ 10 h 182"/>
                      <a:gd name="T66" fmla="*/ 38 w 286"/>
                      <a:gd name="T67" fmla="*/ 8 h 182"/>
                      <a:gd name="T68" fmla="*/ 35 w 286"/>
                      <a:gd name="T69" fmla="*/ 6 h 182"/>
                      <a:gd name="T70" fmla="*/ 31 w 286"/>
                      <a:gd name="T71" fmla="*/ 4 h 182"/>
                      <a:gd name="T72" fmla="*/ 29 w 286"/>
                      <a:gd name="T73" fmla="*/ 4 h 182"/>
                      <a:gd name="T74" fmla="*/ 22 w 286"/>
                      <a:gd name="T75" fmla="*/ 2 h 182"/>
                      <a:gd name="T76" fmla="*/ 19 w 286"/>
                      <a:gd name="T77" fmla="*/ 0 h 182"/>
                      <a:gd name="T78" fmla="*/ 17 w 286"/>
                      <a:gd name="T79" fmla="*/ 0 h 182"/>
                      <a:gd name="T80" fmla="*/ 13 w 286"/>
                      <a:gd name="T81" fmla="*/ 1 h 182"/>
                      <a:gd name="T82" fmla="*/ 10 w 286"/>
                      <a:gd name="T83" fmla="*/ 4 h 182"/>
                      <a:gd name="T84" fmla="*/ 9 w 286"/>
                      <a:gd name="T85" fmla="*/ 3 h 182"/>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0" t="0" r="r" b="b"/>
                    <a:pathLst>
                      <a:path w="286" h="182">
                        <a:moveTo>
                          <a:pt x="46" y="28"/>
                        </a:moveTo>
                        <a:cubicBezTo>
                          <a:pt x="41" y="14"/>
                          <a:pt x="46" y="17"/>
                          <a:pt x="36" y="14"/>
                        </a:cubicBezTo>
                        <a:cubicBezTo>
                          <a:pt x="31" y="17"/>
                          <a:pt x="26" y="30"/>
                          <a:pt x="26" y="30"/>
                        </a:cubicBezTo>
                        <a:cubicBezTo>
                          <a:pt x="12" y="25"/>
                          <a:pt x="19" y="21"/>
                          <a:pt x="0" y="24"/>
                        </a:cubicBezTo>
                        <a:cubicBezTo>
                          <a:pt x="2" y="33"/>
                          <a:pt x="2" y="37"/>
                          <a:pt x="10" y="42"/>
                        </a:cubicBezTo>
                        <a:cubicBezTo>
                          <a:pt x="12" y="49"/>
                          <a:pt x="14" y="55"/>
                          <a:pt x="16" y="62"/>
                        </a:cubicBezTo>
                        <a:cubicBezTo>
                          <a:pt x="24" y="59"/>
                          <a:pt x="27" y="57"/>
                          <a:pt x="24" y="48"/>
                        </a:cubicBezTo>
                        <a:cubicBezTo>
                          <a:pt x="26" y="47"/>
                          <a:pt x="28" y="43"/>
                          <a:pt x="30" y="44"/>
                        </a:cubicBezTo>
                        <a:cubicBezTo>
                          <a:pt x="48" y="48"/>
                          <a:pt x="36" y="52"/>
                          <a:pt x="48" y="56"/>
                        </a:cubicBezTo>
                        <a:cubicBezTo>
                          <a:pt x="74" y="65"/>
                          <a:pt x="47" y="56"/>
                          <a:pt x="70" y="62"/>
                        </a:cubicBezTo>
                        <a:cubicBezTo>
                          <a:pt x="77" y="64"/>
                          <a:pt x="88" y="72"/>
                          <a:pt x="88" y="72"/>
                        </a:cubicBezTo>
                        <a:cubicBezTo>
                          <a:pt x="96" y="84"/>
                          <a:pt x="102" y="87"/>
                          <a:pt x="106" y="102"/>
                        </a:cubicBezTo>
                        <a:cubicBezTo>
                          <a:pt x="105" y="109"/>
                          <a:pt x="106" y="115"/>
                          <a:pt x="104" y="122"/>
                        </a:cubicBezTo>
                        <a:cubicBezTo>
                          <a:pt x="103" y="126"/>
                          <a:pt x="94" y="132"/>
                          <a:pt x="98" y="134"/>
                        </a:cubicBezTo>
                        <a:cubicBezTo>
                          <a:pt x="106" y="137"/>
                          <a:pt x="122" y="128"/>
                          <a:pt x="122" y="128"/>
                        </a:cubicBezTo>
                        <a:cubicBezTo>
                          <a:pt x="130" y="131"/>
                          <a:pt x="133" y="135"/>
                          <a:pt x="140" y="140"/>
                        </a:cubicBezTo>
                        <a:cubicBezTo>
                          <a:pt x="148" y="145"/>
                          <a:pt x="159" y="145"/>
                          <a:pt x="168" y="148"/>
                        </a:cubicBezTo>
                        <a:cubicBezTo>
                          <a:pt x="170" y="147"/>
                          <a:pt x="173" y="148"/>
                          <a:pt x="174" y="146"/>
                        </a:cubicBezTo>
                        <a:cubicBezTo>
                          <a:pt x="176" y="142"/>
                          <a:pt x="164" y="136"/>
                          <a:pt x="168" y="134"/>
                        </a:cubicBezTo>
                        <a:cubicBezTo>
                          <a:pt x="171" y="132"/>
                          <a:pt x="175" y="135"/>
                          <a:pt x="178" y="136"/>
                        </a:cubicBezTo>
                        <a:cubicBezTo>
                          <a:pt x="182" y="131"/>
                          <a:pt x="186" y="118"/>
                          <a:pt x="186" y="118"/>
                        </a:cubicBezTo>
                        <a:cubicBezTo>
                          <a:pt x="189" y="119"/>
                          <a:pt x="199" y="120"/>
                          <a:pt x="202" y="122"/>
                        </a:cubicBezTo>
                        <a:cubicBezTo>
                          <a:pt x="206" y="124"/>
                          <a:pt x="214" y="130"/>
                          <a:pt x="214" y="130"/>
                        </a:cubicBezTo>
                        <a:cubicBezTo>
                          <a:pt x="224" y="145"/>
                          <a:pt x="228" y="158"/>
                          <a:pt x="244" y="168"/>
                        </a:cubicBezTo>
                        <a:cubicBezTo>
                          <a:pt x="250" y="172"/>
                          <a:pt x="262" y="178"/>
                          <a:pt x="262" y="178"/>
                        </a:cubicBezTo>
                        <a:cubicBezTo>
                          <a:pt x="265" y="178"/>
                          <a:pt x="286" y="182"/>
                          <a:pt x="284" y="170"/>
                        </a:cubicBezTo>
                        <a:cubicBezTo>
                          <a:pt x="283" y="164"/>
                          <a:pt x="268" y="160"/>
                          <a:pt x="268" y="160"/>
                        </a:cubicBezTo>
                        <a:cubicBezTo>
                          <a:pt x="261" y="150"/>
                          <a:pt x="270" y="143"/>
                          <a:pt x="256" y="138"/>
                        </a:cubicBezTo>
                        <a:cubicBezTo>
                          <a:pt x="254" y="136"/>
                          <a:pt x="251" y="135"/>
                          <a:pt x="250" y="132"/>
                        </a:cubicBezTo>
                        <a:cubicBezTo>
                          <a:pt x="248" y="129"/>
                          <a:pt x="250" y="125"/>
                          <a:pt x="248" y="122"/>
                        </a:cubicBezTo>
                        <a:cubicBezTo>
                          <a:pt x="246" y="118"/>
                          <a:pt x="240" y="118"/>
                          <a:pt x="236" y="116"/>
                        </a:cubicBezTo>
                        <a:cubicBezTo>
                          <a:pt x="230" y="107"/>
                          <a:pt x="227" y="100"/>
                          <a:pt x="240" y="96"/>
                        </a:cubicBezTo>
                        <a:cubicBezTo>
                          <a:pt x="236" y="83"/>
                          <a:pt x="236" y="84"/>
                          <a:pt x="220" y="86"/>
                        </a:cubicBezTo>
                        <a:cubicBezTo>
                          <a:pt x="209" y="82"/>
                          <a:pt x="208" y="82"/>
                          <a:pt x="210" y="70"/>
                        </a:cubicBezTo>
                        <a:cubicBezTo>
                          <a:pt x="207" y="60"/>
                          <a:pt x="199" y="57"/>
                          <a:pt x="190" y="54"/>
                        </a:cubicBezTo>
                        <a:cubicBezTo>
                          <a:pt x="181" y="45"/>
                          <a:pt x="181" y="42"/>
                          <a:pt x="168" y="38"/>
                        </a:cubicBezTo>
                        <a:cubicBezTo>
                          <a:pt x="164" y="37"/>
                          <a:pt x="156" y="34"/>
                          <a:pt x="156" y="34"/>
                        </a:cubicBezTo>
                        <a:cubicBezTo>
                          <a:pt x="146" y="24"/>
                          <a:pt x="134" y="21"/>
                          <a:pt x="120" y="16"/>
                        </a:cubicBezTo>
                        <a:cubicBezTo>
                          <a:pt x="113" y="14"/>
                          <a:pt x="108" y="8"/>
                          <a:pt x="102" y="4"/>
                        </a:cubicBezTo>
                        <a:cubicBezTo>
                          <a:pt x="100" y="3"/>
                          <a:pt x="96" y="0"/>
                          <a:pt x="96" y="0"/>
                        </a:cubicBezTo>
                        <a:cubicBezTo>
                          <a:pt x="83" y="2"/>
                          <a:pt x="79" y="1"/>
                          <a:pt x="70" y="10"/>
                        </a:cubicBezTo>
                        <a:cubicBezTo>
                          <a:pt x="67" y="19"/>
                          <a:pt x="63" y="27"/>
                          <a:pt x="56" y="32"/>
                        </a:cubicBezTo>
                        <a:cubicBezTo>
                          <a:pt x="49" y="30"/>
                          <a:pt x="52" y="31"/>
                          <a:pt x="46" y="2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098" name="Freeform 81"/>
                  <p:cNvSpPr>
                    <a:spLocks/>
                  </p:cNvSpPr>
                  <p:nvPr/>
                </p:nvSpPr>
                <p:spPr bwMode="ltGray">
                  <a:xfrm>
                    <a:off x="4770" y="599"/>
                    <a:ext cx="33" cy="26"/>
                  </a:xfrm>
                  <a:custGeom>
                    <a:avLst/>
                    <a:gdLst>
                      <a:gd name="T0" fmla="*/ 0 w 78"/>
                      <a:gd name="T1" fmla="*/ 6 h 78"/>
                      <a:gd name="T2" fmla="*/ 5 w 78"/>
                      <a:gd name="T3" fmla="*/ 7 h 78"/>
                      <a:gd name="T4" fmla="*/ 8 w 78"/>
                      <a:gd name="T5" fmla="*/ 5 h 78"/>
                      <a:gd name="T6" fmla="*/ 10 w 78"/>
                      <a:gd name="T7" fmla="*/ 3 h 78"/>
                      <a:gd name="T8" fmla="*/ 8 w 78"/>
                      <a:gd name="T9" fmla="*/ 2 h 78"/>
                      <a:gd name="T10" fmla="*/ 8 w 78"/>
                      <a:gd name="T11" fmla="*/ 0 h 78"/>
                      <a:gd name="T12" fmla="*/ 13 w 78"/>
                      <a:gd name="T13" fmla="*/ 3 h 78"/>
                      <a:gd name="T14" fmla="*/ 12 w 78"/>
                      <a:gd name="T15" fmla="*/ 6 h 78"/>
                      <a:gd name="T16" fmla="*/ 6 w 78"/>
                      <a:gd name="T17" fmla="*/ 9 h 78"/>
                      <a:gd name="T18" fmla="*/ 2 w 78"/>
                      <a:gd name="T19" fmla="*/ 7 h 78"/>
                      <a:gd name="T20" fmla="*/ 0 w 78"/>
                      <a:gd name="T21" fmla="*/ 7 h 78"/>
                      <a:gd name="T22" fmla="*/ 0 w 78"/>
                      <a:gd name="T23" fmla="*/ 6 h 78"/>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78" h="78">
                        <a:moveTo>
                          <a:pt x="1" y="58"/>
                        </a:moveTo>
                        <a:cubicBezTo>
                          <a:pt x="6" y="44"/>
                          <a:pt x="18" y="57"/>
                          <a:pt x="27" y="60"/>
                        </a:cubicBezTo>
                        <a:cubicBezTo>
                          <a:pt x="35" y="57"/>
                          <a:pt x="38" y="52"/>
                          <a:pt x="45" y="48"/>
                        </a:cubicBezTo>
                        <a:cubicBezTo>
                          <a:pt x="48" y="40"/>
                          <a:pt x="51" y="36"/>
                          <a:pt x="57" y="30"/>
                        </a:cubicBezTo>
                        <a:cubicBezTo>
                          <a:pt x="55" y="23"/>
                          <a:pt x="43" y="14"/>
                          <a:pt x="43" y="14"/>
                        </a:cubicBezTo>
                        <a:cubicBezTo>
                          <a:pt x="33" y="0"/>
                          <a:pt x="30" y="1"/>
                          <a:pt x="43" y="4"/>
                        </a:cubicBezTo>
                        <a:cubicBezTo>
                          <a:pt x="54" y="11"/>
                          <a:pt x="58" y="22"/>
                          <a:pt x="71" y="26"/>
                        </a:cubicBezTo>
                        <a:cubicBezTo>
                          <a:pt x="78" y="37"/>
                          <a:pt x="78" y="46"/>
                          <a:pt x="67" y="54"/>
                        </a:cubicBezTo>
                        <a:cubicBezTo>
                          <a:pt x="51" y="49"/>
                          <a:pt x="53" y="71"/>
                          <a:pt x="33" y="78"/>
                        </a:cubicBezTo>
                        <a:cubicBezTo>
                          <a:pt x="16" y="72"/>
                          <a:pt x="25" y="76"/>
                          <a:pt x="9" y="66"/>
                        </a:cubicBezTo>
                        <a:cubicBezTo>
                          <a:pt x="7" y="65"/>
                          <a:pt x="3" y="62"/>
                          <a:pt x="3" y="62"/>
                        </a:cubicBezTo>
                        <a:cubicBezTo>
                          <a:pt x="0" y="54"/>
                          <a:pt x="13" y="42"/>
                          <a:pt x="1" y="5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099" name="Freeform 82"/>
                  <p:cNvSpPr>
                    <a:spLocks/>
                  </p:cNvSpPr>
                  <p:nvPr/>
                </p:nvSpPr>
                <p:spPr bwMode="ltGray">
                  <a:xfrm>
                    <a:off x="4840" y="544"/>
                    <a:ext cx="8" cy="6"/>
                  </a:xfrm>
                  <a:custGeom>
                    <a:avLst/>
                    <a:gdLst>
                      <a:gd name="T0" fmla="*/ 0 w 17"/>
                      <a:gd name="T1" fmla="*/ 0 h 18"/>
                      <a:gd name="T2" fmla="*/ 0 w 17"/>
                      <a:gd name="T3" fmla="*/ 2 h 18"/>
                      <a:gd name="T4" fmla="*/ 0 w 17"/>
                      <a:gd name="T5" fmla="*/ 0 h 18"/>
                      <a:gd name="T6" fmla="*/ 0 60000 65536"/>
                      <a:gd name="T7" fmla="*/ 0 60000 65536"/>
                      <a:gd name="T8" fmla="*/ 0 60000 65536"/>
                    </a:gdLst>
                    <a:ahLst/>
                    <a:cxnLst>
                      <a:cxn ang="T6">
                        <a:pos x="T0" y="T1"/>
                      </a:cxn>
                      <a:cxn ang="T7">
                        <a:pos x="T2" y="T3"/>
                      </a:cxn>
                      <a:cxn ang="T8">
                        <a:pos x="T4" y="T5"/>
                      </a:cxn>
                    </a:cxnLst>
                    <a:rect l="0" t="0" r="r" b="b"/>
                    <a:pathLst>
                      <a:path w="17" h="18">
                        <a:moveTo>
                          <a:pt x="3" y="4"/>
                        </a:moveTo>
                        <a:cubicBezTo>
                          <a:pt x="17" y="7"/>
                          <a:pt x="16" y="18"/>
                          <a:pt x="3" y="14"/>
                        </a:cubicBezTo>
                        <a:cubicBezTo>
                          <a:pt x="0" y="6"/>
                          <a:pt x="7" y="0"/>
                          <a:pt x="3" y="4"/>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00" name="Freeform 83"/>
                  <p:cNvSpPr>
                    <a:spLocks/>
                  </p:cNvSpPr>
                  <p:nvPr/>
                </p:nvSpPr>
                <p:spPr bwMode="ltGray">
                  <a:xfrm>
                    <a:off x="4747" y="494"/>
                    <a:ext cx="8" cy="5"/>
                  </a:xfrm>
                  <a:custGeom>
                    <a:avLst/>
                    <a:gdLst>
                      <a:gd name="T0" fmla="*/ 1 w 20"/>
                      <a:gd name="T1" fmla="*/ 1 h 15"/>
                      <a:gd name="T2" fmla="*/ 3 w 20"/>
                      <a:gd name="T3" fmla="*/ 0 h 15"/>
                      <a:gd name="T4" fmla="*/ 2 w 20"/>
                      <a:gd name="T5" fmla="*/ 1 h 15"/>
                      <a:gd name="T6" fmla="*/ 1 w 20"/>
                      <a:gd name="T7" fmla="*/ 1 h 1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0" h="15">
                        <a:moveTo>
                          <a:pt x="7" y="12"/>
                        </a:moveTo>
                        <a:cubicBezTo>
                          <a:pt x="0" y="1"/>
                          <a:pt x="6" y="0"/>
                          <a:pt x="17" y="2"/>
                        </a:cubicBezTo>
                        <a:cubicBezTo>
                          <a:pt x="20" y="10"/>
                          <a:pt x="18" y="15"/>
                          <a:pt x="9" y="12"/>
                        </a:cubicBezTo>
                        <a:cubicBezTo>
                          <a:pt x="4" y="4"/>
                          <a:pt x="4" y="4"/>
                          <a:pt x="7" y="12"/>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01" name="Freeform 84"/>
                  <p:cNvSpPr>
                    <a:spLocks/>
                  </p:cNvSpPr>
                  <p:nvPr/>
                </p:nvSpPr>
                <p:spPr bwMode="ltGray">
                  <a:xfrm>
                    <a:off x="4676" y="536"/>
                    <a:ext cx="8" cy="5"/>
                  </a:xfrm>
                  <a:custGeom>
                    <a:avLst/>
                    <a:gdLst>
                      <a:gd name="T0" fmla="*/ 1 w 20"/>
                      <a:gd name="T1" fmla="*/ 1 h 15"/>
                      <a:gd name="T2" fmla="*/ 2 w 20"/>
                      <a:gd name="T3" fmla="*/ 0 h 15"/>
                      <a:gd name="T4" fmla="*/ 2 w 20"/>
                      <a:gd name="T5" fmla="*/ 2 h 15"/>
                      <a:gd name="T6" fmla="*/ 1 w 20"/>
                      <a:gd name="T7" fmla="*/ 1 h 1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0" h="15">
                        <a:moveTo>
                          <a:pt x="7" y="12"/>
                        </a:moveTo>
                        <a:cubicBezTo>
                          <a:pt x="0" y="2"/>
                          <a:pt x="3" y="0"/>
                          <a:pt x="15" y="2"/>
                        </a:cubicBezTo>
                        <a:cubicBezTo>
                          <a:pt x="16" y="4"/>
                          <a:pt x="20" y="12"/>
                          <a:pt x="15" y="14"/>
                        </a:cubicBezTo>
                        <a:cubicBezTo>
                          <a:pt x="12" y="15"/>
                          <a:pt x="7" y="12"/>
                          <a:pt x="7" y="12"/>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02" name="Freeform 85"/>
                  <p:cNvSpPr>
                    <a:spLocks/>
                  </p:cNvSpPr>
                  <p:nvPr/>
                </p:nvSpPr>
                <p:spPr bwMode="ltGray">
                  <a:xfrm>
                    <a:off x="4598" y="523"/>
                    <a:ext cx="34" cy="27"/>
                  </a:xfrm>
                  <a:custGeom>
                    <a:avLst/>
                    <a:gdLst>
                      <a:gd name="T0" fmla="*/ 0 w 80"/>
                      <a:gd name="T1" fmla="*/ 6 h 80"/>
                      <a:gd name="T2" fmla="*/ 3 w 80"/>
                      <a:gd name="T3" fmla="*/ 3 h 80"/>
                      <a:gd name="T4" fmla="*/ 5 w 80"/>
                      <a:gd name="T5" fmla="*/ 2 h 80"/>
                      <a:gd name="T6" fmla="*/ 9 w 80"/>
                      <a:gd name="T7" fmla="*/ 2 h 80"/>
                      <a:gd name="T8" fmla="*/ 11 w 80"/>
                      <a:gd name="T9" fmla="*/ 0 h 80"/>
                      <a:gd name="T10" fmla="*/ 14 w 80"/>
                      <a:gd name="T11" fmla="*/ 5 h 80"/>
                      <a:gd name="T12" fmla="*/ 13 w 80"/>
                      <a:gd name="T13" fmla="*/ 6 h 80"/>
                      <a:gd name="T14" fmla="*/ 10 w 80"/>
                      <a:gd name="T15" fmla="*/ 7 h 80"/>
                      <a:gd name="T16" fmla="*/ 9 w 80"/>
                      <a:gd name="T17" fmla="*/ 9 h 80"/>
                      <a:gd name="T18" fmla="*/ 6 w 80"/>
                      <a:gd name="T19" fmla="*/ 8 h 80"/>
                      <a:gd name="T20" fmla="*/ 7 w 80"/>
                      <a:gd name="T21" fmla="*/ 6 h 80"/>
                      <a:gd name="T22" fmla="*/ 6 w 80"/>
                      <a:gd name="T23" fmla="*/ 3 h 80"/>
                      <a:gd name="T24" fmla="*/ 4 w 80"/>
                      <a:gd name="T25" fmla="*/ 5 h 80"/>
                      <a:gd name="T26" fmla="*/ 1 w 80"/>
                      <a:gd name="T27" fmla="*/ 6 h 80"/>
                      <a:gd name="T28" fmla="*/ 0 w 80"/>
                      <a:gd name="T29" fmla="*/ 6 h 8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80" h="80">
                        <a:moveTo>
                          <a:pt x="0" y="50"/>
                        </a:moveTo>
                        <a:cubicBezTo>
                          <a:pt x="1" y="47"/>
                          <a:pt x="12" y="25"/>
                          <a:pt x="14" y="24"/>
                        </a:cubicBezTo>
                        <a:cubicBezTo>
                          <a:pt x="17" y="22"/>
                          <a:pt x="26" y="20"/>
                          <a:pt x="26" y="20"/>
                        </a:cubicBezTo>
                        <a:cubicBezTo>
                          <a:pt x="34" y="23"/>
                          <a:pt x="40" y="21"/>
                          <a:pt x="48" y="18"/>
                        </a:cubicBezTo>
                        <a:cubicBezTo>
                          <a:pt x="52" y="12"/>
                          <a:pt x="54" y="6"/>
                          <a:pt x="58" y="0"/>
                        </a:cubicBezTo>
                        <a:cubicBezTo>
                          <a:pt x="70" y="4"/>
                          <a:pt x="76" y="28"/>
                          <a:pt x="80" y="40"/>
                        </a:cubicBezTo>
                        <a:cubicBezTo>
                          <a:pt x="75" y="54"/>
                          <a:pt x="80" y="50"/>
                          <a:pt x="70" y="56"/>
                        </a:cubicBezTo>
                        <a:cubicBezTo>
                          <a:pt x="61" y="53"/>
                          <a:pt x="59" y="54"/>
                          <a:pt x="54" y="62"/>
                        </a:cubicBezTo>
                        <a:cubicBezTo>
                          <a:pt x="57" y="71"/>
                          <a:pt x="56" y="75"/>
                          <a:pt x="48" y="80"/>
                        </a:cubicBezTo>
                        <a:cubicBezTo>
                          <a:pt x="40" y="77"/>
                          <a:pt x="39" y="72"/>
                          <a:pt x="32" y="68"/>
                        </a:cubicBezTo>
                        <a:cubicBezTo>
                          <a:pt x="26" y="59"/>
                          <a:pt x="30" y="57"/>
                          <a:pt x="38" y="52"/>
                        </a:cubicBezTo>
                        <a:cubicBezTo>
                          <a:pt x="41" y="42"/>
                          <a:pt x="39" y="34"/>
                          <a:pt x="30" y="28"/>
                        </a:cubicBezTo>
                        <a:cubicBezTo>
                          <a:pt x="20" y="31"/>
                          <a:pt x="30" y="40"/>
                          <a:pt x="20" y="48"/>
                        </a:cubicBezTo>
                        <a:cubicBezTo>
                          <a:pt x="16" y="51"/>
                          <a:pt x="8" y="56"/>
                          <a:pt x="8" y="56"/>
                        </a:cubicBezTo>
                        <a:cubicBezTo>
                          <a:pt x="2" y="50"/>
                          <a:pt x="5" y="50"/>
                          <a:pt x="0" y="50"/>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03" name="Freeform 86"/>
                  <p:cNvSpPr>
                    <a:spLocks/>
                  </p:cNvSpPr>
                  <p:nvPr/>
                </p:nvSpPr>
                <p:spPr bwMode="ltGray">
                  <a:xfrm>
                    <a:off x="4587" y="466"/>
                    <a:ext cx="40" cy="58"/>
                  </a:xfrm>
                  <a:custGeom>
                    <a:avLst/>
                    <a:gdLst>
                      <a:gd name="T0" fmla="*/ 3 w 94"/>
                      <a:gd name="T1" fmla="*/ 11 h 174"/>
                      <a:gd name="T2" fmla="*/ 5 w 94"/>
                      <a:gd name="T3" fmla="*/ 14 h 174"/>
                      <a:gd name="T4" fmla="*/ 6 w 94"/>
                      <a:gd name="T5" fmla="*/ 12 h 174"/>
                      <a:gd name="T6" fmla="*/ 9 w 94"/>
                      <a:gd name="T7" fmla="*/ 11 h 174"/>
                      <a:gd name="T8" fmla="*/ 9 w 94"/>
                      <a:gd name="T9" fmla="*/ 14 h 174"/>
                      <a:gd name="T10" fmla="*/ 12 w 94"/>
                      <a:gd name="T11" fmla="*/ 14 h 174"/>
                      <a:gd name="T12" fmla="*/ 14 w 94"/>
                      <a:gd name="T13" fmla="*/ 16 h 174"/>
                      <a:gd name="T14" fmla="*/ 11 w 94"/>
                      <a:gd name="T15" fmla="*/ 16 h 174"/>
                      <a:gd name="T16" fmla="*/ 13 w 94"/>
                      <a:gd name="T17" fmla="*/ 19 h 174"/>
                      <a:gd name="T18" fmla="*/ 15 w 94"/>
                      <a:gd name="T19" fmla="*/ 17 h 174"/>
                      <a:gd name="T20" fmla="*/ 15 w 94"/>
                      <a:gd name="T21" fmla="*/ 12 h 174"/>
                      <a:gd name="T22" fmla="*/ 11 w 94"/>
                      <a:gd name="T23" fmla="*/ 12 h 174"/>
                      <a:gd name="T24" fmla="*/ 9 w 94"/>
                      <a:gd name="T25" fmla="*/ 9 h 174"/>
                      <a:gd name="T26" fmla="*/ 6 w 94"/>
                      <a:gd name="T27" fmla="*/ 9 h 174"/>
                      <a:gd name="T28" fmla="*/ 6 w 94"/>
                      <a:gd name="T29" fmla="*/ 8 h 174"/>
                      <a:gd name="T30" fmla="*/ 8 w 94"/>
                      <a:gd name="T31" fmla="*/ 5 h 174"/>
                      <a:gd name="T32" fmla="*/ 6 w 94"/>
                      <a:gd name="T33" fmla="*/ 0 h 174"/>
                      <a:gd name="T34" fmla="*/ 3 w 94"/>
                      <a:gd name="T35" fmla="*/ 2 h 174"/>
                      <a:gd name="T36" fmla="*/ 1 w 94"/>
                      <a:gd name="T37" fmla="*/ 5 h 174"/>
                      <a:gd name="T38" fmla="*/ 3 w 94"/>
                      <a:gd name="T39" fmla="*/ 8 h 174"/>
                      <a:gd name="T40" fmla="*/ 3 w 94"/>
                      <a:gd name="T41" fmla="*/ 11 h 174"/>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94" h="174">
                        <a:moveTo>
                          <a:pt x="14" y="96"/>
                        </a:moveTo>
                        <a:cubicBezTo>
                          <a:pt x="11" y="109"/>
                          <a:pt x="15" y="120"/>
                          <a:pt x="26" y="128"/>
                        </a:cubicBezTo>
                        <a:cubicBezTo>
                          <a:pt x="34" y="120"/>
                          <a:pt x="35" y="119"/>
                          <a:pt x="32" y="108"/>
                        </a:cubicBezTo>
                        <a:cubicBezTo>
                          <a:pt x="35" y="92"/>
                          <a:pt x="39" y="92"/>
                          <a:pt x="52" y="100"/>
                        </a:cubicBezTo>
                        <a:cubicBezTo>
                          <a:pt x="59" y="110"/>
                          <a:pt x="49" y="114"/>
                          <a:pt x="46" y="124"/>
                        </a:cubicBezTo>
                        <a:cubicBezTo>
                          <a:pt x="50" y="137"/>
                          <a:pt x="57" y="129"/>
                          <a:pt x="66" y="126"/>
                        </a:cubicBezTo>
                        <a:cubicBezTo>
                          <a:pt x="77" y="129"/>
                          <a:pt x="79" y="131"/>
                          <a:pt x="76" y="142"/>
                        </a:cubicBezTo>
                        <a:cubicBezTo>
                          <a:pt x="67" y="139"/>
                          <a:pt x="65" y="141"/>
                          <a:pt x="58" y="148"/>
                        </a:cubicBezTo>
                        <a:cubicBezTo>
                          <a:pt x="60" y="160"/>
                          <a:pt x="62" y="170"/>
                          <a:pt x="74" y="174"/>
                        </a:cubicBezTo>
                        <a:cubicBezTo>
                          <a:pt x="77" y="165"/>
                          <a:pt x="74" y="157"/>
                          <a:pt x="84" y="154"/>
                        </a:cubicBezTo>
                        <a:cubicBezTo>
                          <a:pt x="91" y="143"/>
                          <a:pt x="94" y="122"/>
                          <a:pt x="82" y="112"/>
                        </a:cubicBezTo>
                        <a:cubicBezTo>
                          <a:pt x="77" y="108"/>
                          <a:pt x="66" y="108"/>
                          <a:pt x="60" y="106"/>
                        </a:cubicBezTo>
                        <a:cubicBezTo>
                          <a:pt x="65" y="92"/>
                          <a:pt x="66" y="87"/>
                          <a:pt x="50" y="82"/>
                        </a:cubicBezTo>
                        <a:cubicBezTo>
                          <a:pt x="48" y="82"/>
                          <a:pt x="37" y="86"/>
                          <a:pt x="34" y="82"/>
                        </a:cubicBezTo>
                        <a:cubicBezTo>
                          <a:pt x="32" y="79"/>
                          <a:pt x="30" y="70"/>
                          <a:pt x="30" y="70"/>
                        </a:cubicBezTo>
                        <a:cubicBezTo>
                          <a:pt x="32" y="54"/>
                          <a:pt x="32" y="52"/>
                          <a:pt x="42" y="42"/>
                        </a:cubicBezTo>
                        <a:cubicBezTo>
                          <a:pt x="41" y="30"/>
                          <a:pt x="45" y="5"/>
                          <a:pt x="30" y="0"/>
                        </a:cubicBezTo>
                        <a:cubicBezTo>
                          <a:pt x="14" y="4"/>
                          <a:pt x="16" y="4"/>
                          <a:pt x="18" y="22"/>
                        </a:cubicBezTo>
                        <a:cubicBezTo>
                          <a:pt x="16" y="39"/>
                          <a:pt x="15" y="35"/>
                          <a:pt x="4" y="46"/>
                        </a:cubicBezTo>
                        <a:cubicBezTo>
                          <a:pt x="0" y="59"/>
                          <a:pt x="5" y="67"/>
                          <a:pt x="14" y="76"/>
                        </a:cubicBezTo>
                        <a:cubicBezTo>
                          <a:pt x="15" y="80"/>
                          <a:pt x="17" y="93"/>
                          <a:pt x="14" y="96"/>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04" name="Freeform 87"/>
                  <p:cNvSpPr>
                    <a:spLocks/>
                  </p:cNvSpPr>
                  <p:nvPr/>
                </p:nvSpPr>
                <p:spPr bwMode="ltGray">
                  <a:xfrm>
                    <a:off x="4597" y="508"/>
                    <a:ext cx="14" cy="17"/>
                  </a:xfrm>
                  <a:custGeom>
                    <a:avLst/>
                    <a:gdLst>
                      <a:gd name="T0" fmla="*/ 1 w 32"/>
                      <a:gd name="T1" fmla="*/ 3 h 50"/>
                      <a:gd name="T2" fmla="*/ 2 w 32"/>
                      <a:gd name="T3" fmla="*/ 0 h 50"/>
                      <a:gd name="T4" fmla="*/ 4 w 32"/>
                      <a:gd name="T5" fmla="*/ 2 h 50"/>
                      <a:gd name="T6" fmla="*/ 4 w 32"/>
                      <a:gd name="T7" fmla="*/ 3 h 50"/>
                      <a:gd name="T8" fmla="*/ 5 w 32"/>
                      <a:gd name="T9" fmla="*/ 3 h 50"/>
                      <a:gd name="T10" fmla="*/ 6 w 32"/>
                      <a:gd name="T11" fmla="*/ 4 h 50"/>
                      <a:gd name="T12" fmla="*/ 4 w 32"/>
                      <a:gd name="T13" fmla="*/ 6 h 50"/>
                      <a:gd name="T14" fmla="*/ 1 w 32"/>
                      <a:gd name="T15" fmla="*/ 3 h 5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2" h="50">
                        <a:moveTo>
                          <a:pt x="6" y="24"/>
                        </a:moveTo>
                        <a:cubicBezTo>
                          <a:pt x="0" y="15"/>
                          <a:pt x="3" y="6"/>
                          <a:pt x="12" y="0"/>
                        </a:cubicBezTo>
                        <a:cubicBezTo>
                          <a:pt x="23" y="3"/>
                          <a:pt x="23" y="5"/>
                          <a:pt x="20" y="16"/>
                        </a:cubicBezTo>
                        <a:cubicBezTo>
                          <a:pt x="21" y="19"/>
                          <a:pt x="20" y="22"/>
                          <a:pt x="22" y="24"/>
                        </a:cubicBezTo>
                        <a:cubicBezTo>
                          <a:pt x="23" y="26"/>
                          <a:pt x="27" y="24"/>
                          <a:pt x="28" y="26"/>
                        </a:cubicBezTo>
                        <a:cubicBezTo>
                          <a:pt x="30" y="29"/>
                          <a:pt x="32" y="38"/>
                          <a:pt x="32" y="38"/>
                        </a:cubicBezTo>
                        <a:cubicBezTo>
                          <a:pt x="29" y="46"/>
                          <a:pt x="26" y="47"/>
                          <a:pt x="18" y="50"/>
                        </a:cubicBezTo>
                        <a:cubicBezTo>
                          <a:pt x="12" y="41"/>
                          <a:pt x="18" y="24"/>
                          <a:pt x="6" y="24"/>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05" name="Freeform 88"/>
                  <p:cNvSpPr>
                    <a:spLocks/>
                  </p:cNvSpPr>
                  <p:nvPr/>
                </p:nvSpPr>
                <p:spPr bwMode="ltGray">
                  <a:xfrm>
                    <a:off x="4569" y="512"/>
                    <a:ext cx="19" cy="17"/>
                  </a:xfrm>
                  <a:custGeom>
                    <a:avLst/>
                    <a:gdLst>
                      <a:gd name="T0" fmla="*/ 0 w 43"/>
                      <a:gd name="T1" fmla="*/ 5 h 50"/>
                      <a:gd name="T2" fmla="*/ 4 w 43"/>
                      <a:gd name="T3" fmla="*/ 2 h 50"/>
                      <a:gd name="T4" fmla="*/ 7 w 43"/>
                      <a:gd name="T5" fmla="*/ 0 h 50"/>
                      <a:gd name="T6" fmla="*/ 5 w 43"/>
                      <a:gd name="T7" fmla="*/ 3 h 50"/>
                      <a:gd name="T8" fmla="*/ 0 w 43"/>
                      <a:gd name="T9" fmla="*/ 6 h 50"/>
                      <a:gd name="T10" fmla="*/ 0 w 43"/>
                      <a:gd name="T11" fmla="*/ 5 h 5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3" h="50">
                        <a:moveTo>
                          <a:pt x="0" y="44"/>
                        </a:moveTo>
                        <a:cubicBezTo>
                          <a:pt x="6" y="38"/>
                          <a:pt x="18" y="29"/>
                          <a:pt x="22" y="20"/>
                        </a:cubicBezTo>
                        <a:cubicBezTo>
                          <a:pt x="27" y="10"/>
                          <a:pt x="25" y="4"/>
                          <a:pt x="36" y="0"/>
                        </a:cubicBezTo>
                        <a:cubicBezTo>
                          <a:pt x="43" y="11"/>
                          <a:pt x="36" y="24"/>
                          <a:pt x="24" y="28"/>
                        </a:cubicBezTo>
                        <a:cubicBezTo>
                          <a:pt x="21" y="38"/>
                          <a:pt x="12" y="47"/>
                          <a:pt x="2" y="50"/>
                        </a:cubicBezTo>
                        <a:cubicBezTo>
                          <a:pt x="1" y="48"/>
                          <a:pt x="0" y="44"/>
                          <a:pt x="0" y="44"/>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06" name="Freeform 89"/>
                  <p:cNvSpPr>
                    <a:spLocks/>
                  </p:cNvSpPr>
                  <p:nvPr/>
                </p:nvSpPr>
                <p:spPr bwMode="ltGray">
                  <a:xfrm>
                    <a:off x="4784" y="275"/>
                    <a:ext cx="18" cy="10"/>
                  </a:xfrm>
                  <a:custGeom>
                    <a:avLst/>
                    <a:gdLst>
                      <a:gd name="T0" fmla="*/ 0 w 41"/>
                      <a:gd name="T1" fmla="*/ 3 h 29"/>
                      <a:gd name="T2" fmla="*/ 2 w 41"/>
                      <a:gd name="T3" fmla="*/ 3 h 29"/>
                      <a:gd name="T4" fmla="*/ 0 w 41"/>
                      <a:gd name="T5" fmla="*/ 3 h 29"/>
                      <a:gd name="T6" fmla="*/ 0 60000 65536"/>
                      <a:gd name="T7" fmla="*/ 0 60000 65536"/>
                      <a:gd name="T8" fmla="*/ 0 60000 65536"/>
                    </a:gdLst>
                    <a:ahLst/>
                    <a:cxnLst>
                      <a:cxn ang="T6">
                        <a:pos x="T0" y="T1"/>
                      </a:cxn>
                      <a:cxn ang="T7">
                        <a:pos x="T2" y="T3"/>
                      </a:cxn>
                      <a:cxn ang="T8">
                        <a:pos x="T4" y="T5"/>
                      </a:cxn>
                    </a:cxnLst>
                    <a:rect l="0" t="0" r="r" b="b"/>
                    <a:pathLst>
                      <a:path w="41" h="29">
                        <a:moveTo>
                          <a:pt x="0" y="25"/>
                        </a:moveTo>
                        <a:cubicBezTo>
                          <a:pt x="10" y="11"/>
                          <a:pt x="41" y="0"/>
                          <a:pt x="12" y="29"/>
                        </a:cubicBezTo>
                        <a:cubicBezTo>
                          <a:pt x="8" y="28"/>
                          <a:pt x="0" y="25"/>
                          <a:pt x="0" y="25"/>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07" name="Freeform 90"/>
                  <p:cNvSpPr>
                    <a:spLocks/>
                  </p:cNvSpPr>
                  <p:nvPr/>
                </p:nvSpPr>
                <p:spPr bwMode="ltGray">
                  <a:xfrm>
                    <a:off x="4293" y="246"/>
                    <a:ext cx="438" cy="152"/>
                  </a:xfrm>
                  <a:custGeom>
                    <a:avLst/>
                    <a:gdLst>
                      <a:gd name="T0" fmla="*/ 73 w 438"/>
                      <a:gd name="T1" fmla="*/ 1 h 152"/>
                      <a:gd name="T2" fmla="*/ 438 w 438"/>
                      <a:gd name="T3" fmla="*/ 0 h 152"/>
                      <a:gd name="T4" fmla="*/ 416 w 438"/>
                      <a:gd name="T5" fmla="*/ 54 h 152"/>
                      <a:gd name="T6" fmla="*/ 397 w 438"/>
                      <a:gd name="T7" fmla="*/ 68 h 152"/>
                      <a:gd name="T8" fmla="*/ 392 w 438"/>
                      <a:gd name="T9" fmla="*/ 70 h 152"/>
                      <a:gd name="T10" fmla="*/ 375 w 438"/>
                      <a:gd name="T11" fmla="*/ 73 h 152"/>
                      <a:gd name="T12" fmla="*/ 361 w 438"/>
                      <a:gd name="T13" fmla="*/ 88 h 152"/>
                      <a:gd name="T14" fmla="*/ 362 w 438"/>
                      <a:gd name="T15" fmla="*/ 99 h 152"/>
                      <a:gd name="T16" fmla="*/ 364 w 438"/>
                      <a:gd name="T17" fmla="*/ 107 h 152"/>
                      <a:gd name="T18" fmla="*/ 366 w 438"/>
                      <a:gd name="T19" fmla="*/ 113 h 152"/>
                      <a:gd name="T20" fmla="*/ 362 w 438"/>
                      <a:gd name="T21" fmla="*/ 122 h 152"/>
                      <a:gd name="T22" fmla="*/ 351 w 438"/>
                      <a:gd name="T23" fmla="*/ 120 h 152"/>
                      <a:gd name="T24" fmla="*/ 342 w 438"/>
                      <a:gd name="T25" fmla="*/ 129 h 152"/>
                      <a:gd name="T26" fmla="*/ 347 w 438"/>
                      <a:gd name="T27" fmla="*/ 105 h 152"/>
                      <a:gd name="T28" fmla="*/ 338 w 438"/>
                      <a:gd name="T29" fmla="*/ 100 h 152"/>
                      <a:gd name="T30" fmla="*/ 344 w 438"/>
                      <a:gd name="T31" fmla="*/ 93 h 152"/>
                      <a:gd name="T32" fmla="*/ 342 w 438"/>
                      <a:gd name="T33" fmla="*/ 89 h 152"/>
                      <a:gd name="T34" fmla="*/ 320 w 438"/>
                      <a:gd name="T35" fmla="*/ 94 h 152"/>
                      <a:gd name="T36" fmla="*/ 317 w 438"/>
                      <a:gd name="T37" fmla="*/ 85 h 152"/>
                      <a:gd name="T38" fmla="*/ 297 w 438"/>
                      <a:gd name="T39" fmla="*/ 94 h 152"/>
                      <a:gd name="T40" fmla="*/ 320 w 438"/>
                      <a:gd name="T41" fmla="*/ 103 h 152"/>
                      <a:gd name="T42" fmla="*/ 305 w 438"/>
                      <a:gd name="T43" fmla="*/ 117 h 152"/>
                      <a:gd name="T44" fmla="*/ 311 w 438"/>
                      <a:gd name="T45" fmla="*/ 126 h 152"/>
                      <a:gd name="T46" fmla="*/ 315 w 438"/>
                      <a:gd name="T47" fmla="*/ 138 h 152"/>
                      <a:gd name="T48" fmla="*/ 309 w 438"/>
                      <a:gd name="T49" fmla="*/ 139 h 152"/>
                      <a:gd name="T50" fmla="*/ 314 w 438"/>
                      <a:gd name="T51" fmla="*/ 144 h 152"/>
                      <a:gd name="T52" fmla="*/ 307 w 438"/>
                      <a:gd name="T53" fmla="*/ 152 h 152"/>
                      <a:gd name="T54" fmla="*/ 0 w 438"/>
                      <a:gd name="T55" fmla="*/ 149 h 152"/>
                      <a:gd name="T56" fmla="*/ 73 w 438"/>
                      <a:gd name="T57" fmla="*/ 1 h 152"/>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438" h="152">
                        <a:moveTo>
                          <a:pt x="73" y="1"/>
                        </a:moveTo>
                        <a:lnTo>
                          <a:pt x="438" y="0"/>
                        </a:lnTo>
                        <a:cubicBezTo>
                          <a:pt x="432" y="15"/>
                          <a:pt x="429" y="42"/>
                          <a:pt x="416" y="54"/>
                        </a:cubicBezTo>
                        <a:cubicBezTo>
                          <a:pt x="410" y="60"/>
                          <a:pt x="405" y="63"/>
                          <a:pt x="397" y="68"/>
                        </a:cubicBezTo>
                        <a:cubicBezTo>
                          <a:pt x="396" y="69"/>
                          <a:pt x="392" y="70"/>
                          <a:pt x="392" y="70"/>
                        </a:cubicBezTo>
                        <a:cubicBezTo>
                          <a:pt x="377" y="63"/>
                          <a:pt x="385" y="68"/>
                          <a:pt x="375" y="73"/>
                        </a:cubicBezTo>
                        <a:cubicBezTo>
                          <a:pt x="371" y="82"/>
                          <a:pt x="371" y="83"/>
                          <a:pt x="361" y="88"/>
                        </a:cubicBezTo>
                        <a:cubicBezTo>
                          <a:pt x="359" y="92"/>
                          <a:pt x="364" y="93"/>
                          <a:pt x="362" y="99"/>
                        </a:cubicBezTo>
                        <a:cubicBezTo>
                          <a:pt x="363" y="102"/>
                          <a:pt x="364" y="105"/>
                          <a:pt x="364" y="107"/>
                        </a:cubicBezTo>
                        <a:cubicBezTo>
                          <a:pt x="365" y="109"/>
                          <a:pt x="366" y="111"/>
                          <a:pt x="366" y="113"/>
                        </a:cubicBezTo>
                        <a:cubicBezTo>
                          <a:pt x="365" y="115"/>
                          <a:pt x="364" y="120"/>
                          <a:pt x="362" y="122"/>
                        </a:cubicBezTo>
                        <a:cubicBezTo>
                          <a:pt x="359" y="123"/>
                          <a:pt x="354" y="119"/>
                          <a:pt x="351" y="120"/>
                        </a:cubicBezTo>
                        <a:cubicBezTo>
                          <a:pt x="347" y="129"/>
                          <a:pt x="352" y="127"/>
                          <a:pt x="342" y="129"/>
                        </a:cubicBezTo>
                        <a:cubicBezTo>
                          <a:pt x="340" y="123"/>
                          <a:pt x="345" y="111"/>
                          <a:pt x="347" y="105"/>
                        </a:cubicBezTo>
                        <a:cubicBezTo>
                          <a:pt x="347" y="100"/>
                          <a:pt x="338" y="102"/>
                          <a:pt x="338" y="100"/>
                        </a:cubicBezTo>
                        <a:cubicBezTo>
                          <a:pt x="338" y="98"/>
                          <a:pt x="344" y="95"/>
                          <a:pt x="344" y="93"/>
                        </a:cubicBezTo>
                        <a:cubicBezTo>
                          <a:pt x="344" y="92"/>
                          <a:pt x="344" y="89"/>
                          <a:pt x="342" y="89"/>
                        </a:cubicBezTo>
                        <a:cubicBezTo>
                          <a:pt x="339" y="89"/>
                          <a:pt x="324" y="94"/>
                          <a:pt x="320" y="94"/>
                        </a:cubicBezTo>
                        <a:cubicBezTo>
                          <a:pt x="317" y="86"/>
                          <a:pt x="328" y="88"/>
                          <a:pt x="317" y="85"/>
                        </a:cubicBezTo>
                        <a:cubicBezTo>
                          <a:pt x="311" y="91"/>
                          <a:pt x="306" y="93"/>
                          <a:pt x="297" y="94"/>
                        </a:cubicBezTo>
                        <a:cubicBezTo>
                          <a:pt x="300" y="104"/>
                          <a:pt x="307" y="101"/>
                          <a:pt x="320" y="103"/>
                        </a:cubicBezTo>
                        <a:cubicBezTo>
                          <a:pt x="318" y="109"/>
                          <a:pt x="311" y="111"/>
                          <a:pt x="305" y="117"/>
                        </a:cubicBezTo>
                        <a:lnTo>
                          <a:pt x="311" y="126"/>
                        </a:lnTo>
                        <a:lnTo>
                          <a:pt x="315" y="138"/>
                        </a:lnTo>
                        <a:lnTo>
                          <a:pt x="309" y="139"/>
                        </a:lnTo>
                        <a:lnTo>
                          <a:pt x="314" y="144"/>
                        </a:lnTo>
                        <a:lnTo>
                          <a:pt x="307" y="152"/>
                        </a:lnTo>
                        <a:lnTo>
                          <a:pt x="0" y="149"/>
                        </a:lnTo>
                        <a:lnTo>
                          <a:pt x="73" y="1"/>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08" name="Freeform 91"/>
                  <p:cNvSpPr>
                    <a:spLocks/>
                  </p:cNvSpPr>
                  <p:nvPr/>
                </p:nvSpPr>
                <p:spPr bwMode="ltGray">
                  <a:xfrm>
                    <a:off x="4731" y="240"/>
                    <a:ext cx="20" cy="55"/>
                  </a:xfrm>
                  <a:custGeom>
                    <a:avLst/>
                    <a:gdLst>
                      <a:gd name="T0" fmla="*/ 1 w 47"/>
                      <a:gd name="T1" fmla="*/ 17 h 165"/>
                      <a:gd name="T2" fmla="*/ 3 w 47"/>
                      <a:gd name="T3" fmla="*/ 12 h 165"/>
                      <a:gd name="T4" fmla="*/ 3 w 47"/>
                      <a:gd name="T5" fmla="*/ 8 h 165"/>
                      <a:gd name="T6" fmla="*/ 2 w 47"/>
                      <a:gd name="T7" fmla="*/ 4 h 165"/>
                      <a:gd name="T8" fmla="*/ 3 w 47"/>
                      <a:gd name="T9" fmla="*/ 1 h 165"/>
                      <a:gd name="T10" fmla="*/ 4 w 47"/>
                      <a:gd name="T11" fmla="*/ 0 h 165"/>
                      <a:gd name="T12" fmla="*/ 6 w 47"/>
                      <a:gd name="T13" fmla="*/ 3 h 165"/>
                      <a:gd name="T14" fmla="*/ 9 w 47"/>
                      <a:gd name="T15" fmla="*/ 11 h 165"/>
                      <a:gd name="T16" fmla="*/ 6 w 47"/>
                      <a:gd name="T17" fmla="*/ 12 h 165"/>
                      <a:gd name="T18" fmla="*/ 4 w 47"/>
                      <a:gd name="T19" fmla="*/ 14 h 165"/>
                      <a:gd name="T20" fmla="*/ 4 w 47"/>
                      <a:gd name="T21" fmla="*/ 15 h 165"/>
                      <a:gd name="T22" fmla="*/ 5 w 47"/>
                      <a:gd name="T23" fmla="*/ 15 h 165"/>
                      <a:gd name="T24" fmla="*/ 6 w 47"/>
                      <a:gd name="T25" fmla="*/ 16 h 165"/>
                      <a:gd name="T26" fmla="*/ 3 w 47"/>
                      <a:gd name="T27" fmla="*/ 16 h 165"/>
                      <a:gd name="T28" fmla="*/ 1 w 47"/>
                      <a:gd name="T29" fmla="*/ 18 h 165"/>
                      <a:gd name="T30" fmla="*/ 0 w 47"/>
                      <a:gd name="T31" fmla="*/ 17 h 165"/>
                      <a:gd name="T32" fmla="*/ 1 w 47"/>
                      <a:gd name="T33" fmla="*/ 17 h 165"/>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47" h="165">
                        <a:moveTo>
                          <a:pt x="5" y="156"/>
                        </a:moveTo>
                        <a:cubicBezTo>
                          <a:pt x="0" y="141"/>
                          <a:pt x="1" y="118"/>
                          <a:pt x="15" y="108"/>
                        </a:cubicBezTo>
                        <a:cubicBezTo>
                          <a:pt x="16" y="95"/>
                          <a:pt x="17" y="81"/>
                          <a:pt x="17" y="68"/>
                        </a:cubicBezTo>
                        <a:cubicBezTo>
                          <a:pt x="17" y="58"/>
                          <a:pt x="11" y="40"/>
                          <a:pt x="11" y="40"/>
                        </a:cubicBezTo>
                        <a:cubicBezTo>
                          <a:pt x="14" y="20"/>
                          <a:pt x="11" y="29"/>
                          <a:pt x="17" y="12"/>
                        </a:cubicBezTo>
                        <a:cubicBezTo>
                          <a:pt x="18" y="8"/>
                          <a:pt x="21" y="0"/>
                          <a:pt x="21" y="0"/>
                        </a:cubicBezTo>
                        <a:cubicBezTo>
                          <a:pt x="38" y="6"/>
                          <a:pt x="33" y="7"/>
                          <a:pt x="31" y="30"/>
                        </a:cubicBezTo>
                        <a:cubicBezTo>
                          <a:pt x="38" y="52"/>
                          <a:pt x="40" y="76"/>
                          <a:pt x="47" y="98"/>
                        </a:cubicBezTo>
                        <a:cubicBezTo>
                          <a:pt x="44" y="116"/>
                          <a:pt x="45" y="113"/>
                          <a:pt x="31" y="108"/>
                        </a:cubicBezTo>
                        <a:cubicBezTo>
                          <a:pt x="25" y="118"/>
                          <a:pt x="28" y="112"/>
                          <a:pt x="23" y="126"/>
                        </a:cubicBezTo>
                        <a:cubicBezTo>
                          <a:pt x="22" y="128"/>
                          <a:pt x="21" y="132"/>
                          <a:pt x="21" y="132"/>
                        </a:cubicBezTo>
                        <a:cubicBezTo>
                          <a:pt x="23" y="133"/>
                          <a:pt x="26" y="132"/>
                          <a:pt x="27" y="134"/>
                        </a:cubicBezTo>
                        <a:cubicBezTo>
                          <a:pt x="29" y="137"/>
                          <a:pt x="31" y="146"/>
                          <a:pt x="31" y="146"/>
                        </a:cubicBezTo>
                        <a:cubicBezTo>
                          <a:pt x="27" y="165"/>
                          <a:pt x="23" y="155"/>
                          <a:pt x="13" y="148"/>
                        </a:cubicBezTo>
                        <a:cubicBezTo>
                          <a:pt x="11" y="152"/>
                          <a:pt x="11" y="160"/>
                          <a:pt x="7" y="160"/>
                        </a:cubicBezTo>
                        <a:cubicBezTo>
                          <a:pt x="5" y="160"/>
                          <a:pt x="4" y="156"/>
                          <a:pt x="3" y="154"/>
                        </a:cubicBezTo>
                        <a:cubicBezTo>
                          <a:pt x="3" y="153"/>
                          <a:pt x="4" y="155"/>
                          <a:pt x="5" y="156"/>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09" name="Freeform 92"/>
                  <p:cNvSpPr>
                    <a:spLocks/>
                  </p:cNvSpPr>
                  <p:nvPr/>
                </p:nvSpPr>
                <p:spPr bwMode="ltGray">
                  <a:xfrm>
                    <a:off x="4719" y="287"/>
                    <a:ext cx="59" cy="34"/>
                  </a:xfrm>
                  <a:custGeom>
                    <a:avLst/>
                    <a:gdLst>
                      <a:gd name="T0" fmla="*/ 5 w 138"/>
                      <a:gd name="T1" fmla="*/ 7 h 103"/>
                      <a:gd name="T2" fmla="*/ 6 w 138"/>
                      <a:gd name="T3" fmla="*/ 5 h 103"/>
                      <a:gd name="T4" fmla="*/ 9 w 138"/>
                      <a:gd name="T5" fmla="*/ 4 h 103"/>
                      <a:gd name="T6" fmla="*/ 10 w 138"/>
                      <a:gd name="T7" fmla="*/ 5 h 103"/>
                      <a:gd name="T8" fmla="*/ 12 w 138"/>
                      <a:gd name="T9" fmla="*/ 5 h 103"/>
                      <a:gd name="T10" fmla="*/ 15 w 138"/>
                      <a:gd name="T11" fmla="*/ 6 h 103"/>
                      <a:gd name="T12" fmla="*/ 21 w 138"/>
                      <a:gd name="T13" fmla="*/ 4 h 103"/>
                      <a:gd name="T14" fmla="*/ 24 w 138"/>
                      <a:gd name="T15" fmla="*/ 2 h 103"/>
                      <a:gd name="T16" fmla="*/ 25 w 138"/>
                      <a:gd name="T17" fmla="*/ 1 h 103"/>
                      <a:gd name="T18" fmla="*/ 19 w 138"/>
                      <a:gd name="T19" fmla="*/ 5 h 103"/>
                      <a:gd name="T20" fmla="*/ 15 w 138"/>
                      <a:gd name="T21" fmla="*/ 7 h 103"/>
                      <a:gd name="T22" fmla="*/ 12 w 138"/>
                      <a:gd name="T23" fmla="*/ 9 h 103"/>
                      <a:gd name="T24" fmla="*/ 9 w 138"/>
                      <a:gd name="T25" fmla="*/ 11 h 103"/>
                      <a:gd name="T26" fmla="*/ 5 w 138"/>
                      <a:gd name="T27" fmla="*/ 10 h 103"/>
                      <a:gd name="T28" fmla="*/ 4 w 138"/>
                      <a:gd name="T29" fmla="*/ 10 h 103"/>
                      <a:gd name="T30" fmla="*/ 4 w 138"/>
                      <a:gd name="T31" fmla="*/ 11 h 103"/>
                      <a:gd name="T32" fmla="*/ 0 w 138"/>
                      <a:gd name="T33" fmla="*/ 11 h 103"/>
                      <a:gd name="T34" fmla="*/ 2 w 138"/>
                      <a:gd name="T35" fmla="*/ 9 h 103"/>
                      <a:gd name="T36" fmla="*/ 5 w 138"/>
                      <a:gd name="T37" fmla="*/ 7 h 103"/>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38" h="103">
                        <a:moveTo>
                          <a:pt x="26" y="61"/>
                        </a:moveTo>
                        <a:cubicBezTo>
                          <a:pt x="29" y="53"/>
                          <a:pt x="33" y="51"/>
                          <a:pt x="30" y="43"/>
                        </a:cubicBezTo>
                        <a:cubicBezTo>
                          <a:pt x="33" y="27"/>
                          <a:pt x="37" y="24"/>
                          <a:pt x="50" y="33"/>
                        </a:cubicBezTo>
                        <a:cubicBezTo>
                          <a:pt x="51" y="37"/>
                          <a:pt x="53" y="41"/>
                          <a:pt x="54" y="45"/>
                        </a:cubicBezTo>
                        <a:cubicBezTo>
                          <a:pt x="55" y="49"/>
                          <a:pt x="66" y="49"/>
                          <a:pt x="66" y="49"/>
                        </a:cubicBezTo>
                        <a:cubicBezTo>
                          <a:pt x="75" y="43"/>
                          <a:pt x="77" y="45"/>
                          <a:pt x="80" y="55"/>
                        </a:cubicBezTo>
                        <a:cubicBezTo>
                          <a:pt x="92" y="47"/>
                          <a:pt x="101" y="37"/>
                          <a:pt x="116" y="33"/>
                        </a:cubicBezTo>
                        <a:cubicBezTo>
                          <a:pt x="125" y="19"/>
                          <a:pt x="120" y="24"/>
                          <a:pt x="130" y="17"/>
                        </a:cubicBezTo>
                        <a:cubicBezTo>
                          <a:pt x="134" y="11"/>
                          <a:pt x="134" y="0"/>
                          <a:pt x="138" y="11"/>
                        </a:cubicBezTo>
                        <a:cubicBezTo>
                          <a:pt x="135" y="31"/>
                          <a:pt x="126" y="45"/>
                          <a:pt x="106" y="49"/>
                        </a:cubicBezTo>
                        <a:cubicBezTo>
                          <a:pt x="97" y="55"/>
                          <a:pt x="93" y="61"/>
                          <a:pt x="84" y="67"/>
                        </a:cubicBezTo>
                        <a:cubicBezTo>
                          <a:pt x="80" y="79"/>
                          <a:pt x="79" y="79"/>
                          <a:pt x="66" y="81"/>
                        </a:cubicBezTo>
                        <a:cubicBezTo>
                          <a:pt x="60" y="90"/>
                          <a:pt x="57" y="97"/>
                          <a:pt x="48" y="103"/>
                        </a:cubicBezTo>
                        <a:cubicBezTo>
                          <a:pt x="42" y="94"/>
                          <a:pt x="37" y="93"/>
                          <a:pt x="26" y="89"/>
                        </a:cubicBezTo>
                        <a:cubicBezTo>
                          <a:pt x="24" y="88"/>
                          <a:pt x="20" y="87"/>
                          <a:pt x="20" y="87"/>
                        </a:cubicBezTo>
                        <a:cubicBezTo>
                          <a:pt x="10" y="90"/>
                          <a:pt x="14" y="94"/>
                          <a:pt x="22" y="97"/>
                        </a:cubicBezTo>
                        <a:cubicBezTo>
                          <a:pt x="14" y="103"/>
                          <a:pt x="9" y="100"/>
                          <a:pt x="0" y="97"/>
                        </a:cubicBezTo>
                        <a:cubicBezTo>
                          <a:pt x="2" y="87"/>
                          <a:pt x="1" y="82"/>
                          <a:pt x="10" y="79"/>
                        </a:cubicBezTo>
                        <a:cubicBezTo>
                          <a:pt x="15" y="63"/>
                          <a:pt x="14" y="69"/>
                          <a:pt x="26" y="61"/>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10" name="Freeform 93"/>
                  <p:cNvSpPr>
                    <a:spLocks/>
                  </p:cNvSpPr>
                  <p:nvPr/>
                </p:nvSpPr>
                <p:spPr bwMode="ltGray">
                  <a:xfrm>
                    <a:off x="4656" y="319"/>
                    <a:ext cx="80" cy="72"/>
                  </a:xfrm>
                  <a:custGeom>
                    <a:avLst/>
                    <a:gdLst>
                      <a:gd name="T0" fmla="*/ 29 w 188"/>
                      <a:gd name="T1" fmla="*/ 3 h 214"/>
                      <a:gd name="T2" fmla="*/ 29 w 188"/>
                      <a:gd name="T3" fmla="*/ 1 h 214"/>
                      <a:gd name="T4" fmla="*/ 31 w 188"/>
                      <a:gd name="T5" fmla="*/ 0 h 214"/>
                      <a:gd name="T6" fmla="*/ 33 w 188"/>
                      <a:gd name="T7" fmla="*/ 3 h 214"/>
                      <a:gd name="T8" fmla="*/ 34 w 188"/>
                      <a:gd name="T9" fmla="*/ 5 h 214"/>
                      <a:gd name="T10" fmla="*/ 32 w 188"/>
                      <a:gd name="T11" fmla="*/ 7 h 214"/>
                      <a:gd name="T12" fmla="*/ 31 w 188"/>
                      <a:gd name="T13" fmla="*/ 9 h 214"/>
                      <a:gd name="T14" fmla="*/ 29 w 188"/>
                      <a:gd name="T15" fmla="*/ 14 h 214"/>
                      <a:gd name="T16" fmla="*/ 26 w 188"/>
                      <a:gd name="T17" fmla="*/ 15 h 214"/>
                      <a:gd name="T18" fmla="*/ 22 w 188"/>
                      <a:gd name="T19" fmla="*/ 15 h 214"/>
                      <a:gd name="T20" fmla="*/ 20 w 188"/>
                      <a:gd name="T21" fmla="*/ 14 h 214"/>
                      <a:gd name="T22" fmla="*/ 18 w 188"/>
                      <a:gd name="T23" fmla="*/ 16 h 214"/>
                      <a:gd name="T24" fmla="*/ 16 w 188"/>
                      <a:gd name="T25" fmla="*/ 17 h 214"/>
                      <a:gd name="T26" fmla="*/ 14 w 188"/>
                      <a:gd name="T27" fmla="*/ 15 h 214"/>
                      <a:gd name="T28" fmla="*/ 11 w 188"/>
                      <a:gd name="T29" fmla="*/ 16 h 214"/>
                      <a:gd name="T30" fmla="*/ 14 w 188"/>
                      <a:gd name="T31" fmla="*/ 16 h 214"/>
                      <a:gd name="T32" fmla="*/ 14 w 188"/>
                      <a:gd name="T33" fmla="*/ 18 h 214"/>
                      <a:gd name="T34" fmla="*/ 11 w 188"/>
                      <a:gd name="T35" fmla="*/ 19 h 214"/>
                      <a:gd name="T36" fmla="*/ 6 w 188"/>
                      <a:gd name="T37" fmla="*/ 19 h 214"/>
                      <a:gd name="T38" fmla="*/ 6 w 188"/>
                      <a:gd name="T39" fmla="*/ 17 h 214"/>
                      <a:gd name="T40" fmla="*/ 9 w 188"/>
                      <a:gd name="T41" fmla="*/ 16 h 214"/>
                      <a:gd name="T42" fmla="*/ 6 w 188"/>
                      <a:gd name="T43" fmla="*/ 17 h 214"/>
                      <a:gd name="T44" fmla="*/ 5 w 188"/>
                      <a:gd name="T45" fmla="*/ 19 h 214"/>
                      <a:gd name="T46" fmla="*/ 6 w 188"/>
                      <a:gd name="T47" fmla="*/ 22 h 214"/>
                      <a:gd name="T48" fmla="*/ 3 w 188"/>
                      <a:gd name="T49" fmla="*/ 23 h 214"/>
                      <a:gd name="T50" fmla="*/ 0 w 188"/>
                      <a:gd name="T51" fmla="*/ 24 h 214"/>
                      <a:gd name="T52" fmla="*/ 1 w 188"/>
                      <a:gd name="T53" fmla="*/ 21 h 214"/>
                      <a:gd name="T54" fmla="*/ 0 w 188"/>
                      <a:gd name="T55" fmla="*/ 19 h 214"/>
                      <a:gd name="T56" fmla="*/ 3 w 188"/>
                      <a:gd name="T57" fmla="*/ 17 h 214"/>
                      <a:gd name="T58" fmla="*/ 6 w 188"/>
                      <a:gd name="T59" fmla="*/ 15 h 214"/>
                      <a:gd name="T60" fmla="*/ 8 w 188"/>
                      <a:gd name="T61" fmla="*/ 13 h 214"/>
                      <a:gd name="T62" fmla="*/ 13 w 188"/>
                      <a:gd name="T63" fmla="*/ 13 h 214"/>
                      <a:gd name="T64" fmla="*/ 15 w 188"/>
                      <a:gd name="T65" fmla="*/ 13 h 214"/>
                      <a:gd name="T66" fmla="*/ 21 w 188"/>
                      <a:gd name="T67" fmla="*/ 9 h 214"/>
                      <a:gd name="T68" fmla="*/ 22 w 188"/>
                      <a:gd name="T69" fmla="*/ 10 h 214"/>
                      <a:gd name="T70" fmla="*/ 24 w 188"/>
                      <a:gd name="T71" fmla="*/ 9 h 214"/>
                      <a:gd name="T72" fmla="*/ 27 w 188"/>
                      <a:gd name="T73" fmla="*/ 6 h 214"/>
                      <a:gd name="T74" fmla="*/ 28 w 188"/>
                      <a:gd name="T75" fmla="*/ 5 h 214"/>
                      <a:gd name="T76" fmla="*/ 27 w 188"/>
                      <a:gd name="T77" fmla="*/ 4 h 214"/>
                      <a:gd name="T78" fmla="*/ 28 w 188"/>
                      <a:gd name="T79" fmla="*/ 4 h 214"/>
                      <a:gd name="T80" fmla="*/ 29 w 188"/>
                      <a:gd name="T81" fmla="*/ 3 h 214"/>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0" t="0" r="r" b="b"/>
                    <a:pathLst>
                      <a:path w="188" h="214">
                        <a:moveTo>
                          <a:pt x="158" y="24"/>
                        </a:moveTo>
                        <a:cubicBezTo>
                          <a:pt x="156" y="18"/>
                          <a:pt x="160" y="6"/>
                          <a:pt x="160" y="6"/>
                        </a:cubicBezTo>
                        <a:cubicBezTo>
                          <a:pt x="167" y="16"/>
                          <a:pt x="167" y="8"/>
                          <a:pt x="170" y="0"/>
                        </a:cubicBezTo>
                        <a:cubicBezTo>
                          <a:pt x="181" y="4"/>
                          <a:pt x="179" y="14"/>
                          <a:pt x="182" y="24"/>
                        </a:cubicBezTo>
                        <a:cubicBezTo>
                          <a:pt x="184" y="30"/>
                          <a:pt x="188" y="42"/>
                          <a:pt x="188" y="42"/>
                        </a:cubicBezTo>
                        <a:cubicBezTo>
                          <a:pt x="183" y="56"/>
                          <a:pt x="188" y="52"/>
                          <a:pt x="178" y="58"/>
                        </a:cubicBezTo>
                        <a:cubicBezTo>
                          <a:pt x="174" y="63"/>
                          <a:pt x="170" y="76"/>
                          <a:pt x="170" y="76"/>
                        </a:cubicBezTo>
                        <a:cubicBezTo>
                          <a:pt x="169" y="100"/>
                          <a:pt x="173" y="110"/>
                          <a:pt x="162" y="126"/>
                        </a:cubicBezTo>
                        <a:cubicBezTo>
                          <a:pt x="150" y="118"/>
                          <a:pt x="155" y="132"/>
                          <a:pt x="144" y="136"/>
                        </a:cubicBezTo>
                        <a:cubicBezTo>
                          <a:pt x="135" y="134"/>
                          <a:pt x="129" y="135"/>
                          <a:pt x="120" y="138"/>
                        </a:cubicBezTo>
                        <a:cubicBezTo>
                          <a:pt x="114" y="129"/>
                          <a:pt x="122" y="127"/>
                          <a:pt x="112" y="124"/>
                        </a:cubicBezTo>
                        <a:cubicBezTo>
                          <a:pt x="108" y="130"/>
                          <a:pt x="108" y="142"/>
                          <a:pt x="102" y="146"/>
                        </a:cubicBezTo>
                        <a:cubicBezTo>
                          <a:pt x="98" y="148"/>
                          <a:pt x="90" y="150"/>
                          <a:pt x="90" y="150"/>
                        </a:cubicBezTo>
                        <a:cubicBezTo>
                          <a:pt x="87" y="141"/>
                          <a:pt x="89" y="135"/>
                          <a:pt x="80" y="132"/>
                        </a:cubicBezTo>
                        <a:cubicBezTo>
                          <a:pt x="68" y="134"/>
                          <a:pt x="65" y="134"/>
                          <a:pt x="58" y="144"/>
                        </a:cubicBezTo>
                        <a:cubicBezTo>
                          <a:pt x="66" y="150"/>
                          <a:pt x="68" y="147"/>
                          <a:pt x="76" y="142"/>
                        </a:cubicBezTo>
                        <a:cubicBezTo>
                          <a:pt x="81" y="146"/>
                          <a:pt x="85" y="155"/>
                          <a:pt x="78" y="160"/>
                        </a:cubicBezTo>
                        <a:cubicBezTo>
                          <a:pt x="75" y="162"/>
                          <a:pt x="62" y="165"/>
                          <a:pt x="58" y="166"/>
                        </a:cubicBezTo>
                        <a:cubicBezTo>
                          <a:pt x="48" y="173"/>
                          <a:pt x="44" y="173"/>
                          <a:pt x="34" y="166"/>
                        </a:cubicBezTo>
                        <a:cubicBezTo>
                          <a:pt x="35" y="162"/>
                          <a:pt x="34" y="158"/>
                          <a:pt x="36" y="154"/>
                        </a:cubicBezTo>
                        <a:cubicBezTo>
                          <a:pt x="38" y="150"/>
                          <a:pt x="55" y="146"/>
                          <a:pt x="46" y="144"/>
                        </a:cubicBezTo>
                        <a:cubicBezTo>
                          <a:pt x="42" y="143"/>
                          <a:pt x="34" y="148"/>
                          <a:pt x="34" y="148"/>
                        </a:cubicBezTo>
                        <a:cubicBezTo>
                          <a:pt x="32" y="155"/>
                          <a:pt x="28" y="159"/>
                          <a:pt x="26" y="166"/>
                        </a:cubicBezTo>
                        <a:cubicBezTo>
                          <a:pt x="36" y="182"/>
                          <a:pt x="36" y="173"/>
                          <a:pt x="30" y="190"/>
                        </a:cubicBezTo>
                        <a:cubicBezTo>
                          <a:pt x="28" y="196"/>
                          <a:pt x="14" y="200"/>
                          <a:pt x="14" y="200"/>
                        </a:cubicBezTo>
                        <a:cubicBezTo>
                          <a:pt x="5" y="214"/>
                          <a:pt x="11" y="210"/>
                          <a:pt x="0" y="214"/>
                        </a:cubicBezTo>
                        <a:cubicBezTo>
                          <a:pt x="2" y="202"/>
                          <a:pt x="5" y="198"/>
                          <a:pt x="8" y="188"/>
                        </a:cubicBezTo>
                        <a:cubicBezTo>
                          <a:pt x="6" y="178"/>
                          <a:pt x="3" y="173"/>
                          <a:pt x="0" y="164"/>
                        </a:cubicBezTo>
                        <a:cubicBezTo>
                          <a:pt x="3" y="156"/>
                          <a:pt x="7" y="157"/>
                          <a:pt x="14" y="152"/>
                        </a:cubicBezTo>
                        <a:cubicBezTo>
                          <a:pt x="18" y="141"/>
                          <a:pt x="23" y="140"/>
                          <a:pt x="32" y="134"/>
                        </a:cubicBezTo>
                        <a:cubicBezTo>
                          <a:pt x="37" y="127"/>
                          <a:pt x="37" y="123"/>
                          <a:pt x="44" y="118"/>
                        </a:cubicBezTo>
                        <a:cubicBezTo>
                          <a:pt x="64" y="121"/>
                          <a:pt x="55" y="122"/>
                          <a:pt x="72" y="116"/>
                        </a:cubicBezTo>
                        <a:cubicBezTo>
                          <a:pt x="76" y="115"/>
                          <a:pt x="84" y="112"/>
                          <a:pt x="84" y="112"/>
                        </a:cubicBezTo>
                        <a:cubicBezTo>
                          <a:pt x="105" y="119"/>
                          <a:pt x="97" y="84"/>
                          <a:pt x="114" y="78"/>
                        </a:cubicBezTo>
                        <a:cubicBezTo>
                          <a:pt x="117" y="87"/>
                          <a:pt x="110" y="89"/>
                          <a:pt x="120" y="92"/>
                        </a:cubicBezTo>
                        <a:cubicBezTo>
                          <a:pt x="125" y="85"/>
                          <a:pt x="125" y="81"/>
                          <a:pt x="132" y="76"/>
                        </a:cubicBezTo>
                        <a:cubicBezTo>
                          <a:pt x="138" y="68"/>
                          <a:pt x="146" y="65"/>
                          <a:pt x="150" y="54"/>
                        </a:cubicBezTo>
                        <a:cubicBezTo>
                          <a:pt x="151" y="50"/>
                          <a:pt x="154" y="42"/>
                          <a:pt x="154" y="42"/>
                        </a:cubicBezTo>
                        <a:cubicBezTo>
                          <a:pt x="152" y="41"/>
                          <a:pt x="148" y="40"/>
                          <a:pt x="148" y="38"/>
                        </a:cubicBezTo>
                        <a:cubicBezTo>
                          <a:pt x="148" y="36"/>
                          <a:pt x="161" y="33"/>
                          <a:pt x="152" y="32"/>
                        </a:cubicBezTo>
                        <a:lnTo>
                          <a:pt x="158" y="24"/>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11" name="Freeform 94"/>
                  <p:cNvSpPr>
                    <a:spLocks/>
                  </p:cNvSpPr>
                  <p:nvPr/>
                </p:nvSpPr>
                <p:spPr bwMode="ltGray">
                  <a:xfrm>
                    <a:off x="4709" y="340"/>
                    <a:ext cx="6" cy="4"/>
                  </a:xfrm>
                  <a:custGeom>
                    <a:avLst/>
                    <a:gdLst>
                      <a:gd name="T0" fmla="*/ 0 w 13"/>
                      <a:gd name="T1" fmla="*/ 1 h 13"/>
                      <a:gd name="T2" fmla="*/ 1 w 13"/>
                      <a:gd name="T3" fmla="*/ 1 h 13"/>
                      <a:gd name="T4" fmla="*/ 0 w 13"/>
                      <a:gd name="T5" fmla="*/ 1 h 13"/>
                      <a:gd name="T6" fmla="*/ 0 60000 65536"/>
                      <a:gd name="T7" fmla="*/ 0 60000 65536"/>
                      <a:gd name="T8" fmla="*/ 0 60000 65536"/>
                    </a:gdLst>
                    <a:ahLst/>
                    <a:cxnLst>
                      <a:cxn ang="T6">
                        <a:pos x="T0" y="T1"/>
                      </a:cxn>
                      <a:cxn ang="T7">
                        <a:pos x="T2" y="T3"/>
                      </a:cxn>
                      <a:cxn ang="T8">
                        <a:pos x="T4" y="T5"/>
                      </a:cxn>
                    </a:cxnLst>
                    <a:rect l="0" t="0" r="r" b="b"/>
                    <a:pathLst>
                      <a:path w="13" h="13">
                        <a:moveTo>
                          <a:pt x="0" y="9"/>
                        </a:moveTo>
                        <a:cubicBezTo>
                          <a:pt x="6" y="0"/>
                          <a:pt x="13" y="7"/>
                          <a:pt x="4" y="13"/>
                        </a:cubicBezTo>
                        <a:cubicBezTo>
                          <a:pt x="0" y="6"/>
                          <a:pt x="0" y="5"/>
                          <a:pt x="0" y="9"/>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12" name="Freeform 95"/>
                  <p:cNvSpPr>
                    <a:spLocks/>
                  </p:cNvSpPr>
                  <p:nvPr/>
                </p:nvSpPr>
                <p:spPr bwMode="ltGray">
                  <a:xfrm>
                    <a:off x="4261" y="389"/>
                    <a:ext cx="347" cy="189"/>
                  </a:xfrm>
                  <a:custGeom>
                    <a:avLst/>
                    <a:gdLst>
                      <a:gd name="T0" fmla="*/ 148 w 812"/>
                      <a:gd name="T1" fmla="*/ 3 h 564"/>
                      <a:gd name="T2" fmla="*/ 142 w 812"/>
                      <a:gd name="T3" fmla="*/ 9 h 564"/>
                      <a:gd name="T4" fmla="*/ 137 w 812"/>
                      <a:gd name="T5" fmla="*/ 14 h 564"/>
                      <a:gd name="T6" fmla="*/ 132 w 812"/>
                      <a:gd name="T7" fmla="*/ 16 h 564"/>
                      <a:gd name="T8" fmla="*/ 116 w 812"/>
                      <a:gd name="T9" fmla="*/ 20 h 564"/>
                      <a:gd name="T10" fmla="*/ 115 w 812"/>
                      <a:gd name="T11" fmla="*/ 23 h 564"/>
                      <a:gd name="T12" fmla="*/ 110 w 812"/>
                      <a:gd name="T13" fmla="*/ 26 h 564"/>
                      <a:gd name="T14" fmla="*/ 113 w 812"/>
                      <a:gd name="T15" fmla="*/ 20 h 564"/>
                      <a:gd name="T16" fmla="*/ 105 w 812"/>
                      <a:gd name="T17" fmla="*/ 21 h 564"/>
                      <a:gd name="T18" fmla="*/ 102 w 812"/>
                      <a:gd name="T19" fmla="*/ 24 h 564"/>
                      <a:gd name="T20" fmla="*/ 109 w 812"/>
                      <a:gd name="T21" fmla="*/ 32 h 564"/>
                      <a:gd name="T22" fmla="*/ 109 w 812"/>
                      <a:gd name="T23" fmla="*/ 41 h 564"/>
                      <a:gd name="T24" fmla="*/ 99 w 812"/>
                      <a:gd name="T25" fmla="*/ 46 h 564"/>
                      <a:gd name="T26" fmla="*/ 95 w 812"/>
                      <a:gd name="T27" fmla="*/ 43 h 564"/>
                      <a:gd name="T28" fmla="*/ 88 w 812"/>
                      <a:gd name="T29" fmla="*/ 39 h 564"/>
                      <a:gd name="T30" fmla="*/ 84 w 812"/>
                      <a:gd name="T31" fmla="*/ 39 h 564"/>
                      <a:gd name="T32" fmla="*/ 82 w 812"/>
                      <a:gd name="T33" fmla="*/ 44 h 564"/>
                      <a:gd name="T34" fmla="*/ 91 w 812"/>
                      <a:gd name="T35" fmla="*/ 52 h 564"/>
                      <a:gd name="T36" fmla="*/ 93 w 812"/>
                      <a:gd name="T37" fmla="*/ 59 h 564"/>
                      <a:gd name="T38" fmla="*/ 96 w 812"/>
                      <a:gd name="T39" fmla="*/ 63 h 564"/>
                      <a:gd name="T40" fmla="*/ 90 w 812"/>
                      <a:gd name="T41" fmla="*/ 61 h 564"/>
                      <a:gd name="T42" fmla="*/ 86 w 812"/>
                      <a:gd name="T43" fmla="*/ 58 h 564"/>
                      <a:gd name="T44" fmla="*/ 77 w 812"/>
                      <a:gd name="T45" fmla="*/ 48 h 564"/>
                      <a:gd name="T46" fmla="*/ 78 w 812"/>
                      <a:gd name="T47" fmla="*/ 35 h 564"/>
                      <a:gd name="T48" fmla="*/ 77 w 812"/>
                      <a:gd name="T49" fmla="*/ 30 h 564"/>
                      <a:gd name="T50" fmla="*/ 75 w 812"/>
                      <a:gd name="T51" fmla="*/ 31 h 564"/>
                      <a:gd name="T52" fmla="*/ 71 w 812"/>
                      <a:gd name="T53" fmla="*/ 30 h 564"/>
                      <a:gd name="T54" fmla="*/ 66 w 812"/>
                      <a:gd name="T55" fmla="*/ 19 h 564"/>
                      <a:gd name="T56" fmla="*/ 60 w 812"/>
                      <a:gd name="T57" fmla="*/ 19 h 564"/>
                      <a:gd name="T58" fmla="*/ 53 w 812"/>
                      <a:gd name="T59" fmla="*/ 19 h 564"/>
                      <a:gd name="T60" fmla="*/ 44 w 812"/>
                      <a:gd name="T61" fmla="*/ 26 h 564"/>
                      <a:gd name="T62" fmla="*/ 36 w 812"/>
                      <a:gd name="T63" fmla="*/ 30 h 564"/>
                      <a:gd name="T64" fmla="*/ 34 w 812"/>
                      <a:gd name="T65" fmla="*/ 31 h 564"/>
                      <a:gd name="T66" fmla="*/ 29 w 812"/>
                      <a:gd name="T67" fmla="*/ 37 h 564"/>
                      <a:gd name="T68" fmla="*/ 28 w 812"/>
                      <a:gd name="T69" fmla="*/ 40 h 564"/>
                      <a:gd name="T70" fmla="*/ 24 w 812"/>
                      <a:gd name="T71" fmla="*/ 45 h 564"/>
                      <a:gd name="T72" fmla="*/ 17 w 812"/>
                      <a:gd name="T73" fmla="*/ 44 h 564"/>
                      <a:gd name="T74" fmla="*/ 12 w 812"/>
                      <a:gd name="T75" fmla="*/ 29 h 564"/>
                      <a:gd name="T76" fmla="*/ 13 w 812"/>
                      <a:gd name="T77" fmla="*/ 17 h 564"/>
                      <a:gd name="T78" fmla="*/ 8 w 812"/>
                      <a:gd name="T79" fmla="*/ 20 h 564"/>
                      <a:gd name="T80" fmla="*/ 4 w 812"/>
                      <a:gd name="T81" fmla="*/ 17 h 564"/>
                      <a:gd name="T82" fmla="*/ 4 w 812"/>
                      <a:gd name="T83" fmla="*/ 15 h 564"/>
                      <a:gd name="T84" fmla="*/ 0 w 812"/>
                      <a:gd name="T85" fmla="*/ 10 h 564"/>
                      <a:gd name="T86" fmla="*/ 146 w 812"/>
                      <a:gd name="T87" fmla="*/ 1 h 564"/>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0" t="0" r="r" b="b"/>
                    <a:pathLst>
                      <a:path w="812" h="564">
                        <a:moveTo>
                          <a:pt x="798" y="6"/>
                        </a:moveTo>
                        <a:cubicBezTo>
                          <a:pt x="801" y="15"/>
                          <a:pt x="809" y="16"/>
                          <a:pt x="812" y="26"/>
                        </a:cubicBezTo>
                        <a:cubicBezTo>
                          <a:pt x="809" y="36"/>
                          <a:pt x="801" y="41"/>
                          <a:pt x="796" y="50"/>
                        </a:cubicBezTo>
                        <a:cubicBezTo>
                          <a:pt x="791" y="61"/>
                          <a:pt x="788" y="71"/>
                          <a:pt x="778" y="78"/>
                        </a:cubicBezTo>
                        <a:cubicBezTo>
                          <a:pt x="773" y="85"/>
                          <a:pt x="771" y="88"/>
                          <a:pt x="774" y="96"/>
                        </a:cubicBezTo>
                        <a:cubicBezTo>
                          <a:pt x="767" y="107"/>
                          <a:pt x="758" y="114"/>
                          <a:pt x="748" y="122"/>
                        </a:cubicBezTo>
                        <a:cubicBezTo>
                          <a:pt x="744" y="125"/>
                          <a:pt x="736" y="130"/>
                          <a:pt x="736" y="130"/>
                        </a:cubicBezTo>
                        <a:cubicBezTo>
                          <a:pt x="740" y="141"/>
                          <a:pt x="731" y="140"/>
                          <a:pt x="722" y="142"/>
                        </a:cubicBezTo>
                        <a:cubicBezTo>
                          <a:pt x="716" y="148"/>
                          <a:pt x="712" y="151"/>
                          <a:pt x="704" y="154"/>
                        </a:cubicBezTo>
                        <a:cubicBezTo>
                          <a:pt x="686" y="150"/>
                          <a:pt x="650" y="169"/>
                          <a:pt x="634" y="180"/>
                        </a:cubicBezTo>
                        <a:cubicBezTo>
                          <a:pt x="636" y="189"/>
                          <a:pt x="631" y="193"/>
                          <a:pt x="640" y="196"/>
                        </a:cubicBezTo>
                        <a:cubicBezTo>
                          <a:pt x="643" y="205"/>
                          <a:pt x="640" y="207"/>
                          <a:pt x="632" y="210"/>
                        </a:cubicBezTo>
                        <a:cubicBezTo>
                          <a:pt x="626" y="219"/>
                          <a:pt x="623" y="226"/>
                          <a:pt x="614" y="232"/>
                        </a:cubicBezTo>
                        <a:cubicBezTo>
                          <a:pt x="611" y="231"/>
                          <a:pt x="606" y="233"/>
                          <a:pt x="604" y="230"/>
                        </a:cubicBezTo>
                        <a:cubicBezTo>
                          <a:pt x="599" y="220"/>
                          <a:pt x="610" y="199"/>
                          <a:pt x="620" y="196"/>
                        </a:cubicBezTo>
                        <a:cubicBezTo>
                          <a:pt x="623" y="187"/>
                          <a:pt x="617" y="187"/>
                          <a:pt x="620" y="178"/>
                        </a:cubicBezTo>
                        <a:cubicBezTo>
                          <a:pt x="617" y="164"/>
                          <a:pt x="609" y="168"/>
                          <a:pt x="598" y="172"/>
                        </a:cubicBezTo>
                        <a:cubicBezTo>
                          <a:pt x="592" y="180"/>
                          <a:pt x="585" y="185"/>
                          <a:pt x="576" y="188"/>
                        </a:cubicBezTo>
                        <a:cubicBezTo>
                          <a:pt x="572" y="194"/>
                          <a:pt x="568" y="200"/>
                          <a:pt x="564" y="206"/>
                        </a:cubicBezTo>
                        <a:cubicBezTo>
                          <a:pt x="561" y="210"/>
                          <a:pt x="556" y="218"/>
                          <a:pt x="556" y="218"/>
                        </a:cubicBezTo>
                        <a:cubicBezTo>
                          <a:pt x="558" y="234"/>
                          <a:pt x="559" y="243"/>
                          <a:pt x="572" y="252"/>
                        </a:cubicBezTo>
                        <a:cubicBezTo>
                          <a:pt x="579" y="262"/>
                          <a:pt x="586" y="273"/>
                          <a:pt x="596" y="280"/>
                        </a:cubicBezTo>
                        <a:cubicBezTo>
                          <a:pt x="598" y="286"/>
                          <a:pt x="602" y="298"/>
                          <a:pt x="602" y="298"/>
                        </a:cubicBezTo>
                        <a:cubicBezTo>
                          <a:pt x="601" y="308"/>
                          <a:pt x="599" y="361"/>
                          <a:pt x="594" y="368"/>
                        </a:cubicBezTo>
                        <a:cubicBezTo>
                          <a:pt x="590" y="374"/>
                          <a:pt x="576" y="378"/>
                          <a:pt x="570" y="382"/>
                        </a:cubicBezTo>
                        <a:cubicBezTo>
                          <a:pt x="563" y="393"/>
                          <a:pt x="550" y="396"/>
                          <a:pt x="542" y="406"/>
                        </a:cubicBezTo>
                        <a:cubicBezTo>
                          <a:pt x="536" y="413"/>
                          <a:pt x="539" y="417"/>
                          <a:pt x="530" y="420"/>
                        </a:cubicBezTo>
                        <a:cubicBezTo>
                          <a:pt x="526" y="408"/>
                          <a:pt x="538" y="391"/>
                          <a:pt x="522" y="386"/>
                        </a:cubicBezTo>
                        <a:cubicBezTo>
                          <a:pt x="516" y="377"/>
                          <a:pt x="510" y="364"/>
                          <a:pt x="502" y="356"/>
                        </a:cubicBezTo>
                        <a:cubicBezTo>
                          <a:pt x="497" y="341"/>
                          <a:pt x="505" y="360"/>
                          <a:pt x="482" y="348"/>
                        </a:cubicBezTo>
                        <a:cubicBezTo>
                          <a:pt x="478" y="346"/>
                          <a:pt x="478" y="339"/>
                          <a:pt x="474" y="336"/>
                        </a:cubicBezTo>
                        <a:cubicBezTo>
                          <a:pt x="470" y="323"/>
                          <a:pt x="466" y="342"/>
                          <a:pt x="462" y="348"/>
                        </a:cubicBezTo>
                        <a:cubicBezTo>
                          <a:pt x="460" y="358"/>
                          <a:pt x="456" y="363"/>
                          <a:pt x="454" y="374"/>
                        </a:cubicBezTo>
                        <a:cubicBezTo>
                          <a:pt x="457" y="383"/>
                          <a:pt x="455" y="387"/>
                          <a:pt x="450" y="394"/>
                        </a:cubicBezTo>
                        <a:cubicBezTo>
                          <a:pt x="454" y="399"/>
                          <a:pt x="464" y="411"/>
                          <a:pt x="466" y="418"/>
                        </a:cubicBezTo>
                        <a:cubicBezTo>
                          <a:pt x="474" y="443"/>
                          <a:pt x="472" y="458"/>
                          <a:pt x="500" y="464"/>
                        </a:cubicBezTo>
                        <a:cubicBezTo>
                          <a:pt x="507" y="469"/>
                          <a:pt x="510" y="474"/>
                          <a:pt x="516" y="480"/>
                        </a:cubicBezTo>
                        <a:cubicBezTo>
                          <a:pt x="511" y="494"/>
                          <a:pt x="513" y="509"/>
                          <a:pt x="510" y="524"/>
                        </a:cubicBezTo>
                        <a:cubicBezTo>
                          <a:pt x="512" y="537"/>
                          <a:pt x="511" y="541"/>
                          <a:pt x="522" y="548"/>
                        </a:cubicBezTo>
                        <a:cubicBezTo>
                          <a:pt x="523" y="552"/>
                          <a:pt x="525" y="556"/>
                          <a:pt x="526" y="560"/>
                        </a:cubicBezTo>
                        <a:cubicBezTo>
                          <a:pt x="527" y="564"/>
                          <a:pt x="514" y="556"/>
                          <a:pt x="514" y="556"/>
                        </a:cubicBezTo>
                        <a:cubicBezTo>
                          <a:pt x="502" y="564"/>
                          <a:pt x="501" y="551"/>
                          <a:pt x="492" y="544"/>
                        </a:cubicBezTo>
                        <a:cubicBezTo>
                          <a:pt x="488" y="541"/>
                          <a:pt x="480" y="536"/>
                          <a:pt x="480" y="536"/>
                        </a:cubicBezTo>
                        <a:cubicBezTo>
                          <a:pt x="471" y="522"/>
                          <a:pt x="474" y="529"/>
                          <a:pt x="470" y="518"/>
                        </a:cubicBezTo>
                        <a:cubicBezTo>
                          <a:pt x="467" y="491"/>
                          <a:pt x="461" y="446"/>
                          <a:pt x="436" y="430"/>
                        </a:cubicBezTo>
                        <a:cubicBezTo>
                          <a:pt x="428" y="433"/>
                          <a:pt x="425" y="433"/>
                          <a:pt x="422" y="424"/>
                        </a:cubicBezTo>
                        <a:cubicBezTo>
                          <a:pt x="427" y="404"/>
                          <a:pt x="432" y="383"/>
                          <a:pt x="438" y="364"/>
                        </a:cubicBezTo>
                        <a:cubicBezTo>
                          <a:pt x="436" y="343"/>
                          <a:pt x="431" y="330"/>
                          <a:pt x="426" y="310"/>
                        </a:cubicBezTo>
                        <a:cubicBezTo>
                          <a:pt x="429" y="302"/>
                          <a:pt x="425" y="300"/>
                          <a:pt x="422" y="292"/>
                        </a:cubicBezTo>
                        <a:cubicBezTo>
                          <a:pt x="424" y="282"/>
                          <a:pt x="428" y="277"/>
                          <a:pt x="422" y="268"/>
                        </a:cubicBezTo>
                        <a:cubicBezTo>
                          <a:pt x="420" y="269"/>
                          <a:pt x="418" y="269"/>
                          <a:pt x="416" y="270"/>
                        </a:cubicBezTo>
                        <a:cubicBezTo>
                          <a:pt x="414" y="272"/>
                          <a:pt x="414" y="275"/>
                          <a:pt x="412" y="276"/>
                        </a:cubicBezTo>
                        <a:cubicBezTo>
                          <a:pt x="408" y="278"/>
                          <a:pt x="400" y="280"/>
                          <a:pt x="400" y="280"/>
                        </a:cubicBezTo>
                        <a:cubicBezTo>
                          <a:pt x="394" y="274"/>
                          <a:pt x="389" y="274"/>
                          <a:pt x="386" y="266"/>
                        </a:cubicBezTo>
                        <a:cubicBezTo>
                          <a:pt x="391" y="251"/>
                          <a:pt x="379" y="206"/>
                          <a:pt x="364" y="196"/>
                        </a:cubicBezTo>
                        <a:cubicBezTo>
                          <a:pt x="357" y="186"/>
                          <a:pt x="358" y="182"/>
                          <a:pt x="360" y="170"/>
                        </a:cubicBezTo>
                        <a:cubicBezTo>
                          <a:pt x="358" y="160"/>
                          <a:pt x="356" y="147"/>
                          <a:pt x="346" y="144"/>
                        </a:cubicBezTo>
                        <a:cubicBezTo>
                          <a:pt x="343" y="154"/>
                          <a:pt x="338" y="160"/>
                          <a:pt x="330" y="166"/>
                        </a:cubicBezTo>
                        <a:cubicBezTo>
                          <a:pt x="323" y="164"/>
                          <a:pt x="308" y="160"/>
                          <a:pt x="308" y="160"/>
                        </a:cubicBezTo>
                        <a:cubicBezTo>
                          <a:pt x="296" y="162"/>
                          <a:pt x="297" y="166"/>
                          <a:pt x="288" y="172"/>
                        </a:cubicBezTo>
                        <a:cubicBezTo>
                          <a:pt x="284" y="185"/>
                          <a:pt x="282" y="191"/>
                          <a:pt x="268" y="196"/>
                        </a:cubicBezTo>
                        <a:cubicBezTo>
                          <a:pt x="264" y="200"/>
                          <a:pt x="243" y="231"/>
                          <a:pt x="242" y="232"/>
                        </a:cubicBezTo>
                        <a:cubicBezTo>
                          <a:pt x="231" y="239"/>
                          <a:pt x="215" y="247"/>
                          <a:pt x="206" y="256"/>
                        </a:cubicBezTo>
                        <a:cubicBezTo>
                          <a:pt x="202" y="260"/>
                          <a:pt x="200" y="265"/>
                          <a:pt x="196" y="268"/>
                        </a:cubicBezTo>
                        <a:cubicBezTo>
                          <a:pt x="194" y="269"/>
                          <a:pt x="192" y="269"/>
                          <a:pt x="190" y="270"/>
                        </a:cubicBezTo>
                        <a:cubicBezTo>
                          <a:pt x="188" y="271"/>
                          <a:pt x="186" y="272"/>
                          <a:pt x="184" y="274"/>
                        </a:cubicBezTo>
                        <a:cubicBezTo>
                          <a:pt x="180" y="278"/>
                          <a:pt x="172" y="286"/>
                          <a:pt x="172" y="286"/>
                        </a:cubicBezTo>
                        <a:cubicBezTo>
                          <a:pt x="167" y="300"/>
                          <a:pt x="165" y="314"/>
                          <a:pt x="160" y="328"/>
                        </a:cubicBezTo>
                        <a:cubicBezTo>
                          <a:pt x="158" y="335"/>
                          <a:pt x="156" y="341"/>
                          <a:pt x="154" y="348"/>
                        </a:cubicBezTo>
                        <a:cubicBezTo>
                          <a:pt x="153" y="350"/>
                          <a:pt x="152" y="354"/>
                          <a:pt x="152" y="354"/>
                        </a:cubicBezTo>
                        <a:cubicBezTo>
                          <a:pt x="152" y="359"/>
                          <a:pt x="156" y="384"/>
                          <a:pt x="146" y="392"/>
                        </a:cubicBezTo>
                        <a:cubicBezTo>
                          <a:pt x="141" y="397"/>
                          <a:pt x="128" y="404"/>
                          <a:pt x="128" y="404"/>
                        </a:cubicBezTo>
                        <a:cubicBezTo>
                          <a:pt x="125" y="412"/>
                          <a:pt x="122" y="421"/>
                          <a:pt x="114" y="424"/>
                        </a:cubicBezTo>
                        <a:cubicBezTo>
                          <a:pt x="100" y="419"/>
                          <a:pt x="97" y="405"/>
                          <a:pt x="94" y="392"/>
                        </a:cubicBezTo>
                        <a:cubicBezTo>
                          <a:pt x="86" y="362"/>
                          <a:pt x="82" y="332"/>
                          <a:pt x="72" y="302"/>
                        </a:cubicBezTo>
                        <a:cubicBezTo>
                          <a:pt x="71" y="281"/>
                          <a:pt x="70" y="275"/>
                          <a:pt x="66" y="258"/>
                        </a:cubicBezTo>
                        <a:cubicBezTo>
                          <a:pt x="66" y="251"/>
                          <a:pt x="68" y="219"/>
                          <a:pt x="64" y="208"/>
                        </a:cubicBezTo>
                        <a:cubicBezTo>
                          <a:pt x="70" y="191"/>
                          <a:pt x="66" y="173"/>
                          <a:pt x="72" y="156"/>
                        </a:cubicBezTo>
                        <a:cubicBezTo>
                          <a:pt x="66" y="139"/>
                          <a:pt x="60" y="168"/>
                          <a:pt x="56" y="172"/>
                        </a:cubicBezTo>
                        <a:cubicBezTo>
                          <a:pt x="53" y="175"/>
                          <a:pt x="44" y="180"/>
                          <a:pt x="44" y="180"/>
                        </a:cubicBezTo>
                        <a:cubicBezTo>
                          <a:pt x="35" y="177"/>
                          <a:pt x="28" y="173"/>
                          <a:pt x="24" y="162"/>
                        </a:cubicBezTo>
                        <a:cubicBezTo>
                          <a:pt x="23" y="158"/>
                          <a:pt x="20" y="150"/>
                          <a:pt x="20" y="150"/>
                        </a:cubicBezTo>
                        <a:cubicBezTo>
                          <a:pt x="30" y="148"/>
                          <a:pt x="30" y="143"/>
                          <a:pt x="38" y="138"/>
                        </a:cubicBezTo>
                        <a:cubicBezTo>
                          <a:pt x="35" y="128"/>
                          <a:pt x="31" y="133"/>
                          <a:pt x="24" y="138"/>
                        </a:cubicBezTo>
                        <a:cubicBezTo>
                          <a:pt x="15" y="135"/>
                          <a:pt x="15" y="132"/>
                          <a:pt x="18" y="124"/>
                        </a:cubicBezTo>
                        <a:cubicBezTo>
                          <a:pt x="11" y="114"/>
                          <a:pt x="9" y="101"/>
                          <a:pt x="0" y="92"/>
                        </a:cubicBezTo>
                        <a:lnTo>
                          <a:pt x="76" y="0"/>
                        </a:lnTo>
                        <a:lnTo>
                          <a:pt x="798" y="6"/>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13" name="Freeform 96"/>
                  <p:cNvSpPr>
                    <a:spLocks/>
                  </p:cNvSpPr>
                  <p:nvPr/>
                </p:nvSpPr>
                <p:spPr bwMode="ltGray">
                  <a:xfrm>
                    <a:off x="4322" y="519"/>
                    <a:ext cx="19" cy="29"/>
                  </a:xfrm>
                  <a:custGeom>
                    <a:avLst/>
                    <a:gdLst>
                      <a:gd name="T0" fmla="*/ 1 w 43"/>
                      <a:gd name="T1" fmla="*/ 1 h 85"/>
                      <a:gd name="T2" fmla="*/ 4 w 43"/>
                      <a:gd name="T3" fmla="*/ 0 h 85"/>
                      <a:gd name="T4" fmla="*/ 7 w 43"/>
                      <a:gd name="T5" fmla="*/ 4 h 85"/>
                      <a:gd name="T6" fmla="*/ 4 w 43"/>
                      <a:gd name="T7" fmla="*/ 10 h 85"/>
                      <a:gd name="T8" fmla="*/ 0 w 43"/>
                      <a:gd name="T9" fmla="*/ 8 h 85"/>
                      <a:gd name="T10" fmla="*/ 1 w 43"/>
                      <a:gd name="T11" fmla="*/ 1 h 85"/>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3" h="85">
                        <a:moveTo>
                          <a:pt x="7" y="11"/>
                        </a:moveTo>
                        <a:cubicBezTo>
                          <a:pt x="4" y="2"/>
                          <a:pt x="9" y="0"/>
                          <a:pt x="17" y="3"/>
                        </a:cubicBezTo>
                        <a:cubicBezTo>
                          <a:pt x="24" y="13"/>
                          <a:pt x="28" y="24"/>
                          <a:pt x="37" y="33"/>
                        </a:cubicBezTo>
                        <a:cubicBezTo>
                          <a:pt x="43" y="52"/>
                          <a:pt x="40" y="78"/>
                          <a:pt x="19" y="85"/>
                        </a:cubicBezTo>
                        <a:cubicBezTo>
                          <a:pt x="6" y="81"/>
                          <a:pt x="5" y="81"/>
                          <a:pt x="1" y="69"/>
                        </a:cubicBezTo>
                        <a:cubicBezTo>
                          <a:pt x="2" y="66"/>
                          <a:pt x="0" y="4"/>
                          <a:pt x="7" y="11"/>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14" name="Freeform 97"/>
                  <p:cNvSpPr>
                    <a:spLocks/>
                  </p:cNvSpPr>
                  <p:nvPr/>
                </p:nvSpPr>
                <p:spPr bwMode="ltGray">
                  <a:xfrm>
                    <a:off x="4588" y="421"/>
                    <a:ext cx="18" cy="24"/>
                  </a:xfrm>
                  <a:custGeom>
                    <a:avLst/>
                    <a:gdLst>
                      <a:gd name="T0" fmla="*/ 2 w 44"/>
                      <a:gd name="T1" fmla="*/ 3 h 74"/>
                      <a:gd name="T2" fmla="*/ 5 w 44"/>
                      <a:gd name="T3" fmla="*/ 0 h 74"/>
                      <a:gd name="T4" fmla="*/ 7 w 44"/>
                      <a:gd name="T5" fmla="*/ 0 h 74"/>
                      <a:gd name="T6" fmla="*/ 7 w 44"/>
                      <a:gd name="T7" fmla="*/ 3 h 74"/>
                      <a:gd name="T8" fmla="*/ 2 w 44"/>
                      <a:gd name="T9" fmla="*/ 8 h 74"/>
                      <a:gd name="T10" fmla="*/ 1 w 44"/>
                      <a:gd name="T11" fmla="*/ 6 h 74"/>
                      <a:gd name="T12" fmla="*/ 0 w 44"/>
                      <a:gd name="T13" fmla="*/ 4 h 74"/>
                      <a:gd name="T14" fmla="*/ 2 w 44"/>
                      <a:gd name="T15" fmla="*/ 3 h 7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44" h="74">
                        <a:moveTo>
                          <a:pt x="13" y="28"/>
                        </a:moveTo>
                        <a:cubicBezTo>
                          <a:pt x="15" y="13"/>
                          <a:pt x="14" y="7"/>
                          <a:pt x="29" y="2"/>
                        </a:cubicBezTo>
                        <a:cubicBezTo>
                          <a:pt x="34" y="3"/>
                          <a:pt x="40" y="0"/>
                          <a:pt x="43" y="4"/>
                        </a:cubicBezTo>
                        <a:cubicBezTo>
                          <a:pt x="44" y="6"/>
                          <a:pt x="41" y="21"/>
                          <a:pt x="39" y="26"/>
                        </a:cubicBezTo>
                        <a:cubicBezTo>
                          <a:pt x="31" y="43"/>
                          <a:pt x="30" y="63"/>
                          <a:pt x="13" y="74"/>
                        </a:cubicBezTo>
                        <a:cubicBezTo>
                          <a:pt x="4" y="71"/>
                          <a:pt x="4" y="68"/>
                          <a:pt x="7" y="60"/>
                        </a:cubicBezTo>
                        <a:cubicBezTo>
                          <a:pt x="5" y="50"/>
                          <a:pt x="0" y="46"/>
                          <a:pt x="3" y="36"/>
                        </a:cubicBezTo>
                        <a:cubicBezTo>
                          <a:pt x="4" y="32"/>
                          <a:pt x="8" y="23"/>
                          <a:pt x="13" y="2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15" name="Freeform 98"/>
                  <p:cNvSpPr>
                    <a:spLocks/>
                  </p:cNvSpPr>
                  <p:nvPr/>
                </p:nvSpPr>
                <p:spPr bwMode="ltGray">
                  <a:xfrm>
                    <a:off x="4639" y="409"/>
                    <a:ext cx="9" cy="10"/>
                  </a:xfrm>
                  <a:custGeom>
                    <a:avLst/>
                    <a:gdLst>
                      <a:gd name="T0" fmla="*/ 1 w 20"/>
                      <a:gd name="T1" fmla="*/ 2 h 30"/>
                      <a:gd name="T2" fmla="*/ 1 w 20"/>
                      <a:gd name="T3" fmla="*/ 3 h 30"/>
                      <a:gd name="T4" fmla="*/ 1 w 20"/>
                      <a:gd name="T5" fmla="*/ 2 h 30"/>
                      <a:gd name="T6" fmla="*/ 0 60000 65536"/>
                      <a:gd name="T7" fmla="*/ 0 60000 65536"/>
                      <a:gd name="T8" fmla="*/ 0 60000 65536"/>
                    </a:gdLst>
                    <a:ahLst/>
                    <a:cxnLst>
                      <a:cxn ang="T6">
                        <a:pos x="T0" y="T1"/>
                      </a:cxn>
                      <a:cxn ang="T7">
                        <a:pos x="T2" y="T3"/>
                      </a:cxn>
                      <a:cxn ang="T8">
                        <a:pos x="T4" y="T5"/>
                      </a:cxn>
                    </a:cxnLst>
                    <a:rect l="0" t="0" r="r" b="b"/>
                    <a:pathLst>
                      <a:path w="20" h="30">
                        <a:moveTo>
                          <a:pt x="7" y="16"/>
                        </a:moveTo>
                        <a:cubicBezTo>
                          <a:pt x="18" y="0"/>
                          <a:pt x="20" y="20"/>
                          <a:pt x="5" y="30"/>
                        </a:cubicBezTo>
                        <a:cubicBezTo>
                          <a:pt x="0" y="23"/>
                          <a:pt x="1" y="22"/>
                          <a:pt x="7" y="16"/>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16" name="Freeform 99"/>
                  <p:cNvSpPr>
                    <a:spLocks/>
                  </p:cNvSpPr>
                  <p:nvPr/>
                </p:nvSpPr>
                <p:spPr bwMode="ltGray">
                  <a:xfrm>
                    <a:off x="3709" y="315"/>
                    <a:ext cx="433" cy="354"/>
                  </a:xfrm>
                  <a:custGeom>
                    <a:avLst/>
                    <a:gdLst>
                      <a:gd name="T0" fmla="*/ 194 w 682"/>
                      <a:gd name="T1" fmla="*/ 187 h 557"/>
                      <a:gd name="T2" fmla="*/ 196 w 682"/>
                      <a:gd name="T3" fmla="*/ 182 h 557"/>
                      <a:gd name="T4" fmla="*/ 201 w 682"/>
                      <a:gd name="T5" fmla="*/ 167 h 557"/>
                      <a:gd name="T6" fmla="*/ 124 w 682"/>
                      <a:gd name="T7" fmla="*/ 116 h 557"/>
                      <a:gd name="T8" fmla="*/ 114 w 682"/>
                      <a:gd name="T9" fmla="*/ 140 h 557"/>
                      <a:gd name="T10" fmla="*/ 122 w 682"/>
                      <a:gd name="T11" fmla="*/ 224 h 557"/>
                      <a:gd name="T12" fmla="*/ 114 w 682"/>
                      <a:gd name="T13" fmla="*/ 200 h 557"/>
                      <a:gd name="T14" fmla="*/ 98 w 682"/>
                      <a:gd name="T15" fmla="*/ 177 h 557"/>
                      <a:gd name="T16" fmla="*/ 99 w 682"/>
                      <a:gd name="T17" fmla="*/ 167 h 557"/>
                      <a:gd name="T18" fmla="*/ 100 w 682"/>
                      <a:gd name="T19" fmla="*/ 159 h 557"/>
                      <a:gd name="T20" fmla="*/ 89 w 682"/>
                      <a:gd name="T21" fmla="*/ 151 h 557"/>
                      <a:gd name="T22" fmla="*/ 78 w 682"/>
                      <a:gd name="T23" fmla="*/ 140 h 557"/>
                      <a:gd name="T24" fmla="*/ 60 w 682"/>
                      <a:gd name="T25" fmla="*/ 143 h 557"/>
                      <a:gd name="T26" fmla="*/ 51 w 682"/>
                      <a:gd name="T27" fmla="*/ 147 h 557"/>
                      <a:gd name="T28" fmla="*/ 32 w 682"/>
                      <a:gd name="T29" fmla="*/ 147 h 557"/>
                      <a:gd name="T30" fmla="*/ 9 w 682"/>
                      <a:gd name="T31" fmla="*/ 126 h 557"/>
                      <a:gd name="T32" fmla="*/ 4 w 682"/>
                      <a:gd name="T33" fmla="*/ 119 h 557"/>
                      <a:gd name="T34" fmla="*/ 0 w 682"/>
                      <a:gd name="T35" fmla="*/ 107 h 557"/>
                      <a:gd name="T36" fmla="*/ 10 w 682"/>
                      <a:gd name="T37" fmla="*/ 86 h 557"/>
                      <a:gd name="T38" fmla="*/ 13 w 682"/>
                      <a:gd name="T39" fmla="*/ 73 h 557"/>
                      <a:gd name="T40" fmla="*/ 20 w 682"/>
                      <a:gd name="T41" fmla="*/ 58 h 557"/>
                      <a:gd name="T42" fmla="*/ 32 w 682"/>
                      <a:gd name="T43" fmla="*/ 47 h 557"/>
                      <a:gd name="T44" fmla="*/ 67 w 682"/>
                      <a:gd name="T45" fmla="*/ 27 h 557"/>
                      <a:gd name="T46" fmla="*/ 89 w 682"/>
                      <a:gd name="T47" fmla="*/ 12 h 557"/>
                      <a:gd name="T48" fmla="*/ 104 w 682"/>
                      <a:gd name="T49" fmla="*/ 3 h 557"/>
                      <a:gd name="T50" fmla="*/ 146 w 682"/>
                      <a:gd name="T51" fmla="*/ 1 h 557"/>
                      <a:gd name="T52" fmla="*/ 161 w 682"/>
                      <a:gd name="T53" fmla="*/ 0 h 557"/>
                      <a:gd name="T54" fmla="*/ 155 w 682"/>
                      <a:gd name="T55" fmla="*/ 14 h 557"/>
                      <a:gd name="T56" fmla="*/ 178 w 682"/>
                      <a:gd name="T57" fmla="*/ 34 h 557"/>
                      <a:gd name="T58" fmla="*/ 201 w 682"/>
                      <a:gd name="T59" fmla="*/ 30 h 557"/>
                      <a:gd name="T60" fmla="*/ 213 w 682"/>
                      <a:gd name="T61" fmla="*/ 33 h 557"/>
                      <a:gd name="T62" fmla="*/ 225 w 682"/>
                      <a:gd name="T63" fmla="*/ 39 h 557"/>
                      <a:gd name="T64" fmla="*/ 230 w 682"/>
                      <a:gd name="T65" fmla="*/ 76 h 557"/>
                      <a:gd name="T66" fmla="*/ 230 w 682"/>
                      <a:gd name="T67" fmla="*/ 97 h 557"/>
                      <a:gd name="T68" fmla="*/ 241 w 682"/>
                      <a:gd name="T69" fmla="*/ 114 h 557"/>
                      <a:gd name="T70" fmla="*/ 260 w 682"/>
                      <a:gd name="T71" fmla="*/ 121 h 557"/>
                      <a:gd name="T72" fmla="*/ 274 w 682"/>
                      <a:gd name="T73" fmla="*/ 119 h 557"/>
                      <a:gd name="T74" fmla="*/ 268 w 682"/>
                      <a:gd name="T75" fmla="*/ 137 h 557"/>
                      <a:gd name="T76" fmla="*/ 241 w 682"/>
                      <a:gd name="T77" fmla="*/ 165 h 557"/>
                      <a:gd name="T78" fmla="*/ 221 w 682"/>
                      <a:gd name="T79" fmla="*/ 196 h 557"/>
                      <a:gd name="T80" fmla="*/ 224 w 682"/>
                      <a:gd name="T81" fmla="*/ 205 h 557"/>
                      <a:gd name="T82" fmla="*/ 175 w 682"/>
                      <a:gd name="T83" fmla="*/ 224 h 557"/>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0" t="0" r="r" b="b"/>
                    <a:pathLst>
                      <a:path w="682" h="557">
                        <a:moveTo>
                          <a:pt x="435" y="556"/>
                        </a:moveTo>
                        <a:lnTo>
                          <a:pt x="481" y="464"/>
                        </a:lnTo>
                        <a:lnTo>
                          <a:pt x="473" y="449"/>
                        </a:lnTo>
                        <a:lnTo>
                          <a:pt x="486" y="451"/>
                        </a:lnTo>
                        <a:lnTo>
                          <a:pt x="495" y="441"/>
                        </a:lnTo>
                        <a:lnTo>
                          <a:pt x="500" y="413"/>
                        </a:lnTo>
                        <a:lnTo>
                          <a:pt x="500" y="371"/>
                        </a:lnTo>
                        <a:lnTo>
                          <a:pt x="309" y="287"/>
                        </a:lnTo>
                        <a:lnTo>
                          <a:pt x="296" y="308"/>
                        </a:lnTo>
                        <a:lnTo>
                          <a:pt x="282" y="346"/>
                        </a:lnTo>
                        <a:lnTo>
                          <a:pt x="396" y="557"/>
                        </a:lnTo>
                        <a:lnTo>
                          <a:pt x="303" y="556"/>
                        </a:lnTo>
                        <a:lnTo>
                          <a:pt x="304" y="536"/>
                        </a:lnTo>
                        <a:cubicBezTo>
                          <a:pt x="284" y="520"/>
                          <a:pt x="296" y="510"/>
                          <a:pt x="282" y="494"/>
                        </a:cubicBezTo>
                        <a:cubicBezTo>
                          <a:pt x="276" y="475"/>
                          <a:pt x="267" y="468"/>
                          <a:pt x="253" y="451"/>
                        </a:cubicBezTo>
                        <a:cubicBezTo>
                          <a:pt x="249" y="447"/>
                          <a:pt x="245" y="443"/>
                          <a:pt x="242" y="439"/>
                        </a:cubicBezTo>
                        <a:lnTo>
                          <a:pt x="237" y="432"/>
                        </a:lnTo>
                        <a:cubicBezTo>
                          <a:pt x="237" y="432"/>
                          <a:pt x="245" y="413"/>
                          <a:pt x="245" y="413"/>
                        </a:cubicBezTo>
                        <a:cubicBezTo>
                          <a:pt x="247" y="409"/>
                          <a:pt x="250" y="401"/>
                          <a:pt x="250" y="401"/>
                        </a:cubicBezTo>
                        <a:cubicBezTo>
                          <a:pt x="249" y="399"/>
                          <a:pt x="247" y="397"/>
                          <a:pt x="247" y="394"/>
                        </a:cubicBezTo>
                        <a:cubicBezTo>
                          <a:pt x="248" y="390"/>
                          <a:pt x="253" y="382"/>
                          <a:pt x="253" y="382"/>
                        </a:cubicBezTo>
                        <a:cubicBezTo>
                          <a:pt x="243" y="370"/>
                          <a:pt x="237" y="371"/>
                          <a:pt x="220" y="375"/>
                        </a:cubicBezTo>
                        <a:cubicBezTo>
                          <a:pt x="217" y="371"/>
                          <a:pt x="210" y="369"/>
                          <a:pt x="207" y="365"/>
                        </a:cubicBezTo>
                        <a:cubicBezTo>
                          <a:pt x="185" y="337"/>
                          <a:pt x="216" y="363"/>
                          <a:pt x="194" y="346"/>
                        </a:cubicBezTo>
                        <a:cubicBezTo>
                          <a:pt x="167" y="349"/>
                          <a:pt x="179" y="346"/>
                          <a:pt x="156" y="352"/>
                        </a:cubicBezTo>
                        <a:cubicBezTo>
                          <a:pt x="153" y="353"/>
                          <a:pt x="148" y="354"/>
                          <a:pt x="148" y="354"/>
                        </a:cubicBezTo>
                        <a:cubicBezTo>
                          <a:pt x="146" y="356"/>
                          <a:pt x="145" y="359"/>
                          <a:pt x="142" y="361"/>
                        </a:cubicBezTo>
                        <a:cubicBezTo>
                          <a:pt x="138" y="363"/>
                          <a:pt x="126" y="365"/>
                          <a:pt x="126" y="365"/>
                        </a:cubicBezTo>
                        <a:cubicBezTo>
                          <a:pt x="105" y="354"/>
                          <a:pt x="116" y="355"/>
                          <a:pt x="94" y="361"/>
                        </a:cubicBezTo>
                        <a:cubicBezTo>
                          <a:pt x="89" y="362"/>
                          <a:pt x="78" y="365"/>
                          <a:pt x="78" y="365"/>
                        </a:cubicBezTo>
                        <a:cubicBezTo>
                          <a:pt x="62" y="383"/>
                          <a:pt x="46" y="346"/>
                          <a:pt x="35" y="337"/>
                        </a:cubicBezTo>
                        <a:cubicBezTo>
                          <a:pt x="32" y="330"/>
                          <a:pt x="24" y="320"/>
                          <a:pt x="22" y="312"/>
                        </a:cubicBezTo>
                        <a:cubicBezTo>
                          <a:pt x="20" y="308"/>
                          <a:pt x="22" y="303"/>
                          <a:pt x="19" y="300"/>
                        </a:cubicBezTo>
                        <a:cubicBezTo>
                          <a:pt x="17" y="297"/>
                          <a:pt x="13" y="297"/>
                          <a:pt x="11" y="295"/>
                        </a:cubicBezTo>
                        <a:cubicBezTo>
                          <a:pt x="3" y="277"/>
                          <a:pt x="15" y="306"/>
                          <a:pt x="5" y="276"/>
                        </a:cubicBezTo>
                        <a:cubicBezTo>
                          <a:pt x="4" y="272"/>
                          <a:pt x="0" y="264"/>
                          <a:pt x="0" y="264"/>
                        </a:cubicBezTo>
                        <a:cubicBezTo>
                          <a:pt x="3" y="253"/>
                          <a:pt x="2" y="248"/>
                          <a:pt x="13" y="243"/>
                        </a:cubicBezTo>
                        <a:cubicBezTo>
                          <a:pt x="20" y="221"/>
                          <a:pt x="17" y="231"/>
                          <a:pt x="24" y="213"/>
                        </a:cubicBezTo>
                        <a:cubicBezTo>
                          <a:pt x="26" y="209"/>
                          <a:pt x="30" y="200"/>
                          <a:pt x="30" y="200"/>
                        </a:cubicBezTo>
                        <a:cubicBezTo>
                          <a:pt x="26" y="192"/>
                          <a:pt x="24" y="191"/>
                          <a:pt x="32" y="181"/>
                        </a:cubicBezTo>
                        <a:cubicBezTo>
                          <a:pt x="36" y="177"/>
                          <a:pt x="43" y="169"/>
                          <a:pt x="43" y="169"/>
                        </a:cubicBezTo>
                        <a:cubicBezTo>
                          <a:pt x="37" y="155"/>
                          <a:pt x="36" y="153"/>
                          <a:pt x="51" y="143"/>
                        </a:cubicBezTo>
                        <a:cubicBezTo>
                          <a:pt x="56" y="140"/>
                          <a:pt x="67" y="135"/>
                          <a:pt x="67" y="135"/>
                        </a:cubicBezTo>
                        <a:cubicBezTo>
                          <a:pt x="73" y="129"/>
                          <a:pt x="75" y="122"/>
                          <a:pt x="81" y="116"/>
                        </a:cubicBezTo>
                        <a:cubicBezTo>
                          <a:pt x="89" y="107"/>
                          <a:pt x="102" y="105"/>
                          <a:pt x="113" y="99"/>
                        </a:cubicBezTo>
                        <a:cubicBezTo>
                          <a:pt x="125" y="85"/>
                          <a:pt x="149" y="76"/>
                          <a:pt x="167" y="67"/>
                        </a:cubicBezTo>
                        <a:cubicBezTo>
                          <a:pt x="174" y="59"/>
                          <a:pt x="175" y="50"/>
                          <a:pt x="188" y="46"/>
                        </a:cubicBezTo>
                        <a:cubicBezTo>
                          <a:pt x="198" y="39"/>
                          <a:pt x="208" y="36"/>
                          <a:pt x="220" y="30"/>
                        </a:cubicBezTo>
                        <a:cubicBezTo>
                          <a:pt x="223" y="28"/>
                          <a:pt x="228" y="25"/>
                          <a:pt x="228" y="25"/>
                        </a:cubicBezTo>
                        <a:cubicBezTo>
                          <a:pt x="237" y="16"/>
                          <a:pt x="245" y="10"/>
                          <a:pt x="258" y="6"/>
                        </a:cubicBezTo>
                        <a:cubicBezTo>
                          <a:pt x="269" y="31"/>
                          <a:pt x="301" y="6"/>
                          <a:pt x="320" y="4"/>
                        </a:cubicBezTo>
                        <a:cubicBezTo>
                          <a:pt x="334" y="3"/>
                          <a:pt x="349" y="3"/>
                          <a:pt x="363" y="2"/>
                        </a:cubicBezTo>
                        <a:cubicBezTo>
                          <a:pt x="369" y="3"/>
                          <a:pt x="376" y="5"/>
                          <a:pt x="382" y="4"/>
                        </a:cubicBezTo>
                        <a:cubicBezTo>
                          <a:pt x="387" y="4"/>
                          <a:pt x="398" y="0"/>
                          <a:pt x="398" y="0"/>
                        </a:cubicBezTo>
                        <a:cubicBezTo>
                          <a:pt x="415" y="8"/>
                          <a:pt x="406" y="16"/>
                          <a:pt x="400" y="30"/>
                        </a:cubicBezTo>
                        <a:cubicBezTo>
                          <a:pt x="398" y="34"/>
                          <a:pt x="384" y="34"/>
                          <a:pt x="384" y="34"/>
                        </a:cubicBezTo>
                        <a:cubicBezTo>
                          <a:pt x="379" y="47"/>
                          <a:pt x="398" y="51"/>
                          <a:pt x="411" y="55"/>
                        </a:cubicBezTo>
                        <a:cubicBezTo>
                          <a:pt x="419" y="72"/>
                          <a:pt x="421" y="79"/>
                          <a:pt x="443" y="84"/>
                        </a:cubicBezTo>
                        <a:cubicBezTo>
                          <a:pt x="461" y="71"/>
                          <a:pt x="435" y="65"/>
                          <a:pt x="468" y="57"/>
                        </a:cubicBezTo>
                        <a:cubicBezTo>
                          <a:pt x="482" y="61"/>
                          <a:pt x="485" y="70"/>
                          <a:pt x="497" y="74"/>
                        </a:cubicBezTo>
                        <a:cubicBezTo>
                          <a:pt x="505" y="76"/>
                          <a:pt x="513" y="78"/>
                          <a:pt x="521" y="80"/>
                        </a:cubicBezTo>
                        <a:cubicBezTo>
                          <a:pt x="524" y="81"/>
                          <a:pt x="529" y="82"/>
                          <a:pt x="529" y="82"/>
                        </a:cubicBezTo>
                        <a:cubicBezTo>
                          <a:pt x="547" y="78"/>
                          <a:pt x="547" y="76"/>
                          <a:pt x="562" y="84"/>
                        </a:cubicBezTo>
                        <a:cubicBezTo>
                          <a:pt x="566" y="95"/>
                          <a:pt x="565" y="86"/>
                          <a:pt x="559" y="97"/>
                        </a:cubicBezTo>
                        <a:cubicBezTo>
                          <a:pt x="557" y="101"/>
                          <a:pt x="554" y="110"/>
                          <a:pt x="554" y="110"/>
                        </a:cubicBezTo>
                        <a:cubicBezTo>
                          <a:pt x="556" y="132"/>
                          <a:pt x="556" y="168"/>
                          <a:pt x="572" y="188"/>
                        </a:cubicBezTo>
                        <a:cubicBezTo>
                          <a:pt x="568" y="198"/>
                          <a:pt x="564" y="208"/>
                          <a:pt x="562" y="219"/>
                        </a:cubicBezTo>
                        <a:cubicBezTo>
                          <a:pt x="564" y="227"/>
                          <a:pt x="569" y="233"/>
                          <a:pt x="572" y="240"/>
                        </a:cubicBezTo>
                        <a:cubicBezTo>
                          <a:pt x="573" y="247"/>
                          <a:pt x="572" y="254"/>
                          <a:pt x="575" y="259"/>
                        </a:cubicBezTo>
                        <a:cubicBezTo>
                          <a:pt x="577" y="263"/>
                          <a:pt x="595" y="272"/>
                          <a:pt x="599" y="283"/>
                        </a:cubicBezTo>
                        <a:cubicBezTo>
                          <a:pt x="594" y="295"/>
                          <a:pt x="603" y="306"/>
                          <a:pt x="618" y="310"/>
                        </a:cubicBezTo>
                        <a:cubicBezTo>
                          <a:pt x="630" y="307"/>
                          <a:pt x="638" y="308"/>
                          <a:pt x="645" y="300"/>
                        </a:cubicBezTo>
                        <a:cubicBezTo>
                          <a:pt x="660" y="302"/>
                          <a:pt x="663" y="303"/>
                          <a:pt x="672" y="293"/>
                        </a:cubicBezTo>
                        <a:cubicBezTo>
                          <a:pt x="675" y="294"/>
                          <a:pt x="679" y="293"/>
                          <a:pt x="680" y="295"/>
                        </a:cubicBezTo>
                        <a:cubicBezTo>
                          <a:pt x="682" y="301"/>
                          <a:pt x="674" y="321"/>
                          <a:pt x="672" y="327"/>
                        </a:cubicBezTo>
                        <a:cubicBezTo>
                          <a:pt x="668" y="340"/>
                          <a:pt x="671" y="326"/>
                          <a:pt x="664" y="340"/>
                        </a:cubicBezTo>
                        <a:cubicBezTo>
                          <a:pt x="652" y="360"/>
                          <a:pt x="646" y="381"/>
                          <a:pt x="621" y="394"/>
                        </a:cubicBezTo>
                        <a:cubicBezTo>
                          <a:pt x="614" y="402"/>
                          <a:pt x="609" y="402"/>
                          <a:pt x="599" y="407"/>
                        </a:cubicBezTo>
                        <a:cubicBezTo>
                          <a:pt x="590" y="418"/>
                          <a:pt x="579" y="429"/>
                          <a:pt x="567" y="439"/>
                        </a:cubicBezTo>
                        <a:cubicBezTo>
                          <a:pt x="560" y="454"/>
                          <a:pt x="555" y="470"/>
                          <a:pt x="548" y="485"/>
                        </a:cubicBezTo>
                        <a:cubicBezTo>
                          <a:pt x="549" y="489"/>
                          <a:pt x="550" y="492"/>
                          <a:pt x="551" y="496"/>
                        </a:cubicBezTo>
                        <a:cubicBezTo>
                          <a:pt x="552" y="500"/>
                          <a:pt x="556" y="508"/>
                          <a:pt x="556" y="508"/>
                        </a:cubicBezTo>
                        <a:cubicBezTo>
                          <a:pt x="559" y="524"/>
                          <a:pt x="562" y="546"/>
                          <a:pt x="576" y="557"/>
                        </a:cubicBezTo>
                        <a:lnTo>
                          <a:pt x="435" y="556"/>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17" name="Freeform 100"/>
                  <p:cNvSpPr>
                    <a:spLocks/>
                  </p:cNvSpPr>
                  <p:nvPr/>
                </p:nvSpPr>
                <p:spPr bwMode="ltGray">
                  <a:xfrm>
                    <a:off x="3877" y="448"/>
                    <a:ext cx="163" cy="221"/>
                  </a:xfrm>
                  <a:custGeom>
                    <a:avLst/>
                    <a:gdLst>
                      <a:gd name="T0" fmla="*/ 98 w 257"/>
                      <a:gd name="T1" fmla="*/ 141 h 347"/>
                      <a:gd name="T2" fmla="*/ 94 w 257"/>
                      <a:gd name="T3" fmla="*/ 122 h 347"/>
                      <a:gd name="T4" fmla="*/ 88 w 257"/>
                      <a:gd name="T5" fmla="*/ 117 h 347"/>
                      <a:gd name="T6" fmla="*/ 86 w 257"/>
                      <a:gd name="T7" fmla="*/ 109 h 347"/>
                      <a:gd name="T8" fmla="*/ 84 w 257"/>
                      <a:gd name="T9" fmla="*/ 103 h 347"/>
                      <a:gd name="T10" fmla="*/ 84 w 257"/>
                      <a:gd name="T11" fmla="*/ 93 h 347"/>
                      <a:gd name="T12" fmla="*/ 83 w 257"/>
                      <a:gd name="T13" fmla="*/ 87 h 347"/>
                      <a:gd name="T14" fmla="*/ 92 w 257"/>
                      <a:gd name="T15" fmla="*/ 82 h 347"/>
                      <a:gd name="T16" fmla="*/ 103 w 257"/>
                      <a:gd name="T17" fmla="*/ 80 h 347"/>
                      <a:gd name="T18" fmla="*/ 103 w 257"/>
                      <a:gd name="T19" fmla="*/ 55 h 347"/>
                      <a:gd name="T20" fmla="*/ 22 w 257"/>
                      <a:gd name="T21" fmla="*/ 39 h 347"/>
                      <a:gd name="T22" fmla="*/ 13 w 257"/>
                      <a:gd name="T23" fmla="*/ 39 h 347"/>
                      <a:gd name="T24" fmla="*/ 6 w 257"/>
                      <a:gd name="T25" fmla="*/ 41 h 347"/>
                      <a:gd name="T26" fmla="*/ 0 w 257"/>
                      <a:gd name="T27" fmla="*/ 61 h 347"/>
                      <a:gd name="T28" fmla="*/ 37 w 257"/>
                      <a:gd name="T29" fmla="*/ 140 h 347"/>
                      <a:gd name="T30" fmla="*/ 98 w 257"/>
                      <a:gd name="T31" fmla="*/ 141 h 347"/>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257" h="347">
                        <a:moveTo>
                          <a:pt x="243" y="347"/>
                        </a:moveTo>
                        <a:lnTo>
                          <a:pt x="233" y="301"/>
                        </a:lnTo>
                        <a:lnTo>
                          <a:pt x="217" y="288"/>
                        </a:lnTo>
                        <a:lnTo>
                          <a:pt x="215" y="269"/>
                        </a:lnTo>
                        <a:lnTo>
                          <a:pt x="209" y="254"/>
                        </a:lnTo>
                        <a:lnTo>
                          <a:pt x="209" y="229"/>
                        </a:lnTo>
                        <a:lnTo>
                          <a:pt x="207" y="214"/>
                        </a:lnTo>
                        <a:lnTo>
                          <a:pt x="228" y="202"/>
                        </a:lnTo>
                        <a:lnTo>
                          <a:pt x="257" y="197"/>
                        </a:lnTo>
                        <a:lnTo>
                          <a:pt x="257" y="136"/>
                        </a:lnTo>
                        <a:cubicBezTo>
                          <a:pt x="209" y="119"/>
                          <a:pt x="13" y="0"/>
                          <a:pt x="54" y="96"/>
                        </a:cubicBezTo>
                        <a:cubicBezTo>
                          <a:pt x="36" y="106"/>
                          <a:pt x="57" y="97"/>
                          <a:pt x="32" y="98"/>
                        </a:cubicBezTo>
                        <a:cubicBezTo>
                          <a:pt x="27" y="99"/>
                          <a:pt x="16" y="102"/>
                          <a:pt x="16" y="102"/>
                        </a:cubicBezTo>
                        <a:lnTo>
                          <a:pt x="0" y="149"/>
                        </a:lnTo>
                        <a:lnTo>
                          <a:pt x="93" y="346"/>
                        </a:lnTo>
                        <a:lnTo>
                          <a:pt x="243" y="347"/>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18" name="Freeform 101"/>
                  <p:cNvSpPr>
                    <a:spLocks/>
                  </p:cNvSpPr>
                  <p:nvPr/>
                </p:nvSpPr>
                <p:spPr bwMode="ltGray">
                  <a:xfrm>
                    <a:off x="4164" y="611"/>
                    <a:ext cx="7" cy="12"/>
                  </a:xfrm>
                  <a:custGeom>
                    <a:avLst/>
                    <a:gdLst>
                      <a:gd name="T0" fmla="*/ 1 w 19"/>
                      <a:gd name="T1" fmla="*/ 3 h 37"/>
                      <a:gd name="T2" fmla="*/ 3 w 19"/>
                      <a:gd name="T3" fmla="*/ 2 h 37"/>
                      <a:gd name="T4" fmla="*/ 1 w 19"/>
                      <a:gd name="T5" fmla="*/ 3 h 37"/>
                      <a:gd name="T6" fmla="*/ 0 60000 65536"/>
                      <a:gd name="T7" fmla="*/ 0 60000 65536"/>
                      <a:gd name="T8" fmla="*/ 0 60000 65536"/>
                    </a:gdLst>
                    <a:ahLst/>
                    <a:cxnLst>
                      <a:cxn ang="T6">
                        <a:pos x="T0" y="T1"/>
                      </a:cxn>
                      <a:cxn ang="T7">
                        <a:pos x="T2" y="T3"/>
                      </a:cxn>
                      <a:cxn ang="T8">
                        <a:pos x="T4" y="T5"/>
                      </a:cxn>
                    </a:cxnLst>
                    <a:rect l="0" t="0" r="r" b="b"/>
                    <a:pathLst>
                      <a:path w="19" h="37">
                        <a:moveTo>
                          <a:pt x="7" y="25"/>
                        </a:moveTo>
                        <a:cubicBezTo>
                          <a:pt x="0" y="4"/>
                          <a:pt x="12" y="0"/>
                          <a:pt x="19" y="21"/>
                        </a:cubicBezTo>
                        <a:cubicBezTo>
                          <a:pt x="14" y="37"/>
                          <a:pt x="18" y="36"/>
                          <a:pt x="7" y="25"/>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19" name="Freeform 102"/>
                  <p:cNvSpPr>
                    <a:spLocks/>
                  </p:cNvSpPr>
                  <p:nvPr/>
                </p:nvSpPr>
                <p:spPr bwMode="ltGray">
                  <a:xfrm>
                    <a:off x="4155" y="497"/>
                    <a:ext cx="9" cy="7"/>
                  </a:xfrm>
                  <a:custGeom>
                    <a:avLst/>
                    <a:gdLst>
                      <a:gd name="T0" fmla="*/ 2 w 22"/>
                      <a:gd name="T1" fmla="*/ 1 h 20"/>
                      <a:gd name="T2" fmla="*/ 3 w 22"/>
                      <a:gd name="T3" fmla="*/ 0 h 20"/>
                      <a:gd name="T4" fmla="*/ 3 w 22"/>
                      <a:gd name="T5" fmla="*/ 1 h 20"/>
                      <a:gd name="T6" fmla="*/ 1 w 22"/>
                      <a:gd name="T7" fmla="*/ 2 h 20"/>
                      <a:gd name="T8" fmla="*/ 2 w 22"/>
                      <a:gd name="T9" fmla="*/ 1 h 2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2" h="20">
                        <a:moveTo>
                          <a:pt x="12" y="12"/>
                        </a:moveTo>
                        <a:cubicBezTo>
                          <a:pt x="13" y="8"/>
                          <a:pt x="12" y="0"/>
                          <a:pt x="16" y="0"/>
                        </a:cubicBezTo>
                        <a:cubicBezTo>
                          <a:pt x="20" y="0"/>
                          <a:pt x="22" y="8"/>
                          <a:pt x="20" y="12"/>
                        </a:cubicBezTo>
                        <a:cubicBezTo>
                          <a:pt x="18" y="16"/>
                          <a:pt x="12" y="17"/>
                          <a:pt x="8" y="20"/>
                        </a:cubicBezTo>
                        <a:cubicBezTo>
                          <a:pt x="3" y="5"/>
                          <a:pt x="0" y="6"/>
                          <a:pt x="12" y="12"/>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20" name="Freeform 103"/>
                  <p:cNvSpPr>
                    <a:spLocks/>
                  </p:cNvSpPr>
                  <p:nvPr/>
                </p:nvSpPr>
                <p:spPr bwMode="ltGray">
                  <a:xfrm>
                    <a:off x="3760" y="357"/>
                    <a:ext cx="25" cy="10"/>
                  </a:xfrm>
                  <a:custGeom>
                    <a:avLst/>
                    <a:gdLst>
                      <a:gd name="T0" fmla="*/ 5 w 57"/>
                      <a:gd name="T1" fmla="*/ 2 h 30"/>
                      <a:gd name="T2" fmla="*/ 6 w 57"/>
                      <a:gd name="T3" fmla="*/ 1 h 30"/>
                      <a:gd name="T4" fmla="*/ 7 w 57"/>
                      <a:gd name="T5" fmla="*/ 3 h 30"/>
                      <a:gd name="T6" fmla="*/ 5 w 57"/>
                      <a:gd name="T7" fmla="*/ 2 h 3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57" h="30">
                        <a:moveTo>
                          <a:pt x="24" y="18"/>
                        </a:moveTo>
                        <a:cubicBezTo>
                          <a:pt x="0" y="10"/>
                          <a:pt x="9" y="0"/>
                          <a:pt x="32" y="6"/>
                        </a:cubicBezTo>
                        <a:cubicBezTo>
                          <a:pt x="46" y="15"/>
                          <a:pt x="57" y="23"/>
                          <a:pt x="36" y="30"/>
                        </a:cubicBezTo>
                        <a:cubicBezTo>
                          <a:pt x="21" y="25"/>
                          <a:pt x="24" y="30"/>
                          <a:pt x="24" y="1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21" name="Freeform 104"/>
                  <p:cNvSpPr>
                    <a:spLocks/>
                  </p:cNvSpPr>
                  <p:nvPr/>
                </p:nvSpPr>
                <p:spPr bwMode="ltGray">
                  <a:xfrm>
                    <a:off x="4062" y="265"/>
                    <a:ext cx="295" cy="233"/>
                  </a:xfrm>
                  <a:custGeom>
                    <a:avLst/>
                    <a:gdLst>
                      <a:gd name="T0" fmla="*/ 86 w 693"/>
                      <a:gd name="T1" fmla="*/ 52 h 696"/>
                      <a:gd name="T2" fmla="*/ 71 w 693"/>
                      <a:gd name="T3" fmla="*/ 51 h 696"/>
                      <a:gd name="T4" fmla="*/ 59 w 693"/>
                      <a:gd name="T5" fmla="*/ 46 h 696"/>
                      <a:gd name="T6" fmla="*/ 48 w 693"/>
                      <a:gd name="T7" fmla="*/ 45 h 696"/>
                      <a:gd name="T8" fmla="*/ 43 w 693"/>
                      <a:gd name="T9" fmla="*/ 47 h 696"/>
                      <a:gd name="T10" fmla="*/ 47 w 693"/>
                      <a:gd name="T11" fmla="*/ 48 h 696"/>
                      <a:gd name="T12" fmla="*/ 53 w 693"/>
                      <a:gd name="T13" fmla="*/ 53 h 696"/>
                      <a:gd name="T14" fmla="*/ 58 w 693"/>
                      <a:gd name="T15" fmla="*/ 53 h 696"/>
                      <a:gd name="T16" fmla="*/ 60 w 693"/>
                      <a:gd name="T17" fmla="*/ 60 h 696"/>
                      <a:gd name="T18" fmla="*/ 57 w 693"/>
                      <a:gd name="T19" fmla="*/ 62 h 696"/>
                      <a:gd name="T20" fmla="*/ 47 w 693"/>
                      <a:gd name="T21" fmla="*/ 69 h 696"/>
                      <a:gd name="T22" fmla="*/ 41 w 693"/>
                      <a:gd name="T23" fmla="*/ 70 h 696"/>
                      <a:gd name="T24" fmla="*/ 17 w 693"/>
                      <a:gd name="T25" fmla="*/ 78 h 696"/>
                      <a:gd name="T26" fmla="*/ 14 w 693"/>
                      <a:gd name="T27" fmla="*/ 69 h 696"/>
                      <a:gd name="T28" fmla="*/ 8 w 693"/>
                      <a:gd name="T29" fmla="*/ 59 h 696"/>
                      <a:gd name="T30" fmla="*/ 6 w 693"/>
                      <a:gd name="T31" fmla="*/ 50 h 696"/>
                      <a:gd name="T32" fmla="*/ 10 w 693"/>
                      <a:gd name="T33" fmla="*/ 38 h 696"/>
                      <a:gd name="T34" fmla="*/ 3 w 693"/>
                      <a:gd name="T35" fmla="*/ 44 h 696"/>
                      <a:gd name="T36" fmla="*/ 14 w 693"/>
                      <a:gd name="T37" fmla="*/ 31 h 696"/>
                      <a:gd name="T38" fmla="*/ 20 w 693"/>
                      <a:gd name="T39" fmla="*/ 23 h 696"/>
                      <a:gd name="T40" fmla="*/ 7 w 693"/>
                      <a:gd name="T41" fmla="*/ 23 h 696"/>
                      <a:gd name="T42" fmla="*/ 0 w 693"/>
                      <a:gd name="T43" fmla="*/ 22 h 696"/>
                      <a:gd name="T44" fmla="*/ 5 w 693"/>
                      <a:gd name="T45" fmla="*/ 16 h 696"/>
                      <a:gd name="T46" fmla="*/ 17 w 693"/>
                      <a:gd name="T47" fmla="*/ 12 h 696"/>
                      <a:gd name="T48" fmla="*/ 40 w 693"/>
                      <a:gd name="T49" fmla="*/ 14 h 696"/>
                      <a:gd name="T50" fmla="*/ 41 w 693"/>
                      <a:gd name="T51" fmla="*/ 7 h 696"/>
                      <a:gd name="T52" fmla="*/ 47 w 693"/>
                      <a:gd name="T53" fmla="*/ 0 h 696"/>
                      <a:gd name="T54" fmla="*/ 65 w 693"/>
                      <a:gd name="T55" fmla="*/ 5 h 696"/>
                      <a:gd name="T56" fmla="*/ 60 w 693"/>
                      <a:gd name="T57" fmla="*/ 10 h 696"/>
                      <a:gd name="T58" fmla="*/ 54 w 693"/>
                      <a:gd name="T59" fmla="*/ 20 h 696"/>
                      <a:gd name="T60" fmla="*/ 66 w 693"/>
                      <a:gd name="T61" fmla="*/ 21 h 696"/>
                      <a:gd name="T62" fmla="*/ 68 w 693"/>
                      <a:gd name="T63" fmla="*/ 15 h 696"/>
                      <a:gd name="T64" fmla="*/ 76 w 693"/>
                      <a:gd name="T65" fmla="*/ 10 h 696"/>
                      <a:gd name="T66" fmla="*/ 90 w 693"/>
                      <a:gd name="T67" fmla="*/ 10 h 696"/>
                      <a:gd name="T68" fmla="*/ 96 w 693"/>
                      <a:gd name="T69" fmla="*/ 6 h 696"/>
                      <a:gd name="T70" fmla="*/ 98 w 693"/>
                      <a:gd name="T71" fmla="*/ 52 h 69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693" h="696">
                        <a:moveTo>
                          <a:pt x="541" y="460"/>
                        </a:moveTo>
                        <a:lnTo>
                          <a:pt x="473" y="464"/>
                        </a:lnTo>
                        <a:lnTo>
                          <a:pt x="441" y="452"/>
                        </a:lnTo>
                        <a:lnTo>
                          <a:pt x="393" y="452"/>
                        </a:lnTo>
                        <a:cubicBezTo>
                          <a:pt x="365" y="448"/>
                          <a:pt x="360" y="444"/>
                          <a:pt x="337" y="436"/>
                        </a:cubicBezTo>
                        <a:cubicBezTo>
                          <a:pt x="336" y="432"/>
                          <a:pt x="330" y="413"/>
                          <a:pt x="325" y="412"/>
                        </a:cubicBezTo>
                        <a:cubicBezTo>
                          <a:pt x="317" y="411"/>
                          <a:pt x="301" y="420"/>
                          <a:pt x="301" y="420"/>
                        </a:cubicBezTo>
                        <a:cubicBezTo>
                          <a:pt x="289" y="412"/>
                          <a:pt x="277" y="408"/>
                          <a:pt x="265" y="400"/>
                        </a:cubicBezTo>
                        <a:cubicBezTo>
                          <a:pt x="252" y="380"/>
                          <a:pt x="256" y="356"/>
                          <a:pt x="233" y="348"/>
                        </a:cubicBezTo>
                        <a:cubicBezTo>
                          <a:pt x="217" y="372"/>
                          <a:pt x="221" y="392"/>
                          <a:pt x="237" y="416"/>
                        </a:cubicBezTo>
                        <a:cubicBezTo>
                          <a:pt x="234" y="428"/>
                          <a:pt x="228" y="445"/>
                          <a:pt x="237" y="444"/>
                        </a:cubicBezTo>
                        <a:cubicBezTo>
                          <a:pt x="247" y="443"/>
                          <a:pt x="261" y="428"/>
                          <a:pt x="261" y="428"/>
                        </a:cubicBezTo>
                        <a:cubicBezTo>
                          <a:pt x="258" y="450"/>
                          <a:pt x="243" y="475"/>
                          <a:pt x="269" y="484"/>
                        </a:cubicBezTo>
                        <a:cubicBezTo>
                          <a:pt x="277" y="479"/>
                          <a:pt x="288" y="476"/>
                          <a:pt x="293" y="468"/>
                        </a:cubicBezTo>
                        <a:cubicBezTo>
                          <a:pt x="302" y="454"/>
                          <a:pt x="303" y="446"/>
                          <a:pt x="317" y="436"/>
                        </a:cubicBezTo>
                        <a:cubicBezTo>
                          <a:pt x="315" y="448"/>
                          <a:pt x="306" y="467"/>
                          <a:pt x="321" y="476"/>
                        </a:cubicBezTo>
                        <a:cubicBezTo>
                          <a:pt x="328" y="480"/>
                          <a:pt x="345" y="484"/>
                          <a:pt x="345" y="484"/>
                        </a:cubicBezTo>
                        <a:cubicBezTo>
                          <a:pt x="382" y="472"/>
                          <a:pt x="347" y="527"/>
                          <a:pt x="333" y="536"/>
                        </a:cubicBezTo>
                        <a:cubicBezTo>
                          <a:pt x="330" y="540"/>
                          <a:pt x="329" y="545"/>
                          <a:pt x="325" y="548"/>
                        </a:cubicBezTo>
                        <a:cubicBezTo>
                          <a:pt x="322" y="551"/>
                          <a:pt x="316" y="549"/>
                          <a:pt x="313" y="552"/>
                        </a:cubicBezTo>
                        <a:cubicBezTo>
                          <a:pt x="300" y="565"/>
                          <a:pt x="320" y="575"/>
                          <a:pt x="293" y="584"/>
                        </a:cubicBezTo>
                        <a:cubicBezTo>
                          <a:pt x="286" y="595"/>
                          <a:pt x="272" y="610"/>
                          <a:pt x="261" y="616"/>
                        </a:cubicBezTo>
                        <a:cubicBezTo>
                          <a:pt x="254" y="620"/>
                          <a:pt x="245" y="621"/>
                          <a:pt x="237" y="624"/>
                        </a:cubicBezTo>
                        <a:cubicBezTo>
                          <a:pt x="233" y="625"/>
                          <a:pt x="225" y="628"/>
                          <a:pt x="225" y="628"/>
                        </a:cubicBezTo>
                        <a:cubicBezTo>
                          <a:pt x="215" y="659"/>
                          <a:pt x="212" y="652"/>
                          <a:pt x="173" y="656"/>
                        </a:cubicBezTo>
                        <a:cubicBezTo>
                          <a:pt x="140" y="667"/>
                          <a:pt x="132" y="687"/>
                          <a:pt x="97" y="696"/>
                        </a:cubicBezTo>
                        <a:cubicBezTo>
                          <a:pt x="77" y="691"/>
                          <a:pt x="75" y="687"/>
                          <a:pt x="81" y="668"/>
                        </a:cubicBezTo>
                        <a:cubicBezTo>
                          <a:pt x="77" y="646"/>
                          <a:pt x="72" y="639"/>
                          <a:pt x="77" y="616"/>
                        </a:cubicBezTo>
                        <a:cubicBezTo>
                          <a:pt x="73" y="598"/>
                          <a:pt x="71" y="587"/>
                          <a:pt x="61" y="572"/>
                        </a:cubicBezTo>
                        <a:cubicBezTo>
                          <a:pt x="58" y="551"/>
                          <a:pt x="51" y="543"/>
                          <a:pt x="45" y="524"/>
                        </a:cubicBezTo>
                        <a:cubicBezTo>
                          <a:pt x="52" y="502"/>
                          <a:pt x="58" y="496"/>
                          <a:pt x="49" y="472"/>
                        </a:cubicBezTo>
                        <a:cubicBezTo>
                          <a:pt x="46" y="463"/>
                          <a:pt x="33" y="448"/>
                          <a:pt x="33" y="448"/>
                        </a:cubicBezTo>
                        <a:cubicBezTo>
                          <a:pt x="42" y="422"/>
                          <a:pt x="42" y="408"/>
                          <a:pt x="33" y="380"/>
                        </a:cubicBezTo>
                        <a:cubicBezTo>
                          <a:pt x="49" y="369"/>
                          <a:pt x="48" y="362"/>
                          <a:pt x="53" y="344"/>
                        </a:cubicBezTo>
                        <a:cubicBezTo>
                          <a:pt x="47" y="327"/>
                          <a:pt x="49" y="308"/>
                          <a:pt x="33" y="332"/>
                        </a:cubicBezTo>
                        <a:cubicBezTo>
                          <a:pt x="40" y="353"/>
                          <a:pt x="29" y="374"/>
                          <a:pt x="17" y="392"/>
                        </a:cubicBezTo>
                        <a:cubicBezTo>
                          <a:pt x="6" y="360"/>
                          <a:pt x="10" y="340"/>
                          <a:pt x="13" y="304"/>
                        </a:cubicBezTo>
                        <a:cubicBezTo>
                          <a:pt x="44" y="314"/>
                          <a:pt x="54" y="289"/>
                          <a:pt x="81" y="280"/>
                        </a:cubicBezTo>
                        <a:cubicBezTo>
                          <a:pt x="94" y="261"/>
                          <a:pt x="85" y="242"/>
                          <a:pt x="105" y="228"/>
                        </a:cubicBezTo>
                        <a:cubicBezTo>
                          <a:pt x="108" y="220"/>
                          <a:pt x="110" y="212"/>
                          <a:pt x="113" y="204"/>
                        </a:cubicBezTo>
                        <a:cubicBezTo>
                          <a:pt x="116" y="196"/>
                          <a:pt x="89" y="196"/>
                          <a:pt x="89" y="196"/>
                        </a:cubicBezTo>
                        <a:cubicBezTo>
                          <a:pt x="81" y="221"/>
                          <a:pt x="58" y="211"/>
                          <a:pt x="37" y="204"/>
                        </a:cubicBezTo>
                        <a:cubicBezTo>
                          <a:pt x="33" y="207"/>
                          <a:pt x="30" y="213"/>
                          <a:pt x="25" y="212"/>
                        </a:cubicBezTo>
                        <a:cubicBezTo>
                          <a:pt x="16" y="210"/>
                          <a:pt x="1" y="196"/>
                          <a:pt x="1" y="196"/>
                        </a:cubicBezTo>
                        <a:cubicBezTo>
                          <a:pt x="4" y="186"/>
                          <a:pt x="4" y="174"/>
                          <a:pt x="9" y="164"/>
                        </a:cubicBezTo>
                        <a:cubicBezTo>
                          <a:pt x="13" y="155"/>
                          <a:pt x="25" y="140"/>
                          <a:pt x="25" y="140"/>
                        </a:cubicBezTo>
                        <a:cubicBezTo>
                          <a:pt x="0" y="132"/>
                          <a:pt x="25" y="128"/>
                          <a:pt x="37" y="124"/>
                        </a:cubicBezTo>
                        <a:cubicBezTo>
                          <a:pt x="58" y="131"/>
                          <a:pt x="75" y="116"/>
                          <a:pt x="97" y="112"/>
                        </a:cubicBezTo>
                        <a:cubicBezTo>
                          <a:pt x="135" y="87"/>
                          <a:pt x="159" y="122"/>
                          <a:pt x="197" y="132"/>
                        </a:cubicBezTo>
                        <a:cubicBezTo>
                          <a:pt x="205" y="129"/>
                          <a:pt x="213" y="127"/>
                          <a:pt x="221" y="124"/>
                        </a:cubicBezTo>
                        <a:cubicBezTo>
                          <a:pt x="225" y="123"/>
                          <a:pt x="226" y="147"/>
                          <a:pt x="233" y="120"/>
                        </a:cubicBezTo>
                        <a:lnTo>
                          <a:pt x="229" y="64"/>
                        </a:lnTo>
                        <a:lnTo>
                          <a:pt x="209" y="40"/>
                        </a:lnTo>
                        <a:cubicBezTo>
                          <a:pt x="243" y="21"/>
                          <a:pt x="240" y="21"/>
                          <a:pt x="261" y="0"/>
                        </a:cubicBezTo>
                        <a:cubicBezTo>
                          <a:pt x="297" y="16"/>
                          <a:pt x="333" y="32"/>
                          <a:pt x="369" y="48"/>
                        </a:cubicBezTo>
                        <a:cubicBezTo>
                          <a:pt x="373" y="50"/>
                          <a:pt x="361" y="44"/>
                          <a:pt x="357" y="44"/>
                        </a:cubicBezTo>
                        <a:cubicBezTo>
                          <a:pt x="349" y="45"/>
                          <a:pt x="333" y="52"/>
                          <a:pt x="333" y="52"/>
                        </a:cubicBezTo>
                        <a:cubicBezTo>
                          <a:pt x="322" y="68"/>
                          <a:pt x="318" y="71"/>
                          <a:pt x="329" y="88"/>
                        </a:cubicBezTo>
                        <a:cubicBezTo>
                          <a:pt x="308" y="119"/>
                          <a:pt x="323" y="118"/>
                          <a:pt x="333" y="148"/>
                        </a:cubicBezTo>
                        <a:cubicBezTo>
                          <a:pt x="320" y="157"/>
                          <a:pt x="314" y="167"/>
                          <a:pt x="301" y="176"/>
                        </a:cubicBezTo>
                        <a:cubicBezTo>
                          <a:pt x="306" y="213"/>
                          <a:pt x="303" y="213"/>
                          <a:pt x="337" y="220"/>
                        </a:cubicBezTo>
                        <a:cubicBezTo>
                          <a:pt x="358" y="216"/>
                          <a:pt x="368" y="214"/>
                          <a:pt x="361" y="192"/>
                        </a:cubicBezTo>
                        <a:cubicBezTo>
                          <a:pt x="362" y="177"/>
                          <a:pt x="362" y="162"/>
                          <a:pt x="365" y="148"/>
                        </a:cubicBezTo>
                        <a:cubicBezTo>
                          <a:pt x="366" y="143"/>
                          <a:pt x="369" y="133"/>
                          <a:pt x="373" y="136"/>
                        </a:cubicBezTo>
                        <a:cubicBezTo>
                          <a:pt x="379" y="140"/>
                          <a:pt x="376" y="149"/>
                          <a:pt x="377" y="156"/>
                        </a:cubicBezTo>
                        <a:cubicBezTo>
                          <a:pt x="404" y="147"/>
                          <a:pt x="409" y="116"/>
                          <a:pt x="417" y="92"/>
                        </a:cubicBezTo>
                        <a:cubicBezTo>
                          <a:pt x="422" y="76"/>
                          <a:pt x="453" y="74"/>
                          <a:pt x="465" y="72"/>
                        </a:cubicBezTo>
                        <a:cubicBezTo>
                          <a:pt x="472" y="92"/>
                          <a:pt x="477" y="93"/>
                          <a:pt x="497" y="88"/>
                        </a:cubicBezTo>
                        <a:cubicBezTo>
                          <a:pt x="512" y="78"/>
                          <a:pt x="515" y="74"/>
                          <a:pt x="509" y="56"/>
                        </a:cubicBezTo>
                        <a:cubicBezTo>
                          <a:pt x="523" y="46"/>
                          <a:pt x="517" y="46"/>
                          <a:pt x="529" y="52"/>
                        </a:cubicBezTo>
                        <a:lnTo>
                          <a:pt x="693" y="72"/>
                        </a:lnTo>
                        <a:lnTo>
                          <a:pt x="541" y="460"/>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22" name="Freeform 105"/>
                  <p:cNvSpPr>
                    <a:spLocks/>
                  </p:cNvSpPr>
                  <p:nvPr/>
                </p:nvSpPr>
                <p:spPr bwMode="ltGray">
                  <a:xfrm>
                    <a:off x="3861" y="247"/>
                    <a:ext cx="591" cy="95"/>
                  </a:xfrm>
                  <a:custGeom>
                    <a:avLst/>
                    <a:gdLst>
                      <a:gd name="T0" fmla="*/ 333 w 931"/>
                      <a:gd name="T1" fmla="*/ 0 h 149"/>
                      <a:gd name="T2" fmla="*/ 58 w 931"/>
                      <a:gd name="T3" fmla="*/ 11 h 149"/>
                      <a:gd name="T4" fmla="*/ 37 w 931"/>
                      <a:gd name="T5" fmla="*/ 17 h 149"/>
                      <a:gd name="T6" fmla="*/ 25 w 931"/>
                      <a:gd name="T7" fmla="*/ 17 h 149"/>
                      <a:gd name="T8" fmla="*/ 9 w 931"/>
                      <a:gd name="T9" fmla="*/ 31 h 149"/>
                      <a:gd name="T10" fmla="*/ 0 w 931"/>
                      <a:gd name="T11" fmla="*/ 43 h 149"/>
                      <a:gd name="T12" fmla="*/ 23 w 931"/>
                      <a:gd name="T13" fmla="*/ 47 h 149"/>
                      <a:gd name="T14" fmla="*/ 39 w 931"/>
                      <a:gd name="T15" fmla="*/ 39 h 149"/>
                      <a:gd name="T16" fmla="*/ 44 w 931"/>
                      <a:gd name="T17" fmla="*/ 34 h 149"/>
                      <a:gd name="T18" fmla="*/ 67 w 931"/>
                      <a:gd name="T19" fmla="*/ 21 h 149"/>
                      <a:gd name="T20" fmla="*/ 86 w 931"/>
                      <a:gd name="T21" fmla="*/ 18 h 149"/>
                      <a:gd name="T22" fmla="*/ 95 w 931"/>
                      <a:gd name="T23" fmla="*/ 38 h 149"/>
                      <a:gd name="T24" fmla="*/ 76 w 931"/>
                      <a:gd name="T25" fmla="*/ 44 h 149"/>
                      <a:gd name="T26" fmla="*/ 93 w 931"/>
                      <a:gd name="T27" fmla="*/ 46 h 149"/>
                      <a:gd name="T28" fmla="*/ 101 w 931"/>
                      <a:gd name="T29" fmla="*/ 36 h 149"/>
                      <a:gd name="T30" fmla="*/ 107 w 931"/>
                      <a:gd name="T31" fmla="*/ 38 h 149"/>
                      <a:gd name="T32" fmla="*/ 102 w 931"/>
                      <a:gd name="T33" fmla="*/ 22 h 149"/>
                      <a:gd name="T34" fmla="*/ 107 w 931"/>
                      <a:gd name="T35" fmla="*/ 18 h 149"/>
                      <a:gd name="T36" fmla="*/ 112 w 931"/>
                      <a:gd name="T37" fmla="*/ 36 h 149"/>
                      <a:gd name="T38" fmla="*/ 107 w 931"/>
                      <a:gd name="T39" fmla="*/ 46 h 149"/>
                      <a:gd name="T40" fmla="*/ 119 w 931"/>
                      <a:gd name="T41" fmla="*/ 53 h 149"/>
                      <a:gd name="T42" fmla="*/ 121 w 931"/>
                      <a:gd name="T43" fmla="*/ 38 h 149"/>
                      <a:gd name="T44" fmla="*/ 133 w 931"/>
                      <a:gd name="T45" fmla="*/ 42 h 149"/>
                      <a:gd name="T46" fmla="*/ 154 w 931"/>
                      <a:gd name="T47" fmla="*/ 30 h 149"/>
                      <a:gd name="T48" fmla="*/ 165 w 931"/>
                      <a:gd name="T49" fmla="*/ 20 h 149"/>
                      <a:gd name="T50" fmla="*/ 177 w 931"/>
                      <a:gd name="T51" fmla="*/ 23 h 149"/>
                      <a:gd name="T52" fmla="*/ 183 w 931"/>
                      <a:gd name="T53" fmla="*/ 20 h 149"/>
                      <a:gd name="T54" fmla="*/ 174 w 931"/>
                      <a:gd name="T55" fmla="*/ 18 h 149"/>
                      <a:gd name="T56" fmla="*/ 191 w 931"/>
                      <a:gd name="T57" fmla="*/ 14 h 149"/>
                      <a:gd name="T58" fmla="*/ 219 w 931"/>
                      <a:gd name="T59" fmla="*/ 22 h 149"/>
                      <a:gd name="T60" fmla="*/ 234 w 931"/>
                      <a:gd name="T61" fmla="*/ 17 h 149"/>
                      <a:gd name="T62" fmla="*/ 236 w 931"/>
                      <a:gd name="T63" fmla="*/ 26 h 149"/>
                      <a:gd name="T64" fmla="*/ 229 w 931"/>
                      <a:gd name="T65" fmla="*/ 41 h 149"/>
                      <a:gd name="T66" fmla="*/ 246 w 931"/>
                      <a:gd name="T67" fmla="*/ 36 h 149"/>
                      <a:gd name="T68" fmla="*/ 251 w 931"/>
                      <a:gd name="T69" fmla="*/ 33 h 149"/>
                      <a:gd name="T70" fmla="*/ 261 w 931"/>
                      <a:gd name="T71" fmla="*/ 25 h 149"/>
                      <a:gd name="T72" fmla="*/ 320 w 931"/>
                      <a:gd name="T73" fmla="*/ 34 h 149"/>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0" t="0" r="r" b="b"/>
                    <a:pathLst>
                      <a:path w="931" h="149">
                        <a:moveTo>
                          <a:pt x="794" y="84"/>
                        </a:moveTo>
                        <a:cubicBezTo>
                          <a:pt x="813" y="72"/>
                          <a:pt x="931" y="14"/>
                          <a:pt x="825" y="0"/>
                        </a:cubicBezTo>
                        <a:lnTo>
                          <a:pt x="159" y="0"/>
                        </a:lnTo>
                        <a:cubicBezTo>
                          <a:pt x="149" y="12"/>
                          <a:pt x="162" y="18"/>
                          <a:pt x="143" y="29"/>
                        </a:cubicBezTo>
                        <a:cubicBezTo>
                          <a:pt x="130" y="44"/>
                          <a:pt x="133" y="39"/>
                          <a:pt x="116" y="48"/>
                        </a:cubicBezTo>
                        <a:cubicBezTo>
                          <a:pt x="108" y="46"/>
                          <a:pt x="100" y="44"/>
                          <a:pt x="91" y="42"/>
                        </a:cubicBezTo>
                        <a:cubicBezTo>
                          <a:pt x="89" y="41"/>
                          <a:pt x="83" y="40"/>
                          <a:pt x="83" y="40"/>
                        </a:cubicBezTo>
                        <a:cubicBezTo>
                          <a:pt x="76" y="40"/>
                          <a:pt x="68" y="39"/>
                          <a:pt x="62" y="42"/>
                        </a:cubicBezTo>
                        <a:cubicBezTo>
                          <a:pt x="54" y="45"/>
                          <a:pt x="46" y="61"/>
                          <a:pt x="38" y="67"/>
                        </a:cubicBezTo>
                        <a:cubicBezTo>
                          <a:pt x="32" y="71"/>
                          <a:pt x="27" y="74"/>
                          <a:pt x="22" y="77"/>
                        </a:cubicBezTo>
                        <a:cubicBezTo>
                          <a:pt x="16" y="81"/>
                          <a:pt x="5" y="86"/>
                          <a:pt x="5" y="86"/>
                        </a:cubicBezTo>
                        <a:cubicBezTo>
                          <a:pt x="9" y="95"/>
                          <a:pt x="7" y="97"/>
                          <a:pt x="0" y="105"/>
                        </a:cubicBezTo>
                        <a:cubicBezTo>
                          <a:pt x="17" y="107"/>
                          <a:pt x="22" y="107"/>
                          <a:pt x="16" y="120"/>
                        </a:cubicBezTo>
                        <a:cubicBezTo>
                          <a:pt x="27" y="122"/>
                          <a:pt x="48" y="116"/>
                          <a:pt x="59" y="115"/>
                        </a:cubicBezTo>
                        <a:cubicBezTo>
                          <a:pt x="71" y="112"/>
                          <a:pt x="73" y="117"/>
                          <a:pt x="83" y="111"/>
                        </a:cubicBezTo>
                        <a:cubicBezTo>
                          <a:pt x="89" y="96"/>
                          <a:pt x="83" y="100"/>
                          <a:pt x="97" y="96"/>
                        </a:cubicBezTo>
                        <a:cubicBezTo>
                          <a:pt x="100" y="94"/>
                          <a:pt x="103" y="93"/>
                          <a:pt x="105" y="90"/>
                        </a:cubicBezTo>
                        <a:cubicBezTo>
                          <a:pt x="106" y="88"/>
                          <a:pt x="106" y="85"/>
                          <a:pt x="108" y="84"/>
                        </a:cubicBezTo>
                        <a:cubicBezTo>
                          <a:pt x="112" y="80"/>
                          <a:pt x="140" y="69"/>
                          <a:pt x="148" y="67"/>
                        </a:cubicBezTo>
                        <a:cubicBezTo>
                          <a:pt x="160" y="52"/>
                          <a:pt x="153" y="56"/>
                          <a:pt x="167" y="52"/>
                        </a:cubicBezTo>
                        <a:cubicBezTo>
                          <a:pt x="178" y="55"/>
                          <a:pt x="179" y="62"/>
                          <a:pt x="191" y="58"/>
                        </a:cubicBezTo>
                        <a:cubicBezTo>
                          <a:pt x="199" y="52"/>
                          <a:pt x="206" y="51"/>
                          <a:pt x="215" y="46"/>
                        </a:cubicBezTo>
                        <a:cubicBezTo>
                          <a:pt x="226" y="58"/>
                          <a:pt x="217" y="46"/>
                          <a:pt x="223" y="69"/>
                        </a:cubicBezTo>
                        <a:cubicBezTo>
                          <a:pt x="226" y="79"/>
                          <a:pt x="233" y="85"/>
                          <a:pt x="237" y="94"/>
                        </a:cubicBezTo>
                        <a:cubicBezTo>
                          <a:pt x="227" y="100"/>
                          <a:pt x="229" y="104"/>
                          <a:pt x="218" y="107"/>
                        </a:cubicBezTo>
                        <a:cubicBezTo>
                          <a:pt x="207" y="120"/>
                          <a:pt x="203" y="113"/>
                          <a:pt x="188" y="109"/>
                        </a:cubicBezTo>
                        <a:cubicBezTo>
                          <a:pt x="191" y="117"/>
                          <a:pt x="200" y="127"/>
                          <a:pt x="210" y="132"/>
                        </a:cubicBezTo>
                        <a:cubicBezTo>
                          <a:pt x="218" y="114"/>
                          <a:pt x="211" y="122"/>
                          <a:pt x="231" y="113"/>
                        </a:cubicBezTo>
                        <a:cubicBezTo>
                          <a:pt x="237" y="111"/>
                          <a:pt x="248" y="105"/>
                          <a:pt x="248" y="105"/>
                        </a:cubicBezTo>
                        <a:cubicBezTo>
                          <a:pt x="248" y="100"/>
                          <a:pt x="246" y="94"/>
                          <a:pt x="250" y="90"/>
                        </a:cubicBezTo>
                        <a:cubicBezTo>
                          <a:pt x="253" y="88"/>
                          <a:pt x="254" y="96"/>
                          <a:pt x="258" y="96"/>
                        </a:cubicBezTo>
                        <a:cubicBezTo>
                          <a:pt x="262" y="97"/>
                          <a:pt x="264" y="94"/>
                          <a:pt x="266" y="92"/>
                        </a:cubicBezTo>
                        <a:cubicBezTo>
                          <a:pt x="262" y="82"/>
                          <a:pt x="252" y="77"/>
                          <a:pt x="248" y="67"/>
                        </a:cubicBezTo>
                        <a:cubicBezTo>
                          <a:pt x="250" y="63"/>
                          <a:pt x="255" y="58"/>
                          <a:pt x="253" y="54"/>
                        </a:cubicBezTo>
                        <a:cubicBezTo>
                          <a:pt x="251" y="50"/>
                          <a:pt x="248" y="42"/>
                          <a:pt x="248" y="42"/>
                        </a:cubicBezTo>
                        <a:cubicBezTo>
                          <a:pt x="256" y="32"/>
                          <a:pt x="259" y="35"/>
                          <a:pt x="266" y="44"/>
                        </a:cubicBezTo>
                        <a:cubicBezTo>
                          <a:pt x="270" y="56"/>
                          <a:pt x="276" y="61"/>
                          <a:pt x="285" y="71"/>
                        </a:cubicBezTo>
                        <a:cubicBezTo>
                          <a:pt x="281" y="81"/>
                          <a:pt x="289" y="82"/>
                          <a:pt x="277" y="88"/>
                        </a:cubicBezTo>
                        <a:cubicBezTo>
                          <a:pt x="262" y="106"/>
                          <a:pt x="278" y="83"/>
                          <a:pt x="274" y="101"/>
                        </a:cubicBezTo>
                        <a:cubicBezTo>
                          <a:pt x="274" y="105"/>
                          <a:pt x="268" y="109"/>
                          <a:pt x="266" y="113"/>
                        </a:cubicBezTo>
                        <a:cubicBezTo>
                          <a:pt x="270" y="122"/>
                          <a:pt x="268" y="125"/>
                          <a:pt x="261" y="132"/>
                        </a:cubicBezTo>
                        <a:cubicBezTo>
                          <a:pt x="268" y="149"/>
                          <a:pt x="282" y="134"/>
                          <a:pt x="296" y="130"/>
                        </a:cubicBezTo>
                        <a:cubicBezTo>
                          <a:pt x="299" y="122"/>
                          <a:pt x="295" y="119"/>
                          <a:pt x="299" y="111"/>
                        </a:cubicBezTo>
                        <a:cubicBezTo>
                          <a:pt x="296" y="105"/>
                          <a:pt x="288" y="97"/>
                          <a:pt x="299" y="92"/>
                        </a:cubicBezTo>
                        <a:cubicBezTo>
                          <a:pt x="303" y="90"/>
                          <a:pt x="315" y="88"/>
                          <a:pt x="315" y="88"/>
                        </a:cubicBezTo>
                        <a:cubicBezTo>
                          <a:pt x="326" y="91"/>
                          <a:pt x="325" y="95"/>
                          <a:pt x="331" y="103"/>
                        </a:cubicBezTo>
                        <a:cubicBezTo>
                          <a:pt x="339" y="84"/>
                          <a:pt x="331" y="90"/>
                          <a:pt x="361" y="92"/>
                        </a:cubicBezTo>
                        <a:cubicBezTo>
                          <a:pt x="355" y="76"/>
                          <a:pt x="365" y="76"/>
                          <a:pt x="382" y="73"/>
                        </a:cubicBezTo>
                        <a:cubicBezTo>
                          <a:pt x="383" y="71"/>
                          <a:pt x="387" y="57"/>
                          <a:pt x="393" y="54"/>
                        </a:cubicBezTo>
                        <a:cubicBezTo>
                          <a:pt x="398" y="52"/>
                          <a:pt x="409" y="50"/>
                          <a:pt x="409" y="50"/>
                        </a:cubicBezTo>
                        <a:cubicBezTo>
                          <a:pt x="430" y="54"/>
                          <a:pt x="413" y="58"/>
                          <a:pt x="431" y="63"/>
                        </a:cubicBezTo>
                        <a:cubicBezTo>
                          <a:pt x="433" y="61"/>
                          <a:pt x="435" y="57"/>
                          <a:pt x="439" y="56"/>
                        </a:cubicBezTo>
                        <a:cubicBezTo>
                          <a:pt x="445" y="55"/>
                          <a:pt x="452" y="61"/>
                          <a:pt x="457" y="58"/>
                        </a:cubicBezTo>
                        <a:cubicBezTo>
                          <a:pt x="461" y="57"/>
                          <a:pt x="457" y="52"/>
                          <a:pt x="455" y="50"/>
                        </a:cubicBezTo>
                        <a:cubicBezTo>
                          <a:pt x="451" y="47"/>
                          <a:pt x="444" y="47"/>
                          <a:pt x="439" y="46"/>
                        </a:cubicBezTo>
                        <a:cubicBezTo>
                          <a:pt x="436" y="45"/>
                          <a:pt x="431" y="44"/>
                          <a:pt x="431" y="44"/>
                        </a:cubicBezTo>
                        <a:cubicBezTo>
                          <a:pt x="440" y="38"/>
                          <a:pt x="443" y="36"/>
                          <a:pt x="455" y="40"/>
                        </a:cubicBezTo>
                        <a:cubicBezTo>
                          <a:pt x="461" y="38"/>
                          <a:pt x="467" y="35"/>
                          <a:pt x="474" y="35"/>
                        </a:cubicBezTo>
                        <a:cubicBezTo>
                          <a:pt x="483" y="36"/>
                          <a:pt x="511" y="43"/>
                          <a:pt x="519" y="46"/>
                        </a:cubicBezTo>
                        <a:cubicBezTo>
                          <a:pt x="527" y="49"/>
                          <a:pt x="544" y="54"/>
                          <a:pt x="544" y="54"/>
                        </a:cubicBezTo>
                        <a:cubicBezTo>
                          <a:pt x="548" y="54"/>
                          <a:pt x="560" y="52"/>
                          <a:pt x="565" y="50"/>
                        </a:cubicBezTo>
                        <a:cubicBezTo>
                          <a:pt x="570" y="47"/>
                          <a:pt x="581" y="42"/>
                          <a:pt x="581" y="42"/>
                        </a:cubicBezTo>
                        <a:cubicBezTo>
                          <a:pt x="585" y="42"/>
                          <a:pt x="598" y="44"/>
                          <a:pt x="600" y="48"/>
                        </a:cubicBezTo>
                        <a:cubicBezTo>
                          <a:pt x="603" y="55"/>
                          <a:pt x="589" y="61"/>
                          <a:pt x="584" y="63"/>
                        </a:cubicBezTo>
                        <a:cubicBezTo>
                          <a:pt x="576" y="69"/>
                          <a:pt x="568" y="69"/>
                          <a:pt x="565" y="77"/>
                        </a:cubicBezTo>
                        <a:cubicBezTo>
                          <a:pt x="568" y="86"/>
                          <a:pt x="564" y="92"/>
                          <a:pt x="568" y="101"/>
                        </a:cubicBezTo>
                        <a:cubicBezTo>
                          <a:pt x="574" y="93"/>
                          <a:pt x="577" y="91"/>
                          <a:pt x="589" y="94"/>
                        </a:cubicBezTo>
                        <a:cubicBezTo>
                          <a:pt x="595" y="108"/>
                          <a:pt x="602" y="93"/>
                          <a:pt x="611" y="88"/>
                        </a:cubicBezTo>
                        <a:cubicBezTo>
                          <a:pt x="613" y="86"/>
                          <a:pt x="613" y="83"/>
                          <a:pt x="616" y="82"/>
                        </a:cubicBezTo>
                        <a:cubicBezTo>
                          <a:pt x="618" y="80"/>
                          <a:pt x="622" y="81"/>
                          <a:pt x="624" y="80"/>
                        </a:cubicBezTo>
                        <a:cubicBezTo>
                          <a:pt x="626" y="78"/>
                          <a:pt x="626" y="75"/>
                          <a:pt x="627" y="73"/>
                        </a:cubicBezTo>
                        <a:cubicBezTo>
                          <a:pt x="632" y="65"/>
                          <a:pt x="638" y="63"/>
                          <a:pt x="648" y="61"/>
                        </a:cubicBezTo>
                        <a:cubicBezTo>
                          <a:pt x="664" y="62"/>
                          <a:pt x="684" y="69"/>
                          <a:pt x="700" y="69"/>
                        </a:cubicBezTo>
                        <a:lnTo>
                          <a:pt x="794" y="84"/>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23" name="Freeform 106"/>
                  <p:cNvSpPr>
                    <a:spLocks/>
                  </p:cNvSpPr>
                  <p:nvPr/>
                </p:nvSpPr>
                <p:spPr bwMode="ltGray">
                  <a:xfrm>
                    <a:off x="3981" y="282"/>
                    <a:ext cx="13" cy="10"/>
                  </a:xfrm>
                  <a:custGeom>
                    <a:avLst/>
                    <a:gdLst>
                      <a:gd name="T0" fmla="*/ 0 w 31"/>
                      <a:gd name="T1" fmla="*/ 3 h 30"/>
                      <a:gd name="T2" fmla="*/ 5 w 31"/>
                      <a:gd name="T3" fmla="*/ 0 h 30"/>
                      <a:gd name="T4" fmla="*/ 3 w 31"/>
                      <a:gd name="T5" fmla="*/ 3 h 30"/>
                      <a:gd name="T6" fmla="*/ 0 w 31"/>
                      <a:gd name="T7" fmla="*/ 3 h 3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31" h="30">
                        <a:moveTo>
                          <a:pt x="3" y="28"/>
                        </a:moveTo>
                        <a:cubicBezTo>
                          <a:pt x="8" y="8"/>
                          <a:pt x="12" y="6"/>
                          <a:pt x="31" y="0"/>
                        </a:cubicBezTo>
                        <a:cubicBezTo>
                          <a:pt x="29" y="5"/>
                          <a:pt x="25" y="22"/>
                          <a:pt x="19" y="24"/>
                        </a:cubicBezTo>
                        <a:cubicBezTo>
                          <a:pt x="0" y="30"/>
                          <a:pt x="3" y="9"/>
                          <a:pt x="3" y="2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24" name="Freeform 107"/>
                  <p:cNvSpPr>
                    <a:spLocks/>
                  </p:cNvSpPr>
                  <p:nvPr/>
                </p:nvSpPr>
                <p:spPr bwMode="ltGray">
                  <a:xfrm>
                    <a:off x="3966" y="296"/>
                    <a:ext cx="19" cy="11"/>
                  </a:xfrm>
                  <a:custGeom>
                    <a:avLst/>
                    <a:gdLst>
                      <a:gd name="T0" fmla="*/ 1 w 44"/>
                      <a:gd name="T1" fmla="*/ 4 h 32"/>
                      <a:gd name="T2" fmla="*/ 4 w 44"/>
                      <a:gd name="T3" fmla="*/ 0 h 32"/>
                      <a:gd name="T4" fmla="*/ 7 w 44"/>
                      <a:gd name="T5" fmla="*/ 0 h 32"/>
                      <a:gd name="T6" fmla="*/ 1 w 44"/>
                      <a:gd name="T7" fmla="*/ 4 h 3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44" h="32">
                        <a:moveTo>
                          <a:pt x="6" y="32"/>
                        </a:moveTo>
                        <a:cubicBezTo>
                          <a:pt x="0" y="14"/>
                          <a:pt x="7" y="10"/>
                          <a:pt x="22" y="0"/>
                        </a:cubicBezTo>
                        <a:cubicBezTo>
                          <a:pt x="27" y="1"/>
                          <a:pt x="35" y="0"/>
                          <a:pt x="38" y="4"/>
                        </a:cubicBezTo>
                        <a:cubicBezTo>
                          <a:pt x="44" y="13"/>
                          <a:pt x="16" y="32"/>
                          <a:pt x="6" y="32"/>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25" name="Freeform 108"/>
                  <p:cNvSpPr>
                    <a:spLocks/>
                  </p:cNvSpPr>
                  <p:nvPr/>
                </p:nvSpPr>
                <p:spPr bwMode="ltGray">
                  <a:xfrm>
                    <a:off x="4028" y="337"/>
                    <a:ext cx="32" cy="6"/>
                  </a:xfrm>
                  <a:custGeom>
                    <a:avLst/>
                    <a:gdLst>
                      <a:gd name="T0" fmla="*/ 7 w 76"/>
                      <a:gd name="T1" fmla="*/ 2 h 18"/>
                      <a:gd name="T2" fmla="*/ 5 w 76"/>
                      <a:gd name="T3" fmla="*/ 0 h 18"/>
                      <a:gd name="T4" fmla="*/ 7 w 76"/>
                      <a:gd name="T5" fmla="*/ 2 h 18"/>
                      <a:gd name="T6" fmla="*/ 0 60000 65536"/>
                      <a:gd name="T7" fmla="*/ 0 60000 65536"/>
                      <a:gd name="T8" fmla="*/ 0 60000 65536"/>
                    </a:gdLst>
                    <a:ahLst/>
                    <a:cxnLst>
                      <a:cxn ang="T6">
                        <a:pos x="T0" y="T1"/>
                      </a:cxn>
                      <a:cxn ang="T7">
                        <a:pos x="T2" y="T3"/>
                      </a:cxn>
                      <a:cxn ang="T8">
                        <a:pos x="T4" y="T5"/>
                      </a:cxn>
                    </a:cxnLst>
                    <a:rect l="0" t="0" r="r" b="b"/>
                    <a:pathLst>
                      <a:path w="76" h="18">
                        <a:moveTo>
                          <a:pt x="37" y="18"/>
                        </a:moveTo>
                        <a:cubicBezTo>
                          <a:pt x="25" y="14"/>
                          <a:pt x="0" y="10"/>
                          <a:pt x="25" y="2"/>
                        </a:cubicBezTo>
                        <a:cubicBezTo>
                          <a:pt x="76" y="9"/>
                          <a:pt x="46" y="0"/>
                          <a:pt x="37" y="1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26" name="Freeform 109"/>
                  <p:cNvSpPr>
                    <a:spLocks/>
                  </p:cNvSpPr>
                  <p:nvPr/>
                </p:nvSpPr>
                <p:spPr bwMode="ltGray">
                  <a:xfrm>
                    <a:off x="4083" y="336"/>
                    <a:ext cx="18" cy="15"/>
                  </a:xfrm>
                  <a:custGeom>
                    <a:avLst/>
                    <a:gdLst>
                      <a:gd name="T0" fmla="*/ 0 w 42"/>
                      <a:gd name="T1" fmla="*/ 2 h 44"/>
                      <a:gd name="T2" fmla="*/ 2 w 42"/>
                      <a:gd name="T3" fmla="*/ 1 h 44"/>
                      <a:gd name="T4" fmla="*/ 0 w 42"/>
                      <a:gd name="T5" fmla="*/ 2 h 44"/>
                      <a:gd name="T6" fmla="*/ 0 60000 65536"/>
                      <a:gd name="T7" fmla="*/ 0 60000 65536"/>
                      <a:gd name="T8" fmla="*/ 0 60000 65536"/>
                    </a:gdLst>
                    <a:ahLst/>
                    <a:cxnLst>
                      <a:cxn ang="T6">
                        <a:pos x="T0" y="T1"/>
                      </a:cxn>
                      <a:cxn ang="T7">
                        <a:pos x="T2" y="T3"/>
                      </a:cxn>
                      <a:cxn ang="T8">
                        <a:pos x="T4" y="T5"/>
                      </a:cxn>
                    </a:cxnLst>
                    <a:rect l="0" t="0" r="r" b="b"/>
                    <a:pathLst>
                      <a:path w="42" h="44">
                        <a:moveTo>
                          <a:pt x="0" y="21"/>
                        </a:moveTo>
                        <a:cubicBezTo>
                          <a:pt x="4" y="17"/>
                          <a:pt x="7" y="11"/>
                          <a:pt x="12" y="9"/>
                        </a:cubicBezTo>
                        <a:cubicBezTo>
                          <a:pt x="42" y="0"/>
                          <a:pt x="23" y="44"/>
                          <a:pt x="0" y="21"/>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27" name="Freeform 110"/>
                  <p:cNvSpPr>
                    <a:spLocks/>
                  </p:cNvSpPr>
                  <p:nvPr/>
                </p:nvSpPr>
                <p:spPr bwMode="ltGray">
                  <a:xfrm>
                    <a:off x="3936" y="295"/>
                    <a:ext cx="14" cy="10"/>
                  </a:xfrm>
                  <a:custGeom>
                    <a:avLst/>
                    <a:gdLst>
                      <a:gd name="T0" fmla="*/ 1 w 31"/>
                      <a:gd name="T1" fmla="*/ 2 h 30"/>
                      <a:gd name="T2" fmla="*/ 6 w 31"/>
                      <a:gd name="T3" fmla="*/ 1 h 30"/>
                      <a:gd name="T4" fmla="*/ 1 w 31"/>
                      <a:gd name="T5" fmla="*/ 2 h 30"/>
                      <a:gd name="T6" fmla="*/ 0 60000 65536"/>
                      <a:gd name="T7" fmla="*/ 0 60000 65536"/>
                      <a:gd name="T8" fmla="*/ 0 60000 65536"/>
                    </a:gdLst>
                    <a:ahLst/>
                    <a:cxnLst>
                      <a:cxn ang="T6">
                        <a:pos x="T0" y="T1"/>
                      </a:cxn>
                      <a:cxn ang="T7">
                        <a:pos x="T2" y="T3"/>
                      </a:cxn>
                      <a:cxn ang="T8">
                        <a:pos x="T4" y="T5"/>
                      </a:cxn>
                    </a:cxnLst>
                    <a:rect l="0" t="0" r="r" b="b"/>
                    <a:pathLst>
                      <a:path w="31" h="30">
                        <a:moveTo>
                          <a:pt x="7" y="22"/>
                        </a:moveTo>
                        <a:cubicBezTo>
                          <a:pt x="0" y="0"/>
                          <a:pt x="15" y="6"/>
                          <a:pt x="31" y="10"/>
                        </a:cubicBezTo>
                        <a:cubicBezTo>
                          <a:pt x="14" y="16"/>
                          <a:pt x="15" y="30"/>
                          <a:pt x="7" y="22"/>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grpSp>
          </p:grpSp>
          <p:grpSp>
            <p:nvGrpSpPr>
              <p:cNvPr id="1036" name="Group 111"/>
              <p:cNvGrpSpPr>
                <a:grpSpLocks/>
              </p:cNvGrpSpPr>
              <p:nvPr/>
            </p:nvGrpSpPr>
            <p:grpSpPr bwMode="auto">
              <a:xfrm>
                <a:off x="798" y="111"/>
                <a:ext cx="4702" cy="418"/>
                <a:chOff x="798" y="255"/>
                <a:chExt cx="4702" cy="418"/>
              </a:xfrm>
            </p:grpSpPr>
            <p:sp>
              <p:nvSpPr>
                <p:cNvPr id="1063" name="Line 112"/>
                <p:cNvSpPr>
                  <a:spLocks noChangeShapeType="1"/>
                </p:cNvSpPr>
                <p:nvPr/>
              </p:nvSpPr>
              <p:spPr bwMode="white">
                <a:xfrm>
                  <a:off x="798" y="476"/>
                  <a:ext cx="4702" cy="0"/>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64" name="Line 113"/>
                <p:cNvSpPr>
                  <a:spLocks noChangeShapeType="1"/>
                </p:cNvSpPr>
                <p:nvPr/>
              </p:nvSpPr>
              <p:spPr bwMode="white">
                <a:xfrm>
                  <a:off x="1026" y="255"/>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65" name="Line 114"/>
                <p:cNvSpPr>
                  <a:spLocks noChangeShapeType="1"/>
                </p:cNvSpPr>
                <p:nvPr/>
              </p:nvSpPr>
              <p:spPr bwMode="white">
                <a:xfrm>
                  <a:off x="1254" y="255"/>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66" name="Line 115"/>
                <p:cNvSpPr>
                  <a:spLocks noChangeShapeType="1"/>
                </p:cNvSpPr>
                <p:nvPr/>
              </p:nvSpPr>
              <p:spPr bwMode="white">
                <a:xfrm>
                  <a:off x="1482" y="255"/>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67" name="Line 116"/>
                <p:cNvSpPr>
                  <a:spLocks noChangeShapeType="1"/>
                </p:cNvSpPr>
                <p:nvPr/>
              </p:nvSpPr>
              <p:spPr bwMode="white">
                <a:xfrm>
                  <a:off x="1710" y="255"/>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68" name="Line 117"/>
                <p:cNvSpPr>
                  <a:spLocks noChangeShapeType="1"/>
                </p:cNvSpPr>
                <p:nvPr/>
              </p:nvSpPr>
              <p:spPr bwMode="white">
                <a:xfrm>
                  <a:off x="1938" y="255"/>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69" name="Line 118"/>
                <p:cNvSpPr>
                  <a:spLocks noChangeShapeType="1"/>
                </p:cNvSpPr>
                <p:nvPr/>
              </p:nvSpPr>
              <p:spPr bwMode="white">
                <a:xfrm>
                  <a:off x="2166" y="255"/>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70" name="Line 119"/>
                <p:cNvSpPr>
                  <a:spLocks noChangeShapeType="1"/>
                </p:cNvSpPr>
                <p:nvPr/>
              </p:nvSpPr>
              <p:spPr bwMode="white">
                <a:xfrm>
                  <a:off x="2394" y="255"/>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71" name="Line 120"/>
                <p:cNvSpPr>
                  <a:spLocks noChangeShapeType="1"/>
                </p:cNvSpPr>
                <p:nvPr/>
              </p:nvSpPr>
              <p:spPr bwMode="white">
                <a:xfrm>
                  <a:off x="2622" y="255"/>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72" name="Line 121"/>
                <p:cNvSpPr>
                  <a:spLocks noChangeShapeType="1"/>
                </p:cNvSpPr>
                <p:nvPr/>
              </p:nvSpPr>
              <p:spPr bwMode="white">
                <a:xfrm>
                  <a:off x="2850" y="255"/>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73" name="Line 122"/>
                <p:cNvSpPr>
                  <a:spLocks noChangeShapeType="1"/>
                </p:cNvSpPr>
                <p:nvPr/>
              </p:nvSpPr>
              <p:spPr bwMode="white">
                <a:xfrm>
                  <a:off x="3078" y="255"/>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74" name="Line 123"/>
                <p:cNvSpPr>
                  <a:spLocks noChangeShapeType="1"/>
                </p:cNvSpPr>
                <p:nvPr/>
              </p:nvSpPr>
              <p:spPr bwMode="white">
                <a:xfrm>
                  <a:off x="3306" y="255"/>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75" name="Line 124"/>
                <p:cNvSpPr>
                  <a:spLocks noChangeShapeType="1"/>
                </p:cNvSpPr>
                <p:nvPr/>
              </p:nvSpPr>
              <p:spPr bwMode="white">
                <a:xfrm>
                  <a:off x="3534" y="255"/>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76" name="Line 125"/>
                <p:cNvSpPr>
                  <a:spLocks noChangeShapeType="1"/>
                </p:cNvSpPr>
                <p:nvPr/>
              </p:nvSpPr>
              <p:spPr bwMode="white">
                <a:xfrm>
                  <a:off x="3762" y="255"/>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77" name="Line 126"/>
                <p:cNvSpPr>
                  <a:spLocks noChangeShapeType="1"/>
                </p:cNvSpPr>
                <p:nvPr/>
              </p:nvSpPr>
              <p:spPr bwMode="white">
                <a:xfrm>
                  <a:off x="3990" y="255"/>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78" name="Line 127"/>
                <p:cNvSpPr>
                  <a:spLocks noChangeShapeType="1"/>
                </p:cNvSpPr>
                <p:nvPr/>
              </p:nvSpPr>
              <p:spPr bwMode="white">
                <a:xfrm>
                  <a:off x="4218" y="255"/>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79" name="Line 128"/>
                <p:cNvSpPr>
                  <a:spLocks noChangeShapeType="1"/>
                </p:cNvSpPr>
                <p:nvPr/>
              </p:nvSpPr>
              <p:spPr bwMode="white">
                <a:xfrm>
                  <a:off x="4446" y="255"/>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80" name="Line 129"/>
                <p:cNvSpPr>
                  <a:spLocks noChangeShapeType="1"/>
                </p:cNvSpPr>
                <p:nvPr/>
              </p:nvSpPr>
              <p:spPr bwMode="white">
                <a:xfrm>
                  <a:off x="4674" y="255"/>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81" name="Line 130"/>
                <p:cNvSpPr>
                  <a:spLocks noChangeShapeType="1"/>
                </p:cNvSpPr>
                <p:nvPr/>
              </p:nvSpPr>
              <p:spPr bwMode="white">
                <a:xfrm>
                  <a:off x="4902" y="255"/>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82" name="Line 131"/>
                <p:cNvSpPr>
                  <a:spLocks noChangeShapeType="1"/>
                </p:cNvSpPr>
                <p:nvPr/>
              </p:nvSpPr>
              <p:spPr bwMode="white">
                <a:xfrm>
                  <a:off x="5130" y="255"/>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83" name="Line 132"/>
                <p:cNvSpPr>
                  <a:spLocks noChangeShapeType="1"/>
                </p:cNvSpPr>
                <p:nvPr/>
              </p:nvSpPr>
              <p:spPr bwMode="white">
                <a:xfrm>
                  <a:off x="5358" y="255"/>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1037" name="Group 133"/>
              <p:cNvGrpSpPr>
                <a:grpSpLocks/>
              </p:cNvGrpSpPr>
              <p:nvPr/>
            </p:nvGrpSpPr>
            <p:grpSpPr bwMode="auto">
              <a:xfrm>
                <a:off x="1208" y="109"/>
                <a:ext cx="3694" cy="423"/>
                <a:chOff x="1034" y="245"/>
                <a:chExt cx="3694" cy="423"/>
              </a:xfrm>
            </p:grpSpPr>
            <p:sp>
              <p:nvSpPr>
                <p:cNvPr id="1038" name="Line 134"/>
                <p:cNvSpPr>
                  <a:spLocks noChangeShapeType="1"/>
                </p:cNvSpPr>
                <p:nvPr/>
              </p:nvSpPr>
              <p:spPr bwMode="ltGray">
                <a:xfrm>
                  <a:off x="2676" y="246"/>
                  <a:ext cx="0" cy="142"/>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39" name="Line 135"/>
                <p:cNvSpPr>
                  <a:spLocks noChangeShapeType="1"/>
                </p:cNvSpPr>
                <p:nvPr/>
              </p:nvSpPr>
              <p:spPr bwMode="ltGray">
                <a:xfrm>
                  <a:off x="2798" y="468"/>
                  <a:ext cx="70" cy="0"/>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40" name="Line 136"/>
                <p:cNvSpPr>
                  <a:spLocks noChangeShapeType="1"/>
                </p:cNvSpPr>
                <p:nvPr/>
              </p:nvSpPr>
              <p:spPr bwMode="ltGray">
                <a:xfrm>
                  <a:off x="2904" y="486"/>
                  <a:ext cx="0" cy="28"/>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41" name="Line 137"/>
                <p:cNvSpPr>
                  <a:spLocks noChangeShapeType="1"/>
                </p:cNvSpPr>
                <p:nvPr/>
              </p:nvSpPr>
              <p:spPr bwMode="ltGray">
                <a:xfrm>
                  <a:off x="3132" y="586"/>
                  <a:ext cx="0" cy="79"/>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42" name="Line 138"/>
                <p:cNvSpPr>
                  <a:spLocks noChangeShapeType="1"/>
                </p:cNvSpPr>
                <p:nvPr/>
              </p:nvSpPr>
              <p:spPr bwMode="ltGray">
                <a:xfrm>
                  <a:off x="3816" y="358"/>
                  <a:ext cx="0" cy="180"/>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43" name="Line 139"/>
                <p:cNvSpPr>
                  <a:spLocks noChangeShapeType="1"/>
                </p:cNvSpPr>
                <p:nvPr/>
              </p:nvSpPr>
              <p:spPr bwMode="ltGray">
                <a:xfrm>
                  <a:off x="3722" y="468"/>
                  <a:ext cx="348" cy="0"/>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44" name="Line 140"/>
                <p:cNvSpPr>
                  <a:spLocks noChangeShapeType="1"/>
                </p:cNvSpPr>
                <p:nvPr/>
              </p:nvSpPr>
              <p:spPr bwMode="ltGray">
                <a:xfrm>
                  <a:off x="4044" y="372"/>
                  <a:ext cx="0" cy="294"/>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45" name="Line 141"/>
                <p:cNvSpPr>
                  <a:spLocks noChangeShapeType="1"/>
                </p:cNvSpPr>
                <p:nvPr/>
              </p:nvSpPr>
              <p:spPr bwMode="ltGray">
                <a:xfrm flipV="1">
                  <a:off x="4046" y="248"/>
                  <a:ext cx="0" cy="50"/>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46" name="Line 142"/>
                <p:cNvSpPr>
                  <a:spLocks noChangeShapeType="1"/>
                </p:cNvSpPr>
                <p:nvPr/>
              </p:nvSpPr>
              <p:spPr bwMode="ltGray">
                <a:xfrm flipV="1">
                  <a:off x="4272" y="246"/>
                  <a:ext cx="0" cy="182"/>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47" name="Line 143"/>
                <p:cNvSpPr>
                  <a:spLocks noChangeShapeType="1"/>
                </p:cNvSpPr>
                <p:nvPr/>
              </p:nvSpPr>
              <p:spPr bwMode="ltGray">
                <a:xfrm flipH="1">
                  <a:off x="4422" y="468"/>
                  <a:ext cx="78" cy="0"/>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48" name="Line 144"/>
                <p:cNvSpPr>
                  <a:spLocks noChangeShapeType="1"/>
                </p:cNvSpPr>
                <p:nvPr/>
              </p:nvSpPr>
              <p:spPr bwMode="ltGray">
                <a:xfrm flipH="1">
                  <a:off x="4290" y="468"/>
                  <a:ext cx="62" cy="0"/>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49" name="Line 145"/>
                <p:cNvSpPr>
                  <a:spLocks noChangeShapeType="1"/>
                </p:cNvSpPr>
                <p:nvPr/>
              </p:nvSpPr>
              <p:spPr bwMode="ltGray">
                <a:xfrm flipV="1">
                  <a:off x="4500" y="246"/>
                  <a:ext cx="0" cy="270"/>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50" name="Line 146"/>
                <p:cNvSpPr>
                  <a:spLocks noChangeShapeType="1"/>
                </p:cNvSpPr>
                <p:nvPr/>
              </p:nvSpPr>
              <p:spPr bwMode="ltGray">
                <a:xfrm>
                  <a:off x="4728" y="606"/>
                  <a:ext cx="0" cy="34"/>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51" name="Line 147"/>
                <p:cNvSpPr>
                  <a:spLocks noChangeShapeType="1"/>
                </p:cNvSpPr>
                <p:nvPr/>
              </p:nvSpPr>
              <p:spPr bwMode="ltGray">
                <a:xfrm>
                  <a:off x="1992" y="250"/>
                  <a:ext cx="0" cy="62"/>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52" name="Line 148"/>
                <p:cNvSpPr>
                  <a:spLocks noChangeShapeType="1"/>
                </p:cNvSpPr>
                <p:nvPr/>
              </p:nvSpPr>
              <p:spPr bwMode="ltGray">
                <a:xfrm>
                  <a:off x="1764" y="247"/>
                  <a:ext cx="0" cy="337"/>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53" name="Line 149"/>
                <p:cNvSpPr>
                  <a:spLocks noChangeShapeType="1"/>
                </p:cNvSpPr>
                <p:nvPr/>
              </p:nvSpPr>
              <p:spPr bwMode="ltGray">
                <a:xfrm flipH="1">
                  <a:off x="1738" y="468"/>
                  <a:ext cx="68" cy="0"/>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54" name="Line 150"/>
                <p:cNvSpPr>
                  <a:spLocks noChangeShapeType="1"/>
                </p:cNvSpPr>
                <p:nvPr/>
              </p:nvSpPr>
              <p:spPr bwMode="ltGray">
                <a:xfrm>
                  <a:off x="1604" y="468"/>
                  <a:ext cx="60" cy="0"/>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55" name="Line 151"/>
                <p:cNvSpPr>
                  <a:spLocks noChangeShapeType="1"/>
                </p:cNvSpPr>
                <p:nvPr/>
              </p:nvSpPr>
              <p:spPr bwMode="ltGray">
                <a:xfrm flipH="1">
                  <a:off x="1404" y="468"/>
                  <a:ext cx="82" cy="0"/>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56" name="Line 152"/>
                <p:cNvSpPr>
                  <a:spLocks noChangeShapeType="1"/>
                </p:cNvSpPr>
                <p:nvPr/>
              </p:nvSpPr>
              <p:spPr bwMode="ltGray">
                <a:xfrm>
                  <a:off x="1034" y="468"/>
                  <a:ext cx="348" cy="0"/>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57" name="Line 153"/>
                <p:cNvSpPr>
                  <a:spLocks noChangeShapeType="1"/>
                </p:cNvSpPr>
                <p:nvPr/>
              </p:nvSpPr>
              <p:spPr bwMode="ltGray">
                <a:xfrm>
                  <a:off x="1306" y="370"/>
                  <a:ext cx="0" cy="298"/>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58" name="Line 154"/>
                <p:cNvSpPr>
                  <a:spLocks noChangeShapeType="1"/>
                </p:cNvSpPr>
                <p:nvPr/>
              </p:nvSpPr>
              <p:spPr bwMode="ltGray">
                <a:xfrm>
                  <a:off x="1080" y="388"/>
                  <a:ext cx="0" cy="156"/>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59" name="Line 155"/>
                <p:cNvSpPr>
                  <a:spLocks noChangeShapeType="1"/>
                </p:cNvSpPr>
                <p:nvPr/>
              </p:nvSpPr>
              <p:spPr bwMode="ltGray">
                <a:xfrm flipH="1" flipV="1">
                  <a:off x="1308" y="245"/>
                  <a:ext cx="0" cy="27"/>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60" name="Line 156"/>
                <p:cNvSpPr>
                  <a:spLocks noChangeShapeType="1"/>
                </p:cNvSpPr>
                <p:nvPr/>
              </p:nvSpPr>
              <p:spPr bwMode="ltGray">
                <a:xfrm>
                  <a:off x="1536" y="316"/>
                  <a:ext cx="0" cy="96"/>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61" name="Line 157"/>
                <p:cNvSpPr>
                  <a:spLocks noChangeShapeType="1"/>
                </p:cNvSpPr>
                <p:nvPr/>
              </p:nvSpPr>
              <p:spPr bwMode="ltGray">
                <a:xfrm flipV="1">
                  <a:off x="1536" y="247"/>
                  <a:ext cx="0" cy="22"/>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62" name="Line 158"/>
                <p:cNvSpPr>
                  <a:spLocks noChangeShapeType="1"/>
                </p:cNvSpPr>
                <p:nvPr/>
              </p:nvSpPr>
              <p:spPr bwMode="ltGray">
                <a:xfrm>
                  <a:off x="4095" y="467"/>
                  <a:ext cx="80" cy="0"/>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pic>
          <p:nvPicPr>
            <p:cNvPr id="1033" name="Picture 159" descr="earth"/>
            <p:cNvPicPr>
              <a:picLocks noChangeAspect="1" noChangeArrowheads="1"/>
            </p:cNvPicPr>
            <p:nvPr userDrawn="1"/>
          </p:nvPicPr>
          <p:blipFill>
            <a:blip r:embed="rId13">
              <a:clrChange>
                <a:clrFrom>
                  <a:srgbClr val="000000"/>
                </a:clrFrom>
                <a:clrTo>
                  <a:srgbClr val="000000">
                    <a:alpha val="0"/>
                  </a:srgbClr>
                </a:clrTo>
              </a:clrChange>
              <a:extLst>
                <a:ext uri="{28A0092B-C50C-407E-A947-70E740481C1C}">
                  <a14:useLocalDpi xmlns:a14="http://schemas.microsoft.com/office/drawing/2010/main" val="0"/>
                </a:ext>
              </a:extLst>
            </a:blip>
            <a:srcRect/>
            <a:stretch>
              <a:fillRect/>
            </a:stretch>
          </p:blipFill>
          <p:spPr bwMode="auto">
            <a:xfrm>
              <a:off x="165" y="55"/>
              <a:ext cx="562" cy="5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Tree>
  </p:cSld>
  <p:clrMap bg1="lt1" tx1="dk1" bg2="lt2" tx2="dk2" accent1="accent1" accent2="accent2" accent3="accent3" accent4="accent4" accent5="accent5" accent6="accent6" hlink="hlink" folHlink="folHlink"/>
  <p:sldLayoutIdLst>
    <p:sldLayoutId id="2147483946" r:id="rId1"/>
    <p:sldLayoutId id="2147483947" r:id="rId2"/>
    <p:sldLayoutId id="2147483938" r:id="rId3"/>
    <p:sldLayoutId id="2147483939" r:id="rId4"/>
    <p:sldLayoutId id="2147483940" r:id="rId5"/>
    <p:sldLayoutId id="2147483948" r:id="rId6"/>
    <p:sldLayoutId id="2147483941" r:id="rId7"/>
    <p:sldLayoutId id="2147483942" r:id="rId8"/>
    <p:sldLayoutId id="2147483943" r:id="rId9"/>
    <p:sldLayoutId id="2147483944" r:id="rId10"/>
    <p:sldLayoutId id="2147483945" r:id="rId11"/>
  </p:sldLayoutIdLst>
  <p:hf hdr="0" dt="0"/>
  <p:txStyles>
    <p:titleStyle>
      <a:lvl1pPr algn="l" rtl="0" eaLnBrk="0" fontAlgn="base" hangingPunct="0">
        <a:spcBef>
          <a:spcPct val="0"/>
        </a:spcBef>
        <a:spcAft>
          <a:spcPct val="0"/>
        </a:spcAft>
        <a:defRPr sz="4400" b="1" i="1">
          <a:solidFill>
            <a:schemeClr val="tx2"/>
          </a:solidFill>
          <a:latin typeface="+mj-lt"/>
          <a:ea typeface="+mj-ea"/>
          <a:cs typeface="+mj-cs"/>
        </a:defRPr>
      </a:lvl1pPr>
      <a:lvl2pPr algn="l" rtl="0" eaLnBrk="0" fontAlgn="base" hangingPunct="0">
        <a:spcBef>
          <a:spcPct val="0"/>
        </a:spcBef>
        <a:spcAft>
          <a:spcPct val="0"/>
        </a:spcAft>
        <a:defRPr sz="4400" b="1" i="1">
          <a:solidFill>
            <a:schemeClr val="tx2"/>
          </a:solidFill>
          <a:latin typeface="Times New Roman" pitchFamily="18" charset="0"/>
        </a:defRPr>
      </a:lvl2pPr>
      <a:lvl3pPr algn="l" rtl="0" eaLnBrk="0" fontAlgn="base" hangingPunct="0">
        <a:spcBef>
          <a:spcPct val="0"/>
        </a:spcBef>
        <a:spcAft>
          <a:spcPct val="0"/>
        </a:spcAft>
        <a:defRPr sz="4400" b="1" i="1">
          <a:solidFill>
            <a:schemeClr val="tx2"/>
          </a:solidFill>
          <a:latin typeface="Times New Roman" pitchFamily="18" charset="0"/>
        </a:defRPr>
      </a:lvl3pPr>
      <a:lvl4pPr algn="l" rtl="0" eaLnBrk="0" fontAlgn="base" hangingPunct="0">
        <a:spcBef>
          <a:spcPct val="0"/>
        </a:spcBef>
        <a:spcAft>
          <a:spcPct val="0"/>
        </a:spcAft>
        <a:defRPr sz="4400" b="1" i="1">
          <a:solidFill>
            <a:schemeClr val="tx2"/>
          </a:solidFill>
          <a:latin typeface="Times New Roman" pitchFamily="18" charset="0"/>
        </a:defRPr>
      </a:lvl4pPr>
      <a:lvl5pPr algn="l" rtl="0" eaLnBrk="0" fontAlgn="base" hangingPunct="0">
        <a:spcBef>
          <a:spcPct val="0"/>
        </a:spcBef>
        <a:spcAft>
          <a:spcPct val="0"/>
        </a:spcAft>
        <a:defRPr sz="4400" b="1" i="1">
          <a:solidFill>
            <a:schemeClr val="tx2"/>
          </a:solidFill>
          <a:latin typeface="Times New Roman" pitchFamily="18" charset="0"/>
        </a:defRPr>
      </a:lvl5pPr>
      <a:lvl6pPr marL="457200" algn="l" rtl="0" eaLnBrk="1" fontAlgn="base" hangingPunct="1">
        <a:spcBef>
          <a:spcPct val="0"/>
        </a:spcBef>
        <a:spcAft>
          <a:spcPct val="0"/>
        </a:spcAft>
        <a:defRPr sz="4400" i="1">
          <a:solidFill>
            <a:schemeClr val="tx2"/>
          </a:solidFill>
          <a:latin typeface="Times New Roman" pitchFamily="18" charset="0"/>
        </a:defRPr>
      </a:lvl6pPr>
      <a:lvl7pPr marL="914400" algn="l" rtl="0" eaLnBrk="1" fontAlgn="base" hangingPunct="1">
        <a:spcBef>
          <a:spcPct val="0"/>
        </a:spcBef>
        <a:spcAft>
          <a:spcPct val="0"/>
        </a:spcAft>
        <a:defRPr sz="4400" i="1">
          <a:solidFill>
            <a:schemeClr val="tx2"/>
          </a:solidFill>
          <a:latin typeface="Times New Roman" pitchFamily="18" charset="0"/>
        </a:defRPr>
      </a:lvl7pPr>
      <a:lvl8pPr marL="1371600" algn="l" rtl="0" eaLnBrk="1" fontAlgn="base" hangingPunct="1">
        <a:spcBef>
          <a:spcPct val="0"/>
        </a:spcBef>
        <a:spcAft>
          <a:spcPct val="0"/>
        </a:spcAft>
        <a:defRPr sz="4400" i="1">
          <a:solidFill>
            <a:schemeClr val="tx2"/>
          </a:solidFill>
          <a:latin typeface="Times New Roman" pitchFamily="18" charset="0"/>
        </a:defRPr>
      </a:lvl8pPr>
      <a:lvl9pPr marL="1828800" algn="l" rtl="0" eaLnBrk="1" fontAlgn="base" hangingPunct="1">
        <a:spcBef>
          <a:spcPct val="0"/>
        </a:spcBef>
        <a:spcAft>
          <a:spcPct val="0"/>
        </a:spcAft>
        <a:defRPr sz="4400" i="1">
          <a:solidFill>
            <a:schemeClr val="tx2"/>
          </a:solidFill>
          <a:latin typeface="Times New Roman" pitchFamily="18" charset="0"/>
        </a:defRPr>
      </a:lvl9pPr>
    </p:titleStyle>
    <p:bodyStyle>
      <a:lvl1pPr marL="342900" indent="-342900" algn="l" rtl="0" eaLnBrk="0" fontAlgn="base" hangingPunct="0">
        <a:spcBef>
          <a:spcPct val="20000"/>
        </a:spcBef>
        <a:spcAft>
          <a:spcPct val="0"/>
        </a:spcAft>
        <a:buBlip>
          <a:blip r:embed="rId14"/>
        </a:buBlip>
        <a:defRPr sz="3200">
          <a:solidFill>
            <a:schemeClr val="tx1"/>
          </a:solidFill>
          <a:latin typeface="+mn-lt"/>
          <a:ea typeface="+mn-ea"/>
          <a:cs typeface="+mn-cs"/>
        </a:defRPr>
      </a:lvl1pPr>
      <a:lvl2pPr marL="742950" indent="-285750" algn="l" rtl="0" eaLnBrk="0" fontAlgn="base" hangingPunct="0">
        <a:spcBef>
          <a:spcPct val="20000"/>
        </a:spcBef>
        <a:spcAft>
          <a:spcPct val="0"/>
        </a:spcAft>
        <a:buSzPct val="75000"/>
        <a:buBlip>
          <a:blip r:embed="rId15"/>
        </a:buBlip>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lr>
          <a:schemeClr val="tx2"/>
        </a:buClr>
        <a:buChar char="–"/>
        <a:defRPr sz="2000">
          <a:solidFill>
            <a:schemeClr val="tx1"/>
          </a:solidFill>
          <a:latin typeface="+mn-lt"/>
        </a:defRPr>
      </a:lvl5pPr>
      <a:lvl6pPr marL="2514600" indent="-228600" algn="l" rtl="0" eaLnBrk="1" fontAlgn="base" hangingPunct="1">
        <a:spcBef>
          <a:spcPct val="20000"/>
        </a:spcBef>
        <a:spcAft>
          <a:spcPct val="0"/>
        </a:spcAft>
        <a:buClr>
          <a:schemeClr val="tx2"/>
        </a:buClr>
        <a:buChar char="–"/>
        <a:defRPr sz="2000">
          <a:solidFill>
            <a:schemeClr val="tx1"/>
          </a:solidFill>
          <a:latin typeface="+mn-lt"/>
        </a:defRPr>
      </a:lvl6pPr>
      <a:lvl7pPr marL="2971800" indent="-228600" algn="l" rtl="0" eaLnBrk="1" fontAlgn="base" hangingPunct="1">
        <a:spcBef>
          <a:spcPct val="20000"/>
        </a:spcBef>
        <a:spcAft>
          <a:spcPct val="0"/>
        </a:spcAft>
        <a:buClr>
          <a:schemeClr val="tx2"/>
        </a:buClr>
        <a:buChar char="–"/>
        <a:defRPr sz="2000">
          <a:solidFill>
            <a:schemeClr val="tx1"/>
          </a:solidFill>
          <a:latin typeface="+mn-lt"/>
        </a:defRPr>
      </a:lvl7pPr>
      <a:lvl8pPr marL="3429000" indent="-228600" algn="l" rtl="0" eaLnBrk="1" fontAlgn="base" hangingPunct="1">
        <a:spcBef>
          <a:spcPct val="20000"/>
        </a:spcBef>
        <a:spcAft>
          <a:spcPct val="0"/>
        </a:spcAft>
        <a:buClr>
          <a:schemeClr val="tx2"/>
        </a:buClr>
        <a:buChar char="–"/>
        <a:defRPr sz="2000">
          <a:solidFill>
            <a:schemeClr val="tx1"/>
          </a:solidFill>
          <a:latin typeface="+mn-lt"/>
        </a:defRPr>
      </a:lvl8pPr>
      <a:lvl9pPr marL="3886200" indent="-228600" algn="l" rtl="0" eaLnBrk="1" fontAlgn="base" hangingPunct="1">
        <a:spcBef>
          <a:spcPct val="20000"/>
        </a:spcBef>
        <a:spcAft>
          <a:spcPct val="0"/>
        </a:spcAft>
        <a:buClr>
          <a:schemeClr val="tx2"/>
        </a:buClr>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6.xml"/><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7" Type="http://schemas.openxmlformats.org/officeDocument/2006/relationships/image" Target="../media/image4.wmf"/><Relationship Id="rId2" Type="http://schemas.openxmlformats.org/officeDocument/2006/relationships/slideLayout" Target="../slideLayouts/slideLayout2.xml"/><Relationship Id="rId1" Type="http://schemas.openxmlformats.org/officeDocument/2006/relationships/vmlDrawing" Target="../drawings/vmlDrawing1.vml"/><Relationship Id="rId6" Type="http://schemas.openxmlformats.org/officeDocument/2006/relationships/oleObject" Target="../embeddings/oleObject1.bin"/><Relationship Id="rId5" Type="http://schemas.openxmlformats.org/officeDocument/2006/relationships/image" Target="../media/image3.png"/><Relationship Id="rId4" Type="http://schemas.openxmlformats.org/officeDocument/2006/relationships/image" Target="../media/image2.png"/></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0.xml"/><Relationship Id="rId7" Type="http://schemas.openxmlformats.org/officeDocument/2006/relationships/image" Target="../media/image5.wmf"/><Relationship Id="rId2" Type="http://schemas.openxmlformats.org/officeDocument/2006/relationships/slideLayout" Target="../slideLayouts/slideLayout2.xml"/><Relationship Id="rId1" Type="http://schemas.openxmlformats.org/officeDocument/2006/relationships/vmlDrawing" Target="../drawings/vmlDrawing2.vml"/><Relationship Id="rId6" Type="http://schemas.openxmlformats.org/officeDocument/2006/relationships/oleObject" Target="../embeddings/oleObject2.bin"/><Relationship Id="rId5" Type="http://schemas.openxmlformats.org/officeDocument/2006/relationships/image" Target="../media/image3.png"/><Relationship Id="rId4" Type="http://schemas.openxmlformats.org/officeDocument/2006/relationships/image" Target="../media/image2.png"/></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1.xml"/><Relationship Id="rId7" Type="http://schemas.openxmlformats.org/officeDocument/2006/relationships/image" Target="../media/image6.wmf"/><Relationship Id="rId2" Type="http://schemas.openxmlformats.org/officeDocument/2006/relationships/slideLayout" Target="../slideLayouts/slideLayout2.xml"/><Relationship Id="rId1" Type="http://schemas.openxmlformats.org/officeDocument/2006/relationships/vmlDrawing" Target="../drawings/vmlDrawing3.vml"/><Relationship Id="rId6" Type="http://schemas.openxmlformats.org/officeDocument/2006/relationships/oleObject" Target="../embeddings/oleObject3.bin"/><Relationship Id="rId5" Type="http://schemas.openxmlformats.org/officeDocument/2006/relationships/image" Target="../media/image3.png"/><Relationship Id="rId4" Type="http://schemas.openxmlformats.org/officeDocument/2006/relationships/image" Target="../media/image2.png"/></Relationships>
</file>

<file path=ppt/slides/_rels/slide13.xml.rels><?xml version="1.0" encoding="UTF-8" standalone="yes"?>
<Relationships xmlns="http://schemas.openxmlformats.org/package/2006/relationships"><Relationship Id="rId8" Type="http://schemas.openxmlformats.org/officeDocument/2006/relationships/oleObject" Target="../embeddings/oleObject5.bin"/><Relationship Id="rId3" Type="http://schemas.openxmlformats.org/officeDocument/2006/relationships/image" Target="../media/image11.png"/><Relationship Id="rId7" Type="http://schemas.openxmlformats.org/officeDocument/2006/relationships/image" Target="../media/image7.wmf"/><Relationship Id="rId2" Type="http://schemas.openxmlformats.org/officeDocument/2006/relationships/slideLayout" Target="../slideLayouts/slideLayout2.xml"/><Relationship Id="rId1" Type="http://schemas.openxmlformats.org/officeDocument/2006/relationships/vmlDrawing" Target="../drawings/vmlDrawing4.vml"/><Relationship Id="rId6" Type="http://schemas.openxmlformats.org/officeDocument/2006/relationships/oleObject" Target="../embeddings/oleObject4.bin"/><Relationship Id="rId11" Type="http://schemas.openxmlformats.org/officeDocument/2006/relationships/image" Target="../media/image9.wmf"/><Relationship Id="rId5" Type="http://schemas.openxmlformats.org/officeDocument/2006/relationships/image" Target="../media/image3.png"/><Relationship Id="rId10" Type="http://schemas.openxmlformats.org/officeDocument/2006/relationships/oleObject" Target="../embeddings/oleObject6.bin"/><Relationship Id="rId4" Type="http://schemas.openxmlformats.org/officeDocument/2006/relationships/image" Target="../media/image2.png"/><Relationship Id="rId9" Type="http://schemas.openxmlformats.org/officeDocument/2006/relationships/image" Target="../media/image8.wmf"/></Relationships>
</file>

<file path=ppt/slides/_rels/slide1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2.xml"/><Relationship Id="rId7" Type="http://schemas.openxmlformats.org/officeDocument/2006/relationships/image" Target="../media/image10.wmf"/><Relationship Id="rId2" Type="http://schemas.openxmlformats.org/officeDocument/2006/relationships/slideLayout" Target="../slideLayouts/slideLayout2.xml"/><Relationship Id="rId1" Type="http://schemas.openxmlformats.org/officeDocument/2006/relationships/vmlDrawing" Target="../drawings/vmlDrawing5.vml"/><Relationship Id="rId6" Type="http://schemas.openxmlformats.org/officeDocument/2006/relationships/oleObject" Target="../embeddings/oleObject7.bin"/><Relationship Id="rId5" Type="http://schemas.openxmlformats.org/officeDocument/2006/relationships/image" Target="../media/image3.png"/><Relationship Id="rId4" Type="http://schemas.openxmlformats.org/officeDocument/2006/relationships/image" Target="../media/image2.png"/></Relationships>
</file>

<file path=ppt/slides/_rels/slide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2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2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828800" y="2971800"/>
            <a:ext cx="6934200" cy="1219200"/>
          </a:xfrm>
        </p:spPr>
        <p:txBody>
          <a:bodyPr/>
          <a:lstStyle/>
          <a:p>
            <a:pPr eaLnBrk="1" fontAlgn="auto" hangingPunct="1">
              <a:spcAft>
                <a:spcPts val="0"/>
              </a:spcAft>
              <a:defRPr/>
            </a:pPr>
            <a:r>
              <a:rPr lang="en-US" dirty="0" smtClean="0">
                <a:solidFill>
                  <a:schemeClr val="tx2">
                    <a:satMod val="130000"/>
                  </a:schemeClr>
                </a:solidFill>
              </a:rPr>
              <a:t>Chapter 3</a:t>
            </a:r>
            <a:br>
              <a:rPr lang="en-US" dirty="0" smtClean="0">
                <a:solidFill>
                  <a:schemeClr val="tx2">
                    <a:satMod val="130000"/>
                  </a:schemeClr>
                </a:solidFill>
              </a:rPr>
            </a:br>
            <a:r>
              <a:rPr lang="en-CA" dirty="0" smtClean="0">
                <a:solidFill>
                  <a:schemeClr val="tx2">
                    <a:satMod val="130000"/>
                  </a:schemeClr>
                </a:solidFill>
              </a:rPr>
              <a:t>Hedging Strategies Using Futures</a:t>
            </a:r>
            <a:endParaRPr lang="en-US" dirty="0">
              <a:solidFill>
                <a:schemeClr val="tx2">
                  <a:satMod val="130000"/>
                </a:schemeClr>
              </a:solidFill>
            </a:endParaRPr>
          </a:p>
        </p:txBody>
      </p:sp>
      <p:sp>
        <p:nvSpPr>
          <p:cNvPr id="5123" name="Footer Placeholder 6"/>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Blip>
                <a:blip r:embed="rId3"/>
              </a:buBlip>
              <a:defRPr sz="3200">
                <a:solidFill>
                  <a:schemeClr val="tx1"/>
                </a:solidFill>
                <a:latin typeface="Tahoma" panose="020B0604030504040204" pitchFamily="34" charset="0"/>
              </a:defRPr>
            </a:lvl1pPr>
            <a:lvl2pPr marL="742950" indent="-285750" eaLnBrk="0" hangingPunct="0">
              <a:spcBef>
                <a:spcPct val="20000"/>
              </a:spcBef>
              <a:buSzPct val="75000"/>
              <a:buBlip>
                <a:blip r:embed="rId4"/>
              </a:buBlip>
              <a:defRPr sz="2800">
                <a:solidFill>
                  <a:schemeClr val="tx1"/>
                </a:solidFill>
                <a:latin typeface="Tahoma" panose="020B0604030504040204" pitchFamily="34" charset="0"/>
              </a:defRPr>
            </a:lvl2pPr>
            <a:lvl3pPr marL="1143000" indent="-228600" eaLnBrk="0" hangingPunct="0">
              <a:spcBef>
                <a:spcPct val="20000"/>
              </a:spcBef>
              <a:buChar char="•"/>
              <a:defRPr sz="2400">
                <a:solidFill>
                  <a:schemeClr val="tx1"/>
                </a:solidFill>
                <a:latin typeface="Tahoma" panose="020B0604030504040204" pitchFamily="34" charset="0"/>
              </a:defRPr>
            </a:lvl3pPr>
            <a:lvl4pPr marL="1600200" indent="-228600" eaLnBrk="0" hangingPunct="0">
              <a:spcBef>
                <a:spcPct val="20000"/>
              </a:spcBef>
              <a:buChar char="–"/>
              <a:defRPr sz="2000">
                <a:solidFill>
                  <a:schemeClr val="tx1"/>
                </a:solidFill>
                <a:latin typeface="Tahoma" panose="020B0604030504040204" pitchFamily="34" charset="0"/>
              </a:defRPr>
            </a:lvl4pPr>
            <a:lvl5pPr marL="2057400" indent="-228600" eaLnBrk="0" hangingPunct="0">
              <a:spcBef>
                <a:spcPct val="20000"/>
              </a:spcBef>
              <a:buClr>
                <a:schemeClr val="tx2"/>
              </a:buClr>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9pPr>
          </a:lstStyle>
          <a:p>
            <a:pPr eaLnBrk="1" hangingPunct="1">
              <a:spcBef>
                <a:spcPct val="0"/>
              </a:spcBef>
              <a:buFontTx/>
              <a:buNone/>
            </a:pPr>
            <a:r>
              <a:rPr lang="en-US" altLang="en-US" sz="1400" smtClean="0">
                <a:latin typeface="Arial" panose="020B0604020202020204" pitchFamily="34" charset="0"/>
              </a:rPr>
              <a:t>Options, Futures, and Other Derivatives, 11th Edition,    Copyright © John C. Hull 2021</a:t>
            </a:r>
          </a:p>
        </p:txBody>
      </p:sp>
      <p:sp>
        <p:nvSpPr>
          <p:cNvPr id="5124"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Blip>
                <a:blip r:embed="rId3"/>
              </a:buBlip>
              <a:defRPr sz="3200">
                <a:solidFill>
                  <a:schemeClr val="tx1"/>
                </a:solidFill>
                <a:latin typeface="Tahoma" panose="020B0604030504040204" pitchFamily="34" charset="0"/>
              </a:defRPr>
            </a:lvl1pPr>
            <a:lvl2pPr marL="742950" indent="-285750" eaLnBrk="0" hangingPunct="0">
              <a:spcBef>
                <a:spcPct val="20000"/>
              </a:spcBef>
              <a:buSzPct val="75000"/>
              <a:buBlip>
                <a:blip r:embed="rId4"/>
              </a:buBlip>
              <a:defRPr sz="2800">
                <a:solidFill>
                  <a:schemeClr val="tx1"/>
                </a:solidFill>
                <a:latin typeface="Tahoma" panose="020B0604030504040204" pitchFamily="34" charset="0"/>
              </a:defRPr>
            </a:lvl2pPr>
            <a:lvl3pPr marL="1143000" indent="-228600" eaLnBrk="0" hangingPunct="0">
              <a:spcBef>
                <a:spcPct val="20000"/>
              </a:spcBef>
              <a:buChar char="•"/>
              <a:defRPr sz="2400">
                <a:solidFill>
                  <a:schemeClr val="tx1"/>
                </a:solidFill>
                <a:latin typeface="Tahoma" panose="020B0604030504040204" pitchFamily="34" charset="0"/>
              </a:defRPr>
            </a:lvl3pPr>
            <a:lvl4pPr marL="1600200" indent="-228600" eaLnBrk="0" hangingPunct="0">
              <a:spcBef>
                <a:spcPct val="20000"/>
              </a:spcBef>
              <a:buChar char="–"/>
              <a:defRPr sz="2000">
                <a:solidFill>
                  <a:schemeClr val="tx1"/>
                </a:solidFill>
                <a:latin typeface="Tahoma" panose="020B0604030504040204" pitchFamily="34" charset="0"/>
              </a:defRPr>
            </a:lvl4pPr>
            <a:lvl5pPr marL="2057400" indent="-228600" eaLnBrk="0" hangingPunct="0">
              <a:spcBef>
                <a:spcPct val="20000"/>
              </a:spcBef>
              <a:buClr>
                <a:schemeClr val="tx2"/>
              </a:buClr>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9pPr>
          </a:lstStyle>
          <a:p>
            <a:pPr eaLnBrk="1" hangingPunct="1">
              <a:spcBef>
                <a:spcPct val="0"/>
              </a:spcBef>
              <a:buFontTx/>
              <a:buNone/>
            </a:pPr>
            <a:fld id="{DC6EA366-E6C2-4420-9FFE-BDFE7962DA37}" type="slidenum">
              <a:rPr lang="en-US" altLang="en-US" sz="1400">
                <a:latin typeface="Arial" panose="020B0604020202020204" pitchFamily="34" charset="0"/>
              </a:rPr>
              <a:pPr eaLnBrk="1" hangingPunct="1">
                <a:spcBef>
                  <a:spcPct val="0"/>
                </a:spcBef>
                <a:buFontTx/>
                <a:buNone/>
              </a:pPr>
              <a:t>1</a:t>
            </a:fld>
            <a:endParaRPr lang="en-US" altLang="en-US" sz="1400">
              <a:latin typeface="Arial" panose="020B0604020202020204" pitchFamily="34" charset="0"/>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p:txBody>
          <a:bodyPr lIns="90488" tIns="44450" rIns="90488" bIns="44450"/>
          <a:lstStyle/>
          <a:p>
            <a:pPr eaLnBrk="1" hangingPunct="1"/>
            <a:r>
              <a:rPr lang="en-US" altLang="en-US" smtClean="0"/>
              <a:t>Long &amp; Short Hedges</a:t>
            </a:r>
            <a:br>
              <a:rPr lang="en-US" altLang="en-US" smtClean="0"/>
            </a:br>
            <a:endParaRPr lang="en-US" altLang="en-US" smtClean="0"/>
          </a:p>
        </p:txBody>
      </p:sp>
      <p:sp>
        <p:nvSpPr>
          <p:cNvPr id="6147" name="Rectangle 3"/>
          <p:cNvSpPr>
            <a:spLocks noGrp="1" noChangeArrowheads="1"/>
          </p:cNvSpPr>
          <p:nvPr>
            <p:ph idx="1"/>
          </p:nvPr>
        </p:nvSpPr>
        <p:spPr>
          <a:xfrm>
            <a:off x="1447800" y="1828800"/>
            <a:ext cx="7102475" cy="4302125"/>
          </a:xfrm>
        </p:spPr>
        <p:txBody>
          <a:bodyPr lIns="90488" tIns="44450" rIns="90488" bIns="44450"/>
          <a:lstStyle/>
          <a:p>
            <a:pPr eaLnBrk="1" hangingPunct="1"/>
            <a:r>
              <a:rPr lang="en-US" altLang="en-US" smtClean="0"/>
              <a:t>A long futures hedge is appropriate when you know you will purchase an asset in the future and want to lock in the price</a:t>
            </a:r>
          </a:p>
          <a:p>
            <a:pPr eaLnBrk="1" hangingPunct="1"/>
            <a:r>
              <a:rPr lang="en-US" altLang="en-US" smtClean="0"/>
              <a:t>A short futures hedge is appropriate when you know you will sell an asset in the future and want to lock in the price</a:t>
            </a:r>
          </a:p>
        </p:txBody>
      </p:sp>
      <p:sp>
        <p:nvSpPr>
          <p:cNvPr id="6148" name="Footer Placeholder 5"/>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Blip>
                <a:blip r:embed="rId3"/>
              </a:buBlip>
              <a:defRPr sz="3200">
                <a:solidFill>
                  <a:schemeClr val="tx1"/>
                </a:solidFill>
                <a:latin typeface="Tahoma" panose="020B0604030504040204" pitchFamily="34" charset="0"/>
              </a:defRPr>
            </a:lvl1pPr>
            <a:lvl2pPr marL="742950" indent="-285750" eaLnBrk="0" hangingPunct="0">
              <a:spcBef>
                <a:spcPct val="20000"/>
              </a:spcBef>
              <a:buSzPct val="75000"/>
              <a:buBlip>
                <a:blip r:embed="rId4"/>
              </a:buBlip>
              <a:defRPr sz="2800">
                <a:solidFill>
                  <a:schemeClr val="tx1"/>
                </a:solidFill>
                <a:latin typeface="Tahoma" panose="020B0604030504040204" pitchFamily="34" charset="0"/>
              </a:defRPr>
            </a:lvl2pPr>
            <a:lvl3pPr marL="1143000" indent="-228600" eaLnBrk="0" hangingPunct="0">
              <a:spcBef>
                <a:spcPct val="20000"/>
              </a:spcBef>
              <a:buChar char="•"/>
              <a:defRPr sz="2400">
                <a:solidFill>
                  <a:schemeClr val="tx1"/>
                </a:solidFill>
                <a:latin typeface="Tahoma" panose="020B0604030504040204" pitchFamily="34" charset="0"/>
              </a:defRPr>
            </a:lvl3pPr>
            <a:lvl4pPr marL="1600200" indent="-228600" eaLnBrk="0" hangingPunct="0">
              <a:spcBef>
                <a:spcPct val="20000"/>
              </a:spcBef>
              <a:buChar char="–"/>
              <a:defRPr sz="2000">
                <a:solidFill>
                  <a:schemeClr val="tx1"/>
                </a:solidFill>
                <a:latin typeface="Tahoma" panose="020B0604030504040204" pitchFamily="34" charset="0"/>
              </a:defRPr>
            </a:lvl4pPr>
            <a:lvl5pPr marL="2057400" indent="-228600" eaLnBrk="0" hangingPunct="0">
              <a:spcBef>
                <a:spcPct val="20000"/>
              </a:spcBef>
              <a:buClr>
                <a:schemeClr val="tx2"/>
              </a:buClr>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9pPr>
          </a:lstStyle>
          <a:p>
            <a:pPr eaLnBrk="1" hangingPunct="1">
              <a:spcBef>
                <a:spcPct val="0"/>
              </a:spcBef>
              <a:buFontTx/>
              <a:buNone/>
            </a:pPr>
            <a:r>
              <a:rPr lang="en-US" altLang="en-US" sz="1400" smtClean="0">
                <a:latin typeface="Arial" panose="020B0604020202020204" pitchFamily="34" charset="0"/>
              </a:rPr>
              <a:t>Options, Futures, and Other Derivatives, 11th Edition,    Copyright © John C. Hull 2021</a:t>
            </a:r>
          </a:p>
        </p:txBody>
      </p:sp>
      <p:sp>
        <p:nvSpPr>
          <p:cNvPr id="6149"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Blip>
                <a:blip r:embed="rId3"/>
              </a:buBlip>
              <a:defRPr sz="3200">
                <a:solidFill>
                  <a:schemeClr val="tx1"/>
                </a:solidFill>
                <a:latin typeface="Tahoma" panose="020B0604030504040204" pitchFamily="34" charset="0"/>
              </a:defRPr>
            </a:lvl1pPr>
            <a:lvl2pPr marL="742950" indent="-285750" eaLnBrk="0" hangingPunct="0">
              <a:spcBef>
                <a:spcPct val="20000"/>
              </a:spcBef>
              <a:buSzPct val="75000"/>
              <a:buBlip>
                <a:blip r:embed="rId4"/>
              </a:buBlip>
              <a:defRPr sz="2800">
                <a:solidFill>
                  <a:schemeClr val="tx1"/>
                </a:solidFill>
                <a:latin typeface="Tahoma" panose="020B0604030504040204" pitchFamily="34" charset="0"/>
              </a:defRPr>
            </a:lvl2pPr>
            <a:lvl3pPr marL="1143000" indent="-228600" eaLnBrk="0" hangingPunct="0">
              <a:spcBef>
                <a:spcPct val="20000"/>
              </a:spcBef>
              <a:buChar char="•"/>
              <a:defRPr sz="2400">
                <a:solidFill>
                  <a:schemeClr val="tx1"/>
                </a:solidFill>
                <a:latin typeface="Tahoma" panose="020B0604030504040204" pitchFamily="34" charset="0"/>
              </a:defRPr>
            </a:lvl3pPr>
            <a:lvl4pPr marL="1600200" indent="-228600" eaLnBrk="0" hangingPunct="0">
              <a:spcBef>
                <a:spcPct val="20000"/>
              </a:spcBef>
              <a:buChar char="–"/>
              <a:defRPr sz="2000">
                <a:solidFill>
                  <a:schemeClr val="tx1"/>
                </a:solidFill>
                <a:latin typeface="Tahoma" panose="020B0604030504040204" pitchFamily="34" charset="0"/>
              </a:defRPr>
            </a:lvl4pPr>
            <a:lvl5pPr marL="2057400" indent="-228600" eaLnBrk="0" hangingPunct="0">
              <a:spcBef>
                <a:spcPct val="20000"/>
              </a:spcBef>
              <a:buClr>
                <a:schemeClr val="tx2"/>
              </a:buClr>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9pPr>
          </a:lstStyle>
          <a:p>
            <a:pPr eaLnBrk="1" hangingPunct="1">
              <a:spcBef>
                <a:spcPct val="0"/>
              </a:spcBef>
              <a:buFontTx/>
              <a:buNone/>
            </a:pPr>
            <a:fld id="{0B93FE32-F4EA-44C3-91C2-FC0A0F981514}" type="slidenum">
              <a:rPr lang="en-US" altLang="en-US" sz="1400">
                <a:latin typeface="Arial" panose="020B0604020202020204" pitchFamily="34" charset="0"/>
              </a:rPr>
              <a:pPr eaLnBrk="1" hangingPunct="1">
                <a:spcBef>
                  <a:spcPct val="0"/>
                </a:spcBef>
                <a:buFontTx/>
                <a:buNone/>
              </a:pPr>
              <a:t>2</a:t>
            </a:fld>
            <a:endParaRPr lang="en-US" altLang="en-US" sz="1400">
              <a:latin typeface="Arial" panose="020B0604020202020204" pitchFamily="34" charset="0"/>
            </a:endParaRPr>
          </a:p>
        </p:txBody>
      </p:sp>
    </p:spTree>
  </p:cSld>
  <p:clrMapOvr>
    <a:masterClrMapping/>
  </p:clrMapOvr>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p:txBody>
          <a:bodyPr lIns="90488" tIns="44450" rIns="90488" bIns="44450"/>
          <a:lstStyle/>
          <a:p>
            <a:pPr eaLnBrk="1" hangingPunct="1"/>
            <a:r>
              <a:rPr lang="en-US" altLang="en-US" smtClean="0"/>
              <a:t>Arguments in Favor of Hedging</a:t>
            </a:r>
          </a:p>
        </p:txBody>
      </p:sp>
      <p:sp>
        <p:nvSpPr>
          <p:cNvPr id="7171" name="Footer Placeholder 5"/>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Blip>
                <a:blip r:embed="rId3"/>
              </a:buBlip>
              <a:defRPr sz="3200">
                <a:solidFill>
                  <a:schemeClr val="tx1"/>
                </a:solidFill>
                <a:latin typeface="Tahoma" panose="020B0604030504040204" pitchFamily="34" charset="0"/>
              </a:defRPr>
            </a:lvl1pPr>
            <a:lvl2pPr marL="742950" indent="-285750" eaLnBrk="0" hangingPunct="0">
              <a:spcBef>
                <a:spcPct val="20000"/>
              </a:spcBef>
              <a:buSzPct val="75000"/>
              <a:buBlip>
                <a:blip r:embed="rId4"/>
              </a:buBlip>
              <a:defRPr sz="2800">
                <a:solidFill>
                  <a:schemeClr val="tx1"/>
                </a:solidFill>
                <a:latin typeface="Tahoma" panose="020B0604030504040204" pitchFamily="34" charset="0"/>
              </a:defRPr>
            </a:lvl2pPr>
            <a:lvl3pPr marL="1143000" indent="-228600" eaLnBrk="0" hangingPunct="0">
              <a:spcBef>
                <a:spcPct val="20000"/>
              </a:spcBef>
              <a:buChar char="•"/>
              <a:defRPr sz="2400">
                <a:solidFill>
                  <a:schemeClr val="tx1"/>
                </a:solidFill>
                <a:latin typeface="Tahoma" panose="020B0604030504040204" pitchFamily="34" charset="0"/>
              </a:defRPr>
            </a:lvl3pPr>
            <a:lvl4pPr marL="1600200" indent="-228600" eaLnBrk="0" hangingPunct="0">
              <a:spcBef>
                <a:spcPct val="20000"/>
              </a:spcBef>
              <a:buChar char="–"/>
              <a:defRPr sz="2000">
                <a:solidFill>
                  <a:schemeClr val="tx1"/>
                </a:solidFill>
                <a:latin typeface="Tahoma" panose="020B0604030504040204" pitchFamily="34" charset="0"/>
              </a:defRPr>
            </a:lvl4pPr>
            <a:lvl5pPr marL="2057400" indent="-228600" eaLnBrk="0" hangingPunct="0">
              <a:spcBef>
                <a:spcPct val="20000"/>
              </a:spcBef>
              <a:buClr>
                <a:schemeClr val="tx2"/>
              </a:buClr>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9pPr>
          </a:lstStyle>
          <a:p>
            <a:pPr eaLnBrk="1" hangingPunct="1">
              <a:spcBef>
                <a:spcPct val="0"/>
              </a:spcBef>
              <a:buFontTx/>
              <a:buNone/>
            </a:pPr>
            <a:r>
              <a:rPr lang="en-US" altLang="en-US" sz="1400" smtClean="0">
                <a:latin typeface="Arial" panose="020B0604020202020204" pitchFamily="34" charset="0"/>
              </a:rPr>
              <a:t>Options, Futures, and Other Derivatives, 11th Edition,    Copyright © John C. Hull 2021</a:t>
            </a:r>
          </a:p>
        </p:txBody>
      </p:sp>
      <p:sp>
        <p:nvSpPr>
          <p:cNvPr id="7172"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Blip>
                <a:blip r:embed="rId3"/>
              </a:buBlip>
              <a:defRPr sz="3200">
                <a:solidFill>
                  <a:schemeClr val="tx1"/>
                </a:solidFill>
                <a:latin typeface="Tahoma" panose="020B0604030504040204" pitchFamily="34" charset="0"/>
              </a:defRPr>
            </a:lvl1pPr>
            <a:lvl2pPr marL="742950" indent="-285750" eaLnBrk="0" hangingPunct="0">
              <a:spcBef>
                <a:spcPct val="20000"/>
              </a:spcBef>
              <a:buSzPct val="75000"/>
              <a:buBlip>
                <a:blip r:embed="rId4"/>
              </a:buBlip>
              <a:defRPr sz="2800">
                <a:solidFill>
                  <a:schemeClr val="tx1"/>
                </a:solidFill>
                <a:latin typeface="Tahoma" panose="020B0604030504040204" pitchFamily="34" charset="0"/>
              </a:defRPr>
            </a:lvl2pPr>
            <a:lvl3pPr marL="1143000" indent="-228600" eaLnBrk="0" hangingPunct="0">
              <a:spcBef>
                <a:spcPct val="20000"/>
              </a:spcBef>
              <a:buChar char="•"/>
              <a:defRPr sz="2400">
                <a:solidFill>
                  <a:schemeClr val="tx1"/>
                </a:solidFill>
                <a:latin typeface="Tahoma" panose="020B0604030504040204" pitchFamily="34" charset="0"/>
              </a:defRPr>
            </a:lvl3pPr>
            <a:lvl4pPr marL="1600200" indent="-228600" eaLnBrk="0" hangingPunct="0">
              <a:spcBef>
                <a:spcPct val="20000"/>
              </a:spcBef>
              <a:buChar char="–"/>
              <a:defRPr sz="2000">
                <a:solidFill>
                  <a:schemeClr val="tx1"/>
                </a:solidFill>
                <a:latin typeface="Tahoma" panose="020B0604030504040204" pitchFamily="34" charset="0"/>
              </a:defRPr>
            </a:lvl4pPr>
            <a:lvl5pPr marL="2057400" indent="-228600" eaLnBrk="0" hangingPunct="0">
              <a:spcBef>
                <a:spcPct val="20000"/>
              </a:spcBef>
              <a:buClr>
                <a:schemeClr val="tx2"/>
              </a:buClr>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9pPr>
          </a:lstStyle>
          <a:p>
            <a:pPr eaLnBrk="1" hangingPunct="1">
              <a:spcBef>
                <a:spcPct val="0"/>
              </a:spcBef>
              <a:buFontTx/>
              <a:buNone/>
            </a:pPr>
            <a:fld id="{2910E69A-43D7-4513-BF80-1395FDEE7238}" type="slidenum">
              <a:rPr lang="en-US" altLang="en-US" sz="1400">
                <a:latin typeface="Arial" panose="020B0604020202020204" pitchFamily="34" charset="0"/>
              </a:rPr>
              <a:pPr eaLnBrk="1" hangingPunct="1">
                <a:spcBef>
                  <a:spcPct val="0"/>
                </a:spcBef>
                <a:buFontTx/>
                <a:buNone/>
              </a:pPr>
              <a:t>3</a:t>
            </a:fld>
            <a:endParaRPr lang="en-US" altLang="en-US" sz="1400">
              <a:latin typeface="Arial" panose="020B0604020202020204" pitchFamily="34" charset="0"/>
            </a:endParaRPr>
          </a:p>
        </p:txBody>
      </p:sp>
      <p:sp>
        <p:nvSpPr>
          <p:cNvPr id="7173" name="Content Placeholder 5"/>
          <p:cNvSpPr>
            <a:spLocks noGrp="1"/>
          </p:cNvSpPr>
          <p:nvPr>
            <p:ph idx="1"/>
          </p:nvPr>
        </p:nvSpPr>
        <p:spPr/>
        <p:txBody>
          <a:bodyPr/>
          <a:lstStyle/>
          <a:p>
            <a:pPr eaLnBrk="1" hangingPunct="1"/>
            <a:r>
              <a:rPr lang="en-US" altLang="en-US" smtClean="0"/>
              <a:t>Companies should focus on the main business they are in and take steps to minimize risks arising from interest rates, exchange rates, and other market variables</a:t>
            </a:r>
          </a:p>
          <a:p>
            <a:pPr eaLnBrk="1" hangingPunct="1">
              <a:buFontTx/>
              <a:buNone/>
            </a:pPr>
            <a:endParaRPr lang="en-US" altLang="en-US" smtClean="0"/>
          </a:p>
        </p:txBody>
      </p:sp>
    </p:spTree>
  </p:cSld>
  <p:clrMapOvr>
    <a:masterClrMapping/>
  </p:clrMapOvr>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p:txBody>
          <a:bodyPr lIns="90488" tIns="44450" rIns="90488" bIns="44450"/>
          <a:lstStyle/>
          <a:p>
            <a:pPr eaLnBrk="1" hangingPunct="1"/>
            <a:r>
              <a:rPr lang="en-US" altLang="en-US" smtClean="0"/>
              <a:t>Arguments against Hedging</a:t>
            </a:r>
          </a:p>
        </p:txBody>
      </p:sp>
      <p:sp>
        <p:nvSpPr>
          <p:cNvPr id="8195" name="Rectangle 3"/>
          <p:cNvSpPr>
            <a:spLocks noGrp="1" noChangeArrowheads="1"/>
          </p:cNvSpPr>
          <p:nvPr>
            <p:ph idx="1"/>
          </p:nvPr>
        </p:nvSpPr>
        <p:spPr/>
        <p:txBody>
          <a:bodyPr lIns="90488" tIns="44450" rIns="90488" bIns="44450"/>
          <a:lstStyle/>
          <a:p>
            <a:pPr eaLnBrk="1" hangingPunct="1"/>
            <a:r>
              <a:rPr lang="en-US" altLang="en-US" smtClean="0"/>
              <a:t>Shareholders are usually well diversified and can make their own hedging decisions</a:t>
            </a:r>
          </a:p>
          <a:p>
            <a:pPr eaLnBrk="1" hangingPunct="1"/>
            <a:r>
              <a:rPr lang="en-US" altLang="en-US" smtClean="0"/>
              <a:t>It may increase risk to hedge when competitors do not</a:t>
            </a:r>
          </a:p>
          <a:p>
            <a:pPr eaLnBrk="1" hangingPunct="1"/>
            <a:r>
              <a:rPr lang="en-US" altLang="en-US" smtClean="0"/>
              <a:t>Explaining a situation where there is a loss on the hedge and a gain on the underlying can be difficult</a:t>
            </a:r>
          </a:p>
        </p:txBody>
      </p:sp>
      <p:sp>
        <p:nvSpPr>
          <p:cNvPr id="8196" name="Footer Placeholder 5"/>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Blip>
                <a:blip r:embed="rId3"/>
              </a:buBlip>
              <a:defRPr sz="3200">
                <a:solidFill>
                  <a:schemeClr val="tx1"/>
                </a:solidFill>
                <a:latin typeface="Tahoma" panose="020B0604030504040204" pitchFamily="34" charset="0"/>
              </a:defRPr>
            </a:lvl1pPr>
            <a:lvl2pPr marL="742950" indent="-285750" eaLnBrk="0" hangingPunct="0">
              <a:spcBef>
                <a:spcPct val="20000"/>
              </a:spcBef>
              <a:buSzPct val="75000"/>
              <a:buBlip>
                <a:blip r:embed="rId4"/>
              </a:buBlip>
              <a:defRPr sz="2800">
                <a:solidFill>
                  <a:schemeClr val="tx1"/>
                </a:solidFill>
                <a:latin typeface="Tahoma" panose="020B0604030504040204" pitchFamily="34" charset="0"/>
              </a:defRPr>
            </a:lvl2pPr>
            <a:lvl3pPr marL="1143000" indent="-228600" eaLnBrk="0" hangingPunct="0">
              <a:spcBef>
                <a:spcPct val="20000"/>
              </a:spcBef>
              <a:buChar char="•"/>
              <a:defRPr sz="2400">
                <a:solidFill>
                  <a:schemeClr val="tx1"/>
                </a:solidFill>
                <a:latin typeface="Tahoma" panose="020B0604030504040204" pitchFamily="34" charset="0"/>
              </a:defRPr>
            </a:lvl3pPr>
            <a:lvl4pPr marL="1600200" indent="-228600" eaLnBrk="0" hangingPunct="0">
              <a:spcBef>
                <a:spcPct val="20000"/>
              </a:spcBef>
              <a:buChar char="–"/>
              <a:defRPr sz="2000">
                <a:solidFill>
                  <a:schemeClr val="tx1"/>
                </a:solidFill>
                <a:latin typeface="Tahoma" panose="020B0604030504040204" pitchFamily="34" charset="0"/>
              </a:defRPr>
            </a:lvl4pPr>
            <a:lvl5pPr marL="2057400" indent="-228600" eaLnBrk="0" hangingPunct="0">
              <a:spcBef>
                <a:spcPct val="20000"/>
              </a:spcBef>
              <a:buClr>
                <a:schemeClr val="tx2"/>
              </a:buClr>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9pPr>
          </a:lstStyle>
          <a:p>
            <a:pPr eaLnBrk="1" hangingPunct="1">
              <a:spcBef>
                <a:spcPct val="0"/>
              </a:spcBef>
              <a:buFontTx/>
              <a:buNone/>
            </a:pPr>
            <a:r>
              <a:rPr lang="en-US" altLang="en-US" sz="1400" smtClean="0">
                <a:latin typeface="Arial" panose="020B0604020202020204" pitchFamily="34" charset="0"/>
              </a:rPr>
              <a:t>Options, Futures, and Other Derivatives, 11th Edition,    Copyright © John C. Hull 2021</a:t>
            </a:r>
          </a:p>
        </p:txBody>
      </p:sp>
      <p:sp>
        <p:nvSpPr>
          <p:cNvPr id="8197"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Blip>
                <a:blip r:embed="rId3"/>
              </a:buBlip>
              <a:defRPr sz="3200">
                <a:solidFill>
                  <a:schemeClr val="tx1"/>
                </a:solidFill>
                <a:latin typeface="Tahoma" panose="020B0604030504040204" pitchFamily="34" charset="0"/>
              </a:defRPr>
            </a:lvl1pPr>
            <a:lvl2pPr marL="742950" indent="-285750" eaLnBrk="0" hangingPunct="0">
              <a:spcBef>
                <a:spcPct val="20000"/>
              </a:spcBef>
              <a:buSzPct val="75000"/>
              <a:buBlip>
                <a:blip r:embed="rId4"/>
              </a:buBlip>
              <a:defRPr sz="2800">
                <a:solidFill>
                  <a:schemeClr val="tx1"/>
                </a:solidFill>
                <a:latin typeface="Tahoma" panose="020B0604030504040204" pitchFamily="34" charset="0"/>
              </a:defRPr>
            </a:lvl2pPr>
            <a:lvl3pPr marL="1143000" indent="-228600" eaLnBrk="0" hangingPunct="0">
              <a:spcBef>
                <a:spcPct val="20000"/>
              </a:spcBef>
              <a:buChar char="•"/>
              <a:defRPr sz="2400">
                <a:solidFill>
                  <a:schemeClr val="tx1"/>
                </a:solidFill>
                <a:latin typeface="Tahoma" panose="020B0604030504040204" pitchFamily="34" charset="0"/>
              </a:defRPr>
            </a:lvl3pPr>
            <a:lvl4pPr marL="1600200" indent="-228600" eaLnBrk="0" hangingPunct="0">
              <a:spcBef>
                <a:spcPct val="20000"/>
              </a:spcBef>
              <a:buChar char="–"/>
              <a:defRPr sz="2000">
                <a:solidFill>
                  <a:schemeClr val="tx1"/>
                </a:solidFill>
                <a:latin typeface="Tahoma" panose="020B0604030504040204" pitchFamily="34" charset="0"/>
              </a:defRPr>
            </a:lvl4pPr>
            <a:lvl5pPr marL="2057400" indent="-228600" eaLnBrk="0" hangingPunct="0">
              <a:spcBef>
                <a:spcPct val="20000"/>
              </a:spcBef>
              <a:buClr>
                <a:schemeClr val="tx2"/>
              </a:buClr>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9pPr>
          </a:lstStyle>
          <a:p>
            <a:pPr eaLnBrk="1" hangingPunct="1">
              <a:spcBef>
                <a:spcPct val="0"/>
              </a:spcBef>
              <a:buFontTx/>
              <a:buNone/>
            </a:pPr>
            <a:fld id="{31E7700A-23C4-4C6C-B5B6-51439B6F76D9}" type="slidenum">
              <a:rPr lang="en-US" altLang="en-US" sz="1400">
                <a:latin typeface="Arial" panose="020B0604020202020204" pitchFamily="34" charset="0"/>
              </a:rPr>
              <a:pPr eaLnBrk="1" hangingPunct="1">
                <a:spcBef>
                  <a:spcPct val="0"/>
                </a:spcBef>
                <a:buFontTx/>
                <a:buNone/>
              </a:pPr>
              <a:t>4</a:t>
            </a:fld>
            <a:endParaRPr lang="en-US" altLang="en-US" sz="1400">
              <a:latin typeface="Arial" panose="020B0604020202020204" pitchFamily="34" charset="0"/>
            </a:endParaRPr>
          </a:p>
        </p:txBody>
      </p:sp>
    </p:spTree>
  </p:cSld>
  <p:clrMapOvr>
    <a:masterClrMapping/>
  </p:clrMapOvr>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p:txBody>
          <a:bodyPr lIns="90488" tIns="44450" rIns="90488" bIns="44450"/>
          <a:lstStyle/>
          <a:p>
            <a:pPr eaLnBrk="1" hangingPunct="1"/>
            <a:r>
              <a:rPr lang="en-US" altLang="en-US" smtClean="0"/>
              <a:t>Basis Risk</a:t>
            </a:r>
          </a:p>
        </p:txBody>
      </p:sp>
      <p:sp>
        <p:nvSpPr>
          <p:cNvPr id="9219" name="Rectangle 3"/>
          <p:cNvSpPr>
            <a:spLocks noGrp="1" noChangeArrowheads="1"/>
          </p:cNvSpPr>
          <p:nvPr>
            <p:ph idx="1"/>
          </p:nvPr>
        </p:nvSpPr>
        <p:spPr>
          <a:xfrm>
            <a:off x="1455738" y="2057400"/>
            <a:ext cx="6232525" cy="4073525"/>
          </a:xfrm>
        </p:spPr>
        <p:txBody>
          <a:bodyPr lIns="90488" tIns="44450" rIns="90488" bIns="44450"/>
          <a:lstStyle/>
          <a:p>
            <a:pPr eaLnBrk="1" hangingPunct="1"/>
            <a:r>
              <a:rPr lang="en-US" altLang="en-US" smtClean="0"/>
              <a:t>Basis is usually defined as the spot price minus the futures price</a:t>
            </a:r>
          </a:p>
          <a:p>
            <a:pPr eaLnBrk="1" hangingPunct="1"/>
            <a:r>
              <a:rPr lang="en-US" altLang="en-US" smtClean="0"/>
              <a:t>Basis risk arises because of the uncertainty about the basis when the hedge is closed out</a:t>
            </a:r>
          </a:p>
        </p:txBody>
      </p:sp>
      <p:sp>
        <p:nvSpPr>
          <p:cNvPr id="9220" name="Footer Placeholder 5"/>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Blip>
                <a:blip r:embed="rId3"/>
              </a:buBlip>
              <a:defRPr sz="3200">
                <a:solidFill>
                  <a:schemeClr val="tx1"/>
                </a:solidFill>
                <a:latin typeface="Tahoma" panose="020B0604030504040204" pitchFamily="34" charset="0"/>
              </a:defRPr>
            </a:lvl1pPr>
            <a:lvl2pPr marL="742950" indent="-285750" eaLnBrk="0" hangingPunct="0">
              <a:spcBef>
                <a:spcPct val="20000"/>
              </a:spcBef>
              <a:buSzPct val="75000"/>
              <a:buBlip>
                <a:blip r:embed="rId4"/>
              </a:buBlip>
              <a:defRPr sz="2800">
                <a:solidFill>
                  <a:schemeClr val="tx1"/>
                </a:solidFill>
                <a:latin typeface="Tahoma" panose="020B0604030504040204" pitchFamily="34" charset="0"/>
              </a:defRPr>
            </a:lvl2pPr>
            <a:lvl3pPr marL="1143000" indent="-228600" eaLnBrk="0" hangingPunct="0">
              <a:spcBef>
                <a:spcPct val="20000"/>
              </a:spcBef>
              <a:buChar char="•"/>
              <a:defRPr sz="2400">
                <a:solidFill>
                  <a:schemeClr val="tx1"/>
                </a:solidFill>
                <a:latin typeface="Tahoma" panose="020B0604030504040204" pitchFamily="34" charset="0"/>
              </a:defRPr>
            </a:lvl3pPr>
            <a:lvl4pPr marL="1600200" indent="-228600" eaLnBrk="0" hangingPunct="0">
              <a:spcBef>
                <a:spcPct val="20000"/>
              </a:spcBef>
              <a:buChar char="–"/>
              <a:defRPr sz="2000">
                <a:solidFill>
                  <a:schemeClr val="tx1"/>
                </a:solidFill>
                <a:latin typeface="Tahoma" panose="020B0604030504040204" pitchFamily="34" charset="0"/>
              </a:defRPr>
            </a:lvl4pPr>
            <a:lvl5pPr marL="2057400" indent="-228600" eaLnBrk="0" hangingPunct="0">
              <a:spcBef>
                <a:spcPct val="20000"/>
              </a:spcBef>
              <a:buClr>
                <a:schemeClr val="tx2"/>
              </a:buClr>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9pPr>
          </a:lstStyle>
          <a:p>
            <a:pPr eaLnBrk="1" hangingPunct="1">
              <a:spcBef>
                <a:spcPct val="0"/>
              </a:spcBef>
              <a:buFontTx/>
              <a:buNone/>
            </a:pPr>
            <a:r>
              <a:rPr lang="en-US" altLang="en-US" sz="1400" smtClean="0">
                <a:latin typeface="Arial" panose="020B0604020202020204" pitchFamily="34" charset="0"/>
              </a:rPr>
              <a:t>Options, Futures, and Other Derivatives, 11th Edition,    Copyright © John C. Hull 2021</a:t>
            </a:r>
          </a:p>
        </p:txBody>
      </p:sp>
      <p:sp>
        <p:nvSpPr>
          <p:cNvPr id="9221"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Blip>
                <a:blip r:embed="rId3"/>
              </a:buBlip>
              <a:defRPr sz="3200">
                <a:solidFill>
                  <a:schemeClr val="tx1"/>
                </a:solidFill>
                <a:latin typeface="Tahoma" panose="020B0604030504040204" pitchFamily="34" charset="0"/>
              </a:defRPr>
            </a:lvl1pPr>
            <a:lvl2pPr marL="742950" indent="-285750" eaLnBrk="0" hangingPunct="0">
              <a:spcBef>
                <a:spcPct val="20000"/>
              </a:spcBef>
              <a:buSzPct val="75000"/>
              <a:buBlip>
                <a:blip r:embed="rId4"/>
              </a:buBlip>
              <a:defRPr sz="2800">
                <a:solidFill>
                  <a:schemeClr val="tx1"/>
                </a:solidFill>
                <a:latin typeface="Tahoma" panose="020B0604030504040204" pitchFamily="34" charset="0"/>
              </a:defRPr>
            </a:lvl2pPr>
            <a:lvl3pPr marL="1143000" indent="-228600" eaLnBrk="0" hangingPunct="0">
              <a:spcBef>
                <a:spcPct val="20000"/>
              </a:spcBef>
              <a:buChar char="•"/>
              <a:defRPr sz="2400">
                <a:solidFill>
                  <a:schemeClr val="tx1"/>
                </a:solidFill>
                <a:latin typeface="Tahoma" panose="020B0604030504040204" pitchFamily="34" charset="0"/>
              </a:defRPr>
            </a:lvl3pPr>
            <a:lvl4pPr marL="1600200" indent="-228600" eaLnBrk="0" hangingPunct="0">
              <a:spcBef>
                <a:spcPct val="20000"/>
              </a:spcBef>
              <a:buChar char="–"/>
              <a:defRPr sz="2000">
                <a:solidFill>
                  <a:schemeClr val="tx1"/>
                </a:solidFill>
                <a:latin typeface="Tahoma" panose="020B0604030504040204" pitchFamily="34" charset="0"/>
              </a:defRPr>
            </a:lvl4pPr>
            <a:lvl5pPr marL="2057400" indent="-228600" eaLnBrk="0" hangingPunct="0">
              <a:spcBef>
                <a:spcPct val="20000"/>
              </a:spcBef>
              <a:buClr>
                <a:schemeClr val="tx2"/>
              </a:buClr>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9pPr>
          </a:lstStyle>
          <a:p>
            <a:pPr eaLnBrk="1" hangingPunct="1">
              <a:spcBef>
                <a:spcPct val="0"/>
              </a:spcBef>
              <a:buFontTx/>
              <a:buNone/>
            </a:pPr>
            <a:fld id="{C5B6793D-F917-47C6-A38B-0FBBE1728B4E}" type="slidenum">
              <a:rPr lang="en-US" altLang="en-US" sz="1400">
                <a:latin typeface="Arial" panose="020B0604020202020204" pitchFamily="34" charset="0"/>
              </a:rPr>
              <a:pPr eaLnBrk="1" hangingPunct="1">
                <a:spcBef>
                  <a:spcPct val="0"/>
                </a:spcBef>
                <a:buFontTx/>
                <a:buNone/>
              </a:pPr>
              <a:t>5</a:t>
            </a:fld>
            <a:endParaRPr lang="en-US" altLang="en-US" sz="1400">
              <a:latin typeface="Arial" panose="020B0604020202020204" pitchFamily="34" charset="0"/>
            </a:endParaRPr>
          </a:p>
        </p:txBody>
      </p:sp>
    </p:spTree>
  </p:cSld>
  <p:clrMapOvr>
    <a:masterClrMapping/>
  </p:clrMapOvr>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a:xfrm>
            <a:off x="246063" y="930275"/>
            <a:ext cx="7772400" cy="746125"/>
          </a:xfrm>
        </p:spPr>
        <p:txBody>
          <a:bodyPr lIns="90488" tIns="44450" rIns="90488" bIns="44450"/>
          <a:lstStyle/>
          <a:p>
            <a:pPr eaLnBrk="1" hangingPunct="1"/>
            <a:r>
              <a:rPr lang="en-US" altLang="en-US" sz="3600" smtClean="0"/>
              <a:t>Long Hedge for Purchase of an Asset </a:t>
            </a:r>
          </a:p>
        </p:txBody>
      </p:sp>
      <p:sp>
        <p:nvSpPr>
          <p:cNvPr id="16388" name="Rectangle 3"/>
          <p:cNvSpPr>
            <a:spLocks noGrp="1" noChangeArrowheads="1"/>
          </p:cNvSpPr>
          <p:nvPr>
            <p:ph idx="1"/>
          </p:nvPr>
        </p:nvSpPr>
        <p:spPr>
          <a:xfrm>
            <a:off x="533400" y="1828800"/>
            <a:ext cx="7947025" cy="3970338"/>
          </a:xfrm>
        </p:spPr>
        <p:txBody>
          <a:bodyPr lIns="90488" tIns="44450" rIns="90488" bIns="44450"/>
          <a:lstStyle/>
          <a:p>
            <a:pPr eaLnBrk="1" hangingPunct="1">
              <a:lnSpc>
                <a:spcPct val="90000"/>
              </a:lnSpc>
              <a:defRPr/>
            </a:pPr>
            <a:r>
              <a:rPr lang="en-CA" sz="2400" dirty="0" smtClean="0"/>
              <a:t>Define</a:t>
            </a:r>
            <a:endParaRPr lang="en-US" sz="2400" dirty="0" smtClean="0"/>
          </a:p>
          <a:p>
            <a:pPr lvl="2" eaLnBrk="1" hangingPunct="1">
              <a:lnSpc>
                <a:spcPct val="90000"/>
              </a:lnSpc>
              <a:buFont typeface="Wingdings" pitchFamily="2" charset="2"/>
              <a:buNone/>
              <a:defRPr/>
            </a:pPr>
            <a:r>
              <a:rPr lang="en-US" i="1" dirty="0" smtClean="0">
                <a:latin typeface="+mj-lt"/>
              </a:rPr>
              <a:t>F</a:t>
            </a:r>
            <a:r>
              <a:rPr lang="en-US" baseline="-25000" dirty="0" smtClean="0"/>
              <a:t>1</a:t>
            </a:r>
            <a:r>
              <a:rPr lang="en-US" i="1" baseline="-25000" dirty="0" smtClean="0"/>
              <a:t> </a:t>
            </a:r>
            <a:r>
              <a:rPr lang="en-US" dirty="0" smtClean="0"/>
              <a:t>: </a:t>
            </a:r>
            <a:r>
              <a:rPr lang="en-US" i="1" dirty="0" smtClean="0"/>
              <a:t> </a:t>
            </a:r>
            <a:r>
              <a:rPr lang="en-US" dirty="0" smtClean="0"/>
              <a:t>Futures price at time hedge is set up</a:t>
            </a:r>
          </a:p>
          <a:p>
            <a:pPr lvl="2" eaLnBrk="1" hangingPunct="1">
              <a:lnSpc>
                <a:spcPct val="90000"/>
              </a:lnSpc>
              <a:buFont typeface="Wingdings" pitchFamily="2" charset="2"/>
              <a:buNone/>
              <a:defRPr/>
            </a:pPr>
            <a:r>
              <a:rPr lang="en-US" i="1" dirty="0" smtClean="0">
                <a:latin typeface="+mj-lt"/>
              </a:rPr>
              <a:t>F</a:t>
            </a:r>
            <a:r>
              <a:rPr lang="en-US" baseline="-25000" dirty="0" smtClean="0"/>
              <a:t>2</a:t>
            </a:r>
            <a:r>
              <a:rPr lang="en-US" i="1" dirty="0" smtClean="0"/>
              <a:t> </a:t>
            </a:r>
            <a:r>
              <a:rPr lang="en-US" dirty="0" smtClean="0"/>
              <a:t>: </a:t>
            </a:r>
            <a:r>
              <a:rPr lang="en-US" i="1" dirty="0" smtClean="0"/>
              <a:t> </a:t>
            </a:r>
            <a:r>
              <a:rPr lang="en-US" dirty="0" smtClean="0"/>
              <a:t>Futures price at time asset is purchased</a:t>
            </a:r>
          </a:p>
          <a:p>
            <a:pPr lvl="2" eaLnBrk="1" hangingPunct="1">
              <a:lnSpc>
                <a:spcPct val="90000"/>
              </a:lnSpc>
              <a:buFont typeface="Wingdings" pitchFamily="2" charset="2"/>
              <a:buNone/>
              <a:defRPr/>
            </a:pPr>
            <a:r>
              <a:rPr lang="en-US" i="1" dirty="0" smtClean="0">
                <a:latin typeface="+mj-lt"/>
              </a:rPr>
              <a:t>S</a:t>
            </a:r>
            <a:r>
              <a:rPr lang="en-US" baseline="-25000" dirty="0" smtClean="0"/>
              <a:t>2</a:t>
            </a:r>
            <a:r>
              <a:rPr lang="en-US" i="1" baseline="-25000" dirty="0" smtClean="0"/>
              <a:t> </a:t>
            </a:r>
            <a:r>
              <a:rPr lang="en-US" i="1" dirty="0" smtClean="0"/>
              <a:t> </a:t>
            </a:r>
            <a:r>
              <a:rPr lang="en-US" dirty="0" smtClean="0"/>
              <a:t>: </a:t>
            </a:r>
            <a:r>
              <a:rPr lang="en-US" i="1" dirty="0" smtClean="0"/>
              <a:t> </a:t>
            </a:r>
            <a:r>
              <a:rPr lang="en-US" dirty="0" smtClean="0"/>
              <a:t>Asset price at time of purchase</a:t>
            </a:r>
          </a:p>
          <a:p>
            <a:pPr lvl="2" eaLnBrk="1" hangingPunct="1">
              <a:lnSpc>
                <a:spcPct val="90000"/>
              </a:lnSpc>
              <a:buFont typeface="Wingdings" pitchFamily="2" charset="2"/>
              <a:buNone/>
              <a:defRPr/>
            </a:pPr>
            <a:r>
              <a:rPr lang="en-CA" i="1" dirty="0" smtClean="0">
                <a:latin typeface="Times New Roman" pitchFamily="18" charset="0"/>
                <a:cs typeface="Times New Roman" pitchFamily="18" charset="0"/>
              </a:rPr>
              <a:t>b</a:t>
            </a:r>
            <a:r>
              <a:rPr lang="en-CA" i="1" baseline="-25000" dirty="0" smtClean="0">
                <a:latin typeface="Times New Roman" pitchFamily="18" charset="0"/>
                <a:cs typeface="Times New Roman" pitchFamily="18" charset="0"/>
              </a:rPr>
              <a:t>2</a:t>
            </a:r>
            <a:r>
              <a:rPr lang="en-CA" i="1" dirty="0" smtClean="0">
                <a:latin typeface="Times New Roman" pitchFamily="18" charset="0"/>
                <a:cs typeface="Times New Roman" pitchFamily="18" charset="0"/>
              </a:rPr>
              <a:t> </a:t>
            </a:r>
            <a:r>
              <a:rPr lang="en-CA" dirty="0" smtClean="0"/>
              <a:t>  :  Basis at time of purchase</a:t>
            </a:r>
            <a:endParaRPr lang="en-US" dirty="0" smtClean="0"/>
          </a:p>
          <a:p>
            <a:pPr lvl="2" eaLnBrk="1" hangingPunct="1">
              <a:lnSpc>
                <a:spcPct val="90000"/>
              </a:lnSpc>
              <a:buFont typeface="Wingdings" pitchFamily="2" charset="2"/>
              <a:buNone/>
              <a:defRPr/>
            </a:pPr>
            <a:endParaRPr lang="en-US" dirty="0" smtClean="0"/>
          </a:p>
          <a:p>
            <a:pPr lvl="2" eaLnBrk="1" hangingPunct="1">
              <a:lnSpc>
                <a:spcPct val="90000"/>
              </a:lnSpc>
              <a:buFont typeface="Wingdings" pitchFamily="2" charset="2"/>
              <a:buNone/>
              <a:defRPr/>
            </a:pPr>
            <a:endParaRPr lang="en-US" sz="2800" dirty="0" smtClean="0"/>
          </a:p>
          <a:p>
            <a:pPr lvl="2" eaLnBrk="1" hangingPunct="1">
              <a:lnSpc>
                <a:spcPct val="90000"/>
              </a:lnSpc>
              <a:buFont typeface="Wingdings" pitchFamily="2" charset="2"/>
              <a:buNone/>
              <a:defRPr/>
            </a:pPr>
            <a:endParaRPr lang="en-US" sz="2800" dirty="0" smtClean="0"/>
          </a:p>
        </p:txBody>
      </p:sp>
      <p:sp>
        <p:nvSpPr>
          <p:cNvPr id="10244" name="Footer Placeholder 5"/>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Blip>
                <a:blip r:embed="rId3"/>
              </a:buBlip>
              <a:defRPr sz="3200">
                <a:solidFill>
                  <a:schemeClr val="tx1"/>
                </a:solidFill>
                <a:latin typeface="Tahoma" panose="020B0604030504040204" pitchFamily="34" charset="0"/>
              </a:defRPr>
            </a:lvl1pPr>
            <a:lvl2pPr marL="742950" indent="-285750" eaLnBrk="0" hangingPunct="0">
              <a:spcBef>
                <a:spcPct val="20000"/>
              </a:spcBef>
              <a:buSzPct val="75000"/>
              <a:buBlip>
                <a:blip r:embed="rId4"/>
              </a:buBlip>
              <a:defRPr sz="2800">
                <a:solidFill>
                  <a:schemeClr val="tx1"/>
                </a:solidFill>
                <a:latin typeface="Tahoma" panose="020B0604030504040204" pitchFamily="34" charset="0"/>
              </a:defRPr>
            </a:lvl2pPr>
            <a:lvl3pPr marL="1143000" indent="-228600" eaLnBrk="0" hangingPunct="0">
              <a:spcBef>
                <a:spcPct val="20000"/>
              </a:spcBef>
              <a:buChar char="•"/>
              <a:defRPr sz="2400">
                <a:solidFill>
                  <a:schemeClr val="tx1"/>
                </a:solidFill>
                <a:latin typeface="Tahoma" panose="020B0604030504040204" pitchFamily="34" charset="0"/>
              </a:defRPr>
            </a:lvl3pPr>
            <a:lvl4pPr marL="1600200" indent="-228600" eaLnBrk="0" hangingPunct="0">
              <a:spcBef>
                <a:spcPct val="20000"/>
              </a:spcBef>
              <a:buChar char="–"/>
              <a:defRPr sz="2000">
                <a:solidFill>
                  <a:schemeClr val="tx1"/>
                </a:solidFill>
                <a:latin typeface="Tahoma" panose="020B0604030504040204" pitchFamily="34" charset="0"/>
              </a:defRPr>
            </a:lvl4pPr>
            <a:lvl5pPr marL="2057400" indent="-228600" eaLnBrk="0" hangingPunct="0">
              <a:spcBef>
                <a:spcPct val="20000"/>
              </a:spcBef>
              <a:buClr>
                <a:schemeClr val="tx2"/>
              </a:buClr>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9pPr>
          </a:lstStyle>
          <a:p>
            <a:pPr eaLnBrk="1" hangingPunct="1">
              <a:spcBef>
                <a:spcPct val="0"/>
              </a:spcBef>
              <a:buFontTx/>
              <a:buNone/>
            </a:pPr>
            <a:r>
              <a:rPr lang="en-US" altLang="en-US" sz="1400" smtClean="0">
                <a:latin typeface="Arial" panose="020B0604020202020204" pitchFamily="34" charset="0"/>
              </a:rPr>
              <a:t>Options, Futures, and Other Derivatives, 11th Edition,    Copyright © John C. Hull 2021</a:t>
            </a:r>
          </a:p>
        </p:txBody>
      </p:sp>
      <p:sp>
        <p:nvSpPr>
          <p:cNvPr id="10245"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Blip>
                <a:blip r:embed="rId3"/>
              </a:buBlip>
              <a:defRPr sz="3200">
                <a:solidFill>
                  <a:schemeClr val="tx1"/>
                </a:solidFill>
                <a:latin typeface="Tahoma" panose="020B0604030504040204" pitchFamily="34" charset="0"/>
              </a:defRPr>
            </a:lvl1pPr>
            <a:lvl2pPr marL="742950" indent="-285750" eaLnBrk="0" hangingPunct="0">
              <a:spcBef>
                <a:spcPct val="20000"/>
              </a:spcBef>
              <a:buSzPct val="75000"/>
              <a:buBlip>
                <a:blip r:embed="rId4"/>
              </a:buBlip>
              <a:defRPr sz="2800">
                <a:solidFill>
                  <a:schemeClr val="tx1"/>
                </a:solidFill>
                <a:latin typeface="Tahoma" panose="020B0604030504040204" pitchFamily="34" charset="0"/>
              </a:defRPr>
            </a:lvl2pPr>
            <a:lvl3pPr marL="1143000" indent="-228600" eaLnBrk="0" hangingPunct="0">
              <a:spcBef>
                <a:spcPct val="20000"/>
              </a:spcBef>
              <a:buChar char="•"/>
              <a:defRPr sz="2400">
                <a:solidFill>
                  <a:schemeClr val="tx1"/>
                </a:solidFill>
                <a:latin typeface="Tahoma" panose="020B0604030504040204" pitchFamily="34" charset="0"/>
              </a:defRPr>
            </a:lvl3pPr>
            <a:lvl4pPr marL="1600200" indent="-228600" eaLnBrk="0" hangingPunct="0">
              <a:spcBef>
                <a:spcPct val="20000"/>
              </a:spcBef>
              <a:buChar char="–"/>
              <a:defRPr sz="2000">
                <a:solidFill>
                  <a:schemeClr val="tx1"/>
                </a:solidFill>
                <a:latin typeface="Tahoma" panose="020B0604030504040204" pitchFamily="34" charset="0"/>
              </a:defRPr>
            </a:lvl4pPr>
            <a:lvl5pPr marL="2057400" indent="-228600" eaLnBrk="0" hangingPunct="0">
              <a:spcBef>
                <a:spcPct val="20000"/>
              </a:spcBef>
              <a:buClr>
                <a:schemeClr val="tx2"/>
              </a:buClr>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9pPr>
          </a:lstStyle>
          <a:p>
            <a:pPr eaLnBrk="1" hangingPunct="1">
              <a:spcBef>
                <a:spcPct val="0"/>
              </a:spcBef>
              <a:buFontTx/>
              <a:buNone/>
            </a:pPr>
            <a:fld id="{6A3911C7-A99C-4C5F-88FF-FEBC69DB8E9F}" type="slidenum">
              <a:rPr lang="en-US" altLang="en-US" sz="1400">
                <a:latin typeface="Arial" panose="020B0604020202020204" pitchFamily="34" charset="0"/>
              </a:rPr>
              <a:pPr eaLnBrk="1" hangingPunct="1">
                <a:spcBef>
                  <a:spcPct val="0"/>
                </a:spcBef>
                <a:buFontTx/>
                <a:buNone/>
              </a:pPr>
              <a:t>6</a:t>
            </a:fld>
            <a:endParaRPr lang="en-US" altLang="en-US" sz="1400">
              <a:latin typeface="Arial" panose="020B0604020202020204" pitchFamily="34" charset="0"/>
            </a:endParaRPr>
          </a:p>
        </p:txBody>
      </p:sp>
      <p:graphicFrame>
        <p:nvGraphicFramePr>
          <p:cNvPr id="6" name="Table 5"/>
          <p:cNvGraphicFramePr>
            <a:graphicFrameLocks noGrp="1"/>
          </p:cNvGraphicFramePr>
          <p:nvPr/>
        </p:nvGraphicFramePr>
        <p:xfrm>
          <a:off x="1295400" y="4267200"/>
          <a:ext cx="6096000" cy="1412875"/>
        </p:xfrm>
        <a:graphic>
          <a:graphicData uri="http://schemas.openxmlformats.org/drawingml/2006/table">
            <a:tbl>
              <a:tblPr firstRow="1" bandRow="1">
                <a:tableStyleId>{5940675A-B579-460E-94D1-54222C63F5DA}</a:tableStyleId>
              </a:tblPr>
              <a:tblGrid>
                <a:gridCol w="3048000">
                  <a:extLst>
                    <a:ext uri="{9D8B030D-6E8A-4147-A177-3AD203B41FA5}">
                      <a16:colId xmlns:a16="http://schemas.microsoft.com/office/drawing/2014/main" val="20000"/>
                    </a:ext>
                  </a:extLst>
                </a:gridCol>
                <a:gridCol w="3048000">
                  <a:extLst>
                    <a:ext uri="{9D8B030D-6E8A-4147-A177-3AD203B41FA5}">
                      <a16:colId xmlns:a16="http://schemas.microsoft.com/office/drawing/2014/main" val="20001"/>
                    </a:ext>
                  </a:extLst>
                </a:gridCol>
              </a:tblGrid>
              <a:tr h="406583">
                <a:tc>
                  <a:txBody>
                    <a:bodyPr/>
                    <a:lstStyle/>
                    <a:p>
                      <a:r>
                        <a:rPr lang="en-CA" sz="1800" dirty="0" smtClean="0"/>
                        <a:t>Cost of asset</a:t>
                      </a:r>
                      <a:endParaRPr lang="en-US" sz="1800" dirty="0"/>
                    </a:p>
                  </a:txBody>
                  <a:tcPr marT="45741" marB="45741"/>
                </a:tc>
                <a:tc>
                  <a:txBody>
                    <a:bodyPr/>
                    <a:lstStyle/>
                    <a:p>
                      <a:r>
                        <a:rPr lang="en-CA" sz="1800" i="1" dirty="0" smtClean="0">
                          <a:latin typeface="Times New Roman" pitchFamily="18" charset="0"/>
                          <a:cs typeface="Times New Roman" pitchFamily="18" charset="0"/>
                        </a:rPr>
                        <a:t>S</a:t>
                      </a:r>
                      <a:r>
                        <a:rPr lang="en-CA" sz="1800" baseline="-25000" dirty="0" smtClean="0"/>
                        <a:t>2</a:t>
                      </a:r>
                      <a:endParaRPr lang="en-US" sz="1800" dirty="0"/>
                    </a:p>
                  </a:txBody>
                  <a:tcPr marT="45741" marB="45741"/>
                </a:tc>
                <a:extLst>
                  <a:ext uri="{0D108BD9-81ED-4DB2-BD59-A6C34878D82A}">
                    <a16:rowId xmlns:a16="http://schemas.microsoft.com/office/drawing/2014/main" val="10000"/>
                  </a:ext>
                </a:extLst>
              </a:tr>
              <a:tr h="365924">
                <a:tc>
                  <a:txBody>
                    <a:bodyPr/>
                    <a:lstStyle/>
                    <a:p>
                      <a:r>
                        <a:rPr lang="en-CA" sz="1800" dirty="0" smtClean="0"/>
                        <a:t>Gain on Futures</a:t>
                      </a:r>
                      <a:endParaRPr lang="en-US" sz="1800" dirty="0"/>
                    </a:p>
                  </a:txBody>
                  <a:tcPr marT="45741" marB="45741"/>
                </a:tc>
                <a:tc>
                  <a:txBody>
                    <a:bodyPr/>
                    <a:lstStyle/>
                    <a:p>
                      <a:r>
                        <a:rPr lang="en-CA" sz="1800" i="1" baseline="0" dirty="0" smtClean="0">
                          <a:latin typeface="Times New Roman" pitchFamily="18" charset="0"/>
                          <a:cs typeface="Times New Roman" pitchFamily="18" charset="0"/>
                        </a:rPr>
                        <a:t>F</a:t>
                      </a:r>
                      <a:r>
                        <a:rPr lang="en-CA" sz="1800" baseline="-25000" dirty="0" smtClean="0"/>
                        <a:t>2</a:t>
                      </a:r>
                      <a:r>
                        <a:rPr lang="en-CA" sz="1800" baseline="0" dirty="0" smtClean="0"/>
                        <a:t> −</a:t>
                      </a:r>
                      <a:r>
                        <a:rPr lang="en-CA" sz="1800" i="1" baseline="0" dirty="0" smtClean="0">
                          <a:latin typeface="Times New Roman" pitchFamily="18" charset="0"/>
                          <a:cs typeface="Times New Roman" pitchFamily="18" charset="0"/>
                        </a:rPr>
                        <a:t>F</a:t>
                      </a:r>
                      <a:r>
                        <a:rPr lang="en-CA" sz="1800" baseline="-25000" dirty="0" smtClean="0"/>
                        <a:t>1</a:t>
                      </a:r>
                      <a:r>
                        <a:rPr lang="en-CA" sz="1800" dirty="0" smtClean="0"/>
                        <a:t> </a:t>
                      </a:r>
                      <a:endParaRPr lang="en-US" sz="1800" dirty="0"/>
                    </a:p>
                  </a:txBody>
                  <a:tcPr marT="45741" marB="45741"/>
                </a:tc>
                <a:extLst>
                  <a:ext uri="{0D108BD9-81ED-4DB2-BD59-A6C34878D82A}">
                    <a16:rowId xmlns:a16="http://schemas.microsoft.com/office/drawing/2014/main" val="10001"/>
                  </a:ext>
                </a:extLst>
              </a:tr>
              <a:tr h="640368">
                <a:tc>
                  <a:txBody>
                    <a:bodyPr/>
                    <a:lstStyle/>
                    <a:p>
                      <a:r>
                        <a:rPr lang="en-CA" sz="1800" dirty="0" smtClean="0"/>
                        <a:t>Net </a:t>
                      </a:r>
                      <a:r>
                        <a:rPr lang="en-CA" sz="1800" baseline="0" dirty="0" smtClean="0"/>
                        <a:t> amount paid</a:t>
                      </a:r>
                      <a:endParaRPr lang="en-US" sz="1800" dirty="0"/>
                    </a:p>
                  </a:txBody>
                  <a:tcPr marT="45741" marB="45741"/>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CA" sz="1800" i="1" dirty="0" smtClean="0">
                          <a:latin typeface="Times New Roman" pitchFamily="18" charset="0"/>
                          <a:cs typeface="Times New Roman" pitchFamily="18" charset="0"/>
                        </a:rPr>
                        <a:t>S</a:t>
                      </a:r>
                      <a:r>
                        <a:rPr lang="en-CA" sz="1800" baseline="-25000" dirty="0" smtClean="0"/>
                        <a:t>2  </a:t>
                      </a:r>
                      <a:r>
                        <a:rPr lang="en-CA" sz="1800" baseline="0" dirty="0" smtClean="0"/>
                        <a:t>−</a:t>
                      </a:r>
                      <a:r>
                        <a:rPr lang="en-CA" sz="1800" baseline="-25000" dirty="0" smtClean="0"/>
                        <a:t>  </a:t>
                      </a:r>
                      <a:r>
                        <a:rPr lang="en-CA" sz="1800" baseline="0" dirty="0" smtClean="0"/>
                        <a:t>(</a:t>
                      </a:r>
                      <a:r>
                        <a:rPr lang="en-CA" sz="1800" i="1" baseline="0" dirty="0" smtClean="0">
                          <a:latin typeface="Times New Roman" pitchFamily="18" charset="0"/>
                          <a:cs typeface="Times New Roman" pitchFamily="18" charset="0"/>
                        </a:rPr>
                        <a:t>F</a:t>
                      </a:r>
                      <a:r>
                        <a:rPr lang="en-CA" sz="1800" baseline="-25000" dirty="0" smtClean="0"/>
                        <a:t>2</a:t>
                      </a:r>
                      <a:r>
                        <a:rPr lang="en-CA" sz="1800" baseline="0" dirty="0" smtClean="0"/>
                        <a:t> −</a:t>
                      </a:r>
                      <a:r>
                        <a:rPr lang="en-CA" sz="1800" i="1" baseline="0" dirty="0" smtClean="0">
                          <a:latin typeface="Times New Roman" pitchFamily="18" charset="0"/>
                          <a:cs typeface="Times New Roman" pitchFamily="18" charset="0"/>
                        </a:rPr>
                        <a:t>F</a:t>
                      </a:r>
                      <a:r>
                        <a:rPr lang="en-CA" sz="1800" baseline="-25000" dirty="0" smtClean="0"/>
                        <a:t>1</a:t>
                      </a:r>
                      <a:r>
                        <a:rPr lang="en-CA" sz="1800" baseline="0" dirty="0" smtClean="0"/>
                        <a:t>)</a:t>
                      </a:r>
                      <a:r>
                        <a:rPr lang="en-CA" sz="1800" dirty="0" smtClean="0"/>
                        <a:t> =</a:t>
                      </a:r>
                      <a:r>
                        <a:rPr lang="en-CA" sz="1800" i="1" dirty="0" smtClean="0">
                          <a:latin typeface="Times New Roman" pitchFamily="18" charset="0"/>
                          <a:cs typeface="Times New Roman" pitchFamily="18" charset="0"/>
                        </a:rPr>
                        <a:t>F</a:t>
                      </a:r>
                      <a:r>
                        <a:rPr lang="en-CA" sz="1800" i="0" baseline="-25000" dirty="0" smtClean="0">
                          <a:latin typeface="+mn-lt"/>
                          <a:cs typeface="+mn-cs"/>
                        </a:rPr>
                        <a:t>1</a:t>
                      </a:r>
                      <a:r>
                        <a:rPr lang="en-CA" sz="1800" dirty="0" smtClean="0"/>
                        <a:t> + </a:t>
                      </a:r>
                      <a:r>
                        <a:rPr lang="en-CA" sz="1800" i="1" dirty="0" smtClean="0">
                          <a:latin typeface="Times New Roman" pitchFamily="18" charset="0"/>
                          <a:cs typeface="Times New Roman" pitchFamily="18" charset="0"/>
                        </a:rPr>
                        <a:t>b</a:t>
                      </a:r>
                      <a:r>
                        <a:rPr lang="en-CA" sz="1800" i="1" baseline="-25000" dirty="0" smtClean="0">
                          <a:latin typeface="Times New Roman" pitchFamily="18" charset="0"/>
                          <a:cs typeface="Times New Roman" pitchFamily="18" charset="0"/>
                        </a:rPr>
                        <a:t>2</a:t>
                      </a:r>
                      <a:endParaRPr lang="en-US" sz="1800" i="1" dirty="0" smtClean="0">
                        <a:latin typeface="Times New Roman" pitchFamily="18" charset="0"/>
                        <a:cs typeface="Times New Roman" pitchFamily="18" charset="0"/>
                      </a:endParaRPr>
                    </a:p>
                    <a:p>
                      <a:endParaRPr lang="en-US" sz="1800" dirty="0"/>
                    </a:p>
                  </a:txBody>
                  <a:tcPr marT="45741" marB="45741"/>
                </a:tc>
                <a:extLst>
                  <a:ext uri="{0D108BD9-81ED-4DB2-BD59-A6C34878D82A}">
                    <a16:rowId xmlns:a16="http://schemas.microsoft.com/office/drawing/2014/main" val="10002"/>
                  </a:ext>
                </a:extLst>
              </a:tr>
            </a:tbl>
          </a:graphicData>
        </a:graphic>
      </p:graphicFrame>
    </p:spTree>
  </p:cSld>
  <p:clrMapOvr>
    <a:masterClrMapping/>
  </p:clrMapOvr>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itle 1"/>
          <p:cNvSpPr>
            <a:spLocks noGrp="1"/>
          </p:cNvSpPr>
          <p:nvPr>
            <p:ph type="title"/>
          </p:nvPr>
        </p:nvSpPr>
        <p:spPr/>
        <p:txBody>
          <a:bodyPr/>
          <a:lstStyle/>
          <a:p>
            <a:pPr eaLnBrk="1" hangingPunct="1"/>
            <a:r>
              <a:rPr lang="en-US" altLang="en-US" sz="3600" smtClean="0"/>
              <a:t>Short Hedge for Sale of an Asset </a:t>
            </a:r>
          </a:p>
        </p:txBody>
      </p:sp>
      <p:sp>
        <p:nvSpPr>
          <p:cNvPr id="11267" name="Footer Placeholder 2"/>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Blip>
                <a:blip r:embed="rId3"/>
              </a:buBlip>
              <a:defRPr sz="3200">
                <a:solidFill>
                  <a:schemeClr val="tx1"/>
                </a:solidFill>
                <a:latin typeface="Tahoma" panose="020B0604030504040204" pitchFamily="34" charset="0"/>
              </a:defRPr>
            </a:lvl1pPr>
            <a:lvl2pPr marL="742950" indent="-285750" eaLnBrk="0" hangingPunct="0">
              <a:spcBef>
                <a:spcPct val="20000"/>
              </a:spcBef>
              <a:buSzPct val="75000"/>
              <a:buBlip>
                <a:blip r:embed="rId4"/>
              </a:buBlip>
              <a:defRPr sz="2800">
                <a:solidFill>
                  <a:schemeClr val="tx1"/>
                </a:solidFill>
                <a:latin typeface="Tahoma" panose="020B0604030504040204" pitchFamily="34" charset="0"/>
              </a:defRPr>
            </a:lvl2pPr>
            <a:lvl3pPr marL="1143000" indent="-228600" eaLnBrk="0" hangingPunct="0">
              <a:spcBef>
                <a:spcPct val="20000"/>
              </a:spcBef>
              <a:buChar char="•"/>
              <a:defRPr sz="2400">
                <a:solidFill>
                  <a:schemeClr val="tx1"/>
                </a:solidFill>
                <a:latin typeface="Tahoma" panose="020B0604030504040204" pitchFamily="34" charset="0"/>
              </a:defRPr>
            </a:lvl3pPr>
            <a:lvl4pPr marL="1600200" indent="-228600" eaLnBrk="0" hangingPunct="0">
              <a:spcBef>
                <a:spcPct val="20000"/>
              </a:spcBef>
              <a:buChar char="–"/>
              <a:defRPr sz="2000">
                <a:solidFill>
                  <a:schemeClr val="tx1"/>
                </a:solidFill>
                <a:latin typeface="Tahoma" panose="020B0604030504040204" pitchFamily="34" charset="0"/>
              </a:defRPr>
            </a:lvl4pPr>
            <a:lvl5pPr marL="2057400" indent="-228600" eaLnBrk="0" hangingPunct="0">
              <a:spcBef>
                <a:spcPct val="20000"/>
              </a:spcBef>
              <a:buClr>
                <a:schemeClr val="tx2"/>
              </a:buClr>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9pPr>
          </a:lstStyle>
          <a:p>
            <a:pPr eaLnBrk="1" hangingPunct="1">
              <a:spcBef>
                <a:spcPct val="0"/>
              </a:spcBef>
              <a:buFontTx/>
              <a:buNone/>
            </a:pPr>
            <a:r>
              <a:rPr lang="en-US" altLang="en-US" sz="1400" smtClean="0">
                <a:latin typeface="Arial" panose="020B0604020202020204" pitchFamily="34" charset="0"/>
              </a:rPr>
              <a:t>Options, Futures, and Other Derivatives, 11th Edition,    Copyright © John C. Hull 2021</a:t>
            </a:r>
          </a:p>
        </p:txBody>
      </p:sp>
      <p:sp>
        <p:nvSpPr>
          <p:cNvPr id="11268" name="Slide Number Placeholder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Blip>
                <a:blip r:embed="rId3"/>
              </a:buBlip>
              <a:defRPr sz="3200">
                <a:solidFill>
                  <a:schemeClr val="tx1"/>
                </a:solidFill>
                <a:latin typeface="Tahoma" panose="020B0604030504040204" pitchFamily="34" charset="0"/>
              </a:defRPr>
            </a:lvl1pPr>
            <a:lvl2pPr marL="742950" indent="-285750" eaLnBrk="0" hangingPunct="0">
              <a:spcBef>
                <a:spcPct val="20000"/>
              </a:spcBef>
              <a:buSzPct val="75000"/>
              <a:buBlip>
                <a:blip r:embed="rId4"/>
              </a:buBlip>
              <a:defRPr sz="2800">
                <a:solidFill>
                  <a:schemeClr val="tx1"/>
                </a:solidFill>
                <a:latin typeface="Tahoma" panose="020B0604030504040204" pitchFamily="34" charset="0"/>
              </a:defRPr>
            </a:lvl2pPr>
            <a:lvl3pPr marL="1143000" indent="-228600" eaLnBrk="0" hangingPunct="0">
              <a:spcBef>
                <a:spcPct val="20000"/>
              </a:spcBef>
              <a:buChar char="•"/>
              <a:defRPr sz="2400">
                <a:solidFill>
                  <a:schemeClr val="tx1"/>
                </a:solidFill>
                <a:latin typeface="Tahoma" panose="020B0604030504040204" pitchFamily="34" charset="0"/>
              </a:defRPr>
            </a:lvl3pPr>
            <a:lvl4pPr marL="1600200" indent="-228600" eaLnBrk="0" hangingPunct="0">
              <a:spcBef>
                <a:spcPct val="20000"/>
              </a:spcBef>
              <a:buChar char="–"/>
              <a:defRPr sz="2000">
                <a:solidFill>
                  <a:schemeClr val="tx1"/>
                </a:solidFill>
                <a:latin typeface="Tahoma" panose="020B0604030504040204" pitchFamily="34" charset="0"/>
              </a:defRPr>
            </a:lvl4pPr>
            <a:lvl5pPr marL="2057400" indent="-228600" eaLnBrk="0" hangingPunct="0">
              <a:spcBef>
                <a:spcPct val="20000"/>
              </a:spcBef>
              <a:buClr>
                <a:schemeClr val="tx2"/>
              </a:buClr>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9pPr>
          </a:lstStyle>
          <a:p>
            <a:pPr eaLnBrk="1" hangingPunct="1">
              <a:spcBef>
                <a:spcPct val="0"/>
              </a:spcBef>
              <a:buFontTx/>
              <a:buNone/>
            </a:pPr>
            <a:fld id="{76125447-7540-482C-B280-C3954692D7F6}" type="slidenum">
              <a:rPr lang="en-US" altLang="en-US" sz="1400">
                <a:latin typeface="Arial" panose="020B0604020202020204" pitchFamily="34" charset="0"/>
              </a:rPr>
              <a:pPr eaLnBrk="1" hangingPunct="1">
                <a:spcBef>
                  <a:spcPct val="0"/>
                </a:spcBef>
                <a:buFontTx/>
                <a:buNone/>
              </a:pPr>
              <a:t>7</a:t>
            </a:fld>
            <a:endParaRPr lang="en-US" altLang="en-US" sz="1400">
              <a:latin typeface="Arial" panose="020B0604020202020204" pitchFamily="34" charset="0"/>
            </a:endParaRPr>
          </a:p>
        </p:txBody>
      </p:sp>
      <p:sp>
        <p:nvSpPr>
          <p:cNvPr id="5" name="Rectangle 3"/>
          <p:cNvSpPr txBox="1">
            <a:spLocks noChangeArrowheads="1"/>
          </p:cNvSpPr>
          <p:nvPr/>
        </p:nvSpPr>
        <p:spPr>
          <a:xfrm>
            <a:off x="533400" y="2057400"/>
            <a:ext cx="7947025" cy="3741738"/>
          </a:xfrm>
          <a:prstGeom prst="rect">
            <a:avLst/>
          </a:prstGeom>
        </p:spPr>
        <p:txBody>
          <a:bodyPr lIns="90488" tIns="44450" rIns="90488" bIns="44450"/>
          <a:lstStyle/>
          <a:p>
            <a:pPr marL="342900" indent="-342900">
              <a:lnSpc>
                <a:spcPct val="90000"/>
              </a:lnSpc>
              <a:spcBef>
                <a:spcPct val="20000"/>
              </a:spcBef>
              <a:buFontTx/>
              <a:buBlip>
                <a:blip r:embed="rId3"/>
              </a:buBlip>
              <a:defRPr/>
            </a:pPr>
            <a:r>
              <a:rPr lang="en-CA" sz="2400" kern="0" dirty="0">
                <a:latin typeface="+mn-lt"/>
              </a:rPr>
              <a:t>Define</a:t>
            </a:r>
            <a:endParaRPr lang="en-US" sz="2400" kern="0" dirty="0">
              <a:latin typeface="+mn-lt"/>
            </a:endParaRPr>
          </a:p>
          <a:p>
            <a:pPr marL="1143000" lvl="2" indent="-228600">
              <a:lnSpc>
                <a:spcPct val="90000"/>
              </a:lnSpc>
              <a:spcBef>
                <a:spcPct val="20000"/>
              </a:spcBef>
              <a:buFont typeface="Wingdings" pitchFamily="2" charset="2"/>
              <a:buNone/>
              <a:defRPr/>
            </a:pPr>
            <a:r>
              <a:rPr lang="en-US" sz="2400" i="1" kern="0" dirty="0">
                <a:latin typeface="+mj-lt"/>
              </a:rPr>
              <a:t>F</a:t>
            </a:r>
            <a:r>
              <a:rPr lang="en-US" sz="2400" kern="0" baseline="-25000" dirty="0">
                <a:latin typeface="+mn-lt"/>
              </a:rPr>
              <a:t>1</a:t>
            </a:r>
            <a:r>
              <a:rPr lang="en-US" sz="2400" i="1" kern="0" baseline="-25000" dirty="0">
                <a:latin typeface="+mn-lt"/>
              </a:rPr>
              <a:t> </a:t>
            </a:r>
            <a:r>
              <a:rPr lang="en-US" sz="2400" kern="0" dirty="0">
                <a:latin typeface="+mn-lt"/>
              </a:rPr>
              <a:t>: </a:t>
            </a:r>
            <a:r>
              <a:rPr lang="en-US" sz="2400" i="1" kern="0" dirty="0">
                <a:latin typeface="+mn-lt"/>
              </a:rPr>
              <a:t> </a:t>
            </a:r>
            <a:r>
              <a:rPr lang="en-US" sz="2400" kern="0" dirty="0">
                <a:latin typeface="+mn-lt"/>
              </a:rPr>
              <a:t>Futures price at time hedge is set up</a:t>
            </a:r>
          </a:p>
          <a:p>
            <a:pPr marL="1143000" lvl="2" indent="-228600">
              <a:lnSpc>
                <a:spcPct val="90000"/>
              </a:lnSpc>
              <a:spcBef>
                <a:spcPct val="20000"/>
              </a:spcBef>
              <a:buFont typeface="Wingdings" pitchFamily="2" charset="2"/>
              <a:buNone/>
              <a:defRPr/>
            </a:pPr>
            <a:r>
              <a:rPr lang="en-US" sz="2400" i="1" kern="0" dirty="0">
                <a:latin typeface="+mj-lt"/>
              </a:rPr>
              <a:t>F</a:t>
            </a:r>
            <a:r>
              <a:rPr lang="en-US" sz="2400" kern="0" baseline="-25000" dirty="0">
                <a:latin typeface="+mn-lt"/>
              </a:rPr>
              <a:t>2</a:t>
            </a:r>
            <a:r>
              <a:rPr lang="en-US" sz="2400" i="1" kern="0" dirty="0">
                <a:latin typeface="+mn-lt"/>
              </a:rPr>
              <a:t> </a:t>
            </a:r>
            <a:r>
              <a:rPr lang="en-US" sz="2400" kern="0" dirty="0">
                <a:latin typeface="+mn-lt"/>
              </a:rPr>
              <a:t>: </a:t>
            </a:r>
            <a:r>
              <a:rPr lang="en-US" sz="2400" i="1" kern="0" dirty="0">
                <a:latin typeface="+mn-lt"/>
              </a:rPr>
              <a:t> </a:t>
            </a:r>
            <a:r>
              <a:rPr lang="en-US" sz="2400" kern="0" dirty="0">
                <a:latin typeface="+mn-lt"/>
              </a:rPr>
              <a:t>Futures price at time asset is sold</a:t>
            </a:r>
          </a:p>
          <a:p>
            <a:pPr marL="1143000" lvl="2" indent="-228600">
              <a:lnSpc>
                <a:spcPct val="90000"/>
              </a:lnSpc>
              <a:spcBef>
                <a:spcPct val="20000"/>
              </a:spcBef>
              <a:buFont typeface="Wingdings" pitchFamily="2" charset="2"/>
              <a:buNone/>
              <a:defRPr/>
            </a:pPr>
            <a:r>
              <a:rPr lang="en-US" sz="2400" i="1" kern="0" dirty="0">
                <a:latin typeface="+mj-lt"/>
              </a:rPr>
              <a:t>S</a:t>
            </a:r>
            <a:r>
              <a:rPr lang="en-US" sz="2400" kern="0" baseline="-25000" dirty="0">
                <a:latin typeface="+mn-lt"/>
              </a:rPr>
              <a:t>2</a:t>
            </a:r>
            <a:r>
              <a:rPr lang="en-US" sz="2400" i="1" kern="0" baseline="-25000" dirty="0">
                <a:latin typeface="+mn-lt"/>
              </a:rPr>
              <a:t> </a:t>
            </a:r>
            <a:r>
              <a:rPr lang="en-US" sz="2400" i="1" kern="0" dirty="0">
                <a:latin typeface="+mn-lt"/>
              </a:rPr>
              <a:t> </a:t>
            </a:r>
            <a:r>
              <a:rPr lang="en-US" sz="2400" kern="0" dirty="0">
                <a:latin typeface="+mn-lt"/>
              </a:rPr>
              <a:t>: </a:t>
            </a:r>
            <a:r>
              <a:rPr lang="en-US" sz="2400" i="1" kern="0" dirty="0">
                <a:latin typeface="+mn-lt"/>
              </a:rPr>
              <a:t> </a:t>
            </a:r>
            <a:r>
              <a:rPr lang="en-US" sz="2400" kern="0" dirty="0">
                <a:latin typeface="+mn-lt"/>
              </a:rPr>
              <a:t>Asset price at time of sale</a:t>
            </a:r>
          </a:p>
          <a:p>
            <a:pPr marL="1143000" lvl="2" indent="-228600">
              <a:lnSpc>
                <a:spcPct val="90000"/>
              </a:lnSpc>
              <a:spcBef>
                <a:spcPct val="20000"/>
              </a:spcBef>
              <a:buFont typeface="Wingdings" pitchFamily="2" charset="2"/>
              <a:buNone/>
              <a:defRPr/>
            </a:pPr>
            <a:r>
              <a:rPr lang="en-CA" sz="2400" i="1" kern="0" dirty="0">
                <a:latin typeface="Times New Roman" pitchFamily="18" charset="0"/>
                <a:cs typeface="Times New Roman" pitchFamily="18" charset="0"/>
              </a:rPr>
              <a:t>b</a:t>
            </a:r>
            <a:r>
              <a:rPr lang="en-CA" sz="2400" i="1" kern="0" baseline="-25000" dirty="0">
                <a:latin typeface="Times New Roman" pitchFamily="18" charset="0"/>
                <a:cs typeface="Times New Roman" pitchFamily="18" charset="0"/>
              </a:rPr>
              <a:t>2</a:t>
            </a:r>
            <a:r>
              <a:rPr lang="en-CA" sz="2400" i="1" kern="0" dirty="0">
                <a:latin typeface="Times New Roman" pitchFamily="18" charset="0"/>
                <a:cs typeface="Times New Roman" pitchFamily="18" charset="0"/>
              </a:rPr>
              <a:t> </a:t>
            </a:r>
            <a:r>
              <a:rPr lang="en-CA" sz="2400" kern="0" dirty="0">
                <a:latin typeface="+mn-lt"/>
              </a:rPr>
              <a:t> :  Basis at time of sale</a:t>
            </a:r>
            <a:endParaRPr lang="en-US" sz="2400" kern="0" dirty="0">
              <a:latin typeface="+mn-lt"/>
            </a:endParaRPr>
          </a:p>
          <a:p>
            <a:pPr marL="1143000" lvl="2" indent="-228600">
              <a:lnSpc>
                <a:spcPct val="90000"/>
              </a:lnSpc>
              <a:spcBef>
                <a:spcPct val="20000"/>
              </a:spcBef>
              <a:buFont typeface="Wingdings" pitchFamily="2" charset="2"/>
              <a:buNone/>
              <a:defRPr/>
            </a:pPr>
            <a:endParaRPr lang="en-US" sz="2400" kern="0" dirty="0">
              <a:latin typeface="+mn-lt"/>
            </a:endParaRPr>
          </a:p>
          <a:p>
            <a:pPr marL="1143000" lvl="2" indent="-228600">
              <a:lnSpc>
                <a:spcPct val="90000"/>
              </a:lnSpc>
              <a:spcBef>
                <a:spcPct val="20000"/>
              </a:spcBef>
              <a:buFont typeface="Wingdings" pitchFamily="2" charset="2"/>
              <a:buNone/>
              <a:defRPr/>
            </a:pPr>
            <a:endParaRPr lang="en-US" sz="2800" kern="0" dirty="0">
              <a:latin typeface="+mn-lt"/>
            </a:endParaRPr>
          </a:p>
          <a:p>
            <a:pPr marL="1143000" lvl="2" indent="-228600">
              <a:lnSpc>
                <a:spcPct val="90000"/>
              </a:lnSpc>
              <a:spcBef>
                <a:spcPct val="20000"/>
              </a:spcBef>
              <a:buFont typeface="Wingdings" pitchFamily="2" charset="2"/>
              <a:buNone/>
              <a:defRPr/>
            </a:pPr>
            <a:endParaRPr lang="en-US" sz="2800" kern="0" dirty="0">
              <a:latin typeface="+mn-lt"/>
            </a:endParaRPr>
          </a:p>
        </p:txBody>
      </p:sp>
      <p:graphicFrame>
        <p:nvGraphicFramePr>
          <p:cNvPr id="7" name="Table 6"/>
          <p:cNvGraphicFramePr>
            <a:graphicFrameLocks noGrp="1"/>
          </p:cNvGraphicFramePr>
          <p:nvPr/>
        </p:nvGraphicFramePr>
        <p:xfrm>
          <a:off x="1295400" y="4419600"/>
          <a:ext cx="6096000" cy="1412875"/>
        </p:xfrm>
        <a:graphic>
          <a:graphicData uri="http://schemas.openxmlformats.org/drawingml/2006/table">
            <a:tbl>
              <a:tblPr firstRow="1" bandRow="1">
                <a:tableStyleId>{5940675A-B579-460E-94D1-54222C63F5DA}</a:tableStyleId>
              </a:tblPr>
              <a:tblGrid>
                <a:gridCol w="3048000">
                  <a:extLst>
                    <a:ext uri="{9D8B030D-6E8A-4147-A177-3AD203B41FA5}">
                      <a16:colId xmlns:a16="http://schemas.microsoft.com/office/drawing/2014/main" val="20000"/>
                    </a:ext>
                  </a:extLst>
                </a:gridCol>
                <a:gridCol w="3048000">
                  <a:extLst>
                    <a:ext uri="{9D8B030D-6E8A-4147-A177-3AD203B41FA5}">
                      <a16:colId xmlns:a16="http://schemas.microsoft.com/office/drawing/2014/main" val="20001"/>
                    </a:ext>
                  </a:extLst>
                </a:gridCol>
              </a:tblGrid>
              <a:tr h="406583">
                <a:tc>
                  <a:txBody>
                    <a:bodyPr/>
                    <a:lstStyle/>
                    <a:p>
                      <a:r>
                        <a:rPr lang="en-CA" sz="1800" dirty="0" smtClean="0"/>
                        <a:t>Price</a:t>
                      </a:r>
                      <a:r>
                        <a:rPr lang="en-CA" sz="1800" baseline="0" dirty="0" smtClean="0"/>
                        <a:t> </a:t>
                      </a:r>
                      <a:r>
                        <a:rPr lang="en-CA" sz="1800" dirty="0" smtClean="0"/>
                        <a:t>of asset</a:t>
                      </a:r>
                      <a:endParaRPr lang="en-US" sz="1800" dirty="0"/>
                    </a:p>
                  </a:txBody>
                  <a:tcPr marT="45741" marB="45741"/>
                </a:tc>
                <a:tc>
                  <a:txBody>
                    <a:bodyPr/>
                    <a:lstStyle/>
                    <a:p>
                      <a:r>
                        <a:rPr lang="en-CA" sz="1800" i="1" dirty="0" smtClean="0">
                          <a:latin typeface="Times New Roman" pitchFamily="18" charset="0"/>
                          <a:cs typeface="Times New Roman" pitchFamily="18" charset="0"/>
                        </a:rPr>
                        <a:t>S</a:t>
                      </a:r>
                      <a:r>
                        <a:rPr lang="en-CA" sz="1800" baseline="-25000" dirty="0" smtClean="0"/>
                        <a:t>2</a:t>
                      </a:r>
                      <a:endParaRPr lang="en-US" sz="1800" dirty="0"/>
                    </a:p>
                  </a:txBody>
                  <a:tcPr marT="45741" marB="45741"/>
                </a:tc>
                <a:extLst>
                  <a:ext uri="{0D108BD9-81ED-4DB2-BD59-A6C34878D82A}">
                    <a16:rowId xmlns:a16="http://schemas.microsoft.com/office/drawing/2014/main" val="10000"/>
                  </a:ext>
                </a:extLst>
              </a:tr>
              <a:tr h="365924">
                <a:tc>
                  <a:txBody>
                    <a:bodyPr/>
                    <a:lstStyle/>
                    <a:p>
                      <a:r>
                        <a:rPr lang="en-CA" sz="1800" dirty="0" smtClean="0"/>
                        <a:t>Gain on Futures</a:t>
                      </a:r>
                      <a:endParaRPr lang="en-US" sz="1800" dirty="0"/>
                    </a:p>
                  </a:txBody>
                  <a:tcPr marT="45741" marB="45741"/>
                </a:tc>
                <a:tc>
                  <a:txBody>
                    <a:bodyPr/>
                    <a:lstStyle/>
                    <a:p>
                      <a:r>
                        <a:rPr lang="en-CA" sz="1800" i="1" baseline="0" dirty="0" smtClean="0">
                          <a:latin typeface="Times New Roman" pitchFamily="18" charset="0"/>
                          <a:cs typeface="Times New Roman" pitchFamily="18" charset="0"/>
                        </a:rPr>
                        <a:t>F</a:t>
                      </a:r>
                      <a:r>
                        <a:rPr lang="en-CA" sz="1800" i="0" baseline="-25000" dirty="0" smtClean="0">
                          <a:latin typeface="+mn-lt"/>
                          <a:cs typeface="+mn-cs"/>
                        </a:rPr>
                        <a:t>1</a:t>
                      </a:r>
                      <a:r>
                        <a:rPr lang="en-CA" sz="1800" baseline="0" dirty="0" smtClean="0"/>
                        <a:t> −</a:t>
                      </a:r>
                      <a:r>
                        <a:rPr lang="en-CA" sz="1800" i="1" baseline="0" dirty="0" smtClean="0">
                          <a:latin typeface="Times New Roman" pitchFamily="18" charset="0"/>
                          <a:cs typeface="Times New Roman" pitchFamily="18" charset="0"/>
                        </a:rPr>
                        <a:t>F</a:t>
                      </a:r>
                      <a:r>
                        <a:rPr lang="en-CA" sz="1800" i="0" baseline="-25000" dirty="0" smtClean="0">
                          <a:latin typeface="+mn-lt"/>
                          <a:cs typeface="+mn-cs"/>
                        </a:rPr>
                        <a:t>2</a:t>
                      </a:r>
                      <a:r>
                        <a:rPr lang="en-CA" sz="1800" dirty="0" smtClean="0"/>
                        <a:t> </a:t>
                      </a:r>
                      <a:endParaRPr lang="en-US" sz="1800" dirty="0"/>
                    </a:p>
                  </a:txBody>
                  <a:tcPr marT="45741" marB="45741"/>
                </a:tc>
                <a:extLst>
                  <a:ext uri="{0D108BD9-81ED-4DB2-BD59-A6C34878D82A}">
                    <a16:rowId xmlns:a16="http://schemas.microsoft.com/office/drawing/2014/main" val="10001"/>
                  </a:ext>
                </a:extLst>
              </a:tr>
              <a:tr h="640368">
                <a:tc>
                  <a:txBody>
                    <a:bodyPr/>
                    <a:lstStyle/>
                    <a:p>
                      <a:r>
                        <a:rPr lang="en-CA" sz="1800" dirty="0" smtClean="0"/>
                        <a:t>Net amount</a:t>
                      </a:r>
                      <a:r>
                        <a:rPr lang="en-CA" sz="1800" baseline="0" dirty="0" smtClean="0"/>
                        <a:t> received</a:t>
                      </a:r>
                      <a:endParaRPr lang="en-US" sz="1800" dirty="0"/>
                    </a:p>
                  </a:txBody>
                  <a:tcPr marT="45741" marB="45741"/>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CA" sz="1800" i="1" dirty="0" smtClean="0">
                          <a:latin typeface="Times New Roman" pitchFamily="18" charset="0"/>
                          <a:cs typeface="Times New Roman" pitchFamily="18" charset="0"/>
                        </a:rPr>
                        <a:t>S</a:t>
                      </a:r>
                      <a:r>
                        <a:rPr lang="en-CA" sz="1800" baseline="-25000" dirty="0" smtClean="0"/>
                        <a:t>2  </a:t>
                      </a:r>
                      <a:r>
                        <a:rPr lang="en-CA" sz="1800" baseline="0" dirty="0" smtClean="0"/>
                        <a:t>+</a:t>
                      </a:r>
                      <a:r>
                        <a:rPr lang="en-CA" sz="1800" baseline="-25000" dirty="0" smtClean="0"/>
                        <a:t>  </a:t>
                      </a:r>
                      <a:r>
                        <a:rPr lang="en-CA" sz="1800" baseline="0" dirty="0" smtClean="0"/>
                        <a:t>(</a:t>
                      </a:r>
                      <a:r>
                        <a:rPr lang="en-CA" sz="1800" i="1" baseline="0" dirty="0" smtClean="0">
                          <a:latin typeface="Times New Roman" pitchFamily="18" charset="0"/>
                          <a:cs typeface="Times New Roman" pitchFamily="18" charset="0"/>
                        </a:rPr>
                        <a:t>F</a:t>
                      </a:r>
                      <a:r>
                        <a:rPr lang="en-CA" sz="1800" i="0" baseline="-25000" dirty="0" smtClean="0">
                          <a:latin typeface="+mn-lt"/>
                          <a:cs typeface="+mn-cs"/>
                        </a:rPr>
                        <a:t>1</a:t>
                      </a:r>
                      <a:r>
                        <a:rPr lang="en-CA" sz="1800" baseline="0" dirty="0" smtClean="0"/>
                        <a:t> −</a:t>
                      </a:r>
                      <a:r>
                        <a:rPr lang="en-CA" sz="1800" i="1" baseline="0" dirty="0" smtClean="0">
                          <a:latin typeface="Times New Roman" pitchFamily="18" charset="0"/>
                          <a:cs typeface="Times New Roman" pitchFamily="18" charset="0"/>
                        </a:rPr>
                        <a:t>F</a:t>
                      </a:r>
                      <a:r>
                        <a:rPr lang="en-CA" sz="1800" i="0" baseline="-25000" dirty="0" smtClean="0">
                          <a:latin typeface="+mn-lt"/>
                          <a:cs typeface="+mn-cs"/>
                        </a:rPr>
                        <a:t>2</a:t>
                      </a:r>
                      <a:r>
                        <a:rPr lang="en-CA" sz="1800" baseline="0" dirty="0" smtClean="0"/>
                        <a:t>)</a:t>
                      </a:r>
                      <a:r>
                        <a:rPr lang="en-CA" sz="1800" dirty="0" smtClean="0"/>
                        <a:t> =</a:t>
                      </a:r>
                      <a:r>
                        <a:rPr lang="en-CA" sz="1800" i="1" dirty="0" smtClean="0">
                          <a:latin typeface="Times New Roman" pitchFamily="18" charset="0"/>
                          <a:cs typeface="Times New Roman" pitchFamily="18" charset="0"/>
                        </a:rPr>
                        <a:t>F</a:t>
                      </a:r>
                      <a:r>
                        <a:rPr lang="en-CA" sz="1800" i="0" baseline="-25000" dirty="0" smtClean="0">
                          <a:latin typeface="+mn-lt"/>
                          <a:cs typeface="+mn-cs"/>
                        </a:rPr>
                        <a:t>1</a:t>
                      </a:r>
                      <a:r>
                        <a:rPr lang="en-CA" sz="1800" dirty="0" smtClean="0"/>
                        <a:t> + </a:t>
                      </a:r>
                      <a:r>
                        <a:rPr lang="en-CA" sz="1800" i="1" dirty="0" smtClean="0">
                          <a:latin typeface="Times New Roman" pitchFamily="18" charset="0"/>
                          <a:cs typeface="Times New Roman" pitchFamily="18" charset="0"/>
                        </a:rPr>
                        <a:t>b</a:t>
                      </a:r>
                      <a:r>
                        <a:rPr lang="en-CA" sz="1800" i="1" baseline="-25000" dirty="0" smtClean="0">
                          <a:latin typeface="Times New Roman" pitchFamily="18" charset="0"/>
                          <a:cs typeface="Times New Roman" pitchFamily="18" charset="0"/>
                        </a:rPr>
                        <a:t>2</a:t>
                      </a:r>
                      <a:endParaRPr lang="en-US" sz="1800" i="1" dirty="0" smtClean="0">
                        <a:latin typeface="Times New Roman" pitchFamily="18" charset="0"/>
                        <a:cs typeface="Times New Roman" pitchFamily="18" charset="0"/>
                      </a:endParaRPr>
                    </a:p>
                    <a:p>
                      <a:endParaRPr lang="en-US" sz="1800" dirty="0"/>
                    </a:p>
                  </a:txBody>
                  <a:tcPr marT="45741" marB="45741"/>
                </a:tc>
                <a:extLst>
                  <a:ext uri="{0D108BD9-81ED-4DB2-BD59-A6C34878D82A}">
                    <a16:rowId xmlns:a16="http://schemas.microsoft.com/office/drawing/2014/main" val="10002"/>
                  </a:ext>
                </a:extLst>
              </a:tr>
            </a:tbl>
          </a:graphicData>
        </a:graphic>
      </p:graphicFrame>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ChangeArrowheads="1"/>
          </p:cNvSpPr>
          <p:nvPr>
            <p:ph type="title"/>
          </p:nvPr>
        </p:nvSpPr>
        <p:spPr/>
        <p:txBody>
          <a:bodyPr lIns="90488" tIns="44450" rIns="90488" bIns="44450"/>
          <a:lstStyle/>
          <a:p>
            <a:pPr eaLnBrk="1" hangingPunct="1"/>
            <a:r>
              <a:rPr lang="en-US" altLang="en-US" smtClean="0"/>
              <a:t>Choice of Contract</a:t>
            </a:r>
          </a:p>
        </p:txBody>
      </p:sp>
      <p:sp>
        <p:nvSpPr>
          <p:cNvPr id="12291" name="Rectangle 3"/>
          <p:cNvSpPr>
            <a:spLocks noGrp="1" noChangeArrowheads="1"/>
          </p:cNvSpPr>
          <p:nvPr>
            <p:ph idx="1"/>
          </p:nvPr>
        </p:nvSpPr>
        <p:spPr/>
        <p:txBody>
          <a:bodyPr lIns="90488" tIns="44450" rIns="90488" bIns="44450"/>
          <a:lstStyle/>
          <a:p>
            <a:pPr eaLnBrk="1" hangingPunct="1"/>
            <a:r>
              <a:rPr lang="en-US" altLang="en-US" smtClean="0"/>
              <a:t>Choose a delivery month that is as close as possible to, but later than, the end of the life of the hedge</a:t>
            </a:r>
          </a:p>
          <a:p>
            <a:pPr eaLnBrk="1" hangingPunct="1"/>
            <a:r>
              <a:rPr lang="en-US" altLang="en-US" smtClean="0"/>
              <a:t>When there is no futures contract on the asset being hedged, choose the contract whose futures price is most highly correlated with the asset price. This is known as cross hedging.</a:t>
            </a:r>
          </a:p>
        </p:txBody>
      </p:sp>
      <p:sp>
        <p:nvSpPr>
          <p:cNvPr id="12292" name="Footer Placeholder 5"/>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Blip>
                <a:blip r:embed="rId3"/>
              </a:buBlip>
              <a:defRPr sz="3200">
                <a:solidFill>
                  <a:schemeClr val="tx1"/>
                </a:solidFill>
                <a:latin typeface="Tahoma" panose="020B0604030504040204" pitchFamily="34" charset="0"/>
              </a:defRPr>
            </a:lvl1pPr>
            <a:lvl2pPr marL="742950" indent="-285750" eaLnBrk="0" hangingPunct="0">
              <a:spcBef>
                <a:spcPct val="20000"/>
              </a:spcBef>
              <a:buSzPct val="75000"/>
              <a:buBlip>
                <a:blip r:embed="rId4"/>
              </a:buBlip>
              <a:defRPr sz="2800">
                <a:solidFill>
                  <a:schemeClr val="tx1"/>
                </a:solidFill>
                <a:latin typeface="Tahoma" panose="020B0604030504040204" pitchFamily="34" charset="0"/>
              </a:defRPr>
            </a:lvl2pPr>
            <a:lvl3pPr marL="1143000" indent="-228600" eaLnBrk="0" hangingPunct="0">
              <a:spcBef>
                <a:spcPct val="20000"/>
              </a:spcBef>
              <a:buChar char="•"/>
              <a:defRPr sz="2400">
                <a:solidFill>
                  <a:schemeClr val="tx1"/>
                </a:solidFill>
                <a:latin typeface="Tahoma" panose="020B0604030504040204" pitchFamily="34" charset="0"/>
              </a:defRPr>
            </a:lvl3pPr>
            <a:lvl4pPr marL="1600200" indent="-228600" eaLnBrk="0" hangingPunct="0">
              <a:spcBef>
                <a:spcPct val="20000"/>
              </a:spcBef>
              <a:buChar char="–"/>
              <a:defRPr sz="2000">
                <a:solidFill>
                  <a:schemeClr val="tx1"/>
                </a:solidFill>
                <a:latin typeface="Tahoma" panose="020B0604030504040204" pitchFamily="34" charset="0"/>
              </a:defRPr>
            </a:lvl4pPr>
            <a:lvl5pPr marL="2057400" indent="-228600" eaLnBrk="0" hangingPunct="0">
              <a:spcBef>
                <a:spcPct val="20000"/>
              </a:spcBef>
              <a:buClr>
                <a:schemeClr val="tx2"/>
              </a:buClr>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9pPr>
          </a:lstStyle>
          <a:p>
            <a:pPr eaLnBrk="1" hangingPunct="1">
              <a:spcBef>
                <a:spcPct val="0"/>
              </a:spcBef>
              <a:buFontTx/>
              <a:buNone/>
            </a:pPr>
            <a:r>
              <a:rPr lang="en-US" altLang="en-US" sz="1400" smtClean="0">
                <a:latin typeface="Arial" panose="020B0604020202020204" pitchFamily="34" charset="0"/>
              </a:rPr>
              <a:t>Options, Futures, and Other Derivatives, 11th Edition,    Copyright © John C. Hull 2021</a:t>
            </a:r>
          </a:p>
        </p:txBody>
      </p:sp>
      <p:sp>
        <p:nvSpPr>
          <p:cNvPr id="12293"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Blip>
                <a:blip r:embed="rId3"/>
              </a:buBlip>
              <a:defRPr sz="3200">
                <a:solidFill>
                  <a:schemeClr val="tx1"/>
                </a:solidFill>
                <a:latin typeface="Tahoma" panose="020B0604030504040204" pitchFamily="34" charset="0"/>
              </a:defRPr>
            </a:lvl1pPr>
            <a:lvl2pPr marL="742950" indent="-285750" eaLnBrk="0" hangingPunct="0">
              <a:spcBef>
                <a:spcPct val="20000"/>
              </a:spcBef>
              <a:buSzPct val="75000"/>
              <a:buBlip>
                <a:blip r:embed="rId4"/>
              </a:buBlip>
              <a:defRPr sz="2800">
                <a:solidFill>
                  <a:schemeClr val="tx1"/>
                </a:solidFill>
                <a:latin typeface="Tahoma" panose="020B0604030504040204" pitchFamily="34" charset="0"/>
              </a:defRPr>
            </a:lvl2pPr>
            <a:lvl3pPr marL="1143000" indent="-228600" eaLnBrk="0" hangingPunct="0">
              <a:spcBef>
                <a:spcPct val="20000"/>
              </a:spcBef>
              <a:buChar char="•"/>
              <a:defRPr sz="2400">
                <a:solidFill>
                  <a:schemeClr val="tx1"/>
                </a:solidFill>
                <a:latin typeface="Tahoma" panose="020B0604030504040204" pitchFamily="34" charset="0"/>
              </a:defRPr>
            </a:lvl3pPr>
            <a:lvl4pPr marL="1600200" indent="-228600" eaLnBrk="0" hangingPunct="0">
              <a:spcBef>
                <a:spcPct val="20000"/>
              </a:spcBef>
              <a:buChar char="–"/>
              <a:defRPr sz="2000">
                <a:solidFill>
                  <a:schemeClr val="tx1"/>
                </a:solidFill>
                <a:latin typeface="Tahoma" panose="020B0604030504040204" pitchFamily="34" charset="0"/>
              </a:defRPr>
            </a:lvl4pPr>
            <a:lvl5pPr marL="2057400" indent="-228600" eaLnBrk="0" hangingPunct="0">
              <a:spcBef>
                <a:spcPct val="20000"/>
              </a:spcBef>
              <a:buClr>
                <a:schemeClr val="tx2"/>
              </a:buClr>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9pPr>
          </a:lstStyle>
          <a:p>
            <a:pPr eaLnBrk="1" hangingPunct="1">
              <a:spcBef>
                <a:spcPct val="0"/>
              </a:spcBef>
              <a:buFontTx/>
              <a:buNone/>
            </a:pPr>
            <a:fld id="{72496EED-2F69-4F75-A933-1209381171DF}" type="slidenum">
              <a:rPr lang="en-US" altLang="en-US" sz="1400">
                <a:latin typeface="Arial" panose="020B0604020202020204" pitchFamily="34" charset="0"/>
              </a:rPr>
              <a:pPr eaLnBrk="1" hangingPunct="1">
                <a:spcBef>
                  <a:spcPct val="0"/>
                </a:spcBef>
                <a:buFontTx/>
                <a:buNone/>
              </a:pPr>
              <a:t>8</a:t>
            </a:fld>
            <a:endParaRPr lang="en-US" altLang="en-US" sz="1400">
              <a:latin typeface="Arial" panose="020B0604020202020204" pitchFamily="34" charset="0"/>
            </a:endParaRPr>
          </a:p>
        </p:txBody>
      </p:sp>
    </p:spTree>
  </p:cSld>
  <p:clrMapOvr>
    <a:masterClrMapping/>
  </p:clrMapOvr>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p:txBody>
          <a:bodyPr lIns="92075" tIns="46038" rIns="92075" bIns="46038"/>
          <a:lstStyle/>
          <a:p>
            <a:pPr eaLnBrk="1" hangingPunct="1"/>
            <a:r>
              <a:rPr lang="en-US" altLang="en-US" dirty="0" smtClean="0"/>
              <a:t>Optimal Hedge Ratio </a:t>
            </a:r>
            <a:r>
              <a:rPr lang="en-US" altLang="en-US" sz="2700" dirty="0" smtClean="0"/>
              <a:t>(equation 3.1)</a:t>
            </a:r>
          </a:p>
        </p:txBody>
      </p:sp>
      <p:sp>
        <p:nvSpPr>
          <p:cNvPr id="1028" name="Rectangle 3"/>
          <p:cNvSpPr>
            <a:spLocks noGrp="1" noChangeArrowheads="1"/>
          </p:cNvSpPr>
          <p:nvPr>
            <p:ph idx="1"/>
          </p:nvPr>
        </p:nvSpPr>
        <p:spPr>
          <a:xfrm>
            <a:off x="685800" y="2057400"/>
            <a:ext cx="7848600" cy="3733800"/>
          </a:xfrm>
        </p:spPr>
        <p:txBody>
          <a:bodyPr lIns="92075" tIns="46038" rIns="92075" bIns="46038"/>
          <a:lstStyle/>
          <a:p>
            <a:pPr eaLnBrk="1" hangingPunct="1">
              <a:buFont typeface="Wingdings" pitchFamily="2" charset="2"/>
              <a:buNone/>
              <a:defRPr/>
            </a:pPr>
            <a:r>
              <a:rPr lang="en-US" sz="2400" dirty="0" smtClean="0">
                <a:latin typeface="Arial" charset="0"/>
                <a:cs typeface="Arial" charset="0"/>
              </a:rPr>
              <a:t>	Ignoring daily settlement of futures (or assuming forwards are used) , the proportion of the exposure that should optimally be hedged is											</a:t>
            </a:r>
          </a:p>
          <a:p>
            <a:pPr eaLnBrk="1" hangingPunct="1">
              <a:buFont typeface="Wingdings" pitchFamily="2" charset="2"/>
              <a:buNone/>
              <a:defRPr/>
            </a:pPr>
            <a:r>
              <a:rPr lang="en-US" sz="2400" dirty="0" smtClean="0">
                <a:latin typeface="Arial" charset="0"/>
                <a:cs typeface="Arial" charset="0"/>
              </a:rPr>
              <a:t>	where </a:t>
            </a:r>
          </a:p>
          <a:p>
            <a:pPr eaLnBrk="1" hangingPunct="1">
              <a:buFont typeface="Wingdings" pitchFamily="2" charset="2"/>
              <a:buNone/>
              <a:defRPr/>
            </a:pPr>
            <a:r>
              <a:rPr lang="en-US" sz="2400" dirty="0" smtClean="0">
                <a:latin typeface="Symbol" pitchFamily="18" charset="2"/>
                <a:cs typeface="Arial" charset="0"/>
              </a:rPr>
              <a:t>	</a:t>
            </a:r>
            <a:r>
              <a:rPr lang="en-US" sz="2400" dirty="0" err="1" smtClean="0">
                <a:latin typeface="Symbol" pitchFamily="18" charset="2"/>
                <a:cs typeface="Arial" charset="0"/>
              </a:rPr>
              <a:t>s</a:t>
            </a:r>
            <a:r>
              <a:rPr lang="en-US" sz="2400" i="1" baseline="-25000" dirty="0" err="1" smtClean="0">
                <a:latin typeface="+mj-lt"/>
                <a:cs typeface="Arial" charset="0"/>
              </a:rPr>
              <a:t>S</a:t>
            </a:r>
            <a:r>
              <a:rPr lang="en-US" sz="2400" dirty="0" smtClean="0">
                <a:latin typeface="Arial" charset="0"/>
                <a:cs typeface="Arial" charset="0"/>
              </a:rPr>
              <a:t> is the standard deviation of </a:t>
            </a:r>
            <a:r>
              <a:rPr lang="en-US" sz="2400" dirty="0" smtClean="0">
                <a:latin typeface="Symbol" pitchFamily="18" charset="2"/>
                <a:cs typeface="Arial" charset="0"/>
              </a:rPr>
              <a:t>D</a:t>
            </a:r>
            <a:r>
              <a:rPr lang="en-US" sz="2400" i="1" dirty="0" smtClean="0">
                <a:latin typeface="+mj-lt"/>
                <a:cs typeface="Arial" charset="0"/>
              </a:rPr>
              <a:t>S</a:t>
            </a:r>
            <a:r>
              <a:rPr lang="en-US" sz="2400" dirty="0" smtClean="0">
                <a:latin typeface="Arial" charset="0"/>
                <a:cs typeface="Arial" charset="0"/>
              </a:rPr>
              <a:t>, the change in the spot price during the hedging period, </a:t>
            </a:r>
          </a:p>
          <a:p>
            <a:pPr eaLnBrk="1" hangingPunct="1">
              <a:buFont typeface="Wingdings" pitchFamily="2" charset="2"/>
              <a:buNone/>
              <a:defRPr/>
            </a:pPr>
            <a:r>
              <a:rPr lang="en-US" sz="2400" dirty="0" smtClean="0">
                <a:latin typeface="Arial" charset="0"/>
                <a:cs typeface="Arial" charset="0"/>
              </a:rPr>
              <a:t>	</a:t>
            </a:r>
            <a:r>
              <a:rPr lang="en-US" sz="2400" dirty="0" err="1" smtClean="0">
                <a:latin typeface="Symbol" pitchFamily="18" charset="2"/>
                <a:cs typeface="Arial" charset="0"/>
              </a:rPr>
              <a:t>s</a:t>
            </a:r>
            <a:r>
              <a:rPr lang="en-US" sz="2400" i="1" baseline="-25000" dirty="0" err="1" smtClean="0">
                <a:latin typeface="+mj-lt"/>
                <a:cs typeface="Arial" charset="0"/>
              </a:rPr>
              <a:t>F</a:t>
            </a:r>
            <a:r>
              <a:rPr lang="en-US" sz="2400" dirty="0" smtClean="0">
                <a:latin typeface="Arial" charset="0"/>
                <a:cs typeface="Arial" charset="0"/>
              </a:rPr>
              <a:t> is the standard deviation of </a:t>
            </a:r>
            <a:r>
              <a:rPr lang="en-US" sz="2400" dirty="0" smtClean="0">
                <a:latin typeface="Symbol" pitchFamily="18" charset="2"/>
                <a:cs typeface="Arial" charset="0"/>
              </a:rPr>
              <a:t>D</a:t>
            </a:r>
            <a:r>
              <a:rPr lang="en-US" sz="2400" i="1" dirty="0" smtClean="0">
                <a:latin typeface="+mj-lt"/>
                <a:cs typeface="Arial" charset="0"/>
              </a:rPr>
              <a:t>F</a:t>
            </a:r>
            <a:r>
              <a:rPr lang="en-US" sz="2400" dirty="0" smtClean="0">
                <a:latin typeface="Arial" charset="0"/>
                <a:cs typeface="Arial" charset="0"/>
              </a:rPr>
              <a:t>, the change in the futures price during the hedging period</a:t>
            </a:r>
          </a:p>
          <a:p>
            <a:pPr eaLnBrk="1" hangingPunct="1">
              <a:buFont typeface="Wingdings" pitchFamily="2" charset="2"/>
              <a:buNone/>
              <a:defRPr/>
            </a:pPr>
            <a:r>
              <a:rPr lang="en-US" sz="2400" dirty="0" smtClean="0">
                <a:latin typeface="Arial" charset="0"/>
                <a:cs typeface="Arial" charset="0"/>
              </a:rPr>
              <a:t>	</a:t>
            </a:r>
            <a:r>
              <a:rPr lang="en-US" sz="2400" dirty="0" smtClean="0">
                <a:latin typeface="Symbol" pitchFamily="18" charset="2"/>
                <a:cs typeface="Arial" charset="0"/>
              </a:rPr>
              <a:t>r</a:t>
            </a:r>
            <a:r>
              <a:rPr lang="en-US" sz="2400" dirty="0" smtClean="0">
                <a:latin typeface="Arial" charset="0"/>
                <a:cs typeface="Arial" charset="0"/>
              </a:rPr>
              <a:t> is the coefficient of correlation between </a:t>
            </a:r>
            <a:r>
              <a:rPr lang="en-US" sz="2400" dirty="0" smtClean="0">
                <a:latin typeface="Symbol" pitchFamily="18" charset="2"/>
                <a:cs typeface="Arial" charset="0"/>
              </a:rPr>
              <a:t>D</a:t>
            </a:r>
            <a:r>
              <a:rPr lang="en-US" sz="2400" i="1" dirty="0" smtClean="0">
                <a:latin typeface="+mj-lt"/>
                <a:cs typeface="Arial" charset="0"/>
              </a:rPr>
              <a:t>S</a:t>
            </a:r>
            <a:r>
              <a:rPr lang="en-US" sz="2400" dirty="0" smtClean="0">
                <a:latin typeface="Arial" charset="0"/>
                <a:cs typeface="Arial" charset="0"/>
              </a:rPr>
              <a:t> and </a:t>
            </a:r>
            <a:r>
              <a:rPr lang="en-US" sz="2400" dirty="0" smtClean="0">
                <a:latin typeface="Symbol" pitchFamily="18" charset="2"/>
                <a:cs typeface="Arial" charset="0"/>
              </a:rPr>
              <a:t>D</a:t>
            </a:r>
            <a:r>
              <a:rPr lang="en-US" sz="2400" i="1" dirty="0" smtClean="0">
                <a:latin typeface="+mj-lt"/>
                <a:cs typeface="Arial" charset="0"/>
              </a:rPr>
              <a:t>F</a:t>
            </a:r>
            <a:r>
              <a:rPr lang="en-US" sz="2400" dirty="0" smtClean="0">
                <a:latin typeface="Arial" charset="0"/>
                <a:cs typeface="Arial" charset="0"/>
              </a:rPr>
              <a:t>.</a:t>
            </a:r>
          </a:p>
          <a:p>
            <a:pPr eaLnBrk="1" hangingPunct="1">
              <a:buFont typeface="Wingdings" pitchFamily="2" charset="2"/>
              <a:buNone/>
              <a:defRPr/>
            </a:pPr>
            <a:r>
              <a:rPr lang="en-US" sz="2400" i="1" dirty="0" smtClean="0">
                <a:latin typeface="Arial" charset="0"/>
                <a:cs typeface="Arial" charset="0"/>
              </a:rPr>
              <a:t>	</a:t>
            </a:r>
          </a:p>
        </p:txBody>
      </p:sp>
      <p:sp>
        <p:nvSpPr>
          <p:cNvPr id="13316" name="Footer Placeholder 6"/>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Blip>
                <a:blip r:embed="rId4"/>
              </a:buBlip>
              <a:defRPr sz="3200">
                <a:solidFill>
                  <a:schemeClr val="tx1"/>
                </a:solidFill>
                <a:latin typeface="Tahoma" panose="020B0604030504040204" pitchFamily="34" charset="0"/>
              </a:defRPr>
            </a:lvl1pPr>
            <a:lvl2pPr marL="742950" indent="-285750" eaLnBrk="0" hangingPunct="0">
              <a:spcBef>
                <a:spcPct val="20000"/>
              </a:spcBef>
              <a:buSzPct val="75000"/>
              <a:buBlip>
                <a:blip r:embed="rId5"/>
              </a:buBlip>
              <a:defRPr sz="2800">
                <a:solidFill>
                  <a:schemeClr val="tx1"/>
                </a:solidFill>
                <a:latin typeface="Tahoma" panose="020B0604030504040204" pitchFamily="34" charset="0"/>
              </a:defRPr>
            </a:lvl2pPr>
            <a:lvl3pPr marL="1143000" indent="-228600" eaLnBrk="0" hangingPunct="0">
              <a:spcBef>
                <a:spcPct val="20000"/>
              </a:spcBef>
              <a:buChar char="•"/>
              <a:defRPr sz="2400">
                <a:solidFill>
                  <a:schemeClr val="tx1"/>
                </a:solidFill>
                <a:latin typeface="Tahoma" panose="020B0604030504040204" pitchFamily="34" charset="0"/>
              </a:defRPr>
            </a:lvl3pPr>
            <a:lvl4pPr marL="1600200" indent="-228600" eaLnBrk="0" hangingPunct="0">
              <a:spcBef>
                <a:spcPct val="20000"/>
              </a:spcBef>
              <a:buChar char="–"/>
              <a:defRPr sz="2000">
                <a:solidFill>
                  <a:schemeClr val="tx1"/>
                </a:solidFill>
                <a:latin typeface="Tahoma" panose="020B0604030504040204" pitchFamily="34" charset="0"/>
              </a:defRPr>
            </a:lvl4pPr>
            <a:lvl5pPr marL="2057400" indent="-228600" eaLnBrk="0" hangingPunct="0">
              <a:spcBef>
                <a:spcPct val="20000"/>
              </a:spcBef>
              <a:buClr>
                <a:schemeClr val="tx2"/>
              </a:buClr>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9pPr>
          </a:lstStyle>
          <a:p>
            <a:pPr eaLnBrk="1" hangingPunct="1">
              <a:spcBef>
                <a:spcPct val="0"/>
              </a:spcBef>
              <a:buFontTx/>
              <a:buNone/>
            </a:pPr>
            <a:r>
              <a:rPr lang="en-US" altLang="en-US" sz="1400" smtClean="0">
                <a:latin typeface="Arial" panose="020B0604020202020204" pitchFamily="34" charset="0"/>
              </a:rPr>
              <a:t>Options, Futures, and Other Derivatives, 11th Edition,    Copyright © John C. Hull 2021</a:t>
            </a:r>
          </a:p>
        </p:txBody>
      </p:sp>
      <p:sp>
        <p:nvSpPr>
          <p:cNvPr id="13317"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Blip>
                <a:blip r:embed="rId4"/>
              </a:buBlip>
              <a:defRPr sz="3200">
                <a:solidFill>
                  <a:schemeClr val="tx1"/>
                </a:solidFill>
                <a:latin typeface="Tahoma" panose="020B0604030504040204" pitchFamily="34" charset="0"/>
              </a:defRPr>
            </a:lvl1pPr>
            <a:lvl2pPr marL="742950" indent="-285750" eaLnBrk="0" hangingPunct="0">
              <a:spcBef>
                <a:spcPct val="20000"/>
              </a:spcBef>
              <a:buSzPct val="75000"/>
              <a:buBlip>
                <a:blip r:embed="rId5"/>
              </a:buBlip>
              <a:defRPr sz="2800">
                <a:solidFill>
                  <a:schemeClr val="tx1"/>
                </a:solidFill>
                <a:latin typeface="Tahoma" panose="020B0604030504040204" pitchFamily="34" charset="0"/>
              </a:defRPr>
            </a:lvl2pPr>
            <a:lvl3pPr marL="1143000" indent="-228600" eaLnBrk="0" hangingPunct="0">
              <a:spcBef>
                <a:spcPct val="20000"/>
              </a:spcBef>
              <a:buChar char="•"/>
              <a:defRPr sz="2400">
                <a:solidFill>
                  <a:schemeClr val="tx1"/>
                </a:solidFill>
                <a:latin typeface="Tahoma" panose="020B0604030504040204" pitchFamily="34" charset="0"/>
              </a:defRPr>
            </a:lvl3pPr>
            <a:lvl4pPr marL="1600200" indent="-228600" eaLnBrk="0" hangingPunct="0">
              <a:spcBef>
                <a:spcPct val="20000"/>
              </a:spcBef>
              <a:buChar char="–"/>
              <a:defRPr sz="2000">
                <a:solidFill>
                  <a:schemeClr val="tx1"/>
                </a:solidFill>
                <a:latin typeface="Tahoma" panose="020B0604030504040204" pitchFamily="34" charset="0"/>
              </a:defRPr>
            </a:lvl4pPr>
            <a:lvl5pPr marL="2057400" indent="-228600" eaLnBrk="0" hangingPunct="0">
              <a:spcBef>
                <a:spcPct val="20000"/>
              </a:spcBef>
              <a:buClr>
                <a:schemeClr val="tx2"/>
              </a:buClr>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9pPr>
          </a:lstStyle>
          <a:p>
            <a:pPr eaLnBrk="1" hangingPunct="1">
              <a:spcBef>
                <a:spcPct val="0"/>
              </a:spcBef>
              <a:buFontTx/>
              <a:buNone/>
            </a:pPr>
            <a:fld id="{6E90506C-4E90-4F0A-B1BA-0C1D7D3FAEDE}" type="slidenum">
              <a:rPr lang="en-US" altLang="en-US" sz="1400">
                <a:latin typeface="Arial" panose="020B0604020202020204" pitchFamily="34" charset="0"/>
              </a:rPr>
              <a:pPr eaLnBrk="1" hangingPunct="1">
                <a:spcBef>
                  <a:spcPct val="0"/>
                </a:spcBef>
                <a:buFontTx/>
                <a:buNone/>
              </a:pPr>
              <a:t>9</a:t>
            </a:fld>
            <a:endParaRPr lang="en-US" altLang="en-US" sz="1400">
              <a:latin typeface="Arial" panose="020B0604020202020204" pitchFamily="34" charset="0"/>
            </a:endParaRPr>
          </a:p>
        </p:txBody>
      </p:sp>
      <p:graphicFrame>
        <p:nvGraphicFramePr>
          <p:cNvPr id="13318" name="Object 4"/>
          <p:cNvGraphicFramePr>
            <a:graphicFrameLocks noChangeAspect="1"/>
          </p:cNvGraphicFramePr>
          <p:nvPr>
            <p:extLst>
              <p:ext uri="{D42A27DB-BD31-4B8C-83A1-F6EECF244321}">
                <p14:modId xmlns:p14="http://schemas.microsoft.com/office/powerpoint/2010/main" val="4167089022"/>
              </p:ext>
            </p:extLst>
          </p:nvPr>
        </p:nvGraphicFramePr>
        <p:xfrm>
          <a:off x="4267200" y="3143250"/>
          <a:ext cx="1300162" cy="788987"/>
        </p:xfrm>
        <a:graphic>
          <a:graphicData uri="http://schemas.openxmlformats.org/presentationml/2006/ole">
            <mc:AlternateContent xmlns:mc="http://schemas.openxmlformats.org/markup-compatibility/2006">
              <mc:Choice xmlns:v="urn:schemas-microsoft-com:vml" Requires="v">
                <p:oleObj spid="_x0000_s13326" name="Equation" r:id="rId6" imgW="622030" imgH="406224" progId="Equation.3">
                  <p:embed/>
                </p:oleObj>
              </mc:Choice>
              <mc:Fallback>
                <p:oleObj name="Equation" r:id="rId6" imgW="622030" imgH="406224" progId="Equation.3">
                  <p:embed/>
                  <p:pic>
                    <p:nvPicPr>
                      <p:cNvPr id="0" name="Object 4"/>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267200" y="3143250"/>
                        <a:ext cx="1300162" cy="7889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Optimal Number of Contracts </a:t>
            </a:r>
            <a:r>
              <a:rPr lang="en-US" altLang="en-US" sz="2700" dirty="0"/>
              <a:t>(equation </a:t>
            </a:r>
            <a:r>
              <a:rPr lang="en-US" altLang="en-US" sz="2700" dirty="0" smtClean="0"/>
              <a:t>3.2)</a:t>
            </a:r>
            <a:endParaRPr lang="en-CA" sz="2700"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pPr marL="0" indent="0">
                  <a:buNone/>
                </a:pPr>
                <a14:m>
                  <m:oMathPara xmlns:m="http://schemas.openxmlformats.org/officeDocument/2006/math">
                    <m:oMathParaPr>
                      <m:jc m:val="centerGroup"/>
                    </m:oMathParaPr>
                    <m:oMath xmlns:m="http://schemas.openxmlformats.org/officeDocument/2006/math">
                      <m:sSup>
                        <m:sSupPr>
                          <m:ctrlPr>
                            <a:rPr lang="en-CA" i="1" smtClean="0">
                              <a:latin typeface="Cambria Math" panose="02040503050406030204" pitchFamily="18" charset="0"/>
                            </a:rPr>
                          </m:ctrlPr>
                        </m:sSupPr>
                        <m:e>
                          <m:r>
                            <a:rPr lang="en-US" b="0" i="1" smtClean="0">
                              <a:latin typeface="Cambria Math" panose="02040503050406030204" pitchFamily="18" charset="0"/>
                            </a:rPr>
                            <m:t>𝑁</m:t>
                          </m:r>
                        </m:e>
                        <m:sup>
                          <m:r>
                            <a:rPr lang="en-US" b="0" i="1" smtClean="0">
                              <a:latin typeface="Cambria Math" panose="02040503050406030204" pitchFamily="18" charset="0"/>
                            </a:rPr>
                            <m:t>∗</m:t>
                          </m:r>
                        </m:sup>
                      </m:sSup>
                      <m:r>
                        <a:rPr lang="en-US" b="0" i="1" smtClean="0">
                          <a:latin typeface="Cambria Math" panose="02040503050406030204" pitchFamily="18" charset="0"/>
                        </a:rPr>
                        <m:t>=</m:t>
                      </m:r>
                      <m:f>
                        <m:fPr>
                          <m:ctrlPr>
                            <a:rPr lang="en-US" b="0" i="1" smtClean="0">
                              <a:latin typeface="Cambria Math" panose="02040503050406030204" pitchFamily="18" charset="0"/>
                            </a:rPr>
                          </m:ctrlPr>
                        </m:fPr>
                        <m:num>
                          <m:sSup>
                            <m:sSupPr>
                              <m:ctrlPr>
                                <a:rPr lang="en-US" b="0" i="1" smtClean="0">
                                  <a:latin typeface="Cambria Math" panose="02040503050406030204" pitchFamily="18" charset="0"/>
                                </a:rPr>
                              </m:ctrlPr>
                            </m:sSupPr>
                            <m:e>
                              <m:r>
                                <a:rPr lang="en-US" b="0" i="1" smtClean="0">
                                  <a:latin typeface="Cambria Math" panose="02040503050406030204" pitchFamily="18" charset="0"/>
                                </a:rPr>
                                <m:t>h</m:t>
                              </m:r>
                            </m:e>
                            <m:sup>
                              <m:r>
                                <a:rPr lang="en-US" b="0" i="1" smtClean="0">
                                  <a:latin typeface="Cambria Math" panose="02040503050406030204" pitchFamily="18" charset="0"/>
                                </a:rPr>
                                <m:t>∗</m:t>
                              </m:r>
                            </m:sup>
                          </m:sSup>
                          <m:sSub>
                            <m:sSubPr>
                              <m:ctrlPr>
                                <a:rPr lang="en-US" b="0" i="1" smtClean="0">
                                  <a:latin typeface="Cambria Math" panose="02040503050406030204" pitchFamily="18" charset="0"/>
                                </a:rPr>
                              </m:ctrlPr>
                            </m:sSubPr>
                            <m:e>
                              <m:r>
                                <a:rPr lang="en-US" b="0" i="1" smtClean="0">
                                  <a:latin typeface="Cambria Math" panose="02040503050406030204" pitchFamily="18" charset="0"/>
                                </a:rPr>
                                <m:t>𝑄</m:t>
                              </m:r>
                            </m:e>
                            <m:sub>
                              <m:r>
                                <a:rPr lang="en-US" b="0" i="1" smtClean="0">
                                  <a:latin typeface="Cambria Math" panose="02040503050406030204" pitchFamily="18" charset="0"/>
                                </a:rPr>
                                <m:t>𝐴</m:t>
                              </m:r>
                            </m:sub>
                          </m:sSub>
                        </m:num>
                        <m:den>
                          <m:sSub>
                            <m:sSubPr>
                              <m:ctrlPr>
                                <a:rPr lang="en-US" b="0" i="1" smtClean="0">
                                  <a:latin typeface="Cambria Math" panose="02040503050406030204" pitchFamily="18" charset="0"/>
                                </a:rPr>
                              </m:ctrlPr>
                            </m:sSubPr>
                            <m:e>
                              <m:r>
                                <a:rPr lang="en-US" b="0" i="1" smtClean="0">
                                  <a:latin typeface="Cambria Math" panose="02040503050406030204" pitchFamily="18" charset="0"/>
                                </a:rPr>
                                <m:t>𝑄</m:t>
                              </m:r>
                            </m:e>
                            <m:sub>
                              <m:r>
                                <a:rPr lang="en-US" b="0" i="1" smtClean="0">
                                  <a:latin typeface="Cambria Math" panose="02040503050406030204" pitchFamily="18" charset="0"/>
                                </a:rPr>
                                <m:t>𝐹</m:t>
                              </m:r>
                            </m:sub>
                          </m:sSub>
                        </m:den>
                      </m:f>
                    </m:oMath>
                  </m:oMathPara>
                </a14:m>
                <a:endParaRPr lang="en-CA" dirty="0" smtClean="0"/>
              </a:p>
              <a:p>
                <a:pPr marL="0" indent="0">
                  <a:buNone/>
                </a:pPr>
                <a:r>
                  <a:rPr lang="en-US" dirty="0"/>
                  <a:t>w</a:t>
                </a:r>
                <a:r>
                  <a:rPr lang="en-US" dirty="0" smtClean="0"/>
                  <a:t>here</a:t>
                </a:r>
              </a:p>
              <a:p>
                <a:pPr marL="0" indent="0">
                  <a:buNone/>
                </a:pPr>
                <a:r>
                  <a:rPr lang="en-US" i="1" dirty="0" smtClean="0">
                    <a:latin typeface="Cambria" panose="02040503050406030204" pitchFamily="18" charset="0"/>
                    <a:ea typeface="Cambria" panose="02040503050406030204" pitchFamily="18" charset="0"/>
                  </a:rPr>
                  <a:t>Q</a:t>
                </a:r>
                <a:r>
                  <a:rPr lang="en-US" i="1" baseline="-25000" dirty="0" smtClean="0">
                    <a:latin typeface="Cambria" panose="02040503050406030204" pitchFamily="18" charset="0"/>
                    <a:ea typeface="Cambria" panose="02040503050406030204" pitchFamily="18" charset="0"/>
                  </a:rPr>
                  <a:t>A</a:t>
                </a:r>
                <a:r>
                  <a:rPr lang="en-US" dirty="0" smtClean="0"/>
                  <a:t> is the size of the position being hedged (units)</a:t>
                </a:r>
              </a:p>
              <a:p>
                <a:pPr marL="0" indent="0">
                  <a:buNone/>
                </a:pPr>
                <a:r>
                  <a:rPr lang="en-US" i="1" dirty="0" smtClean="0">
                    <a:latin typeface="Cambria" panose="02040503050406030204" pitchFamily="18" charset="0"/>
                    <a:ea typeface="Cambria" panose="02040503050406030204" pitchFamily="18" charset="0"/>
                  </a:rPr>
                  <a:t>Q</a:t>
                </a:r>
                <a:r>
                  <a:rPr lang="en-US" i="1" baseline="-25000" dirty="0" smtClean="0">
                    <a:latin typeface="Cambria" panose="02040503050406030204" pitchFamily="18" charset="0"/>
                    <a:ea typeface="Cambria" panose="02040503050406030204" pitchFamily="18" charset="0"/>
                  </a:rPr>
                  <a:t>F</a:t>
                </a:r>
                <a:r>
                  <a:rPr lang="en-US" baseline="-25000" dirty="0" smtClean="0"/>
                  <a:t> </a:t>
                </a:r>
                <a:r>
                  <a:rPr lang="en-US" dirty="0" smtClean="0"/>
                  <a:t>is the size of one futures contract (units)</a:t>
                </a:r>
                <a:endParaRPr lang="en-CA"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l="-1647"/>
                </a:stretch>
              </a:blipFill>
            </p:spPr>
            <p:txBody>
              <a:bodyPr/>
              <a:lstStyle/>
              <a:p>
                <a:r>
                  <a:rPr lang="en-CA">
                    <a:noFill/>
                  </a:rPr>
                  <a:t> </a:t>
                </a:r>
              </a:p>
            </p:txBody>
          </p:sp>
        </mc:Fallback>
      </mc:AlternateContent>
      <p:sp>
        <p:nvSpPr>
          <p:cNvPr id="4" name="Footer Placeholder 3"/>
          <p:cNvSpPr>
            <a:spLocks noGrp="1"/>
          </p:cNvSpPr>
          <p:nvPr>
            <p:ph type="ftr" sz="quarter" idx="11"/>
          </p:nvPr>
        </p:nvSpPr>
        <p:spPr/>
        <p:txBody>
          <a:bodyPr/>
          <a:lstStyle/>
          <a:p>
            <a:pPr>
              <a:defRPr/>
            </a:pPr>
            <a:r>
              <a:rPr lang="en-US" smtClean="0"/>
              <a:t>Options, Futures, and Other Derivatives, 11th Edition,    Copyright © John C. Hull 2021</a:t>
            </a:r>
            <a:endParaRPr lang="en-US"/>
          </a:p>
        </p:txBody>
      </p:sp>
      <p:sp>
        <p:nvSpPr>
          <p:cNvPr id="5" name="Slide Number Placeholder 4"/>
          <p:cNvSpPr>
            <a:spLocks noGrp="1"/>
          </p:cNvSpPr>
          <p:nvPr>
            <p:ph type="sldNum" sz="quarter" idx="12"/>
          </p:nvPr>
        </p:nvSpPr>
        <p:spPr/>
        <p:txBody>
          <a:bodyPr/>
          <a:lstStyle/>
          <a:p>
            <a:fld id="{DD69E5F0-89A0-4F43-8B4F-1CAC9BF112DD}" type="slidenum">
              <a:rPr lang="en-US" altLang="en-US" smtClean="0"/>
              <a:pPr/>
              <a:t>10</a:t>
            </a:fld>
            <a:endParaRPr lang="en-US" altLang="en-US"/>
          </a:p>
        </p:txBody>
      </p:sp>
    </p:spTree>
    <p:extLst>
      <p:ext uri="{BB962C8B-B14F-4D97-AF65-F5344CB8AC3E}">
        <p14:creationId xmlns:p14="http://schemas.microsoft.com/office/powerpoint/2010/main" val="134564267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itle 1"/>
          <p:cNvSpPr>
            <a:spLocks noGrp="1"/>
          </p:cNvSpPr>
          <p:nvPr>
            <p:ph type="title"/>
          </p:nvPr>
        </p:nvSpPr>
        <p:spPr/>
        <p:txBody>
          <a:bodyPr/>
          <a:lstStyle/>
          <a:p>
            <a:pPr eaLnBrk="1" hangingPunct="1"/>
            <a:r>
              <a:rPr lang="en-CA" altLang="en-US" dirty="0" smtClean="0"/>
              <a:t>Example </a:t>
            </a:r>
            <a:r>
              <a:rPr lang="en-CA" altLang="en-US" sz="2400" dirty="0" smtClean="0"/>
              <a:t>(Example 3.3)</a:t>
            </a:r>
            <a:endParaRPr lang="en-US" altLang="en-US" sz="2400" dirty="0" smtClean="0"/>
          </a:p>
        </p:txBody>
      </p:sp>
      <p:sp>
        <p:nvSpPr>
          <p:cNvPr id="3" name="Content Placeholder 2"/>
          <p:cNvSpPr>
            <a:spLocks noGrp="1"/>
          </p:cNvSpPr>
          <p:nvPr>
            <p:ph idx="1"/>
          </p:nvPr>
        </p:nvSpPr>
        <p:spPr/>
        <p:txBody>
          <a:bodyPr/>
          <a:lstStyle/>
          <a:p>
            <a:pPr eaLnBrk="1" hangingPunct="1">
              <a:defRPr/>
            </a:pPr>
            <a:r>
              <a:rPr lang="en-CA" dirty="0" smtClean="0"/>
              <a:t>Airline will purchase 2 million gallons of jet fuel in one month and hedges using heating oil futures</a:t>
            </a:r>
          </a:p>
          <a:p>
            <a:pPr eaLnBrk="1" hangingPunct="1">
              <a:defRPr/>
            </a:pPr>
            <a:r>
              <a:rPr lang="en-CA" dirty="0" smtClean="0"/>
              <a:t>From historical data </a:t>
            </a:r>
            <a:r>
              <a:rPr lang="en-CA" dirty="0" err="1" smtClean="0">
                <a:latin typeface="Symbol" pitchFamily="18" charset="2"/>
              </a:rPr>
              <a:t>s</a:t>
            </a:r>
            <a:r>
              <a:rPr lang="en-CA" i="1" baseline="-25000" dirty="0" err="1" smtClean="0">
                <a:latin typeface="+mj-lt"/>
              </a:rPr>
              <a:t>F</a:t>
            </a:r>
            <a:r>
              <a:rPr lang="en-CA" dirty="0" smtClean="0"/>
              <a:t> =0.0313, </a:t>
            </a:r>
            <a:r>
              <a:rPr lang="en-CA" dirty="0" err="1" smtClean="0">
                <a:latin typeface="Symbol" pitchFamily="18" charset="2"/>
              </a:rPr>
              <a:t>s</a:t>
            </a:r>
            <a:r>
              <a:rPr lang="en-CA" i="1" baseline="-25000" dirty="0" err="1" smtClean="0">
                <a:latin typeface="+mj-lt"/>
              </a:rPr>
              <a:t>S</a:t>
            </a:r>
            <a:r>
              <a:rPr lang="en-CA" dirty="0" smtClean="0"/>
              <a:t> =0.0263, and </a:t>
            </a:r>
            <a:r>
              <a:rPr lang="en-CA" dirty="0" smtClean="0">
                <a:latin typeface="Symbol" pitchFamily="18" charset="2"/>
              </a:rPr>
              <a:t>r</a:t>
            </a:r>
            <a:r>
              <a:rPr lang="en-CA" dirty="0" smtClean="0"/>
              <a:t>= 0.928</a:t>
            </a:r>
          </a:p>
          <a:p>
            <a:pPr eaLnBrk="1" hangingPunct="1">
              <a:buFontTx/>
              <a:buNone/>
              <a:defRPr/>
            </a:pPr>
            <a:endParaRPr lang="en-US" dirty="0"/>
          </a:p>
        </p:txBody>
      </p:sp>
      <p:sp>
        <p:nvSpPr>
          <p:cNvPr id="14340" name="Footer Placeholder 3"/>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Blip>
                <a:blip r:embed="rId4"/>
              </a:buBlip>
              <a:defRPr sz="3200">
                <a:solidFill>
                  <a:schemeClr val="tx1"/>
                </a:solidFill>
                <a:latin typeface="Tahoma" panose="020B0604030504040204" pitchFamily="34" charset="0"/>
              </a:defRPr>
            </a:lvl1pPr>
            <a:lvl2pPr marL="742950" indent="-285750" eaLnBrk="0" hangingPunct="0">
              <a:spcBef>
                <a:spcPct val="20000"/>
              </a:spcBef>
              <a:buSzPct val="75000"/>
              <a:buBlip>
                <a:blip r:embed="rId5"/>
              </a:buBlip>
              <a:defRPr sz="2800">
                <a:solidFill>
                  <a:schemeClr val="tx1"/>
                </a:solidFill>
                <a:latin typeface="Tahoma" panose="020B0604030504040204" pitchFamily="34" charset="0"/>
              </a:defRPr>
            </a:lvl2pPr>
            <a:lvl3pPr marL="1143000" indent="-228600" eaLnBrk="0" hangingPunct="0">
              <a:spcBef>
                <a:spcPct val="20000"/>
              </a:spcBef>
              <a:buChar char="•"/>
              <a:defRPr sz="2400">
                <a:solidFill>
                  <a:schemeClr val="tx1"/>
                </a:solidFill>
                <a:latin typeface="Tahoma" panose="020B0604030504040204" pitchFamily="34" charset="0"/>
              </a:defRPr>
            </a:lvl3pPr>
            <a:lvl4pPr marL="1600200" indent="-228600" eaLnBrk="0" hangingPunct="0">
              <a:spcBef>
                <a:spcPct val="20000"/>
              </a:spcBef>
              <a:buChar char="–"/>
              <a:defRPr sz="2000">
                <a:solidFill>
                  <a:schemeClr val="tx1"/>
                </a:solidFill>
                <a:latin typeface="Tahoma" panose="020B0604030504040204" pitchFamily="34" charset="0"/>
              </a:defRPr>
            </a:lvl4pPr>
            <a:lvl5pPr marL="2057400" indent="-228600" eaLnBrk="0" hangingPunct="0">
              <a:spcBef>
                <a:spcPct val="20000"/>
              </a:spcBef>
              <a:buClr>
                <a:schemeClr val="tx2"/>
              </a:buClr>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9pPr>
          </a:lstStyle>
          <a:p>
            <a:pPr eaLnBrk="1" hangingPunct="1">
              <a:spcBef>
                <a:spcPct val="0"/>
              </a:spcBef>
              <a:buFontTx/>
              <a:buNone/>
            </a:pPr>
            <a:r>
              <a:rPr lang="en-US" altLang="en-US" sz="1400" smtClean="0">
                <a:latin typeface="Arial" panose="020B0604020202020204" pitchFamily="34" charset="0"/>
              </a:rPr>
              <a:t>Options, Futures, and Other Derivatives, 11th Edition,    Copyright © John C. Hull 2021</a:t>
            </a:r>
          </a:p>
        </p:txBody>
      </p:sp>
      <p:sp>
        <p:nvSpPr>
          <p:cNvPr id="14341" name="Slide Number Placeholder 4"/>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Blip>
                <a:blip r:embed="rId4"/>
              </a:buBlip>
              <a:defRPr sz="3200">
                <a:solidFill>
                  <a:schemeClr val="tx1"/>
                </a:solidFill>
                <a:latin typeface="Tahoma" panose="020B0604030504040204" pitchFamily="34" charset="0"/>
              </a:defRPr>
            </a:lvl1pPr>
            <a:lvl2pPr marL="742950" indent="-285750" eaLnBrk="0" hangingPunct="0">
              <a:spcBef>
                <a:spcPct val="20000"/>
              </a:spcBef>
              <a:buSzPct val="75000"/>
              <a:buBlip>
                <a:blip r:embed="rId5"/>
              </a:buBlip>
              <a:defRPr sz="2800">
                <a:solidFill>
                  <a:schemeClr val="tx1"/>
                </a:solidFill>
                <a:latin typeface="Tahoma" panose="020B0604030504040204" pitchFamily="34" charset="0"/>
              </a:defRPr>
            </a:lvl2pPr>
            <a:lvl3pPr marL="1143000" indent="-228600" eaLnBrk="0" hangingPunct="0">
              <a:spcBef>
                <a:spcPct val="20000"/>
              </a:spcBef>
              <a:buChar char="•"/>
              <a:defRPr sz="2400">
                <a:solidFill>
                  <a:schemeClr val="tx1"/>
                </a:solidFill>
                <a:latin typeface="Tahoma" panose="020B0604030504040204" pitchFamily="34" charset="0"/>
              </a:defRPr>
            </a:lvl3pPr>
            <a:lvl4pPr marL="1600200" indent="-228600" eaLnBrk="0" hangingPunct="0">
              <a:spcBef>
                <a:spcPct val="20000"/>
              </a:spcBef>
              <a:buChar char="–"/>
              <a:defRPr sz="2000">
                <a:solidFill>
                  <a:schemeClr val="tx1"/>
                </a:solidFill>
                <a:latin typeface="Tahoma" panose="020B0604030504040204" pitchFamily="34" charset="0"/>
              </a:defRPr>
            </a:lvl4pPr>
            <a:lvl5pPr marL="2057400" indent="-228600" eaLnBrk="0" hangingPunct="0">
              <a:spcBef>
                <a:spcPct val="20000"/>
              </a:spcBef>
              <a:buClr>
                <a:schemeClr val="tx2"/>
              </a:buClr>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9pPr>
          </a:lstStyle>
          <a:p>
            <a:pPr eaLnBrk="1" hangingPunct="1">
              <a:spcBef>
                <a:spcPct val="0"/>
              </a:spcBef>
              <a:buFontTx/>
              <a:buNone/>
            </a:pPr>
            <a:fld id="{41C25EBD-BE6E-451F-A39E-16E6797A248D}" type="slidenum">
              <a:rPr lang="en-US" altLang="en-US" sz="1400">
                <a:latin typeface="Arial" panose="020B0604020202020204" pitchFamily="34" charset="0"/>
              </a:rPr>
              <a:pPr eaLnBrk="1" hangingPunct="1">
                <a:spcBef>
                  <a:spcPct val="0"/>
                </a:spcBef>
                <a:buFontTx/>
                <a:buNone/>
              </a:pPr>
              <a:t>11</a:t>
            </a:fld>
            <a:endParaRPr lang="en-US" altLang="en-US" sz="1400">
              <a:latin typeface="Arial" panose="020B0604020202020204" pitchFamily="34" charset="0"/>
            </a:endParaRPr>
          </a:p>
        </p:txBody>
      </p:sp>
      <p:graphicFrame>
        <p:nvGraphicFramePr>
          <p:cNvPr id="14342" name="Object 3"/>
          <p:cNvGraphicFramePr>
            <a:graphicFrameLocks noChangeAspect="1"/>
          </p:cNvGraphicFramePr>
          <p:nvPr/>
        </p:nvGraphicFramePr>
        <p:xfrm>
          <a:off x="2646363" y="4545013"/>
          <a:ext cx="3673475" cy="881062"/>
        </p:xfrm>
        <a:graphic>
          <a:graphicData uri="http://schemas.openxmlformats.org/presentationml/2006/ole">
            <mc:AlternateContent xmlns:mc="http://schemas.openxmlformats.org/markup-compatibility/2006">
              <mc:Choice xmlns:v="urn:schemas-microsoft-com:vml" Requires="v">
                <p:oleObj spid="_x0000_s14349" name="Equation" r:id="rId6" imgW="1637589" imgH="393529" progId="Equation.DSMT4">
                  <p:embed/>
                </p:oleObj>
              </mc:Choice>
              <mc:Fallback>
                <p:oleObj name="Equation" r:id="rId6" imgW="1637589" imgH="393529" progId="Equation.DSMT4">
                  <p:embed/>
                  <p:pic>
                    <p:nvPicPr>
                      <p:cNvPr id="0" name="Object 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646363" y="4545013"/>
                        <a:ext cx="3673475" cy="8810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itle 1"/>
          <p:cNvSpPr>
            <a:spLocks noGrp="1"/>
          </p:cNvSpPr>
          <p:nvPr>
            <p:ph type="title"/>
          </p:nvPr>
        </p:nvSpPr>
        <p:spPr>
          <a:xfrm>
            <a:off x="246063" y="930275"/>
            <a:ext cx="7772400" cy="822325"/>
          </a:xfrm>
        </p:spPr>
        <p:txBody>
          <a:bodyPr/>
          <a:lstStyle/>
          <a:p>
            <a:pPr eaLnBrk="1" hangingPunct="1"/>
            <a:r>
              <a:rPr lang="en-CA" altLang="en-US" smtClean="0"/>
              <a:t>Example </a:t>
            </a:r>
            <a:r>
              <a:rPr lang="en-CA" altLang="en-US" sz="2400" smtClean="0"/>
              <a:t>continued</a:t>
            </a:r>
            <a:endParaRPr lang="en-US" altLang="en-US" sz="2400" smtClean="0"/>
          </a:p>
        </p:txBody>
      </p:sp>
      <p:sp>
        <p:nvSpPr>
          <p:cNvPr id="15363" name="Content Placeholder 5"/>
          <p:cNvSpPr>
            <a:spLocks noGrp="1"/>
          </p:cNvSpPr>
          <p:nvPr>
            <p:ph idx="1"/>
          </p:nvPr>
        </p:nvSpPr>
        <p:spPr>
          <a:xfrm>
            <a:off x="685800" y="1981200"/>
            <a:ext cx="7772400" cy="4343400"/>
          </a:xfrm>
        </p:spPr>
        <p:txBody>
          <a:bodyPr/>
          <a:lstStyle/>
          <a:p>
            <a:pPr eaLnBrk="1" hangingPunct="1"/>
            <a:r>
              <a:rPr lang="en-CA" altLang="en-US" dirty="0" smtClean="0"/>
              <a:t> </a:t>
            </a:r>
            <a:r>
              <a:rPr lang="en-CA" altLang="en-US" sz="2400" dirty="0" smtClean="0"/>
              <a:t>The size of one heating oil contract is 42,000 gallons</a:t>
            </a:r>
          </a:p>
          <a:p>
            <a:pPr eaLnBrk="1" hangingPunct="1"/>
            <a:r>
              <a:rPr lang="en-CA" altLang="en-US" sz="2400" dirty="0" smtClean="0"/>
              <a:t>Optimal number of contracts is</a:t>
            </a:r>
          </a:p>
          <a:p>
            <a:pPr eaLnBrk="1" hangingPunct="1">
              <a:buFontTx/>
              <a:buNone/>
            </a:pPr>
            <a:endParaRPr lang="en-US" altLang="en-US" dirty="0" smtClean="0"/>
          </a:p>
          <a:p>
            <a:pPr eaLnBrk="1" hangingPunct="1">
              <a:buFontTx/>
              <a:buNone/>
            </a:pPr>
            <a:r>
              <a:rPr lang="en-CA" altLang="en-US" dirty="0" smtClean="0"/>
              <a:t>	which rounds to 37</a:t>
            </a:r>
            <a:endParaRPr lang="en-US" altLang="en-US" dirty="0" smtClean="0"/>
          </a:p>
        </p:txBody>
      </p:sp>
      <p:sp>
        <p:nvSpPr>
          <p:cNvPr id="15364" name="Footer Placeholder 2"/>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Blip>
                <a:blip r:embed="rId4"/>
              </a:buBlip>
              <a:defRPr sz="3200">
                <a:solidFill>
                  <a:schemeClr val="tx1"/>
                </a:solidFill>
                <a:latin typeface="Tahoma" panose="020B0604030504040204" pitchFamily="34" charset="0"/>
              </a:defRPr>
            </a:lvl1pPr>
            <a:lvl2pPr marL="742950" indent="-285750" eaLnBrk="0" hangingPunct="0">
              <a:spcBef>
                <a:spcPct val="20000"/>
              </a:spcBef>
              <a:buSzPct val="75000"/>
              <a:buBlip>
                <a:blip r:embed="rId5"/>
              </a:buBlip>
              <a:defRPr sz="2800">
                <a:solidFill>
                  <a:schemeClr val="tx1"/>
                </a:solidFill>
                <a:latin typeface="Tahoma" panose="020B0604030504040204" pitchFamily="34" charset="0"/>
              </a:defRPr>
            </a:lvl2pPr>
            <a:lvl3pPr marL="1143000" indent="-228600" eaLnBrk="0" hangingPunct="0">
              <a:spcBef>
                <a:spcPct val="20000"/>
              </a:spcBef>
              <a:buChar char="•"/>
              <a:defRPr sz="2400">
                <a:solidFill>
                  <a:schemeClr val="tx1"/>
                </a:solidFill>
                <a:latin typeface="Tahoma" panose="020B0604030504040204" pitchFamily="34" charset="0"/>
              </a:defRPr>
            </a:lvl3pPr>
            <a:lvl4pPr marL="1600200" indent="-228600" eaLnBrk="0" hangingPunct="0">
              <a:spcBef>
                <a:spcPct val="20000"/>
              </a:spcBef>
              <a:buChar char="–"/>
              <a:defRPr sz="2000">
                <a:solidFill>
                  <a:schemeClr val="tx1"/>
                </a:solidFill>
                <a:latin typeface="Tahoma" panose="020B0604030504040204" pitchFamily="34" charset="0"/>
              </a:defRPr>
            </a:lvl4pPr>
            <a:lvl5pPr marL="2057400" indent="-228600" eaLnBrk="0" hangingPunct="0">
              <a:spcBef>
                <a:spcPct val="20000"/>
              </a:spcBef>
              <a:buClr>
                <a:schemeClr val="tx2"/>
              </a:buClr>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9pPr>
          </a:lstStyle>
          <a:p>
            <a:pPr eaLnBrk="1" hangingPunct="1">
              <a:spcBef>
                <a:spcPct val="0"/>
              </a:spcBef>
              <a:buFontTx/>
              <a:buNone/>
            </a:pPr>
            <a:r>
              <a:rPr lang="en-US" altLang="en-US" sz="1400" smtClean="0">
                <a:latin typeface="Arial" panose="020B0604020202020204" pitchFamily="34" charset="0"/>
              </a:rPr>
              <a:t>Options, Futures, and Other Derivatives, 11th Edition,    Copyright © John C. Hull 2021</a:t>
            </a:r>
          </a:p>
        </p:txBody>
      </p:sp>
      <p:sp>
        <p:nvSpPr>
          <p:cNvPr id="15365" name="Slide Number Placeholder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Blip>
                <a:blip r:embed="rId4"/>
              </a:buBlip>
              <a:defRPr sz="3200">
                <a:solidFill>
                  <a:schemeClr val="tx1"/>
                </a:solidFill>
                <a:latin typeface="Tahoma" panose="020B0604030504040204" pitchFamily="34" charset="0"/>
              </a:defRPr>
            </a:lvl1pPr>
            <a:lvl2pPr marL="742950" indent="-285750" eaLnBrk="0" hangingPunct="0">
              <a:spcBef>
                <a:spcPct val="20000"/>
              </a:spcBef>
              <a:buSzPct val="75000"/>
              <a:buBlip>
                <a:blip r:embed="rId5"/>
              </a:buBlip>
              <a:defRPr sz="2800">
                <a:solidFill>
                  <a:schemeClr val="tx1"/>
                </a:solidFill>
                <a:latin typeface="Tahoma" panose="020B0604030504040204" pitchFamily="34" charset="0"/>
              </a:defRPr>
            </a:lvl2pPr>
            <a:lvl3pPr marL="1143000" indent="-228600" eaLnBrk="0" hangingPunct="0">
              <a:spcBef>
                <a:spcPct val="20000"/>
              </a:spcBef>
              <a:buChar char="•"/>
              <a:defRPr sz="2400">
                <a:solidFill>
                  <a:schemeClr val="tx1"/>
                </a:solidFill>
                <a:latin typeface="Tahoma" panose="020B0604030504040204" pitchFamily="34" charset="0"/>
              </a:defRPr>
            </a:lvl3pPr>
            <a:lvl4pPr marL="1600200" indent="-228600" eaLnBrk="0" hangingPunct="0">
              <a:spcBef>
                <a:spcPct val="20000"/>
              </a:spcBef>
              <a:buChar char="–"/>
              <a:defRPr sz="2000">
                <a:solidFill>
                  <a:schemeClr val="tx1"/>
                </a:solidFill>
                <a:latin typeface="Tahoma" panose="020B0604030504040204" pitchFamily="34" charset="0"/>
              </a:defRPr>
            </a:lvl4pPr>
            <a:lvl5pPr marL="2057400" indent="-228600" eaLnBrk="0" hangingPunct="0">
              <a:spcBef>
                <a:spcPct val="20000"/>
              </a:spcBef>
              <a:buClr>
                <a:schemeClr val="tx2"/>
              </a:buClr>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9pPr>
          </a:lstStyle>
          <a:p>
            <a:pPr eaLnBrk="1" hangingPunct="1">
              <a:spcBef>
                <a:spcPct val="0"/>
              </a:spcBef>
              <a:buFontTx/>
              <a:buNone/>
            </a:pPr>
            <a:fld id="{04FD36C2-40D8-483C-98CD-1CE8F7ECC24A}" type="slidenum">
              <a:rPr lang="en-US" altLang="en-US" sz="1400">
                <a:latin typeface="Arial" panose="020B0604020202020204" pitchFamily="34" charset="0"/>
              </a:rPr>
              <a:pPr eaLnBrk="1" hangingPunct="1">
                <a:spcBef>
                  <a:spcPct val="0"/>
                </a:spcBef>
                <a:buFontTx/>
                <a:buNone/>
              </a:pPr>
              <a:t>12</a:t>
            </a:fld>
            <a:endParaRPr lang="en-US" altLang="en-US" sz="1400">
              <a:latin typeface="Arial" panose="020B0604020202020204" pitchFamily="34" charset="0"/>
            </a:endParaRPr>
          </a:p>
        </p:txBody>
      </p:sp>
      <p:graphicFrame>
        <p:nvGraphicFramePr>
          <p:cNvPr id="15366" name="Object 3"/>
          <p:cNvGraphicFramePr>
            <a:graphicFrameLocks noChangeAspect="1"/>
          </p:cNvGraphicFramePr>
          <p:nvPr>
            <p:extLst>
              <p:ext uri="{D42A27DB-BD31-4B8C-83A1-F6EECF244321}">
                <p14:modId xmlns:p14="http://schemas.microsoft.com/office/powerpoint/2010/main" val="2042124912"/>
              </p:ext>
            </p:extLst>
          </p:nvPr>
        </p:nvGraphicFramePr>
        <p:xfrm>
          <a:off x="2362200" y="2971800"/>
          <a:ext cx="3919538" cy="452438"/>
        </p:xfrm>
        <a:graphic>
          <a:graphicData uri="http://schemas.openxmlformats.org/presentationml/2006/ole">
            <mc:AlternateContent xmlns:mc="http://schemas.openxmlformats.org/markup-compatibility/2006">
              <mc:Choice xmlns:v="urn:schemas-microsoft-com:vml" Requires="v">
                <p:oleObj spid="_x0000_s15374" name="Equation" r:id="rId6" imgW="1688367" imgH="215806" progId="Equation.DSMT4">
                  <p:embed/>
                </p:oleObj>
              </mc:Choice>
              <mc:Fallback>
                <p:oleObj name="Equation" r:id="rId6" imgW="1688367" imgH="215806" progId="Equation.DSMT4">
                  <p:embed/>
                  <p:pic>
                    <p:nvPicPr>
                      <p:cNvPr id="0" name="Object 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362200" y="2971800"/>
                        <a:ext cx="3919538" cy="4524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itle 1"/>
          <p:cNvSpPr>
            <a:spLocks noGrp="1"/>
          </p:cNvSpPr>
          <p:nvPr>
            <p:ph type="title"/>
          </p:nvPr>
        </p:nvSpPr>
        <p:spPr>
          <a:xfrm>
            <a:off x="228600" y="914400"/>
            <a:ext cx="8229600" cy="1143000"/>
          </a:xfrm>
        </p:spPr>
        <p:txBody>
          <a:bodyPr/>
          <a:lstStyle/>
          <a:p>
            <a:r>
              <a:rPr lang="en-US" altLang="en-US" dirty="0" smtClean="0"/>
              <a:t>Optimal Number of Contracts When </a:t>
            </a:r>
            <a:r>
              <a:rPr lang="en-US" altLang="en-US" dirty="0"/>
              <a:t>C</a:t>
            </a:r>
            <a:r>
              <a:rPr lang="en-US" altLang="en-US" dirty="0" smtClean="0"/>
              <a:t>ontract Is Settled Daily</a:t>
            </a:r>
            <a:endParaRPr lang="en-CA" altLang="en-US" dirty="0" smtClean="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762000" y="2133600"/>
                <a:ext cx="7772400" cy="4114800"/>
              </a:xfrm>
            </p:spPr>
            <p:txBody>
              <a:bodyPr/>
              <a:lstStyle/>
              <a:p>
                <a:pPr marL="0" indent="0">
                  <a:buFontTx/>
                  <a:buNone/>
                  <a:defRPr/>
                </a:pPr>
                <a:endParaRPr lang="en-CA" dirty="0" smtClean="0"/>
              </a:p>
              <a:p>
                <a:pPr marL="0" indent="0">
                  <a:buFontTx/>
                  <a:buNone/>
                  <a:defRPr/>
                </a:pPr>
                <a14:m>
                  <m:oMathPara xmlns:m="http://schemas.openxmlformats.org/officeDocument/2006/math">
                    <m:oMathParaPr>
                      <m:jc m:val="centerGroup"/>
                    </m:oMathParaPr>
                    <m:oMath xmlns:m="http://schemas.openxmlformats.org/officeDocument/2006/math">
                      <m:sSup>
                        <m:sSupPr>
                          <m:ctrlPr>
                            <a:rPr lang="en-CA" i="1" smtClean="0">
                              <a:latin typeface="Cambria Math" panose="02040503050406030204" pitchFamily="18" charset="0"/>
                            </a:rPr>
                          </m:ctrlPr>
                        </m:sSupPr>
                        <m:e>
                          <m:r>
                            <a:rPr lang="en-US" b="0" i="1" smtClean="0">
                              <a:latin typeface="Cambria Math" panose="02040503050406030204" pitchFamily="18" charset="0"/>
                            </a:rPr>
                            <m:t>𝑁</m:t>
                          </m:r>
                        </m:e>
                        <m:sup>
                          <m:r>
                            <a:rPr lang="en-US" b="0" i="1" smtClean="0">
                              <a:latin typeface="Cambria Math" panose="02040503050406030204" pitchFamily="18" charset="0"/>
                            </a:rPr>
                            <m:t>∗</m:t>
                          </m:r>
                        </m:sup>
                      </m:sSup>
                      <m:r>
                        <a:rPr lang="en-US" b="0" i="1" smtClean="0">
                          <a:latin typeface="Cambria Math" panose="02040503050406030204" pitchFamily="18" charset="0"/>
                        </a:rPr>
                        <m:t>=</m:t>
                      </m:r>
                      <m:acc>
                        <m:accPr>
                          <m:chr m:val="̂"/>
                          <m:ctrlPr>
                            <a:rPr lang="en-US" b="0" i="1" smtClean="0">
                              <a:latin typeface="Cambria Math" panose="02040503050406030204" pitchFamily="18" charset="0"/>
                            </a:rPr>
                          </m:ctrlPr>
                        </m:accPr>
                        <m:e>
                          <m:r>
                            <a:rPr lang="en-US" b="0" i="1" smtClean="0">
                              <a:latin typeface="Cambria Math" panose="02040503050406030204" pitchFamily="18" charset="0"/>
                              <a:ea typeface="Cambria Math" panose="02040503050406030204" pitchFamily="18" charset="0"/>
                            </a:rPr>
                            <m:t>𝜌</m:t>
                          </m:r>
                          <m:r>
                            <a:rPr lang="en-US" b="0" i="1" smtClean="0">
                              <a:latin typeface="Cambria Math" panose="02040503050406030204" pitchFamily="18" charset="0"/>
                              <a:ea typeface="Cambria Math" panose="02040503050406030204" pitchFamily="18" charset="0"/>
                            </a:rPr>
                            <m:t> </m:t>
                          </m:r>
                        </m:e>
                      </m:acc>
                      <m:f>
                        <m:fPr>
                          <m:ctrlPr>
                            <a:rPr lang="en-CA" i="1" smtClean="0">
                              <a:latin typeface="Cambria Math" panose="02040503050406030204" pitchFamily="18" charset="0"/>
                            </a:rPr>
                          </m:ctrlPr>
                        </m:fPr>
                        <m:num>
                          <m:sSub>
                            <m:sSubPr>
                              <m:ctrlPr>
                                <a:rPr lang="en-CA" i="1" smtClean="0">
                                  <a:latin typeface="Cambria Math" panose="02040503050406030204" pitchFamily="18" charset="0"/>
                                </a:rPr>
                              </m:ctrlPr>
                            </m:sSubPr>
                            <m:e>
                              <m:acc>
                                <m:accPr>
                                  <m:chr m:val="̂"/>
                                  <m:ctrlPr>
                                    <a:rPr lang="en-CA" i="1" smtClean="0">
                                      <a:latin typeface="Cambria Math" panose="02040503050406030204" pitchFamily="18" charset="0"/>
                                    </a:rPr>
                                  </m:ctrlPr>
                                </m:accPr>
                                <m:e>
                                  <m:r>
                                    <a:rPr lang="en-CA" i="1" smtClean="0">
                                      <a:latin typeface="Cambria Math" panose="02040503050406030204" pitchFamily="18" charset="0"/>
                                      <a:ea typeface="Cambria Math" panose="02040503050406030204" pitchFamily="18" charset="0"/>
                                    </a:rPr>
                                    <m:t>𝜎</m:t>
                                  </m:r>
                                </m:e>
                              </m:acc>
                            </m:e>
                            <m:sub>
                              <m:r>
                                <a:rPr lang="en-US" b="0" i="1" smtClean="0">
                                  <a:latin typeface="Cambria Math" panose="02040503050406030204" pitchFamily="18" charset="0"/>
                                </a:rPr>
                                <m:t>𝑆</m:t>
                              </m:r>
                            </m:sub>
                          </m:sSub>
                          <m:r>
                            <a:rPr lang="en-US" b="0" i="1" smtClean="0">
                              <a:latin typeface="Cambria Math" panose="02040503050406030204" pitchFamily="18" charset="0"/>
                            </a:rPr>
                            <m:t>𝑆</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𝑄</m:t>
                              </m:r>
                            </m:e>
                            <m:sub>
                              <m:r>
                                <a:rPr lang="en-US" b="0" i="1" smtClean="0">
                                  <a:latin typeface="Cambria Math" panose="02040503050406030204" pitchFamily="18" charset="0"/>
                                </a:rPr>
                                <m:t>𝐴</m:t>
                              </m:r>
                            </m:sub>
                          </m:sSub>
                        </m:num>
                        <m:den>
                          <m:sSub>
                            <m:sSubPr>
                              <m:ctrlPr>
                                <a:rPr lang="en-CA" i="1">
                                  <a:latin typeface="Cambria Math" panose="02040503050406030204" pitchFamily="18" charset="0"/>
                                </a:rPr>
                              </m:ctrlPr>
                            </m:sSubPr>
                            <m:e>
                              <m:acc>
                                <m:accPr>
                                  <m:chr m:val="̂"/>
                                  <m:ctrlPr>
                                    <a:rPr lang="en-CA" i="1">
                                      <a:latin typeface="Cambria Math" panose="02040503050406030204" pitchFamily="18" charset="0"/>
                                    </a:rPr>
                                  </m:ctrlPr>
                                </m:accPr>
                                <m:e>
                                  <m:r>
                                    <a:rPr lang="en-CA" i="1">
                                      <a:latin typeface="Cambria Math" panose="02040503050406030204" pitchFamily="18" charset="0"/>
                                      <a:ea typeface="Cambria Math" panose="02040503050406030204" pitchFamily="18" charset="0"/>
                                    </a:rPr>
                                    <m:t>𝜎</m:t>
                                  </m:r>
                                </m:e>
                              </m:acc>
                            </m:e>
                            <m:sub>
                              <m:r>
                                <a:rPr lang="en-US" b="0" i="1" smtClean="0">
                                  <a:latin typeface="Cambria Math" panose="02040503050406030204" pitchFamily="18" charset="0"/>
                                  <a:ea typeface="Cambria Math" panose="02040503050406030204" pitchFamily="18" charset="0"/>
                                </a:rPr>
                                <m:t>𝐹</m:t>
                              </m:r>
                            </m:sub>
                          </m:sSub>
                          <m:r>
                            <a:rPr lang="en-US" b="0" i="1" smtClean="0">
                              <a:latin typeface="Cambria Math" panose="02040503050406030204" pitchFamily="18" charset="0"/>
                            </a:rPr>
                            <m:t>𝐹</m:t>
                          </m:r>
                          <m:sSub>
                            <m:sSubPr>
                              <m:ctrlPr>
                                <a:rPr lang="en-US" i="1">
                                  <a:latin typeface="Cambria Math" panose="02040503050406030204" pitchFamily="18" charset="0"/>
                                </a:rPr>
                              </m:ctrlPr>
                            </m:sSubPr>
                            <m:e>
                              <m:r>
                                <a:rPr lang="en-US" i="1">
                                  <a:latin typeface="Cambria Math" panose="02040503050406030204" pitchFamily="18" charset="0"/>
                                </a:rPr>
                                <m:t>𝑄</m:t>
                              </m:r>
                            </m:e>
                            <m:sub>
                              <m:r>
                                <a:rPr lang="en-US" b="0" i="1" smtClean="0">
                                  <a:latin typeface="Cambria Math" panose="02040503050406030204" pitchFamily="18" charset="0"/>
                                </a:rPr>
                                <m:t>𝐹</m:t>
                              </m:r>
                            </m:sub>
                          </m:sSub>
                        </m:den>
                      </m:f>
                    </m:oMath>
                  </m:oMathPara>
                </a14:m>
                <a:endParaRPr lang="en-CA" dirty="0" smtClean="0"/>
              </a:p>
              <a:p>
                <a:pPr marL="0" indent="0">
                  <a:buFontTx/>
                  <a:buNone/>
                  <a:defRPr/>
                </a:pPr>
                <a:r>
                  <a:rPr lang="en-CA" dirty="0"/>
                  <a:t> </a:t>
                </a:r>
                <a:r>
                  <a:rPr lang="en-CA" dirty="0" smtClean="0"/>
                  <a:t>   where variables are defined as follows</a:t>
                </a:r>
              </a:p>
              <a:p>
                <a:pPr marL="0" indent="0">
                  <a:buFontTx/>
                  <a:buNone/>
                  <a:defRPr/>
                </a:pPr>
                <a:endParaRPr lang="en-CA" dirty="0" smtClean="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762000" y="2133600"/>
                <a:ext cx="7772400" cy="4114800"/>
              </a:xfrm>
              <a:blipFill>
                <a:blip r:embed="rId3"/>
                <a:stretch>
                  <a:fillRect/>
                </a:stretch>
              </a:blipFill>
            </p:spPr>
            <p:txBody>
              <a:bodyPr/>
              <a:lstStyle/>
              <a:p>
                <a:r>
                  <a:rPr lang="en-CA">
                    <a:noFill/>
                  </a:rPr>
                  <a:t> </a:t>
                </a:r>
              </a:p>
            </p:txBody>
          </p:sp>
        </mc:Fallback>
      </mc:AlternateContent>
      <p:sp>
        <p:nvSpPr>
          <p:cNvPr id="16388" name="Footer Placeholder 3"/>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Blip>
                <a:blip r:embed="rId4"/>
              </a:buBlip>
              <a:defRPr sz="3200">
                <a:solidFill>
                  <a:schemeClr val="tx1"/>
                </a:solidFill>
                <a:latin typeface="Tahoma" panose="020B0604030504040204" pitchFamily="34" charset="0"/>
              </a:defRPr>
            </a:lvl1pPr>
            <a:lvl2pPr marL="742950" indent="-285750" eaLnBrk="0" hangingPunct="0">
              <a:spcBef>
                <a:spcPct val="20000"/>
              </a:spcBef>
              <a:buSzPct val="75000"/>
              <a:buBlip>
                <a:blip r:embed="rId5"/>
              </a:buBlip>
              <a:defRPr sz="2800">
                <a:solidFill>
                  <a:schemeClr val="tx1"/>
                </a:solidFill>
                <a:latin typeface="Tahoma" panose="020B0604030504040204" pitchFamily="34" charset="0"/>
              </a:defRPr>
            </a:lvl2pPr>
            <a:lvl3pPr marL="1143000" indent="-228600" eaLnBrk="0" hangingPunct="0">
              <a:spcBef>
                <a:spcPct val="20000"/>
              </a:spcBef>
              <a:buChar char="•"/>
              <a:defRPr sz="2400">
                <a:solidFill>
                  <a:schemeClr val="tx1"/>
                </a:solidFill>
                <a:latin typeface="Tahoma" panose="020B0604030504040204" pitchFamily="34" charset="0"/>
              </a:defRPr>
            </a:lvl3pPr>
            <a:lvl4pPr marL="1600200" indent="-228600" eaLnBrk="0" hangingPunct="0">
              <a:spcBef>
                <a:spcPct val="20000"/>
              </a:spcBef>
              <a:buChar char="–"/>
              <a:defRPr sz="2000">
                <a:solidFill>
                  <a:schemeClr val="tx1"/>
                </a:solidFill>
                <a:latin typeface="Tahoma" panose="020B0604030504040204" pitchFamily="34" charset="0"/>
              </a:defRPr>
            </a:lvl4pPr>
            <a:lvl5pPr marL="2057400" indent="-228600" eaLnBrk="0" hangingPunct="0">
              <a:spcBef>
                <a:spcPct val="20000"/>
              </a:spcBef>
              <a:buClr>
                <a:schemeClr val="tx2"/>
              </a:buClr>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9pPr>
          </a:lstStyle>
          <a:p>
            <a:pPr eaLnBrk="1" hangingPunct="1">
              <a:spcBef>
                <a:spcPct val="0"/>
              </a:spcBef>
              <a:buFontTx/>
              <a:buNone/>
            </a:pPr>
            <a:r>
              <a:rPr lang="en-US" altLang="en-US" sz="1400" smtClean="0">
                <a:latin typeface="Arial" panose="020B0604020202020204" pitchFamily="34" charset="0"/>
              </a:rPr>
              <a:t>Options, Futures, and Other Derivatives, 11th Edition,    Copyright © John C. Hull 2021</a:t>
            </a:r>
          </a:p>
        </p:txBody>
      </p:sp>
      <p:sp>
        <p:nvSpPr>
          <p:cNvPr id="16389" name="Slide Number Placeholder 4"/>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Blip>
                <a:blip r:embed="rId4"/>
              </a:buBlip>
              <a:defRPr sz="3200">
                <a:solidFill>
                  <a:schemeClr val="tx1"/>
                </a:solidFill>
                <a:latin typeface="Tahoma" panose="020B0604030504040204" pitchFamily="34" charset="0"/>
              </a:defRPr>
            </a:lvl1pPr>
            <a:lvl2pPr marL="742950" indent="-285750" eaLnBrk="0" hangingPunct="0">
              <a:spcBef>
                <a:spcPct val="20000"/>
              </a:spcBef>
              <a:buSzPct val="75000"/>
              <a:buBlip>
                <a:blip r:embed="rId5"/>
              </a:buBlip>
              <a:defRPr sz="2800">
                <a:solidFill>
                  <a:schemeClr val="tx1"/>
                </a:solidFill>
                <a:latin typeface="Tahoma" panose="020B0604030504040204" pitchFamily="34" charset="0"/>
              </a:defRPr>
            </a:lvl2pPr>
            <a:lvl3pPr marL="1143000" indent="-228600" eaLnBrk="0" hangingPunct="0">
              <a:spcBef>
                <a:spcPct val="20000"/>
              </a:spcBef>
              <a:buChar char="•"/>
              <a:defRPr sz="2400">
                <a:solidFill>
                  <a:schemeClr val="tx1"/>
                </a:solidFill>
                <a:latin typeface="Tahoma" panose="020B0604030504040204" pitchFamily="34" charset="0"/>
              </a:defRPr>
            </a:lvl3pPr>
            <a:lvl4pPr marL="1600200" indent="-228600" eaLnBrk="0" hangingPunct="0">
              <a:spcBef>
                <a:spcPct val="20000"/>
              </a:spcBef>
              <a:buChar char="–"/>
              <a:defRPr sz="2000">
                <a:solidFill>
                  <a:schemeClr val="tx1"/>
                </a:solidFill>
                <a:latin typeface="Tahoma" panose="020B0604030504040204" pitchFamily="34" charset="0"/>
              </a:defRPr>
            </a:lvl4pPr>
            <a:lvl5pPr marL="2057400" indent="-228600" eaLnBrk="0" hangingPunct="0">
              <a:spcBef>
                <a:spcPct val="20000"/>
              </a:spcBef>
              <a:buClr>
                <a:schemeClr val="tx2"/>
              </a:buClr>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9pPr>
          </a:lstStyle>
          <a:p>
            <a:pPr eaLnBrk="1" hangingPunct="1">
              <a:spcBef>
                <a:spcPct val="0"/>
              </a:spcBef>
              <a:buFontTx/>
              <a:buNone/>
            </a:pPr>
            <a:fld id="{B57C414E-3008-4F5D-83D1-0E77AC3ED5E0}" type="slidenum">
              <a:rPr lang="en-US" altLang="en-US" sz="1400">
                <a:latin typeface="Arial" panose="020B0604020202020204" pitchFamily="34" charset="0"/>
              </a:rPr>
              <a:pPr eaLnBrk="1" hangingPunct="1">
                <a:spcBef>
                  <a:spcPct val="0"/>
                </a:spcBef>
                <a:buFontTx/>
                <a:buNone/>
              </a:pPr>
              <a:t>13</a:t>
            </a:fld>
            <a:endParaRPr lang="en-US" altLang="en-US" sz="1400">
              <a:latin typeface="Arial" panose="020B0604020202020204" pitchFamily="34" charset="0"/>
            </a:endParaRPr>
          </a:p>
        </p:txBody>
      </p:sp>
      <p:graphicFrame>
        <p:nvGraphicFramePr>
          <p:cNvPr id="8" name="Table 7"/>
          <p:cNvGraphicFramePr>
            <a:graphicFrameLocks noGrp="1"/>
          </p:cNvGraphicFramePr>
          <p:nvPr/>
        </p:nvGraphicFramePr>
        <p:xfrm>
          <a:off x="1295400" y="4343400"/>
          <a:ext cx="6096000" cy="1539875"/>
        </p:xfrm>
        <a:graphic>
          <a:graphicData uri="http://schemas.openxmlformats.org/drawingml/2006/table">
            <a:tbl>
              <a:tblPr firstRow="1" bandRow="1">
                <a:tableStyleId>{5940675A-B579-460E-94D1-54222C63F5DA}</a:tableStyleId>
              </a:tblPr>
              <a:tblGrid>
                <a:gridCol w="762000">
                  <a:extLst>
                    <a:ext uri="{9D8B030D-6E8A-4147-A177-3AD203B41FA5}">
                      <a16:colId xmlns:a16="http://schemas.microsoft.com/office/drawing/2014/main" val="20000"/>
                    </a:ext>
                  </a:extLst>
                </a:gridCol>
                <a:gridCol w="5334000">
                  <a:extLst>
                    <a:ext uri="{9D8B030D-6E8A-4147-A177-3AD203B41FA5}">
                      <a16:colId xmlns:a16="http://schemas.microsoft.com/office/drawing/2014/main" val="20001"/>
                    </a:ext>
                  </a:extLst>
                </a:gridCol>
              </a:tblGrid>
              <a:tr h="640287">
                <a:tc>
                  <a:txBody>
                    <a:bodyPr/>
                    <a:lstStyle/>
                    <a:p>
                      <a:endParaRPr lang="en-CA" sz="1800" dirty="0"/>
                    </a:p>
                  </a:txBody>
                  <a:tcPr marT="45757" marB="45757"/>
                </a:tc>
                <a:tc>
                  <a:txBody>
                    <a:bodyPr/>
                    <a:lstStyle/>
                    <a:p>
                      <a:r>
                        <a:rPr lang="en-CA" sz="1800" dirty="0" smtClean="0"/>
                        <a:t>Correlation between percentage daily changes for spot and futures</a:t>
                      </a:r>
                      <a:endParaRPr lang="en-CA" sz="1800" dirty="0"/>
                    </a:p>
                  </a:txBody>
                  <a:tcPr marT="45757" marB="45757"/>
                </a:tc>
                <a:extLst>
                  <a:ext uri="{0D108BD9-81ED-4DB2-BD59-A6C34878D82A}">
                    <a16:rowId xmlns:a16="http://schemas.microsoft.com/office/drawing/2014/main" val="10000"/>
                  </a:ext>
                </a:extLst>
              </a:tr>
              <a:tr h="457311">
                <a:tc>
                  <a:txBody>
                    <a:bodyPr/>
                    <a:lstStyle/>
                    <a:p>
                      <a:endParaRPr lang="en-CA" sz="1800" dirty="0"/>
                    </a:p>
                  </a:txBody>
                  <a:tcPr marT="45757" marB="45757"/>
                </a:tc>
                <a:tc>
                  <a:txBody>
                    <a:bodyPr/>
                    <a:lstStyle/>
                    <a:p>
                      <a:r>
                        <a:rPr lang="en-CA" sz="1800" dirty="0" smtClean="0"/>
                        <a:t>SD</a:t>
                      </a:r>
                      <a:r>
                        <a:rPr lang="en-CA" sz="1800" baseline="0" dirty="0" smtClean="0"/>
                        <a:t> of percentage daily changes in spot</a:t>
                      </a:r>
                      <a:endParaRPr lang="en-CA" sz="1800" dirty="0"/>
                    </a:p>
                  </a:txBody>
                  <a:tcPr marT="45757" marB="45757"/>
                </a:tc>
                <a:extLst>
                  <a:ext uri="{0D108BD9-81ED-4DB2-BD59-A6C34878D82A}">
                    <a16:rowId xmlns:a16="http://schemas.microsoft.com/office/drawing/2014/main" val="10001"/>
                  </a:ext>
                </a:extLst>
              </a:tr>
              <a:tr h="442277">
                <a:tc>
                  <a:txBody>
                    <a:bodyPr/>
                    <a:lstStyle/>
                    <a:p>
                      <a:endParaRPr lang="en-CA" sz="1800" dirty="0"/>
                    </a:p>
                  </a:txBody>
                  <a:tcPr marT="45757" marB="45757"/>
                </a:tc>
                <a:tc>
                  <a:txBody>
                    <a:bodyPr/>
                    <a:lstStyle/>
                    <a:p>
                      <a:r>
                        <a:rPr lang="en-CA" sz="1800" dirty="0" smtClean="0"/>
                        <a:t>SD of percentage daily changes in futures</a:t>
                      </a:r>
                      <a:endParaRPr lang="en-CA" sz="1800" dirty="0"/>
                    </a:p>
                  </a:txBody>
                  <a:tcPr marT="45757" marB="45757"/>
                </a:tc>
                <a:extLst>
                  <a:ext uri="{0D108BD9-81ED-4DB2-BD59-A6C34878D82A}">
                    <a16:rowId xmlns:a16="http://schemas.microsoft.com/office/drawing/2014/main" val="10002"/>
                  </a:ext>
                </a:extLst>
              </a:tr>
            </a:tbl>
          </a:graphicData>
        </a:graphic>
      </p:graphicFrame>
      <p:graphicFrame>
        <p:nvGraphicFramePr>
          <p:cNvPr id="16405" name="Object 8"/>
          <p:cNvGraphicFramePr>
            <a:graphicFrameLocks noChangeAspect="1"/>
          </p:cNvGraphicFramePr>
          <p:nvPr/>
        </p:nvGraphicFramePr>
        <p:xfrm>
          <a:off x="1447800" y="4419600"/>
          <a:ext cx="735013" cy="520700"/>
        </p:xfrm>
        <a:graphic>
          <a:graphicData uri="http://schemas.openxmlformats.org/presentationml/2006/ole">
            <mc:AlternateContent xmlns:mc="http://schemas.openxmlformats.org/markup-compatibility/2006">
              <mc:Choice xmlns:v="urn:schemas-microsoft-com:vml" Requires="v">
                <p:oleObj spid="_x0000_s16439" name="Equation" r:id="rId6" imgW="152268" imgH="215713" progId="Equation.DSMT4">
                  <p:embed/>
                </p:oleObj>
              </mc:Choice>
              <mc:Fallback>
                <p:oleObj name="Equation" r:id="rId6" imgW="152268" imgH="215713" progId="Equation.DSMT4">
                  <p:embed/>
                  <p:pic>
                    <p:nvPicPr>
                      <p:cNvPr id="0" name="Object 8"/>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447800" y="4419600"/>
                        <a:ext cx="735013" cy="520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6406" name="Object 9"/>
          <p:cNvGraphicFramePr>
            <a:graphicFrameLocks noChangeAspect="1"/>
          </p:cNvGraphicFramePr>
          <p:nvPr/>
        </p:nvGraphicFramePr>
        <p:xfrm>
          <a:off x="1524000" y="4953000"/>
          <a:ext cx="427038" cy="552450"/>
        </p:xfrm>
        <a:graphic>
          <a:graphicData uri="http://schemas.openxmlformats.org/presentationml/2006/ole">
            <mc:AlternateContent xmlns:mc="http://schemas.openxmlformats.org/markup-compatibility/2006">
              <mc:Choice xmlns:v="urn:schemas-microsoft-com:vml" Requires="v">
                <p:oleObj spid="_x0000_s16440" name="Equation" r:id="rId8" imgW="203112" imgH="228501" progId="Equation.DSMT4">
                  <p:embed/>
                </p:oleObj>
              </mc:Choice>
              <mc:Fallback>
                <p:oleObj name="Equation" r:id="rId8" imgW="203112" imgH="228501" progId="Equation.DSMT4">
                  <p:embed/>
                  <p:pic>
                    <p:nvPicPr>
                      <p:cNvPr id="0" name="Object 9"/>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524000" y="4953000"/>
                        <a:ext cx="427038" cy="552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6407" name="Object 1"/>
          <p:cNvGraphicFramePr>
            <a:graphicFrameLocks noChangeAspect="1"/>
          </p:cNvGraphicFramePr>
          <p:nvPr/>
        </p:nvGraphicFramePr>
        <p:xfrm>
          <a:off x="1524000" y="5410200"/>
          <a:ext cx="454025" cy="552450"/>
        </p:xfrm>
        <a:graphic>
          <a:graphicData uri="http://schemas.openxmlformats.org/presentationml/2006/ole">
            <mc:AlternateContent xmlns:mc="http://schemas.openxmlformats.org/markup-compatibility/2006">
              <mc:Choice xmlns:v="urn:schemas-microsoft-com:vml" Requires="v">
                <p:oleObj spid="_x0000_s16441" name="Equation" r:id="rId10" imgW="215806" imgH="228501" progId="Equation.DSMT4">
                  <p:embed/>
                </p:oleObj>
              </mc:Choice>
              <mc:Fallback>
                <p:oleObj name="Equation" r:id="rId10" imgW="215806" imgH="228501" progId="Equation.DSMT4">
                  <p:embed/>
                  <p:pic>
                    <p:nvPicPr>
                      <p:cNvPr id="0" name="Object 1"/>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524000" y="5410200"/>
                        <a:ext cx="454025" cy="552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46062" y="930275"/>
            <a:ext cx="8364537" cy="1143000"/>
          </a:xfrm>
        </p:spPr>
        <p:txBody>
          <a:bodyPr/>
          <a:lstStyle/>
          <a:p>
            <a:r>
              <a:rPr lang="en-US" altLang="en-US" sz="3600" dirty="0" smtClean="0"/>
              <a:t>An Alternative Expression for N</a:t>
            </a:r>
            <a:r>
              <a:rPr lang="en-US" altLang="en-US" sz="3600" baseline="30000" dirty="0" smtClean="0"/>
              <a:t>*</a:t>
            </a:r>
            <a:r>
              <a:rPr lang="en-US" altLang="en-US" sz="3600" dirty="0" smtClean="0"/>
              <a:t> when there is daily settlement </a:t>
            </a:r>
            <a:r>
              <a:rPr lang="en-US" altLang="en-US" sz="2400" dirty="0" smtClean="0"/>
              <a:t>(equation 3.3)</a:t>
            </a:r>
            <a:endParaRPr lang="en-CA" sz="2400"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pPr marL="0" indent="0">
                  <a:buNone/>
                </a:pPr>
                <a14:m>
                  <m:oMathPara xmlns:m="http://schemas.openxmlformats.org/officeDocument/2006/math">
                    <m:oMathParaPr>
                      <m:jc m:val="centerGroup"/>
                    </m:oMathParaPr>
                    <m:oMath xmlns:m="http://schemas.openxmlformats.org/officeDocument/2006/math">
                      <m:sSup>
                        <m:sSupPr>
                          <m:ctrlPr>
                            <a:rPr lang="en-CA" sz="2600" i="1" smtClean="0">
                              <a:latin typeface="Cambria Math" panose="02040503050406030204" pitchFamily="18" charset="0"/>
                            </a:rPr>
                          </m:ctrlPr>
                        </m:sSupPr>
                        <m:e>
                          <m:r>
                            <a:rPr lang="en-US" sz="2600" b="0" i="1" smtClean="0">
                              <a:latin typeface="Cambria Math" panose="02040503050406030204" pitchFamily="18" charset="0"/>
                            </a:rPr>
                            <m:t>𝑁</m:t>
                          </m:r>
                        </m:e>
                        <m:sup>
                          <m:r>
                            <a:rPr lang="en-US" sz="2600" b="0" i="1" smtClean="0">
                              <a:latin typeface="Cambria Math" panose="02040503050406030204" pitchFamily="18" charset="0"/>
                            </a:rPr>
                            <m:t>∗</m:t>
                          </m:r>
                        </m:sup>
                      </m:sSup>
                      <m:r>
                        <a:rPr lang="en-US" sz="2600" b="0" i="1" smtClean="0">
                          <a:latin typeface="Cambria Math" panose="02040503050406030204" pitchFamily="18" charset="0"/>
                        </a:rPr>
                        <m:t>=</m:t>
                      </m:r>
                      <m:acc>
                        <m:accPr>
                          <m:chr m:val="̂"/>
                          <m:ctrlPr>
                            <a:rPr lang="en-US" sz="2600" b="0" i="1" smtClean="0">
                              <a:latin typeface="Cambria Math" panose="02040503050406030204" pitchFamily="18" charset="0"/>
                            </a:rPr>
                          </m:ctrlPr>
                        </m:accPr>
                        <m:e>
                          <m:r>
                            <a:rPr lang="en-US" sz="2600" b="0" i="1" smtClean="0">
                              <a:latin typeface="Cambria Math" panose="02040503050406030204" pitchFamily="18" charset="0"/>
                            </a:rPr>
                            <m:t>h</m:t>
                          </m:r>
                        </m:e>
                      </m:acc>
                      <m:f>
                        <m:fPr>
                          <m:ctrlPr>
                            <a:rPr lang="en-CA" sz="2600" i="1" smtClean="0">
                              <a:latin typeface="Cambria Math" panose="02040503050406030204" pitchFamily="18" charset="0"/>
                            </a:rPr>
                          </m:ctrlPr>
                        </m:fPr>
                        <m:num>
                          <m:sSub>
                            <m:sSubPr>
                              <m:ctrlPr>
                                <a:rPr lang="en-CA" sz="2600" i="1" smtClean="0">
                                  <a:latin typeface="Cambria Math" panose="02040503050406030204" pitchFamily="18" charset="0"/>
                                </a:rPr>
                              </m:ctrlPr>
                            </m:sSubPr>
                            <m:e>
                              <m:r>
                                <a:rPr lang="en-US" sz="2600" b="0" i="1" smtClean="0">
                                  <a:latin typeface="Cambria Math" panose="02040503050406030204" pitchFamily="18" charset="0"/>
                                </a:rPr>
                                <m:t>𝑉</m:t>
                              </m:r>
                            </m:e>
                            <m:sub>
                              <m:r>
                                <a:rPr lang="en-US" sz="2600" b="0" i="1" smtClean="0">
                                  <a:latin typeface="Cambria Math" panose="02040503050406030204" pitchFamily="18" charset="0"/>
                                </a:rPr>
                                <m:t>𝐴</m:t>
                              </m:r>
                            </m:sub>
                          </m:sSub>
                        </m:num>
                        <m:den>
                          <m:sSub>
                            <m:sSubPr>
                              <m:ctrlPr>
                                <a:rPr lang="en-CA" sz="2600" i="1" smtClean="0">
                                  <a:latin typeface="Cambria Math" panose="02040503050406030204" pitchFamily="18" charset="0"/>
                                </a:rPr>
                              </m:ctrlPr>
                            </m:sSubPr>
                            <m:e>
                              <m:r>
                                <a:rPr lang="en-US" sz="2600" b="0" i="1" smtClean="0">
                                  <a:latin typeface="Cambria Math" panose="02040503050406030204" pitchFamily="18" charset="0"/>
                                </a:rPr>
                                <m:t>𝑉</m:t>
                              </m:r>
                            </m:e>
                            <m:sub>
                              <m:r>
                                <a:rPr lang="en-US" sz="2600" b="0" i="1" smtClean="0">
                                  <a:latin typeface="Cambria Math" panose="02040503050406030204" pitchFamily="18" charset="0"/>
                                </a:rPr>
                                <m:t>𝐹</m:t>
                              </m:r>
                            </m:sub>
                          </m:sSub>
                        </m:den>
                      </m:f>
                    </m:oMath>
                  </m:oMathPara>
                </a14:m>
                <a:endParaRPr lang="en-CA" sz="2600" dirty="0" smtClean="0"/>
              </a:p>
              <a:p>
                <a:pPr marL="0" indent="0">
                  <a:buNone/>
                </a:pPr>
                <a:r>
                  <a:rPr lang="en-US" sz="2600" dirty="0" smtClean="0"/>
                  <a:t>where</a:t>
                </a:r>
                <a:endParaRPr lang="en-CA" sz="2600" dirty="0" smtClean="0"/>
              </a:p>
              <a:p>
                <a:pPr marL="0" indent="0">
                  <a:buNone/>
                </a:pPr>
                <a:r>
                  <a:rPr lang="en-US" sz="2600" i="1" dirty="0" smtClean="0">
                    <a:latin typeface="Cambria" panose="02040503050406030204" pitchFamily="18" charset="0"/>
                    <a:ea typeface="Cambria" panose="02040503050406030204" pitchFamily="18" charset="0"/>
                  </a:rPr>
                  <a:t>V</a:t>
                </a:r>
                <a:r>
                  <a:rPr lang="en-US" sz="2600" i="1" baseline="-25000" dirty="0" smtClean="0">
                    <a:latin typeface="Cambria" panose="02040503050406030204" pitchFamily="18" charset="0"/>
                    <a:ea typeface="Cambria" panose="02040503050406030204" pitchFamily="18" charset="0"/>
                  </a:rPr>
                  <a:t>A</a:t>
                </a:r>
                <a:r>
                  <a:rPr lang="en-US" sz="2600" dirty="0" smtClean="0"/>
                  <a:t> is the value of the position being hedged (= </a:t>
                </a:r>
                <a:r>
                  <a:rPr lang="en-US" sz="2600" i="1" dirty="0" smtClean="0">
                    <a:latin typeface="Cambria" panose="02040503050406030204" pitchFamily="18" charset="0"/>
                    <a:ea typeface="Cambria" panose="02040503050406030204" pitchFamily="18" charset="0"/>
                  </a:rPr>
                  <a:t>SQ</a:t>
                </a:r>
                <a:r>
                  <a:rPr lang="en-US" sz="2600" i="1" baseline="-25000" dirty="0" smtClean="0">
                    <a:latin typeface="Cambria" panose="02040503050406030204" pitchFamily="18" charset="0"/>
                    <a:ea typeface="Cambria" panose="02040503050406030204" pitchFamily="18" charset="0"/>
                  </a:rPr>
                  <a:t>A</a:t>
                </a:r>
                <a:r>
                  <a:rPr lang="en-US" sz="2600" dirty="0" smtClean="0"/>
                  <a:t>)</a:t>
                </a:r>
                <a:endParaRPr lang="en-US" sz="2600" dirty="0"/>
              </a:p>
              <a:p>
                <a:pPr marL="0" indent="0">
                  <a:buNone/>
                </a:pPr>
                <a:r>
                  <a:rPr lang="en-US" sz="2600" i="1" dirty="0" smtClean="0">
                    <a:latin typeface="Cambria" panose="02040503050406030204" pitchFamily="18" charset="0"/>
                    <a:ea typeface="Cambria" panose="02040503050406030204" pitchFamily="18" charset="0"/>
                  </a:rPr>
                  <a:t>V</a:t>
                </a:r>
                <a:r>
                  <a:rPr lang="en-US" sz="2600" i="1" baseline="-25000" dirty="0" smtClean="0">
                    <a:latin typeface="Cambria" panose="02040503050406030204" pitchFamily="18" charset="0"/>
                    <a:ea typeface="Cambria" panose="02040503050406030204" pitchFamily="18" charset="0"/>
                  </a:rPr>
                  <a:t>F</a:t>
                </a:r>
                <a:r>
                  <a:rPr lang="en-US" sz="2600" dirty="0" smtClean="0"/>
                  <a:t> </a:t>
                </a:r>
                <a:r>
                  <a:rPr lang="en-US" sz="2600" dirty="0"/>
                  <a:t>is the </a:t>
                </a:r>
                <a:r>
                  <a:rPr lang="en-US" sz="2600" dirty="0" smtClean="0"/>
                  <a:t>futures price times the size of one contract(= </a:t>
                </a:r>
                <a:r>
                  <a:rPr lang="en-US" sz="2600" i="1" dirty="0" smtClean="0">
                    <a:latin typeface="Cambria" panose="02040503050406030204" pitchFamily="18" charset="0"/>
                    <a:ea typeface="Cambria" panose="02040503050406030204" pitchFamily="18" charset="0"/>
                  </a:rPr>
                  <a:t>FQ</a:t>
                </a:r>
                <a:r>
                  <a:rPr lang="en-US" sz="2600" i="1" baseline="-25000" dirty="0" smtClean="0">
                    <a:latin typeface="Cambria" panose="02040503050406030204" pitchFamily="18" charset="0"/>
                    <a:ea typeface="Cambria" panose="02040503050406030204" pitchFamily="18" charset="0"/>
                  </a:rPr>
                  <a:t>F</a:t>
                </a:r>
                <a:r>
                  <a:rPr lang="en-US" sz="2600" dirty="0" smtClean="0"/>
                  <a:t>)</a:t>
                </a:r>
                <a:endParaRPr lang="en-CA" sz="2600" dirty="0"/>
              </a:p>
              <a:p>
                <a:pPr marL="0" indent="0">
                  <a:buNone/>
                </a:pPr>
                <a:r>
                  <a:rPr lang="en-US" sz="2600" dirty="0"/>
                  <a:t>a</a:t>
                </a:r>
                <a:r>
                  <a:rPr lang="en-US" sz="2600" dirty="0" smtClean="0"/>
                  <a:t>nd we use with a new hedge ratio</a:t>
                </a:r>
              </a:p>
              <a:p>
                <a:pPr marL="0" indent="0">
                  <a:buNone/>
                </a:pPr>
                <a14:m>
                  <m:oMathPara xmlns:m="http://schemas.openxmlformats.org/officeDocument/2006/math">
                    <m:oMathParaPr>
                      <m:jc m:val="centerGroup"/>
                    </m:oMathParaPr>
                    <m:oMath xmlns:m="http://schemas.openxmlformats.org/officeDocument/2006/math">
                      <m:acc>
                        <m:accPr>
                          <m:chr m:val="̂"/>
                          <m:ctrlPr>
                            <a:rPr lang="en-US" sz="2600" i="1">
                              <a:latin typeface="Cambria Math" panose="02040503050406030204" pitchFamily="18" charset="0"/>
                            </a:rPr>
                          </m:ctrlPr>
                        </m:accPr>
                        <m:e>
                          <m:r>
                            <a:rPr lang="en-US" sz="2600" i="1">
                              <a:latin typeface="Cambria Math" panose="02040503050406030204" pitchFamily="18" charset="0"/>
                            </a:rPr>
                            <m:t>h</m:t>
                          </m:r>
                        </m:e>
                      </m:acc>
                      <m:r>
                        <a:rPr lang="en-US" sz="2600" i="1">
                          <a:latin typeface="Cambria Math" panose="02040503050406030204" pitchFamily="18" charset="0"/>
                        </a:rPr>
                        <m:t>=</m:t>
                      </m:r>
                      <m:acc>
                        <m:accPr>
                          <m:chr m:val="̂"/>
                          <m:ctrlPr>
                            <a:rPr lang="en-US" sz="2600" i="1">
                              <a:latin typeface="Cambria Math" panose="02040503050406030204" pitchFamily="18" charset="0"/>
                            </a:rPr>
                          </m:ctrlPr>
                        </m:accPr>
                        <m:e>
                          <m:r>
                            <a:rPr lang="en-US" sz="2600" i="1">
                              <a:latin typeface="Cambria Math" panose="02040503050406030204" pitchFamily="18" charset="0"/>
                              <a:ea typeface="Cambria Math" panose="02040503050406030204" pitchFamily="18" charset="0"/>
                            </a:rPr>
                            <m:t>𝜌</m:t>
                          </m:r>
                          <m:r>
                            <a:rPr lang="en-US" sz="2600" i="1">
                              <a:latin typeface="Cambria Math" panose="02040503050406030204" pitchFamily="18" charset="0"/>
                              <a:ea typeface="Cambria Math" panose="02040503050406030204" pitchFamily="18" charset="0"/>
                            </a:rPr>
                            <m:t> </m:t>
                          </m:r>
                        </m:e>
                      </m:acc>
                      <m:f>
                        <m:fPr>
                          <m:ctrlPr>
                            <a:rPr lang="en-CA" sz="2600" i="1">
                              <a:latin typeface="Cambria Math" panose="02040503050406030204" pitchFamily="18" charset="0"/>
                            </a:rPr>
                          </m:ctrlPr>
                        </m:fPr>
                        <m:num>
                          <m:sSub>
                            <m:sSubPr>
                              <m:ctrlPr>
                                <a:rPr lang="en-CA" sz="2600" i="1">
                                  <a:latin typeface="Cambria Math" panose="02040503050406030204" pitchFamily="18" charset="0"/>
                                </a:rPr>
                              </m:ctrlPr>
                            </m:sSubPr>
                            <m:e>
                              <m:acc>
                                <m:accPr>
                                  <m:chr m:val="̂"/>
                                  <m:ctrlPr>
                                    <a:rPr lang="en-CA" sz="2600" i="1">
                                      <a:latin typeface="Cambria Math" panose="02040503050406030204" pitchFamily="18" charset="0"/>
                                    </a:rPr>
                                  </m:ctrlPr>
                                </m:accPr>
                                <m:e>
                                  <m:r>
                                    <a:rPr lang="en-CA" sz="2600" i="1">
                                      <a:latin typeface="Cambria Math" panose="02040503050406030204" pitchFamily="18" charset="0"/>
                                      <a:ea typeface="Cambria Math" panose="02040503050406030204" pitchFamily="18" charset="0"/>
                                    </a:rPr>
                                    <m:t>𝜎</m:t>
                                  </m:r>
                                </m:e>
                              </m:acc>
                            </m:e>
                            <m:sub>
                              <m:r>
                                <a:rPr lang="en-US" sz="2600" i="1">
                                  <a:latin typeface="Cambria Math" panose="02040503050406030204" pitchFamily="18" charset="0"/>
                                </a:rPr>
                                <m:t>𝑆</m:t>
                              </m:r>
                            </m:sub>
                          </m:sSub>
                        </m:num>
                        <m:den>
                          <m:sSub>
                            <m:sSubPr>
                              <m:ctrlPr>
                                <a:rPr lang="en-CA" sz="2600" i="1">
                                  <a:latin typeface="Cambria Math" panose="02040503050406030204" pitchFamily="18" charset="0"/>
                                </a:rPr>
                              </m:ctrlPr>
                            </m:sSubPr>
                            <m:e>
                              <m:acc>
                                <m:accPr>
                                  <m:chr m:val="̂"/>
                                  <m:ctrlPr>
                                    <a:rPr lang="en-CA" sz="2600" i="1">
                                      <a:latin typeface="Cambria Math" panose="02040503050406030204" pitchFamily="18" charset="0"/>
                                    </a:rPr>
                                  </m:ctrlPr>
                                </m:accPr>
                                <m:e>
                                  <m:r>
                                    <a:rPr lang="en-CA" sz="2600" i="1">
                                      <a:latin typeface="Cambria Math" panose="02040503050406030204" pitchFamily="18" charset="0"/>
                                      <a:ea typeface="Cambria Math" panose="02040503050406030204" pitchFamily="18" charset="0"/>
                                    </a:rPr>
                                    <m:t>𝜎</m:t>
                                  </m:r>
                                </m:e>
                              </m:acc>
                            </m:e>
                            <m:sub>
                              <m:r>
                                <a:rPr lang="en-US" sz="2600" i="1">
                                  <a:latin typeface="Cambria Math" panose="02040503050406030204" pitchFamily="18" charset="0"/>
                                  <a:ea typeface="Cambria Math" panose="02040503050406030204" pitchFamily="18" charset="0"/>
                                </a:rPr>
                                <m:t>𝐹</m:t>
                              </m:r>
                            </m:sub>
                          </m:sSub>
                        </m:den>
                      </m:f>
                    </m:oMath>
                  </m:oMathPara>
                </a14:m>
                <a:endParaRPr lang="en-CA" sz="2600"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l="-1412"/>
                </a:stretch>
              </a:blipFill>
            </p:spPr>
            <p:txBody>
              <a:bodyPr/>
              <a:lstStyle/>
              <a:p>
                <a:r>
                  <a:rPr lang="en-CA">
                    <a:noFill/>
                  </a:rPr>
                  <a:t> </a:t>
                </a:r>
              </a:p>
            </p:txBody>
          </p:sp>
        </mc:Fallback>
      </mc:AlternateContent>
      <p:sp>
        <p:nvSpPr>
          <p:cNvPr id="4" name="Footer Placeholder 3"/>
          <p:cNvSpPr>
            <a:spLocks noGrp="1"/>
          </p:cNvSpPr>
          <p:nvPr>
            <p:ph type="ftr" sz="quarter" idx="11"/>
          </p:nvPr>
        </p:nvSpPr>
        <p:spPr/>
        <p:txBody>
          <a:bodyPr/>
          <a:lstStyle/>
          <a:p>
            <a:pPr>
              <a:defRPr/>
            </a:pPr>
            <a:r>
              <a:rPr lang="en-US" smtClean="0"/>
              <a:t>Options, Futures, and Other Derivatives, 11th Edition,    Copyright © John C. Hull 2021</a:t>
            </a:r>
            <a:endParaRPr lang="en-US"/>
          </a:p>
        </p:txBody>
      </p:sp>
      <p:sp>
        <p:nvSpPr>
          <p:cNvPr id="5" name="Slide Number Placeholder 4"/>
          <p:cNvSpPr>
            <a:spLocks noGrp="1"/>
          </p:cNvSpPr>
          <p:nvPr>
            <p:ph type="sldNum" sz="quarter" idx="12"/>
          </p:nvPr>
        </p:nvSpPr>
        <p:spPr/>
        <p:txBody>
          <a:bodyPr/>
          <a:lstStyle/>
          <a:p>
            <a:fld id="{DD69E5F0-89A0-4F43-8B4F-1CAC9BF112DD}" type="slidenum">
              <a:rPr lang="en-US" altLang="en-US" smtClean="0"/>
              <a:pPr/>
              <a:t>14</a:t>
            </a:fld>
            <a:endParaRPr lang="en-US" altLang="en-US"/>
          </a:p>
        </p:txBody>
      </p:sp>
    </p:spTree>
    <p:extLst>
      <p:ext uri="{BB962C8B-B14F-4D97-AF65-F5344CB8AC3E}">
        <p14:creationId xmlns:p14="http://schemas.microsoft.com/office/powerpoint/2010/main" val="172365518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Daily Settlement</a:t>
            </a:r>
            <a:endParaRPr lang="en-CA" dirty="0"/>
          </a:p>
        </p:txBody>
      </p:sp>
      <p:sp>
        <p:nvSpPr>
          <p:cNvPr id="3" name="Content Placeholder 2"/>
          <p:cNvSpPr>
            <a:spLocks noGrp="1"/>
          </p:cNvSpPr>
          <p:nvPr>
            <p:ph idx="1"/>
          </p:nvPr>
        </p:nvSpPr>
        <p:spPr/>
        <p:txBody>
          <a:bodyPr/>
          <a:lstStyle/>
          <a:p>
            <a:r>
              <a:rPr lang="en-US" dirty="0" smtClean="0"/>
              <a:t>Day to day changes in </a:t>
            </a:r>
            <a:r>
              <a:rPr lang="en-US" i="1" dirty="0" smtClean="0">
                <a:latin typeface="Cambria" panose="02040503050406030204" pitchFamily="18" charset="0"/>
                <a:ea typeface="Cambria" panose="02040503050406030204" pitchFamily="18" charset="0"/>
              </a:rPr>
              <a:t>N</a:t>
            </a:r>
            <a:r>
              <a:rPr lang="en-US" i="1" baseline="30000" dirty="0" smtClean="0">
                <a:latin typeface="Cambria" panose="02040503050406030204" pitchFamily="18" charset="0"/>
                <a:ea typeface="Cambria" panose="02040503050406030204" pitchFamily="18" charset="0"/>
              </a:rPr>
              <a:t>*</a:t>
            </a:r>
            <a:r>
              <a:rPr lang="en-US" baseline="30000" dirty="0" smtClean="0"/>
              <a:t> </a:t>
            </a:r>
            <a:r>
              <a:rPr lang="en-US" dirty="0" smtClean="0"/>
              <a:t>are small and often ignored</a:t>
            </a:r>
            <a:endParaRPr lang="en-US" baseline="30000" dirty="0"/>
          </a:p>
          <a:p>
            <a:r>
              <a:rPr lang="en-US" dirty="0" smtClean="0"/>
              <a:t>Tailing the hedge involves dividing </a:t>
            </a:r>
            <a:r>
              <a:rPr lang="en-US" i="1" dirty="0" smtClean="0">
                <a:latin typeface="Cambria" panose="02040503050406030204" pitchFamily="18" charset="0"/>
                <a:ea typeface="Cambria" panose="02040503050406030204" pitchFamily="18" charset="0"/>
              </a:rPr>
              <a:t>N</a:t>
            </a:r>
            <a:r>
              <a:rPr lang="en-US" i="1" baseline="30000" dirty="0" smtClean="0">
                <a:latin typeface="Cambria" panose="02040503050406030204" pitchFamily="18" charset="0"/>
                <a:ea typeface="Cambria" panose="02040503050406030204" pitchFamily="18" charset="0"/>
              </a:rPr>
              <a:t>*</a:t>
            </a:r>
            <a:r>
              <a:rPr lang="en-US" i="1" dirty="0" smtClean="0">
                <a:latin typeface="Cambria" panose="02040503050406030204" pitchFamily="18" charset="0"/>
                <a:ea typeface="Cambria" panose="02040503050406030204" pitchFamily="18" charset="0"/>
              </a:rPr>
              <a:t> </a:t>
            </a:r>
            <a:r>
              <a:rPr lang="en-US" dirty="0" smtClean="0"/>
              <a:t>by one plus the amount of interest that will be earned over the remaining life of the hedge</a:t>
            </a:r>
          </a:p>
        </p:txBody>
      </p:sp>
      <p:sp>
        <p:nvSpPr>
          <p:cNvPr id="4" name="Footer Placeholder 3"/>
          <p:cNvSpPr>
            <a:spLocks noGrp="1"/>
          </p:cNvSpPr>
          <p:nvPr>
            <p:ph type="ftr" sz="quarter" idx="11"/>
          </p:nvPr>
        </p:nvSpPr>
        <p:spPr/>
        <p:txBody>
          <a:bodyPr/>
          <a:lstStyle/>
          <a:p>
            <a:pPr>
              <a:defRPr/>
            </a:pPr>
            <a:r>
              <a:rPr lang="en-US" smtClean="0"/>
              <a:t>Options, Futures, and Other Derivatives, 11th Edition,    Copyright © John C. Hull 2021</a:t>
            </a:r>
            <a:endParaRPr lang="en-US"/>
          </a:p>
        </p:txBody>
      </p:sp>
      <p:sp>
        <p:nvSpPr>
          <p:cNvPr id="5" name="Slide Number Placeholder 4"/>
          <p:cNvSpPr>
            <a:spLocks noGrp="1"/>
          </p:cNvSpPr>
          <p:nvPr>
            <p:ph type="sldNum" sz="quarter" idx="12"/>
          </p:nvPr>
        </p:nvSpPr>
        <p:spPr/>
        <p:txBody>
          <a:bodyPr/>
          <a:lstStyle/>
          <a:p>
            <a:fld id="{DD69E5F0-89A0-4F43-8B4F-1CAC9BF112DD}" type="slidenum">
              <a:rPr lang="en-US" altLang="en-US" smtClean="0"/>
              <a:pPr/>
              <a:t>15</a:t>
            </a:fld>
            <a:endParaRPr lang="en-US" altLang="en-US"/>
          </a:p>
        </p:txBody>
      </p:sp>
    </p:spTree>
    <p:extLst>
      <p:ext uri="{BB962C8B-B14F-4D97-AF65-F5344CB8AC3E}">
        <p14:creationId xmlns:p14="http://schemas.microsoft.com/office/powerpoint/2010/main" val="393789571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p:txBody>
          <a:bodyPr/>
          <a:lstStyle/>
          <a:p>
            <a:pPr eaLnBrk="1" hangingPunct="1"/>
            <a:r>
              <a:rPr lang="en-US" altLang="en-US" dirty="0" smtClean="0"/>
              <a:t>Hedging Using Index Futures</a:t>
            </a:r>
            <a:br>
              <a:rPr lang="en-US" altLang="en-US" dirty="0" smtClean="0"/>
            </a:br>
            <a:r>
              <a:rPr lang="en-US" altLang="en-US" sz="2200" dirty="0" smtClean="0"/>
              <a:t>(equation 3.4)</a:t>
            </a:r>
            <a:endParaRPr lang="en-US" altLang="en-US" dirty="0" smtClean="0"/>
          </a:p>
        </p:txBody>
      </p:sp>
      <p:sp>
        <p:nvSpPr>
          <p:cNvPr id="2052" name="Rectangle 3"/>
          <p:cNvSpPr>
            <a:spLocks noGrp="1" noChangeArrowheads="1"/>
          </p:cNvSpPr>
          <p:nvPr>
            <p:ph idx="1"/>
          </p:nvPr>
        </p:nvSpPr>
        <p:spPr>
          <a:xfrm>
            <a:off x="685800" y="2057400"/>
            <a:ext cx="7010400" cy="4411663"/>
          </a:xfrm>
        </p:spPr>
        <p:txBody>
          <a:bodyPr/>
          <a:lstStyle/>
          <a:p>
            <a:pPr eaLnBrk="1" hangingPunct="1">
              <a:buFont typeface="Wingdings" pitchFamily="2" charset="2"/>
              <a:buNone/>
              <a:defRPr/>
            </a:pPr>
            <a:r>
              <a:rPr lang="en-US" dirty="0" smtClean="0">
                <a:latin typeface="Arial" charset="0"/>
                <a:cs typeface="Arial" charset="0"/>
              </a:rPr>
              <a:t>	</a:t>
            </a:r>
          </a:p>
          <a:p>
            <a:pPr eaLnBrk="1" hangingPunct="1">
              <a:buFont typeface="Wingdings" pitchFamily="2" charset="2"/>
              <a:buNone/>
              <a:defRPr/>
            </a:pPr>
            <a:r>
              <a:rPr lang="en-US" dirty="0" smtClean="0">
                <a:latin typeface="Arial" charset="0"/>
                <a:cs typeface="Arial" charset="0"/>
              </a:rPr>
              <a:t>	To hedge the risk in a portfolio the number of contracts that should be shorted is</a:t>
            </a:r>
          </a:p>
          <a:p>
            <a:pPr eaLnBrk="1" hangingPunct="1">
              <a:buFont typeface="Wingdings 2" pitchFamily="18" charset="2"/>
              <a:buNone/>
              <a:defRPr/>
            </a:pPr>
            <a:endParaRPr lang="en-US" dirty="0" smtClean="0">
              <a:latin typeface="Arial" charset="0"/>
              <a:cs typeface="Arial" charset="0"/>
            </a:endParaRPr>
          </a:p>
          <a:p>
            <a:pPr eaLnBrk="1" hangingPunct="1">
              <a:buFont typeface="Wingdings" pitchFamily="2" charset="2"/>
              <a:buNone/>
              <a:defRPr/>
            </a:pPr>
            <a:r>
              <a:rPr lang="en-US" dirty="0" smtClean="0">
                <a:latin typeface="Arial" charset="0"/>
                <a:cs typeface="Arial" charset="0"/>
              </a:rPr>
              <a:t>	where </a:t>
            </a:r>
            <a:r>
              <a:rPr lang="en-US" i="1" dirty="0" smtClean="0">
                <a:latin typeface="Times New Roman" pitchFamily="18" charset="0"/>
                <a:cs typeface="Times New Roman" pitchFamily="18" charset="0"/>
              </a:rPr>
              <a:t>V</a:t>
            </a:r>
            <a:r>
              <a:rPr lang="en-US" i="1" baseline="-25000" dirty="0" smtClean="0">
                <a:latin typeface="Times New Roman" pitchFamily="18" charset="0"/>
                <a:cs typeface="Times New Roman" pitchFamily="18" charset="0"/>
              </a:rPr>
              <a:t>A</a:t>
            </a:r>
            <a:r>
              <a:rPr lang="en-US" dirty="0" smtClean="0">
                <a:latin typeface="Arial" charset="0"/>
                <a:cs typeface="Arial" charset="0"/>
              </a:rPr>
              <a:t> is the value of the portfolio, </a:t>
            </a:r>
            <a:r>
              <a:rPr lang="en-US" dirty="0" smtClean="0">
                <a:latin typeface="Symbol" pitchFamily="18" charset="2"/>
                <a:cs typeface="Arial" charset="0"/>
              </a:rPr>
              <a:t>b </a:t>
            </a:r>
            <a:r>
              <a:rPr lang="en-US" dirty="0" smtClean="0">
                <a:latin typeface="Arial" charset="0"/>
                <a:cs typeface="Arial" charset="0"/>
              </a:rPr>
              <a:t>is its beta, and </a:t>
            </a:r>
            <a:r>
              <a:rPr lang="en-US" i="1" dirty="0" smtClean="0">
                <a:latin typeface="+mj-lt"/>
                <a:cs typeface="Arial" charset="0"/>
              </a:rPr>
              <a:t>V</a:t>
            </a:r>
            <a:r>
              <a:rPr lang="en-US" i="1" baseline="-25000" dirty="0" smtClean="0">
                <a:latin typeface="+mj-lt"/>
                <a:cs typeface="Arial" charset="0"/>
              </a:rPr>
              <a:t>F</a:t>
            </a:r>
            <a:r>
              <a:rPr lang="en-US" dirty="0" smtClean="0">
                <a:latin typeface="Arial" charset="0"/>
                <a:cs typeface="Arial" charset="0"/>
              </a:rPr>
              <a:t> is the value of one futures contract</a:t>
            </a:r>
          </a:p>
        </p:txBody>
      </p:sp>
      <p:sp>
        <p:nvSpPr>
          <p:cNvPr id="18436" name="Footer Placeholder 6"/>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Blip>
                <a:blip r:embed="rId4"/>
              </a:buBlip>
              <a:defRPr sz="3200">
                <a:solidFill>
                  <a:schemeClr val="tx1"/>
                </a:solidFill>
                <a:latin typeface="Tahoma" panose="020B0604030504040204" pitchFamily="34" charset="0"/>
              </a:defRPr>
            </a:lvl1pPr>
            <a:lvl2pPr marL="742950" indent="-285750" eaLnBrk="0" hangingPunct="0">
              <a:spcBef>
                <a:spcPct val="20000"/>
              </a:spcBef>
              <a:buSzPct val="75000"/>
              <a:buBlip>
                <a:blip r:embed="rId5"/>
              </a:buBlip>
              <a:defRPr sz="2800">
                <a:solidFill>
                  <a:schemeClr val="tx1"/>
                </a:solidFill>
                <a:latin typeface="Tahoma" panose="020B0604030504040204" pitchFamily="34" charset="0"/>
              </a:defRPr>
            </a:lvl2pPr>
            <a:lvl3pPr marL="1143000" indent="-228600" eaLnBrk="0" hangingPunct="0">
              <a:spcBef>
                <a:spcPct val="20000"/>
              </a:spcBef>
              <a:buChar char="•"/>
              <a:defRPr sz="2400">
                <a:solidFill>
                  <a:schemeClr val="tx1"/>
                </a:solidFill>
                <a:latin typeface="Tahoma" panose="020B0604030504040204" pitchFamily="34" charset="0"/>
              </a:defRPr>
            </a:lvl3pPr>
            <a:lvl4pPr marL="1600200" indent="-228600" eaLnBrk="0" hangingPunct="0">
              <a:spcBef>
                <a:spcPct val="20000"/>
              </a:spcBef>
              <a:buChar char="–"/>
              <a:defRPr sz="2000">
                <a:solidFill>
                  <a:schemeClr val="tx1"/>
                </a:solidFill>
                <a:latin typeface="Tahoma" panose="020B0604030504040204" pitchFamily="34" charset="0"/>
              </a:defRPr>
            </a:lvl4pPr>
            <a:lvl5pPr marL="2057400" indent="-228600" eaLnBrk="0" hangingPunct="0">
              <a:spcBef>
                <a:spcPct val="20000"/>
              </a:spcBef>
              <a:buClr>
                <a:schemeClr val="tx2"/>
              </a:buClr>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9pPr>
          </a:lstStyle>
          <a:p>
            <a:pPr eaLnBrk="1" hangingPunct="1">
              <a:spcBef>
                <a:spcPct val="0"/>
              </a:spcBef>
              <a:buFontTx/>
              <a:buNone/>
            </a:pPr>
            <a:r>
              <a:rPr lang="en-US" altLang="en-US" sz="1400" smtClean="0">
                <a:latin typeface="Arial" panose="020B0604020202020204" pitchFamily="34" charset="0"/>
              </a:rPr>
              <a:t>Options, Futures, and Other Derivatives, 11th Edition,    Copyright © John C. Hull 2021</a:t>
            </a:r>
          </a:p>
        </p:txBody>
      </p:sp>
      <p:sp>
        <p:nvSpPr>
          <p:cNvPr id="18437"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Blip>
                <a:blip r:embed="rId4"/>
              </a:buBlip>
              <a:defRPr sz="3200">
                <a:solidFill>
                  <a:schemeClr val="tx1"/>
                </a:solidFill>
                <a:latin typeface="Tahoma" panose="020B0604030504040204" pitchFamily="34" charset="0"/>
              </a:defRPr>
            </a:lvl1pPr>
            <a:lvl2pPr marL="742950" indent="-285750" eaLnBrk="0" hangingPunct="0">
              <a:spcBef>
                <a:spcPct val="20000"/>
              </a:spcBef>
              <a:buSzPct val="75000"/>
              <a:buBlip>
                <a:blip r:embed="rId5"/>
              </a:buBlip>
              <a:defRPr sz="2800">
                <a:solidFill>
                  <a:schemeClr val="tx1"/>
                </a:solidFill>
                <a:latin typeface="Tahoma" panose="020B0604030504040204" pitchFamily="34" charset="0"/>
              </a:defRPr>
            </a:lvl2pPr>
            <a:lvl3pPr marL="1143000" indent="-228600" eaLnBrk="0" hangingPunct="0">
              <a:spcBef>
                <a:spcPct val="20000"/>
              </a:spcBef>
              <a:buChar char="•"/>
              <a:defRPr sz="2400">
                <a:solidFill>
                  <a:schemeClr val="tx1"/>
                </a:solidFill>
                <a:latin typeface="Tahoma" panose="020B0604030504040204" pitchFamily="34" charset="0"/>
              </a:defRPr>
            </a:lvl3pPr>
            <a:lvl4pPr marL="1600200" indent="-228600" eaLnBrk="0" hangingPunct="0">
              <a:spcBef>
                <a:spcPct val="20000"/>
              </a:spcBef>
              <a:buChar char="–"/>
              <a:defRPr sz="2000">
                <a:solidFill>
                  <a:schemeClr val="tx1"/>
                </a:solidFill>
                <a:latin typeface="Tahoma" panose="020B0604030504040204" pitchFamily="34" charset="0"/>
              </a:defRPr>
            </a:lvl4pPr>
            <a:lvl5pPr marL="2057400" indent="-228600" eaLnBrk="0" hangingPunct="0">
              <a:spcBef>
                <a:spcPct val="20000"/>
              </a:spcBef>
              <a:buClr>
                <a:schemeClr val="tx2"/>
              </a:buClr>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9pPr>
          </a:lstStyle>
          <a:p>
            <a:pPr eaLnBrk="1" hangingPunct="1">
              <a:spcBef>
                <a:spcPct val="0"/>
              </a:spcBef>
              <a:buFontTx/>
              <a:buNone/>
            </a:pPr>
            <a:fld id="{CD6BCBA3-2D82-4FED-A3F9-143414B926FA}" type="slidenum">
              <a:rPr lang="en-US" altLang="en-US" sz="1400">
                <a:latin typeface="Arial" panose="020B0604020202020204" pitchFamily="34" charset="0"/>
              </a:rPr>
              <a:pPr eaLnBrk="1" hangingPunct="1">
                <a:spcBef>
                  <a:spcPct val="0"/>
                </a:spcBef>
                <a:buFontTx/>
                <a:buNone/>
              </a:pPr>
              <a:t>16</a:t>
            </a:fld>
            <a:endParaRPr lang="en-US" altLang="en-US" sz="1400">
              <a:latin typeface="Arial" panose="020B0604020202020204" pitchFamily="34" charset="0"/>
            </a:endParaRPr>
          </a:p>
        </p:txBody>
      </p:sp>
      <p:graphicFrame>
        <p:nvGraphicFramePr>
          <p:cNvPr id="18438" name="Object 4"/>
          <p:cNvGraphicFramePr>
            <a:graphicFrameLocks noChangeAspect="1"/>
          </p:cNvGraphicFramePr>
          <p:nvPr/>
        </p:nvGraphicFramePr>
        <p:xfrm>
          <a:off x="2895600" y="3657600"/>
          <a:ext cx="685800" cy="776288"/>
        </p:xfrm>
        <a:graphic>
          <a:graphicData uri="http://schemas.openxmlformats.org/presentationml/2006/ole">
            <mc:AlternateContent xmlns:mc="http://schemas.openxmlformats.org/markup-compatibility/2006">
              <mc:Choice xmlns:v="urn:schemas-microsoft-com:vml" Requires="v">
                <p:oleObj spid="_x0000_s18445" name="Equation" r:id="rId6" imgW="330057" imgH="406224" progId="Equation.3">
                  <p:embed/>
                </p:oleObj>
              </mc:Choice>
              <mc:Fallback>
                <p:oleObj name="Equation" r:id="rId6" imgW="330057" imgH="406224" progId="Equation.3">
                  <p:embed/>
                  <p:pic>
                    <p:nvPicPr>
                      <p:cNvPr id="0" name="Object 4"/>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895600" y="3657600"/>
                        <a:ext cx="685800" cy="776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1026"/>
          <p:cNvSpPr>
            <a:spLocks noGrp="1" noChangeArrowheads="1"/>
          </p:cNvSpPr>
          <p:nvPr>
            <p:ph type="title"/>
          </p:nvPr>
        </p:nvSpPr>
        <p:spPr/>
        <p:txBody>
          <a:bodyPr/>
          <a:lstStyle/>
          <a:p>
            <a:pPr eaLnBrk="1" hangingPunct="1"/>
            <a:r>
              <a:rPr lang="en-US" altLang="en-US" smtClean="0"/>
              <a:t>Example</a:t>
            </a:r>
          </a:p>
        </p:txBody>
      </p:sp>
      <p:sp>
        <p:nvSpPr>
          <p:cNvPr id="19459" name="Rectangle 1027"/>
          <p:cNvSpPr>
            <a:spLocks noGrp="1" noChangeArrowheads="1"/>
          </p:cNvSpPr>
          <p:nvPr>
            <p:ph idx="1"/>
          </p:nvPr>
        </p:nvSpPr>
        <p:spPr/>
        <p:txBody>
          <a:bodyPr/>
          <a:lstStyle/>
          <a:p>
            <a:pPr eaLnBrk="1" hangingPunct="1">
              <a:buFont typeface="Wingdings" panose="05000000000000000000" pitchFamily="2" charset="2"/>
              <a:buNone/>
            </a:pPr>
            <a:r>
              <a:rPr lang="en-US" altLang="en-US" dirty="0" smtClean="0"/>
              <a:t>	Index futures price is 1,000</a:t>
            </a:r>
          </a:p>
          <a:p>
            <a:pPr eaLnBrk="1" hangingPunct="1">
              <a:buFont typeface="Wingdings" panose="05000000000000000000" pitchFamily="2" charset="2"/>
              <a:buNone/>
            </a:pPr>
            <a:r>
              <a:rPr lang="en-US" altLang="en-US" dirty="0" smtClean="0"/>
              <a:t>	Value of Portfolio is $5 million</a:t>
            </a:r>
          </a:p>
          <a:p>
            <a:pPr eaLnBrk="1" hangingPunct="1">
              <a:buFont typeface="Wingdings" panose="05000000000000000000" pitchFamily="2" charset="2"/>
              <a:buNone/>
            </a:pPr>
            <a:r>
              <a:rPr lang="en-US" altLang="en-US" dirty="0" smtClean="0"/>
              <a:t>	Beta of portfolio is 1.5</a:t>
            </a:r>
          </a:p>
          <a:p>
            <a:pPr eaLnBrk="1" hangingPunct="1">
              <a:buFont typeface="Wingdings" panose="05000000000000000000" pitchFamily="2" charset="2"/>
              <a:buNone/>
            </a:pPr>
            <a:endParaRPr lang="en-US" altLang="en-US" dirty="0" smtClean="0"/>
          </a:p>
          <a:p>
            <a:pPr eaLnBrk="1" hangingPunct="1">
              <a:buFont typeface="Wingdings" panose="05000000000000000000" pitchFamily="2" charset="2"/>
              <a:buNone/>
            </a:pPr>
            <a:r>
              <a:rPr lang="en-US" altLang="en-US" dirty="0" smtClean="0"/>
              <a:t>	What position in futures contracts on the index is necessary to hedge the portfolio?</a:t>
            </a:r>
          </a:p>
        </p:txBody>
      </p:sp>
      <p:sp>
        <p:nvSpPr>
          <p:cNvPr id="19460" name="Footer Placeholder 5"/>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Blip>
                <a:blip r:embed="rId3"/>
              </a:buBlip>
              <a:defRPr sz="3200">
                <a:solidFill>
                  <a:schemeClr val="tx1"/>
                </a:solidFill>
                <a:latin typeface="Tahoma" panose="020B0604030504040204" pitchFamily="34" charset="0"/>
              </a:defRPr>
            </a:lvl1pPr>
            <a:lvl2pPr marL="742950" indent="-285750" eaLnBrk="0" hangingPunct="0">
              <a:spcBef>
                <a:spcPct val="20000"/>
              </a:spcBef>
              <a:buSzPct val="75000"/>
              <a:buBlip>
                <a:blip r:embed="rId4"/>
              </a:buBlip>
              <a:defRPr sz="2800">
                <a:solidFill>
                  <a:schemeClr val="tx1"/>
                </a:solidFill>
                <a:latin typeface="Tahoma" panose="020B0604030504040204" pitchFamily="34" charset="0"/>
              </a:defRPr>
            </a:lvl2pPr>
            <a:lvl3pPr marL="1143000" indent="-228600" eaLnBrk="0" hangingPunct="0">
              <a:spcBef>
                <a:spcPct val="20000"/>
              </a:spcBef>
              <a:buChar char="•"/>
              <a:defRPr sz="2400">
                <a:solidFill>
                  <a:schemeClr val="tx1"/>
                </a:solidFill>
                <a:latin typeface="Tahoma" panose="020B0604030504040204" pitchFamily="34" charset="0"/>
              </a:defRPr>
            </a:lvl3pPr>
            <a:lvl4pPr marL="1600200" indent="-228600" eaLnBrk="0" hangingPunct="0">
              <a:spcBef>
                <a:spcPct val="20000"/>
              </a:spcBef>
              <a:buChar char="–"/>
              <a:defRPr sz="2000">
                <a:solidFill>
                  <a:schemeClr val="tx1"/>
                </a:solidFill>
                <a:latin typeface="Tahoma" panose="020B0604030504040204" pitchFamily="34" charset="0"/>
              </a:defRPr>
            </a:lvl4pPr>
            <a:lvl5pPr marL="2057400" indent="-228600" eaLnBrk="0" hangingPunct="0">
              <a:spcBef>
                <a:spcPct val="20000"/>
              </a:spcBef>
              <a:buClr>
                <a:schemeClr val="tx2"/>
              </a:buClr>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9pPr>
          </a:lstStyle>
          <a:p>
            <a:pPr eaLnBrk="1" hangingPunct="1">
              <a:spcBef>
                <a:spcPct val="0"/>
              </a:spcBef>
              <a:buFontTx/>
              <a:buNone/>
            </a:pPr>
            <a:r>
              <a:rPr lang="en-US" altLang="en-US" sz="1400" smtClean="0">
                <a:latin typeface="Arial" panose="020B0604020202020204" pitchFamily="34" charset="0"/>
              </a:rPr>
              <a:t>Options, Futures, and Other Derivatives, 11th Edition,    Copyright © John C. Hull 2021</a:t>
            </a:r>
          </a:p>
        </p:txBody>
      </p:sp>
      <p:sp>
        <p:nvSpPr>
          <p:cNvPr id="19461"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Blip>
                <a:blip r:embed="rId3"/>
              </a:buBlip>
              <a:defRPr sz="3200">
                <a:solidFill>
                  <a:schemeClr val="tx1"/>
                </a:solidFill>
                <a:latin typeface="Tahoma" panose="020B0604030504040204" pitchFamily="34" charset="0"/>
              </a:defRPr>
            </a:lvl1pPr>
            <a:lvl2pPr marL="742950" indent="-285750" eaLnBrk="0" hangingPunct="0">
              <a:spcBef>
                <a:spcPct val="20000"/>
              </a:spcBef>
              <a:buSzPct val="75000"/>
              <a:buBlip>
                <a:blip r:embed="rId4"/>
              </a:buBlip>
              <a:defRPr sz="2800">
                <a:solidFill>
                  <a:schemeClr val="tx1"/>
                </a:solidFill>
                <a:latin typeface="Tahoma" panose="020B0604030504040204" pitchFamily="34" charset="0"/>
              </a:defRPr>
            </a:lvl2pPr>
            <a:lvl3pPr marL="1143000" indent="-228600" eaLnBrk="0" hangingPunct="0">
              <a:spcBef>
                <a:spcPct val="20000"/>
              </a:spcBef>
              <a:buChar char="•"/>
              <a:defRPr sz="2400">
                <a:solidFill>
                  <a:schemeClr val="tx1"/>
                </a:solidFill>
                <a:latin typeface="Tahoma" panose="020B0604030504040204" pitchFamily="34" charset="0"/>
              </a:defRPr>
            </a:lvl3pPr>
            <a:lvl4pPr marL="1600200" indent="-228600" eaLnBrk="0" hangingPunct="0">
              <a:spcBef>
                <a:spcPct val="20000"/>
              </a:spcBef>
              <a:buChar char="–"/>
              <a:defRPr sz="2000">
                <a:solidFill>
                  <a:schemeClr val="tx1"/>
                </a:solidFill>
                <a:latin typeface="Tahoma" panose="020B0604030504040204" pitchFamily="34" charset="0"/>
              </a:defRPr>
            </a:lvl4pPr>
            <a:lvl5pPr marL="2057400" indent="-228600" eaLnBrk="0" hangingPunct="0">
              <a:spcBef>
                <a:spcPct val="20000"/>
              </a:spcBef>
              <a:buClr>
                <a:schemeClr val="tx2"/>
              </a:buClr>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9pPr>
          </a:lstStyle>
          <a:p>
            <a:pPr eaLnBrk="1" hangingPunct="1">
              <a:spcBef>
                <a:spcPct val="0"/>
              </a:spcBef>
              <a:buFontTx/>
              <a:buNone/>
            </a:pPr>
            <a:fld id="{2FF7360C-718E-477D-B936-EA2DCAA9F225}" type="slidenum">
              <a:rPr lang="en-US" altLang="en-US" sz="1400">
                <a:latin typeface="Arial" panose="020B0604020202020204" pitchFamily="34" charset="0"/>
              </a:rPr>
              <a:pPr eaLnBrk="1" hangingPunct="1">
                <a:spcBef>
                  <a:spcPct val="0"/>
                </a:spcBef>
                <a:buFontTx/>
                <a:buNone/>
              </a:pPr>
              <a:t>17</a:t>
            </a:fld>
            <a:endParaRPr lang="en-US" altLang="en-US" sz="1400">
              <a:latin typeface="Arial" panose="020B0604020202020204" pitchFamily="34" charset="0"/>
            </a:endParaRPr>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p:txBody>
          <a:bodyPr/>
          <a:lstStyle/>
          <a:p>
            <a:pPr eaLnBrk="1" hangingPunct="1"/>
            <a:r>
              <a:rPr lang="en-US" altLang="en-US" smtClean="0"/>
              <a:t>Changing Beta</a:t>
            </a:r>
          </a:p>
        </p:txBody>
      </p:sp>
      <p:sp>
        <p:nvSpPr>
          <p:cNvPr id="20483" name="Rectangle 3"/>
          <p:cNvSpPr>
            <a:spLocks noGrp="1" noChangeArrowheads="1"/>
          </p:cNvSpPr>
          <p:nvPr>
            <p:ph idx="1"/>
          </p:nvPr>
        </p:nvSpPr>
        <p:spPr>
          <a:xfrm>
            <a:off x="990600" y="2209800"/>
            <a:ext cx="6781800" cy="3997325"/>
          </a:xfrm>
        </p:spPr>
        <p:txBody>
          <a:bodyPr/>
          <a:lstStyle/>
          <a:p>
            <a:pPr eaLnBrk="1" hangingPunct="1"/>
            <a:r>
              <a:rPr lang="en-US" altLang="en-US" smtClean="0"/>
              <a:t>What position is necessary to reduce the beta of the portfolio to 0.75?</a:t>
            </a:r>
          </a:p>
          <a:p>
            <a:pPr eaLnBrk="1" hangingPunct="1"/>
            <a:r>
              <a:rPr lang="en-US" altLang="en-US" smtClean="0"/>
              <a:t>What position is necessary to increase the beta of the portfolio to 2.0?</a:t>
            </a:r>
          </a:p>
        </p:txBody>
      </p:sp>
      <p:sp>
        <p:nvSpPr>
          <p:cNvPr id="20484" name="Footer Placeholder 5"/>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Blip>
                <a:blip r:embed="rId3"/>
              </a:buBlip>
              <a:defRPr sz="3200">
                <a:solidFill>
                  <a:schemeClr val="tx1"/>
                </a:solidFill>
                <a:latin typeface="Tahoma" panose="020B0604030504040204" pitchFamily="34" charset="0"/>
              </a:defRPr>
            </a:lvl1pPr>
            <a:lvl2pPr marL="742950" indent="-285750" eaLnBrk="0" hangingPunct="0">
              <a:spcBef>
                <a:spcPct val="20000"/>
              </a:spcBef>
              <a:buSzPct val="75000"/>
              <a:buBlip>
                <a:blip r:embed="rId4"/>
              </a:buBlip>
              <a:defRPr sz="2800">
                <a:solidFill>
                  <a:schemeClr val="tx1"/>
                </a:solidFill>
                <a:latin typeface="Tahoma" panose="020B0604030504040204" pitchFamily="34" charset="0"/>
              </a:defRPr>
            </a:lvl2pPr>
            <a:lvl3pPr marL="1143000" indent="-228600" eaLnBrk="0" hangingPunct="0">
              <a:spcBef>
                <a:spcPct val="20000"/>
              </a:spcBef>
              <a:buChar char="•"/>
              <a:defRPr sz="2400">
                <a:solidFill>
                  <a:schemeClr val="tx1"/>
                </a:solidFill>
                <a:latin typeface="Tahoma" panose="020B0604030504040204" pitchFamily="34" charset="0"/>
              </a:defRPr>
            </a:lvl3pPr>
            <a:lvl4pPr marL="1600200" indent="-228600" eaLnBrk="0" hangingPunct="0">
              <a:spcBef>
                <a:spcPct val="20000"/>
              </a:spcBef>
              <a:buChar char="–"/>
              <a:defRPr sz="2000">
                <a:solidFill>
                  <a:schemeClr val="tx1"/>
                </a:solidFill>
                <a:latin typeface="Tahoma" panose="020B0604030504040204" pitchFamily="34" charset="0"/>
              </a:defRPr>
            </a:lvl4pPr>
            <a:lvl5pPr marL="2057400" indent="-228600" eaLnBrk="0" hangingPunct="0">
              <a:spcBef>
                <a:spcPct val="20000"/>
              </a:spcBef>
              <a:buClr>
                <a:schemeClr val="tx2"/>
              </a:buClr>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9pPr>
          </a:lstStyle>
          <a:p>
            <a:pPr eaLnBrk="1" hangingPunct="1">
              <a:spcBef>
                <a:spcPct val="0"/>
              </a:spcBef>
              <a:buFontTx/>
              <a:buNone/>
            </a:pPr>
            <a:r>
              <a:rPr lang="en-US" altLang="en-US" sz="1400" smtClean="0">
                <a:latin typeface="Arial" panose="020B0604020202020204" pitchFamily="34" charset="0"/>
              </a:rPr>
              <a:t>Options, Futures, and Other Derivatives, 11th Edition,    Copyright © John C. Hull 2021</a:t>
            </a:r>
          </a:p>
        </p:txBody>
      </p:sp>
      <p:sp>
        <p:nvSpPr>
          <p:cNvPr id="20485"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Blip>
                <a:blip r:embed="rId3"/>
              </a:buBlip>
              <a:defRPr sz="3200">
                <a:solidFill>
                  <a:schemeClr val="tx1"/>
                </a:solidFill>
                <a:latin typeface="Tahoma" panose="020B0604030504040204" pitchFamily="34" charset="0"/>
              </a:defRPr>
            </a:lvl1pPr>
            <a:lvl2pPr marL="742950" indent="-285750" eaLnBrk="0" hangingPunct="0">
              <a:spcBef>
                <a:spcPct val="20000"/>
              </a:spcBef>
              <a:buSzPct val="75000"/>
              <a:buBlip>
                <a:blip r:embed="rId4"/>
              </a:buBlip>
              <a:defRPr sz="2800">
                <a:solidFill>
                  <a:schemeClr val="tx1"/>
                </a:solidFill>
                <a:latin typeface="Tahoma" panose="020B0604030504040204" pitchFamily="34" charset="0"/>
              </a:defRPr>
            </a:lvl2pPr>
            <a:lvl3pPr marL="1143000" indent="-228600" eaLnBrk="0" hangingPunct="0">
              <a:spcBef>
                <a:spcPct val="20000"/>
              </a:spcBef>
              <a:buChar char="•"/>
              <a:defRPr sz="2400">
                <a:solidFill>
                  <a:schemeClr val="tx1"/>
                </a:solidFill>
                <a:latin typeface="Tahoma" panose="020B0604030504040204" pitchFamily="34" charset="0"/>
              </a:defRPr>
            </a:lvl3pPr>
            <a:lvl4pPr marL="1600200" indent="-228600" eaLnBrk="0" hangingPunct="0">
              <a:spcBef>
                <a:spcPct val="20000"/>
              </a:spcBef>
              <a:buChar char="–"/>
              <a:defRPr sz="2000">
                <a:solidFill>
                  <a:schemeClr val="tx1"/>
                </a:solidFill>
                <a:latin typeface="Tahoma" panose="020B0604030504040204" pitchFamily="34" charset="0"/>
              </a:defRPr>
            </a:lvl4pPr>
            <a:lvl5pPr marL="2057400" indent="-228600" eaLnBrk="0" hangingPunct="0">
              <a:spcBef>
                <a:spcPct val="20000"/>
              </a:spcBef>
              <a:buClr>
                <a:schemeClr val="tx2"/>
              </a:buClr>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9pPr>
          </a:lstStyle>
          <a:p>
            <a:pPr eaLnBrk="1" hangingPunct="1">
              <a:spcBef>
                <a:spcPct val="0"/>
              </a:spcBef>
              <a:buFontTx/>
              <a:buNone/>
            </a:pPr>
            <a:fld id="{1216674B-2203-4D63-9952-F232A9652155}" type="slidenum">
              <a:rPr lang="en-US" altLang="en-US" sz="1400">
                <a:latin typeface="Arial" panose="020B0604020202020204" pitchFamily="34" charset="0"/>
              </a:rPr>
              <a:pPr eaLnBrk="1" hangingPunct="1">
                <a:spcBef>
                  <a:spcPct val="0"/>
                </a:spcBef>
                <a:buFontTx/>
                <a:buNone/>
              </a:pPr>
              <a:t>18</a:t>
            </a:fld>
            <a:endParaRPr lang="en-US" altLang="en-US" sz="1400">
              <a:latin typeface="Arial" panose="020B0604020202020204" pitchFamily="34" charset="0"/>
            </a:endParaRPr>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a:xfrm>
            <a:off x="304800" y="685800"/>
            <a:ext cx="7772400" cy="1143000"/>
          </a:xfrm>
        </p:spPr>
        <p:txBody>
          <a:bodyPr/>
          <a:lstStyle/>
          <a:p>
            <a:pPr eaLnBrk="1" hangingPunct="1"/>
            <a:r>
              <a:rPr lang="en-US" altLang="en-US" smtClean="0"/>
              <a:t>Why Hedge Equity Returns</a:t>
            </a:r>
          </a:p>
        </p:txBody>
      </p:sp>
      <p:sp>
        <p:nvSpPr>
          <p:cNvPr id="21507" name="Rectangle 3"/>
          <p:cNvSpPr>
            <a:spLocks noGrp="1" noChangeArrowheads="1"/>
          </p:cNvSpPr>
          <p:nvPr>
            <p:ph idx="1"/>
          </p:nvPr>
        </p:nvSpPr>
        <p:spPr>
          <a:xfrm>
            <a:off x="762000" y="1905000"/>
            <a:ext cx="7772400" cy="4114800"/>
          </a:xfrm>
        </p:spPr>
        <p:txBody>
          <a:bodyPr/>
          <a:lstStyle/>
          <a:p>
            <a:pPr eaLnBrk="1" hangingPunct="1">
              <a:lnSpc>
                <a:spcPct val="90000"/>
              </a:lnSpc>
            </a:pPr>
            <a:r>
              <a:rPr lang="en-US" altLang="en-US" smtClean="0"/>
              <a:t>May want to be out of the market for a while. Hedging avoids the costs of selling and repurchasing the portfolio</a:t>
            </a:r>
          </a:p>
          <a:p>
            <a:pPr eaLnBrk="1" hangingPunct="1">
              <a:lnSpc>
                <a:spcPct val="90000"/>
              </a:lnSpc>
            </a:pPr>
            <a:r>
              <a:rPr lang="en-US" altLang="en-US" smtClean="0"/>
              <a:t>Suppose stocks in your portfolio have an average beta of 1.0, but you feel they have been chosen well and will outperform the market in both good and bad times. Hedging ensures that the return you earn is the risk-free return plus the excess return of your portfolio over the market.</a:t>
            </a:r>
          </a:p>
        </p:txBody>
      </p:sp>
      <p:sp>
        <p:nvSpPr>
          <p:cNvPr id="21508" name="Footer Placeholder 5"/>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Blip>
                <a:blip r:embed="rId3"/>
              </a:buBlip>
              <a:defRPr sz="3200">
                <a:solidFill>
                  <a:schemeClr val="tx1"/>
                </a:solidFill>
                <a:latin typeface="Tahoma" panose="020B0604030504040204" pitchFamily="34" charset="0"/>
              </a:defRPr>
            </a:lvl1pPr>
            <a:lvl2pPr marL="742950" indent="-285750" eaLnBrk="0" hangingPunct="0">
              <a:spcBef>
                <a:spcPct val="20000"/>
              </a:spcBef>
              <a:buSzPct val="75000"/>
              <a:buBlip>
                <a:blip r:embed="rId4"/>
              </a:buBlip>
              <a:defRPr sz="2800">
                <a:solidFill>
                  <a:schemeClr val="tx1"/>
                </a:solidFill>
                <a:latin typeface="Tahoma" panose="020B0604030504040204" pitchFamily="34" charset="0"/>
              </a:defRPr>
            </a:lvl2pPr>
            <a:lvl3pPr marL="1143000" indent="-228600" eaLnBrk="0" hangingPunct="0">
              <a:spcBef>
                <a:spcPct val="20000"/>
              </a:spcBef>
              <a:buChar char="•"/>
              <a:defRPr sz="2400">
                <a:solidFill>
                  <a:schemeClr val="tx1"/>
                </a:solidFill>
                <a:latin typeface="Tahoma" panose="020B0604030504040204" pitchFamily="34" charset="0"/>
              </a:defRPr>
            </a:lvl3pPr>
            <a:lvl4pPr marL="1600200" indent="-228600" eaLnBrk="0" hangingPunct="0">
              <a:spcBef>
                <a:spcPct val="20000"/>
              </a:spcBef>
              <a:buChar char="–"/>
              <a:defRPr sz="2000">
                <a:solidFill>
                  <a:schemeClr val="tx1"/>
                </a:solidFill>
                <a:latin typeface="Tahoma" panose="020B0604030504040204" pitchFamily="34" charset="0"/>
              </a:defRPr>
            </a:lvl4pPr>
            <a:lvl5pPr marL="2057400" indent="-228600" eaLnBrk="0" hangingPunct="0">
              <a:spcBef>
                <a:spcPct val="20000"/>
              </a:spcBef>
              <a:buClr>
                <a:schemeClr val="tx2"/>
              </a:buClr>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9pPr>
          </a:lstStyle>
          <a:p>
            <a:pPr eaLnBrk="1" hangingPunct="1">
              <a:spcBef>
                <a:spcPct val="0"/>
              </a:spcBef>
              <a:buFontTx/>
              <a:buNone/>
            </a:pPr>
            <a:r>
              <a:rPr lang="en-US" altLang="en-US" sz="1400" smtClean="0">
                <a:latin typeface="Arial" panose="020B0604020202020204" pitchFamily="34" charset="0"/>
              </a:rPr>
              <a:t>Options, Futures, and Other Derivatives, 11th Edition,    Copyright © John C. Hull 2021</a:t>
            </a:r>
          </a:p>
        </p:txBody>
      </p:sp>
      <p:sp>
        <p:nvSpPr>
          <p:cNvPr id="21509"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Blip>
                <a:blip r:embed="rId3"/>
              </a:buBlip>
              <a:defRPr sz="3200">
                <a:solidFill>
                  <a:schemeClr val="tx1"/>
                </a:solidFill>
                <a:latin typeface="Tahoma" panose="020B0604030504040204" pitchFamily="34" charset="0"/>
              </a:defRPr>
            </a:lvl1pPr>
            <a:lvl2pPr marL="742950" indent="-285750" eaLnBrk="0" hangingPunct="0">
              <a:spcBef>
                <a:spcPct val="20000"/>
              </a:spcBef>
              <a:buSzPct val="75000"/>
              <a:buBlip>
                <a:blip r:embed="rId4"/>
              </a:buBlip>
              <a:defRPr sz="2800">
                <a:solidFill>
                  <a:schemeClr val="tx1"/>
                </a:solidFill>
                <a:latin typeface="Tahoma" panose="020B0604030504040204" pitchFamily="34" charset="0"/>
              </a:defRPr>
            </a:lvl2pPr>
            <a:lvl3pPr marL="1143000" indent="-228600" eaLnBrk="0" hangingPunct="0">
              <a:spcBef>
                <a:spcPct val="20000"/>
              </a:spcBef>
              <a:buChar char="•"/>
              <a:defRPr sz="2400">
                <a:solidFill>
                  <a:schemeClr val="tx1"/>
                </a:solidFill>
                <a:latin typeface="Tahoma" panose="020B0604030504040204" pitchFamily="34" charset="0"/>
              </a:defRPr>
            </a:lvl3pPr>
            <a:lvl4pPr marL="1600200" indent="-228600" eaLnBrk="0" hangingPunct="0">
              <a:spcBef>
                <a:spcPct val="20000"/>
              </a:spcBef>
              <a:buChar char="–"/>
              <a:defRPr sz="2000">
                <a:solidFill>
                  <a:schemeClr val="tx1"/>
                </a:solidFill>
                <a:latin typeface="Tahoma" panose="020B0604030504040204" pitchFamily="34" charset="0"/>
              </a:defRPr>
            </a:lvl4pPr>
            <a:lvl5pPr marL="2057400" indent="-228600" eaLnBrk="0" hangingPunct="0">
              <a:spcBef>
                <a:spcPct val="20000"/>
              </a:spcBef>
              <a:buClr>
                <a:schemeClr val="tx2"/>
              </a:buClr>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9pPr>
          </a:lstStyle>
          <a:p>
            <a:pPr eaLnBrk="1" hangingPunct="1">
              <a:spcBef>
                <a:spcPct val="0"/>
              </a:spcBef>
              <a:buFontTx/>
              <a:buNone/>
            </a:pPr>
            <a:fld id="{9E12A3EA-BA7D-4692-8DBF-98A471CED393}" type="slidenum">
              <a:rPr lang="en-US" altLang="en-US" sz="1400">
                <a:latin typeface="Arial" panose="020B0604020202020204" pitchFamily="34" charset="0"/>
              </a:rPr>
              <a:pPr eaLnBrk="1" hangingPunct="1">
                <a:spcBef>
                  <a:spcPct val="0"/>
                </a:spcBef>
                <a:buFontTx/>
                <a:buNone/>
              </a:pPr>
              <a:t>19</a:t>
            </a:fld>
            <a:endParaRPr lang="en-US" altLang="en-US" sz="1400">
              <a:latin typeface="Arial" panose="020B0604020202020204" pitchFamily="34" charset="0"/>
            </a:endParaRPr>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type="title"/>
          </p:nvPr>
        </p:nvSpPr>
        <p:spPr>
          <a:xfrm>
            <a:off x="914400" y="914400"/>
            <a:ext cx="7086600" cy="990600"/>
          </a:xfrm>
        </p:spPr>
        <p:txBody>
          <a:bodyPr lIns="90488" tIns="44450" rIns="90488" bIns="44450"/>
          <a:lstStyle/>
          <a:p>
            <a:pPr eaLnBrk="1" hangingPunct="1"/>
            <a:r>
              <a:rPr lang="en-US" altLang="en-US" sz="4000" dirty="0" smtClean="0"/>
              <a:t>Stack and Roll</a:t>
            </a:r>
            <a:endParaRPr lang="en-US" altLang="en-US" sz="2200" dirty="0" smtClean="0"/>
          </a:p>
        </p:txBody>
      </p:sp>
      <p:sp>
        <p:nvSpPr>
          <p:cNvPr id="22531" name="Rectangle 3"/>
          <p:cNvSpPr>
            <a:spLocks noGrp="1" noChangeArrowheads="1"/>
          </p:cNvSpPr>
          <p:nvPr>
            <p:ph idx="1"/>
          </p:nvPr>
        </p:nvSpPr>
        <p:spPr>
          <a:xfrm>
            <a:off x="1295400" y="2286000"/>
            <a:ext cx="7297738" cy="3746500"/>
          </a:xfrm>
        </p:spPr>
        <p:txBody>
          <a:bodyPr lIns="90488" tIns="44450" rIns="90488" bIns="44450"/>
          <a:lstStyle/>
          <a:p>
            <a:pPr eaLnBrk="1" hangingPunct="1"/>
            <a:r>
              <a:rPr lang="en-US" altLang="en-US" smtClean="0"/>
              <a:t>We can roll futures contracts forward to hedge future exposures</a:t>
            </a:r>
          </a:p>
          <a:p>
            <a:pPr eaLnBrk="1" hangingPunct="1"/>
            <a:r>
              <a:rPr lang="en-CA" altLang="en-US" smtClean="0"/>
              <a:t>Initially we enter into futures contracts to hedge exposures up to a time horizon</a:t>
            </a:r>
          </a:p>
          <a:p>
            <a:pPr eaLnBrk="1" hangingPunct="1"/>
            <a:r>
              <a:rPr lang="en-CA" altLang="en-US" smtClean="0"/>
              <a:t>Just before maturity we close them out an replace them with new contract reflect the new exposure</a:t>
            </a:r>
          </a:p>
          <a:p>
            <a:pPr eaLnBrk="1" hangingPunct="1"/>
            <a:r>
              <a:rPr lang="en-CA" altLang="en-US" smtClean="0"/>
              <a:t>etc</a:t>
            </a:r>
          </a:p>
          <a:p>
            <a:pPr eaLnBrk="1" hangingPunct="1"/>
            <a:endParaRPr lang="en-US" altLang="en-US" smtClean="0"/>
          </a:p>
        </p:txBody>
      </p:sp>
      <p:sp>
        <p:nvSpPr>
          <p:cNvPr id="22532" name="Footer Placeholder 5"/>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Blip>
                <a:blip r:embed="rId3"/>
              </a:buBlip>
              <a:defRPr sz="3200">
                <a:solidFill>
                  <a:schemeClr val="tx1"/>
                </a:solidFill>
                <a:latin typeface="Tahoma" panose="020B0604030504040204" pitchFamily="34" charset="0"/>
              </a:defRPr>
            </a:lvl1pPr>
            <a:lvl2pPr marL="742950" indent="-285750" eaLnBrk="0" hangingPunct="0">
              <a:spcBef>
                <a:spcPct val="20000"/>
              </a:spcBef>
              <a:buSzPct val="75000"/>
              <a:buBlip>
                <a:blip r:embed="rId4"/>
              </a:buBlip>
              <a:defRPr sz="2800">
                <a:solidFill>
                  <a:schemeClr val="tx1"/>
                </a:solidFill>
                <a:latin typeface="Tahoma" panose="020B0604030504040204" pitchFamily="34" charset="0"/>
              </a:defRPr>
            </a:lvl2pPr>
            <a:lvl3pPr marL="1143000" indent="-228600" eaLnBrk="0" hangingPunct="0">
              <a:spcBef>
                <a:spcPct val="20000"/>
              </a:spcBef>
              <a:buChar char="•"/>
              <a:defRPr sz="2400">
                <a:solidFill>
                  <a:schemeClr val="tx1"/>
                </a:solidFill>
                <a:latin typeface="Tahoma" panose="020B0604030504040204" pitchFamily="34" charset="0"/>
              </a:defRPr>
            </a:lvl3pPr>
            <a:lvl4pPr marL="1600200" indent="-228600" eaLnBrk="0" hangingPunct="0">
              <a:spcBef>
                <a:spcPct val="20000"/>
              </a:spcBef>
              <a:buChar char="–"/>
              <a:defRPr sz="2000">
                <a:solidFill>
                  <a:schemeClr val="tx1"/>
                </a:solidFill>
                <a:latin typeface="Tahoma" panose="020B0604030504040204" pitchFamily="34" charset="0"/>
              </a:defRPr>
            </a:lvl4pPr>
            <a:lvl5pPr marL="2057400" indent="-228600" eaLnBrk="0" hangingPunct="0">
              <a:spcBef>
                <a:spcPct val="20000"/>
              </a:spcBef>
              <a:buClr>
                <a:schemeClr val="tx2"/>
              </a:buClr>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9pPr>
          </a:lstStyle>
          <a:p>
            <a:pPr eaLnBrk="1" hangingPunct="1">
              <a:spcBef>
                <a:spcPct val="0"/>
              </a:spcBef>
              <a:buFontTx/>
              <a:buNone/>
            </a:pPr>
            <a:r>
              <a:rPr lang="en-US" altLang="en-US" sz="1400" smtClean="0">
                <a:latin typeface="Arial" panose="020B0604020202020204" pitchFamily="34" charset="0"/>
              </a:rPr>
              <a:t>Options, Futures, and Other Derivatives, 11th Edition,    Copyright © John C. Hull 2021</a:t>
            </a:r>
          </a:p>
        </p:txBody>
      </p:sp>
      <p:sp>
        <p:nvSpPr>
          <p:cNvPr id="22533"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Blip>
                <a:blip r:embed="rId3"/>
              </a:buBlip>
              <a:defRPr sz="3200">
                <a:solidFill>
                  <a:schemeClr val="tx1"/>
                </a:solidFill>
                <a:latin typeface="Tahoma" panose="020B0604030504040204" pitchFamily="34" charset="0"/>
              </a:defRPr>
            </a:lvl1pPr>
            <a:lvl2pPr marL="742950" indent="-285750" eaLnBrk="0" hangingPunct="0">
              <a:spcBef>
                <a:spcPct val="20000"/>
              </a:spcBef>
              <a:buSzPct val="75000"/>
              <a:buBlip>
                <a:blip r:embed="rId4"/>
              </a:buBlip>
              <a:defRPr sz="2800">
                <a:solidFill>
                  <a:schemeClr val="tx1"/>
                </a:solidFill>
                <a:latin typeface="Tahoma" panose="020B0604030504040204" pitchFamily="34" charset="0"/>
              </a:defRPr>
            </a:lvl2pPr>
            <a:lvl3pPr marL="1143000" indent="-228600" eaLnBrk="0" hangingPunct="0">
              <a:spcBef>
                <a:spcPct val="20000"/>
              </a:spcBef>
              <a:buChar char="•"/>
              <a:defRPr sz="2400">
                <a:solidFill>
                  <a:schemeClr val="tx1"/>
                </a:solidFill>
                <a:latin typeface="Tahoma" panose="020B0604030504040204" pitchFamily="34" charset="0"/>
              </a:defRPr>
            </a:lvl3pPr>
            <a:lvl4pPr marL="1600200" indent="-228600" eaLnBrk="0" hangingPunct="0">
              <a:spcBef>
                <a:spcPct val="20000"/>
              </a:spcBef>
              <a:buChar char="–"/>
              <a:defRPr sz="2000">
                <a:solidFill>
                  <a:schemeClr val="tx1"/>
                </a:solidFill>
                <a:latin typeface="Tahoma" panose="020B0604030504040204" pitchFamily="34" charset="0"/>
              </a:defRPr>
            </a:lvl4pPr>
            <a:lvl5pPr marL="2057400" indent="-228600" eaLnBrk="0" hangingPunct="0">
              <a:spcBef>
                <a:spcPct val="20000"/>
              </a:spcBef>
              <a:buClr>
                <a:schemeClr val="tx2"/>
              </a:buClr>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9pPr>
          </a:lstStyle>
          <a:p>
            <a:pPr eaLnBrk="1" hangingPunct="1">
              <a:spcBef>
                <a:spcPct val="0"/>
              </a:spcBef>
              <a:buFontTx/>
              <a:buNone/>
            </a:pPr>
            <a:fld id="{26689EF9-A2BA-40BB-B20F-81398C2FD105}" type="slidenum">
              <a:rPr lang="en-US" altLang="en-US" sz="1400">
                <a:latin typeface="Arial" panose="020B0604020202020204" pitchFamily="34" charset="0"/>
              </a:rPr>
              <a:pPr eaLnBrk="1" hangingPunct="1">
                <a:spcBef>
                  <a:spcPct val="0"/>
                </a:spcBef>
                <a:buFontTx/>
                <a:buNone/>
              </a:pPr>
              <a:t>20</a:t>
            </a:fld>
            <a:endParaRPr lang="en-US" altLang="en-US" sz="1400">
              <a:latin typeface="Arial" panose="020B0604020202020204" pitchFamily="34" charset="0"/>
            </a:endParaRPr>
          </a:p>
        </p:txBody>
      </p:sp>
    </p:spTree>
  </p:cSld>
  <p:clrMapOvr>
    <a:masterClrMapping/>
  </p:clrMapOvr>
  <p:transition/>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Title 1"/>
          <p:cNvSpPr>
            <a:spLocks noGrp="1"/>
          </p:cNvSpPr>
          <p:nvPr>
            <p:ph type="title"/>
          </p:nvPr>
        </p:nvSpPr>
        <p:spPr>
          <a:xfrm>
            <a:off x="246063" y="930275"/>
            <a:ext cx="7772400" cy="1050925"/>
          </a:xfrm>
        </p:spPr>
        <p:txBody>
          <a:bodyPr/>
          <a:lstStyle/>
          <a:p>
            <a:pPr eaLnBrk="1" hangingPunct="1"/>
            <a:r>
              <a:rPr lang="en-CA" altLang="en-US" dirty="0" smtClean="0"/>
              <a:t>Liquidity Issues </a:t>
            </a:r>
            <a:r>
              <a:rPr lang="en-CA" altLang="en-US" sz="2400" dirty="0" smtClean="0"/>
              <a:t>(Business Snapshot 3.2)</a:t>
            </a:r>
            <a:endParaRPr lang="en-US" altLang="en-US" sz="2400" dirty="0" smtClean="0"/>
          </a:p>
        </p:txBody>
      </p:sp>
      <p:sp>
        <p:nvSpPr>
          <p:cNvPr id="23555" name="Content Placeholder 2"/>
          <p:cNvSpPr>
            <a:spLocks noGrp="1"/>
          </p:cNvSpPr>
          <p:nvPr>
            <p:ph idx="1"/>
          </p:nvPr>
        </p:nvSpPr>
        <p:spPr>
          <a:xfrm>
            <a:off x="685800" y="1905000"/>
            <a:ext cx="7772400" cy="4357688"/>
          </a:xfrm>
        </p:spPr>
        <p:txBody>
          <a:bodyPr/>
          <a:lstStyle/>
          <a:p>
            <a:pPr eaLnBrk="1" hangingPunct="1"/>
            <a:r>
              <a:rPr lang="en-CA" altLang="en-US" smtClean="0"/>
              <a:t>In any hedging situation there is a danger that losses will be realized on the hedge while the gains on the underlying exposure are unrealized</a:t>
            </a:r>
          </a:p>
          <a:p>
            <a:pPr eaLnBrk="1" hangingPunct="1"/>
            <a:r>
              <a:rPr lang="en-CA" altLang="en-US" smtClean="0"/>
              <a:t>This can create liquidity problems</a:t>
            </a:r>
          </a:p>
          <a:p>
            <a:pPr eaLnBrk="1" hangingPunct="1"/>
            <a:r>
              <a:rPr lang="en-CA" altLang="en-US" smtClean="0"/>
              <a:t>One example is Metallgesellschaft which sold long term fixed-price contracts on heating oil and gasoline and hedged using stack and roll</a:t>
            </a:r>
          </a:p>
          <a:p>
            <a:pPr eaLnBrk="1" hangingPunct="1"/>
            <a:r>
              <a:rPr lang="en-CA" altLang="en-US" smtClean="0"/>
              <a:t>The price of oil fell.....</a:t>
            </a:r>
            <a:endParaRPr lang="en-US" altLang="en-US" smtClean="0"/>
          </a:p>
        </p:txBody>
      </p:sp>
      <p:sp>
        <p:nvSpPr>
          <p:cNvPr id="23556" name="Footer Placeholder 3"/>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Blip>
                <a:blip r:embed="rId3"/>
              </a:buBlip>
              <a:defRPr sz="3200">
                <a:solidFill>
                  <a:schemeClr val="tx1"/>
                </a:solidFill>
                <a:latin typeface="Tahoma" panose="020B0604030504040204" pitchFamily="34" charset="0"/>
              </a:defRPr>
            </a:lvl1pPr>
            <a:lvl2pPr marL="742950" indent="-285750" eaLnBrk="0" hangingPunct="0">
              <a:spcBef>
                <a:spcPct val="20000"/>
              </a:spcBef>
              <a:buSzPct val="75000"/>
              <a:buBlip>
                <a:blip r:embed="rId4"/>
              </a:buBlip>
              <a:defRPr sz="2800">
                <a:solidFill>
                  <a:schemeClr val="tx1"/>
                </a:solidFill>
                <a:latin typeface="Tahoma" panose="020B0604030504040204" pitchFamily="34" charset="0"/>
              </a:defRPr>
            </a:lvl2pPr>
            <a:lvl3pPr marL="1143000" indent="-228600" eaLnBrk="0" hangingPunct="0">
              <a:spcBef>
                <a:spcPct val="20000"/>
              </a:spcBef>
              <a:buChar char="•"/>
              <a:defRPr sz="2400">
                <a:solidFill>
                  <a:schemeClr val="tx1"/>
                </a:solidFill>
                <a:latin typeface="Tahoma" panose="020B0604030504040204" pitchFamily="34" charset="0"/>
              </a:defRPr>
            </a:lvl3pPr>
            <a:lvl4pPr marL="1600200" indent="-228600" eaLnBrk="0" hangingPunct="0">
              <a:spcBef>
                <a:spcPct val="20000"/>
              </a:spcBef>
              <a:buChar char="–"/>
              <a:defRPr sz="2000">
                <a:solidFill>
                  <a:schemeClr val="tx1"/>
                </a:solidFill>
                <a:latin typeface="Tahoma" panose="020B0604030504040204" pitchFamily="34" charset="0"/>
              </a:defRPr>
            </a:lvl4pPr>
            <a:lvl5pPr marL="2057400" indent="-228600" eaLnBrk="0" hangingPunct="0">
              <a:spcBef>
                <a:spcPct val="20000"/>
              </a:spcBef>
              <a:buClr>
                <a:schemeClr val="tx2"/>
              </a:buClr>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9pPr>
          </a:lstStyle>
          <a:p>
            <a:pPr eaLnBrk="1" hangingPunct="1">
              <a:spcBef>
                <a:spcPct val="0"/>
              </a:spcBef>
              <a:buFontTx/>
              <a:buNone/>
            </a:pPr>
            <a:r>
              <a:rPr lang="en-US" altLang="en-US" sz="1400" smtClean="0">
                <a:latin typeface="Arial" panose="020B0604020202020204" pitchFamily="34" charset="0"/>
              </a:rPr>
              <a:t>Options, Futures, and Other Derivatives, 11th Edition,    Copyright © John C. Hull 2021</a:t>
            </a:r>
          </a:p>
        </p:txBody>
      </p:sp>
      <p:sp>
        <p:nvSpPr>
          <p:cNvPr id="23557" name="Slide Number Placeholder 4"/>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Blip>
                <a:blip r:embed="rId3"/>
              </a:buBlip>
              <a:defRPr sz="3200">
                <a:solidFill>
                  <a:schemeClr val="tx1"/>
                </a:solidFill>
                <a:latin typeface="Tahoma" panose="020B0604030504040204" pitchFamily="34" charset="0"/>
              </a:defRPr>
            </a:lvl1pPr>
            <a:lvl2pPr marL="742950" indent="-285750" eaLnBrk="0" hangingPunct="0">
              <a:spcBef>
                <a:spcPct val="20000"/>
              </a:spcBef>
              <a:buSzPct val="75000"/>
              <a:buBlip>
                <a:blip r:embed="rId4"/>
              </a:buBlip>
              <a:defRPr sz="2800">
                <a:solidFill>
                  <a:schemeClr val="tx1"/>
                </a:solidFill>
                <a:latin typeface="Tahoma" panose="020B0604030504040204" pitchFamily="34" charset="0"/>
              </a:defRPr>
            </a:lvl2pPr>
            <a:lvl3pPr marL="1143000" indent="-228600" eaLnBrk="0" hangingPunct="0">
              <a:spcBef>
                <a:spcPct val="20000"/>
              </a:spcBef>
              <a:buChar char="•"/>
              <a:defRPr sz="2400">
                <a:solidFill>
                  <a:schemeClr val="tx1"/>
                </a:solidFill>
                <a:latin typeface="Tahoma" panose="020B0604030504040204" pitchFamily="34" charset="0"/>
              </a:defRPr>
            </a:lvl3pPr>
            <a:lvl4pPr marL="1600200" indent="-228600" eaLnBrk="0" hangingPunct="0">
              <a:spcBef>
                <a:spcPct val="20000"/>
              </a:spcBef>
              <a:buChar char="–"/>
              <a:defRPr sz="2000">
                <a:solidFill>
                  <a:schemeClr val="tx1"/>
                </a:solidFill>
                <a:latin typeface="Tahoma" panose="020B0604030504040204" pitchFamily="34" charset="0"/>
              </a:defRPr>
            </a:lvl4pPr>
            <a:lvl5pPr marL="2057400" indent="-228600" eaLnBrk="0" hangingPunct="0">
              <a:spcBef>
                <a:spcPct val="20000"/>
              </a:spcBef>
              <a:buClr>
                <a:schemeClr val="tx2"/>
              </a:buClr>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9pPr>
          </a:lstStyle>
          <a:p>
            <a:pPr eaLnBrk="1" hangingPunct="1">
              <a:spcBef>
                <a:spcPct val="0"/>
              </a:spcBef>
              <a:buFontTx/>
              <a:buNone/>
            </a:pPr>
            <a:fld id="{ED39BFC9-7890-4B73-AF9E-C744E0866CBB}" type="slidenum">
              <a:rPr lang="en-US" altLang="en-US" sz="1400">
                <a:latin typeface="Arial" panose="020B0604020202020204" pitchFamily="34" charset="0"/>
              </a:rPr>
              <a:pPr eaLnBrk="1" hangingPunct="1">
                <a:spcBef>
                  <a:spcPct val="0"/>
                </a:spcBef>
                <a:buFontTx/>
                <a:buNone/>
              </a:pPr>
              <a:t>21</a:t>
            </a:fld>
            <a:endParaRPr lang="en-US" altLang="en-US" sz="1400">
              <a:latin typeface="Arial" panose="020B0604020202020204" pitchFamily="34" charset="0"/>
            </a:endParaRPr>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Global">
  <a:themeElements>
    <a:clrScheme name="Custom 5">
      <a:dk1>
        <a:srgbClr val="000000"/>
      </a:dk1>
      <a:lt1>
        <a:srgbClr val="FFFFFF"/>
      </a:lt1>
      <a:dk2>
        <a:srgbClr val="3A3015"/>
      </a:dk2>
      <a:lt2>
        <a:srgbClr val="FFFFFF"/>
      </a:lt2>
      <a:accent1>
        <a:srgbClr val="FFFFCC"/>
      </a:accent1>
      <a:accent2>
        <a:srgbClr val="B5E0E3"/>
      </a:accent2>
      <a:accent3>
        <a:srgbClr val="FFFFFF"/>
      </a:accent3>
      <a:accent4>
        <a:srgbClr val="000000"/>
      </a:accent4>
      <a:accent5>
        <a:srgbClr val="FFFFE2"/>
      </a:accent5>
      <a:accent6>
        <a:srgbClr val="A4CBCE"/>
      </a:accent6>
      <a:hlink>
        <a:srgbClr val="E5D093"/>
      </a:hlink>
      <a:folHlink>
        <a:srgbClr val="CCB374"/>
      </a:folHlink>
    </a:clrScheme>
    <a:fontScheme name="Global">
      <a:majorFont>
        <a:latin typeface="Times New Roman"/>
        <a:ea typeface=""/>
        <a:cs typeface=""/>
      </a:majorFont>
      <a:minorFont>
        <a:latin typeface="Tahom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non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Times New Roman" pitchFamily="18"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non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Times New Roman" pitchFamily="18" charset="0"/>
          </a:defRPr>
        </a:defPPr>
      </a:lstStyle>
    </a:lnDef>
  </a:objectDefaults>
  <a:extraClrSchemeLst>
    <a:extraClrScheme>
      <a:clrScheme name="Global 1">
        <a:dk1>
          <a:srgbClr val="000000"/>
        </a:dk1>
        <a:lt1>
          <a:srgbClr val="FFFFCC"/>
        </a:lt1>
        <a:dk2>
          <a:srgbClr val="4D4D4D"/>
        </a:dk2>
        <a:lt2>
          <a:srgbClr val="FFCC00"/>
        </a:lt2>
        <a:accent1>
          <a:srgbClr val="FF9900"/>
        </a:accent1>
        <a:accent2>
          <a:srgbClr val="CC9900"/>
        </a:accent2>
        <a:accent3>
          <a:srgbClr val="B2B2B2"/>
        </a:accent3>
        <a:accent4>
          <a:srgbClr val="DADAAE"/>
        </a:accent4>
        <a:accent5>
          <a:srgbClr val="FFCAAA"/>
        </a:accent5>
        <a:accent6>
          <a:srgbClr val="B98A00"/>
        </a:accent6>
        <a:hlink>
          <a:srgbClr val="898743"/>
        </a:hlink>
        <a:folHlink>
          <a:srgbClr val="666633"/>
        </a:folHlink>
      </a:clrScheme>
      <a:clrMap bg1="dk2" tx1="lt1" bg2="dk1" tx2="lt2" accent1="accent1" accent2="accent2" accent3="accent3" accent4="accent4" accent5="accent5" accent6="accent6" hlink="hlink" folHlink="folHlink"/>
    </a:extraClrScheme>
    <a:extraClrScheme>
      <a:clrScheme name="Global 2">
        <a:dk1>
          <a:srgbClr val="000000"/>
        </a:dk1>
        <a:lt1>
          <a:srgbClr val="FFFFFF"/>
        </a:lt1>
        <a:dk2>
          <a:srgbClr val="CC6600"/>
        </a:dk2>
        <a:lt2>
          <a:srgbClr val="FFFFFF"/>
        </a:lt2>
        <a:accent1>
          <a:srgbClr val="FFFFCC"/>
        </a:accent1>
        <a:accent2>
          <a:srgbClr val="B5E0E3"/>
        </a:accent2>
        <a:accent3>
          <a:srgbClr val="FFFFFF"/>
        </a:accent3>
        <a:accent4>
          <a:srgbClr val="000000"/>
        </a:accent4>
        <a:accent5>
          <a:srgbClr val="FFFFE2"/>
        </a:accent5>
        <a:accent6>
          <a:srgbClr val="A4CBCE"/>
        </a:accent6>
        <a:hlink>
          <a:srgbClr val="E5D093"/>
        </a:hlink>
        <a:folHlink>
          <a:srgbClr val="CCB374"/>
        </a:folHlink>
      </a:clrScheme>
      <a:clrMap bg1="lt1" tx1="dk1" bg2="lt2" tx2="dk2" accent1="accent1" accent2="accent2" accent3="accent3" accent4="accent4" accent5="accent5" accent6="accent6" hlink="hlink" folHlink="folHlink"/>
    </a:extraClrScheme>
    <a:extraClrScheme>
      <a:clrScheme name="Global 3">
        <a:dk1>
          <a:srgbClr val="000000"/>
        </a:dk1>
        <a:lt1>
          <a:srgbClr val="FFFFFF"/>
        </a:lt1>
        <a:dk2>
          <a:srgbClr val="000000"/>
        </a:dk2>
        <a:lt2>
          <a:srgbClr val="FFFFFF"/>
        </a:lt2>
        <a:accent1>
          <a:srgbClr val="F8F8F8"/>
        </a:accent1>
        <a:accent2>
          <a:srgbClr val="969696"/>
        </a:accent2>
        <a:accent3>
          <a:srgbClr val="FFFFFF"/>
        </a:accent3>
        <a:accent4>
          <a:srgbClr val="000000"/>
        </a:accent4>
        <a:accent5>
          <a:srgbClr val="FBFBFB"/>
        </a:accent5>
        <a:accent6>
          <a:srgbClr val="878787"/>
        </a:accent6>
        <a:hlink>
          <a:srgbClr val="DDDDDD"/>
        </a:hlink>
        <a:folHlink>
          <a:srgbClr val="B2B2B2"/>
        </a:folHlink>
      </a:clrScheme>
      <a:clrMap bg1="lt1" tx1="dk1" bg2="lt2" tx2="dk2" accent1="accent1" accent2="accent2" accent3="accent3" accent4="accent4" accent5="accent5" accent6="accent6" hlink="hlink" folHlink="folHlink"/>
    </a:extraClrScheme>
    <a:extraClrScheme>
      <a:clrScheme name="Global 4">
        <a:dk1>
          <a:srgbClr val="000000"/>
        </a:dk1>
        <a:lt1>
          <a:srgbClr val="FFFFFF"/>
        </a:lt1>
        <a:dk2>
          <a:srgbClr val="000066"/>
        </a:dk2>
        <a:lt2>
          <a:srgbClr val="FFFFFF"/>
        </a:lt2>
        <a:accent1>
          <a:srgbClr val="FFFFCC"/>
        </a:accent1>
        <a:accent2>
          <a:srgbClr val="B5E0E3"/>
        </a:accent2>
        <a:accent3>
          <a:srgbClr val="FFFFFF"/>
        </a:accent3>
        <a:accent4>
          <a:srgbClr val="000000"/>
        </a:accent4>
        <a:accent5>
          <a:srgbClr val="FFFFE2"/>
        </a:accent5>
        <a:accent6>
          <a:srgbClr val="A4CBCE"/>
        </a:accent6>
        <a:hlink>
          <a:srgbClr val="BFDFFF"/>
        </a:hlink>
        <a:folHlink>
          <a:srgbClr val="99CCFF"/>
        </a:folHlink>
      </a:clrScheme>
      <a:clrMap bg1="lt1" tx1="dk1" bg2="lt2" tx2="dk2" accent1="accent1" accent2="accent2" accent3="accent3" accent4="accent4" accent5="accent5" accent6="accent6" hlink="hlink" folHlink="folHlink"/>
    </a:extraClrScheme>
    <a:extraClrScheme>
      <a:clrScheme name="Global 5">
        <a:dk1>
          <a:srgbClr val="000000"/>
        </a:dk1>
        <a:lt1>
          <a:srgbClr val="E9E6D9"/>
        </a:lt1>
        <a:dk2>
          <a:srgbClr val="666633"/>
        </a:dk2>
        <a:lt2>
          <a:srgbClr val="CEC7AA"/>
        </a:lt2>
        <a:accent1>
          <a:srgbClr val="FFFFCC"/>
        </a:accent1>
        <a:accent2>
          <a:srgbClr val="B5E0E3"/>
        </a:accent2>
        <a:accent3>
          <a:srgbClr val="F2F0E9"/>
        </a:accent3>
        <a:accent4>
          <a:srgbClr val="000000"/>
        </a:accent4>
        <a:accent5>
          <a:srgbClr val="FFFFE2"/>
        </a:accent5>
        <a:accent6>
          <a:srgbClr val="A4CBCE"/>
        </a:accent6>
        <a:hlink>
          <a:srgbClr val="B6AB82"/>
        </a:hlink>
        <a:folHlink>
          <a:srgbClr val="A0925E"/>
        </a:folHlink>
      </a:clrScheme>
      <a:clrMap bg1="lt1" tx1="dk1" bg2="lt2" tx2="dk2" accent1="accent1" accent2="accent2" accent3="accent3" accent4="accent4" accent5="accent5" accent6="accent6" hlink="hlink" folHlink="folHlink"/>
    </a:extraClrScheme>
    <a:extraClrScheme>
      <a:clrScheme name="Global 6">
        <a:dk1>
          <a:srgbClr val="1B3753"/>
        </a:dk1>
        <a:lt1>
          <a:srgbClr val="EAEAEA"/>
        </a:lt1>
        <a:dk2>
          <a:srgbClr val="336699"/>
        </a:dk2>
        <a:lt2>
          <a:srgbClr val="FFFFCC"/>
        </a:lt2>
        <a:accent1>
          <a:srgbClr val="BA8E46"/>
        </a:accent1>
        <a:accent2>
          <a:srgbClr val="46C0AF"/>
        </a:accent2>
        <a:accent3>
          <a:srgbClr val="ADB8CA"/>
        </a:accent3>
        <a:accent4>
          <a:srgbClr val="C8C8C8"/>
        </a:accent4>
        <a:accent5>
          <a:srgbClr val="D9C6B0"/>
        </a:accent5>
        <a:accent6>
          <a:srgbClr val="3FAE9E"/>
        </a:accent6>
        <a:hlink>
          <a:srgbClr val="93ACC3"/>
        </a:hlink>
        <a:folHlink>
          <a:srgbClr val="7897B4"/>
        </a:folHlink>
      </a:clrScheme>
      <a:clrMap bg1="dk2" tx1="lt1" bg2="dk1" tx2="lt2" accent1="accent1" accent2="accent2" accent3="accent3" accent4="accent4" accent5="accent5" accent6="accent6" hlink="hlink" folHlink="folHlink"/>
    </a:extraClrScheme>
    <a:extraClrScheme>
      <a:clrScheme name="Global 7">
        <a:dk1>
          <a:srgbClr val="000000"/>
        </a:dk1>
        <a:lt1>
          <a:srgbClr val="FFFFFF"/>
        </a:lt1>
        <a:dk2>
          <a:srgbClr val="000000"/>
        </a:dk2>
        <a:lt2>
          <a:srgbClr val="FFFFFF"/>
        </a:lt2>
        <a:accent1>
          <a:srgbClr val="FFFFCC"/>
        </a:accent1>
        <a:accent2>
          <a:srgbClr val="FFCC99"/>
        </a:accent2>
        <a:accent3>
          <a:srgbClr val="FFFFFF"/>
        </a:accent3>
        <a:accent4>
          <a:srgbClr val="000000"/>
        </a:accent4>
        <a:accent5>
          <a:srgbClr val="FFFFE2"/>
        </a:accent5>
        <a:accent6>
          <a:srgbClr val="E7B98A"/>
        </a:accent6>
        <a:hlink>
          <a:srgbClr val="FF9999"/>
        </a:hlink>
        <a:folHlink>
          <a:srgbClr val="E06360"/>
        </a:folHlink>
      </a:clrScheme>
      <a:clrMap bg1="lt1" tx1="dk1" bg2="lt2" tx2="dk2" accent1="accent1" accent2="accent2" accent3="accent3" accent4="accent4" accent5="accent5" accent6="accent6" hlink="hlink" folHlink="folHlink"/>
    </a:extraClrScheme>
    <a:extraClrScheme>
      <a:clrScheme name="Global 8">
        <a:dk1>
          <a:srgbClr val="000000"/>
        </a:dk1>
        <a:lt1>
          <a:srgbClr val="EAEAEA"/>
        </a:lt1>
        <a:dk2>
          <a:srgbClr val="17118B"/>
        </a:dk2>
        <a:lt2>
          <a:srgbClr val="FFFFCC"/>
        </a:lt2>
        <a:accent1>
          <a:srgbClr val="B2B2B2"/>
        </a:accent1>
        <a:accent2>
          <a:srgbClr val="54ABB2"/>
        </a:accent2>
        <a:accent3>
          <a:srgbClr val="ABAAC4"/>
        </a:accent3>
        <a:accent4>
          <a:srgbClr val="C8C8C8"/>
        </a:accent4>
        <a:accent5>
          <a:srgbClr val="D5D5D5"/>
        </a:accent5>
        <a:accent6>
          <a:srgbClr val="4B9BA1"/>
        </a:accent6>
        <a:hlink>
          <a:srgbClr val="4F49A3"/>
        </a:hlink>
        <a:folHlink>
          <a:srgbClr val="2E2573"/>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34DB470C54600C46B1B0C1FE5EDD1D1B" ma:contentTypeVersion="0" ma:contentTypeDescription="Create a new document." ma:contentTypeScope="" ma:versionID="9ec98e71a396c75c5e8fb3166c3ab2c4">
  <xsd:schema xmlns:xsd="http://www.w3.org/2001/XMLSchema" xmlns:xs="http://www.w3.org/2001/XMLSchema" xmlns:p="http://schemas.microsoft.com/office/2006/metadata/properties" targetNamespace="http://schemas.microsoft.com/office/2006/metadata/properties" ma:root="true" ma:fieldsID="500c6692915ba10984c0aabd49f31b22">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E14C558D-F7BE-4E16-9A50-863973EEDB89}"/>
</file>

<file path=customXml/itemProps2.xml><?xml version="1.0" encoding="utf-8"?>
<ds:datastoreItem xmlns:ds="http://schemas.openxmlformats.org/officeDocument/2006/customXml" ds:itemID="{CCDCDFC7-8E48-4E5A-94B6-B3480A852D5C}"/>
</file>

<file path=customXml/itemProps3.xml><?xml version="1.0" encoding="utf-8"?>
<ds:datastoreItem xmlns:ds="http://schemas.openxmlformats.org/officeDocument/2006/customXml" ds:itemID="{2D60871B-5FF5-46C2-9DF6-AE45228DA222}"/>
</file>

<file path=docProps/app.xml><?xml version="1.0" encoding="utf-8"?>
<Properties xmlns="http://schemas.openxmlformats.org/officeDocument/2006/extended-properties" xmlns:vt="http://schemas.openxmlformats.org/officeDocument/2006/docPropsVTypes">
  <Template>Ch02HullOFOD8thlEdition</Template>
  <TotalTime>344</TotalTime>
  <Words>1140</Words>
  <Application>Microsoft Office PowerPoint</Application>
  <PresentationFormat>On-screen Show (4:3)</PresentationFormat>
  <Paragraphs>153</Paragraphs>
  <Slides>21</Slides>
  <Notes>17</Notes>
  <HiddenSlides>0</HiddenSlides>
  <MMClips>0</MMClips>
  <ScaleCrop>false</ScaleCrop>
  <HeadingPairs>
    <vt:vector size="8" baseType="variant">
      <vt:variant>
        <vt:lpstr>Fonts Used</vt:lpstr>
      </vt:variant>
      <vt:variant>
        <vt:i4>9</vt:i4>
      </vt:variant>
      <vt:variant>
        <vt:lpstr>Theme</vt:lpstr>
      </vt:variant>
      <vt:variant>
        <vt:i4>1</vt:i4>
      </vt:variant>
      <vt:variant>
        <vt:lpstr>Embedded OLE Servers</vt:lpstr>
      </vt:variant>
      <vt:variant>
        <vt:i4>1</vt:i4>
      </vt:variant>
      <vt:variant>
        <vt:lpstr>Slide Titles</vt:lpstr>
      </vt:variant>
      <vt:variant>
        <vt:i4>21</vt:i4>
      </vt:variant>
    </vt:vector>
  </HeadingPairs>
  <TitlesOfParts>
    <vt:vector size="32" baseType="lpstr">
      <vt:lpstr>Arial</vt:lpstr>
      <vt:lpstr>Calibri</vt:lpstr>
      <vt:lpstr>Cambria</vt:lpstr>
      <vt:lpstr>Cambria Math</vt:lpstr>
      <vt:lpstr>Symbol</vt:lpstr>
      <vt:lpstr>Tahoma</vt:lpstr>
      <vt:lpstr>Times New Roman</vt:lpstr>
      <vt:lpstr>Wingdings</vt:lpstr>
      <vt:lpstr>Wingdings 2</vt:lpstr>
      <vt:lpstr>Global</vt:lpstr>
      <vt:lpstr>Equation</vt:lpstr>
      <vt:lpstr>Chapter 3 Hedging Strategies Using Futures</vt:lpstr>
      <vt:lpstr>Long &amp; Short Hedges </vt:lpstr>
      <vt:lpstr>Arguments in Favor of Hedging</vt:lpstr>
      <vt:lpstr>Arguments against Hedging</vt:lpstr>
      <vt:lpstr>Basis Risk</vt:lpstr>
      <vt:lpstr>Long Hedge for Purchase of an Asset </vt:lpstr>
      <vt:lpstr>Short Hedge for Sale of an Asset </vt:lpstr>
      <vt:lpstr>Choice of Contract</vt:lpstr>
      <vt:lpstr>Optimal Hedge Ratio (equation 3.1)</vt:lpstr>
      <vt:lpstr>Optimal Number of Contracts (equation 3.2)</vt:lpstr>
      <vt:lpstr>Example (Example 3.3)</vt:lpstr>
      <vt:lpstr>Example continued</vt:lpstr>
      <vt:lpstr>Optimal Number of Contracts When Contract Is Settled Daily</vt:lpstr>
      <vt:lpstr>An Alternative Expression for N* when there is daily settlement (equation 3.3)</vt:lpstr>
      <vt:lpstr>Daily Settlement</vt:lpstr>
      <vt:lpstr>Hedging Using Index Futures (equation 3.4)</vt:lpstr>
      <vt:lpstr>Example</vt:lpstr>
      <vt:lpstr>Changing Beta</vt:lpstr>
      <vt:lpstr>Why Hedge Equity Returns</vt:lpstr>
      <vt:lpstr>Stack and Roll</vt:lpstr>
      <vt:lpstr>Liquidity Issues (Business Snapshot 3.2)</vt:lpstr>
    </vt:vector>
  </TitlesOfParts>
  <Company>Joseph L. Rotman School of Management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Hedging Strategies Using Futures</dc:title>
  <dc:subject>Options, Futures, and Other Derivatives, 11e</dc:subject>
  <dc:creator>John C. Hull</dc:creator>
  <cp:keywords>Chapter 3</cp:keywords>
  <dc:description>Copyright 2021 by John C. Hull. All Rights Reserved. Published 2021</dc:description>
  <cp:lastModifiedBy>John Hull</cp:lastModifiedBy>
  <cp:revision>42</cp:revision>
  <dcterms:created xsi:type="dcterms:W3CDTF">2008-05-29T16:38:10Z</dcterms:created>
  <dcterms:modified xsi:type="dcterms:W3CDTF">2020-09-30T15:17:54Z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0x01010034DB470C54600C46B1B0C1FE5EDD1D1B</vt:lpwstr>
  </property>
</Properties>
</file>