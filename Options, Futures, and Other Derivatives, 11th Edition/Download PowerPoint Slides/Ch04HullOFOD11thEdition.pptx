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2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31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notesMasterIdLst>
    <p:notesMasterId r:id="rId43"/>
  </p:notesMasterIdLst>
  <p:sldIdLst>
    <p:sldId id="256" r:id="rId2"/>
    <p:sldId id="259" r:id="rId3"/>
    <p:sldId id="289" r:id="rId4"/>
    <p:sldId id="307" r:id="rId5"/>
    <p:sldId id="290" r:id="rId6"/>
    <p:sldId id="288" r:id="rId7"/>
    <p:sldId id="308" r:id="rId8"/>
    <p:sldId id="309" r:id="rId9"/>
    <p:sldId id="310" r:id="rId10"/>
    <p:sldId id="305" r:id="rId11"/>
    <p:sldId id="292" r:id="rId12"/>
    <p:sldId id="260" r:id="rId13"/>
    <p:sldId id="261" r:id="rId14"/>
    <p:sldId id="262" r:id="rId15"/>
    <p:sldId id="293" r:id="rId16"/>
    <p:sldId id="263" r:id="rId17"/>
    <p:sldId id="264" r:id="rId18"/>
    <p:sldId id="265" r:id="rId19"/>
    <p:sldId id="266" r:id="rId20"/>
    <p:sldId id="267" r:id="rId21"/>
    <p:sldId id="268" r:id="rId22"/>
    <p:sldId id="294" r:id="rId23"/>
    <p:sldId id="270" r:id="rId24"/>
    <p:sldId id="271" r:id="rId25"/>
    <p:sldId id="272" r:id="rId26"/>
    <p:sldId id="273" r:id="rId27"/>
    <p:sldId id="275" r:id="rId28"/>
    <p:sldId id="295" r:id="rId29"/>
    <p:sldId id="276" r:id="rId30"/>
    <p:sldId id="277" r:id="rId31"/>
    <p:sldId id="278" r:id="rId32"/>
    <p:sldId id="279" r:id="rId33"/>
    <p:sldId id="298" r:id="rId34"/>
    <p:sldId id="281" r:id="rId35"/>
    <p:sldId id="299" r:id="rId36"/>
    <p:sldId id="282" r:id="rId37"/>
    <p:sldId id="300" r:id="rId38"/>
    <p:sldId id="283" r:id="rId39"/>
    <p:sldId id="284" r:id="rId40"/>
    <p:sldId id="286" r:id="rId41"/>
    <p:sldId id="287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4685B68-DD17-484C-B13D-BBC499A4DACE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3E9386-9D60-4F99-B7D4-6F177D92DC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472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EEEC75-2C04-4C2F-87AA-E6A4D79914E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60041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27057D-2651-431B-945E-E7D2C1D69AAF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296235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DE17EE-6754-4E5D-B318-8E2F6310578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71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D1F46C-D69A-4A8F-B6CA-1AA23AAFEB0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83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BB2AE3-9CEE-490A-A03A-84987CB3401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98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D5FBD78-605A-4B5D-A3A8-CB392632574F}" type="slidenum">
              <a:rPr lang="en-US" altLang="en-US" sz="1000" smtClean="0"/>
              <a:pPr>
                <a:spcBef>
                  <a:spcPct val="0"/>
                </a:spcBef>
              </a:pPr>
              <a:t>10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333618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8DDB26-F738-474E-8FF6-F6F40E06F07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80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2746D6-C3BF-439A-BA38-0B0213D89917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384522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53F652-8E53-47FE-8DEA-B2E352FEEB79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027332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42967C-3D98-4106-A273-3A1046E207D3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079414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FD954D-0DB5-4EB4-97EA-D70193C5B41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54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DDC722-D6FD-4ECD-9556-BFEFF827DF77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583011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2BB2D3-1ED0-4FBF-B0A6-DFC80AFB9E4C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904510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EF278D-BDF3-4246-8349-6A9CF5DF0B7A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757791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7094355-FE6A-4CD7-9AE2-5C8AFA4D9288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044457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0E7804-A82F-4D5B-8B63-5C76463E782D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617449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B1CABF-0394-4BB0-ACF8-EA516372ADAD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6246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35564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8800DB-A329-4C7E-8B15-DFAF8782380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226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31FB39-F845-42D9-AD56-1A16EE00223A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8304382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D230BF-A622-4FD3-B5B5-56DFECC0830B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9966932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E7C28A-CAA0-4F56-BD9D-1BE1B769651D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8866236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4ADD44-752F-4C04-9091-BC595899D175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7847299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48F6C-426A-4A89-B46F-5BBEAF78D7D5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22900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F68651-A765-4E7E-81E8-5B8D06097441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614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21BACD-6A8E-4070-B59E-7ADCE52F1B96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6176515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F850DB-05DF-45E3-9AA0-A5A2005EFD0A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7325624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46CD3A-6513-42E9-8537-D1ED686B6CFF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9649268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6757C5-F3E9-4A86-94D3-B519721E46C1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2647705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6B2341-7283-460D-AA97-F2589ADE0413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539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2633CB-A3F1-498C-94B7-331A732CBFF1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7252600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63E422-4080-4BF7-966C-EF240B885647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9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B0A150-3550-40C3-9ADC-5019CF424AE9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2882684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7C3753-7CB9-401E-AC81-EEA70954C822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033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231DF9-801C-40A2-A8D8-5159478620E2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881455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35E20C-52A6-487B-8637-C777A14732CE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839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2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5036257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EB5C14-B740-45BD-9DE7-684756C6B65E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763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B42EDD-54DA-419E-BA4F-10DF0E095D58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12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04D96AE-C3DA-4855-A68B-5CA410811E8F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A832A-C715-4B82-8595-AB2D96D287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65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05D180C-988C-4159-BAD2-1FA96C263B99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8E3E7-6CF2-4926-A1C8-B8CB5A2990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64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BC44D-29FB-4D8E-B746-548E0D94D8D1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5E7280-ADC6-4B9C-BE6A-9713F338E3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57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F3C0E6-2FD9-44DA-9E67-FB6E3E8D097A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B3F9E8-486B-4356-959A-CE0D458989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1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1656D-A8D4-4E27-A429-3DD3D440A593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E00F5-F790-4FDB-98FD-FF0490553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2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C6AE55A-BCF3-43E2-9AFF-4DFFA3BE8D24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4046C-1FD9-4805-A34D-B7FD63E35D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41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08AAC-FF62-428B-A751-A001E2242C75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3A38AE-4614-40A1-BF24-4E1237A8BA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2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70A70-2F2B-440B-A967-484B9BC82156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70BE7-DB04-4368-9463-9C81416DC2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3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EA67B-9918-4CE3-B87B-205764307858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8A17FB-151A-420E-8FB0-625378CD30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2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C763D-1E6F-4889-97CF-26F6DBF6C519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75BE9-509D-48A5-97B0-680A387150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78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D6D032-C4C3-481B-90DA-7F5D3308FB3F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92773-27E3-4189-8D43-8BB889800C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7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D60E7BB0-49AF-40AC-82A7-51FFF94FB234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DDE2E00-E5CE-4A72-BACF-6DF833D76C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82" r:id="rId3"/>
    <p:sldLayoutId id="2147483883" r:id="rId4"/>
    <p:sldLayoutId id="2147483884" r:id="rId5"/>
    <p:sldLayoutId id="2147483892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6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8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1828800"/>
            <a:ext cx="6934200" cy="236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4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Interest Rates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 11th Edition,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702D5A8-BF28-4B4F-A115-87A1F439662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Types of Rates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547813" y="2209800"/>
            <a:ext cx="7138987" cy="39211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Treasury rates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Overnight rates </a:t>
            </a: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Repo rates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LIBOR  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D836242-F581-4A96-9A24-B4126685DB9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Treasury Rate</a:t>
            </a:r>
            <a:endParaRPr lang="en-US" alt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Rate on instrument issued by a government in its own currency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974C87E-1DF7-49DC-A1BA-50738E8D0A0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7772400" cy="1143000"/>
          </a:xfrm>
        </p:spPr>
        <p:txBody>
          <a:bodyPr/>
          <a:lstStyle/>
          <a:p>
            <a:r>
              <a:rPr lang="en-US" dirty="0" smtClean="0"/>
              <a:t>Overnight Rates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69473"/>
            <a:ext cx="7772400" cy="4114800"/>
          </a:xfrm>
        </p:spPr>
        <p:txBody>
          <a:bodyPr/>
          <a:lstStyle/>
          <a:p>
            <a:r>
              <a:rPr lang="en-US" sz="2600" dirty="0" smtClean="0"/>
              <a:t>Unsecured borrowing and lending between banks as they adjust the reserve requirements they are required to keep with the central bank</a:t>
            </a:r>
          </a:p>
          <a:p>
            <a:r>
              <a:rPr lang="en-US" sz="2600" dirty="0"/>
              <a:t>Referred to as the Fed Funds Rate in the U.S</a:t>
            </a:r>
            <a:r>
              <a:rPr lang="en-US" sz="2600" dirty="0" smtClean="0"/>
              <a:t>. </a:t>
            </a:r>
            <a:endParaRPr lang="en-US" sz="2600" dirty="0"/>
          </a:p>
          <a:p>
            <a:r>
              <a:rPr lang="en-US" sz="2600" dirty="0" smtClean="0"/>
              <a:t>The effective fed funds rate is the weighted average of the rates on brokered transactions</a:t>
            </a:r>
          </a:p>
          <a:p>
            <a:r>
              <a:rPr lang="en-US" sz="2600" dirty="0" smtClean="0"/>
              <a:t>Central bank may intervene with its own transactions to raise or lower the overnight rate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C8E3E7-6CF2-4926-A1C8-B8CB5A2990C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Repo Rate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dirty="0" smtClean="0"/>
              <a:t>Repurchase agreement is an agreement where a financial institution that owns securities agrees to sell them  for </a:t>
            </a:r>
            <a:r>
              <a:rPr lang="en-CA" i="1" dirty="0" smtClean="0">
                <a:latin typeface="+mj-lt"/>
              </a:rPr>
              <a:t>X</a:t>
            </a:r>
            <a:r>
              <a:rPr lang="en-CA" dirty="0" smtClean="0"/>
              <a:t> and buy them bank in the future (usually the next day) for a slightly higher price, </a:t>
            </a:r>
            <a:r>
              <a:rPr lang="en-CA" i="1" dirty="0" smtClean="0">
                <a:latin typeface="+mj-lt"/>
              </a:rPr>
              <a:t>Y</a:t>
            </a:r>
          </a:p>
          <a:p>
            <a:pPr eaLnBrk="1" hangingPunct="1">
              <a:defRPr/>
            </a:pPr>
            <a:r>
              <a:rPr lang="en-CA" dirty="0" smtClean="0"/>
              <a:t>The financial institution obtains a loan.</a:t>
            </a:r>
          </a:p>
          <a:p>
            <a:pPr eaLnBrk="1" hangingPunct="1">
              <a:defRPr/>
            </a:pPr>
            <a:r>
              <a:rPr lang="en-CA" dirty="0" smtClean="0"/>
              <a:t>The rate of interest is calculated from the difference between </a:t>
            </a:r>
            <a:r>
              <a:rPr lang="en-CA" i="1" dirty="0" smtClean="0">
                <a:latin typeface="+mj-lt"/>
              </a:rPr>
              <a:t>X</a:t>
            </a:r>
            <a:r>
              <a:rPr lang="en-CA" dirty="0" smtClean="0"/>
              <a:t> and </a:t>
            </a:r>
            <a:r>
              <a:rPr lang="en-CA" i="1" dirty="0" smtClean="0">
                <a:latin typeface="+mj-lt"/>
              </a:rPr>
              <a:t>Y</a:t>
            </a:r>
            <a:r>
              <a:rPr lang="en-CA" dirty="0" smtClean="0"/>
              <a:t> and is known as the repo rate  </a:t>
            </a:r>
            <a:endParaRPr lang="en-US" dirty="0"/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67012D7-636B-4325-9930-30C73E79019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7772400" cy="1143000"/>
          </a:xfrm>
        </p:spPr>
        <p:txBody>
          <a:bodyPr/>
          <a:lstStyle/>
          <a:p>
            <a:pPr eaLnBrk="1" hangingPunct="1"/>
            <a:r>
              <a:rPr lang="en-CA" altLang="en-US" smtClean="0"/>
              <a:t>LIBOR</a:t>
            </a:r>
            <a:endParaRPr lang="en-US" alt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357688"/>
          </a:xfrm>
        </p:spPr>
        <p:txBody>
          <a:bodyPr/>
          <a:lstStyle/>
          <a:p>
            <a:pPr eaLnBrk="1" hangingPunct="1">
              <a:defRPr/>
            </a:pPr>
            <a:r>
              <a:rPr lang="en-CA" altLang="en-US" dirty="0" smtClean="0">
                <a:latin typeface="Arial" charset="0"/>
                <a:cs typeface="Arial" charset="0"/>
              </a:rPr>
              <a:t>LIBOR is the rate of interest at which a AA-rated bank estimates it can  borrow money on an unsecured basis from another bank at 11am. </a:t>
            </a:r>
          </a:p>
          <a:p>
            <a:pPr eaLnBrk="1" hangingPunct="1">
              <a:defRPr/>
            </a:pPr>
            <a:r>
              <a:rPr lang="en-CA" altLang="en-US" dirty="0" smtClean="0">
                <a:latin typeface="Arial" charset="0"/>
                <a:cs typeface="Arial" charset="0"/>
              </a:rPr>
              <a:t>Several currencies and maturities</a:t>
            </a:r>
          </a:p>
          <a:p>
            <a:pPr eaLnBrk="1" hangingPunct="1">
              <a:defRPr/>
            </a:pPr>
            <a:r>
              <a:rPr lang="en-CA" altLang="en-US" dirty="0" smtClean="0">
                <a:latin typeface="Arial" charset="0"/>
                <a:cs typeface="Arial" charset="0"/>
              </a:rPr>
              <a:t>There have been some suggestions that banks manipulated LIBOR during certain periods. Why would they do this?</a:t>
            </a:r>
          </a:p>
          <a:p>
            <a:pPr marL="0" indent="0" eaLnBrk="1" hangingPunct="1">
              <a:buFontTx/>
              <a:buNone/>
              <a:defRPr/>
            </a:pPr>
            <a:r>
              <a:rPr lang="en-CA" altLang="en-US" dirty="0" smtClean="0">
                <a:latin typeface="Arial" charset="0"/>
                <a:cs typeface="Arial" charset="0"/>
              </a:rPr>
              <a:t>	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B55332-47FD-418C-9AE3-3064650C8E0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LIBOR Phase Out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Regulators plan to phase out LIBOR by the end of 2021 and replace it with rates based on transactions observed in the overnight market.</a:t>
            </a:r>
          </a:p>
          <a:p>
            <a:r>
              <a:rPr lang="en-US" dirty="0" smtClean="0"/>
              <a:t>The new reference rates (e.g. for a 3-month period) will be calculated at the end of the period as the compounded overnight rates for that period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C8E3E7-6CF2-4926-A1C8-B8CB5A2990C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34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New Reference Rates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655" y="1905000"/>
            <a:ext cx="7772400" cy="4114800"/>
          </a:xfrm>
        </p:spPr>
        <p:txBody>
          <a:bodyPr/>
          <a:lstStyle/>
          <a:p>
            <a:r>
              <a:rPr lang="en-US" dirty="0" smtClean="0"/>
              <a:t>US dollar: SOFR (secured overnight funding rate </a:t>
            </a:r>
          </a:p>
          <a:p>
            <a:r>
              <a:rPr lang="en-US" dirty="0" smtClean="0"/>
              <a:t>GBP: SONIA (sterling overnight index average</a:t>
            </a:r>
          </a:p>
          <a:p>
            <a:r>
              <a:rPr lang="en-US" dirty="0" smtClean="0"/>
              <a:t>EU: ESTER (euro short-term rate)</a:t>
            </a:r>
          </a:p>
          <a:p>
            <a:r>
              <a:rPr lang="en-US" dirty="0" smtClean="0"/>
              <a:t>Switzerland: SARON (Swiss average overnight rate)</a:t>
            </a:r>
          </a:p>
          <a:p>
            <a:r>
              <a:rPr lang="en-US" dirty="0" smtClean="0"/>
              <a:t>Japan: TONAR (Tokyo average overnight rate)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C8E3E7-6CF2-4926-A1C8-B8CB5A2990C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05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New Reference Rates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3220"/>
            <a:ext cx="7772400" cy="4114800"/>
          </a:xfrm>
        </p:spPr>
        <p:txBody>
          <a:bodyPr/>
          <a:lstStyle/>
          <a:p>
            <a:r>
              <a:rPr lang="en-US" dirty="0" smtClean="0"/>
              <a:t>SOFR is calculated from repos and is therefore a secured rate</a:t>
            </a:r>
          </a:p>
          <a:p>
            <a:r>
              <a:rPr lang="en-US" dirty="0" smtClean="0"/>
              <a:t>The others are calculated from unsecured overnight borrowing and lending between banks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 11th Edition,   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C8E3E7-6CF2-4926-A1C8-B8CB5A2990C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24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28600" y="747713"/>
            <a:ext cx="7772400" cy="990600"/>
          </a:xfrm>
        </p:spPr>
        <p:txBody>
          <a:bodyPr/>
          <a:lstStyle/>
          <a:p>
            <a:pPr eaLnBrk="1" hangingPunct="1"/>
            <a:r>
              <a:rPr lang="en-CA" altLang="en-US" dirty="0" smtClean="0"/>
              <a:t>The Risk-Free Rate</a:t>
            </a:r>
            <a:endParaRPr lang="en-US" altLang="en-US" dirty="0" smtClean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81000" y="1672504"/>
            <a:ext cx="8424863" cy="4586287"/>
          </a:xfrm>
        </p:spPr>
        <p:txBody>
          <a:bodyPr/>
          <a:lstStyle/>
          <a:p>
            <a:pPr eaLnBrk="1" hangingPunct="1"/>
            <a:r>
              <a:rPr lang="en-CA" altLang="en-US" dirty="0" smtClean="0">
                <a:cs typeface="Arial" panose="020B0604020202020204" pitchFamily="34" charset="0"/>
              </a:rPr>
              <a:t>The Treasury rate is considered to be artificially low because</a:t>
            </a:r>
          </a:p>
          <a:p>
            <a:pPr lvl="1" eaLnBrk="1" hangingPunct="1"/>
            <a:r>
              <a:rPr lang="en-CA" altLang="en-US" sz="2400" dirty="0" smtClean="0">
                <a:cs typeface="Arial" panose="020B0604020202020204" pitchFamily="34" charset="0"/>
              </a:rPr>
              <a:t>Banks are not required to keep capital for Treasury instruments</a:t>
            </a:r>
          </a:p>
          <a:p>
            <a:pPr lvl="1" eaLnBrk="1" hangingPunct="1"/>
            <a:r>
              <a:rPr lang="en-CA" altLang="en-US" sz="2400" dirty="0" smtClean="0">
                <a:cs typeface="Arial" panose="020B0604020202020204" pitchFamily="34" charset="0"/>
              </a:rPr>
              <a:t>Treasury instruments are given favorable tax treatment in the US</a:t>
            </a:r>
          </a:p>
          <a:p>
            <a:pPr eaLnBrk="1" hangingPunct="1"/>
            <a:r>
              <a:rPr lang="en-CA" altLang="en-US" dirty="0" smtClean="0">
                <a:cs typeface="Arial" panose="020B0604020202020204" pitchFamily="34" charset="0"/>
              </a:rPr>
              <a:t>The new reference rates are considered to be proxies for the risk-free rate</a:t>
            </a:r>
          </a:p>
          <a:p>
            <a:pPr eaLnBrk="1" hangingPunct="1"/>
            <a:r>
              <a:rPr lang="en-US" dirty="0"/>
              <a:t>Other “risky” reference rates incorporating a credit spread may be developed</a:t>
            </a:r>
          </a:p>
          <a:p>
            <a:pPr marL="0" indent="0" eaLnBrk="1" hangingPunct="1">
              <a:buNone/>
            </a:pPr>
            <a:endParaRPr lang="en-CA" altLang="en-US" dirty="0" smtClean="0">
              <a:cs typeface="Arial" panose="020B0604020202020204" pitchFamily="34" charset="0"/>
            </a:endParaRP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Options, Futures, and Other Derivatives 11th Edition,    Copyright © John C. Hull 2021</a:t>
            </a:r>
            <a:endParaRPr lang="en-US" altLang="en-US" sz="1400" dirty="0" smtClean="0"/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13E344-E693-4BFC-8467-9E7712D6F61F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898525"/>
          </a:xfrm>
        </p:spPr>
        <p:txBody>
          <a:bodyPr/>
          <a:lstStyle/>
          <a:p>
            <a:pPr eaLnBrk="1" hangingPunct="1"/>
            <a:r>
              <a:rPr lang="en-CA" altLang="en-US" dirty="0" smtClean="0"/>
              <a:t>Impact of Compounding </a:t>
            </a:r>
            <a:r>
              <a:rPr lang="en-CA" altLang="en-US" sz="2400" dirty="0" smtClean="0"/>
              <a:t>(Table 4.1)</a:t>
            </a:r>
            <a:endParaRPr lang="en-US" altLang="en-US" sz="24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077200" cy="4281488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CA" dirty="0" smtClean="0"/>
              <a:t>	</a:t>
            </a:r>
            <a:r>
              <a:rPr lang="en-CA" sz="2400" dirty="0" smtClean="0"/>
              <a:t>When we compound </a:t>
            </a:r>
            <a:r>
              <a:rPr lang="en-CA" sz="2400" i="1" dirty="0" smtClean="0">
                <a:latin typeface="+mj-lt"/>
              </a:rPr>
              <a:t>m</a:t>
            </a:r>
            <a:r>
              <a:rPr lang="en-CA" sz="2400" dirty="0" smtClean="0"/>
              <a:t> times per year at rate </a:t>
            </a:r>
            <a:r>
              <a:rPr lang="en-CA" sz="2400" i="1" dirty="0" smtClean="0">
                <a:latin typeface="+mj-lt"/>
              </a:rPr>
              <a:t>R </a:t>
            </a:r>
            <a:r>
              <a:rPr lang="en-CA" sz="2400" dirty="0" smtClean="0">
                <a:latin typeface="+mj-lt"/>
              </a:rPr>
              <a:t> </a:t>
            </a:r>
            <a:r>
              <a:rPr lang="en-CA" sz="2400" dirty="0" smtClean="0"/>
              <a:t>an amount</a:t>
            </a:r>
            <a:r>
              <a:rPr lang="en-CA" sz="2400" i="1" dirty="0" smtClean="0">
                <a:latin typeface="+mj-lt"/>
              </a:rPr>
              <a:t> A </a:t>
            </a:r>
            <a:r>
              <a:rPr lang="en-CA" sz="2400" dirty="0" smtClean="0"/>
              <a:t>grows to </a:t>
            </a:r>
            <a:r>
              <a:rPr lang="en-CA" sz="2400" i="1" dirty="0" smtClean="0">
                <a:latin typeface="+mj-lt"/>
              </a:rPr>
              <a:t>A</a:t>
            </a:r>
            <a:r>
              <a:rPr lang="en-CA" sz="2400" dirty="0" smtClean="0">
                <a:latin typeface="+mj-lt"/>
              </a:rPr>
              <a:t>(1+</a:t>
            </a:r>
            <a:r>
              <a:rPr lang="en-CA" sz="2400" i="1" dirty="0" smtClean="0">
                <a:latin typeface="+mj-lt"/>
              </a:rPr>
              <a:t>R</a:t>
            </a:r>
            <a:r>
              <a:rPr lang="en-CA" sz="2400" dirty="0" smtClean="0">
                <a:latin typeface="+mj-lt"/>
              </a:rPr>
              <a:t>/</a:t>
            </a:r>
            <a:r>
              <a:rPr lang="en-CA" sz="2400" i="1" dirty="0" smtClean="0">
                <a:latin typeface="+mj-lt"/>
              </a:rPr>
              <a:t>m</a:t>
            </a:r>
            <a:r>
              <a:rPr lang="en-CA" sz="2400" dirty="0" smtClean="0">
                <a:latin typeface="+mj-lt"/>
              </a:rPr>
              <a:t>)</a:t>
            </a:r>
            <a:r>
              <a:rPr lang="en-CA" sz="2400" i="1" baseline="30000" dirty="0" smtClean="0">
                <a:latin typeface="+mj-lt"/>
              </a:rPr>
              <a:t>m</a:t>
            </a:r>
            <a:r>
              <a:rPr lang="en-CA" sz="2400" i="1" dirty="0" smtClean="0">
                <a:latin typeface="+mj-lt"/>
              </a:rPr>
              <a:t>  </a:t>
            </a:r>
            <a:r>
              <a:rPr lang="en-CA" sz="2400" dirty="0" smtClean="0"/>
              <a:t>in one year</a:t>
            </a:r>
            <a:endParaRPr lang="en-US" sz="2400" i="1" dirty="0"/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4597B0A-D7FE-4D76-8BCC-B2D5FEFF35E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19200" y="3276600"/>
          <a:ext cx="6705600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r>
                        <a:rPr lang="en-CA" i="1" dirty="0" smtClean="0"/>
                        <a:t>Compounding frequency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i="1" dirty="0" smtClean="0"/>
                        <a:t>Value of $100 in one year at 10%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Annual (m=1)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err="1" smtClean="0"/>
                        <a:t>Semiannual</a:t>
                      </a:r>
                      <a:r>
                        <a:rPr lang="en-CA" dirty="0" smtClean="0"/>
                        <a:t> (m=2)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Quarterly (m=4)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110.38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Monthly (m=12)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110.47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Weekly</a:t>
                      </a:r>
                      <a:r>
                        <a:rPr lang="en-CA" baseline="0" dirty="0" smtClean="0"/>
                        <a:t> (m=52)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110.51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Daily (m=365)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110.52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Measuring Interest Rates</a:t>
            </a:r>
          </a:p>
        </p:txBody>
      </p:sp>
      <p:sp>
        <p:nvSpPr>
          <p:cNvPr id="11267" name="Rectangle 5"/>
          <p:cNvSpPr>
            <a:spLocks noGrp="1" noChangeArrowheads="1"/>
          </p:cNvSpPr>
          <p:nvPr>
            <p:ph idx="1"/>
          </p:nvPr>
        </p:nvSpPr>
        <p:spPr>
          <a:xfrm>
            <a:off x="1125538" y="1981200"/>
            <a:ext cx="6894512" cy="3810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compounding frequency used for an interest rate is the unit of measurement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difference between quarterly and annual compounding is analogous to the difference between miles and kilometers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9354B28-0B38-4480-BA72-C37F78562EE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127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title"/>
          </p:nvPr>
        </p:nvSpPr>
        <p:spPr>
          <a:xfrm>
            <a:off x="246062" y="930275"/>
            <a:ext cx="8364537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Continuous Compounding </a:t>
            </a:r>
            <a:r>
              <a:rPr lang="en-US" altLang="en-US" sz="2400" dirty="0" smtClean="0"/>
              <a:t>(equation 4.2)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13315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2087130"/>
            <a:ext cx="7772400" cy="41148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600" dirty="0" smtClean="0">
                <a:latin typeface="Arial" charset="0"/>
                <a:cs typeface="Arial" charset="0"/>
              </a:rPr>
              <a:t>In the limit as we compound more and more frequently we obtain continuously compounded interest rates</a:t>
            </a:r>
          </a:p>
          <a:p>
            <a:pPr eaLnBrk="1" hangingPunct="1"/>
            <a:r>
              <a:rPr lang="en-US" altLang="en-US" sz="2600" dirty="0" smtClean="0">
                <a:latin typeface="Arial" charset="0"/>
                <a:cs typeface="Arial" charset="0"/>
              </a:rPr>
              <a:t>$100 grows to $100</a:t>
            </a:r>
            <a:r>
              <a:rPr lang="en-US" altLang="en-US" sz="2600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sz="2600" i="1" baseline="30000" dirty="0" smtClean="0">
                <a:latin typeface="Times New Roman" pitchFamily="18" charset="0"/>
                <a:cs typeface="Arial" charset="0"/>
              </a:rPr>
              <a:t>RT</a:t>
            </a:r>
            <a:r>
              <a:rPr lang="en-US" altLang="en-US" sz="2600" baseline="30000" dirty="0" smtClean="0">
                <a:latin typeface="Arial" charset="0"/>
                <a:cs typeface="Arial" charset="0"/>
              </a:rPr>
              <a:t> </a:t>
            </a:r>
            <a:r>
              <a:rPr lang="en-US" altLang="en-US" sz="2600" dirty="0" smtClean="0">
                <a:latin typeface="Arial" charset="0"/>
                <a:cs typeface="Arial" charset="0"/>
              </a:rPr>
              <a:t>when invested at a continuously compounded rate</a:t>
            </a:r>
            <a:r>
              <a:rPr lang="en-US" altLang="en-US" sz="2600" i="1" dirty="0" smtClean="0">
                <a:latin typeface="Arial" charset="0"/>
                <a:cs typeface="Arial" charset="0"/>
              </a:rPr>
              <a:t> </a:t>
            </a:r>
            <a:r>
              <a:rPr lang="en-US" altLang="en-US" sz="2600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z="2600" i="1" dirty="0" smtClean="0">
                <a:latin typeface="Arial" charset="0"/>
                <a:cs typeface="Arial" charset="0"/>
              </a:rPr>
              <a:t> </a:t>
            </a:r>
            <a:r>
              <a:rPr lang="en-US" altLang="en-US" sz="2600" dirty="0" smtClean="0">
                <a:latin typeface="Arial" charset="0"/>
                <a:cs typeface="Arial" charset="0"/>
              </a:rPr>
              <a:t>for time </a:t>
            </a:r>
            <a:r>
              <a:rPr lang="en-US" altLang="en-US" sz="2600" i="1" dirty="0" smtClean="0">
                <a:latin typeface="Times New Roman" pitchFamily="18" charset="0"/>
                <a:cs typeface="Arial" charset="0"/>
              </a:rPr>
              <a:t>T</a:t>
            </a:r>
            <a:endParaRPr lang="en-US" altLang="en-US" sz="2600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600" dirty="0" smtClean="0">
                <a:latin typeface="Arial" charset="0"/>
                <a:cs typeface="Arial" charset="0"/>
              </a:rPr>
              <a:t>$100 received at time </a:t>
            </a:r>
            <a:r>
              <a:rPr lang="en-US" altLang="en-US" sz="2600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6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600" dirty="0" smtClean="0">
                <a:latin typeface="Arial" charset="0"/>
                <a:cs typeface="Arial" charset="0"/>
              </a:rPr>
              <a:t>discounts to $100</a:t>
            </a:r>
            <a:r>
              <a:rPr lang="en-US" altLang="en-US" sz="2600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sz="2600" i="1" baseline="30000" dirty="0" smtClean="0">
                <a:latin typeface="Times New Roman" pitchFamily="18" charset="0"/>
                <a:cs typeface="Arial" charset="0"/>
              </a:rPr>
              <a:t>-RT</a:t>
            </a:r>
            <a:r>
              <a:rPr lang="en-US" altLang="en-US" sz="2600" baseline="30000" dirty="0" smtClean="0">
                <a:latin typeface="Arial" charset="0"/>
                <a:cs typeface="Arial" charset="0"/>
              </a:rPr>
              <a:t> </a:t>
            </a:r>
            <a:r>
              <a:rPr lang="en-US" altLang="en-US" sz="2600" dirty="0" smtClean="0">
                <a:latin typeface="Arial" charset="0"/>
                <a:cs typeface="Arial" charset="0"/>
              </a:rPr>
              <a:t>at time zero when the continuously compounded discount rate is </a:t>
            </a:r>
            <a:r>
              <a:rPr lang="en-US" altLang="en-US" sz="2600" i="1" dirty="0" smtClean="0">
                <a:latin typeface="Times New Roman" pitchFamily="18" charset="0"/>
                <a:cs typeface="Arial" charset="0"/>
              </a:rPr>
              <a:t>R</a:t>
            </a:r>
            <a:endParaRPr lang="en-US" altLang="en-US" sz="2600" i="1" dirty="0" smtClean="0">
              <a:latin typeface="Arial" charset="0"/>
              <a:cs typeface="Arial" charset="0"/>
            </a:endParaRP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381945F-BCF5-4EB5-8CE6-4600B007D30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331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Conversion Formulas </a:t>
            </a:r>
            <a:r>
              <a:rPr lang="en-US" altLang="en-US" sz="2200" dirty="0" smtClean="0"/>
              <a:t>(Equations 4.4 and 4.4)</a:t>
            </a:r>
            <a:endParaRPr lang="en-US" altLang="en-US" dirty="0" smtClean="0"/>
          </a:p>
        </p:txBody>
      </p:sp>
      <p:sp>
        <p:nvSpPr>
          <p:cNvPr id="14339" name="Rectangle 5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Define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c </a:t>
            </a:r>
            <a:r>
              <a:rPr lang="en-US" altLang="en-US" smtClean="0">
                <a:latin typeface="Arial" charset="0"/>
                <a:cs typeface="Arial" charset="0"/>
              </a:rPr>
              <a:t>: continuously compounded rate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m</a:t>
            </a:r>
            <a:r>
              <a:rPr lang="en-US" altLang="en-US" smtClean="0">
                <a:latin typeface="Arial" charset="0"/>
                <a:cs typeface="Arial" charset="0"/>
              </a:rPr>
              <a:t>: same rate with compounding </a:t>
            </a:r>
            <a:r>
              <a:rPr lang="en-US" altLang="en-US" i="1" smtClean="0">
                <a:latin typeface="Arial" charset="0"/>
                <a:cs typeface="Arial" charset="0"/>
              </a:rPr>
              <a:t>m</a:t>
            </a:r>
            <a:r>
              <a:rPr lang="en-US" altLang="en-US" smtClean="0">
                <a:latin typeface="Arial" charset="0"/>
                <a:cs typeface="Arial" charset="0"/>
              </a:rPr>
              <a:t> times per year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B906DF7-8B45-4254-98AC-737E2CD6C73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434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434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graphicFrame>
        <p:nvGraphicFramePr>
          <p:cNvPr id="14344" name="Object 6"/>
          <p:cNvGraphicFramePr>
            <a:graphicFrameLocks noChangeAspect="1"/>
          </p:cNvGraphicFramePr>
          <p:nvPr/>
        </p:nvGraphicFramePr>
        <p:xfrm>
          <a:off x="2971800" y="3695700"/>
          <a:ext cx="32004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name="Equation" r:id="rId6" imgW="634725" imgH="444307" progId="Equation.2">
                  <p:embed/>
                </p:oleObj>
              </mc:Choice>
              <mc:Fallback>
                <p:oleObj name="Equation" r:id="rId6" imgW="634725" imgH="444307" progId="Equation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695700"/>
                        <a:ext cx="3200400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Examples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281488"/>
          </a:xfrm>
        </p:spPr>
        <p:txBody>
          <a:bodyPr/>
          <a:lstStyle/>
          <a:p>
            <a:pPr eaLnBrk="1" hangingPunct="1">
              <a:defRPr/>
            </a:pPr>
            <a:r>
              <a:rPr lang="en-CA" dirty="0" smtClean="0"/>
              <a:t>10% with </a:t>
            </a:r>
            <a:r>
              <a:rPr lang="en-CA" dirty="0" err="1" smtClean="0"/>
              <a:t>semiannual</a:t>
            </a:r>
            <a:r>
              <a:rPr lang="en-CA" dirty="0" smtClean="0"/>
              <a:t> compounding is equivalent to 2ln(1.05)=9.758% with continuous compounding</a:t>
            </a:r>
          </a:p>
          <a:p>
            <a:pPr eaLnBrk="1" hangingPunct="1">
              <a:defRPr/>
            </a:pPr>
            <a:r>
              <a:rPr lang="en-CA" dirty="0" smtClean="0"/>
              <a:t>8% with continuous compounding is equivalent to 4(</a:t>
            </a:r>
            <a:r>
              <a:rPr lang="en-CA" i="1" dirty="0" smtClean="0">
                <a:latin typeface="+mj-lt"/>
              </a:rPr>
              <a:t>e</a:t>
            </a:r>
            <a:r>
              <a:rPr lang="en-CA" baseline="30000" dirty="0" smtClean="0"/>
              <a:t>0.08/4</a:t>
            </a:r>
            <a:r>
              <a:rPr lang="en-CA" dirty="0" smtClean="0"/>
              <a:t> -1)=8.08% with quarterly compounding</a:t>
            </a:r>
          </a:p>
          <a:p>
            <a:pPr eaLnBrk="1" hangingPunct="1">
              <a:defRPr/>
            </a:pPr>
            <a:r>
              <a:rPr lang="en-CA" dirty="0" smtClean="0"/>
              <a:t>Rates used in option pricing are nearly always expressed with continuous compounding</a:t>
            </a:r>
            <a:endParaRPr lang="en-US" dirty="0"/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752E598-A482-43E5-A6EE-88A72120A48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Zero Rates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A zero rate (or spot rate), for maturity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is the rate of interest earned on an investment that provides a payoff only at time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endParaRPr lang="en-US" altLang="en-US" i="1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i="1" smtClean="0">
              <a:latin typeface="Arial" charset="0"/>
              <a:cs typeface="Arial" charset="0"/>
            </a:endParaRP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E0A4568-2149-4F75-94C7-3C9E41DA479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Example </a:t>
            </a:r>
            <a:r>
              <a:rPr lang="en-US" altLang="en-US" sz="2200" dirty="0" smtClean="0"/>
              <a:t>(Table 4.2)</a:t>
            </a:r>
            <a:endParaRPr lang="en-US" altLang="en-US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2CE03A4-47A2-4DC4-9BBA-C3B6037E031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43000" y="2438400"/>
          <a:ext cx="60960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r>
                        <a:rPr lang="en-CA" dirty="0" smtClean="0"/>
                        <a:t>Maturity (years)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Zero rate (cont. comp.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6.4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2.0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6.8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Bond Pricing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To calculate the cash price of a bond we discount each cash flow at the appropriate zero rate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our example, the theoretical price of a two-year bond providing a 6% coupon semiannually is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z="2400" smtClean="0">
              <a:latin typeface="Arial" charset="0"/>
              <a:cs typeface="Arial" charset="0"/>
            </a:endParaRP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8350219-5C6A-4491-AF8B-9B982996CAC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8438" name="Object 4"/>
          <p:cNvGraphicFramePr>
            <a:graphicFrameLocks/>
          </p:cNvGraphicFramePr>
          <p:nvPr/>
        </p:nvGraphicFramePr>
        <p:xfrm>
          <a:off x="2057400" y="4876800"/>
          <a:ext cx="5257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Equation" r:id="rId6" imgW="2006600" imgH="482600" progId="Equation.2">
                  <p:embed/>
                </p:oleObj>
              </mc:Choice>
              <mc:Fallback>
                <p:oleObj name="Equation" r:id="rId6" imgW="2006600" imgH="48260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876800"/>
                        <a:ext cx="52578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848600" cy="1295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Bond Yield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7848600" cy="44196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The bond yield is the discount rate that makes the present value of the cash flows on the bond equal to the market price of the bond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Suppose that the market price of the bond in our example equals its theoretical price of 98.39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The bond yield (continuously compounded) is given by solving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 to get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y</a:t>
            </a:r>
            <a:r>
              <a:rPr lang="en-US" altLang="en-US" smtClean="0">
                <a:latin typeface="Arial" charset="0"/>
                <a:cs typeface="Arial" charset="0"/>
              </a:rPr>
              <a:t>=0.0676 or 6.76%.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4B408DD-2666-4526-BE9E-DC87293C0D4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9462" name="Object 4"/>
          <p:cNvGraphicFramePr>
            <a:graphicFrameLocks/>
          </p:cNvGraphicFramePr>
          <p:nvPr/>
        </p:nvGraphicFramePr>
        <p:xfrm>
          <a:off x="1524000" y="4953000"/>
          <a:ext cx="660082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Equation" r:id="rId6" imgW="2882900" imgH="190500" progId="Equation.2">
                  <p:embed/>
                </p:oleObj>
              </mc:Choice>
              <mc:Fallback>
                <p:oleObj name="Equation" r:id="rId6" imgW="2882900" imgH="19050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953000"/>
                        <a:ext cx="6600825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848600" cy="1066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Par Yield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7710488" cy="42672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par yield for a certain maturity is the coupon rate that causes the bond price to equal its face value.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In our example we solve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A061B4E-E784-4739-8C58-D2E33194F18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0486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3754938"/>
              </p:ext>
            </p:extLst>
          </p:nvPr>
        </p:nvGraphicFramePr>
        <p:xfrm>
          <a:off x="1066800" y="3625850"/>
          <a:ext cx="5346700" cy="247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6" imgW="2387520" imgH="1066680" progId="Equation.3">
                  <p:embed/>
                </p:oleObj>
              </mc:Choice>
              <mc:Fallback>
                <p:oleObj name="Equation" r:id="rId6" imgW="2387520" imgH="106668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625850"/>
                        <a:ext cx="5346700" cy="247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838200"/>
            <a:ext cx="7772400" cy="685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Par Yield continued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latin typeface="Arial" charset="0"/>
                <a:cs typeface="Arial" charset="0"/>
              </a:rPr>
              <a:t>   In general if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m</a:t>
            </a:r>
            <a:r>
              <a:rPr lang="en-US" i="1" dirty="0" smtClean="0">
                <a:latin typeface="Arial" charset="0"/>
                <a:cs typeface="Arial" charset="0"/>
              </a:rPr>
              <a:t> </a:t>
            </a:r>
            <a:r>
              <a:rPr lang="en-US" dirty="0" smtClean="0">
                <a:latin typeface="Arial" charset="0"/>
                <a:cs typeface="Arial" charset="0"/>
              </a:rPr>
              <a:t>is the number of coupon payments per year,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d</a:t>
            </a:r>
            <a:r>
              <a:rPr lang="en-US" dirty="0" smtClean="0">
                <a:latin typeface="Arial" charset="0"/>
                <a:cs typeface="Arial" charset="0"/>
              </a:rPr>
              <a:t> is the present value of $1 received at maturity and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A</a:t>
            </a:r>
            <a:r>
              <a:rPr lang="en-US" dirty="0" smtClean="0">
                <a:latin typeface="Arial" charset="0"/>
                <a:cs typeface="Arial" charset="0"/>
              </a:rPr>
              <a:t> is the present value of an annuity of $1 on each coupon date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CA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CA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CA" dirty="0" smtClean="0">
                <a:latin typeface="Arial" charset="0"/>
                <a:cs typeface="Arial" charset="0"/>
              </a:rPr>
              <a:t>	(in our example, </a:t>
            </a:r>
            <a:r>
              <a:rPr lang="en-CA" i="1" dirty="0" smtClean="0">
                <a:latin typeface="+mj-lt"/>
                <a:cs typeface="Arial" charset="0"/>
              </a:rPr>
              <a:t>m</a:t>
            </a:r>
            <a:r>
              <a:rPr lang="en-CA" i="1" dirty="0" smtClean="0">
                <a:latin typeface="Arial" charset="0"/>
                <a:cs typeface="Arial" charset="0"/>
              </a:rPr>
              <a:t> </a:t>
            </a:r>
            <a:r>
              <a:rPr lang="en-CA" dirty="0" smtClean="0">
                <a:latin typeface="Arial" charset="0"/>
                <a:cs typeface="Arial" charset="0"/>
              </a:rPr>
              <a:t>= 2, </a:t>
            </a:r>
            <a:r>
              <a:rPr lang="en-CA" i="1" dirty="0" smtClean="0">
                <a:latin typeface="+mj-lt"/>
                <a:cs typeface="Arial" charset="0"/>
              </a:rPr>
              <a:t>d </a:t>
            </a:r>
            <a:r>
              <a:rPr lang="en-CA" dirty="0" smtClean="0">
                <a:latin typeface="Arial" charset="0"/>
                <a:cs typeface="Arial" charset="0"/>
              </a:rPr>
              <a:t>= 0.87284, and </a:t>
            </a:r>
            <a:r>
              <a:rPr lang="en-CA" i="1" dirty="0" smtClean="0">
                <a:latin typeface="+mj-lt"/>
                <a:cs typeface="Arial" charset="0"/>
              </a:rPr>
              <a:t>A </a:t>
            </a:r>
            <a:r>
              <a:rPr lang="en-CA" dirty="0" smtClean="0">
                <a:latin typeface="Arial" charset="0"/>
                <a:cs typeface="Arial" charset="0"/>
              </a:rPr>
              <a:t>= 3.70027)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CA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CA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CA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>
              <a:latin typeface="Arial" charset="0"/>
              <a:cs typeface="Arial" charset="0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DFA19C6-5130-4B9E-BF40-FC1BEF7D210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1510" name="Object 4"/>
          <p:cNvGraphicFramePr>
            <a:graphicFrameLocks/>
          </p:cNvGraphicFramePr>
          <p:nvPr/>
        </p:nvGraphicFramePr>
        <p:xfrm>
          <a:off x="3200400" y="3962400"/>
          <a:ext cx="29606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Equation" r:id="rId6" imgW="1143000" imgH="368300" progId="Equation.3">
                  <p:embed/>
                </p:oleObj>
              </mc:Choice>
              <mc:Fallback>
                <p:oleObj name="Equation" r:id="rId6" imgW="1143000" imgH="3683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962400"/>
                        <a:ext cx="29606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Data to Determine Zero Curve </a:t>
            </a:r>
            <a:r>
              <a:rPr lang="en-CA" altLang="en-US" sz="2400" dirty="0" smtClean="0"/>
              <a:t>(Table 4.3)</a:t>
            </a:r>
            <a:endParaRPr lang="en-US" altLang="en-US" sz="2400" dirty="0" smtClean="0"/>
          </a:p>
        </p:txBody>
      </p:sp>
      <p:sp>
        <p:nvSpPr>
          <p:cNvPr id="2253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5F76F8-55E6-4D25-968A-806A56C8E54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573123"/>
              </p:ext>
            </p:extLst>
          </p:nvPr>
        </p:nvGraphicFramePr>
        <p:xfrm>
          <a:off x="914400" y="2590800"/>
          <a:ext cx="6629400" cy="24939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50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Bond</a:t>
                      </a:r>
                      <a:r>
                        <a:rPr lang="en-CA" sz="1800" baseline="0" dirty="0" smtClean="0"/>
                        <a:t> </a:t>
                      </a:r>
                      <a:r>
                        <a:rPr lang="en-CA" sz="1800" dirty="0" smtClean="0"/>
                        <a:t>Principal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Time to Maturity (yrs)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Coupon  per year ($)</a:t>
                      </a:r>
                      <a:r>
                        <a:rPr lang="en-CA" sz="1800" baseline="30000" dirty="0" smtClean="0"/>
                        <a:t>*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Bond price ($)</a:t>
                      </a:r>
                      <a:endParaRPr lang="en-US" sz="18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83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0.25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99.6</a:t>
                      </a:r>
                      <a:endParaRPr lang="en-US" sz="18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83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99.0</a:t>
                      </a:r>
                      <a:endParaRPr lang="en-US" sz="18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83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1.00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97.8</a:t>
                      </a:r>
                      <a:endParaRPr lang="en-US" sz="18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83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1.50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102.5</a:t>
                      </a:r>
                      <a:endParaRPr lang="en-US" sz="18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83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2.00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105.0</a:t>
                      </a:r>
                      <a:endParaRPr lang="en-US" sz="18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570" name="TextBox 5"/>
          <p:cNvSpPr txBox="1">
            <a:spLocks noChangeArrowheads="1"/>
          </p:cNvSpPr>
          <p:nvPr/>
        </p:nvSpPr>
        <p:spPr bwMode="auto">
          <a:xfrm>
            <a:off x="1143000" y="5486400"/>
            <a:ext cx="563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 baseline="30000">
                <a:latin typeface="Arial" charset="0"/>
              </a:rPr>
              <a:t>* </a:t>
            </a:r>
            <a:r>
              <a:rPr lang="en-CA" altLang="en-US" sz="1800">
                <a:latin typeface="Arial" charset="0"/>
              </a:rPr>
              <a:t>Half the stated coupon is paid each year</a:t>
            </a:r>
            <a:endParaRPr lang="en-US" altLang="en-US" sz="1800" baseline="300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Bootstrap Method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latin typeface="Arial" charset="0"/>
                <a:cs typeface="Arial" charset="0"/>
              </a:rPr>
              <a:t>An amount 0.4 can be earned on 99.6 during 3 months.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latin typeface="Arial" charset="0"/>
                <a:cs typeface="Arial" charset="0"/>
              </a:rPr>
              <a:t>Because 100=99.4</a:t>
            </a:r>
            <a:r>
              <a:rPr lang="en-US" i="1" dirty="0" smtClean="0">
                <a:latin typeface="+mj-lt"/>
                <a:cs typeface="Arial" charset="0"/>
              </a:rPr>
              <a:t>e</a:t>
            </a:r>
            <a:r>
              <a:rPr lang="en-US" baseline="30000" dirty="0" smtClean="0">
                <a:latin typeface="Arial" charset="0"/>
                <a:cs typeface="Arial" charset="0"/>
              </a:rPr>
              <a:t>0.01603</a:t>
            </a:r>
            <a:r>
              <a:rPr lang="en-US" baseline="30000" dirty="0" smtClean="0">
                <a:latin typeface="Arial"/>
                <a:cs typeface="Arial"/>
              </a:rPr>
              <a:t>×0.25</a:t>
            </a:r>
            <a:r>
              <a:rPr lang="en-US" dirty="0" smtClean="0">
                <a:latin typeface="Arial" charset="0"/>
                <a:cs typeface="Arial" charset="0"/>
              </a:rPr>
              <a:t> the 3-month rate is 1.603% with continuous compounding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latin typeface="Arial" charset="0"/>
                <a:cs typeface="Arial" charset="0"/>
              </a:rPr>
              <a:t>Similarly the 6 month and 1 year rates are 2.010% and 2.225% with continuous compounding                                         </a:t>
            </a: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7115343-5049-4752-A196-AAFA3B9261C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The Bootstrap Method continued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To calculate the 1.5 year rate we solve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to get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R </a:t>
            </a:r>
            <a:r>
              <a:rPr lang="en-US" altLang="en-US" dirty="0" smtClean="0">
                <a:latin typeface="Arial" charset="0"/>
                <a:cs typeface="Arial" charset="0"/>
              </a:rPr>
              <a:t>= 0.02284 or 2.284%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Similarly the two-year rate is 2.416%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39DD72D-AAC4-4129-938F-B828FC823DB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4582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1358605"/>
              </p:ext>
            </p:extLst>
          </p:nvPr>
        </p:nvGraphicFramePr>
        <p:xfrm>
          <a:off x="1157288" y="2895600"/>
          <a:ext cx="65087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Equation" r:id="rId6" imgW="2679480" imgH="203040" progId="Equation.3">
                  <p:embed/>
                </p:oleObj>
              </mc:Choice>
              <mc:Fallback>
                <p:oleObj name="Equation" r:id="rId6" imgW="2679480" imgH="20304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2895600"/>
                        <a:ext cx="65087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50" y="990600"/>
            <a:ext cx="7772400" cy="1143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Zero Curve Calculated from the Data </a:t>
            </a:r>
            <a:r>
              <a:rPr lang="en-US" sz="2200" dirty="0"/>
              <a:t>(Figure </a:t>
            </a:r>
            <a:r>
              <a:rPr lang="en-US" sz="2200" dirty="0" smtClean="0"/>
              <a:t>4.1)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089150"/>
            <a:ext cx="7772400" cy="41148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000" dirty="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8B4A4DA-01E7-444C-9863-1083C153BB6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2297" y="2798377"/>
            <a:ext cx="4574118" cy="274079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Forward Rates</a:t>
            </a:r>
          </a:p>
        </p:txBody>
      </p:sp>
      <p:sp>
        <p:nvSpPr>
          <p:cNvPr id="2662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D47E75D-B5B4-444E-9BB5-F7902FCB7BB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6629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forward rate is the future zero rate implied by today’s term structure of interest rates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Formula for Forward Rates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Suppose that the zero rates for time periods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sz="2400" i="1" dirty="0" smtClean="0">
                <a:latin typeface="Arial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and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sz="2400" i="1" dirty="0" smtClean="0">
                <a:latin typeface="Arial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are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and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with both rates continuously compounded.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The forward rate for the period between times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and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is</a:t>
            </a:r>
          </a:p>
          <a:p>
            <a:pPr eaLnBrk="1" hangingPunct="1">
              <a:buFontTx/>
              <a:buNone/>
            </a:pPr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This formula is only approximately true when rates are not expressed with continuous compounding</a:t>
            </a:r>
            <a:endParaRPr lang="en-US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7772C9C-E9B4-48F3-A1E0-98273E7910F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7654" name="Object 5"/>
          <p:cNvGraphicFramePr>
            <a:graphicFrameLocks/>
          </p:cNvGraphicFramePr>
          <p:nvPr/>
        </p:nvGraphicFramePr>
        <p:xfrm>
          <a:off x="2743200" y="3810000"/>
          <a:ext cx="2057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8" name="Equation" r:id="rId6" imgW="6502400" imgH="3670710" progId="Equation.2">
                  <p:embed/>
                </p:oleObj>
              </mc:Choice>
              <mc:Fallback>
                <p:oleObj name="Equation" r:id="rId6" imgW="6502400" imgH="3670710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810000"/>
                        <a:ext cx="2057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Application of the Formula </a:t>
            </a:r>
            <a:r>
              <a:rPr lang="en-CA" altLang="en-US" sz="2400" dirty="0" smtClean="0"/>
              <a:t>(Table 4.5)</a:t>
            </a:r>
            <a:endParaRPr lang="en-US" altLang="en-US" sz="2400" dirty="0" smtClean="0"/>
          </a:p>
        </p:txBody>
      </p:sp>
      <p:sp>
        <p:nvSpPr>
          <p:cNvPr id="2867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2E169E0-EE88-4EB5-82AB-EC742455CBE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5400" y="2438400"/>
          <a:ext cx="6096000" cy="276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Year  (</a:t>
                      </a:r>
                      <a:r>
                        <a:rPr lang="en-CA" i="1" dirty="0" smtClean="0">
                          <a:latin typeface="+mj-lt"/>
                        </a:rPr>
                        <a:t>n</a:t>
                      </a:r>
                      <a:r>
                        <a:rPr lang="en-CA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Zero rate for</a:t>
                      </a:r>
                      <a:r>
                        <a:rPr lang="en-CA" baseline="0" dirty="0" smtClean="0"/>
                        <a:t> </a:t>
                      </a:r>
                      <a:r>
                        <a:rPr lang="en-CA" baseline="0" dirty="0" smtClean="0">
                          <a:latin typeface="+mj-lt"/>
                        </a:rPr>
                        <a:t>n</a:t>
                      </a:r>
                      <a:r>
                        <a:rPr lang="en-CA" baseline="0" dirty="0" smtClean="0"/>
                        <a:t>-year investment </a:t>
                      </a:r>
                    </a:p>
                    <a:p>
                      <a:pPr algn="ctr"/>
                      <a:r>
                        <a:rPr lang="en-CA" baseline="0" dirty="0" smtClean="0"/>
                        <a:t>(% per annum)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Forward rate for </a:t>
                      </a:r>
                      <a:r>
                        <a:rPr lang="en-CA" dirty="0" smtClean="0">
                          <a:latin typeface="+mj-lt"/>
                        </a:rPr>
                        <a:t>n</a:t>
                      </a:r>
                      <a:r>
                        <a:rPr lang="en-CA" dirty="0" smtClean="0"/>
                        <a:t>th year</a:t>
                      </a:r>
                    </a:p>
                    <a:p>
                      <a:pPr algn="ctr"/>
                      <a:r>
                        <a:rPr lang="en-CA" dirty="0" smtClean="0"/>
                        <a:t>(% per annum)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3.0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4.0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4.6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6.2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6.5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Instantaneous Forward Rate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instantaneous forward rate for a maturity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is the forward rate that applies for a very short time period starting at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. It is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where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mtClean="0">
                <a:latin typeface="Arial" charset="0"/>
                <a:cs typeface="Arial" charset="0"/>
              </a:rPr>
              <a:t> is the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-year rate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F93A3F5-A4FE-43CF-B0CC-05D89FF5E25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9702" name="Object 4"/>
          <p:cNvGraphicFramePr>
            <a:graphicFrameLocks noChangeAspect="1"/>
          </p:cNvGraphicFramePr>
          <p:nvPr/>
        </p:nvGraphicFramePr>
        <p:xfrm>
          <a:off x="3505200" y="3581400"/>
          <a:ext cx="167640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6" name="Equation" r:id="rId6" imgW="590685" imgH="380910" progId="Equation.2">
                  <p:embed/>
                </p:oleObj>
              </mc:Choice>
              <mc:Fallback>
                <p:oleObj name="Equation" r:id="rId6" imgW="590685" imgH="380910" progId="Equation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581400"/>
                        <a:ext cx="1676400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Upward vs Downward Sloping</a:t>
            </a:r>
            <a:br>
              <a:rPr lang="en-US"/>
            </a:br>
            <a:r>
              <a:rPr lang="en-US"/>
              <a:t>Yield Curve 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255838"/>
            <a:ext cx="81534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For an upward sloping yield curve: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Fwd Rate &gt; Zero Rate &gt; Par Yield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For a downward sloping yield curve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Par Yield &gt; Zero Rate &gt; Fwd Rate</a:t>
            </a: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EEFE759-513C-4DE8-A91B-C9B32D4E552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Forward Rate Agreement</a:t>
            </a:r>
          </a:p>
        </p:txBody>
      </p:sp>
      <p:sp>
        <p:nvSpPr>
          <p:cNvPr id="3174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ED2D657-FC67-4B27-A648-B1C2F1D0E35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31749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forward rate agreement (FRA) is an OTC agreement that the actual rate applicable to a certain period will be exchanged for a predetermined rate, </a:t>
            </a:r>
            <a:r>
              <a:rPr lang="en-US" altLang="en-US" i="1" dirty="0" smtClean="0">
                <a:latin typeface="Cambria" panose="02040503050406030204" pitchFamily="18" charset="0"/>
                <a:ea typeface="Cambria" panose="02040503050406030204" pitchFamily="18" charset="0"/>
                <a:cs typeface="Arial" charset="0"/>
              </a:rPr>
              <a:t>R</a:t>
            </a:r>
            <a:r>
              <a:rPr lang="en-US" altLang="en-US" i="1" baseline="-25000" dirty="0" smtClean="0">
                <a:latin typeface="Cambria" panose="02040503050406030204" pitchFamily="18" charset="0"/>
                <a:ea typeface="Cambria" panose="02040503050406030204" pitchFamily="18" charset="0"/>
                <a:cs typeface="Arial" charset="0"/>
              </a:rPr>
              <a:t>K</a:t>
            </a:r>
            <a:r>
              <a:rPr lang="en-US" altLang="en-US" dirty="0" smtClean="0">
                <a:latin typeface="Arial" charset="0"/>
                <a:cs typeface="Arial" charset="0"/>
              </a:rPr>
              <a:t>, with both being applied to a predetermined principal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Forward Rate </a:t>
            </a:r>
            <a:r>
              <a:rPr lang="en-US" dirty="0" smtClean="0"/>
              <a:t>Agreement: Key Results  </a:t>
            </a: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209800"/>
            <a:ext cx="8001000" cy="40386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An FRA can be valued by assuming that the forward interest rate, </a:t>
            </a:r>
            <a:r>
              <a:rPr lang="en-US" sz="2400" i="1" dirty="0" smtClean="0">
                <a:latin typeface="+mj-lt"/>
                <a:cs typeface="Arial" charset="0"/>
              </a:rPr>
              <a:t>R</a:t>
            </a:r>
            <a:r>
              <a:rPr lang="en-US" sz="2400" i="1" baseline="-25000" dirty="0" smtClean="0">
                <a:latin typeface="+mj-lt"/>
                <a:cs typeface="Arial" charset="0"/>
              </a:rPr>
              <a:t>F</a:t>
            </a:r>
            <a:r>
              <a:rPr lang="en-US" sz="2400" dirty="0" smtClean="0">
                <a:latin typeface="Arial" charset="0"/>
                <a:cs typeface="Arial" charset="0"/>
              </a:rPr>
              <a:t> , is certain to be realized</a:t>
            </a:r>
          </a:p>
          <a:p>
            <a:pPr eaLnBrk="1" hangingPunct="1">
              <a:defRPr/>
            </a:pPr>
            <a:r>
              <a:rPr lang="en-CA" sz="2400" dirty="0" smtClean="0">
                <a:latin typeface="Arial" charset="0"/>
                <a:cs typeface="Arial" charset="0"/>
              </a:rPr>
              <a:t>This means that the value of an FRA is the present value of the difference between the interest that would be paid at interest at rate </a:t>
            </a:r>
            <a:r>
              <a:rPr lang="en-CA" sz="2400" i="1" dirty="0" smtClean="0">
                <a:latin typeface="+mj-lt"/>
                <a:cs typeface="Arial" charset="0"/>
              </a:rPr>
              <a:t>R</a:t>
            </a:r>
            <a:r>
              <a:rPr lang="en-CA" sz="2400" i="1" baseline="-25000" dirty="0" smtClean="0">
                <a:latin typeface="+mj-lt"/>
                <a:cs typeface="Arial" charset="0"/>
              </a:rPr>
              <a:t>F</a:t>
            </a:r>
            <a:r>
              <a:rPr lang="en-CA" sz="2400" dirty="0" smtClean="0">
                <a:latin typeface="Arial" charset="0"/>
                <a:cs typeface="Arial" charset="0"/>
              </a:rPr>
              <a:t> and the interest that would be paid at rate </a:t>
            </a:r>
            <a:r>
              <a:rPr lang="en-CA" sz="2400" i="1" dirty="0" smtClean="0">
                <a:latin typeface="+mj-lt"/>
                <a:cs typeface="Arial" charset="0"/>
              </a:rPr>
              <a:t>R</a:t>
            </a:r>
            <a:r>
              <a:rPr lang="en-CA" sz="2400" i="1" baseline="-25000" dirty="0" smtClean="0">
                <a:latin typeface="+mj-lt"/>
                <a:cs typeface="Arial" charset="0"/>
              </a:rPr>
              <a:t>K</a:t>
            </a:r>
            <a:endParaRPr lang="en-US" sz="2400" i="1" dirty="0" smtClean="0">
              <a:latin typeface="+mj-lt"/>
              <a:cs typeface="Arial" charset="0"/>
            </a:endParaRPr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63DAC76-1354-4099-9716-4594942856E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228600" y="568036"/>
            <a:ext cx="7772400" cy="1143000"/>
          </a:xfrm>
        </p:spPr>
        <p:txBody>
          <a:bodyPr/>
          <a:lstStyle/>
          <a:p>
            <a:pPr eaLnBrk="1" hangingPunct="1"/>
            <a:r>
              <a:rPr lang="en-CA" altLang="en-US" dirty="0" smtClean="0"/>
              <a:t>Example</a:t>
            </a:r>
            <a:endParaRPr lang="en-US" altLang="en-US" sz="2400" dirty="0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609600" y="1738745"/>
            <a:ext cx="7772400" cy="4114800"/>
          </a:xfrm>
        </p:spPr>
        <p:txBody>
          <a:bodyPr/>
          <a:lstStyle/>
          <a:p>
            <a:pPr eaLnBrk="1" hangingPunct="1"/>
            <a:r>
              <a:rPr lang="en-CA" altLang="en-US" sz="2600" dirty="0" smtClean="0">
                <a:latin typeface="Arial" charset="0"/>
                <a:cs typeface="Arial" charset="0"/>
              </a:rPr>
              <a:t>An FRA entered into some time ago states that a company will receive 5.8</a:t>
            </a:r>
            <a:r>
              <a:rPr lang="en-CA" altLang="en-US" sz="2600" dirty="0">
                <a:latin typeface="Arial" charset="0"/>
                <a:cs typeface="Arial" charset="0"/>
              </a:rPr>
              <a:t>% (</a:t>
            </a:r>
            <a:r>
              <a:rPr lang="en-CA" altLang="en-US" sz="2600" dirty="0" err="1">
                <a:latin typeface="Arial" charset="0"/>
                <a:cs typeface="Arial" charset="0"/>
              </a:rPr>
              <a:t>s.a.</a:t>
            </a:r>
            <a:r>
              <a:rPr lang="en-CA" altLang="en-US" sz="2600" dirty="0">
                <a:latin typeface="Arial" charset="0"/>
                <a:cs typeface="Arial" charset="0"/>
              </a:rPr>
              <a:t>) and </a:t>
            </a:r>
            <a:r>
              <a:rPr lang="en-CA" altLang="en-US" sz="2600" dirty="0" smtClean="0">
                <a:latin typeface="Arial" charset="0"/>
                <a:cs typeface="Arial" charset="0"/>
              </a:rPr>
              <a:t>pay SOFR on a principal of $100 million starting in 1.5 years</a:t>
            </a:r>
          </a:p>
          <a:p>
            <a:pPr eaLnBrk="1" hangingPunct="1"/>
            <a:r>
              <a:rPr lang="en-CA" altLang="en-US" sz="2600" dirty="0" smtClean="0">
                <a:latin typeface="Arial" charset="0"/>
                <a:cs typeface="Arial" charset="0"/>
              </a:rPr>
              <a:t>Forward SOFR for the period between 1.5 and 2 years is 5% (</a:t>
            </a:r>
            <a:r>
              <a:rPr lang="en-CA" altLang="en-US" sz="2600" dirty="0" err="1" smtClean="0">
                <a:latin typeface="Arial" charset="0"/>
                <a:cs typeface="Arial" charset="0"/>
              </a:rPr>
              <a:t>s.a.</a:t>
            </a:r>
            <a:r>
              <a:rPr lang="en-CA" altLang="en-US" sz="2600" dirty="0" smtClean="0">
                <a:latin typeface="Arial" charset="0"/>
                <a:cs typeface="Arial" charset="0"/>
              </a:rPr>
              <a:t>)</a:t>
            </a:r>
          </a:p>
          <a:p>
            <a:pPr eaLnBrk="1" hangingPunct="1"/>
            <a:r>
              <a:rPr lang="en-CA" altLang="en-US" sz="2600" dirty="0" smtClean="0">
                <a:latin typeface="Arial" charset="0"/>
                <a:cs typeface="Arial" charset="0"/>
              </a:rPr>
              <a:t>The 2 year (SOFR) risk-free rate is 4% with continuous compounding</a:t>
            </a:r>
          </a:p>
          <a:p>
            <a:pPr eaLnBrk="1" hangingPunct="1"/>
            <a:r>
              <a:rPr lang="en-CA" altLang="en-US" sz="2600" dirty="0" smtClean="0">
                <a:latin typeface="Arial" charset="0"/>
                <a:cs typeface="Arial" charset="0"/>
              </a:rPr>
              <a:t>The value of the FRA  (in $ millions) is</a:t>
            </a:r>
          </a:p>
          <a:p>
            <a:pPr marL="0" indent="0" algn="ctr" eaLnBrk="1" hangingPunct="1">
              <a:buNone/>
            </a:pPr>
            <a:r>
              <a:rPr lang="en-US" altLang="en-US" sz="2600" dirty="0" smtClean="0">
                <a:latin typeface="Arial" charset="0"/>
                <a:cs typeface="Arial" charset="0"/>
              </a:rPr>
              <a:t>100×(0.058-0.050)</a:t>
            </a:r>
            <a:r>
              <a:rPr lang="en-US" altLang="en-US" sz="2600" dirty="0">
                <a:latin typeface="Arial" charset="0"/>
                <a:cs typeface="Arial" charset="0"/>
              </a:rPr>
              <a:t> </a:t>
            </a:r>
            <a:r>
              <a:rPr lang="en-US" altLang="en-US" sz="2600" dirty="0" smtClean="0">
                <a:latin typeface="Arial" charset="0"/>
                <a:cs typeface="Arial" charset="0"/>
              </a:rPr>
              <a:t>×0.5×e</a:t>
            </a:r>
            <a:r>
              <a:rPr lang="en-US" altLang="en-US" sz="2600" baseline="30000" dirty="0" smtClean="0">
                <a:latin typeface="Arial" charset="0"/>
                <a:cs typeface="Arial" charset="0"/>
              </a:rPr>
              <a:t>-0.04×2</a:t>
            </a:r>
            <a:r>
              <a:rPr lang="en-US" altLang="en-US" sz="2600" dirty="0" smtClean="0">
                <a:latin typeface="Arial" charset="0"/>
                <a:cs typeface="Arial" charset="0"/>
              </a:rPr>
              <a:t>=0.3692</a:t>
            </a:r>
            <a:endParaRPr lang="en-CA" altLang="en-US" sz="2600" dirty="0" smtClean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43000CC-11FF-4230-B859-696774BFFAF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496175" cy="149225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Duration </a:t>
            </a:r>
            <a:r>
              <a:rPr lang="en-US" altLang="en-US" sz="2400" dirty="0" smtClean="0"/>
              <a:t>(equation 4.8)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idx="1"/>
          </p:nvPr>
        </p:nvSpPr>
        <p:spPr>
          <a:xfrm>
            <a:off x="1219200" y="1905000"/>
            <a:ext cx="67056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Duration of a bond that provides cash flow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baseline="-25000" smtClean="0">
                <a:latin typeface="Arial" charset="0"/>
                <a:cs typeface="Arial" charset="0"/>
              </a:rPr>
              <a:t> </a:t>
            </a:r>
            <a:r>
              <a:rPr lang="en-US" altLang="en-US" sz="2400" smtClean="0">
                <a:latin typeface="Arial" charset="0"/>
                <a:cs typeface="Arial" charset="0"/>
              </a:rPr>
              <a:t>at time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smtClean="0">
                <a:latin typeface="Arial" charset="0"/>
                <a:cs typeface="Arial" charset="0"/>
              </a:rPr>
              <a:t> is														</a:t>
            </a:r>
          </a:p>
          <a:p>
            <a:pPr lvl="4" eaLnBrk="1" hangingPunct="1">
              <a:buFont typeface="Wingdings" pitchFamily="2" charset="2"/>
              <a:buNone/>
            </a:pPr>
            <a:r>
              <a:rPr lang="en-US" altLang="en-US" smtClean="0"/>
              <a:t>	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smtClean="0">
                <a:latin typeface="Arial" charset="0"/>
                <a:cs typeface="Arial" charset="0"/>
              </a:rPr>
              <a:t>	where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B </a:t>
            </a:r>
            <a:r>
              <a:rPr lang="en-US" altLang="en-US" sz="2400" smtClean="0">
                <a:latin typeface="Arial" charset="0"/>
                <a:cs typeface="Arial" charset="0"/>
              </a:rPr>
              <a:t>is its price and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y</a:t>
            </a:r>
            <a:r>
              <a:rPr lang="en-US" altLang="en-US" sz="2400" smtClean="0">
                <a:latin typeface="Arial" charset="0"/>
                <a:cs typeface="Arial" charset="0"/>
              </a:rPr>
              <a:t> is its yield (continuously compounded)</a:t>
            </a:r>
          </a:p>
          <a:p>
            <a:pPr eaLnBrk="1" hangingPunct="1">
              <a:buFontTx/>
              <a:buNone/>
            </a:pPr>
            <a:r>
              <a:rPr lang="en-US" altLang="en-US" sz="2400" smtClean="0">
                <a:latin typeface="Arial" charset="0"/>
                <a:cs typeface="Arial" charset="0"/>
              </a:rPr>
              <a:t>													</a:t>
            </a:r>
          </a:p>
        </p:txBody>
      </p:sp>
      <p:sp>
        <p:nvSpPr>
          <p:cNvPr id="378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ADDEAA6-1EB5-4AD4-B98B-B67EB7224CD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7894" name="Object 3"/>
          <p:cNvGraphicFramePr>
            <a:graphicFrameLocks/>
          </p:cNvGraphicFramePr>
          <p:nvPr/>
        </p:nvGraphicFramePr>
        <p:xfrm>
          <a:off x="2889250" y="2667000"/>
          <a:ext cx="30543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8" name="Equation" r:id="rId6" imgW="1091726" imgH="482391" progId="Equation.3">
                  <p:embed/>
                </p:oleObj>
              </mc:Choice>
              <mc:Fallback>
                <p:oleObj name="Equation" r:id="rId6" imgW="1091726" imgH="482391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2667000"/>
                        <a:ext cx="305435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Key Duration Relationship</a:t>
            </a:r>
            <a:endParaRPr lang="en-US" altLang="en-US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685800" y="2147888"/>
            <a:ext cx="7772400" cy="1662112"/>
          </a:xfrm>
        </p:spPr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Duration is important because it leads to the following key relationship between the change in the yield on the bond and the change in its price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0BA32D-5916-426D-A050-5C4B82FB599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8918" name="Object 4"/>
          <p:cNvGraphicFramePr>
            <a:graphicFrameLocks/>
          </p:cNvGraphicFramePr>
          <p:nvPr/>
        </p:nvGraphicFramePr>
        <p:xfrm>
          <a:off x="2819400" y="4114800"/>
          <a:ext cx="22098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2" name="Equation" r:id="rId6" imgW="799753" imgH="393529" progId="Equation.3">
                  <p:embed/>
                </p:oleObj>
              </mc:Choice>
              <mc:Fallback>
                <p:oleObj name="Equation" r:id="rId6" imgW="799753" imgH="39352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114800"/>
                        <a:ext cx="220980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80010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CA" altLang="en-US" smtClean="0"/>
              <a:t>Key Duration Relationship</a:t>
            </a:r>
            <a:r>
              <a:rPr lang="en-US" altLang="en-US" smtClean="0"/>
              <a:t> </a:t>
            </a:r>
            <a:r>
              <a:rPr lang="en-US" altLang="en-US" sz="2400" smtClean="0"/>
              <a:t>continued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2057400"/>
            <a:ext cx="7010400" cy="40386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When the yield 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y</a:t>
            </a:r>
            <a:r>
              <a:rPr lang="en-US" sz="2400" dirty="0" smtClean="0">
                <a:latin typeface="Arial" charset="0"/>
                <a:cs typeface="Arial" charset="0"/>
              </a:rPr>
              <a:t> is expressed with compounding 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m</a:t>
            </a:r>
            <a:r>
              <a:rPr lang="en-US" sz="2400" dirty="0" smtClean="0">
                <a:latin typeface="Arial" charset="0"/>
                <a:cs typeface="Arial" charset="0"/>
              </a:rPr>
              <a:t> times per year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The expression </a:t>
            </a:r>
          </a:p>
          <a:p>
            <a:pPr eaLnBrk="1" hangingPunct="1">
              <a:buFont typeface="Wingdings 2" pitchFamily="18" charset="2"/>
              <a:buNone/>
              <a:defRPr/>
            </a:pPr>
            <a:endParaRPr 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latin typeface="Arial" charset="0"/>
                <a:cs typeface="Arial" charset="0"/>
              </a:rPr>
              <a:t>  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latin typeface="+mj-lt"/>
                <a:cs typeface="Arial" charset="0"/>
              </a:rPr>
              <a:t>   is referred to as the “modified duration”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>
              <a:latin typeface="Arial" charset="0"/>
              <a:cs typeface="Arial" charset="0"/>
            </a:endParaRPr>
          </a:p>
        </p:txBody>
      </p:sp>
      <p:sp>
        <p:nvSpPr>
          <p:cNvPr id="399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CFF2D9F-C0F2-4598-B12E-9CEB23C8B3C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9942" name="Object 4"/>
          <p:cNvGraphicFramePr>
            <a:graphicFrameLocks/>
          </p:cNvGraphicFramePr>
          <p:nvPr/>
        </p:nvGraphicFramePr>
        <p:xfrm>
          <a:off x="3048000" y="3048000"/>
          <a:ext cx="23447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0" name="Equation" r:id="rId6" imgW="990170" imgH="431613" progId="Equation.3">
                  <p:embed/>
                </p:oleObj>
              </mc:Choice>
              <mc:Fallback>
                <p:oleObj name="Equation" r:id="rId6" imgW="990170" imgH="431613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048000"/>
                        <a:ext cx="234473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5"/>
          <p:cNvGraphicFramePr>
            <a:graphicFrameLocks/>
          </p:cNvGraphicFramePr>
          <p:nvPr/>
        </p:nvGraphicFramePr>
        <p:xfrm>
          <a:off x="3657600" y="4343400"/>
          <a:ext cx="1600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1" name="Equation" r:id="rId8" imgW="520474" imgH="431613" progId="Equation.2">
                  <p:embed/>
                </p:oleObj>
              </mc:Choice>
              <mc:Fallback>
                <p:oleObj name="Equation" r:id="rId8" imgW="520474" imgH="431613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343400"/>
                        <a:ext cx="16002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Bond Portfolios</a:t>
            </a:r>
            <a:endParaRPr lang="en-US" altLang="en-US" smtClean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609600" y="2057400"/>
            <a:ext cx="7772400" cy="4114800"/>
          </a:xfrm>
        </p:spPr>
        <p:txBody>
          <a:bodyPr/>
          <a:lstStyle/>
          <a:p>
            <a:pPr eaLnBrk="1" hangingPunct="1"/>
            <a:r>
              <a:rPr lang="en-CA" altLang="en-US" sz="2400" smtClean="0">
                <a:latin typeface="Arial" charset="0"/>
                <a:cs typeface="Arial" charset="0"/>
              </a:rPr>
              <a:t>The duration for a bond portfolio is the weighted average duration of the bonds in the portfolio with weights proportional to prices</a:t>
            </a:r>
          </a:p>
          <a:p>
            <a:pPr eaLnBrk="1" hangingPunct="1"/>
            <a:r>
              <a:rPr lang="en-CA" altLang="en-US" sz="2400" smtClean="0">
                <a:latin typeface="Arial" charset="0"/>
                <a:cs typeface="Arial" charset="0"/>
              </a:rPr>
              <a:t>The key duration relationship for a bond portfolio describes the effect of small parallel shifts in the yield curve</a:t>
            </a:r>
          </a:p>
          <a:p>
            <a:pPr eaLnBrk="1" hangingPunct="1"/>
            <a:r>
              <a:rPr lang="en-CA" altLang="en-US" sz="2400" smtClean="0">
                <a:latin typeface="Arial" charset="0"/>
                <a:cs typeface="Arial" charset="0"/>
              </a:rPr>
              <a:t>What exposures remain if duration of a portfolio of assets equals the duration of a portfolio of liabilities?</a:t>
            </a:r>
            <a:endParaRPr lang="en-US" altLang="en-US" sz="2400" smtClean="0">
              <a:latin typeface="Arial" charset="0"/>
              <a:cs typeface="Arial" charset="0"/>
            </a:endParaRPr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9416246-AC17-4D1D-881E-05A4DF0704B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8985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Convexity </a:t>
            </a:r>
            <a:r>
              <a:rPr lang="en-US" altLang="en-US" sz="2400" dirty="0" smtClean="0"/>
              <a:t>(equation 4.14)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7772400" cy="4357688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	The convexity, </a:t>
            </a:r>
            <a:r>
              <a:rPr lang="en-US" sz="2400" i="1" dirty="0" smtClean="0">
                <a:latin typeface="+mj-lt"/>
                <a:cs typeface="Arial" charset="0"/>
              </a:rPr>
              <a:t>C</a:t>
            </a:r>
            <a:r>
              <a:rPr lang="en-US" sz="2400" dirty="0" smtClean="0">
                <a:latin typeface="Arial" charset="0"/>
                <a:cs typeface="Arial" charset="0"/>
              </a:rPr>
              <a:t>,  of a bond is defined as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CA" sz="24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CA" sz="24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CA" sz="24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CA" sz="2400" dirty="0" smtClean="0">
                <a:latin typeface="Arial" charset="0"/>
                <a:cs typeface="Arial" charset="0"/>
              </a:rPr>
              <a:t>	This leads to a more accurate relationship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CA" sz="24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CA" sz="24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CA" sz="2400" dirty="0" smtClean="0">
                <a:latin typeface="Arial" charset="0"/>
                <a:cs typeface="Arial" charset="0"/>
              </a:rPr>
              <a:t>	When used for bond portfolios it allows larger shifts in the yield curve to be considered, but the shifts still have to be parallel </a:t>
            </a:r>
            <a:endParaRPr lang="en-US" sz="2400" dirty="0" smtClean="0">
              <a:latin typeface="Arial" charset="0"/>
              <a:cs typeface="Arial" charset="0"/>
            </a:endParaRPr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1DCBA61-D3CE-4392-AF70-4CCE5434DC6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41990" name="Object 4"/>
          <p:cNvGraphicFramePr>
            <a:graphicFrameLocks/>
          </p:cNvGraphicFramePr>
          <p:nvPr/>
        </p:nvGraphicFramePr>
        <p:xfrm>
          <a:off x="1752600" y="2362200"/>
          <a:ext cx="34734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8" name="Equation" r:id="rId6" imgW="1714500" imgH="628650" progId="Equation.3">
                  <p:embed/>
                </p:oleObj>
              </mc:Choice>
              <mc:Fallback>
                <p:oleObj name="Equation" r:id="rId6" imgW="1714500" imgH="62865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362200"/>
                        <a:ext cx="347345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2438400" y="4114800"/>
          <a:ext cx="251460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9" name="Equation" r:id="rId8" imgW="1384300" imgH="368300" progId="Equation.3">
                  <p:embed/>
                </p:oleObj>
              </mc:Choice>
              <mc:Fallback>
                <p:oleObj name="Equation" r:id="rId8" imgW="1384300" imgH="368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114800"/>
                        <a:ext cx="251460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1156855"/>
            <a:ext cx="77724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Theories of the Term Structure</a:t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43011" name="Rectangle 1027"/>
          <p:cNvSpPr>
            <a:spLocks noGrp="1" noChangeArrowheads="1"/>
          </p:cNvSpPr>
          <p:nvPr>
            <p:ph idx="1"/>
          </p:nvPr>
        </p:nvSpPr>
        <p:spPr>
          <a:xfrm>
            <a:off x="990600" y="2286000"/>
            <a:ext cx="7467600" cy="4191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Expectations Theory: forward rates equal expected future zero rates	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Market Segmentation: short, medium and long rates determined independently of each other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Liquidity Preference Theory: forward rates higher than expected future zero rates</a:t>
            </a:r>
          </a:p>
        </p:txBody>
      </p:sp>
      <p:sp>
        <p:nvSpPr>
          <p:cNvPr id="430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430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A4947CF-40AD-423D-B611-568B9F2AC2D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Liquidity Preference Theory </a:t>
            </a:r>
            <a:br>
              <a:rPr lang="en-CA" altLang="en-US" dirty="0" smtClean="0"/>
            </a:br>
            <a:r>
              <a:rPr lang="en-CA" altLang="en-US" sz="2400" dirty="0" smtClean="0"/>
              <a:t>(Table 4.7)</a:t>
            </a:r>
            <a:endParaRPr lang="en-US" altLang="en-US" sz="2400" dirty="0" smtClean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Suppose that the outlook for rates is flat and you have been offered the following choices</a:t>
            </a:r>
          </a:p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Which would you choose as a depositor? Which for your mortgage?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440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40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54520E3-003C-406D-B269-E897A257F7B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47800" y="3124200"/>
          <a:ext cx="609600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Maturity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Deposit rate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Mortgage rate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 year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3%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6%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 year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3%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6%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Liquidity Preference Theory </a:t>
            </a:r>
            <a:r>
              <a:rPr lang="en-CA" altLang="en-US" sz="2700" dirty="0" err="1" smtClean="0"/>
              <a:t>cont</a:t>
            </a:r>
            <a:r>
              <a:rPr lang="en-CA" altLang="en-US" sz="2700" dirty="0" smtClean="0"/>
              <a:t> (Table 4.8)</a:t>
            </a:r>
            <a:endParaRPr lang="en-US" altLang="en-US" sz="2700" dirty="0" smtClean="0"/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To match the maturities of borrowers and lenders a bank has to increase long rates above expected future short rates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In our example the bank might offer</a:t>
            </a:r>
          </a:p>
          <a:p>
            <a:pPr eaLnBrk="1" hangingPunct="1">
              <a:buFont typeface="Wingdings 2" pitchFamily="18" charset="2"/>
              <a:buNone/>
            </a:pPr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450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 11th Edition,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50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3C3D6E-03EE-4AC2-B299-5DA8A094F95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4191000"/>
          <a:ext cx="6400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Maturity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Deposit 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Mortgage rate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3%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4%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7%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AB65E2-64AE-4A98-AE48-35C5204B2484}"/>
</file>

<file path=customXml/itemProps2.xml><?xml version="1.0" encoding="utf-8"?>
<ds:datastoreItem xmlns:ds="http://schemas.openxmlformats.org/officeDocument/2006/customXml" ds:itemID="{FD5A2F0A-FE7C-4250-816D-01CC46E5C060}"/>
</file>

<file path=customXml/itemProps3.xml><?xml version="1.0" encoding="utf-8"?>
<ds:datastoreItem xmlns:ds="http://schemas.openxmlformats.org/officeDocument/2006/customXml" ds:itemID="{9782BFAB-0FA7-42C6-B17D-ACF2B7C695A8}"/>
</file>

<file path=docProps/app.xml><?xml version="1.0" encoding="utf-8"?>
<Properties xmlns="http://schemas.openxmlformats.org/officeDocument/2006/extended-properties" xmlns:vt="http://schemas.openxmlformats.org/officeDocument/2006/docPropsVTypes">
  <Template>Ch03HullOFOD8thlEdition</Template>
  <TotalTime>426</TotalTime>
  <Words>2352</Words>
  <Application>Microsoft Office PowerPoint</Application>
  <PresentationFormat>On-screen Show (4:3)</PresentationFormat>
  <Paragraphs>377</Paragraphs>
  <Slides>41</Slides>
  <Notes>37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Calibri</vt:lpstr>
      <vt:lpstr>Cambria</vt:lpstr>
      <vt:lpstr>Tahoma</vt:lpstr>
      <vt:lpstr>Times New Roman</vt:lpstr>
      <vt:lpstr>Wingdings</vt:lpstr>
      <vt:lpstr>Wingdings 2</vt:lpstr>
      <vt:lpstr>Global</vt:lpstr>
      <vt:lpstr>Equation</vt:lpstr>
      <vt:lpstr>Chapter 4 Interest Rates</vt:lpstr>
      <vt:lpstr>Types of Rates</vt:lpstr>
      <vt:lpstr>Treasury Rate</vt:lpstr>
      <vt:lpstr>Overnight Rates</vt:lpstr>
      <vt:lpstr>Repo Rate</vt:lpstr>
      <vt:lpstr>LIBOR</vt:lpstr>
      <vt:lpstr>LIBOR Phase Out</vt:lpstr>
      <vt:lpstr>The New Reference Rates</vt:lpstr>
      <vt:lpstr>The New Reference Rates</vt:lpstr>
      <vt:lpstr>The Risk-Free Rate</vt:lpstr>
      <vt:lpstr>Impact of Compounding (Table 4.1)</vt:lpstr>
      <vt:lpstr>Measuring Interest Rates</vt:lpstr>
      <vt:lpstr>Continuous Compounding (equation 4.2) </vt:lpstr>
      <vt:lpstr>Conversion Formulas (Equations 4.4 and 4.4)</vt:lpstr>
      <vt:lpstr>Examples</vt:lpstr>
      <vt:lpstr>Zero Rates</vt:lpstr>
      <vt:lpstr>Example (Table 4.2)</vt:lpstr>
      <vt:lpstr>Bond Pricing</vt:lpstr>
      <vt:lpstr>Bond Yield</vt:lpstr>
      <vt:lpstr>Par Yield</vt:lpstr>
      <vt:lpstr>Par Yield continued</vt:lpstr>
      <vt:lpstr>Data to Determine Zero Curve (Table 4.3)</vt:lpstr>
      <vt:lpstr>The Bootstrap Method</vt:lpstr>
      <vt:lpstr>The Bootstrap Method continued</vt:lpstr>
      <vt:lpstr>Zero Curve Calculated from the Data (Figure 4.1)</vt:lpstr>
      <vt:lpstr>Forward Rates</vt:lpstr>
      <vt:lpstr>Formula for Forward Rates</vt:lpstr>
      <vt:lpstr>Application of the Formula (Table 4.5)</vt:lpstr>
      <vt:lpstr>Instantaneous Forward Rate</vt:lpstr>
      <vt:lpstr>Upward vs Downward Sloping Yield Curve </vt:lpstr>
      <vt:lpstr>Forward Rate Agreement</vt:lpstr>
      <vt:lpstr>Forward Rate Agreement: Key Results  </vt:lpstr>
      <vt:lpstr>Example</vt:lpstr>
      <vt:lpstr>Duration (equation 4.8)</vt:lpstr>
      <vt:lpstr>Key Duration Relationship</vt:lpstr>
      <vt:lpstr>Key Duration Relationship continued</vt:lpstr>
      <vt:lpstr>Bond Portfolios</vt:lpstr>
      <vt:lpstr>Convexity (equation 4.14)</vt:lpstr>
      <vt:lpstr>Theories of the Term Structure </vt:lpstr>
      <vt:lpstr>Liquidity Preference Theory  (Table 4.7)</vt:lpstr>
      <vt:lpstr>Liquidity Preference Theory cont (Table 4.8)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Interest Rates</dc:title>
  <dc:subject>Options, Futures, and Other Derivatives, 11e</dc:subject>
  <dc:creator>John C. Hull</dc:creator>
  <cp:keywords>Chapter 4</cp:keywords>
  <dc:description>Copyright 2021 by John C. Hull. All Rights Reserved. Published 2021</dc:description>
  <cp:lastModifiedBy>John Hull</cp:lastModifiedBy>
  <cp:revision>61</cp:revision>
  <dcterms:created xsi:type="dcterms:W3CDTF">2008-05-29T16:38:10Z</dcterms:created>
  <dcterms:modified xsi:type="dcterms:W3CDTF">2020-09-30T15:18:28Z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